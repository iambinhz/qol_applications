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0"/>
  </p:notesMasterIdLst>
  <p:handoutMasterIdLst>
    <p:handoutMasterId r:id="rId81"/>
  </p:handoutMasterIdLst>
  <p:sldIdLst>
    <p:sldId id="304" r:id="rId5"/>
    <p:sldId id="257" r:id="rId6"/>
    <p:sldId id="258" r:id="rId7"/>
    <p:sldId id="259" r:id="rId8"/>
    <p:sldId id="260" r:id="rId9"/>
    <p:sldId id="261" r:id="rId10"/>
    <p:sldId id="262" r:id="rId11"/>
    <p:sldId id="515" r:id="rId12"/>
    <p:sldId id="679" r:id="rId13"/>
    <p:sldId id="518" r:id="rId14"/>
    <p:sldId id="264" r:id="rId15"/>
    <p:sldId id="524" r:id="rId16"/>
    <p:sldId id="525" r:id="rId17"/>
    <p:sldId id="312" r:id="rId18"/>
    <p:sldId id="265" r:id="rId19"/>
    <p:sldId id="266" r:id="rId20"/>
    <p:sldId id="626" r:id="rId21"/>
    <p:sldId id="627" r:id="rId22"/>
    <p:sldId id="628" r:id="rId23"/>
    <p:sldId id="267" r:id="rId24"/>
    <p:sldId id="268" r:id="rId25"/>
    <p:sldId id="530" r:id="rId26"/>
    <p:sldId id="373" r:id="rId27"/>
    <p:sldId id="269" r:id="rId28"/>
    <p:sldId id="270" r:id="rId29"/>
    <p:sldId id="529" r:id="rId30"/>
    <p:sldId id="531" r:id="rId31"/>
    <p:sldId id="532" r:id="rId32"/>
    <p:sldId id="271" r:id="rId33"/>
    <p:sldId id="613" r:id="rId34"/>
    <p:sldId id="661" r:id="rId35"/>
    <p:sldId id="574" r:id="rId36"/>
    <p:sldId id="533" r:id="rId37"/>
    <p:sldId id="535" r:id="rId38"/>
    <p:sldId id="272" r:id="rId39"/>
    <p:sldId id="273" r:id="rId40"/>
    <p:sldId id="274" r:id="rId41"/>
    <p:sldId id="275" r:id="rId42"/>
    <p:sldId id="313" r:id="rId43"/>
    <p:sldId id="314" r:id="rId44"/>
    <p:sldId id="315" r:id="rId45"/>
    <p:sldId id="316" r:id="rId46"/>
    <p:sldId id="652" r:id="rId47"/>
    <p:sldId id="317" r:id="rId48"/>
    <p:sldId id="537" r:id="rId49"/>
    <p:sldId id="554" r:id="rId50"/>
    <p:sldId id="645" r:id="rId51"/>
    <p:sldId id="555" r:id="rId52"/>
    <p:sldId id="557" r:id="rId53"/>
    <p:sldId id="318" r:id="rId54"/>
    <p:sldId id="566" r:id="rId55"/>
    <p:sldId id="619" r:id="rId56"/>
    <p:sldId id="642" r:id="rId57"/>
    <p:sldId id="643" r:id="rId58"/>
    <p:sldId id="644" r:id="rId59"/>
    <p:sldId id="319" r:id="rId60"/>
    <p:sldId id="320" r:id="rId61"/>
    <p:sldId id="629" r:id="rId62"/>
    <p:sldId id="680" r:id="rId63"/>
    <p:sldId id="653" r:id="rId64"/>
    <p:sldId id="654" r:id="rId65"/>
    <p:sldId id="641"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1" userDrawn="1">
          <p15:clr>
            <a:srgbClr val="A4A3A4"/>
          </p15:clr>
        </p15:guide>
        <p15:guide id="6" pos="271" userDrawn="1">
          <p15:clr>
            <a:srgbClr val="A4A3A4"/>
          </p15:clr>
        </p15:guide>
        <p15:guide id="7" pos="2880" userDrawn="1">
          <p15:clr>
            <a:srgbClr val="A4A3A4"/>
          </p15:clr>
        </p15:guide>
        <p15:guide id="8" orient="horz" pos="3929" userDrawn="1">
          <p15:clr>
            <a:srgbClr val="A4A3A4"/>
          </p15:clr>
        </p15:guide>
        <p15:guide id="9" orient="horz" pos="1842" userDrawn="1">
          <p15:clr>
            <a:srgbClr val="A4A3A4"/>
          </p15:clr>
        </p15:guide>
        <p15:guide id="10" pos="5511" userDrawn="1">
          <p15:clr>
            <a:srgbClr val="A4A3A4"/>
          </p15:clr>
        </p15:guide>
        <p15:guide id="11" orient="horz" pos="129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resh, Anandan" initials="SA" lastIdx="6" clrIdx="0">
    <p:extLst>
      <p:ext uri="{19B8F6BF-5375-455C-9EA6-DF929625EA0E}">
        <p15:presenceInfo xmlns:p15="http://schemas.microsoft.com/office/powerpoint/2012/main" userId="S-1-5-21-2752970185-40930380-1894245210-2183" providerId="AD"/>
      </p:ext>
    </p:extLst>
  </p:cmAuthor>
  <p:cmAuthor id="2" name="Raja B" initials="RB" lastIdx="2" clrIdx="1">
    <p:extLst>
      <p:ext uri="{19B8F6BF-5375-455C-9EA6-DF929625EA0E}">
        <p15:presenceInfo xmlns:p15="http://schemas.microsoft.com/office/powerpoint/2012/main" userId="Raja B" providerId="None"/>
      </p:ext>
    </p:extLst>
  </p:cmAuthor>
  <p:cmAuthor id="3" name="Shukla, Preety" initials="SP" lastIdx="3" clrIdx="2">
    <p:extLst>
      <p:ext uri="{19B8F6BF-5375-455C-9EA6-DF929625EA0E}">
        <p15:presenceInfo xmlns:p15="http://schemas.microsoft.com/office/powerpoint/2012/main" userId="S::preety.shukla@pearson.com::a180e6dc-b464-4223-9030-d1701501bd4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80A3"/>
    <a:srgbClr val="007BA4"/>
    <a:srgbClr val="00A4B7"/>
    <a:srgbClr val="EA5633"/>
    <a:srgbClr val="1829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986999-9B34-4D47-9E13-EE4F5CB908DA}" v="10" dt="2026-02-26T14:05:18.4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462" autoAdjust="0"/>
    <p:restoredTop sz="94694"/>
  </p:normalViewPr>
  <p:slideViewPr>
    <p:cSldViewPr>
      <p:cViewPr varScale="1">
        <p:scale>
          <a:sx n="121" d="100"/>
          <a:sy n="121" d="100"/>
        </p:scale>
        <p:origin x="1280" y="176"/>
      </p:cViewPr>
      <p:guideLst>
        <p:guide orient="horz" pos="461"/>
        <p:guide pos="271"/>
        <p:guide pos="2880"/>
        <p:guide orient="horz" pos="3929"/>
        <p:guide orient="horz" pos="1842"/>
        <p:guide pos="5511"/>
        <p:guide orient="horz" pos="129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p:cViewPr varScale="1">
        <p:scale>
          <a:sx n="53" d="100"/>
          <a:sy n="53" d="100"/>
        </p:scale>
        <p:origin x="-285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handoutMaster" Target="handoutMasters/handoutMaster1.xml"/><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6/11/relationships/changesInfo" Target="changesInfos/changesInfo1.xml"/><Relationship Id="rId61" Type="http://schemas.openxmlformats.org/officeDocument/2006/relationships/slide" Target="slides/slide57.xml"/><Relationship Id="rId8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i Le" userId="0fae90fe-f364-4a58-b74d-79ba3f8cea4c" providerId="ADAL" clId="{21986999-9B34-4D47-9E13-EE4F5CB908DA}"/>
    <pc:docChg chg="addSld delSld modSld sldOrd">
      <pc:chgData name="Mai Le" userId="0fae90fe-f364-4a58-b74d-79ba3f8cea4c" providerId="ADAL" clId="{21986999-9B34-4D47-9E13-EE4F5CB908DA}" dt="2026-02-26T14:06:05.225" v="42" actId="729"/>
      <pc:docMkLst>
        <pc:docMk/>
      </pc:docMkLst>
      <pc:sldChg chg="modSp mod">
        <pc:chgData name="Mai Le" userId="0fae90fe-f364-4a58-b74d-79ba3f8cea4c" providerId="ADAL" clId="{21986999-9B34-4D47-9E13-EE4F5CB908DA}" dt="2026-02-26T13:53:23.922" v="6" actId="255"/>
        <pc:sldMkLst>
          <pc:docMk/>
          <pc:sldMk cId="0" sldId="266"/>
        </pc:sldMkLst>
        <pc:spChg chg="mod">
          <ac:chgData name="Mai Le" userId="0fae90fe-f364-4a58-b74d-79ba3f8cea4c" providerId="ADAL" clId="{21986999-9B34-4D47-9E13-EE4F5CB908DA}" dt="2026-02-26T13:53:23.922" v="6" actId="255"/>
          <ac:spMkLst>
            <pc:docMk/>
            <pc:sldMk cId="0" sldId="266"/>
            <ac:spMk id="2" creationId="{00000000-0000-0000-0000-000000000000}"/>
          </ac:spMkLst>
        </pc:spChg>
      </pc:sldChg>
      <pc:sldChg chg="modSp del mod">
        <pc:chgData name="Mai Le" userId="0fae90fe-f364-4a58-b74d-79ba3f8cea4c" providerId="ADAL" clId="{21986999-9B34-4D47-9E13-EE4F5CB908DA}" dt="2026-02-26T13:57:59.150" v="15" actId="2696"/>
        <pc:sldMkLst>
          <pc:docMk/>
          <pc:sldMk cId="0" sldId="271"/>
        </pc:sldMkLst>
        <pc:spChg chg="mod">
          <ac:chgData name="Mai Le" userId="0fae90fe-f364-4a58-b74d-79ba3f8cea4c" providerId="ADAL" clId="{21986999-9B34-4D47-9E13-EE4F5CB908DA}" dt="2026-02-26T13:57:13.339" v="14" actId="255"/>
          <ac:spMkLst>
            <pc:docMk/>
            <pc:sldMk cId="0" sldId="271"/>
            <ac:spMk id="2" creationId="{00000000-0000-0000-0000-000000000000}"/>
          </ac:spMkLst>
        </pc:spChg>
      </pc:sldChg>
      <pc:sldChg chg="modSp add mod">
        <pc:chgData name="Mai Le" userId="0fae90fe-f364-4a58-b74d-79ba3f8cea4c" providerId="ADAL" clId="{21986999-9B34-4D47-9E13-EE4F5CB908DA}" dt="2026-02-26T13:58:14.659" v="33" actId="20577"/>
        <pc:sldMkLst>
          <pc:docMk/>
          <pc:sldMk cId="3210763989" sldId="271"/>
        </pc:sldMkLst>
        <pc:spChg chg="mod">
          <ac:chgData name="Mai Le" userId="0fae90fe-f364-4a58-b74d-79ba3f8cea4c" providerId="ADAL" clId="{21986999-9B34-4D47-9E13-EE4F5CB908DA}" dt="2026-02-26T13:58:14.659" v="33" actId="20577"/>
          <ac:spMkLst>
            <pc:docMk/>
            <pc:sldMk cId="3210763989" sldId="271"/>
            <ac:spMk id="2" creationId="{00000000-0000-0000-0000-000000000000}"/>
          </ac:spMkLst>
        </pc:spChg>
      </pc:sldChg>
      <pc:sldChg chg="ord">
        <pc:chgData name="Mai Le" userId="0fae90fe-f364-4a58-b74d-79ba3f8cea4c" providerId="ADAL" clId="{21986999-9B34-4D47-9E13-EE4F5CB908DA}" dt="2026-02-26T14:04:04.923" v="37" actId="20578"/>
        <pc:sldMkLst>
          <pc:docMk/>
          <pc:sldMk cId="1803397485" sldId="317"/>
        </pc:sldMkLst>
      </pc:sldChg>
      <pc:sldChg chg="modSp add mod modTransition">
        <pc:chgData name="Mai Le" userId="0fae90fe-f364-4a58-b74d-79ba3f8cea4c" providerId="ADAL" clId="{21986999-9B34-4D47-9E13-EE4F5CB908DA}" dt="2026-02-26T13:56:02.908" v="8" actId="255"/>
        <pc:sldMkLst>
          <pc:docMk/>
          <pc:sldMk cId="0" sldId="373"/>
        </pc:sldMkLst>
        <pc:spChg chg="mod">
          <ac:chgData name="Mai Le" userId="0fae90fe-f364-4a58-b74d-79ba3f8cea4c" providerId="ADAL" clId="{21986999-9B34-4D47-9E13-EE4F5CB908DA}" dt="2026-02-26T13:56:02.908" v="8" actId="255"/>
          <ac:spMkLst>
            <pc:docMk/>
            <pc:sldMk cId="0" sldId="373"/>
            <ac:spMk id="34818" creationId="{6CA5F51D-BF80-34B7-E256-25B65042361B}"/>
          </ac:spMkLst>
        </pc:spChg>
      </pc:sldChg>
      <pc:sldChg chg="add modTransition">
        <pc:chgData name="Mai Le" userId="0fae90fe-f364-4a58-b74d-79ba3f8cea4c" providerId="ADAL" clId="{21986999-9B34-4D47-9E13-EE4F5CB908DA}" dt="2026-02-26T14:03:13.965" v="34"/>
        <pc:sldMkLst>
          <pc:docMk/>
          <pc:sldMk cId="0" sldId="537"/>
        </pc:sldMkLst>
      </pc:sldChg>
      <pc:sldChg chg="add modTransition">
        <pc:chgData name="Mai Le" userId="0fae90fe-f364-4a58-b74d-79ba3f8cea4c" providerId="ADAL" clId="{21986999-9B34-4D47-9E13-EE4F5CB908DA}" dt="2026-02-26T14:03:13.965" v="34"/>
        <pc:sldMkLst>
          <pc:docMk/>
          <pc:sldMk cId="0" sldId="554"/>
        </pc:sldMkLst>
      </pc:sldChg>
      <pc:sldChg chg="modSp add modTransition">
        <pc:chgData name="Mai Le" userId="0fae90fe-f364-4a58-b74d-79ba3f8cea4c" providerId="ADAL" clId="{21986999-9B34-4D47-9E13-EE4F5CB908DA}" dt="2026-02-26T14:03:36.720" v="35" actId="1076"/>
        <pc:sldMkLst>
          <pc:docMk/>
          <pc:sldMk cId="0" sldId="555"/>
        </pc:sldMkLst>
        <pc:spChg chg="mod">
          <ac:chgData name="Mai Le" userId="0fae90fe-f364-4a58-b74d-79ba3f8cea4c" providerId="ADAL" clId="{21986999-9B34-4D47-9E13-EE4F5CB908DA}" dt="2026-02-26T14:03:36.720" v="35" actId="1076"/>
          <ac:spMkLst>
            <pc:docMk/>
            <pc:sldMk cId="0" sldId="555"/>
            <ac:spMk id="69635" creationId="{8629E456-6577-D336-BDC8-738E81E5D19B}"/>
          </ac:spMkLst>
        </pc:spChg>
      </pc:sldChg>
      <pc:sldChg chg="modSp add modTransition">
        <pc:chgData name="Mai Le" userId="0fae90fe-f364-4a58-b74d-79ba3f8cea4c" providerId="ADAL" clId="{21986999-9B34-4D47-9E13-EE4F5CB908DA}" dt="2026-02-26T14:03:51.286" v="36" actId="1076"/>
        <pc:sldMkLst>
          <pc:docMk/>
          <pc:sldMk cId="0" sldId="557"/>
        </pc:sldMkLst>
        <pc:spChg chg="mod">
          <ac:chgData name="Mai Le" userId="0fae90fe-f364-4a58-b74d-79ba3f8cea4c" providerId="ADAL" clId="{21986999-9B34-4D47-9E13-EE4F5CB908DA}" dt="2026-02-26T14:03:51.286" v="36" actId="1076"/>
          <ac:spMkLst>
            <pc:docMk/>
            <pc:sldMk cId="0" sldId="557"/>
            <ac:spMk id="71683" creationId="{C390ED82-8FA9-ACC2-FE7D-226F9B786F47}"/>
          </ac:spMkLst>
        </pc:spChg>
      </pc:sldChg>
      <pc:sldChg chg="mod modShow">
        <pc:chgData name="Mai Le" userId="0fae90fe-f364-4a58-b74d-79ba3f8cea4c" providerId="ADAL" clId="{21986999-9B34-4D47-9E13-EE4F5CB908DA}" dt="2026-02-26T14:04:29.365" v="38" actId="729"/>
        <pc:sldMkLst>
          <pc:docMk/>
          <pc:sldMk cId="0" sldId="566"/>
        </pc:sldMkLst>
      </pc:sldChg>
      <pc:sldChg chg="mod modShow">
        <pc:chgData name="Mai Le" userId="0fae90fe-f364-4a58-b74d-79ba3f8cea4c" providerId="ADAL" clId="{21986999-9B34-4D47-9E13-EE4F5CB908DA}" dt="2026-02-26T14:04:33.598" v="39" actId="729"/>
        <pc:sldMkLst>
          <pc:docMk/>
          <pc:sldMk cId="0" sldId="619"/>
        </pc:sldMkLst>
      </pc:sldChg>
      <pc:sldChg chg="mod modShow">
        <pc:chgData name="Mai Le" userId="0fae90fe-f364-4a58-b74d-79ba3f8cea4c" providerId="ADAL" clId="{21986999-9B34-4D47-9E13-EE4F5CB908DA}" dt="2026-02-26T14:06:05.225" v="42" actId="729"/>
        <pc:sldMkLst>
          <pc:docMk/>
          <pc:sldMk cId="0" sldId="641"/>
        </pc:sldMkLst>
      </pc:sldChg>
      <pc:sldChg chg="del">
        <pc:chgData name="Mai Le" userId="0fae90fe-f364-4a58-b74d-79ba3f8cea4c" providerId="ADAL" clId="{21986999-9B34-4D47-9E13-EE4F5CB908DA}" dt="2026-02-26T14:05:05.513" v="40" actId="2696"/>
        <pc:sldMkLst>
          <pc:docMk/>
          <pc:sldMk cId="0" sldId="645"/>
        </pc:sldMkLst>
      </pc:sldChg>
      <pc:sldChg chg="add">
        <pc:chgData name="Mai Le" userId="0fae90fe-f364-4a58-b74d-79ba3f8cea4c" providerId="ADAL" clId="{21986999-9B34-4D47-9E13-EE4F5CB908DA}" dt="2026-02-26T14:05:18.448" v="41"/>
        <pc:sldMkLst>
          <pc:docMk/>
          <pc:sldMk cId="1586832900" sldId="64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C9BE231-3047-46CC-8EB7-0A9C6A23B5E3}" type="datetimeFigureOut">
              <a:rPr lang="en-GB" smtClean="0"/>
              <a:pPr/>
              <a:t>26/02/2026</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0D405B-D0BD-49FD-B9CE-587CD7BE6392}" type="slidenum">
              <a:rPr lang="en-GB" smtClean="0"/>
              <a:pPr/>
              <a:t>‹#›</a:t>
            </a:fld>
            <a:endParaRPr lang="en-GB"/>
          </a:p>
        </p:txBody>
      </p:sp>
    </p:spTree>
    <p:extLst>
      <p:ext uri="{BB962C8B-B14F-4D97-AF65-F5344CB8AC3E}">
        <p14:creationId xmlns:p14="http://schemas.microsoft.com/office/powerpoint/2010/main" val="19302386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D29C7B-D5A1-4F4F-81D6-26274366EFEE}" type="datetimeFigureOut">
              <a:rPr lang="en-GB" smtClean="0"/>
              <a:t>26/02/2026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0C9930-0A10-4D51-BF8B-58A66CF9DE84}"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xfrm>
            <a:off x="1143000" y="685800"/>
            <a:ext cx="4573588" cy="3429000"/>
          </a:xfrm>
          <a:ln/>
        </p:spPr>
      </p:sp>
      <p:sp>
        <p:nvSpPr>
          <p:cNvPr id="6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anose="02020603050405020304" pitchFamily="18" charset="0"/>
            </a:endParaRPr>
          </a:p>
        </p:txBody>
      </p:sp>
      <p:sp>
        <p:nvSpPr>
          <p:cNvPr id="6148" name="Slide Number Placeholder 3"/>
          <p:cNvSpPr>
            <a:spLocks noGrp="1"/>
          </p:cNvSpPr>
          <p:nvPr>
            <p:ph type="sldNum" sz="quarter" idx="5"/>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76D3EE1-26EB-4098-B0C0-27B5598D974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1620092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A8C3A6A-5427-28C6-C6C0-0E65F8456790}"/>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974F5E0-D8E9-574B-9186-53AA604747C8}" type="slidenum">
              <a:rPr lang="en-CA" altLang="en-TW" sz="1200">
                <a:latin typeface="Tahoma" panose="020B0604030504040204" pitchFamily="34" charset="0"/>
              </a:rPr>
              <a:pPr eaLnBrk="1" hangingPunct="1"/>
              <a:t>8</a:t>
            </a:fld>
            <a:endParaRPr lang="en-CA" altLang="en-TW" sz="1200">
              <a:latin typeface="Tahoma" panose="020B0604030504040204" pitchFamily="34" charset="0"/>
            </a:endParaRPr>
          </a:p>
        </p:txBody>
      </p:sp>
      <p:sp>
        <p:nvSpPr>
          <p:cNvPr id="726018" name="Rectangle 2">
            <a:extLst>
              <a:ext uri="{FF2B5EF4-FFF2-40B4-BE49-F238E27FC236}">
                <a16:creationId xmlns:a16="http://schemas.microsoft.com/office/drawing/2014/main" id="{8BFED57C-A4A6-16F9-F6CC-046A7ADDB62A}"/>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26019" name="Rectangle 3">
            <a:extLst>
              <a:ext uri="{FF2B5EF4-FFF2-40B4-BE49-F238E27FC236}">
                <a16:creationId xmlns:a16="http://schemas.microsoft.com/office/drawing/2014/main" id="{3063ED6C-59C5-F19E-1170-D50BE899F2FB}"/>
              </a:ext>
            </a:extLst>
          </p:cNvPr>
          <p:cNvSpPr>
            <a:spLocks noGrp="1" noChangeArrowheads="1"/>
          </p:cNvSpPr>
          <p:nvPr>
            <p:ph type="body" idx="1"/>
          </p:nvPr>
        </p:nvSpPr>
        <p:spPr/>
        <p:txBody>
          <a:bodyPr/>
          <a:lstStyle/>
          <a:p>
            <a:pPr eaLnBrk="1" hangingPunct="1">
              <a:lnSpc>
                <a:spcPct val="80000"/>
              </a:lnSpc>
            </a:pPr>
            <a:r>
              <a:rPr lang="en-AU" altLang="en-TW" sz="1200">
                <a:latin typeface="Times New Roman" panose="02020603050405020304" pitchFamily="18" charset="0"/>
                <a:ea typeface="ＭＳ Ｐゴシック" panose="020B0600070205080204" pitchFamily="34" charset="-128"/>
              </a:rPr>
              <a:t>Our money today is fiat money. To reinforce this point, as a simple experiment, take a dollar bill out of your pocket in class and pretend to buy a pencil from the first student in class. Tell that student that she can now use that dollar to buy anything from the next student in her row. Ask each student to </a:t>
            </a:r>
            <a:r>
              <a:rPr lang="en-AU" altLang="en-US" sz="1200">
                <a:latin typeface="Times New Roman" panose="02020603050405020304" pitchFamily="18" charset="0"/>
                <a:ea typeface="ＭＳ Ｐゴシック" panose="020B0600070205080204" pitchFamily="34" charset="-128"/>
              </a:rPr>
              <a:t>“</a:t>
            </a:r>
            <a:r>
              <a:rPr lang="en-AU" altLang="en-TW" sz="1200">
                <a:latin typeface="Times New Roman" panose="02020603050405020304" pitchFamily="18" charset="0"/>
                <a:ea typeface="ＭＳ Ｐゴシック" panose="020B0600070205080204" pitchFamily="34" charset="-128"/>
              </a:rPr>
              <a:t>go along</a:t>
            </a:r>
            <a:r>
              <a:rPr lang="en-AU" altLang="en-US" sz="1200">
                <a:latin typeface="Times New Roman" panose="02020603050405020304" pitchFamily="18" charset="0"/>
                <a:ea typeface="ＭＳ Ｐゴシック" panose="020B0600070205080204" pitchFamily="34" charset="-128"/>
              </a:rPr>
              <a:t>”</a:t>
            </a:r>
            <a:r>
              <a:rPr lang="en-AU" altLang="en-TW" sz="1200">
                <a:latin typeface="Times New Roman" panose="02020603050405020304" pitchFamily="18" charset="0"/>
                <a:ea typeface="ＭＳ Ｐゴシック" panose="020B0600070205080204" pitchFamily="34" charset="-128"/>
              </a:rPr>
              <a:t> with the experiment by pretending that what is being bought each time is only worth a dollar. The dollar will continue to circulate around the room until everyone has had a chance to </a:t>
            </a:r>
            <a:r>
              <a:rPr lang="en-AU" altLang="en-US" sz="1200">
                <a:latin typeface="Times New Roman" panose="02020603050405020304" pitchFamily="18" charset="0"/>
                <a:ea typeface="ＭＳ Ｐゴシック" panose="020B0600070205080204" pitchFamily="34" charset="-128"/>
              </a:rPr>
              <a:t>“</a:t>
            </a:r>
            <a:r>
              <a:rPr lang="en-AU" altLang="en-TW" sz="1200">
                <a:latin typeface="Times New Roman" panose="02020603050405020304" pitchFamily="18" charset="0"/>
                <a:ea typeface="ＭＳ Ｐゴシック" panose="020B0600070205080204" pitchFamily="34" charset="-128"/>
              </a:rPr>
              <a:t>buy something</a:t>
            </a:r>
            <a:r>
              <a:rPr lang="en-AU" altLang="en-US" sz="1200">
                <a:latin typeface="Times New Roman" panose="02020603050405020304" pitchFamily="18" charset="0"/>
                <a:ea typeface="ＭＳ Ｐゴシック" panose="020B0600070205080204" pitchFamily="34" charset="-128"/>
              </a:rPr>
              <a:t>”</a:t>
            </a:r>
            <a:r>
              <a:rPr lang="en-AU" altLang="en-TW" sz="1200">
                <a:latin typeface="Times New Roman" panose="02020603050405020304" pitchFamily="18" charset="0"/>
                <a:ea typeface="ＭＳ Ｐゴシック" panose="020B0600070205080204" pitchFamily="34" charset="-128"/>
              </a:rPr>
              <a:t> with it. Now, pass around a piece of paper with George W. Bush</a:t>
            </a:r>
            <a:r>
              <a:rPr lang="en-AU" altLang="en-US" sz="1200">
                <a:latin typeface="Times New Roman" panose="02020603050405020304" pitchFamily="18" charset="0"/>
                <a:ea typeface="ＭＳ Ｐゴシック" panose="020B0600070205080204" pitchFamily="34" charset="-128"/>
              </a:rPr>
              <a:t>’</a:t>
            </a:r>
            <a:r>
              <a:rPr lang="en-AU" altLang="en-TW" sz="1200">
                <a:latin typeface="Times New Roman" panose="02020603050405020304" pitchFamily="18" charset="0"/>
                <a:ea typeface="ＭＳ Ｐゴシック" panose="020B0600070205080204" pitchFamily="34" charset="-128"/>
              </a:rPr>
              <a:t>s name (or, perhaps your name!) on it and the phrase </a:t>
            </a:r>
            <a:r>
              <a:rPr lang="en-AU" altLang="en-US" sz="1200">
                <a:latin typeface="Times New Roman" panose="02020603050405020304" pitchFamily="18" charset="0"/>
                <a:ea typeface="ＭＳ Ｐゴシック" panose="020B0600070205080204" pitchFamily="34" charset="-128"/>
              </a:rPr>
              <a:t>“</a:t>
            </a:r>
            <a:r>
              <a:rPr lang="en-AU" altLang="en-TW" sz="1200">
                <a:latin typeface="Times New Roman" panose="02020603050405020304" pitchFamily="18" charset="0"/>
                <a:ea typeface="ＭＳ Ｐゴシック" panose="020B0600070205080204" pitchFamily="34" charset="-128"/>
              </a:rPr>
              <a:t>One Dollar</a:t>
            </a:r>
            <a:r>
              <a:rPr lang="en-AU" altLang="en-US" sz="1200">
                <a:latin typeface="Times New Roman" panose="02020603050405020304" pitchFamily="18" charset="0"/>
                <a:ea typeface="ＭＳ Ｐゴシック" panose="020B0600070205080204" pitchFamily="34" charset="-128"/>
              </a:rPr>
              <a:t>”</a:t>
            </a:r>
            <a:r>
              <a:rPr lang="en-AU" altLang="en-TW" sz="1200">
                <a:latin typeface="Times New Roman" panose="02020603050405020304" pitchFamily="18" charset="0"/>
                <a:ea typeface="ＭＳ Ｐゴシック" panose="020B0600070205080204" pitchFamily="34" charset="-128"/>
              </a:rPr>
              <a:t> printed somewhere on it. Ask your students how far this note is likely to get around the class. Most students will say that it won</a:t>
            </a:r>
            <a:r>
              <a:rPr lang="en-AU" altLang="en-US" sz="1200">
                <a:latin typeface="Times New Roman" panose="02020603050405020304" pitchFamily="18" charset="0"/>
                <a:ea typeface="ＭＳ Ｐゴシック" panose="020B0600070205080204" pitchFamily="34" charset="-128"/>
              </a:rPr>
              <a:t>’</a:t>
            </a:r>
            <a:r>
              <a:rPr lang="en-AU" altLang="en-TW" sz="1200">
                <a:latin typeface="Times New Roman" panose="02020603050405020304" pitchFamily="18" charset="0"/>
                <a:ea typeface="ＭＳ Ｐゴシック" panose="020B0600070205080204" pitchFamily="34" charset="-128"/>
              </a:rPr>
              <a:t>t get as far as even the first transaction because this new note is not a socially accepted medium of exchange. However, now ask what might happen if I (the instructor) agreed to convert these George W. Bush notes into genuine U.S. one‐dollar notes upon demand. Students will now be indifferent between accepting these new notes versus receiving the </a:t>
            </a:r>
            <a:r>
              <a:rPr lang="en-AU" altLang="en-US" sz="1200">
                <a:latin typeface="Times New Roman" panose="02020603050405020304" pitchFamily="18" charset="0"/>
                <a:ea typeface="ＭＳ Ｐゴシック" panose="020B0600070205080204" pitchFamily="34" charset="-128"/>
              </a:rPr>
              <a:t>“</a:t>
            </a:r>
            <a:r>
              <a:rPr lang="en-AU" altLang="en-TW" sz="1200">
                <a:latin typeface="Times New Roman" panose="02020603050405020304" pitchFamily="18" charset="0"/>
                <a:ea typeface="ＭＳ Ｐゴシック" panose="020B0600070205080204" pitchFamily="34" charset="-128"/>
              </a:rPr>
              <a:t>real thing,</a:t>
            </a:r>
            <a:r>
              <a:rPr lang="en-AU" altLang="en-US" sz="1200">
                <a:latin typeface="Times New Roman" panose="02020603050405020304" pitchFamily="18" charset="0"/>
                <a:ea typeface="ＭＳ Ｐゴシック" panose="020B0600070205080204" pitchFamily="34" charset="-128"/>
              </a:rPr>
              <a:t>”</a:t>
            </a:r>
            <a:r>
              <a:rPr lang="en-AU" altLang="en-TW" sz="1200">
                <a:latin typeface="Times New Roman" panose="02020603050405020304" pitchFamily="18" charset="0"/>
                <a:ea typeface="ＭＳ Ｐゴシック" panose="020B0600070205080204" pitchFamily="34" charset="-128"/>
              </a:rPr>
              <a:t> Federal Reserve notes. What happens is that the George W. Bush notes, which previously were only pieces of paper, have now effectively become money. That is, they are now considered money (in our fictional but otherwise possibly real example). In fact, as long as people believe they will be converted into actual dollar bills there might never be any reason for people to demand original greenbacks. You can tell your students that this is no different than the story of the goldsmiths in olden days who originally acted as simply caretakers or depositories of people</a:t>
            </a:r>
            <a:r>
              <a:rPr lang="en-AU" altLang="en-US" sz="1200">
                <a:latin typeface="Times New Roman" panose="02020603050405020304" pitchFamily="18" charset="0"/>
                <a:ea typeface="ＭＳ Ｐゴシック" panose="020B0600070205080204" pitchFamily="34" charset="-128"/>
              </a:rPr>
              <a:t>’</a:t>
            </a:r>
            <a:r>
              <a:rPr lang="en-AU" altLang="en-TW" sz="1200">
                <a:latin typeface="Times New Roman" panose="02020603050405020304" pitchFamily="18" charset="0"/>
                <a:ea typeface="ＭＳ Ｐゴシック" panose="020B0600070205080204" pitchFamily="34" charset="-128"/>
              </a:rPr>
              <a:t>s gold. As soon as the script or gold certificates that circulated began to be accepted as means of payment there was no further need of demanding payment in gold because most people regarded the gold certificates as being </a:t>
            </a:r>
            <a:r>
              <a:rPr lang="en-AU" altLang="en-US" sz="1200">
                <a:latin typeface="Times New Roman" panose="02020603050405020304" pitchFamily="18" charset="0"/>
                <a:ea typeface="ＭＳ Ｐゴシック" panose="020B0600070205080204" pitchFamily="34" charset="-128"/>
              </a:rPr>
              <a:t>“</a:t>
            </a:r>
            <a:r>
              <a:rPr lang="en-AU" altLang="en-TW" sz="1200">
                <a:latin typeface="Times New Roman" panose="02020603050405020304" pitchFamily="18" charset="0"/>
                <a:ea typeface="ＭＳ Ｐゴシック" panose="020B0600070205080204" pitchFamily="34" charset="-128"/>
              </a:rPr>
              <a:t>as good as gold.</a:t>
            </a:r>
            <a:r>
              <a:rPr lang="en-AU" altLang="en-US" sz="1200">
                <a:latin typeface="Times New Roman" panose="02020603050405020304" pitchFamily="18" charset="0"/>
                <a:ea typeface="ＭＳ Ｐゴシック" panose="020B0600070205080204" pitchFamily="34" charset="-128"/>
              </a:rPr>
              <a:t>”</a:t>
            </a:r>
            <a:r>
              <a:rPr lang="en-GB" altLang="ja-JP" sz="1200">
                <a:latin typeface="Times New Roman" panose="02020603050405020304" pitchFamily="18" charset="0"/>
                <a:ea typeface="ＭＳ Ｐゴシック" panose="020B0600070205080204" pitchFamily="34" charset="-128"/>
              </a:rPr>
              <a:t> </a:t>
            </a:r>
            <a:endParaRPr lang="en-GB" altLang="en-TW" sz="1200">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4A60519-6E65-A04C-3C3E-41F197DAD473}"/>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8674C3E-F487-DE43-8288-F9FB3F8AA9D8}" type="slidenum">
              <a:rPr lang="en-CA" altLang="en-TW" sz="1200">
                <a:latin typeface="Tahoma" panose="020B0604030504040204" pitchFamily="34" charset="0"/>
              </a:rPr>
              <a:pPr eaLnBrk="1" hangingPunct="1"/>
              <a:t>9</a:t>
            </a:fld>
            <a:endParaRPr lang="en-CA" altLang="en-TW" sz="1200">
              <a:latin typeface="Tahoma" panose="020B0604030504040204" pitchFamily="34" charset="0"/>
            </a:endParaRPr>
          </a:p>
        </p:txBody>
      </p:sp>
      <p:sp>
        <p:nvSpPr>
          <p:cNvPr id="728066" name="Rectangle 2">
            <a:extLst>
              <a:ext uri="{FF2B5EF4-FFF2-40B4-BE49-F238E27FC236}">
                <a16:creationId xmlns:a16="http://schemas.microsoft.com/office/drawing/2014/main" id="{0E805429-5583-4954-5BE3-D492605EF999}"/>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28067" name="Rectangle 3">
            <a:extLst>
              <a:ext uri="{FF2B5EF4-FFF2-40B4-BE49-F238E27FC236}">
                <a16:creationId xmlns:a16="http://schemas.microsoft.com/office/drawing/2014/main" id="{0A1801FC-3BB4-DB9D-786D-E1A6F72F0E2B}"/>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956A5C5-6825-DE86-A60C-74EFEA52341A}"/>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29083BF-1C99-BE48-A7E0-5684F9E4B415}" type="slidenum">
              <a:rPr lang="en-CA" altLang="en-TW" sz="1200">
                <a:latin typeface="Tahoma" panose="020B0604030504040204" pitchFamily="34" charset="0"/>
              </a:rPr>
              <a:pPr eaLnBrk="1" hangingPunct="1"/>
              <a:t>10</a:t>
            </a:fld>
            <a:endParaRPr lang="en-CA" altLang="en-TW" sz="1200">
              <a:latin typeface="Tahoma" panose="020B0604030504040204" pitchFamily="34" charset="0"/>
            </a:endParaRPr>
          </a:p>
        </p:txBody>
      </p:sp>
      <p:sp>
        <p:nvSpPr>
          <p:cNvPr id="729090" name="Rectangle 2">
            <a:extLst>
              <a:ext uri="{FF2B5EF4-FFF2-40B4-BE49-F238E27FC236}">
                <a16:creationId xmlns:a16="http://schemas.microsoft.com/office/drawing/2014/main" id="{92DD1EDE-5F6E-DA32-C838-8749AA5DDDA4}"/>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29091" name="Rectangle 3">
            <a:extLst>
              <a:ext uri="{FF2B5EF4-FFF2-40B4-BE49-F238E27FC236}">
                <a16:creationId xmlns:a16="http://schemas.microsoft.com/office/drawing/2014/main" id="{6B1A3661-DC02-8C0D-93DC-2255109CAC96}"/>
              </a:ext>
            </a:extLst>
          </p:cNvPr>
          <p:cNvSpPr>
            <a:spLocks noGrp="1" noChangeArrowheads="1"/>
          </p:cNvSpPr>
          <p:nvPr>
            <p:ph type="body" idx="1"/>
          </p:nvPr>
        </p:nvSpPr>
        <p:spPr/>
        <p:txBody>
          <a:bodyPr/>
          <a:lstStyle/>
          <a:p>
            <a:pPr eaLnBrk="1" hangingPunct="1">
              <a:lnSpc>
                <a:spcPct val="90000"/>
              </a:lnSpc>
            </a:pPr>
            <a:r>
              <a:rPr lang="en-AU" altLang="en-TW" sz="1400">
                <a:latin typeface="Times New Roman" panose="02020603050405020304" pitchFamily="18" charset="0"/>
                <a:ea typeface="ＭＳ Ｐゴシック" panose="020B0600070205080204" pitchFamily="34" charset="-128"/>
              </a:rPr>
              <a:t>The old joke, </a:t>
            </a:r>
            <a:r>
              <a:rPr lang="en-AU" altLang="en-US" sz="1400">
                <a:latin typeface="Times New Roman" panose="02020603050405020304" pitchFamily="18" charset="0"/>
                <a:ea typeface="ＭＳ Ｐゴシック" panose="020B0600070205080204" pitchFamily="34" charset="-128"/>
              </a:rPr>
              <a:t>“</a:t>
            </a:r>
            <a:r>
              <a:rPr lang="en-AU" altLang="en-TW" sz="1400">
                <a:latin typeface="Times New Roman" panose="02020603050405020304" pitchFamily="18" charset="0"/>
                <a:ea typeface="ＭＳ Ｐゴシック" panose="020B0600070205080204" pitchFamily="34" charset="-128"/>
              </a:rPr>
              <a:t>I must have money, I still have checks left, </a:t>
            </a:r>
            <a:r>
              <a:rPr lang="en-AU" altLang="en-US" sz="1400">
                <a:latin typeface="Times New Roman" panose="02020603050405020304" pitchFamily="18" charset="0"/>
                <a:ea typeface="ＭＳ Ｐゴシック" panose="020B0600070205080204" pitchFamily="34" charset="-128"/>
              </a:rPr>
              <a:t>“</a:t>
            </a:r>
            <a:r>
              <a:rPr lang="en-AU" altLang="en-TW" sz="1400">
                <a:latin typeface="Times New Roman" panose="02020603050405020304" pitchFamily="18" charset="0"/>
                <a:ea typeface="ＭＳ Ｐゴシック" panose="020B0600070205080204" pitchFamily="34" charset="-128"/>
              </a:rPr>
              <a:t> is one that you can be sure your students have heard. Unfortunately for many Americans and perhaps for many of your students it is their reality. You can use this bit of humor to drive home a point about the difference between the instrument in the money process and money itself, a point that can really bedevil more than a few students. Checks aren</a:t>
            </a:r>
            <a:r>
              <a:rPr lang="en-AU" altLang="en-US" sz="1400">
                <a:latin typeface="Times New Roman" panose="02020603050405020304" pitchFamily="18" charset="0"/>
                <a:ea typeface="ＭＳ Ｐゴシック" panose="020B0600070205080204" pitchFamily="34" charset="-128"/>
              </a:rPr>
              <a:t>’</a:t>
            </a:r>
            <a:r>
              <a:rPr lang="en-AU" altLang="en-TW" sz="1400">
                <a:latin typeface="Times New Roman" panose="02020603050405020304" pitchFamily="18" charset="0"/>
                <a:ea typeface="ＭＳ Ｐゴシック" panose="020B0600070205080204" pitchFamily="34" charset="-128"/>
              </a:rPr>
              <a:t>t money, unlike the deposits that they are drawn against. Ask your class if, when they write a check, have they created more money? The answer will be no. All that takes place is that the distribution of money changes but the absolute level of money (M1) remains the same. This same argument can be made for credit cards as well. Tell your students that if the unused credit lines of credit cards were actually counted as part of the money supply then M1 would be many trillions of dollars greater than it is already! The reason that credit cards are not counted as money is that they are nothing more than unsecured short‐term loans. Because loans do not fit the definition of money, credit cards quite appropriately are not classified as money.</a:t>
            </a:r>
            <a:r>
              <a:rPr lang="en-GB" altLang="en-TW" sz="1400">
                <a:latin typeface="Times New Roman" panose="02020603050405020304" pitchFamily="18" charset="0"/>
                <a:ea typeface="ＭＳ Ｐゴシック" panose="020B0600070205080204" pitchFamily="34" charset="-128"/>
              </a:rPr>
              <a: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5CF891A-85EC-1564-EF82-14EAAB5A45C1}"/>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796A03B-CDBE-EA4F-9C49-A24EF6E7FEB4}" type="slidenum">
              <a:rPr lang="en-CA" altLang="en-TW" sz="1200">
                <a:latin typeface="Tahoma" panose="020B0604030504040204" pitchFamily="34" charset="0"/>
              </a:rPr>
              <a:pPr eaLnBrk="1" hangingPunct="1"/>
              <a:t>12</a:t>
            </a:fld>
            <a:endParaRPr lang="en-CA" altLang="en-TW" sz="1200">
              <a:latin typeface="Tahoma" panose="020B0604030504040204" pitchFamily="34" charset="0"/>
            </a:endParaRPr>
          </a:p>
        </p:txBody>
      </p:sp>
      <p:sp>
        <p:nvSpPr>
          <p:cNvPr id="745474" name="Rectangle 2">
            <a:extLst>
              <a:ext uri="{FF2B5EF4-FFF2-40B4-BE49-F238E27FC236}">
                <a16:creationId xmlns:a16="http://schemas.microsoft.com/office/drawing/2014/main" id="{BF022F87-AE9B-BF06-364C-59BD7955A266}"/>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45475" name="Rectangle 3">
            <a:extLst>
              <a:ext uri="{FF2B5EF4-FFF2-40B4-BE49-F238E27FC236}">
                <a16:creationId xmlns:a16="http://schemas.microsoft.com/office/drawing/2014/main" id="{4DAA6305-E346-DCA0-7984-287D745B6486}"/>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0BAC549-7E2A-3C6D-9DB7-E370E6C78710}"/>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FF25966-80FD-4D49-9456-502CCE06E343}" type="slidenum">
              <a:rPr lang="en-CA" altLang="en-TW" sz="1200">
                <a:latin typeface="Tahoma" panose="020B0604030504040204" pitchFamily="34" charset="0"/>
              </a:rPr>
              <a:pPr eaLnBrk="1" hangingPunct="1"/>
              <a:t>13</a:t>
            </a:fld>
            <a:endParaRPr lang="en-CA" altLang="en-TW" sz="1200">
              <a:latin typeface="Tahoma" panose="020B0604030504040204" pitchFamily="34" charset="0"/>
            </a:endParaRPr>
          </a:p>
        </p:txBody>
      </p:sp>
      <p:sp>
        <p:nvSpPr>
          <p:cNvPr id="748546" name="Rectangle 2">
            <a:extLst>
              <a:ext uri="{FF2B5EF4-FFF2-40B4-BE49-F238E27FC236}">
                <a16:creationId xmlns:a16="http://schemas.microsoft.com/office/drawing/2014/main" id="{1C445A9F-A209-6B9F-44EB-4A7874907348}"/>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48547" name="Rectangle 3">
            <a:extLst>
              <a:ext uri="{FF2B5EF4-FFF2-40B4-BE49-F238E27FC236}">
                <a16:creationId xmlns:a16="http://schemas.microsoft.com/office/drawing/2014/main" id="{2FB0C223-CC64-A235-CEDF-1712FCED2CAB}"/>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E638851-972A-765F-5B13-00797227EE68}"/>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F1EDEF3-6EA9-A543-9670-86BDE4336832}" type="slidenum">
              <a:rPr lang="en-CA" altLang="en-TW" sz="1200">
                <a:latin typeface="Tahoma" panose="020B0604030504040204" pitchFamily="34" charset="0"/>
              </a:rPr>
              <a:pPr eaLnBrk="1" hangingPunct="1"/>
              <a:t>17</a:t>
            </a:fld>
            <a:endParaRPr lang="en-CA" altLang="en-TW" sz="1200">
              <a:latin typeface="Tahoma" panose="020B0604030504040204" pitchFamily="34" charset="0"/>
            </a:endParaRPr>
          </a:p>
        </p:txBody>
      </p:sp>
      <p:sp>
        <p:nvSpPr>
          <p:cNvPr id="827394" name="Rectangle 2">
            <a:extLst>
              <a:ext uri="{FF2B5EF4-FFF2-40B4-BE49-F238E27FC236}">
                <a16:creationId xmlns:a16="http://schemas.microsoft.com/office/drawing/2014/main" id="{F77071A5-E1ED-0B93-6712-D16312BD3106}"/>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27395" name="Rectangle 3">
            <a:extLst>
              <a:ext uri="{FF2B5EF4-FFF2-40B4-BE49-F238E27FC236}">
                <a16:creationId xmlns:a16="http://schemas.microsoft.com/office/drawing/2014/main" id="{C7BB5484-5995-1CFA-D146-E7569ED98D67}"/>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9F775E7-C713-5A1D-59CD-3C95CAFAB092}"/>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6892B1F-5E27-6343-A3D3-6355E4E0E0C1}" type="slidenum">
              <a:rPr lang="en-CA" altLang="en-TW" sz="1200">
                <a:latin typeface="Tahoma" panose="020B0604030504040204" pitchFamily="34" charset="0"/>
              </a:rPr>
              <a:pPr eaLnBrk="1" hangingPunct="1"/>
              <a:t>18</a:t>
            </a:fld>
            <a:endParaRPr lang="en-CA" altLang="en-TW" sz="1200">
              <a:latin typeface="Tahoma" panose="020B0604030504040204" pitchFamily="34" charset="0"/>
            </a:endParaRPr>
          </a:p>
        </p:txBody>
      </p:sp>
      <p:sp>
        <p:nvSpPr>
          <p:cNvPr id="829442" name="Rectangle 2">
            <a:extLst>
              <a:ext uri="{FF2B5EF4-FFF2-40B4-BE49-F238E27FC236}">
                <a16:creationId xmlns:a16="http://schemas.microsoft.com/office/drawing/2014/main" id="{BFD668C6-DE6B-7299-C7CC-746D24FCE2D6}"/>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29443" name="Rectangle 3">
            <a:extLst>
              <a:ext uri="{FF2B5EF4-FFF2-40B4-BE49-F238E27FC236}">
                <a16:creationId xmlns:a16="http://schemas.microsoft.com/office/drawing/2014/main" id="{48B21FD5-F7A9-87AD-933E-F2B39F9E2467}"/>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AC56263-A241-6C91-6DC3-57B83BD4E53D}"/>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9506064-99E9-8F42-B270-BD4D7AFDF875}" type="slidenum">
              <a:rPr lang="en-CA" altLang="en-TW" sz="1200">
                <a:latin typeface="Tahoma" panose="020B0604030504040204" pitchFamily="34" charset="0"/>
              </a:rPr>
              <a:pPr eaLnBrk="1" hangingPunct="1"/>
              <a:t>19</a:t>
            </a:fld>
            <a:endParaRPr lang="en-CA" altLang="en-TW" sz="1200">
              <a:latin typeface="Tahoma" panose="020B0604030504040204" pitchFamily="34" charset="0"/>
            </a:endParaRPr>
          </a:p>
        </p:txBody>
      </p:sp>
      <p:sp>
        <p:nvSpPr>
          <p:cNvPr id="831490" name="Rectangle 2">
            <a:extLst>
              <a:ext uri="{FF2B5EF4-FFF2-40B4-BE49-F238E27FC236}">
                <a16:creationId xmlns:a16="http://schemas.microsoft.com/office/drawing/2014/main" id="{99807E0C-48A5-B407-3A32-9A178F169E7B}"/>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31491" name="Rectangle 3">
            <a:extLst>
              <a:ext uri="{FF2B5EF4-FFF2-40B4-BE49-F238E27FC236}">
                <a16:creationId xmlns:a16="http://schemas.microsoft.com/office/drawing/2014/main" id="{CD70460B-8339-06B5-CA38-DA787DAFB4F1}"/>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B42B203-7F60-CBE1-ED86-F0634F9138E6}"/>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2182AFF-D2E4-3949-8073-44E6B183BFCA}" type="slidenum">
              <a:rPr lang="en-CA" altLang="en-TW" sz="1200">
                <a:latin typeface="Tahoma" panose="020B0604030504040204" pitchFamily="34" charset="0"/>
              </a:rPr>
              <a:pPr eaLnBrk="1" hangingPunct="1"/>
              <a:t>22</a:t>
            </a:fld>
            <a:endParaRPr lang="en-CA" altLang="en-TW" sz="1200">
              <a:latin typeface="Tahoma" panose="020B0604030504040204" pitchFamily="34" charset="0"/>
            </a:endParaRPr>
          </a:p>
        </p:txBody>
      </p:sp>
      <p:sp>
        <p:nvSpPr>
          <p:cNvPr id="756738" name="Rectangle 2">
            <a:extLst>
              <a:ext uri="{FF2B5EF4-FFF2-40B4-BE49-F238E27FC236}">
                <a16:creationId xmlns:a16="http://schemas.microsoft.com/office/drawing/2014/main" id="{3199481E-8E74-7CEC-E399-F78DC180BFAD}"/>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56739" name="Rectangle 3">
            <a:extLst>
              <a:ext uri="{FF2B5EF4-FFF2-40B4-BE49-F238E27FC236}">
                <a16:creationId xmlns:a16="http://schemas.microsoft.com/office/drawing/2014/main" id="{815253FD-D7C4-01E3-2B86-E262EA1E24B5}"/>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D38208B6-0EA3-FC74-5F60-46BE2CE546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86E00A1-8475-B54E-8A11-A1AC0AE66DD1}" type="slidenum">
              <a:rPr lang="en-US" altLang="en-US"/>
              <a:pPr>
                <a:spcBef>
                  <a:spcPct val="0"/>
                </a:spcBef>
              </a:pPr>
              <a:t>23</a:t>
            </a:fld>
            <a:endParaRPr lang="en-US" altLang="en-US"/>
          </a:p>
        </p:txBody>
      </p:sp>
      <p:sp>
        <p:nvSpPr>
          <p:cNvPr id="35843" name="Rectangle 2">
            <a:extLst>
              <a:ext uri="{FF2B5EF4-FFF2-40B4-BE49-F238E27FC236}">
                <a16:creationId xmlns:a16="http://schemas.microsoft.com/office/drawing/2014/main" id="{532BEECF-49FD-053E-BB0B-60FB592C4302}"/>
              </a:ext>
            </a:extLst>
          </p:cNvPr>
          <p:cNvSpPr>
            <a:spLocks noRot="1" noChangeArrowheads="1" noTextEdit="1"/>
          </p:cNvSpPr>
          <p:nvPr>
            <p:ph type="sldImg"/>
          </p:nvPr>
        </p:nvSpPr>
        <p:spPr>
          <a:ln/>
        </p:spPr>
      </p:sp>
      <p:sp>
        <p:nvSpPr>
          <p:cNvPr id="35844" name="Rectangle 3">
            <a:extLst>
              <a:ext uri="{FF2B5EF4-FFF2-40B4-BE49-F238E27FC236}">
                <a16:creationId xmlns:a16="http://schemas.microsoft.com/office/drawing/2014/main" id="{8C24316B-4D05-C86F-ABB2-1E57838332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437FE34-4AF4-44E9-CB1C-9827E7E9C82F}"/>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7737DF2-2C80-5B48-A57F-DDE3271B9053}" type="slidenum">
              <a:rPr lang="en-CA" altLang="en-TW" sz="1200">
                <a:latin typeface="Tahoma" panose="020B0604030504040204" pitchFamily="34" charset="0"/>
              </a:rPr>
              <a:pPr eaLnBrk="1" hangingPunct="1"/>
              <a:t>26</a:t>
            </a:fld>
            <a:endParaRPr lang="en-CA" altLang="en-TW" sz="1200">
              <a:latin typeface="Tahoma" panose="020B0604030504040204" pitchFamily="34" charset="0"/>
            </a:endParaRPr>
          </a:p>
        </p:txBody>
      </p:sp>
      <p:sp>
        <p:nvSpPr>
          <p:cNvPr id="759810" name="Rectangle 2">
            <a:extLst>
              <a:ext uri="{FF2B5EF4-FFF2-40B4-BE49-F238E27FC236}">
                <a16:creationId xmlns:a16="http://schemas.microsoft.com/office/drawing/2014/main" id="{4D88C60A-78CC-4694-572B-CE9B47998DBC}"/>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59811" name="Rectangle 3">
            <a:extLst>
              <a:ext uri="{FF2B5EF4-FFF2-40B4-BE49-F238E27FC236}">
                <a16:creationId xmlns:a16="http://schemas.microsoft.com/office/drawing/2014/main" id="{6AF73CFA-6A25-14BF-53AB-0E449BD29DED}"/>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6BFF93F-9183-F63E-DB16-9BCB0ED3C873}"/>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FF15124-A524-8B4B-A738-5D225500CF96}" type="slidenum">
              <a:rPr lang="en-CA" altLang="en-TW" sz="1200">
                <a:latin typeface="Tahoma" panose="020B0604030504040204" pitchFamily="34" charset="0"/>
              </a:rPr>
              <a:pPr eaLnBrk="1" hangingPunct="1"/>
              <a:t>27</a:t>
            </a:fld>
            <a:endParaRPr lang="en-CA" altLang="en-TW" sz="1200">
              <a:latin typeface="Tahoma" panose="020B0604030504040204" pitchFamily="34" charset="0"/>
            </a:endParaRPr>
          </a:p>
        </p:txBody>
      </p:sp>
      <p:sp>
        <p:nvSpPr>
          <p:cNvPr id="760834" name="Rectangle 2">
            <a:extLst>
              <a:ext uri="{FF2B5EF4-FFF2-40B4-BE49-F238E27FC236}">
                <a16:creationId xmlns:a16="http://schemas.microsoft.com/office/drawing/2014/main" id="{EDC105FE-C377-422A-382F-ABD8CC1B95E7}"/>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60835" name="Rectangle 3">
            <a:extLst>
              <a:ext uri="{FF2B5EF4-FFF2-40B4-BE49-F238E27FC236}">
                <a16:creationId xmlns:a16="http://schemas.microsoft.com/office/drawing/2014/main" id="{35524CCF-99EB-00EE-D093-08E4F84015E4}"/>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0935778-3823-EE00-4927-4413772AA591}"/>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D53C1F5-37E0-1F49-BD2F-6A381B22798C}" type="slidenum">
              <a:rPr lang="en-CA" altLang="en-TW" sz="1200">
                <a:latin typeface="Tahoma" panose="020B0604030504040204" pitchFamily="34" charset="0"/>
              </a:rPr>
              <a:pPr eaLnBrk="1" hangingPunct="1"/>
              <a:t>28</a:t>
            </a:fld>
            <a:endParaRPr lang="en-CA" altLang="en-TW" sz="1200">
              <a:latin typeface="Tahoma" panose="020B0604030504040204" pitchFamily="34" charset="0"/>
            </a:endParaRPr>
          </a:p>
        </p:txBody>
      </p:sp>
      <p:sp>
        <p:nvSpPr>
          <p:cNvPr id="761858" name="Rectangle 2">
            <a:extLst>
              <a:ext uri="{FF2B5EF4-FFF2-40B4-BE49-F238E27FC236}">
                <a16:creationId xmlns:a16="http://schemas.microsoft.com/office/drawing/2014/main" id="{FBBFD74A-6A13-2B6C-7F93-4C392C049548}"/>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61859" name="Rectangle 3">
            <a:extLst>
              <a:ext uri="{FF2B5EF4-FFF2-40B4-BE49-F238E27FC236}">
                <a16:creationId xmlns:a16="http://schemas.microsoft.com/office/drawing/2014/main" id="{3F7D6B5B-EED3-4B79-5F1B-84F7DD8CC539}"/>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4083A5C-48C7-6070-9FE6-986C930FD89F}"/>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872D240-5CD9-3248-B938-D1B74E70DE41}" type="slidenum">
              <a:rPr lang="en-CA" altLang="en-TW" sz="1200">
                <a:latin typeface="Tahoma" panose="020B0604030504040204" pitchFamily="34" charset="0"/>
              </a:rPr>
              <a:pPr eaLnBrk="1" hangingPunct="1"/>
              <a:t>30</a:t>
            </a:fld>
            <a:endParaRPr lang="en-CA" altLang="en-TW" sz="1200">
              <a:latin typeface="Tahoma" panose="020B0604030504040204" pitchFamily="34" charset="0"/>
            </a:endParaRPr>
          </a:p>
        </p:txBody>
      </p:sp>
      <p:sp>
        <p:nvSpPr>
          <p:cNvPr id="766978" name="Rectangle 2">
            <a:extLst>
              <a:ext uri="{FF2B5EF4-FFF2-40B4-BE49-F238E27FC236}">
                <a16:creationId xmlns:a16="http://schemas.microsoft.com/office/drawing/2014/main" id="{12145EED-3DE4-934A-6F8A-77308CA1C277}"/>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66979" name="Rectangle 3">
            <a:extLst>
              <a:ext uri="{FF2B5EF4-FFF2-40B4-BE49-F238E27FC236}">
                <a16:creationId xmlns:a16="http://schemas.microsoft.com/office/drawing/2014/main" id="{46D0AB15-0AC8-5FA5-307B-3640C14CC598}"/>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52EC90F-5A9F-002C-D9BB-DCF2B2103C8D}"/>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FA42C97-D12F-B747-AAFC-198B18287D9D}" type="slidenum">
              <a:rPr lang="en-CA" altLang="en-TW" sz="1200">
                <a:latin typeface="Tahoma" panose="020B0604030504040204" pitchFamily="34" charset="0"/>
              </a:rPr>
              <a:pPr eaLnBrk="1" hangingPunct="1"/>
              <a:t>31</a:t>
            </a:fld>
            <a:endParaRPr lang="en-CA" altLang="en-TW" sz="1200">
              <a:latin typeface="Tahoma" panose="020B0604030504040204" pitchFamily="34" charset="0"/>
            </a:endParaRPr>
          </a:p>
        </p:txBody>
      </p:sp>
      <p:sp>
        <p:nvSpPr>
          <p:cNvPr id="934914" name="Rectangle 2">
            <a:extLst>
              <a:ext uri="{FF2B5EF4-FFF2-40B4-BE49-F238E27FC236}">
                <a16:creationId xmlns:a16="http://schemas.microsoft.com/office/drawing/2014/main" id="{00C0FF9E-02BA-F1F7-8F61-22FB831CA0B3}"/>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934915" name="Rectangle 3">
            <a:extLst>
              <a:ext uri="{FF2B5EF4-FFF2-40B4-BE49-F238E27FC236}">
                <a16:creationId xmlns:a16="http://schemas.microsoft.com/office/drawing/2014/main" id="{51E78B8B-FFEE-5591-857B-087AE9026082}"/>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15010F1-7C7B-D394-59DF-FAA28D732DA3}"/>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F731C13-F6B5-CA41-97FC-FD965AB263E4}" type="slidenum">
              <a:rPr lang="en-CA" altLang="en-TW" sz="1200">
                <a:latin typeface="Tahoma" panose="020B0604030504040204" pitchFamily="34" charset="0"/>
              </a:rPr>
              <a:pPr eaLnBrk="1" hangingPunct="1"/>
              <a:t>32</a:t>
            </a:fld>
            <a:endParaRPr lang="en-CA" altLang="en-TW" sz="1200">
              <a:latin typeface="Tahoma" panose="020B0604030504040204" pitchFamily="34" charset="0"/>
            </a:endParaRPr>
          </a:p>
        </p:txBody>
      </p:sp>
      <p:sp>
        <p:nvSpPr>
          <p:cNvPr id="763906" name="Rectangle 2">
            <a:extLst>
              <a:ext uri="{FF2B5EF4-FFF2-40B4-BE49-F238E27FC236}">
                <a16:creationId xmlns:a16="http://schemas.microsoft.com/office/drawing/2014/main" id="{DD10176D-F925-4802-996E-AB4BB66C2946}"/>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63907" name="Rectangle 3">
            <a:extLst>
              <a:ext uri="{FF2B5EF4-FFF2-40B4-BE49-F238E27FC236}">
                <a16:creationId xmlns:a16="http://schemas.microsoft.com/office/drawing/2014/main" id="{8C14F70B-75EF-98FF-DAE5-CA27D7E8FAED}"/>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BB0B235-84B1-6D8A-0325-E3AA53FD6838}"/>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DE6E414-8223-5C40-ABB9-1723EE7F08AA}" type="slidenum">
              <a:rPr lang="en-CA" altLang="en-TW" sz="1200">
                <a:latin typeface="Tahoma" panose="020B0604030504040204" pitchFamily="34" charset="0"/>
              </a:rPr>
              <a:pPr eaLnBrk="1" hangingPunct="1"/>
              <a:t>33</a:t>
            </a:fld>
            <a:endParaRPr lang="en-CA" altLang="en-TW" sz="1200">
              <a:latin typeface="Tahoma" panose="020B0604030504040204" pitchFamily="34" charset="0"/>
            </a:endParaRPr>
          </a:p>
        </p:txBody>
      </p:sp>
      <p:sp>
        <p:nvSpPr>
          <p:cNvPr id="764930" name="Rectangle 2">
            <a:extLst>
              <a:ext uri="{FF2B5EF4-FFF2-40B4-BE49-F238E27FC236}">
                <a16:creationId xmlns:a16="http://schemas.microsoft.com/office/drawing/2014/main" id="{146CDB8B-957A-8287-D065-95B2979E0F21}"/>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64931" name="Rectangle 3">
            <a:extLst>
              <a:ext uri="{FF2B5EF4-FFF2-40B4-BE49-F238E27FC236}">
                <a16:creationId xmlns:a16="http://schemas.microsoft.com/office/drawing/2014/main" id="{B2A7A2C1-B529-F69D-BE33-446C592C27BA}"/>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74BCA3C-6424-096E-EFEF-97D0B6470489}"/>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41B16C2-03EA-8546-ACBD-7CF21F52FB51}" type="slidenum">
              <a:rPr lang="en-CA" altLang="en-TW" sz="1200">
                <a:latin typeface="Tahoma" panose="020B0604030504040204" pitchFamily="34" charset="0"/>
              </a:rPr>
              <a:pPr eaLnBrk="1" hangingPunct="1"/>
              <a:t>34</a:t>
            </a:fld>
            <a:endParaRPr lang="en-CA" altLang="en-TW" sz="1200">
              <a:latin typeface="Tahoma" panose="020B0604030504040204" pitchFamily="34" charset="0"/>
            </a:endParaRPr>
          </a:p>
        </p:txBody>
      </p:sp>
      <p:sp>
        <p:nvSpPr>
          <p:cNvPr id="765954" name="Rectangle 2">
            <a:extLst>
              <a:ext uri="{FF2B5EF4-FFF2-40B4-BE49-F238E27FC236}">
                <a16:creationId xmlns:a16="http://schemas.microsoft.com/office/drawing/2014/main" id="{54992BD3-1D5A-32CA-2C62-9AA76421E2CC}"/>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765955" name="Rectangle 3">
            <a:extLst>
              <a:ext uri="{FF2B5EF4-FFF2-40B4-BE49-F238E27FC236}">
                <a16:creationId xmlns:a16="http://schemas.microsoft.com/office/drawing/2014/main" id="{9000938E-4280-2D4E-A6AD-D9F65424816B}"/>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43F92C8-0897-C54C-739C-2714FA9BB9A8}"/>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D9A67C3-4669-2647-A94E-DB4B79376D80}" type="slidenum">
              <a:rPr lang="en-CA" altLang="en-TW" sz="1200">
                <a:latin typeface="Tahoma" panose="020B0604030504040204" pitchFamily="34" charset="0"/>
              </a:rPr>
              <a:pPr eaLnBrk="1" hangingPunct="1"/>
              <a:t>43</a:t>
            </a:fld>
            <a:endParaRPr lang="en-CA" altLang="en-TW" sz="1200">
              <a:latin typeface="Tahoma" panose="020B0604030504040204" pitchFamily="34" charset="0"/>
            </a:endParaRPr>
          </a:p>
        </p:txBody>
      </p:sp>
      <p:sp>
        <p:nvSpPr>
          <p:cNvPr id="880642" name="Rectangle 2">
            <a:extLst>
              <a:ext uri="{FF2B5EF4-FFF2-40B4-BE49-F238E27FC236}">
                <a16:creationId xmlns:a16="http://schemas.microsoft.com/office/drawing/2014/main" id="{669EB260-5996-BE41-5D4A-21554D9BE3D2}"/>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80643" name="Rectangle 3">
            <a:extLst>
              <a:ext uri="{FF2B5EF4-FFF2-40B4-BE49-F238E27FC236}">
                <a16:creationId xmlns:a16="http://schemas.microsoft.com/office/drawing/2014/main" id="{B14D1E10-BF63-6B25-8447-9F4BF0355EBF}"/>
              </a:ext>
            </a:extLst>
          </p:cNvPr>
          <p:cNvSpPr>
            <a:spLocks noGrp="1" noChangeArrowheads="1"/>
          </p:cNvSpPr>
          <p:nvPr>
            <p:ph type="body" idx="1"/>
          </p:nvPr>
        </p:nvSpPr>
        <p:spPr>
          <a:xfrm>
            <a:off x="685800" y="4343400"/>
            <a:ext cx="5486400" cy="4114800"/>
          </a:xfrm>
        </p:spPr>
        <p:txBody>
          <a:bodyPr/>
          <a:lstStyle/>
          <a:p>
            <a:pPr eaLnBrk="1" hangingPunct="1">
              <a:defRPr/>
            </a:pPr>
            <a:endParaRPr lang="en-US">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864DAFA2-9ACE-77C9-94D6-13286BF225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4418626-B4D9-DB4C-A61B-67DFACA2B260}" type="slidenum">
              <a:rPr lang="en-US" altLang="en-US"/>
              <a:pPr>
                <a:spcBef>
                  <a:spcPct val="0"/>
                </a:spcBef>
              </a:pPr>
              <a:t>45</a:t>
            </a:fld>
            <a:endParaRPr lang="en-US" altLang="en-US"/>
          </a:p>
        </p:txBody>
      </p:sp>
      <p:sp>
        <p:nvSpPr>
          <p:cNvPr id="66563" name="Rectangle 2">
            <a:extLst>
              <a:ext uri="{FF2B5EF4-FFF2-40B4-BE49-F238E27FC236}">
                <a16:creationId xmlns:a16="http://schemas.microsoft.com/office/drawing/2014/main" id="{D3059DE0-B5D1-23F6-0FD1-A82C48543CCE}"/>
              </a:ext>
            </a:extLst>
          </p:cNvPr>
          <p:cNvSpPr>
            <a:spLocks noRot="1" noChangeArrowheads="1" noTextEdit="1"/>
          </p:cNvSpPr>
          <p:nvPr>
            <p:ph type="sldImg"/>
          </p:nvPr>
        </p:nvSpPr>
        <p:spPr>
          <a:ln/>
        </p:spPr>
      </p:sp>
      <p:sp>
        <p:nvSpPr>
          <p:cNvPr id="66564" name="Rectangle 3">
            <a:extLst>
              <a:ext uri="{FF2B5EF4-FFF2-40B4-BE49-F238E27FC236}">
                <a16:creationId xmlns:a16="http://schemas.microsoft.com/office/drawing/2014/main" id="{2130B630-E2E5-FCF8-7CFC-25F7765FD5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D068DE56-EBB6-8A0F-0489-2D1D4F26B5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496338F-6E51-924B-A1F9-D083A47E1AF2}" type="slidenum">
              <a:rPr lang="en-US" altLang="en-US"/>
              <a:pPr>
                <a:spcBef>
                  <a:spcPct val="0"/>
                </a:spcBef>
              </a:pPr>
              <a:t>46</a:t>
            </a:fld>
            <a:endParaRPr lang="en-US" altLang="en-US"/>
          </a:p>
        </p:txBody>
      </p:sp>
      <p:sp>
        <p:nvSpPr>
          <p:cNvPr id="68611" name="Rectangle 2">
            <a:extLst>
              <a:ext uri="{FF2B5EF4-FFF2-40B4-BE49-F238E27FC236}">
                <a16:creationId xmlns:a16="http://schemas.microsoft.com/office/drawing/2014/main" id="{41F498CD-4D7E-ECFE-5EB9-A81954801327}"/>
              </a:ext>
            </a:extLst>
          </p:cNvPr>
          <p:cNvSpPr>
            <a:spLocks noRot="1" noChangeArrowheads="1" noTextEdit="1"/>
          </p:cNvSpPr>
          <p:nvPr>
            <p:ph type="sldImg"/>
          </p:nvPr>
        </p:nvSpPr>
        <p:spPr>
          <a:ln/>
        </p:spPr>
      </p:sp>
      <p:sp>
        <p:nvSpPr>
          <p:cNvPr id="68612" name="Rectangle 3">
            <a:extLst>
              <a:ext uri="{FF2B5EF4-FFF2-40B4-BE49-F238E27FC236}">
                <a16:creationId xmlns:a16="http://schemas.microsoft.com/office/drawing/2014/main" id="{1C376645-BC0A-A2B0-A0AE-8B577C8063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3B3C1C7-2A8B-0A20-FC31-B78F1B77FC50}"/>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00F9C68-455A-1540-B88C-483367895FA5}" type="slidenum">
              <a:rPr lang="en-CA" altLang="en-TW" sz="1200">
                <a:latin typeface="Tahoma" panose="020B0604030504040204" pitchFamily="34" charset="0"/>
              </a:rPr>
              <a:pPr eaLnBrk="1" hangingPunct="1"/>
              <a:t>47</a:t>
            </a:fld>
            <a:endParaRPr lang="en-CA" altLang="en-TW" sz="1200">
              <a:latin typeface="Tahoma" panose="020B0604030504040204" pitchFamily="34" charset="0"/>
            </a:endParaRPr>
          </a:p>
        </p:txBody>
      </p:sp>
      <p:sp>
        <p:nvSpPr>
          <p:cNvPr id="856066" name="Rectangle 2">
            <a:extLst>
              <a:ext uri="{FF2B5EF4-FFF2-40B4-BE49-F238E27FC236}">
                <a16:creationId xmlns:a16="http://schemas.microsoft.com/office/drawing/2014/main" id="{8C266523-8508-4C01-9C2D-C287DBF3484F}"/>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56067" name="Rectangle 3">
            <a:extLst>
              <a:ext uri="{FF2B5EF4-FFF2-40B4-BE49-F238E27FC236}">
                <a16:creationId xmlns:a16="http://schemas.microsoft.com/office/drawing/2014/main" id="{26C5CA76-A5E3-8311-BC0D-3A384AC1C0C0}"/>
              </a:ext>
            </a:extLst>
          </p:cNvPr>
          <p:cNvSpPr>
            <a:spLocks noGrp="1" noChangeArrowheads="1"/>
          </p:cNvSpPr>
          <p:nvPr>
            <p:ph type="body" idx="1"/>
          </p:nvPr>
        </p:nvSpPr>
        <p:spPr/>
        <p:txBody>
          <a:bodyPr/>
          <a:lstStyle/>
          <a:p>
            <a:pPr eaLnBrk="1" hangingPunct="1">
              <a:defRPr/>
            </a:pPr>
            <a:endParaRPr lang="en-GB">
              <a:cs typeface="+mn-cs"/>
            </a:endParaRPr>
          </a:p>
        </p:txBody>
      </p:sp>
    </p:spTree>
    <p:extLst>
      <p:ext uri="{BB962C8B-B14F-4D97-AF65-F5344CB8AC3E}">
        <p14:creationId xmlns:p14="http://schemas.microsoft.com/office/powerpoint/2010/main" val="38688340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D3C68BDC-A022-1E2F-D0A2-CDE6636E13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C77B13E-FF10-6D42-80D3-CA2D8A2FA1C2}" type="slidenum">
              <a:rPr lang="en-US" altLang="en-US"/>
              <a:pPr>
                <a:spcBef>
                  <a:spcPct val="0"/>
                </a:spcBef>
              </a:pPr>
              <a:t>48</a:t>
            </a:fld>
            <a:endParaRPr lang="en-US" altLang="en-US"/>
          </a:p>
        </p:txBody>
      </p:sp>
      <p:sp>
        <p:nvSpPr>
          <p:cNvPr id="70659" name="Rectangle 2">
            <a:extLst>
              <a:ext uri="{FF2B5EF4-FFF2-40B4-BE49-F238E27FC236}">
                <a16:creationId xmlns:a16="http://schemas.microsoft.com/office/drawing/2014/main" id="{9F1FE08C-B010-2ACA-8CC6-0DE936C15DA2}"/>
              </a:ext>
            </a:extLst>
          </p:cNvPr>
          <p:cNvSpPr>
            <a:spLocks noRot="1" noChangeArrowheads="1" noTextEdit="1"/>
          </p:cNvSpPr>
          <p:nvPr>
            <p:ph type="sldImg"/>
          </p:nvPr>
        </p:nvSpPr>
        <p:spPr>
          <a:ln/>
        </p:spPr>
      </p:sp>
      <p:sp>
        <p:nvSpPr>
          <p:cNvPr id="70660" name="Rectangle 3">
            <a:extLst>
              <a:ext uri="{FF2B5EF4-FFF2-40B4-BE49-F238E27FC236}">
                <a16:creationId xmlns:a16="http://schemas.microsoft.com/office/drawing/2014/main" id="{691DBACD-0277-877A-0094-70AB80ECD0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9BF7A887-F212-5AA0-5484-398F1AA83A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7277E22-DFBA-EB45-8339-59195981763A}" type="slidenum">
              <a:rPr lang="en-US" altLang="en-US"/>
              <a:pPr>
                <a:spcBef>
                  <a:spcPct val="0"/>
                </a:spcBef>
              </a:pPr>
              <a:t>49</a:t>
            </a:fld>
            <a:endParaRPr lang="en-US" altLang="en-US"/>
          </a:p>
        </p:txBody>
      </p:sp>
      <p:sp>
        <p:nvSpPr>
          <p:cNvPr id="72707" name="Rectangle 2">
            <a:extLst>
              <a:ext uri="{FF2B5EF4-FFF2-40B4-BE49-F238E27FC236}">
                <a16:creationId xmlns:a16="http://schemas.microsoft.com/office/drawing/2014/main" id="{68FABBD7-1341-D6A9-A5B2-57BA7BEBC944}"/>
              </a:ext>
            </a:extLst>
          </p:cNvPr>
          <p:cNvSpPr>
            <a:spLocks noRot="1" noChangeArrowheads="1" noTextEdit="1"/>
          </p:cNvSpPr>
          <p:nvPr>
            <p:ph type="sldImg"/>
          </p:nvPr>
        </p:nvSpPr>
        <p:spPr>
          <a:ln/>
        </p:spPr>
      </p:sp>
      <p:sp>
        <p:nvSpPr>
          <p:cNvPr id="72708" name="Rectangle 3">
            <a:extLst>
              <a:ext uri="{FF2B5EF4-FFF2-40B4-BE49-F238E27FC236}">
                <a16:creationId xmlns:a16="http://schemas.microsoft.com/office/drawing/2014/main" id="{B33D84BF-64BC-C0E9-92EA-3AB674D0D1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A6367C2-DCD4-56BE-0321-1C293AD00057}"/>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9AE812D-F105-1548-85A9-7F9C7E87F940}" type="slidenum">
              <a:rPr lang="en-CA" altLang="en-TW" sz="1200">
                <a:latin typeface="Tahoma" panose="020B0604030504040204" pitchFamily="34" charset="0"/>
              </a:rPr>
              <a:pPr eaLnBrk="1" hangingPunct="1"/>
              <a:t>51</a:t>
            </a:fld>
            <a:endParaRPr lang="en-CA" altLang="en-TW" sz="1200">
              <a:latin typeface="Tahoma" panose="020B0604030504040204" pitchFamily="34" charset="0"/>
            </a:endParaRPr>
          </a:p>
        </p:txBody>
      </p:sp>
      <p:sp>
        <p:nvSpPr>
          <p:cNvPr id="802818" name="Rectangle 2">
            <a:extLst>
              <a:ext uri="{FF2B5EF4-FFF2-40B4-BE49-F238E27FC236}">
                <a16:creationId xmlns:a16="http://schemas.microsoft.com/office/drawing/2014/main" id="{81E12618-03B1-1BE7-3073-624A55CA2D7D}"/>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02819" name="Rectangle 3">
            <a:extLst>
              <a:ext uri="{FF2B5EF4-FFF2-40B4-BE49-F238E27FC236}">
                <a16:creationId xmlns:a16="http://schemas.microsoft.com/office/drawing/2014/main" id="{827A1249-621A-3478-11DC-7D73EB6FBBBB}"/>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48FE9C1-62C2-FFA3-F04B-5F9AB90536A9}"/>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50A43B5-6EE4-FB4F-96AD-B5372914B581}" type="slidenum">
              <a:rPr lang="en-CA" altLang="en-TW" sz="1200">
                <a:latin typeface="Tahoma" panose="020B0604030504040204" pitchFamily="34" charset="0"/>
              </a:rPr>
              <a:pPr eaLnBrk="1" hangingPunct="1"/>
              <a:t>52</a:t>
            </a:fld>
            <a:endParaRPr lang="en-CA" altLang="en-TW" sz="1200">
              <a:latin typeface="Tahoma" panose="020B0604030504040204" pitchFamily="34" charset="0"/>
            </a:endParaRPr>
          </a:p>
        </p:txBody>
      </p:sp>
      <p:sp>
        <p:nvSpPr>
          <p:cNvPr id="803842" name="Rectangle 2">
            <a:extLst>
              <a:ext uri="{FF2B5EF4-FFF2-40B4-BE49-F238E27FC236}">
                <a16:creationId xmlns:a16="http://schemas.microsoft.com/office/drawing/2014/main" id="{DDF3846F-F654-79CE-982C-BFF242079D09}"/>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03843" name="Rectangle 3">
            <a:extLst>
              <a:ext uri="{FF2B5EF4-FFF2-40B4-BE49-F238E27FC236}">
                <a16:creationId xmlns:a16="http://schemas.microsoft.com/office/drawing/2014/main" id="{A7D4C2F0-A82C-6FE0-CB6A-E2BA93C34E68}"/>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61468C9-8E93-97D2-F664-A6DF2F718ECA}"/>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062E1CE-557C-5E41-AD52-AE14B0283FF8}" type="slidenum">
              <a:rPr lang="en-CA" altLang="en-TW" sz="1200">
                <a:latin typeface="Tahoma" panose="020B0604030504040204" pitchFamily="34" charset="0"/>
              </a:rPr>
              <a:pPr eaLnBrk="1" hangingPunct="1"/>
              <a:t>53</a:t>
            </a:fld>
            <a:endParaRPr lang="en-CA" altLang="en-TW" sz="1200">
              <a:latin typeface="Tahoma" panose="020B0604030504040204" pitchFamily="34" charset="0"/>
            </a:endParaRPr>
          </a:p>
        </p:txBody>
      </p:sp>
      <p:sp>
        <p:nvSpPr>
          <p:cNvPr id="849922" name="Rectangle 2">
            <a:extLst>
              <a:ext uri="{FF2B5EF4-FFF2-40B4-BE49-F238E27FC236}">
                <a16:creationId xmlns:a16="http://schemas.microsoft.com/office/drawing/2014/main" id="{9686E46A-90FA-6281-5A6D-1619003692A3}"/>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49923" name="Rectangle 3">
            <a:extLst>
              <a:ext uri="{FF2B5EF4-FFF2-40B4-BE49-F238E27FC236}">
                <a16:creationId xmlns:a16="http://schemas.microsoft.com/office/drawing/2014/main" id="{5E22068E-8B7F-CE57-052F-3C1CE0D013A7}"/>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29E68C-C959-E6BB-FED4-E133420D33DD}"/>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1CF9210-EA29-F342-AD45-A9BBAE3FF3EF}" type="slidenum">
              <a:rPr lang="en-CA" altLang="en-TW" sz="1200">
                <a:latin typeface="Tahoma" panose="020B0604030504040204" pitchFamily="34" charset="0"/>
              </a:rPr>
              <a:pPr eaLnBrk="1" hangingPunct="1"/>
              <a:t>54</a:t>
            </a:fld>
            <a:endParaRPr lang="en-CA" altLang="en-TW" sz="1200">
              <a:latin typeface="Tahoma" panose="020B0604030504040204" pitchFamily="34" charset="0"/>
            </a:endParaRPr>
          </a:p>
        </p:txBody>
      </p:sp>
      <p:sp>
        <p:nvSpPr>
          <p:cNvPr id="851970" name="Rectangle 2">
            <a:extLst>
              <a:ext uri="{FF2B5EF4-FFF2-40B4-BE49-F238E27FC236}">
                <a16:creationId xmlns:a16="http://schemas.microsoft.com/office/drawing/2014/main" id="{3D7FD5BF-3A6B-CFC9-53FB-8C26E03FB4E9}"/>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51971" name="Rectangle 3">
            <a:extLst>
              <a:ext uri="{FF2B5EF4-FFF2-40B4-BE49-F238E27FC236}">
                <a16:creationId xmlns:a16="http://schemas.microsoft.com/office/drawing/2014/main" id="{FDF0453A-7D05-8955-389A-D1FFC8EE546E}"/>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5C0D75B-81FA-9EAC-ED5A-9E2F92CF1BB6}"/>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FB1B4F0-AF50-1F4B-8238-2E3C75AD8A2B}" type="slidenum">
              <a:rPr lang="en-CA" altLang="en-TW" sz="1200">
                <a:latin typeface="Tahoma" panose="020B0604030504040204" pitchFamily="34" charset="0"/>
              </a:rPr>
              <a:pPr eaLnBrk="1" hangingPunct="1"/>
              <a:t>55</a:t>
            </a:fld>
            <a:endParaRPr lang="en-CA" altLang="en-TW" sz="1200">
              <a:latin typeface="Tahoma" panose="020B0604030504040204" pitchFamily="34" charset="0"/>
            </a:endParaRPr>
          </a:p>
        </p:txBody>
      </p:sp>
      <p:sp>
        <p:nvSpPr>
          <p:cNvPr id="854018" name="Rectangle 2">
            <a:extLst>
              <a:ext uri="{FF2B5EF4-FFF2-40B4-BE49-F238E27FC236}">
                <a16:creationId xmlns:a16="http://schemas.microsoft.com/office/drawing/2014/main" id="{BDB20AA2-DE49-9F41-BC3A-38C6F818B398}"/>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54019" name="Rectangle 3">
            <a:extLst>
              <a:ext uri="{FF2B5EF4-FFF2-40B4-BE49-F238E27FC236}">
                <a16:creationId xmlns:a16="http://schemas.microsoft.com/office/drawing/2014/main" id="{97EDBF37-F771-D082-0FE4-B596CF0D472A}"/>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AB0B659-837F-E231-37B2-0621F8D13913}"/>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00C2D45-27BB-F943-828C-69F580D6C6D4}" type="slidenum">
              <a:rPr lang="en-CA" altLang="en-TW" sz="1200">
                <a:latin typeface="Tahoma" panose="020B0604030504040204" pitchFamily="34" charset="0"/>
              </a:rPr>
              <a:pPr eaLnBrk="1" hangingPunct="1"/>
              <a:t>58</a:t>
            </a:fld>
            <a:endParaRPr lang="en-CA" altLang="en-TW" sz="1200">
              <a:latin typeface="Tahoma" panose="020B0604030504040204" pitchFamily="34" charset="0"/>
            </a:endParaRPr>
          </a:p>
        </p:txBody>
      </p:sp>
      <p:sp>
        <p:nvSpPr>
          <p:cNvPr id="833538" name="Rectangle 2">
            <a:extLst>
              <a:ext uri="{FF2B5EF4-FFF2-40B4-BE49-F238E27FC236}">
                <a16:creationId xmlns:a16="http://schemas.microsoft.com/office/drawing/2014/main" id="{EB479BE1-2997-C8E1-0B52-7CD63751FF30}"/>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33539" name="Rectangle 3">
            <a:extLst>
              <a:ext uri="{FF2B5EF4-FFF2-40B4-BE49-F238E27FC236}">
                <a16:creationId xmlns:a16="http://schemas.microsoft.com/office/drawing/2014/main" id="{97AB6AEE-08B3-0CB4-AC19-9E6B1EC3C420}"/>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43F92C8-0897-C54C-739C-2714FA9BB9A8}"/>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D9A67C3-4669-2647-A94E-DB4B79376D80}" type="slidenum">
              <a:rPr lang="en-CA" altLang="en-TW" sz="1200">
                <a:latin typeface="Tahoma" panose="020B0604030504040204" pitchFamily="34" charset="0"/>
              </a:rPr>
              <a:pPr eaLnBrk="1" hangingPunct="1"/>
              <a:t>59</a:t>
            </a:fld>
            <a:endParaRPr lang="en-CA" altLang="en-TW" sz="1200">
              <a:latin typeface="Tahoma" panose="020B0604030504040204" pitchFamily="34" charset="0"/>
            </a:endParaRPr>
          </a:p>
        </p:txBody>
      </p:sp>
      <p:sp>
        <p:nvSpPr>
          <p:cNvPr id="880642" name="Rectangle 2">
            <a:extLst>
              <a:ext uri="{FF2B5EF4-FFF2-40B4-BE49-F238E27FC236}">
                <a16:creationId xmlns:a16="http://schemas.microsoft.com/office/drawing/2014/main" id="{669EB260-5996-BE41-5D4A-21554D9BE3D2}"/>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80643" name="Rectangle 3">
            <a:extLst>
              <a:ext uri="{FF2B5EF4-FFF2-40B4-BE49-F238E27FC236}">
                <a16:creationId xmlns:a16="http://schemas.microsoft.com/office/drawing/2014/main" id="{B14D1E10-BF63-6B25-8447-9F4BF0355EBF}"/>
              </a:ext>
            </a:extLst>
          </p:cNvPr>
          <p:cNvSpPr>
            <a:spLocks noGrp="1" noChangeArrowheads="1"/>
          </p:cNvSpPr>
          <p:nvPr>
            <p:ph type="body" idx="1"/>
          </p:nvPr>
        </p:nvSpPr>
        <p:spPr>
          <a:xfrm>
            <a:off x="685800" y="4343400"/>
            <a:ext cx="5486400" cy="4114800"/>
          </a:xfrm>
        </p:spPr>
        <p:txBody>
          <a:bodyPr/>
          <a:lstStyle/>
          <a:p>
            <a:pPr eaLnBrk="1" hangingPunct="1">
              <a:defRPr/>
            </a:pPr>
            <a:endParaRPr lang="en-US">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5E70F7B-5569-DFC2-DEDA-9D7AE9B7566F}"/>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636CC7A-359E-404A-9F2F-67D5863F110E}" type="slidenum">
              <a:rPr lang="en-CA" altLang="en-TW" sz="1200">
                <a:latin typeface="Tahoma" panose="020B0604030504040204" pitchFamily="34" charset="0"/>
              </a:rPr>
              <a:pPr eaLnBrk="1" hangingPunct="1"/>
              <a:t>60</a:t>
            </a:fld>
            <a:endParaRPr lang="en-CA" altLang="en-TW" sz="1200">
              <a:latin typeface="Tahoma" panose="020B0604030504040204" pitchFamily="34" charset="0"/>
            </a:endParaRPr>
          </a:p>
        </p:txBody>
      </p:sp>
      <p:sp>
        <p:nvSpPr>
          <p:cNvPr id="882690" name="Rectangle 2">
            <a:extLst>
              <a:ext uri="{FF2B5EF4-FFF2-40B4-BE49-F238E27FC236}">
                <a16:creationId xmlns:a16="http://schemas.microsoft.com/office/drawing/2014/main" id="{3171D617-1CC7-E4F8-E99A-0C95FD3A3C35}"/>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82691" name="Rectangle 3">
            <a:extLst>
              <a:ext uri="{FF2B5EF4-FFF2-40B4-BE49-F238E27FC236}">
                <a16:creationId xmlns:a16="http://schemas.microsoft.com/office/drawing/2014/main" id="{A8C86B74-D59A-59BE-D937-4CA4528A83A0}"/>
              </a:ext>
            </a:extLst>
          </p:cNvPr>
          <p:cNvSpPr>
            <a:spLocks noGrp="1" noChangeArrowheads="1"/>
          </p:cNvSpPr>
          <p:nvPr>
            <p:ph type="body" idx="1"/>
          </p:nvPr>
        </p:nvSpPr>
        <p:spPr>
          <a:xfrm>
            <a:off x="685800" y="4343400"/>
            <a:ext cx="5486400" cy="4114800"/>
          </a:xfrm>
        </p:spPr>
        <p:txBody>
          <a:bodyPr/>
          <a:lstStyle/>
          <a:p>
            <a:pPr eaLnBrk="1" hangingPunct="1">
              <a:defRPr/>
            </a:pPr>
            <a:endParaRPr lang="en-US">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291697C-E010-F6C8-2FAA-809A57062623}"/>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EC522A6-3F13-0642-8171-C94B24EA5C3A}" type="slidenum">
              <a:rPr lang="en-CA" altLang="en-TW" sz="1200">
                <a:latin typeface="Tahoma" panose="020B0604030504040204" pitchFamily="34" charset="0"/>
              </a:rPr>
              <a:pPr eaLnBrk="1" hangingPunct="1"/>
              <a:t>61</a:t>
            </a:fld>
            <a:endParaRPr lang="en-CA" altLang="en-TW" sz="1200">
              <a:latin typeface="Tahoma" panose="020B0604030504040204" pitchFamily="34" charset="0"/>
            </a:endParaRPr>
          </a:p>
        </p:txBody>
      </p:sp>
      <p:sp>
        <p:nvSpPr>
          <p:cNvPr id="884738" name="Rectangle 2">
            <a:extLst>
              <a:ext uri="{FF2B5EF4-FFF2-40B4-BE49-F238E27FC236}">
                <a16:creationId xmlns:a16="http://schemas.microsoft.com/office/drawing/2014/main" id="{0311C91A-8161-61FA-0DF3-18E2432BC9AE}"/>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84739" name="Rectangle 3">
            <a:extLst>
              <a:ext uri="{FF2B5EF4-FFF2-40B4-BE49-F238E27FC236}">
                <a16:creationId xmlns:a16="http://schemas.microsoft.com/office/drawing/2014/main" id="{873D67C8-1A0C-2094-D4B2-CD75F02ABE05}"/>
              </a:ext>
            </a:extLst>
          </p:cNvPr>
          <p:cNvSpPr>
            <a:spLocks noGrp="1" noChangeArrowheads="1"/>
          </p:cNvSpPr>
          <p:nvPr>
            <p:ph type="body" idx="1"/>
          </p:nvPr>
        </p:nvSpPr>
        <p:spPr>
          <a:xfrm>
            <a:off x="685800" y="4343400"/>
            <a:ext cx="5486400" cy="4114800"/>
          </a:xfrm>
        </p:spPr>
        <p:txBody>
          <a:bodyPr/>
          <a:lstStyle/>
          <a:p>
            <a:pPr eaLnBrk="1" hangingPunct="1">
              <a:defRPr/>
            </a:pPr>
            <a:endParaRPr lang="en-US">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17EF8EE-5644-96CE-EBF3-D07A1A371902}"/>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6701D39-ADC8-9441-B359-7ECD4B1322FE}" type="slidenum">
              <a:rPr lang="en-CA" altLang="en-TW" sz="1200">
                <a:latin typeface="Tahoma" panose="020B0604030504040204" pitchFamily="34" charset="0"/>
              </a:rPr>
              <a:pPr eaLnBrk="1" hangingPunct="1"/>
              <a:t>62</a:t>
            </a:fld>
            <a:endParaRPr lang="en-CA" altLang="en-TW" sz="1200">
              <a:latin typeface="Tahoma" panose="020B0604030504040204" pitchFamily="34" charset="0"/>
            </a:endParaRPr>
          </a:p>
        </p:txBody>
      </p:sp>
      <p:sp>
        <p:nvSpPr>
          <p:cNvPr id="847874" name="Rectangle 2">
            <a:extLst>
              <a:ext uri="{FF2B5EF4-FFF2-40B4-BE49-F238E27FC236}">
                <a16:creationId xmlns:a16="http://schemas.microsoft.com/office/drawing/2014/main" id="{767E5096-7B13-B45F-DA0B-C28C8DC56527}"/>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47875" name="Rectangle 3">
            <a:extLst>
              <a:ext uri="{FF2B5EF4-FFF2-40B4-BE49-F238E27FC236}">
                <a16:creationId xmlns:a16="http://schemas.microsoft.com/office/drawing/2014/main" id="{8177CF3C-3F5A-EE31-16D6-65B866BDF763}"/>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57180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7743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08420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5632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9837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06657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6245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38882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43001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891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6307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a:prstGeom prst="rect">
            <a:avLst/>
          </a:prstGeom>
        </p:spPr>
        <p:txBody>
          <a:bodyPr anchor="t"/>
          <a:lstStyle/>
          <a:p>
            <a:r>
              <a:rPr lang="en-US" dirty="0"/>
              <a:t>Click to edit Master title style</a:t>
            </a:r>
          </a:p>
        </p:txBody>
      </p:sp>
      <p:sp>
        <p:nvSpPr>
          <p:cNvPr id="7" name="Text Placeholder 6"/>
          <p:cNvSpPr>
            <a:spLocks noGrp="1"/>
          </p:cNvSpPr>
          <p:nvPr>
            <p:ph type="body" sz="quarter" idx="13"/>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Click to edit Master text styles</a:t>
            </a:r>
          </a:p>
        </p:txBody>
      </p:sp>
      <p:sp>
        <p:nvSpPr>
          <p:cNvPr id="9" name="Text Placeholder 8"/>
          <p:cNvSpPr>
            <a:spLocks noGrp="1"/>
          </p:cNvSpPr>
          <p:nvPr>
            <p:ph type="body" sz="quarter" idx="14"/>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a:t>Click to edit Master text styles</a:t>
            </a:r>
          </a:p>
        </p:txBody>
      </p:sp>
      <p:sp>
        <p:nvSpPr>
          <p:cNvPr id="10" name="Text Placeholder 8"/>
          <p:cNvSpPr>
            <a:spLocks noGrp="1"/>
          </p:cNvSpPr>
          <p:nvPr>
            <p:ph type="body" sz="quarter" idx="15"/>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Click to edit Master text styles</a:t>
            </a:r>
          </a:p>
        </p:txBody>
      </p:sp>
      <p:sp>
        <p:nvSpPr>
          <p:cNvPr id="6" name="Footer Placeholder 2"/>
          <p:cNvSpPr>
            <a:spLocks noGrp="1"/>
          </p:cNvSpPr>
          <p:nvPr>
            <p:ph type="ftr" sz="quarter" idx="16"/>
          </p:nvPr>
        </p:nvSpPr>
        <p:spPr>
          <a:xfrm>
            <a:off x="93663" y="6165850"/>
            <a:ext cx="8596312" cy="234950"/>
          </a:xfrm>
          <a:prstGeom prst="rect">
            <a:avLst/>
          </a:prstGeom>
        </p:spPr>
        <p:txBody>
          <a:bodyPr/>
          <a:lstStyle>
            <a:lvl1pPr eaLnBrk="1" hangingPunct="1">
              <a:defRPr sz="2400">
                <a:solidFill>
                  <a:srgbClr val="000000"/>
                </a:solidFill>
                <a:latin typeface="Times" charset="0"/>
                <a:ea typeface="MS PGothic" pitchFamily="34" charset="-128"/>
                <a:cs typeface="+mn-cs"/>
              </a:defRPr>
            </a:lvl1pPr>
          </a:lstStyle>
          <a:p>
            <a:pPr>
              <a:defRPr/>
            </a:pPr>
            <a:endParaRPr lang="en-US"/>
          </a:p>
        </p:txBody>
      </p:sp>
      <p:sp>
        <p:nvSpPr>
          <p:cNvPr id="8" name="Date Placeholder 3"/>
          <p:cNvSpPr>
            <a:spLocks noGrp="1"/>
          </p:cNvSpPr>
          <p:nvPr>
            <p:ph type="dt" sz="half" idx="17"/>
          </p:nvPr>
        </p:nvSpPr>
        <p:spPr>
          <a:xfrm>
            <a:off x="6335713" y="112713"/>
            <a:ext cx="2133600" cy="182562"/>
          </a:xfrm>
          <a:prstGeom prst="rect">
            <a:avLst/>
          </a:prstGeom>
        </p:spPr>
        <p:txBody>
          <a:bodyPr/>
          <a:lstStyle>
            <a:lvl1pPr eaLnBrk="1" hangingPunct="1">
              <a:defRPr sz="2400">
                <a:solidFill>
                  <a:srgbClr val="000000"/>
                </a:solidFill>
                <a:latin typeface="Times" charset="0"/>
                <a:ea typeface="MS PGothic" pitchFamily="34" charset="-128"/>
                <a:cs typeface="+mn-cs"/>
              </a:defRPr>
            </a:lvl1pPr>
          </a:lstStyle>
          <a:p>
            <a:pPr>
              <a:defRPr/>
            </a:pPr>
            <a:fld id="{9A969A0D-5DF0-455E-920E-DB858AE69123}" type="datetimeFigureOut">
              <a:rPr lang="en-US"/>
              <a:pPr>
                <a:defRPr/>
              </a:pPr>
              <a:t>2/26/26</a:t>
            </a:fld>
            <a:endParaRPr lang="en-US" dirty="0"/>
          </a:p>
        </p:txBody>
      </p:sp>
      <p:sp>
        <p:nvSpPr>
          <p:cNvPr id="12" name="Slide Number Placeholder 4"/>
          <p:cNvSpPr>
            <a:spLocks noGrp="1"/>
          </p:cNvSpPr>
          <p:nvPr>
            <p:ph type="sldNum" sz="quarter" idx="18"/>
          </p:nvPr>
        </p:nvSpPr>
        <p:spPr>
          <a:xfrm>
            <a:off x="8469313" y="112713"/>
            <a:ext cx="552450" cy="182562"/>
          </a:xfrm>
          <a:prstGeom prst="rect">
            <a:avLst/>
          </a:prstGeom>
        </p:spPr>
        <p:txBody>
          <a:bodyPr vert="horz" wrap="square" lIns="91440" tIns="45720" rIns="91440" bIns="45720" numCol="1" anchor="t" anchorCtr="0" compatLnSpc="1">
            <a:prstTxWarp prst="textNoShape">
              <a:avLst/>
            </a:prstTxWarp>
          </a:bodyPr>
          <a:lstStyle>
            <a:lvl1pPr eaLnBrk="1" hangingPunct="1">
              <a:defRPr sz="2400">
                <a:solidFill>
                  <a:srgbClr val="000000"/>
                </a:solidFill>
                <a:latin typeface="Times" panose="02020603050405020304" pitchFamily="18" charset="0"/>
                <a:ea typeface="MS PGothic" panose="020B0600070205080204" pitchFamily="34" charset="-128"/>
              </a:defRPr>
            </a:lvl1pPr>
          </a:lstStyle>
          <a:p>
            <a:pPr>
              <a:defRPr/>
            </a:pPr>
            <a:fld id="{16D6BF8C-5CE4-4E11-B28F-568A4285EE99}" type="slidenum">
              <a:rPr lang="en-US" altLang="en-US"/>
              <a:pPr>
                <a:defRPr/>
              </a:pPr>
              <a:t>‹#›</a:t>
            </a:fld>
            <a:endParaRPr lang="en-US" altLang="en-US"/>
          </a:p>
        </p:txBody>
      </p:sp>
    </p:spTree>
    <p:extLst>
      <p:ext uri="{BB962C8B-B14F-4D97-AF65-F5344CB8AC3E}">
        <p14:creationId xmlns:p14="http://schemas.microsoft.com/office/powerpoint/2010/main" val="3103395078"/>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 name="Text Box 13"/>
          <p:cNvSpPr txBox="1">
            <a:spLocks noChangeArrowheads="1"/>
          </p:cNvSpPr>
          <p:nvPr userDrawn="1"/>
        </p:nvSpPr>
        <p:spPr bwMode="auto">
          <a:xfrm>
            <a:off x="185738" y="6416675"/>
            <a:ext cx="8642350" cy="188913"/>
          </a:xfrm>
          <a:prstGeom prst="rect">
            <a:avLst/>
          </a:prstGeom>
          <a:no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200" dirty="0">
                <a:solidFill>
                  <a:srgbClr val="000000"/>
                </a:solidFill>
                <a:latin typeface="Arial"/>
                <a:ea typeface="Verdana" panose="020B0604030504040204" pitchFamily="34" charset="0"/>
                <a:cs typeface="Verdana" panose="020B0604030504040204" pitchFamily="34" charset="0"/>
              </a:rPr>
              <a:t>© 2022 Pearson Education Limited. All Rights Reserved.</a:t>
            </a:r>
            <a:endParaRPr lang="en-GB" sz="1200" dirty="0">
              <a:solidFill>
                <a:srgbClr val="000000"/>
              </a:solidFill>
              <a:latin typeface="Arial"/>
              <a:ea typeface="Verdana" panose="020B0604030504040204" pitchFamily="34" charset="0"/>
              <a:cs typeface="Verdana" panose="020B0604030504040204" pitchFamily="34" charset="0"/>
            </a:endParaRPr>
          </a:p>
        </p:txBody>
      </p:sp>
      <p:pic>
        <p:nvPicPr>
          <p:cNvPr id="1029" name="Picture 8" descr="Pearson Logo"/>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57200"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56558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3600" b="1">
          <a:solidFill>
            <a:srgbClr val="007FA3"/>
          </a:solidFill>
          <a:latin typeface="+mj-lt"/>
          <a:ea typeface="+mj-ea"/>
          <a:cs typeface="+mj-cs"/>
        </a:defRPr>
      </a:lvl1pPr>
      <a:lvl2pPr algn="ctr" rtl="0" eaLnBrk="0" fontAlgn="base" hangingPunct="0">
        <a:spcBef>
          <a:spcPct val="0"/>
        </a:spcBef>
        <a:spcAft>
          <a:spcPct val="0"/>
        </a:spcAft>
        <a:defRPr sz="3600" b="1">
          <a:solidFill>
            <a:srgbClr val="007FA3"/>
          </a:solidFill>
          <a:latin typeface="Arial" pitchFamily="34" charset="0"/>
        </a:defRPr>
      </a:lvl2pPr>
      <a:lvl3pPr algn="ctr" rtl="0" eaLnBrk="0" fontAlgn="base" hangingPunct="0">
        <a:spcBef>
          <a:spcPct val="0"/>
        </a:spcBef>
        <a:spcAft>
          <a:spcPct val="0"/>
        </a:spcAft>
        <a:defRPr sz="3600" b="1">
          <a:solidFill>
            <a:srgbClr val="007FA3"/>
          </a:solidFill>
          <a:latin typeface="Arial" pitchFamily="34" charset="0"/>
        </a:defRPr>
      </a:lvl3pPr>
      <a:lvl4pPr algn="ctr" rtl="0" eaLnBrk="0" fontAlgn="base" hangingPunct="0">
        <a:spcBef>
          <a:spcPct val="0"/>
        </a:spcBef>
        <a:spcAft>
          <a:spcPct val="0"/>
        </a:spcAft>
        <a:defRPr sz="3600" b="1">
          <a:solidFill>
            <a:srgbClr val="007FA3"/>
          </a:solidFill>
          <a:latin typeface="Arial" pitchFamily="34" charset="0"/>
        </a:defRPr>
      </a:lvl4pPr>
      <a:lvl5pPr algn="ctr" rtl="0" eaLnBrk="0" fontAlgn="base" hangingPunct="0">
        <a:spcBef>
          <a:spcPct val="0"/>
        </a:spcBef>
        <a:spcAft>
          <a:spcPct val="0"/>
        </a:spcAft>
        <a:defRPr sz="3600" b="1">
          <a:solidFill>
            <a:srgbClr val="007FA3"/>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lr>
          <a:srgbClr val="007FA3"/>
        </a:buClr>
        <a:buChar char="•"/>
        <a:defRPr sz="3200">
          <a:solidFill>
            <a:schemeClr val="tx1"/>
          </a:solidFill>
          <a:latin typeface="+mj-lt"/>
          <a:ea typeface="+mn-ea"/>
          <a:cs typeface="+mn-cs"/>
        </a:defRPr>
      </a:lvl1pPr>
      <a:lvl2pPr marL="742950" indent="-285750" algn="l" rtl="0" eaLnBrk="0" fontAlgn="base" hangingPunct="0">
        <a:spcBef>
          <a:spcPct val="20000"/>
        </a:spcBef>
        <a:spcAft>
          <a:spcPct val="0"/>
        </a:spcAft>
        <a:buClr>
          <a:srgbClr val="007FA3"/>
        </a:buClr>
        <a:buChar char="–"/>
        <a:defRPr sz="2800">
          <a:solidFill>
            <a:schemeClr val="tx1"/>
          </a:solidFill>
          <a:latin typeface="+mj-lt"/>
        </a:defRPr>
      </a:lvl2pPr>
      <a:lvl3pPr marL="1143000" indent="-228600" algn="l" rtl="0" eaLnBrk="0" fontAlgn="base" hangingPunct="0">
        <a:spcBef>
          <a:spcPct val="20000"/>
        </a:spcBef>
        <a:spcAft>
          <a:spcPct val="0"/>
        </a:spcAft>
        <a:buClr>
          <a:srgbClr val="007FA3"/>
        </a:buClr>
        <a:buChar char="•"/>
        <a:defRPr sz="2400">
          <a:solidFill>
            <a:schemeClr val="tx1"/>
          </a:solidFill>
          <a:latin typeface="+mj-lt"/>
        </a:defRPr>
      </a:lvl3pPr>
      <a:lvl4pPr marL="1600200" indent="-228600" algn="l" rtl="0" eaLnBrk="0" fontAlgn="base" hangingPunct="0">
        <a:spcBef>
          <a:spcPct val="20000"/>
        </a:spcBef>
        <a:spcAft>
          <a:spcPct val="0"/>
        </a:spcAft>
        <a:buClr>
          <a:srgbClr val="007FA3"/>
        </a:buClr>
        <a:buChar char="–"/>
        <a:defRPr sz="2000">
          <a:solidFill>
            <a:schemeClr val="tx1"/>
          </a:solidFill>
          <a:latin typeface="+mj-lt"/>
        </a:defRPr>
      </a:lvl4pPr>
      <a:lvl5pPr marL="2057400" indent="-228600" algn="l" rtl="0" eaLnBrk="0" fontAlgn="base" hangingPunct="0">
        <a:spcBef>
          <a:spcPct val="20000"/>
        </a:spcBef>
        <a:spcAft>
          <a:spcPct val="0"/>
        </a:spcAft>
        <a:buChar char="»"/>
        <a:defRPr sz="2000">
          <a:solidFill>
            <a:schemeClr val="tx1"/>
          </a:solidFill>
          <a:latin typeface="+mj-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0.gi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2.gif"/><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3.gif"/><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45.gif"/><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6.gif"/><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7.gif"/><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8.gif"/><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9.gif"/><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50.gif"/><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51.gif"/><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52.gi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53.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p:cNvSpPr txBox="1">
            <a:spLocks/>
          </p:cNvSpPr>
          <p:nvPr/>
        </p:nvSpPr>
        <p:spPr bwMode="auto">
          <a:xfrm>
            <a:off x="4859412" y="3502025"/>
            <a:ext cx="3889301"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0" fontAlgn="base" latinLnBrk="0" hangingPunct="0">
              <a:lnSpc>
                <a:spcPct val="100000"/>
              </a:lnSpc>
              <a:spcBef>
                <a:spcPts val="1200"/>
              </a:spcBef>
              <a:spcAft>
                <a:spcPct val="0"/>
              </a:spcAft>
              <a:buClrTx/>
              <a:buSzTx/>
              <a:buFontTx/>
              <a:buNone/>
              <a:tabLst/>
              <a:defRPr/>
            </a:pPr>
            <a:r>
              <a:rPr kumimoji="0" lang="en-US" sz="3000" b="0" i="0" u="none" strike="noStrike" kern="0" cap="none" spc="0" normalizeH="0" baseline="0" noProof="0" dirty="0">
                <a:ln>
                  <a:noFill/>
                </a:ln>
                <a:solidFill>
                  <a:srgbClr val="000000"/>
                </a:solidFill>
                <a:effectLst/>
                <a:uLnTx/>
                <a:uFillTx/>
                <a:latin typeface="Arial"/>
                <a:ea typeface="+mn-ea"/>
                <a:cs typeface="+mn-cs"/>
              </a:rPr>
              <a:t>Chapter 24</a:t>
            </a:r>
          </a:p>
          <a:p>
            <a:pPr marL="0" lvl="0" indent="0">
              <a:spcBef>
                <a:spcPts val="1200"/>
              </a:spcBef>
              <a:buNone/>
              <a:defRPr/>
            </a:pPr>
            <a:r>
              <a:rPr lang="en-US" sz="2200" kern="0" dirty="0">
                <a:solidFill>
                  <a:srgbClr val="000000"/>
                </a:solidFill>
              </a:rPr>
              <a:t>Money, the price level and inflation</a:t>
            </a:r>
            <a:endParaRPr kumimoji="0" lang="en-US" sz="2200" b="0" i="0" u="none" strike="noStrike" kern="0" cap="none" spc="0" normalizeH="0" baseline="0" noProof="0" dirty="0">
              <a:ln>
                <a:noFill/>
              </a:ln>
              <a:solidFill>
                <a:srgbClr val="000000"/>
              </a:solidFill>
              <a:effectLst/>
              <a:uLnTx/>
              <a:uFillTx/>
              <a:latin typeface="Arial"/>
              <a:ea typeface="+mn-ea"/>
              <a:cs typeface="+mn-cs"/>
            </a:endParaRPr>
          </a:p>
        </p:txBody>
      </p:sp>
      <p:sp>
        <p:nvSpPr>
          <p:cNvPr id="5" name="Title 1"/>
          <p:cNvSpPr txBox="1">
            <a:spLocks/>
          </p:cNvSpPr>
          <p:nvPr/>
        </p:nvSpPr>
        <p:spPr>
          <a:xfrm>
            <a:off x="407988" y="238125"/>
            <a:ext cx="8051800" cy="1531938"/>
          </a:xfrm>
          <a:prstGeom prst="rect">
            <a:avLst/>
          </a:prstGeom>
        </p:spPr>
        <p:txBody>
          <a:bodyPr/>
          <a:lstStyle>
            <a:lvl1pPr algn="ctr" rtl="0" eaLnBrk="0" fontAlgn="base" hangingPunct="0">
              <a:spcBef>
                <a:spcPct val="0"/>
              </a:spcBef>
              <a:spcAft>
                <a:spcPct val="0"/>
              </a:spcAft>
              <a:defRPr sz="3600" b="1">
                <a:solidFill>
                  <a:srgbClr val="007FA3"/>
                </a:solidFill>
                <a:latin typeface="+mj-lt"/>
                <a:ea typeface="+mj-ea"/>
                <a:cs typeface="+mj-cs"/>
              </a:defRPr>
            </a:lvl1pPr>
            <a:lvl2pPr algn="ctr" rtl="0" eaLnBrk="0" fontAlgn="base" hangingPunct="0">
              <a:spcBef>
                <a:spcPct val="0"/>
              </a:spcBef>
              <a:spcAft>
                <a:spcPct val="0"/>
              </a:spcAft>
              <a:defRPr sz="3600" b="1">
                <a:solidFill>
                  <a:srgbClr val="007FA3"/>
                </a:solidFill>
                <a:latin typeface="Arial" pitchFamily="34" charset="0"/>
              </a:defRPr>
            </a:lvl2pPr>
            <a:lvl3pPr algn="ctr" rtl="0" eaLnBrk="0" fontAlgn="base" hangingPunct="0">
              <a:spcBef>
                <a:spcPct val="0"/>
              </a:spcBef>
              <a:spcAft>
                <a:spcPct val="0"/>
              </a:spcAft>
              <a:defRPr sz="3600" b="1">
                <a:solidFill>
                  <a:srgbClr val="007FA3"/>
                </a:solidFill>
                <a:latin typeface="Arial" pitchFamily="34" charset="0"/>
              </a:defRPr>
            </a:lvl3pPr>
            <a:lvl4pPr algn="ctr" rtl="0" eaLnBrk="0" fontAlgn="base" hangingPunct="0">
              <a:spcBef>
                <a:spcPct val="0"/>
              </a:spcBef>
              <a:spcAft>
                <a:spcPct val="0"/>
              </a:spcAft>
              <a:defRPr sz="3600" b="1">
                <a:solidFill>
                  <a:srgbClr val="007FA3"/>
                </a:solidFill>
                <a:latin typeface="Arial" pitchFamily="34" charset="0"/>
              </a:defRPr>
            </a:lvl4pPr>
            <a:lvl5pPr algn="ctr" rtl="0" eaLnBrk="0" fontAlgn="base" hangingPunct="0">
              <a:spcBef>
                <a:spcPct val="0"/>
              </a:spcBef>
              <a:spcAft>
                <a:spcPct val="0"/>
              </a:spcAft>
              <a:defRPr sz="3600" b="1">
                <a:solidFill>
                  <a:srgbClr val="007FA3"/>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lvl="0" algn="l">
              <a:spcBef>
                <a:spcPts val="600"/>
              </a:spcBef>
              <a:defRPr/>
            </a:pPr>
            <a:r>
              <a:rPr lang="en-US" kern="0" dirty="0"/>
              <a:t>Economics</a:t>
            </a:r>
          </a:p>
          <a:p>
            <a:pPr lvl="0" algn="l">
              <a:spcBef>
                <a:spcPts val="600"/>
              </a:spcBef>
              <a:defRPr/>
            </a:pPr>
            <a:r>
              <a:rPr kumimoji="0" lang="en-US" sz="2400" b="0" i="0" u="none" strike="noStrike" kern="0" cap="none" spc="0" normalizeH="0" baseline="0" noProof="0" dirty="0">
                <a:ln>
                  <a:noFill/>
                </a:ln>
                <a:solidFill>
                  <a:srgbClr val="007FA3"/>
                </a:solidFill>
                <a:effectLst/>
                <a:uLnTx/>
                <a:uFillTx/>
                <a:latin typeface="Arial"/>
                <a:ea typeface="+mj-ea"/>
                <a:cs typeface="+mj-cs"/>
              </a:rPr>
              <a:t>Eleventh European Edition</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551" y="1312948"/>
            <a:ext cx="3600401" cy="4922808"/>
          </a:xfrm>
          <a:prstGeom prst="rect">
            <a:avLst/>
          </a:prstGeom>
          <a:noFill/>
          <a:effectLst>
            <a:outerShdw blurRad="50800" dist="38100" dir="2700000" algn="tl" rotWithShape="0">
              <a:prstClr val="black">
                <a:alpha val="40000"/>
              </a:prstClr>
            </a:outerShdw>
          </a:effectLst>
        </p:spPr>
      </p:pic>
      <p:sp>
        <p:nvSpPr>
          <p:cNvPr id="8" name="Text Placeholder 4"/>
          <p:cNvSpPr txBox="1">
            <a:spLocks/>
          </p:cNvSpPr>
          <p:nvPr/>
        </p:nvSpPr>
        <p:spPr bwMode="auto">
          <a:xfrm>
            <a:off x="4859412" y="1962150"/>
            <a:ext cx="3889301"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0" fontAlgn="base" latinLnBrk="0" hangingPunct="0">
              <a:lnSpc>
                <a:spcPct val="100000"/>
              </a:lnSpc>
              <a:spcBef>
                <a:spcPts val="1200"/>
              </a:spcBef>
              <a:spcAft>
                <a:spcPct val="0"/>
              </a:spcAft>
              <a:buClrTx/>
              <a:buSzTx/>
              <a:buFontTx/>
              <a:buNone/>
              <a:tabLst/>
              <a:defRPr/>
            </a:pPr>
            <a:r>
              <a:rPr kumimoji="0" lang="en-US" sz="3000" b="0" i="0" u="none" strike="noStrike" kern="0" cap="none" spc="0" normalizeH="0" baseline="0" noProof="0" dirty="0">
                <a:ln>
                  <a:noFill/>
                </a:ln>
                <a:solidFill>
                  <a:srgbClr val="000000"/>
                </a:solidFill>
                <a:effectLst/>
                <a:uLnTx/>
                <a:uFillTx/>
                <a:latin typeface="Arial"/>
                <a:ea typeface="+mn-ea"/>
                <a:cs typeface="+mn-cs"/>
              </a:rPr>
              <a:t>Part </a:t>
            </a:r>
            <a:r>
              <a:rPr lang="en-US" sz="3000" kern="0" noProof="0" dirty="0">
                <a:solidFill>
                  <a:srgbClr val="000000"/>
                </a:solidFill>
                <a:latin typeface="Arial"/>
              </a:rPr>
              <a:t>7</a:t>
            </a:r>
            <a:endParaRPr kumimoji="0" lang="en-US" sz="3000" b="0" i="0" u="none" strike="noStrike" kern="0" cap="none" spc="0" normalizeH="0" baseline="0" noProof="0" dirty="0">
              <a:ln>
                <a:noFill/>
              </a:ln>
              <a:solidFill>
                <a:srgbClr val="000000"/>
              </a:solidFill>
              <a:effectLst/>
              <a:uLnTx/>
              <a:uFillTx/>
              <a:latin typeface="Arial"/>
              <a:ea typeface="+mn-ea"/>
              <a:cs typeface="+mn-cs"/>
            </a:endParaRPr>
          </a:p>
          <a:p>
            <a:pPr marL="0" lvl="0" indent="0">
              <a:spcBef>
                <a:spcPts val="1200"/>
              </a:spcBef>
              <a:buNone/>
              <a:defRPr/>
            </a:pPr>
            <a:r>
              <a:rPr lang="en-US" sz="2200" kern="0" dirty="0">
                <a:solidFill>
                  <a:srgbClr val="000000"/>
                </a:solidFill>
              </a:rPr>
              <a:t>Macroeconomic trends</a:t>
            </a:r>
            <a:endParaRPr kumimoji="0" lang="en-US" sz="2200" b="0" i="0" u="none" strike="noStrike" kern="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607155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51150" y="4665675"/>
            <a:ext cx="5256530" cy="1123315"/>
          </a:xfrm>
          <a:prstGeom prst="rect">
            <a:avLst/>
          </a:prstGeom>
        </p:spPr>
        <p:txBody>
          <a:bodyPr vert="horz" wrap="square" lIns="0" tIns="12700" rIns="0" bIns="0" rtlCol="0">
            <a:spAutoFit/>
          </a:bodyPr>
          <a:lstStyle/>
          <a:p>
            <a:pPr marL="12700" marR="5080">
              <a:lnSpc>
                <a:spcPct val="100000"/>
              </a:lnSpc>
              <a:spcBef>
                <a:spcPts val="100"/>
              </a:spcBef>
            </a:pPr>
            <a:r>
              <a:rPr sz="3600" b="1" spc="-35" dirty="0">
                <a:solidFill>
                  <a:srgbClr val="009A82"/>
                </a:solidFill>
                <a:latin typeface="Arial"/>
                <a:cs typeface="Arial"/>
              </a:rPr>
              <a:t>MONEY,</a:t>
            </a:r>
            <a:r>
              <a:rPr sz="3600" b="1" spc="-110" dirty="0">
                <a:solidFill>
                  <a:srgbClr val="009A82"/>
                </a:solidFill>
                <a:latin typeface="Arial"/>
                <a:cs typeface="Arial"/>
              </a:rPr>
              <a:t> </a:t>
            </a:r>
            <a:r>
              <a:rPr sz="3600" b="1" dirty="0">
                <a:solidFill>
                  <a:srgbClr val="009A82"/>
                </a:solidFill>
                <a:latin typeface="Arial"/>
                <a:cs typeface="Arial"/>
              </a:rPr>
              <a:t>THE</a:t>
            </a:r>
            <a:r>
              <a:rPr sz="3600" b="1" spc="-100" dirty="0">
                <a:solidFill>
                  <a:srgbClr val="009A82"/>
                </a:solidFill>
                <a:latin typeface="Arial"/>
                <a:cs typeface="Arial"/>
              </a:rPr>
              <a:t> </a:t>
            </a:r>
            <a:r>
              <a:rPr sz="3600" b="1" spc="-10" dirty="0">
                <a:solidFill>
                  <a:srgbClr val="009A82"/>
                </a:solidFill>
                <a:latin typeface="Arial"/>
                <a:cs typeface="Arial"/>
              </a:rPr>
              <a:t>PRICE </a:t>
            </a:r>
            <a:r>
              <a:rPr sz="3600" b="1" dirty="0">
                <a:solidFill>
                  <a:srgbClr val="009A82"/>
                </a:solidFill>
                <a:latin typeface="Arial"/>
                <a:cs typeface="Arial"/>
              </a:rPr>
              <a:t>LEVEL,</a:t>
            </a:r>
            <a:r>
              <a:rPr sz="3600" b="1" spc="-180" dirty="0">
                <a:solidFill>
                  <a:srgbClr val="009A82"/>
                </a:solidFill>
                <a:latin typeface="Arial"/>
                <a:cs typeface="Arial"/>
              </a:rPr>
              <a:t> </a:t>
            </a:r>
            <a:r>
              <a:rPr sz="3600" b="1" dirty="0">
                <a:solidFill>
                  <a:srgbClr val="009A82"/>
                </a:solidFill>
                <a:latin typeface="Arial"/>
                <a:cs typeface="Arial"/>
              </a:rPr>
              <a:t>AND</a:t>
            </a:r>
            <a:r>
              <a:rPr sz="3600" b="1" spc="-30" dirty="0">
                <a:solidFill>
                  <a:srgbClr val="009A82"/>
                </a:solidFill>
                <a:latin typeface="Arial"/>
                <a:cs typeface="Arial"/>
              </a:rPr>
              <a:t> </a:t>
            </a:r>
            <a:r>
              <a:rPr sz="3600" b="1" spc="-35" dirty="0">
                <a:solidFill>
                  <a:srgbClr val="009A82"/>
                </a:solidFill>
                <a:latin typeface="Arial"/>
                <a:cs typeface="Arial"/>
              </a:rPr>
              <a:t>INFLATION</a:t>
            </a:r>
            <a:endParaRPr sz="3600">
              <a:latin typeface="Arial"/>
              <a:cs typeface="Arial"/>
            </a:endParaRPr>
          </a:p>
        </p:txBody>
      </p:sp>
      <p:pic>
        <p:nvPicPr>
          <p:cNvPr id="3" name="object 3"/>
          <p:cNvPicPr/>
          <p:nvPr/>
        </p:nvPicPr>
        <p:blipFill>
          <a:blip r:embed="rId2" cstate="print"/>
          <a:stretch>
            <a:fillRect/>
          </a:stretch>
        </p:blipFill>
        <p:spPr>
          <a:xfrm>
            <a:off x="237743" y="5728708"/>
            <a:ext cx="8622779" cy="469277"/>
          </a:xfrm>
          <a:prstGeom prst="rect">
            <a:avLst/>
          </a:prstGeom>
        </p:spPr>
      </p:pic>
      <p:sp>
        <p:nvSpPr>
          <p:cNvPr id="4" name="object 4"/>
          <p:cNvSpPr txBox="1"/>
          <p:nvPr/>
        </p:nvSpPr>
        <p:spPr>
          <a:xfrm>
            <a:off x="1033983" y="4256684"/>
            <a:ext cx="1570990" cy="1854835"/>
          </a:xfrm>
          <a:prstGeom prst="rect">
            <a:avLst/>
          </a:prstGeom>
        </p:spPr>
        <p:txBody>
          <a:bodyPr vert="horz" wrap="square" lIns="0" tIns="12700" rIns="0" bIns="0" rtlCol="0">
            <a:spAutoFit/>
          </a:bodyPr>
          <a:lstStyle/>
          <a:p>
            <a:pPr marL="12700">
              <a:lnSpc>
                <a:spcPct val="100000"/>
              </a:lnSpc>
              <a:spcBef>
                <a:spcPts val="100"/>
              </a:spcBef>
            </a:pPr>
            <a:r>
              <a:rPr sz="12000" spc="35" dirty="0">
                <a:solidFill>
                  <a:srgbClr val="9B2490"/>
                </a:solidFill>
                <a:latin typeface="Times New Roman"/>
                <a:cs typeface="Times New Roman"/>
              </a:rPr>
              <a:t>2</a:t>
            </a:r>
            <a:r>
              <a:rPr lang="en-US" sz="12000" spc="35" dirty="0">
                <a:solidFill>
                  <a:srgbClr val="9B2490"/>
                </a:solidFill>
                <a:latin typeface="Times New Roman"/>
                <a:cs typeface="Times New Roman"/>
              </a:rPr>
              <a:t>4</a:t>
            </a:r>
            <a:endParaRPr sz="12000" dirty="0">
              <a:latin typeface="Times New Roman"/>
              <a:cs typeface="Times New Roman"/>
            </a:endParaRPr>
          </a:p>
        </p:txBody>
      </p:sp>
      <p:pic>
        <p:nvPicPr>
          <p:cNvPr id="5" name="object 5"/>
          <p:cNvPicPr/>
          <p:nvPr/>
        </p:nvPicPr>
        <p:blipFill>
          <a:blip r:embed="rId3" cstate="print"/>
          <a:stretch>
            <a:fillRect/>
          </a:stretch>
        </p:blipFill>
        <p:spPr>
          <a:xfrm>
            <a:off x="1216152" y="0"/>
            <a:ext cx="6701028" cy="45034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2" name="object 2"/>
          <p:cNvSpPr txBox="1">
            <a:spLocks noGrp="1"/>
          </p:cNvSpPr>
          <p:nvPr>
            <p:ph type="title"/>
          </p:nvPr>
        </p:nvSpPr>
        <p:spPr>
          <a:prstGeom prst="rect">
            <a:avLst/>
          </a:prstGeom>
        </p:spPr>
        <p:txBody>
          <a:bodyPr vert="horz" wrap="square" lIns="0" tIns="349428" rIns="0" bIns="0" rtlCol="0">
            <a:spAutoFit/>
          </a:bodyPr>
          <a:lstStyle/>
          <a:p>
            <a:pPr marL="12700">
              <a:lnSpc>
                <a:spcPct val="100000"/>
              </a:lnSpc>
              <a:spcBef>
                <a:spcPts val="95"/>
              </a:spcBef>
            </a:pPr>
            <a:r>
              <a:rPr sz="2500" dirty="0">
                <a:solidFill>
                  <a:srgbClr val="EF4A21"/>
                </a:solidFill>
              </a:rPr>
              <a:t>After</a:t>
            </a:r>
            <a:r>
              <a:rPr sz="2500" spc="-45" dirty="0">
                <a:solidFill>
                  <a:srgbClr val="EF4A21"/>
                </a:solidFill>
              </a:rPr>
              <a:t> </a:t>
            </a:r>
            <a:r>
              <a:rPr sz="2500" dirty="0">
                <a:solidFill>
                  <a:srgbClr val="EF4A21"/>
                </a:solidFill>
              </a:rPr>
              <a:t>studying</a:t>
            </a:r>
            <a:r>
              <a:rPr sz="2500" spc="-30" dirty="0">
                <a:solidFill>
                  <a:srgbClr val="EF4A21"/>
                </a:solidFill>
              </a:rPr>
              <a:t> </a:t>
            </a:r>
            <a:r>
              <a:rPr sz="2500" dirty="0">
                <a:solidFill>
                  <a:srgbClr val="EF4A21"/>
                </a:solidFill>
              </a:rPr>
              <a:t>this</a:t>
            </a:r>
            <a:r>
              <a:rPr sz="2500" spc="-60" dirty="0">
                <a:solidFill>
                  <a:srgbClr val="EF4A21"/>
                </a:solidFill>
              </a:rPr>
              <a:t> </a:t>
            </a:r>
            <a:r>
              <a:rPr sz="2500" dirty="0">
                <a:solidFill>
                  <a:srgbClr val="EF4A21"/>
                </a:solidFill>
              </a:rPr>
              <a:t>chapter,</a:t>
            </a:r>
            <a:r>
              <a:rPr sz="2500" spc="-55" dirty="0">
                <a:solidFill>
                  <a:srgbClr val="EF4A21"/>
                </a:solidFill>
              </a:rPr>
              <a:t> </a:t>
            </a:r>
            <a:r>
              <a:rPr sz="2500" dirty="0">
                <a:solidFill>
                  <a:srgbClr val="EF4A21"/>
                </a:solidFill>
              </a:rPr>
              <a:t>you</a:t>
            </a:r>
            <a:r>
              <a:rPr sz="2500" spc="-40" dirty="0">
                <a:solidFill>
                  <a:srgbClr val="EF4A21"/>
                </a:solidFill>
              </a:rPr>
              <a:t> </a:t>
            </a:r>
            <a:r>
              <a:rPr sz="2500" dirty="0">
                <a:solidFill>
                  <a:srgbClr val="EF4A21"/>
                </a:solidFill>
              </a:rPr>
              <a:t>will</a:t>
            </a:r>
            <a:r>
              <a:rPr sz="2500" spc="-70" dirty="0">
                <a:solidFill>
                  <a:srgbClr val="EF4A21"/>
                </a:solidFill>
              </a:rPr>
              <a:t> </a:t>
            </a:r>
            <a:r>
              <a:rPr sz="2500" dirty="0">
                <a:solidFill>
                  <a:srgbClr val="EF4A21"/>
                </a:solidFill>
              </a:rPr>
              <a:t>be</a:t>
            </a:r>
            <a:r>
              <a:rPr sz="2500" spc="-70" dirty="0">
                <a:solidFill>
                  <a:srgbClr val="EF4A21"/>
                </a:solidFill>
              </a:rPr>
              <a:t> </a:t>
            </a:r>
            <a:r>
              <a:rPr sz="2500" dirty="0">
                <a:solidFill>
                  <a:srgbClr val="EF4A21"/>
                </a:solidFill>
              </a:rPr>
              <a:t>able</a:t>
            </a:r>
            <a:r>
              <a:rPr sz="2500" spc="-75" dirty="0">
                <a:solidFill>
                  <a:srgbClr val="EF4A21"/>
                </a:solidFill>
              </a:rPr>
              <a:t> </a:t>
            </a:r>
            <a:r>
              <a:rPr sz="2500" spc="-25" dirty="0">
                <a:solidFill>
                  <a:srgbClr val="EF4A21"/>
                </a:solidFill>
              </a:rPr>
              <a:t>to:</a:t>
            </a:r>
            <a:endParaRPr sz="2500"/>
          </a:p>
        </p:txBody>
      </p:sp>
      <p:sp>
        <p:nvSpPr>
          <p:cNvPr id="3" name="object 3"/>
          <p:cNvSpPr txBox="1"/>
          <p:nvPr/>
        </p:nvSpPr>
        <p:spPr>
          <a:xfrm>
            <a:off x="763016" y="1626234"/>
            <a:ext cx="7792720" cy="4619213"/>
          </a:xfrm>
          <a:prstGeom prst="rect">
            <a:avLst/>
          </a:prstGeom>
        </p:spPr>
        <p:txBody>
          <a:bodyPr vert="horz" wrap="square" lIns="0" tIns="12700" rIns="0" bIns="0" rtlCol="0">
            <a:spAutoFit/>
          </a:bodyPr>
          <a:lstStyle/>
          <a:p>
            <a:pPr marL="354965" indent="-342265">
              <a:lnSpc>
                <a:spcPct val="100000"/>
              </a:lnSpc>
              <a:spcBef>
                <a:spcPts val="100"/>
              </a:spcBef>
              <a:buClr>
                <a:srgbClr val="EF4A21"/>
              </a:buClr>
              <a:buSzPct val="79166"/>
              <a:buFont typeface="Wingdings"/>
              <a:buChar char=""/>
              <a:tabLst>
                <a:tab pos="354965" algn="l"/>
              </a:tabLst>
            </a:pPr>
            <a:r>
              <a:rPr sz="2400" dirty="0">
                <a:latin typeface="Arial"/>
                <a:cs typeface="Arial"/>
              </a:rPr>
              <a:t>Define</a:t>
            </a:r>
            <a:r>
              <a:rPr sz="2400" spc="-70" dirty="0">
                <a:latin typeface="Arial"/>
                <a:cs typeface="Arial"/>
              </a:rPr>
              <a:t> </a:t>
            </a:r>
            <a:r>
              <a:rPr sz="2400" dirty="0">
                <a:latin typeface="Arial"/>
                <a:cs typeface="Arial"/>
              </a:rPr>
              <a:t>money</a:t>
            </a:r>
            <a:r>
              <a:rPr sz="2400" spc="-60" dirty="0">
                <a:latin typeface="Arial"/>
                <a:cs typeface="Arial"/>
              </a:rPr>
              <a:t> </a:t>
            </a:r>
            <a:r>
              <a:rPr sz="2400" dirty="0">
                <a:latin typeface="Arial"/>
                <a:cs typeface="Arial"/>
              </a:rPr>
              <a:t>and</a:t>
            </a:r>
            <a:r>
              <a:rPr sz="2400" spc="-80" dirty="0">
                <a:latin typeface="Arial"/>
                <a:cs typeface="Arial"/>
              </a:rPr>
              <a:t> </a:t>
            </a:r>
            <a:r>
              <a:rPr sz="2400" dirty="0">
                <a:latin typeface="Arial"/>
                <a:cs typeface="Arial"/>
              </a:rPr>
              <a:t>describe</a:t>
            </a:r>
            <a:r>
              <a:rPr sz="2400" spc="-55" dirty="0">
                <a:latin typeface="Arial"/>
                <a:cs typeface="Arial"/>
              </a:rPr>
              <a:t> </a:t>
            </a:r>
            <a:r>
              <a:rPr sz="2400" dirty="0">
                <a:latin typeface="Arial"/>
                <a:cs typeface="Arial"/>
              </a:rPr>
              <a:t>its</a:t>
            </a:r>
            <a:r>
              <a:rPr sz="2400" spc="-80" dirty="0">
                <a:latin typeface="Arial"/>
                <a:cs typeface="Arial"/>
              </a:rPr>
              <a:t> </a:t>
            </a:r>
            <a:r>
              <a:rPr sz="2400" spc="-10" dirty="0">
                <a:latin typeface="Arial"/>
                <a:cs typeface="Arial"/>
              </a:rPr>
              <a:t>functions</a:t>
            </a:r>
            <a:endParaRPr sz="2400" dirty="0">
              <a:latin typeface="Arial"/>
              <a:cs typeface="Arial"/>
            </a:endParaRPr>
          </a:p>
          <a:p>
            <a:pPr marL="354965" indent="-342265">
              <a:lnSpc>
                <a:spcPct val="100000"/>
              </a:lnSpc>
              <a:spcBef>
                <a:spcPts val="1989"/>
              </a:spcBef>
              <a:buClr>
                <a:srgbClr val="EF4A21"/>
              </a:buClr>
              <a:buSzPct val="79166"/>
              <a:buFont typeface="Wingdings"/>
              <a:buChar char=""/>
              <a:tabLst>
                <a:tab pos="354965" algn="l"/>
              </a:tabLst>
            </a:pPr>
            <a:r>
              <a:rPr sz="2400" dirty="0">
                <a:latin typeface="Arial"/>
                <a:cs typeface="Arial"/>
              </a:rPr>
              <a:t>Explain</a:t>
            </a:r>
            <a:r>
              <a:rPr sz="2400" spc="-40" dirty="0">
                <a:latin typeface="Arial"/>
                <a:cs typeface="Arial"/>
              </a:rPr>
              <a:t> </a:t>
            </a:r>
            <a:r>
              <a:rPr sz="2400" dirty="0">
                <a:latin typeface="Arial"/>
                <a:cs typeface="Arial"/>
              </a:rPr>
              <a:t>the</a:t>
            </a:r>
            <a:r>
              <a:rPr sz="2400" spc="-65" dirty="0">
                <a:latin typeface="Arial"/>
                <a:cs typeface="Arial"/>
              </a:rPr>
              <a:t> </a:t>
            </a:r>
            <a:r>
              <a:rPr sz="2400" dirty="0">
                <a:latin typeface="Arial"/>
                <a:cs typeface="Arial"/>
              </a:rPr>
              <a:t>economic</a:t>
            </a:r>
            <a:r>
              <a:rPr sz="2400" spc="-60" dirty="0">
                <a:latin typeface="Arial"/>
                <a:cs typeface="Arial"/>
              </a:rPr>
              <a:t> </a:t>
            </a:r>
            <a:r>
              <a:rPr sz="2400" dirty="0">
                <a:latin typeface="Arial"/>
                <a:cs typeface="Arial"/>
              </a:rPr>
              <a:t>functions</a:t>
            </a:r>
            <a:r>
              <a:rPr sz="2400" spc="-60" dirty="0">
                <a:latin typeface="Arial"/>
                <a:cs typeface="Arial"/>
              </a:rPr>
              <a:t> </a:t>
            </a:r>
            <a:r>
              <a:rPr sz="2400" dirty="0">
                <a:latin typeface="Arial"/>
                <a:cs typeface="Arial"/>
              </a:rPr>
              <a:t>of</a:t>
            </a:r>
            <a:r>
              <a:rPr sz="2400" spc="-85" dirty="0">
                <a:latin typeface="Arial"/>
                <a:cs typeface="Arial"/>
              </a:rPr>
              <a:t> </a:t>
            </a:r>
            <a:r>
              <a:rPr sz="2400" spc="-10" dirty="0">
                <a:latin typeface="Arial"/>
                <a:cs typeface="Arial"/>
              </a:rPr>
              <a:t>banks</a:t>
            </a:r>
            <a:endParaRPr sz="2400" dirty="0">
              <a:latin typeface="Arial"/>
              <a:cs typeface="Arial"/>
            </a:endParaRPr>
          </a:p>
          <a:p>
            <a:pPr marL="355600" marR="584835" indent="-342900">
              <a:lnSpc>
                <a:spcPct val="100000"/>
              </a:lnSpc>
              <a:spcBef>
                <a:spcPts val="2005"/>
              </a:spcBef>
              <a:buClr>
                <a:srgbClr val="EF4A21"/>
              </a:buClr>
              <a:buSzPct val="79166"/>
              <a:buFont typeface="Wingdings"/>
              <a:buChar char=""/>
              <a:tabLst>
                <a:tab pos="355600" algn="l"/>
              </a:tabLst>
            </a:pPr>
            <a:r>
              <a:rPr sz="2400" dirty="0">
                <a:latin typeface="Arial"/>
                <a:cs typeface="Arial"/>
              </a:rPr>
              <a:t>Describe</a:t>
            </a:r>
            <a:r>
              <a:rPr sz="2400" spc="-55" dirty="0">
                <a:latin typeface="Arial"/>
                <a:cs typeface="Arial"/>
              </a:rPr>
              <a:t> </a:t>
            </a:r>
            <a:r>
              <a:rPr sz="2400" dirty="0">
                <a:latin typeface="Arial"/>
                <a:cs typeface="Arial"/>
              </a:rPr>
              <a:t>the</a:t>
            </a:r>
            <a:r>
              <a:rPr sz="2400" spc="-70" dirty="0">
                <a:latin typeface="Arial"/>
                <a:cs typeface="Arial"/>
              </a:rPr>
              <a:t> </a:t>
            </a:r>
            <a:r>
              <a:rPr sz="2400" dirty="0">
                <a:latin typeface="Arial"/>
                <a:cs typeface="Arial"/>
              </a:rPr>
              <a:t>structure</a:t>
            </a:r>
            <a:r>
              <a:rPr sz="2400" spc="-70" dirty="0">
                <a:latin typeface="Arial"/>
                <a:cs typeface="Arial"/>
              </a:rPr>
              <a:t> </a:t>
            </a:r>
            <a:r>
              <a:rPr sz="2400" dirty="0">
                <a:latin typeface="Arial"/>
                <a:cs typeface="Arial"/>
              </a:rPr>
              <a:t>and</a:t>
            </a:r>
            <a:r>
              <a:rPr sz="2400" spc="-70" dirty="0">
                <a:latin typeface="Arial"/>
                <a:cs typeface="Arial"/>
              </a:rPr>
              <a:t> </a:t>
            </a:r>
            <a:r>
              <a:rPr sz="2400" dirty="0">
                <a:latin typeface="Arial"/>
                <a:cs typeface="Arial"/>
              </a:rPr>
              <a:t>functions</a:t>
            </a:r>
            <a:r>
              <a:rPr sz="2400" spc="-70" dirty="0">
                <a:latin typeface="Arial"/>
                <a:cs typeface="Arial"/>
              </a:rPr>
              <a:t> </a:t>
            </a:r>
            <a:r>
              <a:rPr sz="2400" dirty="0">
                <a:latin typeface="Arial"/>
                <a:cs typeface="Arial"/>
              </a:rPr>
              <a:t>of</a:t>
            </a:r>
            <a:r>
              <a:rPr sz="2400" spc="-70" dirty="0">
                <a:latin typeface="Arial"/>
                <a:cs typeface="Arial"/>
              </a:rPr>
              <a:t> </a:t>
            </a:r>
            <a:r>
              <a:rPr sz="2400" dirty="0">
                <a:latin typeface="Arial"/>
                <a:cs typeface="Arial"/>
              </a:rPr>
              <a:t>the</a:t>
            </a:r>
            <a:r>
              <a:rPr lang="en-US" sz="2400" dirty="0">
                <a:latin typeface="Arial"/>
                <a:cs typeface="Arial"/>
              </a:rPr>
              <a:t> central bank</a:t>
            </a:r>
            <a:endParaRPr sz="2400" dirty="0">
              <a:latin typeface="Arial"/>
              <a:cs typeface="Arial"/>
            </a:endParaRPr>
          </a:p>
          <a:p>
            <a:pPr marL="354965" indent="-342265">
              <a:lnSpc>
                <a:spcPct val="100000"/>
              </a:lnSpc>
              <a:spcBef>
                <a:spcPts val="2005"/>
              </a:spcBef>
              <a:buClr>
                <a:srgbClr val="EF4A21"/>
              </a:buClr>
              <a:buSzPct val="79166"/>
              <a:buFont typeface="Wingdings"/>
              <a:buChar char=""/>
              <a:tabLst>
                <a:tab pos="354965" algn="l"/>
              </a:tabLst>
            </a:pPr>
            <a:r>
              <a:rPr sz="2400" dirty="0">
                <a:latin typeface="Arial"/>
                <a:cs typeface="Arial"/>
              </a:rPr>
              <a:t>Explain</a:t>
            </a:r>
            <a:r>
              <a:rPr sz="2400" spc="-35" dirty="0">
                <a:latin typeface="Arial"/>
                <a:cs typeface="Arial"/>
              </a:rPr>
              <a:t> </a:t>
            </a:r>
            <a:r>
              <a:rPr sz="2400" dirty="0">
                <a:latin typeface="Arial"/>
                <a:cs typeface="Arial"/>
              </a:rPr>
              <a:t>how</a:t>
            </a:r>
            <a:r>
              <a:rPr sz="2400" spc="-55" dirty="0">
                <a:latin typeface="Arial"/>
                <a:cs typeface="Arial"/>
              </a:rPr>
              <a:t> </a:t>
            </a:r>
            <a:r>
              <a:rPr sz="2400" dirty="0">
                <a:latin typeface="Arial"/>
                <a:cs typeface="Arial"/>
              </a:rPr>
              <a:t>the</a:t>
            </a:r>
            <a:r>
              <a:rPr sz="2400" spc="-60" dirty="0">
                <a:latin typeface="Arial"/>
                <a:cs typeface="Arial"/>
              </a:rPr>
              <a:t> </a:t>
            </a:r>
            <a:r>
              <a:rPr sz="2400" dirty="0">
                <a:latin typeface="Arial"/>
                <a:cs typeface="Arial"/>
              </a:rPr>
              <a:t>banking</a:t>
            </a:r>
            <a:r>
              <a:rPr sz="2400" spc="-45" dirty="0">
                <a:latin typeface="Arial"/>
                <a:cs typeface="Arial"/>
              </a:rPr>
              <a:t> </a:t>
            </a:r>
            <a:r>
              <a:rPr sz="2400" dirty="0">
                <a:latin typeface="Arial"/>
                <a:cs typeface="Arial"/>
              </a:rPr>
              <a:t>system</a:t>
            </a:r>
            <a:r>
              <a:rPr sz="2400" spc="-60" dirty="0">
                <a:latin typeface="Arial"/>
                <a:cs typeface="Arial"/>
              </a:rPr>
              <a:t> </a:t>
            </a:r>
            <a:r>
              <a:rPr sz="2400" dirty="0">
                <a:latin typeface="Arial"/>
                <a:cs typeface="Arial"/>
              </a:rPr>
              <a:t>creates</a:t>
            </a:r>
            <a:r>
              <a:rPr sz="2400" spc="-70" dirty="0">
                <a:latin typeface="Arial"/>
                <a:cs typeface="Arial"/>
              </a:rPr>
              <a:t> </a:t>
            </a:r>
            <a:r>
              <a:rPr sz="2400" spc="-10" dirty="0">
                <a:latin typeface="Arial"/>
                <a:cs typeface="Arial"/>
              </a:rPr>
              <a:t>money</a:t>
            </a:r>
            <a:endParaRPr sz="2400" dirty="0">
              <a:latin typeface="Arial"/>
              <a:cs typeface="Arial"/>
            </a:endParaRPr>
          </a:p>
          <a:p>
            <a:pPr marL="355600" marR="5080" indent="-342900">
              <a:lnSpc>
                <a:spcPct val="100000"/>
              </a:lnSpc>
              <a:spcBef>
                <a:spcPts val="1995"/>
              </a:spcBef>
              <a:buClr>
                <a:srgbClr val="EF4A21"/>
              </a:buClr>
              <a:buSzPct val="79166"/>
              <a:buFont typeface="Wingdings"/>
              <a:buChar char=""/>
              <a:tabLst>
                <a:tab pos="355600" algn="l"/>
              </a:tabLst>
            </a:pPr>
            <a:r>
              <a:rPr sz="2400" dirty="0">
                <a:latin typeface="Arial"/>
                <a:cs typeface="Arial"/>
              </a:rPr>
              <a:t>Explain</a:t>
            </a:r>
            <a:r>
              <a:rPr sz="2400" spc="-35" dirty="0">
                <a:latin typeface="Arial"/>
                <a:cs typeface="Arial"/>
              </a:rPr>
              <a:t> </a:t>
            </a:r>
            <a:r>
              <a:rPr sz="2400" dirty="0">
                <a:latin typeface="Arial"/>
                <a:cs typeface="Arial"/>
              </a:rPr>
              <a:t>what</a:t>
            </a:r>
            <a:r>
              <a:rPr sz="2400" spc="-45" dirty="0">
                <a:latin typeface="Arial"/>
                <a:cs typeface="Arial"/>
              </a:rPr>
              <a:t> </a:t>
            </a:r>
            <a:r>
              <a:rPr sz="2400" dirty="0">
                <a:latin typeface="Arial"/>
                <a:cs typeface="Arial"/>
              </a:rPr>
              <a:t>determines</a:t>
            </a:r>
            <a:r>
              <a:rPr sz="2400" spc="-65" dirty="0">
                <a:latin typeface="Arial"/>
                <a:cs typeface="Arial"/>
              </a:rPr>
              <a:t> </a:t>
            </a:r>
            <a:r>
              <a:rPr sz="2400" dirty="0">
                <a:latin typeface="Arial"/>
                <a:cs typeface="Arial"/>
              </a:rPr>
              <a:t>the</a:t>
            </a:r>
            <a:r>
              <a:rPr sz="2400" spc="-60" dirty="0">
                <a:latin typeface="Arial"/>
                <a:cs typeface="Arial"/>
              </a:rPr>
              <a:t> </a:t>
            </a:r>
            <a:r>
              <a:rPr sz="2400" dirty="0">
                <a:latin typeface="Arial"/>
                <a:cs typeface="Arial"/>
              </a:rPr>
              <a:t>quantity</a:t>
            </a:r>
            <a:r>
              <a:rPr sz="2400" spc="-60" dirty="0">
                <a:latin typeface="Arial"/>
                <a:cs typeface="Arial"/>
              </a:rPr>
              <a:t> </a:t>
            </a:r>
            <a:r>
              <a:rPr sz="2400" dirty="0">
                <a:latin typeface="Arial"/>
                <a:cs typeface="Arial"/>
              </a:rPr>
              <a:t>of</a:t>
            </a:r>
            <a:r>
              <a:rPr sz="2400" spc="-60" dirty="0">
                <a:latin typeface="Arial"/>
                <a:cs typeface="Arial"/>
              </a:rPr>
              <a:t> </a:t>
            </a:r>
            <a:r>
              <a:rPr sz="2400" dirty="0">
                <a:latin typeface="Arial"/>
                <a:cs typeface="Arial"/>
              </a:rPr>
              <a:t>money</a:t>
            </a:r>
            <a:r>
              <a:rPr sz="2400" spc="-65" dirty="0">
                <a:latin typeface="Arial"/>
                <a:cs typeface="Arial"/>
              </a:rPr>
              <a:t> </a:t>
            </a:r>
            <a:r>
              <a:rPr sz="2400" dirty="0">
                <a:latin typeface="Arial"/>
                <a:cs typeface="Arial"/>
              </a:rPr>
              <a:t>and</a:t>
            </a:r>
            <a:r>
              <a:rPr sz="2400" spc="-55" dirty="0">
                <a:latin typeface="Arial"/>
                <a:cs typeface="Arial"/>
              </a:rPr>
              <a:t> </a:t>
            </a:r>
            <a:r>
              <a:rPr sz="2400" spc="-25" dirty="0">
                <a:latin typeface="Arial"/>
                <a:cs typeface="Arial"/>
              </a:rPr>
              <a:t>the </a:t>
            </a:r>
            <a:r>
              <a:rPr sz="2400" dirty="0">
                <a:latin typeface="Arial"/>
                <a:cs typeface="Arial"/>
              </a:rPr>
              <a:t>nominal</a:t>
            </a:r>
            <a:r>
              <a:rPr sz="2400" spc="-65" dirty="0">
                <a:latin typeface="Arial"/>
                <a:cs typeface="Arial"/>
              </a:rPr>
              <a:t> </a:t>
            </a:r>
            <a:r>
              <a:rPr sz="2400" dirty="0">
                <a:latin typeface="Arial"/>
                <a:cs typeface="Arial"/>
              </a:rPr>
              <a:t>interest</a:t>
            </a:r>
            <a:r>
              <a:rPr sz="2400" spc="-70" dirty="0">
                <a:latin typeface="Arial"/>
                <a:cs typeface="Arial"/>
              </a:rPr>
              <a:t> </a:t>
            </a:r>
            <a:r>
              <a:rPr sz="2400" spc="-20" dirty="0">
                <a:latin typeface="Arial"/>
                <a:cs typeface="Arial"/>
              </a:rPr>
              <a:t>rate</a:t>
            </a:r>
            <a:endParaRPr sz="2400" dirty="0">
              <a:latin typeface="Arial"/>
              <a:cs typeface="Arial"/>
            </a:endParaRPr>
          </a:p>
          <a:p>
            <a:pPr marL="355600" marR="72390" indent="-342900">
              <a:lnSpc>
                <a:spcPct val="100000"/>
              </a:lnSpc>
              <a:spcBef>
                <a:spcPts val="2005"/>
              </a:spcBef>
              <a:buClr>
                <a:srgbClr val="EF4A21"/>
              </a:buClr>
              <a:buSzPct val="79166"/>
              <a:buFont typeface="Wingdings"/>
              <a:buChar char=""/>
              <a:tabLst>
                <a:tab pos="355600" algn="l"/>
              </a:tabLst>
            </a:pPr>
            <a:r>
              <a:rPr sz="2400" dirty="0">
                <a:latin typeface="Arial"/>
                <a:cs typeface="Arial"/>
              </a:rPr>
              <a:t>Explain</a:t>
            </a:r>
            <a:r>
              <a:rPr sz="2400" spc="-40" dirty="0">
                <a:latin typeface="Arial"/>
                <a:cs typeface="Arial"/>
              </a:rPr>
              <a:t> </a:t>
            </a:r>
            <a:r>
              <a:rPr sz="2400" dirty="0">
                <a:latin typeface="Arial"/>
                <a:cs typeface="Arial"/>
              </a:rPr>
              <a:t>how</a:t>
            </a:r>
            <a:r>
              <a:rPr sz="2400" spc="-65" dirty="0">
                <a:latin typeface="Arial"/>
                <a:cs typeface="Arial"/>
              </a:rPr>
              <a:t> </a:t>
            </a:r>
            <a:r>
              <a:rPr sz="2400" dirty="0">
                <a:latin typeface="Arial"/>
                <a:cs typeface="Arial"/>
              </a:rPr>
              <a:t>the</a:t>
            </a:r>
            <a:r>
              <a:rPr sz="2400" spc="-70" dirty="0">
                <a:latin typeface="Arial"/>
                <a:cs typeface="Arial"/>
              </a:rPr>
              <a:t> </a:t>
            </a:r>
            <a:r>
              <a:rPr sz="2400" dirty="0">
                <a:latin typeface="Arial"/>
                <a:cs typeface="Arial"/>
              </a:rPr>
              <a:t>quantity</a:t>
            </a:r>
            <a:r>
              <a:rPr sz="2400" spc="-70" dirty="0">
                <a:latin typeface="Arial"/>
                <a:cs typeface="Arial"/>
              </a:rPr>
              <a:t> </a:t>
            </a:r>
            <a:r>
              <a:rPr sz="2400" dirty="0">
                <a:latin typeface="Arial"/>
                <a:cs typeface="Arial"/>
              </a:rPr>
              <a:t>of</a:t>
            </a:r>
            <a:r>
              <a:rPr sz="2400" spc="-60" dirty="0">
                <a:latin typeface="Arial"/>
                <a:cs typeface="Arial"/>
              </a:rPr>
              <a:t> </a:t>
            </a:r>
            <a:r>
              <a:rPr sz="2400" dirty="0">
                <a:latin typeface="Arial"/>
                <a:cs typeface="Arial"/>
              </a:rPr>
              <a:t>money</a:t>
            </a:r>
            <a:r>
              <a:rPr sz="2400" spc="-70" dirty="0">
                <a:latin typeface="Arial"/>
                <a:cs typeface="Arial"/>
              </a:rPr>
              <a:t> </a:t>
            </a:r>
            <a:r>
              <a:rPr sz="2400" dirty="0">
                <a:latin typeface="Arial"/>
                <a:cs typeface="Arial"/>
              </a:rPr>
              <a:t>influences</a:t>
            </a:r>
            <a:r>
              <a:rPr sz="2400" spc="-50" dirty="0">
                <a:latin typeface="Arial"/>
                <a:cs typeface="Arial"/>
              </a:rPr>
              <a:t> </a:t>
            </a:r>
            <a:r>
              <a:rPr sz="2400" dirty="0">
                <a:latin typeface="Arial"/>
                <a:cs typeface="Arial"/>
              </a:rPr>
              <a:t>the</a:t>
            </a:r>
            <a:r>
              <a:rPr sz="2400" spc="-70" dirty="0">
                <a:latin typeface="Arial"/>
                <a:cs typeface="Arial"/>
              </a:rPr>
              <a:t> </a:t>
            </a:r>
            <a:r>
              <a:rPr sz="2400" spc="-10" dirty="0">
                <a:latin typeface="Arial"/>
                <a:cs typeface="Arial"/>
              </a:rPr>
              <a:t>price </a:t>
            </a:r>
            <a:r>
              <a:rPr sz="2400" dirty="0">
                <a:latin typeface="Arial"/>
                <a:cs typeface="Arial"/>
              </a:rPr>
              <a:t>level</a:t>
            </a:r>
            <a:r>
              <a:rPr sz="2400" spc="-60" dirty="0">
                <a:latin typeface="Arial"/>
                <a:cs typeface="Arial"/>
              </a:rPr>
              <a:t> </a:t>
            </a:r>
            <a:r>
              <a:rPr sz="2400" dirty="0">
                <a:latin typeface="Arial"/>
                <a:cs typeface="Arial"/>
              </a:rPr>
              <a:t>and</a:t>
            </a:r>
            <a:r>
              <a:rPr sz="2400" spc="-75" dirty="0">
                <a:latin typeface="Arial"/>
                <a:cs typeface="Arial"/>
              </a:rPr>
              <a:t> </a:t>
            </a:r>
            <a:r>
              <a:rPr sz="2400" dirty="0">
                <a:latin typeface="Arial"/>
                <a:cs typeface="Arial"/>
              </a:rPr>
              <a:t>the</a:t>
            </a:r>
            <a:r>
              <a:rPr sz="2400" spc="-70" dirty="0">
                <a:latin typeface="Arial"/>
                <a:cs typeface="Arial"/>
              </a:rPr>
              <a:t> </a:t>
            </a:r>
            <a:r>
              <a:rPr sz="2400" dirty="0">
                <a:latin typeface="Arial"/>
                <a:cs typeface="Arial"/>
              </a:rPr>
              <a:t>inflation</a:t>
            </a:r>
            <a:r>
              <a:rPr sz="2400" spc="-65" dirty="0">
                <a:latin typeface="Arial"/>
                <a:cs typeface="Arial"/>
              </a:rPr>
              <a:t> </a:t>
            </a:r>
            <a:r>
              <a:rPr sz="2400" spc="-20" dirty="0">
                <a:latin typeface="Arial"/>
                <a:cs typeface="Arial"/>
              </a:rPr>
              <a:t>rate</a:t>
            </a:r>
            <a:endParaRPr sz="2400" dirty="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99363" y="1268760"/>
            <a:ext cx="8187055" cy="5216684"/>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C00000"/>
                </a:solidFill>
                <a:latin typeface="Arial"/>
                <a:cs typeface="Arial"/>
              </a:rPr>
              <a:t>Money</a:t>
            </a:r>
            <a:r>
              <a:rPr sz="2400" b="1" spc="-45" dirty="0">
                <a:solidFill>
                  <a:srgbClr val="C00000"/>
                </a:solidFill>
                <a:latin typeface="Arial"/>
                <a:cs typeface="Arial"/>
              </a:rPr>
              <a:t> </a:t>
            </a:r>
            <a:r>
              <a:rPr sz="2400" dirty="0">
                <a:latin typeface="Arial"/>
                <a:cs typeface="Arial"/>
              </a:rPr>
              <a:t>is</a:t>
            </a:r>
            <a:r>
              <a:rPr sz="2400" spc="-40" dirty="0">
                <a:latin typeface="Arial"/>
                <a:cs typeface="Arial"/>
              </a:rPr>
              <a:t> </a:t>
            </a:r>
            <a:r>
              <a:rPr sz="2400" dirty="0">
                <a:latin typeface="Arial"/>
                <a:cs typeface="Arial"/>
              </a:rPr>
              <a:t>any</a:t>
            </a:r>
            <a:r>
              <a:rPr sz="2400" spc="-40" dirty="0">
                <a:latin typeface="Arial"/>
                <a:cs typeface="Arial"/>
              </a:rPr>
              <a:t> </a:t>
            </a:r>
            <a:r>
              <a:rPr sz="2400" dirty="0">
                <a:latin typeface="Arial"/>
                <a:cs typeface="Arial"/>
              </a:rPr>
              <a:t>commodity</a:t>
            </a:r>
            <a:r>
              <a:rPr sz="2400" spc="-45" dirty="0">
                <a:latin typeface="Arial"/>
                <a:cs typeface="Arial"/>
              </a:rPr>
              <a:t> </a:t>
            </a:r>
            <a:r>
              <a:rPr sz="2400" dirty="0">
                <a:latin typeface="Arial"/>
                <a:cs typeface="Arial"/>
              </a:rPr>
              <a:t>or</a:t>
            </a:r>
            <a:r>
              <a:rPr sz="2400" spc="-45" dirty="0">
                <a:latin typeface="Arial"/>
                <a:cs typeface="Arial"/>
              </a:rPr>
              <a:t> </a:t>
            </a:r>
            <a:r>
              <a:rPr sz="2400" dirty="0">
                <a:latin typeface="Arial"/>
                <a:cs typeface="Arial"/>
              </a:rPr>
              <a:t>token</a:t>
            </a:r>
            <a:r>
              <a:rPr sz="2400" spc="-50" dirty="0">
                <a:latin typeface="Arial"/>
                <a:cs typeface="Arial"/>
              </a:rPr>
              <a:t> </a:t>
            </a:r>
            <a:r>
              <a:rPr sz="2400" dirty="0">
                <a:latin typeface="Arial"/>
                <a:cs typeface="Arial"/>
              </a:rPr>
              <a:t>that</a:t>
            </a:r>
            <a:r>
              <a:rPr sz="2400" spc="-60" dirty="0">
                <a:latin typeface="Arial"/>
                <a:cs typeface="Arial"/>
              </a:rPr>
              <a:t> </a:t>
            </a:r>
            <a:r>
              <a:rPr sz="2400" dirty="0">
                <a:latin typeface="Arial"/>
                <a:cs typeface="Arial"/>
              </a:rPr>
              <a:t>is</a:t>
            </a:r>
            <a:r>
              <a:rPr sz="2400" spc="-45" dirty="0">
                <a:latin typeface="Arial"/>
                <a:cs typeface="Arial"/>
              </a:rPr>
              <a:t> </a:t>
            </a:r>
            <a:r>
              <a:rPr sz="2400" spc="-10" dirty="0">
                <a:latin typeface="Arial"/>
                <a:cs typeface="Arial"/>
              </a:rPr>
              <a:t>generally</a:t>
            </a:r>
            <a:endParaRPr sz="2400" dirty="0">
              <a:latin typeface="Arial"/>
              <a:cs typeface="Arial"/>
            </a:endParaRPr>
          </a:p>
          <a:p>
            <a:pPr marL="12700">
              <a:lnSpc>
                <a:spcPct val="100000"/>
              </a:lnSpc>
              <a:spcBef>
                <a:spcPts val="5"/>
              </a:spcBef>
            </a:pPr>
            <a:r>
              <a:rPr sz="2400" dirty="0">
                <a:latin typeface="Arial"/>
                <a:cs typeface="Arial"/>
              </a:rPr>
              <a:t>acceptable</a:t>
            </a:r>
            <a:r>
              <a:rPr sz="2400" spc="-45" dirty="0">
                <a:latin typeface="Arial"/>
                <a:cs typeface="Arial"/>
              </a:rPr>
              <a:t> </a:t>
            </a:r>
            <a:r>
              <a:rPr sz="2400" dirty="0">
                <a:latin typeface="Arial"/>
                <a:cs typeface="Arial"/>
              </a:rPr>
              <a:t>as</a:t>
            </a:r>
            <a:r>
              <a:rPr sz="2400" spc="-55" dirty="0">
                <a:latin typeface="Arial"/>
                <a:cs typeface="Arial"/>
              </a:rPr>
              <a:t> </a:t>
            </a:r>
            <a:r>
              <a:rPr sz="2400" dirty="0">
                <a:latin typeface="Arial"/>
                <a:cs typeface="Arial"/>
              </a:rPr>
              <a:t>a</a:t>
            </a:r>
            <a:r>
              <a:rPr sz="2400" spc="-60" dirty="0">
                <a:latin typeface="Arial"/>
                <a:cs typeface="Arial"/>
              </a:rPr>
              <a:t> </a:t>
            </a:r>
            <a:r>
              <a:rPr sz="2400" dirty="0">
                <a:latin typeface="Arial"/>
                <a:cs typeface="Arial"/>
              </a:rPr>
              <a:t>means</a:t>
            </a:r>
            <a:r>
              <a:rPr sz="2400" spc="-50" dirty="0">
                <a:latin typeface="Arial"/>
                <a:cs typeface="Arial"/>
              </a:rPr>
              <a:t> </a:t>
            </a:r>
            <a:r>
              <a:rPr sz="2400" dirty="0">
                <a:latin typeface="Arial"/>
                <a:cs typeface="Arial"/>
              </a:rPr>
              <a:t>of</a:t>
            </a:r>
            <a:r>
              <a:rPr sz="2400" spc="-80" dirty="0">
                <a:latin typeface="Arial"/>
                <a:cs typeface="Arial"/>
              </a:rPr>
              <a:t> </a:t>
            </a:r>
            <a:r>
              <a:rPr sz="2400" spc="-10" dirty="0">
                <a:latin typeface="Arial"/>
                <a:cs typeface="Arial"/>
              </a:rPr>
              <a:t>payment.</a:t>
            </a:r>
            <a:endParaRPr lang="en-US" sz="2400" spc="-10" dirty="0">
              <a:latin typeface="Arial"/>
              <a:cs typeface="Arial"/>
            </a:endParaRPr>
          </a:p>
          <a:p>
            <a:pPr lvl="1" eaLnBrk="1" hangingPunct="1">
              <a:defRPr/>
            </a:pPr>
            <a:endParaRPr lang="en-US" sz="2400" b="1" dirty="0">
              <a:solidFill>
                <a:srgbClr val="00468F"/>
              </a:solidFill>
            </a:endParaRPr>
          </a:p>
          <a:p>
            <a:pPr lvl="1" eaLnBrk="1" hangingPunct="1">
              <a:defRPr/>
            </a:pPr>
            <a:r>
              <a:rPr lang="en-US" sz="2400" b="1" dirty="0">
                <a:solidFill>
                  <a:srgbClr val="00468F"/>
                </a:solidFill>
              </a:rPr>
              <a:t>A Commodity or Token</a:t>
            </a:r>
          </a:p>
          <a:p>
            <a:pPr lvl="2" eaLnBrk="1" hangingPunct="1">
              <a:buFontTx/>
              <a:buNone/>
              <a:defRPr/>
            </a:pPr>
            <a:r>
              <a:rPr lang="en-US" sz="2400" dirty="0"/>
              <a:t>Money is something that can be recognized.</a:t>
            </a:r>
          </a:p>
          <a:p>
            <a:pPr lvl="2" eaLnBrk="1" hangingPunct="1">
              <a:buFontTx/>
              <a:buNone/>
              <a:defRPr/>
            </a:pPr>
            <a:r>
              <a:rPr lang="en-US" sz="2400" dirty="0"/>
              <a:t>Money can be divided up into small parts. </a:t>
            </a:r>
          </a:p>
          <a:p>
            <a:pPr marL="12700">
              <a:lnSpc>
                <a:spcPct val="100000"/>
              </a:lnSpc>
              <a:spcBef>
                <a:spcPts val="5"/>
              </a:spcBef>
            </a:pPr>
            <a:endParaRPr sz="2400" dirty="0">
              <a:latin typeface="Arial"/>
              <a:cs typeface="Arial"/>
            </a:endParaRPr>
          </a:p>
          <a:p>
            <a:pPr marL="12700" marR="5080">
              <a:lnSpc>
                <a:spcPct val="141700"/>
              </a:lnSpc>
            </a:pPr>
            <a:r>
              <a:rPr sz="2400" dirty="0">
                <a:latin typeface="Arial"/>
                <a:cs typeface="Arial"/>
              </a:rPr>
              <a:t>A</a:t>
            </a:r>
            <a:r>
              <a:rPr sz="2400" spc="-45" dirty="0">
                <a:latin typeface="Arial"/>
                <a:cs typeface="Arial"/>
              </a:rPr>
              <a:t> </a:t>
            </a:r>
            <a:r>
              <a:rPr sz="2400" b="1" dirty="0">
                <a:latin typeface="Arial"/>
                <a:cs typeface="Arial"/>
              </a:rPr>
              <a:t>means</a:t>
            </a:r>
            <a:r>
              <a:rPr sz="2400" b="1" spc="-40" dirty="0">
                <a:latin typeface="Arial"/>
                <a:cs typeface="Arial"/>
              </a:rPr>
              <a:t> </a:t>
            </a:r>
            <a:r>
              <a:rPr sz="2400" b="1" dirty="0">
                <a:latin typeface="Arial"/>
                <a:cs typeface="Arial"/>
              </a:rPr>
              <a:t>of</a:t>
            </a:r>
            <a:r>
              <a:rPr sz="2400" b="1" spc="-45" dirty="0">
                <a:latin typeface="Arial"/>
                <a:cs typeface="Arial"/>
              </a:rPr>
              <a:t> </a:t>
            </a:r>
            <a:r>
              <a:rPr sz="2400" b="1" dirty="0">
                <a:latin typeface="Arial"/>
                <a:cs typeface="Arial"/>
              </a:rPr>
              <a:t>payment</a:t>
            </a:r>
            <a:r>
              <a:rPr sz="2400" b="1" spc="-10" dirty="0">
                <a:latin typeface="Arial"/>
                <a:cs typeface="Arial"/>
              </a:rPr>
              <a:t> </a:t>
            </a:r>
            <a:r>
              <a:rPr sz="2400" dirty="0">
                <a:latin typeface="Arial"/>
                <a:cs typeface="Arial"/>
              </a:rPr>
              <a:t>is</a:t>
            </a:r>
            <a:r>
              <a:rPr sz="2400" spc="-40" dirty="0">
                <a:latin typeface="Arial"/>
                <a:cs typeface="Arial"/>
              </a:rPr>
              <a:t> </a:t>
            </a:r>
            <a:r>
              <a:rPr sz="2400" dirty="0">
                <a:latin typeface="Arial"/>
                <a:cs typeface="Arial"/>
              </a:rPr>
              <a:t>a</a:t>
            </a:r>
            <a:r>
              <a:rPr sz="2400" spc="-40" dirty="0">
                <a:latin typeface="Arial"/>
                <a:cs typeface="Arial"/>
              </a:rPr>
              <a:t> </a:t>
            </a:r>
            <a:r>
              <a:rPr sz="2400" dirty="0">
                <a:latin typeface="Arial"/>
                <a:cs typeface="Arial"/>
              </a:rPr>
              <a:t>method</a:t>
            </a:r>
            <a:r>
              <a:rPr sz="2400" spc="-45" dirty="0">
                <a:latin typeface="Arial"/>
                <a:cs typeface="Arial"/>
              </a:rPr>
              <a:t> </a:t>
            </a:r>
            <a:r>
              <a:rPr sz="2400" dirty="0">
                <a:latin typeface="Arial"/>
                <a:cs typeface="Arial"/>
              </a:rPr>
              <a:t>of</a:t>
            </a:r>
            <a:r>
              <a:rPr sz="2400" spc="-60" dirty="0">
                <a:latin typeface="Arial"/>
                <a:cs typeface="Arial"/>
              </a:rPr>
              <a:t> </a:t>
            </a:r>
            <a:r>
              <a:rPr sz="2400" dirty="0">
                <a:latin typeface="Arial"/>
                <a:cs typeface="Arial"/>
              </a:rPr>
              <a:t>settling</a:t>
            </a:r>
            <a:r>
              <a:rPr sz="2400" spc="-35" dirty="0">
                <a:latin typeface="Arial"/>
                <a:cs typeface="Arial"/>
              </a:rPr>
              <a:t> </a:t>
            </a:r>
            <a:r>
              <a:rPr sz="2400" dirty="0">
                <a:latin typeface="Arial"/>
                <a:cs typeface="Arial"/>
              </a:rPr>
              <a:t>a</a:t>
            </a:r>
            <a:r>
              <a:rPr sz="2400" spc="-45" dirty="0">
                <a:latin typeface="Arial"/>
                <a:cs typeface="Arial"/>
              </a:rPr>
              <a:t> </a:t>
            </a:r>
            <a:r>
              <a:rPr sz="2400" spc="-10" dirty="0">
                <a:latin typeface="Arial"/>
                <a:cs typeface="Arial"/>
              </a:rPr>
              <a:t>debt. </a:t>
            </a:r>
            <a:r>
              <a:rPr sz="2400" dirty="0">
                <a:latin typeface="Arial"/>
                <a:cs typeface="Arial"/>
              </a:rPr>
              <a:t>Money</a:t>
            </a:r>
            <a:r>
              <a:rPr sz="2400" spc="-60" dirty="0">
                <a:latin typeface="Arial"/>
                <a:cs typeface="Arial"/>
              </a:rPr>
              <a:t> </a:t>
            </a:r>
            <a:r>
              <a:rPr sz="2400" dirty="0">
                <a:latin typeface="Arial"/>
                <a:cs typeface="Arial"/>
              </a:rPr>
              <a:t>has</a:t>
            </a:r>
            <a:r>
              <a:rPr sz="2400" spc="-55" dirty="0">
                <a:latin typeface="Arial"/>
                <a:cs typeface="Arial"/>
              </a:rPr>
              <a:t> </a:t>
            </a:r>
            <a:r>
              <a:rPr sz="2400" dirty="0">
                <a:latin typeface="Arial"/>
                <a:cs typeface="Arial"/>
              </a:rPr>
              <a:t>three</a:t>
            </a:r>
            <a:r>
              <a:rPr sz="2400" spc="-55" dirty="0">
                <a:latin typeface="Arial"/>
                <a:cs typeface="Arial"/>
              </a:rPr>
              <a:t> </a:t>
            </a:r>
            <a:r>
              <a:rPr sz="2400" dirty="0">
                <a:latin typeface="Arial"/>
                <a:cs typeface="Arial"/>
              </a:rPr>
              <a:t>other</a:t>
            </a:r>
            <a:r>
              <a:rPr sz="2400" spc="-55" dirty="0">
                <a:latin typeface="Arial"/>
                <a:cs typeface="Arial"/>
              </a:rPr>
              <a:t> </a:t>
            </a:r>
            <a:r>
              <a:rPr sz="2400" spc="-10" dirty="0">
                <a:latin typeface="Arial"/>
                <a:cs typeface="Arial"/>
              </a:rPr>
              <a:t>functions:</a:t>
            </a:r>
            <a:endParaRPr sz="2400" dirty="0">
              <a:latin typeface="Arial"/>
              <a:cs typeface="Arial"/>
            </a:endParaRPr>
          </a:p>
          <a:p>
            <a:pPr marL="262255" indent="-249554">
              <a:lnSpc>
                <a:spcPct val="100000"/>
              </a:lnSpc>
              <a:spcBef>
                <a:spcPts val="1195"/>
              </a:spcBef>
              <a:buClr>
                <a:srgbClr val="1A70B7"/>
              </a:buClr>
              <a:buSzPct val="118750"/>
              <a:buFont typeface="Wingdings"/>
              <a:buChar char=""/>
              <a:tabLst>
                <a:tab pos="262255" algn="l"/>
              </a:tabLst>
            </a:pPr>
            <a:r>
              <a:rPr sz="2400" dirty="0">
                <a:latin typeface="Arial"/>
                <a:cs typeface="Arial"/>
              </a:rPr>
              <a:t>Medium</a:t>
            </a:r>
            <a:r>
              <a:rPr sz="2400" spc="-35" dirty="0">
                <a:latin typeface="Arial"/>
                <a:cs typeface="Arial"/>
              </a:rPr>
              <a:t> </a:t>
            </a:r>
            <a:r>
              <a:rPr sz="2400" dirty="0">
                <a:latin typeface="Arial"/>
                <a:cs typeface="Arial"/>
              </a:rPr>
              <a:t>of</a:t>
            </a:r>
            <a:r>
              <a:rPr sz="2400" spc="-45" dirty="0">
                <a:latin typeface="Arial"/>
                <a:cs typeface="Arial"/>
              </a:rPr>
              <a:t> </a:t>
            </a:r>
            <a:r>
              <a:rPr sz="2400" spc="-10" dirty="0">
                <a:latin typeface="Arial"/>
                <a:cs typeface="Arial"/>
              </a:rPr>
              <a:t>exchange</a:t>
            </a:r>
            <a:endParaRPr sz="2400" dirty="0">
              <a:latin typeface="Arial"/>
              <a:cs typeface="Arial"/>
            </a:endParaRPr>
          </a:p>
          <a:p>
            <a:pPr marL="262255" indent="-249554">
              <a:lnSpc>
                <a:spcPct val="100000"/>
              </a:lnSpc>
              <a:spcBef>
                <a:spcPts val="1200"/>
              </a:spcBef>
              <a:buClr>
                <a:srgbClr val="1A70B7"/>
              </a:buClr>
              <a:buSzPct val="118750"/>
              <a:buFont typeface="Wingdings"/>
              <a:buChar char=""/>
              <a:tabLst>
                <a:tab pos="262255" algn="l"/>
              </a:tabLst>
            </a:pPr>
            <a:r>
              <a:rPr sz="2400" dirty="0">
                <a:latin typeface="Arial"/>
                <a:cs typeface="Arial"/>
              </a:rPr>
              <a:t>Unit</a:t>
            </a:r>
            <a:r>
              <a:rPr sz="2400" spc="-15" dirty="0">
                <a:latin typeface="Arial"/>
                <a:cs typeface="Arial"/>
              </a:rPr>
              <a:t> </a:t>
            </a:r>
            <a:r>
              <a:rPr sz="2400" dirty="0">
                <a:latin typeface="Arial"/>
                <a:cs typeface="Arial"/>
              </a:rPr>
              <a:t>of</a:t>
            </a:r>
            <a:r>
              <a:rPr sz="2400" spc="-35" dirty="0">
                <a:latin typeface="Arial"/>
                <a:cs typeface="Arial"/>
              </a:rPr>
              <a:t> </a:t>
            </a:r>
            <a:r>
              <a:rPr sz="2400" spc="-10" dirty="0">
                <a:latin typeface="Arial"/>
                <a:cs typeface="Arial"/>
              </a:rPr>
              <a:t>account</a:t>
            </a:r>
            <a:endParaRPr sz="2400" dirty="0">
              <a:latin typeface="Arial"/>
              <a:cs typeface="Arial"/>
            </a:endParaRPr>
          </a:p>
          <a:p>
            <a:pPr marL="262255" indent="-249554">
              <a:lnSpc>
                <a:spcPct val="100000"/>
              </a:lnSpc>
              <a:spcBef>
                <a:spcPts val="1205"/>
              </a:spcBef>
              <a:buClr>
                <a:srgbClr val="1A70B7"/>
              </a:buClr>
              <a:buSzPct val="118750"/>
              <a:buFont typeface="Wingdings"/>
              <a:buChar char=""/>
              <a:tabLst>
                <a:tab pos="262255" algn="l"/>
              </a:tabLst>
            </a:pPr>
            <a:r>
              <a:rPr sz="2400" dirty="0">
                <a:latin typeface="Arial"/>
                <a:cs typeface="Arial"/>
              </a:rPr>
              <a:t>Store</a:t>
            </a:r>
            <a:r>
              <a:rPr sz="2400" spc="-40" dirty="0">
                <a:latin typeface="Arial"/>
                <a:cs typeface="Arial"/>
              </a:rPr>
              <a:t> </a:t>
            </a:r>
            <a:r>
              <a:rPr sz="2400" dirty="0">
                <a:latin typeface="Arial"/>
                <a:cs typeface="Arial"/>
              </a:rPr>
              <a:t>of</a:t>
            </a:r>
            <a:r>
              <a:rPr sz="2400" spc="-55" dirty="0">
                <a:latin typeface="Arial"/>
                <a:cs typeface="Arial"/>
              </a:rPr>
              <a:t> </a:t>
            </a:r>
            <a:r>
              <a:rPr sz="2400" spc="-20" dirty="0">
                <a:latin typeface="Arial"/>
                <a:cs typeface="Arial"/>
              </a:rPr>
              <a:t>value</a:t>
            </a:r>
            <a:endParaRPr sz="2400" dirty="0">
              <a:latin typeface="Arial"/>
              <a:cs typeface="Arial"/>
            </a:endParaRPr>
          </a:p>
        </p:txBody>
      </p:sp>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3" name="object 3"/>
          <p:cNvSpPr txBox="1">
            <a:spLocks noGrp="1"/>
          </p:cNvSpPr>
          <p:nvPr>
            <p:ph type="title"/>
          </p:nvPr>
        </p:nvSpPr>
        <p:spPr>
          <a:xfrm>
            <a:off x="456819" y="0"/>
            <a:ext cx="8229600" cy="1143000"/>
          </a:xfrm>
          <a:prstGeom prst="rect">
            <a:avLst/>
          </a:prstGeom>
        </p:spPr>
        <p:txBody>
          <a:bodyPr vert="horz" wrap="square" lIns="0" tIns="13335" rIns="0" bIns="0" rtlCol="0">
            <a:spAutoFit/>
          </a:bodyPr>
          <a:lstStyle/>
          <a:p>
            <a:pPr marL="480059">
              <a:lnSpc>
                <a:spcPct val="100000"/>
              </a:lnSpc>
              <a:spcBef>
                <a:spcPts val="105"/>
              </a:spcBef>
            </a:pPr>
            <a:r>
              <a:rPr dirty="0"/>
              <a:t>What</a:t>
            </a:r>
            <a:r>
              <a:rPr spc="-30" dirty="0"/>
              <a:t> </a:t>
            </a:r>
            <a:r>
              <a:rPr dirty="0"/>
              <a:t>is</a:t>
            </a:r>
            <a:r>
              <a:rPr spc="-25" dirty="0"/>
              <a:t> </a:t>
            </a:r>
            <a:r>
              <a:rPr spc="-10" dirty="0"/>
              <a:t>Money?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456819" y="1268760"/>
            <a:ext cx="8229600" cy="4507003"/>
          </a:xfrm>
          <a:prstGeom prst="rect">
            <a:avLst/>
          </a:prstGeom>
        </p:spPr>
        <p:txBody>
          <a:bodyPr vert="horz" wrap="square" lIns="0" tIns="165735" rIns="0" bIns="0" rtlCol="0">
            <a:spAutoFit/>
          </a:bodyPr>
          <a:lstStyle/>
          <a:p>
            <a:pPr marL="12700">
              <a:lnSpc>
                <a:spcPct val="100000"/>
              </a:lnSpc>
              <a:spcBef>
                <a:spcPts val="1305"/>
              </a:spcBef>
            </a:pPr>
            <a:r>
              <a:rPr sz="2800" b="1" dirty="0">
                <a:solidFill>
                  <a:srgbClr val="1A70B7"/>
                </a:solidFill>
              </a:rPr>
              <a:t>Medium</a:t>
            </a:r>
            <a:r>
              <a:rPr sz="2800" b="1" spc="-40" dirty="0">
                <a:solidFill>
                  <a:srgbClr val="1A70B7"/>
                </a:solidFill>
              </a:rPr>
              <a:t> </a:t>
            </a:r>
            <a:r>
              <a:rPr sz="2800" b="1" dirty="0">
                <a:solidFill>
                  <a:srgbClr val="1A70B7"/>
                </a:solidFill>
              </a:rPr>
              <a:t>of</a:t>
            </a:r>
            <a:r>
              <a:rPr sz="2800" b="1" spc="-20" dirty="0">
                <a:solidFill>
                  <a:srgbClr val="1A70B7"/>
                </a:solidFill>
              </a:rPr>
              <a:t> </a:t>
            </a:r>
            <a:r>
              <a:rPr sz="2800" b="1" spc="-10" dirty="0">
                <a:solidFill>
                  <a:srgbClr val="1A70B7"/>
                </a:solidFill>
              </a:rPr>
              <a:t>Exchange</a:t>
            </a:r>
          </a:p>
          <a:p>
            <a:pPr marL="12700" marR="852169">
              <a:lnSpc>
                <a:spcPct val="100000"/>
              </a:lnSpc>
              <a:spcBef>
                <a:spcPts val="1200"/>
              </a:spcBef>
            </a:pPr>
            <a:r>
              <a:rPr sz="2800" b="0" dirty="0">
                <a:solidFill>
                  <a:srgbClr val="000000"/>
                </a:solidFill>
                <a:latin typeface="Arial"/>
                <a:cs typeface="Arial"/>
              </a:rPr>
              <a:t>A</a:t>
            </a:r>
            <a:r>
              <a:rPr sz="2800" b="0" spc="-45" dirty="0">
                <a:solidFill>
                  <a:srgbClr val="000000"/>
                </a:solidFill>
                <a:latin typeface="Arial"/>
                <a:cs typeface="Arial"/>
              </a:rPr>
              <a:t> </a:t>
            </a:r>
            <a:r>
              <a:rPr sz="2800" b="0" i="1" dirty="0">
                <a:solidFill>
                  <a:srgbClr val="C00000"/>
                </a:solidFill>
                <a:latin typeface="Arial"/>
                <a:cs typeface="Arial"/>
              </a:rPr>
              <a:t>medium</a:t>
            </a:r>
            <a:r>
              <a:rPr sz="2800" b="0" i="1" spc="-25" dirty="0">
                <a:solidFill>
                  <a:srgbClr val="C00000"/>
                </a:solidFill>
                <a:latin typeface="Arial"/>
                <a:cs typeface="Arial"/>
              </a:rPr>
              <a:t> </a:t>
            </a:r>
            <a:r>
              <a:rPr sz="2800" b="0" i="1" dirty="0">
                <a:solidFill>
                  <a:srgbClr val="C00000"/>
                </a:solidFill>
                <a:latin typeface="Arial"/>
                <a:cs typeface="Arial"/>
              </a:rPr>
              <a:t>of</a:t>
            </a:r>
            <a:r>
              <a:rPr sz="2800" b="0" i="1" spc="-45" dirty="0">
                <a:solidFill>
                  <a:srgbClr val="C00000"/>
                </a:solidFill>
                <a:latin typeface="Arial"/>
                <a:cs typeface="Arial"/>
              </a:rPr>
              <a:t> </a:t>
            </a:r>
            <a:r>
              <a:rPr sz="2800" b="0" i="1" dirty="0">
                <a:solidFill>
                  <a:srgbClr val="C00000"/>
                </a:solidFill>
                <a:latin typeface="Arial"/>
                <a:cs typeface="Arial"/>
              </a:rPr>
              <a:t>exchange</a:t>
            </a:r>
            <a:r>
              <a:rPr sz="2800" b="0" i="1" spc="-15" dirty="0">
                <a:solidFill>
                  <a:srgbClr val="C00000"/>
                </a:solidFill>
                <a:latin typeface="Arial"/>
                <a:cs typeface="Arial"/>
              </a:rPr>
              <a:t> </a:t>
            </a:r>
            <a:r>
              <a:rPr sz="2800" b="0" dirty="0">
                <a:solidFill>
                  <a:srgbClr val="000000"/>
                </a:solidFill>
                <a:latin typeface="Arial"/>
                <a:cs typeface="Arial"/>
              </a:rPr>
              <a:t>is</a:t>
            </a:r>
            <a:r>
              <a:rPr sz="2800" b="0" spc="-45" dirty="0">
                <a:solidFill>
                  <a:srgbClr val="000000"/>
                </a:solidFill>
                <a:latin typeface="Arial"/>
                <a:cs typeface="Arial"/>
              </a:rPr>
              <a:t> </a:t>
            </a:r>
            <a:r>
              <a:rPr sz="2800" b="0" dirty="0">
                <a:solidFill>
                  <a:srgbClr val="000000"/>
                </a:solidFill>
                <a:latin typeface="Arial"/>
                <a:cs typeface="Arial"/>
              </a:rPr>
              <a:t>an</a:t>
            </a:r>
            <a:r>
              <a:rPr sz="2800" b="0" spc="-45" dirty="0">
                <a:solidFill>
                  <a:srgbClr val="000000"/>
                </a:solidFill>
                <a:latin typeface="Arial"/>
                <a:cs typeface="Arial"/>
              </a:rPr>
              <a:t> </a:t>
            </a:r>
            <a:r>
              <a:rPr sz="2800" b="0" dirty="0">
                <a:solidFill>
                  <a:srgbClr val="000000"/>
                </a:solidFill>
                <a:latin typeface="Arial"/>
                <a:cs typeface="Arial"/>
              </a:rPr>
              <a:t>object</a:t>
            </a:r>
            <a:r>
              <a:rPr sz="2800" b="0" spc="-40" dirty="0">
                <a:solidFill>
                  <a:srgbClr val="000000"/>
                </a:solidFill>
                <a:latin typeface="Arial"/>
                <a:cs typeface="Arial"/>
              </a:rPr>
              <a:t> </a:t>
            </a:r>
            <a:r>
              <a:rPr sz="2800" b="0" dirty="0">
                <a:solidFill>
                  <a:srgbClr val="000000"/>
                </a:solidFill>
                <a:latin typeface="Arial"/>
                <a:cs typeface="Arial"/>
              </a:rPr>
              <a:t>that</a:t>
            </a:r>
            <a:r>
              <a:rPr sz="2800" b="0" spc="-60" dirty="0">
                <a:solidFill>
                  <a:srgbClr val="000000"/>
                </a:solidFill>
                <a:latin typeface="Arial"/>
                <a:cs typeface="Arial"/>
              </a:rPr>
              <a:t> </a:t>
            </a:r>
            <a:r>
              <a:rPr sz="2800" b="0" dirty="0">
                <a:solidFill>
                  <a:srgbClr val="000000"/>
                </a:solidFill>
                <a:latin typeface="Arial"/>
                <a:cs typeface="Arial"/>
              </a:rPr>
              <a:t>is</a:t>
            </a:r>
            <a:r>
              <a:rPr sz="2800" b="0" spc="-45" dirty="0">
                <a:solidFill>
                  <a:srgbClr val="000000"/>
                </a:solidFill>
                <a:latin typeface="Arial"/>
                <a:cs typeface="Arial"/>
              </a:rPr>
              <a:t> </a:t>
            </a:r>
            <a:r>
              <a:rPr sz="2800" b="0" spc="-10" dirty="0">
                <a:solidFill>
                  <a:srgbClr val="000000"/>
                </a:solidFill>
                <a:latin typeface="Arial"/>
                <a:cs typeface="Arial"/>
              </a:rPr>
              <a:t>generally </a:t>
            </a:r>
            <a:r>
              <a:rPr sz="2800" b="0" dirty="0">
                <a:solidFill>
                  <a:srgbClr val="000000"/>
                </a:solidFill>
                <a:latin typeface="Arial"/>
                <a:cs typeface="Arial"/>
              </a:rPr>
              <a:t>accepted</a:t>
            </a:r>
            <a:r>
              <a:rPr sz="2800" b="0" spc="-70" dirty="0">
                <a:solidFill>
                  <a:srgbClr val="000000"/>
                </a:solidFill>
                <a:latin typeface="Arial"/>
                <a:cs typeface="Arial"/>
              </a:rPr>
              <a:t> </a:t>
            </a:r>
            <a:r>
              <a:rPr sz="2800" b="0" dirty="0">
                <a:solidFill>
                  <a:srgbClr val="000000"/>
                </a:solidFill>
                <a:latin typeface="Arial"/>
                <a:cs typeface="Arial"/>
              </a:rPr>
              <a:t>in</a:t>
            </a:r>
            <a:r>
              <a:rPr sz="2800" b="0" spc="-80" dirty="0">
                <a:solidFill>
                  <a:srgbClr val="000000"/>
                </a:solidFill>
                <a:latin typeface="Arial"/>
                <a:cs typeface="Arial"/>
              </a:rPr>
              <a:t> </a:t>
            </a:r>
            <a:r>
              <a:rPr sz="2800" b="0" dirty="0">
                <a:solidFill>
                  <a:srgbClr val="000000"/>
                </a:solidFill>
                <a:latin typeface="Arial"/>
                <a:cs typeface="Arial"/>
              </a:rPr>
              <a:t>exchange</a:t>
            </a:r>
            <a:r>
              <a:rPr sz="2800" b="0" spc="-40" dirty="0">
                <a:solidFill>
                  <a:srgbClr val="000000"/>
                </a:solidFill>
                <a:latin typeface="Arial"/>
                <a:cs typeface="Arial"/>
              </a:rPr>
              <a:t> </a:t>
            </a:r>
            <a:r>
              <a:rPr sz="2800" b="0" dirty="0">
                <a:solidFill>
                  <a:srgbClr val="000000"/>
                </a:solidFill>
                <a:latin typeface="Arial"/>
                <a:cs typeface="Arial"/>
              </a:rPr>
              <a:t>for</a:t>
            </a:r>
            <a:r>
              <a:rPr sz="2800" b="0" spc="-70" dirty="0">
                <a:solidFill>
                  <a:srgbClr val="000000"/>
                </a:solidFill>
                <a:latin typeface="Arial"/>
                <a:cs typeface="Arial"/>
              </a:rPr>
              <a:t> </a:t>
            </a:r>
            <a:r>
              <a:rPr sz="2800" b="0" dirty="0">
                <a:solidFill>
                  <a:srgbClr val="000000"/>
                </a:solidFill>
                <a:latin typeface="Arial"/>
                <a:cs typeface="Arial"/>
              </a:rPr>
              <a:t>goods</a:t>
            </a:r>
            <a:r>
              <a:rPr sz="2800" b="0" spc="-60" dirty="0">
                <a:solidFill>
                  <a:srgbClr val="000000"/>
                </a:solidFill>
                <a:latin typeface="Arial"/>
                <a:cs typeface="Arial"/>
              </a:rPr>
              <a:t> </a:t>
            </a:r>
            <a:r>
              <a:rPr sz="2800" b="0" dirty="0">
                <a:solidFill>
                  <a:srgbClr val="000000"/>
                </a:solidFill>
                <a:latin typeface="Arial"/>
                <a:cs typeface="Arial"/>
              </a:rPr>
              <a:t>and</a:t>
            </a:r>
            <a:r>
              <a:rPr sz="2800" b="0" spc="-80" dirty="0">
                <a:solidFill>
                  <a:srgbClr val="000000"/>
                </a:solidFill>
                <a:latin typeface="Arial"/>
                <a:cs typeface="Arial"/>
              </a:rPr>
              <a:t> </a:t>
            </a:r>
            <a:r>
              <a:rPr sz="2800" b="0" spc="-10" dirty="0">
                <a:solidFill>
                  <a:srgbClr val="000000"/>
                </a:solidFill>
                <a:latin typeface="Arial"/>
                <a:cs typeface="Arial"/>
              </a:rPr>
              <a:t>services.</a:t>
            </a:r>
          </a:p>
          <a:p>
            <a:pPr marL="12700" marR="5080">
              <a:lnSpc>
                <a:spcPct val="100000"/>
              </a:lnSpc>
              <a:spcBef>
                <a:spcPts val="1205"/>
              </a:spcBef>
            </a:pPr>
            <a:r>
              <a:rPr sz="2800" b="0" dirty="0">
                <a:solidFill>
                  <a:srgbClr val="000000"/>
                </a:solidFill>
                <a:latin typeface="Arial"/>
                <a:cs typeface="Arial"/>
              </a:rPr>
              <a:t>In</a:t>
            </a:r>
            <a:r>
              <a:rPr sz="2800" b="0" spc="-60" dirty="0">
                <a:solidFill>
                  <a:srgbClr val="000000"/>
                </a:solidFill>
                <a:latin typeface="Arial"/>
                <a:cs typeface="Arial"/>
              </a:rPr>
              <a:t> </a:t>
            </a:r>
            <a:r>
              <a:rPr sz="2800" b="0" dirty="0">
                <a:solidFill>
                  <a:srgbClr val="000000"/>
                </a:solidFill>
                <a:latin typeface="Arial"/>
                <a:cs typeface="Arial"/>
              </a:rPr>
              <a:t>the</a:t>
            </a:r>
            <a:r>
              <a:rPr sz="2800" b="0" spc="-75" dirty="0">
                <a:solidFill>
                  <a:srgbClr val="000000"/>
                </a:solidFill>
                <a:latin typeface="Arial"/>
                <a:cs typeface="Arial"/>
              </a:rPr>
              <a:t> </a:t>
            </a:r>
            <a:r>
              <a:rPr sz="2800" b="0" dirty="0">
                <a:solidFill>
                  <a:srgbClr val="000000"/>
                </a:solidFill>
                <a:latin typeface="Arial"/>
                <a:cs typeface="Arial"/>
              </a:rPr>
              <a:t>absence</a:t>
            </a:r>
            <a:r>
              <a:rPr sz="2800" b="0" spc="-40" dirty="0">
                <a:solidFill>
                  <a:srgbClr val="000000"/>
                </a:solidFill>
                <a:latin typeface="Arial"/>
                <a:cs typeface="Arial"/>
              </a:rPr>
              <a:t> </a:t>
            </a:r>
            <a:r>
              <a:rPr sz="2800" b="0" dirty="0">
                <a:solidFill>
                  <a:srgbClr val="000000"/>
                </a:solidFill>
                <a:latin typeface="Arial"/>
                <a:cs typeface="Arial"/>
              </a:rPr>
              <a:t>of</a:t>
            </a:r>
            <a:r>
              <a:rPr sz="2800" b="0" spc="-60" dirty="0">
                <a:solidFill>
                  <a:srgbClr val="000000"/>
                </a:solidFill>
                <a:latin typeface="Arial"/>
                <a:cs typeface="Arial"/>
              </a:rPr>
              <a:t> </a:t>
            </a:r>
            <a:r>
              <a:rPr sz="2800" b="0" dirty="0">
                <a:solidFill>
                  <a:srgbClr val="000000"/>
                </a:solidFill>
                <a:latin typeface="Arial"/>
                <a:cs typeface="Arial"/>
              </a:rPr>
              <a:t>money,</a:t>
            </a:r>
            <a:r>
              <a:rPr sz="2800" b="0" spc="-65" dirty="0">
                <a:solidFill>
                  <a:srgbClr val="000000"/>
                </a:solidFill>
                <a:latin typeface="Arial"/>
                <a:cs typeface="Arial"/>
              </a:rPr>
              <a:t> </a:t>
            </a:r>
            <a:r>
              <a:rPr sz="2800" b="0" dirty="0">
                <a:solidFill>
                  <a:srgbClr val="000000"/>
                </a:solidFill>
                <a:latin typeface="Arial"/>
                <a:cs typeface="Arial"/>
              </a:rPr>
              <a:t>people</a:t>
            </a:r>
            <a:r>
              <a:rPr sz="2800" b="0" spc="-40" dirty="0">
                <a:solidFill>
                  <a:srgbClr val="000000"/>
                </a:solidFill>
                <a:latin typeface="Arial"/>
                <a:cs typeface="Arial"/>
              </a:rPr>
              <a:t> </a:t>
            </a:r>
            <a:r>
              <a:rPr sz="2800" b="0" dirty="0">
                <a:solidFill>
                  <a:srgbClr val="000000"/>
                </a:solidFill>
                <a:latin typeface="Arial"/>
                <a:cs typeface="Arial"/>
              </a:rPr>
              <a:t>would</a:t>
            </a:r>
            <a:r>
              <a:rPr sz="2800" b="0" spc="-30" dirty="0">
                <a:solidFill>
                  <a:srgbClr val="000000"/>
                </a:solidFill>
                <a:latin typeface="Arial"/>
                <a:cs typeface="Arial"/>
              </a:rPr>
              <a:t> </a:t>
            </a:r>
            <a:r>
              <a:rPr sz="2800" b="0" dirty="0">
                <a:solidFill>
                  <a:srgbClr val="000000"/>
                </a:solidFill>
                <a:latin typeface="Arial"/>
                <a:cs typeface="Arial"/>
              </a:rPr>
              <a:t>need</a:t>
            </a:r>
            <a:r>
              <a:rPr sz="2800" b="0" spc="-45" dirty="0">
                <a:solidFill>
                  <a:srgbClr val="000000"/>
                </a:solidFill>
                <a:latin typeface="Arial"/>
                <a:cs typeface="Arial"/>
              </a:rPr>
              <a:t> </a:t>
            </a:r>
            <a:r>
              <a:rPr sz="2800" b="0" dirty="0">
                <a:solidFill>
                  <a:srgbClr val="000000"/>
                </a:solidFill>
                <a:latin typeface="Arial"/>
                <a:cs typeface="Arial"/>
              </a:rPr>
              <a:t>to</a:t>
            </a:r>
            <a:r>
              <a:rPr sz="2800" b="0" spc="-80" dirty="0">
                <a:solidFill>
                  <a:srgbClr val="000000"/>
                </a:solidFill>
                <a:latin typeface="Arial"/>
                <a:cs typeface="Arial"/>
              </a:rPr>
              <a:t> </a:t>
            </a:r>
            <a:r>
              <a:rPr sz="2800" b="0" spc="-10" dirty="0">
                <a:solidFill>
                  <a:srgbClr val="000000"/>
                </a:solidFill>
                <a:latin typeface="Arial"/>
                <a:cs typeface="Arial"/>
              </a:rPr>
              <a:t>exchange </a:t>
            </a:r>
            <a:r>
              <a:rPr sz="2800" b="0" dirty="0">
                <a:solidFill>
                  <a:srgbClr val="000000"/>
                </a:solidFill>
                <a:latin typeface="Arial"/>
                <a:cs typeface="Arial"/>
              </a:rPr>
              <a:t>goods</a:t>
            </a:r>
            <a:r>
              <a:rPr sz="2800" b="0" spc="-55" dirty="0">
                <a:solidFill>
                  <a:srgbClr val="000000"/>
                </a:solidFill>
                <a:latin typeface="Arial"/>
                <a:cs typeface="Arial"/>
              </a:rPr>
              <a:t> </a:t>
            </a:r>
            <a:r>
              <a:rPr sz="2800" b="0" dirty="0">
                <a:solidFill>
                  <a:srgbClr val="000000"/>
                </a:solidFill>
                <a:latin typeface="Arial"/>
                <a:cs typeface="Arial"/>
              </a:rPr>
              <a:t>and</a:t>
            </a:r>
            <a:r>
              <a:rPr sz="2800" b="0" spc="-60" dirty="0">
                <a:solidFill>
                  <a:srgbClr val="000000"/>
                </a:solidFill>
                <a:latin typeface="Arial"/>
                <a:cs typeface="Arial"/>
              </a:rPr>
              <a:t> </a:t>
            </a:r>
            <a:r>
              <a:rPr sz="2800" b="0" dirty="0">
                <a:solidFill>
                  <a:srgbClr val="000000"/>
                </a:solidFill>
                <a:latin typeface="Arial"/>
                <a:cs typeface="Arial"/>
              </a:rPr>
              <a:t>services</a:t>
            </a:r>
            <a:r>
              <a:rPr sz="2800" b="0" spc="-65" dirty="0">
                <a:solidFill>
                  <a:srgbClr val="000000"/>
                </a:solidFill>
                <a:latin typeface="Arial"/>
                <a:cs typeface="Arial"/>
              </a:rPr>
              <a:t> </a:t>
            </a:r>
            <a:r>
              <a:rPr sz="2800" b="0" dirty="0">
                <a:solidFill>
                  <a:srgbClr val="000000"/>
                </a:solidFill>
                <a:latin typeface="Arial"/>
                <a:cs typeface="Arial"/>
              </a:rPr>
              <a:t>directly,</a:t>
            </a:r>
            <a:r>
              <a:rPr sz="2800" b="0" spc="-60" dirty="0">
                <a:solidFill>
                  <a:srgbClr val="000000"/>
                </a:solidFill>
                <a:latin typeface="Arial"/>
                <a:cs typeface="Arial"/>
              </a:rPr>
              <a:t> </a:t>
            </a:r>
            <a:r>
              <a:rPr sz="2800" b="0" dirty="0">
                <a:solidFill>
                  <a:srgbClr val="000000"/>
                </a:solidFill>
                <a:latin typeface="Arial"/>
                <a:cs typeface="Arial"/>
              </a:rPr>
              <a:t>which</a:t>
            </a:r>
            <a:r>
              <a:rPr sz="2800" b="0" spc="-50" dirty="0">
                <a:solidFill>
                  <a:srgbClr val="000000"/>
                </a:solidFill>
                <a:latin typeface="Arial"/>
                <a:cs typeface="Arial"/>
              </a:rPr>
              <a:t> </a:t>
            </a:r>
            <a:r>
              <a:rPr sz="2800" b="0" dirty="0">
                <a:solidFill>
                  <a:srgbClr val="000000"/>
                </a:solidFill>
                <a:latin typeface="Arial"/>
                <a:cs typeface="Arial"/>
              </a:rPr>
              <a:t>is</a:t>
            </a:r>
            <a:r>
              <a:rPr sz="2800" b="0" spc="-65" dirty="0">
                <a:solidFill>
                  <a:srgbClr val="000000"/>
                </a:solidFill>
                <a:latin typeface="Arial"/>
                <a:cs typeface="Arial"/>
              </a:rPr>
              <a:t> </a:t>
            </a:r>
            <a:r>
              <a:rPr sz="2800" b="0" dirty="0">
                <a:solidFill>
                  <a:srgbClr val="000000"/>
                </a:solidFill>
                <a:latin typeface="Arial"/>
                <a:cs typeface="Arial"/>
              </a:rPr>
              <a:t>called</a:t>
            </a:r>
            <a:r>
              <a:rPr sz="2800" b="0" spc="-30" dirty="0">
                <a:solidFill>
                  <a:srgbClr val="000000"/>
                </a:solidFill>
                <a:latin typeface="Arial"/>
                <a:cs typeface="Arial"/>
              </a:rPr>
              <a:t> </a:t>
            </a:r>
            <a:r>
              <a:rPr sz="2800" spc="-10" dirty="0">
                <a:solidFill>
                  <a:srgbClr val="000000"/>
                </a:solidFill>
              </a:rPr>
              <a:t>barter</a:t>
            </a:r>
            <a:r>
              <a:rPr sz="2800" b="0" spc="-10" dirty="0">
                <a:solidFill>
                  <a:srgbClr val="000000"/>
                </a:solidFill>
                <a:latin typeface="Arial"/>
                <a:cs typeface="Arial"/>
              </a:rPr>
              <a:t>.</a:t>
            </a:r>
          </a:p>
          <a:p>
            <a:pPr marL="12700">
              <a:lnSpc>
                <a:spcPct val="100000"/>
              </a:lnSpc>
              <a:spcBef>
                <a:spcPts val="1200"/>
              </a:spcBef>
            </a:pPr>
            <a:r>
              <a:rPr sz="2800" b="0" dirty="0">
                <a:solidFill>
                  <a:srgbClr val="000000"/>
                </a:solidFill>
                <a:latin typeface="Arial"/>
                <a:cs typeface="Arial"/>
              </a:rPr>
              <a:t>Barter</a:t>
            </a:r>
            <a:r>
              <a:rPr sz="2800" b="0" spc="-85" dirty="0">
                <a:solidFill>
                  <a:srgbClr val="000000"/>
                </a:solidFill>
                <a:latin typeface="Arial"/>
                <a:cs typeface="Arial"/>
              </a:rPr>
              <a:t> </a:t>
            </a:r>
            <a:r>
              <a:rPr sz="2800" b="0" dirty="0">
                <a:solidFill>
                  <a:srgbClr val="000000"/>
                </a:solidFill>
                <a:latin typeface="Arial"/>
                <a:cs typeface="Arial"/>
              </a:rPr>
              <a:t>requires</a:t>
            </a:r>
            <a:r>
              <a:rPr sz="2800" b="0" spc="-75" dirty="0">
                <a:solidFill>
                  <a:srgbClr val="000000"/>
                </a:solidFill>
                <a:latin typeface="Arial"/>
                <a:cs typeface="Arial"/>
              </a:rPr>
              <a:t> </a:t>
            </a:r>
            <a:r>
              <a:rPr sz="2800" b="0" dirty="0">
                <a:solidFill>
                  <a:srgbClr val="000000"/>
                </a:solidFill>
                <a:latin typeface="Arial"/>
                <a:cs typeface="Arial"/>
              </a:rPr>
              <a:t>a</a:t>
            </a:r>
            <a:r>
              <a:rPr sz="2800" b="0" spc="-75" dirty="0">
                <a:solidFill>
                  <a:srgbClr val="000000"/>
                </a:solidFill>
                <a:latin typeface="Arial"/>
                <a:cs typeface="Arial"/>
              </a:rPr>
              <a:t> </a:t>
            </a:r>
            <a:r>
              <a:rPr sz="2800" b="0" dirty="0">
                <a:solidFill>
                  <a:srgbClr val="000000"/>
                </a:solidFill>
                <a:latin typeface="Arial"/>
                <a:cs typeface="Arial"/>
              </a:rPr>
              <a:t>double</a:t>
            </a:r>
            <a:r>
              <a:rPr sz="2800" b="0" spc="-55" dirty="0">
                <a:solidFill>
                  <a:srgbClr val="000000"/>
                </a:solidFill>
                <a:latin typeface="Arial"/>
                <a:cs typeface="Arial"/>
              </a:rPr>
              <a:t> </a:t>
            </a:r>
            <a:r>
              <a:rPr sz="2800" b="0" dirty="0">
                <a:solidFill>
                  <a:srgbClr val="000000"/>
                </a:solidFill>
                <a:latin typeface="Arial"/>
                <a:cs typeface="Arial"/>
              </a:rPr>
              <a:t>coincidence</a:t>
            </a:r>
            <a:r>
              <a:rPr sz="2800" b="0" spc="-40" dirty="0">
                <a:solidFill>
                  <a:srgbClr val="000000"/>
                </a:solidFill>
                <a:latin typeface="Arial"/>
                <a:cs typeface="Arial"/>
              </a:rPr>
              <a:t> </a:t>
            </a:r>
            <a:r>
              <a:rPr sz="2800" b="0" dirty="0">
                <a:solidFill>
                  <a:srgbClr val="000000"/>
                </a:solidFill>
                <a:latin typeface="Arial"/>
                <a:cs typeface="Arial"/>
              </a:rPr>
              <a:t>of</a:t>
            </a:r>
            <a:r>
              <a:rPr sz="2800" b="0" spc="-85" dirty="0">
                <a:solidFill>
                  <a:srgbClr val="000000"/>
                </a:solidFill>
                <a:latin typeface="Arial"/>
                <a:cs typeface="Arial"/>
              </a:rPr>
              <a:t> </a:t>
            </a:r>
            <a:r>
              <a:rPr sz="2800" b="0" dirty="0">
                <a:solidFill>
                  <a:srgbClr val="000000"/>
                </a:solidFill>
                <a:latin typeface="Arial"/>
                <a:cs typeface="Arial"/>
              </a:rPr>
              <a:t>wants,</a:t>
            </a:r>
            <a:r>
              <a:rPr sz="2800" b="0" spc="-75" dirty="0">
                <a:solidFill>
                  <a:srgbClr val="000000"/>
                </a:solidFill>
                <a:latin typeface="Arial"/>
                <a:cs typeface="Arial"/>
              </a:rPr>
              <a:t> </a:t>
            </a:r>
            <a:r>
              <a:rPr sz="2800" b="0" dirty="0">
                <a:solidFill>
                  <a:srgbClr val="000000"/>
                </a:solidFill>
                <a:latin typeface="Arial"/>
                <a:cs typeface="Arial"/>
              </a:rPr>
              <a:t>which</a:t>
            </a:r>
            <a:r>
              <a:rPr sz="2800" b="0" spc="-65" dirty="0">
                <a:solidFill>
                  <a:srgbClr val="000000"/>
                </a:solidFill>
                <a:latin typeface="Arial"/>
                <a:cs typeface="Arial"/>
              </a:rPr>
              <a:t> </a:t>
            </a:r>
            <a:r>
              <a:rPr sz="2800" b="0" spc="-25" dirty="0">
                <a:solidFill>
                  <a:srgbClr val="000000"/>
                </a:solidFill>
                <a:latin typeface="Arial"/>
                <a:cs typeface="Arial"/>
              </a:rPr>
              <a:t>is</a:t>
            </a:r>
            <a:r>
              <a:rPr lang="en-US" sz="2800" b="0" spc="-25" dirty="0">
                <a:solidFill>
                  <a:srgbClr val="000000"/>
                </a:solidFill>
                <a:latin typeface="Arial"/>
                <a:cs typeface="Arial"/>
              </a:rPr>
              <a:t> </a:t>
            </a:r>
            <a:r>
              <a:rPr sz="2800" b="0" dirty="0">
                <a:solidFill>
                  <a:srgbClr val="000000"/>
                </a:solidFill>
                <a:latin typeface="Arial"/>
                <a:cs typeface="Arial"/>
              </a:rPr>
              <a:t>rare,</a:t>
            </a:r>
            <a:r>
              <a:rPr sz="2800" b="0" spc="-40" dirty="0">
                <a:solidFill>
                  <a:srgbClr val="000000"/>
                </a:solidFill>
                <a:latin typeface="Arial"/>
                <a:cs typeface="Arial"/>
              </a:rPr>
              <a:t> </a:t>
            </a:r>
            <a:r>
              <a:rPr sz="2800" b="0" dirty="0">
                <a:solidFill>
                  <a:srgbClr val="000000"/>
                </a:solidFill>
                <a:latin typeface="Arial"/>
                <a:cs typeface="Arial"/>
              </a:rPr>
              <a:t>so</a:t>
            </a:r>
            <a:r>
              <a:rPr sz="2800" b="0" spc="-50" dirty="0">
                <a:solidFill>
                  <a:srgbClr val="000000"/>
                </a:solidFill>
                <a:latin typeface="Arial"/>
                <a:cs typeface="Arial"/>
              </a:rPr>
              <a:t> </a:t>
            </a:r>
            <a:r>
              <a:rPr sz="2800" b="0" dirty="0">
                <a:solidFill>
                  <a:srgbClr val="000000"/>
                </a:solidFill>
                <a:latin typeface="Arial"/>
                <a:cs typeface="Arial"/>
              </a:rPr>
              <a:t>barter</a:t>
            </a:r>
            <a:r>
              <a:rPr sz="2800" b="0" spc="-30" dirty="0">
                <a:solidFill>
                  <a:srgbClr val="000000"/>
                </a:solidFill>
                <a:latin typeface="Arial"/>
                <a:cs typeface="Arial"/>
              </a:rPr>
              <a:t> </a:t>
            </a:r>
            <a:r>
              <a:rPr sz="2800" b="0" dirty="0">
                <a:solidFill>
                  <a:srgbClr val="000000"/>
                </a:solidFill>
                <a:latin typeface="Arial"/>
                <a:cs typeface="Arial"/>
              </a:rPr>
              <a:t>is</a:t>
            </a:r>
            <a:r>
              <a:rPr sz="2800" b="0" spc="-40" dirty="0">
                <a:solidFill>
                  <a:srgbClr val="000000"/>
                </a:solidFill>
                <a:latin typeface="Arial"/>
                <a:cs typeface="Arial"/>
              </a:rPr>
              <a:t> </a:t>
            </a:r>
            <a:r>
              <a:rPr sz="2800" b="0" spc="-10" dirty="0">
                <a:solidFill>
                  <a:srgbClr val="000000"/>
                </a:solidFill>
                <a:latin typeface="Arial"/>
                <a:cs typeface="Arial"/>
              </a:rPr>
              <a:t>costly.</a:t>
            </a:r>
          </a:p>
        </p:txBody>
      </p:sp>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3" name="object 3"/>
          <p:cNvSpPr txBox="1">
            <a:spLocks noGrp="1"/>
          </p:cNvSpPr>
          <p:nvPr>
            <p:ph type="title"/>
          </p:nvPr>
        </p:nvSpPr>
        <p:spPr>
          <a:xfrm>
            <a:off x="457200" y="39858"/>
            <a:ext cx="8229600" cy="1143000"/>
          </a:xfrm>
          <a:prstGeom prst="rect">
            <a:avLst/>
          </a:prstGeom>
        </p:spPr>
        <p:txBody>
          <a:bodyPr vert="horz" wrap="square" lIns="0" tIns="13335" rIns="0" bIns="0" rtlCol="0">
            <a:spAutoFit/>
          </a:bodyPr>
          <a:lstStyle/>
          <a:p>
            <a:pPr marL="480059">
              <a:lnSpc>
                <a:spcPct val="100000"/>
              </a:lnSpc>
              <a:spcBef>
                <a:spcPts val="105"/>
              </a:spcBef>
            </a:pPr>
            <a:r>
              <a:rPr dirty="0"/>
              <a:t>What</a:t>
            </a:r>
            <a:r>
              <a:rPr spc="-30" dirty="0"/>
              <a:t> </a:t>
            </a:r>
            <a:r>
              <a:rPr dirty="0"/>
              <a:t>is</a:t>
            </a:r>
            <a:r>
              <a:rPr spc="-25" dirty="0"/>
              <a:t> </a:t>
            </a:r>
            <a:r>
              <a:rPr spc="-10" dirty="0"/>
              <a:t>Money?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47522" y="1457055"/>
            <a:ext cx="4058285" cy="5178425"/>
          </a:xfrm>
          <a:prstGeom prst="rect">
            <a:avLst/>
          </a:prstGeom>
        </p:spPr>
        <p:txBody>
          <a:bodyPr vert="horz" wrap="square" lIns="0" tIns="165735" rIns="0" bIns="0" rtlCol="0">
            <a:spAutoFit/>
          </a:bodyPr>
          <a:lstStyle/>
          <a:p>
            <a:pPr marL="12700" algn="just">
              <a:lnSpc>
                <a:spcPct val="100000"/>
              </a:lnSpc>
              <a:spcBef>
                <a:spcPts val="1305"/>
              </a:spcBef>
            </a:pPr>
            <a:r>
              <a:rPr sz="2400" b="1" dirty="0">
                <a:solidFill>
                  <a:srgbClr val="1A70B7"/>
                </a:solidFill>
                <a:latin typeface="Arial"/>
                <a:cs typeface="Arial"/>
              </a:rPr>
              <a:t>Unit</a:t>
            </a:r>
            <a:r>
              <a:rPr sz="2400" b="1" spc="-15" dirty="0">
                <a:solidFill>
                  <a:srgbClr val="1A70B7"/>
                </a:solidFill>
                <a:latin typeface="Arial"/>
                <a:cs typeface="Arial"/>
              </a:rPr>
              <a:t> </a:t>
            </a:r>
            <a:r>
              <a:rPr sz="2400" b="1" dirty="0">
                <a:solidFill>
                  <a:srgbClr val="1A70B7"/>
                </a:solidFill>
                <a:latin typeface="Arial"/>
                <a:cs typeface="Arial"/>
              </a:rPr>
              <a:t>of</a:t>
            </a:r>
            <a:r>
              <a:rPr sz="2400" b="1" spc="-20" dirty="0">
                <a:solidFill>
                  <a:srgbClr val="1A70B7"/>
                </a:solidFill>
                <a:latin typeface="Arial"/>
                <a:cs typeface="Arial"/>
              </a:rPr>
              <a:t> </a:t>
            </a:r>
            <a:r>
              <a:rPr sz="2400" b="1" spc="-10" dirty="0">
                <a:solidFill>
                  <a:srgbClr val="1A70B7"/>
                </a:solidFill>
                <a:latin typeface="Arial"/>
                <a:cs typeface="Arial"/>
              </a:rPr>
              <a:t>Account</a:t>
            </a:r>
            <a:endParaRPr sz="2400" dirty="0">
              <a:latin typeface="Arial"/>
              <a:cs typeface="Arial"/>
            </a:endParaRPr>
          </a:p>
          <a:p>
            <a:pPr marL="12700" marR="5080" algn="just">
              <a:lnSpc>
                <a:spcPct val="100000"/>
              </a:lnSpc>
              <a:spcBef>
                <a:spcPts val="1200"/>
              </a:spcBef>
            </a:pPr>
            <a:r>
              <a:rPr sz="2400" dirty="0">
                <a:latin typeface="Arial"/>
                <a:cs typeface="Arial"/>
              </a:rPr>
              <a:t>A</a:t>
            </a:r>
            <a:r>
              <a:rPr sz="2400" spc="-35" dirty="0">
                <a:latin typeface="Arial"/>
                <a:cs typeface="Arial"/>
              </a:rPr>
              <a:t> </a:t>
            </a:r>
            <a:r>
              <a:rPr sz="2400" i="1" dirty="0">
                <a:solidFill>
                  <a:srgbClr val="C00000"/>
                </a:solidFill>
                <a:latin typeface="Arial"/>
                <a:cs typeface="Arial"/>
              </a:rPr>
              <a:t>unit</a:t>
            </a:r>
            <a:r>
              <a:rPr sz="2400" i="1" spc="-30" dirty="0">
                <a:solidFill>
                  <a:srgbClr val="C00000"/>
                </a:solidFill>
                <a:latin typeface="Arial"/>
                <a:cs typeface="Arial"/>
              </a:rPr>
              <a:t> </a:t>
            </a:r>
            <a:r>
              <a:rPr sz="2400" i="1" dirty="0">
                <a:solidFill>
                  <a:srgbClr val="C00000"/>
                </a:solidFill>
                <a:latin typeface="Arial"/>
                <a:cs typeface="Arial"/>
              </a:rPr>
              <a:t>of</a:t>
            </a:r>
            <a:r>
              <a:rPr sz="2400" i="1" spc="-30" dirty="0">
                <a:solidFill>
                  <a:srgbClr val="C00000"/>
                </a:solidFill>
                <a:latin typeface="Arial"/>
                <a:cs typeface="Arial"/>
              </a:rPr>
              <a:t> </a:t>
            </a:r>
            <a:r>
              <a:rPr sz="2400" i="1" dirty="0">
                <a:solidFill>
                  <a:srgbClr val="C00000"/>
                </a:solidFill>
                <a:latin typeface="Arial"/>
                <a:cs typeface="Arial"/>
              </a:rPr>
              <a:t>account</a:t>
            </a:r>
            <a:r>
              <a:rPr sz="2400" i="1" spc="-35" dirty="0">
                <a:solidFill>
                  <a:srgbClr val="C00000"/>
                </a:solidFill>
                <a:latin typeface="Arial"/>
                <a:cs typeface="Arial"/>
              </a:rPr>
              <a:t> </a:t>
            </a:r>
            <a:r>
              <a:rPr sz="2400" dirty="0">
                <a:latin typeface="Arial"/>
                <a:cs typeface="Arial"/>
              </a:rPr>
              <a:t>is</a:t>
            </a:r>
            <a:r>
              <a:rPr sz="2400" spc="-30" dirty="0">
                <a:latin typeface="Arial"/>
                <a:cs typeface="Arial"/>
              </a:rPr>
              <a:t> </a:t>
            </a:r>
            <a:r>
              <a:rPr sz="2400" dirty="0">
                <a:latin typeface="Arial"/>
                <a:cs typeface="Arial"/>
              </a:rPr>
              <a:t>an</a:t>
            </a:r>
            <a:r>
              <a:rPr sz="2400" spc="-35" dirty="0">
                <a:latin typeface="Arial"/>
                <a:cs typeface="Arial"/>
              </a:rPr>
              <a:t> </a:t>
            </a:r>
            <a:r>
              <a:rPr sz="2400" spc="-10" dirty="0">
                <a:latin typeface="Arial"/>
                <a:cs typeface="Arial"/>
              </a:rPr>
              <a:t>agreed </a:t>
            </a:r>
            <a:r>
              <a:rPr sz="2400" dirty="0">
                <a:latin typeface="Arial"/>
                <a:cs typeface="Arial"/>
              </a:rPr>
              <a:t>measure</a:t>
            </a:r>
            <a:r>
              <a:rPr sz="2400" spc="-75" dirty="0">
                <a:latin typeface="Arial"/>
                <a:cs typeface="Arial"/>
              </a:rPr>
              <a:t> </a:t>
            </a:r>
            <a:r>
              <a:rPr sz="2400" dirty="0">
                <a:latin typeface="Arial"/>
                <a:cs typeface="Arial"/>
              </a:rPr>
              <a:t>for</a:t>
            </a:r>
            <a:r>
              <a:rPr sz="2400" spc="-70" dirty="0">
                <a:latin typeface="Arial"/>
                <a:cs typeface="Arial"/>
              </a:rPr>
              <a:t> </a:t>
            </a:r>
            <a:r>
              <a:rPr sz="2400" dirty="0">
                <a:latin typeface="Arial"/>
                <a:cs typeface="Arial"/>
              </a:rPr>
              <a:t>stating</a:t>
            </a:r>
            <a:r>
              <a:rPr sz="2400" spc="-70" dirty="0">
                <a:latin typeface="Arial"/>
                <a:cs typeface="Arial"/>
              </a:rPr>
              <a:t> </a:t>
            </a:r>
            <a:r>
              <a:rPr sz="2400" dirty="0">
                <a:latin typeface="Arial"/>
                <a:cs typeface="Arial"/>
              </a:rPr>
              <a:t>the</a:t>
            </a:r>
            <a:r>
              <a:rPr sz="2400" spc="-80" dirty="0">
                <a:latin typeface="Arial"/>
                <a:cs typeface="Arial"/>
              </a:rPr>
              <a:t> </a:t>
            </a:r>
            <a:r>
              <a:rPr sz="2400" spc="-10" dirty="0">
                <a:latin typeface="Arial"/>
                <a:cs typeface="Arial"/>
              </a:rPr>
              <a:t>prices </a:t>
            </a:r>
            <a:r>
              <a:rPr sz="2400" dirty="0">
                <a:latin typeface="Arial"/>
                <a:cs typeface="Arial"/>
              </a:rPr>
              <a:t>of</a:t>
            </a:r>
            <a:r>
              <a:rPr sz="2400" spc="-45" dirty="0">
                <a:latin typeface="Arial"/>
                <a:cs typeface="Arial"/>
              </a:rPr>
              <a:t> </a:t>
            </a:r>
            <a:r>
              <a:rPr sz="2400" dirty="0">
                <a:latin typeface="Arial"/>
                <a:cs typeface="Arial"/>
              </a:rPr>
              <a:t>goods</a:t>
            </a:r>
            <a:r>
              <a:rPr sz="2400" spc="-35" dirty="0">
                <a:latin typeface="Arial"/>
                <a:cs typeface="Arial"/>
              </a:rPr>
              <a:t> </a:t>
            </a:r>
            <a:r>
              <a:rPr sz="2400" dirty="0">
                <a:latin typeface="Arial"/>
                <a:cs typeface="Arial"/>
              </a:rPr>
              <a:t>and</a:t>
            </a:r>
            <a:r>
              <a:rPr sz="2400" spc="-40" dirty="0">
                <a:latin typeface="Arial"/>
                <a:cs typeface="Arial"/>
              </a:rPr>
              <a:t> </a:t>
            </a:r>
            <a:r>
              <a:rPr sz="2400" spc="-10" dirty="0">
                <a:latin typeface="Arial"/>
                <a:cs typeface="Arial"/>
              </a:rPr>
              <a:t>services.</a:t>
            </a:r>
            <a:endParaRPr sz="2400" dirty="0">
              <a:latin typeface="Arial"/>
              <a:cs typeface="Arial"/>
            </a:endParaRPr>
          </a:p>
          <a:p>
            <a:pPr marL="12700" marR="580390">
              <a:lnSpc>
                <a:spcPct val="100000"/>
              </a:lnSpc>
              <a:spcBef>
                <a:spcPts val="1205"/>
              </a:spcBef>
            </a:pPr>
            <a:r>
              <a:rPr sz="2400" dirty="0">
                <a:latin typeface="Arial"/>
                <a:cs typeface="Arial"/>
              </a:rPr>
              <a:t>Table</a:t>
            </a:r>
            <a:r>
              <a:rPr sz="2400" spc="-75" dirty="0">
                <a:latin typeface="Arial"/>
                <a:cs typeface="Arial"/>
              </a:rPr>
              <a:t> </a:t>
            </a:r>
            <a:r>
              <a:rPr sz="2400" dirty="0">
                <a:latin typeface="Arial"/>
                <a:cs typeface="Arial"/>
              </a:rPr>
              <a:t>25.1</a:t>
            </a:r>
            <a:r>
              <a:rPr sz="2400" spc="-75" dirty="0">
                <a:latin typeface="Arial"/>
                <a:cs typeface="Arial"/>
              </a:rPr>
              <a:t> </a:t>
            </a:r>
            <a:r>
              <a:rPr sz="2400" dirty="0">
                <a:latin typeface="Arial"/>
                <a:cs typeface="Arial"/>
              </a:rPr>
              <a:t>illustrates</a:t>
            </a:r>
            <a:r>
              <a:rPr sz="2400" spc="-70" dirty="0">
                <a:latin typeface="Arial"/>
                <a:cs typeface="Arial"/>
              </a:rPr>
              <a:t> </a:t>
            </a:r>
            <a:r>
              <a:rPr sz="2400" spc="-25" dirty="0">
                <a:latin typeface="Arial"/>
                <a:cs typeface="Arial"/>
              </a:rPr>
              <a:t>how </a:t>
            </a:r>
            <a:r>
              <a:rPr sz="2400" dirty="0">
                <a:latin typeface="Arial"/>
                <a:cs typeface="Arial"/>
              </a:rPr>
              <a:t>money</a:t>
            </a:r>
            <a:r>
              <a:rPr sz="2400" spc="-75" dirty="0">
                <a:latin typeface="Arial"/>
                <a:cs typeface="Arial"/>
              </a:rPr>
              <a:t> </a:t>
            </a:r>
            <a:r>
              <a:rPr sz="2400" spc="-10" dirty="0">
                <a:latin typeface="Arial"/>
                <a:cs typeface="Arial"/>
              </a:rPr>
              <a:t>simplifies comparisons.</a:t>
            </a:r>
            <a:endParaRPr sz="2400" dirty="0">
              <a:latin typeface="Arial"/>
              <a:cs typeface="Arial"/>
            </a:endParaRPr>
          </a:p>
          <a:p>
            <a:pPr marL="12700">
              <a:lnSpc>
                <a:spcPct val="100000"/>
              </a:lnSpc>
              <a:spcBef>
                <a:spcPts val="1200"/>
              </a:spcBef>
            </a:pPr>
            <a:r>
              <a:rPr sz="2400" b="1" dirty="0">
                <a:solidFill>
                  <a:srgbClr val="1A70B7"/>
                </a:solidFill>
                <a:latin typeface="Arial"/>
                <a:cs typeface="Arial"/>
              </a:rPr>
              <a:t>Store</a:t>
            </a:r>
            <a:r>
              <a:rPr sz="2400" b="1" spc="-45" dirty="0">
                <a:solidFill>
                  <a:srgbClr val="1A70B7"/>
                </a:solidFill>
                <a:latin typeface="Arial"/>
                <a:cs typeface="Arial"/>
              </a:rPr>
              <a:t> </a:t>
            </a:r>
            <a:r>
              <a:rPr sz="2400" b="1" dirty="0">
                <a:solidFill>
                  <a:srgbClr val="1A70B7"/>
                </a:solidFill>
                <a:latin typeface="Arial"/>
                <a:cs typeface="Arial"/>
              </a:rPr>
              <a:t>of</a:t>
            </a:r>
            <a:r>
              <a:rPr sz="2400" b="1" spc="-55" dirty="0">
                <a:solidFill>
                  <a:srgbClr val="1A70B7"/>
                </a:solidFill>
                <a:latin typeface="Arial"/>
                <a:cs typeface="Arial"/>
              </a:rPr>
              <a:t> </a:t>
            </a:r>
            <a:r>
              <a:rPr sz="2400" b="1" spc="-20" dirty="0">
                <a:solidFill>
                  <a:srgbClr val="1A70B7"/>
                </a:solidFill>
                <a:latin typeface="Arial"/>
                <a:cs typeface="Arial"/>
              </a:rPr>
              <a:t>Value</a:t>
            </a:r>
            <a:endParaRPr sz="2400" dirty="0">
              <a:latin typeface="Arial"/>
              <a:cs typeface="Arial"/>
            </a:endParaRPr>
          </a:p>
          <a:p>
            <a:pPr marL="12700" marR="429259" algn="just">
              <a:lnSpc>
                <a:spcPct val="100000"/>
              </a:lnSpc>
              <a:spcBef>
                <a:spcPts val="1200"/>
              </a:spcBef>
            </a:pPr>
            <a:r>
              <a:rPr sz="2400" dirty="0">
                <a:latin typeface="Arial"/>
                <a:cs typeface="Arial"/>
              </a:rPr>
              <a:t>As</a:t>
            </a:r>
            <a:r>
              <a:rPr sz="2400" spc="-35" dirty="0">
                <a:latin typeface="Arial"/>
                <a:cs typeface="Arial"/>
              </a:rPr>
              <a:t> </a:t>
            </a:r>
            <a:r>
              <a:rPr sz="2400" dirty="0">
                <a:latin typeface="Arial"/>
                <a:cs typeface="Arial"/>
              </a:rPr>
              <a:t>a</a:t>
            </a:r>
            <a:r>
              <a:rPr sz="2400" spc="-35" dirty="0">
                <a:latin typeface="Arial"/>
                <a:cs typeface="Arial"/>
              </a:rPr>
              <a:t> </a:t>
            </a:r>
            <a:r>
              <a:rPr sz="2400" i="1" dirty="0">
                <a:latin typeface="Arial"/>
                <a:cs typeface="Arial"/>
              </a:rPr>
              <a:t>store</a:t>
            </a:r>
            <a:r>
              <a:rPr sz="2400" i="1" spc="-35" dirty="0">
                <a:latin typeface="Arial"/>
                <a:cs typeface="Arial"/>
              </a:rPr>
              <a:t> </a:t>
            </a:r>
            <a:r>
              <a:rPr sz="2400" i="1" dirty="0">
                <a:latin typeface="Arial"/>
                <a:cs typeface="Arial"/>
              </a:rPr>
              <a:t>of</a:t>
            </a:r>
            <a:r>
              <a:rPr sz="2400" i="1" spc="-35" dirty="0">
                <a:latin typeface="Arial"/>
                <a:cs typeface="Arial"/>
              </a:rPr>
              <a:t> </a:t>
            </a:r>
            <a:r>
              <a:rPr sz="2400" i="1" dirty="0">
                <a:latin typeface="Arial"/>
                <a:cs typeface="Arial"/>
              </a:rPr>
              <a:t>value</a:t>
            </a:r>
            <a:r>
              <a:rPr sz="2400" dirty="0">
                <a:latin typeface="Arial"/>
                <a:cs typeface="Arial"/>
              </a:rPr>
              <a:t>,</a:t>
            </a:r>
            <a:r>
              <a:rPr sz="2400" spc="-15" dirty="0">
                <a:latin typeface="Arial"/>
                <a:cs typeface="Arial"/>
              </a:rPr>
              <a:t> </a:t>
            </a:r>
            <a:r>
              <a:rPr sz="2400" spc="-10" dirty="0">
                <a:latin typeface="Arial"/>
                <a:cs typeface="Arial"/>
              </a:rPr>
              <a:t>money </a:t>
            </a:r>
            <a:r>
              <a:rPr sz="2400" dirty="0">
                <a:latin typeface="Arial"/>
                <a:cs typeface="Arial"/>
              </a:rPr>
              <a:t>can</a:t>
            </a:r>
            <a:r>
              <a:rPr sz="2400" spc="-35" dirty="0">
                <a:latin typeface="Arial"/>
                <a:cs typeface="Arial"/>
              </a:rPr>
              <a:t> </a:t>
            </a:r>
            <a:r>
              <a:rPr sz="2400" dirty="0">
                <a:latin typeface="Arial"/>
                <a:cs typeface="Arial"/>
              </a:rPr>
              <a:t>be</a:t>
            </a:r>
            <a:r>
              <a:rPr sz="2400" spc="-35" dirty="0">
                <a:latin typeface="Arial"/>
                <a:cs typeface="Arial"/>
              </a:rPr>
              <a:t> </a:t>
            </a:r>
            <a:r>
              <a:rPr sz="2400" dirty="0">
                <a:latin typeface="Arial"/>
                <a:cs typeface="Arial"/>
              </a:rPr>
              <a:t>held</a:t>
            </a:r>
            <a:r>
              <a:rPr sz="2400" spc="-15" dirty="0">
                <a:latin typeface="Arial"/>
                <a:cs typeface="Arial"/>
              </a:rPr>
              <a:t> </a:t>
            </a:r>
            <a:r>
              <a:rPr sz="2400" dirty="0">
                <a:latin typeface="Arial"/>
                <a:cs typeface="Arial"/>
              </a:rPr>
              <a:t>for</a:t>
            </a:r>
            <a:r>
              <a:rPr sz="2400" spc="-50" dirty="0">
                <a:latin typeface="Arial"/>
                <a:cs typeface="Arial"/>
              </a:rPr>
              <a:t> </a:t>
            </a:r>
            <a:r>
              <a:rPr sz="2400" dirty="0">
                <a:latin typeface="Arial"/>
                <a:cs typeface="Arial"/>
              </a:rPr>
              <a:t>a</a:t>
            </a:r>
            <a:r>
              <a:rPr sz="2400" spc="-30" dirty="0">
                <a:latin typeface="Arial"/>
                <a:cs typeface="Arial"/>
              </a:rPr>
              <a:t> </a:t>
            </a:r>
            <a:r>
              <a:rPr sz="2400" dirty="0">
                <a:latin typeface="Arial"/>
                <a:cs typeface="Arial"/>
              </a:rPr>
              <a:t>time</a:t>
            </a:r>
            <a:r>
              <a:rPr sz="2400" spc="-45" dirty="0">
                <a:latin typeface="Arial"/>
                <a:cs typeface="Arial"/>
              </a:rPr>
              <a:t> </a:t>
            </a:r>
            <a:r>
              <a:rPr sz="2400" spc="-25" dirty="0">
                <a:latin typeface="Arial"/>
                <a:cs typeface="Arial"/>
              </a:rPr>
              <a:t>and </a:t>
            </a:r>
            <a:r>
              <a:rPr sz="2400" dirty="0">
                <a:latin typeface="Arial"/>
                <a:cs typeface="Arial"/>
              </a:rPr>
              <a:t>later</a:t>
            </a:r>
            <a:r>
              <a:rPr sz="2400" spc="-60" dirty="0">
                <a:latin typeface="Arial"/>
                <a:cs typeface="Arial"/>
              </a:rPr>
              <a:t> </a:t>
            </a:r>
            <a:r>
              <a:rPr sz="2400" dirty="0">
                <a:latin typeface="Arial"/>
                <a:cs typeface="Arial"/>
              </a:rPr>
              <a:t>exchanged</a:t>
            </a:r>
            <a:r>
              <a:rPr sz="2400" spc="-40" dirty="0">
                <a:latin typeface="Arial"/>
                <a:cs typeface="Arial"/>
              </a:rPr>
              <a:t> </a:t>
            </a:r>
            <a:r>
              <a:rPr sz="2400" dirty="0">
                <a:latin typeface="Arial"/>
                <a:cs typeface="Arial"/>
              </a:rPr>
              <a:t>for</a:t>
            </a:r>
            <a:r>
              <a:rPr sz="2400" spc="-60" dirty="0">
                <a:latin typeface="Arial"/>
                <a:cs typeface="Arial"/>
              </a:rPr>
              <a:t> </a:t>
            </a:r>
            <a:r>
              <a:rPr sz="2400" spc="-10" dirty="0">
                <a:latin typeface="Arial"/>
                <a:cs typeface="Arial"/>
              </a:rPr>
              <a:t>goods </a:t>
            </a:r>
            <a:r>
              <a:rPr sz="2400" dirty="0">
                <a:latin typeface="Arial"/>
                <a:cs typeface="Arial"/>
              </a:rPr>
              <a:t>and</a:t>
            </a:r>
            <a:r>
              <a:rPr sz="2400" spc="-50" dirty="0">
                <a:latin typeface="Arial"/>
                <a:cs typeface="Arial"/>
              </a:rPr>
              <a:t> </a:t>
            </a:r>
            <a:r>
              <a:rPr sz="2400" spc="-10" dirty="0">
                <a:latin typeface="Arial"/>
                <a:cs typeface="Arial"/>
              </a:rPr>
              <a:t>services.</a:t>
            </a:r>
            <a:endParaRPr sz="2400" dirty="0">
              <a:latin typeface="Arial"/>
              <a:cs typeface="Arial"/>
            </a:endParaRPr>
          </a:p>
        </p:txBody>
      </p:sp>
      <p:pic>
        <p:nvPicPr>
          <p:cNvPr id="3" name="object 3"/>
          <p:cNvPicPr/>
          <p:nvPr/>
        </p:nvPicPr>
        <p:blipFill>
          <a:blip r:embed="rId2" cstate="print"/>
          <a:stretch>
            <a:fillRect/>
          </a:stretch>
        </p:blipFill>
        <p:spPr>
          <a:xfrm>
            <a:off x="8641080" y="6480047"/>
            <a:ext cx="222503" cy="222503"/>
          </a:xfrm>
          <a:prstGeom prst="rect">
            <a:avLst/>
          </a:prstGeom>
        </p:spPr>
      </p:pic>
      <p:sp>
        <p:nvSpPr>
          <p:cNvPr id="4" name="object 4"/>
          <p:cNvSpPr txBox="1">
            <a:spLocks noGrp="1"/>
          </p:cNvSpPr>
          <p:nvPr>
            <p:ph type="title"/>
          </p:nvPr>
        </p:nvSpPr>
        <p:spPr>
          <a:prstGeom prst="rect">
            <a:avLst/>
          </a:prstGeom>
        </p:spPr>
        <p:txBody>
          <a:bodyPr vert="horz" wrap="square" lIns="0" tIns="13335" rIns="0" bIns="0" rtlCol="0">
            <a:spAutoFit/>
          </a:bodyPr>
          <a:lstStyle/>
          <a:p>
            <a:pPr marL="480059">
              <a:lnSpc>
                <a:spcPct val="100000"/>
              </a:lnSpc>
              <a:spcBef>
                <a:spcPts val="105"/>
              </a:spcBef>
            </a:pPr>
            <a:r>
              <a:rPr dirty="0"/>
              <a:t>What</a:t>
            </a:r>
            <a:r>
              <a:rPr spc="-30" dirty="0"/>
              <a:t> </a:t>
            </a:r>
            <a:r>
              <a:rPr dirty="0"/>
              <a:t>is</a:t>
            </a:r>
            <a:r>
              <a:rPr spc="-25" dirty="0"/>
              <a:t> </a:t>
            </a:r>
            <a:r>
              <a:rPr spc="-10" dirty="0"/>
              <a:t>Money?</a:t>
            </a:r>
          </a:p>
        </p:txBody>
      </p:sp>
      <p:pic>
        <p:nvPicPr>
          <p:cNvPr id="5" name="object 5"/>
          <p:cNvPicPr/>
          <p:nvPr/>
        </p:nvPicPr>
        <p:blipFill>
          <a:blip r:embed="rId3" cstate="print"/>
          <a:stretch>
            <a:fillRect/>
          </a:stretch>
        </p:blipFill>
        <p:spPr>
          <a:xfrm>
            <a:off x="4816974" y="1612010"/>
            <a:ext cx="3856498" cy="3064574"/>
          </a:xfrm>
          <a:prstGeom prst="rect">
            <a:avLst/>
          </a:prstGeom>
        </p:spPr>
      </p:pic>
      <p:sp>
        <p:nvSpPr>
          <p:cNvPr id="6" name="object 6"/>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641080" y="6480047"/>
            <a:ext cx="222503" cy="222503"/>
          </a:xfrm>
          <a:prstGeom prst="rect">
            <a:avLst/>
          </a:prstGeom>
        </p:spPr>
      </p:pic>
      <p:pic>
        <p:nvPicPr>
          <p:cNvPr id="3" name="object 3"/>
          <p:cNvPicPr/>
          <p:nvPr/>
        </p:nvPicPr>
        <p:blipFill>
          <a:blip r:embed="rId3" cstate="print"/>
          <a:stretch>
            <a:fillRect/>
          </a:stretch>
        </p:blipFill>
        <p:spPr>
          <a:xfrm>
            <a:off x="2001011" y="1395973"/>
            <a:ext cx="5143499" cy="4085097"/>
          </a:xfrm>
          <a:prstGeom prst="rect">
            <a:avLst/>
          </a:prstGeom>
        </p:spPr>
      </p:pic>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6036" name="Rectangle 1028">
            <a:extLst>
              <a:ext uri="{FF2B5EF4-FFF2-40B4-BE49-F238E27FC236}">
                <a16:creationId xmlns:a16="http://schemas.microsoft.com/office/drawing/2014/main" id="{534BED53-C611-8B54-0641-348E9611A245}"/>
              </a:ext>
            </a:extLst>
          </p:cNvPr>
          <p:cNvSpPr>
            <a:spLocks noGrp="1" noChangeArrowheads="1"/>
          </p:cNvSpPr>
          <p:nvPr>
            <p:ph type="title"/>
          </p:nvPr>
        </p:nvSpPr>
        <p:spPr>
          <a:xfrm>
            <a:off x="457200" y="0"/>
            <a:ext cx="8229600" cy="490066"/>
          </a:xfrm>
        </p:spPr>
        <p:txBody>
          <a:bodyPr/>
          <a:lstStyle/>
          <a:p>
            <a:pPr eaLnBrk="1" hangingPunct="1">
              <a:defRPr/>
            </a:pPr>
            <a:r>
              <a:rPr lang="en-US" dirty="0">
                <a:cs typeface="+mj-cs"/>
              </a:rPr>
              <a:t>WHAT IS MONEY?</a:t>
            </a:r>
            <a:endParaRPr lang="en-CA" dirty="0">
              <a:cs typeface="+mj-cs"/>
            </a:endParaRPr>
          </a:p>
        </p:txBody>
      </p:sp>
      <p:sp>
        <p:nvSpPr>
          <p:cNvPr id="556037" name="Rectangle 1029">
            <a:extLst>
              <a:ext uri="{FF2B5EF4-FFF2-40B4-BE49-F238E27FC236}">
                <a16:creationId xmlns:a16="http://schemas.microsoft.com/office/drawing/2014/main" id="{8C7ACB1E-253C-3C72-2E7A-5D1374E6C6FB}"/>
              </a:ext>
            </a:extLst>
          </p:cNvPr>
          <p:cNvSpPr>
            <a:spLocks noGrp="1" noChangeArrowheads="1"/>
          </p:cNvSpPr>
          <p:nvPr>
            <p:ph type="body" idx="1"/>
          </p:nvPr>
        </p:nvSpPr>
        <p:spPr>
          <a:xfrm>
            <a:off x="440432" y="620688"/>
            <a:ext cx="8229600" cy="4525963"/>
          </a:xfrm>
        </p:spPr>
        <p:txBody>
          <a:bodyPr/>
          <a:lstStyle/>
          <a:p>
            <a:pPr eaLnBrk="1" hangingPunct="1">
              <a:buFont typeface="Webdings" charset="0"/>
              <a:buChar char="&lt;"/>
              <a:defRPr/>
            </a:pPr>
            <a:r>
              <a:rPr noProof="1">
                <a:solidFill>
                  <a:srgbClr val="C00000"/>
                </a:solidFill>
                <a:cs typeface="+mn-cs"/>
              </a:rPr>
              <a:t>Money </a:t>
            </a:r>
            <a:r>
              <a:rPr lang="en-US" dirty="0">
                <a:solidFill>
                  <a:srgbClr val="C00000"/>
                </a:solidFill>
                <a:cs typeface="+mn-cs"/>
              </a:rPr>
              <a:t>T</a:t>
            </a:r>
            <a:r>
              <a:rPr noProof="1">
                <a:solidFill>
                  <a:srgbClr val="C00000"/>
                </a:solidFill>
                <a:cs typeface="+mn-cs"/>
              </a:rPr>
              <a:t>oday</a:t>
            </a:r>
          </a:p>
          <a:p>
            <a:pPr lvl="1" eaLnBrk="1" hangingPunct="1">
              <a:defRPr/>
            </a:pPr>
            <a:r>
              <a:rPr lang="en-US" dirty="0"/>
              <a:t>Money in the world today is called fiat money. </a:t>
            </a:r>
          </a:p>
          <a:p>
            <a:pPr lvl="1" eaLnBrk="1" hangingPunct="1">
              <a:defRPr/>
            </a:pPr>
            <a:r>
              <a:rPr lang="en-US" sz="2600" b="1" dirty="0">
                <a:solidFill>
                  <a:srgbClr val="FF0000"/>
                </a:solidFill>
              </a:rPr>
              <a:t>Fiat money </a:t>
            </a:r>
            <a:r>
              <a:rPr lang="en-US" dirty="0"/>
              <a:t>is objects that are money because the law decrees or orders them to be money. </a:t>
            </a:r>
          </a:p>
          <a:p>
            <a:pPr lvl="1" eaLnBrk="1" hangingPunct="1">
              <a:defRPr/>
            </a:pPr>
            <a:r>
              <a:rPr lang="en-US" dirty="0"/>
              <a:t>The objects that we use as money today are</a:t>
            </a:r>
          </a:p>
          <a:p>
            <a:pPr lvl="2" eaLnBrk="1" hangingPunct="1">
              <a:defRPr/>
            </a:pPr>
            <a:r>
              <a:rPr lang="en-US" dirty="0"/>
              <a:t>Currency</a:t>
            </a:r>
          </a:p>
          <a:p>
            <a:pPr lvl="2" eaLnBrk="1" hangingPunct="1">
              <a:defRPr/>
            </a:pPr>
            <a:r>
              <a:rPr lang="en-US" dirty="0"/>
              <a:t>Deposits at banks and other financial institutions</a:t>
            </a:r>
          </a:p>
        </p:txBody>
      </p:sp>
      <p:sp>
        <p:nvSpPr>
          <p:cNvPr id="3" name="TextBox 2">
            <a:extLst>
              <a:ext uri="{FF2B5EF4-FFF2-40B4-BE49-F238E27FC236}">
                <a16:creationId xmlns:a16="http://schemas.microsoft.com/office/drawing/2014/main" id="{7727AAEB-397B-C18F-D37A-6E9BCC28E257}"/>
              </a:ext>
            </a:extLst>
          </p:cNvPr>
          <p:cNvSpPr txBox="1"/>
          <p:nvPr/>
        </p:nvSpPr>
        <p:spPr>
          <a:xfrm>
            <a:off x="827584" y="4149080"/>
            <a:ext cx="8212832" cy="2401876"/>
          </a:xfrm>
          <a:prstGeom prst="rect">
            <a:avLst/>
          </a:prstGeom>
          <a:noFill/>
        </p:spPr>
        <p:txBody>
          <a:bodyPr wrap="square">
            <a:spAutoFit/>
          </a:bodyPr>
          <a:lstStyle/>
          <a:p>
            <a:pPr marL="12700" marR="5080" indent="342265">
              <a:lnSpc>
                <a:spcPct val="141700"/>
              </a:lnSpc>
              <a:buClr>
                <a:srgbClr val="6F2F9F"/>
              </a:buClr>
              <a:buFont typeface="Wingdings"/>
              <a:buChar char=""/>
              <a:tabLst>
                <a:tab pos="354965" algn="l"/>
              </a:tabLst>
            </a:pPr>
            <a:r>
              <a:rPr lang="en-US" sz="2400" dirty="0">
                <a:solidFill>
                  <a:srgbClr val="C00000"/>
                </a:solidFill>
                <a:latin typeface="Arial"/>
                <a:cs typeface="Arial"/>
              </a:rPr>
              <a:t>Currency</a:t>
            </a:r>
            <a:r>
              <a:rPr lang="en-US" sz="2400" spc="-45" dirty="0">
                <a:latin typeface="Arial"/>
                <a:cs typeface="Arial"/>
              </a:rPr>
              <a:t> </a:t>
            </a:r>
            <a:r>
              <a:rPr lang="en-US" sz="2400" dirty="0">
                <a:latin typeface="Arial"/>
                <a:cs typeface="Arial"/>
              </a:rPr>
              <a:t>is</a:t>
            </a:r>
            <a:r>
              <a:rPr lang="en-US" sz="2400" spc="-50" dirty="0">
                <a:latin typeface="Arial"/>
                <a:cs typeface="Arial"/>
              </a:rPr>
              <a:t> </a:t>
            </a:r>
            <a:r>
              <a:rPr lang="en-US" sz="2400" dirty="0">
                <a:latin typeface="Arial"/>
                <a:cs typeface="Arial"/>
              </a:rPr>
              <a:t>the</a:t>
            </a:r>
            <a:r>
              <a:rPr lang="en-US" sz="2400" spc="-50" dirty="0">
                <a:latin typeface="Arial"/>
                <a:cs typeface="Arial"/>
              </a:rPr>
              <a:t> </a:t>
            </a:r>
            <a:r>
              <a:rPr lang="en-US" sz="2400" dirty="0">
                <a:latin typeface="Arial"/>
                <a:cs typeface="Arial"/>
              </a:rPr>
              <a:t>notes</a:t>
            </a:r>
            <a:r>
              <a:rPr lang="en-US" sz="2400" spc="-55" dirty="0">
                <a:latin typeface="Arial"/>
                <a:cs typeface="Arial"/>
              </a:rPr>
              <a:t> </a:t>
            </a:r>
            <a:r>
              <a:rPr lang="en-US" sz="2400" dirty="0">
                <a:latin typeface="Arial"/>
                <a:cs typeface="Arial"/>
              </a:rPr>
              <a:t>and</a:t>
            </a:r>
            <a:r>
              <a:rPr lang="en-US" sz="2400" spc="-50" dirty="0">
                <a:latin typeface="Arial"/>
                <a:cs typeface="Arial"/>
              </a:rPr>
              <a:t> </a:t>
            </a:r>
            <a:r>
              <a:rPr lang="en-US" sz="2400" dirty="0">
                <a:latin typeface="Arial"/>
                <a:cs typeface="Arial"/>
              </a:rPr>
              <a:t>coins</a:t>
            </a:r>
            <a:r>
              <a:rPr lang="en-US" sz="2400" spc="-40" dirty="0">
                <a:latin typeface="Arial"/>
                <a:cs typeface="Arial"/>
              </a:rPr>
              <a:t> </a:t>
            </a:r>
            <a:r>
              <a:rPr lang="en-US" sz="2400" dirty="0">
                <a:latin typeface="Arial"/>
                <a:cs typeface="Arial"/>
              </a:rPr>
              <a:t>we</a:t>
            </a:r>
            <a:r>
              <a:rPr lang="en-US" sz="2400" spc="-50" dirty="0">
                <a:latin typeface="Arial"/>
                <a:cs typeface="Arial"/>
              </a:rPr>
              <a:t> </a:t>
            </a:r>
            <a:r>
              <a:rPr lang="en-US" sz="2400" dirty="0">
                <a:latin typeface="Arial"/>
                <a:cs typeface="Arial"/>
              </a:rPr>
              <a:t>use</a:t>
            </a:r>
            <a:r>
              <a:rPr lang="en-US" sz="2400" spc="-50" dirty="0">
                <a:latin typeface="Arial"/>
                <a:cs typeface="Arial"/>
              </a:rPr>
              <a:t> </a:t>
            </a:r>
            <a:r>
              <a:rPr lang="en-US" sz="2400" dirty="0">
                <a:latin typeface="Arial"/>
                <a:cs typeface="Arial"/>
              </a:rPr>
              <a:t>in</a:t>
            </a:r>
            <a:r>
              <a:rPr lang="en-US" sz="2400" spc="-50" dirty="0">
                <a:latin typeface="Arial"/>
                <a:cs typeface="Arial"/>
              </a:rPr>
              <a:t> </a:t>
            </a:r>
            <a:r>
              <a:rPr lang="en-US" sz="2400" spc="-10" dirty="0">
                <a:latin typeface="Arial"/>
                <a:cs typeface="Arial"/>
              </a:rPr>
              <a:t>transactions.</a:t>
            </a:r>
            <a:endParaRPr lang="en-US" sz="2400" dirty="0">
              <a:latin typeface="Arial"/>
              <a:cs typeface="Arial"/>
            </a:endParaRPr>
          </a:p>
          <a:p>
            <a:pPr marL="12700" marR="36830">
              <a:lnSpc>
                <a:spcPct val="100000"/>
              </a:lnSpc>
              <a:spcBef>
                <a:spcPts val="1205"/>
              </a:spcBef>
            </a:pPr>
            <a:r>
              <a:rPr lang="en-US" sz="2400" b="1" dirty="0">
                <a:latin typeface="Arial"/>
                <a:cs typeface="Arial"/>
              </a:rPr>
              <a:t>Currency</a:t>
            </a:r>
            <a:r>
              <a:rPr lang="en-US" sz="2400" b="1" spc="-45" dirty="0">
                <a:latin typeface="Arial"/>
                <a:cs typeface="Arial"/>
              </a:rPr>
              <a:t> </a:t>
            </a:r>
            <a:r>
              <a:rPr lang="en-US" sz="2400" b="1" dirty="0">
                <a:latin typeface="Arial"/>
                <a:cs typeface="Arial"/>
              </a:rPr>
              <a:t>in</a:t>
            </a:r>
            <a:r>
              <a:rPr lang="en-US" sz="2400" b="1" spc="-50" dirty="0">
                <a:latin typeface="Arial"/>
                <a:cs typeface="Arial"/>
              </a:rPr>
              <a:t> </a:t>
            </a:r>
            <a:r>
              <a:rPr lang="en-US" sz="2400" b="1" dirty="0">
                <a:latin typeface="Arial"/>
                <a:cs typeface="Arial"/>
              </a:rPr>
              <a:t>circulation</a:t>
            </a:r>
            <a:r>
              <a:rPr lang="en-US" sz="2400" b="1" spc="-75" dirty="0">
                <a:latin typeface="Arial"/>
                <a:cs typeface="Arial"/>
              </a:rPr>
              <a:t> </a:t>
            </a:r>
            <a:r>
              <a:rPr lang="en-US" sz="2400" dirty="0">
                <a:latin typeface="Arial"/>
                <a:cs typeface="Arial"/>
              </a:rPr>
              <a:t>is</a:t>
            </a:r>
            <a:r>
              <a:rPr lang="en-US" sz="2400" spc="-45" dirty="0">
                <a:latin typeface="Arial"/>
                <a:cs typeface="Arial"/>
              </a:rPr>
              <a:t> </a:t>
            </a:r>
            <a:r>
              <a:rPr lang="en-US" sz="2400" dirty="0">
                <a:latin typeface="Arial"/>
                <a:cs typeface="Arial"/>
              </a:rPr>
              <a:t>the</a:t>
            </a:r>
            <a:r>
              <a:rPr lang="en-US" sz="2400" spc="-50" dirty="0">
                <a:latin typeface="Arial"/>
                <a:cs typeface="Arial"/>
              </a:rPr>
              <a:t> </a:t>
            </a:r>
            <a:r>
              <a:rPr lang="en-US" sz="2400" dirty="0">
                <a:latin typeface="Arial"/>
                <a:cs typeface="Arial"/>
              </a:rPr>
              <a:t>notes</a:t>
            </a:r>
            <a:r>
              <a:rPr lang="en-US" sz="2400" spc="-50" dirty="0">
                <a:latin typeface="Arial"/>
                <a:cs typeface="Arial"/>
              </a:rPr>
              <a:t> </a:t>
            </a:r>
            <a:r>
              <a:rPr lang="en-US" sz="2400" dirty="0">
                <a:latin typeface="Arial"/>
                <a:cs typeface="Arial"/>
              </a:rPr>
              <a:t>and</a:t>
            </a:r>
            <a:r>
              <a:rPr lang="en-US" sz="2400" spc="-45" dirty="0">
                <a:latin typeface="Arial"/>
                <a:cs typeface="Arial"/>
              </a:rPr>
              <a:t> </a:t>
            </a:r>
            <a:r>
              <a:rPr lang="en-US" sz="2400" dirty="0">
                <a:latin typeface="Arial"/>
                <a:cs typeface="Arial"/>
              </a:rPr>
              <a:t>coins</a:t>
            </a:r>
            <a:r>
              <a:rPr lang="en-US" sz="2400" spc="-40" dirty="0">
                <a:latin typeface="Arial"/>
                <a:cs typeface="Arial"/>
              </a:rPr>
              <a:t> </a:t>
            </a:r>
            <a:r>
              <a:rPr lang="en-US" sz="2400" dirty="0">
                <a:latin typeface="Arial"/>
                <a:cs typeface="Arial"/>
              </a:rPr>
              <a:t>held</a:t>
            </a:r>
            <a:r>
              <a:rPr lang="en-US" sz="2400" spc="-45" dirty="0">
                <a:latin typeface="Arial"/>
                <a:cs typeface="Arial"/>
              </a:rPr>
              <a:t> </a:t>
            </a:r>
            <a:r>
              <a:rPr lang="en-US" sz="2400" spc="-25" dirty="0">
                <a:latin typeface="Arial"/>
                <a:cs typeface="Arial"/>
              </a:rPr>
              <a:t>by </a:t>
            </a:r>
            <a:r>
              <a:rPr lang="en-US" sz="2400" dirty="0">
                <a:latin typeface="Arial"/>
                <a:cs typeface="Arial"/>
              </a:rPr>
              <a:t>individuals</a:t>
            </a:r>
            <a:r>
              <a:rPr lang="en-US" sz="2400" spc="-60" dirty="0">
                <a:latin typeface="Arial"/>
                <a:cs typeface="Arial"/>
              </a:rPr>
              <a:t> </a:t>
            </a:r>
            <a:r>
              <a:rPr lang="en-US" sz="2400" dirty="0">
                <a:latin typeface="Arial"/>
                <a:cs typeface="Arial"/>
              </a:rPr>
              <a:t>and</a:t>
            </a:r>
            <a:r>
              <a:rPr lang="en-US" sz="2400" spc="-114" dirty="0">
                <a:latin typeface="Arial"/>
                <a:cs typeface="Arial"/>
              </a:rPr>
              <a:t> </a:t>
            </a:r>
            <a:r>
              <a:rPr lang="en-US" sz="2400" spc="-10" dirty="0">
                <a:latin typeface="Arial"/>
                <a:cs typeface="Arial"/>
              </a:rPr>
              <a:t>businesses.</a:t>
            </a:r>
            <a:endParaRPr lang="en-US" sz="2400" dirty="0">
              <a:latin typeface="Arial"/>
              <a:cs typeface="Arial"/>
            </a:endParaRPr>
          </a:p>
          <a:p>
            <a:pPr marL="12700" marR="274320">
              <a:lnSpc>
                <a:spcPct val="100000"/>
              </a:lnSpc>
              <a:spcBef>
                <a:spcPts val="1200"/>
              </a:spcBef>
            </a:pPr>
            <a:r>
              <a:rPr lang="en-US" sz="2400" dirty="0">
                <a:solidFill>
                  <a:srgbClr val="C00000"/>
                </a:solidFill>
                <a:latin typeface="Arial"/>
                <a:cs typeface="Arial"/>
              </a:rPr>
              <a:t>Deposits</a:t>
            </a:r>
            <a:r>
              <a:rPr lang="en-US" sz="2400" spc="-65" dirty="0">
                <a:latin typeface="Arial"/>
                <a:cs typeface="Arial"/>
              </a:rPr>
              <a:t> </a:t>
            </a:r>
            <a:r>
              <a:rPr lang="en-US" sz="2400" dirty="0">
                <a:latin typeface="Arial"/>
                <a:cs typeface="Arial"/>
              </a:rPr>
              <a:t>are</a:t>
            </a:r>
            <a:r>
              <a:rPr lang="en-US" sz="2400" spc="-70" dirty="0">
                <a:latin typeface="Arial"/>
                <a:cs typeface="Arial"/>
              </a:rPr>
              <a:t> </a:t>
            </a:r>
            <a:r>
              <a:rPr lang="en-US" sz="2400" dirty="0">
                <a:latin typeface="Arial"/>
                <a:cs typeface="Arial"/>
              </a:rPr>
              <a:t>money</a:t>
            </a:r>
            <a:r>
              <a:rPr lang="en-US" sz="2400" spc="-75" dirty="0">
                <a:latin typeface="Arial"/>
                <a:cs typeface="Arial"/>
              </a:rPr>
              <a:t> </a:t>
            </a:r>
            <a:r>
              <a:rPr lang="en-US" sz="2400" dirty="0">
                <a:latin typeface="Arial"/>
                <a:cs typeface="Arial"/>
              </a:rPr>
              <a:t>because</a:t>
            </a:r>
            <a:r>
              <a:rPr lang="en-US" sz="2400" spc="-65" dirty="0">
                <a:latin typeface="Arial"/>
                <a:cs typeface="Arial"/>
              </a:rPr>
              <a:t> </a:t>
            </a:r>
            <a:r>
              <a:rPr lang="en-US" sz="2400" dirty="0">
                <a:latin typeface="Arial"/>
                <a:cs typeface="Arial"/>
              </a:rPr>
              <a:t>the</a:t>
            </a:r>
            <a:r>
              <a:rPr lang="en-US" sz="2400" spc="-70" dirty="0">
                <a:latin typeface="Arial"/>
                <a:cs typeface="Arial"/>
              </a:rPr>
              <a:t> </a:t>
            </a:r>
            <a:r>
              <a:rPr lang="en-US" sz="2400" dirty="0">
                <a:latin typeface="Arial"/>
                <a:cs typeface="Arial"/>
              </a:rPr>
              <a:t>owners</a:t>
            </a:r>
            <a:r>
              <a:rPr lang="en-US" sz="2400" spc="-65" dirty="0">
                <a:latin typeface="Arial"/>
                <a:cs typeface="Arial"/>
              </a:rPr>
              <a:t> </a:t>
            </a:r>
            <a:r>
              <a:rPr lang="en-US" sz="2400" dirty="0">
                <a:latin typeface="Arial"/>
                <a:cs typeface="Arial"/>
              </a:rPr>
              <a:t>can</a:t>
            </a:r>
            <a:r>
              <a:rPr lang="en-US" sz="2400" spc="-70" dirty="0">
                <a:latin typeface="Arial"/>
                <a:cs typeface="Arial"/>
              </a:rPr>
              <a:t> </a:t>
            </a:r>
            <a:r>
              <a:rPr lang="en-US" sz="2400" dirty="0">
                <a:latin typeface="Arial"/>
                <a:cs typeface="Arial"/>
              </a:rPr>
              <a:t>use</a:t>
            </a:r>
            <a:r>
              <a:rPr lang="en-US" sz="2400" spc="-70" dirty="0">
                <a:latin typeface="Arial"/>
                <a:cs typeface="Arial"/>
              </a:rPr>
              <a:t> </a:t>
            </a:r>
            <a:r>
              <a:rPr lang="en-US" sz="2400" spc="-25" dirty="0">
                <a:latin typeface="Arial"/>
                <a:cs typeface="Arial"/>
              </a:rPr>
              <a:t>the </a:t>
            </a:r>
            <a:r>
              <a:rPr lang="en-US" sz="2400" dirty="0">
                <a:latin typeface="Arial"/>
                <a:cs typeface="Arial"/>
              </a:rPr>
              <a:t>deposit</a:t>
            </a:r>
            <a:r>
              <a:rPr lang="en-US" sz="2400" spc="-50" dirty="0">
                <a:latin typeface="Arial"/>
                <a:cs typeface="Arial"/>
              </a:rPr>
              <a:t> </a:t>
            </a:r>
            <a:r>
              <a:rPr lang="en-US" sz="2400" dirty="0">
                <a:latin typeface="Arial"/>
                <a:cs typeface="Arial"/>
              </a:rPr>
              <a:t>to</a:t>
            </a:r>
            <a:r>
              <a:rPr lang="en-US" sz="2400" spc="-60" dirty="0">
                <a:latin typeface="Arial"/>
                <a:cs typeface="Arial"/>
              </a:rPr>
              <a:t> </a:t>
            </a:r>
            <a:r>
              <a:rPr lang="en-US" sz="2400" dirty="0">
                <a:latin typeface="Arial"/>
                <a:cs typeface="Arial"/>
              </a:rPr>
              <a:t>make</a:t>
            </a:r>
            <a:r>
              <a:rPr lang="en-US" sz="2400" spc="-60" dirty="0">
                <a:latin typeface="Arial"/>
                <a:cs typeface="Arial"/>
              </a:rPr>
              <a:t> </a:t>
            </a:r>
            <a:r>
              <a:rPr lang="en-US" sz="2400" spc="-10" dirty="0">
                <a:latin typeface="Arial"/>
                <a:cs typeface="Arial"/>
              </a:rPr>
              <a:t>payments.</a:t>
            </a:r>
            <a:endParaRPr lang="en-US" sz="2400" dirty="0">
              <a:latin typeface="Arial"/>
              <a:cs typeface="Arial"/>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6037">
                                            <p:txEl>
                                              <p:pRg st="1" end="1"/>
                                            </p:txEl>
                                          </p:spTgt>
                                        </p:tgtEl>
                                        <p:attrNameLst>
                                          <p:attrName>style.visibility</p:attrName>
                                        </p:attrNameLst>
                                      </p:cBhvr>
                                      <p:to>
                                        <p:strVal val="visible"/>
                                      </p:to>
                                    </p:set>
                                    <p:animEffect transition="in" filter="wipe(left)">
                                      <p:cBhvr>
                                        <p:cTn id="7" dur="500"/>
                                        <p:tgtEl>
                                          <p:spTgt spid="55603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6037">
                                            <p:txEl>
                                              <p:pRg st="2" end="2"/>
                                            </p:txEl>
                                          </p:spTgt>
                                        </p:tgtEl>
                                        <p:attrNameLst>
                                          <p:attrName>style.visibility</p:attrName>
                                        </p:attrNameLst>
                                      </p:cBhvr>
                                      <p:to>
                                        <p:strVal val="visible"/>
                                      </p:to>
                                    </p:set>
                                    <p:animEffect transition="in" filter="wipe(left)">
                                      <p:cBhvr>
                                        <p:cTn id="12" dur="500"/>
                                        <p:tgtEl>
                                          <p:spTgt spid="55603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6037">
                                            <p:txEl>
                                              <p:pRg st="3" end="3"/>
                                            </p:txEl>
                                          </p:spTgt>
                                        </p:tgtEl>
                                        <p:attrNameLst>
                                          <p:attrName>style.visibility</p:attrName>
                                        </p:attrNameLst>
                                      </p:cBhvr>
                                      <p:to>
                                        <p:strVal val="visible"/>
                                      </p:to>
                                    </p:set>
                                    <p:animEffect transition="in" filter="wipe(left)">
                                      <p:cBhvr>
                                        <p:cTn id="17" dur="500"/>
                                        <p:tgtEl>
                                          <p:spTgt spid="55603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56037">
                                            <p:txEl>
                                              <p:pRg st="4" end="4"/>
                                            </p:txEl>
                                          </p:spTgt>
                                        </p:tgtEl>
                                        <p:attrNameLst>
                                          <p:attrName>style.visibility</p:attrName>
                                        </p:attrNameLst>
                                      </p:cBhvr>
                                      <p:to>
                                        <p:strVal val="visible"/>
                                      </p:to>
                                    </p:set>
                                    <p:animEffect transition="in" filter="wipe(left)">
                                      <p:cBhvr>
                                        <p:cTn id="22" dur="500"/>
                                        <p:tgtEl>
                                          <p:spTgt spid="55603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56037">
                                            <p:txEl>
                                              <p:pRg st="5" end="5"/>
                                            </p:txEl>
                                          </p:spTgt>
                                        </p:tgtEl>
                                        <p:attrNameLst>
                                          <p:attrName>style.visibility</p:attrName>
                                        </p:attrNameLst>
                                      </p:cBhvr>
                                      <p:to>
                                        <p:strVal val="visible"/>
                                      </p:to>
                                    </p:set>
                                    <p:animEffect transition="in" filter="wipe(left)">
                                      <p:cBhvr>
                                        <p:cTn id="27" dur="500"/>
                                        <p:tgtEl>
                                          <p:spTgt spid="55603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7" grpId="0" build="p" bldLvl="3"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9108" name="Rectangle 4">
            <a:extLst>
              <a:ext uri="{FF2B5EF4-FFF2-40B4-BE49-F238E27FC236}">
                <a16:creationId xmlns:a16="http://schemas.microsoft.com/office/drawing/2014/main" id="{ABDAB6A0-E2BB-9441-7D0E-236AC085BEB5}"/>
              </a:ext>
            </a:extLst>
          </p:cNvPr>
          <p:cNvSpPr>
            <a:spLocks noGrp="1" noChangeArrowheads="1"/>
          </p:cNvSpPr>
          <p:nvPr>
            <p:ph type="title"/>
          </p:nvPr>
        </p:nvSpPr>
        <p:spPr/>
        <p:txBody>
          <a:bodyPr/>
          <a:lstStyle/>
          <a:p>
            <a:pPr eaLnBrk="1" hangingPunct="1">
              <a:defRPr/>
            </a:pPr>
            <a:r>
              <a:rPr lang="en-US" dirty="0">
                <a:cs typeface="+mj-cs"/>
              </a:rPr>
              <a:t>WHAT IS MONEY?</a:t>
            </a:r>
            <a:endParaRPr lang="en-CA" dirty="0">
              <a:cs typeface="+mj-cs"/>
            </a:endParaRPr>
          </a:p>
        </p:txBody>
      </p:sp>
      <p:sp>
        <p:nvSpPr>
          <p:cNvPr id="559109" name="Rectangle 5">
            <a:extLst>
              <a:ext uri="{FF2B5EF4-FFF2-40B4-BE49-F238E27FC236}">
                <a16:creationId xmlns:a16="http://schemas.microsoft.com/office/drawing/2014/main" id="{9D62CD7C-ED98-5CBB-9A1A-25CE78B69114}"/>
              </a:ext>
            </a:extLst>
          </p:cNvPr>
          <p:cNvSpPr>
            <a:spLocks noGrp="1" noChangeArrowheads="1"/>
          </p:cNvSpPr>
          <p:nvPr>
            <p:ph type="body" idx="1"/>
          </p:nvPr>
        </p:nvSpPr>
        <p:spPr/>
        <p:txBody>
          <a:bodyPr/>
          <a:lstStyle/>
          <a:p>
            <a:pPr marL="461963" lvl="1" indent="-4763" eaLnBrk="1" hangingPunct="1">
              <a:defRPr/>
            </a:pPr>
            <a:r>
              <a:rPr lang="en-US" b="1">
                <a:solidFill>
                  <a:srgbClr val="00468F"/>
                </a:solidFill>
              </a:rPr>
              <a:t>Deposits</a:t>
            </a:r>
          </a:p>
          <a:p>
            <a:pPr marL="461963" lvl="1" indent="-4763" eaLnBrk="1" hangingPunct="1">
              <a:defRPr/>
            </a:pPr>
            <a:r>
              <a:rPr lang="en-US"/>
              <a:t>Deposits at banks, credit unions, savings banks, and savings and loan associations are also money.</a:t>
            </a:r>
          </a:p>
          <a:p>
            <a:pPr marL="461963" lvl="1" indent="-4763" eaLnBrk="1" hangingPunct="1">
              <a:defRPr/>
            </a:pPr>
            <a:r>
              <a:rPr lang="en-US"/>
              <a:t>Deposits are money because they can be converted into currency on demand and are used directly to make payments.</a:t>
            </a:r>
            <a:endParaRPr noProof="1"/>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9109">
                                            <p:txEl>
                                              <p:pRg st="1" end="1"/>
                                            </p:txEl>
                                          </p:spTgt>
                                        </p:tgtEl>
                                        <p:attrNameLst>
                                          <p:attrName>style.visibility</p:attrName>
                                        </p:attrNameLst>
                                      </p:cBhvr>
                                      <p:to>
                                        <p:strVal val="visible"/>
                                      </p:to>
                                    </p:set>
                                    <p:animEffect transition="in" filter="wipe(left)">
                                      <p:cBhvr>
                                        <p:cTn id="7" dur="500"/>
                                        <p:tgtEl>
                                          <p:spTgt spid="55910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9109">
                                            <p:txEl>
                                              <p:pRg st="2" end="2"/>
                                            </p:txEl>
                                          </p:spTgt>
                                        </p:tgtEl>
                                        <p:attrNameLst>
                                          <p:attrName>style.visibility</p:attrName>
                                        </p:attrNameLst>
                                      </p:cBhvr>
                                      <p:to>
                                        <p:strVal val="visible"/>
                                      </p:to>
                                    </p:set>
                                    <p:animEffect transition="in" filter="wipe(left)">
                                      <p:cBhvr>
                                        <p:cTn id="12" dur="500"/>
                                        <p:tgtEl>
                                          <p:spTgt spid="55910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9" grpId="0" build="p" bldLvl="3"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60130" name="Rectangle 2">
            <a:extLst>
              <a:ext uri="{FF2B5EF4-FFF2-40B4-BE49-F238E27FC236}">
                <a16:creationId xmlns:a16="http://schemas.microsoft.com/office/drawing/2014/main" id="{FF1358AD-DAE2-6918-BC28-AB3FAC9F8312}"/>
              </a:ext>
            </a:extLst>
          </p:cNvPr>
          <p:cNvSpPr>
            <a:spLocks noGrp="1" noChangeArrowheads="1"/>
          </p:cNvSpPr>
          <p:nvPr>
            <p:ph type="title"/>
          </p:nvPr>
        </p:nvSpPr>
        <p:spPr/>
        <p:txBody>
          <a:bodyPr/>
          <a:lstStyle/>
          <a:p>
            <a:pPr eaLnBrk="1" hangingPunct="1">
              <a:defRPr/>
            </a:pPr>
            <a:r>
              <a:rPr lang="en-US" dirty="0">
                <a:cs typeface="+mj-cs"/>
              </a:rPr>
              <a:t>WHAT IS MONEY?</a:t>
            </a:r>
            <a:endParaRPr lang="en-CA" dirty="0">
              <a:cs typeface="+mj-cs"/>
            </a:endParaRPr>
          </a:p>
        </p:txBody>
      </p:sp>
      <p:sp>
        <p:nvSpPr>
          <p:cNvPr id="560131" name="Rectangle 3">
            <a:extLst>
              <a:ext uri="{FF2B5EF4-FFF2-40B4-BE49-F238E27FC236}">
                <a16:creationId xmlns:a16="http://schemas.microsoft.com/office/drawing/2014/main" id="{6824A391-0A24-5814-1010-224D2EDA3E10}"/>
              </a:ext>
            </a:extLst>
          </p:cNvPr>
          <p:cNvSpPr>
            <a:spLocks noGrp="1" noChangeArrowheads="1"/>
          </p:cNvSpPr>
          <p:nvPr>
            <p:ph type="body" idx="1"/>
          </p:nvPr>
        </p:nvSpPr>
        <p:spPr/>
        <p:txBody>
          <a:bodyPr/>
          <a:lstStyle/>
          <a:p>
            <a:pPr lvl="1" eaLnBrk="1" hangingPunct="1">
              <a:lnSpc>
                <a:spcPct val="96000"/>
              </a:lnSpc>
              <a:spcBef>
                <a:spcPts val="1200"/>
              </a:spcBef>
              <a:spcAft>
                <a:spcPts val="600"/>
              </a:spcAft>
              <a:defRPr/>
            </a:pPr>
            <a:r>
              <a:rPr lang="en-US" b="1" dirty="0">
                <a:solidFill>
                  <a:srgbClr val="00468F"/>
                </a:solidFill>
              </a:rPr>
              <a:t>Currency inside Banks Is Not Money</a:t>
            </a:r>
            <a:endParaRPr lang="en-US" dirty="0"/>
          </a:p>
          <a:p>
            <a:pPr lvl="1" eaLnBrk="1" hangingPunct="1">
              <a:defRPr/>
            </a:pPr>
            <a:r>
              <a:rPr lang="en-US" dirty="0">
                <a:ea typeface="MS Mincho" charset="0"/>
                <a:cs typeface="MS Mincho" charset="0"/>
              </a:rPr>
              <a:t>Bank </a:t>
            </a:r>
            <a:r>
              <a:rPr lang="en-US" dirty="0">
                <a:solidFill>
                  <a:srgbClr val="C00000"/>
                </a:solidFill>
                <a:ea typeface="MS Mincho" charset="0"/>
                <a:cs typeface="MS Mincho" charset="0"/>
              </a:rPr>
              <a:t>deposits</a:t>
            </a:r>
            <a:r>
              <a:rPr lang="en-US" dirty="0">
                <a:ea typeface="MS Mincho" charset="0"/>
                <a:cs typeface="MS Mincho" charset="0"/>
              </a:rPr>
              <a:t> are one form of money, and currency </a:t>
            </a:r>
            <a:r>
              <a:rPr lang="en-US" i="1" dirty="0">
                <a:ea typeface="MS Mincho" charset="0"/>
                <a:cs typeface="MS Mincho" charset="0"/>
              </a:rPr>
              <a:t>outside the banks</a:t>
            </a:r>
            <a:r>
              <a:rPr lang="en-US" dirty="0">
                <a:ea typeface="MS Mincho" charset="0"/>
                <a:cs typeface="MS Mincho" charset="0"/>
              </a:rPr>
              <a:t> is another form. </a:t>
            </a:r>
          </a:p>
          <a:p>
            <a:pPr lvl="1" eaLnBrk="1" hangingPunct="1">
              <a:defRPr/>
            </a:pPr>
            <a:r>
              <a:rPr lang="en-US" dirty="0">
                <a:ea typeface="MS Mincho" charset="0"/>
                <a:cs typeface="MS Mincho" charset="0"/>
              </a:rPr>
              <a:t>Currency </a:t>
            </a:r>
            <a:r>
              <a:rPr lang="en-US" i="1" dirty="0">
                <a:ea typeface="MS Mincho" charset="0"/>
                <a:cs typeface="MS Mincho" charset="0"/>
              </a:rPr>
              <a:t>inside</a:t>
            </a:r>
            <a:r>
              <a:rPr lang="en-US" dirty="0">
                <a:ea typeface="MS Mincho" charset="0"/>
                <a:cs typeface="MS Mincho" charset="0"/>
              </a:rPr>
              <a:t> the banks is not money. </a:t>
            </a:r>
          </a:p>
          <a:p>
            <a:pPr lvl="1" eaLnBrk="1" hangingPunct="1">
              <a:defRPr/>
            </a:pPr>
            <a:r>
              <a:rPr lang="en-US" dirty="0">
                <a:ea typeface="MS Mincho" charset="0"/>
                <a:cs typeface="MS Mincho" charset="0"/>
              </a:rPr>
              <a:t>When you get some cash from the ATM, you convert your bank deposit into currency.</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0131">
                                            <p:txEl>
                                              <p:pRg st="1" end="1"/>
                                            </p:txEl>
                                          </p:spTgt>
                                        </p:tgtEl>
                                        <p:attrNameLst>
                                          <p:attrName>style.visibility</p:attrName>
                                        </p:attrNameLst>
                                      </p:cBhvr>
                                      <p:to>
                                        <p:strVal val="visible"/>
                                      </p:to>
                                    </p:set>
                                    <p:animEffect transition="in" filter="wipe(left)">
                                      <p:cBhvr>
                                        <p:cTn id="7" dur="500"/>
                                        <p:tgtEl>
                                          <p:spTgt spid="56013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0131">
                                            <p:txEl>
                                              <p:pRg st="2" end="2"/>
                                            </p:txEl>
                                          </p:spTgt>
                                        </p:tgtEl>
                                        <p:attrNameLst>
                                          <p:attrName>style.visibility</p:attrName>
                                        </p:attrNameLst>
                                      </p:cBhvr>
                                      <p:to>
                                        <p:strVal val="visible"/>
                                      </p:to>
                                    </p:set>
                                    <p:animEffect transition="in" filter="wipe(left)">
                                      <p:cBhvr>
                                        <p:cTn id="12" dur="500"/>
                                        <p:tgtEl>
                                          <p:spTgt spid="56013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0131">
                                            <p:txEl>
                                              <p:pRg st="3" end="3"/>
                                            </p:txEl>
                                          </p:spTgt>
                                        </p:tgtEl>
                                        <p:attrNameLst>
                                          <p:attrName>style.visibility</p:attrName>
                                        </p:attrNameLst>
                                      </p:cBhvr>
                                      <p:to>
                                        <p:strVal val="visible"/>
                                      </p:to>
                                    </p:set>
                                    <p:animEffect transition="in" filter="wipe(left)">
                                      <p:cBhvr>
                                        <p:cTn id="17" dur="500"/>
                                        <p:tgtEl>
                                          <p:spTgt spid="5601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1" grpId="0" build="p" bldLvl="3"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47522" y="1457055"/>
            <a:ext cx="7984918" cy="3214341"/>
          </a:xfrm>
          <a:prstGeom prst="rect">
            <a:avLst/>
          </a:prstGeom>
        </p:spPr>
        <p:txBody>
          <a:bodyPr vert="horz" wrap="square" lIns="0" tIns="165735" rIns="0" bIns="0" rtlCol="0">
            <a:spAutoFit/>
          </a:bodyPr>
          <a:lstStyle/>
          <a:p>
            <a:pPr marL="12700">
              <a:lnSpc>
                <a:spcPct val="100000"/>
              </a:lnSpc>
              <a:spcBef>
                <a:spcPts val="1305"/>
              </a:spcBef>
            </a:pPr>
            <a:r>
              <a:rPr sz="2400" b="1" dirty="0">
                <a:solidFill>
                  <a:srgbClr val="6F2F9F"/>
                </a:solidFill>
                <a:latin typeface="Arial"/>
                <a:cs typeface="Arial"/>
              </a:rPr>
              <a:t>Official</a:t>
            </a:r>
            <a:r>
              <a:rPr sz="2400" b="1" spc="-90" dirty="0">
                <a:solidFill>
                  <a:srgbClr val="6F2F9F"/>
                </a:solidFill>
                <a:latin typeface="Arial"/>
                <a:cs typeface="Arial"/>
              </a:rPr>
              <a:t> </a:t>
            </a:r>
            <a:r>
              <a:rPr sz="2400" b="1" dirty="0">
                <a:solidFill>
                  <a:srgbClr val="6F2F9F"/>
                </a:solidFill>
                <a:latin typeface="Arial"/>
                <a:cs typeface="Arial"/>
              </a:rPr>
              <a:t>Measures</a:t>
            </a:r>
            <a:r>
              <a:rPr sz="2400" b="1" spc="-50" dirty="0">
                <a:solidFill>
                  <a:srgbClr val="6F2F9F"/>
                </a:solidFill>
                <a:latin typeface="Arial"/>
                <a:cs typeface="Arial"/>
              </a:rPr>
              <a:t> </a:t>
            </a:r>
            <a:r>
              <a:rPr sz="2400" b="1" dirty="0">
                <a:solidFill>
                  <a:srgbClr val="6F2F9F"/>
                </a:solidFill>
                <a:latin typeface="Arial"/>
                <a:cs typeface="Arial"/>
              </a:rPr>
              <a:t>of</a:t>
            </a:r>
            <a:r>
              <a:rPr sz="2400" b="1" spc="-60" dirty="0">
                <a:solidFill>
                  <a:srgbClr val="6F2F9F"/>
                </a:solidFill>
                <a:latin typeface="Arial"/>
                <a:cs typeface="Arial"/>
              </a:rPr>
              <a:t> </a:t>
            </a:r>
            <a:r>
              <a:rPr sz="2400" b="1" spc="-10" dirty="0">
                <a:solidFill>
                  <a:srgbClr val="6F2F9F"/>
                </a:solidFill>
                <a:latin typeface="Arial"/>
                <a:cs typeface="Arial"/>
              </a:rPr>
              <a:t>Money</a:t>
            </a:r>
            <a:endParaRPr sz="2400" dirty="0">
              <a:latin typeface="Arial"/>
              <a:cs typeface="Arial"/>
            </a:endParaRPr>
          </a:p>
          <a:p>
            <a:pPr marL="12700" marR="283210">
              <a:lnSpc>
                <a:spcPct val="100000"/>
              </a:lnSpc>
              <a:spcBef>
                <a:spcPts val="1200"/>
              </a:spcBef>
            </a:pPr>
            <a:r>
              <a:rPr sz="2400" dirty="0">
                <a:latin typeface="Arial"/>
                <a:cs typeface="Arial"/>
              </a:rPr>
              <a:t>The</a:t>
            </a:r>
            <a:r>
              <a:rPr sz="2400" spc="-60" dirty="0">
                <a:latin typeface="Arial"/>
                <a:cs typeface="Arial"/>
              </a:rPr>
              <a:t> </a:t>
            </a:r>
            <a:r>
              <a:rPr sz="2400" dirty="0">
                <a:latin typeface="Arial"/>
                <a:cs typeface="Arial"/>
              </a:rPr>
              <a:t>two</a:t>
            </a:r>
            <a:r>
              <a:rPr sz="2400" spc="-60" dirty="0">
                <a:latin typeface="Arial"/>
                <a:cs typeface="Arial"/>
              </a:rPr>
              <a:t> </a:t>
            </a:r>
            <a:r>
              <a:rPr sz="2400" dirty="0">
                <a:latin typeface="Arial"/>
                <a:cs typeface="Arial"/>
              </a:rPr>
              <a:t>main</a:t>
            </a:r>
            <a:r>
              <a:rPr sz="2400" spc="-45" dirty="0">
                <a:latin typeface="Arial"/>
                <a:cs typeface="Arial"/>
              </a:rPr>
              <a:t> </a:t>
            </a:r>
            <a:r>
              <a:rPr sz="2400" dirty="0">
                <a:latin typeface="Arial"/>
                <a:cs typeface="Arial"/>
              </a:rPr>
              <a:t>official</a:t>
            </a:r>
            <a:r>
              <a:rPr sz="2400" spc="-45" dirty="0">
                <a:latin typeface="Arial"/>
                <a:cs typeface="Arial"/>
              </a:rPr>
              <a:t> </a:t>
            </a:r>
            <a:r>
              <a:rPr sz="2400" dirty="0">
                <a:latin typeface="Arial"/>
                <a:cs typeface="Arial"/>
              </a:rPr>
              <a:t>measures</a:t>
            </a:r>
            <a:r>
              <a:rPr sz="2400" spc="-40" dirty="0">
                <a:latin typeface="Arial"/>
                <a:cs typeface="Arial"/>
              </a:rPr>
              <a:t> </a:t>
            </a:r>
            <a:r>
              <a:rPr sz="2400" dirty="0">
                <a:latin typeface="Arial"/>
                <a:cs typeface="Arial"/>
              </a:rPr>
              <a:t>of</a:t>
            </a:r>
            <a:r>
              <a:rPr sz="2400" spc="-65" dirty="0">
                <a:latin typeface="Arial"/>
                <a:cs typeface="Arial"/>
              </a:rPr>
              <a:t> </a:t>
            </a:r>
            <a:r>
              <a:rPr sz="2400" dirty="0">
                <a:latin typeface="Arial"/>
                <a:cs typeface="Arial"/>
              </a:rPr>
              <a:t>money</a:t>
            </a:r>
            <a:r>
              <a:rPr sz="2400" spc="-40" dirty="0">
                <a:latin typeface="Arial"/>
                <a:cs typeface="Arial"/>
              </a:rPr>
              <a:t> </a:t>
            </a:r>
            <a:r>
              <a:rPr sz="2400" dirty="0">
                <a:latin typeface="Arial"/>
                <a:cs typeface="Arial"/>
              </a:rPr>
              <a:t>in</a:t>
            </a:r>
            <a:r>
              <a:rPr sz="2400" spc="-60" dirty="0">
                <a:latin typeface="Arial"/>
                <a:cs typeface="Arial"/>
              </a:rPr>
              <a:t> </a:t>
            </a:r>
            <a:r>
              <a:rPr sz="2400" dirty="0">
                <a:latin typeface="Arial"/>
                <a:cs typeface="Arial"/>
              </a:rPr>
              <a:t>the</a:t>
            </a:r>
            <a:r>
              <a:rPr sz="2400" spc="-60" dirty="0">
                <a:latin typeface="Arial"/>
                <a:cs typeface="Arial"/>
              </a:rPr>
              <a:t> </a:t>
            </a:r>
            <a:r>
              <a:rPr sz="2400" spc="-10" dirty="0">
                <a:latin typeface="Arial"/>
                <a:cs typeface="Arial"/>
              </a:rPr>
              <a:t>United </a:t>
            </a:r>
            <a:r>
              <a:rPr sz="2400" dirty="0">
                <a:latin typeface="Arial"/>
                <a:cs typeface="Arial"/>
              </a:rPr>
              <a:t>States</a:t>
            </a:r>
            <a:r>
              <a:rPr sz="2400" spc="-35" dirty="0">
                <a:latin typeface="Arial"/>
                <a:cs typeface="Arial"/>
              </a:rPr>
              <a:t> </a:t>
            </a:r>
            <a:r>
              <a:rPr sz="2400" dirty="0">
                <a:latin typeface="Arial"/>
                <a:cs typeface="Arial"/>
              </a:rPr>
              <a:t>are</a:t>
            </a:r>
            <a:r>
              <a:rPr sz="2400" spc="-30" dirty="0">
                <a:latin typeface="Arial"/>
                <a:cs typeface="Arial"/>
              </a:rPr>
              <a:t> </a:t>
            </a:r>
            <a:r>
              <a:rPr sz="2400" dirty="0">
                <a:latin typeface="Arial"/>
                <a:cs typeface="Arial"/>
              </a:rPr>
              <a:t>M1</a:t>
            </a:r>
            <a:r>
              <a:rPr sz="2400" spc="-45" dirty="0">
                <a:latin typeface="Arial"/>
                <a:cs typeface="Arial"/>
              </a:rPr>
              <a:t> </a:t>
            </a:r>
            <a:r>
              <a:rPr sz="2400" dirty="0">
                <a:latin typeface="Arial"/>
                <a:cs typeface="Arial"/>
              </a:rPr>
              <a:t>and</a:t>
            </a:r>
            <a:r>
              <a:rPr sz="2400" spc="-25" dirty="0">
                <a:latin typeface="Arial"/>
                <a:cs typeface="Arial"/>
              </a:rPr>
              <a:t> M2.</a:t>
            </a:r>
            <a:endParaRPr sz="2400" dirty="0">
              <a:latin typeface="Arial"/>
              <a:cs typeface="Arial"/>
            </a:endParaRPr>
          </a:p>
          <a:p>
            <a:pPr marL="12700" marR="5080">
              <a:lnSpc>
                <a:spcPct val="100000"/>
              </a:lnSpc>
              <a:spcBef>
                <a:spcPts val="1205"/>
              </a:spcBef>
            </a:pPr>
            <a:r>
              <a:rPr sz="2400" b="1" dirty="0">
                <a:solidFill>
                  <a:srgbClr val="C00000"/>
                </a:solidFill>
                <a:latin typeface="Arial"/>
                <a:cs typeface="Arial"/>
              </a:rPr>
              <a:t>M1</a:t>
            </a:r>
            <a:r>
              <a:rPr sz="2400" b="1" spc="-75" dirty="0">
                <a:latin typeface="Arial"/>
                <a:cs typeface="Arial"/>
              </a:rPr>
              <a:t> </a:t>
            </a:r>
            <a:r>
              <a:rPr sz="2400" dirty="0">
                <a:latin typeface="Arial"/>
                <a:cs typeface="Arial"/>
              </a:rPr>
              <a:t>consists</a:t>
            </a:r>
            <a:r>
              <a:rPr sz="2400" spc="-60" dirty="0">
                <a:latin typeface="Arial"/>
                <a:cs typeface="Arial"/>
              </a:rPr>
              <a:t> </a:t>
            </a:r>
            <a:r>
              <a:rPr sz="2400" dirty="0">
                <a:latin typeface="Arial"/>
                <a:cs typeface="Arial"/>
              </a:rPr>
              <a:t>of</a:t>
            </a:r>
            <a:r>
              <a:rPr sz="2400" spc="-65" dirty="0">
                <a:latin typeface="Arial"/>
                <a:cs typeface="Arial"/>
              </a:rPr>
              <a:t> </a:t>
            </a:r>
            <a:r>
              <a:rPr sz="2400" dirty="0">
                <a:latin typeface="Arial"/>
                <a:cs typeface="Arial"/>
              </a:rPr>
              <a:t>currency</a:t>
            </a:r>
            <a:r>
              <a:rPr sz="2400" spc="-65" dirty="0">
                <a:latin typeface="Arial"/>
                <a:cs typeface="Arial"/>
              </a:rPr>
              <a:t> </a:t>
            </a:r>
            <a:r>
              <a:rPr sz="2400" dirty="0">
                <a:latin typeface="Arial"/>
                <a:cs typeface="Arial"/>
              </a:rPr>
              <a:t>and</a:t>
            </a:r>
            <a:r>
              <a:rPr sz="2400" spc="-60" dirty="0">
                <a:latin typeface="Arial"/>
                <a:cs typeface="Arial"/>
              </a:rPr>
              <a:t> </a:t>
            </a:r>
            <a:r>
              <a:rPr sz="2400" dirty="0">
                <a:latin typeface="Arial"/>
                <a:cs typeface="Arial"/>
              </a:rPr>
              <a:t>traveler’s</a:t>
            </a:r>
            <a:r>
              <a:rPr sz="2400" spc="-55" dirty="0">
                <a:latin typeface="Arial"/>
                <a:cs typeface="Arial"/>
              </a:rPr>
              <a:t> </a:t>
            </a:r>
            <a:r>
              <a:rPr sz="2400" dirty="0">
                <a:latin typeface="Arial"/>
                <a:cs typeface="Arial"/>
              </a:rPr>
              <a:t>checks</a:t>
            </a:r>
            <a:r>
              <a:rPr sz="2400" spc="-60" dirty="0">
                <a:latin typeface="Arial"/>
                <a:cs typeface="Arial"/>
              </a:rPr>
              <a:t> </a:t>
            </a:r>
            <a:r>
              <a:rPr sz="2400" spc="-25" dirty="0">
                <a:latin typeface="Arial"/>
                <a:cs typeface="Arial"/>
              </a:rPr>
              <a:t>and </a:t>
            </a:r>
            <a:r>
              <a:rPr sz="2400" dirty="0">
                <a:latin typeface="Arial"/>
                <a:cs typeface="Arial"/>
              </a:rPr>
              <a:t>checking</a:t>
            </a:r>
            <a:r>
              <a:rPr sz="2400" spc="-80" dirty="0">
                <a:latin typeface="Arial"/>
                <a:cs typeface="Arial"/>
              </a:rPr>
              <a:t> </a:t>
            </a:r>
            <a:r>
              <a:rPr sz="2400" dirty="0">
                <a:latin typeface="Arial"/>
                <a:cs typeface="Arial"/>
              </a:rPr>
              <a:t>deposits</a:t>
            </a:r>
            <a:r>
              <a:rPr sz="2400" spc="-85" dirty="0">
                <a:latin typeface="Arial"/>
                <a:cs typeface="Arial"/>
              </a:rPr>
              <a:t> </a:t>
            </a:r>
            <a:r>
              <a:rPr sz="2400" dirty="0">
                <a:latin typeface="Arial"/>
                <a:cs typeface="Arial"/>
              </a:rPr>
              <a:t>owned</a:t>
            </a:r>
            <a:r>
              <a:rPr sz="2400" spc="-85" dirty="0">
                <a:latin typeface="Arial"/>
                <a:cs typeface="Arial"/>
              </a:rPr>
              <a:t> </a:t>
            </a:r>
            <a:r>
              <a:rPr sz="2400" dirty="0">
                <a:latin typeface="Arial"/>
                <a:cs typeface="Arial"/>
              </a:rPr>
              <a:t>by</a:t>
            </a:r>
            <a:r>
              <a:rPr sz="2400" spc="-105" dirty="0">
                <a:latin typeface="Arial"/>
                <a:cs typeface="Arial"/>
              </a:rPr>
              <a:t> </a:t>
            </a:r>
            <a:r>
              <a:rPr sz="2400" dirty="0">
                <a:latin typeface="Arial"/>
                <a:cs typeface="Arial"/>
              </a:rPr>
              <a:t>individuals</a:t>
            </a:r>
            <a:r>
              <a:rPr sz="2400" spc="-55" dirty="0">
                <a:latin typeface="Arial"/>
                <a:cs typeface="Arial"/>
              </a:rPr>
              <a:t> </a:t>
            </a:r>
            <a:r>
              <a:rPr sz="2400" dirty="0">
                <a:latin typeface="Arial"/>
                <a:cs typeface="Arial"/>
              </a:rPr>
              <a:t>and</a:t>
            </a:r>
            <a:r>
              <a:rPr sz="2400" spc="-90" dirty="0">
                <a:latin typeface="Arial"/>
                <a:cs typeface="Arial"/>
              </a:rPr>
              <a:t> </a:t>
            </a:r>
            <a:r>
              <a:rPr sz="2400" spc="-10" dirty="0">
                <a:latin typeface="Arial"/>
                <a:cs typeface="Arial"/>
              </a:rPr>
              <a:t>businesses.</a:t>
            </a:r>
            <a:endParaRPr sz="2400" dirty="0">
              <a:latin typeface="Arial"/>
              <a:cs typeface="Arial"/>
            </a:endParaRPr>
          </a:p>
          <a:p>
            <a:pPr marL="12700">
              <a:lnSpc>
                <a:spcPct val="100000"/>
              </a:lnSpc>
              <a:spcBef>
                <a:spcPts val="1200"/>
              </a:spcBef>
            </a:pPr>
            <a:r>
              <a:rPr sz="2400" b="1" dirty="0">
                <a:solidFill>
                  <a:srgbClr val="C00000"/>
                </a:solidFill>
                <a:latin typeface="Arial"/>
                <a:cs typeface="Arial"/>
              </a:rPr>
              <a:t>M2</a:t>
            </a:r>
            <a:r>
              <a:rPr sz="2400" b="1" spc="-70" dirty="0">
                <a:latin typeface="Arial"/>
                <a:cs typeface="Arial"/>
              </a:rPr>
              <a:t> </a:t>
            </a:r>
            <a:r>
              <a:rPr lang="en-US" altLang="en-TW" sz="2400" dirty="0">
                <a:ea typeface="MS Mincho" panose="02020609040205080304" pitchFamily="49" charset="-128"/>
              </a:rPr>
              <a:t>consists of M1 plus savings deposits and small time deposits, money market funds, and other deposits</a:t>
            </a:r>
            <a:endParaRPr sz="2400" dirty="0">
              <a:latin typeface="Arial"/>
              <a:cs typeface="Arial"/>
            </a:endParaRPr>
          </a:p>
        </p:txBody>
      </p:sp>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0059">
              <a:lnSpc>
                <a:spcPct val="100000"/>
              </a:lnSpc>
              <a:spcBef>
                <a:spcPts val="105"/>
              </a:spcBef>
            </a:pPr>
            <a:r>
              <a:rPr dirty="0"/>
              <a:t>What</a:t>
            </a:r>
            <a:r>
              <a:rPr spc="-30" dirty="0"/>
              <a:t> </a:t>
            </a:r>
            <a:r>
              <a:rPr dirty="0"/>
              <a:t>is</a:t>
            </a:r>
            <a:r>
              <a:rPr spc="-25" dirty="0"/>
              <a:t> </a:t>
            </a:r>
            <a:r>
              <a:rPr spc="-10" dirty="0"/>
              <a:t>Money?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66274" name="Rectangle 2">
            <a:extLst>
              <a:ext uri="{FF2B5EF4-FFF2-40B4-BE49-F238E27FC236}">
                <a16:creationId xmlns:a16="http://schemas.microsoft.com/office/drawing/2014/main" id="{5E738F5D-79C0-2D48-4943-09A01F78C6ED}"/>
              </a:ext>
            </a:extLst>
          </p:cNvPr>
          <p:cNvSpPr>
            <a:spLocks noGrp="1" noChangeArrowheads="1"/>
          </p:cNvSpPr>
          <p:nvPr>
            <p:ph type="title"/>
          </p:nvPr>
        </p:nvSpPr>
        <p:spPr/>
        <p:txBody>
          <a:bodyPr/>
          <a:lstStyle/>
          <a:p>
            <a:pPr eaLnBrk="1" hangingPunct="1">
              <a:defRPr/>
            </a:pPr>
            <a:r>
              <a:rPr lang="en-US" dirty="0">
                <a:cs typeface="+mj-cs"/>
              </a:rPr>
              <a:t>WHAT IS MONEY?</a:t>
            </a:r>
            <a:endParaRPr lang="en-CA" dirty="0">
              <a:cs typeface="+mj-cs"/>
            </a:endParaRPr>
          </a:p>
        </p:txBody>
      </p:sp>
      <p:sp>
        <p:nvSpPr>
          <p:cNvPr id="566275" name="Rectangle 3">
            <a:extLst>
              <a:ext uri="{FF2B5EF4-FFF2-40B4-BE49-F238E27FC236}">
                <a16:creationId xmlns:a16="http://schemas.microsoft.com/office/drawing/2014/main" id="{D3470B2A-F624-EF7F-E8ED-4DA02B43FF36}"/>
              </a:ext>
            </a:extLst>
          </p:cNvPr>
          <p:cNvSpPr>
            <a:spLocks noGrp="1" noChangeArrowheads="1"/>
          </p:cNvSpPr>
          <p:nvPr>
            <p:ph type="body" idx="1"/>
          </p:nvPr>
        </p:nvSpPr>
        <p:spPr>
          <a:xfrm>
            <a:off x="76200" y="1905000"/>
            <a:ext cx="3048000" cy="1219200"/>
          </a:xfrm>
        </p:spPr>
        <p:txBody>
          <a:bodyPr/>
          <a:lstStyle/>
          <a:p>
            <a:pPr marL="177800" indent="-6350" eaLnBrk="1" hangingPunct="1">
              <a:buFont typeface="Webdings" charset="0"/>
              <a:buNone/>
              <a:defRPr/>
            </a:pPr>
            <a:r>
              <a:rPr lang="en-US" sz="2400" b="0" dirty="0">
                <a:solidFill>
                  <a:schemeClr val="tx1"/>
                </a:solidFill>
                <a:ea typeface="MS Mincho" charset="0"/>
                <a:cs typeface="MS Mincho" charset="0"/>
              </a:rPr>
              <a:t>Figure 27.1 shows two measures of money.</a:t>
            </a:r>
            <a:endParaRPr lang="en-CA" sz="2400" b="0" dirty="0">
              <a:solidFill>
                <a:schemeClr val="tx1"/>
              </a:solidFill>
              <a:ea typeface="MS Mincho" charset="0"/>
              <a:cs typeface="MS Mincho" charset="0"/>
            </a:endParaRPr>
          </a:p>
        </p:txBody>
      </p:sp>
      <p:sp>
        <p:nvSpPr>
          <p:cNvPr id="566276" name="Rectangle 4">
            <a:extLst>
              <a:ext uri="{FF2B5EF4-FFF2-40B4-BE49-F238E27FC236}">
                <a16:creationId xmlns:a16="http://schemas.microsoft.com/office/drawing/2014/main" id="{8625C85B-6044-5B75-B51C-43CD92BFC6E1}"/>
              </a:ext>
            </a:extLst>
          </p:cNvPr>
          <p:cNvSpPr>
            <a:spLocks noChangeArrowheads="1"/>
          </p:cNvSpPr>
          <p:nvPr/>
        </p:nvSpPr>
        <p:spPr bwMode="auto">
          <a:xfrm>
            <a:off x="304800" y="3352800"/>
            <a:ext cx="2362200" cy="1676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231775" indent="-231775"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TW" b="1"/>
              <a:t>M1</a:t>
            </a:r>
            <a:r>
              <a:rPr lang="en-US" altLang="en-TW"/>
              <a:t> </a:t>
            </a:r>
          </a:p>
          <a:p>
            <a:pPr eaLnBrk="1" hangingPunct="1">
              <a:spcBef>
                <a:spcPct val="50000"/>
              </a:spcBef>
              <a:buFontTx/>
              <a:buChar char="•"/>
            </a:pPr>
            <a:r>
              <a:rPr lang="en-US" altLang="en-TW"/>
              <a:t>Currency and  traveler</a:t>
            </a:r>
            <a:r>
              <a:rPr lang="en-US" altLang="en-US"/>
              <a:t>’</a:t>
            </a:r>
            <a:r>
              <a:rPr lang="en-US" altLang="en-TW"/>
              <a:t>s checks</a:t>
            </a:r>
          </a:p>
        </p:txBody>
      </p:sp>
      <p:sp>
        <p:nvSpPr>
          <p:cNvPr id="566295" name="Rectangle 23">
            <a:extLst>
              <a:ext uri="{FF2B5EF4-FFF2-40B4-BE49-F238E27FC236}">
                <a16:creationId xmlns:a16="http://schemas.microsoft.com/office/drawing/2014/main" id="{280F2044-DA1D-7F94-13BE-B6C781D0A90B}"/>
              </a:ext>
            </a:extLst>
          </p:cNvPr>
          <p:cNvSpPr>
            <a:spLocks noChangeArrowheads="1"/>
          </p:cNvSpPr>
          <p:nvPr/>
        </p:nvSpPr>
        <p:spPr bwMode="auto">
          <a:xfrm>
            <a:off x="304800" y="5181600"/>
            <a:ext cx="2209800" cy="762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indent="-231775">
              <a:spcBef>
                <a:spcPct val="50000"/>
              </a:spcBef>
              <a:buFontTx/>
              <a:buChar char="•"/>
              <a:defRPr/>
            </a:pPr>
            <a:r>
              <a:rPr lang="en-US" sz="2400" dirty="0">
                <a:latin typeface="Arial" charset="0"/>
                <a:ea typeface="ＭＳ Ｐゴシック" charset="0"/>
              </a:rPr>
              <a:t>Checkable deposits</a:t>
            </a:r>
          </a:p>
        </p:txBody>
      </p:sp>
      <p:pic>
        <p:nvPicPr>
          <p:cNvPr id="35845" name="Picture 18" descr="fig2701a.gif">
            <a:extLst>
              <a:ext uri="{FF2B5EF4-FFF2-40B4-BE49-F238E27FC236}">
                <a16:creationId xmlns:a16="http://schemas.microsoft.com/office/drawing/2014/main" id="{E118133D-4522-591D-1809-0F61E74AFBE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63938" y="2311400"/>
            <a:ext cx="532765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9" descr="fig2701b.gif">
            <a:extLst>
              <a:ext uri="{FF2B5EF4-FFF2-40B4-BE49-F238E27FC236}">
                <a16:creationId xmlns:a16="http://schemas.microsoft.com/office/drawing/2014/main" id="{5027D4CC-3E31-1909-A32E-BE738557DFD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2311400"/>
            <a:ext cx="532765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0" descr="fig2701c.gif">
            <a:extLst>
              <a:ext uri="{FF2B5EF4-FFF2-40B4-BE49-F238E27FC236}">
                <a16:creationId xmlns:a16="http://schemas.microsoft.com/office/drawing/2014/main" id="{3EFC40E0-51AB-400A-0455-689382B006C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563938" y="2311400"/>
            <a:ext cx="532765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6276">
                                            <p:txEl>
                                              <p:pRg st="0" end="0"/>
                                            </p:txEl>
                                          </p:spTgt>
                                        </p:tgtEl>
                                        <p:attrNameLst>
                                          <p:attrName>style.visibility</p:attrName>
                                        </p:attrNameLst>
                                      </p:cBhvr>
                                      <p:to>
                                        <p:strVal val="visible"/>
                                      </p:to>
                                    </p:set>
                                    <p:animEffect transition="in" filter="wipe(left)">
                                      <p:cBhvr>
                                        <p:cTn id="7" dur="500"/>
                                        <p:tgtEl>
                                          <p:spTgt spid="56627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6276">
                                            <p:txEl>
                                              <p:pRg st="1" end="1"/>
                                            </p:txEl>
                                          </p:spTgt>
                                        </p:tgtEl>
                                        <p:attrNameLst>
                                          <p:attrName>style.visibility</p:attrName>
                                        </p:attrNameLst>
                                      </p:cBhvr>
                                      <p:to>
                                        <p:strVal val="visible"/>
                                      </p:to>
                                    </p:set>
                                    <p:animEffect transition="in" filter="wipe(left)">
                                      <p:cBhvr>
                                        <p:cTn id="12" dur="500"/>
                                        <p:tgtEl>
                                          <p:spTgt spid="56627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6295">
                                            <p:txEl>
                                              <p:pRg st="0" end="0"/>
                                            </p:txEl>
                                          </p:spTgt>
                                        </p:tgtEl>
                                        <p:attrNameLst>
                                          <p:attrName>style.visibility</p:attrName>
                                        </p:attrNameLst>
                                      </p:cBhvr>
                                      <p:to>
                                        <p:strVal val="visible"/>
                                      </p:to>
                                    </p:set>
                                    <p:animEffect transition="in" filter="wipe(left)">
                                      <p:cBhvr>
                                        <p:cTn id="17" dur="500"/>
                                        <p:tgtEl>
                                          <p:spTgt spid="56629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down)">
                                      <p:cBhvr>
                                        <p:cTn id="22" dur="2000"/>
                                        <p:tgtEl>
                                          <p:spTgt spid="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down)">
                                      <p:cBhvr>
                                        <p:cTn id="2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6" grpId="0" build="p" autoUpdateAnimBg="0"/>
      <p:bldP spid="566295"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7298" name="Rectangle 2">
            <a:extLst>
              <a:ext uri="{FF2B5EF4-FFF2-40B4-BE49-F238E27FC236}">
                <a16:creationId xmlns:a16="http://schemas.microsoft.com/office/drawing/2014/main" id="{2F954F47-49EA-1308-60B3-FC24E2472E8A}"/>
              </a:ext>
            </a:extLst>
          </p:cNvPr>
          <p:cNvSpPr>
            <a:spLocks noGrp="1" noChangeArrowheads="1"/>
          </p:cNvSpPr>
          <p:nvPr>
            <p:ph type="title"/>
          </p:nvPr>
        </p:nvSpPr>
        <p:spPr/>
        <p:txBody>
          <a:bodyPr/>
          <a:lstStyle/>
          <a:p>
            <a:pPr eaLnBrk="1" hangingPunct="1">
              <a:defRPr/>
            </a:pPr>
            <a:r>
              <a:rPr lang="en-US" dirty="0">
                <a:cs typeface="+mj-cs"/>
              </a:rPr>
              <a:t>WHAT IS MONEY?</a:t>
            </a:r>
            <a:endParaRPr lang="en-CA" dirty="0">
              <a:cs typeface="+mj-cs"/>
            </a:endParaRPr>
          </a:p>
        </p:txBody>
      </p:sp>
      <p:sp>
        <p:nvSpPr>
          <p:cNvPr id="567300" name="Rectangle 4">
            <a:extLst>
              <a:ext uri="{FF2B5EF4-FFF2-40B4-BE49-F238E27FC236}">
                <a16:creationId xmlns:a16="http://schemas.microsoft.com/office/drawing/2014/main" id="{904EF822-698D-9B78-AF7D-2F949448B9E4}"/>
              </a:ext>
            </a:extLst>
          </p:cNvPr>
          <p:cNvSpPr>
            <a:spLocks noChangeArrowheads="1"/>
          </p:cNvSpPr>
          <p:nvPr/>
        </p:nvSpPr>
        <p:spPr bwMode="auto">
          <a:xfrm>
            <a:off x="304800" y="2971800"/>
            <a:ext cx="2057400" cy="990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indent="-231775">
              <a:buFontTx/>
              <a:buChar char="•"/>
              <a:defRPr/>
            </a:pPr>
            <a:r>
              <a:rPr lang="en-US">
                <a:latin typeface="Arial" charset="0"/>
                <a:ea typeface="ＭＳ Ｐゴシック" charset="0"/>
              </a:rPr>
              <a:t>Savings deposits</a:t>
            </a:r>
          </a:p>
        </p:txBody>
      </p:sp>
      <p:sp>
        <p:nvSpPr>
          <p:cNvPr id="567314" name="Rectangle 18">
            <a:extLst>
              <a:ext uri="{FF2B5EF4-FFF2-40B4-BE49-F238E27FC236}">
                <a16:creationId xmlns:a16="http://schemas.microsoft.com/office/drawing/2014/main" id="{7ECAC1FD-A1EF-A566-2537-FE3E728A1084}"/>
              </a:ext>
            </a:extLst>
          </p:cNvPr>
          <p:cNvSpPr>
            <a:spLocks noChangeArrowheads="1"/>
          </p:cNvSpPr>
          <p:nvPr/>
        </p:nvSpPr>
        <p:spPr bwMode="auto">
          <a:xfrm>
            <a:off x="304800" y="1905000"/>
            <a:ext cx="2286000" cy="1066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indent="-231775">
              <a:defRPr/>
            </a:pPr>
            <a:r>
              <a:rPr lang="en-US" b="1">
                <a:latin typeface="Arial" charset="0"/>
                <a:ea typeface="ＭＳ Ｐゴシック" charset="0"/>
              </a:rPr>
              <a:t>M2 </a:t>
            </a:r>
            <a:endParaRPr lang="en-US">
              <a:latin typeface="Arial" charset="0"/>
              <a:ea typeface="ＭＳ Ｐゴシック" charset="0"/>
            </a:endParaRPr>
          </a:p>
          <a:p>
            <a:pPr marL="231775" indent="-231775">
              <a:spcBef>
                <a:spcPct val="50000"/>
              </a:spcBef>
              <a:buFontTx/>
              <a:buChar char="•"/>
              <a:defRPr/>
            </a:pPr>
            <a:r>
              <a:rPr lang="en-US">
                <a:latin typeface="Arial" charset="0"/>
                <a:ea typeface="ＭＳ Ｐゴシック" charset="0"/>
              </a:rPr>
              <a:t>M1</a:t>
            </a:r>
          </a:p>
        </p:txBody>
      </p:sp>
      <p:sp>
        <p:nvSpPr>
          <p:cNvPr id="567315" name="Rectangle 19">
            <a:extLst>
              <a:ext uri="{FF2B5EF4-FFF2-40B4-BE49-F238E27FC236}">
                <a16:creationId xmlns:a16="http://schemas.microsoft.com/office/drawing/2014/main" id="{EACB8837-AA6E-4D4E-A914-303856A80B91}"/>
              </a:ext>
            </a:extLst>
          </p:cNvPr>
          <p:cNvSpPr>
            <a:spLocks noChangeArrowheads="1"/>
          </p:cNvSpPr>
          <p:nvPr/>
        </p:nvSpPr>
        <p:spPr bwMode="auto">
          <a:xfrm>
            <a:off x="228600" y="4876800"/>
            <a:ext cx="2362200" cy="1295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indent="-231775">
              <a:spcBef>
                <a:spcPct val="50000"/>
              </a:spcBef>
              <a:buFontTx/>
              <a:buChar char="•"/>
              <a:defRPr/>
            </a:pPr>
            <a:r>
              <a:rPr lang="en-US">
                <a:latin typeface="Arial" charset="0"/>
                <a:ea typeface="ＭＳ Ｐゴシック" charset="0"/>
              </a:rPr>
              <a:t>Money market funds and other deposits</a:t>
            </a:r>
          </a:p>
        </p:txBody>
      </p:sp>
      <p:sp>
        <p:nvSpPr>
          <p:cNvPr id="567316" name="Rectangle 20">
            <a:extLst>
              <a:ext uri="{FF2B5EF4-FFF2-40B4-BE49-F238E27FC236}">
                <a16:creationId xmlns:a16="http://schemas.microsoft.com/office/drawing/2014/main" id="{24C96E02-98A5-1C20-4B8D-BA5A56D89D31}"/>
              </a:ext>
            </a:extLst>
          </p:cNvPr>
          <p:cNvSpPr>
            <a:spLocks noChangeArrowheads="1"/>
          </p:cNvSpPr>
          <p:nvPr/>
        </p:nvSpPr>
        <p:spPr bwMode="auto">
          <a:xfrm>
            <a:off x="228600" y="3962400"/>
            <a:ext cx="23622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indent="-231775">
              <a:spcBef>
                <a:spcPct val="50000"/>
              </a:spcBef>
              <a:buFontTx/>
              <a:buChar char="•"/>
              <a:defRPr/>
            </a:pPr>
            <a:r>
              <a:rPr lang="en-US">
                <a:latin typeface="Arial" charset="0"/>
                <a:ea typeface="ＭＳ Ｐゴシック" charset="0"/>
              </a:rPr>
              <a:t>Small time deposits</a:t>
            </a:r>
          </a:p>
        </p:txBody>
      </p:sp>
      <p:pic>
        <p:nvPicPr>
          <p:cNvPr id="39942" name="Picture 27" descr="fig2701a.gif">
            <a:extLst>
              <a:ext uri="{FF2B5EF4-FFF2-40B4-BE49-F238E27FC236}">
                <a16:creationId xmlns:a16="http://schemas.microsoft.com/office/drawing/2014/main" id="{2AE650F7-E50C-D699-3E56-D3F6A27E6C0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63938" y="2311400"/>
            <a:ext cx="532765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3" name="Picture 28" descr="fig2701b.gif">
            <a:extLst>
              <a:ext uri="{FF2B5EF4-FFF2-40B4-BE49-F238E27FC236}">
                <a16:creationId xmlns:a16="http://schemas.microsoft.com/office/drawing/2014/main" id="{9F3CF793-C25B-B991-9F4F-C2707EB0FB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2311400"/>
            <a:ext cx="532765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4" name="Picture 29" descr="fig2701c.gif">
            <a:extLst>
              <a:ext uri="{FF2B5EF4-FFF2-40B4-BE49-F238E27FC236}">
                <a16:creationId xmlns:a16="http://schemas.microsoft.com/office/drawing/2014/main" id="{D77F877A-1928-480E-AA63-730B499AF16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563938" y="2311400"/>
            <a:ext cx="532765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30" descr="fig2701d.gif">
            <a:extLst>
              <a:ext uri="{FF2B5EF4-FFF2-40B4-BE49-F238E27FC236}">
                <a16:creationId xmlns:a16="http://schemas.microsoft.com/office/drawing/2014/main" id="{BDAB60E0-0F42-576F-FEFA-08BF6087EA6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563938" y="2311400"/>
            <a:ext cx="532765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31" descr="fig2701e.gif">
            <a:extLst>
              <a:ext uri="{FF2B5EF4-FFF2-40B4-BE49-F238E27FC236}">
                <a16:creationId xmlns:a16="http://schemas.microsoft.com/office/drawing/2014/main" id="{82524138-1D70-93FB-E644-FF8CA2C6256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563938" y="2311400"/>
            <a:ext cx="532765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32" descr="fig2701f.gif">
            <a:extLst>
              <a:ext uri="{FF2B5EF4-FFF2-40B4-BE49-F238E27FC236}">
                <a16:creationId xmlns:a16="http://schemas.microsoft.com/office/drawing/2014/main" id="{54E8DE34-69A8-7057-9F5A-62BFAF351BFC}"/>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563938" y="2311400"/>
            <a:ext cx="532765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33" descr="fig2701g.gif">
            <a:extLst>
              <a:ext uri="{FF2B5EF4-FFF2-40B4-BE49-F238E27FC236}">
                <a16:creationId xmlns:a16="http://schemas.microsoft.com/office/drawing/2014/main" id="{F5EC6E3D-C11B-48D4-AC9B-B8568290D95F}"/>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3563938" y="2311400"/>
            <a:ext cx="532765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34" descr="fig2701h.gif">
            <a:extLst>
              <a:ext uri="{FF2B5EF4-FFF2-40B4-BE49-F238E27FC236}">
                <a16:creationId xmlns:a16="http://schemas.microsoft.com/office/drawing/2014/main" id="{4C85B2E8-C6B5-C8B1-27C6-B909ACFDD402}"/>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2621995" y="1628800"/>
            <a:ext cx="6269593" cy="45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2000"/>
                                        <p:tgtEl>
                                          <p:spTgt spid="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7300"/>
                                        </p:tgtEl>
                                        <p:attrNameLst>
                                          <p:attrName>style.visibility</p:attrName>
                                        </p:attrNameLst>
                                      </p:cBhvr>
                                      <p:to>
                                        <p:strVal val="visible"/>
                                      </p:to>
                                    </p:set>
                                    <p:animEffect transition="in" filter="wipe(left)">
                                      <p:cBhvr>
                                        <p:cTn id="12" dur="500"/>
                                        <p:tgtEl>
                                          <p:spTgt spid="5673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down)">
                                      <p:cBhvr>
                                        <p:cTn id="17" dur="2000"/>
                                        <p:tgtEl>
                                          <p:spTgt spid="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7316"/>
                                        </p:tgtEl>
                                        <p:attrNameLst>
                                          <p:attrName>style.visibility</p:attrName>
                                        </p:attrNameLst>
                                      </p:cBhvr>
                                      <p:to>
                                        <p:strVal val="visible"/>
                                      </p:to>
                                    </p:set>
                                    <p:animEffect transition="in" filter="wipe(left)">
                                      <p:cBhvr>
                                        <p:cTn id="22" dur="500"/>
                                        <p:tgtEl>
                                          <p:spTgt spid="5673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down)">
                                      <p:cBhvr>
                                        <p:cTn id="27" dur="2000"/>
                                        <p:tgtEl>
                                          <p:spTgt spid="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67315"/>
                                        </p:tgtEl>
                                        <p:attrNameLst>
                                          <p:attrName>style.visibility</p:attrName>
                                        </p:attrNameLst>
                                      </p:cBhvr>
                                      <p:to>
                                        <p:strVal val="visible"/>
                                      </p:to>
                                    </p:set>
                                    <p:animEffect transition="in" filter="wipe(left)">
                                      <p:cBhvr>
                                        <p:cTn id="32" dur="500"/>
                                        <p:tgtEl>
                                          <p:spTgt spid="5673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down)">
                                      <p:cBhvr>
                                        <p:cTn id="37" dur="2000"/>
                                        <p:tgtEl>
                                          <p:spTgt spid="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ipe(left)">
                                      <p:cBhvr>
                                        <p:cTn id="42" dur="2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300" grpId="0" autoUpdateAnimBg="0"/>
      <p:bldP spid="567315" grpId="0" autoUpdateAnimBg="0"/>
      <p:bldP spid="567316"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540336"/>
            <a:ext cx="8229600" cy="1034744"/>
          </a:xfrm>
        </p:spPr>
        <p:txBody>
          <a:bodyPr/>
          <a:lstStyle/>
          <a:p>
            <a:pPr algn="l"/>
            <a:r>
              <a:rPr lang="en-US" sz="3200" dirty="0"/>
              <a:t>Table 24.1 </a:t>
            </a:r>
            <a:br>
              <a:rPr lang="en-US" sz="3200" dirty="0"/>
            </a:br>
            <a:r>
              <a:rPr lang="en-US" sz="3200" dirty="0"/>
              <a:t>The unit of account function of money</a:t>
            </a:r>
            <a:br>
              <a:rPr lang="en-US" sz="3200" dirty="0"/>
            </a:br>
            <a:r>
              <a:rPr lang="en-US" sz="3200" dirty="0"/>
              <a:t>simplifies price comparisons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1244" y="1907251"/>
            <a:ext cx="3941511" cy="4412640"/>
          </a:xfrm>
          <a:prstGeom prst="rect">
            <a:avLst/>
          </a:prstGeom>
        </p:spPr>
      </p:pic>
    </p:spTree>
    <p:extLst>
      <p:ext uri="{BB962C8B-B14F-4D97-AF65-F5344CB8AC3E}">
        <p14:creationId xmlns:p14="http://schemas.microsoft.com/office/powerpoint/2010/main" val="432231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47522" y="1609801"/>
            <a:ext cx="3361690" cy="2526030"/>
          </a:xfrm>
          <a:prstGeom prst="rect">
            <a:avLst/>
          </a:prstGeom>
        </p:spPr>
        <p:txBody>
          <a:bodyPr vert="horz" wrap="square" lIns="0" tIns="12700" rIns="0" bIns="0" rtlCol="0">
            <a:spAutoFit/>
          </a:bodyPr>
          <a:lstStyle/>
          <a:p>
            <a:pPr marL="12700">
              <a:lnSpc>
                <a:spcPct val="100000"/>
              </a:lnSpc>
              <a:spcBef>
                <a:spcPts val="100"/>
              </a:spcBef>
            </a:pPr>
            <a:r>
              <a:rPr sz="2400" dirty="0">
                <a:latin typeface="Arial"/>
                <a:cs typeface="Arial"/>
              </a:rPr>
              <a:t>The</a:t>
            </a:r>
            <a:r>
              <a:rPr sz="2400" spc="-55" dirty="0">
                <a:latin typeface="Arial"/>
                <a:cs typeface="Arial"/>
              </a:rPr>
              <a:t> </a:t>
            </a:r>
            <a:r>
              <a:rPr sz="2400" dirty="0">
                <a:latin typeface="Arial"/>
                <a:cs typeface="Arial"/>
              </a:rPr>
              <a:t>figure</a:t>
            </a:r>
            <a:r>
              <a:rPr sz="2400" spc="-55" dirty="0">
                <a:latin typeface="Arial"/>
                <a:cs typeface="Arial"/>
              </a:rPr>
              <a:t> </a:t>
            </a:r>
            <a:r>
              <a:rPr sz="2400" dirty="0">
                <a:latin typeface="Arial"/>
                <a:cs typeface="Arial"/>
              </a:rPr>
              <a:t>illustrates</a:t>
            </a:r>
            <a:r>
              <a:rPr sz="2400" spc="-40" dirty="0">
                <a:latin typeface="Arial"/>
                <a:cs typeface="Arial"/>
              </a:rPr>
              <a:t> </a:t>
            </a:r>
            <a:r>
              <a:rPr sz="2400" spc="-25" dirty="0">
                <a:latin typeface="Arial"/>
                <a:cs typeface="Arial"/>
              </a:rPr>
              <a:t>the</a:t>
            </a:r>
            <a:endParaRPr sz="2400">
              <a:latin typeface="Arial"/>
              <a:cs typeface="Arial"/>
            </a:endParaRPr>
          </a:p>
          <a:p>
            <a:pPr marL="12700">
              <a:lnSpc>
                <a:spcPct val="100000"/>
              </a:lnSpc>
              <a:spcBef>
                <a:spcPts val="5"/>
              </a:spcBef>
            </a:pPr>
            <a:r>
              <a:rPr sz="2400" dirty="0">
                <a:latin typeface="Arial"/>
                <a:cs typeface="Arial"/>
              </a:rPr>
              <a:t>composition</a:t>
            </a:r>
            <a:r>
              <a:rPr sz="2400" spc="-75" dirty="0">
                <a:latin typeface="Arial"/>
                <a:cs typeface="Arial"/>
              </a:rPr>
              <a:t> </a:t>
            </a:r>
            <a:r>
              <a:rPr sz="2400" dirty="0">
                <a:latin typeface="Arial"/>
                <a:cs typeface="Arial"/>
              </a:rPr>
              <a:t>of</a:t>
            </a:r>
            <a:r>
              <a:rPr sz="2400" spc="-90" dirty="0">
                <a:latin typeface="Arial"/>
                <a:cs typeface="Arial"/>
              </a:rPr>
              <a:t> </a:t>
            </a:r>
            <a:r>
              <a:rPr sz="2400" spc="-25" dirty="0">
                <a:latin typeface="Arial"/>
                <a:cs typeface="Arial"/>
              </a:rPr>
              <a:t>M1…</a:t>
            </a:r>
            <a:endParaRPr sz="2400">
              <a:latin typeface="Arial"/>
              <a:cs typeface="Arial"/>
            </a:endParaRPr>
          </a:p>
          <a:p>
            <a:pPr marL="12700">
              <a:lnSpc>
                <a:spcPct val="100000"/>
              </a:lnSpc>
              <a:spcBef>
                <a:spcPts val="1200"/>
              </a:spcBef>
            </a:pPr>
            <a:r>
              <a:rPr sz="2400" dirty="0">
                <a:latin typeface="Arial"/>
                <a:cs typeface="Arial"/>
              </a:rPr>
              <a:t>and</a:t>
            </a:r>
            <a:r>
              <a:rPr sz="2400" spc="-50" dirty="0">
                <a:latin typeface="Arial"/>
                <a:cs typeface="Arial"/>
              </a:rPr>
              <a:t> </a:t>
            </a:r>
            <a:r>
              <a:rPr sz="2400" spc="-25" dirty="0">
                <a:latin typeface="Arial"/>
                <a:cs typeface="Arial"/>
              </a:rPr>
              <a:t>M2.</a:t>
            </a:r>
            <a:endParaRPr sz="2400">
              <a:latin typeface="Arial"/>
              <a:cs typeface="Arial"/>
            </a:endParaRPr>
          </a:p>
          <a:p>
            <a:pPr marL="12700" marR="5080">
              <a:lnSpc>
                <a:spcPct val="100000"/>
              </a:lnSpc>
              <a:spcBef>
                <a:spcPts val="1200"/>
              </a:spcBef>
            </a:pPr>
            <a:r>
              <a:rPr sz="2400" dirty="0">
                <a:latin typeface="Arial"/>
                <a:cs typeface="Arial"/>
              </a:rPr>
              <a:t>It</a:t>
            </a:r>
            <a:r>
              <a:rPr sz="2400" spc="-60" dirty="0">
                <a:latin typeface="Arial"/>
                <a:cs typeface="Arial"/>
              </a:rPr>
              <a:t> </a:t>
            </a:r>
            <a:r>
              <a:rPr sz="2400" dirty="0">
                <a:latin typeface="Arial"/>
                <a:cs typeface="Arial"/>
              </a:rPr>
              <a:t>also</a:t>
            </a:r>
            <a:r>
              <a:rPr sz="2400" spc="-35" dirty="0">
                <a:latin typeface="Arial"/>
                <a:cs typeface="Arial"/>
              </a:rPr>
              <a:t> </a:t>
            </a:r>
            <a:r>
              <a:rPr sz="2400" dirty="0">
                <a:latin typeface="Arial"/>
                <a:cs typeface="Arial"/>
              </a:rPr>
              <a:t>shows</a:t>
            </a:r>
            <a:r>
              <a:rPr sz="2400" spc="-40" dirty="0">
                <a:latin typeface="Arial"/>
                <a:cs typeface="Arial"/>
              </a:rPr>
              <a:t> </a:t>
            </a:r>
            <a:r>
              <a:rPr sz="2400" dirty="0">
                <a:latin typeface="Arial"/>
                <a:cs typeface="Arial"/>
              </a:rPr>
              <a:t>the</a:t>
            </a:r>
            <a:r>
              <a:rPr sz="2400" spc="-45" dirty="0">
                <a:latin typeface="Arial"/>
                <a:cs typeface="Arial"/>
              </a:rPr>
              <a:t> </a:t>
            </a:r>
            <a:r>
              <a:rPr sz="2400" spc="-10" dirty="0">
                <a:latin typeface="Arial"/>
                <a:cs typeface="Arial"/>
              </a:rPr>
              <a:t>relative </a:t>
            </a:r>
            <a:r>
              <a:rPr sz="2400" dirty="0">
                <a:latin typeface="Arial"/>
                <a:cs typeface="Arial"/>
              </a:rPr>
              <a:t>magnitudes</a:t>
            </a:r>
            <a:r>
              <a:rPr sz="2400" spc="-60" dirty="0">
                <a:latin typeface="Arial"/>
                <a:cs typeface="Arial"/>
              </a:rPr>
              <a:t> </a:t>
            </a:r>
            <a:r>
              <a:rPr sz="2400" dirty="0">
                <a:latin typeface="Arial"/>
                <a:cs typeface="Arial"/>
              </a:rPr>
              <a:t>of</a:t>
            </a:r>
            <a:r>
              <a:rPr sz="2400" spc="-80" dirty="0">
                <a:latin typeface="Arial"/>
                <a:cs typeface="Arial"/>
              </a:rPr>
              <a:t> </a:t>
            </a:r>
            <a:r>
              <a:rPr sz="2400" spc="-25" dirty="0">
                <a:latin typeface="Arial"/>
                <a:cs typeface="Arial"/>
              </a:rPr>
              <a:t>the </a:t>
            </a:r>
            <a:r>
              <a:rPr sz="2400" spc="-10" dirty="0">
                <a:latin typeface="Arial"/>
                <a:cs typeface="Arial"/>
              </a:rPr>
              <a:t>components.</a:t>
            </a:r>
            <a:endParaRPr sz="2400">
              <a:latin typeface="Arial"/>
              <a:cs typeface="Arial"/>
            </a:endParaRPr>
          </a:p>
        </p:txBody>
      </p:sp>
      <p:pic>
        <p:nvPicPr>
          <p:cNvPr id="3" name="object 3"/>
          <p:cNvPicPr/>
          <p:nvPr/>
        </p:nvPicPr>
        <p:blipFill>
          <a:blip r:embed="rId2" cstate="print"/>
          <a:stretch>
            <a:fillRect/>
          </a:stretch>
        </p:blipFill>
        <p:spPr>
          <a:xfrm>
            <a:off x="8641080" y="6480047"/>
            <a:ext cx="222503" cy="222503"/>
          </a:xfrm>
          <a:prstGeom prst="rect">
            <a:avLst/>
          </a:prstGeom>
        </p:spPr>
      </p:pic>
      <p:sp>
        <p:nvSpPr>
          <p:cNvPr id="4" name="object 4"/>
          <p:cNvSpPr txBox="1">
            <a:spLocks noGrp="1"/>
          </p:cNvSpPr>
          <p:nvPr>
            <p:ph type="title"/>
          </p:nvPr>
        </p:nvSpPr>
        <p:spPr>
          <a:prstGeom prst="rect">
            <a:avLst/>
          </a:prstGeom>
        </p:spPr>
        <p:txBody>
          <a:bodyPr vert="horz" wrap="square" lIns="0" tIns="13335" rIns="0" bIns="0" rtlCol="0">
            <a:spAutoFit/>
          </a:bodyPr>
          <a:lstStyle/>
          <a:p>
            <a:pPr marL="480059">
              <a:lnSpc>
                <a:spcPct val="100000"/>
              </a:lnSpc>
              <a:spcBef>
                <a:spcPts val="105"/>
              </a:spcBef>
            </a:pPr>
            <a:r>
              <a:rPr dirty="0"/>
              <a:t>What</a:t>
            </a:r>
            <a:r>
              <a:rPr spc="-30" dirty="0"/>
              <a:t> </a:t>
            </a:r>
            <a:r>
              <a:rPr dirty="0"/>
              <a:t>is</a:t>
            </a:r>
            <a:r>
              <a:rPr spc="-25" dirty="0"/>
              <a:t> </a:t>
            </a:r>
            <a:r>
              <a:rPr spc="-10" dirty="0"/>
              <a:t>Money?</a:t>
            </a:r>
          </a:p>
        </p:txBody>
      </p:sp>
      <p:pic>
        <p:nvPicPr>
          <p:cNvPr id="5" name="object 5"/>
          <p:cNvPicPr/>
          <p:nvPr/>
        </p:nvPicPr>
        <p:blipFill>
          <a:blip r:embed="rId3" cstate="print"/>
          <a:stretch>
            <a:fillRect/>
          </a:stretch>
        </p:blipFill>
        <p:spPr>
          <a:xfrm>
            <a:off x="4500371" y="1440180"/>
            <a:ext cx="4056887" cy="4856988"/>
          </a:xfrm>
          <a:prstGeom prst="rect">
            <a:avLst/>
          </a:prstGeom>
        </p:spPr>
      </p:pic>
      <p:sp>
        <p:nvSpPr>
          <p:cNvPr id="6" name="object 6"/>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403709" y="548680"/>
            <a:ext cx="8229600" cy="6384440"/>
          </a:xfrm>
          <a:prstGeom prst="rect">
            <a:avLst/>
          </a:prstGeom>
        </p:spPr>
        <p:txBody>
          <a:bodyPr vert="horz" wrap="square" lIns="0" tIns="165735" rIns="0" bIns="0" rtlCol="0">
            <a:spAutoFit/>
          </a:bodyPr>
          <a:lstStyle/>
          <a:p>
            <a:pPr marL="12700">
              <a:lnSpc>
                <a:spcPct val="100000"/>
              </a:lnSpc>
              <a:spcBef>
                <a:spcPts val="1305"/>
              </a:spcBef>
            </a:pPr>
            <a:r>
              <a:rPr sz="2600" dirty="0">
                <a:solidFill>
                  <a:srgbClr val="C00000"/>
                </a:solidFill>
              </a:rPr>
              <a:t>Are</a:t>
            </a:r>
            <a:r>
              <a:rPr sz="2600" spc="-40" dirty="0">
                <a:solidFill>
                  <a:srgbClr val="C00000"/>
                </a:solidFill>
              </a:rPr>
              <a:t> </a:t>
            </a:r>
            <a:r>
              <a:rPr sz="2600" dirty="0">
                <a:solidFill>
                  <a:srgbClr val="C00000"/>
                </a:solidFill>
              </a:rPr>
              <a:t>M1</a:t>
            </a:r>
            <a:r>
              <a:rPr sz="2600" spc="-50" dirty="0">
                <a:solidFill>
                  <a:srgbClr val="C00000"/>
                </a:solidFill>
              </a:rPr>
              <a:t> </a:t>
            </a:r>
            <a:r>
              <a:rPr sz="2600" dirty="0">
                <a:solidFill>
                  <a:srgbClr val="C00000"/>
                </a:solidFill>
              </a:rPr>
              <a:t>and</a:t>
            </a:r>
            <a:r>
              <a:rPr sz="2600" spc="-50" dirty="0">
                <a:solidFill>
                  <a:srgbClr val="C00000"/>
                </a:solidFill>
              </a:rPr>
              <a:t> </a:t>
            </a:r>
            <a:r>
              <a:rPr sz="2600" dirty="0">
                <a:solidFill>
                  <a:srgbClr val="C00000"/>
                </a:solidFill>
              </a:rPr>
              <a:t>M2</a:t>
            </a:r>
            <a:r>
              <a:rPr sz="2600" spc="-40" dirty="0">
                <a:solidFill>
                  <a:srgbClr val="C00000"/>
                </a:solidFill>
              </a:rPr>
              <a:t> </a:t>
            </a:r>
            <a:r>
              <a:rPr sz="2600" dirty="0">
                <a:solidFill>
                  <a:srgbClr val="C00000"/>
                </a:solidFill>
              </a:rPr>
              <a:t>Really</a:t>
            </a:r>
            <a:r>
              <a:rPr sz="2600" spc="-55" dirty="0">
                <a:solidFill>
                  <a:srgbClr val="C00000"/>
                </a:solidFill>
              </a:rPr>
              <a:t> </a:t>
            </a:r>
            <a:r>
              <a:rPr sz="2600" spc="-10" dirty="0">
                <a:solidFill>
                  <a:srgbClr val="C00000"/>
                </a:solidFill>
              </a:rPr>
              <a:t>Money?</a:t>
            </a:r>
          </a:p>
          <a:p>
            <a:pPr marL="12700">
              <a:lnSpc>
                <a:spcPct val="100000"/>
              </a:lnSpc>
              <a:spcBef>
                <a:spcPts val="1200"/>
              </a:spcBef>
            </a:pPr>
            <a:r>
              <a:rPr sz="2600" b="0" dirty="0">
                <a:solidFill>
                  <a:srgbClr val="000000"/>
                </a:solidFill>
                <a:latin typeface="Arial"/>
                <a:cs typeface="Arial"/>
              </a:rPr>
              <a:t>All</a:t>
            </a:r>
            <a:r>
              <a:rPr sz="2600" b="0" spc="-30" dirty="0">
                <a:solidFill>
                  <a:srgbClr val="000000"/>
                </a:solidFill>
                <a:latin typeface="Arial"/>
                <a:cs typeface="Arial"/>
              </a:rPr>
              <a:t> </a:t>
            </a:r>
            <a:r>
              <a:rPr sz="2600" b="0" dirty="0">
                <a:solidFill>
                  <a:srgbClr val="000000"/>
                </a:solidFill>
                <a:latin typeface="Arial"/>
                <a:cs typeface="Arial"/>
              </a:rPr>
              <a:t>the</a:t>
            </a:r>
            <a:r>
              <a:rPr sz="2600" b="0" spc="-35" dirty="0">
                <a:solidFill>
                  <a:srgbClr val="000000"/>
                </a:solidFill>
                <a:latin typeface="Arial"/>
                <a:cs typeface="Arial"/>
              </a:rPr>
              <a:t> </a:t>
            </a:r>
            <a:r>
              <a:rPr sz="2600" b="0" dirty="0">
                <a:solidFill>
                  <a:srgbClr val="000000"/>
                </a:solidFill>
                <a:latin typeface="Arial"/>
                <a:cs typeface="Arial"/>
              </a:rPr>
              <a:t>items</a:t>
            </a:r>
            <a:r>
              <a:rPr sz="2600" b="0" spc="-35" dirty="0">
                <a:solidFill>
                  <a:srgbClr val="000000"/>
                </a:solidFill>
                <a:latin typeface="Arial"/>
                <a:cs typeface="Arial"/>
              </a:rPr>
              <a:t> </a:t>
            </a:r>
            <a:r>
              <a:rPr sz="2600" b="0" dirty="0">
                <a:solidFill>
                  <a:srgbClr val="000000"/>
                </a:solidFill>
                <a:latin typeface="Arial"/>
                <a:cs typeface="Arial"/>
              </a:rPr>
              <a:t>in</a:t>
            </a:r>
            <a:r>
              <a:rPr sz="2600" b="0" spc="-35" dirty="0">
                <a:solidFill>
                  <a:srgbClr val="000000"/>
                </a:solidFill>
                <a:latin typeface="Arial"/>
                <a:cs typeface="Arial"/>
              </a:rPr>
              <a:t> </a:t>
            </a:r>
            <a:r>
              <a:rPr sz="2600" b="0" dirty="0">
                <a:solidFill>
                  <a:srgbClr val="000000"/>
                </a:solidFill>
                <a:latin typeface="Arial"/>
                <a:cs typeface="Arial"/>
              </a:rPr>
              <a:t>M1</a:t>
            </a:r>
            <a:r>
              <a:rPr sz="2600" b="0" spc="-30" dirty="0">
                <a:solidFill>
                  <a:srgbClr val="000000"/>
                </a:solidFill>
                <a:latin typeface="Arial"/>
                <a:cs typeface="Arial"/>
              </a:rPr>
              <a:t> </a:t>
            </a:r>
            <a:r>
              <a:rPr sz="2600" b="0" dirty="0">
                <a:solidFill>
                  <a:srgbClr val="000000"/>
                </a:solidFill>
                <a:latin typeface="Arial"/>
                <a:cs typeface="Arial"/>
              </a:rPr>
              <a:t>are</a:t>
            </a:r>
            <a:r>
              <a:rPr sz="2600" b="0" spc="-35" dirty="0">
                <a:solidFill>
                  <a:srgbClr val="000000"/>
                </a:solidFill>
                <a:latin typeface="Arial"/>
                <a:cs typeface="Arial"/>
              </a:rPr>
              <a:t> </a:t>
            </a:r>
            <a:r>
              <a:rPr sz="2600" b="0" dirty="0">
                <a:solidFill>
                  <a:srgbClr val="000000"/>
                </a:solidFill>
                <a:latin typeface="Arial"/>
                <a:cs typeface="Arial"/>
              </a:rPr>
              <a:t>means</a:t>
            </a:r>
            <a:r>
              <a:rPr sz="2600" b="0" spc="-30" dirty="0">
                <a:solidFill>
                  <a:srgbClr val="000000"/>
                </a:solidFill>
                <a:latin typeface="Arial"/>
                <a:cs typeface="Arial"/>
              </a:rPr>
              <a:t> </a:t>
            </a:r>
            <a:r>
              <a:rPr sz="2600" b="0" dirty="0">
                <a:solidFill>
                  <a:srgbClr val="000000"/>
                </a:solidFill>
                <a:latin typeface="Arial"/>
                <a:cs typeface="Arial"/>
              </a:rPr>
              <a:t>of</a:t>
            </a:r>
            <a:r>
              <a:rPr sz="2600" b="0" spc="-35" dirty="0">
                <a:solidFill>
                  <a:srgbClr val="000000"/>
                </a:solidFill>
                <a:latin typeface="Arial"/>
                <a:cs typeface="Arial"/>
              </a:rPr>
              <a:t> </a:t>
            </a:r>
            <a:r>
              <a:rPr sz="2600" b="0" dirty="0">
                <a:solidFill>
                  <a:srgbClr val="000000"/>
                </a:solidFill>
                <a:latin typeface="Arial"/>
                <a:cs typeface="Arial"/>
              </a:rPr>
              <a:t>payment,</a:t>
            </a:r>
            <a:r>
              <a:rPr sz="2600" b="0" spc="-25" dirty="0">
                <a:solidFill>
                  <a:srgbClr val="000000"/>
                </a:solidFill>
                <a:latin typeface="Arial"/>
                <a:cs typeface="Arial"/>
              </a:rPr>
              <a:t> </a:t>
            </a:r>
            <a:r>
              <a:rPr sz="2600" b="0" dirty="0">
                <a:solidFill>
                  <a:srgbClr val="000000"/>
                </a:solidFill>
                <a:latin typeface="Arial"/>
                <a:cs typeface="Arial"/>
              </a:rPr>
              <a:t>so</a:t>
            </a:r>
            <a:r>
              <a:rPr sz="2600" b="0" spc="-45" dirty="0">
                <a:solidFill>
                  <a:srgbClr val="000000"/>
                </a:solidFill>
                <a:latin typeface="Arial"/>
                <a:cs typeface="Arial"/>
              </a:rPr>
              <a:t> </a:t>
            </a:r>
            <a:r>
              <a:rPr sz="2600" b="0" dirty="0">
                <a:solidFill>
                  <a:srgbClr val="000000"/>
                </a:solidFill>
                <a:latin typeface="Arial"/>
                <a:cs typeface="Arial"/>
              </a:rPr>
              <a:t>they</a:t>
            </a:r>
            <a:r>
              <a:rPr sz="2600" b="0" spc="-35" dirty="0">
                <a:solidFill>
                  <a:srgbClr val="000000"/>
                </a:solidFill>
                <a:latin typeface="Arial"/>
                <a:cs typeface="Arial"/>
              </a:rPr>
              <a:t> </a:t>
            </a:r>
            <a:r>
              <a:rPr sz="2600" b="0" spc="-25" dirty="0">
                <a:solidFill>
                  <a:srgbClr val="000000"/>
                </a:solidFill>
                <a:latin typeface="Arial"/>
                <a:cs typeface="Arial"/>
              </a:rPr>
              <a:t>are</a:t>
            </a:r>
            <a:r>
              <a:rPr lang="en-US" sz="2600" b="0" spc="-25" dirty="0">
                <a:solidFill>
                  <a:srgbClr val="000000"/>
                </a:solidFill>
                <a:latin typeface="Arial"/>
                <a:cs typeface="Arial"/>
              </a:rPr>
              <a:t> </a:t>
            </a:r>
            <a:r>
              <a:rPr sz="2600" b="0" i="1" spc="-10" dirty="0">
                <a:solidFill>
                  <a:srgbClr val="000000"/>
                </a:solidFill>
                <a:latin typeface="Arial"/>
                <a:cs typeface="Arial"/>
              </a:rPr>
              <a:t>money</a:t>
            </a:r>
            <a:r>
              <a:rPr sz="2600" b="0" spc="-10" dirty="0">
                <a:solidFill>
                  <a:srgbClr val="000000"/>
                </a:solidFill>
                <a:latin typeface="Arial"/>
                <a:cs typeface="Arial"/>
              </a:rPr>
              <a:t>.</a:t>
            </a:r>
          </a:p>
          <a:p>
            <a:pPr marL="12700" marR="5080">
              <a:lnSpc>
                <a:spcPct val="100000"/>
              </a:lnSpc>
              <a:spcBef>
                <a:spcPts val="1205"/>
              </a:spcBef>
            </a:pPr>
            <a:r>
              <a:rPr sz="2600" b="0" dirty="0">
                <a:solidFill>
                  <a:srgbClr val="000000"/>
                </a:solidFill>
                <a:latin typeface="Arial"/>
                <a:cs typeface="Arial"/>
              </a:rPr>
              <a:t>Some</a:t>
            </a:r>
            <a:r>
              <a:rPr sz="2600" b="0" spc="-55" dirty="0">
                <a:solidFill>
                  <a:srgbClr val="000000"/>
                </a:solidFill>
                <a:latin typeface="Arial"/>
                <a:cs typeface="Arial"/>
              </a:rPr>
              <a:t> </a:t>
            </a:r>
            <a:r>
              <a:rPr sz="2600" b="0" dirty="0">
                <a:solidFill>
                  <a:srgbClr val="000000"/>
                </a:solidFill>
                <a:latin typeface="Arial"/>
                <a:cs typeface="Arial"/>
              </a:rPr>
              <a:t>saving</a:t>
            </a:r>
            <a:r>
              <a:rPr sz="2600" b="0" spc="-40" dirty="0">
                <a:solidFill>
                  <a:srgbClr val="000000"/>
                </a:solidFill>
                <a:latin typeface="Arial"/>
                <a:cs typeface="Arial"/>
              </a:rPr>
              <a:t> </a:t>
            </a:r>
            <a:r>
              <a:rPr sz="2600" b="0" dirty="0">
                <a:solidFill>
                  <a:srgbClr val="000000"/>
                </a:solidFill>
                <a:latin typeface="Arial"/>
                <a:cs typeface="Arial"/>
              </a:rPr>
              <a:t>deposits</a:t>
            </a:r>
            <a:r>
              <a:rPr sz="2600" b="0" spc="-45" dirty="0">
                <a:solidFill>
                  <a:srgbClr val="000000"/>
                </a:solidFill>
                <a:latin typeface="Arial"/>
                <a:cs typeface="Arial"/>
              </a:rPr>
              <a:t> </a:t>
            </a:r>
            <a:r>
              <a:rPr sz="2600" b="0" dirty="0">
                <a:solidFill>
                  <a:srgbClr val="000000"/>
                </a:solidFill>
                <a:latin typeface="Arial"/>
                <a:cs typeface="Arial"/>
              </a:rPr>
              <a:t>in</a:t>
            </a:r>
            <a:r>
              <a:rPr sz="2600" b="0" spc="-65" dirty="0">
                <a:solidFill>
                  <a:srgbClr val="000000"/>
                </a:solidFill>
                <a:latin typeface="Arial"/>
                <a:cs typeface="Arial"/>
              </a:rPr>
              <a:t> </a:t>
            </a:r>
            <a:r>
              <a:rPr sz="2600" b="0" dirty="0">
                <a:solidFill>
                  <a:srgbClr val="000000"/>
                </a:solidFill>
                <a:latin typeface="Arial"/>
                <a:cs typeface="Arial"/>
              </a:rPr>
              <a:t>M2</a:t>
            </a:r>
            <a:r>
              <a:rPr sz="2600" b="0" spc="-60" dirty="0">
                <a:solidFill>
                  <a:srgbClr val="000000"/>
                </a:solidFill>
                <a:latin typeface="Arial"/>
                <a:cs typeface="Arial"/>
              </a:rPr>
              <a:t> </a:t>
            </a:r>
            <a:r>
              <a:rPr sz="2600" b="0" dirty="0">
                <a:solidFill>
                  <a:srgbClr val="000000"/>
                </a:solidFill>
                <a:latin typeface="Arial"/>
                <a:cs typeface="Arial"/>
              </a:rPr>
              <a:t>are</a:t>
            </a:r>
            <a:r>
              <a:rPr sz="2600" b="0" spc="-55" dirty="0">
                <a:solidFill>
                  <a:srgbClr val="000000"/>
                </a:solidFill>
                <a:latin typeface="Arial"/>
                <a:cs typeface="Arial"/>
              </a:rPr>
              <a:t> </a:t>
            </a:r>
            <a:r>
              <a:rPr sz="2600" b="0" dirty="0">
                <a:solidFill>
                  <a:srgbClr val="000000"/>
                </a:solidFill>
                <a:latin typeface="Arial"/>
                <a:cs typeface="Arial"/>
              </a:rPr>
              <a:t>not</a:t>
            </a:r>
            <a:r>
              <a:rPr sz="2600" b="0" spc="-55" dirty="0">
                <a:solidFill>
                  <a:srgbClr val="000000"/>
                </a:solidFill>
                <a:latin typeface="Arial"/>
                <a:cs typeface="Arial"/>
              </a:rPr>
              <a:t> </a:t>
            </a:r>
            <a:r>
              <a:rPr sz="2600" b="0" dirty="0">
                <a:solidFill>
                  <a:srgbClr val="000000"/>
                </a:solidFill>
                <a:latin typeface="Arial"/>
                <a:cs typeface="Arial"/>
              </a:rPr>
              <a:t>means</a:t>
            </a:r>
            <a:r>
              <a:rPr sz="2600" b="0" spc="-45" dirty="0">
                <a:solidFill>
                  <a:srgbClr val="000000"/>
                </a:solidFill>
                <a:latin typeface="Arial"/>
                <a:cs typeface="Arial"/>
              </a:rPr>
              <a:t> </a:t>
            </a:r>
            <a:r>
              <a:rPr sz="2600" b="0" dirty="0">
                <a:solidFill>
                  <a:srgbClr val="000000"/>
                </a:solidFill>
                <a:latin typeface="Arial"/>
                <a:cs typeface="Arial"/>
              </a:rPr>
              <a:t>of</a:t>
            </a:r>
            <a:r>
              <a:rPr sz="2600" b="0" spc="-55" dirty="0">
                <a:solidFill>
                  <a:srgbClr val="000000"/>
                </a:solidFill>
                <a:latin typeface="Arial"/>
                <a:cs typeface="Arial"/>
              </a:rPr>
              <a:t> </a:t>
            </a:r>
            <a:r>
              <a:rPr sz="2600" b="0" spc="-10" dirty="0">
                <a:solidFill>
                  <a:srgbClr val="000000"/>
                </a:solidFill>
                <a:latin typeface="Arial"/>
                <a:cs typeface="Arial"/>
              </a:rPr>
              <a:t>payments— </a:t>
            </a:r>
            <a:r>
              <a:rPr sz="2600" b="0" dirty="0">
                <a:solidFill>
                  <a:srgbClr val="000000"/>
                </a:solidFill>
                <a:latin typeface="Arial"/>
                <a:cs typeface="Arial"/>
              </a:rPr>
              <a:t>they</a:t>
            </a:r>
            <a:r>
              <a:rPr sz="2600" b="0" spc="-70" dirty="0">
                <a:solidFill>
                  <a:srgbClr val="000000"/>
                </a:solidFill>
                <a:latin typeface="Arial"/>
                <a:cs typeface="Arial"/>
              </a:rPr>
              <a:t> </a:t>
            </a:r>
            <a:r>
              <a:rPr sz="2600" b="0" dirty="0">
                <a:solidFill>
                  <a:srgbClr val="000000"/>
                </a:solidFill>
                <a:latin typeface="Arial"/>
                <a:cs typeface="Arial"/>
              </a:rPr>
              <a:t>are</a:t>
            </a:r>
            <a:r>
              <a:rPr sz="2600" b="0" spc="-70" dirty="0">
                <a:solidFill>
                  <a:srgbClr val="000000"/>
                </a:solidFill>
                <a:latin typeface="Arial"/>
                <a:cs typeface="Arial"/>
              </a:rPr>
              <a:t> </a:t>
            </a:r>
            <a:r>
              <a:rPr sz="2600" b="0" dirty="0">
                <a:solidFill>
                  <a:srgbClr val="000000"/>
                </a:solidFill>
                <a:latin typeface="Arial"/>
                <a:cs typeface="Arial"/>
              </a:rPr>
              <a:t>called</a:t>
            </a:r>
            <a:r>
              <a:rPr sz="2600" b="0" spc="-50" dirty="0">
                <a:solidFill>
                  <a:srgbClr val="000000"/>
                </a:solidFill>
                <a:latin typeface="Arial"/>
                <a:cs typeface="Arial"/>
              </a:rPr>
              <a:t> </a:t>
            </a:r>
            <a:r>
              <a:rPr sz="2600" b="0" dirty="0">
                <a:solidFill>
                  <a:srgbClr val="000000"/>
                </a:solidFill>
                <a:latin typeface="Arial"/>
                <a:cs typeface="Arial"/>
              </a:rPr>
              <a:t>liquid</a:t>
            </a:r>
            <a:r>
              <a:rPr sz="2600" b="0" spc="-35" dirty="0">
                <a:solidFill>
                  <a:srgbClr val="000000"/>
                </a:solidFill>
                <a:latin typeface="Arial"/>
                <a:cs typeface="Arial"/>
              </a:rPr>
              <a:t> </a:t>
            </a:r>
            <a:r>
              <a:rPr sz="2600" b="0" spc="-10" dirty="0">
                <a:solidFill>
                  <a:srgbClr val="000000"/>
                </a:solidFill>
                <a:latin typeface="Arial"/>
                <a:cs typeface="Arial"/>
              </a:rPr>
              <a:t>assets.</a:t>
            </a:r>
          </a:p>
          <a:p>
            <a:pPr marL="12700">
              <a:lnSpc>
                <a:spcPct val="100000"/>
              </a:lnSpc>
              <a:spcBef>
                <a:spcPts val="1200"/>
              </a:spcBef>
            </a:pPr>
            <a:r>
              <a:rPr sz="2600" b="0" i="1" dirty="0">
                <a:solidFill>
                  <a:srgbClr val="000000"/>
                </a:solidFill>
                <a:latin typeface="Arial"/>
                <a:cs typeface="Arial"/>
              </a:rPr>
              <a:t>Liquidity</a:t>
            </a:r>
            <a:r>
              <a:rPr sz="2600" b="0" i="1" spc="-35" dirty="0">
                <a:solidFill>
                  <a:srgbClr val="000000"/>
                </a:solidFill>
                <a:latin typeface="Arial"/>
                <a:cs typeface="Arial"/>
              </a:rPr>
              <a:t> </a:t>
            </a:r>
            <a:r>
              <a:rPr sz="2600" b="0" dirty="0">
                <a:solidFill>
                  <a:srgbClr val="000000"/>
                </a:solidFill>
                <a:latin typeface="Arial"/>
                <a:cs typeface="Arial"/>
              </a:rPr>
              <a:t>is</a:t>
            </a:r>
            <a:r>
              <a:rPr sz="2600" b="0" spc="-60" dirty="0">
                <a:solidFill>
                  <a:srgbClr val="000000"/>
                </a:solidFill>
                <a:latin typeface="Arial"/>
                <a:cs typeface="Arial"/>
              </a:rPr>
              <a:t> </a:t>
            </a:r>
            <a:r>
              <a:rPr sz="2600" b="0" dirty="0">
                <a:solidFill>
                  <a:srgbClr val="000000"/>
                </a:solidFill>
                <a:latin typeface="Arial"/>
                <a:cs typeface="Arial"/>
              </a:rPr>
              <a:t>the</a:t>
            </a:r>
            <a:r>
              <a:rPr sz="2600" b="0" spc="-80" dirty="0">
                <a:solidFill>
                  <a:srgbClr val="000000"/>
                </a:solidFill>
                <a:latin typeface="Arial"/>
                <a:cs typeface="Arial"/>
              </a:rPr>
              <a:t> </a:t>
            </a:r>
            <a:r>
              <a:rPr sz="2600" b="0" dirty="0">
                <a:solidFill>
                  <a:srgbClr val="000000"/>
                </a:solidFill>
                <a:latin typeface="Arial"/>
                <a:cs typeface="Arial"/>
              </a:rPr>
              <a:t>property</a:t>
            </a:r>
            <a:r>
              <a:rPr sz="2600" b="0" spc="-60" dirty="0">
                <a:solidFill>
                  <a:srgbClr val="000000"/>
                </a:solidFill>
                <a:latin typeface="Arial"/>
                <a:cs typeface="Arial"/>
              </a:rPr>
              <a:t> </a:t>
            </a:r>
            <a:r>
              <a:rPr sz="2600" b="0" dirty="0">
                <a:solidFill>
                  <a:srgbClr val="000000"/>
                </a:solidFill>
                <a:latin typeface="Arial"/>
                <a:cs typeface="Arial"/>
              </a:rPr>
              <a:t>of</a:t>
            </a:r>
            <a:r>
              <a:rPr sz="2600" b="0" spc="-80" dirty="0">
                <a:solidFill>
                  <a:srgbClr val="000000"/>
                </a:solidFill>
                <a:latin typeface="Arial"/>
                <a:cs typeface="Arial"/>
              </a:rPr>
              <a:t> </a:t>
            </a:r>
            <a:r>
              <a:rPr sz="2600" b="0" dirty="0">
                <a:solidFill>
                  <a:srgbClr val="000000"/>
                </a:solidFill>
                <a:latin typeface="Arial"/>
                <a:cs typeface="Arial"/>
              </a:rPr>
              <a:t>being</a:t>
            </a:r>
            <a:r>
              <a:rPr sz="2600" b="0" spc="-45" dirty="0">
                <a:solidFill>
                  <a:srgbClr val="000000"/>
                </a:solidFill>
                <a:latin typeface="Arial"/>
                <a:cs typeface="Arial"/>
              </a:rPr>
              <a:t> </a:t>
            </a:r>
            <a:r>
              <a:rPr sz="2600" b="0" dirty="0">
                <a:solidFill>
                  <a:srgbClr val="000000"/>
                </a:solidFill>
                <a:latin typeface="Arial"/>
                <a:cs typeface="Arial"/>
              </a:rPr>
              <a:t>instantly</a:t>
            </a:r>
            <a:r>
              <a:rPr sz="2600" b="0" spc="-60" dirty="0">
                <a:solidFill>
                  <a:srgbClr val="000000"/>
                </a:solidFill>
                <a:latin typeface="Arial"/>
                <a:cs typeface="Arial"/>
              </a:rPr>
              <a:t> </a:t>
            </a:r>
            <a:r>
              <a:rPr sz="2600" b="0" dirty="0">
                <a:solidFill>
                  <a:srgbClr val="000000"/>
                </a:solidFill>
                <a:latin typeface="Arial"/>
                <a:cs typeface="Arial"/>
              </a:rPr>
              <a:t>convertible</a:t>
            </a:r>
            <a:r>
              <a:rPr sz="2600" b="0" spc="-45" dirty="0">
                <a:solidFill>
                  <a:srgbClr val="000000"/>
                </a:solidFill>
                <a:latin typeface="Arial"/>
                <a:cs typeface="Arial"/>
              </a:rPr>
              <a:t> </a:t>
            </a:r>
            <a:r>
              <a:rPr sz="2600" b="0" dirty="0">
                <a:solidFill>
                  <a:srgbClr val="000000"/>
                </a:solidFill>
                <a:latin typeface="Arial"/>
                <a:cs typeface="Arial"/>
              </a:rPr>
              <a:t>into</a:t>
            </a:r>
            <a:r>
              <a:rPr sz="2600" b="0" spc="-65" dirty="0">
                <a:solidFill>
                  <a:srgbClr val="000000"/>
                </a:solidFill>
                <a:latin typeface="Arial"/>
                <a:cs typeface="Arial"/>
              </a:rPr>
              <a:t> </a:t>
            </a:r>
            <a:r>
              <a:rPr sz="2600" b="0" spc="-50" dirty="0">
                <a:solidFill>
                  <a:srgbClr val="000000"/>
                </a:solidFill>
                <a:latin typeface="Arial"/>
                <a:cs typeface="Arial"/>
              </a:rPr>
              <a:t>a</a:t>
            </a:r>
            <a:r>
              <a:rPr lang="en-US" sz="2600" b="0" spc="-50" dirty="0">
                <a:solidFill>
                  <a:srgbClr val="000000"/>
                </a:solidFill>
                <a:latin typeface="Arial"/>
                <a:cs typeface="Arial"/>
              </a:rPr>
              <a:t> </a:t>
            </a:r>
            <a:r>
              <a:rPr sz="2600" b="0" dirty="0">
                <a:solidFill>
                  <a:srgbClr val="000000"/>
                </a:solidFill>
                <a:latin typeface="Arial"/>
                <a:cs typeface="Arial"/>
              </a:rPr>
              <a:t>means</a:t>
            </a:r>
            <a:r>
              <a:rPr sz="2600" b="0" spc="-45" dirty="0">
                <a:solidFill>
                  <a:srgbClr val="000000"/>
                </a:solidFill>
                <a:latin typeface="Arial"/>
                <a:cs typeface="Arial"/>
              </a:rPr>
              <a:t> </a:t>
            </a:r>
            <a:r>
              <a:rPr sz="2600" b="0" dirty="0">
                <a:solidFill>
                  <a:srgbClr val="000000"/>
                </a:solidFill>
                <a:latin typeface="Arial"/>
                <a:cs typeface="Arial"/>
              </a:rPr>
              <a:t>of</a:t>
            </a:r>
            <a:r>
              <a:rPr sz="2600" b="0" spc="-45" dirty="0">
                <a:solidFill>
                  <a:srgbClr val="000000"/>
                </a:solidFill>
                <a:latin typeface="Arial"/>
                <a:cs typeface="Arial"/>
              </a:rPr>
              <a:t> </a:t>
            </a:r>
            <a:r>
              <a:rPr sz="2600" b="0" dirty="0">
                <a:solidFill>
                  <a:srgbClr val="000000"/>
                </a:solidFill>
                <a:latin typeface="Arial"/>
                <a:cs typeface="Arial"/>
              </a:rPr>
              <a:t>payment</a:t>
            </a:r>
            <a:r>
              <a:rPr sz="2600" b="0" spc="-45" dirty="0">
                <a:solidFill>
                  <a:srgbClr val="000000"/>
                </a:solidFill>
                <a:latin typeface="Arial"/>
                <a:cs typeface="Arial"/>
              </a:rPr>
              <a:t> </a:t>
            </a:r>
            <a:r>
              <a:rPr sz="2600" b="0" dirty="0">
                <a:solidFill>
                  <a:srgbClr val="000000"/>
                </a:solidFill>
                <a:latin typeface="Arial"/>
                <a:cs typeface="Arial"/>
              </a:rPr>
              <a:t>with</a:t>
            </a:r>
            <a:r>
              <a:rPr sz="2600" b="0" spc="-40" dirty="0">
                <a:solidFill>
                  <a:srgbClr val="000000"/>
                </a:solidFill>
                <a:latin typeface="Arial"/>
                <a:cs typeface="Arial"/>
              </a:rPr>
              <a:t> </a:t>
            </a:r>
            <a:r>
              <a:rPr sz="2600" b="0" dirty="0">
                <a:solidFill>
                  <a:srgbClr val="000000"/>
                </a:solidFill>
                <a:latin typeface="Arial"/>
                <a:cs typeface="Arial"/>
              </a:rPr>
              <a:t>little</a:t>
            </a:r>
            <a:r>
              <a:rPr sz="2600" b="0" spc="-55" dirty="0">
                <a:solidFill>
                  <a:srgbClr val="000000"/>
                </a:solidFill>
                <a:latin typeface="Arial"/>
                <a:cs typeface="Arial"/>
              </a:rPr>
              <a:t> </a:t>
            </a:r>
            <a:r>
              <a:rPr sz="2600" b="0" dirty="0">
                <a:solidFill>
                  <a:srgbClr val="000000"/>
                </a:solidFill>
                <a:latin typeface="Arial"/>
                <a:cs typeface="Arial"/>
              </a:rPr>
              <a:t>loss</a:t>
            </a:r>
            <a:r>
              <a:rPr sz="2600" b="0" spc="-40" dirty="0">
                <a:solidFill>
                  <a:srgbClr val="000000"/>
                </a:solidFill>
                <a:latin typeface="Arial"/>
                <a:cs typeface="Arial"/>
              </a:rPr>
              <a:t> </a:t>
            </a:r>
            <a:r>
              <a:rPr sz="2600" b="0" dirty="0">
                <a:solidFill>
                  <a:srgbClr val="000000"/>
                </a:solidFill>
                <a:latin typeface="Arial"/>
                <a:cs typeface="Arial"/>
              </a:rPr>
              <a:t>of</a:t>
            </a:r>
            <a:r>
              <a:rPr sz="2600" b="0" spc="-45" dirty="0">
                <a:solidFill>
                  <a:srgbClr val="000000"/>
                </a:solidFill>
                <a:latin typeface="Arial"/>
                <a:cs typeface="Arial"/>
              </a:rPr>
              <a:t> </a:t>
            </a:r>
            <a:r>
              <a:rPr sz="2600" b="0" spc="-10" dirty="0">
                <a:solidFill>
                  <a:srgbClr val="000000"/>
                </a:solidFill>
                <a:latin typeface="Arial"/>
                <a:cs typeface="Arial"/>
              </a:rPr>
              <a:t>value.</a:t>
            </a:r>
            <a:endParaRPr lang="en-US" sz="2600" b="0" spc="-10" dirty="0">
              <a:solidFill>
                <a:srgbClr val="000000"/>
              </a:solidFill>
              <a:latin typeface="Arial"/>
              <a:cs typeface="Arial"/>
            </a:endParaRPr>
          </a:p>
          <a:p>
            <a:pPr marL="12700">
              <a:spcBef>
                <a:spcPts val="1200"/>
              </a:spcBef>
            </a:pPr>
            <a:r>
              <a:rPr lang="en-CA" altLang="en-US" sz="2600" dirty="0"/>
              <a:t>Deposits are money, but checks are not—a check is an instruction to a bank to transfer money.</a:t>
            </a:r>
            <a:endParaRPr lang="en-US" sz="2600" b="0" spc="-10" dirty="0">
              <a:solidFill>
                <a:srgbClr val="000000"/>
              </a:solidFill>
              <a:latin typeface="Arial"/>
              <a:cs typeface="Arial"/>
            </a:endParaRPr>
          </a:p>
          <a:p>
            <a:pPr marL="12700">
              <a:spcBef>
                <a:spcPts val="1200"/>
              </a:spcBef>
            </a:pPr>
            <a:r>
              <a:rPr lang="en-US" sz="2600" dirty="0"/>
              <a:t>Other savings deposits, time deposits, and money market funds are </a:t>
            </a:r>
            <a:r>
              <a:rPr lang="en-US" sz="2600" i="1" dirty="0"/>
              <a:t>not</a:t>
            </a:r>
            <a:r>
              <a:rPr lang="en-US" sz="2600" dirty="0"/>
              <a:t> instantly convertible and are </a:t>
            </a:r>
            <a:r>
              <a:rPr lang="en-US" sz="2600" i="1" dirty="0"/>
              <a:t>not</a:t>
            </a:r>
            <a:r>
              <a:rPr lang="en-US" sz="2600" dirty="0"/>
              <a:t> a means of payment.</a:t>
            </a:r>
          </a:p>
          <a:p>
            <a:pPr marL="12700">
              <a:lnSpc>
                <a:spcPct val="100000"/>
              </a:lnSpc>
              <a:spcBef>
                <a:spcPts val="1200"/>
              </a:spcBef>
            </a:pPr>
            <a:endParaRPr b="0" spc="-10" dirty="0">
              <a:solidFill>
                <a:srgbClr val="000000"/>
              </a:solidFill>
              <a:latin typeface="Arial"/>
              <a:cs typeface="Arial"/>
            </a:endParaRPr>
          </a:p>
        </p:txBody>
      </p:sp>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3" name="object 3"/>
          <p:cNvSpPr txBox="1">
            <a:spLocks noGrp="1"/>
          </p:cNvSpPr>
          <p:nvPr>
            <p:ph type="title"/>
          </p:nvPr>
        </p:nvSpPr>
        <p:spPr>
          <a:xfrm>
            <a:off x="428299" y="64436"/>
            <a:ext cx="8229600" cy="556252"/>
          </a:xfrm>
          <a:prstGeom prst="rect">
            <a:avLst/>
          </a:prstGeom>
        </p:spPr>
        <p:txBody>
          <a:bodyPr vert="horz" wrap="square" lIns="0" tIns="13335" rIns="0" bIns="0" rtlCol="0">
            <a:noAutofit/>
          </a:bodyPr>
          <a:lstStyle/>
          <a:p>
            <a:pPr marL="480059">
              <a:lnSpc>
                <a:spcPct val="100000"/>
              </a:lnSpc>
              <a:spcBef>
                <a:spcPts val="105"/>
              </a:spcBef>
            </a:pPr>
            <a:r>
              <a:rPr dirty="0"/>
              <a:t>What</a:t>
            </a:r>
            <a:r>
              <a:rPr spc="-30" dirty="0"/>
              <a:t> </a:t>
            </a:r>
            <a:r>
              <a:rPr dirty="0"/>
              <a:t>is</a:t>
            </a:r>
            <a:r>
              <a:rPr spc="-25" dirty="0"/>
              <a:t> </a:t>
            </a:r>
            <a:r>
              <a:rPr spc="-10" dirty="0"/>
              <a:t>Money?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26370" name="Rectangle 2">
            <a:extLst>
              <a:ext uri="{FF2B5EF4-FFF2-40B4-BE49-F238E27FC236}">
                <a16:creationId xmlns:a16="http://schemas.microsoft.com/office/drawing/2014/main" id="{862D1DBB-45AC-79A7-6F32-D4291BBB3CC6}"/>
              </a:ext>
            </a:extLst>
          </p:cNvPr>
          <p:cNvSpPr>
            <a:spLocks noGrp="1" noChangeArrowheads="1"/>
          </p:cNvSpPr>
          <p:nvPr>
            <p:ph type="title"/>
          </p:nvPr>
        </p:nvSpPr>
        <p:spPr/>
        <p:txBody>
          <a:bodyPr/>
          <a:lstStyle/>
          <a:p>
            <a:pPr eaLnBrk="1" hangingPunct="1">
              <a:defRPr/>
            </a:pPr>
            <a:r>
              <a:rPr lang="en-US" dirty="0">
                <a:cs typeface="+mj-cs"/>
              </a:rPr>
              <a:t>WHAT IS MONEY?</a:t>
            </a:r>
            <a:endParaRPr lang="en-CA" dirty="0">
              <a:cs typeface="+mj-cs"/>
            </a:endParaRPr>
          </a:p>
        </p:txBody>
      </p:sp>
      <p:sp>
        <p:nvSpPr>
          <p:cNvPr id="826371" name="Rectangle 3">
            <a:extLst>
              <a:ext uri="{FF2B5EF4-FFF2-40B4-BE49-F238E27FC236}">
                <a16:creationId xmlns:a16="http://schemas.microsoft.com/office/drawing/2014/main" id="{D8EEDEF4-B888-C307-AFE5-7D0ED6430431}"/>
              </a:ext>
            </a:extLst>
          </p:cNvPr>
          <p:cNvSpPr>
            <a:spLocks noGrp="1" noChangeArrowheads="1"/>
          </p:cNvSpPr>
          <p:nvPr>
            <p:ph type="body" idx="1"/>
          </p:nvPr>
        </p:nvSpPr>
        <p:spPr>
          <a:xfrm>
            <a:off x="381000" y="1905000"/>
            <a:ext cx="8458200" cy="4648200"/>
          </a:xfrm>
        </p:spPr>
        <p:txBody>
          <a:bodyPr/>
          <a:lstStyle/>
          <a:p>
            <a:pPr eaLnBrk="1" hangingPunct="1">
              <a:buFont typeface="Webdings" charset="0"/>
              <a:buChar char="&lt;"/>
              <a:defRPr/>
            </a:pPr>
            <a:r>
              <a:rPr lang="en-US" dirty="0">
                <a:solidFill>
                  <a:srgbClr val="C00000"/>
                </a:solidFill>
                <a:cs typeface="+mn-cs"/>
              </a:rPr>
              <a:t>Checks, Credit Cards, Debit Cards and E-Checks</a:t>
            </a:r>
          </a:p>
          <a:p>
            <a:pPr marL="461963" lvl="1" indent="-4763" eaLnBrk="1" hangingPunct="1">
              <a:defRPr/>
            </a:pPr>
            <a:r>
              <a:rPr lang="en-US" b="1" dirty="0">
                <a:solidFill>
                  <a:srgbClr val="00468F"/>
                </a:solidFill>
                <a:ea typeface="MS Mincho" charset="0"/>
                <a:cs typeface="MS Mincho" charset="0"/>
              </a:rPr>
              <a:t>Checks</a:t>
            </a:r>
            <a:endParaRPr lang="en-US" dirty="0">
              <a:ea typeface="MS Mincho" charset="0"/>
              <a:cs typeface="MS Mincho" charset="0"/>
            </a:endParaRPr>
          </a:p>
          <a:p>
            <a:pPr marL="461963" lvl="1" indent="-4763" eaLnBrk="1" hangingPunct="1">
              <a:defRPr/>
            </a:pPr>
            <a:r>
              <a:rPr lang="en-US" dirty="0">
                <a:ea typeface="MS Mincho" charset="0"/>
                <a:cs typeface="MS Mincho" charset="0"/>
              </a:rPr>
              <a:t>A check is not money. It is an instruction to a bank to make a payment.</a:t>
            </a:r>
            <a:endParaRPr noProof="1">
              <a:ea typeface="MS Mincho" charset="0"/>
              <a:cs typeface="MS Mincho" charset="0"/>
            </a:endParaRPr>
          </a:p>
          <a:p>
            <a:pPr marL="461963" lvl="1" indent="-4763" eaLnBrk="1" hangingPunct="1">
              <a:defRPr/>
            </a:pPr>
            <a:endParaRPr lang="en-US"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6371">
                                            <p:txEl>
                                              <p:pRg st="1" end="1"/>
                                            </p:txEl>
                                          </p:spTgt>
                                        </p:tgtEl>
                                        <p:attrNameLst>
                                          <p:attrName>style.visibility</p:attrName>
                                        </p:attrNameLst>
                                      </p:cBhvr>
                                      <p:to>
                                        <p:strVal val="visible"/>
                                      </p:to>
                                    </p:set>
                                    <p:animEffect transition="in" filter="wipe(left)">
                                      <p:cBhvr>
                                        <p:cTn id="7" dur="500"/>
                                        <p:tgtEl>
                                          <p:spTgt spid="8263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6371">
                                            <p:txEl>
                                              <p:pRg st="2" end="2"/>
                                            </p:txEl>
                                          </p:spTgt>
                                        </p:tgtEl>
                                        <p:attrNameLst>
                                          <p:attrName>style.visibility</p:attrName>
                                        </p:attrNameLst>
                                      </p:cBhvr>
                                      <p:to>
                                        <p:strVal val="visible"/>
                                      </p:to>
                                    </p:set>
                                    <p:animEffect transition="in" filter="wipe(left)">
                                      <p:cBhvr>
                                        <p:cTn id="12" dur="500"/>
                                        <p:tgtEl>
                                          <p:spTgt spid="8263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371" grpId="0" build="p" bldLvl="3"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28418" name="Rectangle 2">
            <a:extLst>
              <a:ext uri="{FF2B5EF4-FFF2-40B4-BE49-F238E27FC236}">
                <a16:creationId xmlns:a16="http://schemas.microsoft.com/office/drawing/2014/main" id="{20C02E1E-35F2-C2E3-B32D-F0CAEBB5C48C}"/>
              </a:ext>
            </a:extLst>
          </p:cNvPr>
          <p:cNvSpPr>
            <a:spLocks noGrp="1" noChangeArrowheads="1"/>
          </p:cNvSpPr>
          <p:nvPr>
            <p:ph type="title"/>
          </p:nvPr>
        </p:nvSpPr>
        <p:spPr>
          <a:xfrm>
            <a:off x="457200" y="29420"/>
            <a:ext cx="8229600" cy="562074"/>
          </a:xfrm>
        </p:spPr>
        <p:txBody>
          <a:bodyPr/>
          <a:lstStyle/>
          <a:p>
            <a:pPr eaLnBrk="1" hangingPunct="1">
              <a:defRPr/>
            </a:pPr>
            <a:r>
              <a:rPr lang="en-US" dirty="0">
                <a:cs typeface="+mj-cs"/>
              </a:rPr>
              <a:t>WHAT IS MONEY?</a:t>
            </a:r>
            <a:endParaRPr lang="en-CA" dirty="0">
              <a:cs typeface="+mj-cs"/>
            </a:endParaRPr>
          </a:p>
        </p:txBody>
      </p:sp>
      <p:sp>
        <p:nvSpPr>
          <p:cNvPr id="828419" name="Rectangle 3">
            <a:extLst>
              <a:ext uri="{FF2B5EF4-FFF2-40B4-BE49-F238E27FC236}">
                <a16:creationId xmlns:a16="http://schemas.microsoft.com/office/drawing/2014/main" id="{7D92DE19-667A-6733-C1F1-393563B0A43F}"/>
              </a:ext>
            </a:extLst>
          </p:cNvPr>
          <p:cNvSpPr>
            <a:spLocks noGrp="1" noChangeArrowheads="1"/>
          </p:cNvSpPr>
          <p:nvPr>
            <p:ph type="body" idx="1"/>
          </p:nvPr>
        </p:nvSpPr>
        <p:spPr>
          <a:xfrm>
            <a:off x="179512" y="908720"/>
            <a:ext cx="8712968" cy="5256584"/>
          </a:xfrm>
        </p:spPr>
        <p:txBody>
          <a:bodyPr/>
          <a:lstStyle/>
          <a:p>
            <a:pPr marL="461963" lvl="1" indent="-4763" eaLnBrk="1" hangingPunct="1">
              <a:defRPr/>
            </a:pPr>
            <a:r>
              <a:rPr lang="en-US" b="1" dirty="0">
                <a:solidFill>
                  <a:srgbClr val="00468F"/>
                </a:solidFill>
              </a:rPr>
              <a:t>Credit Cards</a:t>
            </a:r>
          </a:p>
          <a:p>
            <a:pPr marL="461963" lvl="1" indent="-4763" eaLnBrk="1" hangingPunct="1">
              <a:defRPr/>
            </a:pPr>
            <a:r>
              <a:rPr lang="en-US" dirty="0"/>
              <a:t>A credit card is not money because it does not make a  payment. </a:t>
            </a:r>
          </a:p>
          <a:p>
            <a:pPr marL="461963" lvl="1" indent="-4763" eaLnBrk="1" hangingPunct="1">
              <a:defRPr/>
            </a:pPr>
            <a:r>
              <a:rPr lang="en-US" dirty="0"/>
              <a:t>When you use your credit card, you create a debt (the outstanding balance on your card account), which you eventually pay off with money.</a:t>
            </a:r>
            <a:endParaRPr lang="en-US" b="1" dirty="0">
              <a:solidFill>
                <a:srgbClr val="00468F"/>
              </a:solidFill>
            </a:endParaRPr>
          </a:p>
          <a:p>
            <a:pPr marL="461963" lvl="1" indent="-4763" eaLnBrk="1" hangingPunct="1">
              <a:defRPr/>
            </a:pPr>
            <a:r>
              <a:rPr lang="en-US" b="1" dirty="0">
                <a:solidFill>
                  <a:srgbClr val="00468F"/>
                </a:solidFill>
              </a:rPr>
              <a:t>Debit Cards</a:t>
            </a:r>
          </a:p>
          <a:p>
            <a:pPr marL="461963" lvl="1" indent="-4763" eaLnBrk="1" hangingPunct="1">
              <a:defRPr/>
            </a:pPr>
            <a:r>
              <a:rPr lang="en-US" dirty="0"/>
              <a:t>A debit card is not money. It is like an electronic check.</a:t>
            </a:r>
            <a:endParaRPr noProof="1"/>
          </a:p>
          <a:p>
            <a:pPr marL="461963" lvl="1" indent="-4763" eaLnBrk="1" hangingPunct="1">
              <a:defRPr/>
            </a:pPr>
            <a:r>
              <a:rPr lang="en-US" dirty="0"/>
              <a:t>It is an electronic equivalent of a paper check.</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8419">
                                            <p:txEl>
                                              <p:pRg st="1" end="1"/>
                                            </p:txEl>
                                          </p:spTgt>
                                        </p:tgtEl>
                                        <p:attrNameLst>
                                          <p:attrName>style.visibility</p:attrName>
                                        </p:attrNameLst>
                                      </p:cBhvr>
                                      <p:to>
                                        <p:strVal val="visible"/>
                                      </p:to>
                                    </p:set>
                                    <p:animEffect transition="in" filter="wipe(left)">
                                      <p:cBhvr>
                                        <p:cTn id="7" dur="500"/>
                                        <p:tgtEl>
                                          <p:spTgt spid="8284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8419">
                                            <p:txEl>
                                              <p:pRg st="2" end="2"/>
                                            </p:txEl>
                                          </p:spTgt>
                                        </p:tgtEl>
                                        <p:attrNameLst>
                                          <p:attrName>style.visibility</p:attrName>
                                        </p:attrNameLst>
                                      </p:cBhvr>
                                      <p:to>
                                        <p:strVal val="visible"/>
                                      </p:to>
                                    </p:set>
                                    <p:animEffect transition="in" filter="wipe(left)">
                                      <p:cBhvr>
                                        <p:cTn id="12" dur="500"/>
                                        <p:tgtEl>
                                          <p:spTgt spid="82841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28419">
                                            <p:txEl>
                                              <p:pRg st="3" end="3"/>
                                            </p:txEl>
                                          </p:spTgt>
                                        </p:tgtEl>
                                        <p:attrNameLst>
                                          <p:attrName>style.visibility</p:attrName>
                                        </p:attrNameLst>
                                      </p:cBhvr>
                                      <p:to>
                                        <p:strVal val="visible"/>
                                      </p:to>
                                    </p:set>
                                    <p:animEffect transition="in" filter="wipe(left)">
                                      <p:cBhvr>
                                        <p:cTn id="17" dur="500"/>
                                        <p:tgtEl>
                                          <p:spTgt spid="82841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28419">
                                            <p:txEl>
                                              <p:pRg st="4" end="4"/>
                                            </p:txEl>
                                          </p:spTgt>
                                        </p:tgtEl>
                                        <p:attrNameLst>
                                          <p:attrName>style.visibility</p:attrName>
                                        </p:attrNameLst>
                                      </p:cBhvr>
                                      <p:to>
                                        <p:strVal val="visible"/>
                                      </p:to>
                                    </p:set>
                                    <p:animEffect transition="in" filter="wipe(left)">
                                      <p:cBhvr>
                                        <p:cTn id="22" dur="500"/>
                                        <p:tgtEl>
                                          <p:spTgt spid="82841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28419">
                                            <p:txEl>
                                              <p:pRg st="5" end="5"/>
                                            </p:txEl>
                                          </p:spTgt>
                                        </p:tgtEl>
                                        <p:attrNameLst>
                                          <p:attrName>style.visibility</p:attrName>
                                        </p:attrNameLst>
                                      </p:cBhvr>
                                      <p:to>
                                        <p:strVal val="visible"/>
                                      </p:to>
                                    </p:set>
                                    <p:animEffect transition="in" filter="wipe(left)">
                                      <p:cBhvr>
                                        <p:cTn id="27" dur="500"/>
                                        <p:tgtEl>
                                          <p:spTgt spid="828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8419" grpId="0" build="p" bldLvl="3"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30466" name="Rectangle 2">
            <a:extLst>
              <a:ext uri="{FF2B5EF4-FFF2-40B4-BE49-F238E27FC236}">
                <a16:creationId xmlns:a16="http://schemas.microsoft.com/office/drawing/2014/main" id="{20F7C82C-41CD-0233-F0A3-1444169A2ABD}"/>
              </a:ext>
            </a:extLst>
          </p:cNvPr>
          <p:cNvSpPr>
            <a:spLocks noGrp="1" noChangeArrowheads="1"/>
          </p:cNvSpPr>
          <p:nvPr>
            <p:ph type="title"/>
          </p:nvPr>
        </p:nvSpPr>
        <p:spPr/>
        <p:txBody>
          <a:bodyPr/>
          <a:lstStyle/>
          <a:p>
            <a:pPr eaLnBrk="1" hangingPunct="1">
              <a:defRPr/>
            </a:pPr>
            <a:r>
              <a:rPr lang="en-US" dirty="0">
                <a:cs typeface="+mj-cs"/>
              </a:rPr>
              <a:t>WHAT IS MONEY?</a:t>
            </a:r>
            <a:endParaRPr lang="en-CA" dirty="0">
              <a:cs typeface="+mj-cs"/>
            </a:endParaRPr>
          </a:p>
        </p:txBody>
      </p:sp>
      <p:sp>
        <p:nvSpPr>
          <p:cNvPr id="830467" name="Rectangle 3">
            <a:extLst>
              <a:ext uri="{FF2B5EF4-FFF2-40B4-BE49-F238E27FC236}">
                <a16:creationId xmlns:a16="http://schemas.microsoft.com/office/drawing/2014/main" id="{3D614199-03EE-C28E-13BB-1300D2B0B437}"/>
              </a:ext>
            </a:extLst>
          </p:cNvPr>
          <p:cNvSpPr>
            <a:spLocks noGrp="1" noChangeArrowheads="1"/>
          </p:cNvSpPr>
          <p:nvPr>
            <p:ph type="body" idx="1"/>
          </p:nvPr>
        </p:nvSpPr>
        <p:spPr/>
        <p:txBody>
          <a:bodyPr/>
          <a:lstStyle/>
          <a:p>
            <a:pPr marL="461963" lvl="1" indent="-4763" eaLnBrk="1" hangingPunct="1">
              <a:defRPr/>
            </a:pPr>
            <a:r>
              <a:rPr lang="en-US" b="1" dirty="0">
                <a:solidFill>
                  <a:srgbClr val="00468F"/>
                </a:solidFill>
              </a:rPr>
              <a:t>E-Checks</a:t>
            </a:r>
          </a:p>
          <a:p>
            <a:pPr marL="461963" lvl="1" indent="-4763" eaLnBrk="1" hangingPunct="1">
              <a:defRPr/>
            </a:pPr>
            <a:r>
              <a:rPr lang="en-US" dirty="0"/>
              <a:t>An e-check is not money.</a:t>
            </a:r>
          </a:p>
          <a:p>
            <a:pPr marL="461963" lvl="1" indent="-4763" eaLnBrk="1" hangingPunct="1">
              <a:spcAft>
                <a:spcPct val="20000"/>
              </a:spcAft>
              <a:defRPr/>
            </a:pPr>
            <a:r>
              <a:rPr lang="en-US" dirty="0"/>
              <a:t>It is an electronic equivalent of a paper check.</a:t>
            </a:r>
          </a:p>
          <a:p>
            <a:pPr marL="461963" lvl="1" indent="-4763" eaLnBrk="1" hangingPunct="1">
              <a:spcAft>
                <a:spcPct val="20000"/>
              </a:spcAft>
              <a:defRPr/>
            </a:pPr>
            <a:endParaRPr lang="en-US" dirty="0"/>
          </a:p>
          <a:p>
            <a:pPr eaLnBrk="1" hangingPunct="1">
              <a:buFont typeface="Webdings" charset="0"/>
              <a:buChar char="&lt;"/>
              <a:defRPr/>
            </a:pPr>
            <a:r>
              <a:rPr lang="en-US" dirty="0">
                <a:solidFill>
                  <a:srgbClr val="C00000"/>
                </a:solidFill>
                <a:cs typeface="+mn-cs"/>
              </a:rPr>
              <a:t>An Embryonic New Money: E-Cash</a:t>
            </a:r>
          </a:p>
          <a:p>
            <a:pPr marL="461963" lvl="1" indent="-4763" eaLnBrk="1" hangingPunct="1">
              <a:defRPr/>
            </a:pPr>
            <a:r>
              <a:rPr lang="en-US" dirty="0"/>
              <a:t>Works like money and when it becomes widely acceptable, it will be money.</a:t>
            </a:r>
            <a:endParaRPr noProof="1"/>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30467">
                                            <p:txEl>
                                              <p:pRg st="1" end="1"/>
                                            </p:txEl>
                                          </p:spTgt>
                                        </p:tgtEl>
                                        <p:attrNameLst>
                                          <p:attrName>style.visibility</p:attrName>
                                        </p:attrNameLst>
                                      </p:cBhvr>
                                      <p:to>
                                        <p:strVal val="visible"/>
                                      </p:to>
                                    </p:set>
                                    <p:animEffect transition="in" filter="wipe(left)">
                                      <p:cBhvr>
                                        <p:cTn id="7" dur="500"/>
                                        <p:tgtEl>
                                          <p:spTgt spid="8304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0467">
                                            <p:txEl>
                                              <p:pRg st="2" end="2"/>
                                            </p:txEl>
                                          </p:spTgt>
                                        </p:tgtEl>
                                        <p:attrNameLst>
                                          <p:attrName>style.visibility</p:attrName>
                                        </p:attrNameLst>
                                      </p:cBhvr>
                                      <p:to>
                                        <p:strVal val="visible"/>
                                      </p:to>
                                    </p:set>
                                    <p:animEffect transition="in" filter="wipe(left)">
                                      <p:cBhvr>
                                        <p:cTn id="12" dur="500"/>
                                        <p:tgtEl>
                                          <p:spTgt spid="83046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30467">
                                            <p:txEl>
                                              <p:pRg st="4" end="4"/>
                                            </p:txEl>
                                          </p:spTgt>
                                        </p:tgtEl>
                                        <p:attrNameLst>
                                          <p:attrName>style.visibility</p:attrName>
                                        </p:attrNameLst>
                                      </p:cBhvr>
                                      <p:to>
                                        <p:strVal val="visible"/>
                                      </p:to>
                                    </p:set>
                                    <p:animEffect transition="in" filter="wipe(left)">
                                      <p:cBhvr>
                                        <p:cTn id="17" dur="500"/>
                                        <p:tgtEl>
                                          <p:spTgt spid="83046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30467">
                                            <p:txEl>
                                              <p:pRg st="5" end="5"/>
                                            </p:txEl>
                                          </p:spTgt>
                                        </p:tgtEl>
                                        <p:attrNameLst>
                                          <p:attrName>style.visibility</p:attrName>
                                        </p:attrNameLst>
                                      </p:cBhvr>
                                      <p:to>
                                        <p:strVal val="visible"/>
                                      </p:to>
                                    </p:set>
                                    <p:animEffect transition="in" filter="wipe(left)">
                                      <p:cBhvr>
                                        <p:cTn id="22" dur="500"/>
                                        <p:tgtEl>
                                          <p:spTgt spid="8304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0467" grpId="0" build="p" bldLvl="3"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547522" y="1457055"/>
            <a:ext cx="8288020" cy="4599305"/>
          </a:xfrm>
          <a:prstGeom prst="rect">
            <a:avLst/>
          </a:prstGeom>
        </p:spPr>
        <p:txBody>
          <a:bodyPr vert="horz" wrap="square" lIns="0" tIns="165735" rIns="0" bIns="0" rtlCol="0">
            <a:spAutoFit/>
          </a:bodyPr>
          <a:lstStyle/>
          <a:p>
            <a:pPr marL="12700">
              <a:lnSpc>
                <a:spcPct val="100000"/>
              </a:lnSpc>
              <a:spcBef>
                <a:spcPts val="1305"/>
              </a:spcBef>
            </a:pPr>
            <a:r>
              <a:rPr sz="2400" b="1" dirty="0">
                <a:solidFill>
                  <a:srgbClr val="6F2F9F"/>
                </a:solidFill>
                <a:latin typeface="Arial"/>
                <a:cs typeface="Arial"/>
              </a:rPr>
              <a:t>Deposits</a:t>
            </a:r>
            <a:r>
              <a:rPr sz="2400" b="1" spc="-55" dirty="0">
                <a:solidFill>
                  <a:srgbClr val="6F2F9F"/>
                </a:solidFill>
                <a:latin typeface="Arial"/>
                <a:cs typeface="Arial"/>
              </a:rPr>
              <a:t> </a:t>
            </a:r>
            <a:r>
              <a:rPr sz="2400" b="1" dirty="0">
                <a:solidFill>
                  <a:srgbClr val="6F2F9F"/>
                </a:solidFill>
                <a:latin typeface="Arial"/>
                <a:cs typeface="Arial"/>
              </a:rPr>
              <a:t>Are</a:t>
            </a:r>
            <a:r>
              <a:rPr sz="2400" b="1" spc="-40" dirty="0">
                <a:solidFill>
                  <a:srgbClr val="6F2F9F"/>
                </a:solidFill>
                <a:latin typeface="Arial"/>
                <a:cs typeface="Arial"/>
              </a:rPr>
              <a:t> </a:t>
            </a:r>
            <a:r>
              <a:rPr sz="2400" b="1" dirty="0">
                <a:solidFill>
                  <a:srgbClr val="6F2F9F"/>
                </a:solidFill>
                <a:latin typeface="Arial"/>
                <a:cs typeface="Arial"/>
              </a:rPr>
              <a:t>Money</a:t>
            </a:r>
            <a:r>
              <a:rPr sz="2400" b="1" spc="-65" dirty="0">
                <a:solidFill>
                  <a:srgbClr val="6F2F9F"/>
                </a:solidFill>
                <a:latin typeface="Arial"/>
                <a:cs typeface="Arial"/>
              </a:rPr>
              <a:t> </a:t>
            </a:r>
            <a:r>
              <a:rPr sz="2400" b="1" dirty="0">
                <a:solidFill>
                  <a:srgbClr val="6F2F9F"/>
                </a:solidFill>
                <a:latin typeface="Arial"/>
                <a:cs typeface="Arial"/>
              </a:rPr>
              <a:t>but</a:t>
            </a:r>
            <a:r>
              <a:rPr sz="2400" b="1" spc="-50" dirty="0">
                <a:solidFill>
                  <a:srgbClr val="6F2F9F"/>
                </a:solidFill>
                <a:latin typeface="Arial"/>
                <a:cs typeface="Arial"/>
              </a:rPr>
              <a:t> </a:t>
            </a:r>
            <a:r>
              <a:rPr sz="2400" b="1" dirty="0">
                <a:solidFill>
                  <a:srgbClr val="6F2F9F"/>
                </a:solidFill>
                <a:latin typeface="Arial"/>
                <a:cs typeface="Arial"/>
              </a:rPr>
              <a:t>Checks</a:t>
            </a:r>
            <a:r>
              <a:rPr sz="2400" b="1" spc="-45" dirty="0">
                <a:solidFill>
                  <a:srgbClr val="6F2F9F"/>
                </a:solidFill>
                <a:latin typeface="Arial"/>
                <a:cs typeface="Arial"/>
              </a:rPr>
              <a:t> </a:t>
            </a:r>
            <a:r>
              <a:rPr sz="2400" b="1" dirty="0">
                <a:solidFill>
                  <a:srgbClr val="6F2F9F"/>
                </a:solidFill>
                <a:latin typeface="Arial"/>
                <a:cs typeface="Arial"/>
              </a:rPr>
              <a:t>and</a:t>
            </a:r>
            <a:r>
              <a:rPr sz="2400" b="1" spc="-50" dirty="0">
                <a:solidFill>
                  <a:srgbClr val="6F2F9F"/>
                </a:solidFill>
                <a:latin typeface="Arial"/>
                <a:cs typeface="Arial"/>
              </a:rPr>
              <a:t> </a:t>
            </a:r>
            <a:r>
              <a:rPr sz="2400" b="1" dirty="0">
                <a:solidFill>
                  <a:srgbClr val="6F2F9F"/>
                </a:solidFill>
                <a:latin typeface="Arial"/>
                <a:cs typeface="Arial"/>
              </a:rPr>
              <a:t>Debit</a:t>
            </a:r>
            <a:r>
              <a:rPr sz="2400" b="1" spc="-50" dirty="0">
                <a:solidFill>
                  <a:srgbClr val="6F2F9F"/>
                </a:solidFill>
                <a:latin typeface="Arial"/>
                <a:cs typeface="Arial"/>
              </a:rPr>
              <a:t> </a:t>
            </a:r>
            <a:r>
              <a:rPr sz="2400" b="1" dirty="0">
                <a:solidFill>
                  <a:srgbClr val="6F2F9F"/>
                </a:solidFill>
                <a:latin typeface="Arial"/>
                <a:cs typeface="Arial"/>
              </a:rPr>
              <a:t>Cards</a:t>
            </a:r>
            <a:r>
              <a:rPr sz="2400" b="1" spc="-60" dirty="0">
                <a:solidFill>
                  <a:srgbClr val="6F2F9F"/>
                </a:solidFill>
                <a:latin typeface="Arial"/>
                <a:cs typeface="Arial"/>
              </a:rPr>
              <a:t> </a:t>
            </a:r>
            <a:r>
              <a:rPr sz="2400" b="1" dirty="0">
                <a:solidFill>
                  <a:srgbClr val="6F2F9F"/>
                </a:solidFill>
                <a:latin typeface="Arial"/>
                <a:cs typeface="Arial"/>
              </a:rPr>
              <a:t>Are</a:t>
            </a:r>
            <a:r>
              <a:rPr sz="2400" b="1" spc="-45" dirty="0">
                <a:solidFill>
                  <a:srgbClr val="6F2F9F"/>
                </a:solidFill>
                <a:latin typeface="Arial"/>
                <a:cs typeface="Arial"/>
              </a:rPr>
              <a:t> </a:t>
            </a:r>
            <a:r>
              <a:rPr sz="2400" b="1" spc="-25" dirty="0">
                <a:solidFill>
                  <a:srgbClr val="6F2F9F"/>
                </a:solidFill>
                <a:latin typeface="Arial"/>
                <a:cs typeface="Arial"/>
              </a:rPr>
              <a:t>Not</a:t>
            </a:r>
            <a:endParaRPr sz="2400">
              <a:latin typeface="Arial"/>
              <a:cs typeface="Arial"/>
            </a:endParaRPr>
          </a:p>
          <a:p>
            <a:pPr marL="12700" marR="150495">
              <a:lnSpc>
                <a:spcPct val="100000"/>
              </a:lnSpc>
              <a:spcBef>
                <a:spcPts val="1200"/>
              </a:spcBef>
            </a:pPr>
            <a:r>
              <a:rPr sz="2400" dirty="0">
                <a:latin typeface="Arial"/>
                <a:cs typeface="Arial"/>
              </a:rPr>
              <a:t>In</a:t>
            </a:r>
            <a:r>
              <a:rPr sz="2400" spc="-75" dirty="0">
                <a:latin typeface="Arial"/>
                <a:cs typeface="Arial"/>
              </a:rPr>
              <a:t> </a:t>
            </a:r>
            <a:r>
              <a:rPr sz="2400" dirty="0">
                <a:latin typeface="Arial"/>
                <a:cs typeface="Arial"/>
              </a:rPr>
              <a:t>defining</a:t>
            </a:r>
            <a:r>
              <a:rPr sz="2400" spc="-55" dirty="0">
                <a:latin typeface="Arial"/>
                <a:cs typeface="Arial"/>
              </a:rPr>
              <a:t> </a:t>
            </a:r>
            <a:r>
              <a:rPr sz="2400" dirty="0">
                <a:latin typeface="Arial"/>
                <a:cs typeface="Arial"/>
              </a:rPr>
              <a:t>money,</a:t>
            </a:r>
            <a:r>
              <a:rPr sz="2400" spc="-70" dirty="0">
                <a:latin typeface="Arial"/>
                <a:cs typeface="Arial"/>
              </a:rPr>
              <a:t> </a:t>
            </a:r>
            <a:r>
              <a:rPr sz="2400" dirty="0">
                <a:latin typeface="Arial"/>
                <a:cs typeface="Arial"/>
              </a:rPr>
              <a:t>we</a:t>
            </a:r>
            <a:r>
              <a:rPr sz="2400" spc="-80" dirty="0">
                <a:latin typeface="Arial"/>
                <a:cs typeface="Arial"/>
              </a:rPr>
              <a:t> </a:t>
            </a:r>
            <a:r>
              <a:rPr sz="2400" dirty="0">
                <a:latin typeface="Arial"/>
                <a:cs typeface="Arial"/>
              </a:rPr>
              <a:t>include,</a:t>
            </a:r>
            <a:r>
              <a:rPr sz="2400" spc="-50" dirty="0">
                <a:latin typeface="Arial"/>
                <a:cs typeface="Arial"/>
              </a:rPr>
              <a:t> </a:t>
            </a:r>
            <a:r>
              <a:rPr sz="2400" dirty="0">
                <a:latin typeface="Arial"/>
                <a:cs typeface="Arial"/>
              </a:rPr>
              <a:t>along</a:t>
            </a:r>
            <a:r>
              <a:rPr sz="2400" spc="-60" dirty="0">
                <a:latin typeface="Arial"/>
                <a:cs typeface="Arial"/>
              </a:rPr>
              <a:t> </a:t>
            </a:r>
            <a:r>
              <a:rPr sz="2400" dirty="0">
                <a:latin typeface="Arial"/>
                <a:cs typeface="Arial"/>
              </a:rPr>
              <a:t>with</a:t>
            </a:r>
            <a:r>
              <a:rPr sz="2400" spc="-70" dirty="0">
                <a:latin typeface="Arial"/>
                <a:cs typeface="Arial"/>
              </a:rPr>
              <a:t> </a:t>
            </a:r>
            <a:r>
              <a:rPr sz="2400" dirty="0">
                <a:latin typeface="Arial"/>
                <a:cs typeface="Arial"/>
              </a:rPr>
              <a:t>currency,</a:t>
            </a:r>
            <a:r>
              <a:rPr sz="2400" spc="-75" dirty="0">
                <a:latin typeface="Arial"/>
                <a:cs typeface="Arial"/>
              </a:rPr>
              <a:t> </a:t>
            </a:r>
            <a:r>
              <a:rPr sz="2400" spc="-10" dirty="0">
                <a:latin typeface="Arial"/>
                <a:cs typeface="Arial"/>
              </a:rPr>
              <a:t>deposits </a:t>
            </a:r>
            <a:r>
              <a:rPr sz="2400" dirty="0">
                <a:latin typeface="Arial"/>
                <a:cs typeface="Arial"/>
              </a:rPr>
              <a:t>at</a:t>
            </a:r>
            <a:r>
              <a:rPr sz="2400" spc="-65" dirty="0">
                <a:latin typeface="Arial"/>
                <a:cs typeface="Arial"/>
              </a:rPr>
              <a:t> </a:t>
            </a:r>
            <a:r>
              <a:rPr sz="2400" dirty="0">
                <a:latin typeface="Arial"/>
                <a:cs typeface="Arial"/>
              </a:rPr>
              <a:t>banks</a:t>
            </a:r>
            <a:r>
              <a:rPr sz="2400" spc="-60" dirty="0">
                <a:latin typeface="Arial"/>
                <a:cs typeface="Arial"/>
              </a:rPr>
              <a:t> </a:t>
            </a:r>
            <a:r>
              <a:rPr sz="2400" dirty="0">
                <a:latin typeface="Arial"/>
                <a:cs typeface="Arial"/>
              </a:rPr>
              <a:t>and</a:t>
            </a:r>
            <a:r>
              <a:rPr sz="2400" spc="-60" dirty="0">
                <a:latin typeface="Arial"/>
                <a:cs typeface="Arial"/>
              </a:rPr>
              <a:t> </a:t>
            </a:r>
            <a:r>
              <a:rPr sz="2400" dirty="0">
                <a:latin typeface="Arial"/>
                <a:cs typeface="Arial"/>
              </a:rPr>
              <a:t>other</a:t>
            </a:r>
            <a:r>
              <a:rPr sz="2400" spc="-55" dirty="0">
                <a:latin typeface="Arial"/>
                <a:cs typeface="Arial"/>
              </a:rPr>
              <a:t> </a:t>
            </a:r>
            <a:r>
              <a:rPr sz="2400" dirty="0">
                <a:latin typeface="Arial"/>
                <a:cs typeface="Arial"/>
              </a:rPr>
              <a:t>depository</a:t>
            </a:r>
            <a:r>
              <a:rPr sz="2400" spc="-50" dirty="0">
                <a:latin typeface="Arial"/>
                <a:cs typeface="Arial"/>
              </a:rPr>
              <a:t> </a:t>
            </a:r>
            <a:r>
              <a:rPr sz="2400" spc="-10" dirty="0">
                <a:latin typeface="Arial"/>
                <a:cs typeface="Arial"/>
              </a:rPr>
              <a:t>institutions.</a:t>
            </a:r>
            <a:endParaRPr sz="2400">
              <a:latin typeface="Arial"/>
              <a:cs typeface="Arial"/>
            </a:endParaRPr>
          </a:p>
          <a:p>
            <a:pPr marL="12700" marR="287655">
              <a:lnSpc>
                <a:spcPct val="100000"/>
              </a:lnSpc>
              <a:spcBef>
                <a:spcPts val="1205"/>
              </a:spcBef>
            </a:pPr>
            <a:r>
              <a:rPr sz="2400" dirty="0">
                <a:latin typeface="Arial"/>
                <a:cs typeface="Arial"/>
              </a:rPr>
              <a:t>A</a:t>
            </a:r>
            <a:r>
              <a:rPr sz="2400" spc="-45" dirty="0">
                <a:latin typeface="Arial"/>
                <a:cs typeface="Arial"/>
              </a:rPr>
              <a:t> </a:t>
            </a:r>
            <a:r>
              <a:rPr sz="2400" dirty="0">
                <a:latin typeface="Arial"/>
                <a:cs typeface="Arial"/>
              </a:rPr>
              <a:t>check</a:t>
            </a:r>
            <a:r>
              <a:rPr sz="2400" spc="-45" dirty="0">
                <a:latin typeface="Arial"/>
                <a:cs typeface="Arial"/>
              </a:rPr>
              <a:t> </a:t>
            </a:r>
            <a:r>
              <a:rPr sz="2400" dirty="0">
                <a:latin typeface="Arial"/>
                <a:cs typeface="Arial"/>
              </a:rPr>
              <a:t>or</a:t>
            </a:r>
            <a:r>
              <a:rPr sz="2400" spc="-45" dirty="0">
                <a:latin typeface="Arial"/>
                <a:cs typeface="Arial"/>
              </a:rPr>
              <a:t> </a:t>
            </a:r>
            <a:r>
              <a:rPr sz="2400" dirty="0">
                <a:latin typeface="Arial"/>
                <a:cs typeface="Arial"/>
              </a:rPr>
              <a:t>card</a:t>
            </a:r>
            <a:r>
              <a:rPr sz="2400" spc="-45" dirty="0">
                <a:latin typeface="Arial"/>
                <a:cs typeface="Arial"/>
              </a:rPr>
              <a:t> </a:t>
            </a:r>
            <a:r>
              <a:rPr sz="2400" dirty="0">
                <a:latin typeface="Arial"/>
                <a:cs typeface="Arial"/>
              </a:rPr>
              <a:t>swipe</a:t>
            </a:r>
            <a:r>
              <a:rPr sz="2400" spc="-25" dirty="0">
                <a:latin typeface="Arial"/>
                <a:cs typeface="Arial"/>
              </a:rPr>
              <a:t> </a:t>
            </a:r>
            <a:r>
              <a:rPr sz="2400" dirty="0">
                <a:latin typeface="Arial"/>
                <a:cs typeface="Arial"/>
              </a:rPr>
              <a:t>is</a:t>
            </a:r>
            <a:r>
              <a:rPr sz="2400" spc="-40" dirty="0">
                <a:latin typeface="Arial"/>
                <a:cs typeface="Arial"/>
              </a:rPr>
              <a:t> </a:t>
            </a:r>
            <a:r>
              <a:rPr sz="2400" dirty="0">
                <a:latin typeface="Arial"/>
                <a:cs typeface="Arial"/>
              </a:rPr>
              <a:t>an</a:t>
            </a:r>
            <a:r>
              <a:rPr sz="2400" spc="-45" dirty="0">
                <a:latin typeface="Arial"/>
                <a:cs typeface="Arial"/>
              </a:rPr>
              <a:t> </a:t>
            </a:r>
            <a:r>
              <a:rPr sz="2400" dirty="0">
                <a:latin typeface="Arial"/>
                <a:cs typeface="Arial"/>
              </a:rPr>
              <a:t>instruction</a:t>
            </a:r>
            <a:r>
              <a:rPr sz="2400" spc="-45" dirty="0">
                <a:latin typeface="Arial"/>
                <a:cs typeface="Arial"/>
              </a:rPr>
              <a:t> </a:t>
            </a:r>
            <a:r>
              <a:rPr sz="2400" dirty="0">
                <a:latin typeface="Arial"/>
                <a:cs typeface="Arial"/>
              </a:rPr>
              <a:t>to</a:t>
            </a:r>
            <a:r>
              <a:rPr sz="2400" spc="-45" dirty="0">
                <a:latin typeface="Arial"/>
                <a:cs typeface="Arial"/>
              </a:rPr>
              <a:t> </a:t>
            </a:r>
            <a:r>
              <a:rPr sz="2400" dirty="0">
                <a:latin typeface="Arial"/>
                <a:cs typeface="Arial"/>
              </a:rPr>
              <a:t>a</a:t>
            </a:r>
            <a:r>
              <a:rPr sz="2400" spc="-45" dirty="0">
                <a:latin typeface="Arial"/>
                <a:cs typeface="Arial"/>
              </a:rPr>
              <a:t> </a:t>
            </a:r>
            <a:r>
              <a:rPr sz="2400" dirty="0">
                <a:latin typeface="Arial"/>
                <a:cs typeface="Arial"/>
              </a:rPr>
              <a:t>bank</a:t>
            </a:r>
            <a:r>
              <a:rPr sz="2400" spc="-40" dirty="0">
                <a:latin typeface="Arial"/>
                <a:cs typeface="Arial"/>
              </a:rPr>
              <a:t> </a:t>
            </a:r>
            <a:r>
              <a:rPr sz="2400" dirty="0">
                <a:latin typeface="Arial"/>
                <a:cs typeface="Arial"/>
              </a:rPr>
              <a:t>to</a:t>
            </a:r>
            <a:r>
              <a:rPr sz="2400" spc="-55" dirty="0">
                <a:latin typeface="Arial"/>
                <a:cs typeface="Arial"/>
              </a:rPr>
              <a:t> </a:t>
            </a:r>
            <a:r>
              <a:rPr sz="2400" spc="-10" dirty="0">
                <a:latin typeface="Arial"/>
                <a:cs typeface="Arial"/>
              </a:rPr>
              <a:t>transfer money.</a:t>
            </a:r>
            <a:endParaRPr sz="2400">
              <a:latin typeface="Arial"/>
              <a:cs typeface="Arial"/>
            </a:endParaRPr>
          </a:p>
          <a:p>
            <a:pPr marL="12700">
              <a:lnSpc>
                <a:spcPct val="100000"/>
              </a:lnSpc>
              <a:spcBef>
                <a:spcPts val="1200"/>
              </a:spcBef>
            </a:pPr>
            <a:r>
              <a:rPr sz="2400" dirty="0">
                <a:latin typeface="Arial"/>
                <a:cs typeface="Arial"/>
              </a:rPr>
              <a:t>A</a:t>
            </a:r>
            <a:r>
              <a:rPr sz="2400" spc="-45" dirty="0">
                <a:latin typeface="Arial"/>
                <a:cs typeface="Arial"/>
              </a:rPr>
              <a:t> </a:t>
            </a:r>
            <a:r>
              <a:rPr sz="2400" dirty="0">
                <a:latin typeface="Arial"/>
                <a:cs typeface="Arial"/>
              </a:rPr>
              <a:t>check</a:t>
            </a:r>
            <a:r>
              <a:rPr sz="2400" spc="-40" dirty="0">
                <a:latin typeface="Arial"/>
                <a:cs typeface="Arial"/>
              </a:rPr>
              <a:t> </a:t>
            </a:r>
            <a:r>
              <a:rPr sz="2400" dirty="0">
                <a:latin typeface="Arial"/>
                <a:cs typeface="Arial"/>
              </a:rPr>
              <a:t>or</a:t>
            </a:r>
            <a:r>
              <a:rPr sz="2400" spc="-45" dirty="0">
                <a:latin typeface="Arial"/>
                <a:cs typeface="Arial"/>
              </a:rPr>
              <a:t> </a:t>
            </a:r>
            <a:r>
              <a:rPr sz="2400" dirty="0">
                <a:latin typeface="Arial"/>
                <a:cs typeface="Arial"/>
              </a:rPr>
              <a:t>card</a:t>
            </a:r>
            <a:r>
              <a:rPr sz="2400" spc="-40" dirty="0">
                <a:latin typeface="Arial"/>
                <a:cs typeface="Arial"/>
              </a:rPr>
              <a:t> </a:t>
            </a:r>
            <a:r>
              <a:rPr sz="2400" dirty="0">
                <a:latin typeface="Arial"/>
                <a:cs typeface="Arial"/>
              </a:rPr>
              <a:t>swipe</a:t>
            </a:r>
            <a:r>
              <a:rPr sz="2400" spc="-30" dirty="0">
                <a:latin typeface="Arial"/>
                <a:cs typeface="Arial"/>
              </a:rPr>
              <a:t> </a:t>
            </a:r>
            <a:r>
              <a:rPr sz="2400" dirty="0">
                <a:latin typeface="Arial"/>
                <a:cs typeface="Arial"/>
              </a:rPr>
              <a:t>is</a:t>
            </a:r>
            <a:r>
              <a:rPr sz="2400" spc="-40" dirty="0">
                <a:latin typeface="Arial"/>
                <a:cs typeface="Arial"/>
              </a:rPr>
              <a:t> </a:t>
            </a:r>
            <a:r>
              <a:rPr sz="2400" dirty="0">
                <a:latin typeface="Arial"/>
                <a:cs typeface="Arial"/>
              </a:rPr>
              <a:t>not</a:t>
            </a:r>
            <a:r>
              <a:rPr sz="2400" spc="-45" dirty="0">
                <a:latin typeface="Arial"/>
                <a:cs typeface="Arial"/>
              </a:rPr>
              <a:t> </a:t>
            </a:r>
            <a:r>
              <a:rPr sz="2400" dirty="0">
                <a:latin typeface="Arial"/>
                <a:cs typeface="Arial"/>
              </a:rPr>
              <a:t>money,</a:t>
            </a:r>
            <a:r>
              <a:rPr sz="2400" spc="-50" dirty="0">
                <a:latin typeface="Arial"/>
                <a:cs typeface="Arial"/>
              </a:rPr>
              <a:t> </a:t>
            </a:r>
            <a:r>
              <a:rPr sz="2400" dirty="0">
                <a:latin typeface="Arial"/>
                <a:cs typeface="Arial"/>
              </a:rPr>
              <a:t>but</a:t>
            </a:r>
            <a:r>
              <a:rPr sz="2400" spc="-40" dirty="0">
                <a:latin typeface="Arial"/>
                <a:cs typeface="Arial"/>
              </a:rPr>
              <a:t> </a:t>
            </a:r>
            <a:r>
              <a:rPr sz="2400" dirty="0">
                <a:latin typeface="Arial"/>
                <a:cs typeface="Arial"/>
              </a:rPr>
              <a:t>the</a:t>
            </a:r>
            <a:r>
              <a:rPr sz="2400" spc="-55" dirty="0">
                <a:latin typeface="Arial"/>
                <a:cs typeface="Arial"/>
              </a:rPr>
              <a:t> </a:t>
            </a:r>
            <a:r>
              <a:rPr sz="2400" dirty="0">
                <a:latin typeface="Arial"/>
                <a:cs typeface="Arial"/>
              </a:rPr>
              <a:t>deposit</a:t>
            </a:r>
            <a:r>
              <a:rPr sz="2400" spc="-30" dirty="0">
                <a:latin typeface="Arial"/>
                <a:cs typeface="Arial"/>
              </a:rPr>
              <a:t> </a:t>
            </a:r>
            <a:r>
              <a:rPr sz="2400" dirty="0">
                <a:latin typeface="Arial"/>
                <a:cs typeface="Arial"/>
              </a:rPr>
              <a:t>on</a:t>
            </a:r>
            <a:r>
              <a:rPr sz="2400" spc="-55" dirty="0">
                <a:latin typeface="Arial"/>
                <a:cs typeface="Arial"/>
              </a:rPr>
              <a:t> </a:t>
            </a:r>
            <a:r>
              <a:rPr sz="2400" spc="-10" dirty="0">
                <a:latin typeface="Arial"/>
                <a:cs typeface="Arial"/>
              </a:rPr>
              <a:t>which</a:t>
            </a:r>
            <a:endParaRPr sz="2400">
              <a:latin typeface="Arial"/>
              <a:cs typeface="Arial"/>
            </a:endParaRPr>
          </a:p>
          <a:p>
            <a:pPr marL="12700">
              <a:lnSpc>
                <a:spcPct val="100000"/>
              </a:lnSpc>
            </a:pPr>
            <a:r>
              <a:rPr sz="2400" dirty="0">
                <a:latin typeface="Arial"/>
                <a:cs typeface="Arial"/>
              </a:rPr>
              <a:t>it</a:t>
            </a:r>
            <a:r>
              <a:rPr sz="2400" spc="-45" dirty="0">
                <a:latin typeface="Arial"/>
                <a:cs typeface="Arial"/>
              </a:rPr>
              <a:t> </a:t>
            </a:r>
            <a:r>
              <a:rPr sz="2400" dirty="0">
                <a:latin typeface="Arial"/>
                <a:cs typeface="Arial"/>
              </a:rPr>
              <a:t>is</a:t>
            </a:r>
            <a:r>
              <a:rPr sz="2400" spc="-30" dirty="0">
                <a:latin typeface="Arial"/>
                <a:cs typeface="Arial"/>
              </a:rPr>
              <a:t> </a:t>
            </a:r>
            <a:r>
              <a:rPr sz="2400" dirty="0">
                <a:latin typeface="Arial"/>
                <a:cs typeface="Arial"/>
              </a:rPr>
              <a:t>linked</a:t>
            </a:r>
            <a:r>
              <a:rPr sz="2400" spc="-20" dirty="0">
                <a:latin typeface="Arial"/>
                <a:cs typeface="Arial"/>
              </a:rPr>
              <a:t> </a:t>
            </a:r>
            <a:r>
              <a:rPr sz="2400" dirty="0">
                <a:latin typeface="Arial"/>
                <a:cs typeface="Arial"/>
              </a:rPr>
              <a:t>is</a:t>
            </a:r>
            <a:r>
              <a:rPr sz="2400" spc="-30" dirty="0">
                <a:latin typeface="Arial"/>
                <a:cs typeface="Arial"/>
              </a:rPr>
              <a:t> </a:t>
            </a:r>
            <a:r>
              <a:rPr sz="2400" spc="-10" dirty="0">
                <a:latin typeface="Arial"/>
                <a:cs typeface="Arial"/>
              </a:rPr>
              <a:t>money.</a:t>
            </a:r>
            <a:endParaRPr sz="2400">
              <a:latin typeface="Arial"/>
              <a:cs typeface="Arial"/>
            </a:endParaRPr>
          </a:p>
          <a:p>
            <a:pPr marL="12700">
              <a:lnSpc>
                <a:spcPct val="100000"/>
              </a:lnSpc>
              <a:spcBef>
                <a:spcPts val="1200"/>
              </a:spcBef>
            </a:pPr>
            <a:r>
              <a:rPr sz="2400" b="1" dirty="0">
                <a:solidFill>
                  <a:srgbClr val="6F2F9F"/>
                </a:solidFill>
                <a:latin typeface="Arial"/>
                <a:cs typeface="Arial"/>
              </a:rPr>
              <a:t>Credit</a:t>
            </a:r>
            <a:r>
              <a:rPr sz="2400" b="1" spc="-65" dirty="0">
                <a:solidFill>
                  <a:srgbClr val="6F2F9F"/>
                </a:solidFill>
                <a:latin typeface="Arial"/>
                <a:cs typeface="Arial"/>
              </a:rPr>
              <a:t> </a:t>
            </a:r>
            <a:r>
              <a:rPr sz="2400" b="1" dirty="0">
                <a:solidFill>
                  <a:srgbClr val="6F2F9F"/>
                </a:solidFill>
                <a:latin typeface="Arial"/>
                <a:cs typeface="Arial"/>
              </a:rPr>
              <a:t>Cards</a:t>
            </a:r>
            <a:r>
              <a:rPr sz="2400" b="1" spc="-60" dirty="0">
                <a:solidFill>
                  <a:srgbClr val="6F2F9F"/>
                </a:solidFill>
                <a:latin typeface="Arial"/>
                <a:cs typeface="Arial"/>
              </a:rPr>
              <a:t> </a:t>
            </a:r>
            <a:r>
              <a:rPr sz="2400" b="1" dirty="0">
                <a:solidFill>
                  <a:srgbClr val="6F2F9F"/>
                </a:solidFill>
                <a:latin typeface="Arial"/>
                <a:cs typeface="Arial"/>
              </a:rPr>
              <a:t>Are</a:t>
            </a:r>
            <a:r>
              <a:rPr sz="2400" b="1" spc="-60" dirty="0">
                <a:solidFill>
                  <a:srgbClr val="6F2F9F"/>
                </a:solidFill>
                <a:latin typeface="Arial"/>
                <a:cs typeface="Arial"/>
              </a:rPr>
              <a:t> </a:t>
            </a:r>
            <a:r>
              <a:rPr sz="2400" b="1" dirty="0">
                <a:solidFill>
                  <a:srgbClr val="6F2F9F"/>
                </a:solidFill>
                <a:latin typeface="Arial"/>
                <a:cs typeface="Arial"/>
              </a:rPr>
              <a:t>Not</a:t>
            </a:r>
            <a:r>
              <a:rPr sz="2400" b="1" spc="-65" dirty="0">
                <a:solidFill>
                  <a:srgbClr val="6F2F9F"/>
                </a:solidFill>
                <a:latin typeface="Arial"/>
                <a:cs typeface="Arial"/>
              </a:rPr>
              <a:t> </a:t>
            </a:r>
            <a:r>
              <a:rPr sz="2400" b="1" spc="-10" dirty="0">
                <a:solidFill>
                  <a:srgbClr val="6F2F9F"/>
                </a:solidFill>
                <a:latin typeface="Arial"/>
                <a:cs typeface="Arial"/>
              </a:rPr>
              <a:t>Money?</a:t>
            </a:r>
            <a:endParaRPr sz="2400">
              <a:latin typeface="Arial"/>
              <a:cs typeface="Arial"/>
            </a:endParaRPr>
          </a:p>
          <a:p>
            <a:pPr marL="12700">
              <a:lnSpc>
                <a:spcPct val="100000"/>
              </a:lnSpc>
              <a:spcBef>
                <a:spcPts val="1200"/>
              </a:spcBef>
            </a:pPr>
            <a:r>
              <a:rPr sz="2400" dirty="0">
                <a:latin typeface="Arial"/>
                <a:cs typeface="Arial"/>
              </a:rPr>
              <a:t>A</a:t>
            </a:r>
            <a:r>
              <a:rPr sz="2400" spc="-50" dirty="0">
                <a:latin typeface="Arial"/>
                <a:cs typeface="Arial"/>
              </a:rPr>
              <a:t> </a:t>
            </a:r>
            <a:r>
              <a:rPr sz="2400" dirty="0">
                <a:latin typeface="Arial"/>
                <a:cs typeface="Arial"/>
              </a:rPr>
              <a:t>credit</a:t>
            </a:r>
            <a:r>
              <a:rPr sz="2400" spc="-50" dirty="0">
                <a:latin typeface="Arial"/>
                <a:cs typeface="Arial"/>
              </a:rPr>
              <a:t> </a:t>
            </a:r>
            <a:r>
              <a:rPr sz="2400" dirty="0">
                <a:latin typeface="Arial"/>
                <a:cs typeface="Arial"/>
              </a:rPr>
              <a:t>card</a:t>
            </a:r>
            <a:r>
              <a:rPr sz="2400" spc="-45" dirty="0">
                <a:latin typeface="Arial"/>
                <a:cs typeface="Arial"/>
              </a:rPr>
              <a:t> </a:t>
            </a:r>
            <a:r>
              <a:rPr sz="2400" dirty="0">
                <a:latin typeface="Arial"/>
                <a:cs typeface="Arial"/>
              </a:rPr>
              <a:t>enables</a:t>
            </a:r>
            <a:r>
              <a:rPr sz="2400" spc="-25" dirty="0">
                <a:latin typeface="Arial"/>
                <a:cs typeface="Arial"/>
              </a:rPr>
              <a:t> </a:t>
            </a:r>
            <a:r>
              <a:rPr sz="2400" dirty="0">
                <a:latin typeface="Arial"/>
                <a:cs typeface="Arial"/>
              </a:rPr>
              <a:t>the</a:t>
            </a:r>
            <a:r>
              <a:rPr sz="2400" spc="-50" dirty="0">
                <a:latin typeface="Arial"/>
                <a:cs typeface="Arial"/>
              </a:rPr>
              <a:t> </a:t>
            </a:r>
            <a:r>
              <a:rPr sz="2400" dirty="0">
                <a:latin typeface="Arial"/>
                <a:cs typeface="Arial"/>
              </a:rPr>
              <a:t>holder</a:t>
            </a:r>
            <a:r>
              <a:rPr sz="2400" spc="-35" dirty="0">
                <a:latin typeface="Arial"/>
                <a:cs typeface="Arial"/>
              </a:rPr>
              <a:t> </a:t>
            </a:r>
            <a:r>
              <a:rPr sz="2400" dirty="0">
                <a:latin typeface="Arial"/>
                <a:cs typeface="Arial"/>
              </a:rPr>
              <a:t>to</a:t>
            </a:r>
            <a:r>
              <a:rPr sz="2400" spc="-55" dirty="0">
                <a:latin typeface="Arial"/>
                <a:cs typeface="Arial"/>
              </a:rPr>
              <a:t> </a:t>
            </a:r>
            <a:r>
              <a:rPr sz="2400" dirty="0">
                <a:latin typeface="Arial"/>
                <a:cs typeface="Arial"/>
              </a:rPr>
              <a:t>obtain</a:t>
            </a:r>
            <a:r>
              <a:rPr sz="2400" spc="-45" dirty="0">
                <a:latin typeface="Arial"/>
                <a:cs typeface="Arial"/>
              </a:rPr>
              <a:t> </a:t>
            </a:r>
            <a:r>
              <a:rPr sz="2400" dirty="0">
                <a:latin typeface="Arial"/>
                <a:cs typeface="Arial"/>
              </a:rPr>
              <a:t>a</a:t>
            </a:r>
            <a:r>
              <a:rPr sz="2400" spc="-50" dirty="0">
                <a:latin typeface="Arial"/>
                <a:cs typeface="Arial"/>
              </a:rPr>
              <a:t> </a:t>
            </a:r>
            <a:r>
              <a:rPr sz="2400" dirty="0">
                <a:latin typeface="Arial"/>
                <a:cs typeface="Arial"/>
              </a:rPr>
              <a:t>loan,</a:t>
            </a:r>
            <a:r>
              <a:rPr sz="2400" spc="-40" dirty="0">
                <a:latin typeface="Arial"/>
                <a:cs typeface="Arial"/>
              </a:rPr>
              <a:t> </a:t>
            </a:r>
            <a:r>
              <a:rPr sz="2400" dirty="0">
                <a:latin typeface="Arial"/>
                <a:cs typeface="Arial"/>
              </a:rPr>
              <a:t>but</a:t>
            </a:r>
            <a:r>
              <a:rPr sz="2400" spc="-45" dirty="0">
                <a:latin typeface="Arial"/>
                <a:cs typeface="Arial"/>
              </a:rPr>
              <a:t> </a:t>
            </a:r>
            <a:r>
              <a:rPr sz="2400" dirty="0">
                <a:latin typeface="Arial"/>
                <a:cs typeface="Arial"/>
              </a:rPr>
              <a:t>it</a:t>
            </a:r>
            <a:r>
              <a:rPr sz="2400" spc="-60" dirty="0">
                <a:latin typeface="Arial"/>
                <a:cs typeface="Arial"/>
              </a:rPr>
              <a:t> </a:t>
            </a:r>
            <a:r>
              <a:rPr sz="2400" spc="-20" dirty="0">
                <a:latin typeface="Arial"/>
                <a:cs typeface="Arial"/>
              </a:rPr>
              <a:t>must</a:t>
            </a:r>
            <a:endParaRPr sz="2400">
              <a:latin typeface="Arial"/>
              <a:cs typeface="Arial"/>
            </a:endParaRPr>
          </a:p>
          <a:p>
            <a:pPr marL="12700">
              <a:lnSpc>
                <a:spcPct val="100000"/>
              </a:lnSpc>
              <a:spcBef>
                <a:spcPts val="5"/>
              </a:spcBef>
            </a:pPr>
            <a:r>
              <a:rPr sz="2400" dirty="0">
                <a:latin typeface="Arial"/>
                <a:cs typeface="Arial"/>
              </a:rPr>
              <a:t>be</a:t>
            </a:r>
            <a:r>
              <a:rPr sz="2400" spc="-60" dirty="0">
                <a:latin typeface="Arial"/>
                <a:cs typeface="Arial"/>
              </a:rPr>
              <a:t> </a:t>
            </a:r>
            <a:r>
              <a:rPr sz="2400" dirty="0">
                <a:latin typeface="Arial"/>
                <a:cs typeface="Arial"/>
              </a:rPr>
              <a:t>repaid</a:t>
            </a:r>
            <a:r>
              <a:rPr sz="2400" spc="-45" dirty="0">
                <a:latin typeface="Arial"/>
                <a:cs typeface="Arial"/>
              </a:rPr>
              <a:t> </a:t>
            </a:r>
            <a:r>
              <a:rPr sz="2400" dirty="0">
                <a:latin typeface="Arial"/>
                <a:cs typeface="Arial"/>
              </a:rPr>
              <a:t>with</a:t>
            </a:r>
            <a:r>
              <a:rPr sz="2400" spc="-55" dirty="0">
                <a:latin typeface="Arial"/>
                <a:cs typeface="Arial"/>
              </a:rPr>
              <a:t> </a:t>
            </a:r>
            <a:r>
              <a:rPr sz="2400" dirty="0">
                <a:latin typeface="Arial"/>
                <a:cs typeface="Arial"/>
              </a:rPr>
              <a:t>money.</a:t>
            </a:r>
            <a:r>
              <a:rPr sz="2400" spc="-55" dirty="0">
                <a:latin typeface="Arial"/>
                <a:cs typeface="Arial"/>
              </a:rPr>
              <a:t> </a:t>
            </a:r>
            <a:r>
              <a:rPr sz="2400" dirty="0">
                <a:latin typeface="Arial"/>
                <a:cs typeface="Arial"/>
              </a:rPr>
              <a:t>Credit</a:t>
            </a:r>
            <a:r>
              <a:rPr sz="2400" spc="-50" dirty="0">
                <a:latin typeface="Arial"/>
                <a:cs typeface="Arial"/>
              </a:rPr>
              <a:t> </a:t>
            </a:r>
            <a:r>
              <a:rPr sz="2400" dirty="0">
                <a:latin typeface="Arial"/>
                <a:cs typeface="Arial"/>
              </a:rPr>
              <a:t>cards</a:t>
            </a:r>
            <a:r>
              <a:rPr sz="2400" spc="-60" dirty="0">
                <a:latin typeface="Arial"/>
                <a:cs typeface="Arial"/>
              </a:rPr>
              <a:t> </a:t>
            </a:r>
            <a:r>
              <a:rPr sz="2400" dirty="0">
                <a:latin typeface="Arial"/>
                <a:cs typeface="Arial"/>
              </a:rPr>
              <a:t>are</a:t>
            </a:r>
            <a:r>
              <a:rPr sz="2400" spc="-55" dirty="0">
                <a:latin typeface="Arial"/>
                <a:cs typeface="Arial"/>
              </a:rPr>
              <a:t> </a:t>
            </a:r>
            <a:r>
              <a:rPr sz="2400" dirty="0">
                <a:latin typeface="Arial"/>
                <a:cs typeface="Arial"/>
              </a:rPr>
              <a:t>not</a:t>
            </a:r>
            <a:r>
              <a:rPr sz="2400" spc="-55" dirty="0">
                <a:latin typeface="Arial"/>
                <a:cs typeface="Arial"/>
              </a:rPr>
              <a:t> </a:t>
            </a:r>
            <a:r>
              <a:rPr sz="2400" spc="-10" dirty="0">
                <a:latin typeface="Arial"/>
                <a:cs typeface="Arial"/>
              </a:rPr>
              <a:t>money.</a:t>
            </a:r>
            <a:endParaRPr sz="2400">
              <a:latin typeface="Arial"/>
              <a:cs typeface="Arial"/>
            </a:endParaRPr>
          </a:p>
        </p:txBody>
      </p:sp>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0059">
              <a:lnSpc>
                <a:spcPct val="100000"/>
              </a:lnSpc>
              <a:spcBef>
                <a:spcPts val="105"/>
              </a:spcBef>
            </a:pPr>
            <a:r>
              <a:rPr dirty="0"/>
              <a:t>What</a:t>
            </a:r>
            <a:r>
              <a:rPr spc="-30" dirty="0"/>
              <a:t> </a:t>
            </a:r>
            <a:r>
              <a:rPr dirty="0"/>
              <a:t>is</a:t>
            </a:r>
            <a:r>
              <a:rPr spc="-25" dirty="0"/>
              <a:t> </a:t>
            </a:r>
            <a:r>
              <a:rPr spc="-10" dirty="0"/>
              <a:t>Money?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547522" y="1609801"/>
            <a:ext cx="7900670" cy="4093210"/>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Arial"/>
                <a:cs typeface="Arial"/>
              </a:rPr>
              <a:t>A</a:t>
            </a:r>
            <a:r>
              <a:rPr sz="2400" spc="-30" dirty="0">
                <a:latin typeface="Arial"/>
                <a:cs typeface="Arial"/>
              </a:rPr>
              <a:t> </a:t>
            </a:r>
            <a:r>
              <a:rPr sz="2400" b="1" dirty="0">
                <a:latin typeface="Arial"/>
                <a:cs typeface="Arial"/>
              </a:rPr>
              <a:t>depository</a:t>
            </a:r>
            <a:r>
              <a:rPr sz="2400" b="1" spc="-35" dirty="0">
                <a:latin typeface="Arial"/>
                <a:cs typeface="Arial"/>
              </a:rPr>
              <a:t> </a:t>
            </a:r>
            <a:r>
              <a:rPr sz="2400" b="1" dirty="0">
                <a:latin typeface="Arial"/>
                <a:cs typeface="Arial"/>
              </a:rPr>
              <a:t>institution</a:t>
            </a:r>
            <a:r>
              <a:rPr sz="2400" b="1" spc="-65" dirty="0">
                <a:latin typeface="Arial"/>
                <a:cs typeface="Arial"/>
              </a:rPr>
              <a:t> </a:t>
            </a:r>
            <a:r>
              <a:rPr sz="2400" dirty="0">
                <a:latin typeface="Arial"/>
                <a:cs typeface="Arial"/>
              </a:rPr>
              <a:t>is</a:t>
            </a:r>
            <a:r>
              <a:rPr sz="2400" spc="-20" dirty="0">
                <a:latin typeface="Arial"/>
                <a:cs typeface="Arial"/>
              </a:rPr>
              <a:t> </a:t>
            </a:r>
            <a:r>
              <a:rPr sz="2400" dirty="0">
                <a:latin typeface="Arial"/>
                <a:cs typeface="Arial"/>
              </a:rPr>
              <a:t>a</a:t>
            </a:r>
            <a:r>
              <a:rPr sz="2400" spc="-25" dirty="0">
                <a:latin typeface="Arial"/>
                <a:cs typeface="Arial"/>
              </a:rPr>
              <a:t> </a:t>
            </a:r>
            <a:r>
              <a:rPr sz="2400" dirty="0">
                <a:latin typeface="Arial"/>
                <a:cs typeface="Arial"/>
              </a:rPr>
              <a:t>firm</a:t>
            </a:r>
            <a:r>
              <a:rPr sz="2400" spc="-20" dirty="0">
                <a:latin typeface="Arial"/>
                <a:cs typeface="Arial"/>
              </a:rPr>
              <a:t> </a:t>
            </a:r>
            <a:r>
              <a:rPr sz="2400" dirty="0">
                <a:latin typeface="Arial"/>
                <a:cs typeface="Arial"/>
              </a:rPr>
              <a:t>that</a:t>
            </a:r>
            <a:r>
              <a:rPr sz="2400" spc="-35" dirty="0">
                <a:latin typeface="Arial"/>
                <a:cs typeface="Arial"/>
              </a:rPr>
              <a:t> </a:t>
            </a:r>
            <a:r>
              <a:rPr sz="2400" dirty="0">
                <a:latin typeface="Arial"/>
                <a:cs typeface="Arial"/>
              </a:rPr>
              <a:t>takes</a:t>
            </a:r>
            <a:r>
              <a:rPr sz="2400" spc="-15" dirty="0">
                <a:latin typeface="Arial"/>
                <a:cs typeface="Arial"/>
              </a:rPr>
              <a:t> </a:t>
            </a:r>
            <a:r>
              <a:rPr sz="2400" dirty="0">
                <a:latin typeface="Arial"/>
                <a:cs typeface="Arial"/>
              </a:rPr>
              <a:t>deposits</a:t>
            </a:r>
            <a:r>
              <a:rPr sz="2400" spc="-5" dirty="0">
                <a:latin typeface="Arial"/>
                <a:cs typeface="Arial"/>
              </a:rPr>
              <a:t> </a:t>
            </a:r>
            <a:r>
              <a:rPr sz="2400" spc="-20" dirty="0">
                <a:latin typeface="Arial"/>
                <a:cs typeface="Arial"/>
              </a:rPr>
              <a:t>from </a:t>
            </a:r>
            <a:r>
              <a:rPr sz="2400" dirty="0">
                <a:latin typeface="Arial"/>
                <a:cs typeface="Arial"/>
              </a:rPr>
              <a:t>households</a:t>
            </a:r>
            <a:r>
              <a:rPr sz="2400" spc="-35" dirty="0">
                <a:latin typeface="Arial"/>
                <a:cs typeface="Arial"/>
              </a:rPr>
              <a:t> </a:t>
            </a:r>
            <a:r>
              <a:rPr sz="2400" dirty="0">
                <a:latin typeface="Arial"/>
                <a:cs typeface="Arial"/>
              </a:rPr>
              <a:t>and</a:t>
            </a:r>
            <a:r>
              <a:rPr sz="2400" spc="-60" dirty="0">
                <a:latin typeface="Arial"/>
                <a:cs typeface="Arial"/>
              </a:rPr>
              <a:t> </a:t>
            </a:r>
            <a:r>
              <a:rPr sz="2400" dirty="0">
                <a:latin typeface="Arial"/>
                <a:cs typeface="Arial"/>
              </a:rPr>
              <a:t>firms</a:t>
            </a:r>
            <a:r>
              <a:rPr sz="2400" spc="-85" dirty="0">
                <a:latin typeface="Arial"/>
                <a:cs typeface="Arial"/>
              </a:rPr>
              <a:t> </a:t>
            </a:r>
            <a:r>
              <a:rPr sz="2400" dirty="0">
                <a:latin typeface="Arial"/>
                <a:cs typeface="Arial"/>
              </a:rPr>
              <a:t>and</a:t>
            </a:r>
            <a:r>
              <a:rPr sz="2400" spc="-60" dirty="0">
                <a:latin typeface="Arial"/>
                <a:cs typeface="Arial"/>
              </a:rPr>
              <a:t> </a:t>
            </a:r>
            <a:r>
              <a:rPr sz="2400" dirty="0">
                <a:latin typeface="Arial"/>
                <a:cs typeface="Arial"/>
              </a:rPr>
              <a:t>makes</a:t>
            </a:r>
            <a:r>
              <a:rPr sz="2400" spc="-65" dirty="0">
                <a:latin typeface="Arial"/>
                <a:cs typeface="Arial"/>
              </a:rPr>
              <a:t> </a:t>
            </a:r>
            <a:r>
              <a:rPr sz="2400" dirty="0">
                <a:latin typeface="Arial"/>
                <a:cs typeface="Arial"/>
              </a:rPr>
              <a:t>loans</a:t>
            </a:r>
            <a:r>
              <a:rPr sz="2400" spc="-55" dirty="0">
                <a:latin typeface="Arial"/>
                <a:cs typeface="Arial"/>
              </a:rPr>
              <a:t> </a:t>
            </a:r>
            <a:r>
              <a:rPr sz="2400" dirty="0">
                <a:latin typeface="Arial"/>
                <a:cs typeface="Arial"/>
              </a:rPr>
              <a:t>to</a:t>
            </a:r>
            <a:r>
              <a:rPr sz="2400" spc="-65" dirty="0">
                <a:latin typeface="Arial"/>
                <a:cs typeface="Arial"/>
              </a:rPr>
              <a:t> </a:t>
            </a:r>
            <a:r>
              <a:rPr sz="2400" spc="-10" dirty="0">
                <a:latin typeface="Arial"/>
                <a:cs typeface="Arial"/>
              </a:rPr>
              <a:t>other </a:t>
            </a:r>
            <a:r>
              <a:rPr sz="2400" dirty="0">
                <a:latin typeface="Arial"/>
                <a:cs typeface="Arial"/>
              </a:rPr>
              <a:t>households</a:t>
            </a:r>
            <a:r>
              <a:rPr sz="2400" spc="-85" dirty="0">
                <a:latin typeface="Arial"/>
                <a:cs typeface="Arial"/>
              </a:rPr>
              <a:t> </a:t>
            </a:r>
            <a:r>
              <a:rPr sz="2400" dirty="0">
                <a:latin typeface="Arial"/>
                <a:cs typeface="Arial"/>
              </a:rPr>
              <a:t>and</a:t>
            </a:r>
            <a:r>
              <a:rPr sz="2400" spc="-105" dirty="0">
                <a:latin typeface="Arial"/>
                <a:cs typeface="Arial"/>
              </a:rPr>
              <a:t> </a:t>
            </a:r>
            <a:r>
              <a:rPr sz="2400" spc="-10" dirty="0">
                <a:latin typeface="Arial"/>
                <a:cs typeface="Arial"/>
              </a:rPr>
              <a:t>firms.</a:t>
            </a:r>
            <a:endParaRPr sz="2400">
              <a:latin typeface="Arial"/>
              <a:cs typeface="Arial"/>
            </a:endParaRPr>
          </a:p>
          <a:p>
            <a:pPr marL="12700">
              <a:lnSpc>
                <a:spcPct val="100000"/>
              </a:lnSpc>
              <a:spcBef>
                <a:spcPts val="1205"/>
              </a:spcBef>
            </a:pPr>
            <a:r>
              <a:rPr sz="2400" b="1" dirty="0">
                <a:solidFill>
                  <a:srgbClr val="1A70B7"/>
                </a:solidFill>
                <a:latin typeface="Arial"/>
                <a:cs typeface="Arial"/>
              </a:rPr>
              <a:t>Types</a:t>
            </a:r>
            <a:r>
              <a:rPr sz="2400" b="1" spc="-45" dirty="0">
                <a:solidFill>
                  <a:srgbClr val="1A70B7"/>
                </a:solidFill>
                <a:latin typeface="Arial"/>
                <a:cs typeface="Arial"/>
              </a:rPr>
              <a:t> </a:t>
            </a:r>
            <a:r>
              <a:rPr sz="2400" b="1" dirty="0">
                <a:solidFill>
                  <a:srgbClr val="1A70B7"/>
                </a:solidFill>
                <a:latin typeface="Arial"/>
                <a:cs typeface="Arial"/>
              </a:rPr>
              <a:t>of</a:t>
            </a:r>
            <a:r>
              <a:rPr sz="2400" b="1" spc="-55" dirty="0">
                <a:solidFill>
                  <a:srgbClr val="1A70B7"/>
                </a:solidFill>
                <a:latin typeface="Arial"/>
                <a:cs typeface="Arial"/>
              </a:rPr>
              <a:t> </a:t>
            </a:r>
            <a:r>
              <a:rPr sz="2400" b="1" dirty="0">
                <a:solidFill>
                  <a:srgbClr val="1A70B7"/>
                </a:solidFill>
                <a:latin typeface="Arial"/>
                <a:cs typeface="Arial"/>
              </a:rPr>
              <a:t>Depository</a:t>
            </a:r>
            <a:r>
              <a:rPr sz="2400" b="1" spc="-60" dirty="0">
                <a:solidFill>
                  <a:srgbClr val="1A70B7"/>
                </a:solidFill>
                <a:latin typeface="Arial"/>
                <a:cs typeface="Arial"/>
              </a:rPr>
              <a:t> </a:t>
            </a:r>
            <a:r>
              <a:rPr sz="2400" b="1" spc="-10" dirty="0">
                <a:solidFill>
                  <a:srgbClr val="1A70B7"/>
                </a:solidFill>
                <a:latin typeface="Arial"/>
                <a:cs typeface="Arial"/>
              </a:rPr>
              <a:t>Institutions</a:t>
            </a:r>
            <a:endParaRPr sz="2400">
              <a:latin typeface="Arial"/>
              <a:cs typeface="Arial"/>
            </a:endParaRPr>
          </a:p>
          <a:p>
            <a:pPr marL="12700" marR="67945">
              <a:lnSpc>
                <a:spcPct val="100000"/>
              </a:lnSpc>
              <a:spcBef>
                <a:spcPts val="1200"/>
              </a:spcBef>
            </a:pPr>
            <a:r>
              <a:rPr sz="2400" dirty="0">
                <a:latin typeface="Arial"/>
                <a:cs typeface="Arial"/>
              </a:rPr>
              <a:t>Deposits</a:t>
            </a:r>
            <a:r>
              <a:rPr sz="2400" spc="-60" dirty="0">
                <a:latin typeface="Arial"/>
                <a:cs typeface="Arial"/>
              </a:rPr>
              <a:t> </a:t>
            </a:r>
            <a:r>
              <a:rPr sz="2400" dirty="0">
                <a:latin typeface="Arial"/>
                <a:cs typeface="Arial"/>
              </a:rPr>
              <a:t>at</a:t>
            </a:r>
            <a:r>
              <a:rPr sz="2400" spc="-65" dirty="0">
                <a:latin typeface="Arial"/>
                <a:cs typeface="Arial"/>
              </a:rPr>
              <a:t> </a:t>
            </a:r>
            <a:r>
              <a:rPr sz="2400" dirty="0">
                <a:latin typeface="Arial"/>
                <a:cs typeface="Arial"/>
              </a:rPr>
              <a:t>three</a:t>
            </a:r>
            <a:r>
              <a:rPr sz="2400" spc="-70" dirty="0">
                <a:latin typeface="Arial"/>
                <a:cs typeface="Arial"/>
              </a:rPr>
              <a:t> </a:t>
            </a:r>
            <a:r>
              <a:rPr sz="2400" dirty="0">
                <a:latin typeface="Arial"/>
                <a:cs typeface="Arial"/>
              </a:rPr>
              <a:t>institutions</a:t>
            </a:r>
            <a:r>
              <a:rPr sz="2400" spc="-65" dirty="0">
                <a:latin typeface="Arial"/>
                <a:cs typeface="Arial"/>
              </a:rPr>
              <a:t> </a:t>
            </a:r>
            <a:r>
              <a:rPr sz="2400" dirty="0">
                <a:latin typeface="Arial"/>
                <a:cs typeface="Arial"/>
              </a:rPr>
              <a:t>make</a:t>
            </a:r>
            <a:r>
              <a:rPr sz="2400" spc="-65" dirty="0">
                <a:latin typeface="Arial"/>
                <a:cs typeface="Arial"/>
              </a:rPr>
              <a:t> </a:t>
            </a:r>
            <a:r>
              <a:rPr sz="2400" dirty="0">
                <a:latin typeface="Arial"/>
                <a:cs typeface="Arial"/>
              </a:rPr>
              <a:t>up</a:t>
            </a:r>
            <a:r>
              <a:rPr sz="2400" spc="-70" dirty="0">
                <a:latin typeface="Arial"/>
                <a:cs typeface="Arial"/>
              </a:rPr>
              <a:t> </a:t>
            </a:r>
            <a:r>
              <a:rPr sz="2400" dirty="0">
                <a:latin typeface="Arial"/>
                <a:cs typeface="Arial"/>
              </a:rPr>
              <a:t>the</a:t>
            </a:r>
            <a:r>
              <a:rPr sz="2400" spc="-85" dirty="0">
                <a:latin typeface="Arial"/>
                <a:cs typeface="Arial"/>
              </a:rPr>
              <a:t> </a:t>
            </a:r>
            <a:r>
              <a:rPr sz="2400" dirty="0">
                <a:latin typeface="Arial"/>
                <a:cs typeface="Arial"/>
              </a:rPr>
              <a:t>nation’s</a:t>
            </a:r>
            <a:r>
              <a:rPr sz="2400" spc="-45" dirty="0">
                <a:latin typeface="Arial"/>
                <a:cs typeface="Arial"/>
              </a:rPr>
              <a:t> </a:t>
            </a:r>
            <a:r>
              <a:rPr sz="2400" spc="-10" dirty="0">
                <a:latin typeface="Arial"/>
                <a:cs typeface="Arial"/>
              </a:rPr>
              <a:t>money. </a:t>
            </a:r>
            <a:r>
              <a:rPr sz="2400" dirty="0">
                <a:latin typeface="Arial"/>
                <a:cs typeface="Arial"/>
              </a:rPr>
              <a:t>They</a:t>
            </a:r>
            <a:r>
              <a:rPr sz="2400" spc="-65" dirty="0">
                <a:latin typeface="Arial"/>
                <a:cs typeface="Arial"/>
              </a:rPr>
              <a:t> </a:t>
            </a:r>
            <a:r>
              <a:rPr sz="2400" spc="-25" dirty="0">
                <a:latin typeface="Arial"/>
                <a:cs typeface="Arial"/>
              </a:rPr>
              <a:t>are</a:t>
            </a:r>
            <a:endParaRPr sz="2400">
              <a:latin typeface="Arial"/>
              <a:cs typeface="Arial"/>
            </a:endParaRPr>
          </a:p>
          <a:p>
            <a:pPr marL="262255" indent="-249554">
              <a:lnSpc>
                <a:spcPct val="100000"/>
              </a:lnSpc>
              <a:spcBef>
                <a:spcPts val="1205"/>
              </a:spcBef>
              <a:buClr>
                <a:srgbClr val="6F2F9F"/>
              </a:buClr>
              <a:buSzPct val="118750"/>
              <a:buFont typeface="Wingdings"/>
              <a:buChar char=""/>
              <a:tabLst>
                <a:tab pos="262255" algn="l"/>
              </a:tabLst>
            </a:pPr>
            <a:r>
              <a:rPr sz="2400" dirty="0">
                <a:latin typeface="Arial"/>
                <a:cs typeface="Arial"/>
              </a:rPr>
              <a:t>Commercial</a:t>
            </a:r>
            <a:r>
              <a:rPr sz="2400" spc="-150" dirty="0">
                <a:latin typeface="Arial"/>
                <a:cs typeface="Arial"/>
              </a:rPr>
              <a:t> </a:t>
            </a:r>
            <a:r>
              <a:rPr sz="2400" spc="-20" dirty="0">
                <a:latin typeface="Arial"/>
                <a:cs typeface="Arial"/>
              </a:rPr>
              <a:t>banks</a:t>
            </a:r>
            <a:endParaRPr sz="2400">
              <a:latin typeface="Arial"/>
              <a:cs typeface="Arial"/>
            </a:endParaRPr>
          </a:p>
          <a:p>
            <a:pPr marL="262255" indent="-249554">
              <a:lnSpc>
                <a:spcPct val="100000"/>
              </a:lnSpc>
              <a:spcBef>
                <a:spcPts val="1200"/>
              </a:spcBef>
              <a:buClr>
                <a:srgbClr val="6F2F9F"/>
              </a:buClr>
              <a:buSzPct val="118750"/>
              <a:buFont typeface="Wingdings"/>
              <a:buChar char=""/>
              <a:tabLst>
                <a:tab pos="262255" algn="l"/>
              </a:tabLst>
            </a:pPr>
            <a:r>
              <a:rPr sz="2400" dirty="0">
                <a:latin typeface="Arial"/>
                <a:cs typeface="Arial"/>
              </a:rPr>
              <a:t>Thrift </a:t>
            </a:r>
            <a:r>
              <a:rPr sz="2400" spc="-10" dirty="0">
                <a:latin typeface="Arial"/>
                <a:cs typeface="Arial"/>
              </a:rPr>
              <a:t>institutions</a:t>
            </a:r>
            <a:endParaRPr sz="2400">
              <a:latin typeface="Arial"/>
              <a:cs typeface="Arial"/>
            </a:endParaRPr>
          </a:p>
          <a:p>
            <a:pPr marL="262255" indent="-249554">
              <a:lnSpc>
                <a:spcPct val="100000"/>
              </a:lnSpc>
              <a:spcBef>
                <a:spcPts val="1200"/>
              </a:spcBef>
              <a:buClr>
                <a:srgbClr val="6F2F9F"/>
              </a:buClr>
              <a:buSzPct val="118750"/>
              <a:buFont typeface="Wingdings"/>
              <a:buChar char=""/>
              <a:tabLst>
                <a:tab pos="262255" algn="l"/>
              </a:tabLst>
            </a:pPr>
            <a:r>
              <a:rPr sz="2400" dirty="0">
                <a:latin typeface="Arial"/>
                <a:cs typeface="Arial"/>
              </a:rPr>
              <a:t>Money</a:t>
            </a:r>
            <a:r>
              <a:rPr sz="2400" spc="-65" dirty="0">
                <a:latin typeface="Arial"/>
                <a:cs typeface="Arial"/>
              </a:rPr>
              <a:t> </a:t>
            </a:r>
            <a:r>
              <a:rPr sz="2400" dirty="0">
                <a:latin typeface="Arial"/>
                <a:cs typeface="Arial"/>
              </a:rPr>
              <a:t>market</a:t>
            </a:r>
            <a:r>
              <a:rPr sz="2400" spc="-60" dirty="0">
                <a:latin typeface="Arial"/>
                <a:cs typeface="Arial"/>
              </a:rPr>
              <a:t> </a:t>
            </a:r>
            <a:r>
              <a:rPr sz="2400" dirty="0">
                <a:latin typeface="Arial"/>
                <a:cs typeface="Arial"/>
              </a:rPr>
              <a:t>mutual</a:t>
            </a:r>
            <a:r>
              <a:rPr sz="2400" spc="-75" dirty="0">
                <a:latin typeface="Arial"/>
                <a:cs typeface="Arial"/>
              </a:rPr>
              <a:t> </a:t>
            </a:r>
            <a:r>
              <a:rPr sz="2400" spc="-10" dirty="0">
                <a:latin typeface="Arial"/>
                <a:cs typeface="Arial"/>
              </a:rPr>
              <a:t>funds</a:t>
            </a:r>
            <a:endParaRPr sz="2400">
              <a:latin typeface="Arial"/>
              <a:cs typeface="Arial"/>
            </a:endParaRPr>
          </a:p>
        </p:txBody>
      </p:sp>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0059">
              <a:lnSpc>
                <a:spcPct val="100000"/>
              </a:lnSpc>
              <a:spcBef>
                <a:spcPts val="105"/>
              </a:spcBef>
            </a:pPr>
            <a:r>
              <a:rPr dirty="0"/>
              <a:t>Depository</a:t>
            </a:r>
            <a:r>
              <a:rPr spc="-85" dirty="0"/>
              <a:t> </a:t>
            </a:r>
            <a:r>
              <a:rPr spc="-10" dirty="0"/>
              <a:t>Institutions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43" name="Rectangle 3">
            <a:extLst>
              <a:ext uri="{FF2B5EF4-FFF2-40B4-BE49-F238E27FC236}">
                <a16:creationId xmlns:a16="http://schemas.microsoft.com/office/drawing/2014/main" id="{80D378BA-4CE0-D2AE-D915-41B5CA350EEB}"/>
              </a:ext>
            </a:extLst>
          </p:cNvPr>
          <p:cNvSpPr>
            <a:spLocks noChangeArrowheads="1"/>
          </p:cNvSpPr>
          <p:nvPr/>
        </p:nvSpPr>
        <p:spPr bwMode="auto">
          <a:xfrm>
            <a:off x="228600" y="1600200"/>
            <a:ext cx="8382000" cy="1752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TW">
                <a:ea typeface="MS Mincho" panose="02020609040205080304" pitchFamily="49" charset="-128"/>
              </a:rPr>
              <a:t>Figure 27.2 shows the institutions of the banking system.</a:t>
            </a:r>
          </a:p>
          <a:p>
            <a:pPr eaLnBrk="1" hangingPunct="1">
              <a:spcBef>
                <a:spcPct val="30000"/>
              </a:spcBef>
            </a:pPr>
            <a:r>
              <a:rPr lang="en-US" altLang="en-TW"/>
              <a:t>The Federal Reserve regulates and influences the activities of the commercial banks, thrift institutions, and money market funds, whose deposits make up the nation</a:t>
            </a:r>
            <a:r>
              <a:rPr lang="en-US" altLang="en-US"/>
              <a:t>’</a:t>
            </a:r>
            <a:r>
              <a:rPr lang="en-US" altLang="en-TW"/>
              <a:t>s money.</a:t>
            </a:r>
            <a:endParaRPr lang="en-US" altLang="en-TW">
              <a:ea typeface="MS Mincho" panose="02020609040205080304" pitchFamily="49" charset="-128"/>
            </a:endParaRPr>
          </a:p>
        </p:txBody>
      </p:sp>
      <p:sp>
        <p:nvSpPr>
          <p:cNvPr id="573458" name="Rectangle 18">
            <a:extLst>
              <a:ext uri="{FF2B5EF4-FFF2-40B4-BE49-F238E27FC236}">
                <a16:creationId xmlns:a16="http://schemas.microsoft.com/office/drawing/2014/main" id="{2D2EF66C-DB45-6510-C305-7E9A8EB5B7DD}"/>
              </a:ext>
            </a:extLst>
          </p:cNvPr>
          <p:cNvSpPr>
            <a:spLocks noGrp="1" noChangeArrowheads="1"/>
          </p:cNvSpPr>
          <p:nvPr>
            <p:ph type="title"/>
          </p:nvPr>
        </p:nvSpPr>
        <p:spPr/>
        <p:txBody>
          <a:bodyPr/>
          <a:lstStyle/>
          <a:p>
            <a:pPr eaLnBrk="1" hangingPunct="1">
              <a:defRPr/>
            </a:pPr>
            <a:r>
              <a:rPr lang="en-US" dirty="0">
                <a:cs typeface="+mj-cs"/>
              </a:rPr>
              <a:t>27.2  THE BANKING SYSTEM</a:t>
            </a:r>
            <a:endParaRPr lang="en-CA" dirty="0">
              <a:cs typeface="+mj-cs"/>
            </a:endParaRPr>
          </a:p>
        </p:txBody>
      </p:sp>
      <p:pic>
        <p:nvPicPr>
          <p:cNvPr id="52227" name="Picture 7" descr="fig2602a.gif">
            <a:extLst>
              <a:ext uri="{FF2B5EF4-FFF2-40B4-BE49-F238E27FC236}">
                <a16:creationId xmlns:a16="http://schemas.microsoft.com/office/drawing/2014/main" id="{632FC1C6-DBDD-4845-59DD-28D74237C8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1938" y="3362325"/>
            <a:ext cx="638175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g2602b.gif">
            <a:extLst>
              <a:ext uri="{FF2B5EF4-FFF2-40B4-BE49-F238E27FC236}">
                <a16:creationId xmlns:a16="http://schemas.microsoft.com/office/drawing/2014/main" id="{109DDCA3-452D-7706-9845-03C838B0F45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31938" y="3362325"/>
            <a:ext cx="638175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ig2602c.gif">
            <a:extLst>
              <a:ext uri="{FF2B5EF4-FFF2-40B4-BE49-F238E27FC236}">
                <a16:creationId xmlns:a16="http://schemas.microsoft.com/office/drawing/2014/main" id="{F0CD0A98-802F-CD3C-B098-70165FC0E89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531938" y="3362325"/>
            <a:ext cx="638175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43">
                                            <p:txEl>
                                              <p:pRg st="1" end="1"/>
                                            </p:txEl>
                                          </p:spTgt>
                                        </p:tgtEl>
                                        <p:attrNameLst>
                                          <p:attrName>style.visibility</p:attrName>
                                        </p:attrNameLst>
                                      </p:cBhvr>
                                      <p:to>
                                        <p:strVal val="visible"/>
                                      </p:to>
                                    </p:set>
                                    <p:animEffect transition="in" filter="wipe(left)">
                                      <p:cBhvr>
                                        <p:cTn id="7" dur="500"/>
                                        <p:tgtEl>
                                          <p:spTgt spid="5734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2000"/>
                                        <p:tgtEl>
                                          <p:spTgt spid="9"/>
                                        </p:tgtEl>
                                      </p:cBhvr>
                                    </p:animEffect>
                                  </p:childTnLst>
                                </p:cTn>
                              </p:par>
                            </p:childTnLst>
                          </p:cTn>
                        </p:par>
                        <p:par>
                          <p:cTn id="13" fill="hold" nodeType="afterGroup">
                            <p:stCondLst>
                              <p:cond delay="2000"/>
                            </p:stCondLst>
                            <p:childTnLst>
                              <p:par>
                                <p:cTn id="14" presetID="22" presetClass="entr" presetSubtype="1"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3"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6CA5F51D-BF80-34B7-E256-25B65042361B}"/>
              </a:ext>
            </a:extLst>
          </p:cNvPr>
          <p:cNvSpPr>
            <a:spLocks noGrp="1" noChangeArrowheads="1"/>
          </p:cNvSpPr>
          <p:nvPr>
            <p:ph type="body" idx="1"/>
          </p:nvPr>
        </p:nvSpPr>
        <p:spPr>
          <a:xfrm>
            <a:off x="304800" y="1447800"/>
            <a:ext cx="8382000" cy="4953000"/>
          </a:xfrm>
        </p:spPr>
        <p:txBody>
          <a:bodyPr/>
          <a:lstStyle/>
          <a:p>
            <a:pPr marL="0" indent="0" eaLnBrk="1" hangingPunct="1">
              <a:spcBef>
                <a:spcPct val="10000"/>
              </a:spcBef>
              <a:spcAft>
                <a:spcPct val="40000"/>
              </a:spcAft>
            </a:pPr>
            <a:r>
              <a:rPr lang="en-CA" altLang="en-US" sz="2400" dirty="0">
                <a:solidFill>
                  <a:srgbClr val="C40075"/>
                </a:solidFill>
              </a:rPr>
              <a:t>Commercial Banks</a:t>
            </a:r>
          </a:p>
          <a:p>
            <a:pPr lvl="1" indent="0" eaLnBrk="1" hangingPunct="1">
              <a:spcBef>
                <a:spcPct val="10000"/>
              </a:spcBef>
              <a:spcAft>
                <a:spcPct val="40000"/>
              </a:spcAft>
            </a:pPr>
            <a:r>
              <a:rPr lang="en-CA" altLang="en-US" sz="2400" dirty="0"/>
              <a:t>A </a:t>
            </a:r>
            <a:r>
              <a:rPr lang="en-CA" altLang="en-US" sz="2400" i="1" dirty="0"/>
              <a:t>commercial bank</a:t>
            </a:r>
            <a:r>
              <a:rPr lang="en-CA" altLang="en-US" sz="2400" dirty="0"/>
              <a:t> is a private firm that is licensed by the Controller of the Currency or by a state agency to receive deposits and make loans.</a:t>
            </a:r>
          </a:p>
          <a:p>
            <a:pPr marL="0" indent="0" eaLnBrk="1" hangingPunct="1">
              <a:spcBef>
                <a:spcPct val="10000"/>
              </a:spcBef>
              <a:spcAft>
                <a:spcPct val="40000"/>
              </a:spcAft>
            </a:pPr>
            <a:r>
              <a:rPr lang="en-CA" altLang="en-US" sz="2400" dirty="0">
                <a:solidFill>
                  <a:srgbClr val="C40075"/>
                </a:solidFill>
              </a:rPr>
              <a:t>Thrift Institutions</a:t>
            </a:r>
          </a:p>
          <a:p>
            <a:pPr marL="0" indent="0" eaLnBrk="1" hangingPunct="1">
              <a:spcBef>
                <a:spcPct val="10000"/>
              </a:spcBef>
              <a:spcAft>
                <a:spcPct val="40000"/>
              </a:spcAft>
            </a:pPr>
            <a:r>
              <a:rPr lang="en-CA" altLang="en-US" sz="2400" b="0" dirty="0">
                <a:solidFill>
                  <a:schemeClr val="tx1"/>
                </a:solidFill>
              </a:rPr>
              <a:t>Savings and loan associations, savings banks, and credit union are called </a:t>
            </a:r>
            <a:r>
              <a:rPr lang="en-CA" altLang="en-US" sz="2400" b="0" i="1" dirty="0">
                <a:solidFill>
                  <a:schemeClr val="tx1"/>
                </a:solidFill>
              </a:rPr>
              <a:t>thrift institutions.</a:t>
            </a:r>
          </a:p>
          <a:p>
            <a:pPr marL="0" indent="0" eaLnBrk="1" hangingPunct="1">
              <a:spcBef>
                <a:spcPct val="10000"/>
              </a:spcBef>
              <a:spcAft>
                <a:spcPct val="40000"/>
              </a:spcAft>
            </a:pPr>
            <a:r>
              <a:rPr lang="en-CA" altLang="en-US" sz="2400" dirty="0">
                <a:solidFill>
                  <a:srgbClr val="C40075"/>
                </a:solidFill>
              </a:rPr>
              <a:t>Money Market Mutual Funds</a:t>
            </a:r>
          </a:p>
          <a:p>
            <a:pPr marL="0" indent="0" eaLnBrk="1" hangingPunct="1">
              <a:spcBef>
                <a:spcPct val="10000"/>
              </a:spcBef>
              <a:spcAft>
                <a:spcPct val="40000"/>
              </a:spcAft>
            </a:pPr>
            <a:r>
              <a:rPr lang="en-CA" altLang="en-US" sz="2400" b="0" dirty="0">
                <a:solidFill>
                  <a:schemeClr val="tx1"/>
                </a:solidFill>
              </a:rPr>
              <a:t>A money market mutual fund is a fund operated by a financial institution that sells shares in the fund and holds assets such as U.S. Treasury bills.</a:t>
            </a:r>
            <a:endParaRPr lang="en-CA" altLang="en-US" sz="2400" b="0" i="1" dirty="0">
              <a:solidFill>
                <a:schemeClr val="tx1"/>
              </a:solidFill>
            </a:endParaRPr>
          </a:p>
        </p:txBody>
      </p:sp>
      <p:sp>
        <p:nvSpPr>
          <p:cNvPr id="34819" name="Rectangle 5">
            <a:extLst>
              <a:ext uri="{FF2B5EF4-FFF2-40B4-BE49-F238E27FC236}">
                <a16:creationId xmlns:a16="http://schemas.microsoft.com/office/drawing/2014/main" id="{9E9B0FA8-4B26-CA45-6E7A-19829BB7C78E}"/>
              </a:ext>
            </a:extLst>
          </p:cNvPr>
          <p:cNvSpPr>
            <a:spLocks noGrp="1" noChangeArrowheads="1"/>
          </p:cNvSpPr>
          <p:nvPr>
            <p:ph type="title"/>
          </p:nvPr>
        </p:nvSpPr>
        <p:spPr>
          <a:xfrm>
            <a:off x="990600" y="274638"/>
            <a:ext cx="7680325" cy="1143000"/>
          </a:xfrm>
          <a:noFill/>
        </p:spPr>
        <p:txBody>
          <a:bodyPr/>
          <a:lstStyle/>
          <a:p>
            <a:pPr eaLnBrk="1" hangingPunct="1"/>
            <a:r>
              <a:rPr lang="en-CA" altLang="en-US" dirty="0"/>
              <a:t>Depository Institutions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547522" y="1457055"/>
            <a:ext cx="7787640" cy="4965065"/>
          </a:xfrm>
          <a:prstGeom prst="rect">
            <a:avLst/>
          </a:prstGeom>
        </p:spPr>
        <p:txBody>
          <a:bodyPr vert="horz" wrap="square" lIns="0" tIns="165735" rIns="0" bIns="0" rtlCol="0">
            <a:spAutoFit/>
          </a:bodyPr>
          <a:lstStyle/>
          <a:p>
            <a:pPr marL="12700">
              <a:lnSpc>
                <a:spcPct val="100000"/>
              </a:lnSpc>
              <a:spcBef>
                <a:spcPts val="1305"/>
              </a:spcBef>
            </a:pPr>
            <a:r>
              <a:rPr sz="2400" b="1" dirty="0">
                <a:solidFill>
                  <a:srgbClr val="6F2F9F"/>
                </a:solidFill>
                <a:latin typeface="Arial"/>
                <a:cs typeface="Arial"/>
              </a:rPr>
              <a:t>Commercial</a:t>
            </a:r>
            <a:r>
              <a:rPr sz="2400" b="1" spc="-10" dirty="0">
                <a:solidFill>
                  <a:srgbClr val="6F2F9F"/>
                </a:solidFill>
                <a:latin typeface="Arial"/>
                <a:cs typeface="Arial"/>
              </a:rPr>
              <a:t> </a:t>
            </a:r>
            <a:r>
              <a:rPr sz="2400" b="1" spc="-20" dirty="0">
                <a:solidFill>
                  <a:srgbClr val="6F2F9F"/>
                </a:solidFill>
                <a:latin typeface="Arial"/>
                <a:cs typeface="Arial"/>
              </a:rPr>
              <a:t>Banks</a:t>
            </a:r>
            <a:endParaRPr sz="2400">
              <a:latin typeface="Arial"/>
              <a:cs typeface="Arial"/>
            </a:endParaRPr>
          </a:p>
          <a:p>
            <a:pPr marL="12700" marR="5080">
              <a:lnSpc>
                <a:spcPct val="100000"/>
              </a:lnSpc>
              <a:spcBef>
                <a:spcPts val="1200"/>
              </a:spcBef>
            </a:pPr>
            <a:r>
              <a:rPr sz="2400" dirty="0">
                <a:latin typeface="Arial"/>
                <a:cs typeface="Arial"/>
              </a:rPr>
              <a:t>A</a:t>
            </a:r>
            <a:r>
              <a:rPr sz="2400" spc="-55" dirty="0">
                <a:latin typeface="Arial"/>
                <a:cs typeface="Arial"/>
              </a:rPr>
              <a:t> </a:t>
            </a:r>
            <a:r>
              <a:rPr sz="2400" i="1" dirty="0">
                <a:latin typeface="Arial"/>
                <a:cs typeface="Arial"/>
              </a:rPr>
              <a:t>commercial</a:t>
            </a:r>
            <a:r>
              <a:rPr sz="2400" i="1" spc="-10" dirty="0">
                <a:latin typeface="Arial"/>
                <a:cs typeface="Arial"/>
              </a:rPr>
              <a:t> </a:t>
            </a:r>
            <a:r>
              <a:rPr sz="2400" i="1" dirty="0">
                <a:latin typeface="Arial"/>
                <a:cs typeface="Arial"/>
              </a:rPr>
              <a:t>bank</a:t>
            </a:r>
            <a:r>
              <a:rPr sz="2400" i="1" spc="-45" dirty="0">
                <a:latin typeface="Arial"/>
                <a:cs typeface="Arial"/>
              </a:rPr>
              <a:t> </a:t>
            </a:r>
            <a:r>
              <a:rPr sz="2400" dirty="0">
                <a:latin typeface="Arial"/>
                <a:cs typeface="Arial"/>
              </a:rPr>
              <a:t>is</a:t>
            </a:r>
            <a:r>
              <a:rPr sz="2400" spc="-50" dirty="0">
                <a:latin typeface="Arial"/>
                <a:cs typeface="Arial"/>
              </a:rPr>
              <a:t> </a:t>
            </a:r>
            <a:r>
              <a:rPr sz="2400" dirty="0">
                <a:latin typeface="Arial"/>
                <a:cs typeface="Arial"/>
              </a:rPr>
              <a:t>a</a:t>
            </a:r>
            <a:r>
              <a:rPr sz="2400" spc="-55" dirty="0">
                <a:latin typeface="Arial"/>
                <a:cs typeface="Arial"/>
              </a:rPr>
              <a:t> </a:t>
            </a:r>
            <a:r>
              <a:rPr sz="2400" dirty="0">
                <a:latin typeface="Arial"/>
                <a:cs typeface="Arial"/>
              </a:rPr>
              <a:t>private</a:t>
            </a:r>
            <a:r>
              <a:rPr sz="2400" spc="-50" dirty="0">
                <a:latin typeface="Arial"/>
                <a:cs typeface="Arial"/>
              </a:rPr>
              <a:t> </a:t>
            </a:r>
            <a:r>
              <a:rPr sz="2400" dirty="0">
                <a:latin typeface="Arial"/>
                <a:cs typeface="Arial"/>
              </a:rPr>
              <a:t>firm</a:t>
            </a:r>
            <a:r>
              <a:rPr sz="2400" spc="-55" dirty="0">
                <a:latin typeface="Arial"/>
                <a:cs typeface="Arial"/>
              </a:rPr>
              <a:t> </a:t>
            </a:r>
            <a:r>
              <a:rPr sz="2400" dirty="0">
                <a:latin typeface="Arial"/>
                <a:cs typeface="Arial"/>
              </a:rPr>
              <a:t>that</a:t>
            </a:r>
            <a:r>
              <a:rPr sz="2400" spc="-70" dirty="0">
                <a:latin typeface="Arial"/>
                <a:cs typeface="Arial"/>
              </a:rPr>
              <a:t> </a:t>
            </a:r>
            <a:r>
              <a:rPr sz="2400" dirty="0">
                <a:latin typeface="Arial"/>
                <a:cs typeface="Arial"/>
              </a:rPr>
              <a:t>is</a:t>
            </a:r>
            <a:r>
              <a:rPr sz="2400" spc="-50" dirty="0">
                <a:latin typeface="Arial"/>
                <a:cs typeface="Arial"/>
              </a:rPr>
              <a:t> </a:t>
            </a:r>
            <a:r>
              <a:rPr sz="2400" dirty="0">
                <a:latin typeface="Arial"/>
                <a:cs typeface="Arial"/>
              </a:rPr>
              <a:t>licensed</a:t>
            </a:r>
            <a:r>
              <a:rPr sz="2400" spc="-30" dirty="0">
                <a:latin typeface="Arial"/>
                <a:cs typeface="Arial"/>
              </a:rPr>
              <a:t> </a:t>
            </a:r>
            <a:r>
              <a:rPr sz="2400" dirty="0">
                <a:latin typeface="Arial"/>
                <a:cs typeface="Arial"/>
              </a:rPr>
              <a:t>by</a:t>
            </a:r>
            <a:r>
              <a:rPr sz="2400" spc="-55" dirty="0">
                <a:latin typeface="Arial"/>
                <a:cs typeface="Arial"/>
              </a:rPr>
              <a:t> </a:t>
            </a:r>
            <a:r>
              <a:rPr sz="2400" spc="-25" dirty="0">
                <a:latin typeface="Arial"/>
                <a:cs typeface="Arial"/>
              </a:rPr>
              <a:t>the </a:t>
            </a:r>
            <a:r>
              <a:rPr sz="2400" dirty="0">
                <a:latin typeface="Arial"/>
                <a:cs typeface="Arial"/>
              </a:rPr>
              <a:t>Comptroller</a:t>
            </a:r>
            <a:r>
              <a:rPr sz="2400" spc="-25" dirty="0">
                <a:latin typeface="Arial"/>
                <a:cs typeface="Arial"/>
              </a:rPr>
              <a:t> </a:t>
            </a:r>
            <a:r>
              <a:rPr sz="2400" dirty="0">
                <a:latin typeface="Arial"/>
                <a:cs typeface="Arial"/>
              </a:rPr>
              <a:t>of</a:t>
            </a:r>
            <a:r>
              <a:rPr sz="2400" spc="-50" dirty="0">
                <a:latin typeface="Arial"/>
                <a:cs typeface="Arial"/>
              </a:rPr>
              <a:t> </a:t>
            </a:r>
            <a:r>
              <a:rPr sz="2400" dirty="0">
                <a:latin typeface="Arial"/>
                <a:cs typeface="Arial"/>
              </a:rPr>
              <a:t>the</a:t>
            </a:r>
            <a:r>
              <a:rPr sz="2400" spc="-60" dirty="0">
                <a:latin typeface="Arial"/>
                <a:cs typeface="Arial"/>
              </a:rPr>
              <a:t> </a:t>
            </a:r>
            <a:r>
              <a:rPr sz="2400" dirty="0">
                <a:latin typeface="Arial"/>
                <a:cs typeface="Arial"/>
              </a:rPr>
              <a:t>Currency</a:t>
            </a:r>
            <a:r>
              <a:rPr sz="2400" spc="-40" dirty="0">
                <a:latin typeface="Arial"/>
                <a:cs typeface="Arial"/>
              </a:rPr>
              <a:t> </a:t>
            </a:r>
            <a:r>
              <a:rPr sz="2400" dirty="0">
                <a:latin typeface="Arial"/>
                <a:cs typeface="Arial"/>
              </a:rPr>
              <a:t>or</a:t>
            </a:r>
            <a:r>
              <a:rPr sz="2400" spc="-50" dirty="0">
                <a:latin typeface="Arial"/>
                <a:cs typeface="Arial"/>
              </a:rPr>
              <a:t> </a:t>
            </a:r>
            <a:r>
              <a:rPr sz="2400" dirty="0">
                <a:latin typeface="Arial"/>
                <a:cs typeface="Arial"/>
              </a:rPr>
              <a:t>by</a:t>
            </a:r>
            <a:r>
              <a:rPr sz="2400" spc="-45" dirty="0">
                <a:latin typeface="Arial"/>
                <a:cs typeface="Arial"/>
              </a:rPr>
              <a:t> </a:t>
            </a:r>
            <a:r>
              <a:rPr sz="2400" dirty="0">
                <a:latin typeface="Arial"/>
                <a:cs typeface="Arial"/>
              </a:rPr>
              <a:t>a</a:t>
            </a:r>
            <a:r>
              <a:rPr sz="2400" spc="-50" dirty="0">
                <a:latin typeface="Arial"/>
                <a:cs typeface="Arial"/>
              </a:rPr>
              <a:t> </a:t>
            </a:r>
            <a:r>
              <a:rPr sz="2400" dirty="0">
                <a:latin typeface="Arial"/>
                <a:cs typeface="Arial"/>
              </a:rPr>
              <a:t>state</a:t>
            </a:r>
            <a:r>
              <a:rPr sz="2400" spc="-45" dirty="0">
                <a:latin typeface="Arial"/>
                <a:cs typeface="Arial"/>
              </a:rPr>
              <a:t> </a:t>
            </a:r>
            <a:r>
              <a:rPr sz="2400" dirty="0">
                <a:latin typeface="Arial"/>
                <a:cs typeface="Arial"/>
              </a:rPr>
              <a:t>agency</a:t>
            </a:r>
            <a:r>
              <a:rPr sz="2400" spc="-40" dirty="0">
                <a:latin typeface="Arial"/>
                <a:cs typeface="Arial"/>
              </a:rPr>
              <a:t> </a:t>
            </a:r>
            <a:r>
              <a:rPr sz="2400" spc="-25" dirty="0">
                <a:latin typeface="Arial"/>
                <a:cs typeface="Arial"/>
              </a:rPr>
              <a:t>to </a:t>
            </a:r>
            <a:r>
              <a:rPr sz="2400" dirty="0">
                <a:latin typeface="Arial"/>
                <a:cs typeface="Arial"/>
              </a:rPr>
              <a:t>receive</a:t>
            </a:r>
            <a:r>
              <a:rPr sz="2400" spc="-85" dirty="0">
                <a:latin typeface="Arial"/>
                <a:cs typeface="Arial"/>
              </a:rPr>
              <a:t> </a:t>
            </a:r>
            <a:r>
              <a:rPr sz="2400" dirty="0">
                <a:latin typeface="Arial"/>
                <a:cs typeface="Arial"/>
              </a:rPr>
              <a:t>deposits</a:t>
            </a:r>
            <a:r>
              <a:rPr sz="2400" spc="-75" dirty="0">
                <a:latin typeface="Arial"/>
                <a:cs typeface="Arial"/>
              </a:rPr>
              <a:t> </a:t>
            </a:r>
            <a:r>
              <a:rPr sz="2400" dirty="0">
                <a:latin typeface="Arial"/>
                <a:cs typeface="Arial"/>
              </a:rPr>
              <a:t>and</a:t>
            </a:r>
            <a:r>
              <a:rPr sz="2400" spc="-80" dirty="0">
                <a:latin typeface="Arial"/>
                <a:cs typeface="Arial"/>
              </a:rPr>
              <a:t> </a:t>
            </a:r>
            <a:r>
              <a:rPr sz="2400" dirty="0">
                <a:latin typeface="Arial"/>
                <a:cs typeface="Arial"/>
              </a:rPr>
              <a:t>make</a:t>
            </a:r>
            <a:r>
              <a:rPr sz="2400" spc="-85" dirty="0">
                <a:latin typeface="Arial"/>
                <a:cs typeface="Arial"/>
              </a:rPr>
              <a:t> </a:t>
            </a:r>
            <a:r>
              <a:rPr sz="2400" spc="-10" dirty="0">
                <a:latin typeface="Arial"/>
                <a:cs typeface="Arial"/>
              </a:rPr>
              <a:t>loans.</a:t>
            </a:r>
            <a:endParaRPr sz="2400">
              <a:latin typeface="Arial"/>
              <a:cs typeface="Arial"/>
            </a:endParaRPr>
          </a:p>
          <a:p>
            <a:pPr marL="12700">
              <a:lnSpc>
                <a:spcPct val="100000"/>
              </a:lnSpc>
              <a:spcBef>
                <a:spcPts val="1205"/>
              </a:spcBef>
            </a:pPr>
            <a:r>
              <a:rPr sz="2400" b="1" dirty="0">
                <a:solidFill>
                  <a:srgbClr val="6F2F9F"/>
                </a:solidFill>
                <a:latin typeface="Arial"/>
                <a:cs typeface="Arial"/>
              </a:rPr>
              <a:t>Thrift</a:t>
            </a:r>
            <a:r>
              <a:rPr sz="2400" b="1" spc="-10" dirty="0">
                <a:solidFill>
                  <a:srgbClr val="6F2F9F"/>
                </a:solidFill>
                <a:latin typeface="Arial"/>
                <a:cs typeface="Arial"/>
              </a:rPr>
              <a:t> Institutions</a:t>
            </a:r>
            <a:endParaRPr sz="2400">
              <a:latin typeface="Arial"/>
              <a:cs typeface="Arial"/>
            </a:endParaRPr>
          </a:p>
          <a:p>
            <a:pPr marL="12700">
              <a:lnSpc>
                <a:spcPct val="100000"/>
              </a:lnSpc>
              <a:spcBef>
                <a:spcPts val="1200"/>
              </a:spcBef>
            </a:pPr>
            <a:r>
              <a:rPr sz="2400" dirty="0">
                <a:latin typeface="Arial"/>
                <a:cs typeface="Arial"/>
              </a:rPr>
              <a:t>Savings</a:t>
            </a:r>
            <a:r>
              <a:rPr sz="2400" spc="-70" dirty="0">
                <a:latin typeface="Arial"/>
                <a:cs typeface="Arial"/>
              </a:rPr>
              <a:t> </a:t>
            </a:r>
            <a:r>
              <a:rPr sz="2400" dirty="0">
                <a:latin typeface="Arial"/>
                <a:cs typeface="Arial"/>
              </a:rPr>
              <a:t>and</a:t>
            </a:r>
            <a:r>
              <a:rPr sz="2400" spc="-80" dirty="0">
                <a:latin typeface="Arial"/>
                <a:cs typeface="Arial"/>
              </a:rPr>
              <a:t> </a:t>
            </a:r>
            <a:r>
              <a:rPr sz="2400" dirty="0">
                <a:latin typeface="Arial"/>
                <a:cs typeface="Arial"/>
              </a:rPr>
              <a:t>loan</a:t>
            </a:r>
            <a:r>
              <a:rPr sz="2400" spc="-65" dirty="0">
                <a:latin typeface="Arial"/>
                <a:cs typeface="Arial"/>
              </a:rPr>
              <a:t> </a:t>
            </a:r>
            <a:r>
              <a:rPr sz="2400" dirty="0">
                <a:latin typeface="Arial"/>
                <a:cs typeface="Arial"/>
              </a:rPr>
              <a:t>associations,</a:t>
            </a:r>
            <a:r>
              <a:rPr sz="2400" spc="-65" dirty="0">
                <a:latin typeface="Arial"/>
                <a:cs typeface="Arial"/>
              </a:rPr>
              <a:t> </a:t>
            </a:r>
            <a:r>
              <a:rPr sz="2400" dirty="0">
                <a:latin typeface="Arial"/>
                <a:cs typeface="Arial"/>
              </a:rPr>
              <a:t>savings</a:t>
            </a:r>
            <a:r>
              <a:rPr sz="2400" spc="-60" dirty="0">
                <a:latin typeface="Arial"/>
                <a:cs typeface="Arial"/>
              </a:rPr>
              <a:t> </a:t>
            </a:r>
            <a:r>
              <a:rPr sz="2400" dirty="0">
                <a:latin typeface="Arial"/>
                <a:cs typeface="Arial"/>
              </a:rPr>
              <a:t>banks,</a:t>
            </a:r>
            <a:r>
              <a:rPr sz="2400" spc="-85" dirty="0">
                <a:latin typeface="Arial"/>
                <a:cs typeface="Arial"/>
              </a:rPr>
              <a:t> </a:t>
            </a:r>
            <a:r>
              <a:rPr sz="2400" dirty="0">
                <a:latin typeface="Arial"/>
                <a:cs typeface="Arial"/>
              </a:rPr>
              <a:t>and</a:t>
            </a:r>
            <a:r>
              <a:rPr sz="2400" spc="-70" dirty="0">
                <a:latin typeface="Arial"/>
                <a:cs typeface="Arial"/>
              </a:rPr>
              <a:t> </a:t>
            </a:r>
            <a:r>
              <a:rPr sz="2400" spc="-10" dirty="0">
                <a:latin typeface="Arial"/>
                <a:cs typeface="Arial"/>
              </a:rPr>
              <a:t>credit</a:t>
            </a:r>
            <a:endParaRPr sz="2400">
              <a:latin typeface="Arial"/>
              <a:cs typeface="Arial"/>
            </a:endParaRPr>
          </a:p>
          <a:p>
            <a:pPr marL="12700">
              <a:lnSpc>
                <a:spcPct val="100000"/>
              </a:lnSpc>
            </a:pPr>
            <a:r>
              <a:rPr sz="2400" dirty="0">
                <a:latin typeface="Arial"/>
                <a:cs typeface="Arial"/>
              </a:rPr>
              <a:t>unions</a:t>
            </a:r>
            <a:r>
              <a:rPr sz="2400" spc="-40" dirty="0">
                <a:latin typeface="Arial"/>
                <a:cs typeface="Arial"/>
              </a:rPr>
              <a:t> </a:t>
            </a:r>
            <a:r>
              <a:rPr sz="2400" dirty="0">
                <a:latin typeface="Arial"/>
                <a:cs typeface="Arial"/>
              </a:rPr>
              <a:t>are</a:t>
            </a:r>
            <a:r>
              <a:rPr sz="2400" spc="-55" dirty="0">
                <a:latin typeface="Arial"/>
                <a:cs typeface="Arial"/>
              </a:rPr>
              <a:t> </a:t>
            </a:r>
            <a:r>
              <a:rPr sz="2400" dirty="0">
                <a:latin typeface="Arial"/>
                <a:cs typeface="Arial"/>
              </a:rPr>
              <a:t>called</a:t>
            </a:r>
            <a:r>
              <a:rPr sz="2400" spc="-35" dirty="0">
                <a:latin typeface="Arial"/>
                <a:cs typeface="Arial"/>
              </a:rPr>
              <a:t> </a:t>
            </a:r>
            <a:r>
              <a:rPr sz="2400" i="1" dirty="0">
                <a:latin typeface="Arial"/>
                <a:cs typeface="Arial"/>
              </a:rPr>
              <a:t>thrift</a:t>
            </a:r>
            <a:r>
              <a:rPr sz="2400" i="1" spc="-70" dirty="0">
                <a:latin typeface="Arial"/>
                <a:cs typeface="Arial"/>
              </a:rPr>
              <a:t> </a:t>
            </a:r>
            <a:r>
              <a:rPr sz="2400" i="1" spc="-10" dirty="0">
                <a:latin typeface="Arial"/>
                <a:cs typeface="Arial"/>
              </a:rPr>
              <a:t>institutions.</a:t>
            </a:r>
            <a:endParaRPr sz="2400">
              <a:latin typeface="Arial"/>
              <a:cs typeface="Arial"/>
            </a:endParaRPr>
          </a:p>
          <a:p>
            <a:pPr marL="12700">
              <a:lnSpc>
                <a:spcPct val="100000"/>
              </a:lnSpc>
              <a:spcBef>
                <a:spcPts val="1200"/>
              </a:spcBef>
            </a:pPr>
            <a:r>
              <a:rPr sz="2400" b="1" dirty="0">
                <a:solidFill>
                  <a:srgbClr val="6F2F9F"/>
                </a:solidFill>
                <a:latin typeface="Arial"/>
                <a:cs typeface="Arial"/>
              </a:rPr>
              <a:t>Money</a:t>
            </a:r>
            <a:r>
              <a:rPr sz="2400" b="1" spc="-40" dirty="0">
                <a:solidFill>
                  <a:srgbClr val="6F2F9F"/>
                </a:solidFill>
                <a:latin typeface="Arial"/>
                <a:cs typeface="Arial"/>
              </a:rPr>
              <a:t> </a:t>
            </a:r>
            <a:r>
              <a:rPr sz="2400" b="1" dirty="0">
                <a:solidFill>
                  <a:srgbClr val="6F2F9F"/>
                </a:solidFill>
                <a:latin typeface="Arial"/>
                <a:cs typeface="Arial"/>
              </a:rPr>
              <a:t>Market</a:t>
            </a:r>
            <a:r>
              <a:rPr sz="2400" b="1" spc="-30" dirty="0">
                <a:solidFill>
                  <a:srgbClr val="6F2F9F"/>
                </a:solidFill>
                <a:latin typeface="Arial"/>
                <a:cs typeface="Arial"/>
              </a:rPr>
              <a:t> </a:t>
            </a:r>
            <a:r>
              <a:rPr sz="2400" b="1" dirty="0">
                <a:solidFill>
                  <a:srgbClr val="6F2F9F"/>
                </a:solidFill>
                <a:latin typeface="Arial"/>
                <a:cs typeface="Arial"/>
              </a:rPr>
              <a:t>Mutual</a:t>
            </a:r>
            <a:r>
              <a:rPr sz="2400" b="1" spc="-50" dirty="0">
                <a:solidFill>
                  <a:srgbClr val="6F2F9F"/>
                </a:solidFill>
                <a:latin typeface="Arial"/>
                <a:cs typeface="Arial"/>
              </a:rPr>
              <a:t> </a:t>
            </a:r>
            <a:r>
              <a:rPr sz="2400" b="1" spc="-10" dirty="0">
                <a:solidFill>
                  <a:srgbClr val="6F2F9F"/>
                </a:solidFill>
                <a:latin typeface="Arial"/>
                <a:cs typeface="Arial"/>
              </a:rPr>
              <a:t>Funds</a:t>
            </a:r>
            <a:endParaRPr sz="2400">
              <a:latin typeface="Arial"/>
              <a:cs typeface="Arial"/>
            </a:endParaRPr>
          </a:p>
          <a:p>
            <a:pPr marL="12700" marR="73660">
              <a:lnSpc>
                <a:spcPct val="100000"/>
              </a:lnSpc>
              <a:spcBef>
                <a:spcPts val="1200"/>
              </a:spcBef>
            </a:pPr>
            <a:r>
              <a:rPr sz="2400" dirty="0">
                <a:latin typeface="Arial"/>
                <a:cs typeface="Arial"/>
              </a:rPr>
              <a:t>A</a:t>
            </a:r>
            <a:r>
              <a:rPr sz="2400" spc="-40" dirty="0">
                <a:latin typeface="Arial"/>
                <a:cs typeface="Arial"/>
              </a:rPr>
              <a:t> </a:t>
            </a:r>
            <a:r>
              <a:rPr sz="2400" dirty="0">
                <a:latin typeface="Arial"/>
                <a:cs typeface="Arial"/>
              </a:rPr>
              <a:t>money</a:t>
            </a:r>
            <a:r>
              <a:rPr sz="2400" spc="-40" dirty="0">
                <a:latin typeface="Arial"/>
                <a:cs typeface="Arial"/>
              </a:rPr>
              <a:t> </a:t>
            </a:r>
            <a:r>
              <a:rPr sz="2400" dirty="0">
                <a:latin typeface="Arial"/>
                <a:cs typeface="Arial"/>
              </a:rPr>
              <a:t>market</a:t>
            </a:r>
            <a:r>
              <a:rPr sz="2400" spc="-55" dirty="0">
                <a:latin typeface="Arial"/>
                <a:cs typeface="Arial"/>
              </a:rPr>
              <a:t> </a:t>
            </a:r>
            <a:r>
              <a:rPr sz="2400" dirty="0">
                <a:latin typeface="Arial"/>
                <a:cs typeface="Arial"/>
              </a:rPr>
              <a:t>mutual</a:t>
            </a:r>
            <a:r>
              <a:rPr sz="2400" spc="-35" dirty="0">
                <a:latin typeface="Arial"/>
                <a:cs typeface="Arial"/>
              </a:rPr>
              <a:t> </a:t>
            </a:r>
            <a:r>
              <a:rPr sz="2400" dirty="0">
                <a:latin typeface="Arial"/>
                <a:cs typeface="Arial"/>
              </a:rPr>
              <a:t>fund</a:t>
            </a:r>
            <a:r>
              <a:rPr sz="2400" spc="-40" dirty="0">
                <a:latin typeface="Arial"/>
                <a:cs typeface="Arial"/>
              </a:rPr>
              <a:t> </a:t>
            </a:r>
            <a:r>
              <a:rPr sz="2400" dirty="0">
                <a:latin typeface="Arial"/>
                <a:cs typeface="Arial"/>
              </a:rPr>
              <a:t>is</a:t>
            </a:r>
            <a:r>
              <a:rPr sz="2400" spc="-40" dirty="0">
                <a:latin typeface="Arial"/>
                <a:cs typeface="Arial"/>
              </a:rPr>
              <a:t> </a:t>
            </a:r>
            <a:r>
              <a:rPr sz="2400" dirty="0">
                <a:latin typeface="Arial"/>
                <a:cs typeface="Arial"/>
              </a:rPr>
              <a:t>a</a:t>
            </a:r>
            <a:r>
              <a:rPr sz="2400" spc="-50" dirty="0">
                <a:latin typeface="Arial"/>
                <a:cs typeface="Arial"/>
              </a:rPr>
              <a:t> </a:t>
            </a:r>
            <a:r>
              <a:rPr sz="2400" dirty="0">
                <a:latin typeface="Arial"/>
                <a:cs typeface="Arial"/>
              </a:rPr>
              <a:t>fund</a:t>
            </a:r>
            <a:r>
              <a:rPr sz="2400" spc="-40" dirty="0">
                <a:latin typeface="Arial"/>
                <a:cs typeface="Arial"/>
              </a:rPr>
              <a:t> </a:t>
            </a:r>
            <a:r>
              <a:rPr sz="2400" dirty="0">
                <a:latin typeface="Arial"/>
                <a:cs typeface="Arial"/>
              </a:rPr>
              <a:t>operated</a:t>
            </a:r>
            <a:r>
              <a:rPr sz="2400" spc="-45" dirty="0">
                <a:latin typeface="Arial"/>
                <a:cs typeface="Arial"/>
              </a:rPr>
              <a:t> </a:t>
            </a:r>
            <a:r>
              <a:rPr sz="2400" dirty="0">
                <a:latin typeface="Arial"/>
                <a:cs typeface="Arial"/>
              </a:rPr>
              <a:t>by</a:t>
            </a:r>
            <a:r>
              <a:rPr sz="2400" spc="-60" dirty="0">
                <a:latin typeface="Arial"/>
                <a:cs typeface="Arial"/>
              </a:rPr>
              <a:t> </a:t>
            </a:r>
            <a:r>
              <a:rPr sz="2400" spc="-50" dirty="0">
                <a:latin typeface="Arial"/>
                <a:cs typeface="Arial"/>
              </a:rPr>
              <a:t>a </a:t>
            </a:r>
            <a:r>
              <a:rPr sz="2400" dirty="0">
                <a:latin typeface="Arial"/>
                <a:cs typeface="Arial"/>
              </a:rPr>
              <a:t>financial</a:t>
            </a:r>
            <a:r>
              <a:rPr sz="2400" spc="-30" dirty="0">
                <a:latin typeface="Arial"/>
                <a:cs typeface="Arial"/>
              </a:rPr>
              <a:t> </a:t>
            </a:r>
            <a:r>
              <a:rPr sz="2400" dirty="0">
                <a:latin typeface="Arial"/>
                <a:cs typeface="Arial"/>
              </a:rPr>
              <a:t>institution</a:t>
            </a:r>
            <a:r>
              <a:rPr sz="2400" spc="-50" dirty="0">
                <a:latin typeface="Arial"/>
                <a:cs typeface="Arial"/>
              </a:rPr>
              <a:t> </a:t>
            </a:r>
            <a:r>
              <a:rPr sz="2400" dirty="0">
                <a:latin typeface="Arial"/>
                <a:cs typeface="Arial"/>
              </a:rPr>
              <a:t>that</a:t>
            </a:r>
            <a:r>
              <a:rPr sz="2400" spc="-70" dirty="0">
                <a:latin typeface="Arial"/>
                <a:cs typeface="Arial"/>
              </a:rPr>
              <a:t> </a:t>
            </a:r>
            <a:r>
              <a:rPr sz="2400" dirty="0">
                <a:latin typeface="Arial"/>
                <a:cs typeface="Arial"/>
              </a:rPr>
              <a:t>sells</a:t>
            </a:r>
            <a:r>
              <a:rPr sz="2400" spc="-50" dirty="0">
                <a:latin typeface="Arial"/>
                <a:cs typeface="Arial"/>
              </a:rPr>
              <a:t> </a:t>
            </a:r>
            <a:r>
              <a:rPr sz="2400" dirty="0">
                <a:latin typeface="Arial"/>
                <a:cs typeface="Arial"/>
              </a:rPr>
              <a:t>shares</a:t>
            </a:r>
            <a:r>
              <a:rPr sz="2400" spc="-45" dirty="0">
                <a:latin typeface="Arial"/>
                <a:cs typeface="Arial"/>
              </a:rPr>
              <a:t> </a:t>
            </a:r>
            <a:r>
              <a:rPr sz="2400" dirty="0">
                <a:latin typeface="Arial"/>
                <a:cs typeface="Arial"/>
              </a:rPr>
              <a:t>in</a:t>
            </a:r>
            <a:r>
              <a:rPr sz="2400" spc="-65" dirty="0">
                <a:latin typeface="Arial"/>
                <a:cs typeface="Arial"/>
              </a:rPr>
              <a:t> </a:t>
            </a:r>
            <a:r>
              <a:rPr sz="2400" dirty="0">
                <a:latin typeface="Arial"/>
                <a:cs typeface="Arial"/>
              </a:rPr>
              <a:t>the</a:t>
            </a:r>
            <a:r>
              <a:rPr sz="2400" spc="-60" dirty="0">
                <a:latin typeface="Arial"/>
                <a:cs typeface="Arial"/>
              </a:rPr>
              <a:t> </a:t>
            </a:r>
            <a:r>
              <a:rPr sz="2400" dirty="0">
                <a:latin typeface="Arial"/>
                <a:cs typeface="Arial"/>
              </a:rPr>
              <a:t>fund</a:t>
            </a:r>
            <a:r>
              <a:rPr sz="2400" spc="-65" dirty="0">
                <a:latin typeface="Arial"/>
                <a:cs typeface="Arial"/>
              </a:rPr>
              <a:t> </a:t>
            </a:r>
            <a:r>
              <a:rPr sz="2400" dirty="0">
                <a:latin typeface="Arial"/>
                <a:cs typeface="Arial"/>
              </a:rPr>
              <a:t>and</a:t>
            </a:r>
            <a:r>
              <a:rPr sz="2400" spc="-50" dirty="0">
                <a:latin typeface="Arial"/>
                <a:cs typeface="Arial"/>
              </a:rPr>
              <a:t> </a:t>
            </a:r>
            <a:r>
              <a:rPr sz="2400" spc="-10" dirty="0">
                <a:latin typeface="Arial"/>
                <a:cs typeface="Arial"/>
              </a:rPr>
              <a:t>holds </a:t>
            </a:r>
            <a:r>
              <a:rPr sz="2400" dirty="0">
                <a:latin typeface="Arial"/>
                <a:cs typeface="Arial"/>
              </a:rPr>
              <a:t>assets</a:t>
            </a:r>
            <a:r>
              <a:rPr sz="2400" spc="-55" dirty="0">
                <a:latin typeface="Arial"/>
                <a:cs typeface="Arial"/>
              </a:rPr>
              <a:t> </a:t>
            </a:r>
            <a:r>
              <a:rPr sz="2400" dirty="0">
                <a:latin typeface="Arial"/>
                <a:cs typeface="Arial"/>
              </a:rPr>
              <a:t>such</a:t>
            </a:r>
            <a:r>
              <a:rPr sz="2400" spc="-50" dirty="0">
                <a:latin typeface="Arial"/>
                <a:cs typeface="Arial"/>
              </a:rPr>
              <a:t> </a:t>
            </a:r>
            <a:r>
              <a:rPr sz="2400" dirty="0">
                <a:latin typeface="Arial"/>
                <a:cs typeface="Arial"/>
              </a:rPr>
              <a:t>as</a:t>
            </a:r>
            <a:r>
              <a:rPr sz="2400" spc="-55" dirty="0">
                <a:latin typeface="Arial"/>
                <a:cs typeface="Arial"/>
              </a:rPr>
              <a:t> </a:t>
            </a:r>
            <a:r>
              <a:rPr sz="2400" dirty="0">
                <a:latin typeface="Arial"/>
                <a:cs typeface="Arial"/>
              </a:rPr>
              <a:t>U.S.</a:t>
            </a:r>
            <a:r>
              <a:rPr sz="2400" spc="-50" dirty="0">
                <a:latin typeface="Arial"/>
                <a:cs typeface="Arial"/>
              </a:rPr>
              <a:t> </a:t>
            </a:r>
            <a:r>
              <a:rPr sz="2400" dirty="0">
                <a:latin typeface="Arial"/>
                <a:cs typeface="Arial"/>
              </a:rPr>
              <a:t>Treasury</a:t>
            </a:r>
            <a:r>
              <a:rPr sz="2400" spc="-55" dirty="0">
                <a:latin typeface="Arial"/>
                <a:cs typeface="Arial"/>
              </a:rPr>
              <a:t> </a:t>
            </a:r>
            <a:r>
              <a:rPr sz="2400" spc="-10" dirty="0">
                <a:latin typeface="Arial"/>
                <a:cs typeface="Arial"/>
              </a:rPr>
              <a:t>bills.</a:t>
            </a:r>
            <a:endParaRPr sz="2400">
              <a:latin typeface="Arial"/>
              <a:cs typeface="Arial"/>
            </a:endParaRPr>
          </a:p>
        </p:txBody>
      </p:sp>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0059">
              <a:lnSpc>
                <a:spcPct val="100000"/>
              </a:lnSpc>
              <a:spcBef>
                <a:spcPts val="105"/>
              </a:spcBef>
            </a:pPr>
            <a:r>
              <a:rPr dirty="0"/>
              <a:t>Depository</a:t>
            </a:r>
            <a:r>
              <a:rPr spc="-85" dirty="0"/>
              <a:t> </a:t>
            </a:r>
            <a:r>
              <a:rPr spc="-10" dirty="0"/>
              <a:t>Institutions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47522" y="1457055"/>
            <a:ext cx="7901940" cy="4233545"/>
          </a:xfrm>
          <a:prstGeom prst="rect">
            <a:avLst/>
          </a:prstGeom>
        </p:spPr>
        <p:txBody>
          <a:bodyPr vert="horz" wrap="square" lIns="0" tIns="165735" rIns="0" bIns="0" rtlCol="0">
            <a:spAutoFit/>
          </a:bodyPr>
          <a:lstStyle/>
          <a:p>
            <a:pPr marL="12700">
              <a:lnSpc>
                <a:spcPct val="100000"/>
              </a:lnSpc>
              <a:spcBef>
                <a:spcPts val="1305"/>
              </a:spcBef>
            </a:pPr>
            <a:r>
              <a:rPr sz="2400" b="1" dirty="0">
                <a:solidFill>
                  <a:srgbClr val="1A70B7"/>
                </a:solidFill>
                <a:latin typeface="Arial"/>
                <a:cs typeface="Arial"/>
              </a:rPr>
              <a:t>What</a:t>
            </a:r>
            <a:r>
              <a:rPr sz="2400" b="1" spc="-35" dirty="0">
                <a:solidFill>
                  <a:srgbClr val="1A70B7"/>
                </a:solidFill>
                <a:latin typeface="Arial"/>
                <a:cs typeface="Arial"/>
              </a:rPr>
              <a:t> </a:t>
            </a:r>
            <a:r>
              <a:rPr sz="2400" b="1" dirty="0">
                <a:solidFill>
                  <a:srgbClr val="1A70B7"/>
                </a:solidFill>
                <a:latin typeface="Arial"/>
                <a:cs typeface="Arial"/>
              </a:rPr>
              <a:t>Depository</a:t>
            </a:r>
            <a:r>
              <a:rPr sz="2400" b="1" spc="-40" dirty="0">
                <a:solidFill>
                  <a:srgbClr val="1A70B7"/>
                </a:solidFill>
                <a:latin typeface="Arial"/>
                <a:cs typeface="Arial"/>
              </a:rPr>
              <a:t> </a:t>
            </a:r>
            <a:r>
              <a:rPr sz="2400" b="1" dirty="0">
                <a:solidFill>
                  <a:srgbClr val="1A70B7"/>
                </a:solidFill>
                <a:latin typeface="Arial"/>
                <a:cs typeface="Arial"/>
              </a:rPr>
              <a:t>Institutions</a:t>
            </a:r>
            <a:r>
              <a:rPr sz="2400" b="1" spc="-70" dirty="0">
                <a:solidFill>
                  <a:srgbClr val="1A70B7"/>
                </a:solidFill>
                <a:latin typeface="Arial"/>
                <a:cs typeface="Arial"/>
              </a:rPr>
              <a:t> </a:t>
            </a:r>
            <a:r>
              <a:rPr sz="2400" b="1" spc="-25" dirty="0">
                <a:solidFill>
                  <a:srgbClr val="1A70B7"/>
                </a:solidFill>
                <a:latin typeface="Arial"/>
                <a:cs typeface="Arial"/>
              </a:rPr>
              <a:t>Do</a:t>
            </a:r>
            <a:endParaRPr sz="2400">
              <a:latin typeface="Arial"/>
              <a:cs typeface="Arial"/>
            </a:endParaRPr>
          </a:p>
          <a:p>
            <a:pPr marL="12700" marR="817244">
              <a:lnSpc>
                <a:spcPct val="100000"/>
              </a:lnSpc>
              <a:spcBef>
                <a:spcPts val="1200"/>
              </a:spcBef>
            </a:pPr>
            <a:r>
              <a:rPr sz="2400" dirty="0">
                <a:latin typeface="Arial"/>
                <a:cs typeface="Arial"/>
              </a:rPr>
              <a:t>The</a:t>
            </a:r>
            <a:r>
              <a:rPr sz="2400" spc="-55" dirty="0">
                <a:latin typeface="Arial"/>
                <a:cs typeface="Arial"/>
              </a:rPr>
              <a:t> </a:t>
            </a:r>
            <a:r>
              <a:rPr sz="2400" dirty="0">
                <a:latin typeface="Arial"/>
                <a:cs typeface="Arial"/>
              </a:rPr>
              <a:t>goal</a:t>
            </a:r>
            <a:r>
              <a:rPr sz="2400" spc="-45" dirty="0">
                <a:latin typeface="Arial"/>
                <a:cs typeface="Arial"/>
              </a:rPr>
              <a:t> </a:t>
            </a:r>
            <a:r>
              <a:rPr sz="2400" dirty="0">
                <a:latin typeface="Arial"/>
                <a:cs typeface="Arial"/>
              </a:rPr>
              <a:t>of</a:t>
            </a:r>
            <a:r>
              <a:rPr sz="2400" spc="-45" dirty="0">
                <a:latin typeface="Arial"/>
                <a:cs typeface="Arial"/>
              </a:rPr>
              <a:t> </a:t>
            </a:r>
            <a:r>
              <a:rPr sz="2400" dirty="0">
                <a:latin typeface="Arial"/>
                <a:cs typeface="Arial"/>
              </a:rPr>
              <a:t>any</a:t>
            </a:r>
            <a:r>
              <a:rPr sz="2400" spc="-45" dirty="0">
                <a:latin typeface="Arial"/>
                <a:cs typeface="Arial"/>
              </a:rPr>
              <a:t> </a:t>
            </a:r>
            <a:r>
              <a:rPr sz="2400" dirty="0">
                <a:latin typeface="Arial"/>
                <a:cs typeface="Arial"/>
              </a:rPr>
              <a:t>bank</a:t>
            </a:r>
            <a:r>
              <a:rPr sz="2400" spc="-35" dirty="0">
                <a:latin typeface="Arial"/>
                <a:cs typeface="Arial"/>
              </a:rPr>
              <a:t> </a:t>
            </a:r>
            <a:r>
              <a:rPr sz="2400" dirty="0">
                <a:latin typeface="Arial"/>
                <a:cs typeface="Arial"/>
              </a:rPr>
              <a:t>is</a:t>
            </a:r>
            <a:r>
              <a:rPr sz="2400" spc="-45" dirty="0">
                <a:latin typeface="Arial"/>
                <a:cs typeface="Arial"/>
              </a:rPr>
              <a:t> </a:t>
            </a:r>
            <a:r>
              <a:rPr sz="2400" dirty="0">
                <a:latin typeface="Arial"/>
                <a:cs typeface="Arial"/>
              </a:rPr>
              <a:t>to</a:t>
            </a:r>
            <a:r>
              <a:rPr sz="2400" spc="-50" dirty="0">
                <a:latin typeface="Arial"/>
                <a:cs typeface="Arial"/>
              </a:rPr>
              <a:t> </a:t>
            </a:r>
            <a:r>
              <a:rPr sz="2400" dirty="0">
                <a:latin typeface="Arial"/>
                <a:cs typeface="Arial"/>
              </a:rPr>
              <a:t>maximize</a:t>
            </a:r>
            <a:r>
              <a:rPr sz="2400" spc="-30" dirty="0">
                <a:latin typeface="Arial"/>
                <a:cs typeface="Arial"/>
              </a:rPr>
              <a:t> </a:t>
            </a:r>
            <a:r>
              <a:rPr sz="2400" dirty="0">
                <a:latin typeface="Arial"/>
                <a:cs typeface="Arial"/>
              </a:rPr>
              <a:t>the</a:t>
            </a:r>
            <a:r>
              <a:rPr sz="2400" spc="-45" dirty="0">
                <a:latin typeface="Arial"/>
                <a:cs typeface="Arial"/>
              </a:rPr>
              <a:t> </a:t>
            </a:r>
            <a:r>
              <a:rPr sz="2400" dirty="0">
                <a:latin typeface="Arial"/>
                <a:cs typeface="Arial"/>
              </a:rPr>
              <a:t>wealth</a:t>
            </a:r>
            <a:r>
              <a:rPr sz="2400" spc="-25" dirty="0">
                <a:latin typeface="Arial"/>
                <a:cs typeface="Arial"/>
              </a:rPr>
              <a:t> </a:t>
            </a:r>
            <a:r>
              <a:rPr sz="2400" dirty="0">
                <a:latin typeface="Arial"/>
                <a:cs typeface="Arial"/>
              </a:rPr>
              <a:t>of</a:t>
            </a:r>
            <a:r>
              <a:rPr sz="2400" spc="-60" dirty="0">
                <a:latin typeface="Arial"/>
                <a:cs typeface="Arial"/>
              </a:rPr>
              <a:t> </a:t>
            </a:r>
            <a:r>
              <a:rPr sz="2400" spc="-25" dirty="0">
                <a:latin typeface="Arial"/>
                <a:cs typeface="Arial"/>
              </a:rPr>
              <a:t>its </a:t>
            </a:r>
            <a:r>
              <a:rPr sz="2400" spc="-10" dirty="0">
                <a:latin typeface="Arial"/>
                <a:cs typeface="Arial"/>
              </a:rPr>
              <a:t>owners.</a:t>
            </a:r>
            <a:endParaRPr sz="2400">
              <a:latin typeface="Arial"/>
              <a:cs typeface="Arial"/>
            </a:endParaRPr>
          </a:p>
          <a:p>
            <a:pPr marL="12700" marR="5080">
              <a:lnSpc>
                <a:spcPct val="100000"/>
              </a:lnSpc>
              <a:spcBef>
                <a:spcPts val="1205"/>
              </a:spcBef>
            </a:pPr>
            <a:r>
              <a:rPr sz="2400" dirty="0">
                <a:latin typeface="Arial"/>
                <a:cs typeface="Arial"/>
              </a:rPr>
              <a:t>To</a:t>
            </a:r>
            <a:r>
              <a:rPr sz="2400" spc="-60" dirty="0">
                <a:latin typeface="Arial"/>
                <a:cs typeface="Arial"/>
              </a:rPr>
              <a:t> </a:t>
            </a:r>
            <a:r>
              <a:rPr sz="2400" dirty="0">
                <a:latin typeface="Arial"/>
                <a:cs typeface="Arial"/>
              </a:rPr>
              <a:t>achieve</a:t>
            </a:r>
            <a:r>
              <a:rPr sz="2400" spc="-50" dirty="0">
                <a:latin typeface="Arial"/>
                <a:cs typeface="Arial"/>
              </a:rPr>
              <a:t> </a:t>
            </a:r>
            <a:r>
              <a:rPr sz="2400" dirty="0">
                <a:latin typeface="Arial"/>
                <a:cs typeface="Arial"/>
              </a:rPr>
              <a:t>this</a:t>
            </a:r>
            <a:r>
              <a:rPr sz="2400" spc="-55" dirty="0">
                <a:latin typeface="Arial"/>
                <a:cs typeface="Arial"/>
              </a:rPr>
              <a:t> </a:t>
            </a:r>
            <a:r>
              <a:rPr sz="2400" dirty="0">
                <a:latin typeface="Arial"/>
                <a:cs typeface="Arial"/>
              </a:rPr>
              <a:t>objective,</a:t>
            </a:r>
            <a:r>
              <a:rPr sz="2400" spc="-55" dirty="0">
                <a:latin typeface="Arial"/>
                <a:cs typeface="Arial"/>
              </a:rPr>
              <a:t> </a:t>
            </a:r>
            <a:r>
              <a:rPr sz="2400" dirty="0">
                <a:latin typeface="Arial"/>
                <a:cs typeface="Arial"/>
              </a:rPr>
              <a:t>the</a:t>
            </a:r>
            <a:r>
              <a:rPr sz="2400" spc="-55" dirty="0">
                <a:latin typeface="Arial"/>
                <a:cs typeface="Arial"/>
              </a:rPr>
              <a:t> </a:t>
            </a:r>
            <a:r>
              <a:rPr sz="2400" dirty="0">
                <a:latin typeface="Arial"/>
                <a:cs typeface="Arial"/>
              </a:rPr>
              <a:t>interest</a:t>
            </a:r>
            <a:r>
              <a:rPr sz="2400" spc="-60" dirty="0">
                <a:latin typeface="Arial"/>
                <a:cs typeface="Arial"/>
              </a:rPr>
              <a:t> </a:t>
            </a:r>
            <a:r>
              <a:rPr sz="2400" dirty="0">
                <a:latin typeface="Arial"/>
                <a:cs typeface="Arial"/>
              </a:rPr>
              <a:t>rate</a:t>
            </a:r>
            <a:r>
              <a:rPr sz="2400" spc="-60" dirty="0">
                <a:latin typeface="Arial"/>
                <a:cs typeface="Arial"/>
              </a:rPr>
              <a:t> </a:t>
            </a:r>
            <a:r>
              <a:rPr sz="2400" dirty="0">
                <a:latin typeface="Arial"/>
                <a:cs typeface="Arial"/>
              </a:rPr>
              <a:t>at</a:t>
            </a:r>
            <a:r>
              <a:rPr sz="2400" spc="-55" dirty="0">
                <a:latin typeface="Arial"/>
                <a:cs typeface="Arial"/>
              </a:rPr>
              <a:t> </a:t>
            </a:r>
            <a:r>
              <a:rPr sz="2400" dirty="0">
                <a:latin typeface="Arial"/>
                <a:cs typeface="Arial"/>
              </a:rPr>
              <a:t>which</a:t>
            </a:r>
            <a:r>
              <a:rPr sz="2400" spc="-45" dirty="0">
                <a:latin typeface="Arial"/>
                <a:cs typeface="Arial"/>
              </a:rPr>
              <a:t> </a:t>
            </a:r>
            <a:r>
              <a:rPr sz="2400" dirty="0">
                <a:latin typeface="Arial"/>
                <a:cs typeface="Arial"/>
              </a:rPr>
              <a:t>it</a:t>
            </a:r>
            <a:r>
              <a:rPr sz="2400" spc="-60" dirty="0">
                <a:latin typeface="Arial"/>
                <a:cs typeface="Arial"/>
              </a:rPr>
              <a:t> </a:t>
            </a:r>
            <a:r>
              <a:rPr sz="2400" spc="-10" dirty="0">
                <a:latin typeface="Arial"/>
                <a:cs typeface="Arial"/>
              </a:rPr>
              <a:t>lends </a:t>
            </a:r>
            <a:r>
              <a:rPr sz="2400" dirty="0">
                <a:latin typeface="Arial"/>
                <a:cs typeface="Arial"/>
              </a:rPr>
              <a:t>exceeds</a:t>
            </a:r>
            <a:r>
              <a:rPr sz="2400" spc="-45" dirty="0">
                <a:latin typeface="Arial"/>
                <a:cs typeface="Arial"/>
              </a:rPr>
              <a:t> </a:t>
            </a:r>
            <a:r>
              <a:rPr sz="2400" dirty="0">
                <a:latin typeface="Arial"/>
                <a:cs typeface="Arial"/>
              </a:rPr>
              <a:t>the</a:t>
            </a:r>
            <a:r>
              <a:rPr sz="2400" spc="-50" dirty="0">
                <a:latin typeface="Arial"/>
                <a:cs typeface="Arial"/>
              </a:rPr>
              <a:t> </a:t>
            </a:r>
            <a:r>
              <a:rPr sz="2400" dirty="0">
                <a:latin typeface="Arial"/>
                <a:cs typeface="Arial"/>
              </a:rPr>
              <a:t>interest</a:t>
            </a:r>
            <a:r>
              <a:rPr sz="2400" spc="-60" dirty="0">
                <a:latin typeface="Arial"/>
                <a:cs typeface="Arial"/>
              </a:rPr>
              <a:t> </a:t>
            </a:r>
            <a:r>
              <a:rPr sz="2400" dirty="0">
                <a:latin typeface="Arial"/>
                <a:cs typeface="Arial"/>
              </a:rPr>
              <a:t>rate</a:t>
            </a:r>
            <a:r>
              <a:rPr sz="2400" spc="-55" dirty="0">
                <a:latin typeface="Arial"/>
                <a:cs typeface="Arial"/>
              </a:rPr>
              <a:t> </a:t>
            </a:r>
            <a:r>
              <a:rPr sz="2400" dirty="0">
                <a:latin typeface="Arial"/>
                <a:cs typeface="Arial"/>
              </a:rPr>
              <a:t>it</a:t>
            </a:r>
            <a:r>
              <a:rPr sz="2400" spc="-55" dirty="0">
                <a:latin typeface="Arial"/>
                <a:cs typeface="Arial"/>
              </a:rPr>
              <a:t> </a:t>
            </a:r>
            <a:r>
              <a:rPr sz="2400" dirty="0">
                <a:latin typeface="Arial"/>
                <a:cs typeface="Arial"/>
              </a:rPr>
              <a:t>pays</a:t>
            </a:r>
            <a:r>
              <a:rPr sz="2400" spc="-50" dirty="0">
                <a:latin typeface="Arial"/>
                <a:cs typeface="Arial"/>
              </a:rPr>
              <a:t> </a:t>
            </a:r>
            <a:r>
              <a:rPr sz="2400" dirty="0">
                <a:latin typeface="Arial"/>
                <a:cs typeface="Arial"/>
              </a:rPr>
              <a:t>on</a:t>
            </a:r>
            <a:r>
              <a:rPr sz="2400" spc="-55" dirty="0">
                <a:latin typeface="Arial"/>
                <a:cs typeface="Arial"/>
              </a:rPr>
              <a:t> </a:t>
            </a:r>
            <a:r>
              <a:rPr sz="2400" spc="-10" dirty="0">
                <a:latin typeface="Arial"/>
                <a:cs typeface="Arial"/>
              </a:rPr>
              <a:t>deposits.</a:t>
            </a:r>
            <a:endParaRPr sz="2400">
              <a:latin typeface="Arial"/>
              <a:cs typeface="Arial"/>
            </a:endParaRPr>
          </a:p>
          <a:p>
            <a:pPr marL="12700">
              <a:lnSpc>
                <a:spcPct val="100000"/>
              </a:lnSpc>
              <a:spcBef>
                <a:spcPts val="1200"/>
              </a:spcBef>
            </a:pPr>
            <a:r>
              <a:rPr sz="2400" dirty="0">
                <a:latin typeface="Arial"/>
                <a:cs typeface="Arial"/>
              </a:rPr>
              <a:t>But</a:t>
            </a:r>
            <a:r>
              <a:rPr sz="2400" spc="-40" dirty="0">
                <a:latin typeface="Arial"/>
                <a:cs typeface="Arial"/>
              </a:rPr>
              <a:t> </a:t>
            </a:r>
            <a:r>
              <a:rPr sz="2400" dirty="0">
                <a:latin typeface="Arial"/>
                <a:cs typeface="Arial"/>
              </a:rPr>
              <a:t>the</a:t>
            </a:r>
            <a:r>
              <a:rPr sz="2400" spc="-35" dirty="0">
                <a:latin typeface="Arial"/>
                <a:cs typeface="Arial"/>
              </a:rPr>
              <a:t> </a:t>
            </a:r>
            <a:r>
              <a:rPr sz="2400" dirty="0">
                <a:latin typeface="Arial"/>
                <a:cs typeface="Arial"/>
              </a:rPr>
              <a:t>banks</a:t>
            </a:r>
            <a:r>
              <a:rPr sz="2400" spc="-35" dirty="0">
                <a:latin typeface="Arial"/>
                <a:cs typeface="Arial"/>
              </a:rPr>
              <a:t> </a:t>
            </a:r>
            <a:r>
              <a:rPr sz="2400" dirty="0">
                <a:latin typeface="Arial"/>
                <a:cs typeface="Arial"/>
              </a:rPr>
              <a:t>must</a:t>
            </a:r>
            <a:r>
              <a:rPr sz="2400" spc="-40" dirty="0">
                <a:latin typeface="Arial"/>
                <a:cs typeface="Arial"/>
              </a:rPr>
              <a:t> </a:t>
            </a:r>
            <a:r>
              <a:rPr sz="2400" dirty="0">
                <a:latin typeface="Arial"/>
                <a:cs typeface="Arial"/>
              </a:rPr>
              <a:t>balance</a:t>
            </a:r>
            <a:r>
              <a:rPr sz="2400" spc="-25" dirty="0">
                <a:latin typeface="Arial"/>
                <a:cs typeface="Arial"/>
              </a:rPr>
              <a:t> </a:t>
            </a:r>
            <a:r>
              <a:rPr sz="2400" dirty="0">
                <a:latin typeface="Arial"/>
                <a:cs typeface="Arial"/>
              </a:rPr>
              <a:t>profit</a:t>
            </a:r>
            <a:r>
              <a:rPr sz="2400" spc="-45" dirty="0">
                <a:latin typeface="Arial"/>
                <a:cs typeface="Arial"/>
              </a:rPr>
              <a:t> </a:t>
            </a:r>
            <a:r>
              <a:rPr sz="2400" dirty="0">
                <a:latin typeface="Arial"/>
                <a:cs typeface="Arial"/>
              </a:rPr>
              <a:t>and</a:t>
            </a:r>
            <a:r>
              <a:rPr sz="2400" spc="-25" dirty="0">
                <a:latin typeface="Arial"/>
                <a:cs typeface="Arial"/>
              </a:rPr>
              <a:t> </a:t>
            </a:r>
            <a:r>
              <a:rPr sz="2400" spc="-10" dirty="0">
                <a:latin typeface="Arial"/>
                <a:cs typeface="Arial"/>
              </a:rPr>
              <a:t>prudence:</a:t>
            </a:r>
            <a:endParaRPr sz="2400">
              <a:latin typeface="Arial"/>
              <a:cs typeface="Arial"/>
            </a:endParaRPr>
          </a:p>
          <a:p>
            <a:pPr marL="443865" indent="-360045">
              <a:lnSpc>
                <a:spcPct val="100000"/>
              </a:lnSpc>
              <a:spcBef>
                <a:spcPts val="1200"/>
              </a:spcBef>
              <a:buSzPct val="118750"/>
              <a:buFont typeface="Wingdings"/>
              <a:buChar char=""/>
              <a:tabLst>
                <a:tab pos="443865" algn="l"/>
              </a:tabLst>
            </a:pPr>
            <a:r>
              <a:rPr sz="2400" dirty="0">
                <a:latin typeface="Arial"/>
                <a:cs typeface="Arial"/>
              </a:rPr>
              <a:t>Loans</a:t>
            </a:r>
            <a:r>
              <a:rPr sz="2400" spc="-100" dirty="0">
                <a:latin typeface="Arial"/>
                <a:cs typeface="Arial"/>
              </a:rPr>
              <a:t> </a:t>
            </a:r>
            <a:r>
              <a:rPr sz="2400" dirty="0">
                <a:latin typeface="Arial"/>
                <a:cs typeface="Arial"/>
              </a:rPr>
              <a:t>generate</a:t>
            </a:r>
            <a:r>
              <a:rPr sz="2400" spc="-100" dirty="0">
                <a:latin typeface="Arial"/>
                <a:cs typeface="Arial"/>
              </a:rPr>
              <a:t> </a:t>
            </a:r>
            <a:r>
              <a:rPr sz="2400" spc="-10" dirty="0">
                <a:latin typeface="Arial"/>
                <a:cs typeface="Arial"/>
              </a:rPr>
              <a:t>profit.</a:t>
            </a:r>
            <a:endParaRPr sz="2400">
              <a:latin typeface="Arial"/>
              <a:cs typeface="Arial"/>
            </a:endParaRPr>
          </a:p>
          <a:p>
            <a:pPr marL="443865" marR="588010" indent="-360045">
              <a:lnSpc>
                <a:spcPct val="100000"/>
              </a:lnSpc>
              <a:spcBef>
                <a:spcPts val="1200"/>
              </a:spcBef>
              <a:buSzPct val="118750"/>
              <a:buFont typeface="Wingdings"/>
              <a:buChar char=""/>
              <a:tabLst>
                <a:tab pos="443865" algn="l"/>
              </a:tabLst>
            </a:pPr>
            <a:r>
              <a:rPr sz="2400" dirty="0">
                <a:latin typeface="Arial"/>
                <a:cs typeface="Arial"/>
              </a:rPr>
              <a:t>Depositors</a:t>
            </a:r>
            <a:r>
              <a:rPr sz="2400" spc="-45" dirty="0">
                <a:latin typeface="Arial"/>
                <a:cs typeface="Arial"/>
              </a:rPr>
              <a:t> </a:t>
            </a:r>
            <a:r>
              <a:rPr sz="2400" dirty="0">
                <a:latin typeface="Arial"/>
                <a:cs typeface="Arial"/>
              </a:rPr>
              <a:t>must</a:t>
            </a:r>
            <a:r>
              <a:rPr sz="2400" spc="-45" dirty="0">
                <a:latin typeface="Arial"/>
                <a:cs typeface="Arial"/>
              </a:rPr>
              <a:t> </a:t>
            </a:r>
            <a:r>
              <a:rPr sz="2400" dirty="0">
                <a:latin typeface="Arial"/>
                <a:cs typeface="Arial"/>
              </a:rPr>
              <a:t>be</a:t>
            </a:r>
            <a:r>
              <a:rPr sz="2400" spc="-55" dirty="0">
                <a:latin typeface="Arial"/>
                <a:cs typeface="Arial"/>
              </a:rPr>
              <a:t> </a:t>
            </a:r>
            <a:r>
              <a:rPr sz="2400" dirty="0">
                <a:latin typeface="Arial"/>
                <a:cs typeface="Arial"/>
              </a:rPr>
              <a:t>able</a:t>
            </a:r>
            <a:r>
              <a:rPr sz="2400" spc="-35" dirty="0">
                <a:latin typeface="Arial"/>
                <a:cs typeface="Arial"/>
              </a:rPr>
              <a:t> </a:t>
            </a:r>
            <a:r>
              <a:rPr sz="2400" dirty="0">
                <a:latin typeface="Arial"/>
                <a:cs typeface="Arial"/>
              </a:rPr>
              <a:t>to</a:t>
            </a:r>
            <a:r>
              <a:rPr sz="2400" spc="-70" dirty="0">
                <a:latin typeface="Arial"/>
                <a:cs typeface="Arial"/>
              </a:rPr>
              <a:t> </a:t>
            </a:r>
            <a:r>
              <a:rPr sz="2400" dirty="0">
                <a:latin typeface="Arial"/>
                <a:cs typeface="Arial"/>
              </a:rPr>
              <a:t>obtain</a:t>
            </a:r>
            <a:r>
              <a:rPr sz="2400" spc="-45" dirty="0">
                <a:latin typeface="Arial"/>
                <a:cs typeface="Arial"/>
              </a:rPr>
              <a:t> </a:t>
            </a:r>
            <a:r>
              <a:rPr sz="2400" dirty="0">
                <a:latin typeface="Arial"/>
                <a:cs typeface="Arial"/>
              </a:rPr>
              <a:t>their</a:t>
            </a:r>
            <a:r>
              <a:rPr sz="2400" spc="-50" dirty="0">
                <a:latin typeface="Arial"/>
                <a:cs typeface="Arial"/>
              </a:rPr>
              <a:t> </a:t>
            </a:r>
            <a:r>
              <a:rPr sz="2400" dirty="0">
                <a:latin typeface="Arial"/>
                <a:cs typeface="Arial"/>
              </a:rPr>
              <a:t>funds</a:t>
            </a:r>
            <a:r>
              <a:rPr sz="2400" spc="-50" dirty="0">
                <a:latin typeface="Arial"/>
                <a:cs typeface="Arial"/>
              </a:rPr>
              <a:t> </a:t>
            </a:r>
            <a:r>
              <a:rPr sz="2400" spc="-20" dirty="0">
                <a:latin typeface="Arial"/>
                <a:cs typeface="Arial"/>
              </a:rPr>
              <a:t>when </a:t>
            </a:r>
            <a:r>
              <a:rPr sz="2400" dirty="0">
                <a:latin typeface="Arial"/>
                <a:cs typeface="Arial"/>
              </a:rPr>
              <a:t>they</a:t>
            </a:r>
            <a:r>
              <a:rPr sz="2400" spc="-40" dirty="0">
                <a:latin typeface="Arial"/>
                <a:cs typeface="Arial"/>
              </a:rPr>
              <a:t> </a:t>
            </a:r>
            <a:r>
              <a:rPr sz="2400" dirty="0">
                <a:latin typeface="Arial"/>
                <a:cs typeface="Arial"/>
              </a:rPr>
              <a:t>want</a:t>
            </a:r>
            <a:r>
              <a:rPr sz="2400" spc="-25" dirty="0">
                <a:latin typeface="Arial"/>
                <a:cs typeface="Arial"/>
              </a:rPr>
              <a:t> </a:t>
            </a:r>
            <a:r>
              <a:rPr sz="2400" spc="-20" dirty="0">
                <a:latin typeface="Arial"/>
                <a:cs typeface="Arial"/>
              </a:rPr>
              <a:t>them.</a:t>
            </a:r>
            <a:endParaRPr sz="2400">
              <a:latin typeface="Arial"/>
              <a:cs typeface="Arial"/>
            </a:endParaRPr>
          </a:p>
        </p:txBody>
      </p:sp>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0059">
              <a:lnSpc>
                <a:spcPct val="100000"/>
              </a:lnSpc>
              <a:spcBef>
                <a:spcPts val="105"/>
              </a:spcBef>
            </a:pPr>
            <a:r>
              <a:rPr dirty="0"/>
              <a:t>Depository</a:t>
            </a:r>
            <a:r>
              <a:rPr spc="-85" dirty="0"/>
              <a:t> </a:t>
            </a:r>
            <a:r>
              <a:rPr spc="-10" dirty="0"/>
              <a:t>Institutions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1394" name="Rectangle 2">
            <a:extLst>
              <a:ext uri="{FF2B5EF4-FFF2-40B4-BE49-F238E27FC236}">
                <a16:creationId xmlns:a16="http://schemas.microsoft.com/office/drawing/2014/main" id="{59BB5A47-9C58-3552-58AE-37300D62FFEE}"/>
              </a:ext>
            </a:extLst>
          </p:cNvPr>
          <p:cNvSpPr>
            <a:spLocks noGrp="1" noChangeArrowheads="1"/>
          </p:cNvSpPr>
          <p:nvPr>
            <p:ph type="title"/>
          </p:nvPr>
        </p:nvSpPr>
        <p:spPr/>
        <p:txBody>
          <a:bodyPr/>
          <a:lstStyle/>
          <a:p>
            <a:pPr eaLnBrk="1" hangingPunct="1">
              <a:defRPr/>
            </a:pPr>
            <a:r>
              <a:rPr lang="en-US" dirty="0">
                <a:cs typeface="+mj-cs"/>
              </a:rPr>
              <a:t>THE BANKING SYSTEM</a:t>
            </a:r>
            <a:endParaRPr lang="en-CA" dirty="0">
              <a:cs typeface="+mj-cs"/>
            </a:endParaRPr>
          </a:p>
        </p:txBody>
      </p:sp>
      <p:sp>
        <p:nvSpPr>
          <p:cNvPr id="571395" name="Rectangle 3">
            <a:extLst>
              <a:ext uri="{FF2B5EF4-FFF2-40B4-BE49-F238E27FC236}">
                <a16:creationId xmlns:a16="http://schemas.microsoft.com/office/drawing/2014/main" id="{0F0B9563-5AA6-7B51-8BFE-C88F1BC8CD8A}"/>
              </a:ext>
            </a:extLst>
          </p:cNvPr>
          <p:cNvSpPr>
            <a:spLocks noGrp="1" noChangeArrowheads="1"/>
          </p:cNvSpPr>
          <p:nvPr>
            <p:ph type="body" idx="1"/>
          </p:nvPr>
        </p:nvSpPr>
        <p:spPr/>
        <p:txBody>
          <a:bodyPr/>
          <a:lstStyle/>
          <a:p>
            <a:pPr lvl="1" eaLnBrk="1" hangingPunct="1">
              <a:lnSpc>
                <a:spcPct val="125000"/>
              </a:lnSpc>
              <a:defRPr/>
            </a:pPr>
            <a:r>
              <a:rPr lang="en-US" b="1">
                <a:solidFill>
                  <a:srgbClr val="00468F"/>
                </a:solidFill>
                <a:ea typeface="MS Mincho" charset="0"/>
                <a:cs typeface="MS Mincho" charset="0"/>
              </a:rPr>
              <a:t>Bank Deposits</a:t>
            </a:r>
          </a:p>
          <a:p>
            <a:pPr lvl="1" eaLnBrk="1" hangingPunct="1">
              <a:lnSpc>
                <a:spcPct val="125000"/>
              </a:lnSpc>
              <a:defRPr/>
            </a:pPr>
            <a:r>
              <a:rPr lang="en-US">
                <a:ea typeface="MS Mincho" charset="0"/>
                <a:cs typeface="MS Mincho" charset="0"/>
              </a:rPr>
              <a:t>A commercial bank accepts three types of deposits:</a:t>
            </a:r>
          </a:p>
          <a:p>
            <a:pPr lvl="2" eaLnBrk="1" hangingPunct="1">
              <a:lnSpc>
                <a:spcPct val="125000"/>
              </a:lnSpc>
              <a:defRPr/>
            </a:pPr>
            <a:r>
              <a:rPr lang="en-US">
                <a:ea typeface="MS Mincho" charset="0"/>
                <a:cs typeface="MS Mincho" charset="0"/>
              </a:rPr>
              <a:t>Checkable deposits</a:t>
            </a:r>
          </a:p>
          <a:p>
            <a:pPr lvl="2" eaLnBrk="1" hangingPunct="1">
              <a:lnSpc>
                <a:spcPct val="125000"/>
              </a:lnSpc>
              <a:defRPr/>
            </a:pPr>
            <a:r>
              <a:rPr lang="en-US">
                <a:ea typeface="MS Mincho" charset="0"/>
                <a:cs typeface="MS Mincho" charset="0"/>
              </a:rPr>
              <a:t>Savings deposits</a:t>
            </a:r>
          </a:p>
          <a:p>
            <a:pPr lvl="2" eaLnBrk="1" hangingPunct="1">
              <a:lnSpc>
                <a:spcPct val="125000"/>
              </a:lnSpc>
              <a:defRPr/>
            </a:pPr>
            <a:r>
              <a:rPr lang="en-US">
                <a:ea typeface="MS Mincho" charset="0"/>
                <a:cs typeface="MS Mincho" charset="0"/>
              </a:rPr>
              <a:t>Time deposits</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1395">
                                            <p:txEl>
                                              <p:pRg st="1" end="1"/>
                                            </p:txEl>
                                          </p:spTgt>
                                        </p:tgtEl>
                                        <p:attrNameLst>
                                          <p:attrName>style.visibility</p:attrName>
                                        </p:attrNameLst>
                                      </p:cBhvr>
                                      <p:to>
                                        <p:strVal val="visible"/>
                                      </p:to>
                                    </p:set>
                                    <p:animEffect transition="in" filter="wipe(left)">
                                      <p:cBhvr>
                                        <p:cTn id="7" dur="500"/>
                                        <p:tgtEl>
                                          <p:spTgt spid="5713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1395">
                                            <p:txEl>
                                              <p:pRg st="2" end="2"/>
                                            </p:txEl>
                                          </p:spTgt>
                                        </p:tgtEl>
                                        <p:attrNameLst>
                                          <p:attrName>style.visibility</p:attrName>
                                        </p:attrNameLst>
                                      </p:cBhvr>
                                      <p:to>
                                        <p:strVal val="visible"/>
                                      </p:to>
                                    </p:set>
                                    <p:animEffect transition="in" filter="wipe(left)">
                                      <p:cBhvr>
                                        <p:cTn id="12" dur="500"/>
                                        <p:tgtEl>
                                          <p:spTgt spid="57139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1395">
                                            <p:txEl>
                                              <p:pRg st="3" end="3"/>
                                            </p:txEl>
                                          </p:spTgt>
                                        </p:tgtEl>
                                        <p:attrNameLst>
                                          <p:attrName>style.visibility</p:attrName>
                                        </p:attrNameLst>
                                      </p:cBhvr>
                                      <p:to>
                                        <p:strVal val="visible"/>
                                      </p:to>
                                    </p:set>
                                    <p:animEffect transition="in" filter="wipe(left)">
                                      <p:cBhvr>
                                        <p:cTn id="17" dur="500"/>
                                        <p:tgtEl>
                                          <p:spTgt spid="57139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1395">
                                            <p:txEl>
                                              <p:pRg st="4" end="4"/>
                                            </p:txEl>
                                          </p:spTgt>
                                        </p:tgtEl>
                                        <p:attrNameLst>
                                          <p:attrName>style.visibility</p:attrName>
                                        </p:attrNameLst>
                                      </p:cBhvr>
                                      <p:to>
                                        <p:strVal val="visible"/>
                                      </p:to>
                                    </p:set>
                                    <p:animEffect transition="in" filter="wipe(left)">
                                      <p:cBhvr>
                                        <p:cTn id="22" dur="500"/>
                                        <p:tgtEl>
                                          <p:spTgt spid="5713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395" grpId="0" build="p" bldLvl="3"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4466" name="Rectangle 1026">
            <a:extLst>
              <a:ext uri="{FF2B5EF4-FFF2-40B4-BE49-F238E27FC236}">
                <a16:creationId xmlns:a16="http://schemas.microsoft.com/office/drawing/2014/main" id="{C6119176-57A5-9E6D-73AE-1B6BAAC349F1}"/>
              </a:ext>
            </a:extLst>
          </p:cNvPr>
          <p:cNvSpPr>
            <a:spLocks noGrp="1" noChangeArrowheads="1"/>
          </p:cNvSpPr>
          <p:nvPr>
            <p:ph type="title"/>
          </p:nvPr>
        </p:nvSpPr>
        <p:spPr/>
        <p:txBody>
          <a:bodyPr/>
          <a:lstStyle/>
          <a:p>
            <a:pPr eaLnBrk="1" hangingPunct="1">
              <a:defRPr/>
            </a:pPr>
            <a:r>
              <a:rPr lang="en-US" dirty="0">
                <a:cs typeface="+mj-cs"/>
              </a:rPr>
              <a:t>THE BANKING SYSTEM</a:t>
            </a:r>
            <a:endParaRPr lang="en-CA" dirty="0">
              <a:cs typeface="+mj-cs"/>
            </a:endParaRPr>
          </a:p>
        </p:txBody>
      </p:sp>
      <p:sp>
        <p:nvSpPr>
          <p:cNvPr id="574467" name="Rectangle 1027">
            <a:extLst>
              <a:ext uri="{FF2B5EF4-FFF2-40B4-BE49-F238E27FC236}">
                <a16:creationId xmlns:a16="http://schemas.microsoft.com/office/drawing/2014/main" id="{8369C676-4E77-8CE5-3523-DCA2921DCBFB}"/>
              </a:ext>
            </a:extLst>
          </p:cNvPr>
          <p:cNvSpPr>
            <a:spLocks noGrp="1" noChangeArrowheads="1"/>
          </p:cNvSpPr>
          <p:nvPr>
            <p:ph type="body" idx="1"/>
          </p:nvPr>
        </p:nvSpPr>
        <p:spPr/>
        <p:txBody>
          <a:bodyPr/>
          <a:lstStyle/>
          <a:p>
            <a:pPr lvl="1" eaLnBrk="1" hangingPunct="1">
              <a:lnSpc>
                <a:spcPct val="125000"/>
              </a:lnSpc>
            </a:pPr>
            <a:r>
              <a:rPr lang="en-US" altLang="en-TW" b="1">
                <a:solidFill>
                  <a:srgbClr val="00468F"/>
                </a:solidFill>
                <a:ea typeface="MS Mincho" panose="02020609040205080304" pitchFamily="49" charset="-128"/>
              </a:rPr>
              <a:t>Profit and Risk:  A Balancing Act</a:t>
            </a:r>
            <a:endParaRPr lang="en-US" altLang="en-TW" b="1">
              <a:ea typeface="MS Mincho" panose="02020609040205080304" pitchFamily="49" charset="-128"/>
            </a:endParaRPr>
          </a:p>
          <a:p>
            <a:pPr lvl="1" eaLnBrk="1" hangingPunct="1"/>
            <a:r>
              <a:rPr lang="en-US" altLang="en-TW">
                <a:ea typeface="MS Mincho" panose="02020609040205080304" pitchFamily="49" charset="-128"/>
              </a:rPr>
              <a:t>The goal of a commercial bank is to maximize the long-term wealth of its stockholders.</a:t>
            </a:r>
          </a:p>
          <a:p>
            <a:pPr lvl="1" eaLnBrk="1" hangingPunct="1"/>
            <a:r>
              <a:rPr lang="en-US" altLang="en-TW">
                <a:ea typeface="MS Mincho" panose="02020609040205080304" pitchFamily="49" charset="-128"/>
              </a:rPr>
              <a:t>To achieve this goal, banks borrow from depositors and others and lend for long-terms at high interest rates.</a:t>
            </a:r>
          </a:p>
          <a:p>
            <a:pPr lvl="1" eaLnBrk="1" hangingPunct="1"/>
            <a:r>
              <a:rPr lang="en-US" altLang="en-TW">
                <a:ea typeface="MS Mincho" panose="02020609040205080304" pitchFamily="49" charset="-128"/>
              </a:rPr>
              <a:t>Lending is risky, so a bank must be prudent in the way it uses its depositors</a:t>
            </a:r>
            <a:r>
              <a:rPr lang="en-US" altLang="en-US">
                <a:ea typeface="MS Mincho" panose="02020609040205080304" pitchFamily="49" charset="-128"/>
              </a:rPr>
              <a:t>’</a:t>
            </a:r>
            <a:r>
              <a:rPr lang="en-US" altLang="en-TW">
                <a:ea typeface="MS Mincho" panose="02020609040205080304" pitchFamily="49" charset="-128"/>
              </a:rPr>
              <a:t> funds and balance security for depositors and stockholders against high but risky returns.</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4467">
                                            <p:txEl>
                                              <p:pRg st="1" end="1"/>
                                            </p:txEl>
                                          </p:spTgt>
                                        </p:tgtEl>
                                        <p:attrNameLst>
                                          <p:attrName>style.visibility</p:attrName>
                                        </p:attrNameLst>
                                      </p:cBhvr>
                                      <p:to>
                                        <p:strVal val="visible"/>
                                      </p:to>
                                    </p:set>
                                    <p:animEffect transition="in" filter="wipe(left)">
                                      <p:cBhvr>
                                        <p:cTn id="7" dur="500"/>
                                        <p:tgtEl>
                                          <p:spTgt spid="5744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4467">
                                            <p:txEl>
                                              <p:pRg st="2" end="2"/>
                                            </p:txEl>
                                          </p:spTgt>
                                        </p:tgtEl>
                                        <p:attrNameLst>
                                          <p:attrName>style.visibility</p:attrName>
                                        </p:attrNameLst>
                                      </p:cBhvr>
                                      <p:to>
                                        <p:strVal val="visible"/>
                                      </p:to>
                                    </p:set>
                                    <p:animEffect transition="in" filter="wipe(left)">
                                      <p:cBhvr>
                                        <p:cTn id="12" dur="500"/>
                                        <p:tgtEl>
                                          <p:spTgt spid="57446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4467">
                                            <p:txEl>
                                              <p:pRg st="3" end="3"/>
                                            </p:txEl>
                                          </p:spTgt>
                                        </p:tgtEl>
                                        <p:attrNameLst>
                                          <p:attrName>style.visibility</p:attrName>
                                        </p:attrNameLst>
                                      </p:cBhvr>
                                      <p:to>
                                        <p:strVal val="visible"/>
                                      </p:to>
                                    </p:set>
                                    <p:animEffect transition="in" filter="wipe(left)">
                                      <p:cBhvr>
                                        <p:cTn id="17" dur="500"/>
                                        <p:tgtEl>
                                          <p:spTgt spid="5744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7" grpId="0" build="p" bldLvl="3"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5492" name="Rectangle 4">
            <a:extLst>
              <a:ext uri="{FF2B5EF4-FFF2-40B4-BE49-F238E27FC236}">
                <a16:creationId xmlns:a16="http://schemas.microsoft.com/office/drawing/2014/main" id="{4F73F728-56B7-2B9C-1B22-6CFD331CCCF9}"/>
              </a:ext>
            </a:extLst>
          </p:cNvPr>
          <p:cNvSpPr>
            <a:spLocks noGrp="1" noChangeArrowheads="1"/>
          </p:cNvSpPr>
          <p:nvPr>
            <p:ph type="title"/>
          </p:nvPr>
        </p:nvSpPr>
        <p:spPr/>
        <p:txBody>
          <a:bodyPr/>
          <a:lstStyle/>
          <a:p>
            <a:pPr eaLnBrk="1" hangingPunct="1">
              <a:defRPr/>
            </a:pPr>
            <a:r>
              <a:rPr lang="en-US" dirty="0">
                <a:cs typeface="+mj-cs"/>
              </a:rPr>
              <a:t>THE BANKING SYSTEM</a:t>
            </a:r>
            <a:endParaRPr lang="en-CA" dirty="0">
              <a:cs typeface="+mj-cs"/>
            </a:endParaRPr>
          </a:p>
        </p:txBody>
      </p:sp>
      <p:sp>
        <p:nvSpPr>
          <p:cNvPr id="575493" name="Rectangle 5">
            <a:extLst>
              <a:ext uri="{FF2B5EF4-FFF2-40B4-BE49-F238E27FC236}">
                <a16:creationId xmlns:a16="http://schemas.microsoft.com/office/drawing/2014/main" id="{13E2C338-8310-8A70-EF6A-EAD8DA5D7360}"/>
              </a:ext>
            </a:extLst>
          </p:cNvPr>
          <p:cNvSpPr>
            <a:spLocks noGrp="1" noChangeArrowheads="1"/>
          </p:cNvSpPr>
          <p:nvPr>
            <p:ph type="body" idx="1"/>
          </p:nvPr>
        </p:nvSpPr>
        <p:spPr/>
        <p:txBody>
          <a:bodyPr/>
          <a:lstStyle/>
          <a:p>
            <a:pPr marL="228600" lvl="1" eaLnBrk="1" hangingPunct="1">
              <a:defRPr/>
            </a:pPr>
            <a:r>
              <a:rPr lang="en-US"/>
              <a:t>To trade off between risk and profit, a bank divided its assets into four parts:</a:t>
            </a:r>
          </a:p>
          <a:p>
            <a:pPr marL="1085850" lvl="2" indent="-457200" eaLnBrk="1" hangingPunct="1">
              <a:buSzPct val="120000"/>
              <a:defRPr/>
            </a:pPr>
            <a:r>
              <a:rPr lang="en-US"/>
              <a:t>Reserves</a:t>
            </a:r>
          </a:p>
          <a:p>
            <a:pPr marL="1085850" lvl="2" indent="-457200" eaLnBrk="1" hangingPunct="1">
              <a:buSzPct val="120000"/>
              <a:defRPr/>
            </a:pPr>
            <a:r>
              <a:rPr lang="en-US"/>
              <a:t>Liquid assets</a:t>
            </a:r>
          </a:p>
          <a:p>
            <a:pPr marL="1085850" lvl="2" indent="-457200" eaLnBrk="1" hangingPunct="1">
              <a:buSzPct val="120000"/>
              <a:defRPr/>
            </a:pPr>
            <a:r>
              <a:rPr lang="en-US"/>
              <a:t>Securities</a:t>
            </a:r>
          </a:p>
          <a:p>
            <a:pPr marL="1085850" lvl="2" indent="-457200" eaLnBrk="1" hangingPunct="1">
              <a:buSzPct val="120000"/>
              <a:defRPr/>
            </a:pPr>
            <a:r>
              <a:rPr lang="en-US"/>
              <a:t>Loans</a:t>
            </a:r>
          </a:p>
        </p:txBody>
      </p:sp>
    </p:spTree>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9318" y="1609801"/>
            <a:ext cx="8060690" cy="4691028"/>
          </a:xfrm>
          <a:prstGeom prst="rect">
            <a:avLst/>
          </a:prstGeom>
        </p:spPr>
        <p:txBody>
          <a:bodyPr vert="horz" wrap="square" lIns="0" tIns="12700" rIns="0" bIns="0" rtlCol="0">
            <a:spAutoFit/>
          </a:bodyPr>
          <a:lstStyle/>
          <a:p>
            <a:pPr marL="120650">
              <a:lnSpc>
                <a:spcPct val="100000"/>
              </a:lnSpc>
              <a:spcBef>
                <a:spcPts val="100"/>
              </a:spcBef>
            </a:pPr>
            <a:r>
              <a:rPr sz="2400" dirty="0">
                <a:latin typeface="Arial"/>
                <a:cs typeface="Arial"/>
              </a:rPr>
              <a:t>A</a:t>
            </a:r>
            <a:r>
              <a:rPr sz="2400" spc="-55" dirty="0">
                <a:latin typeface="Arial"/>
                <a:cs typeface="Arial"/>
              </a:rPr>
              <a:t> </a:t>
            </a:r>
            <a:r>
              <a:rPr sz="2400" spc="-10" dirty="0">
                <a:latin typeface="Arial"/>
                <a:cs typeface="Arial"/>
              </a:rPr>
              <a:t>commercial</a:t>
            </a:r>
            <a:r>
              <a:rPr sz="2400" spc="-50" dirty="0">
                <a:latin typeface="Arial"/>
                <a:cs typeface="Arial"/>
              </a:rPr>
              <a:t> </a:t>
            </a:r>
            <a:r>
              <a:rPr sz="2400" dirty="0">
                <a:latin typeface="Arial"/>
                <a:cs typeface="Arial"/>
              </a:rPr>
              <a:t>bank</a:t>
            </a:r>
            <a:r>
              <a:rPr sz="2400" spc="-65" dirty="0">
                <a:latin typeface="Arial"/>
                <a:cs typeface="Arial"/>
              </a:rPr>
              <a:t> </a:t>
            </a:r>
            <a:r>
              <a:rPr sz="2400" dirty="0">
                <a:latin typeface="Arial"/>
                <a:cs typeface="Arial"/>
              </a:rPr>
              <a:t>puts</a:t>
            </a:r>
            <a:r>
              <a:rPr sz="2400" spc="-55" dirty="0">
                <a:latin typeface="Arial"/>
                <a:cs typeface="Arial"/>
              </a:rPr>
              <a:t> </a:t>
            </a:r>
            <a:r>
              <a:rPr sz="2400" dirty="0">
                <a:latin typeface="Arial"/>
                <a:cs typeface="Arial"/>
              </a:rPr>
              <a:t>the</a:t>
            </a:r>
            <a:r>
              <a:rPr sz="2400" spc="-65" dirty="0">
                <a:latin typeface="Arial"/>
                <a:cs typeface="Arial"/>
              </a:rPr>
              <a:t> </a:t>
            </a:r>
            <a:r>
              <a:rPr sz="2400" dirty="0">
                <a:latin typeface="Arial"/>
                <a:cs typeface="Arial"/>
              </a:rPr>
              <a:t>depositors’</a:t>
            </a:r>
            <a:r>
              <a:rPr sz="2400" spc="-40" dirty="0">
                <a:latin typeface="Arial"/>
                <a:cs typeface="Arial"/>
              </a:rPr>
              <a:t> </a:t>
            </a:r>
            <a:r>
              <a:rPr sz="2400" dirty="0">
                <a:latin typeface="Arial"/>
                <a:cs typeface="Arial"/>
              </a:rPr>
              <a:t>funds</a:t>
            </a:r>
            <a:r>
              <a:rPr sz="2400" spc="-65" dirty="0">
                <a:latin typeface="Arial"/>
                <a:cs typeface="Arial"/>
              </a:rPr>
              <a:t> </a:t>
            </a:r>
            <a:r>
              <a:rPr sz="2400" dirty="0">
                <a:latin typeface="Arial"/>
                <a:cs typeface="Arial"/>
              </a:rPr>
              <a:t>into</a:t>
            </a:r>
            <a:r>
              <a:rPr sz="2400" spc="-55" dirty="0">
                <a:latin typeface="Arial"/>
                <a:cs typeface="Arial"/>
              </a:rPr>
              <a:t> </a:t>
            </a:r>
            <a:r>
              <a:rPr sz="2400" spc="-10" dirty="0">
                <a:latin typeface="Arial"/>
                <a:cs typeface="Arial"/>
              </a:rPr>
              <a:t>three</a:t>
            </a:r>
            <a:endParaRPr sz="2400" dirty="0">
              <a:latin typeface="Arial"/>
              <a:cs typeface="Arial"/>
            </a:endParaRPr>
          </a:p>
          <a:p>
            <a:pPr marL="120650">
              <a:lnSpc>
                <a:spcPct val="100000"/>
              </a:lnSpc>
              <a:spcBef>
                <a:spcPts val="5"/>
              </a:spcBef>
            </a:pPr>
            <a:r>
              <a:rPr sz="2400" dirty="0">
                <a:latin typeface="Arial"/>
                <a:cs typeface="Arial"/>
              </a:rPr>
              <a:t>types</a:t>
            </a:r>
            <a:r>
              <a:rPr sz="2400" spc="-45" dirty="0">
                <a:latin typeface="Arial"/>
                <a:cs typeface="Arial"/>
              </a:rPr>
              <a:t> </a:t>
            </a:r>
            <a:r>
              <a:rPr sz="2400" dirty="0">
                <a:latin typeface="Arial"/>
                <a:cs typeface="Arial"/>
              </a:rPr>
              <a:t>of</a:t>
            </a:r>
            <a:r>
              <a:rPr sz="2400" spc="-40" dirty="0">
                <a:latin typeface="Arial"/>
                <a:cs typeface="Arial"/>
              </a:rPr>
              <a:t> </a:t>
            </a:r>
            <a:r>
              <a:rPr sz="2400" spc="-10" dirty="0">
                <a:latin typeface="Arial"/>
                <a:cs typeface="Arial"/>
              </a:rPr>
              <a:t>assets:</a:t>
            </a:r>
            <a:endParaRPr sz="2400" dirty="0">
              <a:latin typeface="Arial"/>
              <a:cs typeface="Arial"/>
            </a:endParaRPr>
          </a:p>
          <a:p>
            <a:pPr marL="337185" marR="5080" indent="-325120">
              <a:lnSpc>
                <a:spcPct val="100000"/>
              </a:lnSpc>
              <a:spcBef>
                <a:spcPts val="1200"/>
              </a:spcBef>
              <a:buClr>
                <a:srgbClr val="6F2F9F"/>
              </a:buClr>
              <a:buSzPct val="118750"/>
              <a:buFont typeface="Wingdings"/>
              <a:buChar char=""/>
              <a:tabLst>
                <a:tab pos="337185" algn="l"/>
              </a:tabLst>
            </a:pPr>
            <a:r>
              <a:rPr sz="2400" dirty="0">
                <a:latin typeface="Arial"/>
                <a:cs typeface="Arial"/>
              </a:rPr>
              <a:t>Cash</a:t>
            </a:r>
            <a:r>
              <a:rPr sz="2400" spc="-40" dirty="0">
                <a:latin typeface="Arial"/>
                <a:cs typeface="Arial"/>
              </a:rPr>
              <a:t> </a:t>
            </a:r>
            <a:r>
              <a:rPr sz="2400" spc="-10" dirty="0">
                <a:latin typeface="Arial"/>
                <a:cs typeface="Arial"/>
              </a:rPr>
              <a:t>assets</a:t>
            </a:r>
            <a:r>
              <a:rPr lang="en-US" sz="2400" spc="-10" dirty="0">
                <a:latin typeface="Arial"/>
                <a:cs typeface="Arial"/>
              </a:rPr>
              <a:t> (Reserves)</a:t>
            </a:r>
            <a:r>
              <a:rPr sz="2400" spc="-10" dirty="0">
                <a:latin typeface="Arial"/>
                <a:cs typeface="Arial"/>
              </a:rPr>
              <a:t>—</a:t>
            </a:r>
            <a:r>
              <a:rPr sz="2400" dirty="0">
                <a:latin typeface="Arial"/>
                <a:cs typeface="Arial"/>
              </a:rPr>
              <a:t>notes</a:t>
            </a:r>
            <a:r>
              <a:rPr sz="2400" spc="-50" dirty="0">
                <a:latin typeface="Arial"/>
                <a:cs typeface="Arial"/>
              </a:rPr>
              <a:t> </a:t>
            </a:r>
            <a:r>
              <a:rPr sz="2400" dirty="0">
                <a:latin typeface="Arial"/>
                <a:cs typeface="Arial"/>
              </a:rPr>
              <a:t>and</a:t>
            </a:r>
            <a:r>
              <a:rPr sz="2400" spc="-45" dirty="0">
                <a:latin typeface="Arial"/>
                <a:cs typeface="Arial"/>
              </a:rPr>
              <a:t> </a:t>
            </a:r>
            <a:r>
              <a:rPr sz="2400" dirty="0">
                <a:latin typeface="Arial"/>
                <a:cs typeface="Arial"/>
              </a:rPr>
              <a:t>coins</a:t>
            </a:r>
            <a:r>
              <a:rPr sz="2400" spc="-40" dirty="0">
                <a:latin typeface="Arial"/>
                <a:cs typeface="Arial"/>
              </a:rPr>
              <a:t> </a:t>
            </a:r>
            <a:r>
              <a:rPr sz="2400" dirty="0">
                <a:latin typeface="Arial"/>
                <a:cs typeface="Arial"/>
              </a:rPr>
              <a:t>in</a:t>
            </a:r>
            <a:r>
              <a:rPr sz="2400" spc="-45" dirty="0">
                <a:latin typeface="Arial"/>
                <a:cs typeface="Arial"/>
              </a:rPr>
              <a:t> </a:t>
            </a:r>
            <a:r>
              <a:rPr sz="2400" dirty="0">
                <a:latin typeface="Arial"/>
                <a:cs typeface="Arial"/>
              </a:rPr>
              <a:t>its</a:t>
            </a:r>
            <a:r>
              <a:rPr sz="2400" spc="-55" dirty="0">
                <a:latin typeface="Arial"/>
                <a:cs typeface="Arial"/>
              </a:rPr>
              <a:t> </a:t>
            </a:r>
            <a:r>
              <a:rPr sz="2400" dirty="0">
                <a:latin typeface="Arial"/>
                <a:cs typeface="Arial"/>
              </a:rPr>
              <a:t>vault</a:t>
            </a:r>
            <a:r>
              <a:rPr sz="2400" spc="-45" dirty="0">
                <a:latin typeface="Arial"/>
                <a:cs typeface="Arial"/>
              </a:rPr>
              <a:t> </a:t>
            </a:r>
            <a:r>
              <a:rPr sz="2400" dirty="0">
                <a:latin typeface="Arial"/>
                <a:cs typeface="Arial"/>
              </a:rPr>
              <a:t>or</a:t>
            </a:r>
            <a:r>
              <a:rPr sz="2400" spc="-50" dirty="0">
                <a:latin typeface="Arial"/>
                <a:cs typeface="Arial"/>
              </a:rPr>
              <a:t> </a:t>
            </a:r>
            <a:r>
              <a:rPr sz="2400" dirty="0">
                <a:latin typeface="Arial"/>
                <a:cs typeface="Arial"/>
              </a:rPr>
              <a:t>its</a:t>
            </a:r>
            <a:r>
              <a:rPr sz="2400" spc="-40" dirty="0">
                <a:latin typeface="Arial"/>
                <a:cs typeface="Arial"/>
              </a:rPr>
              <a:t> </a:t>
            </a:r>
            <a:r>
              <a:rPr sz="2400" dirty="0">
                <a:latin typeface="Arial"/>
                <a:cs typeface="Arial"/>
              </a:rPr>
              <a:t>deposit</a:t>
            </a:r>
            <a:r>
              <a:rPr sz="2400" spc="-40" dirty="0">
                <a:latin typeface="Arial"/>
                <a:cs typeface="Arial"/>
              </a:rPr>
              <a:t> </a:t>
            </a:r>
            <a:r>
              <a:rPr sz="2400" spc="-25" dirty="0">
                <a:latin typeface="Arial"/>
                <a:cs typeface="Arial"/>
              </a:rPr>
              <a:t>at </a:t>
            </a:r>
            <a:r>
              <a:rPr sz="2400" dirty="0">
                <a:latin typeface="Arial"/>
                <a:cs typeface="Arial"/>
              </a:rPr>
              <a:t>the</a:t>
            </a:r>
            <a:r>
              <a:rPr sz="2400" spc="-75" dirty="0">
                <a:latin typeface="Arial"/>
                <a:cs typeface="Arial"/>
              </a:rPr>
              <a:t> </a:t>
            </a:r>
            <a:r>
              <a:rPr sz="2400" dirty="0">
                <a:latin typeface="Arial"/>
                <a:cs typeface="Arial"/>
              </a:rPr>
              <a:t>Federal</a:t>
            </a:r>
            <a:r>
              <a:rPr sz="2400" spc="-60" dirty="0">
                <a:latin typeface="Arial"/>
                <a:cs typeface="Arial"/>
              </a:rPr>
              <a:t> </a:t>
            </a:r>
            <a:r>
              <a:rPr sz="2400" spc="-10" dirty="0">
                <a:latin typeface="Arial"/>
                <a:cs typeface="Arial"/>
              </a:rPr>
              <a:t>Reserve</a:t>
            </a:r>
            <a:endParaRPr lang="en-US" sz="2400" spc="-10" dirty="0">
              <a:latin typeface="Arial"/>
              <a:cs typeface="Arial"/>
            </a:endParaRPr>
          </a:p>
          <a:p>
            <a:pPr marL="337185" marR="5080" indent="-325120">
              <a:spcBef>
                <a:spcPts val="1200"/>
              </a:spcBef>
              <a:buClr>
                <a:srgbClr val="6F2F9F"/>
              </a:buClr>
              <a:buSzPct val="118750"/>
              <a:buFont typeface="Wingdings"/>
              <a:buChar char=""/>
              <a:tabLst>
                <a:tab pos="337185" algn="l"/>
              </a:tabLst>
            </a:pPr>
            <a:r>
              <a:rPr lang="en-CA" altLang="en-US" sz="2400" dirty="0"/>
              <a:t>Liquid assets—U.S. government Treasury bills and commercial bills</a:t>
            </a:r>
            <a:endParaRPr sz="2400" dirty="0">
              <a:latin typeface="Arial"/>
              <a:cs typeface="Arial"/>
            </a:endParaRPr>
          </a:p>
          <a:p>
            <a:pPr marL="337185" marR="19685" indent="-325120">
              <a:lnSpc>
                <a:spcPct val="100000"/>
              </a:lnSpc>
              <a:spcBef>
                <a:spcPts val="1200"/>
              </a:spcBef>
              <a:buClr>
                <a:srgbClr val="6F2F9F"/>
              </a:buClr>
              <a:buSzPct val="118750"/>
              <a:buFont typeface="Wingdings"/>
              <a:buChar char=""/>
              <a:tabLst>
                <a:tab pos="337185" algn="l"/>
              </a:tabLst>
            </a:pPr>
            <a:r>
              <a:rPr sz="2400" spc="-20" dirty="0">
                <a:latin typeface="Arial"/>
                <a:cs typeface="Arial"/>
              </a:rPr>
              <a:t>Securities—</a:t>
            </a:r>
            <a:r>
              <a:rPr sz="2400" dirty="0">
                <a:latin typeface="Arial"/>
                <a:cs typeface="Arial"/>
              </a:rPr>
              <a:t>U.S.</a:t>
            </a:r>
            <a:r>
              <a:rPr sz="2400" spc="-45" dirty="0">
                <a:latin typeface="Arial"/>
                <a:cs typeface="Arial"/>
              </a:rPr>
              <a:t> </a:t>
            </a:r>
            <a:r>
              <a:rPr sz="2400" dirty="0">
                <a:latin typeface="Arial"/>
                <a:cs typeface="Arial"/>
              </a:rPr>
              <a:t>government</a:t>
            </a:r>
            <a:r>
              <a:rPr sz="2400" spc="-55" dirty="0">
                <a:latin typeface="Arial"/>
                <a:cs typeface="Arial"/>
              </a:rPr>
              <a:t> </a:t>
            </a:r>
            <a:r>
              <a:rPr sz="2400" dirty="0">
                <a:latin typeface="Arial"/>
                <a:cs typeface="Arial"/>
              </a:rPr>
              <a:t>Treasury</a:t>
            </a:r>
            <a:r>
              <a:rPr sz="2400" spc="-50" dirty="0">
                <a:latin typeface="Arial"/>
                <a:cs typeface="Arial"/>
              </a:rPr>
              <a:t> </a:t>
            </a:r>
            <a:r>
              <a:rPr sz="2400" dirty="0">
                <a:latin typeface="Arial"/>
                <a:cs typeface="Arial"/>
              </a:rPr>
              <a:t>bills</a:t>
            </a:r>
            <a:r>
              <a:rPr sz="2400" spc="-30" dirty="0">
                <a:latin typeface="Arial"/>
                <a:cs typeface="Arial"/>
              </a:rPr>
              <a:t> </a:t>
            </a:r>
            <a:r>
              <a:rPr sz="2400" spc="-25" dirty="0">
                <a:latin typeface="Arial"/>
                <a:cs typeface="Arial"/>
              </a:rPr>
              <a:t>and </a:t>
            </a:r>
            <a:r>
              <a:rPr sz="2400" dirty="0">
                <a:latin typeface="Arial"/>
                <a:cs typeface="Arial"/>
              </a:rPr>
              <a:t>commercial</a:t>
            </a:r>
            <a:r>
              <a:rPr sz="2400" spc="-65" dirty="0">
                <a:latin typeface="Arial"/>
                <a:cs typeface="Arial"/>
              </a:rPr>
              <a:t> </a:t>
            </a:r>
            <a:r>
              <a:rPr sz="2400" dirty="0">
                <a:latin typeface="Arial"/>
                <a:cs typeface="Arial"/>
              </a:rPr>
              <a:t>bills</a:t>
            </a:r>
            <a:r>
              <a:rPr sz="2400" spc="-40" dirty="0">
                <a:latin typeface="Arial"/>
                <a:cs typeface="Arial"/>
              </a:rPr>
              <a:t> </a:t>
            </a:r>
            <a:r>
              <a:rPr sz="2400" dirty="0">
                <a:latin typeface="Arial"/>
                <a:cs typeface="Arial"/>
              </a:rPr>
              <a:t>and</a:t>
            </a:r>
            <a:r>
              <a:rPr sz="2400" spc="-60" dirty="0">
                <a:latin typeface="Arial"/>
                <a:cs typeface="Arial"/>
              </a:rPr>
              <a:t> </a:t>
            </a:r>
            <a:r>
              <a:rPr sz="2400" spc="-20" dirty="0">
                <a:latin typeface="Arial"/>
                <a:cs typeface="Arial"/>
              </a:rPr>
              <a:t>longer-</a:t>
            </a:r>
            <a:r>
              <a:rPr sz="2400" dirty="0">
                <a:latin typeface="Arial"/>
                <a:cs typeface="Arial"/>
              </a:rPr>
              <a:t>term</a:t>
            </a:r>
            <a:r>
              <a:rPr sz="2400" spc="-60" dirty="0">
                <a:latin typeface="Arial"/>
                <a:cs typeface="Arial"/>
              </a:rPr>
              <a:t> </a:t>
            </a:r>
            <a:r>
              <a:rPr sz="2400" dirty="0">
                <a:latin typeface="Arial"/>
                <a:cs typeface="Arial"/>
              </a:rPr>
              <a:t>U.S.</a:t>
            </a:r>
            <a:r>
              <a:rPr sz="2400" spc="-75" dirty="0">
                <a:latin typeface="Arial"/>
                <a:cs typeface="Arial"/>
              </a:rPr>
              <a:t> </a:t>
            </a:r>
            <a:r>
              <a:rPr sz="2400" dirty="0">
                <a:latin typeface="Arial"/>
                <a:cs typeface="Arial"/>
              </a:rPr>
              <a:t>government</a:t>
            </a:r>
            <a:r>
              <a:rPr sz="2400" spc="-60" dirty="0">
                <a:latin typeface="Arial"/>
                <a:cs typeface="Arial"/>
              </a:rPr>
              <a:t> </a:t>
            </a:r>
            <a:r>
              <a:rPr sz="2400" spc="-10" dirty="0">
                <a:latin typeface="Arial"/>
                <a:cs typeface="Arial"/>
              </a:rPr>
              <a:t>bonds </a:t>
            </a:r>
            <a:r>
              <a:rPr sz="2400" dirty="0">
                <a:latin typeface="Arial"/>
                <a:cs typeface="Arial"/>
              </a:rPr>
              <a:t>and</a:t>
            </a:r>
            <a:r>
              <a:rPr sz="2400" spc="-55" dirty="0">
                <a:latin typeface="Arial"/>
                <a:cs typeface="Arial"/>
              </a:rPr>
              <a:t> </a:t>
            </a:r>
            <a:r>
              <a:rPr sz="2400" dirty="0">
                <a:latin typeface="Arial"/>
                <a:cs typeface="Arial"/>
              </a:rPr>
              <a:t>other</a:t>
            </a:r>
            <a:r>
              <a:rPr sz="2400" spc="-55" dirty="0">
                <a:latin typeface="Arial"/>
                <a:cs typeface="Arial"/>
              </a:rPr>
              <a:t> </a:t>
            </a:r>
            <a:r>
              <a:rPr sz="2400" dirty="0">
                <a:latin typeface="Arial"/>
                <a:cs typeface="Arial"/>
              </a:rPr>
              <a:t>bonds</a:t>
            </a:r>
            <a:r>
              <a:rPr sz="2400" spc="-45" dirty="0">
                <a:latin typeface="Arial"/>
                <a:cs typeface="Arial"/>
              </a:rPr>
              <a:t> </a:t>
            </a:r>
            <a:r>
              <a:rPr sz="2400" dirty="0">
                <a:latin typeface="Arial"/>
                <a:cs typeface="Arial"/>
              </a:rPr>
              <a:t>such</a:t>
            </a:r>
            <a:r>
              <a:rPr sz="2400" spc="-55" dirty="0">
                <a:latin typeface="Arial"/>
                <a:cs typeface="Arial"/>
              </a:rPr>
              <a:t> </a:t>
            </a:r>
            <a:r>
              <a:rPr sz="2400" dirty="0">
                <a:latin typeface="Arial"/>
                <a:cs typeface="Arial"/>
              </a:rPr>
              <a:t>as</a:t>
            </a:r>
            <a:r>
              <a:rPr sz="2400" spc="-55" dirty="0">
                <a:latin typeface="Arial"/>
                <a:cs typeface="Arial"/>
              </a:rPr>
              <a:t> </a:t>
            </a:r>
            <a:r>
              <a:rPr sz="2400" spc="-20" dirty="0">
                <a:latin typeface="Arial"/>
                <a:cs typeface="Arial"/>
              </a:rPr>
              <a:t>mortgage-</a:t>
            </a:r>
            <a:r>
              <a:rPr sz="2400" dirty="0">
                <a:latin typeface="Arial"/>
                <a:cs typeface="Arial"/>
              </a:rPr>
              <a:t>backed</a:t>
            </a:r>
            <a:r>
              <a:rPr sz="2400" spc="-55" dirty="0">
                <a:latin typeface="Arial"/>
                <a:cs typeface="Arial"/>
              </a:rPr>
              <a:t> </a:t>
            </a:r>
            <a:r>
              <a:rPr sz="2400" spc="-10" dirty="0">
                <a:latin typeface="Arial"/>
                <a:cs typeface="Arial"/>
              </a:rPr>
              <a:t>securities</a:t>
            </a:r>
            <a:endParaRPr sz="2400" dirty="0">
              <a:latin typeface="Arial"/>
              <a:cs typeface="Arial"/>
            </a:endParaRPr>
          </a:p>
          <a:p>
            <a:pPr marL="337185" marR="666750" indent="-325120">
              <a:lnSpc>
                <a:spcPct val="100000"/>
              </a:lnSpc>
              <a:spcBef>
                <a:spcPts val="1205"/>
              </a:spcBef>
              <a:buClr>
                <a:srgbClr val="6F2F9F"/>
              </a:buClr>
              <a:buSzPct val="118750"/>
              <a:buFont typeface="Wingdings"/>
              <a:buChar char=""/>
              <a:tabLst>
                <a:tab pos="337185" algn="l"/>
              </a:tabLst>
            </a:pPr>
            <a:r>
              <a:rPr sz="2400" spc="-25" dirty="0">
                <a:latin typeface="Arial"/>
                <a:cs typeface="Arial"/>
              </a:rPr>
              <a:t>Loans—</a:t>
            </a:r>
            <a:r>
              <a:rPr sz="2400" dirty="0">
                <a:latin typeface="Arial"/>
                <a:cs typeface="Arial"/>
              </a:rPr>
              <a:t>commitments</a:t>
            </a:r>
            <a:r>
              <a:rPr sz="2400" spc="-40" dirty="0">
                <a:latin typeface="Arial"/>
                <a:cs typeface="Arial"/>
              </a:rPr>
              <a:t> </a:t>
            </a:r>
            <a:r>
              <a:rPr sz="2400" dirty="0">
                <a:latin typeface="Arial"/>
                <a:cs typeface="Arial"/>
              </a:rPr>
              <a:t>of</a:t>
            </a:r>
            <a:r>
              <a:rPr sz="2400" spc="-50" dirty="0">
                <a:latin typeface="Arial"/>
                <a:cs typeface="Arial"/>
              </a:rPr>
              <a:t> </a:t>
            </a:r>
            <a:r>
              <a:rPr sz="2400" dirty="0">
                <a:latin typeface="Arial"/>
                <a:cs typeface="Arial"/>
              </a:rPr>
              <a:t>fixed</a:t>
            </a:r>
            <a:r>
              <a:rPr sz="2400" spc="-45" dirty="0">
                <a:latin typeface="Arial"/>
                <a:cs typeface="Arial"/>
              </a:rPr>
              <a:t> </a:t>
            </a:r>
            <a:r>
              <a:rPr sz="2400" dirty="0">
                <a:latin typeface="Arial"/>
                <a:cs typeface="Arial"/>
              </a:rPr>
              <a:t>amounts</a:t>
            </a:r>
            <a:r>
              <a:rPr sz="2400" spc="-50" dirty="0">
                <a:latin typeface="Arial"/>
                <a:cs typeface="Arial"/>
              </a:rPr>
              <a:t> </a:t>
            </a:r>
            <a:r>
              <a:rPr sz="2400" dirty="0">
                <a:latin typeface="Arial"/>
                <a:cs typeface="Arial"/>
              </a:rPr>
              <a:t>of</a:t>
            </a:r>
            <a:r>
              <a:rPr sz="2400" spc="-60" dirty="0">
                <a:latin typeface="Arial"/>
                <a:cs typeface="Arial"/>
              </a:rPr>
              <a:t> </a:t>
            </a:r>
            <a:r>
              <a:rPr sz="2400" dirty="0">
                <a:latin typeface="Arial"/>
                <a:cs typeface="Arial"/>
              </a:rPr>
              <a:t>money</a:t>
            </a:r>
            <a:r>
              <a:rPr sz="2400" spc="-40" dirty="0">
                <a:latin typeface="Arial"/>
                <a:cs typeface="Arial"/>
              </a:rPr>
              <a:t> </a:t>
            </a:r>
            <a:r>
              <a:rPr sz="2400" spc="-25" dirty="0">
                <a:latin typeface="Arial"/>
                <a:cs typeface="Arial"/>
              </a:rPr>
              <a:t>for agreed-</a:t>
            </a:r>
            <a:r>
              <a:rPr sz="2400" dirty="0">
                <a:latin typeface="Arial"/>
                <a:cs typeface="Arial"/>
              </a:rPr>
              <a:t>upon</a:t>
            </a:r>
            <a:r>
              <a:rPr sz="2400" spc="-10" dirty="0">
                <a:latin typeface="Arial"/>
                <a:cs typeface="Arial"/>
              </a:rPr>
              <a:t> </a:t>
            </a:r>
            <a:r>
              <a:rPr sz="2400" dirty="0">
                <a:latin typeface="Arial"/>
                <a:cs typeface="Arial"/>
              </a:rPr>
              <a:t>periods</a:t>
            </a:r>
            <a:r>
              <a:rPr sz="2400" spc="-30" dirty="0">
                <a:latin typeface="Arial"/>
                <a:cs typeface="Arial"/>
              </a:rPr>
              <a:t> </a:t>
            </a:r>
            <a:r>
              <a:rPr sz="2400" dirty="0">
                <a:latin typeface="Arial"/>
                <a:cs typeface="Arial"/>
              </a:rPr>
              <a:t>of</a:t>
            </a:r>
            <a:r>
              <a:rPr sz="2400" spc="-45" dirty="0">
                <a:latin typeface="Arial"/>
                <a:cs typeface="Arial"/>
              </a:rPr>
              <a:t> </a:t>
            </a:r>
            <a:r>
              <a:rPr sz="2400" spc="-20" dirty="0">
                <a:latin typeface="Arial"/>
                <a:cs typeface="Arial"/>
              </a:rPr>
              <a:t>time</a:t>
            </a:r>
            <a:endParaRPr sz="2400" dirty="0">
              <a:latin typeface="Arial"/>
              <a:cs typeface="Arial"/>
            </a:endParaRPr>
          </a:p>
        </p:txBody>
      </p:sp>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0059">
              <a:lnSpc>
                <a:spcPct val="100000"/>
              </a:lnSpc>
              <a:spcBef>
                <a:spcPts val="105"/>
              </a:spcBef>
            </a:pPr>
            <a:r>
              <a:rPr dirty="0"/>
              <a:t>Depository</a:t>
            </a:r>
            <a:r>
              <a:rPr spc="-85" dirty="0"/>
              <a:t> </a:t>
            </a:r>
            <a:r>
              <a:rPr spc="-10" dirty="0"/>
              <a:t>Institutions</a:t>
            </a:r>
          </a:p>
        </p:txBody>
      </p:sp>
    </p:spTree>
    <p:extLst>
      <p:ext uri="{BB962C8B-B14F-4D97-AF65-F5344CB8AC3E}">
        <p14:creationId xmlns:p14="http://schemas.microsoft.com/office/powerpoint/2010/main" val="3210763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81986" name="Rectangle 2">
            <a:extLst>
              <a:ext uri="{FF2B5EF4-FFF2-40B4-BE49-F238E27FC236}">
                <a16:creationId xmlns:a16="http://schemas.microsoft.com/office/drawing/2014/main" id="{1A1D6CE6-D5B9-CAA7-22C2-BEC9BEF216BE}"/>
              </a:ext>
            </a:extLst>
          </p:cNvPr>
          <p:cNvSpPr>
            <a:spLocks noGrp="1" noChangeArrowheads="1"/>
          </p:cNvSpPr>
          <p:nvPr>
            <p:ph type="title"/>
          </p:nvPr>
        </p:nvSpPr>
        <p:spPr/>
        <p:txBody>
          <a:bodyPr/>
          <a:lstStyle/>
          <a:p>
            <a:pPr eaLnBrk="1" hangingPunct="1">
              <a:defRPr/>
            </a:pPr>
            <a:r>
              <a:rPr lang="en-US" dirty="0">
                <a:cs typeface="+mj-cs"/>
              </a:rPr>
              <a:t>THE BANKING SYSTEM</a:t>
            </a:r>
            <a:endParaRPr lang="en-CA" dirty="0">
              <a:cs typeface="+mj-cs"/>
            </a:endParaRPr>
          </a:p>
        </p:txBody>
      </p:sp>
      <p:sp>
        <p:nvSpPr>
          <p:cNvPr id="681987" name="Rectangle 3">
            <a:extLst>
              <a:ext uri="{FF2B5EF4-FFF2-40B4-BE49-F238E27FC236}">
                <a16:creationId xmlns:a16="http://schemas.microsoft.com/office/drawing/2014/main" id="{E7EC28A4-D703-36C5-3808-9A2F459B54AF}"/>
              </a:ext>
            </a:extLst>
          </p:cNvPr>
          <p:cNvSpPr>
            <a:spLocks noGrp="1" noChangeArrowheads="1"/>
          </p:cNvSpPr>
          <p:nvPr>
            <p:ph type="body" idx="1"/>
          </p:nvPr>
        </p:nvSpPr>
        <p:spPr>
          <a:xfrm>
            <a:off x="228600" y="1206500"/>
            <a:ext cx="3505200" cy="1371600"/>
          </a:xfrm>
        </p:spPr>
        <p:txBody>
          <a:bodyPr/>
          <a:lstStyle/>
          <a:p>
            <a:pPr marL="114300" lvl="1" eaLnBrk="1" hangingPunct="1">
              <a:defRPr/>
            </a:pPr>
            <a:r>
              <a:rPr lang="en-US" dirty="0"/>
              <a:t>Figure 27.3 shows that in 2011, commercial banks held :</a:t>
            </a:r>
            <a:endParaRPr lang="en-CA" dirty="0"/>
          </a:p>
        </p:txBody>
      </p:sp>
      <p:sp>
        <p:nvSpPr>
          <p:cNvPr id="681988" name="Rectangle 4">
            <a:extLst>
              <a:ext uri="{FF2B5EF4-FFF2-40B4-BE49-F238E27FC236}">
                <a16:creationId xmlns:a16="http://schemas.microsoft.com/office/drawing/2014/main" id="{150626CF-8D50-1100-F8F3-83151C45275A}"/>
              </a:ext>
            </a:extLst>
          </p:cNvPr>
          <p:cNvSpPr>
            <a:spLocks noChangeArrowheads="1"/>
          </p:cNvSpPr>
          <p:nvPr/>
        </p:nvSpPr>
        <p:spPr bwMode="auto">
          <a:xfrm>
            <a:off x="244001" y="2924944"/>
            <a:ext cx="3983038" cy="3495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533400" lvl="1" indent="-444500">
              <a:lnSpc>
                <a:spcPct val="105000"/>
              </a:lnSpc>
              <a:spcBef>
                <a:spcPct val="50000"/>
              </a:spcBef>
              <a:defRPr/>
            </a:pPr>
            <a:r>
              <a:rPr lang="en-US" sz="2800" dirty="0">
                <a:latin typeface="Arial" charset="0"/>
                <a:ea typeface="ＭＳ Ｐゴシック" charset="0"/>
              </a:rPr>
              <a:t>13 percent of total assets as reserves </a:t>
            </a:r>
          </a:p>
          <a:p>
            <a:pPr marL="114300" lvl="1">
              <a:lnSpc>
                <a:spcPct val="105000"/>
              </a:lnSpc>
              <a:spcBef>
                <a:spcPct val="50000"/>
              </a:spcBef>
              <a:defRPr/>
            </a:pPr>
            <a:r>
              <a:rPr lang="en-US" sz="2800" dirty="0">
                <a:latin typeface="Arial" charset="0"/>
                <a:ea typeface="ＭＳ Ｐゴシック" charset="0"/>
              </a:rPr>
              <a:t>13 percent as liquid assets</a:t>
            </a:r>
          </a:p>
          <a:p>
            <a:pPr marL="114300" lvl="1">
              <a:lnSpc>
                <a:spcPct val="105000"/>
              </a:lnSpc>
              <a:spcBef>
                <a:spcPct val="50000"/>
              </a:spcBef>
              <a:defRPr/>
            </a:pPr>
            <a:r>
              <a:rPr lang="en-US" sz="2800" dirty="0">
                <a:latin typeface="Arial" charset="0"/>
                <a:ea typeface="ＭＳ Ｐゴシック" charset="0"/>
              </a:rPr>
              <a:t>21 percent as securities</a:t>
            </a:r>
          </a:p>
          <a:p>
            <a:pPr marL="114300" lvl="1">
              <a:lnSpc>
                <a:spcPct val="105000"/>
              </a:lnSpc>
              <a:spcBef>
                <a:spcPct val="50000"/>
              </a:spcBef>
              <a:defRPr/>
            </a:pPr>
            <a:r>
              <a:rPr lang="en-US" sz="2800" dirty="0">
                <a:latin typeface="Arial" charset="0"/>
                <a:ea typeface="ＭＳ Ｐゴシック" charset="0"/>
              </a:rPr>
              <a:t>53 percent as loans</a:t>
            </a:r>
            <a:endParaRPr lang="en-CA" sz="2800" dirty="0">
              <a:latin typeface="Arial" charset="0"/>
              <a:ea typeface="ＭＳ Ｐゴシック" charset="0"/>
            </a:endParaRPr>
          </a:p>
        </p:txBody>
      </p:sp>
      <p:sp>
        <p:nvSpPr>
          <p:cNvPr id="681989" name="Rectangle 5">
            <a:extLst>
              <a:ext uri="{FF2B5EF4-FFF2-40B4-BE49-F238E27FC236}">
                <a16:creationId xmlns:a16="http://schemas.microsoft.com/office/drawing/2014/main" id="{3CC36E86-E7C5-46C3-76BA-83534F0DF495}"/>
              </a:ext>
            </a:extLst>
          </p:cNvPr>
          <p:cNvSpPr>
            <a:spLocks noChangeArrowheads="1"/>
          </p:cNvSpPr>
          <p:nvPr/>
        </p:nvSpPr>
        <p:spPr bwMode="auto">
          <a:xfrm>
            <a:off x="381000" y="5715000"/>
            <a:ext cx="27432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114300" lvl="1">
              <a:lnSpc>
                <a:spcPct val="105000"/>
              </a:lnSpc>
              <a:spcBef>
                <a:spcPct val="50000"/>
              </a:spcBef>
              <a:defRPr/>
            </a:pPr>
            <a:endParaRPr lang="en-US">
              <a:latin typeface="Arial" charset="0"/>
              <a:ea typeface="ＭＳ Ｐゴシック" charset="0"/>
            </a:endParaRPr>
          </a:p>
        </p:txBody>
      </p:sp>
      <p:pic>
        <p:nvPicPr>
          <p:cNvPr id="72709" name="Picture 34" descr="fig2703a.gif">
            <a:extLst>
              <a:ext uri="{FF2B5EF4-FFF2-40B4-BE49-F238E27FC236}">
                <a16:creationId xmlns:a16="http://schemas.microsoft.com/office/drawing/2014/main" id="{E2DDCE98-2287-8B36-EED5-2E08CF58C0F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2578100"/>
            <a:ext cx="4481512"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5" descr="fig2703b.gif">
            <a:extLst>
              <a:ext uri="{FF2B5EF4-FFF2-40B4-BE49-F238E27FC236}">
                <a16:creationId xmlns:a16="http://schemas.microsoft.com/office/drawing/2014/main" id="{3B620CF4-13D8-1D6C-0A09-80846FCAA35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211638" y="2578100"/>
            <a:ext cx="4481512"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36" descr="fig2703c.gif">
            <a:extLst>
              <a:ext uri="{FF2B5EF4-FFF2-40B4-BE49-F238E27FC236}">
                <a16:creationId xmlns:a16="http://schemas.microsoft.com/office/drawing/2014/main" id="{E210C248-0895-24CB-9C0F-A2C12635A0F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211638" y="2578100"/>
            <a:ext cx="4481512"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37" descr="fig2703d.gif">
            <a:extLst>
              <a:ext uri="{FF2B5EF4-FFF2-40B4-BE49-F238E27FC236}">
                <a16:creationId xmlns:a16="http://schemas.microsoft.com/office/drawing/2014/main" id="{A13FBBDD-1912-E758-F485-7793943D5C6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211638" y="2578100"/>
            <a:ext cx="4481512"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38" descr="fig2703e.gif">
            <a:extLst>
              <a:ext uri="{FF2B5EF4-FFF2-40B4-BE49-F238E27FC236}">
                <a16:creationId xmlns:a16="http://schemas.microsoft.com/office/drawing/2014/main" id="{C29F44B9-E592-0631-409C-1FB0BFBFA71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211638" y="2578100"/>
            <a:ext cx="4481512"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81988">
                                            <p:txEl>
                                              <p:pRg st="0" end="0"/>
                                            </p:txEl>
                                          </p:spTgt>
                                        </p:tgtEl>
                                        <p:attrNameLst>
                                          <p:attrName>style.visibility</p:attrName>
                                        </p:attrNameLst>
                                      </p:cBhvr>
                                      <p:to>
                                        <p:strVal val="visible"/>
                                      </p:to>
                                    </p:set>
                                    <p:animEffect transition="in" filter="wipe(left)">
                                      <p:cBhvr>
                                        <p:cTn id="7" dur="1000"/>
                                        <p:tgtEl>
                                          <p:spTgt spid="68198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81988">
                                            <p:txEl>
                                              <p:pRg st="1" end="1"/>
                                            </p:txEl>
                                          </p:spTgt>
                                        </p:tgtEl>
                                        <p:attrNameLst>
                                          <p:attrName>style.visibility</p:attrName>
                                        </p:attrNameLst>
                                      </p:cBhvr>
                                      <p:to>
                                        <p:strVal val="visible"/>
                                      </p:to>
                                    </p:set>
                                    <p:animEffect transition="in" filter="wipe(left)">
                                      <p:cBhvr>
                                        <p:cTn id="17" dur="1000"/>
                                        <p:tgtEl>
                                          <p:spTgt spid="68198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500"/>
                                        <p:tgtEl>
                                          <p:spTgt spid="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81988">
                                            <p:txEl>
                                              <p:pRg st="2" end="2"/>
                                            </p:txEl>
                                          </p:spTgt>
                                        </p:tgtEl>
                                        <p:attrNameLst>
                                          <p:attrName>style.visibility</p:attrName>
                                        </p:attrNameLst>
                                      </p:cBhvr>
                                      <p:to>
                                        <p:strVal val="visible"/>
                                      </p:to>
                                    </p:set>
                                    <p:animEffect transition="in" filter="wipe(left)">
                                      <p:cBhvr>
                                        <p:cTn id="27" dur="1000"/>
                                        <p:tgtEl>
                                          <p:spTgt spid="681988">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81988">
                                            <p:txEl>
                                              <p:pRg st="3" end="3"/>
                                            </p:txEl>
                                          </p:spTgt>
                                        </p:tgtEl>
                                        <p:attrNameLst>
                                          <p:attrName>style.visibility</p:attrName>
                                        </p:attrNameLst>
                                      </p:cBhvr>
                                      <p:to>
                                        <p:strVal val="visible"/>
                                      </p:to>
                                    </p:set>
                                    <p:animEffect transition="in" filter="wipe(left)">
                                      <p:cBhvr>
                                        <p:cTn id="37" dur="1000"/>
                                        <p:tgtEl>
                                          <p:spTgt spid="681988">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33890" name="Rectangle 2">
            <a:extLst>
              <a:ext uri="{FF2B5EF4-FFF2-40B4-BE49-F238E27FC236}">
                <a16:creationId xmlns:a16="http://schemas.microsoft.com/office/drawing/2014/main" id="{CF60D7AD-400D-75EF-769A-025F8C2CD8F2}"/>
              </a:ext>
            </a:extLst>
          </p:cNvPr>
          <p:cNvSpPr>
            <a:spLocks noGrp="1" noChangeArrowheads="1"/>
          </p:cNvSpPr>
          <p:nvPr>
            <p:ph type="title"/>
          </p:nvPr>
        </p:nvSpPr>
        <p:spPr>
          <a:xfrm>
            <a:off x="457200" y="274638"/>
            <a:ext cx="8229600" cy="634082"/>
          </a:xfrm>
        </p:spPr>
        <p:txBody>
          <a:bodyPr/>
          <a:lstStyle/>
          <a:p>
            <a:pPr eaLnBrk="1" hangingPunct="1">
              <a:defRPr/>
            </a:pPr>
            <a:r>
              <a:rPr lang="en-US" dirty="0">
                <a:cs typeface="+mj-cs"/>
              </a:rPr>
              <a:t>THE BANKING SYSTEM</a:t>
            </a:r>
            <a:endParaRPr lang="en-CA" dirty="0">
              <a:cs typeface="+mj-cs"/>
            </a:endParaRPr>
          </a:p>
        </p:txBody>
      </p:sp>
      <p:sp>
        <p:nvSpPr>
          <p:cNvPr id="933891" name="Rectangle 3">
            <a:extLst>
              <a:ext uri="{FF2B5EF4-FFF2-40B4-BE49-F238E27FC236}">
                <a16:creationId xmlns:a16="http://schemas.microsoft.com/office/drawing/2014/main" id="{30FB9166-A0EC-7397-1A6B-195FD08548FB}"/>
              </a:ext>
            </a:extLst>
          </p:cNvPr>
          <p:cNvSpPr>
            <a:spLocks noGrp="1" noChangeArrowheads="1"/>
          </p:cNvSpPr>
          <p:nvPr>
            <p:ph type="body" idx="1"/>
          </p:nvPr>
        </p:nvSpPr>
        <p:spPr>
          <a:xfrm>
            <a:off x="381000" y="1118518"/>
            <a:ext cx="8305800" cy="5190802"/>
          </a:xfrm>
        </p:spPr>
        <p:txBody>
          <a:bodyPr/>
          <a:lstStyle/>
          <a:p>
            <a:pPr marL="461963" lvl="1" indent="-4763" eaLnBrk="1" hangingPunct="1">
              <a:lnSpc>
                <a:spcPct val="95000"/>
              </a:lnSpc>
            </a:pPr>
            <a:r>
              <a:rPr lang="en-US" altLang="en-TW" b="1" dirty="0">
                <a:solidFill>
                  <a:srgbClr val="00468F"/>
                </a:solidFill>
              </a:rPr>
              <a:t>Reserves</a:t>
            </a:r>
          </a:p>
          <a:p>
            <a:pPr marL="461963" lvl="1" indent="-4763" eaLnBrk="1" hangingPunct="1">
              <a:lnSpc>
                <a:spcPct val="95000"/>
              </a:lnSpc>
            </a:pPr>
            <a:r>
              <a:rPr lang="en-US" altLang="en-TW" dirty="0"/>
              <a:t>A bank</a:t>
            </a:r>
            <a:r>
              <a:rPr lang="en-US" altLang="en-US" dirty="0"/>
              <a:t>’</a:t>
            </a:r>
            <a:r>
              <a:rPr lang="en-US" altLang="en-TW" dirty="0"/>
              <a:t>s </a:t>
            </a:r>
            <a:r>
              <a:rPr lang="en-US" altLang="en-TW" sz="2600" b="1" dirty="0">
                <a:solidFill>
                  <a:srgbClr val="FF0000"/>
                </a:solidFill>
              </a:rPr>
              <a:t>reserves</a:t>
            </a:r>
            <a:r>
              <a:rPr lang="en-US" altLang="en-TW" dirty="0"/>
              <a:t> consist of currency in the bank</a:t>
            </a:r>
            <a:r>
              <a:rPr lang="en-US" altLang="en-US" dirty="0"/>
              <a:t>’</a:t>
            </a:r>
            <a:r>
              <a:rPr lang="en-US" altLang="en-TW" dirty="0"/>
              <a:t>s vaults plus the balance on its reserve account at a Federal Reserve Bank.</a:t>
            </a:r>
          </a:p>
          <a:p>
            <a:pPr marL="461963" lvl="1" indent="-4763" eaLnBrk="1" hangingPunct="1">
              <a:lnSpc>
                <a:spcPct val="95000"/>
              </a:lnSpc>
            </a:pPr>
            <a:r>
              <a:rPr lang="en-US" altLang="en-TW" dirty="0"/>
              <a:t>The Fed requires the banks and other financial institutions to hold a minimum percentage of deposits as reserves, called the </a:t>
            </a:r>
            <a:r>
              <a:rPr lang="en-US" altLang="en-TW" sz="2600" b="1" dirty="0">
                <a:solidFill>
                  <a:srgbClr val="FF0000"/>
                </a:solidFill>
              </a:rPr>
              <a:t>required reserve ratio</a:t>
            </a:r>
            <a:r>
              <a:rPr lang="en-US" altLang="en-TW" dirty="0"/>
              <a:t>.</a:t>
            </a:r>
          </a:p>
          <a:p>
            <a:pPr marL="461963" lvl="1" indent="-4763" eaLnBrk="1" hangingPunct="1">
              <a:lnSpc>
                <a:spcPct val="95000"/>
              </a:lnSpc>
            </a:pPr>
            <a:r>
              <a:rPr lang="en-US" altLang="en-TW" dirty="0"/>
              <a:t>Banks</a:t>
            </a:r>
            <a:r>
              <a:rPr lang="en-US" altLang="en-US" dirty="0"/>
              <a:t>’</a:t>
            </a:r>
            <a:r>
              <a:rPr lang="en-US" altLang="en-TW" dirty="0"/>
              <a:t> </a:t>
            </a:r>
            <a:r>
              <a:rPr lang="en-US" altLang="en-TW" i="1" dirty="0"/>
              <a:t>desired</a:t>
            </a:r>
            <a:r>
              <a:rPr lang="en-US" altLang="en-TW" dirty="0"/>
              <a:t> reserves might exceed the required reserves, especially when the cost of borrowing reserves is high.</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3891">
                                            <p:txEl>
                                              <p:pRg st="1" end="1"/>
                                            </p:txEl>
                                          </p:spTgt>
                                        </p:tgtEl>
                                        <p:attrNameLst>
                                          <p:attrName>style.visibility</p:attrName>
                                        </p:attrNameLst>
                                      </p:cBhvr>
                                      <p:to>
                                        <p:strVal val="visible"/>
                                      </p:to>
                                    </p:set>
                                    <p:animEffect transition="in" filter="wipe(left)">
                                      <p:cBhvr>
                                        <p:cTn id="7" dur="500"/>
                                        <p:tgtEl>
                                          <p:spTgt spid="9338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3891">
                                            <p:txEl>
                                              <p:pRg st="2" end="2"/>
                                            </p:txEl>
                                          </p:spTgt>
                                        </p:tgtEl>
                                        <p:attrNameLst>
                                          <p:attrName>style.visibility</p:attrName>
                                        </p:attrNameLst>
                                      </p:cBhvr>
                                      <p:to>
                                        <p:strVal val="visible"/>
                                      </p:to>
                                    </p:set>
                                    <p:animEffect transition="in" filter="wipe(left)">
                                      <p:cBhvr>
                                        <p:cTn id="12" dur="500"/>
                                        <p:tgtEl>
                                          <p:spTgt spid="93389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3891">
                                            <p:txEl>
                                              <p:pRg st="3" end="3"/>
                                            </p:txEl>
                                          </p:spTgt>
                                        </p:tgtEl>
                                        <p:attrNameLst>
                                          <p:attrName>style.visibility</p:attrName>
                                        </p:attrNameLst>
                                      </p:cBhvr>
                                      <p:to>
                                        <p:strVal val="visible"/>
                                      </p:to>
                                    </p:set>
                                    <p:animEffect transition="in" filter="wipe(left)">
                                      <p:cBhvr>
                                        <p:cTn id="17" dur="500"/>
                                        <p:tgtEl>
                                          <p:spTgt spid="9338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891" grpId="0" build="p" bldLvl="3"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21570" name="Rectangle 2">
            <a:extLst>
              <a:ext uri="{FF2B5EF4-FFF2-40B4-BE49-F238E27FC236}">
                <a16:creationId xmlns:a16="http://schemas.microsoft.com/office/drawing/2014/main" id="{002ED7AF-5E01-7C0E-3CDE-F7A2E7F81E0D}"/>
              </a:ext>
            </a:extLst>
          </p:cNvPr>
          <p:cNvSpPr>
            <a:spLocks noGrp="1" noChangeArrowheads="1"/>
          </p:cNvSpPr>
          <p:nvPr>
            <p:ph type="title"/>
          </p:nvPr>
        </p:nvSpPr>
        <p:spPr/>
        <p:txBody>
          <a:bodyPr/>
          <a:lstStyle/>
          <a:p>
            <a:pPr eaLnBrk="1" hangingPunct="1">
              <a:defRPr/>
            </a:pPr>
            <a:r>
              <a:rPr lang="en-US" dirty="0">
                <a:cs typeface="+mj-cs"/>
              </a:rPr>
              <a:t>THE BANKING SYSTEM</a:t>
            </a:r>
            <a:endParaRPr lang="en-CA" dirty="0">
              <a:cs typeface="+mj-cs"/>
            </a:endParaRPr>
          </a:p>
        </p:txBody>
      </p:sp>
      <p:sp>
        <p:nvSpPr>
          <p:cNvPr id="621571" name="Rectangle 3">
            <a:extLst>
              <a:ext uri="{FF2B5EF4-FFF2-40B4-BE49-F238E27FC236}">
                <a16:creationId xmlns:a16="http://schemas.microsoft.com/office/drawing/2014/main" id="{9B401D13-61CE-4C0F-0394-0593CA1C5C26}"/>
              </a:ext>
            </a:extLst>
          </p:cNvPr>
          <p:cNvSpPr>
            <a:spLocks noGrp="1" noChangeArrowheads="1"/>
          </p:cNvSpPr>
          <p:nvPr>
            <p:ph type="body" idx="1"/>
          </p:nvPr>
        </p:nvSpPr>
        <p:spPr/>
        <p:txBody>
          <a:bodyPr/>
          <a:lstStyle/>
          <a:p>
            <a:pPr marL="461963" lvl="1" indent="-4763" eaLnBrk="1" hangingPunct="1">
              <a:lnSpc>
                <a:spcPct val="95000"/>
              </a:lnSpc>
            </a:pPr>
            <a:r>
              <a:rPr lang="en-US" altLang="en-TW" b="1">
                <a:solidFill>
                  <a:srgbClr val="00468F"/>
                </a:solidFill>
              </a:rPr>
              <a:t>Liquid Assets</a:t>
            </a:r>
          </a:p>
          <a:p>
            <a:pPr marL="461963" lvl="1" indent="-4763" eaLnBrk="1" hangingPunct="1">
              <a:lnSpc>
                <a:spcPct val="95000"/>
              </a:lnSpc>
            </a:pPr>
            <a:r>
              <a:rPr lang="en-US" altLang="en-TW"/>
              <a:t>Banks</a:t>
            </a:r>
            <a:r>
              <a:rPr lang="en-US" altLang="en-US"/>
              <a:t>’</a:t>
            </a:r>
            <a:r>
              <a:rPr lang="en-US" altLang="en-TW"/>
              <a:t> </a:t>
            </a:r>
            <a:r>
              <a:rPr lang="en-US" altLang="en-TW" i="1"/>
              <a:t>liquid assets </a:t>
            </a:r>
            <a:r>
              <a:rPr lang="en-US" altLang="en-TW"/>
              <a:t>are short-term Treasury bills and overnight loans to other banks. </a:t>
            </a:r>
          </a:p>
          <a:p>
            <a:pPr marL="461963" lvl="1" indent="-4763" eaLnBrk="1" hangingPunct="1">
              <a:lnSpc>
                <a:spcPct val="95000"/>
              </a:lnSpc>
            </a:pPr>
            <a:r>
              <a:rPr lang="en-US" altLang="en-TW"/>
              <a:t>When banks have excess reserves, they can lend them to other banks that are short of reserves in an interbank loans market.</a:t>
            </a:r>
          </a:p>
          <a:p>
            <a:pPr marL="461963" lvl="1" indent="-4763" eaLnBrk="1" hangingPunct="1">
              <a:lnSpc>
                <a:spcPct val="95000"/>
              </a:lnSpc>
            </a:pPr>
            <a:r>
              <a:rPr lang="en-US" altLang="en-TW"/>
              <a:t>The interbank loans market is called federal funds market and the interest rate on interbank loans is the </a:t>
            </a:r>
            <a:r>
              <a:rPr lang="en-US" altLang="en-TW" sz="2600" b="1">
                <a:solidFill>
                  <a:srgbClr val="FF0000"/>
                </a:solidFill>
              </a:rPr>
              <a:t>federal funds rate</a:t>
            </a:r>
            <a:r>
              <a:rPr lang="en-US" altLang="en-TW"/>
              <a:t>.</a:t>
            </a:r>
          </a:p>
          <a:p>
            <a:pPr marL="461963" lvl="1" indent="-4763" eaLnBrk="1" hangingPunct="1">
              <a:lnSpc>
                <a:spcPct val="95000"/>
              </a:lnSpc>
            </a:pPr>
            <a:r>
              <a:rPr lang="en-US" altLang="en-TW"/>
              <a:t>The Fed</a:t>
            </a:r>
            <a:r>
              <a:rPr lang="en-US" altLang="en-US"/>
              <a:t>’</a:t>
            </a:r>
            <a:r>
              <a:rPr lang="en-US" altLang="en-TW"/>
              <a:t>s policy actions target the federal funds rate.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21571">
                                            <p:txEl>
                                              <p:pRg st="1" end="1"/>
                                            </p:txEl>
                                          </p:spTgt>
                                        </p:tgtEl>
                                        <p:attrNameLst>
                                          <p:attrName>style.visibility</p:attrName>
                                        </p:attrNameLst>
                                      </p:cBhvr>
                                      <p:to>
                                        <p:strVal val="visible"/>
                                      </p:to>
                                    </p:set>
                                    <p:animEffect transition="in" filter="wipe(left)">
                                      <p:cBhvr>
                                        <p:cTn id="7" dur="500"/>
                                        <p:tgtEl>
                                          <p:spTgt spid="6215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1571">
                                            <p:txEl>
                                              <p:pRg st="2" end="2"/>
                                            </p:txEl>
                                          </p:spTgt>
                                        </p:tgtEl>
                                        <p:attrNameLst>
                                          <p:attrName>style.visibility</p:attrName>
                                        </p:attrNameLst>
                                      </p:cBhvr>
                                      <p:to>
                                        <p:strVal val="visible"/>
                                      </p:to>
                                    </p:set>
                                    <p:animEffect transition="in" filter="wipe(left)">
                                      <p:cBhvr>
                                        <p:cTn id="12" dur="500"/>
                                        <p:tgtEl>
                                          <p:spTgt spid="62157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1571">
                                            <p:txEl>
                                              <p:pRg st="3" end="3"/>
                                            </p:txEl>
                                          </p:spTgt>
                                        </p:tgtEl>
                                        <p:attrNameLst>
                                          <p:attrName>style.visibility</p:attrName>
                                        </p:attrNameLst>
                                      </p:cBhvr>
                                      <p:to>
                                        <p:strVal val="visible"/>
                                      </p:to>
                                    </p:set>
                                    <p:animEffect transition="in" filter="wipe(left)">
                                      <p:cBhvr>
                                        <p:cTn id="17" dur="500"/>
                                        <p:tgtEl>
                                          <p:spTgt spid="62157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1571">
                                            <p:txEl>
                                              <p:pRg st="4" end="4"/>
                                            </p:txEl>
                                          </p:spTgt>
                                        </p:tgtEl>
                                        <p:attrNameLst>
                                          <p:attrName>style.visibility</p:attrName>
                                        </p:attrNameLst>
                                      </p:cBhvr>
                                      <p:to>
                                        <p:strVal val="visible"/>
                                      </p:to>
                                    </p:set>
                                    <p:animEffect transition="in" filter="wipe(left)">
                                      <p:cBhvr>
                                        <p:cTn id="22" dur="500"/>
                                        <p:tgtEl>
                                          <p:spTgt spid="6215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571" grpId="0" build="p" bldLvl="3"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6516" name="Rectangle 4">
            <a:extLst>
              <a:ext uri="{FF2B5EF4-FFF2-40B4-BE49-F238E27FC236}">
                <a16:creationId xmlns:a16="http://schemas.microsoft.com/office/drawing/2014/main" id="{98899E64-0C19-EDD2-7480-91F537B5732D}"/>
              </a:ext>
            </a:extLst>
          </p:cNvPr>
          <p:cNvSpPr>
            <a:spLocks noGrp="1" noChangeArrowheads="1"/>
          </p:cNvSpPr>
          <p:nvPr>
            <p:ph type="title"/>
          </p:nvPr>
        </p:nvSpPr>
        <p:spPr>
          <a:xfrm>
            <a:off x="457200" y="274638"/>
            <a:ext cx="8229600" cy="562074"/>
          </a:xfrm>
        </p:spPr>
        <p:txBody>
          <a:bodyPr/>
          <a:lstStyle/>
          <a:p>
            <a:pPr eaLnBrk="1" hangingPunct="1">
              <a:defRPr/>
            </a:pPr>
            <a:r>
              <a:rPr lang="en-US" dirty="0">
                <a:cs typeface="+mj-cs"/>
              </a:rPr>
              <a:t>THE BANKING SYSTEM</a:t>
            </a:r>
            <a:endParaRPr lang="en-CA" dirty="0">
              <a:cs typeface="+mj-cs"/>
            </a:endParaRPr>
          </a:p>
        </p:txBody>
      </p:sp>
      <p:sp>
        <p:nvSpPr>
          <p:cNvPr id="576517" name="Rectangle 5">
            <a:extLst>
              <a:ext uri="{FF2B5EF4-FFF2-40B4-BE49-F238E27FC236}">
                <a16:creationId xmlns:a16="http://schemas.microsoft.com/office/drawing/2014/main" id="{B2707C7A-9963-8A14-9DA7-18475B9F2F39}"/>
              </a:ext>
            </a:extLst>
          </p:cNvPr>
          <p:cNvSpPr>
            <a:spLocks noGrp="1" noChangeArrowheads="1"/>
          </p:cNvSpPr>
          <p:nvPr>
            <p:ph type="body" idx="1"/>
          </p:nvPr>
        </p:nvSpPr>
        <p:spPr>
          <a:xfrm>
            <a:off x="395536" y="908720"/>
            <a:ext cx="8229600" cy="4525963"/>
          </a:xfrm>
        </p:spPr>
        <p:txBody>
          <a:bodyPr/>
          <a:lstStyle/>
          <a:p>
            <a:pPr marL="461963" lvl="1" indent="-4763" eaLnBrk="1" hangingPunct="1">
              <a:lnSpc>
                <a:spcPct val="95000"/>
              </a:lnSpc>
              <a:tabLst>
                <a:tab pos="625475" algn="l"/>
              </a:tabLst>
              <a:defRPr/>
            </a:pPr>
            <a:r>
              <a:rPr lang="en-US" b="1" dirty="0">
                <a:solidFill>
                  <a:srgbClr val="00468F"/>
                </a:solidFill>
              </a:rPr>
              <a:t>Securities and Loans </a:t>
            </a:r>
          </a:p>
          <a:p>
            <a:pPr marL="461963" lvl="1" indent="-4763" eaLnBrk="1" hangingPunct="1">
              <a:lnSpc>
                <a:spcPct val="95000"/>
              </a:lnSpc>
              <a:tabLst>
                <a:tab pos="625475" algn="l"/>
              </a:tabLst>
              <a:defRPr/>
            </a:pPr>
            <a:r>
              <a:rPr lang="en-US" i="1" dirty="0"/>
              <a:t>Securities</a:t>
            </a:r>
            <a:r>
              <a:rPr lang="en-US" dirty="0"/>
              <a:t> held by banks are bonds issued by the U.S. government and by other organizations. </a:t>
            </a:r>
          </a:p>
          <a:p>
            <a:pPr marL="461963" lvl="1" indent="-4763" eaLnBrk="1" hangingPunct="1">
              <a:lnSpc>
                <a:spcPct val="95000"/>
              </a:lnSpc>
              <a:tabLst>
                <a:tab pos="625475" algn="l"/>
              </a:tabLst>
              <a:defRPr/>
            </a:pPr>
            <a:r>
              <a:rPr lang="en-US" dirty="0"/>
              <a:t>A bank earns a moderate interest rate on securities, but it can sell them quickly if it needs cash.</a:t>
            </a:r>
          </a:p>
          <a:p>
            <a:pPr marL="461963" lvl="1" indent="-4763" eaLnBrk="1" hangingPunct="1">
              <a:lnSpc>
                <a:spcPct val="95000"/>
              </a:lnSpc>
              <a:tabLst>
                <a:tab pos="625475" algn="l"/>
              </a:tabLst>
              <a:defRPr/>
            </a:pPr>
            <a:r>
              <a:rPr lang="en-US" i="1" dirty="0"/>
              <a:t>Loans</a:t>
            </a:r>
            <a:r>
              <a:rPr lang="en-US" dirty="0"/>
              <a:t> are the funds that banks provide to businesses and individuals and include outstanding credit card balances.</a:t>
            </a:r>
          </a:p>
          <a:p>
            <a:pPr marL="461963" lvl="1" indent="-4763" eaLnBrk="1" hangingPunct="1">
              <a:lnSpc>
                <a:spcPct val="95000"/>
              </a:lnSpc>
              <a:tabLst>
                <a:tab pos="625475" algn="l"/>
              </a:tabLst>
              <a:defRPr/>
            </a:pPr>
            <a:r>
              <a:rPr lang="en-US" dirty="0"/>
              <a:t>Loans earn the bank a high interest rate, but they are risky and cannot be called in before the agreed date.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6517">
                                            <p:txEl>
                                              <p:pRg st="1" end="1"/>
                                            </p:txEl>
                                          </p:spTgt>
                                        </p:tgtEl>
                                        <p:attrNameLst>
                                          <p:attrName>style.visibility</p:attrName>
                                        </p:attrNameLst>
                                      </p:cBhvr>
                                      <p:to>
                                        <p:strVal val="visible"/>
                                      </p:to>
                                    </p:set>
                                    <p:animEffect transition="in" filter="wipe(left)">
                                      <p:cBhvr>
                                        <p:cTn id="7" dur="500"/>
                                        <p:tgtEl>
                                          <p:spTgt spid="57651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6517">
                                            <p:txEl>
                                              <p:pRg st="2" end="2"/>
                                            </p:txEl>
                                          </p:spTgt>
                                        </p:tgtEl>
                                        <p:attrNameLst>
                                          <p:attrName>style.visibility</p:attrName>
                                        </p:attrNameLst>
                                      </p:cBhvr>
                                      <p:to>
                                        <p:strVal val="visible"/>
                                      </p:to>
                                    </p:set>
                                    <p:animEffect transition="in" filter="wipe(left)">
                                      <p:cBhvr>
                                        <p:cTn id="12" dur="500"/>
                                        <p:tgtEl>
                                          <p:spTgt spid="57651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6517">
                                            <p:txEl>
                                              <p:pRg st="3" end="3"/>
                                            </p:txEl>
                                          </p:spTgt>
                                        </p:tgtEl>
                                        <p:attrNameLst>
                                          <p:attrName>style.visibility</p:attrName>
                                        </p:attrNameLst>
                                      </p:cBhvr>
                                      <p:to>
                                        <p:strVal val="visible"/>
                                      </p:to>
                                    </p:set>
                                    <p:animEffect transition="in" filter="wipe(left)">
                                      <p:cBhvr>
                                        <p:cTn id="17" dur="500"/>
                                        <p:tgtEl>
                                          <p:spTgt spid="57651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6517">
                                            <p:txEl>
                                              <p:pRg st="4" end="4"/>
                                            </p:txEl>
                                          </p:spTgt>
                                        </p:tgtEl>
                                        <p:attrNameLst>
                                          <p:attrName>style.visibility</p:attrName>
                                        </p:attrNameLst>
                                      </p:cBhvr>
                                      <p:to>
                                        <p:strVal val="visible"/>
                                      </p:to>
                                    </p:set>
                                    <p:animEffect transition="in" filter="wipe(left)">
                                      <p:cBhvr>
                                        <p:cTn id="22" dur="500"/>
                                        <p:tgtEl>
                                          <p:spTgt spid="57651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17" grpId="0" build="p" bldLvl="3"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9588" name="Rectangle 4">
            <a:extLst>
              <a:ext uri="{FF2B5EF4-FFF2-40B4-BE49-F238E27FC236}">
                <a16:creationId xmlns:a16="http://schemas.microsoft.com/office/drawing/2014/main" id="{35CD4643-477A-55E7-DC1D-C20A8351C08C}"/>
              </a:ext>
            </a:extLst>
          </p:cNvPr>
          <p:cNvSpPr>
            <a:spLocks noGrp="1" noChangeArrowheads="1"/>
          </p:cNvSpPr>
          <p:nvPr>
            <p:ph type="title"/>
          </p:nvPr>
        </p:nvSpPr>
        <p:spPr/>
        <p:txBody>
          <a:bodyPr/>
          <a:lstStyle/>
          <a:p>
            <a:pPr eaLnBrk="1" hangingPunct="1">
              <a:defRPr/>
            </a:pPr>
            <a:r>
              <a:rPr lang="en-US" dirty="0">
                <a:cs typeface="+mj-cs"/>
              </a:rPr>
              <a:t>THE BANKING SYSTEM</a:t>
            </a:r>
            <a:endParaRPr lang="en-CA" dirty="0">
              <a:cs typeface="+mj-cs"/>
            </a:endParaRPr>
          </a:p>
        </p:txBody>
      </p:sp>
      <p:sp>
        <p:nvSpPr>
          <p:cNvPr id="579589" name="Rectangle 5">
            <a:extLst>
              <a:ext uri="{FF2B5EF4-FFF2-40B4-BE49-F238E27FC236}">
                <a16:creationId xmlns:a16="http://schemas.microsoft.com/office/drawing/2014/main" id="{EDD1F6AB-7090-D698-FA44-ED0C81F7FED6}"/>
              </a:ext>
            </a:extLst>
          </p:cNvPr>
          <p:cNvSpPr>
            <a:spLocks noGrp="1" noChangeArrowheads="1"/>
          </p:cNvSpPr>
          <p:nvPr>
            <p:ph type="body" idx="1"/>
          </p:nvPr>
        </p:nvSpPr>
        <p:spPr/>
        <p:txBody>
          <a:bodyPr/>
          <a:lstStyle/>
          <a:p>
            <a:pPr lvl="1" eaLnBrk="1" hangingPunct="1">
              <a:defRPr/>
            </a:pPr>
            <a:r>
              <a:rPr lang="en-US" b="1" dirty="0">
                <a:solidFill>
                  <a:srgbClr val="00468F"/>
                </a:solidFill>
              </a:rPr>
              <a:t>Bank Assets and Liabilities: The Relative Magnitudes</a:t>
            </a:r>
          </a:p>
          <a:p>
            <a:pPr lvl="1" eaLnBrk="1" hangingPunct="1">
              <a:defRPr/>
            </a:pPr>
            <a:r>
              <a:rPr lang="en-US" dirty="0"/>
              <a:t>In 2011, checkable deposits at commercial banks in the United States, included in M1, were about 8 percent of total commercial bank deposits. </a:t>
            </a:r>
          </a:p>
          <a:p>
            <a:pPr lvl="1" eaLnBrk="1" hangingPunct="1">
              <a:defRPr/>
            </a:pPr>
            <a:r>
              <a:rPr lang="en-US" dirty="0"/>
              <a:t>Another 51 percent of deposits were savings deposits and small time deposits, which are part of M2.</a:t>
            </a:r>
            <a:endParaRPr lang="en-CA"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9589">
                                            <p:txEl>
                                              <p:pRg st="1" end="1"/>
                                            </p:txEl>
                                          </p:spTgt>
                                        </p:tgtEl>
                                        <p:attrNameLst>
                                          <p:attrName>style.visibility</p:attrName>
                                        </p:attrNameLst>
                                      </p:cBhvr>
                                      <p:to>
                                        <p:strVal val="visible"/>
                                      </p:to>
                                    </p:set>
                                    <p:animEffect transition="in" filter="wipe(left)">
                                      <p:cBhvr>
                                        <p:cTn id="7" dur="500"/>
                                        <p:tgtEl>
                                          <p:spTgt spid="57958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9589">
                                            <p:txEl>
                                              <p:pRg st="2" end="2"/>
                                            </p:txEl>
                                          </p:spTgt>
                                        </p:tgtEl>
                                        <p:attrNameLst>
                                          <p:attrName>style.visibility</p:attrName>
                                        </p:attrNameLst>
                                      </p:cBhvr>
                                      <p:to>
                                        <p:strVal val="visible"/>
                                      </p:to>
                                    </p:set>
                                    <p:animEffect transition="in" filter="wipe(left)">
                                      <p:cBhvr>
                                        <p:cTn id="12" dur="500"/>
                                        <p:tgtEl>
                                          <p:spTgt spid="57958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9" grpId="0" build="p" bldLvl="3"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47522" y="1609801"/>
            <a:ext cx="2924175" cy="1855470"/>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Arial"/>
                <a:cs typeface="Arial"/>
              </a:rPr>
              <a:t>Table</a:t>
            </a:r>
            <a:r>
              <a:rPr sz="2400" spc="-55" dirty="0">
                <a:latin typeface="Arial"/>
                <a:cs typeface="Arial"/>
              </a:rPr>
              <a:t> </a:t>
            </a:r>
            <a:r>
              <a:rPr sz="2400" dirty="0">
                <a:latin typeface="Arial"/>
                <a:cs typeface="Arial"/>
              </a:rPr>
              <a:t>25.2</a:t>
            </a:r>
            <a:r>
              <a:rPr sz="2400" spc="-55" dirty="0">
                <a:latin typeface="Arial"/>
                <a:cs typeface="Arial"/>
              </a:rPr>
              <a:t> </a:t>
            </a:r>
            <a:r>
              <a:rPr sz="2400" dirty="0">
                <a:latin typeface="Arial"/>
                <a:cs typeface="Arial"/>
              </a:rPr>
              <a:t>shows</a:t>
            </a:r>
            <a:r>
              <a:rPr sz="2400" spc="-50" dirty="0">
                <a:latin typeface="Arial"/>
                <a:cs typeface="Arial"/>
              </a:rPr>
              <a:t> </a:t>
            </a:r>
            <a:r>
              <a:rPr sz="2400" spc="-25" dirty="0">
                <a:latin typeface="Arial"/>
                <a:cs typeface="Arial"/>
              </a:rPr>
              <a:t>the </a:t>
            </a:r>
            <a:r>
              <a:rPr sz="2400" dirty="0">
                <a:latin typeface="Arial"/>
                <a:cs typeface="Arial"/>
              </a:rPr>
              <a:t>sources</a:t>
            </a:r>
            <a:r>
              <a:rPr sz="2400" spc="-65" dirty="0">
                <a:latin typeface="Arial"/>
                <a:cs typeface="Arial"/>
              </a:rPr>
              <a:t> </a:t>
            </a:r>
            <a:r>
              <a:rPr sz="2400" dirty="0">
                <a:latin typeface="Arial"/>
                <a:cs typeface="Arial"/>
              </a:rPr>
              <a:t>and</a:t>
            </a:r>
            <a:r>
              <a:rPr sz="2400" spc="-55" dirty="0">
                <a:latin typeface="Arial"/>
                <a:cs typeface="Arial"/>
              </a:rPr>
              <a:t> </a:t>
            </a:r>
            <a:r>
              <a:rPr sz="2400" dirty="0">
                <a:latin typeface="Arial"/>
                <a:cs typeface="Arial"/>
              </a:rPr>
              <a:t>uses</a:t>
            </a:r>
            <a:r>
              <a:rPr sz="2400" spc="-60" dirty="0">
                <a:latin typeface="Arial"/>
                <a:cs typeface="Arial"/>
              </a:rPr>
              <a:t> </a:t>
            </a:r>
            <a:r>
              <a:rPr sz="2400" spc="-25" dirty="0">
                <a:latin typeface="Arial"/>
                <a:cs typeface="Arial"/>
              </a:rPr>
              <a:t>of </a:t>
            </a:r>
            <a:r>
              <a:rPr sz="2400" dirty="0">
                <a:latin typeface="Arial"/>
                <a:cs typeface="Arial"/>
              </a:rPr>
              <a:t>funds</a:t>
            </a:r>
            <a:r>
              <a:rPr sz="2400" spc="-45" dirty="0">
                <a:latin typeface="Arial"/>
                <a:cs typeface="Arial"/>
              </a:rPr>
              <a:t> </a:t>
            </a:r>
            <a:r>
              <a:rPr sz="2400" dirty="0">
                <a:latin typeface="Arial"/>
                <a:cs typeface="Arial"/>
              </a:rPr>
              <a:t>in</a:t>
            </a:r>
            <a:r>
              <a:rPr sz="2400" spc="-40" dirty="0">
                <a:latin typeface="Arial"/>
                <a:cs typeface="Arial"/>
              </a:rPr>
              <a:t> </a:t>
            </a:r>
            <a:r>
              <a:rPr sz="2400" dirty="0">
                <a:latin typeface="Arial"/>
                <a:cs typeface="Arial"/>
              </a:rPr>
              <a:t>all</a:t>
            </a:r>
            <a:r>
              <a:rPr sz="2400" spc="-35" dirty="0">
                <a:latin typeface="Arial"/>
                <a:cs typeface="Arial"/>
              </a:rPr>
              <a:t> </a:t>
            </a:r>
            <a:r>
              <a:rPr sz="2400" spc="-20" dirty="0">
                <a:latin typeface="Arial"/>
                <a:cs typeface="Arial"/>
              </a:rPr>
              <a:t>U.S. </a:t>
            </a:r>
            <a:r>
              <a:rPr sz="2400" spc="-10" dirty="0">
                <a:latin typeface="Arial"/>
                <a:cs typeface="Arial"/>
              </a:rPr>
              <a:t>commercial</a:t>
            </a:r>
            <a:r>
              <a:rPr sz="2400" spc="-55" dirty="0">
                <a:latin typeface="Arial"/>
                <a:cs typeface="Arial"/>
              </a:rPr>
              <a:t> </a:t>
            </a:r>
            <a:r>
              <a:rPr sz="2400" dirty="0">
                <a:latin typeface="Arial"/>
                <a:cs typeface="Arial"/>
              </a:rPr>
              <a:t>banks</a:t>
            </a:r>
            <a:r>
              <a:rPr sz="2400" spc="-50" dirty="0">
                <a:latin typeface="Arial"/>
                <a:cs typeface="Arial"/>
              </a:rPr>
              <a:t> </a:t>
            </a:r>
            <a:r>
              <a:rPr sz="2400" spc="-25" dirty="0">
                <a:latin typeface="Arial"/>
                <a:cs typeface="Arial"/>
              </a:rPr>
              <a:t>in </a:t>
            </a:r>
            <a:r>
              <a:rPr sz="2400" dirty="0">
                <a:latin typeface="Arial"/>
                <a:cs typeface="Arial"/>
              </a:rPr>
              <a:t>June</a:t>
            </a:r>
            <a:r>
              <a:rPr sz="2400" spc="-65" dirty="0">
                <a:latin typeface="Arial"/>
                <a:cs typeface="Arial"/>
              </a:rPr>
              <a:t> </a:t>
            </a:r>
            <a:r>
              <a:rPr sz="2400" spc="-10" dirty="0">
                <a:latin typeface="Arial"/>
                <a:cs typeface="Arial"/>
              </a:rPr>
              <a:t>2017.</a:t>
            </a:r>
            <a:endParaRPr sz="2400">
              <a:latin typeface="Arial"/>
              <a:cs typeface="Arial"/>
            </a:endParaRPr>
          </a:p>
        </p:txBody>
      </p:sp>
      <p:pic>
        <p:nvPicPr>
          <p:cNvPr id="3" name="object 3"/>
          <p:cNvPicPr/>
          <p:nvPr/>
        </p:nvPicPr>
        <p:blipFill>
          <a:blip r:embed="rId2" cstate="print"/>
          <a:stretch>
            <a:fillRect/>
          </a:stretch>
        </p:blipFill>
        <p:spPr>
          <a:xfrm>
            <a:off x="8641080" y="6480047"/>
            <a:ext cx="222503" cy="222503"/>
          </a:xfrm>
          <a:prstGeom prst="rect">
            <a:avLst/>
          </a:prstGeom>
        </p:spPr>
      </p:pic>
      <p:sp>
        <p:nvSpPr>
          <p:cNvPr id="4" name="object 4"/>
          <p:cNvSpPr txBox="1">
            <a:spLocks noGrp="1"/>
          </p:cNvSpPr>
          <p:nvPr>
            <p:ph type="title"/>
          </p:nvPr>
        </p:nvSpPr>
        <p:spPr>
          <a:prstGeom prst="rect">
            <a:avLst/>
          </a:prstGeom>
        </p:spPr>
        <p:txBody>
          <a:bodyPr vert="horz" wrap="square" lIns="0" tIns="13335" rIns="0" bIns="0" rtlCol="0">
            <a:spAutoFit/>
          </a:bodyPr>
          <a:lstStyle/>
          <a:p>
            <a:pPr marL="480059">
              <a:lnSpc>
                <a:spcPct val="100000"/>
              </a:lnSpc>
              <a:spcBef>
                <a:spcPts val="105"/>
              </a:spcBef>
            </a:pPr>
            <a:r>
              <a:rPr dirty="0"/>
              <a:t>Depository</a:t>
            </a:r>
            <a:r>
              <a:rPr spc="-85" dirty="0"/>
              <a:t> </a:t>
            </a:r>
            <a:r>
              <a:rPr spc="-10" dirty="0"/>
              <a:t>Institutions</a:t>
            </a:r>
          </a:p>
        </p:txBody>
      </p:sp>
      <p:pic>
        <p:nvPicPr>
          <p:cNvPr id="5" name="object 5"/>
          <p:cNvPicPr/>
          <p:nvPr/>
        </p:nvPicPr>
        <p:blipFill>
          <a:blip r:embed="rId3" cstate="print"/>
          <a:stretch>
            <a:fillRect/>
          </a:stretch>
        </p:blipFill>
        <p:spPr>
          <a:xfrm>
            <a:off x="3991742" y="1640121"/>
            <a:ext cx="4372630" cy="4300041"/>
          </a:xfrm>
          <a:prstGeom prst="rect">
            <a:avLst/>
          </a:prstGeom>
        </p:spPr>
      </p:pic>
      <p:sp>
        <p:nvSpPr>
          <p:cNvPr id="6" name="object 6"/>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47522" y="1457055"/>
            <a:ext cx="8041005" cy="4398645"/>
          </a:xfrm>
          <a:prstGeom prst="rect">
            <a:avLst/>
          </a:prstGeom>
        </p:spPr>
        <p:txBody>
          <a:bodyPr vert="horz" wrap="square" lIns="0" tIns="165735" rIns="0" bIns="0" rtlCol="0">
            <a:spAutoFit/>
          </a:bodyPr>
          <a:lstStyle/>
          <a:p>
            <a:pPr marL="12700">
              <a:lnSpc>
                <a:spcPct val="100000"/>
              </a:lnSpc>
              <a:spcBef>
                <a:spcPts val="1305"/>
              </a:spcBef>
            </a:pPr>
            <a:r>
              <a:rPr sz="2400" b="1" dirty="0">
                <a:solidFill>
                  <a:srgbClr val="1A70B7"/>
                </a:solidFill>
                <a:latin typeface="Arial"/>
                <a:cs typeface="Arial"/>
              </a:rPr>
              <a:t>Economic</a:t>
            </a:r>
            <a:r>
              <a:rPr sz="2400" b="1" spc="-65" dirty="0">
                <a:solidFill>
                  <a:srgbClr val="1A70B7"/>
                </a:solidFill>
                <a:latin typeface="Arial"/>
                <a:cs typeface="Arial"/>
              </a:rPr>
              <a:t> </a:t>
            </a:r>
            <a:r>
              <a:rPr sz="2400" b="1" dirty="0">
                <a:solidFill>
                  <a:srgbClr val="1A70B7"/>
                </a:solidFill>
                <a:latin typeface="Arial"/>
                <a:cs typeface="Arial"/>
              </a:rPr>
              <a:t>Benefits</a:t>
            </a:r>
            <a:r>
              <a:rPr sz="2400" b="1" spc="-45" dirty="0">
                <a:solidFill>
                  <a:srgbClr val="1A70B7"/>
                </a:solidFill>
                <a:latin typeface="Arial"/>
                <a:cs typeface="Arial"/>
              </a:rPr>
              <a:t> </a:t>
            </a:r>
            <a:r>
              <a:rPr sz="2400" b="1" dirty="0">
                <a:solidFill>
                  <a:srgbClr val="1A70B7"/>
                </a:solidFill>
                <a:latin typeface="Arial"/>
                <a:cs typeface="Arial"/>
              </a:rPr>
              <a:t>Provided</a:t>
            </a:r>
            <a:r>
              <a:rPr sz="2400" b="1" spc="-55" dirty="0">
                <a:solidFill>
                  <a:srgbClr val="1A70B7"/>
                </a:solidFill>
                <a:latin typeface="Arial"/>
                <a:cs typeface="Arial"/>
              </a:rPr>
              <a:t> </a:t>
            </a:r>
            <a:r>
              <a:rPr sz="2400" b="1" dirty="0">
                <a:solidFill>
                  <a:srgbClr val="1A70B7"/>
                </a:solidFill>
                <a:latin typeface="Arial"/>
                <a:cs typeface="Arial"/>
              </a:rPr>
              <a:t>by</a:t>
            </a:r>
            <a:r>
              <a:rPr sz="2400" b="1" spc="-65" dirty="0">
                <a:solidFill>
                  <a:srgbClr val="1A70B7"/>
                </a:solidFill>
                <a:latin typeface="Arial"/>
                <a:cs typeface="Arial"/>
              </a:rPr>
              <a:t> </a:t>
            </a:r>
            <a:r>
              <a:rPr sz="2400" b="1" dirty="0">
                <a:solidFill>
                  <a:srgbClr val="1A70B7"/>
                </a:solidFill>
                <a:latin typeface="Arial"/>
                <a:cs typeface="Arial"/>
              </a:rPr>
              <a:t>Depository</a:t>
            </a:r>
            <a:r>
              <a:rPr sz="2400" b="1" spc="-45" dirty="0">
                <a:solidFill>
                  <a:srgbClr val="1A70B7"/>
                </a:solidFill>
                <a:latin typeface="Arial"/>
                <a:cs typeface="Arial"/>
              </a:rPr>
              <a:t> </a:t>
            </a:r>
            <a:r>
              <a:rPr sz="2400" b="1" spc="-10" dirty="0">
                <a:solidFill>
                  <a:srgbClr val="1A70B7"/>
                </a:solidFill>
                <a:latin typeface="Arial"/>
                <a:cs typeface="Arial"/>
              </a:rPr>
              <a:t>Institutions</a:t>
            </a:r>
            <a:endParaRPr sz="2400">
              <a:latin typeface="Arial"/>
              <a:cs typeface="Arial"/>
            </a:endParaRPr>
          </a:p>
          <a:p>
            <a:pPr marL="12700" marR="5080">
              <a:lnSpc>
                <a:spcPct val="100000"/>
              </a:lnSpc>
              <a:spcBef>
                <a:spcPts val="1200"/>
              </a:spcBef>
            </a:pPr>
            <a:r>
              <a:rPr sz="2400" dirty="0">
                <a:latin typeface="Arial"/>
                <a:cs typeface="Arial"/>
              </a:rPr>
              <a:t>Depository</a:t>
            </a:r>
            <a:r>
              <a:rPr sz="2400" spc="-45" dirty="0">
                <a:latin typeface="Arial"/>
                <a:cs typeface="Arial"/>
              </a:rPr>
              <a:t> </a:t>
            </a:r>
            <a:r>
              <a:rPr sz="2400" dirty="0">
                <a:latin typeface="Arial"/>
                <a:cs typeface="Arial"/>
              </a:rPr>
              <a:t>institutions</a:t>
            </a:r>
            <a:r>
              <a:rPr sz="2400" spc="-30" dirty="0">
                <a:latin typeface="Arial"/>
                <a:cs typeface="Arial"/>
              </a:rPr>
              <a:t> </a:t>
            </a:r>
            <a:r>
              <a:rPr sz="2400" dirty="0">
                <a:latin typeface="Arial"/>
                <a:cs typeface="Arial"/>
              </a:rPr>
              <a:t>make</a:t>
            </a:r>
            <a:r>
              <a:rPr sz="2400" spc="-50" dirty="0">
                <a:latin typeface="Arial"/>
                <a:cs typeface="Arial"/>
              </a:rPr>
              <a:t> </a:t>
            </a:r>
            <a:r>
              <a:rPr sz="2400" dirty="0">
                <a:latin typeface="Arial"/>
                <a:cs typeface="Arial"/>
              </a:rPr>
              <a:t>a</a:t>
            </a:r>
            <a:r>
              <a:rPr sz="2400" spc="-60" dirty="0">
                <a:latin typeface="Arial"/>
                <a:cs typeface="Arial"/>
              </a:rPr>
              <a:t> </a:t>
            </a:r>
            <a:r>
              <a:rPr sz="2400" dirty="0">
                <a:latin typeface="Arial"/>
                <a:cs typeface="Arial"/>
              </a:rPr>
              <a:t>profit</a:t>
            </a:r>
            <a:r>
              <a:rPr sz="2400" spc="-50" dirty="0">
                <a:latin typeface="Arial"/>
                <a:cs typeface="Arial"/>
              </a:rPr>
              <a:t> </a:t>
            </a:r>
            <a:r>
              <a:rPr sz="2400" dirty="0">
                <a:latin typeface="Arial"/>
                <a:cs typeface="Arial"/>
              </a:rPr>
              <a:t>from</a:t>
            </a:r>
            <a:r>
              <a:rPr sz="2400" spc="-65" dirty="0">
                <a:latin typeface="Arial"/>
                <a:cs typeface="Arial"/>
              </a:rPr>
              <a:t> </a:t>
            </a:r>
            <a:r>
              <a:rPr sz="2400" dirty="0">
                <a:latin typeface="Arial"/>
                <a:cs typeface="Arial"/>
              </a:rPr>
              <a:t>the</a:t>
            </a:r>
            <a:r>
              <a:rPr sz="2400" spc="-50" dirty="0">
                <a:latin typeface="Arial"/>
                <a:cs typeface="Arial"/>
              </a:rPr>
              <a:t> </a:t>
            </a:r>
            <a:r>
              <a:rPr sz="2400" spc="-10" dirty="0">
                <a:latin typeface="Arial"/>
                <a:cs typeface="Arial"/>
              </a:rPr>
              <a:t>spread </a:t>
            </a:r>
            <a:r>
              <a:rPr sz="2400" dirty="0">
                <a:latin typeface="Arial"/>
                <a:cs typeface="Arial"/>
              </a:rPr>
              <a:t>between</a:t>
            </a:r>
            <a:r>
              <a:rPr sz="2400" spc="-60" dirty="0">
                <a:latin typeface="Arial"/>
                <a:cs typeface="Arial"/>
              </a:rPr>
              <a:t> </a:t>
            </a:r>
            <a:r>
              <a:rPr sz="2400" dirty="0">
                <a:latin typeface="Arial"/>
                <a:cs typeface="Arial"/>
              </a:rPr>
              <a:t>the</a:t>
            </a:r>
            <a:r>
              <a:rPr sz="2400" spc="-65" dirty="0">
                <a:latin typeface="Arial"/>
                <a:cs typeface="Arial"/>
              </a:rPr>
              <a:t> </a:t>
            </a:r>
            <a:r>
              <a:rPr sz="2400" dirty="0">
                <a:latin typeface="Arial"/>
                <a:cs typeface="Arial"/>
              </a:rPr>
              <a:t>interest</a:t>
            </a:r>
            <a:r>
              <a:rPr sz="2400" spc="-60" dirty="0">
                <a:latin typeface="Arial"/>
                <a:cs typeface="Arial"/>
              </a:rPr>
              <a:t> </a:t>
            </a:r>
            <a:r>
              <a:rPr sz="2400" dirty="0">
                <a:latin typeface="Arial"/>
                <a:cs typeface="Arial"/>
              </a:rPr>
              <a:t>rate</a:t>
            </a:r>
            <a:r>
              <a:rPr sz="2400" spc="-70" dirty="0">
                <a:latin typeface="Arial"/>
                <a:cs typeface="Arial"/>
              </a:rPr>
              <a:t> </a:t>
            </a:r>
            <a:r>
              <a:rPr sz="2400" dirty="0">
                <a:latin typeface="Arial"/>
                <a:cs typeface="Arial"/>
              </a:rPr>
              <a:t>they</a:t>
            </a:r>
            <a:r>
              <a:rPr sz="2400" spc="-65" dirty="0">
                <a:latin typeface="Arial"/>
                <a:cs typeface="Arial"/>
              </a:rPr>
              <a:t> </a:t>
            </a:r>
            <a:r>
              <a:rPr sz="2400" dirty="0">
                <a:latin typeface="Arial"/>
                <a:cs typeface="Arial"/>
              </a:rPr>
              <a:t>pay</a:t>
            </a:r>
            <a:r>
              <a:rPr sz="2400" spc="-65" dirty="0">
                <a:latin typeface="Arial"/>
                <a:cs typeface="Arial"/>
              </a:rPr>
              <a:t> </a:t>
            </a:r>
            <a:r>
              <a:rPr sz="2400" dirty="0">
                <a:latin typeface="Arial"/>
                <a:cs typeface="Arial"/>
              </a:rPr>
              <a:t>on</a:t>
            </a:r>
            <a:r>
              <a:rPr sz="2400" spc="-60" dirty="0">
                <a:latin typeface="Arial"/>
                <a:cs typeface="Arial"/>
              </a:rPr>
              <a:t> </a:t>
            </a:r>
            <a:r>
              <a:rPr sz="2400" dirty="0">
                <a:latin typeface="Arial"/>
                <a:cs typeface="Arial"/>
              </a:rPr>
              <a:t>their</a:t>
            </a:r>
            <a:r>
              <a:rPr sz="2400" spc="-60" dirty="0">
                <a:latin typeface="Arial"/>
                <a:cs typeface="Arial"/>
              </a:rPr>
              <a:t> </a:t>
            </a:r>
            <a:r>
              <a:rPr sz="2400" dirty="0">
                <a:latin typeface="Arial"/>
                <a:cs typeface="Arial"/>
              </a:rPr>
              <a:t>deposits</a:t>
            </a:r>
            <a:r>
              <a:rPr sz="2400" spc="-55" dirty="0">
                <a:latin typeface="Arial"/>
                <a:cs typeface="Arial"/>
              </a:rPr>
              <a:t> </a:t>
            </a:r>
            <a:r>
              <a:rPr sz="2400" dirty="0">
                <a:latin typeface="Arial"/>
                <a:cs typeface="Arial"/>
              </a:rPr>
              <a:t>and</a:t>
            </a:r>
            <a:r>
              <a:rPr sz="2400" spc="-70" dirty="0">
                <a:latin typeface="Arial"/>
                <a:cs typeface="Arial"/>
              </a:rPr>
              <a:t> </a:t>
            </a:r>
            <a:r>
              <a:rPr sz="2400" spc="-25" dirty="0">
                <a:latin typeface="Arial"/>
                <a:cs typeface="Arial"/>
              </a:rPr>
              <a:t>the </a:t>
            </a:r>
            <a:r>
              <a:rPr sz="2400" dirty="0">
                <a:latin typeface="Arial"/>
                <a:cs typeface="Arial"/>
              </a:rPr>
              <a:t>interest</a:t>
            </a:r>
            <a:r>
              <a:rPr sz="2400" spc="-55" dirty="0">
                <a:latin typeface="Arial"/>
                <a:cs typeface="Arial"/>
              </a:rPr>
              <a:t> </a:t>
            </a:r>
            <a:r>
              <a:rPr sz="2400" dirty="0">
                <a:latin typeface="Arial"/>
                <a:cs typeface="Arial"/>
              </a:rPr>
              <a:t>rate</a:t>
            </a:r>
            <a:r>
              <a:rPr sz="2400" spc="-50" dirty="0">
                <a:latin typeface="Arial"/>
                <a:cs typeface="Arial"/>
              </a:rPr>
              <a:t> </a:t>
            </a:r>
            <a:r>
              <a:rPr sz="2400" dirty="0">
                <a:latin typeface="Arial"/>
                <a:cs typeface="Arial"/>
              </a:rPr>
              <a:t>they</a:t>
            </a:r>
            <a:r>
              <a:rPr sz="2400" spc="-55" dirty="0">
                <a:latin typeface="Arial"/>
                <a:cs typeface="Arial"/>
              </a:rPr>
              <a:t> </a:t>
            </a:r>
            <a:r>
              <a:rPr sz="2400" dirty="0">
                <a:latin typeface="Arial"/>
                <a:cs typeface="Arial"/>
              </a:rPr>
              <a:t>charge</a:t>
            </a:r>
            <a:r>
              <a:rPr sz="2400" spc="-45" dirty="0">
                <a:latin typeface="Arial"/>
                <a:cs typeface="Arial"/>
              </a:rPr>
              <a:t> </a:t>
            </a:r>
            <a:r>
              <a:rPr sz="2400" dirty="0">
                <a:latin typeface="Arial"/>
                <a:cs typeface="Arial"/>
              </a:rPr>
              <a:t>on</a:t>
            </a:r>
            <a:r>
              <a:rPr sz="2400" spc="-55" dirty="0">
                <a:latin typeface="Arial"/>
                <a:cs typeface="Arial"/>
              </a:rPr>
              <a:t> </a:t>
            </a:r>
            <a:r>
              <a:rPr sz="2400" dirty="0">
                <a:latin typeface="Arial"/>
                <a:cs typeface="Arial"/>
              </a:rPr>
              <a:t>their</a:t>
            </a:r>
            <a:r>
              <a:rPr sz="2400" spc="-50" dirty="0">
                <a:latin typeface="Arial"/>
                <a:cs typeface="Arial"/>
              </a:rPr>
              <a:t> </a:t>
            </a:r>
            <a:r>
              <a:rPr sz="2400" spc="-10" dirty="0">
                <a:latin typeface="Arial"/>
                <a:cs typeface="Arial"/>
              </a:rPr>
              <a:t>loans.</a:t>
            </a:r>
            <a:endParaRPr sz="2400">
              <a:latin typeface="Arial"/>
              <a:cs typeface="Arial"/>
            </a:endParaRPr>
          </a:p>
          <a:p>
            <a:pPr marL="12700">
              <a:lnSpc>
                <a:spcPct val="100000"/>
              </a:lnSpc>
              <a:spcBef>
                <a:spcPts val="1205"/>
              </a:spcBef>
            </a:pPr>
            <a:r>
              <a:rPr sz="2400" dirty="0">
                <a:latin typeface="Arial"/>
                <a:cs typeface="Arial"/>
              </a:rPr>
              <a:t>Depository</a:t>
            </a:r>
            <a:r>
              <a:rPr sz="2400" spc="-80" dirty="0">
                <a:latin typeface="Arial"/>
                <a:cs typeface="Arial"/>
              </a:rPr>
              <a:t> </a:t>
            </a:r>
            <a:r>
              <a:rPr sz="2400" dirty="0">
                <a:latin typeface="Arial"/>
                <a:cs typeface="Arial"/>
              </a:rPr>
              <a:t>institutions</a:t>
            </a:r>
            <a:r>
              <a:rPr sz="2400" spc="-70" dirty="0">
                <a:latin typeface="Arial"/>
                <a:cs typeface="Arial"/>
              </a:rPr>
              <a:t> </a:t>
            </a:r>
            <a:r>
              <a:rPr sz="2400" dirty="0">
                <a:latin typeface="Arial"/>
                <a:cs typeface="Arial"/>
              </a:rPr>
              <a:t>provide</a:t>
            </a:r>
            <a:r>
              <a:rPr sz="2400" spc="-90" dirty="0">
                <a:latin typeface="Arial"/>
                <a:cs typeface="Arial"/>
              </a:rPr>
              <a:t> </a:t>
            </a:r>
            <a:r>
              <a:rPr sz="2400" dirty="0">
                <a:latin typeface="Arial"/>
                <a:cs typeface="Arial"/>
              </a:rPr>
              <a:t>four</a:t>
            </a:r>
            <a:r>
              <a:rPr sz="2400" spc="-85" dirty="0">
                <a:latin typeface="Arial"/>
                <a:cs typeface="Arial"/>
              </a:rPr>
              <a:t> </a:t>
            </a:r>
            <a:r>
              <a:rPr sz="2400" spc="-10" dirty="0">
                <a:latin typeface="Arial"/>
                <a:cs typeface="Arial"/>
              </a:rPr>
              <a:t>benefits:</a:t>
            </a:r>
            <a:endParaRPr sz="2400">
              <a:latin typeface="Arial"/>
              <a:cs typeface="Arial"/>
            </a:endParaRPr>
          </a:p>
          <a:p>
            <a:pPr marL="262255" indent="-249554">
              <a:lnSpc>
                <a:spcPct val="100000"/>
              </a:lnSpc>
              <a:spcBef>
                <a:spcPts val="1200"/>
              </a:spcBef>
              <a:buClr>
                <a:srgbClr val="6F2F9F"/>
              </a:buClr>
              <a:buSzPct val="118750"/>
              <a:buFont typeface="Wingdings"/>
              <a:buChar char=""/>
              <a:tabLst>
                <a:tab pos="262255" algn="l"/>
              </a:tabLst>
            </a:pPr>
            <a:r>
              <a:rPr sz="2400" dirty="0">
                <a:latin typeface="Arial"/>
                <a:cs typeface="Arial"/>
              </a:rPr>
              <a:t>Create</a:t>
            </a:r>
            <a:r>
              <a:rPr sz="2400" spc="-85" dirty="0">
                <a:latin typeface="Arial"/>
                <a:cs typeface="Arial"/>
              </a:rPr>
              <a:t> </a:t>
            </a:r>
            <a:r>
              <a:rPr sz="2400" spc="-10" dirty="0">
                <a:latin typeface="Arial"/>
                <a:cs typeface="Arial"/>
              </a:rPr>
              <a:t>liquidity</a:t>
            </a:r>
            <a:endParaRPr sz="2400">
              <a:latin typeface="Arial"/>
              <a:cs typeface="Arial"/>
            </a:endParaRPr>
          </a:p>
          <a:p>
            <a:pPr marL="262255" indent="-249554">
              <a:lnSpc>
                <a:spcPct val="100000"/>
              </a:lnSpc>
              <a:spcBef>
                <a:spcPts val="1200"/>
              </a:spcBef>
              <a:buClr>
                <a:srgbClr val="6F2F9F"/>
              </a:buClr>
              <a:buSzPct val="118750"/>
              <a:buFont typeface="Wingdings"/>
              <a:buChar char=""/>
              <a:tabLst>
                <a:tab pos="262255" algn="l"/>
              </a:tabLst>
            </a:pPr>
            <a:r>
              <a:rPr sz="2400" dirty="0">
                <a:latin typeface="Arial"/>
                <a:cs typeface="Arial"/>
              </a:rPr>
              <a:t>Pool</a:t>
            </a:r>
            <a:r>
              <a:rPr sz="2400" spc="-65" dirty="0">
                <a:latin typeface="Arial"/>
                <a:cs typeface="Arial"/>
              </a:rPr>
              <a:t> </a:t>
            </a:r>
            <a:r>
              <a:rPr sz="2400" spc="-20" dirty="0">
                <a:latin typeface="Arial"/>
                <a:cs typeface="Arial"/>
              </a:rPr>
              <a:t>risk</a:t>
            </a:r>
            <a:endParaRPr sz="2400">
              <a:latin typeface="Arial"/>
              <a:cs typeface="Arial"/>
            </a:endParaRPr>
          </a:p>
          <a:p>
            <a:pPr marL="262255" indent="-249554">
              <a:lnSpc>
                <a:spcPct val="100000"/>
              </a:lnSpc>
              <a:spcBef>
                <a:spcPts val="1200"/>
              </a:spcBef>
              <a:buClr>
                <a:srgbClr val="6F2F9F"/>
              </a:buClr>
              <a:buSzPct val="118750"/>
              <a:buFont typeface="Wingdings"/>
              <a:buChar char=""/>
              <a:tabLst>
                <a:tab pos="262255" algn="l"/>
              </a:tabLst>
            </a:pPr>
            <a:r>
              <a:rPr sz="2400" dirty="0">
                <a:latin typeface="Arial"/>
                <a:cs typeface="Arial"/>
              </a:rPr>
              <a:t>Lower</a:t>
            </a:r>
            <a:r>
              <a:rPr sz="2400" spc="-20" dirty="0">
                <a:latin typeface="Arial"/>
                <a:cs typeface="Arial"/>
              </a:rPr>
              <a:t> </a:t>
            </a:r>
            <a:r>
              <a:rPr sz="2400" dirty="0">
                <a:latin typeface="Arial"/>
                <a:cs typeface="Arial"/>
              </a:rPr>
              <a:t>the</a:t>
            </a:r>
            <a:r>
              <a:rPr sz="2400" spc="-35" dirty="0">
                <a:latin typeface="Arial"/>
                <a:cs typeface="Arial"/>
              </a:rPr>
              <a:t> </a:t>
            </a:r>
            <a:r>
              <a:rPr sz="2400" dirty="0">
                <a:latin typeface="Arial"/>
                <a:cs typeface="Arial"/>
              </a:rPr>
              <a:t>cost</a:t>
            </a:r>
            <a:r>
              <a:rPr sz="2400" spc="-45" dirty="0">
                <a:latin typeface="Arial"/>
                <a:cs typeface="Arial"/>
              </a:rPr>
              <a:t> </a:t>
            </a:r>
            <a:r>
              <a:rPr sz="2400" dirty="0">
                <a:latin typeface="Arial"/>
                <a:cs typeface="Arial"/>
              </a:rPr>
              <a:t>of</a:t>
            </a:r>
            <a:r>
              <a:rPr sz="2400" spc="-30" dirty="0">
                <a:latin typeface="Arial"/>
                <a:cs typeface="Arial"/>
              </a:rPr>
              <a:t> </a:t>
            </a:r>
            <a:r>
              <a:rPr sz="2400" spc="-10" dirty="0">
                <a:latin typeface="Arial"/>
                <a:cs typeface="Arial"/>
              </a:rPr>
              <a:t>borrowing</a:t>
            </a:r>
            <a:endParaRPr sz="2400">
              <a:latin typeface="Arial"/>
              <a:cs typeface="Arial"/>
            </a:endParaRPr>
          </a:p>
          <a:p>
            <a:pPr marL="262255" indent="-249554">
              <a:lnSpc>
                <a:spcPct val="100000"/>
              </a:lnSpc>
              <a:spcBef>
                <a:spcPts val="1205"/>
              </a:spcBef>
              <a:buClr>
                <a:srgbClr val="6F2F9F"/>
              </a:buClr>
              <a:buSzPct val="118750"/>
              <a:buFont typeface="Wingdings"/>
              <a:buChar char=""/>
              <a:tabLst>
                <a:tab pos="262255" algn="l"/>
              </a:tabLst>
            </a:pPr>
            <a:r>
              <a:rPr sz="2400" dirty="0">
                <a:latin typeface="Arial"/>
                <a:cs typeface="Arial"/>
              </a:rPr>
              <a:t>Lower</a:t>
            </a:r>
            <a:r>
              <a:rPr sz="2400" spc="-40" dirty="0">
                <a:latin typeface="Arial"/>
                <a:cs typeface="Arial"/>
              </a:rPr>
              <a:t> </a:t>
            </a:r>
            <a:r>
              <a:rPr sz="2400" dirty="0">
                <a:latin typeface="Arial"/>
                <a:cs typeface="Arial"/>
              </a:rPr>
              <a:t>the</a:t>
            </a:r>
            <a:r>
              <a:rPr sz="2400" spc="-50" dirty="0">
                <a:latin typeface="Arial"/>
                <a:cs typeface="Arial"/>
              </a:rPr>
              <a:t> </a:t>
            </a:r>
            <a:r>
              <a:rPr sz="2400" dirty="0">
                <a:latin typeface="Arial"/>
                <a:cs typeface="Arial"/>
              </a:rPr>
              <a:t>cost</a:t>
            </a:r>
            <a:r>
              <a:rPr sz="2400" spc="-65" dirty="0">
                <a:latin typeface="Arial"/>
                <a:cs typeface="Arial"/>
              </a:rPr>
              <a:t> </a:t>
            </a:r>
            <a:r>
              <a:rPr sz="2400" dirty="0">
                <a:latin typeface="Arial"/>
                <a:cs typeface="Arial"/>
              </a:rPr>
              <a:t>of</a:t>
            </a:r>
            <a:r>
              <a:rPr sz="2400" spc="-50" dirty="0">
                <a:latin typeface="Arial"/>
                <a:cs typeface="Arial"/>
              </a:rPr>
              <a:t> </a:t>
            </a:r>
            <a:r>
              <a:rPr sz="2400" dirty="0">
                <a:latin typeface="Arial"/>
                <a:cs typeface="Arial"/>
              </a:rPr>
              <a:t>monitoring</a:t>
            </a:r>
            <a:r>
              <a:rPr sz="2400" spc="-30" dirty="0">
                <a:latin typeface="Arial"/>
                <a:cs typeface="Arial"/>
              </a:rPr>
              <a:t> </a:t>
            </a:r>
            <a:r>
              <a:rPr sz="2400" spc="-10" dirty="0">
                <a:latin typeface="Arial"/>
                <a:cs typeface="Arial"/>
              </a:rPr>
              <a:t>borrowers</a:t>
            </a:r>
            <a:endParaRPr sz="2400">
              <a:latin typeface="Arial"/>
              <a:cs typeface="Arial"/>
            </a:endParaRPr>
          </a:p>
        </p:txBody>
      </p:sp>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0059">
              <a:lnSpc>
                <a:spcPct val="100000"/>
              </a:lnSpc>
              <a:spcBef>
                <a:spcPts val="105"/>
              </a:spcBef>
            </a:pPr>
            <a:r>
              <a:rPr dirty="0"/>
              <a:t>Depository</a:t>
            </a:r>
            <a:r>
              <a:rPr spc="-85" dirty="0"/>
              <a:t> </a:t>
            </a:r>
            <a:r>
              <a:rPr spc="-10" dirty="0"/>
              <a:t>Institutions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47522" y="1457055"/>
            <a:ext cx="7955915" cy="3562985"/>
          </a:xfrm>
          <a:prstGeom prst="rect">
            <a:avLst/>
          </a:prstGeom>
        </p:spPr>
        <p:txBody>
          <a:bodyPr vert="horz" wrap="square" lIns="0" tIns="165735" rIns="0" bIns="0" rtlCol="0">
            <a:spAutoFit/>
          </a:bodyPr>
          <a:lstStyle/>
          <a:p>
            <a:pPr marL="12700">
              <a:lnSpc>
                <a:spcPct val="100000"/>
              </a:lnSpc>
              <a:spcBef>
                <a:spcPts val="1305"/>
              </a:spcBef>
            </a:pPr>
            <a:r>
              <a:rPr sz="2400" b="1" dirty="0">
                <a:solidFill>
                  <a:srgbClr val="1A70B7"/>
                </a:solidFill>
                <a:latin typeface="Arial"/>
                <a:cs typeface="Arial"/>
              </a:rPr>
              <a:t>How</a:t>
            </a:r>
            <a:r>
              <a:rPr sz="2400" b="1" spc="-55" dirty="0">
                <a:solidFill>
                  <a:srgbClr val="1A70B7"/>
                </a:solidFill>
                <a:latin typeface="Arial"/>
                <a:cs typeface="Arial"/>
              </a:rPr>
              <a:t> </a:t>
            </a:r>
            <a:r>
              <a:rPr sz="2400" b="1" dirty="0">
                <a:solidFill>
                  <a:srgbClr val="1A70B7"/>
                </a:solidFill>
                <a:latin typeface="Arial"/>
                <a:cs typeface="Arial"/>
              </a:rPr>
              <a:t>Depository</a:t>
            </a:r>
            <a:r>
              <a:rPr sz="2400" b="1" spc="-40" dirty="0">
                <a:solidFill>
                  <a:srgbClr val="1A70B7"/>
                </a:solidFill>
                <a:latin typeface="Arial"/>
                <a:cs typeface="Arial"/>
              </a:rPr>
              <a:t> </a:t>
            </a:r>
            <a:r>
              <a:rPr sz="2400" b="1" dirty="0">
                <a:solidFill>
                  <a:srgbClr val="1A70B7"/>
                </a:solidFill>
                <a:latin typeface="Arial"/>
                <a:cs typeface="Arial"/>
              </a:rPr>
              <a:t>Institutions</a:t>
            </a:r>
            <a:r>
              <a:rPr sz="2400" b="1" spc="-85" dirty="0">
                <a:solidFill>
                  <a:srgbClr val="1A70B7"/>
                </a:solidFill>
                <a:latin typeface="Arial"/>
                <a:cs typeface="Arial"/>
              </a:rPr>
              <a:t> </a:t>
            </a:r>
            <a:r>
              <a:rPr sz="2400" b="1" dirty="0">
                <a:solidFill>
                  <a:srgbClr val="1A70B7"/>
                </a:solidFill>
                <a:latin typeface="Arial"/>
                <a:cs typeface="Arial"/>
              </a:rPr>
              <a:t>Are</a:t>
            </a:r>
            <a:r>
              <a:rPr sz="2400" b="1" spc="-40" dirty="0">
                <a:solidFill>
                  <a:srgbClr val="1A70B7"/>
                </a:solidFill>
                <a:latin typeface="Arial"/>
                <a:cs typeface="Arial"/>
              </a:rPr>
              <a:t> </a:t>
            </a:r>
            <a:r>
              <a:rPr sz="2400" b="1" spc="-10" dirty="0">
                <a:solidFill>
                  <a:srgbClr val="1A70B7"/>
                </a:solidFill>
                <a:latin typeface="Arial"/>
                <a:cs typeface="Arial"/>
              </a:rPr>
              <a:t>Regulated</a:t>
            </a:r>
            <a:endParaRPr sz="2400">
              <a:latin typeface="Arial"/>
              <a:cs typeface="Arial"/>
            </a:endParaRPr>
          </a:p>
          <a:p>
            <a:pPr marL="12700">
              <a:lnSpc>
                <a:spcPct val="100000"/>
              </a:lnSpc>
              <a:spcBef>
                <a:spcPts val="1200"/>
              </a:spcBef>
            </a:pPr>
            <a:r>
              <a:rPr sz="2400" dirty="0">
                <a:latin typeface="Arial"/>
                <a:cs typeface="Arial"/>
              </a:rPr>
              <a:t>Depository</a:t>
            </a:r>
            <a:r>
              <a:rPr sz="2400" spc="-70" dirty="0">
                <a:latin typeface="Arial"/>
                <a:cs typeface="Arial"/>
              </a:rPr>
              <a:t> </a:t>
            </a:r>
            <a:r>
              <a:rPr sz="2400" dirty="0">
                <a:latin typeface="Arial"/>
                <a:cs typeface="Arial"/>
              </a:rPr>
              <a:t>institutions</a:t>
            </a:r>
            <a:r>
              <a:rPr sz="2400" spc="-55" dirty="0">
                <a:latin typeface="Arial"/>
                <a:cs typeface="Arial"/>
              </a:rPr>
              <a:t> </a:t>
            </a:r>
            <a:r>
              <a:rPr sz="2400" dirty="0">
                <a:latin typeface="Arial"/>
                <a:cs typeface="Arial"/>
              </a:rPr>
              <a:t>engage</a:t>
            </a:r>
            <a:r>
              <a:rPr sz="2400" spc="-65" dirty="0">
                <a:latin typeface="Arial"/>
                <a:cs typeface="Arial"/>
              </a:rPr>
              <a:t> </a:t>
            </a:r>
            <a:r>
              <a:rPr sz="2400" dirty="0">
                <a:latin typeface="Arial"/>
                <a:cs typeface="Arial"/>
              </a:rPr>
              <a:t>in</a:t>
            </a:r>
            <a:r>
              <a:rPr sz="2400" spc="-85" dirty="0">
                <a:latin typeface="Arial"/>
                <a:cs typeface="Arial"/>
              </a:rPr>
              <a:t> </a:t>
            </a:r>
            <a:r>
              <a:rPr sz="2400" dirty="0">
                <a:latin typeface="Arial"/>
                <a:cs typeface="Arial"/>
              </a:rPr>
              <a:t>risky</a:t>
            </a:r>
            <a:r>
              <a:rPr sz="2400" spc="-75" dirty="0">
                <a:latin typeface="Arial"/>
                <a:cs typeface="Arial"/>
              </a:rPr>
              <a:t> </a:t>
            </a:r>
            <a:r>
              <a:rPr sz="2400" spc="-10" dirty="0">
                <a:latin typeface="Arial"/>
                <a:cs typeface="Arial"/>
              </a:rPr>
              <a:t>business.</a:t>
            </a:r>
            <a:endParaRPr sz="2400">
              <a:latin typeface="Arial"/>
              <a:cs typeface="Arial"/>
            </a:endParaRPr>
          </a:p>
          <a:p>
            <a:pPr marL="12700" marR="5080">
              <a:lnSpc>
                <a:spcPct val="100000"/>
              </a:lnSpc>
              <a:spcBef>
                <a:spcPts val="1200"/>
              </a:spcBef>
            </a:pPr>
            <a:r>
              <a:rPr sz="2400" dirty="0">
                <a:latin typeface="Arial"/>
                <a:cs typeface="Arial"/>
              </a:rPr>
              <a:t>To</a:t>
            </a:r>
            <a:r>
              <a:rPr sz="2400" spc="-60" dirty="0">
                <a:latin typeface="Arial"/>
                <a:cs typeface="Arial"/>
              </a:rPr>
              <a:t> </a:t>
            </a:r>
            <a:r>
              <a:rPr sz="2400" dirty="0">
                <a:latin typeface="Arial"/>
                <a:cs typeface="Arial"/>
              </a:rPr>
              <a:t>make</a:t>
            </a:r>
            <a:r>
              <a:rPr sz="2400" spc="-60" dirty="0">
                <a:latin typeface="Arial"/>
                <a:cs typeface="Arial"/>
              </a:rPr>
              <a:t> </a:t>
            </a:r>
            <a:r>
              <a:rPr sz="2400" dirty="0">
                <a:latin typeface="Arial"/>
                <a:cs typeface="Arial"/>
              </a:rPr>
              <a:t>the</a:t>
            </a:r>
            <a:r>
              <a:rPr sz="2400" spc="-45" dirty="0">
                <a:latin typeface="Arial"/>
                <a:cs typeface="Arial"/>
              </a:rPr>
              <a:t> </a:t>
            </a:r>
            <a:r>
              <a:rPr sz="2400" dirty="0">
                <a:latin typeface="Arial"/>
                <a:cs typeface="Arial"/>
              </a:rPr>
              <a:t>risk</a:t>
            </a:r>
            <a:r>
              <a:rPr sz="2400" spc="-60" dirty="0">
                <a:latin typeface="Arial"/>
                <a:cs typeface="Arial"/>
              </a:rPr>
              <a:t> </a:t>
            </a:r>
            <a:r>
              <a:rPr sz="2400" dirty="0">
                <a:latin typeface="Arial"/>
                <a:cs typeface="Arial"/>
              </a:rPr>
              <a:t>of</a:t>
            </a:r>
            <a:r>
              <a:rPr sz="2400" spc="-60" dirty="0">
                <a:latin typeface="Arial"/>
                <a:cs typeface="Arial"/>
              </a:rPr>
              <a:t> </a:t>
            </a:r>
            <a:r>
              <a:rPr sz="2400" dirty="0">
                <a:latin typeface="Arial"/>
                <a:cs typeface="Arial"/>
              </a:rPr>
              <a:t>failure</a:t>
            </a:r>
            <a:r>
              <a:rPr sz="2400" spc="-35" dirty="0">
                <a:latin typeface="Arial"/>
                <a:cs typeface="Arial"/>
              </a:rPr>
              <a:t> </a:t>
            </a:r>
            <a:r>
              <a:rPr sz="2400" dirty="0">
                <a:latin typeface="Arial"/>
                <a:cs typeface="Arial"/>
              </a:rPr>
              <a:t>small,</a:t>
            </a:r>
            <a:r>
              <a:rPr sz="2400" spc="-50" dirty="0">
                <a:latin typeface="Arial"/>
                <a:cs typeface="Arial"/>
              </a:rPr>
              <a:t> </a:t>
            </a:r>
            <a:r>
              <a:rPr sz="2400" dirty="0">
                <a:latin typeface="Arial"/>
                <a:cs typeface="Arial"/>
              </a:rPr>
              <a:t>depository</a:t>
            </a:r>
            <a:r>
              <a:rPr sz="2400" spc="-25" dirty="0">
                <a:latin typeface="Arial"/>
                <a:cs typeface="Arial"/>
              </a:rPr>
              <a:t> </a:t>
            </a:r>
            <a:r>
              <a:rPr sz="2400" dirty="0">
                <a:latin typeface="Arial"/>
                <a:cs typeface="Arial"/>
              </a:rPr>
              <a:t>institutions</a:t>
            </a:r>
            <a:r>
              <a:rPr sz="2400" spc="-40" dirty="0">
                <a:latin typeface="Arial"/>
                <a:cs typeface="Arial"/>
              </a:rPr>
              <a:t> </a:t>
            </a:r>
            <a:r>
              <a:rPr sz="2400" spc="-25" dirty="0">
                <a:latin typeface="Arial"/>
                <a:cs typeface="Arial"/>
              </a:rPr>
              <a:t>are </a:t>
            </a:r>
            <a:r>
              <a:rPr sz="2400" dirty="0">
                <a:latin typeface="Arial"/>
                <a:cs typeface="Arial"/>
              </a:rPr>
              <a:t>required</a:t>
            </a:r>
            <a:r>
              <a:rPr sz="2400" spc="-45" dirty="0">
                <a:latin typeface="Arial"/>
                <a:cs typeface="Arial"/>
              </a:rPr>
              <a:t> </a:t>
            </a:r>
            <a:r>
              <a:rPr sz="2400" dirty="0">
                <a:latin typeface="Arial"/>
                <a:cs typeface="Arial"/>
              </a:rPr>
              <a:t>to</a:t>
            </a:r>
            <a:r>
              <a:rPr sz="2400" spc="-85" dirty="0">
                <a:latin typeface="Arial"/>
                <a:cs typeface="Arial"/>
              </a:rPr>
              <a:t> </a:t>
            </a:r>
            <a:r>
              <a:rPr sz="2400" dirty="0">
                <a:latin typeface="Arial"/>
                <a:cs typeface="Arial"/>
              </a:rPr>
              <a:t>hold</a:t>
            </a:r>
            <a:r>
              <a:rPr sz="2400" spc="-50" dirty="0">
                <a:latin typeface="Arial"/>
                <a:cs typeface="Arial"/>
              </a:rPr>
              <a:t> </a:t>
            </a:r>
            <a:r>
              <a:rPr sz="2400" dirty="0">
                <a:latin typeface="Arial"/>
                <a:cs typeface="Arial"/>
              </a:rPr>
              <a:t>levels</a:t>
            </a:r>
            <a:r>
              <a:rPr sz="2400" spc="-50" dirty="0">
                <a:latin typeface="Arial"/>
                <a:cs typeface="Arial"/>
              </a:rPr>
              <a:t> </a:t>
            </a:r>
            <a:r>
              <a:rPr sz="2400" dirty="0">
                <a:latin typeface="Arial"/>
                <a:cs typeface="Arial"/>
              </a:rPr>
              <a:t>of</a:t>
            </a:r>
            <a:r>
              <a:rPr sz="2400" spc="-85" dirty="0">
                <a:latin typeface="Arial"/>
                <a:cs typeface="Arial"/>
              </a:rPr>
              <a:t> </a:t>
            </a:r>
            <a:r>
              <a:rPr sz="2400" dirty="0">
                <a:latin typeface="Arial"/>
                <a:cs typeface="Arial"/>
              </a:rPr>
              <a:t>reserves</a:t>
            </a:r>
            <a:r>
              <a:rPr sz="2400" spc="-65" dirty="0">
                <a:latin typeface="Arial"/>
                <a:cs typeface="Arial"/>
              </a:rPr>
              <a:t> </a:t>
            </a:r>
            <a:r>
              <a:rPr sz="2400" dirty="0">
                <a:latin typeface="Arial"/>
                <a:cs typeface="Arial"/>
              </a:rPr>
              <a:t>and</a:t>
            </a:r>
            <a:r>
              <a:rPr sz="2400" spc="-60" dirty="0">
                <a:latin typeface="Arial"/>
                <a:cs typeface="Arial"/>
              </a:rPr>
              <a:t> </a:t>
            </a:r>
            <a:r>
              <a:rPr sz="2400" dirty="0">
                <a:latin typeface="Arial"/>
                <a:cs typeface="Arial"/>
              </a:rPr>
              <a:t>owners’</a:t>
            </a:r>
            <a:r>
              <a:rPr sz="2400" spc="-50" dirty="0">
                <a:latin typeface="Arial"/>
                <a:cs typeface="Arial"/>
              </a:rPr>
              <a:t> </a:t>
            </a:r>
            <a:r>
              <a:rPr sz="2400" spc="-10" dirty="0">
                <a:latin typeface="Arial"/>
                <a:cs typeface="Arial"/>
              </a:rPr>
              <a:t>capital </a:t>
            </a:r>
            <a:r>
              <a:rPr sz="2400" dirty="0">
                <a:latin typeface="Arial"/>
                <a:cs typeface="Arial"/>
              </a:rPr>
              <a:t>equal</a:t>
            </a:r>
            <a:r>
              <a:rPr sz="2400" spc="-35" dirty="0">
                <a:latin typeface="Arial"/>
                <a:cs typeface="Arial"/>
              </a:rPr>
              <a:t> </a:t>
            </a:r>
            <a:r>
              <a:rPr sz="2400" dirty="0">
                <a:latin typeface="Arial"/>
                <a:cs typeface="Arial"/>
              </a:rPr>
              <a:t>to</a:t>
            </a:r>
            <a:r>
              <a:rPr sz="2400" spc="-45" dirty="0">
                <a:latin typeface="Arial"/>
                <a:cs typeface="Arial"/>
              </a:rPr>
              <a:t> </a:t>
            </a:r>
            <a:r>
              <a:rPr sz="2400" dirty="0">
                <a:latin typeface="Arial"/>
                <a:cs typeface="Arial"/>
              </a:rPr>
              <a:t>or</a:t>
            </a:r>
            <a:r>
              <a:rPr sz="2400" spc="-50" dirty="0">
                <a:latin typeface="Arial"/>
                <a:cs typeface="Arial"/>
              </a:rPr>
              <a:t> </a:t>
            </a:r>
            <a:r>
              <a:rPr sz="2400" dirty="0">
                <a:latin typeface="Arial"/>
                <a:cs typeface="Arial"/>
              </a:rPr>
              <a:t>that</a:t>
            </a:r>
            <a:r>
              <a:rPr sz="2400" spc="-45" dirty="0">
                <a:latin typeface="Arial"/>
                <a:cs typeface="Arial"/>
              </a:rPr>
              <a:t> </a:t>
            </a:r>
            <a:r>
              <a:rPr sz="2400" dirty="0">
                <a:latin typeface="Arial"/>
                <a:cs typeface="Arial"/>
              </a:rPr>
              <a:t>surpass</a:t>
            </a:r>
            <a:r>
              <a:rPr sz="2400" spc="-45" dirty="0">
                <a:latin typeface="Arial"/>
                <a:cs typeface="Arial"/>
              </a:rPr>
              <a:t> </a:t>
            </a:r>
            <a:r>
              <a:rPr sz="2400" dirty="0">
                <a:latin typeface="Arial"/>
                <a:cs typeface="Arial"/>
              </a:rPr>
              <a:t>the</a:t>
            </a:r>
            <a:r>
              <a:rPr sz="2400" spc="-55" dirty="0">
                <a:latin typeface="Arial"/>
                <a:cs typeface="Arial"/>
              </a:rPr>
              <a:t> </a:t>
            </a:r>
            <a:r>
              <a:rPr sz="2400" dirty="0">
                <a:latin typeface="Arial"/>
                <a:cs typeface="Arial"/>
              </a:rPr>
              <a:t>ratios</a:t>
            </a:r>
            <a:r>
              <a:rPr sz="2400" spc="-50" dirty="0">
                <a:latin typeface="Arial"/>
                <a:cs typeface="Arial"/>
              </a:rPr>
              <a:t> </a:t>
            </a:r>
            <a:r>
              <a:rPr sz="2400" dirty="0">
                <a:latin typeface="Arial"/>
                <a:cs typeface="Arial"/>
              </a:rPr>
              <a:t>laid</a:t>
            </a:r>
            <a:r>
              <a:rPr sz="2400" spc="-25" dirty="0">
                <a:latin typeface="Arial"/>
                <a:cs typeface="Arial"/>
              </a:rPr>
              <a:t> </a:t>
            </a:r>
            <a:r>
              <a:rPr sz="2400" dirty="0">
                <a:latin typeface="Arial"/>
                <a:cs typeface="Arial"/>
              </a:rPr>
              <a:t>down</a:t>
            </a:r>
            <a:r>
              <a:rPr sz="2400" spc="-40" dirty="0">
                <a:latin typeface="Arial"/>
                <a:cs typeface="Arial"/>
              </a:rPr>
              <a:t> </a:t>
            </a:r>
            <a:r>
              <a:rPr sz="2400" dirty="0">
                <a:latin typeface="Arial"/>
                <a:cs typeface="Arial"/>
              </a:rPr>
              <a:t>by</a:t>
            </a:r>
            <a:r>
              <a:rPr sz="2400" spc="-45" dirty="0">
                <a:latin typeface="Arial"/>
                <a:cs typeface="Arial"/>
              </a:rPr>
              <a:t> </a:t>
            </a:r>
            <a:r>
              <a:rPr sz="2400" spc="-10" dirty="0">
                <a:latin typeface="Arial"/>
                <a:cs typeface="Arial"/>
              </a:rPr>
              <a:t>regulation.</a:t>
            </a:r>
            <a:endParaRPr sz="2400">
              <a:latin typeface="Arial"/>
              <a:cs typeface="Arial"/>
            </a:endParaRPr>
          </a:p>
          <a:p>
            <a:pPr marL="12700" marR="139065" algn="just">
              <a:lnSpc>
                <a:spcPct val="100000"/>
              </a:lnSpc>
              <a:spcBef>
                <a:spcPts val="1205"/>
              </a:spcBef>
            </a:pPr>
            <a:r>
              <a:rPr sz="2400" dirty="0">
                <a:latin typeface="Arial"/>
                <a:cs typeface="Arial"/>
              </a:rPr>
              <a:t>If</a:t>
            </a:r>
            <a:r>
              <a:rPr sz="2400" spc="-85" dirty="0">
                <a:latin typeface="Arial"/>
                <a:cs typeface="Arial"/>
              </a:rPr>
              <a:t> </a:t>
            </a:r>
            <a:r>
              <a:rPr sz="2400" dirty="0">
                <a:latin typeface="Arial"/>
                <a:cs typeface="Arial"/>
              </a:rPr>
              <a:t>a</a:t>
            </a:r>
            <a:r>
              <a:rPr sz="2400" spc="-85" dirty="0">
                <a:latin typeface="Arial"/>
                <a:cs typeface="Arial"/>
              </a:rPr>
              <a:t> </a:t>
            </a:r>
            <a:r>
              <a:rPr sz="2400" dirty="0">
                <a:latin typeface="Arial"/>
                <a:cs typeface="Arial"/>
              </a:rPr>
              <a:t>depository</a:t>
            </a:r>
            <a:r>
              <a:rPr sz="2400" spc="-60" dirty="0">
                <a:latin typeface="Arial"/>
                <a:cs typeface="Arial"/>
              </a:rPr>
              <a:t> </a:t>
            </a:r>
            <a:r>
              <a:rPr sz="2400" dirty="0">
                <a:latin typeface="Arial"/>
                <a:cs typeface="Arial"/>
              </a:rPr>
              <a:t>institution</a:t>
            </a:r>
            <a:r>
              <a:rPr sz="2400" spc="-55" dirty="0">
                <a:latin typeface="Arial"/>
                <a:cs typeface="Arial"/>
              </a:rPr>
              <a:t> </a:t>
            </a:r>
            <a:r>
              <a:rPr sz="2400" dirty="0">
                <a:latin typeface="Arial"/>
                <a:cs typeface="Arial"/>
              </a:rPr>
              <a:t>fails,</a:t>
            </a:r>
            <a:r>
              <a:rPr sz="2400" spc="-70" dirty="0">
                <a:latin typeface="Arial"/>
                <a:cs typeface="Arial"/>
              </a:rPr>
              <a:t> </a:t>
            </a:r>
            <a:r>
              <a:rPr sz="2400" dirty="0">
                <a:latin typeface="Arial"/>
                <a:cs typeface="Arial"/>
              </a:rPr>
              <a:t>deposits</a:t>
            </a:r>
            <a:r>
              <a:rPr sz="2400" spc="-55" dirty="0">
                <a:latin typeface="Arial"/>
                <a:cs typeface="Arial"/>
              </a:rPr>
              <a:t> </a:t>
            </a:r>
            <a:r>
              <a:rPr sz="2400" dirty="0">
                <a:latin typeface="Arial"/>
                <a:cs typeface="Arial"/>
              </a:rPr>
              <a:t>are</a:t>
            </a:r>
            <a:r>
              <a:rPr sz="2400" spc="-70" dirty="0">
                <a:latin typeface="Arial"/>
                <a:cs typeface="Arial"/>
              </a:rPr>
              <a:t> </a:t>
            </a:r>
            <a:r>
              <a:rPr sz="2400" dirty="0">
                <a:latin typeface="Arial"/>
                <a:cs typeface="Arial"/>
              </a:rPr>
              <a:t>guaranteed</a:t>
            </a:r>
            <a:r>
              <a:rPr sz="2400" spc="-55" dirty="0">
                <a:latin typeface="Arial"/>
                <a:cs typeface="Arial"/>
              </a:rPr>
              <a:t> </a:t>
            </a:r>
            <a:r>
              <a:rPr sz="2400" spc="-25" dirty="0">
                <a:latin typeface="Arial"/>
                <a:cs typeface="Arial"/>
              </a:rPr>
              <a:t>up </a:t>
            </a:r>
            <a:r>
              <a:rPr sz="2400" dirty="0">
                <a:latin typeface="Arial"/>
                <a:cs typeface="Arial"/>
              </a:rPr>
              <a:t>to</a:t>
            </a:r>
            <a:r>
              <a:rPr sz="2400" spc="-55" dirty="0">
                <a:latin typeface="Arial"/>
                <a:cs typeface="Arial"/>
              </a:rPr>
              <a:t> </a:t>
            </a:r>
            <a:r>
              <a:rPr sz="2400" dirty="0">
                <a:latin typeface="Arial"/>
                <a:cs typeface="Arial"/>
              </a:rPr>
              <a:t>$250,000</a:t>
            </a:r>
            <a:r>
              <a:rPr sz="2400" spc="-30" dirty="0">
                <a:latin typeface="Arial"/>
                <a:cs typeface="Arial"/>
              </a:rPr>
              <a:t> </a:t>
            </a:r>
            <a:r>
              <a:rPr sz="2400" dirty="0">
                <a:latin typeface="Arial"/>
                <a:cs typeface="Arial"/>
              </a:rPr>
              <a:t>per</a:t>
            </a:r>
            <a:r>
              <a:rPr sz="2400" spc="-50" dirty="0">
                <a:latin typeface="Arial"/>
                <a:cs typeface="Arial"/>
              </a:rPr>
              <a:t> </a:t>
            </a:r>
            <a:r>
              <a:rPr sz="2400" dirty="0">
                <a:latin typeface="Arial"/>
                <a:cs typeface="Arial"/>
              </a:rPr>
              <a:t>depositor</a:t>
            </a:r>
            <a:r>
              <a:rPr sz="2400" spc="-40" dirty="0">
                <a:latin typeface="Arial"/>
                <a:cs typeface="Arial"/>
              </a:rPr>
              <a:t> </a:t>
            </a:r>
            <a:r>
              <a:rPr sz="2400" dirty="0">
                <a:latin typeface="Arial"/>
                <a:cs typeface="Arial"/>
              </a:rPr>
              <a:t>per</a:t>
            </a:r>
            <a:r>
              <a:rPr sz="2400" spc="-50" dirty="0">
                <a:latin typeface="Arial"/>
                <a:cs typeface="Arial"/>
              </a:rPr>
              <a:t> </a:t>
            </a:r>
            <a:r>
              <a:rPr sz="2400" dirty="0">
                <a:latin typeface="Arial"/>
                <a:cs typeface="Arial"/>
              </a:rPr>
              <a:t>bank</a:t>
            </a:r>
            <a:r>
              <a:rPr sz="2400" spc="-40" dirty="0">
                <a:latin typeface="Arial"/>
                <a:cs typeface="Arial"/>
              </a:rPr>
              <a:t> </a:t>
            </a:r>
            <a:r>
              <a:rPr sz="2400" dirty="0">
                <a:latin typeface="Arial"/>
                <a:cs typeface="Arial"/>
              </a:rPr>
              <a:t>by</a:t>
            </a:r>
            <a:r>
              <a:rPr sz="2400" spc="-55" dirty="0">
                <a:latin typeface="Arial"/>
                <a:cs typeface="Arial"/>
              </a:rPr>
              <a:t> </a:t>
            </a:r>
            <a:r>
              <a:rPr sz="2400" dirty="0">
                <a:latin typeface="Arial"/>
                <a:cs typeface="Arial"/>
              </a:rPr>
              <a:t>the</a:t>
            </a:r>
            <a:r>
              <a:rPr sz="2400" spc="-60" dirty="0">
                <a:latin typeface="Arial"/>
                <a:cs typeface="Arial"/>
              </a:rPr>
              <a:t> </a:t>
            </a:r>
            <a:r>
              <a:rPr sz="2400" spc="-10" dirty="0">
                <a:latin typeface="Arial"/>
                <a:cs typeface="Arial"/>
              </a:rPr>
              <a:t>FDIC—Federal </a:t>
            </a:r>
            <a:r>
              <a:rPr sz="2400" dirty="0">
                <a:latin typeface="Arial"/>
                <a:cs typeface="Arial"/>
              </a:rPr>
              <a:t>Deposit</a:t>
            </a:r>
            <a:r>
              <a:rPr sz="2400" spc="-114" dirty="0">
                <a:latin typeface="Arial"/>
                <a:cs typeface="Arial"/>
              </a:rPr>
              <a:t> </a:t>
            </a:r>
            <a:r>
              <a:rPr sz="2400" dirty="0">
                <a:latin typeface="Arial"/>
                <a:cs typeface="Arial"/>
              </a:rPr>
              <a:t>Insurance</a:t>
            </a:r>
            <a:r>
              <a:rPr sz="2400" spc="-120" dirty="0">
                <a:latin typeface="Arial"/>
                <a:cs typeface="Arial"/>
              </a:rPr>
              <a:t> </a:t>
            </a:r>
            <a:r>
              <a:rPr sz="2400" spc="-10" dirty="0">
                <a:latin typeface="Arial"/>
                <a:cs typeface="Arial"/>
              </a:rPr>
              <a:t>Corporation.</a:t>
            </a:r>
            <a:endParaRPr sz="2400">
              <a:latin typeface="Arial"/>
              <a:cs typeface="Arial"/>
            </a:endParaRPr>
          </a:p>
        </p:txBody>
      </p:sp>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0059">
              <a:lnSpc>
                <a:spcPct val="100000"/>
              </a:lnSpc>
              <a:spcBef>
                <a:spcPts val="105"/>
              </a:spcBef>
            </a:pPr>
            <a:r>
              <a:rPr dirty="0"/>
              <a:t>Depository</a:t>
            </a:r>
            <a:r>
              <a:rPr spc="-85" dirty="0"/>
              <a:t> </a:t>
            </a:r>
            <a:r>
              <a:rPr spc="-10" dirty="0"/>
              <a:t>Institutions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47522" y="1457055"/>
            <a:ext cx="7688580" cy="3349625"/>
          </a:xfrm>
          <a:prstGeom prst="rect">
            <a:avLst/>
          </a:prstGeom>
        </p:spPr>
        <p:txBody>
          <a:bodyPr vert="horz" wrap="square" lIns="0" tIns="165735" rIns="0" bIns="0" rtlCol="0">
            <a:spAutoFit/>
          </a:bodyPr>
          <a:lstStyle/>
          <a:p>
            <a:pPr marL="12700">
              <a:lnSpc>
                <a:spcPct val="100000"/>
              </a:lnSpc>
              <a:spcBef>
                <a:spcPts val="1305"/>
              </a:spcBef>
            </a:pPr>
            <a:r>
              <a:rPr sz="2400" b="1" dirty="0">
                <a:solidFill>
                  <a:srgbClr val="1A70B7"/>
                </a:solidFill>
                <a:latin typeface="Arial"/>
                <a:cs typeface="Arial"/>
              </a:rPr>
              <a:t>Financial</a:t>
            </a:r>
            <a:r>
              <a:rPr sz="2400" b="1" spc="-55" dirty="0">
                <a:solidFill>
                  <a:srgbClr val="1A70B7"/>
                </a:solidFill>
                <a:latin typeface="Arial"/>
                <a:cs typeface="Arial"/>
              </a:rPr>
              <a:t> </a:t>
            </a:r>
            <a:r>
              <a:rPr sz="2400" b="1" spc="-10" dirty="0">
                <a:solidFill>
                  <a:srgbClr val="1A70B7"/>
                </a:solidFill>
                <a:latin typeface="Arial"/>
                <a:cs typeface="Arial"/>
              </a:rPr>
              <a:t>Innovation</a:t>
            </a:r>
            <a:endParaRPr sz="2400">
              <a:latin typeface="Arial"/>
              <a:cs typeface="Arial"/>
            </a:endParaRPr>
          </a:p>
          <a:p>
            <a:pPr marL="12700" marR="5080">
              <a:lnSpc>
                <a:spcPct val="100000"/>
              </a:lnSpc>
              <a:spcBef>
                <a:spcPts val="1200"/>
              </a:spcBef>
            </a:pPr>
            <a:r>
              <a:rPr sz="2400" dirty="0">
                <a:latin typeface="Arial"/>
                <a:cs typeface="Arial"/>
              </a:rPr>
              <a:t>The</a:t>
            </a:r>
            <a:r>
              <a:rPr sz="2400" spc="-60" dirty="0">
                <a:latin typeface="Arial"/>
                <a:cs typeface="Arial"/>
              </a:rPr>
              <a:t> </a:t>
            </a:r>
            <a:r>
              <a:rPr sz="2400" dirty="0">
                <a:latin typeface="Arial"/>
                <a:cs typeface="Arial"/>
              </a:rPr>
              <a:t>aim</a:t>
            </a:r>
            <a:r>
              <a:rPr sz="2400" spc="-45" dirty="0">
                <a:latin typeface="Arial"/>
                <a:cs typeface="Arial"/>
              </a:rPr>
              <a:t> </a:t>
            </a:r>
            <a:r>
              <a:rPr sz="2400" dirty="0">
                <a:latin typeface="Arial"/>
                <a:cs typeface="Arial"/>
              </a:rPr>
              <a:t>of</a:t>
            </a:r>
            <a:r>
              <a:rPr sz="2400" spc="-50" dirty="0">
                <a:latin typeface="Arial"/>
                <a:cs typeface="Arial"/>
              </a:rPr>
              <a:t> </a:t>
            </a:r>
            <a:r>
              <a:rPr sz="2400" i="1" dirty="0">
                <a:latin typeface="Arial"/>
                <a:cs typeface="Arial"/>
              </a:rPr>
              <a:t>financial</a:t>
            </a:r>
            <a:r>
              <a:rPr sz="2400" i="1" spc="-25" dirty="0">
                <a:latin typeface="Arial"/>
                <a:cs typeface="Arial"/>
              </a:rPr>
              <a:t> innovation</a:t>
            </a:r>
            <a:r>
              <a:rPr sz="2400" spc="-25" dirty="0">
                <a:latin typeface="Arial"/>
                <a:cs typeface="Arial"/>
              </a:rPr>
              <a:t>—</a:t>
            </a:r>
            <a:r>
              <a:rPr sz="2400" dirty="0">
                <a:latin typeface="Arial"/>
                <a:cs typeface="Arial"/>
              </a:rPr>
              <a:t>the</a:t>
            </a:r>
            <a:r>
              <a:rPr sz="2400" spc="-15" dirty="0">
                <a:latin typeface="Arial"/>
                <a:cs typeface="Arial"/>
              </a:rPr>
              <a:t> </a:t>
            </a:r>
            <a:r>
              <a:rPr sz="2400" dirty="0">
                <a:latin typeface="Arial"/>
                <a:cs typeface="Arial"/>
              </a:rPr>
              <a:t>development</a:t>
            </a:r>
            <a:r>
              <a:rPr sz="2400" spc="-25" dirty="0">
                <a:latin typeface="Arial"/>
                <a:cs typeface="Arial"/>
              </a:rPr>
              <a:t> </a:t>
            </a:r>
            <a:r>
              <a:rPr sz="2400" dirty="0">
                <a:latin typeface="Arial"/>
                <a:cs typeface="Arial"/>
              </a:rPr>
              <a:t>of</a:t>
            </a:r>
            <a:r>
              <a:rPr sz="2400" spc="-65" dirty="0">
                <a:latin typeface="Arial"/>
                <a:cs typeface="Arial"/>
              </a:rPr>
              <a:t> </a:t>
            </a:r>
            <a:r>
              <a:rPr sz="2400" spc="-25" dirty="0">
                <a:latin typeface="Arial"/>
                <a:cs typeface="Arial"/>
              </a:rPr>
              <a:t>new </a:t>
            </a:r>
            <a:r>
              <a:rPr sz="2400" dirty="0">
                <a:latin typeface="Arial"/>
                <a:cs typeface="Arial"/>
              </a:rPr>
              <a:t>financial</a:t>
            </a:r>
            <a:r>
              <a:rPr sz="2400" spc="-25" dirty="0">
                <a:latin typeface="Arial"/>
                <a:cs typeface="Arial"/>
              </a:rPr>
              <a:t> </a:t>
            </a:r>
            <a:r>
              <a:rPr sz="2400" spc="-10" dirty="0">
                <a:latin typeface="Arial"/>
                <a:cs typeface="Arial"/>
              </a:rPr>
              <a:t>products—</a:t>
            </a:r>
            <a:r>
              <a:rPr sz="2400" dirty="0">
                <a:latin typeface="Arial"/>
                <a:cs typeface="Arial"/>
              </a:rPr>
              <a:t>is</a:t>
            </a:r>
            <a:r>
              <a:rPr sz="2400" spc="-50" dirty="0">
                <a:latin typeface="Arial"/>
                <a:cs typeface="Arial"/>
              </a:rPr>
              <a:t> </a:t>
            </a:r>
            <a:r>
              <a:rPr sz="2400" dirty="0">
                <a:latin typeface="Arial"/>
                <a:cs typeface="Arial"/>
              </a:rPr>
              <a:t>to</a:t>
            </a:r>
            <a:r>
              <a:rPr sz="2400" spc="-50" dirty="0">
                <a:latin typeface="Arial"/>
                <a:cs typeface="Arial"/>
              </a:rPr>
              <a:t> </a:t>
            </a:r>
            <a:r>
              <a:rPr sz="2400" dirty="0">
                <a:latin typeface="Arial"/>
                <a:cs typeface="Arial"/>
              </a:rPr>
              <a:t>lower</a:t>
            </a:r>
            <a:r>
              <a:rPr sz="2400" spc="-25" dirty="0">
                <a:latin typeface="Arial"/>
                <a:cs typeface="Arial"/>
              </a:rPr>
              <a:t> </a:t>
            </a:r>
            <a:r>
              <a:rPr sz="2400" dirty="0">
                <a:latin typeface="Arial"/>
                <a:cs typeface="Arial"/>
              </a:rPr>
              <a:t>the</a:t>
            </a:r>
            <a:r>
              <a:rPr sz="2400" spc="-50" dirty="0">
                <a:latin typeface="Arial"/>
                <a:cs typeface="Arial"/>
              </a:rPr>
              <a:t> </a:t>
            </a:r>
            <a:r>
              <a:rPr sz="2400" dirty="0">
                <a:latin typeface="Arial"/>
                <a:cs typeface="Arial"/>
              </a:rPr>
              <a:t>cost</a:t>
            </a:r>
            <a:r>
              <a:rPr sz="2400" spc="-50" dirty="0">
                <a:latin typeface="Arial"/>
                <a:cs typeface="Arial"/>
              </a:rPr>
              <a:t> </a:t>
            </a:r>
            <a:r>
              <a:rPr sz="2400" dirty="0">
                <a:latin typeface="Arial"/>
                <a:cs typeface="Arial"/>
              </a:rPr>
              <a:t>of</a:t>
            </a:r>
            <a:r>
              <a:rPr sz="2400" spc="-45" dirty="0">
                <a:latin typeface="Arial"/>
                <a:cs typeface="Arial"/>
              </a:rPr>
              <a:t> </a:t>
            </a:r>
            <a:r>
              <a:rPr sz="2400" dirty="0">
                <a:latin typeface="Arial"/>
                <a:cs typeface="Arial"/>
              </a:rPr>
              <a:t>deposits</a:t>
            </a:r>
            <a:r>
              <a:rPr sz="2400" spc="-35" dirty="0">
                <a:latin typeface="Arial"/>
                <a:cs typeface="Arial"/>
              </a:rPr>
              <a:t> </a:t>
            </a:r>
            <a:r>
              <a:rPr sz="2400" dirty="0">
                <a:latin typeface="Arial"/>
                <a:cs typeface="Arial"/>
              </a:rPr>
              <a:t>or</a:t>
            </a:r>
            <a:r>
              <a:rPr sz="2400" spc="-50" dirty="0">
                <a:latin typeface="Arial"/>
                <a:cs typeface="Arial"/>
              </a:rPr>
              <a:t> </a:t>
            </a:r>
            <a:r>
              <a:rPr sz="2400" spc="-25" dirty="0">
                <a:latin typeface="Arial"/>
                <a:cs typeface="Arial"/>
              </a:rPr>
              <a:t>to </a:t>
            </a:r>
            <a:r>
              <a:rPr sz="2400" dirty="0">
                <a:latin typeface="Arial"/>
                <a:cs typeface="Arial"/>
              </a:rPr>
              <a:t>increase</a:t>
            </a:r>
            <a:r>
              <a:rPr sz="2400" spc="-55" dirty="0">
                <a:latin typeface="Arial"/>
                <a:cs typeface="Arial"/>
              </a:rPr>
              <a:t> </a:t>
            </a:r>
            <a:r>
              <a:rPr sz="2400" dirty="0">
                <a:latin typeface="Arial"/>
                <a:cs typeface="Arial"/>
              </a:rPr>
              <a:t>the</a:t>
            </a:r>
            <a:r>
              <a:rPr sz="2400" spc="-65" dirty="0">
                <a:latin typeface="Arial"/>
                <a:cs typeface="Arial"/>
              </a:rPr>
              <a:t> </a:t>
            </a:r>
            <a:r>
              <a:rPr sz="2400" dirty="0">
                <a:latin typeface="Arial"/>
                <a:cs typeface="Arial"/>
              </a:rPr>
              <a:t>return</a:t>
            </a:r>
            <a:r>
              <a:rPr sz="2400" spc="-65" dirty="0">
                <a:latin typeface="Arial"/>
                <a:cs typeface="Arial"/>
              </a:rPr>
              <a:t> </a:t>
            </a:r>
            <a:r>
              <a:rPr sz="2400" dirty="0">
                <a:latin typeface="Arial"/>
                <a:cs typeface="Arial"/>
              </a:rPr>
              <a:t>from</a:t>
            </a:r>
            <a:r>
              <a:rPr sz="2400" spc="-75" dirty="0">
                <a:latin typeface="Arial"/>
                <a:cs typeface="Arial"/>
              </a:rPr>
              <a:t> </a:t>
            </a:r>
            <a:r>
              <a:rPr sz="2400" spc="-10" dirty="0">
                <a:latin typeface="Arial"/>
                <a:cs typeface="Arial"/>
              </a:rPr>
              <a:t>lending.</a:t>
            </a:r>
            <a:endParaRPr sz="2400">
              <a:latin typeface="Arial"/>
              <a:cs typeface="Arial"/>
            </a:endParaRPr>
          </a:p>
          <a:p>
            <a:pPr marL="12700">
              <a:lnSpc>
                <a:spcPct val="100000"/>
              </a:lnSpc>
              <a:spcBef>
                <a:spcPts val="1205"/>
              </a:spcBef>
            </a:pPr>
            <a:r>
              <a:rPr sz="2400" dirty="0">
                <a:latin typeface="Arial"/>
                <a:cs typeface="Arial"/>
              </a:rPr>
              <a:t>Two</a:t>
            </a:r>
            <a:r>
              <a:rPr sz="2400" spc="-110" dirty="0">
                <a:latin typeface="Arial"/>
                <a:cs typeface="Arial"/>
              </a:rPr>
              <a:t> </a:t>
            </a:r>
            <a:r>
              <a:rPr sz="2400" dirty="0">
                <a:latin typeface="Arial"/>
                <a:cs typeface="Arial"/>
              </a:rPr>
              <a:t>influences</a:t>
            </a:r>
            <a:r>
              <a:rPr sz="2400" spc="-75" dirty="0">
                <a:latin typeface="Arial"/>
                <a:cs typeface="Arial"/>
              </a:rPr>
              <a:t> </a:t>
            </a:r>
            <a:r>
              <a:rPr sz="2400" dirty="0">
                <a:latin typeface="Arial"/>
                <a:cs typeface="Arial"/>
              </a:rPr>
              <a:t>on</a:t>
            </a:r>
            <a:r>
              <a:rPr sz="2400" spc="-110" dirty="0">
                <a:latin typeface="Arial"/>
                <a:cs typeface="Arial"/>
              </a:rPr>
              <a:t> </a:t>
            </a:r>
            <a:r>
              <a:rPr sz="2400" dirty="0">
                <a:latin typeface="Arial"/>
                <a:cs typeface="Arial"/>
              </a:rPr>
              <a:t>financial</a:t>
            </a:r>
            <a:r>
              <a:rPr sz="2400" spc="-85" dirty="0">
                <a:latin typeface="Arial"/>
                <a:cs typeface="Arial"/>
              </a:rPr>
              <a:t> </a:t>
            </a:r>
            <a:r>
              <a:rPr sz="2400" dirty="0">
                <a:latin typeface="Arial"/>
                <a:cs typeface="Arial"/>
              </a:rPr>
              <a:t>innovation</a:t>
            </a:r>
            <a:r>
              <a:rPr sz="2400" spc="-80" dirty="0">
                <a:latin typeface="Arial"/>
                <a:cs typeface="Arial"/>
              </a:rPr>
              <a:t> </a:t>
            </a:r>
            <a:r>
              <a:rPr sz="2400" spc="-25" dirty="0">
                <a:latin typeface="Arial"/>
                <a:cs typeface="Arial"/>
              </a:rPr>
              <a:t>are</a:t>
            </a:r>
            <a:endParaRPr sz="2400">
              <a:latin typeface="Arial"/>
              <a:cs typeface="Arial"/>
            </a:endParaRPr>
          </a:p>
          <a:p>
            <a:pPr marL="349885" indent="-337185">
              <a:lnSpc>
                <a:spcPct val="100000"/>
              </a:lnSpc>
              <a:spcBef>
                <a:spcPts val="1200"/>
              </a:spcBef>
              <a:buAutoNum type="arabicPeriod"/>
              <a:tabLst>
                <a:tab pos="349885" algn="l"/>
              </a:tabLst>
            </a:pPr>
            <a:r>
              <a:rPr sz="2400" dirty="0">
                <a:latin typeface="Arial"/>
                <a:cs typeface="Arial"/>
              </a:rPr>
              <a:t>Economic</a:t>
            </a:r>
            <a:r>
              <a:rPr sz="2400" spc="-85" dirty="0">
                <a:latin typeface="Arial"/>
                <a:cs typeface="Arial"/>
              </a:rPr>
              <a:t> </a:t>
            </a:r>
            <a:r>
              <a:rPr sz="2400" spc="-10" dirty="0">
                <a:latin typeface="Arial"/>
                <a:cs typeface="Arial"/>
              </a:rPr>
              <a:t>environment</a:t>
            </a:r>
            <a:endParaRPr sz="2400">
              <a:latin typeface="Arial"/>
              <a:cs typeface="Arial"/>
            </a:endParaRPr>
          </a:p>
          <a:p>
            <a:pPr marL="349250" indent="-336550">
              <a:lnSpc>
                <a:spcPct val="100000"/>
              </a:lnSpc>
              <a:spcBef>
                <a:spcPts val="1200"/>
              </a:spcBef>
              <a:buAutoNum type="arabicPeriod"/>
              <a:tabLst>
                <a:tab pos="349250" algn="l"/>
              </a:tabLst>
            </a:pPr>
            <a:r>
              <a:rPr sz="2400" spc="-10" dirty="0">
                <a:latin typeface="Arial"/>
                <a:cs typeface="Arial"/>
              </a:rPr>
              <a:t>Technology</a:t>
            </a:r>
            <a:endParaRPr sz="2400">
              <a:latin typeface="Arial"/>
              <a:cs typeface="Arial"/>
            </a:endParaRPr>
          </a:p>
        </p:txBody>
      </p:sp>
      <p:sp>
        <p:nvSpPr>
          <p:cNvPr id="4" name="object 4"/>
          <p:cNvSpPr txBox="1">
            <a:spLocks noGrp="1"/>
          </p:cNvSpPr>
          <p:nvPr>
            <p:ph type="ftr" sz="quarter" idx="5"/>
          </p:nvPr>
        </p:nvSpPr>
        <p:spPr>
          <a:xfrm>
            <a:off x="4026789" y="6682439"/>
            <a:ext cx="1089660" cy="111125"/>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2700">
              <a:lnSpc>
                <a:spcPct val="100000"/>
              </a:lnSpc>
              <a:spcBef>
                <a:spcPts val="40"/>
              </a:spcBef>
            </a:pPr>
            <a:r>
              <a:rPr lang="en-US"/>
              <a:t>©</a:t>
            </a:r>
            <a:r>
              <a:rPr lang="en-US" spc="-35"/>
              <a:t> </a:t>
            </a:r>
            <a:r>
              <a:rPr lang="en-US"/>
              <a:t>2019</a:t>
            </a:r>
            <a:r>
              <a:rPr lang="en-US" spc="-25"/>
              <a:t> </a:t>
            </a:r>
            <a:r>
              <a:rPr lang="en-US"/>
              <a:t>Pearson</a:t>
            </a:r>
            <a:r>
              <a:rPr lang="en-US" spc="-25"/>
              <a:t> </a:t>
            </a:r>
            <a:r>
              <a:rPr lang="en-US"/>
              <a:t>Education</a:t>
            </a:r>
            <a:r>
              <a:rPr lang="en-US" spc="-25"/>
              <a:t> </a:t>
            </a:r>
            <a:r>
              <a:rPr lang="en-US" spc="-20"/>
              <a:t>Ltd.</a:t>
            </a:r>
            <a:endParaRPr spc="-20" dirty="0"/>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480059">
              <a:lnSpc>
                <a:spcPct val="100000"/>
              </a:lnSpc>
              <a:spcBef>
                <a:spcPts val="105"/>
              </a:spcBef>
            </a:pPr>
            <a:r>
              <a:rPr dirty="0"/>
              <a:t>Depository</a:t>
            </a:r>
            <a:r>
              <a:rPr spc="-85" dirty="0"/>
              <a:t> </a:t>
            </a:r>
            <a:r>
              <a:rPr spc="-10" dirty="0"/>
              <a:t>Institutions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24.1 </a:t>
            </a:r>
            <a:br>
              <a:rPr lang="en-US" sz="3200" dirty="0"/>
            </a:br>
            <a:r>
              <a:rPr lang="en-US" sz="3200" dirty="0"/>
              <a:t>The official measure of money in the UK</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42102" y="1438757"/>
            <a:ext cx="3259795" cy="4618322"/>
          </a:xfrm>
          <a:prstGeom prst="rect">
            <a:avLst/>
          </a:prstGeom>
        </p:spPr>
      </p:pic>
      <p:sp>
        <p:nvSpPr>
          <p:cNvPr id="5" name="TextBox 4"/>
          <p:cNvSpPr txBox="1"/>
          <p:nvPr/>
        </p:nvSpPr>
        <p:spPr>
          <a:xfrm>
            <a:off x="338327" y="6093296"/>
            <a:ext cx="1675459" cy="215444"/>
          </a:xfrm>
          <a:prstGeom prst="rect">
            <a:avLst/>
          </a:prstGeom>
          <a:noFill/>
        </p:spPr>
        <p:txBody>
          <a:bodyPr wrap="none" rtlCol="0">
            <a:spAutoFit/>
          </a:bodyPr>
          <a:lstStyle/>
          <a:p>
            <a:r>
              <a:rPr lang="en-US" sz="800" dirty="0"/>
              <a:t>Source of data: Bank of England</a:t>
            </a:r>
            <a:endParaRPr lang="en-IN" sz="800" dirty="0"/>
          </a:p>
        </p:txBody>
      </p:sp>
    </p:spTree>
    <p:extLst>
      <p:ext uri="{BB962C8B-B14F-4D97-AF65-F5344CB8AC3E}">
        <p14:creationId xmlns:p14="http://schemas.microsoft.com/office/powerpoint/2010/main" val="41439666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1 </a:t>
            </a:r>
            <a:br>
              <a:rPr lang="en-US" sz="3200" dirty="0"/>
            </a:br>
            <a:r>
              <a:rPr lang="en-US" sz="3200" dirty="0"/>
              <a:t>Official Eurozone measure of money</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01961" y="1461620"/>
            <a:ext cx="3540076" cy="4572596"/>
          </a:xfrm>
          <a:prstGeom prst="rect">
            <a:avLst/>
          </a:prstGeom>
        </p:spPr>
      </p:pic>
      <p:sp>
        <p:nvSpPr>
          <p:cNvPr id="5" name="TextBox 4"/>
          <p:cNvSpPr txBox="1"/>
          <p:nvPr/>
        </p:nvSpPr>
        <p:spPr>
          <a:xfrm>
            <a:off x="338327" y="6093296"/>
            <a:ext cx="1989647" cy="215444"/>
          </a:xfrm>
          <a:prstGeom prst="rect">
            <a:avLst/>
          </a:prstGeom>
          <a:noFill/>
        </p:spPr>
        <p:txBody>
          <a:bodyPr wrap="none" rtlCol="0">
            <a:spAutoFit/>
          </a:bodyPr>
          <a:lstStyle/>
          <a:p>
            <a:r>
              <a:rPr lang="en-US" sz="800" dirty="0"/>
              <a:t>Source of data: European Central Bank</a:t>
            </a:r>
            <a:endParaRPr lang="en-IN" sz="800" dirty="0"/>
          </a:p>
        </p:txBody>
      </p:sp>
    </p:spTree>
    <p:extLst>
      <p:ext uri="{BB962C8B-B14F-4D97-AF65-F5344CB8AC3E}">
        <p14:creationId xmlns:p14="http://schemas.microsoft.com/office/powerpoint/2010/main" val="16063069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319768"/>
            <a:ext cx="8419529" cy="1480480"/>
          </a:xfrm>
        </p:spPr>
        <p:txBody>
          <a:bodyPr/>
          <a:lstStyle/>
          <a:p>
            <a:pPr algn="l"/>
            <a:r>
              <a:rPr lang="en-US" sz="3200" dirty="0"/>
              <a:t>Table 24.2 </a:t>
            </a:r>
            <a:br>
              <a:rPr lang="en-US" sz="3200" dirty="0"/>
            </a:br>
            <a:r>
              <a:rPr lang="en-US" sz="3200" dirty="0"/>
              <a:t>Monetary financial institutions: sources and uses of funds</a:t>
            </a:r>
          </a:p>
        </p:txBody>
      </p:sp>
      <p:sp>
        <p:nvSpPr>
          <p:cNvPr id="5" name="TextBox 4"/>
          <p:cNvSpPr txBox="1"/>
          <p:nvPr/>
        </p:nvSpPr>
        <p:spPr>
          <a:xfrm>
            <a:off x="338327" y="5970766"/>
            <a:ext cx="3206327" cy="338554"/>
          </a:xfrm>
          <a:prstGeom prst="rect">
            <a:avLst/>
          </a:prstGeom>
          <a:noFill/>
        </p:spPr>
        <p:txBody>
          <a:bodyPr wrap="none" rtlCol="0">
            <a:spAutoFit/>
          </a:bodyPr>
          <a:lstStyle/>
          <a:p>
            <a:r>
              <a:rPr lang="en-US" sz="800" dirty="0"/>
              <a:t>Source of data: Bank of England, </a:t>
            </a:r>
            <a:r>
              <a:rPr lang="en-US" sz="800" dirty="0" err="1"/>
              <a:t>Bankstat</a:t>
            </a:r>
            <a:r>
              <a:rPr lang="en-US" sz="800" dirty="0"/>
              <a:t> Table B1.4, June 2021</a:t>
            </a:r>
          </a:p>
          <a:p>
            <a:r>
              <a:rPr lang="en-US" sz="800" dirty="0"/>
              <a:t>*Investment securities includes other assets.</a:t>
            </a:r>
            <a:endParaRPr lang="en-IN" sz="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4159" y="1890493"/>
            <a:ext cx="3915680" cy="3932448"/>
          </a:xfrm>
          <a:prstGeom prst="rect">
            <a:avLst/>
          </a:prstGeom>
        </p:spPr>
      </p:pic>
    </p:spTree>
    <p:extLst>
      <p:ext uri="{BB962C8B-B14F-4D97-AF65-F5344CB8AC3E}">
        <p14:creationId xmlns:p14="http://schemas.microsoft.com/office/powerpoint/2010/main" val="35033676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1 </a:t>
            </a:r>
            <a:br>
              <a:rPr lang="en-US" sz="3200" dirty="0"/>
            </a:br>
            <a:r>
              <a:rPr lang="en-US" sz="3200" dirty="0"/>
              <a:t>Northern rock’s spectacular rise and fall</a:t>
            </a:r>
          </a:p>
        </p:txBody>
      </p:sp>
      <p:sp>
        <p:nvSpPr>
          <p:cNvPr id="5" name="TextBox 4"/>
          <p:cNvSpPr txBox="1"/>
          <p:nvPr/>
        </p:nvSpPr>
        <p:spPr>
          <a:xfrm>
            <a:off x="338327" y="6093296"/>
            <a:ext cx="2167581" cy="215444"/>
          </a:xfrm>
          <a:prstGeom prst="rect">
            <a:avLst/>
          </a:prstGeom>
          <a:noFill/>
        </p:spPr>
        <p:txBody>
          <a:bodyPr wrap="none" rtlCol="0">
            <a:spAutoFit/>
          </a:bodyPr>
          <a:lstStyle/>
          <a:p>
            <a:r>
              <a:rPr lang="en-US" sz="800" dirty="0"/>
              <a:t>Source of data: Bureau van </a:t>
            </a:r>
            <a:r>
              <a:rPr lang="en-US" sz="800" dirty="0" err="1"/>
              <a:t>dijk</a:t>
            </a:r>
            <a:r>
              <a:rPr lang="en-US" sz="800" dirty="0"/>
              <a:t> </a:t>
            </a:r>
            <a:r>
              <a:rPr lang="en-US" sz="800" dirty="0" err="1"/>
              <a:t>Bankscope</a:t>
            </a:r>
            <a:endParaRPr lang="en-IN" sz="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6489" y="1449494"/>
            <a:ext cx="5091021" cy="4546347"/>
          </a:xfrm>
          <a:prstGeom prst="rect">
            <a:avLst/>
          </a:prstGeom>
        </p:spPr>
      </p:pic>
    </p:spTree>
    <p:extLst>
      <p:ext uri="{BB962C8B-B14F-4D97-AF65-F5344CB8AC3E}">
        <p14:creationId xmlns:p14="http://schemas.microsoft.com/office/powerpoint/2010/main" val="14500831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79618" name="Rectangle 2">
            <a:extLst>
              <a:ext uri="{FF2B5EF4-FFF2-40B4-BE49-F238E27FC236}">
                <a16:creationId xmlns:a16="http://schemas.microsoft.com/office/drawing/2014/main" id="{EA171AC3-AE53-D5A1-3A57-8BD863B903C7}"/>
              </a:ext>
            </a:extLst>
          </p:cNvPr>
          <p:cNvSpPr>
            <a:spLocks noGrp="1" noChangeArrowheads="1"/>
          </p:cNvSpPr>
          <p:nvPr>
            <p:ph type="title"/>
          </p:nvPr>
        </p:nvSpPr>
        <p:spPr>
          <a:xfrm>
            <a:off x="457200" y="144351"/>
            <a:ext cx="8229600" cy="778098"/>
          </a:xfrm>
        </p:spPr>
        <p:txBody>
          <a:bodyPr/>
          <a:lstStyle/>
          <a:p>
            <a:pPr eaLnBrk="1" hangingPunct="1">
              <a:defRPr/>
            </a:pPr>
            <a:r>
              <a:rPr lang="en-CA" dirty="0">
                <a:cs typeface="+mj-cs"/>
              </a:rPr>
              <a:t>REGULATING THE QUANTITY OF MONEY</a:t>
            </a:r>
          </a:p>
        </p:txBody>
      </p:sp>
      <p:sp>
        <p:nvSpPr>
          <p:cNvPr id="879619" name="Rectangle 3">
            <a:extLst>
              <a:ext uri="{FF2B5EF4-FFF2-40B4-BE49-F238E27FC236}">
                <a16:creationId xmlns:a16="http://schemas.microsoft.com/office/drawing/2014/main" id="{204697B7-2E3F-1052-4DB0-2C86C2127762}"/>
              </a:ext>
            </a:extLst>
          </p:cNvPr>
          <p:cNvSpPr>
            <a:spLocks noGrp="1" noChangeArrowheads="1"/>
          </p:cNvSpPr>
          <p:nvPr>
            <p:ph type="body" idx="1"/>
          </p:nvPr>
        </p:nvSpPr>
        <p:spPr>
          <a:xfrm>
            <a:off x="179512" y="1052736"/>
            <a:ext cx="8712968" cy="5400600"/>
          </a:xfrm>
        </p:spPr>
        <p:txBody>
          <a:bodyPr/>
          <a:lstStyle/>
          <a:p>
            <a:pPr marL="457200" lvl="1" indent="0" eaLnBrk="1" hangingPunct="1">
              <a:lnSpc>
                <a:spcPct val="95000"/>
              </a:lnSpc>
              <a:buNone/>
              <a:tabLst>
                <a:tab pos="796925" algn="l"/>
              </a:tabLst>
            </a:pPr>
            <a:r>
              <a:rPr lang="en-CA" altLang="en-TW" b="1" dirty="0">
                <a:solidFill>
                  <a:srgbClr val="00468F"/>
                </a:solidFill>
              </a:rPr>
              <a:t>The Monetary Base</a:t>
            </a:r>
          </a:p>
          <a:p>
            <a:pPr marL="457200" lvl="1" indent="0" eaLnBrk="1" hangingPunct="1">
              <a:lnSpc>
                <a:spcPct val="95000"/>
              </a:lnSpc>
              <a:buNone/>
              <a:tabLst>
                <a:tab pos="796925" algn="l"/>
              </a:tabLst>
            </a:pPr>
            <a:r>
              <a:rPr lang="en-CA" altLang="en-TW" dirty="0"/>
              <a:t>The monetary base is the sum of Federal Reserve notes, coins, and banks</a:t>
            </a:r>
            <a:r>
              <a:rPr lang="ja-JP" altLang="en-CA"/>
              <a:t>’</a:t>
            </a:r>
            <a:r>
              <a:rPr lang="en-CA" altLang="ja-JP" dirty="0"/>
              <a:t> deposits at the Fed.</a:t>
            </a:r>
          </a:p>
          <a:p>
            <a:pPr marL="457200" lvl="1" indent="0" eaLnBrk="1" hangingPunct="1">
              <a:lnSpc>
                <a:spcPct val="95000"/>
              </a:lnSpc>
              <a:buNone/>
              <a:tabLst>
                <a:tab pos="796925" algn="l"/>
              </a:tabLst>
            </a:pPr>
            <a:r>
              <a:rPr lang="en-CA" altLang="en-TW" dirty="0"/>
              <a:t>The size of the monetary base limits the total quantity of money that the banking system can create because</a:t>
            </a:r>
          </a:p>
          <a:p>
            <a:pPr marL="457200" lvl="1" indent="0" eaLnBrk="1" hangingPunct="1">
              <a:lnSpc>
                <a:spcPct val="95000"/>
              </a:lnSpc>
              <a:buNone/>
              <a:tabLst>
                <a:tab pos="796925" algn="l"/>
              </a:tabLst>
            </a:pPr>
            <a:r>
              <a:rPr lang="en-CA" altLang="en-TW" dirty="0"/>
              <a:t>1. Banks have desired reserves.</a:t>
            </a:r>
          </a:p>
          <a:p>
            <a:pPr marL="457200" lvl="1" indent="0" eaLnBrk="1" hangingPunct="1">
              <a:lnSpc>
                <a:spcPct val="95000"/>
              </a:lnSpc>
              <a:buNone/>
              <a:tabLst>
                <a:tab pos="796925" algn="l"/>
              </a:tabLst>
            </a:pPr>
            <a:r>
              <a:rPr lang="en-CA" altLang="en-TW" dirty="0"/>
              <a:t>2. Households and firms have desired currency 	holdings.</a:t>
            </a:r>
          </a:p>
          <a:p>
            <a:pPr marL="457200" lvl="1" indent="0" eaLnBrk="1" hangingPunct="1">
              <a:lnSpc>
                <a:spcPct val="95000"/>
              </a:lnSpc>
              <a:buNone/>
              <a:tabLst>
                <a:tab pos="796925" algn="l"/>
              </a:tabLst>
            </a:pPr>
            <a:r>
              <a:rPr lang="en-CA" altLang="en-TW" dirty="0"/>
              <a:t>And both of these desired holdings of monetary base depend on the quantity of money.</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9619">
                                            <p:txEl>
                                              <p:pRg st="1" end="1"/>
                                            </p:txEl>
                                          </p:spTgt>
                                        </p:tgtEl>
                                        <p:attrNameLst>
                                          <p:attrName>style.visibility</p:attrName>
                                        </p:attrNameLst>
                                      </p:cBhvr>
                                      <p:to>
                                        <p:strVal val="visible"/>
                                      </p:to>
                                    </p:set>
                                    <p:animEffect transition="in" filter="wipe(left)">
                                      <p:cBhvr>
                                        <p:cTn id="7" dur="1000"/>
                                        <p:tgtEl>
                                          <p:spTgt spid="8796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9619">
                                            <p:txEl>
                                              <p:pRg st="2" end="2"/>
                                            </p:txEl>
                                          </p:spTgt>
                                        </p:tgtEl>
                                        <p:attrNameLst>
                                          <p:attrName>style.visibility</p:attrName>
                                        </p:attrNameLst>
                                      </p:cBhvr>
                                      <p:to>
                                        <p:strVal val="visible"/>
                                      </p:to>
                                    </p:set>
                                    <p:animEffect transition="in" filter="wipe(left)">
                                      <p:cBhvr>
                                        <p:cTn id="12" dur="1000"/>
                                        <p:tgtEl>
                                          <p:spTgt spid="87961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9619">
                                            <p:txEl>
                                              <p:pRg st="3" end="3"/>
                                            </p:txEl>
                                          </p:spTgt>
                                        </p:tgtEl>
                                        <p:attrNameLst>
                                          <p:attrName>style.visibility</p:attrName>
                                        </p:attrNameLst>
                                      </p:cBhvr>
                                      <p:to>
                                        <p:strVal val="visible"/>
                                      </p:to>
                                    </p:set>
                                    <p:animEffect transition="in" filter="wipe(left)">
                                      <p:cBhvr>
                                        <p:cTn id="17" dur="1000"/>
                                        <p:tgtEl>
                                          <p:spTgt spid="87961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79619">
                                            <p:txEl>
                                              <p:pRg st="4" end="4"/>
                                            </p:txEl>
                                          </p:spTgt>
                                        </p:tgtEl>
                                        <p:attrNameLst>
                                          <p:attrName>style.visibility</p:attrName>
                                        </p:attrNameLst>
                                      </p:cBhvr>
                                      <p:to>
                                        <p:strVal val="visible"/>
                                      </p:to>
                                    </p:set>
                                    <p:animEffect transition="in" filter="wipe(left)">
                                      <p:cBhvr>
                                        <p:cTn id="22" dur="1000"/>
                                        <p:tgtEl>
                                          <p:spTgt spid="87961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79619">
                                            <p:txEl>
                                              <p:pRg st="5" end="5"/>
                                            </p:txEl>
                                          </p:spTgt>
                                        </p:tgtEl>
                                        <p:attrNameLst>
                                          <p:attrName>style.visibility</p:attrName>
                                        </p:attrNameLst>
                                      </p:cBhvr>
                                      <p:to>
                                        <p:strVal val="visible"/>
                                      </p:to>
                                    </p:set>
                                    <p:animEffect transition="in" filter="wipe(left)">
                                      <p:cBhvr>
                                        <p:cTn id="27" dur="1000"/>
                                        <p:tgtEl>
                                          <p:spTgt spid="8796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19" grpId="0" build="p" bldLvl="3"/>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Table 24.3 </a:t>
            </a:r>
            <a:br>
              <a:rPr lang="en-US" sz="3200" dirty="0"/>
            </a:br>
            <a:r>
              <a:rPr lang="en-US" sz="3200" dirty="0"/>
              <a:t>Sources and uses of the monetary base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649" y="1253659"/>
            <a:ext cx="8139545" cy="3212523"/>
          </a:xfrm>
          <a:prstGeom prst="rect">
            <a:avLst/>
          </a:prstGeom>
        </p:spPr>
      </p:pic>
      <p:sp>
        <p:nvSpPr>
          <p:cNvPr id="6" name="TextBox 5">
            <a:extLst>
              <a:ext uri="{FF2B5EF4-FFF2-40B4-BE49-F238E27FC236}">
                <a16:creationId xmlns:a16="http://schemas.microsoft.com/office/drawing/2014/main" id="{B3593162-6A92-9579-3C17-92B234FD92A2}"/>
              </a:ext>
            </a:extLst>
          </p:cNvPr>
          <p:cNvSpPr txBox="1"/>
          <p:nvPr/>
        </p:nvSpPr>
        <p:spPr>
          <a:xfrm>
            <a:off x="146459" y="4517889"/>
            <a:ext cx="8784976" cy="2172903"/>
          </a:xfrm>
          <a:prstGeom prst="rect">
            <a:avLst/>
          </a:prstGeom>
          <a:noFill/>
        </p:spPr>
        <p:txBody>
          <a:bodyPr wrap="square">
            <a:spAutoFit/>
          </a:bodyPr>
          <a:lstStyle/>
          <a:p>
            <a:pPr lvl="1" eaLnBrk="1" hangingPunct="1">
              <a:lnSpc>
                <a:spcPct val="100000"/>
              </a:lnSpc>
              <a:spcBef>
                <a:spcPct val="20000"/>
              </a:spcBef>
              <a:spcAft>
                <a:spcPct val="50000"/>
              </a:spcAft>
            </a:pPr>
            <a:r>
              <a:rPr lang="en-US" altLang="en-TW" noProof="1"/>
              <a:t>The </a:t>
            </a:r>
            <a:r>
              <a:rPr lang="en-US" altLang="en-TW" sz="2000" b="1" dirty="0">
                <a:solidFill>
                  <a:srgbClr val="FF0000"/>
                </a:solidFill>
              </a:rPr>
              <a:t>monetary base</a:t>
            </a:r>
            <a:r>
              <a:rPr lang="en-US" altLang="en-TW" dirty="0"/>
              <a:t> is the </a:t>
            </a:r>
            <a:r>
              <a:rPr lang="en-US" altLang="en-TW" noProof="1"/>
              <a:t>sum of coins, Federal Reserve </a:t>
            </a:r>
            <a:r>
              <a:rPr lang="en-US" altLang="en-TW" dirty="0"/>
              <a:t>note</a:t>
            </a:r>
            <a:r>
              <a:rPr lang="en-US" altLang="en-TW" noProof="1"/>
              <a:t>s, and banks</a:t>
            </a:r>
            <a:r>
              <a:rPr lang="en-US" altLang="en-US" noProof="1"/>
              <a:t>’</a:t>
            </a:r>
            <a:r>
              <a:rPr lang="en-US" altLang="en-TW" noProof="1"/>
              <a:t> </a:t>
            </a:r>
            <a:r>
              <a:rPr lang="en-US" altLang="en-TW" dirty="0"/>
              <a:t>reserve</a:t>
            </a:r>
            <a:r>
              <a:rPr lang="en-US" altLang="en-TW" noProof="1"/>
              <a:t>s at the Central bank (Bank of England). </a:t>
            </a:r>
          </a:p>
          <a:p>
            <a:pPr lvl="1" eaLnBrk="1" hangingPunct="1">
              <a:lnSpc>
                <a:spcPct val="100000"/>
              </a:lnSpc>
              <a:spcBef>
                <a:spcPct val="20000"/>
              </a:spcBef>
              <a:spcAft>
                <a:spcPct val="50000"/>
              </a:spcAft>
            </a:pPr>
            <a:r>
              <a:rPr lang="en-US" altLang="en-TW" noProof="1"/>
              <a:t>The monetary base is so called because it acts like a base that supports the nation</a:t>
            </a:r>
            <a:r>
              <a:rPr lang="en-US" altLang="en-US" noProof="1"/>
              <a:t>’</a:t>
            </a:r>
            <a:r>
              <a:rPr lang="en-US" altLang="en-TW" noProof="1"/>
              <a:t>s money. </a:t>
            </a:r>
          </a:p>
          <a:p>
            <a:pPr lvl="1" eaLnBrk="1" hangingPunct="1">
              <a:lnSpc>
                <a:spcPct val="100000"/>
              </a:lnSpc>
              <a:spcBef>
                <a:spcPct val="20000"/>
              </a:spcBef>
              <a:spcAft>
                <a:spcPct val="50000"/>
              </a:spcAft>
            </a:pPr>
            <a:r>
              <a:rPr lang="en-US" altLang="en-TW" noProof="1"/>
              <a:t>The larger the monetary base, the greater is the quantity of money that it can support.</a:t>
            </a:r>
            <a:endParaRPr lang="en-US" altLang="en-TW" dirty="0"/>
          </a:p>
        </p:txBody>
      </p:sp>
    </p:spTree>
    <p:extLst>
      <p:ext uri="{BB962C8B-B14F-4D97-AF65-F5344CB8AC3E}">
        <p14:creationId xmlns:p14="http://schemas.microsoft.com/office/powerpoint/2010/main" val="18033974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BE8B3DD-AA54-3172-D066-6757F91C2044}"/>
              </a:ext>
            </a:extLst>
          </p:cNvPr>
          <p:cNvSpPr>
            <a:spLocks noGrp="1" noChangeArrowheads="1"/>
          </p:cNvSpPr>
          <p:nvPr>
            <p:ph type="body" idx="1"/>
          </p:nvPr>
        </p:nvSpPr>
        <p:spPr>
          <a:xfrm>
            <a:off x="457200" y="1600200"/>
            <a:ext cx="8229600" cy="4525963"/>
          </a:xfrm>
        </p:spPr>
        <p:txBody>
          <a:bodyPr/>
          <a:lstStyle/>
          <a:p>
            <a:pPr lvl="1" indent="0" eaLnBrk="1" hangingPunct="1"/>
            <a:r>
              <a:rPr lang="en-US" altLang="en-US" b="1">
                <a:solidFill>
                  <a:srgbClr val="FFC000"/>
                </a:solidFill>
              </a:rPr>
              <a:t>The Fed’s Policy Tools</a:t>
            </a:r>
          </a:p>
          <a:p>
            <a:pPr lvl="1" indent="0" eaLnBrk="1" hangingPunct="1"/>
            <a:r>
              <a:rPr lang="en-US" altLang="en-US"/>
              <a:t>To achieve its objectives, the Fed uses three main policy tools:</a:t>
            </a:r>
          </a:p>
          <a:p>
            <a:pPr lvl="1" indent="0" eaLnBrk="1" hangingPunct="1">
              <a:buClr>
                <a:srgbClr val="C40075"/>
              </a:buClr>
              <a:buSzPct val="120000"/>
              <a:buFont typeface="Wingdings" pitchFamily="2" charset="2"/>
              <a:buChar char="§"/>
            </a:pPr>
            <a:r>
              <a:rPr lang="en-US" altLang="en-US"/>
              <a:t> Open market operations</a:t>
            </a:r>
          </a:p>
          <a:p>
            <a:pPr lvl="1" indent="0" eaLnBrk="1" hangingPunct="1">
              <a:buClr>
                <a:srgbClr val="C40075"/>
              </a:buClr>
              <a:buSzPct val="120000"/>
              <a:buFont typeface="Wingdings" pitchFamily="2" charset="2"/>
              <a:buChar char="§"/>
            </a:pPr>
            <a:r>
              <a:rPr lang="en-US" altLang="en-US"/>
              <a:t> Last resort loans</a:t>
            </a:r>
          </a:p>
          <a:p>
            <a:pPr lvl="1" indent="0" eaLnBrk="1" hangingPunct="1">
              <a:buClr>
                <a:srgbClr val="C40075"/>
              </a:buClr>
              <a:buSzPct val="120000"/>
              <a:buFont typeface="Wingdings" pitchFamily="2" charset="2"/>
              <a:buChar char="§"/>
            </a:pPr>
            <a:r>
              <a:rPr lang="en-US" altLang="en-US"/>
              <a:t> Required reserve ratios</a:t>
            </a:r>
          </a:p>
        </p:txBody>
      </p:sp>
      <p:sp>
        <p:nvSpPr>
          <p:cNvPr id="65539" name="Rectangle 3">
            <a:extLst>
              <a:ext uri="{FF2B5EF4-FFF2-40B4-BE49-F238E27FC236}">
                <a16:creationId xmlns:a16="http://schemas.microsoft.com/office/drawing/2014/main" id="{38B39250-5C6D-5C8C-7B89-91B7BA22B64A}"/>
              </a:ext>
            </a:extLst>
          </p:cNvPr>
          <p:cNvSpPr>
            <a:spLocks noGrp="1" noChangeArrowheads="1"/>
          </p:cNvSpPr>
          <p:nvPr>
            <p:ph type="title"/>
          </p:nvPr>
        </p:nvSpPr>
        <p:spPr>
          <a:xfrm>
            <a:off x="990600" y="274638"/>
            <a:ext cx="7680325" cy="1143000"/>
          </a:xfrm>
          <a:noFill/>
        </p:spPr>
        <p:txBody>
          <a:bodyPr/>
          <a:lstStyle/>
          <a:p>
            <a:pPr eaLnBrk="1" hangingPunct="1"/>
            <a:r>
              <a:rPr lang="en-CA" altLang="en-US"/>
              <a:t>The Federal Reserve System</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7586" name="Rectangle 3">
            <a:extLst>
              <a:ext uri="{FF2B5EF4-FFF2-40B4-BE49-F238E27FC236}">
                <a16:creationId xmlns:a16="http://schemas.microsoft.com/office/drawing/2014/main" id="{504E6B20-88C4-02FC-F7BE-6621B0CD5268}"/>
              </a:ext>
            </a:extLst>
          </p:cNvPr>
          <p:cNvSpPr>
            <a:spLocks noGrp="1" noChangeArrowheads="1"/>
          </p:cNvSpPr>
          <p:nvPr>
            <p:ph type="body" idx="1"/>
          </p:nvPr>
        </p:nvSpPr>
        <p:spPr>
          <a:xfrm>
            <a:off x="457200" y="1600200"/>
            <a:ext cx="8229600" cy="4876800"/>
          </a:xfrm>
        </p:spPr>
        <p:txBody>
          <a:bodyPr/>
          <a:lstStyle/>
          <a:p>
            <a:pPr marL="0" indent="0" eaLnBrk="1" hangingPunct="1"/>
            <a:r>
              <a:rPr lang="en-AU" altLang="en-US">
                <a:solidFill>
                  <a:srgbClr val="C40075"/>
                </a:solidFill>
              </a:rPr>
              <a:t>Open Market Operations</a:t>
            </a:r>
          </a:p>
          <a:p>
            <a:pPr lvl="1" indent="0" eaLnBrk="1" hangingPunct="1"/>
            <a:r>
              <a:rPr lang="en-AU" altLang="en-US"/>
              <a:t>An </a:t>
            </a:r>
            <a:r>
              <a:rPr lang="en-AU" altLang="en-US" b="1"/>
              <a:t>open market operation</a:t>
            </a:r>
            <a:r>
              <a:rPr lang="en-AU" altLang="en-US"/>
              <a:t> is the purchase or sale of government securities by the Fed from or to a commercial bank or the public.</a:t>
            </a:r>
          </a:p>
          <a:p>
            <a:pPr lvl="1" indent="0" eaLnBrk="1" hangingPunct="1"/>
            <a:r>
              <a:rPr lang="en-AU" altLang="en-US"/>
              <a:t>When the Fed </a:t>
            </a:r>
            <a:r>
              <a:rPr lang="en-AU" altLang="en-US" i="1"/>
              <a:t>buys</a:t>
            </a:r>
            <a:r>
              <a:rPr lang="en-AU" altLang="en-US"/>
              <a:t> securities, it pays for them with newly created reserves held by the banks.</a:t>
            </a:r>
          </a:p>
          <a:p>
            <a:pPr lvl="1" indent="0" eaLnBrk="1" hangingPunct="1"/>
            <a:r>
              <a:rPr lang="en-AU" altLang="en-US"/>
              <a:t>When the Fed </a:t>
            </a:r>
            <a:r>
              <a:rPr lang="en-AU" altLang="en-US" i="1"/>
              <a:t>sells</a:t>
            </a:r>
            <a:r>
              <a:rPr lang="en-AU" altLang="en-US"/>
              <a:t> securities, they are paid for with reserves held by banks.</a:t>
            </a:r>
          </a:p>
          <a:p>
            <a:pPr lvl="1" indent="0" eaLnBrk="1" hangingPunct="1"/>
            <a:r>
              <a:rPr lang="en-AU" altLang="en-US"/>
              <a:t>So open market operations influence banks’ reserves.</a:t>
            </a:r>
          </a:p>
        </p:txBody>
      </p:sp>
      <p:sp>
        <p:nvSpPr>
          <p:cNvPr id="67587" name="Rectangle 5">
            <a:extLst>
              <a:ext uri="{FF2B5EF4-FFF2-40B4-BE49-F238E27FC236}">
                <a16:creationId xmlns:a16="http://schemas.microsoft.com/office/drawing/2014/main" id="{A29065A5-0660-4B7C-B2F2-D0F03088151F}"/>
              </a:ext>
            </a:extLst>
          </p:cNvPr>
          <p:cNvSpPr>
            <a:spLocks noGrp="1" noChangeArrowheads="1"/>
          </p:cNvSpPr>
          <p:nvPr>
            <p:ph type="title"/>
          </p:nvPr>
        </p:nvSpPr>
        <p:spPr>
          <a:xfrm>
            <a:off x="1066800" y="274638"/>
            <a:ext cx="7604125" cy="1143000"/>
          </a:xfrm>
          <a:noFill/>
        </p:spPr>
        <p:txBody>
          <a:bodyPr/>
          <a:lstStyle/>
          <a:p>
            <a:pPr eaLnBrk="1" hangingPunct="1"/>
            <a:r>
              <a:rPr lang="en-AU" altLang="en-US"/>
              <a:t>The Conduct of Monetary Policy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5042" name="Rectangle 2">
            <a:extLst>
              <a:ext uri="{FF2B5EF4-FFF2-40B4-BE49-F238E27FC236}">
                <a16:creationId xmlns:a16="http://schemas.microsoft.com/office/drawing/2014/main" id="{AC1ACDD1-A90C-61D5-30A4-A526DE388415}"/>
              </a:ext>
            </a:extLst>
          </p:cNvPr>
          <p:cNvSpPr>
            <a:spLocks noGrp="1" noChangeArrowheads="1"/>
          </p:cNvSpPr>
          <p:nvPr>
            <p:ph type="title"/>
          </p:nvPr>
        </p:nvSpPr>
        <p:spPr/>
        <p:txBody>
          <a:bodyPr/>
          <a:lstStyle/>
          <a:p>
            <a:pPr eaLnBrk="1" hangingPunct="1">
              <a:defRPr/>
            </a:pPr>
            <a:r>
              <a:rPr lang="en-US" dirty="0">
                <a:cs typeface="+mj-cs"/>
              </a:rPr>
              <a:t>REGULATING THE QUANTITY OF MONEY</a:t>
            </a:r>
            <a:endParaRPr lang="en-CA" dirty="0">
              <a:cs typeface="+mj-cs"/>
            </a:endParaRPr>
          </a:p>
        </p:txBody>
      </p:sp>
      <p:sp>
        <p:nvSpPr>
          <p:cNvPr id="855043" name="Rectangle 3">
            <a:extLst>
              <a:ext uri="{FF2B5EF4-FFF2-40B4-BE49-F238E27FC236}">
                <a16:creationId xmlns:a16="http://schemas.microsoft.com/office/drawing/2014/main" id="{DA10E943-FB61-030F-C978-2A055C64B0AC}"/>
              </a:ext>
            </a:extLst>
          </p:cNvPr>
          <p:cNvSpPr>
            <a:spLocks noGrp="1" noChangeArrowheads="1"/>
          </p:cNvSpPr>
          <p:nvPr>
            <p:ph type="body" idx="1"/>
          </p:nvPr>
        </p:nvSpPr>
        <p:spPr/>
        <p:txBody>
          <a:bodyPr/>
          <a:lstStyle/>
          <a:p>
            <a:pPr lvl="1" eaLnBrk="1" hangingPunct="1">
              <a:defRPr/>
            </a:pPr>
            <a:r>
              <a:rPr b="1" noProof="1">
                <a:solidFill>
                  <a:srgbClr val="00468F"/>
                </a:solidFill>
              </a:rPr>
              <a:t>The Fed Buys Securities</a:t>
            </a:r>
          </a:p>
          <a:p>
            <a:pPr lvl="1" eaLnBrk="1" hangingPunct="1">
              <a:defRPr/>
            </a:pPr>
            <a:r>
              <a:rPr lang="en-US"/>
              <a:t>Suppose the Fed buys $100 million of U.S. government securities in the open market.</a:t>
            </a:r>
          </a:p>
          <a:p>
            <a:pPr lvl="1" eaLnBrk="1" hangingPunct="1">
              <a:defRPr/>
            </a:pPr>
            <a:r>
              <a:rPr lang="en-US"/>
              <a:t>The seller might be</a:t>
            </a:r>
          </a:p>
          <a:p>
            <a:pPr lvl="2" eaLnBrk="1" hangingPunct="1">
              <a:defRPr/>
            </a:pPr>
            <a:r>
              <a:rPr lang="en-US"/>
              <a:t>A commercial bank</a:t>
            </a:r>
          </a:p>
          <a:p>
            <a:pPr lvl="2" eaLnBrk="1" hangingPunct="1">
              <a:defRPr/>
            </a:pPr>
            <a:r>
              <a:rPr lang="en-US"/>
              <a:t>The nonbank public</a:t>
            </a:r>
            <a:endParaRPr lang="en-CA"/>
          </a:p>
        </p:txBody>
      </p:sp>
    </p:spTree>
    <p:extLst>
      <p:ext uri="{BB962C8B-B14F-4D97-AF65-F5344CB8AC3E}">
        <p14:creationId xmlns:p14="http://schemas.microsoft.com/office/powerpoint/2010/main" val="158683290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5043">
                                            <p:txEl>
                                              <p:pRg st="1" end="1"/>
                                            </p:txEl>
                                          </p:spTgt>
                                        </p:tgtEl>
                                        <p:attrNameLst>
                                          <p:attrName>style.visibility</p:attrName>
                                        </p:attrNameLst>
                                      </p:cBhvr>
                                      <p:to>
                                        <p:strVal val="visible"/>
                                      </p:to>
                                    </p:set>
                                    <p:animEffect transition="in" filter="wipe(left)">
                                      <p:cBhvr>
                                        <p:cTn id="7" dur="500"/>
                                        <p:tgtEl>
                                          <p:spTgt spid="8550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5043">
                                            <p:txEl>
                                              <p:pRg st="2" end="2"/>
                                            </p:txEl>
                                          </p:spTgt>
                                        </p:tgtEl>
                                        <p:attrNameLst>
                                          <p:attrName>style.visibility</p:attrName>
                                        </p:attrNameLst>
                                      </p:cBhvr>
                                      <p:to>
                                        <p:strVal val="visible"/>
                                      </p:to>
                                    </p:set>
                                    <p:animEffect transition="in" filter="wipe(left)">
                                      <p:cBhvr>
                                        <p:cTn id="12" dur="500"/>
                                        <p:tgtEl>
                                          <p:spTgt spid="8550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55043">
                                            <p:txEl>
                                              <p:pRg st="3" end="3"/>
                                            </p:txEl>
                                          </p:spTgt>
                                        </p:tgtEl>
                                        <p:attrNameLst>
                                          <p:attrName>style.visibility</p:attrName>
                                        </p:attrNameLst>
                                      </p:cBhvr>
                                      <p:to>
                                        <p:strVal val="visible"/>
                                      </p:to>
                                    </p:set>
                                    <p:animEffect transition="in" filter="wipe(left)">
                                      <p:cBhvr>
                                        <p:cTn id="17" dur="500"/>
                                        <p:tgtEl>
                                          <p:spTgt spid="85504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55043">
                                            <p:txEl>
                                              <p:pRg st="4" end="4"/>
                                            </p:txEl>
                                          </p:spTgt>
                                        </p:tgtEl>
                                        <p:attrNameLst>
                                          <p:attrName>style.visibility</p:attrName>
                                        </p:attrNameLst>
                                      </p:cBhvr>
                                      <p:to>
                                        <p:strVal val="visible"/>
                                      </p:to>
                                    </p:set>
                                    <p:animEffect transition="in" filter="wipe(left)">
                                      <p:cBhvr>
                                        <p:cTn id="22" dur="500"/>
                                        <p:tgtEl>
                                          <p:spTgt spid="8550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5043" grpId="0" build="p" bldLvl="3"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9634" name="Rectangle 11">
            <a:extLst>
              <a:ext uri="{FF2B5EF4-FFF2-40B4-BE49-F238E27FC236}">
                <a16:creationId xmlns:a16="http://schemas.microsoft.com/office/drawing/2014/main" id="{7416D9F8-A38C-1B44-D294-30603DE58CC4}"/>
              </a:ext>
            </a:extLst>
          </p:cNvPr>
          <p:cNvSpPr>
            <a:spLocks noGrp="1" noChangeArrowheads="1"/>
          </p:cNvSpPr>
          <p:nvPr>
            <p:ph type="title"/>
          </p:nvPr>
        </p:nvSpPr>
        <p:spPr>
          <a:xfrm>
            <a:off x="1066800" y="274638"/>
            <a:ext cx="7604125" cy="1143000"/>
          </a:xfrm>
          <a:noFill/>
        </p:spPr>
        <p:txBody>
          <a:bodyPr/>
          <a:lstStyle/>
          <a:p>
            <a:pPr eaLnBrk="1" hangingPunct="1"/>
            <a:r>
              <a:rPr lang="en-AU" altLang="en-US"/>
              <a:t>The Conduct of Monetary Policy</a:t>
            </a:r>
          </a:p>
        </p:txBody>
      </p:sp>
      <p:sp>
        <p:nvSpPr>
          <p:cNvPr id="69635" name="Rectangle 3">
            <a:extLst>
              <a:ext uri="{FF2B5EF4-FFF2-40B4-BE49-F238E27FC236}">
                <a16:creationId xmlns:a16="http://schemas.microsoft.com/office/drawing/2014/main" id="{8629E456-6577-D336-BDC8-738E81E5D19B}"/>
              </a:ext>
            </a:extLst>
          </p:cNvPr>
          <p:cNvSpPr>
            <a:spLocks noGrp="1" noChangeArrowheads="1"/>
          </p:cNvSpPr>
          <p:nvPr>
            <p:ph idx="1"/>
          </p:nvPr>
        </p:nvSpPr>
        <p:spPr>
          <a:xfrm>
            <a:off x="301625" y="1397878"/>
            <a:ext cx="4114800" cy="4484688"/>
          </a:xfrm>
        </p:spPr>
        <p:txBody>
          <a:bodyPr/>
          <a:lstStyle/>
          <a:p>
            <a:pPr lvl="1" indent="0" eaLnBrk="1" hangingPunct="1"/>
            <a:r>
              <a:rPr lang="en-AU" altLang="en-US" b="1" i="1" dirty="0"/>
              <a:t>An Open Market Purchase</a:t>
            </a:r>
          </a:p>
          <a:p>
            <a:pPr lvl="1" indent="0" eaLnBrk="1" hangingPunct="1"/>
            <a:r>
              <a:rPr lang="en-AU" altLang="en-US" dirty="0"/>
              <a:t>Figure 8.2 shows the effects of an open market </a:t>
            </a:r>
            <a:r>
              <a:rPr lang="en-AU" altLang="en-US" i="1" dirty="0"/>
              <a:t>purchase</a:t>
            </a:r>
            <a:r>
              <a:rPr lang="en-AU" altLang="en-US" dirty="0"/>
              <a:t> on the balance sheets of the Fed and the Bank of America.</a:t>
            </a:r>
          </a:p>
          <a:p>
            <a:pPr lvl="1" indent="0" eaLnBrk="1" hangingPunct="1"/>
            <a:r>
              <a:rPr lang="en-AU" altLang="en-US" dirty="0"/>
              <a:t>The open market purchase </a:t>
            </a:r>
            <a:r>
              <a:rPr lang="en-AU" altLang="en-US" i="1" dirty="0"/>
              <a:t>increases</a:t>
            </a:r>
            <a:r>
              <a:rPr lang="en-AU" altLang="en-US" dirty="0"/>
              <a:t> bank reserves.</a:t>
            </a:r>
          </a:p>
        </p:txBody>
      </p:sp>
      <p:pic>
        <p:nvPicPr>
          <p:cNvPr id="69636" name="Picture 7" descr="fig15">
            <a:extLst>
              <a:ext uri="{FF2B5EF4-FFF2-40B4-BE49-F238E27FC236}">
                <a16:creationId xmlns:a16="http://schemas.microsoft.com/office/drawing/2014/main" id="{BF482F26-E24A-3A70-E6C0-3DC790B39C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2286000"/>
            <a:ext cx="4198937" cy="312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8" descr="fig15">
            <a:extLst>
              <a:ext uri="{FF2B5EF4-FFF2-40B4-BE49-F238E27FC236}">
                <a16:creationId xmlns:a16="http://schemas.microsoft.com/office/drawing/2014/main" id="{163F29EF-7FB4-7D43-19CD-B9212C6326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2286000"/>
            <a:ext cx="4198937" cy="312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8" name="Picture 9" descr="fig15">
            <a:extLst>
              <a:ext uri="{FF2B5EF4-FFF2-40B4-BE49-F238E27FC236}">
                <a16:creationId xmlns:a16="http://schemas.microsoft.com/office/drawing/2014/main" id="{63631B9A-77E0-0FF7-0B1E-41339E31E1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2286000"/>
            <a:ext cx="4198937" cy="312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682" name="Rectangle 11">
            <a:extLst>
              <a:ext uri="{FF2B5EF4-FFF2-40B4-BE49-F238E27FC236}">
                <a16:creationId xmlns:a16="http://schemas.microsoft.com/office/drawing/2014/main" id="{F568E845-2CBB-87E7-CC21-A0CA51A4BD52}"/>
              </a:ext>
            </a:extLst>
          </p:cNvPr>
          <p:cNvSpPr>
            <a:spLocks noGrp="1" noChangeArrowheads="1"/>
          </p:cNvSpPr>
          <p:nvPr>
            <p:ph type="title"/>
          </p:nvPr>
        </p:nvSpPr>
        <p:spPr>
          <a:xfrm>
            <a:off x="1066800" y="274638"/>
            <a:ext cx="7604125" cy="1143000"/>
          </a:xfrm>
          <a:noFill/>
        </p:spPr>
        <p:txBody>
          <a:bodyPr/>
          <a:lstStyle/>
          <a:p>
            <a:pPr eaLnBrk="1" hangingPunct="1"/>
            <a:r>
              <a:rPr lang="en-AU" altLang="en-US"/>
              <a:t>The Conduct of Monetary Policy</a:t>
            </a:r>
          </a:p>
        </p:txBody>
      </p:sp>
      <p:sp>
        <p:nvSpPr>
          <p:cNvPr id="71683" name="Rectangle 3">
            <a:extLst>
              <a:ext uri="{FF2B5EF4-FFF2-40B4-BE49-F238E27FC236}">
                <a16:creationId xmlns:a16="http://schemas.microsoft.com/office/drawing/2014/main" id="{C390ED82-8FA9-ACC2-FE7D-226F9B786F47}"/>
              </a:ext>
            </a:extLst>
          </p:cNvPr>
          <p:cNvSpPr>
            <a:spLocks noGrp="1" noChangeArrowheads="1"/>
          </p:cNvSpPr>
          <p:nvPr>
            <p:ph idx="1"/>
          </p:nvPr>
        </p:nvSpPr>
        <p:spPr>
          <a:xfrm>
            <a:off x="302460" y="1268760"/>
            <a:ext cx="3962400" cy="3611563"/>
          </a:xfrm>
        </p:spPr>
        <p:txBody>
          <a:bodyPr/>
          <a:lstStyle/>
          <a:p>
            <a:pPr lvl="1" indent="0" eaLnBrk="1" hangingPunct="1"/>
            <a:r>
              <a:rPr lang="en-AU" altLang="en-US" b="1" i="1" dirty="0"/>
              <a:t>An Open Market Sale</a:t>
            </a:r>
          </a:p>
          <a:p>
            <a:pPr lvl="1" indent="0" eaLnBrk="1" hangingPunct="1"/>
            <a:r>
              <a:rPr lang="en-AU" altLang="en-US" dirty="0"/>
              <a:t>This figure shows the effects of an open market </a:t>
            </a:r>
            <a:r>
              <a:rPr lang="en-AU" altLang="en-US" i="1" dirty="0"/>
              <a:t>sale</a:t>
            </a:r>
            <a:r>
              <a:rPr lang="en-AU" altLang="en-US" dirty="0"/>
              <a:t> on the balance sheets of the Fed and Bank of America.</a:t>
            </a:r>
          </a:p>
          <a:p>
            <a:pPr lvl="1" indent="0" eaLnBrk="1" hangingPunct="1"/>
            <a:r>
              <a:rPr lang="en-AU" altLang="en-US" dirty="0"/>
              <a:t>The open market sale </a:t>
            </a:r>
            <a:r>
              <a:rPr lang="en-AU" altLang="en-US" i="1" dirty="0"/>
              <a:t>decreases</a:t>
            </a:r>
            <a:r>
              <a:rPr lang="en-AU" altLang="en-US" dirty="0"/>
              <a:t> bank reserves.</a:t>
            </a:r>
          </a:p>
        </p:txBody>
      </p:sp>
      <p:pic>
        <p:nvPicPr>
          <p:cNvPr id="71684" name="Picture 7" descr="fig15">
            <a:extLst>
              <a:ext uri="{FF2B5EF4-FFF2-40B4-BE49-F238E27FC236}">
                <a16:creationId xmlns:a16="http://schemas.microsoft.com/office/drawing/2014/main" id="{362E4054-5E9F-8A7B-4C32-E15DC543DA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2286000"/>
            <a:ext cx="4202112" cy="30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5" name="Picture 8" descr="fig15">
            <a:extLst>
              <a:ext uri="{FF2B5EF4-FFF2-40B4-BE49-F238E27FC236}">
                <a16:creationId xmlns:a16="http://schemas.microsoft.com/office/drawing/2014/main" id="{24DC0BD3-A074-8022-7481-CA983A0C43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2286000"/>
            <a:ext cx="4202112" cy="30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6" name="Picture 9" descr="fig15">
            <a:extLst>
              <a:ext uri="{FF2B5EF4-FFF2-40B4-BE49-F238E27FC236}">
                <a16:creationId xmlns:a16="http://schemas.microsoft.com/office/drawing/2014/main" id="{6E98C452-C870-2770-CA38-269CC0ED3C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2286000"/>
            <a:ext cx="4202112" cy="30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540336"/>
            <a:ext cx="8419529" cy="1034744"/>
          </a:xfrm>
        </p:spPr>
        <p:txBody>
          <a:bodyPr/>
          <a:lstStyle/>
          <a:p>
            <a:pPr algn="l"/>
            <a:r>
              <a:rPr lang="en-US" sz="3200" dirty="0"/>
              <a:t>Figure 24.2 </a:t>
            </a:r>
            <a:br>
              <a:rPr lang="en-US" sz="3200" dirty="0"/>
            </a:br>
            <a:r>
              <a:rPr lang="en-US" sz="3200" dirty="0"/>
              <a:t>Bank of England buys securities in the open market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3213" y="1860898"/>
            <a:ext cx="4415499" cy="4456766"/>
          </a:xfrm>
          <a:prstGeom prst="rect">
            <a:avLst/>
          </a:prstGeom>
        </p:spPr>
      </p:pic>
      <p:sp>
        <p:nvSpPr>
          <p:cNvPr id="5" name="TextBox 4">
            <a:extLst>
              <a:ext uri="{FF2B5EF4-FFF2-40B4-BE49-F238E27FC236}">
                <a16:creationId xmlns:a16="http://schemas.microsoft.com/office/drawing/2014/main" id="{6B7F6C13-3D60-49B3-5247-DC90B1B36347}"/>
              </a:ext>
            </a:extLst>
          </p:cNvPr>
          <p:cNvSpPr txBox="1"/>
          <p:nvPr/>
        </p:nvSpPr>
        <p:spPr>
          <a:xfrm>
            <a:off x="0" y="2348880"/>
            <a:ext cx="4572000" cy="923330"/>
          </a:xfrm>
          <a:prstGeom prst="rect">
            <a:avLst/>
          </a:prstGeom>
          <a:noFill/>
        </p:spPr>
        <p:txBody>
          <a:bodyPr wrap="square">
            <a:spAutoFit/>
          </a:bodyPr>
          <a:lstStyle/>
          <a:p>
            <a:pPr lvl="1" eaLnBrk="1" hangingPunct="1"/>
            <a:r>
              <a:rPr lang="en-US" altLang="en-TW" dirty="0">
                <a:ea typeface="MS Mincho" panose="02020609040205080304" pitchFamily="49" charset="-128"/>
              </a:rPr>
              <a:t>By selling securities in the open market, the Fed can decrease the monetary base.</a:t>
            </a:r>
          </a:p>
        </p:txBody>
      </p:sp>
    </p:spTree>
    <p:extLst>
      <p:ext uri="{BB962C8B-B14F-4D97-AF65-F5344CB8AC3E}">
        <p14:creationId xmlns:p14="http://schemas.microsoft.com/office/powerpoint/2010/main" val="26434875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showMasterPhAnim="0" show="0">
  <p:cSld>
    <p:spTree>
      <p:nvGrpSpPr>
        <p:cNvPr id="1" name=""/>
        <p:cNvGrpSpPr/>
        <p:nvPr/>
      </p:nvGrpSpPr>
      <p:grpSpPr>
        <a:xfrm>
          <a:off x="0" y="0"/>
          <a:ext cx="0" cy="0"/>
          <a:chOff x="0" y="0"/>
          <a:chExt cx="0" cy="0"/>
        </a:xfrm>
      </p:grpSpPr>
      <p:sp>
        <p:nvSpPr>
          <p:cNvPr id="612354" name="Rectangle 2">
            <a:extLst>
              <a:ext uri="{FF2B5EF4-FFF2-40B4-BE49-F238E27FC236}">
                <a16:creationId xmlns:a16="http://schemas.microsoft.com/office/drawing/2014/main" id="{8474A012-F447-8B3B-D35B-17DFBE84A51F}"/>
              </a:ext>
            </a:extLst>
          </p:cNvPr>
          <p:cNvSpPr>
            <a:spLocks noGrp="1" noChangeArrowheads="1"/>
          </p:cNvSpPr>
          <p:nvPr>
            <p:ph type="title"/>
          </p:nvPr>
        </p:nvSpPr>
        <p:spPr/>
        <p:txBody>
          <a:bodyPr/>
          <a:lstStyle/>
          <a:p>
            <a:pPr eaLnBrk="1" hangingPunct="1">
              <a:defRPr/>
            </a:pPr>
            <a:r>
              <a:rPr lang="en-US" dirty="0">
                <a:cs typeface="+mj-cs"/>
              </a:rPr>
              <a:t>THE BANKING SYSTEM</a:t>
            </a:r>
            <a:endParaRPr lang="en-CA" dirty="0">
              <a:cs typeface="+mj-cs"/>
            </a:endParaRPr>
          </a:p>
        </p:txBody>
      </p:sp>
      <p:sp>
        <p:nvSpPr>
          <p:cNvPr id="612355" name="Rectangle 3">
            <a:extLst>
              <a:ext uri="{FF2B5EF4-FFF2-40B4-BE49-F238E27FC236}">
                <a16:creationId xmlns:a16="http://schemas.microsoft.com/office/drawing/2014/main" id="{0D77CE62-BA67-ABDE-FB38-8D55B3F8ADF0}"/>
              </a:ext>
            </a:extLst>
          </p:cNvPr>
          <p:cNvSpPr>
            <a:spLocks noGrp="1" noChangeArrowheads="1"/>
          </p:cNvSpPr>
          <p:nvPr>
            <p:ph type="body" idx="1"/>
          </p:nvPr>
        </p:nvSpPr>
        <p:spPr/>
        <p:txBody>
          <a:bodyPr/>
          <a:lstStyle/>
          <a:p>
            <a:pPr lvl="1" eaLnBrk="1" hangingPunct="1"/>
            <a:r>
              <a:rPr lang="en-US" altLang="en-TW" dirty="0"/>
              <a:t>By increasing the required reserve ratio, the BOE can force banks to hold a larger quantity of monetary base.</a:t>
            </a:r>
          </a:p>
          <a:p>
            <a:pPr lvl="1" eaLnBrk="1" hangingPunct="1"/>
            <a:r>
              <a:rPr lang="en-US" altLang="en-TW" dirty="0">
                <a:ea typeface="MS Mincho" panose="02020609040205080304" pitchFamily="49" charset="-128"/>
              </a:rPr>
              <a:t>By raising the discount rate, the BOE can make it more costly for the banks to borrow reserves—borrow monetary base. </a:t>
            </a:r>
          </a:p>
          <a:p>
            <a:pPr lvl="1" eaLnBrk="1" hangingPunct="1"/>
            <a:r>
              <a:rPr lang="en-US" altLang="en-TW" dirty="0">
                <a:ea typeface="MS Mincho" panose="02020609040205080304" pitchFamily="49" charset="-128"/>
              </a:rPr>
              <a:t>By selling securities in the open market, the BOE can decrease the monetary base.</a:t>
            </a:r>
          </a:p>
          <a:p>
            <a:pPr lvl="1" eaLnBrk="1" hangingPunct="1"/>
            <a:r>
              <a:rPr lang="en-US" altLang="en-TW" dirty="0">
                <a:ea typeface="MS Mincho" panose="02020609040205080304" pitchFamily="49" charset="-128"/>
              </a:rPr>
              <a:t>All these actions lead to an increase in the interest rate.</a:t>
            </a:r>
            <a:endParaRPr lang="en-CA" altLang="en-TW"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2355">
                                            <p:txEl>
                                              <p:pRg st="1" end="1"/>
                                            </p:txEl>
                                          </p:spTgt>
                                        </p:tgtEl>
                                        <p:attrNameLst>
                                          <p:attrName>style.visibility</p:attrName>
                                        </p:attrNameLst>
                                      </p:cBhvr>
                                      <p:to>
                                        <p:strVal val="visible"/>
                                      </p:to>
                                    </p:set>
                                    <p:animEffect transition="in" filter="wipe(left)">
                                      <p:cBhvr>
                                        <p:cTn id="7" dur="500"/>
                                        <p:tgtEl>
                                          <p:spTgt spid="61235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2355">
                                            <p:txEl>
                                              <p:pRg st="2" end="2"/>
                                            </p:txEl>
                                          </p:spTgt>
                                        </p:tgtEl>
                                        <p:attrNameLst>
                                          <p:attrName>style.visibility</p:attrName>
                                        </p:attrNameLst>
                                      </p:cBhvr>
                                      <p:to>
                                        <p:strVal val="visible"/>
                                      </p:to>
                                    </p:set>
                                    <p:animEffect transition="in" filter="wipe(left)">
                                      <p:cBhvr>
                                        <p:cTn id="12" dur="500"/>
                                        <p:tgtEl>
                                          <p:spTgt spid="61235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2355">
                                            <p:txEl>
                                              <p:pRg st="3" end="3"/>
                                            </p:txEl>
                                          </p:spTgt>
                                        </p:tgtEl>
                                        <p:attrNameLst>
                                          <p:attrName>style.visibility</p:attrName>
                                        </p:attrNameLst>
                                      </p:cBhvr>
                                      <p:to>
                                        <p:strVal val="visible"/>
                                      </p:to>
                                    </p:set>
                                    <p:animEffect transition="in" filter="wipe(left)">
                                      <p:cBhvr>
                                        <p:cTn id="17" dur="500"/>
                                        <p:tgtEl>
                                          <p:spTgt spid="6123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55" grpId="0" build="p" bldLvl="3"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Sp="0" showMasterPhAnim="0" show="0">
  <p:cSld>
    <p:spTree>
      <p:nvGrpSpPr>
        <p:cNvPr id="1" name=""/>
        <p:cNvGrpSpPr/>
        <p:nvPr/>
      </p:nvGrpSpPr>
      <p:grpSpPr>
        <a:xfrm>
          <a:off x="0" y="0"/>
          <a:ext cx="0" cy="0"/>
          <a:chOff x="0" y="0"/>
          <a:chExt cx="0" cy="0"/>
        </a:xfrm>
      </p:grpSpPr>
      <p:sp>
        <p:nvSpPr>
          <p:cNvPr id="709634" name="Rectangle 2">
            <a:extLst>
              <a:ext uri="{FF2B5EF4-FFF2-40B4-BE49-F238E27FC236}">
                <a16:creationId xmlns:a16="http://schemas.microsoft.com/office/drawing/2014/main" id="{43E2B75C-7719-4DFD-BC39-85BA5ED32F29}"/>
              </a:ext>
            </a:extLst>
          </p:cNvPr>
          <p:cNvSpPr>
            <a:spLocks noGrp="1" noChangeArrowheads="1"/>
          </p:cNvSpPr>
          <p:nvPr>
            <p:ph type="title"/>
          </p:nvPr>
        </p:nvSpPr>
        <p:spPr/>
        <p:txBody>
          <a:bodyPr/>
          <a:lstStyle/>
          <a:p>
            <a:pPr eaLnBrk="1" hangingPunct="1">
              <a:defRPr/>
            </a:pPr>
            <a:r>
              <a:rPr lang="en-US" dirty="0">
                <a:cs typeface="+mj-cs"/>
              </a:rPr>
              <a:t>THE BANKING SYSTEM</a:t>
            </a:r>
            <a:endParaRPr lang="en-CA" dirty="0">
              <a:cs typeface="+mj-cs"/>
            </a:endParaRPr>
          </a:p>
        </p:txBody>
      </p:sp>
      <p:sp>
        <p:nvSpPr>
          <p:cNvPr id="709635" name="Rectangle 3">
            <a:extLst>
              <a:ext uri="{FF2B5EF4-FFF2-40B4-BE49-F238E27FC236}">
                <a16:creationId xmlns:a16="http://schemas.microsoft.com/office/drawing/2014/main" id="{5837FF12-065F-2629-7A52-B8963F5F49C5}"/>
              </a:ext>
            </a:extLst>
          </p:cNvPr>
          <p:cNvSpPr>
            <a:spLocks noGrp="1" noChangeArrowheads="1"/>
          </p:cNvSpPr>
          <p:nvPr>
            <p:ph type="body" idx="1"/>
          </p:nvPr>
        </p:nvSpPr>
        <p:spPr/>
        <p:txBody>
          <a:bodyPr/>
          <a:lstStyle/>
          <a:p>
            <a:pPr lvl="1" eaLnBrk="1" hangingPunct="1">
              <a:defRPr/>
            </a:pPr>
            <a:r>
              <a:rPr lang="en-US" dirty="0"/>
              <a:t>By decreasing the required reserve ratio, the BOE can permit the banks to hold a smaller quantity of monetary base.</a:t>
            </a:r>
          </a:p>
          <a:p>
            <a:pPr lvl="1" eaLnBrk="1" hangingPunct="1">
              <a:defRPr/>
            </a:pPr>
            <a:r>
              <a:rPr lang="en-US" dirty="0">
                <a:ea typeface="MS Mincho" charset="0"/>
                <a:cs typeface="MS Mincho" charset="0"/>
              </a:rPr>
              <a:t>By lowering the discount rate, the BOE can make it less costly for the banks to borrow monetary base. </a:t>
            </a:r>
          </a:p>
          <a:p>
            <a:pPr lvl="1" eaLnBrk="1" hangingPunct="1">
              <a:defRPr/>
            </a:pPr>
            <a:r>
              <a:rPr lang="en-US" dirty="0">
                <a:ea typeface="MS Mincho" charset="0"/>
                <a:cs typeface="MS Mincho" charset="0"/>
              </a:rPr>
              <a:t>By buying securities in the open market, the BOE can increase the monetary base.</a:t>
            </a:r>
          </a:p>
          <a:p>
            <a:pPr lvl="1" eaLnBrk="1" hangingPunct="1">
              <a:defRPr/>
            </a:pPr>
            <a:r>
              <a:rPr lang="en-US" dirty="0">
                <a:ea typeface="MS Mincho" charset="0"/>
                <a:cs typeface="MS Mincho" charset="0"/>
              </a:rPr>
              <a:t>All these actions lead to a decrease in the interest rate.</a:t>
            </a:r>
            <a:endParaRPr lang="en-CA"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9635">
                                            <p:txEl>
                                              <p:pRg st="1" end="1"/>
                                            </p:txEl>
                                          </p:spTgt>
                                        </p:tgtEl>
                                        <p:attrNameLst>
                                          <p:attrName>style.visibility</p:attrName>
                                        </p:attrNameLst>
                                      </p:cBhvr>
                                      <p:to>
                                        <p:strVal val="visible"/>
                                      </p:to>
                                    </p:set>
                                    <p:animEffect transition="in" filter="wipe(left)">
                                      <p:cBhvr>
                                        <p:cTn id="7" dur="500"/>
                                        <p:tgtEl>
                                          <p:spTgt spid="7096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9635">
                                            <p:txEl>
                                              <p:pRg st="2" end="2"/>
                                            </p:txEl>
                                          </p:spTgt>
                                        </p:tgtEl>
                                        <p:attrNameLst>
                                          <p:attrName>style.visibility</p:attrName>
                                        </p:attrNameLst>
                                      </p:cBhvr>
                                      <p:to>
                                        <p:strVal val="visible"/>
                                      </p:to>
                                    </p:set>
                                    <p:animEffect transition="in" filter="wipe(left)">
                                      <p:cBhvr>
                                        <p:cTn id="12" dur="500"/>
                                        <p:tgtEl>
                                          <p:spTgt spid="7096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09635">
                                            <p:txEl>
                                              <p:pRg st="3" end="3"/>
                                            </p:txEl>
                                          </p:spTgt>
                                        </p:tgtEl>
                                        <p:attrNameLst>
                                          <p:attrName>style.visibility</p:attrName>
                                        </p:attrNameLst>
                                      </p:cBhvr>
                                      <p:to>
                                        <p:strVal val="visible"/>
                                      </p:to>
                                    </p:set>
                                    <p:animEffect transition="in" filter="wipe(left)">
                                      <p:cBhvr>
                                        <p:cTn id="17" dur="500"/>
                                        <p:tgtEl>
                                          <p:spTgt spid="7096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5" grpId="0" build="p" bldLvl="3"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48899" name="Rectangle 3">
            <a:extLst>
              <a:ext uri="{FF2B5EF4-FFF2-40B4-BE49-F238E27FC236}">
                <a16:creationId xmlns:a16="http://schemas.microsoft.com/office/drawing/2014/main" id="{2ACA06CF-3DE9-0E4B-90BF-3CCCB5660D1B}"/>
              </a:ext>
            </a:extLst>
          </p:cNvPr>
          <p:cNvSpPr>
            <a:spLocks noGrp="1" noChangeArrowheads="1"/>
          </p:cNvSpPr>
          <p:nvPr>
            <p:ph type="body" idx="1"/>
          </p:nvPr>
        </p:nvSpPr>
        <p:spPr>
          <a:xfrm>
            <a:off x="323528" y="1453118"/>
            <a:ext cx="8229600" cy="4572000"/>
          </a:xfrm>
        </p:spPr>
        <p:txBody>
          <a:bodyPr/>
          <a:lstStyle/>
          <a:p>
            <a:pPr eaLnBrk="1" hangingPunct="1">
              <a:buFont typeface="Webdings" charset="0"/>
              <a:buChar char="&lt;"/>
              <a:defRPr/>
            </a:pPr>
            <a:r>
              <a:rPr noProof="1">
                <a:cs typeface="+mn-cs"/>
              </a:rPr>
              <a:t>How Open Market Operations</a:t>
            </a:r>
            <a:r>
              <a:rPr lang="en-US" dirty="0">
                <a:cs typeface="+mn-cs"/>
              </a:rPr>
              <a:t> Change the Monetary Base</a:t>
            </a:r>
            <a:endParaRPr noProof="1">
              <a:cs typeface="+mn-cs"/>
            </a:endParaRPr>
          </a:p>
          <a:p>
            <a:pPr lvl="1" eaLnBrk="1" hangingPunct="1">
              <a:defRPr/>
            </a:pPr>
            <a:r>
              <a:rPr lang="en-US" dirty="0"/>
              <a:t>When the Fed buys securities in an open market operation, it pays for them with newly created bank reserves and money. </a:t>
            </a:r>
          </a:p>
          <a:p>
            <a:pPr lvl="1" eaLnBrk="1" hangingPunct="1">
              <a:defRPr/>
            </a:pPr>
            <a:r>
              <a:rPr lang="en-US" dirty="0"/>
              <a:t>With more reserves in the banking system, the supply of interbank loans increases, the demand for interbank loans decreases, and the federal funds rate falls. </a:t>
            </a:r>
          </a:p>
          <a:p>
            <a:pPr lvl="1" eaLnBrk="1" hangingPunct="1">
              <a:defRPr/>
            </a:pPr>
            <a:r>
              <a:rPr lang="en-US" dirty="0"/>
              <a:t>The </a:t>
            </a:r>
            <a:r>
              <a:rPr lang="en-US" b="1" dirty="0"/>
              <a:t>federal funds rate </a:t>
            </a:r>
            <a:r>
              <a:rPr lang="en-US" dirty="0"/>
              <a:t>is the interest rate on loans in the interbank market.</a:t>
            </a:r>
          </a:p>
        </p:txBody>
      </p:sp>
      <p:sp>
        <p:nvSpPr>
          <p:cNvPr id="848900" name="Rectangle 4">
            <a:extLst>
              <a:ext uri="{FF2B5EF4-FFF2-40B4-BE49-F238E27FC236}">
                <a16:creationId xmlns:a16="http://schemas.microsoft.com/office/drawing/2014/main" id="{E8803F52-D409-89FC-40CE-FA1F7EFC6C95}"/>
              </a:ext>
            </a:extLst>
          </p:cNvPr>
          <p:cNvSpPr>
            <a:spLocks noGrp="1" noChangeArrowheads="1"/>
          </p:cNvSpPr>
          <p:nvPr>
            <p:ph type="title"/>
          </p:nvPr>
        </p:nvSpPr>
        <p:spPr/>
        <p:txBody>
          <a:bodyPr/>
          <a:lstStyle/>
          <a:p>
            <a:pPr eaLnBrk="1" hangingPunct="1">
              <a:defRPr/>
            </a:pPr>
            <a:r>
              <a:rPr lang="en-US" dirty="0">
                <a:cs typeface="+mj-cs"/>
              </a:rPr>
              <a:t>REGULATING THE QUANTITY OF MONEY</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8899">
                                            <p:txEl>
                                              <p:pRg st="1" end="1"/>
                                            </p:txEl>
                                          </p:spTgt>
                                        </p:tgtEl>
                                        <p:attrNameLst>
                                          <p:attrName>style.visibility</p:attrName>
                                        </p:attrNameLst>
                                      </p:cBhvr>
                                      <p:to>
                                        <p:strVal val="visible"/>
                                      </p:to>
                                    </p:set>
                                    <p:animEffect transition="in" filter="wipe(left)">
                                      <p:cBhvr>
                                        <p:cTn id="7" dur="500"/>
                                        <p:tgtEl>
                                          <p:spTgt spid="8488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48899">
                                            <p:txEl>
                                              <p:pRg st="2" end="2"/>
                                            </p:txEl>
                                          </p:spTgt>
                                        </p:tgtEl>
                                        <p:attrNameLst>
                                          <p:attrName>style.visibility</p:attrName>
                                        </p:attrNameLst>
                                      </p:cBhvr>
                                      <p:to>
                                        <p:strVal val="visible"/>
                                      </p:to>
                                    </p:set>
                                    <p:animEffect transition="in" filter="wipe(left)">
                                      <p:cBhvr>
                                        <p:cTn id="12" dur="500"/>
                                        <p:tgtEl>
                                          <p:spTgt spid="8488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48899">
                                            <p:txEl>
                                              <p:pRg st="3" end="3"/>
                                            </p:txEl>
                                          </p:spTgt>
                                        </p:tgtEl>
                                        <p:attrNameLst>
                                          <p:attrName>style.visibility</p:attrName>
                                        </p:attrNameLst>
                                      </p:cBhvr>
                                      <p:to>
                                        <p:strVal val="visible"/>
                                      </p:to>
                                    </p:set>
                                    <p:animEffect transition="in" filter="wipe(left)">
                                      <p:cBhvr>
                                        <p:cTn id="17" dur="500"/>
                                        <p:tgtEl>
                                          <p:spTgt spid="8488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8899" grpId="0" build="p" bldLvl="3"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50946" name="Rectangle 2">
            <a:extLst>
              <a:ext uri="{FF2B5EF4-FFF2-40B4-BE49-F238E27FC236}">
                <a16:creationId xmlns:a16="http://schemas.microsoft.com/office/drawing/2014/main" id="{6257E4BC-0434-4BE4-FD27-8D4EDF864D08}"/>
              </a:ext>
            </a:extLst>
          </p:cNvPr>
          <p:cNvSpPr>
            <a:spLocks noGrp="1" noChangeArrowheads="1"/>
          </p:cNvSpPr>
          <p:nvPr>
            <p:ph type="title"/>
          </p:nvPr>
        </p:nvSpPr>
        <p:spPr/>
        <p:txBody>
          <a:bodyPr/>
          <a:lstStyle/>
          <a:p>
            <a:pPr eaLnBrk="1" hangingPunct="1">
              <a:defRPr/>
            </a:pPr>
            <a:r>
              <a:rPr lang="en-US" dirty="0">
                <a:cs typeface="+mj-cs"/>
              </a:rPr>
              <a:t>REGULATING THE QUANTITY OF MONEY</a:t>
            </a:r>
            <a:endParaRPr lang="en-CA" dirty="0">
              <a:cs typeface="+mj-cs"/>
            </a:endParaRPr>
          </a:p>
        </p:txBody>
      </p:sp>
      <p:sp>
        <p:nvSpPr>
          <p:cNvPr id="850947" name="Rectangle 3">
            <a:extLst>
              <a:ext uri="{FF2B5EF4-FFF2-40B4-BE49-F238E27FC236}">
                <a16:creationId xmlns:a16="http://schemas.microsoft.com/office/drawing/2014/main" id="{51DC2323-119D-FD06-7FC5-6402317FED9E}"/>
              </a:ext>
            </a:extLst>
          </p:cNvPr>
          <p:cNvSpPr>
            <a:spLocks noGrp="1" noChangeArrowheads="1"/>
          </p:cNvSpPr>
          <p:nvPr>
            <p:ph type="body" idx="1"/>
          </p:nvPr>
        </p:nvSpPr>
        <p:spPr/>
        <p:txBody>
          <a:bodyPr/>
          <a:lstStyle/>
          <a:p>
            <a:pPr lvl="1" eaLnBrk="1" hangingPunct="1">
              <a:defRPr/>
            </a:pPr>
            <a:r>
              <a:rPr lang="en-CA"/>
              <a:t>Similarly, w</a:t>
            </a:r>
            <a:r>
              <a:rPr lang="en-US"/>
              <a:t>hen the Fed sells securities in an open market operation, buyers pay for them with bank reserves and money. </a:t>
            </a:r>
          </a:p>
          <a:p>
            <a:pPr lvl="1" eaLnBrk="1" hangingPunct="1">
              <a:defRPr/>
            </a:pPr>
            <a:r>
              <a:rPr lang="en-US"/>
              <a:t>With fewer reserves in the banking system, the supply of interbank loans decreases, the demand for interbank loans increases, and the federal funds rate rises. </a:t>
            </a:r>
          </a:p>
          <a:p>
            <a:pPr lvl="1" eaLnBrk="1" hangingPunct="1">
              <a:defRPr/>
            </a:pPr>
            <a:r>
              <a:rPr lang="en-CA"/>
              <a:t>The Fed sets a target for the federal funds rate and conducts open market operations on the scale needed to hit its target.</a:t>
            </a:r>
          </a:p>
          <a:p>
            <a:pPr lvl="1" eaLnBrk="1" hangingPunct="1">
              <a:defRPr/>
            </a:pPr>
            <a:endParaRPr lang="en-CA"/>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0947">
                                            <p:txEl>
                                              <p:pRg st="1" end="1"/>
                                            </p:txEl>
                                          </p:spTgt>
                                        </p:tgtEl>
                                        <p:attrNameLst>
                                          <p:attrName>style.visibility</p:attrName>
                                        </p:attrNameLst>
                                      </p:cBhvr>
                                      <p:to>
                                        <p:strVal val="visible"/>
                                      </p:to>
                                    </p:set>
                                    <p:animEffect transition="in" filter="wipe(left)">
                                      <p:cBhvr>
                                        <p:cTn id="7" dur="500"/>
                                        <p:tgtEl>
                                          <p:spTgt spid="8509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0947">
                                            <p:txEl>
                                              <p:pRg st="2" end="2"/>
                                            </p:txEl>
                                          </p:spTgt>
                                        </p:tgtEl>
                                        <p:attrNameLst>
                                          <p:attrName>style.visibility</p:attrName>
                                        </p:attrNameLst>
                                      </p:cBhvr>
                                      <p:to>
                                        <p:strVal val="visible"/>
                                      </p:to>
                                    </p:set>
                                    <p:animEffect transition="in" filter="wipe(left)">
                                      <p:cBhvr>
                                        <p:cTn id="12" dur="500"/>
                                        <p:tgtEl>
                                          <p:spTgt spid="8509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47" grpId="0" build="p" bldLvl="3"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52994" name="Rectangle 2">
            <a:extLst>
              <a:ext uri="{FF2B5EF4-FFF2-40B4-BE49-F238E27FC236}">
                <a16:creationId xmlns:a16="http://schemas.microsoft.com/office/drawing/2014/main" id="{D6022F81-230B-0FEE-51B9-E886248EDD95}"/>
              </a:ext>
            </a:extLst>
          </p:cNvPr>
          <p:cNvSpPr>
            <a:spLocks noGrp="1" noChangeArrowheads="1"/>
          </p:cNvSpPr>
          <p:nvPr>
            <p:ph type="title"/>
          </p:nvPr>
        </p:nvSpPr>
        <p:spPr/>
        <p:txBody>
          <a:bodyPr/>
          <a:lstStyle/>
          <a:p>
            <a:pPr eaLnBrk="1" hangingPunct="1">
              <a:defRPr/>
            </a:pPr>
            <a:r>
              <a:rPr lang="en-US" dirty="0">
                <a:cs typeface="+mj-cs"/>
              </a:rPr>
              <a:t>REGULATING THE QUANTITY OF MONEY</a:t>
            </a:r>
            <a:endParaRPr lang="en-CA" dirty="0">
              <a:cs typeface="+mj-cs"/>
            </a:endParaRPr>
          </a:p>
        </p:txBody>
      </p:sp>
      <p:sp>
        <p:nvSpPr>
          <p:cNvPr id="852995" name="Rectangle 3">
            <a:extLst>
              <a:ext uri="{FF2B5EF4-FFF2-40B4-BE49-F238E27FC236}">
                <a16:creationId xmlns:a16="http://schemas.microsoft.com/office/drawing/2014/main" id="{E75DD104-5827-5678-A7ED-7CB8C7C063AE}"/>
              </a:ext>
            </a:extLst>
          </p:cNvPr>
          <p:cNvSpPr>
            <a:spLocks noGrp="1" noChangeArrowheads="1"/>
          </p:cNvSpPr>
          <p:nvPr>
            <p:ph type="body" idx="1"/>
          </p:nvPr>
        </p:nvSpPr>
        <p:spPr/>
        <p:txBody>
          <a:bodyPr/>
          <a:lstStyle/>
          <a:p>
            <a:pPr lvl="1" eaLnBrk="1" hangingPunct="1"/>
            <a:r>
              <a:rPr lang="en-CA" altLang="en-TW" dirty="0"/>
              <a:t>A change in the</a:t>
            </a:r>
            <a:r>
              <a:rPr lang="en-US" altLang="en-TW" dirty="0"/>
              <a:t> federal funds rate is only the first stage in an adjustment process that follows an open market operation.</a:t>
            </a:r>
          </a:p>
          <a:p>
            <a:pPr lvl="1" eaLnBrk="1" hangingPunct="1"/>
            <a:r>
              <a:rPr lang="en-US" altLang="en-TW" dirty="0"/>
              <a:t>If banks</a:t>
            </a:r>
            <a:r>
              <a:rPr lang="en-US" altLang="en-US" dirty="0"/>
              <a:t>’</a:t>
            </a:r>
            <a:r>
              <a:rPr lang="en-US" altLang="en-TW" dirty="0"/>
              <a:t> reserves increase, they increase their lending, which increases the quantity of money.</a:t>
            </a:r>
          </a:p>
          <a:p>
            <a:pPr lvl="1" eaLnBrk="1" hangingPunct="1"/>
            <a:r>
              <a:rPr lang="en-US" altLang="en-TW" dirty="0"/>
              <a:t>If banks</a:t>
            </a:r>
            <a:r>
              <a:rPr lang="en-US" altLang="en-US" dirty="0"/>
              <a:t>’</a:t>
            </a:r>
            <a:r>
              <a:rPr lang="en-US" altLang="en-TW" dirty="0"/>
              <a:t> reserves decrease, they decrease their lending, which decreases the quantity of money.</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2995">
                                            <p:txEl>
                                              <p:pRg st="1" end="1"/>
                                            </p:txEl>
                                          </p:spTgt>
                                        </p:tgtEl>
                                        <p:attrNameLst>
                                          <p:attrName>style.visibility</p:attrName>
                                        </p:attrNameLst>
                                      </p:cBhvr>
                                      <p:to>
                                        <p:strVal val="visible"/>
                                      </p:to>
                                    </p:set>
                                    <p:animEffect transition="in" filter="wipe(left)">
                                      <p:cBhvr>
                                        <p:cTn id="7" dur="500"/>
                                        <p:tgtEl>
                                          <p:spTgt spid="8529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2995">
                                            <p:txEl>
                                              <p:pRg st="2" end="2"/>
                                            </p:txEl>
                                          </p:spTgt>
                                        </p:tgtEl>
                                        <p:attrNameLst>
                                          <p:attrName>style.visibility</p:attrName>
                                        </p:attrNameLst>
                                      </p:cBhvr>
                                      <p:to>
                                        <p:strVal val="visible"/>
                                      </p:to>
                                    </p:set>
                                    <p:animEffect transition="in" filter="wipe(left)">
                                      <p:cBhvr>
                                        <p:cTn id="12" dur="500"/>
                                        <p:tgtEl>
                                          <p:spTgt spid="8529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995" grpId="0" build="p" bldLvl="3"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540336"/>
            <a:ext cx="8419529" cy="1034744"/>
          </a:xfrm>
        </p:spPr>
        <p:txBody>
          <a:bodyPr/>
          <a:lstStyle/>
          <a:p>
            <a:pPr algn="l"/>
            <a:r>
              <a:rPr lang="en-US" sz="3200" dirty="0"/>
              <a:t>Figure 1 </a:t>
            </a:r>
            <a:br>
              <a:rPr lang="en-US" sz="3200" dirty="0"/>
            </a:br>
            <a:r>
              <a:rPr lang="en-US" sz="3200" dirty="0"/>
              <a:t>Changes in the sources and uses of</a:t>
            </a:r>
            <a:br>
              <a:rPr lang="en-US" sz="3200" dirty="0"/>
            </a:br>
            <a:r>
              <a:rPr lang="en-US" sz="3200" dirty="0"/>
              <a:t>monetary base</a:t>
            </a:r>
          </a:p>
        </p:txBody>
      </p:sp>
      <p:sp>
        <p:nvSpPr>
          <p:cNvPr id="5" name="TextBox 4"/>
          <p:cNvSpPr txBox="1"/>
          <p:nvPr/>
        </p:nvSpPr>
        <p:spPr>
          <a:xfrm>
            <a:off x="338327" y="6093296"/>
            <a:ext cx="1675459" cy="215444"/>
          </a:xfrm>
          <a:prstGeom prst="rect">
            <a:avLst/>
          </a:prstGeom>
          <a:noFill/>
        </p:spPr>
        <p:txBody>
          <a:bodyPr wrap="none" rtlCol="0">
            <a:spAutoFit/>
          </a:bodyPr>
          <a:lstStyle/>
          <a:p>
            <a:r>
              <a:rPr lang="en-US" sz="800" dirty="0"/>
              <a:t>Source of data: Bank of England</a:t>
            </a:r>
            <a:endParaRPr lang="en-IN" sz="800"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57401" y="1852030"/>
            <a:ext cx="3029198" cy="4198474"/>
          </a:xfrm>
          <a:prstGeom prst="rect">
            <a:avLst/>
          </a:prstGeom>
        </p:spPr>
      </p:pic>
    </p:spTree>
    <p:extLst>
      <p:ext uri="{BB962C8B-B14F-4D97-AF65-F5344CB8AC3E}">
        <p14:creationId xmlns:p14="http://schemas.microsoft.com/office/powerpoint/2010/main" val="39292144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6080"/>
            <a:ext cx="8419529" cy="1034744"/>
          </a:xfrm>
        </p:spPr>
        <p:txBody>
          <a:bodyPr/>
          <a:lstStyle/>
          <a:p>
            <a:pPr algn="l"/>
            <a:r>
              <a:rPr lang="en-US" sz="3200" dirty="0"/>
              <a:t>Figure 1 </a:t>
            </a:r>
            <a:br>
              <a:rPr lang="en-US" sz="3200" dirty="0"/>
            </a:br>
            <a:r>
              <a:rPr lang="en-US" sz="3200" dirty="0"/>
              <a:t>The QE transactions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18149" y="1386102"/>
            <a:ext cx="3707702" cy="4874298"/>
          </a:xfrm>
          <a:prstGeom prst="rect">
            <a:avLst/>
          </a:prstGeom>
        </p:spPr>
      </p:pic>
    </p:spTree>
    <p:extLst>
      <p:ext uri="{BB962C8B-B14F-4D97-AF65-F5344CB8AC3E}">
        <p14:creationId xmlns:p14="http://schemas.microsoft.com/office/powerpoint/2010/main" val="681096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32514" name="Rectangle 2">
            <a:extLst>
              <a:ext uri="{FF2B5EF4-FFF2-40B4-BE49-F238E27FC236}">
                <a16:creationId xmlns:a16="http://schemas.microsoft.com/office/drawing/2014/main" id="{39120BD8-48B7-2542-9303-3E4BD6D8FF93}"/>
              </a:ext>
            </a:extLst>
          </p:cNvPr>
          <p:cNvSpPr>
            <a:spLocks noGrp="1" noChangeArrowheads="1"/>
          </p:cNvSpPr>
          <p:nvPr>
            <p:ph type="title"/>
          </p:nvPr>
        </p:nvSpPr>
        <p:spPr/>
        <p:txBody>
          <a:bodyPr/>
          <a:lstStyle/>
          <a:p>
            <a:pPr eaLnBrk="1" hangingPunct="1">
              <a:defRPr/>
            </a:pPr>
            <a:r>
              <a:rPr lang="en-US" dirty="0">
                <a:cs typeface="+mj-cs"/>
              </a:rPr>
              <a:t>REGULATING THE QUANTITY OF MONEY</a:t>
            </a:r>
            <a:endParaRPr lang="en-CA" dirty="0">
              <a:cs typeface="+mj-cs"/>
            </a:endParaRPr>
          </a:p>
        </p:txBody>
      </p:sp>
      <p:sp>
        <p:nvSpPr>
          <p:cNvPr id="832515" name="Rectangle 3">
            <a:extLst>
              <a:ext uri="{FF2B5EF4-FFF2-40B4-BE49-F238E27FC236}">
                <a16:creationId xmlns:a16="http://schemas.microsoft.com/office/drawing/2014/main" id="{B1A777BB-0E25-7EE1-C2A0-E5A0A64D801E}"/>
              </a:ext>
            </a:extLst>
          </p:cNvPr>
          <p:cNvSpPr>
            <a:spLocks noGrp="1" noChangeArrowheads="1"/>
          </p:cNvSpPr>
          <p:nvPr>
            <p:ph type="body" idx="1"/>
          </p:nvPr>
        </p:nvSpPr>
        <p:spPr/>
        <p:txBody>
          <a:bodyPr/>
          <a:lstStyle/>
          <a:p>
            <a:pPr eaLnBrk="1" hangingPunct="1">
              <a:buFont typeface="Webdings" charset="0"/>
              <a:buChar char="&lt;"/>
              <a:defRPr/>
            </a:pPr>
            <a:r>
              <a:rPr lang="en-US">
                <a:cs typeface="+mn-cs"/>
              </a:rPr>
              <a:t>Creating Deposits by Making Loans</a:t>
            </a:r>
          </a:p>
          <a:p>
            <a:pPr lvl="1" eaLnBrk="1" hangingPunct="1">
              <a:defRPr/>
            </a:pPr>
            <a:r>
              <a:rPr lang="en-CA"/>
              <a:t>Banks create deposits when they make loans and the new deposits created are new money.</a:t>
            </a:r>
          </a:p>
          <a:p>
            <a:pPr lvl="1" eaLnBrk="1" hangingPunct="1">
              <a:defRPr/>
            </a:pPr>
            <a:r>
              <a:rPr lang="en-CA"/>
              <a:t>The quantity of deposits that banks can create is limited by three factors:</a:t>
            </a:r>
          </a:p>
          <a:p>
            <a:pPr lvl="1" eaLnBrk="1" hangingPunct="1">
              <a:buClr>
                <a:srgbClr val="00468F"/>
              </a:buClr>
              <a:buFont typeface="Arial" charset="0"/>
              <a:buChar char="•"/>
              <a:defRPr/>
            </a:pPr>
            <a:r>
              <a:rPr lang="en-CA"/>
              <a:t> The monetary base</a:t>
            </a:r>
          </a:p>
          <a:p>
            <a:pPr lvl="1" eaLnBrk="1" hangingPunct="1">
              <a:buClr>
                <a:srgbClr val="00468F"/>
              </a:buClr>
              <a:buFont typeface="Arial" charset="0"/>
              <a:buChar char="•"/>
              <a:defRPr/>
            </a:pPr>
            <a:r>
              <a:rPr lang="en-CA"/>
              <a:t> Desired reserves</a:t>
            </a:r>
          </a:p>
          <a:p>
            <a:pPr lvl="1" eaLnBrk="1" hangingPunct="1">
              <a:buClr>
                <a:srgbClr val="00468F"/>
              </a:buClr>
              <a:buFont typeface="Arial" charset="0"/>
              <a:buChar char="•"/>
              <a:defRPr/>
            </a:pPr>
            <a:r>
              <a:rPr lang="en-CA"/>
              <a:t> Desired currency holding</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32515">
                                            <p:txEl>
                                              <p:pRg st="1" end="1"/>
                                            </p:txEl>
                                          </p:spTgt>
                                        </p:tgtEl>
                                        <p:attrNameLst>
                                          <p:attrName>style.visibility</p:attrName>
                                        </p:attrNameLst>
                                      </p:cBhvr>
                                      <p:to>
                                        <p:strVal val="visible"/>
                                      </p:to>
                                    </p:set>
                                    <p:animEffect transition="in" filter="wipe(left)">
                                      <p:cBhvr>
                                        <p:cTn id="7" dur="500"/>
                                        <p:tgtEl>
                                          <p:spTgt spid="8325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32515">
                                            <p:txEl>
                                              <p:pRg st="2" end="2"/>
                                            </p:txEl>
                                          </p:spTgt>
                                        </p:tgtEl>
                                        <p:attrNameLst>
                                          <p:attrName>style.visibility</p:attrName>
                                        </p:attrNameLst>
                                      </p:cBhvr>
                                      <p:to>
                                        <p:strVal val="visible"/>
                                      </p:to>
                                    </p:set>
                                    <p:animEffect transition="in" filter="wipe(left)">
                                      <p:cBhvr>
                                        <p:cTn id="12" dur="500"/>
                                        <p:tgtEl>
                                          <p:spTgt spid="8325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32515">
                                            <p:txEl>
                                              <p:pRg st="3" end="3"/>
                                            </p:txEl>
                                          </p:spTgt>
                                        </p:tgtEl>
                                        <p:attrNameLst>
                                          <p:attrName>style.visibility</p:attrName>
                                        </p:attrNameLst>
                                      </p:cBhvr>
                                      <p:to>
                                        <p:strVal val="visible"/>
                                      </p:to>
                                    </p:set>
                                    <p:animEffect transition="in" filter="wipe(left)">
                                      <p:cBhvr>
                                        <p:cTn id="17" dur="500"/>
                                        <p:tgtEl>
                                          <p:spTgt spid="8325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32515">
                                            <p:txEl>
                                              <p:pRg st="4" end="4"/>
                                            </p:txEl>
                                          </p:spTgt>
                                        </p:tgtEl>
                                        <p:attrNameLst>
                                          <p:attrName>style.visibility</p:attrName>
                                        </p:attrNameLst>
                                      </p:cBhvr>
                                      <p:to>
                                        <p:strVal val="visible"/>
                                      </p:to>
                                    </p:set>
                                    <p:animEffect transition="in" filter="wipe(left)">
                                      <p:cBhvr>
                                        <p:cTn id="22" dur="500"/>
                                        <p:tgtEl>
                                          <p:spTgt spid="83251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32515">
                                            <p:txEl>
                                              <p:pRg st="5" end="5"/>
                                            </p:txEl>
                                          </p:spTgt>
                                        </p:tgtEl>
                                        <p:attrNameLst>
                                          <p:attrName>style.visibility</p:attrName>
                                        </p:attrNameLst>
                                      </p:cBhvr>
                                      <p:to>
                                        <p:strVal val="visible"/>
                                      </p:to>
                                    </p:set>
                                    <p:animEffect transition="in" filter="wipe(left)">
                                      <p:cBhvr>
                                        <p:cTn id="27" dur="500"/>
                                        <p:tgtEl>
                                          <p:spTgt spid="8325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515" grpId="0" build="p" bldLvl="3"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79618" name="Rectangle 2">
            <a:extLst>
              <a:ext uri="{FF2B5EF4-FFF2-40B4-BE49-F238E27FC236}">
                <a16:creationId xmlns:a16="http://schemas.microsoft.com/office/drawing/2014/main" id="{EA171AC3-AE53-D5A1-3A57-8BD863B903C7}"/>
              </a:ext>
            </a:extLst>
          </p:cNvPr>
          <p:cNvSpPr>
            <a:spLocks noGrp="1" noChangeArrowheads="1"/>
          </p:cNvSpPr>
          <p:nvPr>
            <p:ph type="title"/>
          </p:nvPr>
        </p:nvSpPr>
        <p:spPr>
          <a:xfrm>
            <a:off x="457200" y="274638"/>
            <a:ext cx="8229600" cy="778098"/>
          </a:xfrm>
        </p:spPr>
        <p:txBody>
          <a:bodyPr/>
          <a:lstStyle/>
          <a:p>
            <a:pPr eaLnBrk="1" hangingPunct="1">
              <a:defRPr/>
            </a:pPr>
            <a:r>
              <a:rPr lang="en-CA" dirty="0">
                <a:cs typeface="+mj-cs"/>
              </a:rPr>
              <a:t>REGULATING THE QUANTITY OF MONEY</a:t>
            </a:r>
          </a:p>
        </p:txBody>
      </p:sp>
      <p:sp>
        <p:nvSpPr>
          <p:cNvPr id="879619" name="Rectangle 3">
            <a:extLst>
              <a:ext uri="{FF2B5EF4-FFF2-40B4-BE49-F238E27FC236}">
                <a16:creationId xmlns:a16="http://schemas.microsoft.com/office/drawing/2014/main" id="{204697B7-2E3F-1052-4DB0-2C86C2127762}"/>
              </a:ext>
            </a:extLst>
          </p:cNvPr>
          <p:cNvSpPr>
            <a:spLocks noGrp="1" noChangeArrowheads="1"/>
          </p:cNvSpPr>
          <p:nvPr>
            <p:ph type="body" idx="1"/>
          </p:nvPr>
        </p:nvSpPr>
        <p:spPr>
          <a:xfrm>
            <a:off x="251520" y="1181100"/>
            <a:ext cx="8640960" cy="5402262"/>
          </a:xfrm>
        </p:spPr>
        <p:txBody>
          <a:bodyPr/>
          <a:lstStyle/>
          <a:p>
            <a:pPr marL="457200" lvl="1" indent="0" eaLnBrk="1" hangingPunct="1">
              <a:lnSpc>
                <a:spcPct val="95000"/>
              </a:lnSpc>
              <a:buNone/>
              <a:tabLst>
                <a:tab pos="796925" algn="l"/>
              </a:tabLst>
            </a:pPr>
            <a:r>
              <a:rPr lang="en-CA" altLang="en-TW" b="1" dirty="0">
                <a:solidFill>
                  <a:srgbClr val="00468F"/>
                </a:solidFill>
              </a:rPr>
              <a:t>The Monetary Base</a:t>
            </a:r>
          </a:p>
          <a:p>
            <a:pPr marL="457200" lvl="1" indent="0" eaLnBrk="1" hangingPunct="1">
              <a:lnSpc>
                <a:spcPct val="95000"/>
              </a:lnSpc>
              <a:buNone/>
              <a:tabLst>
                <a:tab pos="796925" algn="l"/>
              </a:tabLst>
            </a:pPr>
            <a:r>
              <a:rPr lang="en-CA" altLang="en-TW" dirty="0"/>
              <a:t>The monetary base is the sum of Federal Reserve notes, coins, and banks</a:t>
            </a:r>
            <a:r>
              <a:rPr lang="ja-JP" altLang="en-CA"/>
              <a:t>’</a:t>
            </a:r>
            <a:r>
              <a:rPr lang="en-CA" altLang="ja-JP" dirty="0"/>
              <a:t> deposits at the Fed.</a:t>
            </a:r>
          </a:p>
          <a:p>
            <a:pPr marL="457200" lvl="1" indent="0" eaLnBrk="1" hangingPunct="1">
              <a:lnSpc>
                <a:spcPct val="95000"/>
              </a:lnSpc>
              <a:buNone/>
              <a:tabLst>
                <a:tab pos="796925" algn="l"/>
              </a:tabLst>
            </a:pPr>
            <a:r>
              <a:rPr lang="en-CA" altLang="en-TW" dirty="0"/>
              <a:t>The size of the monetary base limits the total quantity of money that the banking system can create because</a:t>
            </a:r>
          </a:p>
          <a:p>
            <a:pPr marL="457200" lvl="1" indent="0" eaLnBrk="1" hangingPunct="1">
              <a:lnSpc>
                <a:spcPct val="95000"/>
              </a:lnSpc>
              <a:buNone/>
              <a:tabLst>
                <a:tab pos="796925" algn="l"/>
              </a:tabLst>
            </a:pPr>
            <a:r>
              <a:rPr lang="en-CA" altLang="en-TW" dirty="0"/>
              <a:t>1. Banks have desired reserves.</a:t>
            </a:r>
          </a:p>
          <a:p>
            <a:pPr marL="457200" lvl="1" indent="0" eaLnBrk="1" hangingPunct="1">
              <a:lnSpc>
                <a:spcPct val="95000"/>
              </a:lnSpc>
              <a:buNone/>
              <a:tabLst>
                <a:tab pos="796925" algn="l"/>
              </a:tabLst>
            </a:pPr>
            <a:r>
              <a:rPr lang="en-CA" altLang="en-TW" dirty="0"/>
              <a:t>2. Households and firms have desired currency 	holdings.</a:t>
            </a:r>
          </a:p>
          <a:p>
            <a:pPr marL="457200" lvl="1" indent="0" eaLnBrk="1" hangingPunct="1">
              <a:lnSpc>
                <a:spcPct val="95000"/>
              </a:lnSpc>
              <a:buNone/>
              <a:tabLst>
                <a:tab pos="796925" algn="l"/>
              </a:tabLst>
            </a:pPr>
            <a:r>
              <a:rPr lang="en-CA" altLang="en-TW" dirty="0"/>
              <a:t>And both of these desired holdings of monetary base depend on the quantity of money.</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9619">
                                            <p:txEl>
                                              <p:pRg st="1" end="1"/>
                                            </p:txEl>
                                          </p:spTgt>
                                        </p:tgtEl>
                                        <p:attrNameLst>
                                          <p:attrName>style.visibility</p:attrName>
                                        </p:attrNameLst>
                                      </p:cBhvr>
                                      <p:to>
                                        <p:strVal val="visible"/>
                                      </p:to>
                                    </p:set>
                                    <p:animEffect transition="in" filter="wipe(left)">
                                      <p:cBhvr>
                                        <p:cTn id="7" dur="1000"/>
                                        <p:tgtEl>
                                          <p:spTgt spid="8796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9619">
                                            <p:txEl>
                                              <p:pRg st="2" end="2"/>
                                            </p:txEl>
                                          </p:spTgt>
                                        </p:tgtEl>
                                        <p:attrNameLst>
                                          <p:attrName>style.visibility</p:attrName>
                                        </p:attrNameLst>
                                      </p:cBhvr>
                                      <p:to>
                                        <p:strVal val="visible"/>
                                      </p:to>
                                    </p:set>
                                    <p:animEffect transition="in" filter="wipe(left)">
                                      <p:cBhvr>
                                        <p:cTn id="12" dur="1000"/>
                                        <p:tgtEl>
                                          <p:spTgt spid="87961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9619">
                                            <p:txEl>
                                              <p:pRg st="3" end="3"/>
                                            </p:txEl>
                                          </p:spTgt>
                                        </p:tgtEl>
                                        <p:attrNameLst>
                                          <p:attrName>style.visibility</p:attrName>
                                        </p:attrNameLst>
                                      </p:cBhvr>
                                      <p:to>
                                        <p:strVal val="visible"/>
                                      </p:to>
                                    </p:set>
                                    <p:animEffect transition="in" filter="wipe(left)">
                                      <p:cBhvr>
                                        <p:cTn id="17" dur="1000"/>
                                        <p:tgtEl>
                                          <p:spTgt spid="87961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79619">
                                            <p:txEl>
                                              <p:pRg st="4" end="4"/>
                                            </p:txEl>
                                          </p:spTgt>
                                        </p:tgtEl>
                                        <p:attrNameLst>
                                          <p:attrName>style.visibility</p:attrName>
                                        </p:attrNameLst>
                                      </p:cBhvr>
                                      <p:to>
                                        <p:strVal val="visible"/>
                                      </p:to>
                                    </p:set>
                                    <p:animEffect transition="in" filter="wipe(left)">
                                      <p:cBhvr>
                                        <p:cTn id="22" dur="1000"/>
                                        <p:tgtEl>
                                          <p:spTgt spid="87961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79619">
                                            <p:txEl>
                                              <p:pRg st="5" end="5"/>
                                            </p:txEl>
                                          </p:spTgt>
                                        </p:tgtEl>
                                        <p:attrNameLst>
                                          <p:attrName>style.visibility</p:attrName>
                                        </p:attrNameLst>
                                      </p:cBhvr>
                                      <p:to>
                                        <p:strVal val="visible"/>
                                      </p:to>
                                    </p:set>
                                    <p:animEffect transition="in" filter="wipe(left)">
                                      <p:cBhvr>
                                        <p:cTn id="27" dur="1000"/>
                                        <p:tgtEl>
                                          <p:spTgt spid="8796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19" grpId="0" build="p" bldLvl="3"/>
    </p:bldLst>
  </p:timing>
</p:sld>
</file>

<file path=ppt/slides/slide6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81666" name="Rectangle 2">
            <a:extLst>
              <a:ext uri="{FF2B5EF4-FFF2-40B4-BE49-F238E27FC236}">
                <a16:creationId xmlns:a16="http://schemas.microsoft.com/office/drawing/2014/main" id="{638F34B5-C058-5229-4BF2-F5B14F6284B1}"/>
              </a:ext>
            </a:extLst>
          </p:cNvPr>
          <p:cNvSpPr>
            <a:spLocks noGrp="1" noChangeArrowheads="1"/>
          </p:cNvSpPr>
          <p:nvPr>
            <p:ph type="title"/>
          </p:nvPr>
        </p:nvSpPr>
        <p:spPr>
          <a:xfrm>
            <a:off x="-108520" y="116632"/>
            <a:ext cx="8795320" cy="778098"/>
          </a:xfrm>
        </p:spPr>
        <p:txBody>
          <a:bodyPr/>
          <a:lstStyle/>
          <a:p>
            <a:pPr eaLnBrk="1" hangingPunct="1">
              <a:defRPr/>
            </a:pPr>
            <a:r>
              <a:rPr lang="en-CA" dirty="0">
                <a:cs typeface="+mj-cs"/>
              </a:rPr>
              <a:t>REGULATING THE QUANTITY OF MONEY</a:t>
            </a:r>
          </a:p>
        </p:txBody>
      </p:sp>
      <p:sp>
        <p:nvSpPr>
          <p:cNvPr id="881667" name="Rectangle 3">
            <a:extLst>
              <a:ext uri="{FF2B5EF4-FFF2-40B4-BE49-F238E27FC236}">
                <a16:creationId xmlns:a16="http://schemas.microsoft.com/office/drawing/2014/main" id="{7C517A3B-0FD9-B8C5-FE40-7D2E483B3C4B}"/>
              </a:ext>
            </a:extLst>
          </p:cNvPr>
          <p:cNvSpPr>
            <a:spLocks noGrp="1" noChangeArrowheads="1"/>
          </p:cNvSpPr>
          <p:nvPr>
            <p:ph type="body" idx="1"/>
          </p:nvPr>
        </p:nvSpPr>
        <p:spPr>
          <a:xfrm>
            <a:off x="106488" y="1177433"/>
            <a:ext cx="9037512" cy="5661248"/>
          </a:xfrm>
        </p:spPr>
        <p:txBody>
          <a:bodyPr/>
          <a:lstStyle/>
          <a:p>
            <a:pPr marL="457200" lvl="1" indent="0" eaLnBrk="1" hangingPunct="1">
              <a:lnSpc>
                <a:spcPct val="90000"/>
              </a:lnSpc>
              <a:buNone/>
            </a:pPr>
            <a:r>
              <a:rPr lang="en-CA" altLang="en-TW" sz="2400" b="1" dirty="0">
                <a:solidFill>
                  <a:srgbClr val="00468F"/>
                </a:solidFill>
              </a:rPr>
              <a:t>Desired Reserves</a:t>
            </a:r>
          </a:p>
          <a:p>
            <a:pPr marL="457200" lvl="1" indent="0" eaLnBrk="1" hangingPunct="1">
              <a:lnSpc>
                <a:spcPct val="100000"/>
              </a:lnSpc>
              <a:spcBef>
                <a:spcPct val="20000"/>
              </a:spcBef>
              <a:spcAft>
                <a:spcPct val="30000"/>
              </a:spcAft>
              <a:buNone/>
            </a:pPr>
            <a:r>
              <a:rPr lang="en-CA" altLang="en-TW" sz="2400" dirty="0"/>
              <a:t>A bank</a:t>
            </a:r>
            <a:r>
              <a:rPr lang="en-US" altLang="en-US" sz="2400" dirty="0"/>
              <a:t>’</a:t>
            </a:r>
            <a:r>
              <a:rPr lang="en-CA" altLang="ja-JP" sz="2400" dirty="0"/>
              <a:t>s </a:t>
            </a:r>
            <a:r>
              <a:rPr lang="en-CA" altLang="ja-JP" sz="2400" i="1" dirty="0"/>
              <a:t>actual reserves</a:t>
            </a:r>
            <a:r>
              <a:rPr lang="en-CA" altLang="ja-JP" sz="2400" dirty="0"/>
              <a:t> consists of notes and coins in its vault and its deposit at the Fed.</a:t>
            </a:r>
          </a:p>
          <a:p>
            <a:pPr marL="457200" lvl="1" indent="0" eaLnBrk="1" hangingPunct="1">
              <a:lnSpc>
                <a:spcPct val="100000"/>
              </a:lnSpc>
              <a:spcBef>
                <a:spcPct val="20000"/>
              </a:spcBef>
              <a:spcAft>
                <a:spcPct val="30000"/>
              </a:spcAft>
              <a:buNone/>
            </a:pPr>
            <a:r>
              <a:rPr lang="en-CA" altLang="en-TW" sz="2400" dirty="0"/>
              <a:t>The fraction of a bank</a:t>
            </a:r>
            <a:r>
              <a:rPr lang="en-US" altLang="ja-JP" sz="2400" dirty="0"/>
              <a:t>’</a:t>
            </a:r>
            <a:r>
              <a:rPr lang="en-CA" altLang="ja-JP" sz="2400" dirty="0"/>
              <a:t>s total deposits held as reserves is the </a:t>
            </a:r>
            <a:r>
              <a:rPr lang="en-CA" altLang="ja-JP" sz="2400" i="1" dirty="0"/>
              <a:t>reserve ratio</a:t>
            </a:r>
            <a:r>
              <a:rPr lang="en-CA" altLang="ja-JP" sz="2400" dirty="0"/>
              <a:t>.</a:t>
            </a:r>
          </a:p>
          <a:p>
            <a:pPr marL="457200" lvl="1" indent="0" eaLnBrk="1" hangingPunct="1">
              <a:lnSpc>
                <a:spcPct val="100000"/>
              </a:lnSpc>
              <a:spcBef>
                <a:spcPct val="20000"/>
              </a:spcBef>
              <a:spcAft>
                <a:spcPct val="30000"/>
              </a:spcAft>
              <a:buNone/>
            </a:pPr>
            <a:r>
              <a:rPr lang="en-CA" altLang="en-TW" sz="2400" dirty="0"/>
              <a:t>The </a:t>
            </a:r>
            <a:r>
              <a:rPr lang="en-CA" altLang="en-TW" sz="2400" i="1" dirty="0"/>
              <a:t>desired reserve ratio</a:t>
            </a:r>
            <a:r>
              <a:rPr lang="en-CA" altLang="en-TW" sz="2400" dirty="0"/>
              <a:t> is the ratio of reserves to deposits that a bank wants to hold. This ratio exceeds the required reserve ratio by the amount that the bank determines to be prudent for its daily business.</a:t>
            </a:r>
          </a:p>
          <a:p>
            <a:pPr marL="457200" lvl="1" indent="0" eaLnBrk="1" hangingPunct="1">
              <a:lnSpc>
                <a:spcPct val="100000"/>
              </a:lnSpc>
              <a:spcBef>
                <a:spcPct val="20000"/>
              </a:spcBef>
              <a:spcAft>
                <a:spcPct val="30000"/>
              </a:spcAft>
              <a:buNone/>
            </a:pPr>
            <a:r>
              <a:rPr lang="en-CA" altLang="en-TW" sz="2400" b="1" dirty="0">
                <a:solidFill>
                  <a:srgbClr val="FF0000"/>
                </a:solidFill>
              </a:rPr>
              <a:t>Excess reserves</a:t>
            </a:r>
            <a:r>
              <a:rPr lang="en-CA" altLang="en-TW" sz="2400" dirty="0"/>
              <a:t> equal the bank</a:t>
            </a:r>
            <a:r>
              <a:rPr lang="en-US" altLang="en-US" sz="2400" dirty="0"/>
              <a:t>’</a:t>
            </a:r>
            <a:r>
              <a:rPr lang="en-CA" altLang="ja-JP" sz="2400" dirty="0"/>
              <a:t>s actual reserves minus desired reserves.</a:t>
            </a:r>
            <a:endParaRPr lang="en-CA" altLang="en-TW" sz="2400"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1667">
                                            <p:txEl>
                                              <p:pRg st="1" end="1"/>
                                            </p:txEl>
                                          </p:spTgt>
                                        </p:tgtEl>
                                        <p:attrNameLst>
                                          <p:attrName>style.visibility</p:attrName>
                                        </p:attrNameLst>
                                      </p:cBhvr>
                                      <p:to>
                                        <p:strVal val="visible"/>
                                      </p:to>
                                    </p:set>
                                    <p:animEffect transition="in" filter="wipe(left)">
                                      <p:cBhvr>
                                        <p:cTn id="7" dur="1000"/>
                                        <p:tgtEl>
                                          <p:spTgt spid="8816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1667">
                                            <p:txEl>
                                              <p:pRg st="2" end="2"/>
                                            </p:txEl>
                                          </p:spTgt>
                                        </p:tgtEl>
                                        <p:attrNameLst>
                                          <p:attrName>style.visibility</p:attrName>
                                        </p:attrNameLst>
                                      </p:cBhvr>
                                      <p:to>
                                        <p:strVal val="visible"/>
                                      </p:to>
                                    </p:set>
                                    <p:animEffect transition="in" filter="wipe(left)">
                                      <p:cBhvr>
                                        <p:cTn id="12" dur="1000"/>
                                        <p:tgtEl>
                                          <p:spTgt spid="88166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1667">
                                            <p:txEl>
                                              <p:pRg st="3" end="3"/>
                                            </p:txEl>
                                          </p:spTgt>
                                        </p:tgtEl>
                                        <p:attrNameLst>
                                          <p:attrName>style.visibility</p:attrName>
                                        </p:attrNameLst>
                                      </p:cBhvr>
                                      <p:to>
                                        <p:strVal val="visible"/>
                                      </p:to>
                                    </p:set>
                                    <p:animEffect transition="in" filter="wipe(left)">
                                      <p:cBhvr>
                                        <p:cTn id="17" dur="1000"/>
                                        <p:tgtEl>
                                          <p:spTgt spid="88166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1667">
                                            <p:txEl>
                                              <p:pRg st="4" end="4"/>
                                            </p:txEl>
                                          </p:spTgt>
                                        </p:tgtEl>
                                        <p:attrNameLst>
                                          <p:attrName>style.visibility</p:attrName>
                                        </p:attrNameLst>
                                      </p:cBhvr>
                                      <p:to>
                                        <p:strVal val="visible"/>
                                      </p:to>
                                    </p:set>
                                    <p:animEffect transition="in" filter="wipe(left)">
                                      <p:cBhvr>
                                        <p:cTn id="22" dur="1000"/>
                                        <p:tgtEl>
                                          <p:spTgt spid="8816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667" grpId="0" build="p" bldLvl="3"/>
    </p:bldLst>
  </p:timing>
</p:sld>
</file>

<file path=ppt/slides/slide6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83714" name="Rectangle 2">
            <a:extLst>
              <a:ext uri="{FF2B5EF4-FFF2-40B4-BE49-F238E27FC236}">
                <a16:creationId xmlns:a16="http://schemas.microsoft.com/office/drawing/2014/main" id="{4478CC2E-A3E8-31E6-448A-B2A7D152F8B9}"/>
              </a:ext>
            </a:extLst>
          </p:cNvPr>
          <p:cNvSpPr>
            <a:spLocks noGrp="1" noChangeArrowheads="1"/>
          </p:cNvSpPr>
          <p:nvPr>
            <p:ph type="title"/>
          </p:nvPr>
        </p:nvSpPr>
        <p:spPr>
          <a:xfrm>
            <a:off x="179512" y="274638"/>
            <a:ext cx="8507288" cy="562074"/>
          </a:xfrm>
        </p:spPr>
        <p:txBody>
          <a:bodyPr/>
          <a:lstStyle/>
          <a:p>
            <a:pPr eaLnBrk="1" hangingPunct="1">
              <a:defRPr/>
            </a:pPr>
            <a:r>
              <a:rPr lang="en-CA" dirty="0">
                <a:cs typeface="+mj-cs"/>
              </a:rPr>
              <a:t>REGULATING THE QUANTITY OF MONEY</a:t>
            </a:r>
          </a:p>
        </p:txBody>
      </p:sp>
      <p:sp>
        <p:nvSpPr>
          <p:cNvPr id="883715" name="Rectangle 3">
            <a:extLst>
              <a:ext uri="{FF2B5EF4-FFF2-40B4-BE49-F238E27FC236}">
                <a16:creationId xmlns:a16="http://schemas.microsoft.com/office/drawing/2014/main" id="{2E37C2E2-C028-80B8-C101-D42019ECDB53}"/>
              </a:ext>
            </a:extLst>
          </p:cNvPr>
          <p:cNvSpPr>
            <a:spLocks noGrp="1" noChangeArrowheads="1"/>
          </p:cNvSpPr>
          <p:nvPr>
            <p:ph type="body" idx="1"/>
          </p:nvPr>
        </p:nvSpPr>
        <p:spPr>
          <a:xfrm>
            <a:off x="179512" y="1412776"/>
            <a:ext cx="8784976" cy="4464496"/>
          </a:xfrm>
        </p:spPr>
        <p:txBody>
          <a:bodyPr/>
          <a:lstStyle/>
          <a:p>
            <a:pPr marL="457200" lvl="1" indent="0" eaLnBrk="1" hangingPunct="1">
              <a:lnSpc>
                <a:spcPct val="90000"/>
              </a:lnSpc>
              <a:buNone/>
              <a:defRPr/>
            </a:pPr>
            <a:r>
              <a:rPr lang="en-CA" sz="2400" b="1" dirty="0">
                <a:solidFill>
                  <a:srgbClr val="00468F"/>
                </a:solidFill>
              </a:rPr>
              <a:t>Desired Currency Holding</a:t>
            </a:r>
          </a:p>
          <a:p>
            <a:pPr marL="457200" lvl="1" indent="0" eaLnBrk="1" hangingPunct="1">
              <a:lnSpc>
                <a:spcPct val="90000"/>
              </a:lnSpc>
              <a:buNone/>
              <a:defRPr/>
            </a:pPr>
            <a:r>
              <a:rPr lang="en-CA" sz="2400" dirty="0"/>
              <a:t>We hold money in the form of currency and bank deposits and some fraction of their money as currency.</a:t>
            </a:r>
          </a:p>
          <a:p>
            <a:pPr marL="457200" lvl="1" indent="0" eaLnBrk="1" hangingPunct="1">
              <a:lnSpc>
                <a:spcPct val="90000"/>
              </a:lnSpc>
              <a:buNone/>
              <a:defRPr/>
            </a:pPr>
            <a:r>
              <a:rPr lang="en-CA" sz="2400" dirty="0"/>
              <a:t>So when the total quantity of money increases, so does the quantity of currency that people want to hold.</a:t>
            </a:r>
          </a:p>
          <a:p>
            <a:pPr marL="457200" lvl="1" indent="0" eaLnBrk="1" hangingPunct="1">
              <a:lnSpc>
                <a:spcPct val="90000"/>
              </a:lnSpc>
              <a:buNone/>
              <a:defRPr/>
            </a:pPr>
            <a:r>
              <a:rPr lang="en-CA" sz="2400" dirty="0"/>
              <a:t>Because desired currency holding increases when deposits increase, currency leaves the banks when they make loans and increase deposits. </a:t>
            </a:r>
          </a:p>
          <a:p>
            <a:pPr marL="457200" lvl="1" indent="0" eaLnBrk="1" hangingPunct="1">
              <a:lnSpc>
                <a:spcPct val="90000"/>
              </a:lnSpc>
              <a:buNone/>
              <a:defRPr/>
            </a:pPr>
            <a:r>
              <a:rPr lang="en-CA" sz="2400" dirty="0"/>
              <a:t>This leakage of currency is called the </a:t>
            </a:r>
            <a:r>
              <a:rPr lang="en-CA" sz="2400" i="1" dirty="0">
                <a:solidFill>
                  <a:srgbClr val="C00000"/>
                </a:solidFill>
              </a:rPr>
              <a:t>currency drain</a:t>
            </a:r>
            <a:r>
              <a:rPr lang="en-CA" sz="2400" dirty="0">
                <a:solidFill>
                  <a:srgbClr val="C00000"/>
                </a:solidFill>
              </a:rPr>
              <a:t>.</a:t>
            </a:r>
          </a:p>
          <a:p>
            <a:pPr marL="457200" lvl="1" indent="0" eaLnBrk="1" hangingPunct="1">
              <a:lnSpc>
                <a:spcPct val="90000"/>
              </a:lnSpc>
              <a:buNone/>
              <a:defRPr/>
            </a:pPr>
            <a:r>
              <a:rPr lang="en-CA" sz="2400" dirty="0"/>
              <a:t>The ratio of currency to deposits is called the </a:t>
            </a:r>
            <a:r>
              <a:rPr lang="en-CA" sz="2400" i="1" dirty="0">
                <a:solidFill>
                  <a:srgbClr val="C00000"/>
                </a:solidFill>
              </a:rPr>
              <a:t>currency drain ratio</a:t>
            </a:r>
            <a:r>
              <a:rPr lang="en-CA" sz="2400" dirty="0">
                <a:solidFill>
                  <a:srgbClr val="C00000"/>
                </a:solidFill>
              </a:rPr>
              <a:t>.</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3715">
                                            <p:txEl>
                                              <p:pRg st="1" end="1"/>
                                            </p:txEl>
                                          </p:spTgt>
                                        </p:tgtEl>
                                        <p:attrNameLst>
                                          <p:attrName>style.visibility</p:attrName>
                                        </p:attrNameLst>
                                      </p:cBhvr>
                                      <p:to>
                                        <p:strVal val="visible"/>
                                      </p:to>
                                    </p:set>
                                    <p:animEffect transition="in" filter="wipe(left)">
                                      <p:cBhvr>
                                        <p:cTn id="7" dur="1000"/>
                                        <p:tgtEl>
                                          <p:spTgt spid="8837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3715">
                                            <p:txEl>
                                              <p:pRg st="2" end="2"/>
                                            </p:txEl>
                                          </p:spTgt>
                                        </p:tgtEl>
                                        <p:attrNameLst>
                                          <p:attrName>style.visibility</p:attrName>
                                        </p:attrNameLst>
                                      </p:cBhvr>
                                      <p:to>
                                        <p:strVal val="visible"/>
                                      </p:to>
                                    </p:set>
                                    <p:animEffect transition="in" filter="wipe(left)">
                                      <p:cBhvr>
                                        <p:cTn id="12" dur="1000"/>
                                        <p:tgtEl>
                                          <p:spTgt spid="8837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3715">
                                            <p:txEl>
                                              <p:pRg st="3" end="3"/>
                                            </p:txEl>
                                          </p:spTgt>
                                        </p:tgtEl>
                                        <p:attrNameLst>
                                          <p:attrName>style.visibility</p:attrName>
                                        </p:attrNameLst>
                                      </p:cBhvr>
                                      <p:to>
                                        <p:strVal val="visible"/>
                                      </p:to>
                                    </p:set>
                                    <p:animEffect transition="in" filter="wipe(left)">
                                      <p:cBhvr>
                                        <p:cTn id="17" dur="1000"/>
                                        <p:tgtEl>
                                          <p:spTgt spid="8837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3715">
                                            <p:txEl>
                                              <p:pRg st="4" end="4"/>
                                            </p:txEl>
                                          </p:spTgt>
                                        </p:tgtEl>
                                        <p:attrNameLst>
                                          <p:attrName>style.visibility</p:attrName>
                                        </p:attrNameLst>
                                      </p:cBhvr>
                                      <p:to>
                                        <p:strVal val="visible"/>
                                      </p:to>
                                    </p:set>
                                    <p:animEffect transition="in" filter="wipe(left)">
                                      <p:cBhvr>
                                        <p:cTn id="22" dur="1000"/>
                                        <p:tgtEl>
                                          <p:spTgt spid="88371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83715">
                                            <p:txEl>
                                              <p:pRg st="5" end="5"/>
                                            </p:txEl>
                                          </p:spTgt>
                                        </p:tgtEl>
                                        <p:attrNameLst>
                                          <p:attrName>style.visibility</p:attrName>
                                        </p:attrNameLst>
                                      </p:cBhvr>
                                      <p:to>
                                        <p:strVal val="visible"/>
                                      </p:to>
                                    </p:set>
                                    <p:animEffect transition="in" filter="wipe(left)">
                                      <p:cBhvr>
                                        <p:cTn id="27" dur="1000"/>
                                        <p:tgtEl>
                                          <p:spTgt spid="8837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3715" grpId="0" build="p" bldLvl="3"/>
    </p:bldLst>
  </p:timing>
</p:sld>
</file>

<file path=ppt/slides/slide62.xml><?xml version="1.0" encoding="utf-8"?>
<p:sld xmlns:a="http://schemas.openxmlformats.org/drawingml/2006/main" xmlns:r="http://schemas.openxmlformats.org/officeDocument/2006/relationships" xmlns:p="http://schemas.openxmlformats.org/presentationml/2006/main" showMasterSp="0" showMasterPhAnim="0" show="0">
  <p:cSld>
    <p:spTree>
      <p:nvGrpSpPr>
        <p:cNvPr id="1" name=""/>
        <p:cNvGrpSpPr/>
        <p:nvPr/>
      </p:nvGrpSpPr>
      <p:grpSpPr>
        <a:xfrm>
          <a:off x="0" y="0"/>
          <a:ext cx="0" cy="0"/>
          <a:chOff x="0" y="0"/>
          <a:chExt cx="0" cy="0"/>
        </a:xfrm>
      </p:grpSpPr>
      <p:sp>
        <p:nvSpPr>
          <p:cNvPr id="846851" name="Rectangle 3">
            <a:extLst>
              <a:ext uri="{FF2B5EF4-FFF2-40B4-BE49-F238E27FC236}">
                <a16:creationId xmlns:a16="http://schemas.microsoft.com/office/drawing/2014/main" id="{EF5EA9C4-F54F-C325-7406-ADF95EB1090A}"/>
              </a:ext>
            </a:extLst>
          </p:cNvPr>
          <p:cNvSpPr>
            <a:spLocks noGrp="1" noChangeArrowheads="1"/>
          </p:cNvSpPr>
          <p:nvPr>
            <p:ph type="body" idx="1"/>
          </p:nvPr>
        </p:nvSpPr>
        <p:spPr/>
        <p:txBody>
          <a:bodyPr/>
          <a:lstStyle/>
          <a:p>
            <a:pPr lvl="1" eaLnBrk="1" hangingPunct="1"/>
            <a:r>
              <a:rPr lang="en-US" altLang="en-TW" dirty="0"/>
              <a:t>The Central bank constantly takes actions that influence the quantity of money, and open market operations are the Central bank</a:t>
            </a:r>
            <a:r>
              <a:rPr lang="en-US" altLang="en-US" dirty="0"/>
              <a:t>’</a:t>
            </a:r>
            <a:r>
              <a:rPr lang="en-US" altLang="en-TW" dirty="0"/>
              <a:t>s major policy tool.</a:t>
            </a:r>
          </a:p>
          <a:p>
            <a:pPr lvl="1" eaLnBrk="1" hangingPunct="1"/>
            <a:r>
              <a:rPr lang="en-US" altLang="en-TW" dirty="0"/>
              <a:t>An </a:t>
            </a:r>
            <a:r>
              <a:rPr lang="en-US" altLang="en-TW" i="1" dirty="0">
                <a:solidFill>
                  <a:srgbClr val="C00000"/>
                </a:solidFill>
              </a:rPr>
              <a:t>open market operation</a:t>
            </a:r>
            <a:r>
              <a:rPr lang="en-US" altLang="en-TW" dirty="0">
                <a:solidFill>
                  <a:srgbClr val="C00000"/>
                </a:solidFill>
              </a:rPr>
              <a:t> </a:t>
            </a:r>
            <a:r>
              <a:rPr lang="en-US" altLang="en-TW" dirty="0"/>
              <a:t>is the purchase or sale of government securities by the Central bank in the open market.</a:t>
            </a:r>
            <a:endParaRPr lang="en-US" altLang="en-TW" i="1" dirty="0"/>
          </a:p>
        </p:txBody>
      </p:sp>
      <p:sp>
        <p:nvSpPr>
          <p:cNvPr id="846852" name="Rectangle 4">
            <a:extLst>
              <a:ext uri="{FF2B5EF4-FFF2-40B4-BE49-F238E27FC236}">
                <a16:creationId xmlns:a16="http://schemas.microsoft.com/office/drawing/2014/main" id="{C38594DF-9280-7F02-3AEE-B10C3770A7A8}"/>
              </a:ext>
            </a:extLst>
          </p:cNvPr>
          <p:cNvSpPr>
            <a:spLocks noGrp="1" noChangeArrowheads="1"/>
          </p:cNvSpPr>
          <p:nvPr>
            <p:ph type="title"/>
          </p:nvPr>
        </p:nvSpPr>
        <p:spPr/>
        <p:txBody>
          <a:bodyPr/>
          <a:lstStyle/>
          <a:p>
            <a:pPr eaLnBrk="1" hangingPunct="1">
              <a:defRPr/>
            </a:pPr>
            <a:r>
              <a:rPr lang="en-US" dirty="0">
                <a:cs typeface="+mj-cs"/>
              </a:rPr>
              <a:t>REGULATING THE QUANTITY OF MONEY</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6851">
                                            <p:txEl>
                                              <p:pRg st="1" end="1"/>
                                            </p:txEl>
                                          </p:spTgt>
                                        </p:tgtEl>
                                        <p:attrNameLst>
                                          <p:attrName>style.visibility</p:attrName>
                                        </p:attrNameLst>
                                      </p:cBhvr>
                                      <p:to>
                                        <p:strVal val="visible"/>
                                      </p:to>
                                    </p:set>
                                    <p:animEffect transition="in" filter="wipe(left)">
                                      <p:cBhvr>
                                        <p:cTn id="7" dur="500"/>
                                        <p:tgtEl>
                                          <p:spTgt spid="8468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6851" grpId="0" build="p" bldLvl="3"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540336"/>
            <a:ext cx="8419529" cy="1034744"/>
          </a:xfrm>
        </p:spPr>
        <p:txBody>
          <a:bodyPr/>
          <a:lstStyle/>
          <a:p>
            <a:pPr algn="l"/>
            <a:r>
              <a:rPr lang="en-US" sz="3200" dirty="0"/>
              <a:t>Figure 24.3 </a:t>
            </a:r>
            <a:br>
              <a:rPr lang="en-US" sz="3200" dirty="0"/>
            </a:br>
            <a:r>
              <a:rPr lang="en-US" sz="3200" dirty="0"/>
              <a:t>How the banking system creates money by making loans</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0924" y="1915152"/>
            <a:ext cx="7262152" cy="4321094"/>
          </a:xfrm>
          <a:prstGeom prst="rect">
            <a:avLst/>
          </a:prstGeom>
        </p:spPr>
      </p:pic>
    </p:spTree>
    <p:extLst>
      <p:ext uri="{BB962C8B-B14F-4D97-AF65-F5344CB8AC3E}">
        <p14:creationId xmlns:p14="http://schemas.microsoft.com/office/powerpoint/2010/main" val="40913661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24.4 </a:t>
            </a:r>
            <a:br>
              <a:rPr lang="en-US" sz="3200" dirty="0"/>
            </a:br>
            <a:r>
              <a:rPr lang="en-US" sz="3200" dirty="0"/>
              <a:t>The demand for money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618938"/>
            <a:ext cx="8312727" cy="3826286"/>
          </a:xfrm>
          <a:prstGeom prst="rect">
            <a:avLst/>
          </a:prstGeom>
        </p:spPr>
      </p:pic>
    </p:spTree>
    <p:extLst>
      <p:ext uri="{BB962C8B-B14F-4D97-AF65-F5344CB8AC3E}">
        <p14:creationId xmlns:p14="http://schemas.microsoft.com/office/powerpoint/2010/main" val="19941651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24.5 </a:t>
            </a:r>
            <a:br>
              <a:rPr lang="en-US" sz="3200" dirty="0"/>
            </a:br>
            <a:r>
              <a:rPr lang="en-US" sz="3200" dirty="0"/>
              <a:t>Changes in the demand for money</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44139"/>
            <a:ext cx="8312727" cy="3773093"/>
          </a:xfrm>
          <a:prstGeom prst="rect">
            <a:avLst/>
          </a:prstGeom>
        </p:spPr>
      </p:pic>
    </p:spTree>
    <p:extLst>
      <p:ext uri="{BB962C8B-B14F-4D97-AF65-F5344CB8AC3E}">
        <p14:creationId xmlns:p14="http://schemas.microsoft.com/office/powerpoint/2010/main" val="2981279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24.6 </a:t>
            </a:r>
            <a:br>
              <a:rPr lang="en-US" sz="3200" dirty="0"/>
            </a:br>
            <a:r>
              <a:rPr lang="en-US" sz="3200" dirty="0"/>
              <a:t>The supply of money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652781"/>
            <a:ext cx="8312727" cy="3792443"/>
          </a:xfrm>
          <a:prstGeom prst="rect">
            <a:avLst/>
          </a:prstGeom>
        </p:spPr>
      </p:pic>
    </p:spTree>
    <p:extLst>
      <p:ext uri="{BB962C8B-B14F-4D97-AF65-F5344CB8AC3E}">
        <p14:creationId xmlns:p14="http://schemas.microsoft.com/office/powerpoint/2010/main" val="2732813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24.7 </a:t>
            </a:r>
            <a:br>
              <a:rPr lang="en-US" sz="3200" dirty="0"/>
            </a:br>
            <a:r>
              <a:rPr lang="en-US" sz="3200" dirty="0"/>
              <a:t>Money market equilibrium</a:t>
            </a:r>
            <a:endParaRPr lang="en-US" sz="3200" dirty="0">
              <a:highlight>
                <a:srgbClr val="FFFF00"/>
              </a:highlight>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670274"/>
            <a:ext cx="8312727" cy="3702942"/>
          </a:xfrm>
          <a:prstGeom prst="rect">
            <a:avLst/>
          </a:prstGeom>
        </p:spPr>
      </p:pic>
    </p:spTree>
    <p:extLst>
      <p:ext uri="{BB962C8B-B14F-4D97-AF65-F5344CB8AC3E}">
        <p14:creationId xmlns:p14="http://schemas.microsoft.com/office/powerpoint/2010/main" val="36452559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24.8 </a:t>
            </a:r>
            <a:br>
              <a:rPr lang="en-US" sz="3200" dirty="0"/>
            </a:br>
            <a:r>
              <a:rPr lang="en-US" sz="3200" dirty="0"/>
              <a:t>A change in the supply of money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550923"/>
            <a:ext cx="8312727" cy="3822293"/>
          </a:xfrm>
          <a:prstGeom prst="rect">
            <a:avLst/>
          </a:prstGeom>
        </p:spPr>
      </p:pic>
    </p:spTree>
    <p:extLst>
      <p:ext uri="{BB962C8B-B14F-4D97-AF65-F5344CB8AC3E}">
        <p14:creationId xmlns:p14="http://schemas.microsoft.com/office/powerpoint/2010/main" val="11435815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1 </a:t>
            </a:r>
            <a:br>
              <a:rPr lang="en-US" sz="3200" dirty="0"/>
            </a:br>
            <a:r>
              <a:rPr lang="en-US" sz="3200" dirty="0"/>
              <a:t>UK money growth and inflation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6105" y="1467782"/>
            <a:ext cx="4951788" cy="4546347"/>
          </a:xfrm>
          <a:prstGeom prst="rect">
            <a:avLst/>
          </a:prstGeom>
        </p:spPr>
      </p:pic>
      <p:sp>
        <p:nvSpPr>
          <p:cNvPr id="4" name="TextBox 3"/>
          <p:cNvSpPr txBox="1"/>
          <p:nvPr/>
        </p:nvSpPr>
        <p:spPr>
          <a:xfrm>
            <a:off x="352103" y="6092373"/>
            <a:ext cx="1675459" cy="215444"/>
          </a:xfrm>
          <a:prstGeom prst="rect">
            <a:avLst/>
          </a:prstGeom>
          <a:noFill/>
        </p:spPr>
        <p:txBody>
          <a:bodyPr wrap="none" rtlCol="0">
            <a:spAutoFit/>
          </a:bodyPr>
          <a:lstStyle/>
          <a:p>
            <a:r>
              <a:rPr lang="en-US" sz="800" dirty="0"/>
              <a:t>Source of data: Bank of England</a:t>
            </a:r>
            <a:endParaRPr lang="en-IN" sz="800" dirty="0"/>
          </a:p>
        </p:txBody>
      </p:sp>
    </p:spTree>
    <p:extLst>
      <p:ext uri="{BB962C8B-B14F-4D97-AF65-F5344CB8AC3E}">
        <p14:creationId xmlns:p14="http://schemas.microsoft.com/office/powerpoint/2010/main" val="10341871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2 </a:t>
            </a:r>
            <a:br>
              <a:rPr lang="en-US" sz="3200" dirty="0"/>
            </a:br>
            <a:r>
              <a:rPr lang="en-US" sz="3200" dirty="0"/>
              <a:t>134 Countries: 1990–2005</a:t>
            </a:r>
          </a:p>
        </p:txBody>
      </p:sp>
      <p:sp>
        <p:nvSpPr>
          <p:cNvPr id="4" name="TextBox 3"/>
          <p:cNvSpPr txBox="1"/>
          <p:nvPr/>
        </p:nvSpPr>
        <p:spPr>
          <a:xfrm>
            <a:off x="352103" y="6092373"/>
            <a:ext cx="6633547" cy="215444"/>
          </a:xfrm>
          <a:prstGeom prst="rect">
            <a:avLst/>
          </a:prstGeom>
          <a:noFill/>
        </p:spPr>
        <p:txBody>
          <a:bodyPr wrap="none" rtlCol="0">
            <a:spAutoFit/>
          </a:bodyPr>
          <a:lstStyle/>
          <a:p>
            <a:r>
              <a:rPr lang="en-US" sz="800" dirty="0"/>
              <a:t>Sources of data: </a:t>
            </a:r>
            <a:r>
              <a:rPr lang="en-US" sz="800" i="1" dirty="0"/>
              <a:t>International Financial Statistics Yearbook, </a:t>
            </a:r>
            <a:r>
              <a:rPr lang="en-US" sz="800" dirty="0"/>
              <a:t>2017, and International Monetary Fund, </a:t>
            </a:r>
            <a:r>
              <a:rPr lang="en-US" sz="800" i="1" dirty="0"/>
              <a:t>World Economic Outlook, </a:t>
            </a:r>
            <a:r>
              <a:rPr lang="en-IN" sz="800" dirty="0"/>
              <a:t>October 2017</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5374" y="1415652"/>
            <a:ext cx="4793250" cy="4591810"/>
          </a:xfrm>
          <a:prstGeom prst="rect">
            <a:avLst/>
          </a:prstGeom>
        </p:spPr>
      </p:pic>
    </p:spTree>
    <p:extLst>
      <p:ext uri="{BB962C8B-B14F-4D97-AF65-F5344CB8AC3E}">
        <p14:creationId xmlns:p14="http://schemas.microsoft.com/office/powerpoint/2010/main" val="40277023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3 </a:t>
            </a:r>
            <a:br>
              <a:rPr lang="en-US" sz="3200" dirty="0"/>
            </a:br>
            <a:r>
              <a:rPr lang="en-US" sz="3200" dirty="0"/>
              <a:t>Lower-inflation countries: 1990–2005</a:t>
            </a:r>
          </a:p>
        </p:txBody>
      </p:sp>
      <p:sp>
        <p:nvSpPr>
          <p:cNvPr id="4" name="TextBox 3"/>
          <p:cNvSpPr txBox="1"/>
          <p:nvPr/>
        </p:nvSpPr>
        <p:spPr>
          <a:xfrm>
            <a:off x="352103" y="6092373"/>
            <a:ext cx="6633547" cy="215444"/>
          </a:xfrm>
          <a:prstGeom prst="rect">
            <a:avLst/>
          </a:prstGeom>
          <a:noFill/>
        </p:spPr>
        <p:txBody>
          <a:bodyPr wrap="none" rtlCol="0">
            <a:spAutoFit/>
          </a:bodyPr>
          <a:lstStyle/>
          <a:p>
            <a:r>
              <a:rPr lang="en-US" sz="800" dirty="0"/>
              <a:t>Sources of data: </a:t>
            </a:r>
            <a:r>
              <a:rPr lang="en-US" sz="800" i="1" dirty="0"/>
              <a:t>International Financial Statistics Yearbook, </a:t>
            </a:r>
            <a:r>
              <a:rPr lang="en-US" sz="800" dirty="0"/>
              <a:t>2017, and International Monetary Fund, </a:t>
            </a:r>
            <a:r>
              <a:rPr lang="en-US" sz="800" i="1" dirty="0"/>
              <a:t>World Economic Outlook, </a:t>
            </a:r>
            <a:r>
              <a:rPr lang="en-IN" sz="800" dirty="0"/>
              <a:t>October 2017</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1583" y="1464667"/>
            <a:ext cx="4620834" cy="4475493"/>
          </a:xfrm>
          <a:prstGeom prst="rect">
            <a:avLst/>
          </a:prstGeom>
        </p:spPr>
      </p:pic>
    </p:spTree>
    <p:extLst>
      <p:ext uri="{BB962C8B-B14F-4D97-AF65-F5344CB8AC3E}">
        <p14:creationId xmlns:p14="http://schemas.microsoft.com/office/powerpoint/2010/main" val="24758920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1 </a:t>
            </a:r>
            <a:br>
              <a:rPr lang="en-US" sz="3200" dirty="0"/>
            </a:br>
            <a:r>
              <a:rPr lang="en-US" sz="3200" dirty="0"/>
              <a:t>10-year bond interest rate and real GDP</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6093" y="1434124"/>
            <a:ext cx="5851813" cy="4778255"/>
          </a:xfrm>
          <a:prstGeom prst="rect">
            <a:avLst/>
          </a:prstGeom>
        </p:spPr>
      </p:pic>
    </p:spTree>
    <p:extLst>
      <p:ext uri="{BB962C8B-B14F-4D97-AF65-F5344CB8AC3E}">
        <p14:creationId xmlns:p14="http://schemas.microsoft.com/office/powerpoint/2010/main" val="16760430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2 </a:t>
            </a:r>
            <a:br>
              <a:rPr lang="en-US" sz="3200" dirty="0"/>
            </a:br>
            <a:r>
              <a:rPr lang="en-US" sz="3200" dirty="0"/>
              <a:t>Money market equilibrium</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7003" y="1441010"/>
            <a:ext cx="5389995" cy="4758262"/>
          </a:xfrm>
          <a:prstGeom prst="rect">
            <a:avLst/>
          </a:prstGeom>
        </p:spPr>
      </p:pic>
    </p:spTree>
    <p:extLst>
      <p:ext uri="{BB962C8B-B14F-4D97-AF65-F5344CB8AC3E}">
        <p14:creationId xmlns:p14="http://schemas.microsoft.com/office/powerpoint/2010/main" val="40987772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3 </a:t>
            </a:r>
            <a:br>
              <a:rPr lang="en-US" sz="3200" dirty="0"/>
            </a:br>
            <a:r>
              <a:rPr lang="en-US" sz="3200" dirty="0"/>
              <a:t>M4 growth rate and bank rate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7051" y="1471357"/>
            <a:ext cx="6549897" cy="4757878"/>
          </a:xfrm>
          <a:prstGeom prst="rect">
            <a:avLst/>
          </a:prstGeom>
        </p:spPr>
      </p:pic>
    </p:spTree>
    <p:extLst>
      <p:ext uri="{BB962C8B-B14F-4D97-AF65-F5344CB8AC3E}">
        <p14:creationId xmlns:p14="http://schemas.microsoft.com/office/powerpoint/2010/main" val="36233943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97224"/>
            <a:ext cx="8419529" cy="1034744"/>
          </a:xfrm>
        </p:spPr>
        <p:txBody>
          <a:bodyPr/>
          <a:lstStyle/>
          <a:p>
            <a:pPr algn="l"/>
            <a:r>
              <a:rPr lang="en-US" sz="3200" dirty="0"/>
              <a:t>Figure 1 </a:t>
            </a:r>
            <a:br>
              <a:rPr lang="en-US" sz="3200" dirty="0"/>
            </a:br>
            <a:r>
              <a:rPr lang="en-US" sz="3200" dirty="0"/>
              <a:t>The money creation process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2467" y="1417096"/>
            <a:ext cx="6499066" cy="4852014"/>
          </a:xfrm>
          <a:prstGeom prst="rect">
            <a:avLst/>
          </a:prstGeom>
        </p:spPr>
      </p:pic>
    </p:spTree>
    <p:extLst>
      <p:ext uri="{BB962C8B-B14F-4D97-AF65-F5344CB8AC3E}">
        <p14:creationId xmlns:p14="http://schemas.microsoft.com/office/powerpoint/2010/main" val="1996891215"/>
      </p:ext>
    </p:extLst>
  </p:cSld>
  <p:clrMapOvr>
    <a:masterClrMapping/>
  </p:clrMapOvr>
</p:sld>
</file>

<file path=ppt/theme/theme1.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Videocompleted_x003f_ xmlns="c888f911-6bfd-442d-9fe5-f42f2f7a2c59">false</Videocompleted_x003f_>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38981DF6FD949479277F2472D00FEA7" ma:contentTypeVersion="17" ma:contentTypeDescription="Create a new document." ma:contentTypeScope="" ma:versionID="c9a32762dcbd6c5e0f6b51de6863c537">
  <xsd:schema xmlns:xsd="http://www.w3.org/2001/XMLSchema" xmlns:xs="http://www.w3.org/2001/XMLSchema" xmlns:p="http://schemas.microsoft.com/office/2006/metadata/properties" xmlns:ns2="c888f911-6bfd-442d-9fe5-f42f2f7a2c59" xmlns:ns3="c86649ca-290d-4237-b5ca-38108a4ea666" targetNamespace="http://schemas.microsoft.com/office/2006/metadata/properties" ma:root="true" ma:fieldsID="ef88fcde43fbf2b7859e96eae522f514" ns2:_="" ns3:_="">
    <xsd:import namespace="c888f911-6bfd-442d-9fe5-f42f2f7a2c59"/>
    <xsd:import namespace="c86649ca-290d-4237-b5ca-38108a4ea66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Videocompleted_x003f_"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88f911-6bfd-442d-9fe5-f42f2f7a2c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Videocompleted_x003f_" ma:index="20" nillable="true" ma:displayName="Video completed?" ma:default="0" ma:format="Dropdown" ma:internalName="Videocompleted_x003f_">
      <xsd:simpleType>
        <xsd:restriction base="dms:Boolea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86649ca-290d-4237-b5ca-38108a4ea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9A3F61-13A4-47A6-BDA2-C2D344883AF0}">
  <ds:schemaRefs>
    <ds:schemaRef ds:uri="http://schemas.microsoft.com/sharepoint/v3/contenttype/forms"/>
  </ds:schemaRefs>
</ds:datastoreItem>
</file>

<file path=customXml/itemProps2.xml><?xml version="1.0" encoding="utf-8"?>
<ds:datastoreItem xmlns:ds="http://schemas.openxmlformats.org/officeDocument/2006/customXml" ds:itemID="{65162C22-5EC1-4514-873A-C7AF6F8F3814}">
  <ds:schemaRefs>
    <ds:schemaRef ds:uri="http://schemas.microsoft.com/office/2006/documentManagement/types"/>
    <ds:schemaRef ds:uri="http://schemas.microsoft.com/office/infopath/2007/PartnerControls"/>
    <ds:schemaRef ds:uri="http://purl.org/dc/elements/1.1/"/>
    <ds:schemaRef ds:uri="http://purl.org/dc/terms/"/>
    <ds:schemaRef ds:uri="http://purl.org/dc/dcmitype/"/>
    <ds:schemaRef ds:uri="c888f911-6bfd-442d-9fe5-f42f2f7a2c59"/>
    <ds:schemaRef ds:uri="http://www.w3.org/XML/1998/namespace"/>
    <ds:schemaRef ds:uri="http://schemas.microsoft.com/office/2006/metadata/properties"/>
    <ds:schemaRef ds:uri="http://schemas.openxmlformats.org/package/2006/metadata/core-properties"/>
    <ds:schemaRef ds:uri="c86649ca-290d-4237-b5ca-38108a4ea666"/>
  </ds:schemaRefs>
</ds:datastoreItem>
</file>

<file path=customXml/itemProps3.xml><?xml version="1.0" encoding="utf-8"?>
<ds:datastoreItem xmlns:ds="http://schemas.openxmlformats.org/officeDocument/2006/customXml" ds:itemID="{25F9DA32-FB23-4F36-9CE2-02F2F96E04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88f911-6bfd-442d-9fe5-f42f2f7a2c59"/>
    <ds:schemaRef ds:uri="c86649ca-290d-4237-b5ca-38108a4ea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c7fd77c-bf1b-4511-8a0d-ca095442aa9f}"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
  <TotalTime>5632</TotalTime>
  <Words>4196</Words>
  <Application>Microsoft Macintosh PowerPoint</Application>
  <PresentationFormat>On-screen Show (4:3)</PresentationFormat>
  <Paragraphs>391</Paragraphs>
  <Slides>75</Slides>
  <Notes>35</Notes>
  <HiddenSlides>6</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75</vt:i4>
      </vt:variant>
    </vt:vector>
  </HeadingPairs>
  <TitlesOfParts>
    <vt:vector size="84" baseType="lpstr">
      <vt:lpstr>MS Mincho</vt:lpstr>
      <vt:lpstr>Times</vt:lpstr>
      <vt:lpstr>Arial</vt:lpstr>
      <vt:lpstr>Calibri</vt:lpstr>
      <vt:lpstr>Tahoma</vt:lpstr>
      <vt:lpstr>Times New Roman</vt:lpstr>
      <vt:lpstr>Webdings</vt:lpstr>
      <vt:lpstr>Wingdings</vt:lpstr>
      <vt:lpstr>3_Default Design</vt:lpstr>
      <vt:lpstr>PowerPoint Presentation</vt:lpstr>
      <vt:lpstr>PowerPoint Presentation</vt:lpstr>
      <vt:lpstr>After studying this chapter, you will be able to:</vt:lpstr>
      <vt:lpstr>What is Money?</vt:lpstr>
      <vt:lpstr>What is Money?</vt:lpstr>
      <vt:lpstr>What is Money?</vt:lpstr>
      <vt:lpstr>PowerPoint Presentation</vt:lpstr>
      <vt:lpstr>WHAT IS MONEY?</vt:lpstr>
      <vt:lpstr>WHAT IS MONEY?</vt:lpstr>
      <vt:lpstr>WHAT IS MONEY?</vt:lpstr>
      <vt:lpstr>What is Money?</vt:lpstr>
      <vt:lpstr>WHAT IS MONEY?</vt:lpstr>
      <vt:lpstr>WHAT IS MONEY?</vt:lpstr>
      <vt:lpstr>Table 24.1  The unit of account function of money simplifies price comparisons</vt:lpstr>
      <vt:lpstr>What is Money?</vt:lpstr>
      <vt:lpstr>What is Money?</vt:lpstr>
      <vt:lpstr>WHAT IS MONEY?</vt:lpstr>
      <vt:lpstr>WHAT IS MONEY?</vt:lpstr>
      <vt:lpstr>WHAT IS MONEY?</vt:lpstr>
      <vt:lpstr>What is Money?</vt:lpstr>
      <vt:lpstr>Depository Institutions</vt:lpstr>
      <vt:lpstr>27.2  THE BANKING SYSTEM</vt:lpstr>
      <vt:lpstr>Depository Institutions</vt:lpstr>
      <vt:lpstr>Depository Institutions</vt:lpstr>
      <vt:lpstr>Depository Institutions</vt:lpstr>
      <vt:lpstr>THE BANKING SYSTEM</vt:lpstr>
      <vt:lpstr>THE BANKING SYSTEM</vt:lpstr>
      <vt:lpstr>THE BANKING SYSTEM</vt:lpstr>
      <vt:lpstr>Depository Institutions</vt:lpstr>
      <vt:lpstr>THE BANKING SYSTEM</vt:lpstr>
      <vt:lpstr>THE BANKING SYSTEM</vt:lpstr>
      <vt:lpstr>THE BANKING SYSTEM</vt:lpstr>
      <vt:lpstr>THE BANKING SYSTEM</vt:lpstr>
      <vt:lpstr>THE BANKING SYSTEM</vt:lpstr>
      <vt:lpstr>Depository Institutions</vt:lpstr>
      <vt:lpstr>Depository Institutions</vt:lpstr>
      <vt:lpstr>Depository Institutions</vt:lpstr>
      <vt:lpstr>Depository Institutions</vt:lpstr>
      <vt:lpstr>Figure 24.1  The official measure of money in the UK</vt:lpstr>
      <vt:lpstr>Figure 1  Official Eurozone measure of money</vt:lpstr>
      <vt:lpstr>Table 24.2  Monetary financial institutions: sources and uses of funds</vt:lpstr>
      <vt:lpstr>Figure 1  Northern rock’s spectacular rise and fall</vt:lpstr>
      <vt:lpstr>REGULATING THE QUANTITY OF MONEY</vt:lpstr>
      <vt:lpstr>Table 24.3  Sources and uses of the monetary base</vt:lpstr>
      <vt:lpstr>The Federal Reserve System</vt:lpstr>
      <vt:lpstr>The Conduct of Monetary Policy</vt:lpstr>
      <vt:lpstr>REGULATING THE QUANTITY OF MONEY</vt:lpstr>
      <vt:lpstr>The Conduct of Monetary Policy</vt:lpstr>
      <vt:lpstr>The Conduct of Monetary Policy</vt:lpstr>
      <vt:lpstr>Figure 24.2  Bank of England buys securities in the open market</vt:lpstr>
      <vt:lpstr>THE BANKING SYSTEM</vt:lpstr>
      <vt:lpstr>THE BANKING SYSTEM</vt:lpstr>
      <vt:lpstr>REGULATING THE QUANTITY OF MONEY</vt:lpstr>
      <vt:lpstr>REGULATING THE QUANTITY OF MONEY</vt:lpstr>
      <vt:lpstr>REGULATING THE QUANTITY OF MONEY</vt:lpstr>
      <vt:lpstr>Figure 1  Changes in the sources and uses of monetary base</vt:lpstr>
      <vt:lpstr>Figure 1  The QE transactions</vt:lpstr>
      <vt:lpstr>REGULATING THE QUANTITY OF MONEY</vt:lpstr>
      <vt:lpstr>REGULATING THE QUANTITY OF MONEY</vt:lpstr>
      <vt:lpstr>REGULATING THE QUANTITY OF MONEY</vt:lpstr>
      <vt:lpstr>REGULATING THE QUANTITY OF MONEY</vt:lpstr>
      <vt:lpstr>REGULATING THE QUANTITY OF MONEY</vt:lpstr>
      <vt:lpstr>Figure 24.3  How the banking system creates money by making loans</vt:lpstr>
      <vt:lpstr>Figure 24.4  The demand for money</vt:lpstr>
      <vt:lpstr>Figure 24.5  Changes in the demand for money</vt:lpstr>
      <vt:lpstr>Figure 24.6  The supply of money</vt:lpstr>
      <vt:lpstr>Figure 24.7  Money market equilibrium</vt:lpstr>
      <vt:lpstr>Figure 24.8  A change in the supply of money</vt:lpstr>
      <vt:lpstr>Figure 1  UK money growth and inflation</vt:lpstr>
      <vt:lpstr>Figure 2  134 Countries: 1990–2005</vt:lpstr>
      <vt:lpstr>Figure 3  Lower-inflation countries: 1990–2005</vt:lpstr>
      <vt:lpstr>Figure 1  10-year bond interest rate and real GDP</vt:lpstr>
      <vt:lpstr>Figure 2  Money market equilibrium</vt:lpstr>
      <vt:lpstr>Figure 3  M4 growth rate and bank rate</vt:lpstr>
      <vt:lpstr>Figure 1  The money creation process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Marketing Powerpoint Slides</dc:title>
  <dc:subject>Digital Marketing</dc:subject>
  <dc:creator>Kirsty Farrelly</dc:creator>
  <cp:keywords>Digital Marketing</cp:keywords>
  <cp:lastModifiedBy>Le Mai. Huong</cp:lastModifiedBy>
  <cp:revision>267</cp:revision>
  <dcterms:created xsi:type="dcterms:W3CDTF">2019-02-27T10:38:23Z</dcterms:created>
  <dcterms:modified xsi:type="dcterms:W3CDTF">2026-02-26T14:06:15Z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0x010100138981DF6FD949479277F2472D00FEA7</vt:lpwstr>
  </property>
</Properties>
</file>