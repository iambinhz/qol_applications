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notesMasters/_rels/notesMaster1.xml.rels" ContentType="application/vnd.openxmlformats-package.relationships+xml"/>
  <Override PartName="/ppt/notesMasters/notesMaster1.xml" ContentType="application/vnd.openxmlformats-officedocument.presentationml.notesMaster+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media/image9.png" ContentType="image/png"/>
  <Override PartName="/ppt/media/image17.png" ContentType="image/png"/>
  <Override PartName="/ppt/media/image5.png" ContentType="image/png"/>
  <Override PartName="/ppt/media/image37.png" ContentType="image/png"/>
  <Override PartName="/ppt/media/image13.png" ContentType="image/png"/>
  <Override PartName="/ppt/media/image36.jpeg" ContentType="image/jpeg"/>
  <Override PartName="/ppt/media/image2.jpeg" ContentType="image/jpeg"/>
  <Override PartName="/ppt/media/image19.jpeg" ContentType="image/jpeg"/>
  <Override PartName="/ppt/media/image3.png" ContentType="image/png"/>
  <Override PartName="/ppt/media/image11.png" ContentType="image/png"/>
  <Override PartName="/ppt/media/image1.jpeg" ContentType="image/jpeg"/>
  <Override PartName="/ppt/media/image18.jpeg" ContentType="image/jpeg"/>
  <Override PartName="/ppt/media/image41.png" ContentType="image/png"/>
  <Override PartName="/ppt/media/image4.png" ContentType="image/png"/>
  <Override PartName="/ppt/media/image33.jpeg" ContentType="image/jpeg"/>
  <Override PartName="/ppt/media/image12.png" ContentType="image/png"/>
  <Override PartName="/ppt/media/image6.png" ContentType="image/png"/>
  <Override PartName="/ppt/media/image38.png" ContentType="image/png"/>
  <Override PartName="/ppt/media/image14.png" ContentType="image/png"/>
  <Override PartName="/ppt/media/image7.png" ContentType="image/png"/>
  <Override PartName="/ppt/media/image39.png" ContentType="image/png"/>
  <Override PartName="/ppt/media/image15.png" ContentType="image/png"/>
  <Override PartName="/ppt/media/image8.png" ContentType="image/png"/>
  <Override PartName="/ppt/media/image10.png" ContentType="image/png"/>
  <Override PartName="/ppt/media/image21.jpeg" ContentType="image/jpeg"/>
  <Override PartName="/ppt/media/image20.jpeg" ContentType="image/jpeg"/>
  <Override PartName="/ppt/media/image22.png" ContentType="image/png"/>
  <Override PartName="/ppt/media/image23.png" ContentType="image/png"/>
  <Override PartName="/ppt/media/image24.png" ContentType="image/png"/>
  <Override PartName="/ppt/media/image26.png" ContentType="image/png"/>
  <Override PartName="/ppt/media/image32.jpeg" ContentType="image/jpeg"/>
  <Override PartName="/ppt/media/image30.jpeg" ContentType="image/jpeg"/>
  <Override PartName="/ppt/media/image29.jpeg" ContentType="image/jpeg"/>
  <Override PartName="/ppt/media/image34.jpeg" ContentType="image/jpeg"/>
  <Override PartName="/ppt/media/image46.png" ContentType="image/png"/>
  <Override PartName="/ppt/media/image31.jpeg" ContentType="image/jpeg"/>
  <Override PartName="/ppt/media/image16.png" ContentType="image/png"/>
  <Override PartName="/ppt/media/image35.jpeg" ContentType="image/jpeg"/>
  <Override PartName="/ppt/media/image27.png" ContentType="image/png"/>
  <Override PartName="/ppt/media/image42.png" ContentType="image/png"/>
  <Override PartName="/ppt/media/image28.png" ContentType="image/png"/>
  <Override PartName="/ppt/media/image43.png" ContentType="image/png"/>
  <Override PartName="/ppt/media/image44.png" ContentType="image/png"/>
  <Override PartName="/ppt/media/image25.png" ContentType="image/png"/>
  <Override PartName="/ppt/media/image40.png" ContentType="image/png"/>
  <Override PartName="/ppt/media/image45.png" ContentType="image/png"/>
  <Override PartName="/ppt/slides/slide16.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69.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27.xml" ContentType="application/vnd.openxmlformats-officedocument.presentationml.slide+xml"/>
  <Override PartName="/ppt/slides/slide60.xml" ContentType="application/vnd.openxmlformats-officedocument.presentationml.slide+xml"/>
  <Override PartName="/ppt/slides/slide28.xml" ContentType="application/vnd.openxmlformats-officedocument.presentationml.slide+xml"/>
  <Override PartName="/ppt/slides/slide61.xml" ContentType="application/vnd.openxmlformats-officedocument.presentationml.slide+xml"/>
  <Override PartName="/ppt/slides/slide29.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7.xml" ContentType="application/vnd.openxmlformats-officedocument.presentationml.slide+xml"/>
  <Override PartName="/ppt/slides/slide49.xml" ContentType="application/vnd.openxmlformats-officedocument.presentationml.slide+xml"/>
  <Override PartName="/ppt/slides/slide64.xml" ContentType="application/vnd.openxmlformats-officedocument.presentationml.slide+xml"/>
  <Override PartName="/ppt/slides/slide55.xml" ContentType="application/vnd.openxmlformats-officedocument.presentationml.slide+xml"/>
  <Override PartName="/ppt/slides/slide37.xml" ContentType="application/vnd.openxmlformats-officedocument.presentationml.slide+xml"/>
  <Override PartName="/ppt/slides/slide70.xml" ContentType="application/vnd.openxmlformats-officedocument.presentationml.slide+xml"/>
  <Override PartName="/ppt/slides/slide68.xml" ContentType="application/vnd.openxmlformats-officedocument.presentationml.slide+xml"/>
  <Override PartName="/ppt/slides/slide65.xml" ContentType="application/vnd.openxmlformats-officedocument.presentationml.slide+xml"/>
  <Override PartName="/ppt/slides/slide56.xml" ContentType="application/vnd.openxmlformats-officedocument.presentationml.slide+xml"/>
  <Override PartName="/ppt/slides/slide38.xml" ContentType="application/vnd.openxmlformats-officedocument.presentationml.slide+xml"/>
  <Override PartName="/ppt/slides/slide71.xml" ContentType="application/vnd.openxmlformats-officedocument.presentationml.slide+xml"/>
  <Override PartName="/ppt/slides/slide66.xml" ContentType="application/vnd.openxmlformats-officedocument.presentationml.slide+xml"/>
  <Override PartName="/ppt/slides/slide57.xml" ContentType="application/vnd.openxmlformats-officedocument.presentationml.slide+xml"/>
  <Override PartName="/ppt/slides/_rels/slide72.xml.rels" ContentType="application/vnd.openxmlformats-package.relationships+xml"/>
  <Override PartName="/ppt/slides/_rels/slide39.xml.rels" ContentType="application/vnd.openxmlformats-package.relationships+xml"/>
  <Override PartName="/ppt/slides/_rels/slide57.xml.rels" ContentType="application/vnd.openxmlformats-package.relationships+xml"/>
  <Override PartName="/ppt/slides/_rels/slide66.xml.rels" ContentType="application/vnd.openxmlformats-package.relationships+xml"/>
  <Override PartName="/ppt/slides/_rels/slide71.xml.rels" ContentType="application/vnd.openxmlformats-package.relationships+xml"/>
  <Override PartName="/ppt/slides/_rels/slide38.xml.rels" ContentType="application/vnd.openxmlformats-package.relationships+xml"/>
  <Override PartName="/ppt/slides/_rels/slide56.xml.rels" ContentType="application/vnd.openxmlformats-package.relationships+xml"/>
  <Override PartName="/ppt/slides/_rels/slide65.xml.rels" ContentType="application/vnd.openxmlformats-package.relationships+xml"/>
  <Override PartName="/ppt/slides/_rels/slide68.xml.rels" ContentType="application/vnd.openxmlformats-package.relationships+xml"/>
  <Override PartName="/ppt/slides/_rels/slide70.xml.rels" ContentType="application/vnd.openxmlformats-package.relationships+xml"/>
  <Override PartName="/ppt/slides/_rels/slide37.xml.rels" ContentType="application/vnd.openxmlformats-package.relationships+xml"/>
  <Override PartName="/ppt/slides/_rels/slide55.xml.rels" ContentType="application/vnd.openxmlformats-package.relationships+xml"/>
  <Override PartName="/ppt/slides/_rels/slide64.xml.rels" ContentType="application/vnd.openxmlformats-package.relationships+xml"/>
  <Override PartName="/ppt/slides/_rels/slide49.xml.rels" ContentType="application/vnd.openxmlformats-package.relationships+xml"/>
  <Override PartName="/ppt/slides/_rels/slide9.xml.rels" ContentType="application/vnd.openxmlformats-package.relationships+xml"/>
  <Override PartName="/ppt/slides/_rels/slide67.xml.rels" ContentType="application/vnd.openxmlformats-package.relationships+xml"/>
  <Override PartName="/ppt/slides/_rels/slide63.xml.rels" ContentType="application/vnd.openxmlformats-package.relationships+xml"/>
  <Override PartName="/ppt/slides/_rels/slide62.xml.rels" ContentType="application/vnd.openxmlformats-package.relationships+xml"/>
  <Override PartName="/ppt/slides/_rels/slide29.xml.rels" ContentType="application/vnd.openxmlformats-package.relationships+xml"/>
  <Override PartName="/ppt/slides/_rels/slide61.xml.rels" ContentType="application/vnd.openxmlformats-package.relationships+xml"/>
  <Override PartName="/ppt/slides/_rels/slide28.xml.rels" ContentType="application/vnd.openxmlformats-package.relationships+xml"/>
  <Override PartName="/ppt/slides/_rels/slide60.xml.rels" ContentType="application/vnd.openxmlformats-package.relationships+xml"/>
  <Override PartName="/ppt/slides/_rels/slide27.xml.rels" ContentType="application/vnd.openxmlformats-package.relationships+xml"/>
  <Override PartName="/ppt/slides/_rels/slide59.xml.rels" ContentType="application/vnd.openxmlformats-package.relationships+xml"/>
  <Override PartName="/ppt/slides/_rels/slide58.xml.rels" ContentType="application/vnd.openxmlformats-package.relationships+xml"/>
  <Override PartName="/ppt/slides/_rels/slide54.xml.rels" ContentType="application/vnd.openxmlformats-package.relationships+xml"/>
  <Override PartName="/ppt/slides/_rels/slide53.xml.rels" ContentType="application/vnd.openxmlformats-package.relationships+xml"/>
  <Override PartName="/ppt/slides/_rels/slide5.xml.rels" ContentType="application/vnd.openxmlformats-package.relationships+xml"/>
  <Override PartName="/ppt/slides/_rels/slide45.xml.rels" ContentType="application/vnd.openxmlformats-package.relationships+xml"/>
  <Override PartName="/ppt/slides/_rels/slide44.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43.xml.rels" ContentType="application/vnd.openxmlformats-package.relationships+xml"/>
  <Override PartName="/ppt/slides/_rels/slide8.xml.rels" ContentType="application/vnd.openxmlformats-package.relationships+xml"/>
  <Override PartName="/ppt/slides/_rels/slide48.xml.rels" ContentType="application/vnd.openxmlformats-package.relationships+xml"/>
  <Override PartName="/ppt/slides/_rels/slide2.xml.rels" ContentType="application/vnd.openxmlformats-package.relationships+xml"/>
  <Override PartName="/ppt/slides/_rels/slide42.xml.rels" ContentType="application/vnd.openxmlformats-package.relationships+xml"/>
  <Override PartName="/ppt/slides/_rels/slide7.xml.rels" ContentType="application/vnd.openxmlformats-package.relationships+xml"/>
  <Override PartName="/ppt/slides/_rels/slide47.xml.rels" ContentType="application/vnd.openxmlformats-package.relationships+xml"/>
  <Override PartName="/ppt/slides/_rels/slide1.xml.rels" ContentType="application/vnd.openxmlformats-package.relationships+xml"/>
  <Override PartName="/ppt/slides/_rels/slide41.xml.rels" ContentType="application/vnd.openxmlformats-package.relationships+xml"/>
  <Override PartName="/ppt/slides/_rels/slide6.xml.rels" ContentType="application/vnd.openxmlformats-package.relationships+xml"/>
  <Override PartName="/ppt/slides/_rels/slide46.xml.rels" ContentType="application/vnd.openxmlformats-package.relationships+xml"/>
  <Override PartName="/ppt/slides/_rels/slide40.xml.rels" ContentType="application/vnd.openxmlformats-package.relationships+xml"/>
  <Override PartName="/ppt/slides/_rels/slide36.xml.rels" ContentType="application/vnd.openxmlformats-package.relationships+xml"/>
  <Override PartName="/ppt/slides/_rels/slide35.xml.rels" ContentType="application/vnd.openxmlformats-package.relationships+xml"/>
  <Override PartName="/ppt/slides/_rels/slide26.xml.rels" ContentType="application/vnd.openxmlformats-package.relationships+xml"/>
  <Override PartName="/ppt/slides/_rels/slide25.xml.rels" ContentType="application/vnd.openxmlformats-package.relationships+xml"/>
  <Override PartName="/ppt/slides/_rels/slide24.xml.rels" ContentType="application/vnd.openxmlformats-package.relationships+xml"/>
  <Override PartName="/ppt/slides/_rels/slide23.xml.rels" ContentType="application/vnd.openxmlformats-package.relationships+xml"/>
  <Override PartName="/ppt/slides/_rels/slide22.xml.rels" ContentType="application/vnd.openxmlformats-package.relationships+xml"/>
  <Override PartName="/ppt/slides/_rels/slide21.xml.rels" ContentType="application/vnd.openxmlformats-package.relationships+xml"/>
  <Override PartName="/ppt/slides/_rels/slide30.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20.xml.rels" ContentType="application/vnd.openxmlformats-package.relationships+xml"/>
  <Override PartName="/ppt/slides/_rels/slide34.xml.rels" ContentType="application/vnd.openxmlformats-package.relationships+xml"/>
  <Override PartName="/ppt/slides/_rels/slide52.xml.rels" ContentType="application/vnd.openxmlformats-package.relationships+xml"/>
  <Override PartName="/ppt/slides/_rels/slide19.xml.rels" ContentType="application/vnd.openxmlformats-package.relationships+xml"/>
  <Override PartName="/ppt/slides/_rels/slide33.xml.rels" ContentType="application/vnd.openxmlformats-package.relationships+xml"/>
  <Override PartName="/ppt/slides/_rels/slide51.xml.rels" ContentType="application/vnd.openxmlformats-package.relationships+xml"/>
  <Override PartName="/ppt/slides/_rels/slide18.xml.rels" ContentType="application/vnd.openxmlformats-package.relationships+xml"/>
  <Override PartName="/ppt/slides/_rels/slide32.xml.rels" ContentType="application/vnd.openxmlformats-package.relationships+xml"/>
  <Override PartName="/ppt/slides/_rels/slide50.xml.rels" ContentType="application/vnd.openxmlformats-package.relationships+xml"/>
  <Override PartName="/ppt/slides/_rels/slide17.xml.rels" ContentType="application/vnd.openxmlformats-package.relationships+xml"/>
  <Override PartName="/ppt/slides/_rels/slide16.xml.rels" ContentType="application/vnd.openxmlformats-package.relationships+xml"/>
  <Override PartName="/ppt/slides/_rels/slide6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31.xml.rels" ContentType="application/vnd.openxmlformats-package.relationships+xml"/>
  <Override PartName="/ppt/slides/slide39.xml" ContentType="application/vnd.openxmlformats-officedocument.presentationml.slide+xml"/>
  <Override PartName="/ppt/slides/slide72.xml" ContentType="application/vnd.openxmlformats-officedocument.presentationml.slide+xml"/>
  <Override PartName="/ppt/notesSlides/_rels/notesSlide72.xml.rels" ContentType="application/vnd.openxmlformats-package.relationships+xml"/>
  <Override PartName="/ppt/notesSlides/_rels/notesSlide57.xml.rels" ContentType="application/vnd.openxmlformats-package.relationships+xml"/>
  <Override PartName="/ppt/notesSlides/_rels/notesSlide66.xml.rels" ContentType="application/vnd.openxmlformats-package.relationships+xml"/>
  <Override PartName="/ppt/notesSlides/_rels/notesSlide71.xml.rels" ContentType="application/vnd.openxmlformats-package.relationships+xml"/>
  <Override PartName="/ppt/notesSlides/_rels/notesSlide56.xml.rels" ContentType="application/vnd.openxmlformats-package.relationships+xml"/>
  <Override PartName="/ppt/notesSlides/_rels/notesSlide65.xml.rels" ContentType="application/vnd.openxmlformats-package.relationships+xml"/>
  <Override PartName="/ppt/notesSlides/_rels/notesSlide68.xml.rels" ContentType="application/vnd.openxmlformats-package.relationships+xml"/>
  <Override PartName="/ppt/notesSlides/_rels/notesSlide4.xml.rels" ContentType="application/vnd.openxmlformats-package.relationships+xml"/>
  <Override PartName="/ppt/notesSlides/_rels/notesSlide70.xml.rels" ContentType="application/vnd.openxmlformats-package.relationships+xml"/>
  <Override PartName="/ppt/notesSlides/_rels/notesSlide55.xml.rels" ContentType="application/vnd.openxmlformats-package.relationships+xml"/>
  <Override PartName="/ppt/notesSlides/_rels/notesSlide64.xml.rels" ContentType="application/vnd.openxmlformats-package.relationships+xml"/>
  <Override PartName="/ppt/notesSlides/_rels/notesSlide49.xml.rels" ContentType="application/vnd.openxmlformats-package.relationships+xml"/>
  <Override PartName="/ppt/notesSlides/_rels/notesSlide67.xml.rels" ContentType="application/vnd.openxmlformats-package.relationships+xml"/>
  <Override PartName="/ppt/notesSlides/_rels/notesSlide29.xml.rels" ContentType="application/vnd.openxmlformats-package.relationships+xml"/>
  <Override PartName="/ppt/notesSlides/_rels/notesSlide28.xml.rels" ContentType="application/vnd.openxmlformats-package.relationships+xml"/>
  <Override PartName="/ppt/notesSlides/_rels/notesSlide60.xml.rels" ContentType="application/vnd.openxmlformats-package.relationships+xml"/>
  <Override PartName="/ppt/notesSlides/_rels/notesSlide6.xml.rels" ContentType="application/vnd.openxmlformats-package.relationships+xml"/>
  <Override PartName="/ppt/notesSlides/_rels/notesSlide27.xml.rels" ContentType="application/vnd.openxmlformats-package.relationships+xml"/>
  <Override PartName="/ppt/notesSlides/_rels/notesSlide59.xml.rels" ContentType="application/vnd.openxmlformats-package.relationships+xml"/>
  <Override PartName="/ppt/notesSlides/_rels/notesSlide58.xml.rels" ContentType="application/vnd.openxmlformats-package.relationships+xml"/>
  <Override PartName="/ppt/notesSlides/_rels/notesSlide54.xml.rels" ContentType="application/vnd.openxmlformats-package.relationships+xml"/>
  <Override PartName="/ppt/notesSlides/_rels/notesSlide53.xml.rels" ContentType="application/vnd.openxmlformats-package.relationships+xml"/>
  <Override PartName="/ppt/notesSlides/_rels/notesSlide9.xml.rels" ContentType="application/vnd.openxmlformats-package.relationships+xml"/>
  <Override PartName="/ppt/notesSlides/_rels/notesSlide63.xml.rels" ContentType="application/vnd.openxmlformats-package.relationships+xml"/>
  <Override PartName="/ppt/notesSlides/_rels/notesSlide52.xml.rels" ContentType="application/vnd.openxmlformats-package.relationships+xml"/>
  <Override PartName="/ppt/notesSlides/_rels/notesSlide8.xml.rels" ContentType="application/vnd.openxmlformats-package.relationships+xml"/>
  <Override PartName="/ppt/notesSlides/_rels/notesSlide62.xml.rels" ContentType="application/vnd.openxmlformats-package.relationships+xml"/>
  <Override PartName="/ppt/notesSlides/_rels/notesSlide7.xml.rels" ContentType="application/vnd.openxmlformats-package.relationships+xml"/>
  <Override PartName="/ppt/notesSlides/_rels/notesSlide61.xml.rels" ContentType="application/vnd.openxmlformats-package.relationships+xml"/>
  <Override PartName="/ppt/notesSlides/_rels/notesSlide48.xml.rels" ContentType="application/vnd.openxmlformats-package.relationships+xml"/>
  <Override PartName="/ppt/notesSlides/_rels/notesSlide47.xml.rels" ContentType="application/vnd.openxmlformats-package.relationships+xml"/>
  <Override PartName="/ppt/notesSlides/_rels/notesSlide46.xml.rels" ContentType="application/vnd.openxmlformats-package.relationships+xml"/>
  <Override PartName="/ppt/notesSlides/_rels/notesSlide45.xml.rels" ContentType="application/vnd.openxmlformats-package.relationships+xml"/>
  <Override PartName="/ppt/notesSlides/_rels/notesSlide44.xml.rels" ContentType="application/vnd.openxmlformats-package.relationships+xml"/>
  <Override PartName="/ppt/notesSlides/_rels/notesSlide43.xml.rels" ContentType="application/vnd.openxmlformats-package.relationships+xml"/>
  <Override PartName="/ppt/notesSlides/_rels/notesSlide42.xml.rels" ContentType="application/vnd.openxmlformats-package.relationships+xml"/>
  <Override PartName="/ppt/notesSlides/_rels/notesSlide41.xml.rels" ContentType="application/vnd.openxmlformats-package.relationships+xml"/>
  <Override PartName="/ppt/notesSlides/_rels/notesSlide40.xml.rels" ContentType="application/vnd.openxmlformats-package.relationships+xml"/>
  <Override PartName="/ppt/notesSlides/_rels/notesSlide36.xml.rels" ContentType="application/vnd.openxmlformats-package.relationships+xml"/>
  <Override PartName="/ppt/notesSlides/_rels/notesSlide35.xml.rels" ContentType="application/vnd.openxmlformats-package.relationships+xml"/>
  <Override PartName="/ppt/notesSlides/_rels/notesSlide34.xml.rels" ContentType="application/vnd.openxmlformats-package.relationships+xml"/>
  <Override PartName="/ppt/notesSlides/_rels/notesSlide33.xml.rels" ContentType="application/vnd.openxmlformats-package.relationships+xml"/>
  <Override PartName="/ppt/notesSlides/_rels/notesSlide32.xml.rels" ContentType="application/vnd.openxmlformats-package.relationships+xml"/>
  <Override PartName="/ppt/notesSlides/_rels/notesSlide31.xml.rels" ContentType="application/vnd.openxmlformats-package.relationships+xml"/>
  <Override PartName="/ppt/notesSlides/_rels/notesSlide30.xml.rels" ContentType="application/vnd.openxmlformats-package.relationships+xml"/>
  <Override PartName="/ppt/notesSlides/_rels/notesSlide26.xml.rels" ContentType="application/vnd.openxmlformats-package.relationships+xml"/>
  <Override PartName="/ppt/notesSlides/_rels/notesSlide20.xml.rels" ContentType="application/vnd.openxmlformats-package.relationships+xml"/>
  <Override PartName="/ppt/notesSlides/_rels/notesSlide19.xml.rels" ContentType="application/vnd.openxmlformats-package.relationships+xml"/>
  <Override PartName="/ppt/notesSlides/_rels/notesSlide12.xml.rels" ContentType="application/vnd.openxmlformats-package.relationships+xml"/>
  <Override PartName="/ppt/notesSlides/_rels/notesSlide1.xml.rels" ContentType="application/vnd.openxmlformats-package.relationships+xml"/>
  <Override PartName="/ppt/notesSlides/_rels/notesSlide39.xml.rels" ContentType="application/vnd.openxmlformats-package.relationships+xml"/>
  <Override PartName="/ppt/notesSlides/_rels/notesSlide51.xml.rels" ContentType="application/vnd.openxmlformats-package.relationships+xml"/>
  <Override PartName="/ppt/notesSlides/_rels/notesSlide18.xml.rels" ContentType="application/vnd.openxmlformats-package.relationships+xml"/>
  <Override PartName="/ppt/notesSlides/_rels/notesSlide50.xml.rels" ContentType="application/vnd.openxmlformats-package.relationships+xml"/>
  <Override PartName="/ppt/notesSlides/_rels/notesSlide17.xml.rels" ContentType="application/vnd.openxmlformats-package.relationships+xml"/>
  <Override PartName="/ppt/notesSlides/_rels/notesSlide5.xml.rels" ContentType="application/vnd.openxmlformats-package.relationships+xml"/>
  <Override PartName="/ppt/notesSlides/_rels/notesSlide10.xml.rels" ContentType="application/vnd.openxmlformats-package.relationships+xml"/>
  <Override PartName="/ppt/notesSlides/_rels/notesSlide69.xml.rels" ContentType="application/vnd.openxmlformats-package.relationships+xml"/>
  <Override PartName="/ppt/notesSlides/_rels/notesSlide16.xml.rels" ContentType="application/vnd.openxmlformats-package.relationships+xml"/>
  <Override PartName="/ppt/notesSlides/_rels/notesSlide15.xml.rels" ContentType="application/vnd.openxmlformats-package.relationships+xml"/>
  <Override PartName="/ppt/notesSlides/_rels/notesSlide3.xml.rels" ContentType="application/vnd.openxmlformats-package.relationships+xml"/>
  <Override PartName="/ppt/notesSlides/_rels/notesSlide14.xml.rels" ContentType="application/vnd.openxmlformats-package.relationships+xml"/>
  <Override PartName="/ppt/notesSlides/_rels/notesSlide2.xml.rels" ContentType="application/vnd.openxmlformats-package.relationships+xml"/>
  <Override PartName="/ppt/notesSlides/_rels/notesSlide13.xml.rels" ContentType="application/vnd.openxmlformats-package.relationships+xml"/>
  <Override PartName="/ppt/notesSlides/_rels/notesSlide25.xml.rels" ContentType="application/vnd.openxmlformats-package.relationships+xml"/>
  <Override PartName="/ppt/notesSlides/_rels/notesSlide24.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1.xml.rels" ContentType="application/vnd.openxmlformats-package.relationships+xml"/>
  <Override PartName="/ppt/notesSlides/_rels/notesSlide38.xml.rels" ContentType="application/vnd.openxmlformats-package.relationships+xml"/>
  <Override PartName="/ppt/notesSlides/_rels/notesSlide11.xml.rels" ContentType="application/vnd.openxmlformats-package.relationships+xml"/>
  <Override PartName="/ppt/notesSlides/_rels/notesSlide37.xml.rels" ContentType="application/vnd.openxmlformats-package.relationships+xml"/>
  <Override PartName="/ppt/notesSlides/notesSlide37.xml" ContentType="application/vnd.openxmlformats-officedocument.presentationml.notesSlide+xml"/>
  <Override PartName="/ppt/notesSlides/notesSlide11.xml" ContentType="application/vnd.openxmlformats-officedocument.presentationml.notesSlide+xml"/>
  <Override PartName="/ppt/notesSlides/notesSlide38.xml" ContentType="application/vnd.openxmlformats-officedocument.presentationml.notesSlide+xml"/>
  <Override PartName="/ppt/notesSlides/notesSlide3.xml" ContentType="application/vnd.openxmlformats-officedocument.presentationml.notesSlide+xml"/>
  <Override PartName="/ppt/notesSlides/notesSlide39.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10.xml" ContentType="application/vnd.openxmlformats-officedocument.presentationml.notesSlide+xml"/>
  <Override PartName="/ppt/notesSlides/notesSlide6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26.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0.xml" ContentType="application/vnd.openxmlformats-officedocument.presentationml.notesSlide+xml"/>
  <Override PartName="/ppt/notesSlides/notesSlide7.xml" ContentType="application/vnd.openxmlformats-officedocument.presentationml.notesSlide+xml"/>
  <Override PartName="/ppt/notesSlides/notesSlide41.xml" ContentType="application/vnd.openxmlformats-officedocument.presentationml.notesSlide+xml"/>
  <Override PartName="/ppt/notesSlides/notesSlide8.xml" ContentType="application/vnd.openxmlformats-officedocument.presentationml.notesSlide+xml"/>
  <Override PartName="/ppt/notesSlides/notesSlide42.xml" ContentType="application/vnd.openxmlformats-officedocument.presentationml.notesSlide+xml"/>
  <Override PartName="/ppt/notesSlides/notesSlide9.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27.xml" ContentType="application/vnd.openxmlformats-officedocument.presentationml.notesSlide+xml"/>
  <Override PartName="/ppt/notesSlides/notesSlide60.xml" ContentType="application/vnd.openxmlformats-officedocument.presentationml.notesSlide+xml"/>
  <Override PartName="/ppt/notesSlides/notesSlide28.xml" ContentType="application/vnd.openxmlformats-officedocument.presentationml.notesSlide+xml"/>
  <Override PartName="/ppt/notesSlides/notesSlide61.xml" ContentType="application/vnd.openxmlformats-officedocument.presentationml.notesSlide+xml"/>
  <Override PartName="/ppt/notesSlides/notesSlide29.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7.xml" ContentType="application/vnd.openxmlformats-officedocument.presentationml.notesSlide+xml"/>
  <Override PartName="/ppt/notesSlides/notesSlide49.xml" ContentType="application/vnd.openxmlformats-officedocument.presentationml.notesSlide+xml"/>
  <Override PartName="/ppt/notesSlides/notesSlide64.xml" ContentType="application/vnd.openxmlformats-officedocument.presentationml.notesSlide+xml"/>
  <Override PartName="/ppt/notesSlides/notesSlide55.xml" ContentType="application/vnd.openxmlformats-officedocument.presentationml.notesSlide+xml"/>
  <Override PartName="/ppt/notesSlides/notesSlide70.xml" ContentType="application/vnd.openxmlformats-officedocument.presentationml.notesSlide+xml"/>
  <Override PartName="/ppt/notesSlides/notesSlide68.xml" ContentType="application/vnd.openxmlformats-officedocument.presentationml.notesSlide+xml"/>
  <Override PartName="/ppt/notesSlides/notesSlide65.xml" ContentType="application/vnd.openxmlformats-officedocument.presentationml.notesSlide+xml"/>
  <Override PartName="/ppt/notesSlides/notesSlide56.xml" ContentType="application/vnd.openxmlformats-officedocument.presentationml.notesSlide+xml"/>
  <Override PartName="/ppt/notesSlides/notesSlide71.xml" ContentType="application/vnd.openxmlformats-officedocument.presentationml.notesSlide+xml"/>
  <Override PartName="/ppt/notesSlides/notesSlide66.xml" ContentType="application/vnd.openxmlformats-officedocument.presentationml.notesSlide+xml"/>
  <Override PartName="/ppt/notesSlides/notesSlide57.xml" ContentType="application/vnd.openxmlformats-officedocument.presentationml.notesSlide+xml"/>
  <Override PartName="/ppt/notesSlides/notesSlide7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notesMaster" Target="notesMasters/notes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9.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CA" sz="2400" strike="noStrike" u="none">
                <a:solidFill>
                  <a:schemeClr val="dk1"/>
                </a:solidFill>
                <a:effectLst/>
                <a:uFillTx/>
                <a:latin typeface="Arial"/>
              </a:rPr>
              <a:t>Click to move the slide</a:t>
            </a:r>
            <a:endParaRPr b="0" lang="en-CA" sz="2400" strike="noStrike" u="none">
              <a:solidFill>
                <a:schemeClr val="dk1"/>
              </a:solidFill>
              <a:effectLst/>
              <a:uFillTx/>
              <a:latin typeface="Arial"/>
            </a:endParaRPr>
          </a:p>
        </p:txBody>
      </p:sp>
      <p:sp>
        <p:nvSpPr>
          <p:cNvPr id="37"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38"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9"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40"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41"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2492FE56-82D3-4A17-846D-41DD8250F9BE}"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Num" idx="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BC7BD02-3FC7-4D87-8B3A-63350A88399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269" name="PlaceHolder 2"/>
          <p:cNvSpPr>
            <a:spLocks noGrp="1"/>
          </p:cNvSpPr>
          <p:nvPr>
            <p:ph type="sldImg"/>
          </p:nvPr>
        </p:nvSpPr>
        <p:spPr>
          <a:xfrm>
            <a:off x="1143000" y="685800"/>
            <a:ext cx="4571640" cy="3428640"/>
          </a:xfrm>
          <a:prstGeom prst="rect">
            <a:avLst/>
          </a:prstGeom>
          <a:ln w="0">
            <a:noFill/>
          </a:ln>
        </p:spPr>
      </p:sp>
      <p:sp>
        <p:nvSpPr>
          <p:cNvPr id="27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CA" sz="1600" strike="noStrike" u="none">
                <a:solidFill>
                  <a:srgbClr val="000000"/>
                </a:solidFill>
                <a:effectLst/>
                <a:uFillTx/>
                <a:latin typeface="Times New Roman"/>
                <a:ea typeface="ＭＳ Ｐゴシック"/>
              </a:rPr>
              <a:t>Notes and teaching tips: </a:t>
            </a:r>
            <a:r>
              <a:rPr b="0" lang="en-GB" sz="1600" strike="noStrike" u="none">
                <a:solidFill>
                  <a:srgbClr val="000000"/>
                </a:solidFill>
                <a:effectLst/>
                <a:uFillTx/>
                <a:latin typeface="Times New Roman"/>
                <a:ea typeface="ＭＳ Ｐゴシック"/>
              </a:rPr>
              <a:t>29, 36, 37, 41, 51, 58, and 66. </a:t>
            </a:r>
            <a:endParaRPr b="0" lang="en-US" sz="1600" strike="noStrike" u="none">
              <a:solidFill>
                <a:srgbClr val="000000"/>
              </a:solidFill>
              <a:effectLst/>
              <a:uFillTx/>
              <a:latin typeface="Arial"/>
            </a:endParaRPr>
          </a:p>
          <a:p>
            <a:pPr indent="0">
              <a:lnSpc>
                <a:spcPct val="100000"/>
              </a:lnSpc>
              <a:buNone/>
            </a:pPr>
            <a:r>
              <a:rPr b="0" lang="en-CA" sz="1600" strike="noStrike" u="none">
                <a:solidFill>
                  <a:srgbClr val="000000"/>
                </a:solidFill>
                <a:effectLst/>
                <a:uFillTx/>
                <a:latin typeface="Times New Roman"/>
                <a:ea typeface="ＭＳ Ｐゴシック"/>
              </a:rPr>
              <a:t>To view a full-screen figure during a class, click the red </a:t>
            </a:r>
            <a:r>
              <a:rPr b="0" lang="en-CA" sz="1600" strike="noStrike" u="none">
                <a:solidFill>
                  <a:srgbClr val="000000"/>
                </a:solidFill>
                <a:effectLst/>
                <a:uFillTx/>
                <a:latin typeface="Arial"/>
                <a:ea typeface="ＭＳ Ｐゴシック"/>
              </a:rPr>
              <a:t>“</a:t>
            </a:r>
            <a:r>
              <a:rPr b="0" lang="en-CA" sz="1600" strike="noStrike" u="none">
                <a:solidFill>
                  <a:srgbClr val="000000"/>
                </a:solidFill>
                <a:effectLst/>
                <a:uFillTx/>
                <a:latin typeface="Times New Roman"/>
                <a:ea typeface="ＭＳ Ｐゴシック"/>
              </a:rPr>
              <a:t>expand</a:t>
            </a:r>
            <a:r>
              <a:rPr b="0" lang="en-CA" sz="1600" strike="noStrike" u="none">
                <a:solidFill>
                  <a:srgbClr val="000000"/>
                </a:solidFill>
                <a:effectLst/>
                <a:uFillTx/>
                <a:latin typeface="Arial"/>
                <a:ea typeface="ＭＳ Ｐゴシック"/>
              </a:rPr>
              <a:t>”</a:t>
            </a:r>
            <a:r>
              <a:rPr b="0" lang="en-CA" sz="1600" strike="noStrike" u="none">
                <a:solidFill>
                  <a:srgbClr val="000000"/>
                </a:solidFill>
                <a:effectLst/>
                <a:uFillTx/>
                <a:latin typeface="Times New Roman"/>
                <a:ea typeface="ＭＳ Ｐゴシック"/>
              </a:rPr>
              <a:t> button.</a:t>
            </a:r>
            <a:endParaRPr b="0" lang="en-US" sz="1600" strike="noStrike" u="none">
              <a:solidFill>
                <a:srgbClr val="000000"/>
              </a:solidFill>
              <a:effectLst/>
              <a:uFillTx/>
              <a:latin typeface="Arial"/>
            </a:endParaRPr>
          </a:p>
          <a:p>
            <a:pPr indent="0">
              <a:lnSpc>
                <a:spcPct val="100000"/>
              </a:lnSpc>
              <a:buNone/>
            </a:pPr>
            <a:r>
              <a:rPr b="0" lang="en-CA" sz="1600" strike="noStrike" u="none">
                <a:solidFill>
                  <a:srgbClr val="000000"/>
                </a:solidFill>
                <a:effectLst/>
                <a:uFillTx/>
                <a:latin typeface="Times New Roman"/>
                <a:ea typeface="ＭＳ Ｐゴシック"/>
              </a:rPr>
              <a:t>To return to the previous slide, click the red </a:t>
            </a:r>
            <a:r>
              <a:rPr b="0" lang="en-CA" sz="1600" strike="noStrike" u="none">
                <a:solidFill>
                  <a:srgbClr val="000000"/>
                </a:solidFill>
                <a:effectLst/>
                <a:uFillTx/>
                <a:latin typeface="Arial"/>
                <a:ea typeface="ＭＳ Ｐゴシック"/>
              </a:rPr>
              <a:t>“</a:t>
            </a:r>
            <a:r>
              <a:rPr b="0" lang="en-CA" sz="1600" strike="noStrike" u="none">
                <a:solidFill>
                  <a:srgbClr val="000000"/>
                </a:solidFill>
                <a:effectLst/>
                <a:uFillTx/>
                <a:latin typeface="Times New Roman"/>
                <a:ea typeface="ＭＳ Ｐゴシック"/>
              </a:rPr>
              <a:t>shrink</a:t>
            </a:r>
            <a:r>
              <a:rPr b="0" lang="en-CA" sz="1600" strike="noStrike" u="none">
                <a:solidFill>
                  <a:srgbClr val="000000"/>
                </a:solidFill>
                <a:effectLst/>
                <a:uFillTx/>
                <a:latin typeface="Arial"/>
                <a:ea typeface="ＭＳ Ｐゴシック"/>
              </a:rPr>
              <a:t>”</a:t>
            </a:r>
            <a:r>
              <a:rPr b="0" lang="en-CA" sz="1600" strike="noStrike" u="none">
                <a:solidFill>
                  <a:srgbClr val="000000"/>
                </a:solidFill>
                <a:effectLst/>
                <a:uFillTx/>
                <a:latin typeface="Times New Roman"/>
                <a:ea typeface="ＭＳ Ｐゴシック"/>
              </a:rPr>
              <a:t> button.</a:t>
            </a:r>
            <a:endParaRPr b="0" lang="en-US" sz="1600" strike="noStrike" u="none">
              <a:solidFill>
                <a:srgbClr val="000000"/>
              </a:solidFill>
              <a:effectLst/>
              <a:uFillTx/>
              <a:latin typeface="Arial"/>
            </a:endParaRPr>
          </a:p>
          <a:p>
            <a:pPr indent="0">
              <a:lnSpc>
                <a:spcPct val="100000"/>
              </a:lnSpc>
              <a:buNone/>
            </a:pPr>
            <a:r>
              <a:rPr b="0" lang="en-CA" sz="1600" strike="noStrike" u="none">
                <a:solidFill>
                  <a:srgbClr val="000000"/>
                </a:solidFill>
                <a:effectLst/>
                <a:uFillTx/>
                <a:latin typeface="Times New Roman"/>
                <a:ea typeface="ＭＳ Ｐゴシック"/>
              </a:rPr>
              <a:t>To advance to the next slide, click anywhere on the full screen figure.</a:t>
            </a:r>
            <a:endParaRPr b="0" lang="en-US" sz="1600" strike="noStrike" u="none">
              <a:solidFill>
                <a:srgbClr val="000000"/>
              </a:solidFill>
              <a:effectLst/>
              <a:uFillTx/>
              <a:latin typeface="Arial"/>
            </a:endParaRPr>
          </a:p>
          <a:p>
            <a:pPr indent="0">
              <a:lnSpc>
                <a:spcPct val="100000"/>
              </a:lnSpc>
              <a:buNone/>
            </a:pPr>
            <a:r>
              <a:rPr b="0" lang="en-CA" sz="1600" strike="noStrike" u="none">
                <a:solidFill>
                  <a:srgbClr val="000000"/>
                </a:solidFill>
                <a:effectLst/>
                <a:uFillTx/>
                <a:latin typeface="Times New Roman"/>
                <a:ea typeface="ＭＳ Ｐゴシック"/>
              </a:rPr>
              <a:t>To enhance your lecture, check out the Lecture Launchers, Land Mines, and Class Activities in the Instructor</a:t>
            </a:r>
            <a:r>
              <a:rPr b="0" lang="en-CA" sz="1600" strike="noStrike" u="none">
                <a:solidFill>
                  <a:srgbClr val="000000"/>
                </a:solidFill>
                <a:effectLst/>
                <a:uFillTx/>
                <a:latin typeface="Arial"/>
                <a:ea typeface="ＭＳ Ｐゴシック"/>
              </a:rPr>
              <a:t>’</a:t>
            </a:r>
            <a:r>
              <a:rPr b="0" lang="en-CA" sz="1600" strike="noStrike" u="none">
                <a:solidFill>
                  <a:srgbClr val="000000"/>
                </a:solidFill>
                <a:effectLst/>
                <a:uFillTx/>
                <a:latin typeface="Times New Roman"/>
                <a:ea typeface="ＭＳ Ｐゴシック"/>
              </a:rPr>
              <a:t>s Manual.</a:t>
            </a:r>
            <a:r>
              <a:rPr b="0" lang="en-US" sz="1600" strike="noStrike" u="none">
                <a:solidFill>
                  <a:srgbClr val="000000"/>
                </a:solidFill>
                <a:effectLst/>
                <a:uFillTx/>
                <a:latin typeface="Times New Roman"/>
                <a:ea typeface="ＭＳ Ｐゴシック"/>
              </a:rPr>
              <a:t> </a:t>
            </a:r>
            <a:endParaRPr b="0" lang="en-US" sz="16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sldNum" idx="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ABCF65C-D37E-4835-A411-402E46A93915}"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272" name="PlaceHolder 2"/>
          <p:cNvSpPr>
            <a:spLocks noGrp="1"/>
          </p:cNvSpPr>
          <p:nvPr>
            <p:ph type="sldImg"/>
          </p:nvPr>
        </p:nvSpPr>
        <p:spPr>
          <a:xfrm>
            <a:off x="1143000" y="685800"/>
            <a:ext cx="4571640" cy="3428640"/>
          </a:xfrm>
          <a:prstGeom prst="rect">
            <a:avLst/>
          </a:prstGeom>
          <a:ln w="0">
            <a:noFill/>
          </a:ln>
        </p:spPr>
      </p:sp>
      <p:sp>
        <p:nvSpPr>
          <p:cNvPr id="27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sldNum" idx="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B46523A-6CE0-4CEC-96D8-CB22DB62265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275" name="PlaceHolder 2"/>
          <p:cNvSpPr>
            <a:spLocks noGrp="1"/>
          </p:cNvSpPr>
          <p:nvPr>
            <p:ph type="sldImg"/>
          </p:nvPr>
        </p:nvSpPr>
        <p:spPr>
          <a:xfrm>
            <a:off x="1143000" y="685800"/>
            <a:ext cx="4571640" cy="3428640"/>
          </a:xfrm>
          <a:prstGeom prst="rect">
            <a:avLst/>
          </a:prstGeom>
          <a:ln w="0">
            <a:noFill/>
          </a:ln>
        </p:spPr>
      </p:sp>
      <p:sp>
        <p:nvSpPr>
          <p:cNvPr id="27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Num" idx="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998B373-E7A5-4778-9034-7675745C93D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278" name="PlaceHolder 2"/>
          <p:cNvSpPr>
            <a:spLocks noGrp="1"/>
          </p:cNvSpPr>
          <p:nvPr>
            <p:ph type="sldImg"/>
          </p:nvPr>
        </p:nvSpPr>
        <p:spPr>
          <a:xfrm>
            <a:off x="1143000" y="685800"/>
            <a:ext cx="4571640" cy="3428640"/>
          </a:xfrm>
          <a:prstGeom prst="rect">
            <a:avLst/>
          </a:prstGeom>
          <a:ln w="0">
            <a:noFill/>
          </a:ln>
        </p:spPr>
      </p:sp>
      <p:sp>
        <p:nvSpPr>
          <p:cNvPr id="27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Num" idx="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754810D-425A-484B-AD08-D659017C17A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281" name="PlaceHolder 2"/>
          <p:cNvSpPr>
            <a:spLocks noGrp="1"/>
          </p:cNvSpPr>
          <p:nvPr>
            <p:ph type="sldImg"/>
          </p:nvPr>
        </p:nvSpPr>
        <p:spPr>
          <a:xfrm>
            <a:off x="1143000" y="685800"/>
            <a:ext cx="4571640" cy="3428640"/>
          </a:xfrm>
          <a:prstGeom prst="rect">
            <a:avLst/>
          </a:prstGeom>
          <a:ln w="0">
            <a:noFill/>
          </a:ln>
        </p:spPr>
      </p:sp>
      <p:sp>
        <p:nvSpPr>
          <p:cNvPr id="28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sldNum" idx="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AED63CB-3764-49EF-AC53-3C26F125E12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284" name="PlaceHolder 2"/>
          <p:cNvSpPr>
            <a:spLocks noGrp="1"/>
          </p:cNvSpPr>
          <p:nvPr>
            <p:ph type="sldImg"/>
          </p:nvPr>
        </p:nvSpPr>
        <p:spPr>
          <a:xfrm>
            <a:off x="1143000" y="685800"/>
            <a:ext cx="4571640" cy="3428640"/>
          </a:xfrm>
          <a:prstGeom prst="rect">
            <a:avLst/>
          </a:prstGeom>
          <a:ln w="0">
            <a:noFill/>
          </a:ln>
        </p:spPr>
      </p:sp>
      <p:sp>
        <p:nvSpPr>
          <p:cNvPr id="28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ldNum" idx="1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F2C5C47-17A1-49BE-B941-2F4F844E56B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287" name="PlaceHolder 2"/>
          <p:cNvSpPr>
            <a:spLocks noGrp="1"/>
          </p:cNvSpPr>
          <p:nvPr>
            <p:ph type="sldImg"/>
          </p:nvPr>
        </p:nvSpPr>
        <p:spPr>
          <a:xfrm>
            <a:off x="1143000" y="685800"/>
            <a:ext cx="4571640" cy="3428640"/>
          </a:xfrm>
          <a:prstGeom prst="rect">
            <a:avLst/>
          </a:prstGeom>
          <a:ln w="0">
            <a:noFill/>
          </a:ln>
        </p:spPr>
      </p:sp>
      <p:sp>
        <p:nvSpPr>
          <p:cNvPr id="28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Num" idx="1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0CCBC4D-32EA-49B6-9120-50374C1F99C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290" name="PlaceHolder 2"/>
          <p:cNvSpPr>
            <a:spLocks noGrp="1"/>
          </p:cNvSpPr>
          <p:nvPr>
            <p:ph type="sldImg"/>
          </p:nvPr>
        </p:nvSpPr>
        <p:spPr>
          <a:xfrm>
            <a:off x="1143000" y="685800"/>
            <a:ext cx="4571640" cy="3428640"/>
          </a:xfrm>
          <a:prstGeom prst="rect">
            <a:avLst/>
          </a:prstGeom>
          <a:ln w="0">
            <a:noFill/>
          </a:ln>
        </p:spPr>
      </p:sp>
      <p:sp>
        <p:nvSpPr>
          <p:cNvPr id="29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Num" idx="1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40679BC-61E7-440E-860A-174473DF98F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293" name="PlaceHolder 2"/>
          <p:cNvSpPr>
            <a:spLocks noGrp="1"/>
          </p:cNvSpPr>
          <p:nvPr>
            <p:ph type="sldImg"/>
          </p:nvPr>
        </p:nvSpPr>
        <p:spPr>
          <a:xfrm>
            <a:off x="1143000" y="685800"/>
            <a:ext cx="4571640" cy="3428640"/>
          </a:xfrm>
          <a:prstGeom prst="rect">
            <a:avLst/>
          </a:prstGeom>
          <a:ln w="0">
            <a:noFill/>
          </a:ln>
        </p:spPr>
      </p:sp>
      <p:sp>
        <p:nvSpPr>
          <p:cNvPr id="29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sldNum" idx="1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6E27899-703D-4ACA-AFD4-2DA067C8064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296" name="PlaceHolder 2"/>
          <p:cNvSpPr>
            <a:spLocks noGrp="1"/>
          </p:cNvSpPr>
          <p:nvPr>
            <p:ph type="sldImg"/>
          </p:nvPr>
        </p:nvSpPr>
        <p:spPr>
          <a:xfrm>
            <a:off x="1143000" y="685800"/>
            <a:ext cx="4571640" cy="3428640"/>
          </a:xfrm>
          <a:prstGeom prst="rect">
            <a:avLst/>
          </a:prstGeom>
          <a:ln w="0">
            <a:noFill/>
          </a:ln>
        </p:spPr>
      </p:sp>
      <p:sp>
        <p:nvSpPr>
          <p:cNvPr id="29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sldNum" idx="1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B2B7F54-F51E-457E-B0E1-9542550F51D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299" name="PlaceHolder 2"/>
          <p:cNvSpPr>
            <a:spLocks noGrp="1"/>
          </p:cNvSpPr>
          <p:nvPr>
            <p:ph type="sldImg"/>
          </p:nvPr>
        </p:nvSpPr>
        <p:spPr>
          <a:xfrm>
            <a:off x="1143000" y="685800"/>
            <a:ext cx="4571640" cy="3428640"/>
          </a:xfrm>
          <a:prstGeom prst="rect">
            <a:avLst/>
          </a:prstGeom>
          <a:ln w="0">
            <a:noFill/>
          </a:ln>
        </p:spPr>
      </p:sp>
      <p:sp>
        <p:nvSpPr>
          <p:cNvPr id="30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sldNum" idx="1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0249619-2D4D-4DCD-8030-2ABFA22C8A0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02" name="PlaceHolder 2"/>
          <p:cNvSpPr>
            <a:spLocks noGrp="1"/>
          </p:cNvSpPr>
          <p:nvPr>
            <p:ph type="sldImg"/>
          </p:nvPr>
        </p:nvSpPr>
        <p:spPr>
          <a:xfrm>
            <a:off x="1143000" y="685800"/>
            <a:ext cx="4571640" cy="3428640"/>
          </a:xfrm>
          <a:prstGeom prst="rect">
            <a:avLst/>
          </a:prstGeom>
          <a:ln w="0">
            <a:noFill/>
          </a:ln>
        </p:spPr>
      </p:sp>
      <p:sp>
        <p:nvSpPr>
          <p:cNvPr id="30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sldNum" idx="1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30740E1-79B6-49DC-AA3D-93C92C18FCE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05" name="PlaceHolder 2"/>
          <p:cNvSpPr>
            <a:spLocks noGrp="1"/>
          </p:cNvSpPr>
          <p:nvPr>
            <p:ph type="sldImg"/>
          </p:nvPr>
        </p:nvSpPr>
        <p:spPr>
          <a:xfrm>
            <a:off x="1143000" y="685800"/>
            <a:ext cx="4571640" cy="3428640"/>
          </a:xfrm>
          <a:prstGeom prst="rect">
            <a:avLst/>
          </a:prstGeom>
          <a:ln w="0">
            <a:noFill/>
          </a:ln>
        </p:spPr>
      </p:sp>
      <p:sp>
        <p:nvSpPr>
          <p:cNvPr id="30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sldNum" idx="1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3140051-3558-45EF-B479-B4D7F51D9545}"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08" name="PlaceHolder 2"/>
          <p:cNvSpPr>
            <a:spLocks noGrp="1"/>
          </p:cNvSpPr>
          <p:nvPr>
            <p:ph type="sldImg"/>
          </p:nvPr>
        </p:nvSpPr>
        <p:spPr>
          <a:xfrm>
            <a:off x="1143000" y="685800"/>
            <a:ext cx="4571640" cy="3428640"/>
          </a:xfrm>
          <a:prstGeom prst="rect">
            <a:avLst/>
          </a:prstGeom>
          <a:ln w="0">
            <a:noFill/>
          </a:ln>
        </p:spPr>
      </p:sp>
      <p:sp>
        <p:nvSpPr>
          <p:cNvPr id="30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sldNum" idx="1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9D88FAE-96C6-4C6A-96E0-B864CF91451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11" name="PlaceHolder 2"/>
          <p:cNvSpPr>
            <a:spLocks noGrp="1"/>
          </p:cNvSpPr>
          <p:nvPr>
            <p:ph type="sldImg"/>
          </p:nvPr>
        </p:nvSpPr>
        <p:spPr>
          <a:xfrm>
            <a:off x="1143000" y="685800"/>
            <a:ext cx="4571640" cy="3428640"/>
          </a:xfrm>
          <a:prstGeom prst="rect">
            <a:avLst/>
          </a:prstGeom>
          <a:ln w="0">
            <a:noFill/>
          </a:ln>
        </p:spPr>
      </p:sp>
      <p:sp>
        <p:nvSpPr>
          <p:cNvPr id="31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sldNum" idx="1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E24DA21-FEFC-454D-9398-5DF3AEC3AF0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14" name="PlaceHolder 2"/>
          <p:cNvSpPr>
            <a:spLocks noGrp="1"/>
          </p:cNvSpPr>
          <p:nvPr>
            <p:ph type="sldImg"/>
          </p:nvPr>
        </p:nvSpPr>
        <p:spPr>
          <a:xfrm>
            <a:off x="1143000" y="685800"/>
            <a:ext cx="4571640" cy="3428640"/>
          </a:xfrm>
          <a:prstGeom prst="rect">
            <a:avLst/>
          </a:prstGeom>
          <a:ln w="0">
            <a:noFill/>
          </a:ln>
        </p:spPr>
      </p:sp>
      <p:sp>
        <p:nvSpPr>
          <p:cNvPr id="31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sldNum" idx="2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84633B9-3E5D-4B1C-9E7D-612226ACB34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17" name="PlaceHolder 2"/>
          <p:cNvSpPr>
            <a:spLocks noGrp="1"/>
          </p:cNvSpPr>
          <p:nvPr>
            <p:ph type="sldImg"/>
          </p:nvPr>
        </p:nvSpPr>
        <p:spPr>
          <a:xfrm>
            <a:off x="1143000" y="685800"/>
            <a:ext cx="4571640" cy="3428640"/>
          </a:xfrm>
          <a:prstGeom prst="rect">
            <a:avLst/>
          </a:prstGeom>
          <a:ln w="0">
            <a:noFill/>
          </a:ln>
        </p:spPr>
      </p:sp>
      <p:sp>
        <p:nvSpPr>
          <p:cNvPr id="31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sldNum" idx="2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933ED08-CC2C-41A9-9A44-10A7043E411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20" name="PlaceHolder 2"/>
          <p:cNvSpPr>
            <a:spLocks noGrp="1"/>
          </p:cNvSpPr>
          <p:nvPr>
            <p:ph type="sldImg"/>
          </p:nvPr>
        </p:nvSpPr>
        <p:spPr>
          <a:xfrm>
            <a:off x="1143000" y="685800"/>
            <a:ext cx="4571640" cy="3428640"/>
          </a:xfrm>
          <a:prstGeom prst="rect">
            <a:avLst/>
          </a:prstGeom>
          <a:ln w="0">
            <a:noFill/>
          </a:ln>
        </p:spPr>
      </p:sp>
      <p:sp>
        <p:nvSpPr>
          <p:cNvPr id="32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sldNum" idx="2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A72FAC2-5576-4732-90C1-D00BDE9E7DE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23" name="PlaceHolder 2"/>
          <p:cNvSpPr>
            <a:spLocks noGrp="1"/>
          </p:cNvSpPr>
          <p:nvPr>
            <p:ph type="sldImg"/>
          </p:nvPr>
        </p:nvSpPr>
        <p:spPr>
          <a:xfrm>
            <a:off x="1143000" y="685800"/>
            <a:ext cx="4571640" cy="3428640"/>
          </a:xfrm>
          <a:prstGeom prst="rect">
            <a:avLst/>
          </a:prstGeom>
          <a:ln w="0">
            <a:noFill/>
          </a:ln>
        </p:spPr>
      </p:sp>
      <p:sp>
        <p:nvSpPr>
          <p:cNvPr id="32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sldNum" idx="2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49BEFD9-B2D9-4D79-BE4F-767B19C141A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26" name="PlaceHolder 2"/>
          <p:cNvSpPr>
            <a:spLocks noGrp="1"/>
          </p:cNvSpPr>
          <p:nvPr>
            <p:ph type="sldImg"/>
          </p:nvPr>
        </p:nvSpPr>
        <p:spPr>
          <a:xfrm>
            <a:off x="1143000" y="685800"/>
            <a:ext cx="4571640" cy="3428640"/>
          </a:xfrm>
          <a:prstGeom prst="rect">
            <a:avLst/>
          </a:prstGeom>
          <a:ln w="0">
            <a:noFill/>
          </a:ln>
        </p:spPr>
      </p:sp>
      <p:sp>
        <p:nvSpPr>
          <p:cNvPr id="32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Num" idx="2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E3D8334-B4E9-4C58-9288-6FE6310E4A4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29" name="PlaceHolder 2"/>
          <p:cNvSpPr>
            <a:spLocks noGrp="1"/>
          </p:cNvSpPr>
          <p:nvPr>
            <p:ph type="sldImg"/>
          </p:nvPr>
        </p:nvSpPr>
        <p:spPr>
          <a:xfrm>
            <a:off x="1143000" y="685800"/>
            <a:ext cx="4571640" cy="3428640"/>
          </a:xfrm>
          <a:prstGeom prst="rect">
            <a:avLst/>
          </a:prstGeom>
          <a:ln w="0">
            <a:noFill/>
          </a:ln>
        </p:spPr>
      </p:sp>
      <p:sp>
        <p:nvSpPr>
          <p:cNvPr id="33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PlaceHolder 1"/>
          <p:cNvSpPr>
            <a:spLocks noGrp="1"/>
          </p:cNvSpPr>
          <p:nvPr>
            <p:ph type="sldNum" idx="2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2E19268-2657-45EE-BC7C-0139944F2EC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32" name="PlaceHolder 2"/>
          <p:cNvSpPr>
            <a:spLocks noGrp="1"/>
          </p:cNvSpPr>
          <p:nvPr>
            <p:ph type="sldImg"/>
          </p:nvPr>
        </p:nvSpPr>
        <p:spPr>
          <a:xfrm>
            <a:off x="1143000" y="685800"/>
            <a:ext cx="4571640" cy="3428640"/>
          </a:xfrm>
          <a:prstGeom prst="rect">
            <a:avLst/>
          </a:prstGeom>
          <a:ln w="0">
            <a:noFill/>
          </a:ln>
        </p:spPr>
      </p:sp>
      <p:sp>
        <p:nvSpPr>
          <p:cNvPr id="33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sldNum" idx="2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6F12A24-F51F-4973-80DF-5823093A83B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35" name="PlaceHolder 2"/>
          <p:cNvSpPr>
            <a:spLocks noGrp="1"/>
          </p:cNvSpPr>
          <p:nvPr>
            <p:ph type="sldImg"/>
          </p:nvPr>
        </p:nvSpPr>
        <p:spPr>
          <a:xfrm>
            <a:off x="1143000" y="685800"/>
            <a:ext cx="4571640" cy="3428640"/>
          </a:xfrm>
          <a:prstGeom prst="rect">
            <a:avLst/>
          </a:prstGeom>
          <a:ln w="0">
            <a:noFill/>
          </a:ln>
        </p:spPr>
      </p:sp>
      <p:sp>
        <p:nvSpPr>
          <p:cNvPr id="33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sldNum" idx="2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1925337-F072-4C48-BE02-56DF42BB0F3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38" name="PlaceHolder 2"/>
          <p:cNvSpPr>
            <a:spLocks noGrp="1"/>
          </p:cNvSpPr>
          <p:nvPr>
            <p:ph type="sldImg"/>
          </p:nvPr>
        </p:nvSpPr>
        <p:spPr>
          <a:xfrm>
            <a:off x="1143000" y="685800"/>
            <a:ext cx="4571640" cy="3428640"/>
          </a:xfrm>
          <a:prstGeom prst="rect">
            <a:avLst/>
          </a:prstGeom>
          <a:ln w="0">
            <a:noFill/>
          </a:ln>
        </p:spPr>
      </p:sp>
      <p:sp>
        <p:nvSpPr>
          <p:cNvPr id="33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Num" idx="2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D4CC36A-2648-4579-9D10-076C7A2625C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41" name="PlaceHolder 2"/>
          <p:cNvSpPr>
            <a:spLocks noGrp="1"/>
          </p:cNvSpPr>
          <p:nvPr>
            <p:ph type="sldImg"/>
          </p:nvPr>
        </p:nvSpPr>
        <p:spPr>
          <a:xfrm>
            <a:off x="1143000" y="685800"/>
            <a:ext cx="4571640" cy="3428640"/>
          </a:xfrm>
          <a:prstGeom prst="rect">
            <a:avLst/>
          </a:prstGeom>
          <a:ln w="0">
            <a:noFill/>
          </a:ln>
        </p:spPr>
      </p:sp>
      <p:sp>
        <p:nvSpPr>
          <p:cNvPr id="34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sldNum" idx="2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BBF130F-E4ED-484E-94E4-FAE1F43D0A8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44" name="PlaceHolder 2"/>
          <p:cNvSpPr>
            <a:spLocks noGrp="1"/>
          </p:cNvSpPr>
          <p:nvPr>
            <p:ph type="sldImg"/>
          </p:nvPr>
        </p:nvSpPr>
        <p:spPr>
          <a:xfrm>
            <a:off x="1143000" y="685800"/>
            <a:ext cx="4571640" cy="3428640"/>
          </a:xfrm>
          <a:prstGeom prst="rect">
            <a:avLst/>
          </a:prstGeom>
          <a:ln w="0">
            <a:noFill/>
          </a:ln>
        </p:spPr>
      </p:sp>
      <p:sp>
        <p:nvSpPr>
          <p:cNvPr id="34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sldNum" idx="3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61B5802-F3EB-4A1B-BFC7-9A2916FF802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47" name="PlaceHolder 2"/>
          <p:cNvSpPr>
            <a:spLocks noGrp="1"/>
          </p:cNvSpPr>
          <p:nvPr>
            <p:ph type="sldImg"/>
          </p:nvPr>
        </p:nvSpPr>
        <p:spPr>
          <a:xfrm>
            <a:off x="1143000" y="685800"/>
            <a:ext cx="4571640" cy="3428640"/>
          </a:xfrm>
          <a:prstGeom prst="rect">
            <a:avLst/>
          </a:prstGeom>
          <a:ln w="0">
            <a:noFill/>
          </a:ln>
        </p:spPr>
      </p:sp>
      <p:sp>
        <p:nvSpPr>
          <p:cNvPr id="34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80000"/>
              </a:lnSpc>
              <a:buNone/>
            </a:pPr>
            <a:r>
              <a:rPr b="0" lang="en-GB" sz="1400" strike="noStrike" u="none">
                <a:solidFill>
                  <a:srgbClr val="000000"/>
                </a:solidFill>
                <a:effectLst/>
                <a:uFillTx/>
                <a:latin typeface="Times New Roman"/>
                <a:ea typeface="ＭＳ Ｐゴシック"/>
              </a:rPr>
              <a:t>The prisoners’ dilemma is a great way to start your lecture on game theory. Tell students they get to play a game and get two students to volunteer to be the “criminals.” Give the entire class the story and rules. Don’t use a payoff matrix at this point, just write the options on the board. Then send one of your volunteers out of the room. Ask the remaining student what strategy he or she will take. Get your class to help. It usually takes a few minutes for everyone to agree that confessing is the best strategy. Send the first student from the room and then call in the second student. Ask this student what he or she will do. Because the class already knows what the first student has done, encourage them not to tell. Aid the students as they move toward choosing the equilibrium. Encourage students to remember this gaming strategy because it is the same material that you’ll use to describe a firm’s behavior. </a:t>
            </a:r>
            <a:endParaRPr b="0" lang="en-US" sz="1400" strike="noStrike" u="none">
              <a:solidFill>
                <a:srgbClr val="000000"/>
              </a:solidFill>
              <a:effectLst/>
              <a:uFillTx/>
              <a:latin typeface="Arial"/>
            </a:endParaRPr>
          </a:p>
          <a:p>
            <a:pPr indent="0">
              <a:lnSpc>
                <a:spcPct val="80000"/>
              </a:lnSpc>
              <a:buNone/>
            </a:pPr>
            <a:r>
              <a:rPr b="0" lang="en-AU" sz="1400" strike="noStrike" u="none">
                <a:solidFill>
                  <a:srgbClr val="000000"/>
                </a:solidFill>
                <a:effectLst/>
                <a:uFillTx/>
                <a:latin typeface="Times New Roman"/>
                <a:ea typeface="ＭＳ Ｐゴシック"/>
              </a:rPr>
              <a:t> You can actually play the prisoner’s dilemma game online. A good Web version of the game can be found on a site operated by a group called </a:t>
            </a:r>
            <a:r>
              <a:rPr b="0" i="1" lang="en-AU" sz="1400" strike="noStrike" u="none">
                <a:solidFill>
                  <a:srgbClr val="000000"/>
                </a:solidFill>
                <a:effectLst/>
                <a:uFillTx/>
                <a:latin typeface="Times New Roman"/>
                <a:ea typeface="ＭＳ Ｐゴシック"/>
              </a:rPr>
              <a:t>Serendip </a:t>
            </a:r>
            <a:r>
              <a:rPr b="0" lang="en-AU" sz="1400" strike="noStrike" u="none">
                <a:solidFill>
                  <a:srgbClr val="000000"/>
                </a:solidFill>
                <a:effectLst/>
                <a:uFillTx/>
                <a:latin typeface="Times New Roman"/>
                <a:ea typeface="ＭＳ Ｐゴシック"/>
              </a:rPr>
              <a:t>at Bryn Mawr College in Pennsylvania. The URL for the web site is http://serendip.brynmawr.edu/playground/pd.html. If you can use the Web in your classroom, open two browsers and go to this site twice. Get two teams trying to beat Serendip.</a:t>
            </a:r>
            <a:r>
              <a:rPr b="0" lang="en-GB" sz="1400" strike="noStrike" u="none">
                <a:solidFill>
                  <a:srgbClr val="000000"/>
                </a:solidFill>
                <a:effectLst/>
                <a:uFillTx/>
                <a:latin typeface="Times New Roman"/>
                <a:ea typeface="ＭＳ Ｐゴシック"/>
              </a:rPr>
              <a:t> </a:t>
            </a:r>
            <a:endParaRPr b="0" lang="en-US" sz="1400" strike="noStrike" u="none">
              <a:solidFill>
                <a:srgbClr val="000000"/>
              </a:solidFill>
              <a:effectLst/>
              <a:uFillTx/>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sldNum" idx="3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B7323C3-E21B-43E9-A5F5-2BF0FAC0AC5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50" name="PlaceHolder 2"/>
          <p:cNvSpPr>
            <a:spLocks noGrp="1"/>
          </p:cNvSpPr>
          <p:nvPr>
            <p:ph type="sldImg"/>
          </p:nvPr>
        </p:nvSpPr>
        <p:spPr>
          <a:xfrm>
            <a:off x="1143000" y="685800"/>
            <a:ext cx="4571640" cy="3428640"/>
          </a:xfrm>
          <a:prstGeom prst="rect">
            <a:avLst/>
          </a:prstGeom>
          <a:ln w="0">
            <a:noFill/>
          </a:ln>
        </p:spPr>
      </p:sp>
      <p:sp>
        <p:nvSpPr>
          <p:cNvPr id="35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Num" idx="3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36F21C2-4386-4F97-BD41-336B62E8E85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53" name="PlaceHolder 2"/>
          <p:cNvSpPr>
            <a:spLocks noGrp="1"/>
          </p:cNvSpPr>
          <p:nvPr>
            <p:ph type="sldImg"/>
          </p:nvPr>
        </p:nvSpPr>
        <p:spPr>
          <a:xfrm>
            <a:off x="1143000" y="685800"/>
            <a:ext cx="4571640" cy="3428640"/>
          </a:xfrm>
          <a:prstGeom prst="rect">
            <a:avLst/>
          </a:prstGeom>
          <a:ln w="0">
            <a:noFill/>
          </a:ln>
        </p:spPr>
      </p:sp>
      <p:sp>
        <p:nvSpPr>
          <p:cNvPr id="35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sldNum" idx="3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395ADC1-E603-4317-A952-0CBECB7597A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56" name="PlaceHolder 2"/>
          <p:cNvSpPr>
            <a:spLocks noGrp="1"/>
          </p:cNvSpPr>
          <p:nvPr>
            <p:ph type="sldImg"/>
          </p:nvPr>
        </p:nvSpPr>
        <p:spPr>
          <a:xfrm>
            <a:off x="1143000" y="685800"/>
            <a:ext cx="4571640" cy="3428640"/>
          </a:xfrm>
          <a:prstGeom prst="rect">
            <a:avLst/>
          </a:prstGeom>
          <a:ln w="0">
            <a:noFill/>
          </a:ln>
        </p:spPr>
      </p:sp>
      <p:sp>
        <p:nvSpPr>
          <p:cNvPr id="35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Num" idx="3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ED24A60-5BEA-4746-A7B6-BD2218F8A47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59" name="PlaceHolder 2"/>
          <p:cNvSpPr>
            <a:spLocks noGrp="1"/>
          </p:cNvSpPr>
          <p:nvPr>
            <p:ph type="sldImg"/>
          </p:nvPr>
        </p:nvSpPr>
        <p:spPr>
          <a:xfrm>
            <a:off x="1143000" y="685800"/>
            <a:ext cx="4571640" cy="3428640"/>
          </a:xfrm>
          <a:prstGeom prst="rect">
            <a:avLst/>
          </a:prstGeom>
          <a:ln w="0">
            <a:noFill/>
          </a:ln>
        </p:spPr>
      </p:sp>
      <p:sp>
        <p:nvSpPr>
          <p:cNvPr id="36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Num" idx="3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FE12752-7520-41FC-9C64-9111F6CAA05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62" name="PlaceHolder 2"/>
          <p:cNvSpPr>
            <a:spLocks noGrp="1"/>
          </p:cNvSpPr>
          <p:nvPr>
            <p:ph type="sldImg"/>
          </p:nvPr>
        </p:nvSpPr>
        <p:spPr>
          <a:xfrm>
            <a:off x="1143000" y="685800"/>
            <a:ext cx="4571640" cy="3428640"/>
          </a:xfrm>
          <a:prstGeom prst="rect">
            <a:avLst/>
          </a:prstGeom>
          <a:ln w="0">
            <a:noFill/>
          </a:ln>
        </p:spPr>
      </p:sp>
      <p:sp>
        <p:nvSpPr>
          <p:cNvPr id="36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Num" idx="3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CC435D4-77E0-42C5-920E-A85F2B59BD7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65" name="PlaceHolder 2"/>
          <p:cNvSpPr>
            <a:spLocks noGrp="1"/>
          </p:cNvSpPr>
          <p:nvPr>
            <p:ph type="sldImg"/>
          </p:nvPr>
        </p:nvSpPr>
        <p:spPr>
          <a:xfrm>
            <a:off x="1143000" y="685800"/>
            <a:ext cx="4571640" cy="3428640"/>
          </a:xfrm>
          <a:prstGeom prst="rect">
            <a:avLst/>
          </a:prstGeom>
          <a:ln w="0">
            <a:noFill/>
          </a:ln>
        </p:spPr>
      </p:sp>
      <p:sp>
        <p:nvSpPr>
          <p:cNvPr id="36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sldNum" idx="3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A54A7DE-7B87-4C71-B51D-1DF9BD2A988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68" name="PlaceHolder 2"/>
          <p:cNvSpPr>
            <a:spLocks noGrp="1"/>
          </p:cNvSpPr>
          <p:nvPr>
            <p:ph type="sldImg"/>
          </p:nvPr>
        </p:nvSpPr>
        <p:spPr>
          <a:xfrm>
            <a:off x="1143000" y="685800"/>
            <a:ext cx="4571640" cy="3428640"/>
          </a:xfrm>
          <a:prstGeom prst="rect">
            <a:avLst/>
          </a:prstGeom>
          <a:ln w="0">
            <a:noFill/>
          </a:ln>
        </p:spPr>
      </p:sp>
      <p:sp>
        <p:nvSpPr>
          <p:cNvPr id="36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90000"/>
              </a:lnSpc>
              <a:buNone/>
            </a:pPr>
            <a:r>
              <a:rPr b="0" lang="en-AU" sz="1600" strike="noStrike" u="none">
                <a:solidFill>
                  <a:srgbClr val="000000"/>
                </a:solidFill>
                <a:effectLst/>
                <a:uFillTx/>
                <a:latin typeface="Times New Roman"/>
                <a:ea typeface="ＭＳ Ｐゴシック"/>
              </a:rPr>
              <a:t>John Nash’s life makes for an interesting anecdote you can tell in class. Some of your students might have seen the movie </a:t>
            </a:r>
            <a:r>
              <a:rPr b="0" i="1" lang="en-AU" sz="1600" strike="noStrike" u="none">
                <a:solidFill>
                  <a:srgbClr val="000000"/>
                </a:solidFill>
                <a:effectLst/>
                <a:uFillTx/>
                <a:latin typeface="Times New Roman"/>
                <a:ea typeface="ＭＳ Ｐゴシック"/>
              </a:rPr>
              <a:t>A Beautiful Mind</a:t>
            </a:r>
            <a:r>
              <a:rPr b="0" lang="en-AU" sz="1600" strike="noStrike" u="none">
                <a:solidFill>
                  <a:srgbClr val="000000"/>
                </a:solidFill>
                <a:effectLst/>
                <a:uFillTx/>
                <a:latin typeface="Times New Roman"/>
                <a:ea typeface="ＭＳ Ｐゴシック"/>
              </a:rPr>
              <a:t>, which was the somewhat embellished story of Nash’s life. To recapitulate the story, Nash was an incredibly bright graduate student and assistant professor in the early 1950s. During this time he developed the concept of the Nash equilibrium. Tragically, he was taken severely ill with schizophrenia. Princeton, where he was employed, made a supremely human decision and kept him on the faculty even though he was totally disabled. He spent the next three decades riding buses around Princeton and wandering the buildings at night. Nash’s condition has improved in recent years. The Nobel Prize committee heard of his improving condition and called several of his friends to inquire if he would be able to accept the prize. He was and so the Nobel Prize was awarded to him in 1994.</a:t>
            </a:r>
            <a:r>
              <a:rPr b="0" lang="en-GB" sz="1600" strike="noStrike" u="none">
                <a:solidFill>
                  <a:srgbClr val="000000"/>
                </a:solidFill>
                <a:effectLst/>
                <a:uFillTx/>
                <a:latin typeface="Times New Roman"/>
                <a:ea typeface="ＭＳ Ｐゴシック"/>
              </a:rPr>
              <a:t> </a:t>
            </a:r>
            <a:endParaRPr b="0" lang="en-US" sz="1600" strike="noStrike" u="none">
              <a:solidFill>
                <a:srgbClr val="000000"/>
              </a:solidFill>
              <a:effectLst/>
              <a:uFillTx/>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sldNum" idx="3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ADBD37E-0348-4D5E-9F05-EC16BE3FB47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71" name="PlaceHolder 2"/>
          <p:cNvSpPr>
            <a:spLocks noGrp="1"/>
          </p:cNvSpPr>
          <p:nvPr>
            <p:ph type="sldImg"/>
          </p:nvPr>
        </p:nvSpPr>
        <p:spPr>
          <a:xfrm>
            <a:off x="1143000" y="685800"/>
            <a:ext cx="4571640" cy="3428640"/>
          </a:xfrm>
          <a:prstGeom prst="rect">
            <a:avLst/>
          </a:prstGeom>
          <a:ln w="0">
            <a:noFill/>
          </a:ln>
        </p:spPr>
      </p:sp>
      <p:sp>
        <p:nvSpPr>
          <p:cNvPr id="37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80000"/>
              </a:lnSpc>
              <a:buNone/>
            </a:pPr>
            <a:r>
              <a:rPr b="0" lang="en-AU" sz="1600" strike="noStrike" u="none">
                <a:solidFill>
                  <a:srgbClr val="000000"/>
                </a:solidFill>
                <a:effectLst/>
                <a:uFillTx/>
                <a:latin typeface="Times New Roman"/>
                <a:ea typeface="ＭＳ Ｐゴシック"/>
              </a:rPr>
              <a:t>The duopolist’s dilemma game has been carefully designed to get the maximum payoff from the knowledge your students have of the perfect competition and monopoly results of the two preceding chapters and to introduce them to game theory in a setting that is as close to the previously studied settings as possible. Instead of asserting a payoff matrix, the numbers in the matrix come directly from monopoly profit-maximizing and competitive outcomes calculated on the earlier pages. You need to do a bit of work to generate the payoff numbers, but the whole story hangs together so much better when the student can see where the numbers come from and can see the connection between the oligopoly set up and those of competition and monopoly. Start with Figure 18.2  and after you’ve explained the cost and demand conditions shown in the figure, ask the students what they think the price and quantity will be in this industry. There will be differences of opinion. This diversity of opinion motivates the need for a model of the choices the firms make.</a:t>
            </a:r>
            <a:r>
              <a:rPr b="0" lang="en-GB" sz="1600" strike="noStrike" u="none">
                <a:solidFill>
                  <a:srgbClr val="000000"/>
                </a:solidFill>
                <a:effectLst/>
                <a:uFillTx/>
                <a:latin typeface="Times New Roman"/>
                <a:ea typeface="ＭＳ Ｐゴシック"/>
              </a:rPr>
              <a:t> </a:t>
            </a:r>
            <a:endParaRPr b="0" lang="en-US" sz="1600" strike="noStrike" u="none">
              <a:solidFill>
                <a:srgbClr val="000000"/>
              </a:solidFill>
              <a:effectLst/>
              <a:uFillTx/>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sldNum" idx="3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8E49FC0-3C67-460D-843F-A9310379F71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74" name="PlaceHolder 2"/>
          <p:cNvSpPr>
            <a:spLocks noGrp="1"/>
          </p:cNvSpPr>
          <p:nvPr>
            <p:ph type="sldImg"/>
          </p:nvPr>
        </p:nvSpPr>
        <p:spPr>
          <a:xfrm>
            <a:off x="1143000" y="685800"/>
            <a:ext cx="4571640" cy="3428640"/>
          </a:xfrm>
          <a:prstGeom prst="rect">
            <a:avLst/>
          </a:prstGeom>
          <a:ln w="0">
            <a:noFill/>
          </a:ln>
        </p:spPr>
      </p:sp>
      <p:sp>
        <p:nvSpPr>
          <p:cNvPr id="37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sldNum" idx="4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D46FCF1-E431-4995-AE8C-9F97BD9FE99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77" name="PlaceHolder 2"/>
          <p:cNvSpPr>
            <a:spLocks noGrp="1"/>
          </p:cNvSpPr>
          <p:nvPr>
            <p:ph type="sldImg"/>
          </p:nvPr>
        </p:nvSpPr>
        <p:spPr>
          <a:xfrm>
            <a:off x="1143000" y="685800"/>
            <a:ext cx="4571640" cy="3428640"/>
          </a:xfrm>
          <a:prstGeom prst="rect">
            <a:avLst/>
          </a:prstGeom>
          <a:ln w="0">
            <a:noFill/>
          </a:ln>
        </p:spPr>
      </p:sp>
      <p:sp>
        <p:nvSpPr>
          <p:cNvPr id="37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sldNum" idx="4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15E2CE9-0186-45F2-9A78-5A1C172558C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80" name="PlaceHolder 2"/>
          <p:cNvSpPr>
            <a:spLocks noGrp="1"/>
          </p:cNvSpPr>
          <p:nvPr>
            <p:ph type="sldImg"/>
          </p:nvPr>
        </p:nvSpPr>
        <p:spPr>
          <a:xfrm>
            <a:off x="1143000" y="685800"/>
            <a:ext cx="4571640" cy="3428640"/>
          </a:xfrm>
          <a:prstGeom prst="rect">
            <a:avLst/>
          </a:prstGeom>
          <a:ln w="0">
            <a:noFill/>
          </a:ln>
        </p:spPr>
      </p:sp>
      <p:sp>
        <p:nvSpPr>
          <p:cNvPr id="38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sldNum" idx="4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D67215F-EE4D-4EB3-9651-EAB056AF6D9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83" name="PlaceHolder 2"/>
          <p:cNvSpPr>
            <a:spLocks noGrp="1"/>
          </p:cNvSpPr>
          <p:nvPr>
            <p:ph type="sldImg"/>
          </p:nvPr>
        </p:nvSpPr>
        <p:spPr>
          <a:xfrm>
            <a:off x="1143000" y="685800"/>
            <a:ext cx="4571640" cy="3428640"/>
          </a:xfrm>
          <a:prstGeom prst="rect">
            <a:avLst/>
          </a:prstGeom>
          <a:ln w="0">
            <a:noFill/>
          </a:ln>
        </p:spPr>
      </p:sp>
      <p:sp>
        <p:nvSpPr>
          <p:cNvPr id="38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90000"/>
              </a:lnSpc>
              <a:buNone/>
            </a:pPr>
            <a:r>
              <a:rPr b="0" lang="en-GB" sz="1400" strike="noStrike" u="none">
                <a:solidFill>
                  <a:srgbClr val="000000"/>
                </a:solidFill>
                <a:effectLst/>
                <a:uFillTx/>
                <a:latin typeface="Times New Roman"/>
                <a:ea typeface="ＭＳ Ｐゴシック"/>
              </a:rPr>
              <a:t>Determining the Nash equilibrium of a game is often difficult for students. Try to make the game more “practical” by pointing out to the students that in the real world, real firms are almost always doing ”what if” analyses and that game theory is well designed for answering these sorts of “what if” questions. In the Airbus/Boeing game in the text, the two companies are trying to determine how many airplanes they should produce if their competitor produces 3 airplanes or if their competitor produces 4 airplanes. You can illustrate the equilibrium by starting with Airbus and stating that Airbus wants to determine what it should do if Boeing produces 4 airplanes. Then, after determining that Airbus will produce 4 airplanes, do the next “what if” by looking what Airbus should do if Boeing produces 3 airplanes. In this case, Airbus again wants to produce 4 airplanes. Therefore Airbus’s “what if” analysis has led to the conclusion that regardless of Boeing’s decision, Airbus wants to produce 4 airplanes. You can conduct the same “what if” for Boeing’s choices and determine that Boeing, too, will produce 4 airplanes regardless of Airbus’s choice.</a:t>
            </a:r>
            <a:endParaRPr b="0" lang="en-US" sz="1400" strike="noStrike" u="none">
              <a:solidFill>
                <a:srgbClr val="000000"/>
              </a:solidFill>
              <a:effectLst/>
              <a:uFillTx/>
              <a:latin typeface="Arial"/>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sldNum" idx="4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B5CD69D-5FC1-482E-9824-55F6D4EEC51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86" name="PlaceHolder 2"/>
          <p:cNvSpPr>
            <a:spLocks noGrp="1"/>
          </p:cNvSpPr>
          <p:nvPr>
            <p:ph type="sldImg"/>
          </p:nvPr>
        </p:nvSpPr>
        <p:spPr>
          <a:xfrm>
            <a:off x="1143000" y="685800"/>
            <a:ext cx="4571640" cy="3428640"/>
          </a:xfrm>
          <a:prstGeom prst="rect">
            <a:avLst/>
          </a:prstGeom>
          <a:ln w="0">
            <a:noFill/>
          </a:ln>
        </p:spPr>
      </p:sp>
      <p:sp>
        <p:nvSpPr>
          <p:cNvPr id="38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sldNum" idx="4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D2003EE-28E8-410A-9DE0-4E5EB18FB25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89" name="PlaceHolder 2"/>
          <p:cNvSpPr>
            <a:spLocks noGrp="1"/>
          </p:cNvSpPr>
          <p:nvPr>
            <p:ph type="sldImg"/>
          </p:nvPr>
        </p:nvSpPr>
        <p:spPr>
          <a:xfrm>
            <a:off x="1143000" y="685800"/>
            <a:ext cx="4571640" cy="3428640"/>
          </a:xfrm>
          <a:prstGeom prst="rect">
            <a:avLst/>
          </a:prstGeom>
          <a:ln w="0">
            <a:noFill/>
          </a:ln>
        </p:spPr>
      </p:sp>
      <p:sp>
        <p:nvSpPr>
          <p:cNvPr id="39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sldNum" idx="4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63CBBD6-36B0-460A-9D3D-07F422D3363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92" name="PlaceHolder 2"/>
          <p:cNvSpPr>
            <a:spLocks noGrp="1"/>
          </p:cNvSpPr>
          <p:nvPr>
            <p:ph type="sldImg"/>
          </p:nvPr>
        </p:nvSpPr>
        <p:spPr>
          <a:xfrm>
            <a:off x="1143000" y="685800"/>
            <a:ext cx="4571640" cy="3428640"/>
          </a:xfrm>
          <a:prstGeom prst="rect">
            <a:avLst/>
          </a:prstGeom>
          <a:ln w="0">
            <a:noFill/>
          </a:ln>
        </p:spPr>
      </p:sp>
      <p:sp>
        <p:nvSpPr>
          <p:cNvPr id="39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sldNum" idx="4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CD6713B-3BF2-461A-B26D-C86A7BA0CB3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95" name="PlaceHolder 2"/>
          <p:cNvSpPr>
            <a:spLocks noGrp="1"/>
          </p:cNvSpPr>
          <p:nvPr>
            <p:ph type="sldImg"/>
          </p:nvPr>
        </p:nvSpPr>
        <p:spPr>
          <a:xfrm>
            <a:off x="1143000" y="685800"/>
            <a:ext cx="4571640" cy="3428640"/>
          </a:xfrm>
          <a:prstGeom prst="rect">
            <a:avLst/>
          </a:prstGeom>
          <a:ln w="0">
            <a:noFill/>
          </a:ln>
        </p:spPr>
      </p:sp>
      <p:sp>
        <p:nvSpPr>
          <p:cNvPr id="39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sldNum" idx="4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8B29284-3EC6-4E58-98F1-74CB52A47FF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398" name="PlaceHolder 2"/>
          <p:cNvSpPr>
            <a:spLocks noGrp="1"/>
          </p:cNvSpPr>
          <p:nvPr>
            <p:ph type="sldImg"/>
          </p:nvPr>
        </p:nvSpPr>
        <p:spPr>
          <a:xfrm>
            <a:off x="1143000" y="685800"/>
            <a:ext cx="4571640" cy="3428640"/>
          </a:xfrm>
          <a:prstGeom prst="rect">
            <a:avLst/>
          </a:prstGeom>
          <a:ln w="0">
            <a:noFill/>
          </a:ln>
        </p:spPr>
      </p:sp>
      <p:sp>
        <p:nvSpPr>
          <p:cNvPr id="39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sldNum" idx="4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C24AE674-9308-423F-B043-EA92D47FC1C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01" name="PlaceHolder 2"/>
          <p:cNvSpPr>
            <a:spLocks noGrp="1"/>
          </p:cNvSpPr>
          <p:nvPr>
            <p:ph type="sldImg"/>
          </p:nvPr>
        </p:nvSpPr>
        <p:spPr>
          <a:xfrm>
            <a:off x="1143000" y="685800"/>
            <a:ext cx="4571640" cy="3428640"/>
          </a:xfrm>
          <a:prstGeom prst="rect">
            <a:avLst/>
          </a:prstGeom>
          <a:ln w="0">
            <a:noFill/>
          </a:ln>
        </p:spPr>
      </p:sp>
      <p:sp>
        <p:nvSpPr>
          <p:cNvPr id="40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sldNum" idx="4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95BA00F-3843-4949-8493-F3C479E14EA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04" name="PlaceHolder 2"/>
          <p:cNvSpPr>
            <a:spLocks noGrp="1"/>
          </p:cNvSpPr>
          <p:nvPr>
            <p:ph type="sldImg"/>
          </p:nvPr>
        </p:nvSpPr>
        <p:spPr>
          <a:xfrm>
            <a:off x="1143000" y="685800"/>
            <a:ext cx="4571640" cy="3428640"/>
          </a:xfrm>
          <a:prstGeom prst="rect">
            <a:avLst/>
          </a:prstGeom>
          <a:ln w="0">
            <a:noFill/>
          </a:ln>
        </p:spPr>
      </p:sp>
      <p:sp>
        <p:nvSpPr>
          <p:cNvPr id="40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sldNum" idx="5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F35867A-8FEB-49BD-B757-460412A063C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07" name="PlaceHolder 2"/>
          <p:cNvSpPr>
            <a:spLocks noGrp="1"/>
          </p:cNvSpPr>
          <p:nvPr>
            <p:ph type="sldImg"/>
          </p:nvPr>
        </p:nvSpPr>
        <p:spPr>
          <a:xfrm>
            <a:off x="1143000" y="685800"/>
            <a:ext cx="4571640" cy="3428640"/>
          </a:xfrm>
          <a:prstGeom prst="rect">
            <a:avLst/>
          </a:prstGeom>
          <a:ln w="0">
            <a:noFill/>
          </a:ln>
        </p:spPr>
      </p:sp>
      <p:sp>
        <p:nvSpPr>
          <p:cNvPr id="40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sldNum" idx="5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8F060B5-C65F-4A60-86FF-2C46FF49AA7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10" name="PlaceHolder 2"/>
          <p:cNvSpPr>
            <a:spLocks noGrp="1"/>
          </p:cNvSpPr>
          <p:nvPr>
            <p:ph type="sldImg"/>
          </p:nvPr>
        </p:nvSpPr>
        <p:spPr>
          <a:xfrm>
            <a:off x="1143000" y="685800"/>
            <a:ext cx="4571640" cy="3428640"/>
          </a:xfrm>
          <a:prstGeom prst="rect">
            <a:avLst/>
          </a:prstGeom>
          <a:ln w="0">
            <a:noFill/>
          </a:ln>
        </p:spPr>
      </p:sp>
      <p:sp>
        <p:nvSpPr>
          <p:cNvPr id="41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sldNum" idx="5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2AB6F6F-CFA1-4CC6-BBB6-76D42123EB9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13" name="PlaceHolder 2"/>
          <p:cNvSpPr>
            <a:spLocks noGrp="1"/>
          </p:cNvSpPr>
          <p:nvPr>
            <p:ph type="sldImg"/>
          </p:nvPr>
        </p:nvSpPr>
        <p:spPr>
          <a:xfrm>
            <a:off x="1143000" y="685800"/>
            <a:ext cx="4571640" cy="3428640"/>
          </a:xfrm>
          <a:prstGeom prst="rect">
            <a:avLst/>
          </a:prstGeom>
          <a:ln w="0">
            <a:noFill/>
          </a:ln>
        </p:spPr>
      </p:sp>
      <p:sp>
        <p:nvSpPr>
          <p:cNvPr id="41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US" sz="1600" strike="noStrike" u="none">
                <a:solidFill>
                  <a:srgbClr val="000000"/>
                </a:solidFill>
                <a:effectLst/>
                <a:uFillTx/>
                <a:latin typeface="Arial"/>
              </a:rPr>
              <a:t>The OPEC oil cartel is an excellent example of how useful game theory can be to explain real world events. Use the prisoner’s dilemma game to illustrate the incentive each nation faces: whether to cheat on their agreement or comply with it. A tit-for-tat strategy makes all the nations (as a group) better off but the demand for oil fluctuates and it is difficult for each nation to determine whether the other nations are cheating on the agreement. This combination makes a cartel agreement difficult to monitor, which is why we see the price of oil fluctuate so much, even during peaceful times. Saudi Arabia is widely believed to be the market leader for the cartel. Its oil output decisions have waxed and waned significantly over time, so oil prices fall when its government needs the extra oil revenues (cheating) or rises when the political environment requires greater economic unity among the member nations (cooperating).</a:t>
            </a:r>
            <a:endParaRPr b="0" lang="en-US" sz="1600" strike="noStrike" u="none">
              <a:solidFill>
                <a:srgbClr val="000000"/>
              </a:solidFill>
              <a:effectLst/>
              <a:uFillTx/>
              <a:latin typeface="Arial"/>
            </a:endParaRPr>
          </a:p>
          <a:p>
            <a:pPr indent="0">
              <a:lnSpc>
                <a:spcPct val="100000"/>
              </a:lnSpc>
              <a:buNone/>
            </a:pPr>
            <a:endParaRPr b="0" lang="en-US" sz="1600" strike="noStrike" u="none">
              <a:solidFill>
                <a:srgbClr val="000000"/>
              </a:solidFill>
              <a:effectLst/>
              <a:uFillTx/>
              <a:latin typeface="Arial"/>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sldNum" idx="5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949DBA6-D48E-4977-8D08-073AD15F039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16" name="PlaceHolder 2"/>
          <p:cNvSpPr>
            <a:spLocks noGrp="1"/>
          </p:cNvSpPr>
          <p:nvPr>
            <p:ph type="sldImg"/>
          </p:nvPr>
        </p:nvSpPr>
        <p:spPr>
          <a:xfrm>
            <a:off x="1143000" y="685800"/>
            <a:ext cx="4571640" cy="3428640"/>
          </a:xfrm>
          <a:prstGeom prst="rect">
            <a:avLst/>
          </a:prstGeom>
          <a:ln w="0">
            <a:noFill/>
          </a:ln>
        </p:spPr>
      </p:sp>
      <p:sp>
        <p:nvSpPr>
          <p:cNvPr id="41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sldNum" idx="5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ECB4A90-8EA7-45D7-BBAF-B2A09E98A4F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19" name="PlaceHolder 2"/>
          <p:cNvSpPr>
            <a:spLocks noGrp="1"/>
          </p:cNvSpPr>
          <p:nvPr>
            <p:ph type="sldImg"/>
          </p:nvPr>
        </p:nvSpPr>
        <p:spPr>
          <a:xfrm>
            <a:off x="1143000" y="685800"/>
            <a:ext cx="4571640" cy="3428640"/>
          </a:xfrm>
          <a:prstGeom prst="rect">
            <a:avLst/>
          </a:prstGeom>
          <a:ln w="0">
            <a:noFill/>
          </a:ln>
        </p:spPr>
      </p:sp>
      <p:sp>
        <p:nvSpPr>
          <p:cNvPr id="42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sldNum" idx="5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F21BC29-2489-4E13-885E-191E81E3A03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22" name="PlaceHolder 2"/>
          <p:cNvSpPr>
            <a:spLocks noGrp="1"/>
          </p:cNvSpPr>
          <p:nvPr>
            <p:ph type="sldImg"/>
          </p:nvPr>
        </p:nvSpPr>
        <p:spPr>
          <a:xfrm>
            <a:off x="1143000" y="685800"/>
            <a:ext cx="4571640" cy="3428640"/>
          </a:xfrm>
          <a:prstGeom prst="rect">
            <a:avLst/>
          </a:prstGeom>
          <a:ln w="0">
            <a:noFill/>
          </a:ln>
        </p:spPr>
      </p:sp>
      <p:sp>
        <p:nvSpPr>
          <p:cNvPr id="42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sldNum" idx="5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A85974E-AE03-4AE1-90E6-5F4924FFB04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25" name="PlaceHolder 2"/>
          <p:cNvSpPr>
            <a:spLocks noGrp="1"/>
          </p:cNvSpPr>
          <p:nvPr>
            <p:ph type="sldImg"/>
          </p:nvPr>
        </p:nvSpPr>
        <p:spPr>
          <a:xfrm>
            <a:off x="1143000" y="685800"/>
            <a:ext cx="4571640" cy="3428640"/>
          </a:xfrm>
          <a:prstGeom prst="rect">
            <a:avLst/>
          </a:prstGeom>
          <a:ln w="0">
            <a:noFill/>
          </a:ln>
        </p:spPr>
      </p:sp>
      <p:sp>
        <p:nvSpPr>
          <p:cNvPr id="42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sldNum" idx="5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CB17474-38F2-4E70-85C2-B611991F5B6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28" name="PlaceHolder 2"/>
          <p:cNvSpPr>
            <a:spLocks noGrp="1"/>
          </p:cNvSpPr>
          <p:nvPr>
            <p:ph type="sldImg"/>
          </p:nvPr>
        </p:nvSpPr>
        <p:spPr>
          <a:xfrm>
            <a:off x="1143000" y="685800"/>
            <a:ext cx="4571640" cy="3428640"/>
          </a:xfrm>
          <a:prstGeom prst="rect">
            <a:avLst/>
          </a:prstGeom>
          <a:ln w="0">
            <a:noFill/>
          </a:ln>
        </p:spPr>
      </p:sp>
      <p:sp>
        <p:nvSpPr>
          <p:cNvPr id="42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sldNum" idx="5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778DBDE-01E8-421B-8896-FECBAA24B28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31" name="PlaceHolder 2"/>
          <p:cNvSpPr>
            <a:spLocks noGrp="1"/>
          </p:cNvSpPr>
          <p:nvPr>
            <p:ph type="sldImg"/>
          </p:nvPr>
        </p:nvSpPr>
        <p:spPr>
          <a:xfrm>
            <a:off x="1143000" y="685800"/>
            <a:ext cx="4571640" cy="3428640"/>
          </a:xfrm>
          <a:prstGeom prst="rect">
            <a:avLst/>
          </a:prstGeom>
          <a:ln w="0">
            <a:noFill/>
          </a:ln>
        </p:spPr>
      </p:sp>
      <p:sp>
        <p:nvSpPr>
          <p:cNvPr id="43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sldNum" idx="5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ECC8B2B-94B8-44B0-9FDD-9B1AB1FC1D1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34" name="PlaceHolder 2"/>
          <p:cNvSpPr>
            <a:spLocks noGrp="1"/>
          </p:cNvSpPr>
          <p:nvPr>
            <p:ph type="sldImg"/>
          </p:nvPr>
        </p:nvSpPr>
        <p:spPr>
          <a:xfrm>
            <a:off x="1143000" y="685800"/>
            <a:ext cx="4571640" cy="3428640"/>
          </a:xfrm>
          <a:prstGeom prst="rect">
            <a:avLst/>
          </a:prstGeom>
          <a:ln w="0">
            <a:noFill/>
          </a:ln>
        </p:spPr>
      </p:sp>
      <p:sp>
        <p:nvSpPr>
          <p:cNvPr id="43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90000"/>
              </a:lnSpc>
              <a:buNone/>
            </a:pPr>
            <a:r>
              <a:rPr b="0" lang="en-AU" sz="2000" strike="noStrike" u="none">
                <a:solidFill>
                  <a:srgbClr val="000000"/>
                </a:solidFill>
                <a:effectLst/>
                <a:uFillTx/>
                <a:latin typeface="Times New Roman"/>
                <a:ea typeface="ＭＳ Ｐゴシック"/>
              </a:rPr>
              <a:t>A large percentage of students read the Clayton Act as </a:t>
            </a:r>
            <a:r>
              <a:rPr b="0" i="1" lang="en-AU" sz="2000" strike="noStrike" u="none">
                <a:solidFill>
                  <a:srgbClr val="000000"/>
                </a:solidFill>
                <a:effectLst/>
                <a:uFillTx/>
                <a:latin typeface="Times New Roman"/>
                <a:ea typeface="ＭＳ Ｐゴシック"/>
              </a:rPr>
              <a:t>always </a:t>
            </a:r>
            <a:r>
              <a:rPr b="0" lang="en-AU" sz="2000" strike="noStrike" u="none">
                <a:solidFill>
                  <a:srgbClr val="000000"/>
                </a:solidFill>
                <a:effectLst/>
                <a:uFillTx/>
                <a:latin typeface="Times New Roman"/>
                <a:ea typeface="ＭＳ Ｐゴシック"/>
              </a:rPr>
              <a:t>prohibiting the activities listed, such as price discrimination or exclusive deals. Ask your students why airlines and movie theaters can price discriminate even though it is outlawed by the Clayton Act. Ask them why Coke and McDonald’s are allowed to have an exclusive deal so that only Coke products can be purchased at McDonald’s while Pepsi and KFC have similar exclusive deal. The objective is to force the students to understand that the business practices mentioned in the Clayton Act are illegal </a:t>
            </a:r>
            <a:r>
              <a:rPr b="0" i="1" lang="en-AU" sz="2000" strike="noStrike" u="none">
                <a:solidFill>
                  <a:srgbClr val="000000"/>
                </a:solidFill>
                <a:effectLst/>
                <a:uFillTx/>
                <a:latin typeface="Times New Roman"/>
                <a:ea typeface="ＭＳ Ｐゴシック"/>
              </a:rPr>
              <a:t>only if </a:t>
            </a:r>
            <a:r>
              <a:rPr b="0" lang="en-AU" sz="2000" strike="noStrike" u="none">
                <a:solidFill>
                  <a:srgbClr val="000000"/>
                </a:solidFill>
                <a:effectLst/>
                <a:uFillTx/>
                <a:latin typeface="Times New Roman"/>
                <a:ea typeface="ＭＳ Ｐゴシック"/>
              </a:rPr>
              <a:t>they substantially lessen competition or create monopoly. You can state this qualifying phrase as often as you like but real-life, specific examples are necessary to hammer the point home!</a:t>
            </a:r>
            <a:r>
              <a:rPr b="0" lang="en-GB" sz="2000" strike="noStrike" u="none">
                <a:solidFill>
                  <a:srgbClr val="000000"/>
                </a:solidFill>
                <a:effectLst/>
                <a:uFillTx/>
                <a:latin typeface="Times New Roman"/>
                <a:ea typeface="ＭＳ Ｐゴシック"/>
              </a:rPr>
              <a:t> </a:t>
            </a:r>
            <a:endParaRPr b="0" lang="en-US" sz="2000" strike="noStrike" u="none">
              <a:solidFill>
                <a:srgbClr val="000000"/>
              </a:solidFill>
              <a:effectLst/>
              <a:uFillTx/>
              <a:latin typeface="Arial"/>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sldNum" idx="6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562C522-E960-485C-97F3-315C6042CFA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37" name="PlaceHolder 2"/>
          <p:cNvSpPr>
            <a:spLocks noGrp="1"/>
          </p:cNvSpPr>
          <p:nvPr>
            <p:ph type="sldImg"/>
          </p:nvPr>
        </p:nvSpPr>
        <p:spPr>
          <a:xfrm>
            <a:off x="1143000" y="685800"/>
            <a:ext cx="4571640" cy="3428640"/>
          </a:xfrm>
          <a:prstGeom prst="rect">
            <a:avLst/>
          </a:prstGeom>
          <a:ln w="0">
            <a:noFill/>
          </a:ln>
        </p:spPr>
      </p:sp>
      <p:sp>
        <p:nvSpPr>
          <p:cNvPr id="43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PlaceHolder 1"/>
          <p:cNvSpPr>
            <a:spLocks noGrp="1"/>
          </p:cNvSpPr>
          <p:nvPr>
            <p:ph type="sldNum" idx="6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68E5EAB-584E-4E1A-BD0E-53C93295183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40" name="PlaceHolder 2"/>
          <p:cNvSpPr>
            <a:spLocks noGrp="1"/>
          </p:cNvSpPr>
          <p:nvPr>
            <p:ph type="sldImg"/>
          </p:nvPr>
        </p:nvSpPr>
        <p:spPr>
          <a:xfrm>
            <a:off x="1143000" y="685800"/>
            <a:ext cx="4571640" cy="3428640"/>
          </a:xfrm>
          <a:prstGeom prst="rect">
            <a:avLst/>
          </a:prstGeom>
          <a:ln w="0">
            <a:noFill/>
          </a:ln>
        </p:spPr>
      </p:sp>
      <p:sp>
        <p:nvSpPr>
          <p:cNvPr id="44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sldNum" idx="6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390A32A-F031-4027-ACEF-A96E8CE80485}"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43" name="PlaceHolder 2"/>
          <p:cNvSpPr>
            <a:spLocks noGrp="1"/>
          </p:cNvSpPr>
          <p:nvPr>
            <p:ph type="sldImg"/>
          </p:nvPr>
        </p:nvSpPr>
        <p:spPr>
          <a:xfrm>
            <a:off x="1143000" y="685800"/>
            <a:ext cx="4571640" cy="3428640"/>
          </a:xfrm>
          <a:prstGeom prst="rect">
            <a:avLst/>
          </a:prstGeom>
          <a:ln w="0">
            <a:noFill/>
          </a:ln>
        </p:spPr>
      </p:sp>
      <p:sp>
        <p:nvSpPr>
          <p:cNvPr id="44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sldNum" idx="6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EF4F958-71BA-4DFB-A6B0-C3BB7F04AEB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46" name="PlaceHolder 2"/>
          <p:cNvSpPr>
            <a:spLocks noGrp="1"/>
          </p:cNvSpPr>
          <p:nvPr>
            <p:ph type="sldImg"/>
          </p:nvPr>
        </p:nvSpPr>
        <p:spPr>
          <a:xfrm>
            <a:off x="1143000" y="685800"/>
            <a:ext cx="4571640" cy="3428640"/>
          </a:xfrm>
          <a:prstGeom prst="rect">
            <a:avLst/>
          </a:prstGeom>
          <a:ln w="0">
            <a:noFill/>
          </a:ln>
        </p:spPr>
      </p:sp>
      <p:sp>
        <p:nvSpPr>
          <p:cNvPr id="44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PlaceHolder 1"/>
          <p:cNvSpPr>
            <a:spLocks noGrp="1"/>
          </p:cNvSpPr>
          <p:nvPr>
            <p:ph type="sldNum" idx="6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3075A05-8143-4E63-8F1D-D2BE2738B7D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49" name="PlaceHolder 2"/>
          <p:cNvSpPr>
            <a:spLocks noGrp="1"/>
          </p:cNvSpPr>
          <p:nvPr>
            <p:ph type="sldImg"/>
          </p:nvPr>
        </p:nvSpPr>
        <p:spPr>
          <a:xfrm>
            <a:off x="1143000" y="685800"/>
            <a:ext cx="4571640" cy="3428640"/>
          </a:xfrm>
          <a:prstGeom prst="rect">
            <a:avLst/>
          </a:prstGeom>
          <a:ln w="0">
            <a:noFill/>
          </a:ln>
        </p:spPr>
      </p:sp>
      <p:sp>
        <p:nvSpPr>
          <p:cNvPr id="45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sldNum" idx="6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F99DC32-CC9D-49E5-9FEC-3725E1D763E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52" name="PlaceHolder 2"/>
          <p:cNvSpPr>
            <a:spLocks noGrp="1"/>
          </p:cNvSpPr>
          <p:nvPr>
            <p:ph type="sldImg"/>
          </p:nvPr>
        </p:nvSpPr>
        <p:spPr>
          <a:xfrm>
            <a:off x="1143000" y="685800"/>
            <a:ext cx="4571640" cy="3428640"/>
          </a:xfrm>
          <a:prstGeom prst="rect">
            <a:avLst/>
          </a:prstGeom>
          <a:ln w="0">
            <a:noFill/>
          </a:ln>
        </p:spPr>
      </p:sp>
      <p:sp>
        <p:nvSpPr>
          <p:cNvPr id="45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sldNum" idx="6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FF13596-4F57-476C-BD38-F5D5A18E6C4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55" name="PlaceHolder 2"/>
          <p:cNvSpPr>
            <a:spLocks noGrp="1"/>
          </p:cNvSpPr>
          <p:nvPr>
            <p:ph type="sldImg"/>
          </p:nvPr>
        </p:nvSpPr>
        <p:spPr>
          <a:xfrm>
            <a:off x="1143000" y="685800"/>
            <a:ext cx="4571640" cy="3428640"/>
          </a:xfrm>
          <a:prstGeom prst="rect">
            <a:avLst/>
          </a:prstGeom>
          <a:ln w="0">
            <a:noFill/>
          </a:ln>
        </p:spPr>
      </p:sp>
      <p:sp>
        <p:nvSpPr>
          <p:cNvPr id="45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sldNum" idx="6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4B96BE1-44C0-47DD-AAFE-C2957C58E03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58" name="PlaceHolder 2"/>
          <p:cNvSpPr>
            <a:spLocks noGrp="1"/>
          </p:cNvSpPr>
          <p:nvPr>
            <p:ph type="sldImg"/>
          </p:nvPr>
        </p:nvSpPr>
        <p:spPr>
          <a:xfrm>
            <a:off x="1143000" y="685800"/>
            <a:ext cx="4571640" cy="3428640"/>
          </a:xfrm>
          <a:prstGeom prst="rect">
            <a:avLst/>
          </a:prstGeom>
          <a:ln w="0">
            <a:noFill/>
          </a:ln>
        </p:spPr>
      </p:sp>
      <p:sp>
        <p:nvSpPr>
          <p:cNvPr id="45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80000"/>
              </a:lnSpc>
              <a:buNone/>
            </a:pPr>
            <a:r>
              <a:rPr b="0" lang="en-GB" sz="1200" strike="noStrike" u="none">
                <a:solidFill>
                  <a:srgbClr val="000000"/>
                </a:solidFill>
                <a:effectLst/>
                <a:uFillTx/>
                <a:latin typeface="Times New Roman"/>
                <a:ea typeface="ＭＳ Ｐゴシック"/>
              </a:rPr>
              <a:t>Some students are familiar with the government’s case against Microsoft or, if not with the details, with the fact that the government had filed suit. When you discuss this case, be sure to point out that many expert witnesses were called at Microsoft’s trial. And, of course, each side brought its own </a:t>
            </a:r>
            <a:r>
              <a:rPr b="0" i="1" lang="en-GB" sz="1200" strike="noStrike" u="none">
                <a:solidFill>
                  <a:srgbClr val="000000"/>
                </a:solidFill>
                <a:effectLst/>
                <a:uFillTx/>
                <a:latin typeface="Times New Roman"/>
                <a:ea typeface="ＭＳ Ｐゴシック"/>
              </a:rPr>
              <a:t>economists</a:t>
            </a:r>
            <a:r>
              <a:rPr b="0" lang="en-GB" sz="1200" strike="noStrike" u="none">
                <a:solidFill>
                  <a:srgbClr val="000000"/>
                </a:solidFill>
                <a:effectLst/>
                <a:uFillTx/>
                <a:latin typeface="Times New Roman"/>
                <a:ea typeface="ＭＳ Ｐゴシック"/>
              </a:rPr>
              <a:t>…some of whom were paid over $1,000 an hour! More seriously, you can emphasize the tension between combining formerly separate goods into a product as a monopolizing action (tying agreements) and combining goods as a form of technological advancement to enhance consumer surplus (product innovation). The Microsoft defense to antitrust charges alluded to the inevitable combining of web browsers into computer operating system software. Microsoft could be truly enhancing its product but it also could be using its market power in one market to capture market power in another, more competitive market. If students are not sympathetic to Microsoft’s argument, ask them if when they buy a car, they also expect to get tires installed by the manufacturer. </a:t>
            </a:r>
            <a:endParaRPr b="0" lang="en-US" sz="1200" strike="noStrike" u="none">
              <a:solidFill>
                <a:srgbClr val="000000"/>
              </a:solidFill>
              <a:effectLst/>
              <a:uFillTx/>
              <a:latin typeface="Arial"/>
            </a:endParaRPr>
          </a:p>
          <a:p>
            <a:pPr indent="0">
              <a:lnSpc>
                <a:spcPct val="80000"/>
              </a:lnSpc>
              <a:buNone/>
            </a:pPr>
            <a:r>
              <a:rPr b="0" lang="en-AU" sz="1200" strike="noStrike" u="none">
                <a:solidFill>
                  <a:srgbClr val="000000"/>
                </a:solidFill>
                <a:effectLst/>
                <a:uFillTx/>
                <a:latin typeface="Times New Roman"/>
                <a:ea typeface="ＭＳ Ｐゴシック"/>
              </a:rPr>
              <a:t>Challenge them about this point—aren’t there independent tire companies? Why is the tire tied to purchase of the automobile? If students object that “you need a tire for the car to run,” quickly ask them if a radio should be tied to the purchase of the car? Why shouldn’t the purchase of a radio be an independent decision? You don’t need to take sides with this discussion. Just point out to your students that arguments aren’t always as clear cut as they might seem initially.</a:t>
            </a:r>
            <a:r>
              <a:rPr b="0" lang="en-GB" sz="1200" strike="noStrike" u="none">
                <a:solidFill>
                  <a:srgbClr val="000000"/>
                </a:solidFill>
                <a:effectLst/>
                <a:uFillTx/>
                <a:latin typeface="Times New Roman"/>
                <a:ea typeface="ＭＳ Ｐゴシック"/>
              </a:rPr>
              <a:t> </a:t>
            </a:r>
            <a:endParaRPr b="0" lang="en-US" sz="1200" strike="noStrike" u="none">
              <a:solidFill>
                <a:srgbClr val="000000"/>
              </a:solidFill>
              <a:effectLst/>
              <a:uFillTx/>
              <a:latin typeface="Arial"/>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sldNum" idx="6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5B3B758-D82C-4891-AC4F-87748102A67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61" name="PlaceHolder 2"/>
          <p:cNvSpPr>
            <a:spLocks noGrp="1"/>
          </p:cNvSpPr>
          <p:nvPr>
            <p:ph type="sldImg"/>
          </p:nvPr>
        </p:nvSpPr>
        <p:spPr>
          <a:xfrm>
            <a:off x="1143000" y="685800"/>
            <a:ext cx="4571640" cy="3428640"/>
          </a:xfrm>
          <a:prstGeom prst="rect">
            <a:avLst/>
          </a:prstGeom>
          <a:ln w="0">
            <a:noFill/>
          </a:ln>
        </p:spPr>
      </p:sp>
      <p:sp>
        <p:nvSpPr>
          <p:cNvPr id="46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PlaceHolder 1"/>
          <p:cNvSpPr>
            <a:spLocks noGrp="1"/>
          </p:cNvSpPr>
          <p:nvPr>
            <p:ph type="sldNum" idx="6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A06F585-DE62-4C34-A62D-CF1E4D2FB22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64" name="PlaceHolder 2"/>
          <p:cNvSpPr>
            <a:spLocks noGrp="1"/>
          </p:cNvSpPr>
          <p:nvPr>
            <p:ph type="sldImg"/>
          </p:nvPr>
        </p:nvSpPr>
        <p:spPr>
          <a:xfrm>
            <a:off x="1143000" y="685800"/>
            <a:ext cx="4571640" cy="3428640"/>
          </a:xfrm>
          <a:prstGeom prst="rect">
            <a:avLst/>
          </a:prstGeom>
          <a:ln w="0">
            <a:noFill/>
          </a:ln>
        </p:spPr>
      </p:sp>
      <p:sp>
        <p:nvSpPr>
          <p:cNvPr id="46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sldNum" idx="7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1379865-488E-40CF-A545-BADEC994694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67" name="PlaceHolder 2"/>
          <p:cNvSpPr>
            <a:spLocks noGrp="1"/>
          </p:cNvSpPr>
          <p:nvPr>
            <p:ph type="sldImg"/>
          </p:nvPr>
        </p:nvSpPr>
        <p:spPr>
          <a:xfrm>
            <a:off x="1143000" y="685800"/>
            <a:ext cx="4571640" cy="3428640"/>
          </a:xfrm>
          <a:prstGeom prst="rect">
            <a:avLst/>
          </a:prstGeom>
          <a:ln w="0">
            <a:noFill/>
          </a:ln>
        </p:spPr>
      </p:sp>
      <p:sp>
        <p:nvSpPr>
          <p:cNvPr id="46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PlaceHolder 1"/>
          <p:cNvSpPr>
            <a:spLocks noGrp="1"/>
          </p:cNvSpPr>
          <p:nvPr>
            <p:ph type="sldNum" idx="7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rgbClr val="000000"/>
                </a:solidFill>
                <a:effectLst/>
                <a:uFillTx/>
                <a:latin typeface="Tahoma"/>
                <a:ea typeface="ＭＳ Ｐゴシック"/>
              </a:defRPr>
            </a:lvl1pPr>
          </a:lstStyle>
          <a:p>
            <a:pPr indent="0" algn="r">
              <a:lnSpc>
                <a:spcPct val="100000"/>
              </a:lnSpc>
              <a:buNone/>
            </a:pPr>
            <a:fld id="{A9A27685-1DDF-41C8-8F80-81B733B25A6F}"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70" name="Rectangle 7"/>
          <p:cNvSpPr/>
          <p:nvPr/>
        </p:nvSpPr>
        <p:spPr>
          <a:xfrm>
            <a:off x="3886200" y="8686800"/>
            <a:ext cx="2971440" cy="45684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14842981-6226-439A-8ED2-91E030A2E158}"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Arial"/>
            </a:endParaRPr>
          </a:p>
        </p:txBody>
      </p:sp>
      <p:sp>
        <p:nvSpPr>
          <p:cNvPr id="471" name="PlaceHolder 2"/>
          <p:cNvSpPr>
            <a:spLocks noGrp="1"/>
          </p:cNvSpPr>
          <p:nvPr>
            <p:ph type="sldImg"/>
          </p:nvPr>
        </p:nvSpPr>
        <p:spPr>
          <a:xfrm>
            <a:off x="1143000" y="685800"/>
            <a:ext cx="4571640" cy="3428640"/>
          </a:xfrm>
          <a:prstGeom prst="rect">
            <a:avLst/>
          </a:prstGeom>
          <a:ln w="0">
            <a:noFill/>
          </a:ln>
        </p:spPr>
      </p:sp>
      <p:sp>
        <p:nvSpPr>
          <p:cNvPr id="47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sldNum" idx="7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rgbClr val="000000"/>
                </a:solidFill>
                <a:effectLst/>
                <a:uFillTx/>
                <a:latin typeface="Tahoma"/>
                <a:ea typeface="ＭＳ Ｐゴシック"/>
              </a:defRPr>
            </a:lvl1pPr>
          </a:lstStyle>
          <a:p>
            <a:pPr indent="0" algn="r">
              <a:lnSpc>
                <a:spcPct val="100000"/>
              </a:lnSpc>
              <a:buNone/>
            </a:pPr>
            <a:fld id="{9AE82E63-F6F0-4989-AA0A-0874B1DD5154}"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74" name="Rectangle 7"/>
          <p:cNvSpPr/>
          <p:nvPr/>
        </p:nvSpPr>
        <p:spPr>
          <a:xfrm>
            <a:off x="3886200" y="8686800"/>
            <a:ext cx="2971440" cy="45684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7DC2FCD9-D89F-48E8-908A-4BE05A9F04E5}"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Arial"/>
            </a:endParaRPr>
          </a:p>
        </p:txBody>
      </p:sp>
      <p:sp>
        <p:nvSpPr>
          <p:cNvPr id="475" name="PlaceHolder 2"/>
          <p:cNvSpPr>
            <a:spLocks noGrp="1"/>
          </p:cNvSpPr>
          <p:nvPr>
            <p:ph type="sldImg"/>
          </p:nvPr>
        </p:nvSpPr>
        <p:spPr>
          <a:xfrm>
            <a:off x="1143000" y="685800"/>
            <a:ext cx="4571640" cy="3428640"/>
          </a:xfrm>
          <a:prstGeom prst="rect">
            <a:avLst/>
          </a:prstGeom>
          <a:ln w="0">
            <a:noFill/>
          </a:ln>
        </p:spPr>
      </p:sp>
      <p:sp>
        <p:nvSpPr>
          <p:cNvPr id="47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PlaceHolder 1"/>
          <p:cNvSpPr>
            <a:spLocks noGrp="1"/>
          </p:cNvSpPr>
          <p:nvPr>
            <p:ph type="sldNum" idx="7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rgbClr val="000000"/>
                </a:solidFill>
                <a:effectLst/>
                <a:uFillTx/>
                <a:latin typeface="Tahoma"/>
                <a:ea typeface="ＭＳ Ｐゴシック"/>
              </a:defRPr>
            </a:lvl1pPr>
          </a:lstStyle>
          <a:p>
            <a:pPr indent="0" algn="r">
              <a:lnSpc>
                <a:spcPct val="100000"/>
              </a:lnSpc>
              <a:buNone/>
            </a:pPr>
            <a:fld id="{CDCC0C78-3AA0-40D0-98E7-C6D383B03FF3}"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78" name="Rectangle 7"/>
          <p:cNvSpPr/>
          <p:nvPr/>
        </p:nvSpPr>
        <p:spPr>
          <a:xfrm>
            <a:off x="3886200" y="8686800"/>
            <a:ext cx="2971440" cy="45684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27350433-37D0-481E-9F25-A91366FCB8E6}"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Arial"/>
            </a:endParaRPr>
          </a:p>
        </p:txBody>
      </p:sp>
      <p:sp>
        <p:nvSpPr>
          <p:cNvPr id="479" name="PlaceHolder 2"/>
          <p:cNvSpPr>
            <a:spLocks noGrp="1"/>
          </p:cNvSpPr>
          <p:nvPr>
            <p:ph type="sldImg"/>
          </p:nvPr>
        </p:nvSpPr>
        <p:spPr>
          <a:xfrm>
            <a:off x="1143000" y="685800"/>
            <a:ext cx="4571640" cy="3428640"/>
          </a:xfrm>
          <a:prstGeom prst="rect">
            <a:avLst/>
          </a:prstGeom>
          <a:ln w="0">
            <a:noFill/>
          </a:ln>
        </p:spPr>
      </p:sp>
      <p:sp>
        <p:nvSpPr>
          <p:cNvPr id="48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PlaceHolder 1"/>
          <p:cNvSpPr>
            <a:spLocks noGrp="1"/>
          </p:cNvSpPr>
          <p:nvPr>
            <p:ph type="sldNum" idx="7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rgbClr val="000000"/>
                </a:solidFill>
                <a:effectLst/>
                <a:uFillTx/>
                <a:latin typeface="Tahoma"/>
                <a:ea typeface="ＭＳ Ｐゴシック"/>
              </a:defRPr>
            </a:lvl1pPr>
          </a:lstStyle>
          <a:p>
            <a:pPr indent="0" algn="r">
              <a:lnSpc>
                <a:spcPct val="100000"/>
              </a:lnSpc>
              <a:buNone/>
            </a:pPr>
            <a:fld id="{FA185C64-6D66-46F9-BF54-5FD106B85DCD}"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82" name="Rectangle 7"/>
          <p:cNvSpPr/>
          <p:nvPr/>
        </p:nvSpPr>
        <p:spPr>
          <a:xfrm>
            <a:off x="3886200" y="8686800"/>
            <a:ext cx="2971440" cy="45684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001CB9FA-6BDC-4486-9E91-50EF1C3ACDF9}"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Arial"/>
            </a:endParaRPr>
          </a:p>
        </p:txBody>
      </p:sp>
      <p:sp>
        <p:nvSpPr>
          <p:cNvPr id="483" name="PlaceHolder 2"/>
          <p:cNvSpPr>
            <a:spLocks noGrp="1"/>
          </p:cNvSpPr>
          <p:nvPr>
            <p:ph type="sldImg"/>
          </p:nvPr>
        </p:nvSpPr>
        <p:spPr>
          <a:xfrm>
            <a:off x="1143000" y="685800"/>
            <a:ext cx="4571640" cy="3428640"/>
          </a:xfrm>
          <a:prstGeom prst="rect">
            <a:avLst/>
          </a:prstGeom>
          <a:ln w="0">
            <a:noFill/>
          </a:ln>
        </p:spPr>
      </p:sp>
      <p:sp>
        <p:nvSpPr>
          <p:cNvPr id="48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ldNum" idx="7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rgbClr val="000000"/>
                </a:solidFill>
                <a:effectLst/>
                <a:uFillTx/>
                <a:latin typeface="Tahoma"/>
                <a:ea typeface="ＭＳ Ｐゴシック"/>
              </a:defRPr>
            </a:lvl1pPr>
          </a:lstStyle>
          <a:p>
            <a:pPr indent="0" algn="r">
              <a:lnSpc>
                <a:spcPct val="100000"/>
              </a:lnSpc>
              <a:buNone/>
            </a:pPr>
            <a:fld id="{651C9B32-734B-43FF-8264-A2DC1A7F57ED}"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486" name="Rectangle 7"/>
          <p:cNvSpPr/>
          <p:nvPr/>
        </p:nvSpPr>
        <p:spPr>
          <a:xfrm>
            <a:off x="3886200" y="8686800"/>
            <a:ext cx="2971440" cy="45684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E1E87700-711D-4278-8208-B9041242585A}"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Arial"/>
            </a:endParaRPr>
          </a:p>
        </p:txBody>
      </p:sp>
      <p:sp>
        <p:nvSpPr>
          <p:cNvPr id="487" name="PlaceHolder 2"/>
          <p:cNvSpPr>
            <a:spLocks noGrp="1"/>
          </p:cNvSpPr>
          <p:nvPr>
            <p:ph type="sldImg"/>
          </p:nvPr>
        </p:nvSpPr>
        <p:spPr>
          <a:xfrm>
            <a:off x="1143000" y="685800"/>
            <a:ext cx="4571640" cy="3428640"/>
          </a:xfrm>
          <a:prstGeom prst="rect">
            <a:avLst/>
          </a:prstGeom>
          <a:ln w="0">
            <a:noFill/>
          </a:ln>
        </p:spPr>
      </p:sp>
      <p:sp>
        <p:nvSpPr>
          <p:cNvPr id="48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8.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CA" sz="2400" strike="noStrike" u="none">
              <a:solidFill>
                <a:schemeClr val="dk1"/>
              </a:solidFill>
              <a:effectLst/>
              <a:uFillTx/>
              <a:latin typeface="Arial"/>
            </a:endParaRPr>
          </a:p>
        </p:txBody>
      </p:sp>
      <p:sp>
        <p:nvSpPr>
          <p:cNvPr id="7"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1" lang="en-CA" sz="2800" strike="noStrike" u="none">
              <a:solidFill>
                <a:srgbClr val="00468f"/>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CA" sz="2400" strike="noStrike" u="none">
              <a:solidFill>
                <a:schemeClr val="dk1"/>
              </a:solidFill>
              <a:effectLst/>
              <a:uFillTx/>
              <a:latin typeface="Arial"/>
            </a:endParaRPr>
          </a:p>
        </p:txBody>
      </p:sp>
      <p:sp>
        <p:nvSpPr>
          <p:cNvPr id="12"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1" lang="en-CA" sz="2800" strike="noStrike" u="none">
              <a:solidFill>
                <a:srgbClr val="00468f"/>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CA" sz="2400" strike="noStrike" u="none">
              <a:solidFill>
                <a:schemeClr val="dk1"/>
              </a:solidFill>
              <a:effectLst/>
              <a:uFillTx/>
              <a:latin typeface="Arial"/>
            </a:endParaRPr>
          </a:p>
        </p:txBody>
      </p:sp>
      <p:sp>
        <p:nvSpPr>
          <p:cNvPr id="1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1" lang="en-CA" sz="2800" strike="noStrike" u="none">
              <a:solidFill>
                <a:srgbClr val="00468f"/>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4">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CA" sz="2400" strike="noStrike" u="none">
              <a:solidFill>
                <a:schemeClr val="dk1"/>
              </a:solidFill>
              <a:effectLst/>
              <a:uFillTx/>
              <a:latin typeface="Arial"/>
            </a:endParaRPr>
          </a:p>
        </p:txBody>
      </p:sp>
      <p:sp>
        <p:nvSpPr>
          <p:cNvPr id="3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1" lang="en-CA" sz="2800" strike="noStrike" u="none">
              <a:solidFill>
                <a:srgbClr val="00468f"/>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Relationship Id="rId3" Type="http://schemas.openxmlformats.org/officeDocument/2006/relationships/slideLayout" Target="../slideLayouts/slideLayout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CA" sz="2400" strike="noStrike" u="none">
                <a:solidFill>
                  <a:schemeClr val="dk1"/>
                </a:solidFill>
                <a:effectLst/>
                <a:uFillTx/>
                <a:latin typeface="Arial"/>
              </a:rPr>
              <a:t>Click to edit the title text format</a:t>
            </a:r>
            <a:endParaRPr b="0" lang="en-CA" sz="2400" strike="noStrike" u="none">
              <a:solidFill>
                <a:schemeClr val="dk1"/>
              </a:solidFill>
              <a:effectLst/>
              <a:uFillTx/>
              <a:latin typeface="Arial"/>
            </a:endParaRPr>
          </a:p>
        </p:txBody>
      </p:sp>
      <p:sp>
        <p:nvSpPr>
          <p:cNvPr id="2"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1" lang="en-CA" sz="2800" strike="noStrike" u="none">
                <a:solidFill>
                  <a:srgbClr val="fb1b2a"/>
                </a:solidFill>
                <a:effectLst/>
                <a:uFillTx/>
                <a:latin typeface="Arial"/>
              </a:rPr>
              <a:t>Click to edit the outline text format</a:t>
            </a:r>
            <a:endParaRPr b="1" lang="en-CA" sz="2800" strike="noStrike" u="none">
              <a:solidFill>
                <a:srgbClr val="fb1b2a"/>
              </a:solidFill>
              <a:effectLst/>
              <a:uFillTx/>
              <a:latin typeface="Arial"/>
            </a:endParaRPr>
          </a:p>
          <a:p>
            <a:pPr lvl="1" marL="864000" indent="-324000">
              <a:spcBef>
                <a:spcPts val="1134"/>
              </a:spcBef>
              <a:buClr>
                <a:srgbClr val="000000"/>
              </a:buClr>
              <a:buSzPct val="75000"/>
              <a:buFont typeface="Symbol" charset="2"/>
              <a:buChar char=""/>
            </a:pPr>
            <a:r>
              <a:rPr b="0" lang="en-CA" sz="2400" strike="noStrike" u="none">
                <a:solidFill>
                  <a:schemeClr val="dk1"/>
                </a:solidFill>
                <a:effectLst/>
                <a:uFillTx/>
                <a:latin typeface="Arial"/>
              </a:rPr>
              <a:t>Second Outline Level</a:t>
            </a:r>
            <a:endParaRPr b="0" lang="en-CA"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CA" sz="2000" strike="noStrike" u="none">
                <a:solidFill>
                  <a:schemeClr val="dk1"/>
                </a:solidFill>
                <a:effectLst/>
                <a:uFillTx/>
                <a:latin typeface="Arial"/>
              </a:rPr>
              <a:t>Third Outline Level</a:t>
            </a:r>
            <a:endParaRPr b="0" lang="en-CA"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CA" sz="2000" strike="noStrike" u="none">
                <a:solidFill>
                  <a:schemeClr val="dk1"/>
                </a:solidFill>
                <a:effectLst/>
                <a:uFillTx/>
                <a:latin typeface="Arial"/>
              </a:rPr>
              <a:t>Fourth Outline Level</a:t>
            </a:r>
            <a:endParaRPr b="0" lang="en-CA"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Fifth Outline Level</a:t>
            </a:r>
            <a:endParaRPr b="0" lang="en-CA"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Sixth Outline Level</a:t>
            </a:r>
            <a:endParaRPr b="0" lang="en-CA"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Seventh Outline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Click to edit Master title style</a:t>
            </a:r>
            <a:endParaRPr b="0" lang="en-CA" sz="2600" strike="noStrike" u="none">
              <a:solidFill>
                <a:schemeClr val="dk1"/>
              </a:solidFill>
              <a:effectLst/>
              <a:uFillTx/>
              <a:latin typeface="Arial"/>
            </a:endParaRPr>
          </a:p>
        </p:txBody>
      </p:sp>
      <p:sp>
        <p:nvSpPr>
          <p:cNvPr id="5" name="PlaceHolder 2"/>
          <p:cNvSpPr>
            <a:spLocks noGrp="1"/>
          </p:cNvSpPr>
          <p:nvPr>
            <p:ph type="body"/>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468f"/>
              </a:buClr>
              <a:buFont typeface="Webdings" charset="2"/>
              <a:buChar char=""/>
            </a:pPr>
            <a:r>
              <a:rPr b="1" lang="en-US" sz="2800" strike="noStrike" u="none">
                <a:solidFill>
                  <a:srgbClr val="00468f"/>
                </a:solidFill>
                <a:effectLst/>
                <a:uFillTx/>
                <a:latin typeface="Arial"/>
                <a:ea typeface="ＭＳ Ｐゴシック"/>
              </a:rPr>
              <a:t>Click to edit Master text styles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Second level</a:t>
            </a:r>
            <a:endParaRPr b="1" lang="en-CA" sz="2400" strike="noStrike" u="none">
              <a:solidFill>
                <a:srgbClr val="00468f"/>
              </a:solidFill>
              <a:effectLst/>
              <a:uFillTx/>
              <a:latin typeface="Arial"/>
            </a:endParaRPr>
          </a:p>
          <a:p>
            <a:pPr lvl="2" marL="1079640" indent="-288000">
              <a:lnSpc>
                <a:spcPct val="100000"/>
              </a:lnSpc>
              <a:spcBef>
                <a:spcPts val="601"/>
              </a:spcBef>
              <a:spcAft>
                <a:spcPts val="601"/>
              </a:spcAft>
              <a:buClr>
                <a:srgbClr val="00468f"/>
              </a:buClr>
              <a:buFont typeface="Symbol" charset="2"/>
              <a:buChar char=""/>
            </a:pPr>
            <a:r>
              <a:rPr b="0" lang="en-US" sz="2400" strike="noStrike" u="none">
                <a:solidFill>
                  <a:schemeClr val="dk1"/>
                </a:solidFill>
                <a:effectLst/>
                <a:uFillTx/>
                <a:latin typeface="Arial"/>
                <a:ea typeface="ＭＳ Ｐゴシック"/>
              </a:rPr>
              <a:t>Third level</a:t>
            </a:r>
            <a:endParaRPr b="0" lang="en-CA" sz="2400" strike="noStrike" u="none">
              <a:solidFill>
                <a:schemeClr val="dk1"/>
              </a:solidFill>
              <a:effectLst/>
              <a:uFillTx/>
              <a:latin typeface="Arial"/>
            </a:endParaRPr>
          </a:p>
          <a:p>
            <a:pPr lvl="3" marL="1600200" indent="-228600">
              <a:lnSpc>
                <a:spcPct val="100000"/>
              </a:lnSpc>
              <a:spcBef>
                <a:spcPts val="400"/>
              </a:spcBef>
              <a:buClr>
                <a:srgbClr val="000000"/>
              </a:buClr>
              <a:buFont typeface="Symbol" charset="2"/>
              <a:buChar char=""/>
            </a:pPr>
            <a:r>
              <a:rPr b="0" lang="en-US" sz="2000" strike="noStrike" u="none">
                <a:solidFill>
                  <a:schemeClr val="dk1"/>
                </a:solidFill>
                <a:effectLst/>
                <a:uFillTx/>
                <a:latin typeface="Arial"/>
                <a:ea typeface="ＭＳ Ｐゴシック"/>
              </a:rPr>
              <a:t>Fourth level</a:t>
            </a:r>
            <a:endParaRPr b="0" lang="en-CA" sz="2000" strike="noStrike" u="none">
              <a:solidFill>
                <a:schemeClr val="dk1"/>
              </a:solidFill>
              <a:effectLst/>
              <a:uFillTx/>
              <a:latin typeface="Arial"/>
            </a:endParaRPr>
          </a:p>
          <a:p>
            <a:pPr lvl="4" marL="2057400" indent="-228600">
              <a:lnSpc>
                <a:spcPct val="100000"/>
              </a:lnSpc>
              <a:spcBef>
                <a:spcPts val="400"/>
              </a:spcBef>
              <a:buClr>
                <a:srgbClr val="000000"/>
              </a:buClr>
              <a:buFont typeface="OpenSymbol"/>
              <a:buChar char="»"/>
            </a:pPr>
            <a:r>
              <a:rPr b="0" lang="en-US" sz="2000" strike="noStrike" u="none">
                <a:solidFill>
                  <a:schemeClr val="dk1"/>
                </a:solidFill>
                <a:effectLst/>
                <a:uFillTx/>
                <a:latin typeface="Arial"/>
                <a:ea typeface="ＭＳ Ｐゴシック"/>
              </a:rPr>
              <a:t>Fifth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Click to edit Master title style</a:t>
            </a:r>
            <a:endParaRPr b="0" lang="en-CA" sz="2600" strike="noStrike" u="none">
              <a:solidFill>
                <a:schemeClr val="dk1"/>
              </a:solidFill>
              <a:effectLst/>
              <a:uFillTx/>
              <a:latin typeface="Arial"/>
            </a:endParaRPr>
          </a:p>
        </p:txBody>
      </p:sp>
      <p:sp>
        <p:nvSpPr>
          <p:cNvPr id="10" name="PlaceHolder 2"/>
          <p:cNvSpPr>
            <a:spLocks noGrp="1"/>
          </p:cNvSpPr>
          <p:nvPr>
            <p:ph type="body"/>
          </p:nvPr>
        </p:nvSpPr>
        <p:spPr>
          <a:xfrm>
            <a:off x="360000" y="1440000"/>
            <a:ext cx="4114440" cy="46479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468f"/>
              </a:buClr>
              <a:buFont typeface="Webdings" charset="2"/>
              <a:buChar char=""/>
            </a:pPr>
            <a:r>
              <a:rPr b="1" lang="en-US" sz="2800" strike="noStrike" u="none">
                <a:solidFill>
                  <a:srgbClr val="00468f"/>
                </a:solidFill>
                <a:effectLst/>
                <a:uFillTx/>
                <a:latin typeface="Arial"/>
                <a:ea typeface="ＭＳ Ｐゴシック"/>
              </a:rPr>
              <a:t>Click to edit Master text styles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Second level</a:t>
            </a:r>
            <a:endParaRPr b="1" lang="en-CA" sz="2400" strike="noStrike" u="none">
              <a:solidFill>
                <a:srgbClr val="00468f"/>
              </a:solidFill>
              <a:effectLst/>
              <a:uFillTx/>
              <a:latin typeface="Arial"/>
            </a:endParaRPr>
          </a:p>
          <a:p>
            <a:pPr lvl="2" marL="1143000" indent="-228600">
              <a:lnSpc>
                <a:spcPct val="100000"/>
              </a:lnSpc>
              <a:spcBef>
                <a:spcPts val="479"/>
              </a:spcBef>
              <a:buClr>
                <a:srgbClr val="00468f"/>
              </a:buClr>
              <a:buFont typeface="Symbol" charset="2"/>
              <a:buChar char=""/>
            </a:pPr>
            <a:r>
              <a:rPr b="0" lang="en-US" sz="2400" strike="noStrike" u="none">
                <a:solidFill>
                  <a:schemeClr val="dk1"/>
                </a:solidFill>
                <a:effectLst/>
                <a:uFillTx/>
                <a:latin typeface="Arial"/>
                <a:ea typeface="ＭＳ Ｐゴシック"/>
              </a:rPr>
              <a:t>Third level</a:t>
            </a:r>
            <a:endParaRPr b="0" lang="en-CA" sz="2400" strike="noStrike" u="none">
              <a:solidFill>
                <a:schemeClr val="dk1"/>
              </a:solidFill>
              <a:effectLst/>
              <a:uFillTx/>
              <a:latin typeface="Arial"/>
            </a:endParaRPr>
          </a:p>
          <a:p>
            <a:pPr lvl="3" marL="1600200" indent="-228600">
              <a:lnSpc>
                <a:spcPct val="100000"/>
              </a:lnSpc>
              <a:spcBef>
                <a:spcPts val="400"/>
              </a:spcBef>
              <a:buClr>
                <a:srgbClr val="000000"/>
              </a:buClr>
              <a:buFont typeface="Symbol" charset="2"/>
              <a:buChar char=""/>
            </a:pPr>
            <a:r>
              <a:rPr b="0" lang="en-US" sz="2000" strike="noStrike" u="none">
                <a:solidFill>
                  <a:schemeClr val="dk1"/>
                </a:solidFill>
                <a:effectLst/>
                <a:uFillTx/>
                <a:latin typeface="Arial"/>
                <a:ea typeface="ＭＳ Ｐゴシック"/>
              </a:rPr>
              <a:t>Fourth level</a:t>
            </a:r>
            <a:endParaRPr b="0" lang="en-CA" sz="2000" strike="noStrike" u="none">
              <a:solidFill>
                <a:schemeClr val="dk1"/>
              </a:solidFill>
              <a:effectLst/>
              <a:uFillTx/>
              <a:latin typeface="Arial"/>
            </a:endParaRPr>
          </a:p>
          <a:p>
            <a:pPr lvl="4" marL="2057400" indent="-228600">
              <a:lnSpc>
                <a:spcPct val="100000"/>
              </a:lnSpc>
              <a:spcBef>
                <a:spcPts val="400"/>
              </a:spcBef>
              <a:buClr>
                <a:srgbClr val="000000"/>
              </a:buClr>
              <a:buFont typeface="OpenSymbol"/>
              <a:buChar char="»"/>
            </a:pPr>
            <a:r>
              <a:rPr b="0" lang="en-US" sz="2000" strike="noStrike" u="none">
                <a:solidFill>
                  <a:schemeClr val="dk1"/>
                </a:solidFill>
                <a:effectLst/>
                <a:uFillTx/>
                <a:latin typeface="Arial"/>
                <a:ea typeface="ＭＳ Ｐゴシック"/>
              </a:rPr>
              <a:t>Fifth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3" name="Picture 7" descr="">
            <a:hlinkClick r:id="" action="ppaction://hlinkshowjump?jump=nextslide"/>
          </p:cNvPr>
          <p:cNvPicPr/>
          <p:nvPr/>
        </p:nvPicPr>
        <p:blipFill>
          <a:blip r:embed="rId2"/>
          <a:stretch/>
        </p:blipFill>
        <p:spPr>
          <a:xfrm>
            <a:off x="8640720" y="6480000"/>
            <a:ext cx="221760" cy="221760"/>
          </a:xfrm>
          <a:prstGeom prst="rect">
            <a:avLst/>
          </a:prstGeom>
          <a:noFill/>
          <a:ln w="0">
            <a:noFill/>
          </a:ln>
        </p:spPr>
      </p:pic>
      <p:sp>
        <p:nvSpPr>
          <p:cNvPr id="14"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1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Click to edit Master title style</a:t>
            </a:r>
            <a:endParaRPr b="0" lang="en-CA" sz="2600" strike="noStrike" u="none">
              <a:solidFill>
                <a:schemeClr val="dk1"/>
              </a:solidFill>
              <a:effectLst/>
              <a:uFillTx/>
              <a:latin typeface="Arial"/>
            </a:endParaRPr>
          </a:p>
        </p:txBody>
      </p:sp>
      <p:sp>
        <p:nvSpPr>
          <p:cNvPr id="16" name="PlaceHolder 2"/>
          <p:cNvSpPr>
            <a:spLocks noGrp="1"/>
          </p:cNvSpPr>
          <p:nvPr>
            <p:ph type="body"/>
          </p:nvPr>
        </p:nvSpPr>
        <p:spPr>
          <a:xfrm>
            <a:off x="360000" y="1440000"/>
            <a:ext cx="4114440" cy="46479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468f"/>
              </a:buClr>
              <a:buFont typeface="Webdings" charset="2"/>
              <a:buChar char=""/>
            </a:pPr>
            <a:r>
              <a:rPr b="1" lang="en-US" sz="2800" strike="noStrike" u="none">
                <a:solidFill>
                  <a:srgbClr val="00468f"/>
                </a:solidFill>
                <a:effectLst/>
                <a:uFillTx/>
                <a:latin typeface="Arial"/>
                <a:ea typeface="ＭＳ Ｐゴシック"/>
              </a:rPr>
              <a:t>Click to edit Master text styles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Second level</a:t>
            </a:r>
            <a:endParaRPr b="1" lang="en-CA" sz="2400" strike="noStrike" u="none">
              <a:solidFill>
                <a:srgbClr val="00468f"/>
              </a:solidFill>
              <a:effectLst/>
              <a:uFillTx/>
              <a:latin typeface="Arial"/>
            </a:endParaRPr>
          </a:p>
          <a:p>
            <a:pPr lvl="2" marL="1143000" indent="-228600">
              <a:lnSpc>
                <a:spcPct val="100000"/>
              </a:lnSpc>
              <a:spcBef>
                <a:spcPts val="479"/>
              </a:spcBef>
              <a:buClr>
                <a:srgbClr val="00468f"/>
              </a:buClr>
              <a:buFont typeface="Symbol" charset="2"/>
              <a:buChar char=""/>
            </a:pPr>
            <a:r>
              <a:rPr b="0" lang="en-US" sz="2400" strike="noStrike" u="none">
                <a:solidFill>
                  <a:schemeClr val="dk1"/>
                </a:solidFill>
                <a:effectLst/>
                <a:uFillTx/>
                <a:latin typeface="Arial"/>
                <a:ea typeface="ＭＳ Ｐゴシック"/>
              </a:rPr>
              <a:t>Third level</a:t>
            </a:r>
            <a:endParaRPr b="0" lang="en-CA" sz="2400" strike="noStrike" u="none">
              <a:solidFill>
                <a:schemeClr val="dk1"/>
              </a:solidFill>
              <a:effectLst/>
              <a:uFillTx/>
              <a:latin typeface="Arial"/>
            </a:endParaRPr>
          </a:p>
          <a:p>
            <a:pPr lvl="3" marL="1600200" indent="-228600">
              <a:lnSpc>
                <a:spcPct val="100000"/>
              </a:lnSpc>
              <a:spcBef>
                <a:spcPts val="400"/>
              </a:spcBef>
              <a:buClr>
                <a:srgbClr val="000000"/>
              </a:buClr>
              <a:buFont typeface="Symbol" charset="2"/>
              <a:buChar char=""/>
            </a:pPr>
            <a:r>
              <a:rPr b="0" lang="en-US" sz="2000" strike="noStrike" u="none">
                <a:solidFill>
                  <a:schemeClr val="dk1"/>
                </a:solidFill>
                <a:effectLst/>
                <a:uFillTx/>
                <a:latin typeface="Arial"/>
                <a:ea typeface="ＭＳ Ｐゴシック"/>
              </a:rPr>
              <a:t>Fourth level</a:t>
            </a:r>
            <a:endParaRPr b="0" lang="en-CA" sz="2000" strike="noStrike" u="none">
              <a:solidFill>
                <a:schemeClr val="dk1"/>
              </a:solidFill>
              <a:effectLst/>
              <a:uFillTx/>
              <a:latin typeface="Arial"/>
            </a:endParaRPr>
          </a:p>
          <a:p>
            <a:pPr lvl="4" marL="2057400" indent="-228600">
              <a:lnSpc>
                <a:spcPct val="100000"/>
              </a:lnSpc>
              <a:spcBef>
                <a:spcPts val="400"/>
              </a:spcBef>
              <a:buClr>
                <a:srgbClr val="000000"/>
              </a:buClr>
              <a:buFont typeface="OpenSymbol"/>
              <a:buChar char="»"/>
            </a:pPr>
            <a:r>
              <a:rPr b="0" lang="en-US" sz="2000" strike="noStrike" u="none">
                <a:solidFill>
                  <a:schemeClr val="dk1"/>
                </a:solidFill>
                <a:effectLst/>
                <a:uFillTx/>
                <a:latin typeface="Arial"/>
                <a:ea typeface="ＭＳ Ｐゴシック"/>
              </a:rPr>
              <a:t>Fifth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9" name="Picture 4" descr="">
            <a:hlinkClick r:id="" action="ppaction://hlinkshowjump?jump=previousslide"/>
          </p:cNvPr>
          <p:cNvPicPr/>
          <p:nvPr/>
        </p:nvPicPr>
        <p:blipFill>
          <a:blip r:embed="rId2"/>
          <a:stretch/>
        </p:blipFill>
        <p:spPr>
          <a:xfrm>
            <a:off x="8640720" y="6480000"/>
            <a:ext cx="221760" cy="221760"/>
          </a:xfrm>
          <a:prstGeom prst="rect">
            <a:avLst/>
          </a:prstGeom>
          <a:noFill/>
          <a:ln w="0">
            <a:noFill/>
          </a:ln>
        </p:spPr>
      </p:pic>
      <p:sp>
        <p:nvSpPr>
          <p:cNvPr id="20"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2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CA" sz="2400" strike="noStrike" u="none">
                <a:solidFill>
                  <a:schemeClr val="dk1"/>
                </a:solidFill>
                <a:effectLst/>
                <a:uFillTx/>
                <a:latin typeface="Arial"/>
              </a:rPr>
              <a:t>Click to edit the title text format</a:t>
            </a:r>
            <a:endParaRPr b="0" lang="en-CA" sz="2400" strike="noStrike" u="none">
              <a:solidFill>
                <a:schemeClr val="dk1"/>
              </a:solidFill>
              <a:effectLst/>
              <a:uFillTx/>
              <a:latin typeface="Arial"/>
            </a:endParaRPr>
          </a:p>
        </p:txBody>
      </p:sp>
      <p:sp>
        <p:nvSpPr>
          <p:cNvPr id="22"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CA" sz="3200" strike="noStrike" u="none">
                <a:solidFill>
                  <a:schemeClr val="dk1"/>
                </a:solidFill>
                <a:effectLst/>
                <a:uFillTx/>
                <a:latin typeface="Arial"/>
              </a:rPr>
              <a:t>Click to edit the outline text format</a:t>
            </a:r>
            <a:endParaRPr b="0" lang="en-CA" sz="3200" strike="noStrike" u="none">
              <a:solidFill>
                <a:schemeClr val="dk1"/>
              </a:solidFill>
              <a:effectLst/>
              <a:uFillTx/>
              <a:latin typeface="Arial"/>
            </a:endParaRPr>
          </a:p>
          <a:p>
            <a:pPr lvl="1" marL="864000" indent="-324000">
              <a:spcBef>
                <a:spcPts val="1134"/>
              </a:spcBef>
              <a:buClr>
                <a:srgbClr val="000000"/>
              </a:buClr>
              <a:buSzPct val="75000"/>
              <a:buFont typeface="Symbol" charset="2"/>
              <a:buChar char=""/>
            </a:pPr>
            <a:r>
              <a:rPr b="0" lang="en-CA" sz="2400" strike="noStrike" u="none">
                <a:solidFill>
                  <a:schemeClr val="dk1"/>
                </a:solidFill>
                <a:effectLst/>
                <a:uFillTx/>
                <a:latin typeface="Arial"/>
              </a:rPr>
              <a:t>Second Outline Level</a:t>
            </a:r>
            <a:endParaRPr b="0" lang="en-CA"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CA" sz="2000" strike="noStrike" u="none">
                <a:solidFill>
                  <a:schemeClr val="dk1"/>
                </a:solidFill>
                <a:effectLst/>
                <a:uFillTx/>
                <a:latin typeface="Arial"/>
              </a:rPr>
              <a:t>Third Outline Level</a:t>
            </a:r>
            <a:endParaRPr b="0" lang="en-CA"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CA" sz="2000" strike="noStrike" u="none">
                <a:solidFill>
                  <a:schemeClr val="dk1"/>
                </a:solidFill>
                <a:effectLst/>
                <a:uFillTx/>
                <a:latin typeface="Arial"/>
              </a:rPr>
              <a:t>Fourth Outline Level</a:t>
            </a:r>
            <a:endParaRPr b="0" lang="en-CA"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Fifth Outline Level</a:t>
            </a:r>
            <a:endParaRPr b="0" lang="en-CA"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Sixth Outline Level</a:t>
            </a:r>
            <a:endParaRPr b="0" lang="en-CA"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Seventh Outline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3" name="Rectangle 3"/>
          <p:cNvSpPr/>
          <p:nvPr/>
        </p:nvSpPr>
        <p:spPr>
          <a:xfrm>
            <a:off x="1905120" y="609480"/>
            <a:ext cx="4686120" cy="518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1" lang="en-US" sz="2800" strike="noStrike" u="none">
              <a:solidFill>
                <a:srgbClr val="00468f"/>
              </a:solidFill>
              <a:effectLst/>
              <a:uFillTx/>
              <a:latin typeface="Arial"/>
              <a:ea typeface="ＭＳ Ｐゴシック"/>
            </a:endParaRPr>
          </a:p>
        </p:txBody>
      </p:sp>
      <p:sp>
        <p:nvSpPr>
          <p:cNvPr id="24" name="Rectangle 6"/>
          <p:cNvSpPr/>
          <p:nvPr/>
        </p:nvSpPr>
        <p:spPr>
          <a:xfrm>
            <a:off x="1371600" y="0"/>
            <a:ext cx="2606400" cy="461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CA" sz="2400" strike="noStrike" u="none">
                <a:solidFill>
                  <a:srgbClr val="ffffff"/>
                </a:solidFill>
                <a:effectLst/>
                <a:uFillTx/>
                <a:latin typeface="Arial"/>
                <a:ea typeface="ＭＳ Ｐゴシック"/>
              </a:rPr>
              <a:t>EYE on the PAST</a:t>
            </a:r>
            <a:endParaRPr b="0" lang="en-US" sz="2400" strike="noStrike" u="none">
              <a:solidFill>
                <a:srgbClr val="000000"/>
              </a:solidFill>
              <a:effectLst/>
              <a:uFillTx/>
              <a:latin typeface="Arial"/>
            </a:endParaRPr>
          </a:p>
        </p:txBody>
      </p:sp>
      <p:sp>
        <p:nvSpPr>
          <p:cNvPr id="25" name="Text Box 3"/>
          <p:cNvSpPr/>
          <p:nvPr/>
        </p:nvSpPr>
        <p:spPr>
          <a:xfrm>
            <a:off x="3733920" y="663408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1"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6" name="Rectangle 3"/>
          <p:cNvSpPr/>
          <p:nvPr/>
        </p:nvSpPr>
        <p:spPr>
          <a:xfrm>
            <a:off x="1905120" y="609480"/>
            <a:ext cx="4686120" cy="518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1" lang="en-US" sz="2800" strike="noStrike" u="none">
              <a:solidFill>
                <a:srgbClr val="00468f"/>
              </a:solidFill>
              <a:effectLst/>
              <a:uFillTx/>
              <a:latin typeface="Arial"/>
              <a:ea typeface="ＭＳ Ｐゴシック"/>
            </a:endParaRPr>
          </a:p>
        </p:txBody>
      </p:sp>
      <p:sp>
        <p:nvSpPr>
          <p:cNvPr id="27" name="Rectangle 6"/>
          <p:cNvSpPr/>
          <p:nvPr/>
        </p:nvSpPr>
        <p:spPr>
          <a:xfrm>
            <a:off x="1371600" y="0"/>
            <a:ext cx="2606400" cy="461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CA" sz="2400" strike="noStrike" u="none">
                <a:solidFill>
                  <a:srgbClr val="ffffff"/>
                </a:solidFill>
                <a:effectLst/>
                <a:uFillTx/>
                <a:latin typeface="Arial"/>
                <a:ea typeface="ＭＳ Ｐゴシック"/>
              </a:rPr>
              <a:t>EYE on the PAST</a:t>
            </a:r>
            <a:endParaRPr b="0" lang="en-US" sz="2400" strike="noStrike" u="none">
              <a:solidFill>
                <a:srgbClr val="000000"/>
              </a:solidFill>
              <a:effectLst/>
              <a:uFillTx/>
              <a:latin typeface="Arial"/>
            </a:endParaRPr>
          </a:p>
        </p:txBody>
      </p:sp>
      <p:sp>
        <p:nvSpPr>
          <p:cNvPr id="28" name="Text Box 3"/>
          <p:cNvSpPr/>
          <p:nvPr/>
        </p:nvSpPr>
        <p:spPr>
          <a:xfrm>
            <a:off x="3733920" y="663408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1"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9" name="Rectangle 3"/>
          <p:cNvSpPr/>
          <p:nvPr/>
        </p:nvSpPr>
        <p:spPr>
          <a:xfrm>
            <a:off x="1905120" y="609480"/>
            <a:ext cx="4686120" cy="518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1" lang="en-US" sz="2800" strike="noStrike" u="none">
              <a:solidFill>
                <a:srgbClr val="00468f"/>
              </a:solidFill>
              <a:effectLst/>
              <a:uFillTx/>
              <a:latin typeface="Arial"/>
              <a:ea typeface="ＭＳ Ｐゴシック"/>
            </a:endParaRPr>
          </a:p>
        </p:txBody>
      </p:sp>
      <p:sp>
        <p:nvSpPr>
          <p:cNvPr id="30" name="Rectangle 6"/>
          <p:cNvSpPr/>
          <p:nvPr/>
        </p:nvSpPr>
        <p:spPr>
          <a:xfrm>
            <a:off x="1371600" y="0"/>
            <a:ext cx="2606400" cy="461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CA" sz="2400" strike="noStrike" u="none">
                <a:solidFill>
                  <a:srgbClr val="ffffff"/>
                </a:solidFill>
                <a:effectLst/>
                <a:uFillTx/>
                <a:latin typeface="Arial"/>
                <a:ea typeface="ＭＳ Ｐゴシック"/>
              </a:rPr>
              <a:t>EYE on the PAST</a:t>
            </a:r>
            <a:endParaRPr b="0" lang="en-US" sz="2400" strike="noStrike" u="none">
              <a:solidFill>
                <a:srgbClr val="000000"/>
              </a:solidFill>
              <a:effectLst/>
              <a:uFillTx/>
              <a:latin typeface="Arial"/>
            </a:endParaRPr>
          </a:p>
        </p:txBody>
      </p:sp>
      <p:sp>
        <p:nvSpPr>
          <p:cNvPr id="31" name="Text Box 3"/>
          <p:cNvSpPr/>
          <p:nvPr/>
        </p:nvSpPr>
        <p:spPr>
          <a:xfrm>
            <a:off x="3733920" y="663408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1"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3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CA" sz="2400" strike="noStrike" u="none">
                <a:solidFill>
                  <a:schemeClr val="dk1"/>
                </a:solidFill>
                <a:effectLst/>
                <a:uFillTx/>
                <a:latin typeface="Arial"/>
              </a:rPr>
              <a:t>Click to edit the title text format</a:t>
            </a:r>
            <a:endParaRPr b="0" lang="en-CA" sz="2400" strike="noStrike" u="none">
              <a:solidFill>
                <a:schemeClr val="dk1"/>
              </a:solidFill>
              <a:effectLst/>
              <a:uFillTx/>
              <a:latin typeface="Arial"/>
            </a:endParaRPr>
          </a:p>
        </p:txBody>
      </p:sp>
      <p:sp>
        <p:nvSpPr>
          <p:cNvPr id="33"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1" lang="en-CA" sz="2800" strike="noStrike" u="none">
                <a:solidFill>
                  <a:srgbClr val="00468f"/>
                </a:solidFill>
                <a:effectLst/>
                <a:uFillTx/>
                <a:latin typeface="Arial"/>
              </a:rPr>
              <a:t>Click to edit the outline text format</a:t>
            </a:r>
            <a:endParaRPr b="1" lang="en-CA" sz="2800" strike="noStrike" u="none">
              <a:solidFill>
                <a:srgbClr val="00468f"/>
              </a:solidFill>
              <a:effectLst/>
              <a:uFillTx/>
              <a:latin typeface="Arial"/>
            </a:endParaRPr>
          </a:p>
          <a:p>
            <a:pPr lvl="1" marL="864000" indent="-324000">
              <a:spcBef>
                <a:spcPts val="1134"/>
              </a:spcBef>
              <a:buClr>
                <a:srgbClr val="000000"/>
              </a:buClr>
              <a:buSzPct val="75000"/>
              <a:buFont typeface="Symbol" charset="2"/>
              <a:buChar char=""/>
            </a:pPr>
            <a:r>
              <a:rPr b="0" lang="en-CA" sz="2400" strike="noStrike" u="none">
                <a:solidFill>
                  <a:schemeClr val="dk1"/>
                </a:solidFill>
                <a:effectLst/>
                <a:uFillTx/>
                <a:latin typeface="Arial"/>
              </a:rPr>
              <a:t>Second Outline Level</a:t>
            </a:r>
            <a:endParaRPr b="0" lang="en-CA"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CA" sz="2000" strike="noStrike" u="none">
                <a:solidFill>
                  <a:schemeClr val="dk1"/>
                </a:solidFill>
                <a:effectLst/>
                <a:uFillTx/>
                <a:latin typeface="Arial"/>
              </a:rPr>
              <a:t>Third Outline Level</a:t>
            </a:r>
            <a:endParaRPr b="0" lang="en-CA"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CA" sz="2000" strike="noStrike" u="none">
                <a:solidFill>
                  <a:schemeClr val="dk1"/>
                </a:solidFill>
                <a:effectLst/>
                <a:uFillTx/>
                <a:latin typeface="Arial"/>
              </a:rPr>
              <a:t>Fourth Outline Level</a:t>
            </a:r>
            <a:endParaRPr b="0" lang="en-CA"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Fifth Outline Level</a:t>
            </a:r>
            <a:endParaRPr b="0" lang="en-CA"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Sixth Outline Level</a:t>
            </a:r>
            <a:endParaRPr b="0" lang="en-CA"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Seventh Outline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63" r:id="rId2"/>
    <p:sldLayoutId id="2147483664"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slideLayout" Target="../slideLayouts/slideLayout4.xml"/><Relationship Id="rId6"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Layout" Target="../slideLayouts/slideLayout5.xml"/><Relationship Id="rId10"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Layout" Target="../slideLayouts/slideLayout3.xml"/><Relationship Id="rId10"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4.xml"/><Relationship Id="rId7"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5.xml"/><Relationship Id="rId9"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4.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5.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3.xml"/><Relationship Id="rId8"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4.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5.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20.jpeg"/><Relationship Id="rId2" Type="http://schemas.openxmlformats.org/officeDocument/2006/relationships/slideLayout" Target="../slideLayouts/slideLayout4.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20.jpeg"/><Relationship Id="rId2" Type="http://schemas.openxmlformats.org/officeDocument/2006/relationships/slideLayout" Target="../slideLayouts/slideLayout5.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4.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5.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3.xml"/><Relationship Id="rId9"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4.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5.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4.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5.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5.png"/><Relationship Id="rId3" Type="http://schemas.openxmlformats.org/officeDocument/2006/relationships/slideLayout" Target="../slideLayouts/slideLayout4.xml"/><Relationship Id="rId4"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5.png"/><Relationship Id="rId3" Type="http://schemas.openxmlformats.org/officeDocument/2006/relationships/slideLayout" Target="../slideLayouts/slideLayout5.xml"/><Relationship Id="rId4"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4.xml"/><Relationship Id="rId3"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5.xml"/><Relationship Id="rId3"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3.xml"/><Relationship Id="rId3"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4.xml"/><Relationship Id="rId3"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slideLayout" Target="../slideLayouts/slideLayout5.xml"/><Relationship Id="rId4"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slideLayout" Target="../slideLayouts/slideLayout3.xml"/><Relationship Id="rId4"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29.jpeg"/><Relationship Id="rId2" Type="http://schemas.openxmlformats.org/officeDocument/2006/relationships/image" Target="../media/image30.jpeg"/><Relationship Id="rId3" Type="http://schemas.openxmlformats.org/officeDocument/2006/relationships/image" Target="../media/image31.jpeg"/><Relationship Id="rId4" Type="http://schemas.openxmlformats.org/officeDocument/2006/relationships/image" Target="../media/image32.jpeg"/><Relationship Id="rId5" Type="http://schemas.openxmlformats.org/officeDocument/2006/relationships/image" Target="../media/image33.jpeg"/><Relationship Id="rId6" Type="http://schemas.openxmlformats.org/officeDocument/2006/relationships/slideLayout" Target="../slideLayouts/slideLayout4.xml"/><Relationship Id="rId7"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29.jpeg"/><Relationship Id="rId2" Type="http://schemas.openxmlformats.org/officeDocument/2006/relationships/image" Target="../media/image30.jpeg"/><Relationship Id="rId3" Type="http://schemas.openxmlformats.org/officeDocument/2006/relationships/image" Target="../media/image31.jpeg"/><Relationship Id="rId4" Type="http://schemas.openxmlformats.org/officeDocument/2006/relationships/image" Target="../media/image32.jpeg"/><Relationship Id="rId5" Type="http://schemas.openxmlformats.org/officeDocument/2006/relationships/image" Target="../media/image33.jpeg"/><Relationship Id="rId6" Type="http://schemas.openxmlformats.org/officeDocument/2006/relationships/slideLayout" Target="../slideLayouts/slideLayout5.xml"/><Relationship Id="rId7"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29.jpeg"/><Relationship Id="rId2" Type="http://schemas.openxmlformats.org/officeDocument/2006/relationships/image" Target="../media/image30.jpeg"/><Relationship Id="rId3" Type="http://schemas.openxmlformats.org/officeDocument/2006/relationships/image" Target="../media/image31.jpeg"/><Relationship Id="rId4" Type="http://schemas.openxmlformats.org/officeDocument/2006/relationships/image" Target="../media/image32.jpeg"/><Relationship Id="rId5" Type="http://schemas.openxmlformats.org/officeDocument/2006/relationships/image" Target="../media/image33.jpeg"/><Relationship Id="rId6" Type="http://schemas.openxmlformats.org/officeDocument/2006/relationships/slideLayout" Target="../slideLayouts/slideLayout3.xml"/><Relationship Id="rId7"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image" Target="../media/image29.jpeg"/><Relationship Id="rId2" Type="http://schemas.openxmlformats.org/officeDocument/2006/relationships/image" Target="../media/image30.jpeg"/><Relationship Id="rId3" Type="http://schemas.openxmlformats.org/officeDocument/2006/relationships/image" Target="../media/image31.jpeg"/><Relationship Id="rId4" Type="http://schemas.openxmlformats.org/officeDocument/2006/relationships/image" Target="../media/image32.jpeg"/><Relationship Id="rId5" Type="http://schemas.openxmlformats.org/officeDocument/2006/relationships/image" Target="../media/image33.jpeg"/><Relationship Id="rId6" Type="http://schemas.openxmlformats.org/officeDocument/2006/relationships/slideLayout" Target="../slideLayouts/slideLayout3.xml"/><Relationship Id="rId7"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image" Target="../media/image34.jpeg"/><Relationship Id="rId2" Type="http://schemas.openxmlformats.org/officeDocument/2006/relationships/slideLayout" Target="../slideLayouts/slideLayout2.xml"/><Relationship Id="rId3"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image" Target="../media/image35.jpeg"/><Relationship Id="rId2" Type="http://schemas.openxmlformats.org/officeDocument/2006/relationships/slideLayout" Target="../slideLayouts/slideLayout2.xml"/><Relationship Id="rId3"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image" Target="../media/image36.jpeg"/><Relationship Id="rId2" Type="http://schemas.openxmlformats.org/officeDocument/2006/relationships/slideLayout" Target="../slideLayouts/slideLayout9.xml"/><Relationship Id="rId3"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image" Target="../media/image36.jpeg"/><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46.png"/><Relationship Id="rId12" Type="http://schemas.openxmlformats.org/officeDocument/2006/relationships/slideLayout" Target="../slideLayouts/slideLayout9.xml"/><Relationship Id="rId13"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image" Target="../media/image36.jpeg"/><Relationship Id="rId2" Type="http://schemas.openxmlformats.org/officeDocument/2006/relationships/slideLayout" Target="../slideLayouts/slideLayout9.xml"/><Relationship Id="rId3"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image" Target="../media/image36.jpeg"/><Relationship Id="rId2" Type="http://schemas.openxmlformats.org/officeDocument/2006/relationships/slideLayout" Target="../slideLayouts/slideLayout9.xml"/><Relationship Id="rId3"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image" Target="../media/image36.jpeg"/><Relationship Id="rId2" Type="http://schemas.openxmlformats.org/officeDocument/2006/relationships/slideLayout" Target="../slideLayouts/slideLayout9.xml"/><Relationship Id="rId3" Type="http://schemas.openxmlformats.org/officeDocument/2006/relationships/notesSlide" Target="../notesSlides/notesSlide7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 name="Picture 7" descr=""/>
          <p:cNvPicPr/>
          <p:nvPr/>
        </p:nvPicPr>
        <p:blipFill>
          <a:blip r:embed="rId1"/>
          <a:stretch/>
        </p:blipFill>
        <p:spPr>
          <a:xfrm>
            <a:off x="228600" y="380880"/>
            <a:ext cx="8683200" cy="2209320"/>
          </a:xfrm>
          <a:prstGeom prst="rect">
            <a:avLst/>
          </a:prstGeom>
          <a:noFill/>
          <a:ln w="0">
            <a:noFill/>
          </a:ln>
        </p:spPr>
      </p:pic>
      <p:sp>
        <p:nvSpPr>
          <p:cNvPr id="43" name="Text Box 5"/>
          <p:cNvSpPr/>
          <p:nvPr/>
        </p:nvSpPr>
        <p:spPr>
          <a:xfrm>
            <a:off x="6172200" y="690480"/>
            <a:ext cx="1157040" cy="1107720"/>
          </a:xfrm>
          <a:prstGeom prst="rect">
            <a:avLst/>
          </a:prstGeom>
          <a:noFill/>
          <a:ln w="0">
            <a:noFill/>
          </a:ln>
        </p:spPr>
        <p:style>
          <a:lnRef idx="0"/>
          <a:fillRef idx="0"/>
          <a:effectRef idx="0"/>
          <a:fontRef idx="minor"/>
        </p:style>
        <p:txBody>
          <a:bodyPr lIns="0" rIns="0" tIns="0" bIns="0" anchor="b">
            <a:spAutoFit/>
          </a:bodyPr>
          <a:p>
            <a:pPr algn="ctr">
              <a:lnSpc>
                <a:spcPct val="100000"/>
              </a:lnSpc>
              <a:spcBef>
                <a:spcPts val="3600"/>
              </a:spcBef>
            </a:pPr>
            <a:r>
              <a:rPr b="1" lang="en-US" sz="7200" strike="noStrike" u="none">
                <a:solidFill>
                  <a:schemeClr val="lt1"/>
                </a:solidFill>
                <a:effectLst/>
                <a:uFillTx/>
                <a:latin typeface="Arial"/>
                <a:ea typeface="ＭＳ Ｐゴシック"/>
              </a:rPr>
              <a:t>18</a:t>
            </a:r>
            <a:endParaRPr b="0" lang="en-US" sz="7200" strike="noStrike" u="none">
              <a:solidFill>
                <a:srgbClr val="000000"/>
              </a:solidFill>
              <a:effectLst/>
              <a:uFillTx/>
              <a:latin typeface="Arial"/>
            </a:endParaRPr>
          </a:p>
        </p:txBody>
      </p:sp>
      <p:sp>
        <p:nvSpPr>
          <p:cNvPr id="44" name="TextBox 6"/>
          <p:cNvSpPr/>
          <p:nvPr/>
        </p:nvSpPr>
        <p:spPr>
          <a:xfrm>
            <a:off x="225360" y="2362320"/>
            <a:ext cx="6098760" cy="821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CA" sz="2400" strike="noStrike" u="none">
                <a:solidFill>
                  <a:schemeClr val="dk1"/>
                </a:solidFill>
                <a:effectLst/>
                <a:uFillTx/>
                <a:latin typeface="Arial"/>
                <a:ea typeface="ＭＳ Ｐゴシック"/>
              </a:rPr>
              <a:t>When you have completed your </a:t>
            </a:r>
            <a:br>
              <a:rPr sz="2400"/>
            </a:br>
            <a:r>
              <a:rPr b="1" lang="en-CA" sz="2400" strike="noStrike" u="none">
                <a:solidFill>
                  <a:schemeClr val="dk1"/>
                </a:solidFill>
                <a:effectLst/>
                <a:uFillTx/>
                <a:latin typeface="Arial"/>
                <a:ea typeface="ＭＳ Ｐゴシック"/>
              </a:rPr>
              <a:t>study of this chapter, you will be able to</a:t>
            </a:r>
            <a:endParaRPr b="0" lang="en-US" sz="2400" strike="noStrike" u="none">
              <a:solidFill>
                <a:srgbClr val="000000"/>
              </a:solidFill>
              <a:effectLst/>
              <a:uFillTx/>
              <a:latin typeface="Arial"/>
            </a:endParaRPr>
          </a:p>
        </p:txBody>
      </p:sp>
      <p:sp>
        <p:nvSpPr>
          <p:cNvPr id="45" name="TextBox 7"/>
          <p:cNvSpPr/>
          <p:nvPr/>
        </p:nvSpPr>
        <p:spPr>
          <a:xfrm>
            <a:off x="363600" y="3354480"/>
            <a:ext cx="8530920" cy="2574720"/>
          </a:xfrm>
          <a:prstGeom prst="rect">
            <a:avLst/>
          </a:prstGeom>
          <a:noFill/>
          <a:ln w="0">
            <a:noFill/>
          </a:ln>
        </p:spPr>
        <p:style>
          <a:lnRef idx="0"/>
          <a:fillRef idx="0"/>
          <a:effectRef idx="0"/>
          <a:fontRef idx="minor"/>
        </p:style>
        <p:txBody>
          <a:bodyPr lIns="90000" rIns="90000" tIns="45000" bIns="45000" anchor="t">
            <a:spAutoFit/>
          </a:bodyPr>
          <a:p>
            <a:pPr marL="114480" defTabSz="399960">
              <a:lnSpc>
                <a:spcPct val="100000"/>
              </a:lnSpc>
              <a:spcBef>
                <a:spcPts val="479"/>
              </a:spcBef>
              <a:spcAft>
                <a:spcPts val="961"/>
              </a:spcAft>
            </a:pPr>
            <a:r>
              <a:rPr b="1" lang="en-US" sz="2400" strike="noStrike" u="none">
                <a:solidFill>
                  <a:srgbClr val="ff0000"/>
                </a:solidFill>
                <a:effectLst/>
                <a:uFillTx/>
                <a:latin typeface="Arial"/>
                <a:ea typeface="ＭＳ Ｐゴシック"/>
              </a:rPr>
              <a:t>1</a:t>
            </a:r>
            <a:r>
              <a:rPr b="1"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Describe and identify oligopoly and explain how it arises.</a:t>
            </a:r>
            <a:endParaRPr b="0" lang="en-US" sz="2400" strike="noStrike" u="none">
              <a:solidFill>
                <a:srgbClr val="000000"/>
              </a:solidFill>
              <a:effectLst/>
              <a:uFillTx/>
              <a:latin typeface="Arial"/>
            </a:endParaRPr>
          </a:p>
          <a:p>
            <a:pPr marL="114480" defTabSz="399960">
              <a:lnSpc>
                <a:spcPct val="100000"/>
              </a:lnSpc>
              <a:spcBef>
                <a:spcPts val="479"/>
              </a:spcBef>
              <a:spcAft>
                <a:spcPts val="961"/>
              </a:spcAft>
            </a:pPr>
            <a:r>
              <a:rPr b="1" lang="en-US" sz="2400" strike="noStrike" u="none">
                <a:solidFill>
                  <a:srgbClr val="ff0000"/>
                </a:solidFill>
                <a:effectLst/>
                <a:uFillTx/>
                <a:latin typeface="Arial"/>
                <a:ea typeface="ＭＳ Ｐゴシック"/>
              </a:rPr>
              <a:t>2</a:t>
            </a:r>
            <a:r>
              <a:rPr b="1" lang="en-US" sz="2400" strike="noStrike" u="none">
                <a:solidFill>
                  <a:srgbClr val="ff0000"/>
                </a:solidFill>
                <a:effectLst/>
                <a:uFillTx/>
                <a:latin typeface="Arial"/>
                <a:ea typeface="ＭＳ Ｐゴシック"/>
              </a:rPr>
              <a:t>	</a:t>
            </a:r>
            <a:r>
              <a:rPr b="0" lang="en-US" sz="2400" strike="noStrike" u="none">
                <a:solidFill>
                  <a:schemeClr val="dk1"/>
                </a:solidFill>
                <a:effectLst/>
                <a:uFillTx/>
                <a:latin typeface="Arial"/>
                <a:ea typeface="ＭＳ Ｐゴシック"/>
              </a:rPr>
              <a:t>Explain the dilemma faced by firms in oligopoly.</a:t>
            </a:r>
            <a:endParaRPr b="0" lang="en-US" sz="2400" strike="noStrike" u="none">
              <a:solidFill>
                <a:srgbClr val="000000"/>
              </a:solidFill>
              <a:effectLst/>
              <a:uFillTx/>
              <a:latin typeface="Arial"/>
            </a:endParaRPr>
          </a:p>
          <a:p>
            <a:pPr marL="114480" defTabSz="399960">
              <a:lnSpc>
                <a:spcPct val="100000"/>
              </a:lnSpc>
              <a:spcBef>
                <a:spcPts val="479"/>
              </a:spcBef>
              <a:spcAft>
                <a:spcPts val="961"/>
              </a:spcAft>
            </a:pPr>
            <a:r>
              <a:rPr b="1" lang="en-US" sz="2400" strike="noStrike" u="none">
                <a:solidFill>
                  <a:srgbClr val="ff0000"/>
                </a:solidFill>
                <a:effectLst/>
                <a:uFillTx/>
                <a:latin typeface="Arial"/>
                <a:ea typeface="ＭＳ Ｐゴシック"/>
              </a:rPr>
              <a:t>3</a:t>
            </a:r>
            <a:r>
              <a:rPr b="1" lang="en-US" sz="2400" strike="noStrike" u="none">
                <a:solidFill>
                  <a:srgbClr val="ff0000"/>
                </a:solidFill>
                <a:effectLst/>
                <a:uFillTx/>
                <a:latin typeface="Arial"/>
                <a:ea typeface="ＭＳ Ｐゴシック"/>
              </a:rPr>
              <a:t>	</a:t>
            </a:r>
            <a:r>
              <a:rPr b="0" lang="en-US" sz="2400" strike="noStrike" u="none">
                <a:solidFill>
                  <a:schemeClr val="dk1"/>
                </a:solidFill>
                <a:effectLst/>
                <a:uFillTx/>
                <a:latin typeface="Arial"/>
                <a:ea typeface="ＭＳ Ｐゴシック"/>
              </a:rPr>
              <a:t>Use game theory to explain how price and quantity are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determined in oligopoly.</a:t>
            </a:r>
            <a:endParaRPr b="0" lang="en-US" sz="2400" strike="noStrike" u="none">
              <a:solidFill>
                <a:srgbClr val="000000"/>
              </a:solidFill>
              <a:effectLst/>
              <a:uFillTx/>
              <a:latin typeface="Arial"/>
            </a:endParaRPr>
          </a:p>
          <a:p>
            <a:pPr marL="114480" defTabSz="399960">
              <a:lnSpc>
                <a:spcPct val="100000"/>
              </a:lnSpc>
              <a:spcBef>
                <a:spcPts val="479"/>
              </a:spcBef>
              <a:spcAft>
                <a:spcPts val="961"/>
              </a:spcAft>
            </a:pPr>
            <a:r>
              <a:rPr b="1" lang="en-US" sz="2400" strike="noStrike" u="none">
                <a:solidFill>
                  <a:srgbClr val="ff0000"/>
                </a:solidFill>
                <a:effectLst/>
                <a:uFillTx/>
                <a:latin typeface="Arial"/>
                <a:ea typeface="ＭＳ Ｐゴシック"/>
              </a:rPr>
              <a:t>4</a:t>
            </a:r>
            <a:r>
              <a:rPr b="1" lang="en-US" sz="2400" strike="noStrike" u="none">
                <a:solidFill>
                  <a:srgbClr val="ff0000"/>
                </a:solidFill>
                <a:effectLst/>
                <a:uFillTx/>
                <a:latin typeface="Arial"/>
                <a:ea typeface="ＭＳ Ｐゴシック"/>
              </a:rPr>
              <a:t>	</a:t>
            </a:r>
            <a:r>
              <a:rPr b="0" lang="en-US" sz="2400" strike="noStrike" u="none">
                <a:solidFill>
                  <a:schemeClr val="dk1"/>
                </a:solidFill>
                <a:effectLst/>
                <a:uFillTx/>
                <a:latin typeface="Arial"/>
                <a:ea typeface="ＭＳ Ｐゴシック"/>
              </a:rPr>
              <a:t>Describe the antitrust laws that regulate oligopoly.</a:t>
            </a:r>
            <a:endParaRPr b="0" lang="en-US" sz="2400" strike="noStrike" u="none">
              <a:solidFill>
                <a:srgbClr val="000000"/>
              </a:solidFill>
              <a:effectLst/>
              <a:uFillTx/>
              <a:latin typeface="Arial"/>
            </a:endParaRPr>
          </a:p>
        </p:txBody>
      </p:sp>
      <p:sp>
        <p:nvSpPr>
          <p:cNvPr id="46" name="TextBox 9"/>
          <p:cNvSpPr/>
          <p:nvPr/>
        </p:nvSpPr>
        <p:spPr>
          <a:xfrm>
            <a:off x="5843520" y="2192400"/>
            <a:ext cx="2971440" cy="336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1600" strike="noStrike" u="none">
                <a:solidFill>
                  <a:schemeClr val="lt1"/>
                </a:solidFill>
                <a:effectLst/>
                <a:uFillTx/>
                <a:latin typeface="Arial"/>
                <a:ea typeface="ＭＳ Ｐゴシック"/>
              </a:rPr>
              <a:t>CHAPTER CHECKLIST</a:t>
            </a:r>
            <a:endParaRPr b="0" lang="en-US" sz="1600" strike="noStrike" u="none">
              <a:solidFill>
                <a:srgbClr val="000000"/>
              </a:solidFill>
              <a:effectLst/>
              <a:uFillTx/>
              <a:latin typeface="Arial"/>
            </a:endParaRPr>
          </a:p>
        </p:txBody>
      </p:sp>
      <p:sp>
        <p:nvSpPr>
          <p:cNvPr id="47" name="Rectangle 1"/>
          <p:cNvSpPr/>
          <p:nvPr/>
        </p:nvSpPr>
        <p:spPr>
          <a:xfrm>
            <a:off x="284040" y="1523880"/>
            <a:ext cx="1864800" cy="523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CA" sz="2800" strike="noStrike" u="none">
                <a:solidFill>
                  <a:schemeClr val="dk1"/>
                </a:solidFill>
                <a:effectLst/>
                <a:uFillTx/>
                <a:latin typeface="Arial"/>
                <a:ea typeface="ＭＳ Ｐゴシック"/>
              </a:rPr>
              <a:t>Oligopoly</a:t>
            </a:r>
            <a:endParaRPr b="0" lang="en-US" sz="2800" strike="noStrike" u="none">
              <a:solidFill>
                <a:srgbClr val="000000"/>
              </a:solidFill>
              <a:effectLst/>
              <a:uFillTx/>
              <a:latin typeface="Arial"/>
            </a:endParaRPr>
          </a:p>
        </p:txBody>
      </p:sp>
    </p:spTree>
  </p:cSld>
  <p:transition spd="slow">
    <p:wipe dir="r"/>
  </p:transition>
  <p:timing>
    <p:tnLst>
      <p:par>
        <p:cTn id="1" dur="indefinite" restart="never" nodeType="tmRoot">
          <p:childTnLst>
            <p:seq>
              <p:cTn id="2" dur="indefinite" nodeType="mainSeq">
                <p:childTnLst>
                  <p:par>
                    <p:cTn id="3" nodeType="clickEffect" fill="hold">
                      <p:stCondLst>
                        <p:cond delay="indefinite"/>
                      </p:stCondLst>
                      <p:childTnLst>
                        <p:par>
                          <p:cTn id="4" nodeType="withEffect" fill="hold">
                            <p:stCondLst>
                              <p:cond delay="0"/>
                            </p:stCondLst>
                            <p:childTnLst>
                              <p:par>
                                <p:cTn id="5" nodeType="clickEffect" fill="hold" presetClass="entr" presetID="22" presetSubtype="8">
                                  <p:stCondLst>
                                    <p:cond delay="0"/>
                                  </p:stCondLst>
                                  <p:childTnLst>
                                    <p:set>
                                      <p:cBhvr>
                                        <p:cTn id="6" dur="1" fill="hold">
                                          <p:stCondLst>
                                            <p:cond delay="0"/>
                                          </p:stCondLst>
                                        </p:cTn>
                                        <p:tgtEl>
                                          <p:spTgt spid="44"/>
                                        </p:tgtEl>
                                        <p:attrNameLst>
                                          <p:attrName>style.visibility</p:attrName>
                                        </p:attrNameLst>
                                      </p:cBhvr>
                                      <p:to>
                                        <p:strVal val="visible"/>
                                      </p:to>
                                    </p:set>
                                    <p:animEffect filter="wipe(left)" transition="in">
                                      <p:cBhvr additive="repl">
                                        <p:cTn id="7" dur="500"/>
                                        <p:tgtEl>
                                          <p:spTgt spid="44"/>
                                        </p:tgtEl>
                                      </p:cBhvr>
                                    </p:animEffect>
                                  </p:childTnLst>
                                </p:cTn>
                              </p:par>
                            </p:childTnLst>
                          </p:cTn>
                        </p:par>
                      </p:childTnLst>
                    </p:cTn>
                  </p:par>
                  <p:par>
                    <p:cTn id="8" nodeType="clickEffect" fill="hold">
                      <p:stCondLst>
                        <p:cond delay="indefinite"/>
                      </p:stCondLst>
                      <p:childTnLst>
                        <p:par>
                          <p:cTn id="9" nodeType="withEffect" fill="hold">
                            <p:stCondLst>
                              <p:cond delay="0"/>
                            </p:stCondLst>
                            <p:childTnLst>
                              <p:par>
                                <p:cTn id="10" nodeType="clickEffect" fill="hold" presetClass="entr" presetID="22" presetSubtype="8">
                                  <p:stCondLst>
                                    <p:cond delay="0"/>
                                  </p:stCondLst>
                                  <p:childTnLst>
                                    <p:set>
                                      <p:cBhvr>
                                        <p:cTn id="11" dur="1" fill="hold">
                                          <p:stCondLst>
                                            <p:cond delay="0"/>
                                          </p:stCondLst>
                                        </p:cTn>
                                        <p:tgtEl>
                                          <p:spTgt spid="45">
                                            <p:txEl>
                                              <p:pRg st="0" end="0"/>
                                            </p:txEl>
                                          </p:spTgt>
                                        </p:tgtEl>
                                        <p:attrNameLst>
                                          <p:attrName>style.visibility</p:attrName>
                                        </p:attrNameLst>
                                      </p:cBhvr>
                                      <p:to>
                                        <p:strVal val="visible"/>
                                      </p:to>
                                    </p:set>
                                    <p:animEffect filter="wipe(left)" transition="in">
                                      <p:cBhvr additive="repl">
                                        <p:cTn id="12" dur="1000"/>
                                        <p:tgtEl>
                                          <p:spTgt spid="45">
                                            <p:txEl>
                                              <p:pRg st="0" end="0"/>
                                            </p:txEl>
                                          </p:spTgt>
                                        </p:tgtEl>
                                      </p:cBhvr>
                                    </p:animEffect>
                                  </p:childTnLst>
                                </p:cTn>
                              </p:par>
                            </p:childTnLst>
                          </p:cTn>
                        </p:par>
                      </p:childTnLst>
                    </p:cTn>
                  </p:par>
                  <p:par>
                    <p:cTn id="13" nodeType="clickEffect" fill="hold">
                      <p:stCondLst>
                        <p:cond delay="indefinite"/>
                      </p:stCondLst>
                      <p:childTnLst>
                        <p:par>
                          <p:cTn id="14" nodeType="withEffect" fill="hold">
                            <p:stCondLst>
                              <p:cond delay="0"/>
                            </p:stCondLst>
                            <p:childTnLst>
                              <p:par>
                                <p:cTn id="15" nodeType="clickEffect" fill="hold" presetClass="entr" presetID="22" presetSubtype="8">
                                  <p:stCondLst>
                                    <p:cond delay="0"/>
                                  </p:stCondLst>
                                  <p:childTnLst>
                                    <p:set>
                                      <p:cBhvr>
                                        <p:cTn id="16" dur="1" fill="hold">
                                          <p:stCondLst>
                                            <p:cond delay="0"/>
                                          </p:stCondLst>
                                        </p:cTn>
                                        <p:tgtEl>
                                          <p:spTgt spid="45">
                                            <p:txEl>
                                              <p:pRg st="1" end="1"/>
                                            </p:txEl>
                                          </p:spTgt>
                                        </p:tgtEl>
                                        <p:attrNameLst>
                                          <p:attrName>style.visibility</p:attrName>
                                        </p:attrNameLst>
                                      </p:cBhvr>
                                      <p:to>
                                        <p:strVal val="visible"/>
                                      </p:to>
                                    </p:set>
                                    <p:animEffect filter="wipe(left)" transition="in">
                                      <p:cBhvr additive="repl">
                                        <p:cTn id="17" dur="1000"/>
                                        <p:tgtEl>
                                          <p:spTgt spid="45">
                                            <p:txEl>
                                              <p:pRg st="1" end="1"/>
                                            </p:txEl>
                                          </p:spTgt>
                                        </p:tgtEl>
                                      </p:cBhvr>
                                    </p:animEffect>
                                  </p:childTnLst>
                                </p:cTn>
                              </p:par>
                            </p:childTnLst>
                          </p:cTn>
                        </p:par>
                      </p:childTnLst>
                    </p:cTn>
                  </p:par>
                  <p:par>
                    <p:cTn id="18" nodeType="clickEffect" fill="hold">
                      <p:stCondLst>
                        <p:cond delay="indefinite"/>
                      </p:stCondLst>
                      <p:childTnLst>
                        <p:par>
                          <p:cTn id="19" nodeType="withEffect" fill="hold">
                            <p:stCondLst>
                              <p:cond delay="0"/>
                            </p:stCondLst>
                            <p:childTnLst>
                              <p:par>
                                <p:cTn id="20" nodeType="clickEffect" fill="hold" presetClass="entr" presetID="22" presetSubtype="8">
                                  <p:stCondLst>
                                    <p:cond delay="0"/>
                                  </p:stCondLst>
                                  <p:childTnLst>
                                    <p:set>
                                      <p:cBhvr>
                                        <p:cTn id="21" dur="1" fill="hold">
                                          <p:stCondLst>
                                            <p:cond delay="0"/>
                                          </p:stCondLst>
                                        </p:cTn>
                                        <p:tgtEl>
                                          <p:spTgt spid="45">
                                            <p:txEl>
                                              <p:pRg st="2" end="2"/>
                                            </p:txEl>
                                          </p:spTgt>
                                        </p:tgtEl>
                                        <p:attrNameLst>
                                          <p:attrName>style.visibility</p:attrName>
                                        </p:attrNameLst>
                                      </p:cBhvr>
                                      <p:to>
                                        <p:strVal val="visible"/>
                                      </p:to>
                                    </p:set>
                                    <p:animEffect filter="wipe(left)" transition="in">
                                      <p:cBhvr additive="repl">
                                        <p:cTn id="22" dur="1000"/>
                                        <p:tgtEl>
                                          <p:spTgt spid="45">
                                            <p:txEl>
                                              <p:pRg st="2" end="2"/>
                                            </p:txEl>
                                          </p:spTgt>
                                        </p:tgtEl>
                                      </p:cBhvr>
                                    </p:animEffect>
                                  </p:childTnLst>
                                </p:cTn>
                              </p:par>
                            </p:childTnLst>
                          </p:cTn>
                        </p:par>
                      </p:childTnLst>
                    </p:cTn>
                  </p:par>
                  <p:par>
                    <p:cTn id="23" nodeType="clickEffect" fill="hold">
                      <p:stCondLst>
                        <p:cond delay="indefinite"/>
                      </p:stCondLst>
                      <p:childTnLst>
                        <p:par>
                          <p:cTn id="24" nodeType="withEffect" fill="hold">
                            <p:stCondLst>
                              <p:cond delay="0"/>
                            </p:stCondLst>
                            <p:childTnLst>
                              <p:par>
                                <p:cTn id="25" nodeType="clickEffect" fill="hold" presetClass="entr" presetID="22" presetSubtype="8">
                                  <p:stCondLst>
                                    <p:cond delay="0"/>
                                  </p:stCondLst>
                                  <p:childTnLst>
                                    <p:set>
                                      <p:cBhvr>
                                        <p:cTn id="26" dur="1" fill="hold">
                                          <p:stCondLst>
                                            <p:cond delay="0"/>
                                          </p:stCondLst>
                                        </p:cTn>
                                        <p:tgtEl>
                                          <p:spTgt spid="45">
                                            <p:txEl>
                                              <p:pRg st="3" end="3"/>
                                            </p:txEl>
                                          </p:spTgt>
                                        </p:tgtEl>
                                        <p:attrNameLst>
                                          <p:attrName>style.visibility</p:attrName>
                                        </p:attrNameLst>
                                      </p:cBhvr>
                                      <p:to>
                                        <p:strVal val="visible"/>
                                      </p:to>
                                    </p:set>
                                    <p:animEffect filter="wipe(left)" transition="in">
                                      <p:cBhvr additive="repl">
                                        <p:cTn id="27" dur="1000"/>
                                        <p:tgtEl>
                                          <p:spTgt spid="45">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18.1  WHAT IS OLIGOPOLY?</a:t>
            </a:r>
            <a:endParaRPr b="0" lang="en-CA" sz="2600" strike="noStrike" u="none">
              <a:solidFill>
                <a:schemeClr val="dk1"/>
              </a:solidFill>
              <a:effectLst/>
              <a:uFillTx/>
              <a:latin typeface="Arial"/>
            </a:endParaRPr>
          </a:p>
        </p:txBody>
      </p:sp>
      <p:sp>
        <p:nvSpPr>
          <p:cNvPr id="4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Another market type that stands between perfect competition and monopoly.</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Oligopoly is a market type in which:</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A small number of firms compete.</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Natural or legal barriers prevent the entry of new firms.</a:t>
            </a:r>
            <a:endParaRPr b="0" lang="en-CA" sz="2400" strike="noStrike" u="none">
              <a:solidFill>
                <a:schemeClr val="dk1"/>
              </a:solidFill>
              <a:effectLst/>
              <a:uFillTx/>
              <a:latin typeface="Arial"/>
            </a:endParaRPr>
          </a:p>
        </p:txBody>
      </p:sp>
    </p:spTree>
  </p:cSld>
  <p:transition spd="slow">
    <p:wipe dir="r"/>
  </p:transition>
  <p:timing>
    <p:tnLst>
      <p:par>
        <p:cTn id="28" dur="indefinite" restart="never" nodeType="tmRoot">
          <p:childTnLst>
            <p:seq>
              <p:cTn id="29" dur="indefinite" nodeType="mainSeq">
                <p:childTnLst>
                  <p:par>
                    <p:cTn id="30" nodeType="clickEffect" fill="hold">
                      <p:stCondLst>
                        <p:cond delay="indefinite"/>
                      </p:stCondLst>
                      <p:childTnLst>
                        <p:par>
                          <p:cTn id="31" nodeType="withEffect" fill="hold">
                            <p:stCondLst>
                              <p:cond delay="0"/>
                            </p:stCondLst>
                            <p:childTnLst>
                              <p:par>
                                <p:cTn id="32" nodeType="clickEffect" fill="hold" presetClass="entr" presetID="22" presetSubtype="8">
                                  <p:stCondLst>
                                    <p:cond delay="0"/>
                                  </p:stCondLst>
                                  <p:childTnLst>
                                    <p:set>
                                      <p:cBhvr>
                                        <p:cTn id="33" dur="1" fill="hold">
                                          <p:stCondLst>
                                            <p:cond delay="0"/>
                                          </p:stCondLst>
                                        </p:cTn>
                                        <p:tgtEl>
                                          <p:spTgt spid="49">
                                            <p:txEl>
                                              <p:pRg st="0" end="0"/>
                                            </p:txEl>
                                          </p:spTgt>
                                        </p:tgtEl>
                                        <p:attrNameLst>
                                          <p:attrName>style.visibility</p:attrName>
                                        </p:attrNameLst>
                                      </p:cBhvr>
                                      <p:to>
                                        <p:strVal val="visible"/>
                                      </p:to>
                                    </p:set>
                                    <p:animEffect filter="wipe(left)" transition="in">
                                      <p:cBhvr additive="repl">
                                        <p:cTn id="34" dur="500"/>
                                        <p:tgtEl>
                                          <p:spTgt spid="49">
                                            <p:txEl>
                                              <p:pRg st="0" end="0"/>
                                            </p:txEl>
                                          </p:spTgt>
                                        </p:tgtEl>
                                      </p:cBhvr>
                                    </p:animEffect>
                                  </p:childTnLst>
                                </p:cTn>
                              </p:par>
                            </p:childTnLst>
                          </p:cTn>
                        </p:par>
                      </p:childTnLst>
                    </p:cTn>
                  </p:par>
                  <p:par>
                    <p:cTn id="35" nodeType="clickEffect" fill="hold">
                      <p:stCondLst>
                        <p:cond delay="indefinite"/>
                      </p:stCondLst>
                      <p:childTnLst>
                        <p:par>
                          <p:cTn id="36" nodeType="withEffect" fill="hold">
                            <p:stCondLst>
                              <p:cond delay="0"/>
                            </p:stCondLst>
                            <p:childTnLst>
                              <p:par>
                                <p:cTn id="37" nodeType="clickEffect" fill="hold" presetClass="entr" presetID="22" presetSubtype="8">
                                  <p:stCondLst>
                                    <p:cond delay="0"/>
                                  </p:stCondLst>
                                  <p:childTnLst>
                                    <p:set>
                                      <p:cBhvr>
                                        <p:cTn id="38" dur="1" fill="hold">
                                          <p:stCondLst>
                                            <p:cond delay="0"/>
                                          </p:stCondLst>
                                        </p:cTn>
                                        <p:tgtEl>
                                          <p:spTgt spid="49">
                                            <p:txEl>
                                              <p:pRg st="1" end="1"/>
                                            </p:txEl>
                                          </p:spTgt>
                                        </p:tgtEl>
                                        <p:attrNameLst>
                                          <p:attrName>style.visibility</p:attrName>
                                        </p:attrNameLst>
                                      </p:cBhvr>
                                      <p:to>
                                        <p:strVal val="visible"/>
                                      </p:to>
                                    </p:set>
                                    <p:animEffect filter="wipe(left)" transition="in">
                                      <p:cBhvr additive="repl">
                                        <p:cTn id="39" dur="500"/>
                                        <p:tgtEl>
                                          <p:spTgt spid="49">
                                            <p:txEl>
                                              <p:pRg st="1" end="1"/>
                                            </p:txEl>
                                          </p:spTgt>
                                        </p:tgtEl>
                                      </p:cBhvr>
                                    </p:animEffect>
                                  </p:childTnLst>
                                </p:cTn>
                              </p:par>
                            </p:childTnLst>
                          </p:cTn>
                        </p:par>
                      </p:childTnLst>
                    </p:cTn>
                  </p:par>
                  <p:par>
                    <p:cTn id="40" nodeType="clickEffect" fill="hold">
                      <p:stCondLst>
                        <p:cond delay="indefinite"/>
                      </p:stCondLst>
                      <p:childTnLst>
                        <p:par>
                          <p:cTn id="41" nodeType="withEffect" fill="hold">
                            <p:stCondLst>
                              <p:cond delay="0"/>
                            </p:stCondLst>
                            <p:childTnLst>
                              <p:par>
                                <p:cTn id="42" nodeType="clickEffect" fill="hold" presetClass="entr" presetID="22" presetSubtype="8">
                                  <p:stCondLst>
                                    <p:cond delay="0"/>
                                  </p:stCondLst>
                                  <p:childTnLst>
                                    <p:set>
                                      <p:cBhvr>
                                        <p:cTn id="43" dur="1" fill="hold">
                                          <p:stCondLst>
                                            <p:cond delay="0"/>
                                          </p:stCondLst>
                                        </p:cTn>
                                        <p:tgtEl>
                                          <p:spTgt spid="49">
                                            <p:txEl>
                                              <p:pRg st="2" end="2"/>
                                            </p:txEl>
                                          </p:spTgt>
                                        </p:tgtEl>
                                        <p:attrNameLst>
                                          <p:attrName>style.visibility</p:attrName>
                                        </p:attrNameLst>
                                      </p:cBhvr>
                                      <p:to>
                                        <p:strVal val="visible"/>
                                      </p:to>
                                    </p:set>
                                    <p:animEffect filter="wipe(left)" transition="in">
                                      <p:cBhvr additive="repl">
                                        <p:cTn id="44" dur="500"/>
                                        <p:tgtEl>
                                          <p:spTgt spid="49">
                                            <p:txEl>
                                              <p:pRg st="2" end="2"/>
                                            </p:txEl>
                                          </p:spTgt>
                                        </p:tgtEl>
                                      </p:cBhvr>
                                    </p:animEffect>
                                  </p:childTnLst>
                                </p:cTn>
                              </p:par>
                            </p:childTnLst>
                          </p:cTn>
                        </p:par>
                      </p:childTnLst>
                    </p:cTn>
                  </p:par>
                  <p:par>
                    <p:cTn id="45" nodeType="clickEffect" fill="hold">
                      <p:stCondLst>
                        <p:cond delay="indefinite"/>
                      </p:stCondLst>
                      <p:childTnLst>
                        <p:par>
                          <p:cTn id="46" nodeType="withEffect" fill="hold">
                            <p:stCondLst>
                              <p:cond delay="0"/>
                            </p:stCondLst>
                            <p:childTnLst>
                              <p:par>
                                <p:cTn id="47" nodeType="clickEffect" fill="hold" presetClass="entr" presetID="22" presetSubtype="8">
                                  <p:stCondLst>
                                    <p:cond delay="0"/>
                                  </p:stCondLst>
                                  <p:childTnLst>
                                    <p:set>
                                      <p:cBhvr>
                                        <p:cTn id="48" dur="1" fill="hold">
                                          <p:stCondLst>
                                            <p:cond delay="0"/>
                                          </p:stCondLst>
                                        </p:cTn>
                                        <p:tgtEl>
                                          <p:spTgt spid="49">
                                            <p:txEl>
                                              <p:pRg st="3" end="3"/>
                                            </p:txEl>
                                          </p:spTgt>
                                        </p:tgtEl>
                                        <p:attrNameLst>
                                          <p:attrName>style.visibility</p:attrName>
                                        </p:attrNameLst>
                                      </p:cBhvr>
                                      <p:to>
                                        <p:strVal val="visible"/>
                                      </p:to>
                                    </p:set>
                                    <p:animEffect filter="wipe(left)" transition="in">
                                      <p:cBhvr additive="repl">
                                        <p:cTn id="49" dur="500"/>
                                        <p:tgtEl>
                                          <p:spTgt spid="49">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18.1  WHAT IS OLIGOPOLY?</a:t>
            </a:r>
            <a:endParaRPr b="0" lang="en-CA" sz="2600" strike="noStrike" u="none">
              <a:solidFill>
                <a:schemeClr val="dk1"/>
              </a:solidFill>
              <a:effectLst/>
              <a:uFillTx/>
              <a:latin typeface="Arial"/>
            </a:endParaRPr>
          </a:p>
        </p:txBody>
      </p:sp>
      <p:sp>
        <p:nvSpPr>
          <p:cNvPr id="5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Small Number of Firms</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In contrast to monopolistic competition and perfect competition, an oligopoly consists of a small number of firms.</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Each firm has a large market share</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The firms are interdependent</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The firms have an incentive to collude</a:t>
            </a:r>
            <a:endParaRPr b="0" lang="en-CA" sz="2400" strike="noStrike" u="none">
              <a:solidFill>
                <a:schemeClr val="dk1"/>
              </a:solidFill>
              <a:effectLst/>
              <a:uFillTx/>
              <a:latin typeface="Arial"/>
            </a:endParaRPr>
          </a:p>
        </p:txBody>
      </p:sp>
    </p:spTree>
  </p:cSld>
  <p:transition spd="slow">
    <p:wipe dir="r"/>
  </p:transition>
  <p:timing>
    <p:tnLst>
      <p:par>
        <p:cTn id="50" dur="indefinite" restart="never" nodeType="tmRoot">
          <p:childTnLst>
            <p:seq>
              <p:cTn id="51" dur="indefinite" nodeType="mainSeq">
                <p:childTnLst>
                  <p:par>
                    <p:cTn id="52" nodeType="clickEffect" fill="hold">
                      <p:stCondLst>
                        <p:cond delay="indefinite"/>
                      </p:stCondLst>
                      <p:childTnLst>
                        <p:par>
                          <p:cTn id="53" nodeType="withEffect" fill="hold">
                            <p:stCondLst>
                              <p:cond delay="0"/>
                            </p:stCondLst>
                            <p:childTnLst>
                              <p:par>
                                <p:cTn id="54" nodeType="clickEffect" fill="hold" presetClass="entr" presetID="22" presetSubtype="8">
                                  <p:stCondLst>
                                    <p:cond delay="0"/>
                                  </p:stCondLst>
                                  <p:childTnLst>
                                    <p:set>
                                      <p:cBhvr>
                                        <p:cTn id="55" dur="1" fill="hold">
                                          <p:stCondLst>
                                            <p:cond delay="0"/>
                                          </p:stCondLst>
                                        </p:cTn>
                                        <p:tgtEl>
                                          <p:spTgt spid="51">
                                            <p:txEl>
                                              <p:pRg st="1" end="1"/>
                                            </p:txEl>
                                          </p:spTgt>
                                        </p:tgtEl>
                                        <p:attrNameLst>
                                          <p:attrName>style.visibility</p:attrName>
                                        </p:attrNameLst>
                                      </p:cBhvr>
                                      <p:to>
                                        <p:strVal val="visible"/>
                                      </p:to>
                                    </p:set>
                                    <p:animEffect filter="wipe(left)" transition="in">
                                      <p:cBhvr additive="repl">
                                        <p:cTn id="56" dur="500"/>
                                        <p:tgtEl>
                                          <p:spTgt spid="51">
                                            <p:txEl>
                                              <p:pRg st="1" end="1"/>
                                            </p:txEl>
                                          </p:spTgt>
                                        </p:tgtEl>
                                      </p:cBhvr>
                                    </p:animEffect>
                                  </p:childTnLst>
                                </p:cTn>
                              </p:par>
                            </p:childTnLst>
                          </p:cTn>
                        </p:par>
                      </p:childTnLst>
                    </p:cTn>
                  </p:par>
                  <p:par>
                    <p:cTn id="57" nodeType="clickEffect" fill="hold">
                      <p:stCondLst>
                        <p:cond delay="indefinite"/>
                      </p:stCondLst>
                      <p:childTnLst>
                        <p:par>
                          <p:cTn id="58" nodeType="withEffect" fill="hold">
                            <p:stCondLst>
                              <p:cond delay="0"/>
                            </p:stCondLst>
                            <p:childTnLst>
                              <p:par>
                                <p:cTn id="59" nodeType="clickEffect" fill="hold" presetClass="entr" presetID="22" presetSubtype="8">
                                  <p:stCondLst>
                                    <p:cond delay="0"/>
                                  </p:stCondLst>
                                  <p:childTnLst>
                                    <p:set>
                                      <p:cBhvr>
                                        <p:cTn id="60" dur="1" fill="hold">
                                          <p:stCondLst>
                                            <p:cond delay="0"/>
                                          </p:stCondLst>
                                        </p:cTn>
                                        <p:tgtEl>
                                          <p:spTgt spid="51">
                                            <p:txEl>
                                              <p:pRg st="2" end="2"/>
                                            </p:txEl>
                                          </p:spTgt>
                                        </p:tgtEl>
                                        <p:attrNameLst>
                                          <p:attrName>style.visibility</p:attrName>
                                        </p:attrNameLst>
                                      </p:cBhvr>
                                      <p:to>
                                        <p:strVal val="visible"/>
                                      </p:to>
                                    </p:set>
                                    <p:animEffect filter="wipe(left)" transition="in">
                                      <p:cBhvr additive="repl">
                                        <p:cTn id="61" dur="500"/>
                                        <p:tgtEl>
                                          <p:spTgt spid="51">
                                            <p:txEl>
                                              <p:pRg st="2" end="2"/>
                                            </p:txEl>
                                          </p:spTgt>
                                        </p:tgtEl>
                                      </p:cBhvr>
                                    </p:animEffect>
                                  </p:childTnLst>
                                </p:cTn>
                              </p:par>
                            </p:childTnLst>
                          </p:cTn>
                        </p:par>
                      </p:childTnLst>
                    </p:cTn>
                  </p:par>
                  <p:par>
                    <p:cTn id="62" nodeType="clickEffect" fill="hold">
                      <p:stCondLst>
                        <p:cond delay="indefinite"/>
                      </p:stCondLst>
                      <p:childTnLst>
                        <p:par>
                          <p:cTn id="63" nodeType="withEffect" fill="hold">
                            <p:stCondLst>
                              <p:cond delay="0"/>
                            </p:stCondLst>
                            <p:childTnLst>
                              <p:par>
                                <p:cTn id="64" nodeType="clickEffect" fill="hold" presetClass="entr" presetID="22" presetSubtype="8">
                                  <p:stCondLst>
                                    <p:cond delay="0"/>
                                  </p:stCondLst>
                                  <p:childTnLst>
                                    <p:set>
                                      <p:cBhvr>
                                        <p:cTn id="65" dur="1" fill="hold">
                                          <p:stCondLst>
                                            <p:cond delay="0"/>
                                          </p:stCondLst>
                                        </p:cTn>
                                        <p:tgtEl>
                                          <p:spTgt spid="51">
                                            <p:txEl>
                                              <p:pRg st="3" end="3"/>
                                            </p:txEl>
                                          </p:spTgt>
                                        </p:tgtEl>
                                        <p:attrNameLst>
                                          <p:attrName>style.visibility</p:attrName>
                                        </p:attrNameLst>
                                      </p:cBhvr>
                                      <p:to>
                                        <p:strVal val="visible"/>
                                      </p:to>
                                    </p:set>
                                    <p:animEffect filter="wipe(left)" transition="in">
                                      <p:cBhvr additive="repl">
                                        <p:cTn id="66" dur="500"/>
                                        <p:tgtEl>
                                          <p:spTgt spid="51">
                                            <p:txEl>
                                              <p:pRg st="3" end="3"/>
                                            </p:txEl>
                                          </p:spTgt>
                                        </p:tgtEl>
                                      </p:cBhvr>
                                    </p:animEffect>
                                  </p:childTnLst>
                                </p:cTn>
                              </p:par>
                            </p:childTnLst>
                          </p:cTn>
                        </p:par>
                      </p:childTnLst>
                    </p:cTn>
                  </p:par>
                  <p:par>
                    <p:cTn id="67" nodeType="clickEffect" fill="hold">
                      <p:stCondLst>
                        <p:cond delay="indefinite"/>
                      </p:stCondLst>
                      <p:childTnLst>
                        <p:par>
                          <p:cTn id="68" nodeType="withEffect" fill="hold">
                            <p:stCondLst>
                              <p:cond delay="0"/>
                            </p:stCondLst>
                            <p:childTnLst>
                              <p:par>
                                <p:cTn id="69" nodeType="clickEffect" fill="hold" presetClass="entr" presetID="22" presetSubtype="8">
                                  <p:stCondLst>
                                    <p:cond delay="0"/>
                                  </p:stCondLst>
                                  <p:childTnLst>
                                    <p:set>
                                      <p:cBhvr>
                                        <p:cTn id="70" dur="1" fill="hold">
                                          <p:stCondLst>
                                            <p:cond delay="0"/>
                                          </p:stCondLst>
                                        </p:cTn>
                                        <p:tgtEl>
                                          <p:spTgt spid="51">
                                            <p:txEl>
                                              <p:pRg st="4" end="4"/>
                                            </p:txEl>
                                          </p:spTgt>
                                        </p:tgtEl>
                                        <p:attrNameLst>
                                          <p:attrName>style.visibility</p:attrName>
                                        </p:attrNameLst>
                                      </p:cBhvr>
                                      <p:to>
                                        <p:strVal val="visible"/>
                                      </p:to>
                                    </p:set>
                                    <p:animEffect filter="wipe(left)" transition="in">
                                      <p:cBhvr additive="repl">
                                        <p:cTn id="71" dur="500"/>
                                        <p:tgtEl>
                                          <p:spTgt spid="51">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18.1  WHAT IS OLIGOPOLY?</a:t>
            </a:r>
            <a:endParaRPr b="0" lang="en-CA" sz="2600" strike="noStrike" u="none">
              <a:solidFill>
                <a:schemeClr val="dk1"/>
              </a:solidFill>
              <a:effectLst/>
              <a:uFillTx/>
              <a:latin typeface="Arial"/>
            </a:endParaRPr>
          </a:p>
        </p:txBody>
      </p:sp>
      <p:sp>
        <p:nvSpPr>
          <p:cNvPr id="5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Interdependence</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0" lang="en-CA" sz="2400" strike="noStrike" u="none">
                <a:solidFill>
                  <a:schemeClr val="dk1"/>
                </a:solidFill>
                <a:effectLst/>
                <a:uFillTx/>
                <a:latin typeface="Arial"/>
                <a:ea typeface="ＭＳ Ｐゴシック"/>
              </a:rPr>
              <a:t>When a small number of firms compete in a market, they are interdependent in the sense that the profit earned by each firm depends on the firm’s own actions and on the actions of the other firms.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CA" sz="2400" strike="noStrike" u="none">
                <a:solidFill>
                  <a:schemeClr val="dk1"/>
                </a:solidFill>
                <a:effectLst/>
                <a:uFillTx/>
                <a:latin typeface="Arial"/>
                <a:ea typeface="ＭＳ Ｐゴシック"/>
              </a:rPr>
              <a:t>Before making a decision, each firm must consider how the other firms will react to its decision and influence its profit.</a:t>
            </a:r>
            <a:endParaRPr b="1" lang="en-CA" sz="2400" strike="noStrike" u="none">
              <a:solidFill>
                <a:srgbClr val="00468f"/>
              </a:solidFill>
              <a:effectLst/>
              <a:uFillTx/>
              <a:latin typeface="Arial"/>
            </a:endParaRPr>
          </a:p>
        </p:txBody>
      </p:sp>
    </p:spTree>
  </p:cSld>
  <p:transition spd="slow">
    <p:wipe dir="r"/>
  </p:transition>
  <p:timing>
    <p:tnLst>
      <p:par>
        <p:cTn id="72" dur="indefinite" restart="never" nodeType="tmRoot">
          <p:childTnLst>
            <p:seq>
              <p:cTn id="73" dur="indefinite" nodeType="mainSeq">
                <p:childTnLst>
                  <p:par>
                    <p:cTn id="74" nodeType="clickEffect" fill="hold">
                      <p:stCondLst>
                        <p:cond delay="indefinite"/>
                      </p:stCondLst>
                      <p:childTnLst>
                        <p:par>
                          <p:cTn id="75" nodeType="withEffect" fill="hold">
                            <p:stCondLst>
                              <p:cond delay="0"/>
                            </p:stCondLst>
                            <p:childTnLst>
                              <p:par>
                                <p:cTn id="76" nodeType="clickEffect" fill="hold" presetClass="entr" presetID="22" presetSubtype="8">
                                  <p:stCondLst>
                                    <p:cond delay="0"/>
                                  </p:stCondLst>
                                  <p:childTnLst>
                                    <p:set>
                                      <p:cBhvr>
                                        <p:cTn id="77" dur="1" fill="hold">
                                          <p:stCondLst>
                                            <p:cond delay="0"/>
                                          </p:stCondLst>
                                        </p:cTn>
                                        <p:tgtEl>
                                          <p:spTgt spid="53">
                                            <p:txEl>
                                              <p:pRg st="1" end="1"/>
                                            </p:txEl>
                                          </p:spTgt>
                                        </p:tgtEl>
                                        <p:attrNameLst>
                                          <p:attrName>style.visibility</p:attrName>
                                        </p:attrNameLst>
                                      </p:cBhvr>
                                      <p:to>
                                        <p:strVal val="visible"/>
                                      </p:to>
                                    </p:set>
                                    <p:animEffect filter="wipe(left)" transition="in">
                                      <p:cBhvr additive="repl">
                                        <p:cTn id="78" dur="500"/>
                                        <p:tgtEl>
                                          <p:spTgt spid="53">
                                            <p:txEl>
                                              <p:pRg st="1" end="1"/>
                                            </p:txEl>
                                          </p:spTgt>
                                        </p:tgtEl>
                                      </p:cBhvr>
                                    </p:animEffect>
                                  </p:childTnLst>
                                </p:cTn>
                              </p:par>
                            </p:childTnLst>
                          </p:cTn>
                        </p:par>
                      </p:childTnLst>
                    </p:cTn>
                  </p:par>
                  <p:par>
                    <p:cTn id="79" nodeType="clickEffect" fill="hold">
                      <p:stCondLst>
                        <p:cond delay="indefinite"/>
                      </p:stCondLst>
                      <p:childTnLst>
                        <p:par>
                          <p:cTn id="80" nodeType="withEffect" fill="hold">
                            <p:stCondLst>
                              <p:cond delay="0"/>
                            </p:stCondLst>
                            <p:childTnLst>
                              <p:par>
                                <p:cTn id="81" nodeType="clickEffect" fill="hold" presetClass="entr" presetID="22" presetSubtype="8">
                                  <p:stCondLst>
                                    <p:cond delay="0"/>
                                  </p:stCondLst>
                                  <p:childTnLst>
                                    <p:set>
                                      <p:cBhvr>
                                        <p:cTn id="82" dur="1" fill="hold">
                                          <p:stCondLst>
                                            <p:cond delay="0"/>
                                          </p:stCondLst>
                                        </p:cTn>
                                        <p:tgtEl>
                                          <p:spTgt spid="53">
                                            <p:txEl>
                                              <p:pRg st="2" end="2"/>
                                            </p:txEl>
                                          </p:spTgt>
                                        </p:tgtEl>
                                        <p:attrNameLst>
                                          <p:attrName>style.visibility</p:attrName>
                                        </p:attrNameLst>
                                      </p:cBhvr>
                                      <p:to>
                                        <p:strVal val="visible"/>
                                      </p:to>
                                    </p:set>
                                    <p:animEffect filter="wipe(left)" transition="in">
                                      <p:cBhvr additive="repl">
                                        <p:cTn id="83" dur="500"/>
                                        <p:tgtEl>
                                          <p:spTgt spid="53">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18.1  WHAT IS OLIGOPOLY?</a:t>
            </a:r>
            <a:endParaRPr b="0" lang="en-CA" sz="2600" strike="noStrike" u="none">
              <a:solidFill>
                <a:schemeClr val="dk1"/>
              </a:solidFill>
              <a:effectLst/>
              <a:uFillTx/>
              <a:latin typeface="Arial"/>
            </a:endParaRPr>
          </a:p>
        </p:txBody>
      </p:sp>
      <p:sp>
        <p:nvSpPr>
          <p:cNvPr id="55"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Temptation to Collude</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0" lang="en-CA" sz="2400" strike="noStrike" u="none">
                <a:solidFill>
                  <a:schemeClr val="dk1"/>
                </a:solidFill>
                <a:effectLst/>
                <a:uFillTx/>
                <a:latin typeface="Arial"/>
                <a:ea typeface="ＭＳ Ｐゴシック"/>
              </a:rPr>
              <a:t>When a small number of firms share a market, they can increase their profit by forming a cartel and acting like a monopoly.</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CA" sz="2400" strike="noStrike" u="none">
                <a:solidFill>
                  <a:schemeClr val="dk1"/>
                </a:solidFill>
                <a:effectLst/>
                <a:uFillTx/>
                <a:latin typeface="Arial"/>
                <a:ea typeface="ＭＳ Ｐゴシック"/>
              </a:rPr>
              <a:t>A </a:t>
            </a:r>
            <a:r>
              <a:rPr b="1" lang="en-CA" sz="2400" strike="noStrike" u="none">
                <a:solidFill>
                  <a:srgbClr val="ff0000"/>
                </a:solidFill>
                <a:effectLst/>
                <a:uFillTx/>
                <a:latin typeface="Arial"/>
                <a:ea typeface="ＭＳ Ｐゴシック"/>
              </a:rPr>
              <a:t>cartel</a:t>
            </a:r>
            <a:r>
              <a:rPr b="0" lang="en-CA" sz="2400" strike="noStrike" u="none">
                <a:solidFill>
                  <a:schemeClr val="dk1"/>
                </a:solidFill>
                <a:effectLst/>
                <a:uFillTx/>
                <a:latin typeface="Arial"/>
                <a:ea typeface="ＭＳ Ｐゴシック"/>
              </a:rPr>
              <a:t> is a group of firms acting together to limit output, raise price, and increase economic profit.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CA" sz="2400" strike="noStrike" u="none">
                <a:solidFill>
                  <a:schemeClr val="dk1"/>
                </a:solidFill>
                <a:effectLst/>
                <a:uFillTx/>
                <a:latin typeface="Arial"/>
                <a:ea typeface="ＭＳ Ｐゴシック"/>
              </a:rPr>
              <a:t>Cartels are illegal but they do operate in some markets.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CA" sz="2400" strike="noStrike" u="none">
                <a:solidFill>
                  <a:schemeClr val="dk1"/>
                </a:solidFill>
                <a:effectLst/>
                <a:uFillTx/>
                <a:latin typeface="Arial"/>
                <a:ea typeface="ＭＳ Ｐゴシック"/>
              </a:rPr>
              <a:t>Despite the temptation to collude, cartels tend to collapse. (We explain why in the final section.)</a:t>
            </a:r>
            <a:endParaRPr b="1" lang="en-CA" sz="2400" strike="noStrike" u="none">
              <a:solidFill>
                <a:srgbClr val="00468f"/>
              </a:solidFill>
              <a:effectLst/>
              <a:uFillTx/>
              <a:latin typeface="Arial"/>
            </a:endParaRPr>
          </a:p>
        </p:txBody>
      </p:sp>
    </p:spTree>
  </p:cSld>
  <p:transition spd="slow">
    <p:wipe dir="r"/>
  </p:transition>
  <p:timing>
    <p:tnLst>
      <p:par>
        <p:cTn id="84" dur="indefinite" restart="never" nodeType="tmRoot">
          <p:childTnLst>
            <p:seq>
              <p:cTn id="85" dur="indefinite" nodeType="mainSeq">
                <p:childTnLst>
                  <p:par>
                    <p:cTn id="86" nodeType="clickEffect" fill="hold">
                      <p:stCondLst>
                        <p:cond delay="indefinite"/>
                      </p:stCondLst>
                      <p:childTnLst>
                        <p:par>
                          <p:cTn id="87" nodeType="withEffect" fill="hold">
                            <p:stCondLst>
                              <p:cond delay="0"/>
                            </p:stCondLst>
                            <p:childTnLst>
                              <p:par>
                                <p:cTn id="88" nodeType="clickEffect" fill="hold" presetClass="entr" presetID="22" presetSubtype="8">
                                  <p:stCondLst>
                                    <p:cond delay="0"/>
                                  </p:stCondLst>
                                  <p:childTnLst>
                                    <p:set>
                                      <p:cBhvr>
                                        <p:cTn id="89" dur="1" fill="hold">
                                          <p:stCondLst>
                                            <p:cond delay="0"/>
                                          </p:stCondLst>
                                        </p:cTn>
                                        <p:tgtEl>
                                          <p:spTgt spid="55">
                                            <p:txEl>
                                              <p:pRg st="1" end="1"/>
                                            </p:txEl>
                                          </p:spTgt>
                                        </p:tgtEl>
                                        <p:attrNameLst>
                                          <p:attrName>style.visibility</p:attrName>
                                        </p:attrNameLst>
                                      </p:cBhvr>
                                      <p:to>
                                        <p:strVal val="visible"/>
                                      </p:to>
                                    </p:set>
                                    <p:animEffect filter="wipe(left)" transition="in">
                                      <p:cBhvr additive="repl">
                                        <p:cTn id="90" dur="500"/>
                                        <p:tgtEl>
                                          <p:spTgt spid="55">
                                            <p:txEl>
                                              <p:pRg st="1" end="1"/>
                                            </p:txEl>
                                          </p:spTgt>
                                        </p:tgtEl>
                                      </p:cBhvr>
                                    </p:animEffect>
                                  </p:childTnLst>
                                </p:cTn>
                              </p:par>
                            </p:childTnLst>
                          </p:cTn>
                        </p:par>
                      </p:childTnLst>
                    </p:cTn>
                  </p:par>
                  <p:par>
                    <p:cTn id="91" nodeType="clickEffect" fill="hold">
                      <p:stCondLst>
                        <p:cond delay="indefinite"/>
                      </p:stCondLst>
                      <p:childTnLst>
                        <p:par>
                          <p:cTn id="92" nodeType="withEffect" fill="hold">
                            <p:stCondLst>
                              <p:cond delay="0"/>
                            </p:stCondLst>
                            <p:childTnLst>
                              <p:par>
                                <p:cTn id="93" nodeType="clickEffect" fill="hold" presetClass="entr" presetID="22" presetSubtype="8">
                                  <p:stCondLst>
                                    <p:cond delay="0"/>
                                  </p:stCondLst>
                                  <p:childTnLst>
                                    <p:set>
                                      <p:cBhvr>
                                        <p:cTn id="94" dur="1" fill="hold">
                                          <p:stCondLst>
                                            <p:cond delay="0"/>
                                          </p:stCondLst>
                                        </p:cTn>
                                        <p:tgtEl>
                                          <p:spTgt spid="55">
                                            <p:txEl>
                                              <p:pRg st="2" end="2"/>
                                            </p:txEl>
                                          </p:spTgt>
                                        </p:tgtEl>
                                        <p:attrNameLst>
                                          <p:attrName>style.visibility</p:attrName>
                                        </p:attrNameLst>
                                      </p:cBhvr>
                                      <p:to>
                                        <p:strVal val="visible"/>
                                      </p:to>
                                    </p:set>
                                    <p:animEffect filter="wipe(left)" transition="in">
                                      <p:cBhvr additive="repl">
                                        <p:cTn id="95" dur="500"/>
                                        <p:tgtEl>
                                          <p:spTgt spid="55">
                                            <p:txEl>
                                              <p:pRg st="2" end="2"/>
                                            </p:txEl>
                                          </p:spTgt>
                                        </p:tgtEl>
                                      </p:cBhvr>
                                    </p:animEffect>
                                  </p:childTnLst>
                                </p:cTn>
                              </p:par>
                            </p:childTnLst>
                          </p:cTn>
                        </p:par>
                      </p:childTnLst>
                    </p:cTn>
                  </p:par>
                  <p:par>
                    <p:cTn id="96" nodeType="clickEffect" fill="hold">
                      <p:stCondLst>
                        <p:cond delay="indefinite"/>
                      </p:stCondLst>
                      <p:childTnLst>
                        <p:par>
                          <p:cTn id="97" nodeType="withEffect" fill="hold">
                            <p:stCondLst>
                              <p:cond delay="0"/>
                            </p:stCondLst>
                            <p:childTnLst>
                              <p:par>
                                <p:cTn id="98" nodeType="clickEffect" fill="hold" presetClass="entr" presetID="22" presetSubtype="8">
                                  <p:stCondLst>
                                    <p:cond delay="0"/>
                                  </p:stCondLst>
                                  <p:childTnLst>
                                    <p:set>
                                      <p:cBhvr>
                                        <p:cTn id="99" dur="1" fill="hold">
                                          <p:stCondLst>
                                            <p:cond delay="0"/>
                                          </p:stCondLst>
                                        </p:cTn>
                                        <p:tgtEl>
                                          <p:spTgt spid="55">
                                            <p:txEl>
                                              <p:pRg st="3" end="3"/>
                                            </p:txEl>
                                          </p:spTgt>
                                        </p:tgtEl>
                                        <p:attrNameLst>
                                          <p:attrName>style.visibility</p:attrName>
                                        </p:attrNameLst>
                                      </p:cBhvr>
                                      <p:to>
                                        <p:strVal val="visible"/>
                                      </p:to>
                                    </p:set>
                                    <p:animEffect filter="wipe(left)" transition="in">
                                      <p:cBhvr additive="repl">
                                        <p:cTn id="100" dur="500"/>
                                        <p:tgtEl>
                                          <p:spTgt spid="55">
                                            <p:txEl>
                                              <p:pRg st="3" end="3"/>
                                            </p:txEl>
                                          </p:spTgt>
                                        </p:tgtEl>
                                      </p:cBhvr>
                                    </p:animEffect>
                                  </p:childTnLst>
                                </p:cTn>
                              </p:par>
                            </p:childTnLst>
                          </p:cTn>
                        </p:par>
                      </p:childTnLst>
                    </p:cTn>
                  </p:par>
                  <p:par>
                    <p:cTn id="101" nodeType="clickEffect" fill="hold">
                      <p:stCondLst>
                        <p:cond delay="indefinite"/>
                      </p:stCondLst>
                      <p:childTnLst>
                        <p:par>
                          <p:cTn id="102" nodeType="withEffect" fill="hold">
                            <p:stCondLst>
                              <p:cond delay="0"/>
                            </p:stCondLst>
                            <p:childTnLst>
                              <p:par>
                                <p:cTn id="103" nodeType="clickEffect" fill="hold" presetClass="entr" presetID="22" presetSubtype="8">
                                  <p:stCondLst>
                                    <p:cond delay="0"/>
                                  </p:stCondLst>
                                  <p:childTnLst>
                                    <p:set>
                                      <p:cBhvr>
                                        <p:cTn id="104" dur="1" fill="hold">
                                          <p:stCondLst>
                                            <p:cond delay="0"/>
                                          </p:stCondLst>
                                        </p:cTn>
                                        <p:tgtEl>
                                          <p:spTgt spid="55">
                                            <p:txEl>
                                              <p:pRg st="4" end="4"/>
                                            </p:txEl>
                                          </p:spTgt>
                                        </p:tgtEl>
                                        <p:attrNameLst>
                                          <p:attrName>style.visibility</p:attrName>
                                        </p:attrNameLst>
                                      </p:cBhvr>
                                      <p:to>
                                        <p:strVal val="visible"/>
                                      </p:to>
                                    </p:set>
                                    <p:animEffect filter="wipe(left)" transition="in">
                                      <p:cBhvr additive="repl">
                                        <p:cTn id="105" dur="500"/>
                                        <p:tgtEl>
                                          <p:spTgt spid="55">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18.1  WHAT IS OLIGOPOLY?</a:t>
            </a:r>
            <a:endParaRPr b="0" lang="en-CA" sz="2600" strike="noStrike" u="none">
              <a:solidFill>
                <a:schemeClr val="dk1"/>
              </a:solidFill>
              <a:effectLst/>
              <a:uFillTx/>
              <a:latin typeface="Arial"/>
            </a:endParaRPr>
          </a:p>
        </p:txBody>
      </p:sp>
      <p:sp>
        <p:nvSpPr>
          <p:cNvPr id="57"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Barriers to Entry</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CA" sz="2400" strike="noStrike" u="none">
                <a:solidFill>
                  <a:schemeClr val="dk1"/>
                </a:solidFill>
                <a:effectLst/>
                <a:uFillTx/>
                <a:latin typeface="Arial"/>
                <a:ea typeface="ＭＳ Ｐゴシック"/>
              </a:rPr>
              <a:t>Either natural or legal barriers to entry can create an oligopoly.</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CA" sz="2400" strike="noStrike" u="none">
                <a:solidFill>
                  <a:schemeClr val="dk1"/>
                </a:solidFill>
                <a:effectLst/>
                <a:uFillTx/>
                <a:latin typeface="Arial"/>
                <a:ea typeface="ＭＳ Ｐゴシック"/>
              </a:rPr>
              <a:t>Natural barriers arise from the combination of the demand for a product and economies of scale in producing it.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CA" sz="2400" strike="noStrike" u="none">
                <a:solidFill>
                  <a:schemeClr val="dk1"/>
                </a:solidFill>
                <a:effectLst/>
                <a:uFillTx/>
                <a:latin typeface="Arial"/>
                <a:ea typeface="ＭＳ Ｐゴシック"/>
              </a:rPr>
              <a:t>If the demand for a product limits the market to a small number the firms that can earn an economic profit, there is a natural oligopoly.</a:t>
            </a:r>
            <a:endParaRPr b="1" lang="en-CA" sz="2400" strike="noStrike" u="none">
              <a:solidFill>
                <a:srgbClr val="00468f"/>
              </a:solidFill>
              <a:effectLst/>
              <a:uFillTx/>
              <a:latin typeface="Arial"/>
            </a:endParaRPr>
          </a:p>
        </p:txBody>
      </p:sp>
    </p:spTree>
  </p:cSld>
  <p:transition spd="slow">
    <p:wipe dir="r"/>
  </p:transition>
  <p:timing>
    <p:tnLst>
      <p:par>
        <p:cTn id="106" dur="indefinite" restart="never" nodeType="tmRoot">
          <p:childTnLst>
            <p:seq>
              <p:cTn id="107" dur="indefinite" nodeType="mainSeq">
                <p:childTnLst>
                  <p:par>
                    <p:cTn id="108" nodeType="clickEffect" fill="hold">
                      <p:stCondLst>
                        <p:cond delay="indefinite"/>
                      </p:stCondLst>
                      <p:childTnLst>
                        <p:par>
                          <p:cTn id="109" nodeType="withEffect" fill="hold">
                            <p:stCondLst>
                              <p:cond delay="0"/>
                            </p:stCondLst>
                            <p:childTnLst>
                              <p:par>
                                <p:cTn id="110" nodeType="clickEffect" fill="hold" presetClass="entr" presetID="22" presetSubtype="8">
                                  <p:stCondLst>
                                    <p:cond delay="0"/>
                                  </p:stCondLst>
                                  <p:childTnLst>
                                    <p:set>
                                      <p:cBhvr>
                                        <p:cTn id="111" dur="1" fill="hold">
                                          <p:stCondLst>
                                            <p:cond delay="0"/>
                                          </p:stCondLst>
                                        </p:cTn>
                                        <p:tgtEl>
                                          <p:spTgt spid="57">
                                            <p:txEl>
                                              <p:pRg st="1" end="1"/>
                                            </p:txEl>
                                          </p:spTgt>
                                        </p:tgtEl>
                                        <p:attrNameLst>
                                          <p:attrName>style.visibility</p:attrName>
                                        </p:attrNameLst>
                                      </p:cBhvr>
                                      <p:to>
                                        <p:strVal val="visible"/>
                                      </p:to>
                                    </p:set>
                                    <p:animEffect filter="wipe(left)" transition="in">
                                      <p:cBhvr additive="repl">
                                        <p:cTn id="112" dur="500"/>
                                        <p:tgtEl>
                                          <p:spTgt spid="57">
                                            <p:txEl>
                                              <p:pRg st="1" end="1"/>
                                            </p:txEl>
                                          </p:spTgt>
                                        </p:tgtEl>
                                      </p:cBhvr>
                                    </p:animEffect>
                                  </p:childTnLst>
                                </p:cTn>
                              </p:par>
                            </p:childTnLst>
                          </p:cTn>
                        </p:par>
                      </p:childTnLst>
                    </p:cTn>
                  </p:par>
                  <p:par>
                    <p:cTn id="113" nodeType="clickEffect" fill="hold">
                      <p:stCondLst>
                        <p:cond delay="indefinite"/>
                      </p:stCondLst>
                      <p:childTnLst>
                        <p:par>
                          <p:cTn id="114" nodeType="withEffect" fill="hold">
                            <p:stCondLst>
                              <p:cond delay="0"/>
                            </p:stCondLst>
                            <p:childTnLst>
                              <p:par>
                                <p:cTn id="115" nodeType="clickEffect" fill="hold" presetClass="entr" presetID="22" presetSubtype="8">
                                  <p:stCondLst>
                                    <p:cond delay="0"/>
                                  </p:stCondLst>
                                  <p:childTnLst>
                                    <p:set>
                                      <p:cBhvr>
                                        <p:cTn id="116" dur="1" fill="hold">
                                          <p:stCondLst>
                                            <p:cond delay="0"/>
                                          </p:stCondLst>
                                        </p:cTn>
                                        <p:tgtEl>
                                          <p:spTgt spid="57">
                                            <p:txEl>
                                              <p:pRg st="2" end="2"/>
                                            </p:txEl>
                                          </p:spTgt>
                                        </p:tgtEl>
                                        <p:attrNameLst>
                                          <p:attrName>style.visibility</p:attrName>
                                        </p:attrNameLst>
                                      </p:cBhvr>
                                      <p:to>
                                        <p:strVal val="visible"/>
                                      </p:to>
                                    </p:set>
                                    <p:animEffect filter="wipe(left)" transition="in">
                                      <p:cBhvr additive="repl">
                                        <p:cTn id="117" dur="500"/>
                                        <p:tgtEl>
                                          <p:spTgt spid="57">
                                            <p:txEl>
                                              <p:pRg st="2" end="2"/>
                                            </p:txEl>
                                          </p:spTgt>
                                        </p:tgtEl>
                                      </p:cBhvr>
                                    </p:animEffect>
                                  </p:childTnLst>
                                </p:cTn>
                              </p:par>
                            </p:childTnLst>
                          </p:cTn>
                        </p:par>
                      </p:childTnLst>
                    </p:cTn>
                  </p:par>
                  <p:par>
                    <p:cTn id="118" nodeType="clickEffect" fill="hold">
                      <p:stCondLst>
                        <p:cond delay="indefinite"/>
                      </p:stCondLst>
                      <p:childTnLst>
                        <p:par>
                          <p:cTn id="119" nodeType="withEffect" fill="hold">
                            <p:stCondLst>
                              <p:cond delay="0"/>
                            </p:stCondLst>
                            <p:childTnLst>
                              <p:par>
                                <p:cTn id="120" nodeType="clickEffect" fill="hold" presetClass="entr" presetID="22" presetSubtype="8">
                                  <p:stCondLst>
                                    <p:cond delay="0"/>
                                  </p:stCondLst>
                                  <p:childTnLst>
                                    <p:set>
                                      <p:cBhvr>
                                        <p:cTn id="121" dur="1" fill="hold">
                                          <p:stCondLst>
                                            <p:cond delay="0"/>
                                          </p:stCondLst>
                                        </p:cTn>
                                        <p:tgtEl>
                                          <p:spTgt spid="57">
                                            <p:txEl>
                                              <p:pRg st="3" end="3"/>
                                            </p:txEl>
                                          </p:spTgt>
                                        </p:tgtEl>
                                        <p:attrNameLst>
                                          <p:attrName>style.visibility</p:attrName>
                                        </p:attrNameLst>
                                      </p:cBhvr>
                                      <p:to>
                                        <p:strVal val="visible"/>
                                      </p:to>
                                    </p:set>
                                    <p:animEffect filter="wipe(left)" transition="in">
                                      <p:cBhvr additive="repl">
                                        <p:cTn id="122" dur="500"/>
                                        <p:tgtEl>
                                          <p:spTgt spid="57">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18.1  WHAT IS OLIGOPOLY?</a:t>
            </a:r>
            <a:endParaRPr b="0" lang="en-CA" sz="2600" strike="noStrike" u="none">
              <a:solidFill>
                <a:schemeClr val="dk1"/>
              </a:solidFill>
              <a:effectLst/>
              <a:uFillTx/>
              <a:latin typeface="Arial"/>
            </a:endParaRPr>
          </a:p>
        </p:txBody>
      </p:sp>
      <p:pic>
        <p:nvPicPr>
          <p:cNvPr id="59" name="Picture 22" descr="fig17.01a.gif"/>
          <p:cNvPicPr/>
          <p:nvPr/>
        </p:nvPicPr>
        <p:blipFill>
          <a:blip r:embed="rId1"/>
          <a:stretch/>
        </p:blipFill>
        <p:spPr>
          <a:xfrm>
            <a:off x="4500720" y="1511280"/>
            <a:ext cx="4113000" cy="4393800"/>
          </a:xfrm>
          <a:prstGeom prst="rect">
            <a:avLst/>
          </a:prstGeom>
          <a:noFill/>
          <a:ln w="0">
            <a:noFill/>
          </a:ln>
        </p:spPr>
      </p:pic>
      <p:pic>
        <p:nvPicPr>
          <p:cNvPr id="60" name="Picture 23" descr="fig17.01b.gif"/>
          <p:cNvPicPr/>
          <p:nvPr/>
        </p:nvPicPr>
        <p:blipFill>
          <a:blip r:embed="rId2"/>
          <a:stretch/>
        </p:blipFill>
        <p:spPr>
          <a:xfrm>
            <a:off x="4500720" y="1511280"/>
            <a:ext cx="4113000" cy="4393800"/>
          </a:xfrm>
          <a:prstGeom prst="rect">
            <a:avLst/>
          </a:prstGeom>
          <a:noFill/>
          <a:ln w="0">
            <a:noFill/>
          </a:ln>
        </p:spPr>
      </p:pic>
      <p:pic>
        <p:nvPicPr>
          <p:cNvPr id="61" name="Picture 24" descr="fig17.01c.gif"/>
          <p:cNvPicPr/>
          <p:nvPr/>
        </p:nvPicPr>
        <p:blipFill>
          <a:blip r:embed="rId3"/>
          <a:stretch/>
        </p:blipFill>
        <p:spPr>
          <a:xfrm>
            <a:off x="4500720" y="1511280"/>
            <a:ext cx="4113000" cy="4393800"/>
          </a:xfrm>
          <a:prstGeom prst="rect">
            <a:avLst/>
          </a:prstGeom>
          <a:noFill/>
          <a:ln w="0">
            <a:noFill/>
          </a:ln>
        </p:spPr>
      </p:pic>
      <p:pic>
        <p:nvPicPr>
          <p:cNvPr id="62" name="Picture 25" descr="fig17.01d.gif"/>
          <p:cNvPicPr/>
          <p:nvPr/>
        </p:nvPicPr>
        <p:blipFill>
          <a:blip r:embed="rId4"/>
          <a:stretch/>
        </p:blipFill>
        <p:spPr>
          <a:xfrm>
            <a:off x="4500720" y="1511280"/>
            <a:ext cx="4113000" cy="4393800"/>
          </a:xfrm>
          <a:prstGeom prst="rect">
            <a:avLst/>
          </a:prstGeom>
          <a:noFill/>
          <a:ln w="0">
            <a:noFill/>
          </a:ln>
        </p:spPr>
      </p:pic>
      <p:sp>
        <p:nvSpPr>
          <p:cNvPr id="63" name="PlaceHolder 2"/>
          <p:cNvSpPr>
            <a:spLocks noGrp="1"/>
          </p:cNvSpPr>
          <p:nvPr>
            <p:ph/>
          </p:nvPr>
        </p:nvSpPr>
        <p:spPr>
          <a:xfrm>
            <a:off x="360360" y="1440000"/>
            <a:ext cx="5735160" cy="4647960"/>
          </a:xfrm>
          <a:prstGeom prst="rect">
            <a:avLst/>
          </a:prstGeom>
          <a:noFill/>
          <a:ln w="0">
            <a:noFill/>
          </a:ln>
        </p:spPr>
        <p:txBody>
          <a:bodyPr numCol="1" spcCol="0" lIns="91440" rIns="91440" tIns="45720" bIns="45720" anchor="t">
            <a:noAutofit/>
          </a:bodyPr>
          <a:p>
            <a:pPr marL="358920" indent="0" defTabSz="457200">
              <a:lnSpc>
                <a:spcPct val="100000"/>
              </a:lnSpc>
              <a:spcBef>
                <a:spcPts val="601"/>
              </a:spcBef>
              <a:spcAft>
                <a:spcPts val="601"/>
              </a:spcAft>
              <a:buNone/>
            </a:pPr>
            <a:r>
              <a:rPr b="0" lang="en-CA" sz="2400" strike="noStrike" u="none">
                <a:solidFill>
                  <a:schemeClr val="dk1"/>
                </a:solidFill>
                <a:effectLst/>
                <a:uFillTx/>
                <a:latin typeface="Arial"/>
                <a:ea typeface="ＭＳ Ｐゴシック"/>
              </a:rPr>
              <a:t>Figure 18.1(a) shows the               case of a natural duopoly.</a:t>
            </a:r>
            <a:endParaRPr b="1" lang="en-CA" sz="2400" strike="noStrike" u="none">
              <a:solidFill>
                <a:srgbClr val="00468f"/>
              </a:solidFill>
              <a:effectLst/>
              <a:uFillTx/>
              <a:latin typeface="Arial"/>
            </a:endParaRPr>
          </a:p>
          <a:p>
            <a:pPr marL="358920" indent="0" defTabSz="457200">
              <a:lnSpc>
                <a:spcPct val="100000"/>
              </a:lnSpc>
              <a:spcBef>
                <a:spcPts val="601"/>
              </a:spcBef>
              <a:spcAft>
                <a:spcPts val="601"/>
              </a:spcAft>
              <a:buNone/>
            </a:pPr>
            <a:r>
              <a:rPr b="0" lang="en-CA" sz="2400" strike="noStrike" u="none">
                <a:solidFill>
                  <a:schemeClr val="dk1"/>
                </a:solidFill>
                <a:effectLst/>
                <a:uFillTx/>
                <a:latin typeface="Arial"/>
                <a:ea typeface="ＭＳ Ｐゴシック"/>
              </a:rPr>
              <a:t>A </a:t>
            </a:r>
            <a:r>
              <a:rPr b="1" lang="en-CA" sz="2600" strike="noStrike" u="none">
                <a:solidFill>
                  <a:srgbClr val="ff0000"/>
                </a:solidFill>
                <a:effectLst/>
                <a:uFillTx/>
                <a:latin typeface="Arial"/>
                <a:ea typeface="ＭＳ Ｐゴシック"/>
              </a:rPr>
              <a:t>duopoly</a:t>
            </a:r>
            <a:r>
              <a:rPr b="0" lang="en-CA" sz="2400" strike="noStrike" u="none">
                <a:solidFill>
                  <a:schemeClr val="dk1"/>
                </a:solidFill>
                <a:effectLst/>
                <a:uFillTx/>
                <a:latin typeface="Arial"/>
                <a:ea typeface="ＭＳ Ｐゴシック"/>
              </a:rPr>
              <a:t> is a market                  with two firms.</a:t>
            </a:r>
            <a:endParaRPr b="1" lang="en-CA" sz="2400" strike="noStrike" u="none">
              <a:solidFill>
                <a:srgbClr val="00468f"/>
              </a:solidFill>
              <a:effectLst/>
              <a:uFillTx/>
              <a:latin typeface="Arial"/>
            </a:endParaRPr>
          </a:p>
          <a:p>
            <a:pPr lvl="1" marL="358920" indent="-324000" defTabSz="457200">
              <a:lnSpc>
                <a:spcPct val="100000"/>
              </a:lnSpc>
              <a:spcBef>
                <a:spcPts val="601"/>
              </a:spcBef>
              <a:spcAft>
                <a:spcPts val="601"/>
              </a:spcAft>
              <a:buClr>
                <a:srgbClr val="000000"/>
              </a:buClr>
              <a:buFont typeface="OpenSymbol"/>
              <a:buAutoNum type="arabicPeriod"/>
            </a:pPr>
            <a:r>
              <a:rPr b="0" lang="en-CA" sz="2400" strike="noStrike" u="none">
                <a:solidFill>
                  <a:schemeClr val="dk1"/>
                </a:solidFill>
                <a:effectLst/>
                <a:uFillTx/>
                <a:latin typeface="Arial"/>
                <a:ea typeface="ＭＳ Ｐゴシック"/>
              </a:rPr>
              <a:t>The lowest possible                 price equals minimum              </a:t>
            </a:r>
            <a:r>
              <a:rPr b="0" i="1" lang="en-CA" sz="2400" strike="noStrike" u="none">
                <a:solidFill>
                  <a:schemeClr val="dk1"/>
                </a:solidFill>
                <a:effectLst/>
                <a:uFillTx/>
                <a:latin typeface="Arial"/>
                <a:ea typeface="ＭＳ Ｐゴシック"/>
              </a:rPr>
              <a:t>ATC.</a:t>
            </a:r>
            <a:endParaRPr b="0" lang="en-CA" sz="2400" strike="noStrike" u="none">
              <a:solidFill>
                <a:schemeClr val="dk1"/>
              </a:solidFill>
              <a:effectLst/>
              <a:uFillTx/>
              <a:latin typeface="Arial"/>
            </a:endParaRPr>
          </a:p>
          <a:p>
            <a:pPr lvl="1" marL="358920" indent="-324000" defTabSz="457200">
              <a:lnSpc>
                <a:spcPct val="100000"/>
              </a:lnSpc>
              <a:spcBef>
                <a:spcPts val="601"/>
              </a:spcBef>
              <a:spcAft>
                <a:spcPts val="601"/>
              </a:spcAft>
              <a:buClr>
                <a:srgbClr val="000000"/>
              </a:buClr>
              <a:buFont typeface="OpenSymbol"/>
              <a:buAutoNum type="arabicPeriod"/>
            </a:pPr>
            <a:r>
              <a:rPr b="0" lang="en-CA" sz="2400" strike="noStrike" u="none">
                <a:solidFill>
                  <a:schemeClr val="dk1"/>
                </a:solidFill>
                <a:effectLst/>
                <a:uFillTx/>
                <a:latin typeface="Arial"/>
                <a:ea typeface="ＭＳ Ｐゴシック"/>
              </a:rPr>
              <a:t>The efficient scale is                    30 rides a day.</a:t>
            </a:r>
            <a:endParaRPr b="0" lang="en-CA" sz="2400" strike="noStrike" u="none">
              <a:solidFill>
                <a:schemeClr val="dk1"/>
              </a:solidFill>
              <a:effectLst/>
              <a:uFillTx/>
              <a:latin typeface="Arial"/>
            </a:endParaRPr>
          </a:p>
          <a:p>
            <a:pPr lvl="1" marL="358920" indent="-324000" defTabSz="457200">
              <a:lnSpc>
                <a:spcPct val="100000"/>
              </a:lnSpc>
              <a:spcBef>
                <a:spcPts val="601"/>
              </a:spcBef>
              <a:spcAft>
                <a:spcPts val="601"/>
              </a:spcAft>
              <a:buClr>
                <a:srgbClr val="000000"/>
              </a:buClr>
              <a:buFont typeface="OpenSymbol"/>
              <a:buAutoNum type="arabicPeriod"/>
            </a:pPr>
            <a:r>
              <a:rPr b="0" lang="en-CA" sz="2400" strike="noStrike" u="none">
                <a:solidFill>
                  <a:schemeClr val="dk1"/>
                </a:solidFill>
                <a:effectLst/>
                <a:uFillTx/>
                <a:latin typeface="Arial"/>
                <a:ea typeface="ＭＳ Ｐゴシック"/>
              </a:rPr>
              <a:t>The quantity demanded             (60 rides a day) can be              met by two firms</a:t>
            </a:r>
            <a:r>
              <a:rPr b="0" lang="en-CA" sz="2400" strike="noStrike" u="none">
                <a:solidFill>
                  <a:schemeClr val="dk1"/>
                </a:solidFill>
                <a:effectLst/>
                <a:uFillTx/>
                <a:latin typeface="Arial"/>
                <a:ea typeface="ＭＳ Ｐゴシック"/>
              </a:rPr>
              <a:t>—natural duopoly.</a:t>
            </a:r>
            <a:endParaRPr b="0" lang="en-CA" sz="2400" strike="noStrike" u="none">
              <a:solidFill>
                <a:schemeClr val="dk1"/>
              </a:solidFill>
              <a:effectLst/>
              <a:uFillTx/>
              <a:latin typeface="Arial"/>
            </a:endParaRPr>
          </a:p>
        </p:txBody>
      </p:sp>
    </p:spTree>
  </p:cSld>
  <p:transition spd="slow">
    <p:wipe dir="r"/>
  </p:transition>
  <p:timing>
    <p:tnLst>
      <p:par>
        <p:cTn id="123" dur="indefinite" restart="never" nodeType="tmRoot">
          <p:childTnLst>
            <p:seq>
              <p:cTn id="124" dur="indefinite" nodeType="mainSeq">
                <p:childTnLst>
                  <p:par>
                    <p:cTn id="125" nodeType="clickEffect" fill="hold">
                      <p:stCondLst>
                        <p:cond delay="indefinite"/>
                      </p:stCondLst>
                      <p:childTnLst>
                        <p:par>
                          <p:cTn id="126" nodeType="withEffect" fill="hold">
                            <p:stCondLst>
                              <p:cond delay="0"/>
                            </p:stCondLst>
                            <p:childTnLst>
                              <p:par>
                                <p:cTn id="127" nodeType="clickEffect" fill="hold" presetClass="entr" presetID="22" presetSubtype="8">
                                  <p:stCondLst>
                                    <p:cond delay="0"/>
                                  </p:stCondLst>
                                  <p:childTnLst>
                                    <p:set>
                                      <p:cBhvr>
                                        <p:cTn id="128" dur="1" fill="hold">
                                          <p:stCondLst>
                                            <p:cond delay="0"/>
                                          </p:stCondLst>
                                        </p:cTn>
                                        <p:tgtEl>
                                          <p:spTgt spid="63">
                                            <p:txEl>
                                              <p:pRg st="1" end="1"/>
                                            </p:txEl>
                                          </p:spTgt>
                                        </p:tgtEl>
                                        <p:attrNameLst>
                                          <p:attrName>style.visibility</p:attrName>
                                        </p:attrNameLst>
                                      </p:cBhvr>
                                      <p:to>
                                        <p:strVal val="visible"/>
                                      </p:to>
                                    </p:set>
                                    <p:animEffect filter="wipe(left)" transition="in">
                                      <p:cBhvr additive="repl">
                                        <p:cTn id="129" dur="500"/>
                                        <p:tgtEl>
                                          <p:spTgt spid="63">
                                            <p:txEl>
                                              <p:pRg st="1" end="1"/>
                                            </p:txEl>
                                          </p:spTgt>
                                        </p:tgtEl>
                                      </p:cBhvr>
                                    </p:animEffect>
                                  </p:childTnLst>
                                </p:cTn>
                              </p:par>
                            </p:childTnLst>
                          </p:cTn>
                        </p:par>
                      </p:childTnLst>
                    </p:cTn>
                  </p:par>
                  <p:par>
                    <p:cTn id="130" nodeType="clickEffect" fill="hold">
                      <p:stCondLst>
                        <p:cond delay="indefinite"/>
                      </p:stCondLst>
                      <p:childTnLst>
                        <p:par>
                          <p:cTn id="131" nodeType="withEffect" fill="hold">
                            <p:stCondLst>
                              <p:cond delay="0"/>
                            </p:stCondLst>
                            <p:childTnLst>
                              <p:par>
                                <p:cTn id="132" nodeType="clickEffect" fill="hold" presetClass="entr" presetID="22" presetSubtype="8">
                                  <p:stCondLst>
                                    <p:cond delay="0"/>
                                  </p:stCondLst>
                                  <p:childTnLst>
                                    <p:set>
                                      <p:cBhvr>
                                        <p:cTn id="133" dur="1" fill="hold">
                                          <p:stCondLst>
                                            <p:cond delay="0"/>
                                          </p:stCondLst>
                                        </p:cTn>
                                        <p:tgtEl>
                                          <p:spTgt spid="63">
                                            <p:txEl>
                                              <p:pRg st="2" end="2"/>
                                            </p:txEl>
                                          </p:spTgt>
                                        </p:tgtEl>
                                        <p:attrNameLst>
                                          <p:attrName>style.visibility</p:attrName>
                                        </p:attrNameLst>
                                      </p:cBhvr>
                                      <p:to>
                                        <p:strVal val="visible"/>
                                      </p:to>
                                    </p:set>
                                    <p:animEffect filter="wipe(left)" transition="in">
                                      <p:cBhvr additive="repl">
                                        <p:cTn id="134" dur="500"/>
                                        <p:tgtEl>
                                          <p:spTgt spid="63">
                                            <p:txEl>
                                              <p:pRg st="2" end="2"/>
                                            </p:txEl>
                                          </p:spTgt>
                                        </p:tgtEl>
                                      </p:cBhvr>
                                    </p:animEffect>
                                  </p:childTnLst>
                                </p:cTn>
                              </p:par>
                              <p:par>
                                <p:cTn id="135" nodeType="withEffect" fill="hold" presetClass="entr" presetID="10">
                                  <p:stCondLst>
                                    <p:cond delay="0"/>
                                  </p:stCondLst>
                                  <p:childTnLst>
                                    <p:set>
                                      <p:cBhvr>
                                        <p:cTn id="136" dur="1" fill="hold">
                                          <p:stCondLst>
                                            <p:cond delay="0"/>
                                          </p:stCondLst>
                                        </p:cTn>
                                        <p:tgtEl>
                                          <p:spTgt spid="60"/>
                                        </p:tgtEl>
                                        <p:attrNameLst>
                                          <p:attrName>style.visibility</p:attrName>
                                        </p:attrNameLst>
                                      </p:cBhvr>
                                      <p:to>
                                        <p:strVal val="visible"/>
                                      </p:to>
                                    </p:set>
                                    <p:animEffect filter="fade" transition="in">
                                      <p:cBhvr additive="repl">
                                        <p:cTn id="137" dur="500"/>
                                        <p:tgtEl>
                                          <p:spTgt spid="60"/>
                                        </p:tgtEl>
                                      </p:cBhvr>
                                    </p:animEffect>
                                  </p:childTnLst>
                                </p:cTn>
                              </p:par>
                            </p:childTnLst>
                          </p:cTn>
                        </p:par>
                      </p:childTnLst>
                    </p:cTn>
                  </p:par>
                  <p:par>
                    <p:cTn id="138" nodeType="clickEffect" fill="hold">
                      <p:stCondLst>
                        <p:cond delay="indefinite"/>
                      </p:stCondLst>
                      <p:childTnLst>
                        <p:par>
                          <p:cTn id="139" nodeType="withEffect" fill="hold">
                            <p:stCondLst>
                              <p:cond delay="0"/>
                            </p:stCondLst>
                            <p:childTnLst>
                              <p:par>
                                <p:cTn id="140" nodeType="clickEffect" fill="hold" presetClass="entr" presetID="22" presetSubtype="8">
                                  <p:stCondLst>
                                    <p:cond delay="0"/>
                                  </p:stCondLst>
                                  <p:childTnLst>
                                    <p:set>
                                      <p:cBhvr>
                                        <p:cTn id="141" dur="1" fill="hold">
                                          <p:stCondLst>
                                            <p:cond delay="0"/>
                                          </p:stCondLst>
                                        </p:cTn>
                                        <p:tgtEl>
                                          <p:spTgt spid="63">
                                            <p:txEl>
                                              <p:pRg st="3" end="3"/>
                                            </p:txEl>
                                          </p:spTgt>
                                        </p:tgtEl>
                                        <p:attrNameLst>
                                          <p:attrName>style.visibility</p:attrName>
                                        </p:attrNameLst>
                                      </p:cBhvr>
                                      <p:to>
                                        <p:strVal val="visible"/>
                                      </p:to>
                                    </p:set>
                                    <p:animEffect filter="wipe(left)" transition="in">
                                      <p:cBhvr additive="repl">
                                        <p:cTn id="142" dur="500"/>
                                        <p:tgtEl>
                                          <p:spTgt spid="63">
                                            <p:txEl>
                                              <p:pRg st="3" end="3"/>
                                            </p:txEl>
                                          </p:spTgt>
                                        </p:tgtEl>
                                      </p:cBhvr>
                                    </p:animEffect>
                                  </p:childTnLst>
                                </p:cTn>
                              </p:par>
                              <p:par>
                                <p:cTn id="143" nodeType="withEffect" fill="hold" presetClass="entr" presetID="10">
                                  <p:stCondLst>
                                    <p:cond delay="0"/>
                                  </p:stCondLst>
                                  <p:childTnLst>
                                    <p:set>
                                      <p:cBhvr>
                                        <p:cTn id="144" dur="1" fill="hold">
                                          <p:stCondLst>
                                            <p:cond delay="0"/>
                                          </p:stCondLst>
                                        </p:cTn>
                                        <p:tgtEl>
                                          <p:spTgt spid="61"/>
                                        </p:tgtEl>
                                        <p:attrNameLst>
                                          <p:attrName>style.visibility</p:attrName>
                                        </p:attrNameLst>
                                      </p:cBhvr>
                                      <p:to>
                                        <p:strVal val="visible"/>
                                      </p:to>
                                    </p:set>
                                    <p:animEffect filter="fade" transition="in">
                                      <p:cBhvr additive="repl">
                                        <p:cTn id="145" dur="500"/>
                                        <p:tgtEl>
                                          <p:spTgt spid="61"/>
                                        </p:tgtEl>
                                      </p:cBhvr>
                                    </p:animEffect>
                                  </p:childTnLst>
                                </p:cTn>
                              </p:par>
                            </p:childTnLst>
                          </p:cTn>
                        </p:par>
                      </p:childTnLst>
                    </p:cTn>
                  </p:par>
                  <p:par>
                    <p:cTn id="146" nodeType="clickEffect" fill="hold">
                      <p:stCondLst>
                        <p:cond delay="indefinite"/>
                      </p:stCondLst>
                      <p:childTnLst>
                        <p:par>
                          <p:cTn id="147" nodeType="withEffect" fill="hold">
                            <p:stCondLst>
                              <p:cond delay="0"/>
                            </p:stCondLst>
                            <p:childTnLst>
                              <p:par>
                                <p:cTn id="148" nodeType="clickEffect" fill="hold" presetClass="entr" presetID="22" presetSubtype="8">
                                  <p:stCondLst>
                                    <p:cond delay="0"/>
                                  </p:stCondLst>
                                  <p:childTnLst>
                                    <p:set>
                                      <p:cBhvr>
                                        <p:cTn id="149" dur="1" fill="hold">
                                          <p:stCondLst>
                                            <p:cond delay="0"/>
                                          </p:stCondLst>
                                        </p:cTn>
                                        <p:tgtEl>
                                          <p:spTgt spid="63">
                                            <p:txEl>
                                              <p:pRg st="4" end="4"/>
                                            </p:txEl>
                                          </p:spTgt>
                                        </p:tgtEl>
                                        <p:attrNameLst>
                                          <p:attrName>style.visibility</p:attrName>
                                        </p:attrNameLst>
                                      </p:cBhvr>
                                      <p:to>
                                        <p:strVal val="visible"/>
                                      </p:to>
                                    </p:set>
                                    <p:animEffect filter="wipe(left)" transition="in">
                                      <p:cBhvr additive="repl">
                                        <p:cTn id="150" dur="500"/>
                                        <p:tgtEl>
                                          <p:spTgt spid="63">
                                            <p:txEl>
                                              <p:pRg st="4" end="4"/>
                                            </p:txEl>
                                          </p:spTgt>
                                        </p:tgtEl>
                                      </p:cBhvr>
                                    </p:animEffect>
                                  </p:childTnLst>
                                </p:cTn>
                              </p:par>
                              <p:par>
                                <p:cTn id="151" nodeType="withEffect" fill="hold" presetClass="entr" presetID="10">
                                  <p:stCondLst>
                                    <p:cond delay="0"/>
                                  </p:stCondLst>
                                  <p:childTnLst>
                                    <p:set>
                                      <p:cBhvr>
                                        <p:cTn id="152" dur="1" fill="hold">
                                          <p:stCondLst>
                                            <p:cond delay="0"/>
                                          </p:stCondLst>
                                        </p:cTn>
                                        <p:tgtEl>
                                          <p:spTgt spid="62"/>
                                        </p:tgtEl>
                                        <p:attrNameLst>
                                          <p:attrName>style.visibility</p:attrName>
                                        </p:attrNameLst>
                                      </p:cBhvr>
                                      <p:to>
                                        <p:strVal val="visible"/>
                                      </p:to>
                                    </p:set>
                                    <p:animEffect filter="fade" transition="in">
                                      <p:cBhvr additive="repl">
                                        <p:cTn id="153" dur="500"/>
                                        <p:tgtEl>
                                          <p:spTgt spid="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64" name="Picture 9" descr="fig17.01a.gif"/>
          <p:cNvPicPr/>
          <p:nvPr/>
        </p:nvPicPr>
        <p:blipFill>
          <a:blip r:embed="rId1"/>
          <a:stretch/>
        </p:blipFill>
        <p:spPr>
          <a:xfrm>
            <a:off x="1981080" y="380880"/>
            <a:ext cx="5582880" cy="5962320"/>
          </a:xfrm>
          <a:prstGeom prst="rect">
            <a:avLst/>
          </a:prstGeom>
          <a:noFill/>
          <a:ln w="0">
            <a:noFill/>
          </a:ln>
        </p:spPr>
      </p:pic>
      <p:pic>
        <p:nvPicPr>
          <p:cNvPr id="65" name="Picture 10" descr="fig17.01b.gif"/>
          <p:cNvPicPr/>
          <p:nvPr/>
        </p:nvPicPr>
        <p:blipFill>
          <a:blip r:embed="rId2"/>
          <a:stretch/>
        </p:blipFill>
        <p:spPr>
          <a:xfrm>
            <a:off x="1981080" y="380880"/>
            <a:ext cx="5582880" cy="5962320"/>
          </a:xfrm>
          <a:prstGeom prst="rect">
            <a:avLst/>
          </a:prstGeom>
          <a:noFill/>
          <a:ln w="0">
            <a:noFill/>
          </a:ln>
        </p:spPr>
      </p:pic>
      <p:pic>
        <p:nvPicPr>
          <p:cNvPr id="66" name="Picture 11" descr="fig17.01c.gif"/>
          <p:cNvPicPr/>
          <p:nvPr/>
        </p:nvPicPr>
        <p:blipFill>
          <a:blip r:embed="rId3"/>
          <a:stretch/>
        </p:blipFill>
        <p:spPr>
          <a:xfrm>
            <a:off x="1981080" y="380880"/>
            <a:ext cx="5582880" cy="5962320"/>
          </a:xfrm>
          <a:prstGeom prst="rect">
            <a:avLst/>
          </a:prstGeom>
          <a:noFill/>
          <a:ln w="0">
            <a:noFill/>
          </a:ln>
        </p:spPr>
      </p:pic>
      <p:pic>
        <p:nvPicPr>
          <p:cNvPr id="67" name="Picture 12" descr="fig17.01d.gif"/>
          <p:cNvPicPr/>
          <p:nvPr/>
        </p:nvPicPr>
        <p:blipFill>
          <a:blip r:embed="rId4"/>
          <a:stretch/>
        </p:blipFill>
        <p:spPr>
          <a:xfrm>
            <a:off x="1981080" y="380880"/>
            <a:ext cx="5582880" cy="5962320"/>
          </a:xfrm>
          <a:prstGeom prst="rect">
            <a:avLst/>
          </a:prstGeom>
          <a:noFill/>
          <a:ln w="0">
            <a:noFill/>
          </a:ln>
        </p:spPr>
      </p:pic>
      <p:pic>
        <p:nvPicPr>
          <p:cNvPr id="68" name="Picture 13" descr="fig17.01e.gif"/>
          <p:cNvPicPr/>
          <p:nvPr/>
        </p:nvPicPr>
        <p:blipFill>
          <a:blip r:embed="rId5"/>
          <a:stretch/>
        </p:blipFill>
        <p:spPr>
          <a:xfrm>
            <a:off x="1981080" y="380880"/>
            <a:ext cx="5582880" cy="5962320"/>
          </a:xfrm>
          <a:prstGeom prst="rect">
            <a:avLst/>
          </a:prstGeom>
          <a:noFill/>
          <a:ln w="0">
            <a:noFill/>
          </a:ln>
        </p:spPr>
      </p:pic>
      <p:pic>
        <p:nvPicPr>
          <p:cNvPr id="69" name="Picture 14" descr="fig17.01f.gif"/>
          <p:cNvPicPr/>
          <p:nvPr/>
        </p:nvPicPr>
        <p:blipFill>
          <a:blip r:embed="rId6"/>
          <a:stretch/>
        </p:blipFill>
        <p:spPr>
          <a:xfrm>
            <a:off x="1981080" y="380880"/>
            <a:ext cx="5582880" cy="5962320"/>
          </a:xfrm>
          <a:prstGeom prst="rect">
            <a:avLst/>
          </a:prstGeom>
          <a:noFill/>
          <a:ln w="0">
            <a:noFill/>
          </a:ln>
        </p:spPr>
      </p:pic>
      <p:pic>
        <p:nvPicPr>
          <p:cNvPr id="70" name="Picture 15" descr="fig17.01g.gif"/>
          <p:cNvPicPr/>
          <p:nvPr/>
        </p:nvPicPr>
        <p:blipFill>
          <a:blip r:embed="rId7"/>
          <a:stretch/>
        </p:blipFill>
        <p:spPr>
          <a:xfrm>
            <a:off x="1981080" y="380880"/>
            <a:ext cx="5582880" cy="5962320"/>
          </a:xfrm>
          <a:prstGeom prst="rect">
            <a:avLst/>
          </a:prstGeom>
          <a:noFill/>
          <a:ln w="0">
            <a:noFill/>
          </a:ln>
        </p:spPr>
      </p:pic>
      <p:pic>
        <p:nvPicPr>
          <p:cNvPr id="71" name="Picture 16" descr="fig17.01h.gif"/>
          <p:cNvPicPr/>
          <p:nvPr/>
        </p:nvPicPr>
        <p:blipFill>
          <a:blip r:embed="rId8"/>
          <a:stretch/>
        </p:blipFill>
        <p:spPr>
          <a:xfrm>
            <a:off x="1981080" y="380880"/>
            <a:ext cx="5582880" cy="5962320"/>
          </a:xfrm>
          <a:prstGeom prst="rect">
            <a:avLst/>
          </a:prstGeom>
          <a:noFill/>
          <a:ln w="0">
            <a:noFill/>
          </a:ln>
        </p:spPr>
      </p:pic>
    </p:spTree>
  </p:cSld>
  <p:transition spd="slow">
    <p:wipe dir="r"/>
  </p:transition>
  <p:timing>
    <p:tnLst>
      <p:par>
        <p:cTn id="154" dur="indefinite" restart="never" nodeType="tmRoot">
          <p:childTnLst>
            <p:seq>
              <p:cTn id="155" dur="indefinite" nodeType="mainSeq">
                <p:childTnLst>
                  <p:par>
                    <p:cTn id="156" nodeType="clickEffect" fill="hold">
                      <p:stCondLst>
                        <p:cond delay="indefinite"/>
                      </p:stCondLst>
                      <p:childTnLst>
                        <p:par>
                          <p:cTn id="157" nodeType="withEffect" fill="hold">
                            <p:stCondLst>
                              <p:cond delay="0"/>
                            </p:stCondLst>
                            <p:childTnLst>
                              <p:par>
                                <p:cTn id="158" nodeType="clickEffect" fill="hold" presetClass="entr" presetID="10">
                                  <p:stCondLst>
                                    <p:cond delay="0"/>
                                  </p:stCondLst>
                                  <p:childTnLst>
                                    <p:set>
                                      <p:cBhvr>
                                        <p:cTn id="159" dur="1" fill="hold">
                                          <p:stCondLst>
                                            <p:cond delay="0"/>
                                          </p:stCondLst>
                                        </p:cTn>
                                        <p:tgtEl>
                                          <p:spTgt spid="65"/>
                                        </p:tgtEl>
                                        <p:attrNameLst>
                                          <p:attrName>style.visibility</p:attrName>
                                        </p:attrNameLst>
                                      </p:cBhvr>
                                      <p:to>
                                        <p:strVal val="visible"/>
                                      </p:to>
                                    </p:set>
                                    <p:animEffect filter="fade" transition="in">
                                      <p:cBhvr additive="repl">
                                        <p:cTn id="160" dur="500"/>
                                        <p:tgtEl>
                                          <p:spTgt spid="65"/>
                                        </p:tgtEl>
                                      </p:cBhvr>
                                    </p:animEffect>
                                  </p:childTnLst>
                                </p:cTn>
                              </p:par>
                            </p:childTnLst>
                          </p:cTn>
                        </p:par>
                      </p:childTnLst>
                    </p:cTn>
                  </p:par>
                  <p:par>
                    <p:cTn id="161" nodeType="clickEffect" fill="hold">
                      <p:stCondLst>
                        <p:cond delay="indefinite"/>
                      </p:stCondLst>
                      <p:childTnLst>
                        <p:par>
                          <p:cTn id="162" nodeType="withEffect" fill="hold">
                            <p:stCondLst>
                              <p:cond delay="0"/>
                            </p:stCondLst>
                            <p:childTnLst>
                              <p:par>
                                <p:cTn id="163" nodeType="clickEffect" fill="hold" presetClass="entr" presetID="10">
                                  <p:stCondLst>
                                    <p:cond delay="0"/>
                                  </p:stCondLst>
                                  <p:childTnLst>
                                    <p:set>
                                      <p:cBhvr>
                                        <p:cTn id="164" dur="1" fill="hold">
                                          <p:stCondLst>
                                            <p:cond delay="0"/>
                                          </p:stCondLst>
                                        </p:cTn>
                                        <p:tgtEl>
                                          <p:spTgt spid="66"/>
                                        </p:tgtEl>
                                        <p:attrNameLst>
                                          <p:attrName>style.visibility</p:attrName>
                                        </p:attrNameLst>
                                      </p:cBhvr>
                                      <p:to>
                                        <p:strVal val="visible"/>
                                      </p:to>
                                    </p:set>
                                    <p:animEffect filter="fade" transition="in">
                                      <p:cBhvr additive="repl">
                                        <p:cTn id="165" dur="500"/>
                                        <p:tgtEl>
                                          <p:spTgt spid="66"/>
                                        </p:tgtEl>
                                      </p:cBhvr>
                                    </p:animEffect>
                                  </p:childTnLst>
                                </p:cTn>
                              </p:par>
                            </p:childTnLst>
                          </p:cTn>
                        </p:par>
                      </p:childTnLst>
                    </p:cTn>
                  </p:par>
                  <p:par>
                    <p:cTn id="166" nodeType="clickEffect" fill="hold">
                      <p:stCondLst>
                        <p:cond delay="indefinite"/>
                      </p:stCondLst>
                      <p:childTnLst>
                        <p:par>
                          <p:cTn id="167" nodeType="withEffect" fill="hold">
                            <p:stCondLst>
                              <p:cond delay="0"/>
                            </p:stCondLst>
                            <p:childTnLst>
                              <p:par>
                                <p:cTn id="168" nodeType="clickEffect" fill="hold" presetClass="entr" presetID="10">
                                  <p:stCondLst>
                                    <p:cond delay="0"/>
                                  </p:stCondLst>
                                  <p:childTnLst>
                                    <p:set>
                                      <p:cBhvr>
                                        <p:cTn id="169" dur="1" fill="hold">
                                          <p:stCondLst>
                                            <p:cond delay="0"/>
                                          </p:stCondLst>
                                        </p:cTn>
                                        <p:tgtEl>
                                          <p:spTgt spid="67"/>
                                        </p:tgtEl>
                                        <p:attrNameLst>
                                          <p:attrName>style.visibility</p:attrName>
                                        </p:attrNameLst>
                                      </p:cBhvr>
                                      <p:to>
                                        <p:strVal val="visible"/>
                                      </p:to>
                                    </p:set>
                                    <p:animEffect filter="fade" transition="in">
                                      <p:cBhvr additive="repl">
                                        <p:cTn id="170" dur="500"/>
                                        <p:tgtEl>
                                          <p:spTgt spid="67"/>
                                        </p:tgtEl>
                                      </p:cBhvr>
                                    </p:animEffect>
                                  </p:childTnLst>
                                </p:cTn>
                              </p:par>
                            </p:childTnLst>
                          </p:cTn>
                        </p:par>
                      </p:childTnLst>
                    </p:cTn>
                  </p:par>
                  <p:par>
                    <p:cTn id="171" nodeType="clickEffect" fill="hold">
                      <p:stCondLst>
                        <p:cond delay="indefinite"/>
                      </p:stCondLst>
                      <p:childTnLst>
                        <p:par>
                          <p:cTn id="172" nodeType="withEffect" fill="hold">
                            <p:stCondLst>
                              <p:cond delay="0"/>
                            </p:stCondLst>
                            <p:childTnLst>
                              <p:par>
                                <p:cTn id="173" nodeType="clickEffect" fill="hold" presetClass="entr" presetID="10">
                                  <p:stCondLst>
                                    <p:cond delay="0"/>
                                  </p:stCondLst>
                                  <p:childTnLst>
                                    <p:set>
                                      <p:cBhvr>
                                        <p:cTn id="174" dur="1" fill="hold">
                                          <p:stCondLst>
                                            <p:cond delay="0"/>
                                          </p:stCondLst>
                                        </p:cTn>
                                        <p:tgtEl>
                                          <p:spTgt spid="68"/>
                                        </p:tgtEl>
                                        <p:attrNameLst>
                                          <p:attrName>style.visibility</p:attrName>
                                        </p:attrNameLst>
                                      </p:cBhvr>
                                      <p:to>
                                        <p:strVal val="visible"/>
                                      </p:to>
                                    </p:set>
                                    <p:animEffect filter="fade" transition="in">
                                      <p:cBhvr additive="repl">
                                        <p:cTn id="175" dur="500"/>
                                        <p:tgtEl>
                                          <p:spTgt spid="68"/>
                                        </p:tgtEl>
                                      </p:cBhvr>
                                    </p:animEffect>
                                  </p:childTnLst>
                                </p:cTn>
                              </p:par>
                            </p:childTnLst>
                          </p:cTn>
                        </p:par>
                      </p:childTnLst>
                    </p:cTn>
                  </p:par>
                  <p:par>
                    <p:cTn id="176" nodeType="clickEffect" fill="hold">
                      <p:stCondLst>
                        <p:cond delay="indefinite"/>
                      </p:stCondLst>
                      <p:childTnLst>
                        <p:par>
                          <p:cTn id="177" nodeType="withEffect" fill="hold">
                            <p:stCondLst>
                              <p:cond delay="0"/>
                            </p:stCondLst>
                            <p:childTnLst>
                              <p:par>
                                <p:cTn id="178" nodeType="clickEffect" fill="hold" presetClass="entr" presetID="10">
                                  <p:stCondLst>
                                    <p:cond delay="0"/>
                                  </p:stCondLst>
                                  <p:childTnLst>
                                    <p:set>
                                      <p:cBhvr>
                                        <p:cTn id="179" dur="1" fill="hold">
                                          <p:stCondLst>
                                            <p:cond delay="0"/>
                                          </p:stCondLst>
                                        </p:cTn>
                                        <p:tgtEl>
                                          <p:spTgt spid="69"/>
                                        </p:tgtEl>
                                        <p:attrNameLst>
                                          <p:attrName>style.visibility</p:attrName>
                                        </p:attrNameLst>
                                      </p:cBhvr>
                                      <p:to>
                                        <p:strVal val="visible"/>
                                      </p:to>
                                    </p:set>
                                    <p:animEffect filter="fade" transition="in">
                                      <p:cBhvr additive="repl">
                                        <p:cTn id="180" dur="500"/>
                                        <p:tgtEl>
                                          <p:spTgt spid="69"/>
                                        </p:tgtEl>
                                      </p:cBhvr>
                                    </p:animEffect>
                                  </p:childTnLst>
                                </p:cTn>
                              </p:par>
                            </p:childTnLst>
                          </p:cTn>
                        </p:par>
                      </p:childTnLst>
                    </p:cTn>
                  </p:par>
                  <p:par>
                    <p:cTn id="181" nodeType="clickEffect" fill="hold">
                      <p:stCondLst>
                        <p:cond delay="indefinite"/>
                      </p:stCondLst>
                      <p:childTnLst>
                        <p:par>
                          <p:cTn id="182" nodeType="withEffect" fill="hold">
                            <p:stCondLst>
                              <p:cond delay="0"/>
                            </p:stCondLst>
                            <p:childTnLst>
                              <p:par>
                                <p:cTn id="183" nodeType="clickEffect" fill="hold" presetClass="entr" presetID="10">
                                  <p:stCondLst>
                                    <p:cond delay="0"/>
                                  </p:stCondLst>
                                  <p:childTnLst>
                                    <p:set>
                                      <p:cBhvr>
                                        <p:cTn id="184" dur="1" fill="hold">
                                          <p:stCondLst>
                                            <p:cond delay="0"/>
                                          </p:stCondLst>
                                        </p:cTn>
                                        <p:tgtEl>
                                          <p:spTgt spid="70"/>
                                        </p:tgtEl>
                                        <p:attrNameLst>
                                          <p:attrName>style.visibility</p:attrName>
                                        </p:attrNameLst>
                                      </p:cBhvr>
                                      <p:to>
                                        <p:strVal val="visible"/>
                                      </p:to>
                                    </p:set>
                                    <p:animEffect filter="fade" transition="in">
                                      <p:cBhvr additive="repl">
                                        <p:cTn id="185" dur="500"/>
                                        <p:tgtEl>
                                          <p:spTgt spid="70"/>
                                        </p:tgtEl>
                                      </p:cBhvr>
                                    </p:animEffect>
                                  </p:childTnLst>
                                </p:cTn>
                              </p:par>
                            </p:childTnLst>
                          </p:cTn>
                        </p:par>
                      </p:childTnLst>
                    </p:cTn>
                  </p:par>
                  <p:par>
                    <p:cTn id="186" nodeType="clickEffect" fill="hold">
                      <p:stCondLst>
                        <p:cond delay="indefinite"/>
                      </p:stCondLst>
                      <p:childTnLst>
                        <p:par>
                          <p:cTn id="187" nodeType="withEffect" fill="hold">
                            <p:stCondLst>
                              <p:cond delay="0"/>
                            </p:stCondLst>
                            <p:childTnLst>
                              <p:par>
                                <p:cTn id="188" nodeType="clickEffect" fill="hold" presetClass="entr" presetID="10">
                                  <p:stCondLst>
                                    <p:cond delay="0"/>
                                  </p:stCondLst>
                                  <p:childTnLst>
                                    <p:set>
                                      <p:cBhvr>
                                        <p:cTn id="189" dur="1" fill="hold">
                                          <p:stCondLst>
                                            <p:cond delay="0"/>
                                          </p:stCondLst>
                                        </p:cTn>
                                        <p:tgtEl>
                                          <p:spTgt spid="71"/>
                                        </p:tgtEl>
                                        <p:attrNameLst>
                                          <p:attrName>style.visibility</p:attrName>
                                        </p:attrNameLst>
                                      </p:cBhvr>
                                      <p:to>
                                        <p:strVal val="visible"/>
                                      </p:to>
                                    </p:set>
                                    <p:animEffect filter="fade" transition="in">
                                      <p:cBhvr additive="repl">
                                        <p:cTn id="190" dur="500"/>
                                        <p:tgtEl>
                                          <p:spTgt spid="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18.1  WHAT IS OLIGOPOLY?</a:t>
            </a:r>
            <a:endParaRPr b="0" lang="en-CA" sz="2600" strike="noStrike" u="none">
              <a:solidFill>
                <a:schemeClr val="dk1"/>
              </a:solidFill>
              <a:effectLst/>
              <a:uFillTx/>
              <a:latin typeface="Arial"/>
            </a:endParaRPr>
          </a:p>
        </p:txBody>
      </p:sp>
      <p:sp>
        <p:nvSpPr>
          <p:cNvPr id="73" name="PlaceHolder 2"/>
          <p:cNvSpPr>
            <a:spLocks noGrp="1"/>
          </p:cNvSpPr>
          <p:nvPr>
            <p:ph/>
          </p:nvPr>
        </p:nvSpPr>
        <p:spPr>
          <a:xfrm>
            <a:off x="360360" y="1440000"/>
            <a:ext cx="390636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0" lang="en-CA" sz="2400" strike="noStrike" u="none">
                <a:solidFill>
                  <a:schemeClr val="dk1"/>
                </a:solidFill>
                <a:effectLst/>
                <a:uFillTx/>
                <a:latin typeface="Arial"/>
                <a:ea typeface="ＭＳ Ｐゴシック"/>
              </a:rPr>
              <a:t>Figure 18.1(b) shows the case of a natural oligopoly with three firms.</a:t>
            </a:r>
            <a:endParaRPr b="1" lang="en-CA" sz="2400" strike="noStrike" u="none">
              <a:solidFill>
                <a:srgbClr val="00468f"/>
              </a:solidFill>
              <a:effectLst/>
              <a:uFillTx/>
              <a:latin typeface="Arial"/>
            </a:endParaRPr>
          </a:p>
          <a:p>
            <a:pPr lvl="1" marL="817200" indent="-457200">
              <a:lnSpc>
                <a:spcPct val="100000"/>
              </a:lnSpc>
              <a:spcBef>
                <a:spcPts val="601"/>
              </a:spcBef>
              <a:spcAft>
                <a:spcPts val="601"/>
              </a:spcAft>
              <a:buClr>
                <a:srgbClr val="000000"/>
              </a:buClr>
              <a:buFont typeface="Arial"/>
              <a:buAutoNum type="arabicPeriod" startAt="4"/>
            </a:pPr>
            <a:r>
              <a:rPr b="0" lang="en-CA" sz="2400" strike="noStrike" u="none">
                <a:solidFill>
                  <a:schemeClr val="dk1"/>
                </a:solidFill>
                <a:effectLst/>
                <a:uFillTx/>
                <a:latin typeface="Arial"/>
                <a:ea typeface="ＭＳ Ｐゴシック"/>
              </a:rPr>
              <a:t>When the efficient scale is 20 rides a day, …</a:t>
            </a:r>
            <a:endParaRPr b="0" lang="en-CA" sz="2400" strike="noStrike" u="none">
              <a:solidFill>
                <a:schemeClr val="dk1"/>
              </a:solidFill>
              <a:effectLst/>
              <a:uFillTx/>
              <a:latin typeface="Arial"/>
            </a:endParaRPr>
          </a:p>
          <a:p>
            <a:pPr lvl="1" marL="817200" indent="-457200">
              <a:lnSpc>
                <a:spcPct val="100000"/>
              </a:lnSpc>
              <a:spcBef>
                <a:spcPts val="601"/>
              </a:spcBef>
              <a:spcAft>
                <a:spcPts val="601"/>
              </a:spcAft>
              <a:buClr>
                <a:srgbClr val="000000"/>
              </a:buClr>
              <a:buFont typeface="Arial"/>
              <a:buAutoNum type="arabicPeriod" startAt="4"/>
            </a:pPr>
            <a:r>
              <a:rPr b="0" lang="en-CA" sz="2400" strike="noStrike" u="none">
                <a:solidFill>
                  <a:schemeClr val="dk1"/>
                </a:solidFill>
                <a:effectLst/>
                <a:uFillTx/>
                <a:latin typeface="Arial"/>
                <a:ea typeface="ＭＳ Ｐゴシック"/>
              </a:rPr>
              <a:t>Three firms can satisfy the market demand at the lowest possible price.</a:t>
            </a:r>
            <a:endParaRPr b="0" lang="en-CA" sz="2400" strike="noStrike" u="none">
              <a:solidFill>
                <a:schemeClr val="dk1"/>
              </a:solidFill>
              <a:effectLst/>
              <a:uFillTx/>
              <a:latin typeface="Arial"/>
            </a:endParaRPr>
          </a:p>
        </p:txBody>
      </p:sp>
      <p:pic>
        <p:nvPicPr>
          <p:cNvPr id="74" name="Picture 22" descr="fig17.01a.gif"/>
          <p:cNvPicPr/>
          <p:nvPr/>
        </p:nvPicPr>
        <p:blipFill>
          <a:blip r:embed="rId1"/>
          <a:stretch/>
        </p:blipFill>
        <p:spPr>
          <a:xfrm>
            <a:off x="4500720" y="1511280"/>
            <a:ext cx="4113000" cy="4393800"/>
          </a:xfrm>
          <a:prstGeom prst="rect">
            <a:avLst/>
          </a:prstGeom>
          <a:noFill/>
          <a:ln w="0">
            <a:noFill/>
          </a:ln>
        </p:spPr>
      </p:pic>
      <p:pic>
        <p:nvPicPr>
          <p:cNvPr id="75" name="Picture 23" descr="fig17.01b.gif"/>
          <p:cNvPicPr/>
          <p:nvPr/>
        </p:nvPicPr>
        <p:blipFill>
          <a:blip r:embed="rId2"/>
          <a:stretch/>
        </p:blipFill>
        <p:spPr>
          <a:xfrm>
            <a:off x="4500720" y="1511280"/>
            <a:ext cx="4113000" cy="4393800"/>
          </a:xfrm>
          <a:prstGeom prst="rect">
            <a:avLst/>
          </a:prstGeom>
          <a:noFill/>
          <a:ln w="0">
            <a:noFill/>
          </a:ln>
        </p:spPr>
      </p:pic>
      <p:pic>
        <p:nvPicPr>
          <p:cNvPr id="76" name="Picture 24" descr="fig17.01c.gif"/>
          <p:cNvPicPr/>
          <p:nvPr/>
        </p:nvPicPr>
        <p:blipFill>
          <a:blip r:embed="rId3"/>
          <a:stretch/>
        </p:blipFill>
        <p:spPr>
          <a:xfrm>
            <a:off x="4500720" y="1511280"/>
            <a:ext cx="4113000" cy="4393800"/>
          </a:xfrm>
          <a:prstGeom prst="rect">
            <a:avLst/>
          </a:prstGeom>
          <a:noFill/>
          <a:ln w="0">
            <a:noFill/>
          </a:ln>
        </p:spPr>
      </p:pic>
      <p:pic>
        <p:nvPicPr>
          <p:cNvPr id="77" name="Picture 25" descr="fig17.01d.gif"/>
          <p:cNvPicPr/>
          <p:nvPr/>
        </p:nvPicPr>
        <p:blipFill>
          <a:blip r:embed="rId4"/>
          <a:stretch/>
        </p:blipFill>
        <p:spPr>
          <a:xfrm>
            <a:off x="4500720" y="1511280"/>
            <a:ext cx="4113000" cy="4393800"/>
          </a:xfrm>
          <a:prstGeom prst="rect">
            <a:avLst/>
          </a:prstGeom>
          <a:noFill/>
          <a:ln w="0">
            <a:noFill/>
          </a:ln>
        </p:spPr>
      </p:pic>
      <p:pic>
        <p:nvPicPr>
          <p:cNvPr id="78" name="Picture 26" descr="fig17.01e.gif"/>
          <p:cNvPicPr/>
          <p:nvPr/>
        </p:nvPicPr>
        <p:blipFill>
          <a:blip r:embed="rId5"/>
          <a:stretch/>
        </p:blipFill>
        <p:spPr>
          <a:xfrm>
            <a:off x="4500720" y="1511280"/>
            <a:ext cx="4113000" cy="4393800"/>
          </a:xfrm>
          <a:prstGeom prst="rect">
            <a:avLst/>
          </a:prstGeom>
          <a:noFill/>
          <a:ln w="0">
            <a:noFill/>
          </a:ln>
        </p:spPr>
      </p:pic>
      <p:pic>
        <p:nvPicPr>
          <p:cNvPr id="79" name="Picture 27" descr="fig17.01f.gif"/>
          <p:cNvPicPr/>
          <p:nvPr/>
        </p:nvPicPr>
        <p:blipFill>
          <a:blip r:embed="rId6"/>
          <a:stretch/>
        </p:blipFill>
        <p:spPr>
          <a:xfrm>
            <a:off x="4500720" y="1511280"/>
            <a:ext cx="4113000" cy="4393800"/>
          </a:xfrm>
          <a:prstGeom prst="rect">
            <a:avLst/>
          </a:prstGeom>
          <a:noFill/>
          <a:ln w="0">
            <a:noFill/>
          </a:ln>
        </p:spPr>
      </p:pic>
      <p:pic>
        <p:nvPicPr>
          <p:cNvPr id="80" name="Picture 28" descr="fig17.01g.gif"/>
          <p:cNvPicPr/>
          <p:nvPr/>
        </p:nvPicPr>
        <p:blipFill>
          <a:blip r:embed="rId7"/>
          <a:stretch/>
        </p:blipFill>
        <p:spPr>
          <a:xfrm>
            <a:off x="4500720" y="1511280"/>
            <a:ext cx="4113000" cy="4393800"/>
          </a:xfrm>
          <a:prstGeom prst="rect">
            <a:avLst/>
          </a:prstGeom>
          <a:noFill/>
          <a:ln w="0">
            <a:noFill/>
          </a:ln>
        </p:spPr>
      </p:pic>
      <p:pic>
        <p:nvPicPr>
          <p:cNvPr id="81" name="Picture 29" descr="fig17.01h.gif"/>
          <p:cNvPicPr/>
          <p:nvPr/>
        </p:nvPicPr>
        <p:blipFill>
          <a:blip r:embed="rId8"/>
          <a:stretch/>
        </p:blipFill>
        <p:spPr>
          <a:xfrm>
            <a:off x="4500720" y="1511280"/>
            <a:ext cx="4113000" cy="4393800"/>
          </a:xfrm>
          <a:prstGeom prst="rect">
            <a:avLst/>
          </a:prstGeom>
          <a:noFill/>
          <a:ln w="0">
            <a:noFill/>
          </a:ln>
        </p:spPr>
      </p:pic>
    </p:spTree>
  </p:cSld>
  <p:transition spd="slow">
    <p:wipe dir="r"/>
  </p:transition>
  <p:timing>
    <p:tnLst>
      <p:par>
        <p:cTn id="191" dur="indefinite" restart="never" nodeType="tmRoot">
          <p:childTnLst>
            <p:seq>
              <p:cTn id="192" dur="indefinite" nodeType="mainSeq">
                <p:childTnLst>
                  <p:par>
                    <p:cTn id="193" nodeType="clickEffect" fill="hold">
                      <p:stCondLst>
                        <p:cond delay="indefinite"/>
                      </p:stCondLst>
                      <p:childTnLst>
                        <p:par>
                          <p:cTn id="194" nodeType="withEffect" fill="hold">
                            <p:stCondLst>
                              <p:cond delay="0"/>
                            </p:stCondLst>
                            <p:childTnLst>
                              <p:par>
                                <p:cTn id="195" nodeType="clickEffect" fill="hold" presetClass="entr" presetID="22" presetSubtype="8">
                                  <p:stCondLst>
                                    <p:cond delay="0"/>
                                  </p:stCondLst>
                                  <p:childTnLst>
                                    <p:set>
                                      <p:cBhvr>
                                        <p:cTn id="196" dur="1" fill="hold">
                                          <p:stCondLst>
                                            <p:cond delay="0"/>
                                          </p:stCondLst>
                                        </p:cTn>
                                        <p:tgtEl>
                                          <p:spTgt spid="73">
                                            <p:txEl>
                                              <p:pRg st="1" end="1"/>
                                            </p:txEl>
                                          </p:spTgt>
                                        </p:tgtEl>
                                        <p:attrNameLst>
                                          <p:attrName>style.visibility</p:attrName>
                                        </p:attrNameLst>
                                      </p:cBhvr>
                                      <p:to>
                                        <p:strVal val="visible"/>
                                      </p:to>
                                    </p:set>
                                    <p:animEffect filter="wipe(left)" transition="in">
                                      <p:cBhvr additive="repl">
                                        <p:cTn id="197" dur="500"/>
                                        <p:tgtEl>
                                          <p:spTgt spid="73">
                                            <p:txEl>
                                              <p:pRg st="1" end="1"/>
                                            </p:txEl>
                                          </p:spTgt>
                                        </p:tgtEl>
                                      </p:cBhvr>
                                    </p:animEffect>
                                  </p:childTnLst>
                                </p:cTn>
                              </p:par>
                              <p:par>
                                <p:cTn id="198" nodeType="withEffect" fill="hold" presetClass="entr" presetID="10">
                                  <p:stCondLst>
                                    <p:cond delay="0"/>
                                  </p:stCondLst>
                                  <p:childTnLst>
                                    <p:set>
                                      <p:cBhvr>
                                        <p:cTn id="199" dur="1" fill="hold">
                                          <p:stCondLst>
                                            <p:cond delay="0"/>
                                          </p:stCondLst>
                                        </p:cTn>
                                        <p:tgtEl>
                                          <p:spTgt spid="80"/>
                                        </p:tgtEl>
                                        <p:attrNameLst>
                                          <p:attrName>style.visibility</p:attrName>
                                        </p:attrNameLst>
                                      </p:cBhvr>
                                      <p:to>
                                        <p:strVal val="visible"/>
                                      </p:to>
                                    </p:set>
                                    <p:animEffect filter="fade" transition="in">
                                      <p:cBhvr additive="repl">
                                        <p:cTn id="200" dur="500"/>
                                        <p:tgtEl>
                                          <p:spTgt spid="80"/>
                                        </p:tgtEl>
                                      </p:cBhvr>
                                    </p:animEffect>
                                  </p:childTnLst>
                                </p:cTn>
                              </p:par>
                            </p:childTnLst>
                          </p:cTn>
                        </p:par>
                      </p:childTnLst>
                    </p:cTn>
                  </p:par>
                  <p:par>
                    <p:cTn id="201" nodeType="clickEffect" fill="hold">
                      <p:stCondLst>
                        <p:cond delay="indefinite"/>
                      </p:stCondLst>
                      <p:childTnLst>
                        <p:par>
                          <p:cTn id="202" nodeType="withEffect" fill="hold">
                            <p:stCondLst>
                              <p:cond delay="0"/>
                            </p:stCondLst>
                            <p:childTnLst>
                              <p:par>
                                <p:cTn id="203" nodeType="clickEffect" fill="hold" presetClass="entr" presetID="22" presetSubtype="8">
                                  <p:stCondLst>
                                    <p:cond delay="0"/>
                                  </p:stCondLst>
                                  <p:childTnLst>
                                    <p:set>
                                      <p:cBhvr>
                                        <p:cTn id="204" dur="1" fill="hold">
                                          <p:stCondLst>
                                            <p:cond delay="0"/>
                                          </p:stCondLst>
                                        </p:cTn>
                                        <p:tgtEl>
                                          <p:spTgt spid="73">
                                            <p:txEl>
                                              <p:pRg st="2" end="2"/>
                                            </p:txEl>
                                          </p:spTgt>
                                        </p:tgtEl>
                                        <p:attrNameLst>
                                          <p:attrName>style.visibility</p:attrName>
                                        </p:attrNameLst>
                                      </p:cBhvr>
                                      <p:to>
                                        <p:strVal val="visible"/>
                                      </p:to>
                                    </p:set>
                                    <p:animEffect filter="wipe(left)" transition="in">
                                      <p:cBhvr additive="repl">
                                        <p:cTn id="205" dur="500"/>
                                        <p:tgtEl>
                                          <p:spTgt spid="73">
                                            <p:txEl>
                                              <p:pRg st="2" end="2"/>
                                            </p:txEl>
                                          </p:spTgt>
                                        </p:tgtEl>
                                      </p:cBhvr>
                                    </p:animEffect>
                                  </p:childTnLst>
                                </p:cTn>
                              </p:par>
                              <p:par>
                                <p:cTn id="206" nodeType="withEffect" fill="hold" presetClass="entr" presetID="10">
                                  <p:stCondLst>
                                    <p:cond delay="0"/>
                                  </p:stCondLst>
                                  <p:childTnLst>
                                    <p:set>
                                      <p:cBhvr>
                                        <p:cTn id="207" dur="1" fill="hold">
                                          <p:stCondLst>
                                            <p:cond delay="0"/>
                                          </p:stCondLst>
                                        </p:cTn>
                                        <p:tgtEl>
                                          <p:spTgt spid="81"/>
                                        </p:tgtEl>
                                        <p:attrNameLst>
                                          <p:attrName>style.visibility</p:attrName>
                                        </p:attrNameLst>
                                      </p:cBhvr>
                                      <p:to>
                                        <p:strVal val="visible"/>
                                      </p:to>
                                    </p:set>
                                    <p:animEffect filter="fade" transition="in">
                                      <p:cBhvr additive="repl">
                                        <p:cTn id="208" dur="500"/>
                                        <p:tgtEl>
                                          <p:spTgt spid="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18.1  WHAT IS OLIGOPOLY?</a:t>
            </a:r>
            <a:endParaRPr b="0" lang="en-CA" sz="2600" strike="noStrike" u="none">
              <a:solidFill>
                <a:schemeClr val="dk1"/>
              </a:solidFill>
              <a:effectLst/>
              <a:uFillTx/>
              <a:latin typeface="Arial"/>
            </a:endParaRPr>
          </a:p>
        </p:txBody>
      </p:sp>
      <p:sp>
        <p:nvSpPr>
          <p:cNvPr id="8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Identifying Oligopoly</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CA" sz="2400" strike="noStrike" u="none">
                <a:solidFill>
                  <a:schemeClr val="dk1"/>
                </a:solidFill>
                <a:effectLst/>
                <a:uFillTx/>
                <a:latin typeface="Arial"/>
                <a:ea typeface="ＭＳ Ｐゴシック"/>
              </a:rPr>
              <a:t>Identifying oligopoly is the flip side of identifying monopolistic competition.</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CA" sz="2400" strike="noStrike" u="none">
                <a:solidFill>
                  <a:schemeClr val="dk1"/>
                </a:solidFill>
                <a:effectLst/>
                <a:uFillTx/>
                <a:latin typeface="Arial"/>
                <a:ea typeface="ＭＳ Ｐゴシック"/>
              </a:rPr>
              <a:t>The borderline between oligopoly and monopolistic competition is hard to pin down.</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CA" sz="2400" strike="noStrike" u="none">
                <a:solidFill>
                  <a:schemeClr val="dk1"/>
                </a:solidFill>
                <a:effectLst/>
                <a:uFillTx/>
                <a:latin typeface="Arial"/>
                <a:ea typeface="ＭＳ Ｐゴシック"/>
              </a:rPr>
              <a:t>As a practical matter, we try to identify oligopoly by looking at concentration measures.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CA" sz="2400" strike="noStrike" u="none">
                <a:solidFill>
                  <a:schemeClr val="dk1"/>
                </a:solidFill>
                <a:effectLst/>
                <a:uFillTx/>
                <a:latin typeface="Arial"/>
                <a:ea typeface="ＭＳ Ｐゴシック"/>
              </a:rPr>
              <a:t>A market in which HHI exceeds 1,800 is generally regarded as an oligopoly.</a:t>
            </a:r>
            <a:endParaRPr b="1" lang="en-CA" sz="2400" strike="noStrike" u="none">
              <a:solidFill>
                <a:srgbClr val="00468f"/>
              </a:solidFill>
              <a:effectLst/>
              <a:uFillTx/>
              <a:latin typeface="Arial"/>
            </a:endParaRPr>
          </a:p>
        </p:txBody>
      </p:sp>
    </p:spTree>
  </p:cSld>
  <p:transition spd="slow">
    <p:wipe dir="r"/>
  </p:transition>
  <p:timing>
    <p:tnLst>
      <p:par>
        <p:cTn id="209" dur="indefinite" restart="never" nodeType="tmRoot">
          <p:childTnLst>
            <p:seq>
              <p:cTn id="210" dur="indefinite" nodeType="mainSeq">
                <p:childTnLst>
                  <p:par>
                    <p:cTn id="211" nodeType="clickEffect" fill="hold">
                      <p:stCondLst>
                        <p:cond delay="indefinite"/>
                      </p:stCondLst>
                      <p:childTnLst>
                        <p:par>
                          <p:cTn id="212" nodeType="withEffect" fill="hold">
                            <p:stCondLst>
                              <p:cond delay="0"/>
                            </p:stCondLst>
                            <p:childTnLst>
                              <p:par>
                                <p:cTn id="213" nodeType="clickEffect" fill="hold" presetClass="entr" presetID="22" presetSubtype="8">
                                  <p:stCondLst>
                                    <p:cond delay="0"/>
                                  </p:stCondLst>
                                  <p:childTnLst>
                                    <p:set>
                                      <p:cBhvr>
                                        <p:cTn id="214" dur="1" fill="hold">
                                          <p:stCondLst>
                                            <p:cond delay="0"/>
                                          </p:stCondLst>
                                        </p:cTn>
                                        <p:tgtEl>
                                          <p:spTgt spid="83">
                                            <p:txEl>
                                              <p:pRg st="1" end="1"/>
                                            </p:txEl>
                                          </p:spTgt>
                                        </p:tgtEl>
                                        <p:attrNameLst>
                                          <p:attrName>style.visibility</p:attrName>
                                        </p:attrNameLst>
                                      </p:cBhvr>
                                      <p:to>
                                        <p:strVal val="visible"/>
                                      </p:to>
                                    </p:set>
                                    <p:animEffect filter="wipe(left)" transition="in">
                                      <p:cBhvr additive="repl">
                                        <p:cTn id="215" dur="500"/>
                                        <p:tgtEl>
                                          <p:spTgt spid="83">
                                            <p:txEl>
                                              <p:pRg st="1" end="1"/>
                                            </p:txEl>
                                          </p:spTgt>
                                        </p:tgtEl>
                                      </p:cBhvr>
                                    </p:animEffect>
                                  </p:childTnLst>
                                </p:cTn>
                              </p:par>
                            </p:childTnLst>
                          </p:cTn>
                        </p:par>
                      </p:childTnLst>
                    </p:cTn>
                  </p:par>
                  <p:par>
                    <p:cTn id="216" nodeType="clickEffect" fill="hold">
                      <p:stCondLst>
                        <p:cond delay="indefinite"/>
                      </p:stCondLst>
                      <p:childTnLst>
                        <p:par>
                          <p:cTn id="217" nodeType="withEffect" fill="hold">
                            <p:stCondLst>
                              <p:cond delay="0"/>
                            </p:stCondLst>
                            <p:childTnLst>
                              <p:par>
                                <p:cTn id="218" nodeType="clickEffect" fill="hold" presetClass="entr" presetID="22" presetSubtype="8">
                                  <p:stCondLst>
                                    <p:cond delay="0"/>
                                  </p:stCondLst>
                                  <p:childTnLst>
                                    <p:set>
                                      <p:cBhvr>
                                        <p:cTn id="219" dur="1" fill="hold">
                                          <p:stCondLst>
                                            <p:cond delay="0"/>
                                          </p:stCondLst>
                                        </p:cTn>
                                        <p:tgtEl>
                                          <p:spTgt spid="83">
                                            <p:txEl>
                                              <p:pRg st="2" end="2"/>
                                            </p:txEl>
                                          </p:spTgt>
                                        </p:tgtEl>
                                        <p:attrNameLst>
                                          <p:attrName>style.visibility</p:attrName>
                                        </p:attrNameLst>
                                      </p:cBhvr>
                                      <p:to>
                                        <p:strVal val="visible"/>
                                      </p:to>
                                    </p:set>
                                    <p:animEffect filter="wipe(left)" transition="in">
                                      <p:cBhvr additive="repl">
                                        <p:cTn id="220" dur="500"/>
                                        <p:tgtEl>
                                          <p:spTgt spid="83">
                                            <p:txEl>
                                              <p:pRg st="2" end="2"/>
                                            </p:txEl>
                                          </p:spTgt>
                                        </p:tgtEl>
                                      </p:cBhvr>
                                    </p:animEffect>
                                  </p:childTnLst>
                                </p:cTn>
                              </p:par>
                            </p:childTnLst>
                          </p:cTn>
                        </p:par>
                      </p:childTnLst>
                    </p:cTn>
                  </p:par>
                  <p:par>
                    <p:cTn id="221" nodeType="clickEffect" fill="hold">
                      <p:stCondLst>
                        <p:cond delay="indefinite"/>
                      </p:stCondLst>
                      <p:childTnLst>
                        <p:par>
                          <p:cTn id="222" nodeType="withEffect" fill="hold">
                            <p:stCondLst>
                              <p:cond delay="0"/>
                            </p:stCondLst>
                            <p:childTnLst>
                              <p:par>
                                <p:cTn id="223" nodeType="clickEffect" fill="hold" presetClass="entr" presetID="22" presetSubtype="8">
                                  <p:stCondLst>
                                    <p:cond delay="0"/>
                                  </p:stCondLst>
                                  <p:childTnLst>
                                    <p:set>
                                      <p:cBhvr>
                                        <p:cTn id="224" dur="1" fill="hold">
                                          <p:stCondLst>
                                            <p:cond delay="0"/>
                                          </p:stCondLst>
                                        </p:cTn>
                                        <p:tgtEl>
                                          <p:spTgt spid="83">
                                            <p:txEl>
                                              <p:pRg st="3" end="3"/>
                                            </p:txEl>
                                          </p:spTgt>
                                        </p:tgtEl>
                                        <p:attrNameLst>
                                          <p:attrName>style.visibility</p:attrName>
                                        </p:attrNameLst>
                                      </p:cBhvr>
                                      <p:to>
                                        <p:strVal val="visible"/>
                                      </p:to>
                                    </p:set>
                                    <p:animEffect filter="wipe(left)" transition="in">
                                      <p:cBhvr additive="repl">
                                        <p:cTn id="225" dur="500"/>
                                        <p:tgtEl>
                                          <p:spTgt spid="83">
                                            <p:txEl>
                                              <p:pRg st="3" end="3"/>
                                            </p:txEl>
                                          </p:spTgt>
                                        </p:tgtEl>
                                      </p:cBhvr>
                                    </p:animEffect>
                                  </p:childTnLst>
                                </p:cTn>
                              </p:par>
                            </p:childTnLst>
                          </p:cTn>
                        </p:par>
                      </p:childTnLst>
                    </p:cTn>
                  </p:par>
                  <p:par>
                    <p:cTn id="226" nodeType="clickEffect" fill="hold">
                      <p:stCondLst>
                        <p:cond delay="indefinite"/>
                      </p:stCondLst>
                      <p:childTnLst>
                        <p:par>
                          <p:cTn id="227" nodeType="withEffect" fill="hold">
                            <p:stCondLst>
                              <p:cond delay="0"/>
                            </p:stCondLst>
                            <p:childTnLst>
                              <p:par>
                                <p:cTn id="228" nodeType="clickEffect" fill="hold" presetClass="entr" presetID="22" presetSubtype="8">
                                  <p:stCondLst>
                                    <p:cond delay="0"/>
                                  </p:stCondLst>
                                  <p:childTnLst>
                                    <p:set>
                                      <p:cBhvr>
                                        <p:cTn id="229" dur="1" fill="hold">
                                          <p:stCondLst>
                                            <p:cond delay="0"/>
                                          </p:stCondLst>
                                        </p:cTn>
                                        <p:tgtEl>
                                          <p:spTgt spid="83">
                                            <p:txEl>
                                              <p:pRg st="4" end="4"/>
                                            </p:txEl>
                                          </p:spTgt>
                                        </p:tgtEl>
                                        <p:attrNameLst>
                                          <p:attrName>style.visibility</p:attrName>
                                        </p:attrNameLst>
                                      </p:cBhvr>
                                      <p:to>
                                        <p:strVal val="visible"/>
                                      </p:to>
                                    </p:set>
                                    <p:animEffect filter="wipe(left)" transition="in">
                                      <p:cBhvr additive="repl">
                                        <p:cTn id="230" dur="500"/>
                                        <p:tgtEl>
                                          <p:spTgt spid="83">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18.2  THE OLIGOPOLISTS' DILEMMA</a:t>
            </a:r>
            <a:endParaRPr b="0" lang="en-CA" sz="2600" strike="noStrike" u="none">
              <a:solidFill>
                <a:schemeClr val="dk1"/>
              </a:solidFill>
              <a:effectLst/>
              <a:uFillTx/>
              <a:latin typeface="Arial"/>
            </a:endParaRPr>
          </a:p>
        </p:txBody>
      </p:sp>
      <p:sp>
        <p:nvSpPr>
          <p:cNvPr id="85"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Oligopoly might operate like monopoly, like perfect competition, or somewhere between these two extremes.</a:t>
            </a:r>
            <a:endParaRPr b="1" lang="en-CA" sz="2400" strike="noStrike" u="none">
              <a:solidFill>
                <a:srgbClr val="00468f"/>
              </a:solidFill>
              <a:effectLst/>
              <a:uFillTx/>
              <a:latin typeface="Arial"/>
            </a:endParaRPr>
          </a:p>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Monopoly Outcome</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firm would operate as a single-price monopoly.</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Figure 18.2 on the next slide shows the monopoly outcome.</a:t>
            </a:r>
            <a:endParaRPr b="1" lang="en-CA" sz="2400" strike="noStrike" u="none">
              <a:solidFill>
                <a:srgbClr val="00468f"/>
              </a:solidFill>
              <a:effectLst/>
              <a:uFillTx/>
              <a:latin typeface="Arial"/>
            </a:endParaRPr>
          </a:p>
        </p:txBody>
      </p:sp>
    </p:spTree>
  </p:cSld>
  <p:transition spd="slow">
    <p:wipe dir="r"/>
  </p:transition>
  <p:timing>
    <p:tnLst>
      <p:par>
        <p:cTn id="231" dur="indefinite" restart="never" nodeType="tmRoot">
          <p:childTnLst>
            <p:seq>
              <p:cTn id="232" dur="indefinite" nodeType="mainSeq">
                <p:childTnLst>
                  <p:par>
                    <p:cTn id="233" nodeType="clickEffect" fill="hold">
                      <p:stCondLst>
                        <p:cond delay="indefinite"/>
                      </p:stCondLst>
                      <p:childTnLst>
                        <p:par>
                          <p:cTn id="234" nodeType="withEffect" fill="hold">
                            <p:stCondLst>
                              <p:cond delay="0"/>
                            </p:stCondLst>
                            <p:childTnLst>
                              <p:par>
                                <p:cTn id="235" nodeType="clickEffect" fill="hold" presetClass="entr" presetID="22" presetSubtype="8">
                                  <p:stCondLst>
                                    <p:cond delay="0"/>
                                  </p:stCondLst>
                                  <p:childTnLst>
                                    <p:set>
                                      <p:cBhvr>
                                        <p:cTn id="236" dur="1" fill="hold">
                                          <p:stCondLst>
                                            <p:cond delay="0"/>
                                          </p:stCondLst>
                                        </p:cTn>
                                        <p:tgtEl>
                                          <p:spTgt spid="85">
                                            <p:txEl>
                                              <p:pRg st="1" end="1"/>
                                            </p:txEl>
                                          </p:spTgt>
                                        </p:tgtEl>
                                        <p:attrNameLst>
                                          <p:attrName>style.visibility</p:attrName>
                                        </p:attrNameLst>
                                      </p:cBhvr>
                                      <p:to>
                                        <p:strVal val="visible"/>
                                      </p:to>
                                    </p:set>
                                    <p:animEffect filter="wipe(left)" transition="in">
                                      <p:cBhvr additive="repl">
                                        <p:cTn id="237" dur="500"/>
                                        <p:tgtEl>
                                          <p:spTgt spid="85">
                                            <p:txEl>
                                              <p:pRg st="1" end="1"/>
                                            </p:txEl>
                                          </p:spTgt>
                                        </p:tgtEl>
                                      </p:cBhvr>
                                    </p:animEffect>
                                  </p:childTnLst>
                                </p:cTn>
                              </p:par>
                            </p:childTnLst>
                          </p:cTn>
                        </p:par>
                      </p:childTnLst>
                    </p:cTn>
                  </p:par>
                  <p:par>
                    <p:cTn id="238" nodeType="clickEffect" fill="hold">
                      <p:stCondLst>
                        <p:cond delay="indefinite"/>
                      </p:stCondLst>
                      <p:childTnLst>
                        <p:par>
                          <p:cTn id="239" nodeType="withEffect" fill="hold">
                            <p:stCondLst>
                              <p:cond delay="0"/>
                            </p:stCondLst>
                            <p:childTnLst>
                              <p:par>
                                <p:cTn id="240" nodeType="clickEffect" fill="hold" presetClass="entr" presetID="22" presetSubtype="8">
                                  <p:stCondLst>
                                    <p:cond delay="0"/>
                                  </p:stCondLst>
                                  <p:childTnLst>
                                    <p:set>
                                      <p:cBhvr>
                                        <p:cTn id="241" dur="1" fill="hold">
                                          <p:stCondLst>
                                            <p:cond delay="0"/>
                                          </p:stCondLst>
                                        </p:cTn>
                                        <p:tgtEl>
                                          <p:spTgt spid="85">
                                            <p:txEl>
                                              <p:pRg st="2" end="2"/>
                                            </p:txEl>
                                          </p:spTgt>
                                        </p:tgtEl>
                                        <p:attrNameLst>
                                          <p:attrName>style.visibility</p:attrName>
                                        </p:attrNameLst>
                                      </p:cBhvr>
                                      <p:to>
                                        <p:strVal val="visible"/>
                                      </p:to>
                                    </p:set>
                                    <p:animEffect filter="wipe(left)" transition="in">
                                      <p:cBhvr additive="repl">
                                        <p:cTn id="242" dur="500"/>
                                        <p:tgtEl>
                                          <p:spTgt spid="85">
                                            <p:txEl>
                                              <p:pRg st="2" end="2"/>
                                            </p:txEl>
                                          </p:spTgt>
                                        </p:tgtEl>
                                      </p:cBhvr>
                                    </p:animEffect>
                                  </p:childTnLst>
                                </p:cTn>
                              </p:par>
                            </p:childTnLst>
                          </p:cTn>
                        </p:par>
                      </p:childTnLst>
                    </p:cTn>
                  </p:par>
                  <p:par>
                    <p:cTn id="243" nodeType="clickEffect" fill="hold">
                      <p:stCondLst>
                        <p:cond delay="indefinite"/>
                      </p:stCondLst>
                      <p:childTnLst>
                        <p:par>
                          <p:cTn id="244" nodeType="withEffect" fill="hold">
                            <p:stCondLst>
                              <p:cond delay="0"/>
                            </p:stCondLst>
                            <p:childTnLst>
                              <p:par>
                                <p:cTn id="245" nodeType="clickEffect" fill="hold" presetClass="entr" presetID="22" presetSubtype="8">
                                  <p:stCondLst>
                                    <p:cond delay="0"/>
                                  </p:stCondLst>
                                  <p:childTnLst>
                                    <p:set>
                                      <p:cBhvr>
                                        <p:cTn id="246" dur="1" fill="hold">
                                          <p:stCondLst>
                                            <p:cond delay="0"/>
                                          </p:stCondLst>
                                        </p:cTn>
                                        <p:tgtEl>
                                          <p:spTgt spid="85">
                                            <p:txEl>
                                              <p:pRg st="3" end="3"/>
                                            </p:txEl>
                                          </p:spTgt>
                                        </p:tgtEl>
                                        <p:attrNameLst>
                                          <p:attrName>style.visibility</p:attrName>
                                        </p:attrNameLst>
                                      </p:cBhvr>
                                      <p:to>
                                        <p:strVal val="visible"/>
                                      </p:to>
                                    </p:set>
                                    <p:animEffect filter="wipe(left)" transition="in">
                                      <p:cBhvr additive="repl">
                                        <p:cTn id="247" dur="500"/>
                                        <p:tgtEl>
                                          <p:spTgt spid="85">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18.2  THE OLIGOPOLISTS' DILEMMA</a:t>
            </a:r>
            <a:endParaRPr b="0" lang="en-CA" sz="2600" strike="noStrike" u="none">
              <a:solidFill>
                <a:schemeClr val="dk1"/>
              </a:solidFill>
              <a:effectLst/>
              <a:uFillTx/>
              <a:latin typeface="Arial"/>
            </a:endParaRPr>
          </a:p>
        </p:txBody>
      </p:sp>
      <p:sp>
        <p:nvSpPr>
          <p:cNvPr id="87" name="PlaceHolder 2"/>
          <p:cNvSpPr>
            <a:spLocks noGrp="1"/>
          </p:cNvSpPr>
          <p:nvPr>
            <p:ph/>
          </p:nvPr>
        </p:nvSpPr>
        <p:spPr>
          <a:xfrm>
            <a:off x="360360" y="1440000"/>
            <a:ext cx="405900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With the market demand, </a:t>
            </a:r>
            <a:r>
              <a:rPr b="0" i="1" lang="en-US" sz="2400" strike="noStrike" u="none">
                <a:solidFill>
                  <a:srgbClr val="000000"/>
                </a:solidFill>
                <a:effectLst/>
                <a:uFillTx/>
                <a:latin typeface="Arial"/>
                <a:ea typeface="ＭＳ Ｐゴシック"/>
              </a:rPr>
              <a:t>D</a:t>
            </a:r>
            <a:r>
              <a:rPr b="0" lang="en-US" sz="2400" strike="noStrike" u="none">
                <a:solidFill>
                  <a:srgbClr val="000000"/>
                </a:solidFill>
                <a:effectLst/>
                <a:uFillTx/>
                <a:latin typeface="Arial"/>
                <a:ea typeface="ＭＳ Ｐゴシック"/>
              </a:rPr>
              <a:t>,  marginal revenue curve, </a:t>
            </a:r>
            <a:r>
              <a:rPr b="0" i="1" lang="en-US" sz="2400" strike="noStrike" u="none">
                <a:solidFill>
                  <a:srgbClr val="000000"/>
                </a:solidFill>
                <a:effectLst/>
                <a:uFillTx/>
                <a:latin typeface="Arial"/>
                <a:ea typeface="ＭＳ Ｐゴシック"/>
              </a:rPr>
              <a:t>MR</a:t>
            </a:r>
            <a:r>
              <a:rPr b="0" lang="en-US" sz="2400" strike="noStrike" u="none">
                <a:solidFill>
                  <a:srgbClr val="000000"/>
                </a:solidFill>
                <a:effectLst/>
                <a:uFillTx/>
                <a:latin typeface="Arial"/>
                <a:ea typeface="ＭＳ Ｐゴシック"/>
              </a:rPr>
              <a:t>, and marginal cost, </a:t>
            </a:r>
            <a:r>
              <a:rPr b="0" i="1" lang="en-US" sz="2400" strike="noStrike" u="none">
                <a:solidFill>
                  <a:srgbClr val="000000"/>
                </a:solidFill>
                <a:effectLst/>
                <a:uFillTx/>
                <a:latin typeface="Arial"/>
                <a:ea typeface="ＭＳ Ｐゴシック"/>
              </a:rPr>
              <a:t>MC</a:t>
            </a:r>
            <a:r>
              <a:rPr b="0" lang="en-US" sz="2400" strike="noStrike" u="none">
                <a:solidFill>
                  <a:srgbClr val="000000"/>
                </a:solidFill>
                <a:effectLst/>
                <a:uFillTx/>
                <a:latin typeface="Arial"/>
                <a:ea typeface="ＭＳ Ｐゴシック"/>
              </a:rPr>
              <a:t>,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a monopoly airplane maker maximizes profit by producing 6 airplanes a week and selling them for $13 million an airplane.</a:t>
            </a:r>
            <a:endParaRPr b="1" lang="en-CA" sz="2400" strike="noStrike" u="none">
              <a:solidFill>
                <a:srgbClr val="00468f"/>
              </a:solidFill>
              <a:effectLst/>
              <a:uFillTx/>
              <a:latin typeface="Arial"/>
            </a:endParaRPr>
          </a:p>
        </p:txBody>
      </p:sp>
      <p:pic>
        <p:nvPicPr>
          <p:cNvPr id="88" name="Picture 13" descr="fig17.02a0.gif"/>
          <p:cNvPicPr/>
          <p:nvPr/>
        </p:nvPicPr>
        <p:blipFill>
          <a:blip r:embed="rId1"/>
          <a:stretch/>
        </p:blipFill>
        <p:spPr>
          <a:xfrm>
            <a:off x="4319640" y="1476360"/>
            <a:ext cx="4327200" cy="4519080"/>
          </a:xfrm>
          <a:prstGeom prst="rect">
            <a:avLst/>
          </a:prstGeom>
          <a:noFill/>
          <a:ln w="0">
            <a:noFill/>
          </a:ln>
        </p:spPr>
      </p:pic>
      <p:pic>
        <p:nvPicPr>
          <p:cNvPr id="89" name="Picture 14" descr="fig17.02a1.gif"/>
          <p:cNvPicPr/>
          <p:nvPr/>
        </p:nvPicPr>
        <p:blipFill>
          <a:blip r:embed="rId2"/>
          <a:stretch/>
        </p:blipFill>
        <p:spPr>
          <a:xfrm>
            <a:off x="4319640" y="1476360"/>
            <a:ext cx="4327200" cy="4519080"/>
          </a:xfrm>
          <a:prstGeom prst="rect">
            <a:avLst/>
          </a:prstGeom>
          <a:noFill/>
          <a:ln w="0">
            <a:noFill/>
          </a:ln>
        </p:spPr>
      </p:pic>
      <p:pic>
        <p:nvPicPr>
          <p:cNvPr id="90" name="Picture 15" descr="fig17.02b.gif"/>
          <p:cNvPicPr/>
          <p:nvPr/>
        </p:nvPicPr>
        <p:blipFill>
          <a:blip r:embed="rId3"/>
          <a:stretch/>
        </p:blipFill>
        <p:spPr>
          <a:xfrm>
            <a:off x="4319640" y="1476360"/>
            <a:ext cx="4327200" cy="4519080"/>
          </a:xfrm>
          <a:prstGeom prst="rect">
            <a:avLst/>
          </a:prstGeom>
          <a:noFill/>
          <a:ln w="0">
            <a:noFill/>
          </a:ln>
        </p:spPr>
      </p:pic>
      <p:pic>
        <p:nvPicPr>
          <p:cNvPr id="91" name="Picture 16" descr="fig17.02c.gif"/>
          <p:cNvPicPr/>
          <p:nvPr/>
        </p:nvPicPr>
        <p:blipFill>
          <a:blip r:embed="rId4"/>
          <a:stretch/>
        </p:blipFill>
        <p:spPr>
          <a:xfrm>
            <a:off x="4319640" y="1476360"/>
            <a:ext cx="4327200" cy="4519080"/>
          </a:xfrm>
          <a:prstGeom prst="rect">
            <a:avLst/>
          </a:prstGeom>
          <a:noFill/>
          <a:ln w="0">
            <a:noFill/>
          </a:ln>
        </p:spPr>
      </p:pic>
      <p:pic>
        <p:nvPicPr>
          <p:cNvPr id="92" name="Picture 17" descr="fig17.02d.gif"/>
          <p:cNvPicPr/>
          <p:nvPr/>
        </p:nvPicPr>
        <p:blipFill>
          <a:blip r:embed="rId5"/>
          <a:stretch/>
        </p:blipFill>
        <p:spPr>
          <a:xfrm>
            <a:off x="4319640" y="1476360"/>
            <a:ext cx="4327200" cy="4519080"/>
          </a:xfrm>
          <a:prstGeom prst="rect">
            <a:avLst/>
          </a:prstGeom>
          <a:noFill/>
          <a:ln w="0">
            <a:noFill/>
          </a:ln>
        </p:spPr>
      </p:pic>
    </p:spTree>
  </p:cSld>
  <p:transition spd="slow">
    <p:wipe dir="r"/>
  </p:transition>
  <p:timing>
    <p:tnLst>
      <p:par>
        <p:cTn id="248" dur="indefinite" restart="never" nodeType="tmRoot">
          <p:childTnLst>
            <p:seq>
              <p:cTn id="249" dur="indefinite" nodeType="mainSeq">
                <p:childTnLst>
                  <p:par>
                    <p:cTn id="250" nodeType="clickEffect" fill="hold">
                      <p:stCondLst>
                        <p:cond delay="0"/>
                      </p:stCondLst>
                      <p:childTnLst>
                        <p:par>
                          <p:cTn id="251" nodeType="withEffect" fill="hold">
                            <p:stCondLst>
                              <p:cond delay="0"/>
                            </p:stCondLst>
                            <p:childTnLst>
                              <p:par>
                                <p:cTn id="252" nodeType="withEffect" fill="hold" presetClass="entr" presetID="22" presetSubtype="8">
                                  <p:stCondLst>
                                    <p:cond delay="0"/>
                                  </p:stCondLst>
                                  <p:childTnLst>
                                    <p:set>
                                      <p:cBhvr>
                                        <p:cTn id="253" dur="1" fill="hold">
                                          <p:stCondLst>
                                            <p:cond delay="0"/>
                                          </p:stCondLst>
                                        </p:cTn>
                                        <p:tgtEl>
                                          <p:spTgt spid="89"/>
                                        </p:tgtEl>
                                        <p:attrNameLst>
                                          <p:attrName>style.visibility</p:attrName>
                                        </p:attrNameLst>
                                      </p:cBhvr>
                                      <p:to>
                                        <p:strVal val="visible"/>
                                      </p:to>
                                    </p:set>
                                    <p:animEffect filter="wipe(left)" transition="in">
                                      <p:cBhvr additive="repl">
                                        <p:cTn id="254" dur="1000"/>
                                        <p:tgtEl>
                                          <p:spTgt spid="89"/>
                                        </p:tgtEl>
                                      </p:cBhvr>
                                    </p:animEffect>
                                  </p:childTnLst>
                                </p:cTn>
                              </p:par>
                              <p:par>
                                <p:cTn id="255" nodeType="withEffect" fill="hold" presetClass="entr" presetID="22" presetSubtype="8">
                                  <p:stCondLst>
                                    <p:cond delay="700"/>
                                  </p:stCondLst>
                                  <p:childTnLst>
                                    <p:set>
                                      <p:cBhvr>
                                        <p:cTn id="256" dur="1" fill="hold">
                                          <p:stCondLst>
                                            <p:cond delay="0"/>
                                          </p:stCondLst>
                                        </p:cTn>
                                        <p:tgtEl>
                                          <p:spTgt spid="90"/>
                                        </p:tgtEl>
                                        <p:attrNameLst>
                                          <p:attrName>style.visibility</p:attrName>
                                        </p:attrNameLst>
                                      </p:cBhvr>
                                      <p:to>
                                        <p:strVal val="visible"/>
                                      </p:to>
                                    </p:set>
                                    <p:animEffect filter="wipe(left)" transition="in">
                                      <p:cBhvr additive="repl">
                                        <p:cTn id="257" dur="1000"/>
                                        <p:tgtEl>
                                          <p:spTgt spid="90"/>
                                        </p:tgtEl>
                                      </p:cBhvr>
                                    </p:animEffect>
                                  </p:childTnLst>
                                </p:cTn>
                              </p:par>
                              <p:par>
                                <p:cTn id="258" nodeType="withEffect" fill="hold" presetClass="entr" presetID="22" presetSubtype="8">
                                  <p:stCondLst>
                                    <p:cond delay="1400"/>
                                  </p:stCondLst>
                                  <p:childTnLst>
                                    <p:set>
                                      <p:cBhvr>
                                        <p:cTn id="259" dur="1" fill="hold">
                                          <p:stCondLst>
                                            <p:cond delay="0"/>
                                          </p:stCondLst>
                                        </p:cTn>
                                        <p:tgtEl>
                                          <p:spTgt spid="91"/>
                                        </p:tgtEl>
                                        <p:attrNameLst>
                                          <p:attrName>style.visibility</p:attrName>
                                        </p:attrNameLst>
                                      </p:cBhvr>
                                      <p:to>
                                        <p:strVal val="visible"/>
                                      </p:to>
                                    </p:set>
                                    <p:animEffect filter="wipe(left)" transition="in">
                                      <p:cBhvr additive="repl">
                                        <p:cTn id="260" dur="1000"/>
                                        <p:tgtEl>
                                          <p:spTgt spid="91"/>
                                        </p:tgtEl>
                                      </p:cBhvr>
                                    </p:animEffect>
                                  </p:childTnLst>
                                </p:cTn>
                              </p:par>
                            </p:childTnLst>
                          </p:cTn>
                        </p:par>
                      </p:childTnLst>
                    </p:cTn>
                  </p:par>
                  <p:par>
                    <p:cTn id="261" nodeType="clickEffect" fill="hold">
                      <p:stCondLst>
                        <p:cond delay="indefinite"/>
                      </p:stCondLst>
                      <p:childTnLst>
                        <p:par>
                          <p:cTn id="262" nodeType="withEffect" fill="hold">
                            <p:stCondLst>
                              <p:cond delay="0"/>
                            </p:stCondLst>
                            <p:childTnLst>
                              <p:par>
                                <p:cTn id="263" nodeType="clickEffect" fill="hold" presetClass="entr" presetID="22" presetSubtype="8">
                                  <p:stCondLst>
                                    <p:cond delay="0"/>
                                  </p:stCondLst>
                                  <p:childTnLst>
                                    <p:set>
                                      <p:cBhvr>
                                        <p:cTn id="264" dur="1" fill="hold">
                                          <p:stCondLst>
                                            <p:cond delay="0"/>
                                          </p:stCondLst>
                                        </p:cTn>
                                        <p:tgtEl>
                                          <p:spTgt spid="87">
                                            <p:txEl>
                                              <p:pRg st="1" end="1"/>
                                            </p:txEl>
                                          </p:spTgt>
                                        </p:tgtEl>
                                        <p:attrNameLst>
                                          <p:attrName>style.visibility</p:attrName>
                                        </p:attrNameLst>
                                      </p:cBhvr>
                                      <p:to>
                                        <p:strVal val="visible"/>
                                      </p:to>
                                    </p:set>
                                    <p:animEffect filter="wipe(left)" transition="in">
                                      <p:cBhvr additive="repl">
                                        <p:cTn id="265" dur="500"/>
                                        <p:tgtEl>
                                          <p:spTgt spid="87">
                                            <p:txEl>
                                              <p:pRg st="1" end="1"/>
                                            </p:txEl>
                                          </p:spTgt>
                                        </p:tgtEl>
                                      </p:cBhvr>
                                    </p:animEffect>
                                  </p:childTnLst>
                                </p:cTn>
                              </p:par>
                              <p:par>
                                <p:cTn id="266" nodeType="withEffect" fill="hold" presetClass="entr" presetID="10">
                                  <p:stCondLst>
                                    <p:cond delay="0"/>
                                  </p:stCondLst>
                                  <p:childTnLst>
                                    <p:set>
                                      <p:cBhvr>
                                        <p:cTn id="267" dur="1" fill="hold">
                                          <p:stCondLst>
                                            <p:cond delay="0"/>
                                          </p:stCondLst>
                                        </p:cTn>
                                        <p:tgtEl>
                                          <p:spTgt spid="92"/>
                                        </p:tgtEl>
                                        <p:attrNameLst>
                                          <p:attrName>style.visibility</p:attrName>
                                        </p:attrNameLst>
                                      </p:cBhvr>
                                      <p:to>
                                        <p:strVal val="visible"/>
                                      </p:to>
                                    </p:set>
                                    <p:animEffect filter="fade" transition="in">
                                      <p:cBhvr additive="repl">
                                        <p:cTn id="268" dur="500"/>
                                        <p:tgtEl>
                                          <p:spTgt spid="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93" name="Picture 11" descr="fig17.02a0.gif"/>
          <p:cNvPicPr/>
          <p:nvPr/>
        </p:nvPicPr>
        <p:blipFill>
          <a:blip r:embed="rId1"/>
          <a:stretch/>
        </p:blipFill>
        <p:spPr>
          <a:xfrm>
            <a:off x="1752480" y="152280"/>
            <a:ext cx="5871960" cy="6135480"/>
          </a:xfrm>
          <a:prstGeom prst="rect">
            <a:avLst/>
          </a:prstGeom>
          <a:noFill/>
          <a:ln w="0">
            <a:noFill/>
          </a:ln>
        </p:spPr>
      </p:pic>
      <p:pic>
        <p:nvPicPr>
          <p:cNvPr id="94" name="Picture 12" descr="fig17.02a1.gif"/>
          <p:cNvPicPr/>
          <p:nvPr/>
        </p:nvPicPr>
        <p:blipFill>
          <a:blip r:embed="rId2"/>
          <a:stretch/>
        </p:blipFill>
        <p:spPr>
          <a:xfrm>
            <a:off x="1752480" y="152280"/>
            <a:ext cx="5871960" cy="6135480"/>
          </a:xfrm>
          <a:prstGeom prst="rect">
            <a:avLst/>
          </a:prstGeom>
          <a:noFill/>
          <a:ln w="0">
            <a:noFill/>
          </a:ln>
        </p:spPr>
      </p:pic>
      <p:pic>
        <p:nvPicPr>
          <p:cNvPr id="95" name="Picture 13" descr="fig17.02b.gif"/>
          <p:cNvPicPr/>
          <p:nvPr/>
        </p:nvPicPr>
        <p:blipFill>
          <a:blip r:embed="rId3"/>
          <a:stretch/>
        </p:blipFill>
        <p:spPr>
          <a:xfrm>
            <a:off x="1752480" y="152280"/>
            <a:ext cx="5871960" cy="6135480"/>
          </a:xfrm>
          <a:prstGeom prst="rect">
            <a:avLst/>
          </a:prstGeom>
          <a:noFill/>
          <a:ln w="0">
            <a:noFill/>
          </a:ln>
        </p:spPr>
      </p:pic>
      <p:pic>
        <p:nvPicPr>
          <p:cNvPr id="96" name="Picture 14" descr="fig17.02c.gif"/>
          <p:cNvPicPr/>
          <p:nvPr/>
        </p:nvPicPr>
        <p:blipFill>
          <a:blip r:embed="rId4"/>
          <a:stretch/>
        </p:blipFill>
        <p:spPr>
          <a:xfrm>
            <a:off x="1752480" y="152280"/>
            <a:ext cx="5871960" cy="6135480"/>
          </a:xfrm>
          <a:prstGeom prst="rect">
            <a:avLst/>
          </a:prstGeom>
          <a:noFill/>
          <a:ln w="0">
            <a:noFill/>
          </a:ln>
        </p:spPr>
      </p:pic>
      <p:pic>
        <p:nvPicPr>
          <p:cNvPr id="97" name="Picture 15" descr="fig17.02d.gif"/>
          <p:cNvPicPr/>
          <p:nvPr/>
        </p:nvPicPr>
        <p:blipFill>
          <a:blip r:embed="rId5"/>
          <a:stretch/>
        </p:blipFill>
        <p:spPr>
          <a:xfrm>
            <a:off x="1752480" y="152280"/>
            <a:ext cx="5871960" cy="6135480"/>
          </a:xfrm>
          <a:prstGeom prst="rect">
            <a:avLst/>
          </a:prstGeom>
          <a:noFill/>
          <a:ln w="0">
            <a:noFill/>
          </a:ln>
        </p:spPr>
      </p:pic>
      <p:pic>
        <p:nvPicPr>
          <p:cNvPr id="98" name="Picture 16" descr="fig17.02e.gif"/>
          <p:cNvPicPr/>
          <p:nvPr/>
        </p:nvPicPr>
        <p:blipFill>
          <a:blip r:embed="rId6"/>
          <a:stretch/>
        </p:blipFill>
        <p:spPr>
          <a:xfrm>
            <a:off x="1752480" y="152280"/>
            <a:ext cx="5871960" cy="6135480"/>
          </a:xfrm>
          <a:prstGeom prst="rect">
            <a:avLst/>
          </a:prstGeom>
          <a:noFill/>
          <a:ln w="0">
            <a:noFill/>
          </a:ln>
        </p:spPr>
      </p:pic>
      <p:pic>
        <p:nvPicPr>
          <p:cNvPr id="99" name="Picture 17" descr="fig17.02f.gif"/>
          <p:cNvPicPr/>
          <p:nvPr/>
        </p:nvPicPr>
        <p:blipFill>
          <a:blip r:embed="rId7"/>
          <a:stretch/>
        </p:blipFill>
        <p:spPr>
          <a:xfrm>
            <a:off x="1752480" y="152280"/>
            <a:ext cx="5871960" cy="6135480"/>
          </a:xfrm>
          <a:prstGeom prst="rect">
            <a:avLst/>
          </a:prstGeom>
          <a:noFill/>
          <a:ln w="0">
            <a:noFill/>
          </a:ln>
        </p:spPr>
      </p:pic>
    </p:spTree>
  </p:cSld>
  <p:transition spd="slow">
    <p:wipe dir="r"/>
  </p:transition>
  <p:timing>
    <p:tnLst>
      <p:par>
        <p:cTn id="269" dur="indefinite" restart="never" nodeType="tmRoot">
          <p:childTnLst>
            <p:seq>
              <p:cTn id="270" dur="indefinite" nodeType="mainSeq">
                <p:childTnLst>
                  <p:par>
                    <p:cTn id="271" nodeType="clickEffect" fill="hold">
                      <p:stCondLst>
                        <p:cond delay="indefinite"/>
                      </p:stCondLst>
                      <p:childTnLst>
                        <p:par>
                          <p:cTn id="272" nodeType="withEffect" fill="hold">
                            <p:stCondLst>
                              <p:cond delay="0"/>
                            </p:stCondLst>
                            <p:childTnLst>
                              <p:par>
                                <p:cTn id="273" nodeType="clickEffect" fill="hold" presetClass="entr" presetID="22" presetSubtype="8">
                                  <p:stCondLst>
                                    <p:cond delay="0"/>
                                  </p:stCondLst>
                                  <p:childTnLst>
                                    <p:set>
                                      <p:cBhvr>
                                        <p:cTn id="274" dur="1" fill="hold">
                                          <p:stCondLst>
                                            <p:cond delay="0"/>
                                          </p:stCondLst>
                                        </p:cTn>
                                        <p:tgtEl>
                                          <p:spTgt spid="94"/>
                                        </p:tgtEl>
                                        <p:attrNameLst>
                                          <p:attrName>style.visibility</p:attrName>
                                        </p:attrNameLst>
                                      </p:cBhvr>
                                      <p:to>
                                        <p:strVal val="visible"/>
                                      </p:to>
                                    </p:set>
                                    <p:animEffect filter="wipe(left)" transition="in">
                                      <p:cBhvr additive="repl">
                                        <p:cTn id="275" dur="1000"/>
                                        <p:tgtEl>
                                          <p:spTgt spid="94"/>
                                        </p:tgtEl>
                                      </p:cBhvr>
                                    </p:animEffect>
                                  </p:childTnLst>
                                </p:cTn>
                              </p:par>
                            </p:childTnLst>
                          </p:cTn>
                        </p:par>
                      </p:childTnLst>
                    </p:cTn>
                  </p:par>
                  <p:par>
                    <p:cTn id="276" nodeType="clickEffect" fill="hold">
                      <p:stCondLst>
                        <p:cond delay="indefinite"/>
                      </p:stCondLst>
                      <p:childTnLst>
                        <p:par>
                          <p:cTn id="277" nodeType="withEffect" fill="hold">
                            <p:stCondLst>
                              <p:cond delay="0"/>
                            </p:stCondLst>
                            <p:childTnLst>
                              <p:par>
                                <p:cTn id="278" nodeType="clickEffect" fill="hold" presetClass="entr" presetID="22" presetSubtype="8">
                                  <p:stCondLst>
                                    <p:cond delay="0"/>
                                  </p:stCondLst>
                                  <p:childTnLst>
                                    <p:set>
                                      <p:cBhvr>
                                        <p:cTn id="279" dur="1" fill="hold">
                                          <p:stCondLst>
                                            <p:cond delay="0"/>
                                          </p:stCondLst>
                                        </p:cTn>
                                        <p:tgtEl>
                                          <p:spTgt spid="95"/>
                                        </p:tgtEl>
                                        <p:attrNameLst>
                                          <p:attrName>style.visibility</p:attrName>
                                        </p:attrNameLst>
                                      </p:cBhvr>
                                      <p:to>
                                        <p:strVal val="visible"/>
                                      </p:to>
                                    </p:set>
                                    <p:animEffect filter="wipe(left)" transition="in">
                                      <p:cBhvr additive="repl">
                                        <p:cTn id="280" dur="1000"/>
                                        <p:tgtEl>
                                          <p:spTgt spid="95"/>
                                        </p:tgtEl>
                                      </p:cBhvr>
                                    </p:animEffect>
                                  </p:childTnLst>
                                </p:cTn>
                              </p:par>
                            </p:childTnLst>
                          </p:cTn>
                        </p:par>
                      </p:childTnLst>
                    </p:cTn>
                  </p:par>
                  <p:par>
                    <p:cTn id="281" nodeType="clickEffect" fill="hold">
                      <p:stCondLst>
                        <p:cond delay="indefinite"/>
                      </p:stCondLst>
                      <p:childTnLst>
                        <p:par>
                          <p:cTn id="282" nodeType="withEffect" fill="hold">
                            <p:stCondLst>
                              <p:cond delay="0"/>
                            </p:stCondLst>
                            <p:childTnLst>
                              <p:par>
                                <p:cTn id="283" nodeType="clickEffect" fill="hold" presetClass="entr" presetID="22" presetSubtype="8">
                                  <p:stCondLst>
                                    <p:cond delay="0"/>
                                  </p:stCondLst>
                                  <p:childTnLst>
                                    <p:set>
                                      <p:cBhvr>
                                        <p:cTn id="284" dur="1" fill="hold">
                                          <p:stCondLst>
                                            <p:cond delay="0"/>
                                          </p:stCondLst>
                                        </p:cTn>
                                        <p:tgtEl>
                                          <p:spTgt spid="96"/>
                                        </p:tgtEl>
                                        <p:attrNameLst>
                                          <p:attrName>style.visibility</p:attrName>
                                        </p:attrNameLst>
                                      </p:cBhvr>
                                      <p:to>
                                        <p:strVal val="visible"/>
                                      </p:to>
                                    </p:set>
                                    <p:animEffect filter="wipe(left)" transition="in">
                                      <p:cBhvr additive="repl">
                                        <p:cTn id="285" dur="1000"/>
                                        <p:tgtEl>
                                          <p:spTgt spid="96"/>
                                        </p:tgtEl>
                                      </p:cBhvr>
                                    </p:animEffect>
                                  </p:childTnLst>
                                </p:cTn>
                              </p:par>
                            </p:childTnLst>
                          </p:cTn>
                        </p:par>
                      </p:childTnLst>
                    </p:cTn>
                  </p:par>
                  <p:par>
                    <p:cTn id="286" nodeType="clickEffect" fill="hold">
                      <p:stCondLst>
                        <p:cond delay="indefinite"/>
                      </p:stCondLst>
                      <p:childTnLst>
                        <p:par>
                          <p:cTn id="287" nodeType="withEffect" fill="hold">
                            <p:stCondLst>
                              <p:cond delay="0"/>
                            </p:stCondLst>
                            <p:childTnLst>
                              <p:par>
                                <p:cTn id="288" nodeType="clickEffect" fill="hold" presetClass="entr" presetID="10">
                                  <p:stCondLst>
                                    <p:cond delay="0"/>
                                  </p:stCondLst>
                                  <p:childTnLst>
                                    <p:set>
                                      <p:cBhvr>
                                        <p:cTn id="289" dur="1" fill="hold">
                                          <p:stCondLst>
                                            <p:cond delay="0"/>
                                          </p:stCondLst>
                                        </p:cTn>
                                        <p:tgtEl>
                                          <p:spTgt spid="97"/>
                                        </p:tgtEl>
                                        <p:attrNameLst>
                                          <p:attrName>style.visibility</p:attrName>
                                        </p:attrNameLst>
                                      </p:cBhvr>
                                      <p:to>
                                        <p:strVal val="visible"/>
                                      </p:to>
                                    </p:set>
                                    <p:animEffect filter="fade" transition="in">
                                      <p:cBhvr additive="repl">
                                        <p:cTn id="290" dur="500"/>
                                        <p:tgtEl>
                                          <p:spTgt spid="97"/>
                                        </p:tgtEl>
                                      </p:cBhvr>
                                    </p:animEffect>
                                  </p:childTnLst>
                                </p:cTn>
                              </p:par>
                            </p:childTnLst>
                          </p:cTn>
                        </p:par>
                      </p:childTnLst>
                    </p:cTn>
                  </p:par>
                  <p:par>
                    <p:cTn id="291" nodeType="clickEffect" fill="hold">
                      <p:stCondLst>
                        <p:cond delay="indefinite"/>
                      </p:stCondLst>
                      <p:childTnLst>
                        <p:par>
                          <p:cTn id="292" nodeType="withEffect" fill="hold">
                            <p:stCondLst>
                              <p:cond delay="0"/>
                            </p:stCondLst>
                            <p:childTnLst>
                              <p:par>
                                <p:cTn id="293" nodeType="clickEffect" fill="hold" presetClass="entr" presetID="10">
                                  <p:stCondLst>
                                    <p:cond delay="0"/>
                                  </p:stCondLst>
                                  <p:childTnLst>
                                    <p:set>
                                      <p:cBhvr>
                                        <p:cTn id="294" dur="1" fill="hold">
                                          <p:stCondLst>
                                            <p:cond delay="0"/>
                                          </p:stCondLst>
                                        </p:cTn>
                                        <p:tgtEl>
                                          <p:spTgt spid="98"/>
                                        </p:tgtEl>
                                        <p:attrNameLst>
                                          <p:attrName>style.visibility</p:attrName>
                                        </p:attrNameLst>
                                      </p:cBhvr>
                                      <p:to>
                                        <p:strVal val="visible"/>
                                      </p:to>
                                    </p:set>
                                    <p:animEffect filter="fade" transition="in">
                                      <p:cBhvr additive="repl">
                                        <p:cTn id="295" dur="500"/>
                                        <p:tgtEl>
                                          <p:spTgt spid="98"/>
                                        </p:tgtEl>
                                      </p:cBhvr>
                                    </p:animEffect>
                                  </p:childTnLst>
                                </p:cTn>
                              </p:par>
                            </p:childTnLst>
                          </p:cTn>
                        </p:par>
                      </p:childTnLst>
                    </p:cTn>
                  </p:par>
                  <p:par>
                    <p:cTn id="296" nodeType="clickEffect" fill="hold">
                      <p:stCondLst>
                        <p:cond delay="indefinite"/>
                      </p:stCondLst>
                      <p:childTnLst>
                        <p:par>
                          <p:cTn id="297" nodeType="withEffect" fill="hold">
                            <p:stCondLst>
                              <p:cond delay="0"/>
                            </p:stCondLst>
                            <p:childTnLst>
                              <p:par>
                                <p:cTn id="298" nodeType="clickEffect" fill="hold" presetClass="entr" presetID="22" presetSubtype="4">
                                  <p:stCondLst>
                                    <p:cond delay="0"/>
                                  </p:stCondLst>
                                  <p:childTnLst>
                                    <p:set>
                                      <p:cBhvr>
                                        <p:cTn id="299" dur="1" fill="hold">
                                          <p:stCondLst>
                                            <p:cond delay="0"/>
                                          </p:stCondLst>
                                        </p:cTn>
                                        <p:tgtEl>
                                          <p:spTgt spid="99"/>
                                        </p:tgtEl>
                                        <p:attrNameLst>
                                          <p:attrName>style.visibility</p:attrName>
                                        </p:attrNameLst>
                                      </p:cBhvr>
                                      <p:to>
                                        <p:strVal val="visible"/>
                                      </p:to>
                                    </p:set>
                                    <p:animEffect filter="wipe(down)" transition="in">
                                      <p:cBhvr additive="repl">
                                        <p:cTn id="300" dur="1000"/>
                                        <p:tgtEl>
                                          <p:spTgt spid="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18.2  THE OLIGOPOLISTS' DILEMMA</a:t>
            </a:r>
            <a:endParaRPr b="0" lang="en-CA" sz="2600" strike="noStrike" u="none">
              <a:solidFill>
                <a:schemeClr val="dk1"/>
              </a:solidFill>
              <a:effectLst/>
              <a:uFillTx/>
              <a:latin typeface="Arial"/>
            </a:endParaRPr>
          </a:p>
        </p:txBody>
      </p:sp>
      <p:sp>
        <p:nvSpPr>
          <p:cNvPr id="101"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Cartel to Achieve Monopoly Outcome</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To achieve the monopoly profit Airbus and Boeing might attempt to form a cartel.</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If the firms can agree to produce the monopoly output of 6 airplanes a week, joint profits will be $72 million. </a:t>
            </a:r>
            <a:endParaRPr b="1" lang="en-CA" sz="2400" strike="noStrike" u="none">
              <a:solidFill>
                <a:srgbClr val="00468f"/>
              </a:solidFill>
              <a:effectLst/>
              <a:uFillTx/>
              <a:latin typeface="Arial"/>
            </a:endParaRPr>
          </a:p>
        </p:txBody>
      </p:sp>
      <p:pic>
        <p:nvPicPr>
          <p:cNvPr id="102" name="Picture 4" descr=""/>
          <p:cNvPicPr/>
          <p:nvPr/>
        </p:nvPicPr>
        <p:blipFill>
          <a:blip r:embed="rId1"/>
          <a:stretch/>
        </p:blipFill>
        <p:spPr>
          <a:xfrm>
            <a:off x="4859280" y="1800360"/>
            <a:ext cx="3414240" cy="3708000"/>
          </a:xfrm>
          <a:prstGeom prst="rect">
            <a:avLst/>
          </a:prstGeom>
          <a:noFill/>
          <a:ln w="0">
            <a:noFill/>
          </a:ln>
        </p:spPr>
      </p:pic>
    </p:spTree>
  </p:cSld>
  <p:transition spd="slow">
    <p:wipe dir="r"/>
  </p:transition>
  <p:timing>
    <p:tnLst>
      <p:par>
        <p:cTn id="301" dur="indefinite" restart="never" nodeType="tmRoot">
          <p:childTnLst>
            <p:seq>
              <p:cTn id="302" dur="indefinite" nodeType="mainSeq">
                <p:childTnLst>
                  <p:par>
                    <p:cTn id="303" nodeType="clickEffect" fill="hold">
                      <p:stCondLst>
                        <p:cond delay="indefinite"/>
                      </p:stCondLst>
                      <p:childTnLst>
                        <p:par>
                          <p:cTn id="304" nodeType="withEffect" fill="hold">
                            <p:stCondLst>
                              <p:cond delay="0"/>
                            </p:stCondLst>
                            <p:childTnLst>
                              <p:par>
                                <p:cTn id="305" nodeType="clickEffect" fill="hold" presetClass="entr" presetID="22" presetSubtype="8">
                                  <p:stCondLst>
                                    <p:cond delay="0"/>
                                  </p:stCondLst>
                                  <p:childTnLst>
                                    <p:set>
                                      <p:cBhvr>
                                        <p:cTn id="306" dur="1" fill="hold">
                                          <p:stCondLst>
                                            <p:cond delay="0"/>
                                          </p:stCondLst>
                                        </p:cTn>
                                        <p:tgtEl>
                                          <p:spTgt spid="101">
                                            <p:txEl>
                                              <p:pRg st="1" end="1"/>
                                            </p:txEl>
                                          </p:spTgt>
                                        </p:tgtEl>
                                        <p:attrNameLst>
                                          <p:attrName>style.visibility</p:attrName>
                                        </p:attrNameLst>
                                      </p:cBhvr>
                                      <p:to>
                                        <p:strVal val="visible"/>
                                      </p:to>
                                    </p:set>
                                    <p:animEffect filter="wipe(left)" transition="in">
                                      <p:cBhvr additive="repl">
                                        <p:cTn id="307" dur="500"/>
                                        <p:tgtEl>
                                          <p:spTgt spid="101">
                                            <p:txEl>
                                              <p:pRg st="1" end="1"/>
                                            </p:txEl>
                                          </p:spTgt>
                                        </p:tgtEl>
                                      </p:cBhvr>
                                    </p:animEffect>
                                  </p:childTnLst>
                                </p:cTn>
                              </p:par>
                              <p:par>
                                <p:cTn id="308" nodeType="withEffect" fill="hold" presetClass="entr" presetID="2" presetSubtype="4">
                                  <p:stCondLst>
                                    <p:cond delay="0"/>
                                  </p:stCondLst>
                                  <p:childTnLst>
                                    <p:set>
                                      <p:cBhvr>
                                        <p:cTn id="309" dur="1" fill="hold">
                                          <p:stCondLst>
                                            <p:cond delay="0"/>
                                          </p:stCondLst>
                                        </p:cTn>
                                        <p:tgtEl>
                                          <p:spTgt spid="102"/>
                                        </p:tgtEl>
                                        <p:attrNameLst>
                                          <p:attrName>style.visibility</p:attrName>
                                        </p:attrNameLst>
                                      </p:cBhvr>
                                      <p:to>
                                        <p:strVal val="visible"/>
                                      </p:to>
                                    </p:set>
                                    <p:anim calcmode="lin" valueType="num">
                                      <p:cBhvr additive="repl">
                                        <p:cTn id="310" dur="1000" fill="hold"/>
                                        <p:tgtEl>
                                          <p:spTgt spid="102"/>
                                        </p:tgtEl>
                                        <p:attrNameLst>
                                          <p:attrName>ppt_x</p:attrName>
                                        </p:attrNameLst>
                                      </p:cBhvr>
                                      <p:tavLst>
                                        <p:tav tm="0">
                                          <p:val>
                                            <p:strVal val="#ppt_x"/>
                                          </p:val>
                                        </p:tav>
                                        <p:tav tm="100000">
                                          <p:val>
                                            <p:strVal val="#ppt_x"/>
                                          </p:val>
                                        </p:tav>
                                      </p:tavLst>
                                    </p:anim>
                                    <p:anim calcmode="lin" valueType="num">
                                      <p:cBhvr additive="repl">
                                        <p:cTn id="311" dur="1000" fill="hold"/>
                                        <p:tgtEl>
                                          <p:spTgt spid="102"/>
                                        </p:tgtEl>
                                        <p:attrNameLst>
                                          <p:attrName>ppt_y</p:attrName>
                                        </p:attrNameLst>
                                      </p:cBhvr>
                                      <p:tavLst>
                                        <p:tav tm="0">
                                          <p:val>
                                            <p:strVal val="1+#ppt_h/2"/>
                                          </p:val>
                                        </p:tav>
                                        <p:tav tm="100000">
                                          <p:val>
                                            <p:strVal val="#ppt_y"/>
                                          </p:val>
                                        </p:tav>
                                      </p:tavLst>
                                    </p:anim>
                                  </p:childTnLst>
                                </p:cTn>
                              </p:par>
                            </p:childTnLst>
                          </p:cTn>
                        </p:par>
                      </p:childTnLst>
                    </p:cTn>
                  </p:par>
                  <p:par>
                    <p:cTn id="312" nodeType="clickEffect" fill="hold">
                      <p:stCondLst>
                        <p:cond delay="indefinite"/>
                      </p:stCondLst>
                      <p:childTnLst>
                        <p:par>
                          <p:cTn id="313" nodeType="withEffect" fill="hold">
                            <p:stCondLst>
                              <p:cond delay="0"/>
                            </p:stCondLst>
                            <p:childTnLst>
                              <p:par>
                                <p:cTn id="314" nodeType="clickEffect" fill="hold" presetClass="entr" presetID="22" presetSubtype="8">
                                  <p:stCondLst>
                                    <p:cond delay="0"/>
                                  </p:stCondLst>
                                  <p:childTnLst>
                                    <p:set>
                                      <p:cBhvr>
                                        <p:cTn id="315" dur="1" fill="hold">
                                          <p:stCondLst>
                                            <p:cond delay="0"/>
                                          </p:stCondLst>
                                        </p:cTn>
                                        <p:tgtEl>
                                          <p:spTgt spid="101">
                                            <p:txEl>
                                              <p:pRg st="2" end="2"/>
                                            </p:txEl>
                                          </p:spTgt>
                                        </p:tgtEl>
                                        <p:attrNameLst>
                                          <p:attrName>style.visibility</p:attrName>
                                        </p:attrNameLst>
                                      </p:cBhvr>
                                      <p:to>
                                        <p:strVal val="visible"/>
                                      </p:to>
                                    </p:set>
                                    <p:animEffect filter="wipe(left)" transition="in">
                                      <p:cBhvr additive="repl">
                                        <p:cTn id="316" dur="500"/>
                                        <p:tgtEl>
                                          <p:spTgt spid="101">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03" name="Picture 1" descr=""/>
          <p:cNvPicPr/>
          <p:nvPr/>
        </p:nvPicPr>
        <p:blipFill>
          <a:blip r:embed="rId1"/>
          <a:stretch/>
        </p:blipFill>
        <p:spPr>
          <a:xfrm>
            <a:off x="2438280" y="1111320"/>
            <a:ext cx="4266720" cy="4635000"/>
          </a:xfrm>
          <a:prstGeom prst="rect">
            <a:avLst/>
          </a:prstGeom>
          <a:noFill/>
          <a:ln w="0">
            <a:noFill/>
          </a:ln>
        </p:spPr>
      </p:pic>
    </p:spTree>
  </p:cSld>
  <p:transition spd="slow">
    <p:wipe dir="r"/>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18.2  THE OLIGOPOLISTS' DILEMMA</a:t>
            </a:r>
            <a:endParaRPr b="0" lang="en-CA" sz="2600" strike="noStrike" u="none">
              <a:solidFill>
                <a:schemeClr val="dk1"/>
              </a:solidFill>
              <a:effectLst/>
              <a:uFillTx/>
              <a:latin typeface="Arial"/>
            </a:endParaRPr>
          </a:p>
        </p:txBody>
      </p:sp>
      <p:sp>
        <p:nvSpPr>
          <p:cNvPr id="105"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Would it be in the self-interest of Airbus and Boeing to stick to the agreement and limit production to 3 planes a week each?</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With price exceeding marginal cost, one firm can increase its profit by increasing its output.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If both firms increased output when price exceeds marginal cost, the end of the process would be the same as perfect competition.</a:t>
            </a:r>
            <a:endParaRPr b="1" lang="en-CA" sz="2400" strike="noStrike" u="none">
              <a:solidFill>
                <a:srgbClr val="00468f"/>
              </a:solidFill>
              <a:effectLst/>
              <a:uFillTx/>
              <a:latin typeface="Arial"/>
            </a:endParaRPr>
          </a:p>
        </p:txBody>
      </p:sp>
    </p:spTree>
  </p:cSld>
  <p:transition spd="slow">
    <p:wipe dir="r"/>
  </p:transition>
  <p:timing>
    <p:tnLst>
      <p:par>
        <p:cTn id="317" dur="indefinite" restart="never" nodeType="tmRoot">
          <p:childTnLst>
            <p:seq>
              <p:cTn id="318" dur="indefinite" nodeType="mainSeq">
                <p:childTnLst>
                  <p:par>
                    <p:cTn id="319" nodeType="clickEffect" fill="hold">
                      <p:stCondLst>
                        <p:cond delay="indefinite"/>
                      </p:stCondLst>
                      <p:childTnLst>
                        <p:par>
                          <p:cTn id="320" nodeType="withEffect" fill="hold">
                            <p:stCondLst>
                              <p:cond delay="0"/>
                            </p:stCondLst>
                            <p:childTnLst>
                              <p:par>
                                <p:cTn id="321" nodeType="clickEffect" fill="hold" presetClass="entr" presetID="22" presetSubtype="8">
                                  <p:stCondLst>
                                    <p:cond delay="0"/>
                                  </p:stCondLst>
                                  <p:childTnLst>
                                    <p:set>
                                      <p:cBhvr>
                                        <p:cTn id="322" dur="1" fill="hold">
                                          <p:stCondLst>
                                            <p:cond delay="0"/>
                                          </p:stCondLst>
                                        </p:cTn>
                                        <p:tgtEl>
                                          <p:spTgt spid="105">
                                            <p:txEl>
                                              <p:pRg st="1" end="1"/>
                                            </p:txEl>
                                          </p:spTgt>
                                        </p:tgtEl>
                                        <p:attrNameLst>
                                          <p:attrName>style.visibility</p:attrName>
                                        </p:attrNameLst>
                                      </p:cBhvr>
                                      <p:to>
                                        <p:strVal val="visible"/>
                                      </p:to>
                                    </p:set>
                                    <p:animEffect filter="wipe(left)" transition="in">
                                      <p:cBhvr additive="repl">
                                        <p:cTn id="323" dur="500"/>
                                        <p:tgtEl>
                                          <p:spTgt spid="105">
                                            <p:txEl>
                                              <p:pRg st="1" end="1"/>
                                            </p:txEl>
                                          </p:spTgt>
                                        </p:tgtEl>
                                      </p:cBhvr>
                                    </p:animEffect>
                                  </p:childTnLst>
                                </p:cTn>
                              </p:par>
                            </p:childTnLst>
                          </p:cTn>
                        </p:par>
                      </p:childTnLst>
                    </p:cTn>
                  </p:par>
                  <p:par>
                    <p:cTn id="324" nodeType="clickEffect" fill="hold">
                      <p:stCondLst>
                        <p:cond delay="indefinite"/>
                      </p:stCondLst>
                      <p:childTnLst>
                        <p:par>
                          <p:cTn id="325" nodeType="withEffect" fill="hold">
                            <p:stCondLst>
                              <p:cond delay="0"/>
                            </p:stCondLst>
                            <p:childTnLst>
                              <p:par>
                                <p:cTn id="326" nodeType="clickEffect" fill="hold" presetClass="entr" presetID="22" presetSubtype="8">
                                  <p:stCondLst>
                                    <p:cond delay="0"/>
                                  </p:stCondLst>
                                  <p:childTnLst>
                                    <p:set>
                                      <p:cBhvr>
                                        <p:cTn id="327" dur="1" fill="hold">
                                          <p:stCondLst>
                                            <p:cond delay="0"/>
                                          </p:stCondLst>
                                        </p:cTn>
                                        <p:tgtEl>
                                          <p:spTgt spid="105">
                                            <p:txEl>
                                              <p:pRg st="2" end="2"/>
                                            </p:txEl>
                                          </p:spTgt>
                                        </p:tgtEl>
                                        <p:attrNameLst>
                                          <p:attrName>style.visibility</p:attrName>
                                        </p:attrNameLst>
                                      </p:cBhvr>
                                      <p:to>
                                        <p:strVal val="visible"/>
                                      </p:to>
                                    </p:set>
                                    <p:animEffect filter="wipe(left)" transition="in">
                                      <p:cBhvr additive="repl">
                                        <p:cTn id="328" dur="500"/>
                                        <p:tgtEl>
                                          <p:spTgt spid="105">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18.2  THE OLIGOPOLISTS' DILEMMA</a:t>
            </a:r>
            <a:endParaRPr b="0" lang="en-CA" sz="2600" strike="noStrike" u="none">
              <a:solidFill>
                <a:schemeClr val="dk1"/>
              </a:solidFill>
              <a:effectLst/>
              <a:uFillTx/>
              <a:latin typeface="Arial"/>
            </a:endParaRPr>
          </a:p>
        </p:txBody>
      </p:sp>
      <p:sp>
        <p:nvSpPr>
          <p:cNvPr id="107"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Perfect Competition Outcome</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Equilibrium occurs where the marginal revenue curve intersects the demand curve.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quantity produced is 12 planes a week and the price would be $1 million a plane.</a:t>
            </a:r>
            <a:endParaRPr b="1" lang="en-CA" sz="2400" strike="noStrike" u="none">
              <a:solidFill>
                <a:srgbClr val="00468f"/>
              </a:solidFill>
              <a:effectLst/>
              <a:uFillTx/>
              <a:latin typeface="Arial"/>
            </a:endParaRPr>
          </a:p>
        </p:txBody>
      </p:sp>
      <p:pic>
        <p:nvPicPr>
          <p:cNvPr id="108" name="Picture 13" descr="fig17.02a0.gif"/>
          <p:cNvPicPr/>
          <p:nvPr/>
        </p:nvPicPr>
        <p:blipFill>
          <a:blip r:embed="rId1"/>
          <a:stretch/>
        </p:blipFill>
        <p:spPr>
          <a:xfrm>
            <a:off x="4319640" y="1476360"/>
            <a:ext cx="4327200" cy="4519080"/>
          </a:xfrm>
          <a:prstGeom prst="rect">
            <a:avLst/>
          </a:prstGeom>
          <a:noFill/>
          <a:ln w="0">
            <a:noFill/>
          </a:ln>
        </p:spPr>
      </p:pic>
      <p:pic>
        <p:nvPicPr>
          <p:cNvPr id="109" name="Picture 10" descr="fig17.02a1.gif"/>
          <p:cNvPicPr/>
          <p:nvPr/>
        </p:nvPicPr>
        <p:blipFill>
          <a:blip r:embed="rId2"/>
          <a:stretch/>
        </p:blipFill>
        <p:spPr>
          <a:xfrm>
            <a:off x="4319640" y="1476360"/>
            <a:ext cx="4327200" cy="4519080"/>
          </a:xfrm>
          <a:prstGeom prst="rect">
            <a:avLst/>
          </a:prstGeom>
          <a:noFill/>
          <a:ln w="0">
            <a:noFill/>
          </a:ln>
        </p:spPr>
      </p:pic>
      <p:pic>
        <p:nvPicPr>
          <p:cNvPr id="110" name="Picture 11" descr="fig17.02b.gif"/>
          <p:cNvPicPr/>
          <p:nvPr/>
        </p:nvPicPr>
        <p:blipFill>
          <a:blip r:embed="rId3"/>
          <a:stretch/>
        </p:blipFill>
        <p:spPr>
          <a:xfrm>
            <a:off x="4319640" y="1476360"/>
            <a:ext cx="4327200" cy="4519080"/>
          </a:xfrm>
          <a:prstGeom prst="rect">
            <a:avLst/>
          </a:prstGeom>
          <a:noFill/>
          <a:ln w="0">
            <a:noFill/>
          </a:ln>
        </p:spPr>
      </p:pic>
      <p:pic>
        <p:nvPicPr>
          <p:cNvPr id="111" name="Picture 12" descr="fig17.02c.gif"/>
          <p:cNvPicPr/>
          <p:nvPr/>
        </p:nvPicPr>
        <p:blipFill>
          <a:blip r:embed="rId4"/>
          <a:stretch/>
        </p:blipFill>
        <p:spPr>
          <a:xfrm>
            <a:off x="4319640" y="1476360"/>
            <a:ext cx="4327200" cy="4519080"/>
          </a:xfrm>
          <a:prstGeom prst="rect">
            <a:avLst/>
          </a:prstGeom>
          <a:noFill/>
          <a:ln w="0">
            <a:noFill/>
          </a:ln>
        </p:spPr>
      </p:pic>
      <p:pic>
        <p:nvPicPr>
          <p:cNvPr id="112" name="Picture 13" descr="fig17.02d.gif"/>
          <p:cNvPicPr/>
          <p:nvPr/>
        </p:nvPicPr>
        <p:blipFill>
          <a:blip r:embed="rId5"/>
          <a:stretch/>
        </p:blipFill>
        <p:spPr>
          <a:xfrm>
            <a:off x="4319640" y="1476360"/>
            <a:ext cx="4327200" cy="4519080"/>
          </a:xfrm>
          <a:prstGeom prst="rect">
            <a:avLst/>
          </a:prstGeom>
          <a:noFill/>
          <a:ln w="0">
            <a:noFill/>
          </a:ln>
        </p:spPr>
      </p:pic>
      <p:pic>
        <p:nvPicPr>
          <p:cNvPr id="113" name="Picture 14" descr="fig17.02e.gif"/>
          <p:cNvPicPr/>
          <p:nvPr/>
        </p:nvPicPr>
        <p:blipFill>
          <a:blip r:embed="rId6"/>
          <a:stretch/>
        </p:blipFill>
        <p:spPr>
          <a:xfrm>
            <a:off x="4319640" y="1476360"/>
            <a:ext cx="4327200" cy="4519080"/>
          </a:xfrm>
          <a:prstGeom prst="rect">
            <a:avLst/>
          </a:prstGeom>
          <a:noFill/>
          <a:ln w="0">
            <a:noFill/>
          </a:ln>
        </p:spPr>
      </p:pic>
    </p:spTree>
  </p:cSld>
  <p:transition spd="slow">
    <p:wipe dir="r"/>
  </p:transition>
  <p:timing>
    <p:tnLst>
      <p:par>
        <p:cTn id="329" dur="indefinite" restart="never" nodeType="tmRoot">
          <p:childTnLst>
            <p:seq>
              <p:cTn id="330" dur="indefinite" nodeType="mainSeq">
                <p:childTnLst>
                  <p:par>
                    <p:cTn id="331" nodeType="clickEffect" fill="hold">
                      <p:stCondLst>
                        <p:cond delay="indefinite"/>
                      </p:stCondLst>
                      <p:childTnLst>
                        <p:par>
                          <p:cTn id="332" nodeType="withEffect" fill="hold">
                            <p:stCondLst>
                              <p:cond delay="0"/>
                            </p:stCondLst>
                            <p:childTnLst>
                              <p:par>
                                <p:cTn id="333" nodeType="clickEffect" fill="hold" presetClass="entr" presetID="22" presetSubtype="8">
                                  <p:stCondLst>
                                    <p:cond delay="0"/>
                                  </p:stCondLst>
                                  <p:childTnLst>
                                    <p:set>
                                      <p:cBhvr>
                                        <p:cTn id="334" dur="1" fill="hold">
                                          <p:stCondLst>
                                            <p:cond delay="0"/>
                                          </p:stCondLst>
                                        </p:cTn>
                                        <p:tgtEl>
                                          <p:spTgt spid="107">
                                            <p:txEl>
                                              <p:pRg st="1" end="1"/>
                                            </p:txEl>
                                          </p:spTgt>
                                        </p:tgtEl>
                                        <p:attrNameLst>
                                          <p:attrName>style.visibility</p:attrName>
                                        </p:attrNameLst>
                                      </p:cBhvr>
                                      <p:to>
                                        <p:strVal val="visible"/>
                                      </p:to>
                                    </p:set>
                                    <p:animEffect filter="wipe(left)" transition="in">
                                      <p:cBhvr additive="repl">
                                        <p:cTn id="335" dur="500"/>
                                        <p:tgtEl>
                                          <p:spTgt spid="107">
                                            <p:txEl>
                                              <p:pRg st="1" end="1"/>
                                            </p:txEl>
                                          </p:spTgt>
                                        </p:tgtEl>
                                      </p:cBhvr>
                                    </p:animEffect>
                                  </p:childTnLst>
                                </p:cTn>
                              </p:par>
                            </p:childTnLst>
                          </p:cTn>
                        </p:par>
                      </p:childTnLst>
                    </p:cTn>
                  </p:par>
                  <p:par>
                    <p:cTn id="336" nodeType="clickEffect" fill="hold">
                      <p:stCondLst>
                        <p:cond delay="indefinite"/>
                      </p:stCondLst>
                      <p:childTnLst>
                        <p:par>
                          <p:cTn id="337" nodeType="withEffect" fill="hold">
                            <p:stCondLst>
                              <p:cond delay="0"/>
                            </p:stCondLst>
                            <p:childTnLst>
                              <p:par>
                                <p:cTn id="338" nodeType="clickEffect" fill="hold" presetClass="entr" presetID="22" presetSubtype="8">
                                  <p:stCondLst>
                                    <p:cond delay="0"/>
                                  </p:stCondLst>
                                  <p:childTnLst>
                                    <p:set>
                                      <p:cBhvr>
                                        <p:cTn id="339" dur="1" fill="hold">
                                          <p:stCondLst>
                                            <p:cond delay="0"/>
                                          </p:stCondLst>
                                        </p:cTn>
                                        <p:tgtEl>
                                          <p:spTgt spid="107">
                                            <p:txEl>
                                              <p:pRg st="2" end="2"/>
                                            </p:txEl>
                                          </p:spTgt>
                                        </p:tgtEl>
                                        <p:attrNameLst>
                                          <p:attrName>style.visibility</p:attrName>
                                        </p:attrNameLst>
                                      </p:cBhvr>
                                      <p:to>
                                        <p:strVal val="visible"/>
                                      </p:to>
                                    </p:set>
                                    <p:animEffect filter="wipe(left)" transition="in">
                                      <p:cBhvr additive="repl">
                                        <p:cTn id="340" dur="500"/>
                                        <p:tgtEl>
                                          <p:spTgt spid="107">
                                            <p:txEl>
                                              <p:pRg st="2" end="2"/>
                                            </p:txEl>
                                          </p:spTgt>
                                        </p:tgtEl>
                                      </p:cBhvr>
                                    </p:animEffect>
                                  </p:childTnLst>
                                </p:cTn>
                              </p:par>
                              <p:par>
                                <p:cTn id="341" nodeType="withEffect" fill="hold" presetClass="entr" presetID="10">
                                  <p:stCondLst>
                                    <p:cond delay="0"/>
                                  </p:stCondLst>
                                  <p:childTnLst>
                                    <p:set>
                                      <p:cBhvr>
                                        <p:cTn id="342" dur="1" fill="hold">
                                          <p:stCondLst>
                                            <p:cond delay="0"/>
                                          </p:stCondLst>
                                        </p:cTn>
                                        <p:tgtEl>
                                          <p:spTgt spid="113"/>
                                        </p:tgtEl>
                                        <p:attrNameLst>
                                          <p:attrName>style.visibility</p:attrName>
                                        </p:attrNameLst>
                                      </p:cBhvr>
                                      <p:to>
                                        <p:strVal val="visible"/>
                                      </p:to>
                                    </p:set>
                                    <p:animEffect filter="fade" transition="in">
                                      <p:cBhvr additive="repl">
                                        <p:cTn id="343" dur="500"/>
                                        <p:tgtEl>
                                          <p:spTgt spid="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18.2  THE OLIGOPOLISTS' DILEMMA</a:t>
            </a:r>
            <a:endParaRPr b="0" lang="en-CA" sz="2600" strike="noStrike" u="none">
              <a:solidFill>
                <a:schemeClr val="dk1"/>
              </a:solidFill>
              <a:effectLst/>
              <a:uFillTx/>
              <a:latin typeface="Arial"/>
            </a:endParaRPr>
          </a:p>
        </p:txBody>
      </p:sp>
      <p:sp>
        <p:nvSpPr>
          <p:cNvPr id="115"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43080" indent="-343080">
              <a:lnSpc>
                <a:spcPct val="100000"/>
              </a:lnSpc>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Other Possible Cartel Breakdowns</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Boeing Increases Output to 4 Airplanes a Week</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Boeing can increase its economic profit by </a:t>
            </a:r>
            <a:br>
              <a:rPr sz="2400"/>
            </a:br>
            <a:r>
              <a:rPr b="0" lang="en-US" sz="2400" strike="noStrike" u="none">
                <a:solidFill>
                  <a:schemeClr val="dk1"/>
                </a:solidFill>
                <a:effectLst/>
                <a:uFillTx/>
                <a:latin typeface="Arial"/>
                <a:ea typeface="ＭＳ Ｐゴシック"/>
              </a:rPr>
              <a:t>$4 million and cause the economic profit of Airbus to fall by $6 million to </a:t>
            </a:r>
            <a:br>
              <a:rPr sz="2400"/>
            </a:br>
            <a:r>
              <a:rPr b="0" lang="en-US" sz="2400" strike="noStrike" u="none">
                <a:solidFill>
                  <a:schemeClr val="dk1"/>
                </a:solidFill>
                <a:effectLst/>
                <a:uFillTx/>
                <a:latin typeface="Arial"/>
                <a:ea typeface="ＭＳ Ｐゴシック"/>
              </a:rPr>
              <a:t>$30 million.</a:t>
            </a:r>
            <a:endParaRPr b="1" lang="en-CA" sz="2400" strike="noStrike" u="none">
              <a:solidFill>
                <a:srgbClr val="00468f"/>
              </a:solidFill>
              <a:effectLst/>
              <a:uFillTx/>
              <a:latin typeface="Arial"/>
            </a:endParaRPr>
          </a:p>
        </p:txBody>
      </p:sp>
      <p:pic>
        <p:nvPicPr>
          <p:cNvPr id="116" name="Picture 4" descr=""/>
          <p:cNvPicPr/>
          <p:nvPr/>
        </p:nvPicPr>
        <p:blipFill>
          <a:blip r:embed="rId1"/>
          <a:stretch/>
        </p:blipFill>
        <p:spPr>
          <a:xfrm>
            <a:off x="4859280" y="1800360"/>
            <a:ext cx="3414240" cy="4114440"/>
          </a:xfrm>
          <a:prstGeom prst="rect">
            <a:avLst/>
          </a:prstGeom>
          <a:noFill/>
          <a:ln w="0">
            <a:noFill/>
          </a:ln>
        </p:spPr>
      </p:pic>
    </p:spTree>
  </p:cSld>
  <p:transition spd="slow">
    <p:wipe dir="r"/>
  </p:transition>
  <p:timing>
    <p:tnLst>
      <p:par>
        <p:cTn id="344" dur="indefinite" restart="never" nodeType="tmRoot">
          <p:childTnLst>
            <p:seq>
              <p:cTn id="345" dur="indefinite" nodeType="mainSeq">
                <p:childTnLst>
                  <p:par>
                    <p:cTn id="346" nodeType="clickEffect" fill="hold">
                      <p:stCondLst>
                        <p:cond delay="indefinite"/>
                      </p:stCondLst>
                      <p:childTnLst>
                        <p:par>
                          <p:cTn id="347" nodeType="withEffect" fill="hold">
                            <p:stCondLst>
                              <p:cond delay="0"/>
                            </p:stCondLst>
                            <p:childTnLst>
                              <p:par>
                                <p:cTn id="348" nodeType="clickEffect" fill="hold" presetClass="entr" presetID="22" presetSubtype="8">
                                  <p:stCondLst>
                                    <p:cond delay="0"/>
                                  </p:stCondLst>
                                  <p:childTnLst>
                                    <p:set>
                                      <p:cBhvr>
                                        <p:cTn id="349" dur="1" fill="hold">
                                          <p:stCondLst>
                                            <p:cond delay="0"/>
                                          </p:stCondLst>
                                        </p:cTn>
                                        <p:tgtEl>
                                          <p:spTgt spid="115">
                                            <p:txEl>
                                              <p:pRg st="1" end="1"/>
                                            </p:txEl>
                                          </p:spTgt>
                                        </p:tgtEl>
                                        <p:attrNameLst>
                                          <p:attrName>style.visibility</p:attrName>
                                        </p:attrNameLst>
                                      </p:cBhvr>
                                      <p:to>
                                        <p:strVal val="visible"/>
                                      </p:to>
                                    </p:set>
                                    <p:animEffect filter="wipe(left)" transition="in">
                                      <p:cBhvr additive="repl">
                                        <p:cTn id="350" dur="500"/>
                                        <p:tgtEl>
                                          <p:spTgt spid="115">
                                            <p:txEl>
                                              <p:pRg st="1" end="1"/>
                                            </p:txEl>
                                          </p:spTgt>
                                        </p:tgtEl>
                                      </p:cBhvr>
                                    </p:animEffect>
                                  </p:childTnLst>
                                </p:cTn>
                              </p:par>
                              <p:par>
                                <p:cTn id="351" nodeType="withEffect" fill="hold" presetClass="entr" presetID="2" presetSubtype="4">
                                  <p:stCondLst>
                                    <p:cond delay="0"/>
                                  </p:stCondLst>
                                  <p:childTnLst>
                                    <p:set>
                                      <p:cBhvr>
                                        <p:cTn id="352" dur="1" fill="hold">
                                          <p:stCondLst>
                                            <p:cond delay="0"/>
                                          </p:stCondLst>
                                        </p:cTn>
                                        <p:tgtEl>
                                          <p:spTgt spid="116"/>
                                        </p:tgtEl>
                                        <p:attrNameLst>
                                          <p:attrName>style.visibility</p:attrName>
                                        </p:attrNameLst>
                                      </p:cBhvr>
                                      <p:to>
                                        <p:strVal val="visible"/>
                                      </p:to>
                                    </p:set>
                                    <p:anim calcmode="lin" valueType="num">
                                      <p:cBhvr additive="repl">
                                        <p:cTn id="353" dur="1000" fill="hold"/>
                                        <p:tgtEl>
                                          <p:spTgt spid="116"/>
                                        </p:tgtEl>
                                        <p:attrNameLst>
                                          <p:attrName>ppt_x</p:attrName>
                                        </p:attrNameLst>
                                      </p:cBhvr>
                                      <p:tavLst>
                                        <p:tav tm="0">
                                          <p:val>
                                            <p:strVal val="#ppt_x"/>
                                          </p:val>
                                        </p:tav>
                                        <p:tav tm="100000">
                                          <p:val>
                                            <p:strVal val="#ppt_x"/>
                                          </p:val>
                                        </p:tav>
                                      </p:tavLst>
                                    </p:anim>
                                    <p:anim calcmode="lin" valueType="num">
                                      <p:cBhvr additive="repl">
                                        <p:cTn id="354" dur="1000" fill="hold"/>
                                        <p:tgtEl>
                                          <p:spTgt spid="116"/>
                                        </p:tgtEl>
                                        <p:attrNameLst>
                                          <p:attrName>ppt_y</p:attrName>
                                        </p:attrNameLst>
                                      </p:cBhvr>
                                      <p:tavLst>
                                        <p:tav tm="0">
                                          <p:val>
                                            <p:strVal val="1+#ppt_h/2"/>
                                          </p:val>
                                        </p:tav>
                                        <p:tav tm="100000">
                                          <p:val>
                                            <p:strVal val="#ppt_y"/>
                                          </p:val>
                                        </p:tav>
                                      </p:tavLst>
                                    </p:anim>
                                  </p:childTnLst>
                                </p:cTn>
                              </p:par>
                            </p:childTnLst>
                          </p:cTn>
                        </p:par>
                      </p:childTnLst>
                    </p:cTn>
                  </p:par>
                  <p:par>
                    <p:cTn id="355" nodeType="clickEffect" fill="hold">
                      <p:stCondLst>
                        <p:cond delay="indefinite"/>
                      </p:stCondLst>
                      <p:childTnLst>
                        <p:par>
                          <p:cTn id="356" nodeType="withEffect" fill="hold">
                            <p:stCondLst>
                              <p:cond delay="0"/>
                            </p:stCondLst>
                            <p:childTnLst>
                              <p:par>
                                <p:cTn id="357" nodeType="clickEffect" fill="hold" presetClass="entr" presetID="22" presetSubtype="8">
                                  <p:stCondLst>
                                    <p:cond delay="0"/>
                                  </p:stCondLst>
                                  <p:childTnLst>
                                    <p:set>
                                      <p:cBhvr>
                                        <p:cTn id="358" dur="1" fill="hold">
                                          <p:stCondLst>
                                            <p:cond delay="0"/>
                                          </p:stCondLst>
                                        </p:cTn>
                                        <p:tgtEl>
                                          <p:spTgt spid="115">
                                            <p:txEl>
                                              <p:pRg st="2" end="2"/>
                                            </p:txEl>
                                          </p:spTgt>
                                        </p:tgtEl>
                                        <p:attrNameLst>
                                          <p:attrName>style.visibility</p:attrName>
                                        </p:attrNameLst>
                                      </p:cBhvr>
                                      <p:to>
                                        <p:strVal val="visible"/>
                                      </p:to>
                                    </p:set>
                                    <p:animEffect filter="wipe(left)" transition="in">
                                      <p:cBhvr additive="repl">
                                        <p:cTn id="359" dur="500"/>
                                        <p:tgtEl>
                                          <p:spTgt spid="115">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17" name="Picture 1" descr=""/>
          <p:cNvPicPr/>
          <p:nvPr/>
        </p:nvPicPr>
        <p:blipFill>
          <a:blip r:embed="rId1"/>
          <a:stretch/>
        </p:blipFill>
        <p:spPr>
          <a:xfrm>
            <a:off x="2438280" y="857160"/>
            <a:ext cx="4266720" cy="5143320"/>
          </a:xfrm>
          <a:prstGeom prst="rect">
            <a:avLst/>
          </a:prstGeom>
          <a:noFill/>
          <a:ln w="0">
            <a:noFill/>
          </a:ln>
        </p:spPr>
      </p:pic>
    </p:spTree>
  </p:cSld>
  <p:transition spd="slow">
    <p:wipe dir="r"/>
  </p:transition>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18.2  THE OLIGOPOLISTS' DILEMMA</a:t>
            </a:r>
            <a:endParaRPr b="0" lang="en-CA" sz="2600" strike="noStrike" u="none">
              <a:solidFill>
                <a:schemeClr val="dk1"/>
              </a:solidFill>
              <a:effectLst/>
              <a:uFillTx/>
              <a:latin typeface="Arial"/>
            </a:endParaRPr>
          </a:p>
        </p:txBody>
      </p:sp>
      <p:sp>
        <p:nvSpPr>
          <p:cNvPr id="119"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Airbus Increases Output to 4 Airplanes a Week</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For Airbus, this outcome</a:t>
            </a:r>
            <a:br>
              <a:rPr sz="2400"/>
            </a:br>
            <a:r>
              <a:rPr b="0" lang="en-US" sz="2400" strike="noStrike" u="none">
                <a:solidFill>
                  <a:schemeClr val="dk1"/>
                </a:solidFill>
                <a:effectLst/>
                <a:uFillTx/>
                <a:latin typeface="Arial"/>
                <a:ea typeface="ＭＳ Ｐゴシック"/>
              </a:rPr>
              <a:t>is an improvement on the previous one by $2 million</a:t>
            </a:r>
            <a:br>
              <a:rPr sz="2400"/>
            </a:br>
            <a:r>
              <a:rPr b="0" lang="en-US" sz="2400" strike="noStrike" u="none">
                <a:solidFill>
                  <a:schemeClr val="dk1"/>
                </a:solidFill>
                <a:effectLst/>
                <a:uFillTx/>
                <a:latin typeface="Arial"/>
                <a:ea typeface="ＭＳ Ｐゴシック"/>
              </a:rPr>
              <a:t>a week (up from $30 million).</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For Boeing, the outcome</a:t>
            </a:r>
            <a:br>
              <a:rPr sz="2400"/>
            </a:br>
            <a:r>
              <a:rPr b="0" lang="en-US" sz="2400" strike="noStrike" u="none">
                <a:solidFill>
                  <a:schemeClr val="dk1"/>
                </a:solidFill>
                <a:effectLst/>
                <a:uFillTx/>
                <a:latin typeface="Arial"/>
                <a:ea typeface="ＭＳ Ｐゴシック"/>
              </a:rPr>
              <a:t>is worse than the previous one by $8 million a week (down from $40 million).</a:t>
            </a:r>
            <a:endParaRPr b="1" lang="en-CA" sz="2400" strike="noStrike" u="none">
              <a:solidFill>
                <a:srgbClr val="00468f"/>
              </a:solidFill>
              <a:effectLst/>
              <a:uFillTx/>
              <a:latin typeface="Arial"/>
            </a:endParaRPr>
          </a:p>
        </p:txBody>
      </p:sp>
      <p:sp>
        <p:nvSpPr>
          <p:cNvPr id="120" name="Rectangle 4"/>
          <p:cNvSpPr/>
          <p:nvPr/>
        </p:nvSpPr>
        <p:spPr>
          <a:xfrm>
            <a:off x="457200" y="2819520"/>
            <a:ext cx="4147920" cy="1828440"/>
          </a:xfrm>
          <a:prstGeom prst="rect">
            <a:avLst/>
          </a:prstGeom>
          <a:noFill/>
          <a:ln w="0">
            <a:noFill/>
          </a:ln>
        </p:spPr>
        <p:style>
          <a:lnRef idx="0"/>
          <a:fillRef idx="0"/>
          <a:effectRef idx="0"/>
          <a:fontRef idx="minor"/>
        </p:style>
        <p:txBody>
          <a:bodyPr lIns="90000" rIns="90000" tIns="45000" bIns="45000" anchor="t">
            <a:noAutofit/>
          </a:bodyPr>
          <a:p>
            <a:pPr marL="114480">
              <a:lnSpc>
                <a:spcPct val="105000"/>
              </a:lnSpc>
              <a:spcBef>
                <a:spcPts val="300"/>
              </a:spcBef>
              <a:spcAft>
                <a:spcPts val="601"/>
              </a:spcAft>
            </a:pPr>
            <a:endParaRPr b="0" lang="en-US" sz="2400" strike="noStrike" u="none">
              <a:solidFill>
                <a:schemeClr val="dk1"/>
              </a:solidFill>
              <a:effectLst/>
              <a:uFillTx/>
              <a:latin typeface="Arial"/>
              <a:ea typeface="ＭＳ Ｐゴシック"/>
            </a:endParaRPr>
          </a:p>
        </p:txBody>
      </p:sp>
      <p:pic>
        <p:nvPicPr>
          <p:cNvPr id="121" name="Picture 5" descr=""/>
          <p:cNvPicPr/>
          <p:nvPr/>
        </p:nvPicPr>
        <p:blipFill>
          <a:blip r:embed="rId1"/>
          <a:stretch/>
        </p:blipFill>
        <p:spPr>
          <a:xfrm>
            <a:off x="4859280" y="1800360"/>
            <a:ext cx="3414240" cy="4114440"/>
          </a:xfrm>
          <a:prstGeom prst="rect">
            <a:avLst/>
          </a:prstGeom>
          <a:noFill/>
          <a:ln w="0">
            <a:noFill/>
          </a:ln>
        </p:spPr>
      </p:pic>
    </p:spTree>
  </p:cSld>
  <p:transition spd="slow">
    <p:wipe dir="r"/>
  </p:transition>
  <p:timing>
    <p:tnLst>
      <p:par>
        <p:cTn id="360" dur="indefinite" restart="never" nodeType="tmRoot">
          <p:childTnLst>
            <p:seq>
              <p:cTn id="361" dur="indefinite" nodeType="mainSeq">
                <p:childTnLst>
                  <p:par>
                    <p:cTn id="362" nodeType="clickEffect" fill="hold">
                      <p:stCondLst>
                        <p:cond delay="indefinite"/>
                      </p:stCondLst>
                      <p:childTnLst>
                        <p:par>
                          <p:cTn id="363" nodeType="withEffect" fill="hold">
                            <p:stCondLst>
                              <p:cond delay="0"/>
                            </p:stCondLst>
                            <p:childTnLst>
                              <p:par>
                                <p:cTn id="364" nodeType="clickEffect" fill="hold" presetClass="entr" presetID="22" presetSubtype="8">
                                  <p:stCondLst>
                                    <p:cond delay="0"/>
                                  </p:stCondLst>
                                  <p:childTnLst>
                                    <p:set>
                                      <p:cBhvr>
                                        <p:cTn id="365" dur="1" fill="hold">
                                          <p:stCondLst>
                                            <p:cond delay="0"/>
                                          </p:stCondLst>
                                        </p:cTn>
                                        <p:tgtEl>
                                          <p:spTgt spid="119">
                                            <p:txEl>
                                              <p:pRg st="1" end="1"/>
                                            </p:txEl>
                                          </p:spTgt>
                                        </p:tgtEl>
                                        <p:attrNameLst>
                                          <p:attrName>style.visibility</p:attrName>
                                        </p:attrNameLst>
                                      </p:cBhvr>
                                      <p:to>
                                        <p:strVal val="visible"/>
                                      </p:to>
                                    </p:set>
                                    <p:animEffect filter="wipe(left)" transition="in">
                                      <p:cBhvr additive="repl">
                                        <p:cTn id="366" dur="500"/>
                                        <p:tgtEl>
                                          <p:spTgt spid="119">
                                            <p:txEl>
                                              <p:pRg st="1" end="1"/>
                                            </p:txEl>
                                          </p:spTgt>
                                        </p:tgtEl>
                                      </p:cBhvr>
                                    </p:animEffect>
                                  </p:childTnLst>
                                </p:cTn>
                              </p:par>
                              <p:par>
                                <p:cTn id="367" nodeType="withEffect" fill="hold" presetClass="entr" presetID="2" presetSubtype="4">
                                  <p:stCondLst>
                                    <p:cond delay="0"/>
                                  </p:stCondLst>
                                  <p:childTnLst>
                                    <p:set>
                                      <p:cBhvr>
                                        <p:cTn id="368" dur="1" fill="hold">
                                          <p:stCondLst>
                                            <p:cond delay="0"/>
                                          </p:stCondLst>
                                        </p:cTn>
                                        <p:tgtEl>
                                          <p:spTgt spid="121"/>
                                        </p:tgtEl>
                                        <p:attrNameLst>
                                          <p:attrName>style.visibility</p:attrName>
                                        </p:attrNameLst>
                                      </p:cBhvr>
                                      <p:to>
                                        <p:strVal val="visible"/>
                                      </p:to>
                                    </p:set>
                                    <p:anim calcmode="lin" valueType="num">
                                      <p:cBhvr additive="repl">
                                        <p:cTn id="369" dur="1000" fill="hold"/>
                                        <p:tgtEl>
                                          <p:spTgt spid="121"/>
                                        </p:tgtEl>
                                        <p:attrNameLst>
                                          <p:attrName>ppt_x</p:attrName>
                                        </p:attrNameLst>
                                      </p:cBhvr>
                                      <p:tavLst>
                                        <p:tav tm="0">
                                          <p:val>
                                            <p:strVal val="#ppt_x"/>
                                          </p:val>
                                        </p:tav>
                                        <p:tav tm="100000">
                                          <p:val>
                                            <p:strVal val="#ppt_x"/>
                                          </p:val>
                                        </p:tav>
                                      </p:tavLst>
                                    </p:anim>
                                    <p:anim calcmode="lin" valueType="num">
                                      <p:cBhvr additive="repl">
                                        <p:cTn id="370" dur="1000" fill="hold"/>
                                        <p:tgtEl>
                                          <p:spTgt spid="121"/>
                                        </p:tgtEl>
                                        <p:attrNameLst>
                                          <p:attrName>ppt_y</p:attrName>
                                        </p:attrNameLst>
                                      </p:cBhvr>
                                      <p:tavLst>
                                        <p:tav tm="0">
                                          <p:val>
                                            <p:strVal val="1+#ppt_h/2"/>
                                          </p:val>
                                        </p:tav>
                                        <p:tav tm="100000">
                                          <p:val>
                                            <p:strVal val="#ppt_y"/>
                                          </p:val>
                                        </p:tav>
                                      </p:tavLst>
                                    </p:anim>
                                  </p:childTnLst>
                                </p:cTn>
                              </p:par>
                            </p:childTnLst>
                          </p:cTn>
                        </p:par>
                      </p:childTnLst>
                    </p:cTn>
                  </p:par>
                  <p:par>
                    <p:cTn id="371" nodeType="clickEffect" fill="hold">
                      <p:stCondLst>
                        <p:cond delay="indefinite"/>
                      </p:stCondLst>
                      <p:childTnLst>
                        <p:par>
                          <p:cTn id="372" nodeType="withEffect" fill="hold">
                            <p:stCondLst>
                              <p:cond delay="0"/>
                            </p:stCondLst>
                            <p:childTnLst>
                              <p:par>
                                <p:cTn id="373" nodeType="clickEffect" fill="hold" presetClass="entr" presetID="22" presetSubtype="8">
                                  <p:stCondLst>
                                    <p:cond delay="0"/>
                                  </p:stCondLst>
                                  <p:childTnLst>
                                    <p:set>
                                      <p:cBhvr>
                                        <p:cTn id="374" dur="1" fill="hold">
                                          <p:stCondLst>
                                            <p:cond delay="0"/>
                                          </p:stCondLst>
                                        </p:cTn>
                                        <p:tgtEl>
                                          <p:spTgt spid="119">
                                            <p:txEl>
                                              <p:pRg st="2" end="2"/>
                                            </p:txEl>
                                          </p:spTgt>
                                        </p:tgtEl>
                                        <p:attrNameLst>
                                          <p:attrName>style.visibility</p:attrName>
                                        </p:attrNameLst>
                                      </p:cBhvr>
                                      <p:to>
                                        <p:strVal val="visible"/>
                                      </p:to>
                                    </p:set>
                                    <p:animEffect filter="wipe(left)" transition="in">
                                      <p:cBhvr additive="repl">
                                        <p:cTn id="375" dur="500"/>
                                        <p:tgtEl>
                                          <p:spTgt spid="119">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22" name="Picture 1" descr=""/>
          <p:cNvPicPr/>
          <p:nvPr/>
        </p:nvPicPr>
        <p:blipFill>
          <a:blip r:embed="rId1"/>
          <a:stretch/>
        </p:blipFill>
        <p:spPr>
          <a:xfrm>
            <a:off x="2438280" y="857160"/>
            <a:ext cx="4266720" cy="5143320"/>
          </a:xfrm>
          <a:prstGeom prst="rect">
            <a:avLst/>
          </a:prstGeom>
          <a:noFill/>
          <a:ln w="0">
            <a:noFill/>
          </a:ln>
        </p:spPr>
      </p:pic>
    </p:spTree>
  </p:cSld>
  <p:transition spd="slow">
    <p:wipe dir="r"/>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18.2  THE OLIGOPOLISTS' DILEMMA</a:t>
            </a:r>
            <a:endParaRPr b="0" lang="en-CA" sz="2600" strike="noStrike" u="none">
              <a:solidFill>
                <a:schemeClr val="dk1"/>
              </a:solidFill>
              <a:effectLst/>
              <a:uFillTx/>
              <a:latin typeface="Arial"/>
            </a:endParaRPr>
          </a:p>
        </p:txBody>
      </p:sp>
      <p:sp>
        <p:nvSpPr>
          <p:cNvPr id="124"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Boeing Increases Output to 5 Airplanes</a:t>
            </a:r>
            <a:br>
              <a:rPr sz="2600"/>
            </a:br>
            <a:r>
              <a:rPr b="1" lang="en-US" sz="2600" strike="noStrike" u="none">
                <a:solidFill>
                  <a:srgbClr val="00468f"/>
                </a:solidFill>
                <a:effectLst/>
                <a:uFillTx/>
                <a:latin typeface="Arial"/>
                <a:ea typeface="ＭＳ Ｐゴシック"/>
              </a:rPr>
              <a:t>a Week</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If Boeing increases output to 5 airplanes a week, its economic profit falls.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Similarly, if Airbus increases output to 5 airplanes a week, its economic profit falls.</a:t>
            </a:r>
            <a:endParaRPr b="1" lang="en-CA" sz="2400" strike="noStrike" u="none">
              <a:solidFill>
                <a:srgbClr val="00468f"/>
              </a:solidFill>
              <a:effectLst/>
              <a:uFillTx/>
              <a:latin typeface="Arial"/>
            </a:endParaRPr>
          </a:p>
        </p:txBody>
      </p:sp>
      <p:pic>
        <p:nvPicPr>
          <p:cNvPr id="125" name="Picture 4" descr=""/>
          <p:cNvPicPr/>
          <p:nvPr/>
        </p:nvPicPr>
        <p:blipFill>
          <a:blip r:embed="rId1"/>
          <a:stretch/>
        </p:blipFill>
        <p:spPr>
          <a:xfrm>
            <a:off x="4859280" y="1800360"/>
            <a:ext cx="3414240" cy="4114440"/>
          </a:xfrm>
          <a:prstGeom prst="rect">
            <a:avLst/>
          </a:prstGeom>
          <a:noFill/>
          <a:ln w="0">
            <a:noFill/>
          </a:ln>
        </p:spPr>
      </p:pic>
    </p:spTree>
  </p:cSld>
  <p:transition spd="slow">
    <p:wipe dir="r"/>
  </p:transition>
  <p:timing>
    <p:tnLst>
      <p:par>
        <p:cTn id="376" dur="indefinite" restart="never" nodeType="tmRoot">
          <p:childTnLst>
            <p:seq>
              <p:cTn id="377" dur="indefinite" nodeType="mainSeq">
                <p:childTnLst>
                  <p:par>
                    <p:cTn id="378" nodeType="clickEffect" fill="hold">
                      <p:stCondLst>
                        <p:cond delay="indefinite"/>
                      </p:stCondLst>
                      <p:childTnLst>
                        <p:par>
                          <p:cTn id="379" nodeType="withEffect" fill="hold">
                            <p:stCondLst>
                              <p:cond delay="0"/>
                            </p:stCondLst>
                            <p:childTnLst>
                              <p:par>
                                <p:cTn id="380" nodeType="clickEffect" fill="hold" presetClass="entr" presetID="22" presetSubtype="8">
                                  <p:stCondLst>
                                    <p:cond delay="0"/>
                                  </p:stCondLst>
                                  <p:childTnLst>
                                    <p:set>
                                      <p:cBhvr>
                                        <p:cTn id="381" dur="1" fill="hold">
                                          <p:stCondLst>
                                            <p:cond delay="0"/>
                                          </p:stCondLst>
                                        </p:cTn>
                                        <p:tgtEl>
                                          <p:spTgt spid="124">
                                            <p:txEl>
                                              <p:pRg st="1" end="1"/>
                                            </p:txEl>
                                          </p:spTgt>
                                        </p:tgtEl>
                                        <p:attrNameLst>
                                          <p:attrName>style.visibility</p:attrName>
                                        </p:attrNameLst>
                                      </p:cBhvr>
                                      <p:to>
                                        <p:strVal val="visible"/>
                                      </p:to>
                                    </p:set>
                                    <p:animEffect filter="wipe(left)" transition="in">
                                      <p:cBhvr additive="repl">
                                        <p:cTn id="382" dur="500"/>
                                        <p:tgtEl>
                                          <p:spTgt spid="124">
                                            <p:txEl>
                                              <p:pRg st="1" end="1"/>
                                            </p:txEl>
                                          </p:spTgt>
                                        </p:tgtEl>
                                      </p:cBhvr>
                                    </p:animEffect>
                                  </p:childTnLst>
                                </p:cTn>
                              </p:par>
                              <p:par>
                                <p:cTn id="383" nodeType="withEffect" fill="hold" presetClass="entr" presetID="2" presetSubtype="4">
                                  <p:stCondLst>
                                    <p:cond delay="0"/>
                                  </p:stCondLst>
                                  <p:childTnLst>
                                    <p:set>
                                      <p:cBhvr>
                                        <p:cTn id="384" dur="1" fill="hold">
                                          <p:stCondLst>
                                            <p:cond delay="0"/>
                                          </p:stCondLst>
                                        </p:cTn>
                                        <p:tgtEl>
                                          <p:spTgt spid="125"/>
                                        </p:tgtEl>
                                        <p:attrNameLst>
                                          <p:attrName>style.visibility</p:attrName>
                                        </p:attrNameLst>
                                      </p:cBhvr>
                                      <p:to>
                                        <p:strVal val="visible"/>
                                      </p:to>
                                    </p:set>
                                    <p:anim calcmode="lin" valueType="num">
                                      <p:cBhvr additive="repl">
                                        <p:cTn id="385" dur="1000" fill="hold"/>
                                        <p:tgtEl>
                                          <p:spTgt spid="125"/>
                                        </p:tgtEl>
                                        <p:attrNameLst>
                                          <p:attrName>ppt_x</p:attrName>
                                        </p:attrNameLst>
                                      </p:cBhvr>
                                      <p:tavLst>
                                        <p:tav tm="0">
                                          <p:val>
                                            <p:strVal val="#ppt_x"/>
                                          </p:val>
                                        </p:tav>
                                        <p:tav tm="100000">
                                          <p:val>
                                            <p:strVal val="#ppt_x"/>
                                          </p:val>
                                        </p:tav>
                                      </p:tavLst>
                                    </p:anim>
                                    <p:anim calcmode="lin" valueType="num">
                                      <p:cBhvr additive="repl">
                                        <p:cTn id="386" dur="1000" fill="hold"/>
                                        <p:tgtEl>
                                          <p:spTgt spid="125"/>
                                        </p:tgtEl>
                                        <p:attrNameLst>
                                          <p:attrName>ppt_y</p:attrName>
                                        </p:attrNameLst>
                                      </p:cBhvr>
                                      <p:tavLst>
                                        <p:tav tm="0">
                                          <p:val>
                                            <p:strVal val="1+#ppt_h/2"/>
                                          </p:val>
                                        </p:tav>
                                        <p:tav tm="100000">
                                          <p:val>
                                            <p:strVal val="#ppt_y"/>
                                          </p:val>
                                        </p:tav>
                                      </p:tavLst>
                                    </p:anim>
                                  </p:childTnLst>
                                </p:cTn>
                              </p:par>
                            </p:childTnLst>
                          </p:cTn>
                        </p:par>
                      </p:childTnLst>
                    </p:cTn>
                  </p:par>
                  <p:par>
                    <p:cTn id="387" nodeType="clickEffect" fill="hold">
                      <p:stCondLst>
                        <p:cond delay="indefinite"/>
                      </p:stCondLst>
                      <p:childTnLst>
                        <p:par>
                          <p:cTn id="388" nodeType="withEffect" fill="hold">
                            <p:stCondLst>
                              <p:cond delay="0"/>
                            </p:stCondLst>
                            <p:childTnLst>
                              <p:par>
                                <p:cTn id="389" nodeType="clickEffect" fill="hold" presetClass="entr" presetID="22" presetSubtype="8">
                                  <p:stCondLst>
                                    <p:cond delay="0"/>
                                  </p:stCondLst>
                                  <p:childTnLst>
                                    <p:set>
                                      <p:cBhvr>
                                        <p:cTn id="390" dur="1" fill="hold">
                                          <p:stCondLst>
                                            <p:cond delay="0"/>
                                          </p:stCondLst>
                                        </p:cTn>
                                        <p:tgtEl>
                                          <p:spTgt spid="124">
                                            <p:txEl>
                                              <p:pRg st="2" end="2"/>
                                            </p:txEl>
                                          </p:spTgt>
                                        </p:tgtEl>
                                        <p:attrNameLst>
                                          <p:attrName>style.visibility</p:attrName>
                                        </p:attrNameLst>
                                      </p:cBhvr>
                                      <p:to>
                                        <p:strVal val="visible"/>
                                      </p:to>
                                    </p:set>
                                    <p:animEffect filter="wipe(left)" transition="in">
                                      <p:cBhvr additive="repl">
                                        <p:cTn id="391" dur="500"/>
                                        <p:tgtEl>
                                          <p:spTgt spid="124">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26" name="Picture 1" descr=""/>
          <p:cNvPicPr/>
          <p:nvPr/>
        </p:nvPicPr>
        <p:blipFill>
          <a:blip r:embed="rId1"/>
          <a:stretch/>
        </p:blipFill>
        <p:spPr>
          <a:xfrm>
            <a:off x="2438280" y="857160"/>
            <a:ext cx="4266720" cy="5143320"/>
          </a:xfrm>
          <a:prstGeom prst="rect">
            <a:avLst/>
          </a:prstGeom>
          <a:noFill/>
          <a:ln w="0">
            <a:noFill/>
          </a:ln>
        </p:spPr>
      </p:pic>
    </p:spTree>
  </p:cSld>
  <p:transition spd="slow">
    <p:wipe dir="r"/>
  </p:transition>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18.2  THE OLIGOPOLISTS' DILEMMA</a:t>
            </a:r>
            <a:endParaRPr b="0" lang="en-CA" sz="2600" strike="noStrike" u="none">
              <a:solidFill>
                <a:schemeClr val="dk1"/>
              </a:solidFill>
              <a:effectLst/>
              <a:uFillTx/>
              <a:latin typeface="Arial"/>
            </a:endParaRPr>
          </a:p>
        </p:txBody>
      </p:sp>
      <p:sp>
        <p:nvSpPr>
          <p:cNvPr id="128" name="PlaceHolder 2"/>
          <p:cNvSpPr>
            <a:spLocks noGrp="1"/>
          </p:cNvSpPr>
          <p:nvPr>
            <p:ph/>
          </p:nvPr>
        </p:nvSpPr>
        <p:spPr>
          <a:xfrm>
            <a:off x="360360" y="1440000"/>
            <a:ext cx="3525480" cy="4647960"/>
          </a:xfrm>
          <a:prstGeom prst="rect">
            <a:avLst/>
          </a:prstGeom>
          <a:noFill/>
          <a:ln w="0">
            <a:noFill/>
          </a:ln>
        </p:spPr>
        <p:txBody>
          <a:bodyPr numCol="1" spcCol="0" lIns="91440" rIns="91440" tIns="45720" bIns="45720" anchor="t">
            <a:noAutofit/>
          </a:bodyPr>
          <a:p>
            <a:pPr marL="343080" indent="-343080">
              <a:lnSpc>
                <a:spcPct val="100000"/>
              </a:lnSpc>
              <a:spcBef>
                <a:spcPts val="300"/>
              </a:spcBef>
              <a:spcAft>
                <a:spcPts val="601"/>
              </a:spcAft>
              <a:buNone/>
              <a:tabLst>
                <a:tab algn="l" pos="0"/>
              </a:tabLst>
            </a:pPr>
            <a:r>
              <a:rPr b="1" lang="en-US" sz="2800" strike="noStrike" u="none">
                <a:solidFill>
                  <a:srgbClr val="00468f"/>
                </a:solidFill>
                <a:effectLst/>
                <a:uFillTx/>
                <a:latin typeface="Arial"/>
                <a:ea typeface="ＭＳ Ｐゴシック"/>
              </a:rPr>
              <a:t>	</a:t>
            </a:r>
            <a:r>
              <a:rPr b="0" lang="en-US" sz="2400" strike="noStrike" u="none">
                <a:solidFill>
                  <a:schemeClr val="dk1"/>
                </a:solidFill>
                <a:effectLst/>
                <a:uFillTx/>
                <a:latin typeface="Arial"/>
                <a:ea typeface="ＭＳ Ｐゴシック"/>
              </a:rPr>
              <a:t>A cartel might achieve the monopoly equilibrium, break down and result in the perfect competition equilibrium, </a:t>
            </a:r>
            <a:endParaRPr b="1" lang="en-CA" sz="2400" strike="noStrike" u="none">
              <a:solidFill>
                <a:srgbClr val="00468f"/>
              </a:solidFill>
              <a:effectLst/>
              <a:uFillTx/>
              <a:latin typeface="Arial"/>
            </a:endParaRPr>
          </a:p>
          <a:p>
            <a:pPr marL="343080" indent="-343080">
              <a:lnSpc>
                <a:spcPct val="100000"/>
              </a:lnSpc>
              <a:spcBef>
                <a:spcPts val="300"/>
              </a:spcBef>
              <a:spcAft>
                <a:spcPts val="601"/>
              </a:spcAft>
              <a:buNone/>
              <a:tabLst>
                <a:tab algn="l" pos="0"/>
              </a:tabLst>
            </a:pP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or operate somewhere between these two extreme outcomes.</a:t>
            </a:r>
            <a:endParaRPr b="1" lang="en-CA" sz="2400" strike="noStrike" u="none">
              <a:solidFill>
                <a:srgbClr val="00468f"/>
              </a:solidFill>
              <a:effectLst/>
              <a:uFillTx/>
              <a:latin typeface="Arial"/>
            </a:endParaRPr>
          </a:p>
        </p:txBody>
      </p:sp>
      <p:pic>
        <p:nvPicPr>
          <p:cNvPr id="129" name="Picture 13" descr="fig17.02a0.gif"/>
          <p:cNvPicPr/>
          <p:nvPr/>
        </p:nvPicPr>
        <p:blipFill>
          <a:blip r:embed="rId1"/>
          <a:stretch/>
        </p:blipFill>
        <p:spPr>
          <a:xfrm>
            <a:off x="4319640" y="1476360"/>
            <a:ext cx="4327200" cy="4519080"/>
          </a:xfrm>
          <a:prstGeom prst="rect">
            <a:avLst/>
          </a:prstGeom>
          <a:noFill/>
          <a:ln w="0">
            <a:noFill/>
          </a:ln>
        </p:spPr>
      </p:pic>
      <p:pic>
        <p:nvPicPr>
          <p:cNvPr id="130" name="Picture 11" descr="fig17.02a1.gif"/>
          <p:cNvPicPr/>
          <p:nvPr/>
        </p:nvPicPr>
        <p:blipFill>
          <a:blip r:embed="rId2"/>
          <a:stretch/>
        </p:blipFill>
        <p:spPr>
          <a:xfrm>
            <a:off x="4319640" y="1476360"/>
            <a:ext cx="4327200" cy="4519080"/>
          </a:xfrm>
          <a:prstGeom prst="rect">
            <a:avLst/>
          </a:prstGeom>
          <a:noFill/>
          <a:ln w="0">
            <a:noFill/>
          </a:ln>
        </p:spPr>
      </p:pic>
      <p:pic>
        <p:nvPicPr>
          <p:cNvPr id="131" name="Picture 12" descr="fig17.02b.gif"/>
          <p:cNvPicPr/>
          <p:nvPr/>
        </p:nvPicPr>
        <p:blipFill>
          <a:blip r:embed="rId3"/>
          <a:stretch/>
        </p:blipFill>
        <p:spPr>
          <a:xfrm>
            <a:off x="4319640" y="1476360"/>
            <a:ext cx="4327200" cy="4519080"/>
          </a:xfrm>
          <a:prstGeom prst="rect">
            <a:avLst/>
          </a:prstGeom>
          <a:noFill/>
          <a:ln w="0">
            <a:noFill/>
          </a:ln>
        </p:spPr>
      </p:pic>
      <p:pic>
        <p:nvPicPr>
          <p:cNvPr id="132" name="Picture 13" descr="fig17.02c.gif"/>
          <p:cNvPicPr/>
          <p:nvPr/>
        </p:nvPicPr>
        <p:blipFill>
          <a:blip r:embed="rId4"/>
          <a:stretch/>
        </p:blipFill>
        <p:spPr>
          <a:xfrm>
            <a:off x="4319640" y="1476360"/>
            <a:ext cx="4327200" cy="4519080"/>
          </a:xfrm>
          <a:prstGeom prst="rect">
            <a:avLst/>
          </a:prstGeom>
          <a:noFill/>
          <a:ln w="0">
            <a:noFill/>
          </a:ln>
        </p:spPr>
      </p:pic>
      <p:pic>
        <p:nvPicPr>
          <p:cNvPr id="133" name="Picture 14" descr="fig17.02d.gif"/>
          <p:cNvPicPr/>
          <p:nvPr/>
        </p:nvPicPr>
        <p:blipFill>
          <a:blip r:embed="rId5"/>
          <a:stretch/>
        </p:blipFill>
        <p:spPr>
          <a:xfrm>
            <a:off x="4319640" y="1476360"/>
            <a:ext cx="4327200" cy="4519080"/>
          </a:xfrm>
          <a:prstGeom prst="rect">
            <a:avLst/>
          </a:prstGeom>
          <a:noFill/>
          <a:ln w="0">
            <a:noFill/>
          </a:ln>
        </p:spPr>
      </p:pic>
      <p:pic>
        <p:nvPicPr>
          <p:cNvPr id="134" name="Picture 15" descr="fig17.02e.gif"/>
          <p:cNvPicPr/>
          <p:nvPr/>
        </p:nvPicPr>
        <p:blipFill>
          <a:blip r:embed="rId6"/>
          <a:stretch/>
        </p:blipFill>
        <p:spPr>
          <a:xfrm>
            <a:off x="4319640" y="1476360"/>
            <a:ext cx="4327200" cy="4519080"/>
          </a:xfrm>
          <a:prstGeom prst="rect">
            <a:avLst/>
          </a:prstGeom>
          <a:noFill/>
          <a:ln w="0">
            <a:noFill/>
          </a:ln>
        </p:spPr>
      </p:pic>
      <p:pic>
        <p:nvPicPr>
          <p:cNvPr id="135" name="Picture 16" descr="fig17.02f.gif"/>
          <p:cNvPicPr/>
          <p:nvPr/>
        </p:nvPicPr>
        <p:blipFill>
          <a:blip r:embed="rId7"/>
          <a:stretch/>
        </p:blipFill>
        <p:spPr>
          <a:xfrm>
            <a:off x="4319640" y="1476360"/>
            <a:ext cx="4327200" cy="4519080"/>
          </a:xfrm>
          <a:prstGeom prst="rect">
            <a:avLst/>
          </a:prstGeom>
          <a:noFill/>
          <a:ln w="0">
            <a:noFill/>
          </a:ln>
        </p:spPr>
      </p:pic>
    </p:spTree>
  </p:cSld>
  <p:transition spd="slow">
    <p:wipe dir="r"/>
  </p:transition>
  <p:timing>
    <p:tnLst>
      <p:par>
        <p:cTn id="392" dur="indefinite" restart="never" nodeType="tmRoot">
          <p:childTnLst>
            <p:seq>
              <p:cTn id="393" dur="indefinite" nodeType="mainSeq">
                <p:childTnLst>
                  <p:par>
                    <p:cTn id="394" nodeType="clickEffect" fill="hold">
                      <p:stCondLst>
                        <p:cond delay="indefinite"/>
                      </p:stCondLst>
                      <p:childTnLst>
                        <p:par>
                          <p:cTn id="395" nodeType="withEffect" fill="hold">
                            <p:stCondLst>
                              <p:cond delay="0"/>
                            </p:stCondLst>
                            <p:childTnLst>
                              <p:par>
                                <p:cTn id="396" nodeType="clickEffect" fill="hold" presetClass="entr" presetID="22" presetSubtype="8">
                                  <p:stCondLst>
                                    <p:cond delay="0"/>
                                  </p:stCondLst>
                                  <p:childTnLst>
                                    <p:set>
                                      <p:cBhvr>
                                        <p:cTn id="397" dur="1" fill="hold">
                                          <p:stCondLst>
                                            <p:cond delay="0"/>
                                          </p:stCondLst>
                                        </p:cTn>
                                        <p:tgtEl>
                                          <p:spTgt spid="128">
                                            <p:txEl>
                                              <p:pRg st="1" end="1"/>
                                            </p:txEl>
                                          </p:spTgt>
                                        </p:tgtEl>
                                        <p:attrNameLst>
                                          <p:attrName>style.visibility</p:attrName>
                                        </p:attrNameLst>
                                      </p:cBhvr>
                                      <p:to>
                                        <p:strVal val="visible"/>
                                      </p:to>
                                    </p:set>
                                    <p:animEffect filter="wipe(left)" transition="in">
                                      <p:cBhvr additive="repl">
                                        <p:cTn id="398" dur="500"/>
                                        <p:tgtEl>
                                          <p:spTgt spid="128">
                                            <p:txEl>
                                              <p:pRg st="1" end="1"/>
                                            </p:txEl>
                                          </p:spTgt>
                                        </p:tgtEl>
                                      </p:cBhvr>
                                    </p:animEffect>
                                  </p:childTnLst>
                                </p:cTn>
                              </p:par>
                              <p:par>
                                <p:cTn id="399" nodeType="withEffect" fill="hold" presetClass="entr" presetID="22" presetSubtype="4">
                                  <p:stCondLst>
                                    <p:cond delay="0"/>
                                  </p:stCondLst>
                                  <p:childTnLst>
                                    <p:set>
                                      <p:cBhvr>
                                        <p:cTn id="400" dur="1" fill="hold">
                                          <p:stCondLst>
                                            <p:cond delay="0"/>
                                          </p:stCondLst>
                                        </p:cTn>
                                        <p:tgtEl>
                                          <p:spTgt spid="135"/>
                                        </p:tgtEl>
                                        <p:attrNameLst>
                                          <p:attrName>style.visibility</p:attrName>
                                        </p:attrNameLst>
                                      </p:cBhvr>
                                      <p:to>
                                        <p:strVal val="visible"/>
                                      </p:to>
                                    </p:set>
                                    <p:animEffect filter="wipe(down)" transition="in">
                                      <p:cBhvr additive="repl">
                                        <p:cTn id="401" dur="1500"/>
                                        <p:tgtEl>
                                          <p:spTgt spid="1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18.2  THE OLIGOPOLISTS' DILEMMA</a:t>
            </a:r>
            <a:endParaRPr b="0" lang="en-CA" sz="2600" strike="noStrike" u="none">
              <a:solidFill>
                <a:schemeClr val="dk1"/>
              </a:solidFill>
              <a:effectLst/>
              <a:uFillTx/>
              <a:latin typeface="Arial"/>
            </a:endParaRPr>
          </a:p>
        </p:txBody>
      </p:sp>
      <p:sp>
        <p:nvSpPr>
          <p:cNvPr id="137"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tabLst>
                <a:tab algn="l" pos="3657600"/>
              </a:tabLst>
            </a:pPr>
            <a:r>
              <a:rPr b="1" lang="en-US" sz="2800" strike="noStrike" u="none">
                <a:solidFill>
                  <a:srgbClr val="00468f"/>
                </a:solidFill>
                <a:effectLst/>
                <a:uFillTx/>
                <a:latin typeface="Arial"/>
                <a:ea typeface="ＭＳ Ｐゴシック"/>
              </a:rPr>
              <a:t>The Oligopoly Cartel Dilemma</a:t>
            </a:r>
            <a:endParaRPr b="1" lang="en-CA" sz="28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3657600"/>
              </a:tabLst>
            </a:pPr>
            <a:r>
              <a:rPr b="0" lang="en-US" sz="2400" strike="noStrike" u="none">
                <a:solidFill>
                  <a:schemeClr val="dk1"/>
                </a:solidFill>
                <a:effectLst/>
                <a:uFillTx/>
                <a:latin typeface="Arial"/>
                <a:ea typeface="ＭＳ Ｐゴシック"/>
              </a:rPr>
              <a:t>If both firms stick to the monopoly output, they each produce 3 airplanes and make $36 million.</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3657600"/>
              </a:tabLst>
            </a:pPr>
            <a:r>
              <a:rPr b="0" lang="en-US" sz="2400" strike="noStrike" u="none">
                <a:solidFill>
                  <a:schemeClr val="dk1"/>
                </a:solidFill>
                <a:effectLst/>
                <a:uFillTx/>
                <a:latin typeface="Arial"/>
                <a:ea typeface="ＭＳ Ｐゴシック"/>
              </a:rPr>
              <a:t>If they both increase production to 4 airplanes a week, they make $32 million each.</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3657600"/>
              </a:tabLst>
            </a:pPr>
            <a:r>
              <a:rPr b="0" lang="en-US" sz="2400" strike="noStrike" u="none">
                <a:solidFill>
                  <a:schemeClr val="dk1"/>
                </a:solidFill>
                <a:effectLst/>
                <a:uFillTx/>
                <a:latin typeface="Arial"/>
                <a:ea typeface="ＭＳ Ｐゴシック"/>
              </a:rPr>
              <a:t>If only one firm increases production to 4 airplanes a week, that firm makes $40 million.</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tabLst>
                <a:tab algn="l" pos="3657600"/>
              </a:tabLst>
            </a:pPr>
            <a:r>
              <a:rPr b="0" lang="en-US" sz="2400" strike="noStrike" u="none">
                <a:solidFill>
                  <a:schemeClr val="dk1"/>
                </a:solidFill>
                <a:effectLst/>
                <a:uFillTx/>
                <a:latin typeface="Arial"/>
                <a:ea typeface="ＭＳ Ｐゴシック"/>
              </a:rPr>
              <a:t>What do they do?</a:t>
            </a:r>
            <a:endParaRPr b="0" lang="en-CA" sz="2400" strike="noStrike" u="none">
              <a:solidFill>
                <a:schemeClr val="dk1"/>
              </a:solidFill>
              <a:effectLst/>
              <a:uFillTx/>
              <a:latin typeface="Arial"/>
            </a:endParaRPr>
          </a:p>
          <a:p>
            <a:pPr marL="360000" indent="0">
              <a:lnSpc>
                <a:spcPct val="100000"/>
              </a:lnSpc>
              <a:spcBef>
                <a:spcPts val="601"/>
              </a:spcBef>
              <a:spcAft>
                <a:spcPts val="601"/>
              </a:spcAft>
              <a:buNone/>
              <a:tabLst>
                <a:tab algn="l" pos="3657600"/>
              </a:tabLst>
            </a:pPr>
            <a:r>
              <a:rPr b="0" lang="en-US" sz="2400" strike="noStrike" u="none">
                <a:solidFill>
                  <a:schemeClr val="dk1"/>
                </a:solidFill>
                <a:effectLst/>
                <a:uFillTx/>
                <a:latin typeface="Arial"/>
                <a:ea typeface="ＭＳ Ｐゴシック"/>
              </a:rPr>
              <a:t>Game theory provides an answer.</a:t>
            </a:r>
            <a:endParaRPr b="1" lang="en-CA" sz="2400" strike="noStrike" u="none">
              <a:solidFill>
                <a:srgbClr val="00468f"/>
              </a:solidFill>
              <a:effectLst/>
              <a:uFillTx/>
              <a:latin typeface="Arial"/>
            </a:endParaRPr>
          </a:p>
        </p:txBody>
      </p:sp>
    </p:spTree>
  </p:cSld>
  <p:transition spd="slow">
    <p:wipe dir="r"/>
  </p:transition>
  <p:timing>
    <p:tnLst>
      <p:par>
        <p:cTn id="402" dur="indefinite" restart="never" nodeType="tmRoot">
          <p:childTnLst>
            <p:seq>
              <p:cTn id="403" dur="indefinite" nodeType="mainSeq">
                <p:childTnLst>
                  <p:par>
                    <p:cTn id="404" nodeType="clickEffect" fill="hold">
                      <p:stCondLst>
                        <p:cond delay="indefinite"/>
                      </p:stCondLst>
                      <p:childTnLst>
                        <p:par>
                          <p:cTn id="405" nodeType="withEffect" fill="hold">
                            <p:stCondLst>
                              <p:cond delay="0"/>
                            </p:stCondLst>
                            <p:childTnLst>
                              <p:par>
                                <p:cTn id="406" nodeType="clickEffect" fill="hold" presetClass="entr" presetID="22" presetSubtype="8">
                                  <p:stCondLst>
                                    <p:cond delay="0"/>
                                  </p:stCondLst>
                                  <p:childTnLst>
                                    <p:set>
                                      <p:cBhvr>
                                        <p:cTn id="407" dur="1" fill="hold">
                                          <p:stCondLst>
                                            <p:cond delay="0"/>
                                          </p:stCondLst>
                                        </p:cTn>
                                        <p:tgtEl>
                                          <p:spTgt spid="137">
                                            <p:txEl>
                                              <p:pRg st="1" end="1"/>
                                            </p:txEl>
                                          </p:spTgt>
                                        </p:tgtEl>
                                        <p:attrNameLst>
                                          <p:attrName>style.visibility</p:attrName>
                                        </p:attrNameLst>
                                      </p:cBhvr>
                                      <p:to>
                                        <p:strVal val="visible"/>
                                      </p:to>
                                    </p:set>
                                    <p:animEffect filter="wipe(left)" transition="in">
                                      <p:cBhvr additive="repl">
                                        <p:cTn id="408" dur="500"/>
                                        <p:tgtEl>
                                          <p:spTgt spid="137">
                                            <p:txEl>
                                              <p:pRg st="1" end="1"/>
                                            </p:txEl>
                                          </p:spTgt>
                                        </p:tgtEl>
                                      </p:cBhvr>
                                    </p:animEffect>
                                  </p:childTnLst>
                                </p:cTn>
                              </p:par>
                            </p:childTnLst>
                          </p:cTn>
                        </p:par>
                      </p:childTnLst>
                    </p:cTn>
                  </p:par>
                  <p:par>
                    <p:cTn id="409" nodeType="clickEffect" fill="hold">
                      <p:stCondLst>
                        <p:cond delay="indefinite"/>
                      </p:stCondLst>
                      <p:childTnLst>
                        <p:par>
                          <p:cTn id="410" nodeType="withEffect" fill="hold">
                            <p:stCondLst>
                              <p:cond delay="0"/>
                            </p:stCondLst>
                            <p:childTnLst>
                              <p:par>
                                <p:cTn id="411" nodeType="clickEffect" fill="hold" presetClass="entr" presetID="22" presetSubtype="8">
                                  <p:stCondLst>
                                    <p:cond delay="0"/>
                                  </p:stCondLst>
                                  <p:childTnLst>
                                    <p:set>
                                      <p:cBhvr>
                                        <p:cTn id="412" dur="1" fill="hold">
                                          <p:stCondLst>
                                            <p:cond delay="0"/>
                                          </p:stCondLst>
                                        </p:cTn>
                                        <p:tgtEl>
                                          <p:spTgt spid="137">
                                            <p:txEl>
                                              <p:pRg st="2" end="2"/>
                                            </p:txEl>
                                          </p:spTgt>
                                        </p:tgtEl>
                                        <p:attrNameLst>
                                          <p:attrName>style.visibility</p:attrName>
                                        </p:attrNameLst>
                                      </p:cBhvr>
                                      <p:to>
                                        <p:strVal val="visible"/>
                                      </p:to>
                                    </p:set>
                                    <p:animEffect filter="wipe(left)" transition="in">
                                      <p:cBhvr additive="repl">
                                        <p:cTn id="413" dur="500"/>
                                        <p:tgtEl>
                                          <p:spTgt spid="137">
                                            <p:txEl>
                                              <p:pRg st="2" end="2"/>
                                            </p:txEl>
                                          </p:spTgt>
                                        </p:tgtEl>
                                      </p:cBhvr>
                                    </p:animEffect>
                                  </p:childTnLst>
                                </p:cTn>
                              </p:par>
                            </p:childTnLst>
                          </p:cTn>
                        </p:par>
                      </p:childTnLst>
                    </p:cTn>
                  </p:par>
                  <p:par>
                    <p:cTn id="414" nodeType="clickEffect" fill="hold">
                      <p:stCondLst>
                        <p:cond delay="indefinite"/>
                      </p:stCondLst>
                      <p:childTnLst>
                        <p:par>
                          <p:cTn id="415" nodeType="withEffect" fill="hold">
                            <p:stCondLst>
                              <p:cond delay="0"/>
                            </p:stCondLst>
                            <p:childTnLst>
                              <p:par>
                                <p:cTn id="416" nodeType="clickEffect" fill="hold" presetClass="entr" presetID="22" presetSubtype="8">
                                  <p:stCondLst>
                                    <p:cond delay="0"/>
                                  </p:stCondLst>
                                  <p:childTnLst>
                                    <p:set>
                                      <p:cBhvr>
                                        <p:cTn id="417" dur="1" fill="hold">
                                          <p:stCondLst>
                                            <p:cond delay="0"/>
                                          </p:stCondLst>
                                        </p:cTn>
                                        <p:tgtEl>
                                          <p:spTgt spid="137">
                                            <p:txEl>
                                              <p:pRg st="3" end="3"/>
                                            </p:txEl>
                                          </p:spTgt>
                                        </p:tgtEl>
                                        <p:attrNameLst>
                                          <p:attrName>style.visibility</p:attrName>
                                        </p:attrNameLst>
                                      </p:cBhvr>
                                      <p:to>
                                        <p:strVal val="visible"/>
                                      </p:to>
                                    </p:set>
                                    <p:animEffect filter="wipe(left)" transition="in">
                                      <p:cBhvr additive="repl">
                                        <p:cTn id="418" dur="500"/>
                                        <p:tgtEl>
                                          <p:spTgt spid="137">
                                            <p:txEl>
                                              <p:pRg st="3" end="3"/>
                                            </p:txEl>
                                          </p:spTgt>
                                        </p:tgtEl>
                                      </p:cBhvr>
                                    </p:animEffect>
                                  </p:childTnLst>
                                </p:cTn>
                              </p:par>
                            </p:childTnLst>
                          </p:cTn>
                        </p:par>
                      </p:childTnLst>
                    </p:cTn>
                  </p:par>
                  <p:par>
                    <p:cTn id="419" nodeType="clickEffect" fill="hold">
                      <p:stCondLst>
                        <p:cond delay="indefinite"/>
                      </p:stCondLst>
                      <p:childTnLst>
                        <p:par>
                          <p:cTn id="420" nodeType="withEffect" fill="hold">
                            <p:stCondLst>
                              <p:cond delay="0"/>
                            </p:stCondLst>
                            <p:childTnLst>
                              <p:par>
                                <p:cTn id="421" nodeType="clickEffect" fill="hold" presetClass="entr" presetID="22" presetSubtype="8">
                                  <p:stCondLst>
                                    <p:cond delay="0"/>
                                  </p:stCondLst>
                                  <p:childTnLst>
                                    <p:set>
                                      <p:cBhvr>
                                        <p:cTn id="422" dur="1" fill="hold">
                                          <p:stCondLst>
                                            <p:cond delay="0"/>
                                          </p:stCondLst>
                                        </p:cTn>
                                        <p:tgtEl>
                                          <p:spTgt spid="137">
                                            <p:txEl>
                                              <p:pRg st="4" end="4"/>
                                            </p:txEl>
                                          </p:spTgt>
                                        </p:tgtEl>
                                        <p:attrNameLst>
                                          <p:attrName>style.visibility</p:attrName>
                                        </p:attrNameLst>
                                      </p:cBhvr>
                                      <p:to>
                                        <p:strVal val="visible"/>
                                      </p:to>
                                    </p:set>
                                    <p:animEffect filter="wipe(left)" transition="in">
                                      <p:cBhvr additive="repl">
                                        <p:cTn id="423" dur="500"/>
                                        <p:tgtEl>
                                          <p:spTgt spid="137">
                                            <p:txEl>
                                              <p:pRg st="4" end="4"/>
                                            </p:txEl>
                                          </p:spTgt>
                                        </p:tgtEl>
                                      </p:cBhvr>
                                    </p:animEffect>
                                  </p:childTnLst>
                                </p:cTn>
                              </p:par>
                            </p:childTnLst>
                          </p:cTn>
                        </p:par>
                      </p:childTnLst>
                    </p:cTn>
                  </p:par>
                  <p:par>
                    <p:cTn id="424" nodeType="clickEffect" fill="hold">
                      <p:stCondLst>
                        <p:cond delay="indefinite"/>
                      </p:stCondLst>
                      <p:childTnLst>
                        <p:par>
                          <p:cTn id="425" nodeType="withEffect" fill="hold">
                            <p:stCondLst>
                              <p:cond delay="0"/>
                            </p:stCondLst>
                            <p:childTnLst>
                              <p:par>
                                <p:cTn id="426" nodeType="clickEffect" fill="hold" presetClass="entr" presetID="22" presetSubtype="8">
                                  <p:stCondLst>
                                    <p:cond delay="0"/>
                                  </p:stCondLst>
                                  <p:childTnLst>
                                    <p:set>
                                      <p:cBhvr>
                                        <p:cTn id="427" dur="1" fill="hold">
                                          <p:stCondLst>
                                            <p:cond delay="0"/>
                                          </p:stCondLst>
                                        </p:cTn>
                                        <p:tgtEl>
                                          <p:spTgt spid="137">
                                            <p:txEl>
                                              <p:pRg st="5" end="5"/>
                                            </p:txEl>
                                          </p:spTgt>
                                        </p:tgtEl>
                                        <p:attrNameLst>
                                          <p:attrName>style.visibility</p:attrName>
                                        </p:attrNameLst>
                                      </p:cBhvr>
                                      <p:to>
                                        <p:strVal val="visible"/>
                                      </p:to>
                                    </p:set>
                                    <p:animEffect filter="wipe(left)" transition="in">
                                      <p:cBhvr additive="repl">
                                        <p:cTn id="428" dur="500"/>
                                        <p:tgtEl>
                                          <p:spTgt spid="137">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13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Game theory </a:t>
            </a:r>
            <a:r>
              <a:rPr b="0" lang="en-US" sz="2400" strike="noStrike" u="none">
                <a:solidFill>
                  <a:schemeClr val="dk1"/>
                </a:solidFill>
                <a:effectLst/>
                <a:uFillTx/>
                <a:latin typeface="Arial"/>
                <a:ea typeface="ＭＳ Ｐゴシック"/>
              </a:rPr>
              <a:t>is the tool used to analyze strategic behavior—behavior that recognizes mutual interdependence and takes account of the expected behavior of others.</a:t>
            </a:r>
            <a:endParaRPr b="1" lang="en-CA" sz="2400" strike="noStrike" u="none">
              <a:solidFill>
                <a:srgbClr val="00468f"/>
              </a:solidFill>
              <a:effectLst/>
              <a:uFillTx/>
              <a:latin typeface="Arial"/>
            </a:endParaRPr>
          </a:p>
        </p:txBody>
      </p:sp>
    </p:spTree>
  </p:cSld>
  <p:transition spd="slow">
    <p:wipe dir="r"/>
  </p:transition>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14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What Is a Game?</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All games involve three features:</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Rules</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Strategies</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Payoffs</a:t>
            </a:r>
            <a:endParaRPr b="0" lang="en-CA" sz="2400" strike="noStrike" u="none">
              <a:solidFill>
                <a:schemeClr val="dk1"/>
              </a:solidFill>
              <a:effectLst/>
              <a:uFillTx/>
              <a:latin typeface="Arial"/>
            </a:endParaRPr>
          </a:p>
          <a:p>
            <a:pPr marL="36000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Prisoners’ dilemma </a:t>
            </a:r>
            <a:r>
              <a:rPr b="0" lang="en-US" sz="2400" strike="noStrike" u="none">
                <a:solidFill>
                  <a:schemeClr val="dk1"/>
                </a:solidFill>
                <a:effectLst/>
                <a:uFillTx/>
                <a:latin typeface="Arial"/>
                <a:ea typeface="ＭＳ Ｐゴシック"/>
              </a:rPr>
              <a:t>is a game between two prisoners that shows why it is hard to cooperate, even when it would be beneficial to both players to do so.</a:t>
            </a:r>
            <a:endParaRPr b="1" lang="en-CA" sz="2400" strike="noStrike" u="none">
              <a:solidFill>
                <a:srgbClr val="00468f"/>
              </a:solidFill>
              <a:effectLst/>
              <a:uFillTx/>
              <a:latin typeface="Arial"/>
            </a:endParaRPr>
          </a:p>
        </p:txBody>
      </p:sp>
    </p:spTree>
  </p:cSld>
  <p:transition spd="slow">
    <p:wipe dir="r"/>
  </p:transition>
  <p:timing>
    <p:tnLst>
      <p:par>
        <p:cTn id="429" dur="indefinite" restart="never" nodeType="tmRoot">
          <p:childTnLst>
            <p:seq>
              <p:cTn id="430" dur="indefinite" nodeType="mainSeq">
                <p:childTnLst>
                  <p:par>
                    <p:cTn id="431" nodeType="clickEffect" fill="hold">
                      <p:stCondLst>
                        <p:cond delay="indefinite"/>
                      </p:stCondLst>
                      <p:childTnLst>
                        <p:par>
                          <p:cTn id="432" nodeType="withEffect" fill="hold">
                            <p:stCondLst>
                              <p:cond delay="0"/>
                            </p:stCondLst>
                            <p:childTnLst>
                              <p:par>
                                <p:cTn id="433" nodeType="clickEffect" fill="hold" presetClass="entr" presetID="22" presetSubtype="8">
                                  <p:stCondLst>
                                    <p:cond delay="0"/>
                                  </p:stCondLst>
                                  <p:childTnLst>
                                    <p:set>
                                      <p:cBhvr>
                                        <p:cTn id="434" dur="1" fill="hold">
                                          <p:stCondLst>
                                            <p:cond delay="0"/>
                                          </p:stCondLst>
                                        </p:cTn>
                                        <p:tgtEl>
                                          <p:spTgt spid="141">
                                            <p:txEl>
                                              <p:pRg st="1" end="1"/>
                                            </p:txEl>
                                          </p:spTgt>
                                        </p:tgtEl>
                                        <p:attrNameLst>
                                          <p:attrName>style.visibility</p:attrName>
                                        </p:attrNameLst>
                                      </p:cBhvr>
                                      <p:to>
                                        <p:strVal val="visible"/>
                                      </p:to>
                                    </p:set>
                                    <p:animEffect filter="wipe(left)" transition="in">
                                      <p:cBhvr additive="repl">
                                        <p:cTn id="435" dur="500"/>
                                        <p:tgtEl>
                                          <p:spTgt spid="141">
                                            <p:txEl>
                                              <p:pRg st="1" end="1"/>
                                            </p:txEl>
                                          </p:spTgt>
                                        </p:tgtEl>
                                      </p:cBhvr>
                                    </p:animEffect>
                                  </p:childTnLst>
                                </p:cTn>
                              </p:par>
                            </p:childTnLst>
                          </p:cTn>
                        </p:par>
                      </p:childTnLst>
                    </p:cTn>
                  </p:par>
                  <p:par>
                    <p:cTn id="436" nodeType="clickEffect" fill="hold">
                      <p:stCondLst>
                        <p:cond delay="indefinite"/>
                      </p:stCondLst>
                      <p:childTnLst>
                        <p:par>
                          <p:cTn id="437" nodeType="withEffect" fill="hold">
                            <p:stCondLst>
                              <p:cond delay="0"/>
                            </p:stCondLst>
                            <p:childTnLst>
                              <p:par>
                                <p:cTn id="438" nodeType="clickEffect" fill="hold" presetClass="entr" presetID="22" presetSubtype="8">
                                  <p:stCondLst>
                                    <p:cond delay="0"/>
                                  </p:stCondLst>
                                  <p:childTnLst>
                                    <p:set>
                                      <p:cBhvr>
                                        <p:cTn id="439" dur="1" fill="hold">
                                          <p:stCondLst>
                                            <p:cond delay="0"/>
                                          </p:stCondLst>
                                        </p:cTn>
                                        <p:tgtEl>
                                          <p:spTgt spid="141">
                                            <p:txEl>
                                              <p:pRg st="2" end="2"/>
                                            </p:txEl>
                                          </p:spTgt>
                                        </p:tgtEl>
                                        <p:attrNameLst>
                                          <p:attrName>style.visibility</p:attrName>
                                        </p:attrNameLst>
                                      </p:cBhvr>
                                      <p:to>
                                        <p:strVal val="visible"/>
                                      </p:to>
                                    </p:set>
                                    <p:animEffect filter="wipe(left)" transition="in">
                                      <p:cBhvr additive="repl">
                                        <p:cTn id="440" dur="500"/>
                                        <p:tgtEl>
                                          <p:spTgt spid="141">
                                            <p:txEl>
                                              <p:pRg st="2" end="2"/>
                                            </p:txEl>
                                          </p:spTgt>
                                        </p:tgtEl>
                                      </p:cBhvr>
                                    </p:animEffect>
                                  </p:childTnLst>
                                </p:cTn>
                              </p:par>
                            </p:childTnLst>
                          </p:cTn>
                        </p:par>
                      </p:childTnLst>
                    </p:cTn>
                  </p:par>
                  <p:par>
                    <p:cTn id="441" nodeType="clickEffect" fill="hold">
                      <p:stCondLst>
                        <p:cond delay="indefinite"/>
                      </p:stCondLst>
                      <p:childTnLst>
                        <p:par>
                          <p:cTn id="442" nodeType="withEffect" fill="hold">
                            <p:stCondLst>
                              <p:cond delay="0"/>
                            </p:stCondLst>
                            <p:childTnLst>
                              <p:par>
                                <p:cTn id="443" nodeType="clickEffect" fill="hold" presetClass="entr" presetID="22" presetSubtype="8">
                                  <p:stCondLst>
                                    <p:cond delay="0"/>
                                  </p:stCondLst>
                                  <p:childTnLst>
                                    <p:set>
                                      <p:cBhvr>
                                        <p:cTn id="444" dur="1" fill="hold">
                                          <p:stCondLst>
                                            <p:cond delay="0"/>
                                          </p:stCondLst>
                                        </p:cTn>
                                        <p:tgtEl>
                                          <p:spTgt spid="141">
                                            <p:txEl>
                                              <p:pRg st="3" end="3"/>
                                            </p:txEl>
                                          </p:spTgt>
                                        </p:tgtEl>
                                        <p:attrNameLst>
                                          <p:attrName>style.visibility</p:attrName>
                                        </p:attrNameLst>
                                      </p:cBhvr>
                                      <p:to>
                                        <p:strVal val="visible"/>
                                      </p:to>
                                    </p:set>
                                    <p:animEffect filter="wipe(left)" transition="in">
                                      <p:cBhvr additive="repl">
                                        <p:cTn id="445" dur="500"/>
                                        <p:tgtEl>
                                          <p:spTgt spid="141">
                                            <p:txEl>
                                              <p:pRg st="3" end="3"/>
                                            </p:txEl>
                                          </p:spTgt>
                                        </p:tgtEl>
                                      </p:cBhvr>
                                    </p:animEffect>
                                  </p:childTnLst>
                                </p:cTn>
                              </p:par>
                            </p:childTnLst>
                          </p:cTn>
                        </p:par>
                      </p:childTnLst>
                    </p:cTn>
                  </p:par>
                  <p:par>
                    <p:cTn id="446" nodeType="clickEffect" fill="hold">
                      <p:stCondLst>
                        <p:cond delay="indefinite"/>
                      </p:stCondLst>
                      <p:childTnLst>
                        <p:par>
                          <p:cTn id="447" nodeType="withEffect" fill="hold">
                            <p:stCondLst>
                              <p:cond delay="0"/>
                            </p:stCondLst>
                            <p:childTnLst>
                              <p:par>
                                <p:cTn id="448" nodeType="clickEffect" fill="hold" presetClass="entr" presetID="22" presetSubtype="8">
                                  <p:stCondLst>
                                    <p:cond delay="0"/>
                                  </p:stCondLst>
                                  <p:childTnLst>
                                    <p:set>
                                      <p:cBhvr>
                                        <p:cTn id="449" dur="1" fill="hold">
                                          <p:stCondLst>
                                            <p:cond delay="0"/>
                                          </p:stCondLst>
                                        </p:cTn>
                                        <p:tgtEl>
                                          <p:spTgt spid="141">
                                            <p:txEl>
                                              <p:pRg st="4" end="4"/>
                                            </p:txEl>
                                          </p:spTgt>
                                        </p:tgtEl>
                                        <p:attrNameLst>
                                          <p:attrName>style.visibility</p:attrName>
                                        </p:attrNameLst>
                                      </p:cBhvr>
                                      <p:to>
                                        <p:strVal val="visible"/>
                                      </p:to>
                                    </p:set>
                                    <p:animEffect filter="wipe(left)" transition="in">
                                      <p:cBhvr additive="repl">
                                        <p:cTn id="450" dur="500"/>
                                        <p:tgtEl>
                                          <p:spTgt spid="141">
                                            <p:txEl>
                                              <p:pRg st="4" end="4"/>
                                            </p:txEl>
                                          </p:spTgt>
                                        </p:tgtEl>
                                      </p:cBhvr>
                                    </p:animEffect>
                                  </p:childTnLst>
                                </p:cTn>
                              </p:par>
                            </p:childTnLst>
                          </p:cTn>
                        </p:par>
                      </p:childTnLst>
                    </p:cTn>
                  </p:par>
                  <p:par>
                    <p:cTn id="451" nodeType="clickEffect" fill="hold">
                      <p:stCondLst>
                        <p:cond delay="indefinite"/>
                      </p:stCondLst>
                      <p:childTnLst>
                        <p:par>
                          <p:cTn id="452" nodeType="withEffect" fill="hold">
                            <p:stCondLst>
                              <p:cond delay="0"/>
                            </p:stCondLst>
                            <p:childTnLst>
                              <p:par>
                                <p:cTn id="453" nodeType="clickEffect" fill="hold" presetClass="entr" presetID="22" presetSubtype="8">
                                  <p:stCondLst>
                                    <p:cond delay="0"/>
                                  </p:stCondLst>
                                  <p:childTnLst>
                                    <p:set>
                                      <p:cBhvr>
                                        <p:cTn id="454" dur="1" fill="hold">
                                          <p:stCondLst>
                                            <p:cond delay="0"/>
                                          </p:stCondLst>
                                        </p:cTn>
                                        <p:tgtEl>
                                          <p:spTgt spid="141">
                                            <p:txEl>
                                              <p:pRg st="5" end="5"/>
                                            </p:txEl>
                                          </p:spTgt>
                                        </p:tgtEl>
                                        <p:attrNameLst>
                                          <p:attrName>style.visibility</p:attrName>
                                        </p:attrNameLst>
                                      </p:cBhvr>
                                      <p:to>
                                        <p:strVal val="visible"/>
                                      </p:to>
                                    </p:set>
                                    <p:animEffect filter="wipe(left)" transition="in">
                                      <p:cBhvr additive="repl">
                                        <p:cTn id="455" dur="500"/>
                                        <p:tgtEl>
                                          <p:spTgt spid="141">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14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The Prisoners’ Dilemma</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Art and Bob have been caught stealing a car: sentence is 2 years in jail.</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DA wants to convict them of a big bank robbery: sentence is 10 years in jail.</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DA has no evidence and to get the conviction, he makes the prisoners play a game.</a:t>
            </a:r>
            <a:endParaRPr b="1" lang="en-CA" sz="2400" strike="noStrike" u="none">
              <a:solidFill>
                <a:srgbClr val="00468f"/>
              </a:solidFill>
              <a:effectLst/>
              <a:uFillTx/>
              <a:latin typeface="Arial"/>
            </a:endParaRPr>
          </a:p>
        </p:txBody>
      </p:sp>
    </p:spTree>
  </p:cSld>
  <p:transition spd="slow">
    <p:wipe dir="r"/>
  </p:transition>
  <p:timing>
    <p:tnLst>
      <p:par>
        <p:cTn id="456" dur="indefinite" restart="never" nodeType="tmRoot">
          <p:childTnLst>
            <p:seq>
              <p:cTn id="457" dur="indefinite" nodeType="mainSeq">
                <p:childTnLst>
                  <p:par>
                    <p:cTn id="458" nodeType="clickEffect" fill="hold">
                      <p:stCondLst>
                        <p:cond delay="indefinite"/>
                      </p:stCondLst>
                      <p:childTnLst>
                        <p:par>
                          <p:cTn id="459" nodeType="withEffect" fill="hold">
                            <p:stCondLst>
                              <p:cond delay="0"/>
                            </p:stCondLst>
                            <p:childTnLst>
                              <p:par>
                                <p:cTn id="460" nodeType="clickEffect" fill="hold" presetClass="entr" presetID="22" presetSubtype="8">
                                  <p:stCondLst>
                                    <p:cond delay="0"/>
                                  </p:stCondLst>
                                  <p:childTnLst>
                                    <p:set>
                                      <p:cBhvr>
                                        <p:cTn id="461" dur="1" fill="hold">
                                          <p:stCondLst>
                                            <p:cond delay="0"/>
                                          </p:stCondLst>
                                        </p:cTn>
                                        <p:tgtEl>
                                          <p:spTgt spid="143">
                                            <p:txEl>
                                              <p:pRg st="1" end="1"/>
                                            </p:txEl>
                                          </p:spTgt>
                                        </p:tgtEl>
                                        <p:attrNameLst>
                                          <p:attrName>style.visibility</p:attrName>
                                        </p:attrNameLst>
                                      </p:cBhvr>
                                      <p:to>
                                        <p:strVal val="visible"/>
                                      </p:to>
                                    </p:set>
                                    <p:animEffect filter="wipe(left)" transition="in">
                                      <p:cBhvr additive="repl">
                                        <p:cTn id="462" dur="500"/>
                                        <p:tgtEl>
                                          <p:spTgt spid="143">
                                            <p:txEl>
                                              <p:pRg st="1" end="1"/>
                                            </p:txEl>
                                          </p:spTgt>
                                        </p:tgtEl>
                                      </p:cBhvr>
                                    </p:animEffect>
                                  </p:childTnLst>
                                </p:cTn>
                              </p:par>
                            </p:childTnLst>
                          </p:cTn>
                        </p:par>
                      </p:childTnLst>
                    </p:cTn>
                  </p:par>
                  <p:par>
                    <p:cTn id="463" nodeType="clickEffect" fill="hold">
                      <p:stCondLst>
                        <p:cond delay="indefinite"/>
                      </p:stCondLst>
                      <p:childTnLst>
                        <p:par>
                          <p:cTn id="464" nodeType="withEffect" fill="hold">
                            <p:stCondLst>
                              <p:cond delay="0"/>
                            </p:stCondLst>
                            <p:childTnLst>
                              <p:par>
                                <p:cTn id="465" nodeType="clickEffect" fill="hold" presetClass="entr" presetID="22" presetSubtype="8">
                                  <p:stCondLst>
                                    <p:cond delay="0"/>
                                  </p:stCondLst>
                                  <p:childTnLst>
                                    <p:set>
                                      <p:cBhvr>
                                        <p:cTn id="466" dur="1" fill="hold">
                                          <p:stCondLst>
                                            <p:cond delay="0"/>
                                          </p:stCondLst>
                                        </p:cTn>
                                        <p:tgtEl>
                                          <p:spTgt spid="143">
                                            <p:txEl>
                                              <p:pRg st="2" end="2"/>
                                            </p:txEl>
                                          </p:spTgt>
                                        </p:tgtEl>
                                        <p:attrNameLst>
                                          <p:attrName>style.visibility</p:attrName>
                                        </p:attrNameLst>
                                      </p:cBhvr>
                                      <p:to>
                                        <p:strVal val="visible"/>
                                      </p:to>
                                    </p:set>
                                    <p:animEffect filter="wipe(left)" transition="in">
                                      <p:cBhvr additive="repl">
                                        <p:cTn id="467" dur="500"/>
                                        <p:tgtEl>
                                          <p:spTgt spid="143">
                                            <p:txEl>
                                              <p:pRg st="2" end="2"/>
                                            </p:txEl>
                                          </p:spTgt>
                                        </p:tgtEl>
                                      </p:cBhvr>
                                    </p:animEffect>
                                  </p:childTnLst>
                                </p:cTn>
                              </p:par>
                            </p:childTnLst>
                          </p:cTn>
                        </p:par>
                      </p:childTnLst>
                    </p:cTn>
                  </p:par>
                  <p:par>
                    <p:cTn id="468" nodeType="clickEffect" fill="hold">
                      <p:stCondLst>
                        <p:cond delay="indefinite"/>
                      </p:stCondLst>
                      <p:childTnLst>
                        <p:par>
                          <p:cTn id="469" nodeType="withEffect" fill="hold">
                            <p:stCondLst>
                              <p:cond delay="0"/>
                            </p:stCondLst>
                            <p:childTnLst>
                              <p:par>
                                <p:cTn id="470" nodeType="clickEffect" fill="hold" presetClass="entr" presetID="22" presetSubtype="8">
                                  <p:stCondLst>
                                    <p:cond delay="0"/>
                                  </p:stCondLst>
                                  <p:childTnLst>
                                    <p:set>
                                      <p:cBhvr>
                                        <p:cTn id="471" dur="1" fill="hold">
                                          <p:stCondLst>
                                            <p:cond delay="0"/>
                                          </p:stCondLst>
                                        </p:cTn>
                                        <p:tgtEl>
                                          <p:spTgt spid="143">
                                            <p:txEl>
                                              <p:pRg st="3" end="3"/>
                                            </p:txEl>
                                          </p:spTgt>
                                        </p:tgtEl>
                                        <p:attrNameLst>
                                          <p:attrName>style.visibility</p:attrName>
                                        </p:attrNameLst>
                                      </p:cBhvr>
                                      <p:to>
                                        <p:strVal val="visible"/>
                                      </p:to>
                                    </p:set>
                                    <p:animEffect filter="wipe(left)" transition="in">
                                      <p:cBhvr additive="repl">
                                        <p:cTn id="472" dur="500"/>
                                        <p:tgtEl>
                                          <p:spTgt spid="143">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145"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Rules</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Players cannot communicate with one another.</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If both confess to the larger crime, each will receive a sentence of 3 years for both crimes.</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If one confesses and the accomplice does not,</a:t>
            </a:r>
            <a:br>
              <a:rPr sz="2400"/>
            </a:br>
            <a:r>
              <a:rPr b="0" lang="en-US" sz="2400" strike="noStrike" u="none">
                <a:solidFill>
                  <a:schemeClr val="dk1"/>
                </a:solidFill>
                <a:effectLst/>
                <a:uFillTx/>
                <a:latin typeface="Arial"/>
                <a:ea typeface="ＭＳ Ｐゴシック"/>
              </a:rPr>
              <a:t>the one who confesses will receive a 1-year sentence, while the accomplice receives a</a:t>
            </a:r>
            <a:br>
              <a:rPr sz="2400"/>
            </a:br>
            <a:r>
              <a:rPr b="0" lang="en-US" sz="2400" strike="noStrike" u="none">
                <a:solidFill>
                  <a:schemeClr val="dk1"/>
                </a:solidFill>
                <a:effectLst/>
                <a:uFillTx/>
                <a:latin typeface="Arial"/>
                <a:ea typeface="ＭＳ Ｐゴシック"/>
              </a:rPr>
              <a:t>10-year sentence.</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If neither confesses, both receive a 2-year sentence.</a:t>
            </a:r>
            <a:endParaRPr b="0" lang="en-CA" sz="2400" strike="noStrike" u="none">
              <a:solidFill>
                <a:schemeClr val="dk1"/>
              </a:solidFill>
              <a:effectLst/>
              <a:uFillTx/>
              <a:latin typeface="Arial"/>
            </a:endParaRPr>
          </a:p>
        </p:txBody>
      </p:sp>
    </p:spTree>
  </p:cSld>
  <p:transition spd="slow">
    <p:wipe dir="r"/>
  </p:transition>
  <p:timing>
    <p:tnLst>
      <p:par>
        <p:cTn id="473" dur="indefinite" restart="never" nodeType="tmRoot">
          <p:childTnLst>
            <p:seq>
              <p:cTn id="474" dur="indefinite" nodeType="mainSeq">
                <p:childTnLst>
                  <p:par>
                    <p:cTn id="475" nodeType="clickEffect" fill="hold">
                      <p:stCondLst>
                        <p:cond delay="indefinite"/>
                      </p:stCondLst>
                      <p:childTnLst>
                        <p:par>
                          <p:cTn id="476" nodeType="withEffect" fill="hold">
                            <p:stCondLst>
                              <p:cond delay="0"/>
                            </p:stCondLst>
                            <p:childTnLst>
                              <p:par>
                                <p:cTn id="477" nodeType="clickEffect" fill="hold" presetClass="entr" presetID="22" presetSubtype="8">
                                  <p:stCondLst>
                                    <p:cond delay="0"/>
                                  </p:stCondLst>
                                  <p:childTnLst>
                                    <p:set>
                                      <p:cBhvr>
                                        <p:cTn id="478" dur="1" fill="hold">
                                          <p:stCondLst>
                                            <p:cond delay="0"/>
                                          </p:stCondLst>
                                        </p:cTn>
                                        <p:tgtEl>
                                          <p:spTgt spid="145">
                                            <p:txEl>
                                              <p:pRg st="1" end="1"/>
                                            </p:txEl>
                                          </p:spTgt>
                                        </p:tgtEl>
                                        <p:attrNameLst>
                                          <p:attrName>style.visibility</p:attrName>
                                        </p:attrNameLst>
                                      </p:cBhvr>
                                      <p:to>
                                        <p:strVal val="visible"/>
                                      </p:to>
                                    </p:set>
                                    <p:animEffect filter="wipe(left)" transition="in">
                                      <p:cBhvr additive="repl">
                                        <p:cTn id="479" dur="500"/>
                                        <p:tgtEl>
                                          <p:spTgt spid="145">
                                            <p:txEl>
                                              <p:pRg st="1" end="1"/>
                                            </p:txEl>
                                          </p:spTgt>
                                        </p:tgtEl>
                                      </p:cBhvr>
                                    </p:animEffect>
                                  </p:childTnLst>
                                </p:cTn>
                              </p:par>
                            </p:childTnLst>
                          </p:cTn>
                        </p:par>
                      </p:childTnLst>
                    </p:cTn>
                  </p:par>
                  <p:par>
                    <p:cTn id="480" nodeType="clickEffect" fill="hold">
                      <p:stCondLst>
                        <p:cond delay="indefinite"/>
                      </p:stCondLst>
                      <p:childTnLst>
                        <p:par>
                          <p:cTn id="481" nodeType="withEffect" fill="hold">
                            <p:stCondLst>
                              <p:cond delay="0"/>
                            </p:stCondLst>
                            <p:childTnLst>
                              <p:par>
                                <p:cTn id="482" nodeType="clickEffect" fill="hold" presetClass="entr" presetID="22" presetSubtype="8">
                                  <p:stCondLst>
                                    <p:cond delay="0"/>
                                  </p:stCondLst>
                                  <p:childTnLst>
                                    <p:set>
                                      <p:cBhvr>
                                        <p:cTn id="483" dur="1" fill="hold">
                                          <p:stCondLst>
                                            <p:cond delay="0"/>
                                          </p:stCondLst>
                                        </p:cTn>
                                        <p:tgtEl>
                                          <p:spTgt spid="145">
                                            <p:txEl>
                                              <p:pRg st="2" end="2"/>
                                            </p:txEl>
                                          </p:spTgt>
                                        </p:tgtEl>
                                        <p:attrNameLst>
                                          <p:attrName>style.visibility</p:attrName>
                                        </p:attrNameLst>
                                      </p:cBhvr>
                                      <p:to>
                                        <p:strVal val="visible"/>
                                      </p:to>
                                    </p:set>
                                    <p:animEffect filter="wipe(left)" transition="in">
                                      <p:cBhvr additive="repl">
                                        <p:cTn id="484" dur="500"/>
                                        <p:tgtEl>
                                          <p:spTgt spid="145">
                                            <p:txEl>
                                              <p:pRg st="2" end="2"/>
                                            </p:txEl>
                                          </p:spTgt>
                                        </p:tgtEl>
                                      </p:cBhvr>
                                    </p:animEffect>
                                  </p:childTnLst>
                                </p:cTn>
                              </p:par>
                            </p:childTnLst>
                          </p:cTn>
                        </p:par>
                      </p:childTnLst>
                    </p:cTn>
                  </p:par>
                  <p:par>
                    <p:cTn id="485" nodeType="clickEffect" fill="hold">
                      <p:stCondLst>
                        <p:cond delay="indefinite"/>
                      </p:stCondLst>
                      <p:childTnLst>
                        <p:par>
                          <p:cTn id="486" nodeType="withEffect" fill="hold">
                            <p:stCondLst>
                              <p:cond delay="0"/>
                            </p:stCondLst>
                            <p:childTnLst>
                              <p:par>
                                <p:cTn id="487" nodeType="clickEffect" fill="hold" presetClass="entr" presetID="22" presetSubtype="8">
                                  <p:stCondLst>
                                    <p:cond delay="0"/>
                                  </p:stCondLst>
                                  <p:childTnLst>
                                    <p:set>
                                      <p:cBhvr>
                                        <p:cTn id="488" dur="1" fill="hold">
                                          <p:stCondLst>
                                            <p:cond delay="0"/>
                                          </p:stCondLst>
                                        </p:cTn>
                                        <p:tgtEl>
                                          <p:spTgt spid="145">
                                            <p:txEl>
                                              <p:pRg st="3" end="3"/>
                                            </p:txEl>
                                          </p:spTgt>
                                        </p:tgtEl>
                                        <p:attrNameLst>
                                          <p:attrName>style.visibility</p:attrName>
                                        </p:attrNameLst>
                                      </p:cBhvr>
                                      <p:to>
                                        <p:strVal val="visible"/>
                                      </p:to>
                                    </p:set>
                                    <p:animEffect filter="wipe(left)" transition="in">
                                      <p:cBhvr additive="repl">
                                        <p:cTn id="489" dur="500"/>
                                        <p:tgtEl>
                                          <p:spTgt spid="145">
                                            <p:txEl>
                                              <p:pRg st="3" end="3"/>
                                            </p:txEl>
                                          </p:spTgt>
                                        </p:tgtEl>
                                      </p:cBhvr>
                                    </p:animEffect>
                                  </p:childTnLst>
                                </p:cTn>
                              </p:par>
                            </p:childTnLst>
                          </p:cTn>
                        </p:par>
                      </p:childTnLst>
                    </p:cTn>
                  </p:par>
                  <p:par>
                    <p:cTn id="490" nodeType="clickEffect" fill="hold">
                      <p:stCondLst>
                        <p:cond delay="indefinite"/>
                      </p:stCondLst>
                      <p:childTnLst>
                        <p:par>
                          <p:cTn id="491" nodeType="withEffect" fill="hold">
                            <p:stCondLst>
                              <p:cond delay="0"/>
                            </p:stCondLst>
                            <p:childTnLst>
                              <p:par>
                                <p:cTn id="492" nodeType="clickEffect" fill="hold" presetClass="entr" presetID="22" presetSubtype="8">
                                  <p:stCondLst>
                                    <p:cond delay="0"/>
                                  </p:stCondLst>
                                  <p:childTnLst>
                                    <p:set>
                                      <p:cBhvr>
                                        <p:cTn id="493" dur="1" fill="hold">
                                          <p:stCondLst>
                                            <p:cond delay="0"/>
                                          </p:stCondLst>
                                        </p:cTn>
                                        <p:tgtEl>
                                          <p:spTgt spid="145">
                                            <p:txEl>
                                              <p:pRg st="4" end="4"/>
                                            </p:txEl>
                                          </p:spTgt>
                                        </p:tgtEl>
                                        <p:attrNameLst>
                                          <p:attrName>style.visibility</p:attrName>
                                        </p:attrNameLst>
                                      </p:cBhvr>
                                      <p:to>
                                        <p:strVal val="visible"/>
                                      </p:to>
                                    </p:set>
                                    <p:animEffect filter="wipe(left)" transition="in">
                                      <p:cBhvr additive="repl">
                                        <p:cTn id="494" dur="500"/>
                                        <p:tgtEl>
                                          <p:spTgt spid="145">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147"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US" sz="2400" strike="noStrike" u="none">
                <a:solidFill>
                  <a:srgbClr val="00468f"/>
                </a:solidFill>
                <a:effectLst/>
                <a:uFillTx/>
                <a:latin typeface="Arial"/>
                <a:ea typeface="ＭＳ Ｐゴシック"/>
              </a:rPr>
              <a:t>Strategies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a:t>
            </a:r>
            <a:r>
              <a:rPr b="1" lang="en-US" sz="2400" strike="noStrike" u="none">
                <a:solidFill>
                  <a:srgbClr val="ff0000"/>
                </a:solidFill>
                <a:effectLst/>
                <a:uFillTx/>
                <a:latin typeface="Arial"/>
                <a:ea typeface="ＭＳ Ｐゴシック"/>
              </a:rPr>
              <a:t>strategies</a:t>
            </a:r>
            <a:r>
              <a:rPr b="0" lang="en-US" sz="2400" strike="noStrike" u="none">
                <a:solidFill>
                  <a:schemeClr val="dk1"/>
                </a:solidFill>
                <a:effectLst/>
                <a:uFillTx/>
                <a:latin typeface="Arial"/>
                <a:ea typeface="ＭＳ Ｐゴシック"/>
              </a:rPr>
              <a:t> of a game are all the possible actions of each player.</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strategies in the prisoners’ dilemma are</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Confess to the bank robbery.</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Deny the bank robbery.</a:t>
            </a:r>
            <a:endParaRPr b="0" lang="en-CA" sz="2400" strike="noStrike" u="none">
              <a:solidFill>
                <a:schemeClr val="dk1"/>
              </a:solidFill>
              <a:effectLst/>
              <a:uFillTx/>
              <a:latin typeface="Arial"/>
            </a:endParaRPr>
          </a:p>
        </p:txBody>
      </p:sp>
    </p:spTree>
  </p:cSld>
  <p:transition spd="slow">
    <p:wipe dir="r"/>
  </p:transition>
  <p:timing>
    <p:tnLst>
      <p:par>
        <p:cTn id="495" dur="indefinite" restart="never" nodeType="tmRoot">
          <p:childTnLst>
            <p:seq>
              <p:cTn id="496" dur="indefinite" nodeType="mainSeq">
                <p:childTnLst>
                  <p:par>
                    <p:cTn id="497" nodeType="clickEffect" fill="hold">
                      <p:stCondLst>
                        <p:cond delay="indefinite"/>
                      </p:stCondLst>
                      <p:childTnLst>
                        <p:par>
                          <p:cTn id="498" nodeType="withEffect" fill="hold">
                            <p:stCondLst>
                              <p:cond delay="0"/>
                            </p:stCondLst>
                            <p:childTnLst>
                              <p:par>
                                <p:cTn id="499" nodeType="clickEffect" fill="hold" presetClass="entr" presetID="22" presetSubtype="8">
                                  <p:stCondLst>
                                    <p:cond delay="0"/>
                                  </p:stCondLst>
                                  <p:childTnLst>
                                    <p:set>
                                      <p:cBhvr>
                                        <p:cTn id="500" dur="1" fill="hold">
                                          <p:stCondLst>
                                            <p:cond delay="0"/>
                                          </p:stCondLst>
                                        </p:cTn>
                                        <p:tgtEl>
                                          <p:spTgt spid="147">
                                            <p:txEl>
                                              <p:pRg st="1" end="1"/>
                                            </p:txEl>
                                          </p:spTgt>
                                        </p:tgtEl>
                                        <p:attrNameLst>
                                          <p:attrName>style.visibility</p:attrName>
                                        </p:attrNameLst>
                                      </p:cBhvr>
                                      <p:to>
                                        <p:strVal val="visible"/>
                                      </p:to>
                                    </p:set>
                                    <p:animEffect filter="wipe(left)" transition="in">
                                      <p:cBhvr additive="repl">
                                        <p:cTn id="501" dur="500"/>
                                        <p:tgtEl>
                                          <p:spTgt spid="147">
                                            <p:txEl>
                                              <p:pRg st="1" end="1"/>
                                            </p:txEl>
                                          </p:spTgt>
                                        </p:tgtEl>
                                      </p:cBhvr>
                                    </p:animEffect>
                                  </p:childTnLst>
                                </p:cTn>
                              </p:par>
                            </p:childTnLst>
                          </p:cTn>
                        </p:par>
                      </p:childTnLst>
                    </p:cTn>
                  </p:par>
                  <p:par>
                    <p:cTn id="502" nodeType="clickEffect" fill="hold">
                      <p:stCondLst>
                        <p:cond delay="indefinite"/>
                      </p:stCondLst>
                      <p:childTnLst>
                        <p:par>
                          <p:cTn id="503" nodeType="withEffect" fill="hold">
                            <p:stCondLst>
                              <p:cond delay="0"/>
                            </p:stCondLst>
                            <p:childTnLst>
                              <p:par>
                                <p:cTn id="504" nodeType="clickEffect" fill="hold" presetClass="entr" presetID="22" presetSubtype="8">
                                  <p:stCondLst>
                                    <p:cond delay="0"/>
                                  </p:stCondLst>
                                  <p:childTnLst>
                                    <p:set>
                                      <p:cBhvr>
                                        <p:cTn id="505" dur="1" fill="hold">
                                          <p:stCondLst>
                                            <p:cond delay="0"/>
                                          </p:stCondLst>
                                        </p:cTn>
                                        <p:tgtEl>
                                          <p:spTgt spid="147">
                                            <p:txEl>
                                              <p:pRg st="2" end="2"/>
                                            </p:txEl>
                                          </p:spTgt>
                                        </p:tgtEl>
                                        <p:attrNameLst>
                                          <p:attrName>style.visibility</p:attrName>
                                        </p:attrNameLst>
                                      </p:cBhvr>
                                      <p:to>
                                        <p:strVal val="visible"/>
                                      </p:to>
                                    </p:set>
                                    <p:animEffect filter="wipe(left)" transition="in">
                                      <p:cBhvr additive="repl">
                                        <p:cTn id="506" dur="500"/>
                                        <p:tgtEl>
                                          <p:spTgt spid="147">
                                            <p:txEl>
                                              <p:pRg st="2" end="2"/>
                                            </p:txEl>
                                          </p:spTgt>
                                        </p:tgtEl>
                                      </p:cBhvr>
                                    </p:animEffect>
                                  </p:childTnLst>
                                </p:cTn>
                              </p:par>
                            </p:childTnLst>
                          </p:cTn>
                        </p:par>
                      </p:childTnLst>
                    </p:cTn>
                  </p:par>
                  <p:par>
                    <p:cTn id="507" nodeType="clickEffect" fill="hold">
                      <p:stCondLst>
                        <p:cond delay="indefinite"/>
                      </p:stCondLst>
                      <p:childTnLst>
                        <p:par>
                          <p:cTn id="508" nodeType="withEffect" fill="hold">
                            <p:stCondLst>
                              <p:cond delay="0"/>
                            </p:stCondLst>
                            <p:childTnLst>
                              <p:par>
                                <p:cTn id="509" nodeType="clickEffect" fill="hold" presetClass="entr" presetID="22" presetSubtype="8">
                                  <p:stCondLst>
                                    <p:cond delay="0"/>
                                  </p:stCondLst>
                                  <p:childTnLst>
                                    <p:set>
                                      <p:cBhvr>
                                        <p:cTn id="510" dur="1" fill="hold">
                                          <p:stCondLst>
                                            <p:cond delay="0"/>
                                          </p:stCondLst>
                                        </p:cTn>
                                        <p:tgtEl>
                                          <p:spTgt spid="147">
                                            <p:txEl>
                                              <p:pRg st="3" end="3"/>
                                            </p:txEl>
                                          </p:spTgt>
                                        </p:tgtEl>
                                        <p:attrNameLst>
                                          <p:attrName>style.visibility</p:attrName>
                                        </p:attrNameLst>
                                      </p:cBhvr>
                                      <p:to>
                                        <p:strVal val="visible"/>
                                      </p:to>
                                    </p:set>
                                    <p:animEffect filter="wipe(left)" transition="in">
                                      <p:cBhvr additive="repl">
                                        <p:cTn id="511" dur="500"/>
                                        <p:tgtEl>
                                          <p:spTgt spid="147">
                                            <p:txEl>
                                              <p:pRg st="3" end="3"/>
                                            </p:txEl>
                                          </p:spTgt>
                                        </p:tgtEl>
                                      </p:cBhvr>
                                    </p:animEffect>
                                  </p:childTnLst>
                                </p:cTn>
                              </p:par>
                            </p:childTnLst>
                          </p:cTn>
                        </p:par>
                      </p:childTnLst>
                    </p:cTn>
                  </p:par>
                  <p:par>
                    <p:cTn id="512" nodeType="clickEffect" fill="hold">
                      <p:stCondLst>
                        <p:cond delay="indefinite"/>
                      </p:stCondLst>
                      <p:childTnLst>
                        <p:par>
                          <p:cTn id="513" nodeType="withEffect" fill="hold">
                            <p:stCondLst>
                              <p:cond delay="0"/>
                            </p:stCondLst>
                            <p:childTnLst>
                              <p:par>
                                <p:cTn id="514" nodeType="clickEffect" fill="hold" presetClass="entr" presetID="22" presetSubtype="8">
                                  <p:stCondLst>
                                    <p:cond delay="0"/>
                                  </p:stCondLst>
                                  <p:childTnLst>
                                    <p:set>
                                      <p:cBhvr>
                                        <p:cTn id="515" dur="1" fill="hold">
                                          <p:stCondLst>
                                            <p:cond delay="0"/>
                                          </p:stCondLst>
                                        </p:cTn>
                                        <p:tgtEl>
                                          <p:spTgt spid="147">
                                            <p:txEl>
                                              <p:pRg st="4" end="4"/>
                                            </p:txEl>
                                          </p:spTgt>
                                        </p:tgtEl>
                                        <p:attrNameLst>
                                          <p:attrName>style.visibility</p:attrName>
                                        </p:attrNameLst>
                                      </p:cBhvr>
                                      <p:to>
                                        <p:strVal val="visible"/>
                                      </p:to>
                                    </p:set>
                                    <p:animEffect filter="wipe(left)" transition="in">
                                      <p:cBhvr additive="repl">
                                        <p:cTn id="516" dur="500"/>
                                        <p:tgtEl>
                                          <p:spTgt spid="147">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14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US" sz="2400" strike="noStrike" u="none">
                <a:solidFill>
                  <a:srgbClr val="00468f"/>
                </a:solidFill>
                <a:effectLst/>
                <a:uFillTx/>
                <a:latin typeface="Arial"/>
                <a:ea typeface="ＭＳ Ｐゴシック"/>
              </a:rPr>
              <a:t>Payoffs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Four outcomes:</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Both confess.</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Both deny.</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Art confesses and Bob denies.</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Bob confesses and Art denies.</a:t>
            </a:r>
            <a:endParaRPr b="0" lang="en-CA" sz="2400" strike="noStrike" u="none">
              <a:solidFill>
                <a:schemeClr val="dk1"/>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 </a:t>
            </a:r>
            <a:r>
              <a:rPr b="1" lang="en-US" sz="2400" strike="noStrike" u="none">
                <a:solidFill>
                  <a:srgbClr val="ff0000"/>
                </a:solidFill>
                <a:effectLst/>
                <a:uFillTx/>
                <a:latin typeface="Arial"/>
                <a:ea typeface="ＭＳ Ｐゴシック"/>
              </a:rPr>
              <a:t>payoff matrix</a:t>
            </a:r>
            <a:r>
              <a:rPr b="0" lang="en-US" sz="2400" strike="noStrike" u="none">
                <a:solidFill>
                  <a:schemeClr val="dk1"/>
                </a:solidFill>
                <a:effectLst/>
                <a:uFillTx/>
                <a:latin typeface="Arial"/>
                <a:ea typeface="ＭＳ Ｐゴシック"/>
              </a:rPr>
              <a:t> is a table that shows the payoffs for every possible action by each player given every possible action by the other player. </a:t>
            </a:r>
            <a:endParaRPr b="1" lang="en-CA" sz="2400" strike="noStrike" u="none">
              <a:solidFill>
                <a:srgbClr val="00468f"/>
              </a:solidFill>
              <a:effectLst/>
              <a:uFillTx/>
              <a:latin typeface="Arial"/>
            </a:endParaRPr>
          </a:p>
        </p:txBody>
      </p:sp>
    </p:spTree>
  </p:cSld>
  <p:transition spd="slow">
    <p:wipe dir="r"/>
  </p:transition>
  <p:timing>
    <p:tnLst>
      <p:par>
        <p:cTn id="517" dur="indefinite" restart="never" nodeType="tmRoot">
          <p:childTnLst>
            <p:seq>
              <p:cTn id="518" dur="indefinite" nodeType="mainSeq">
                <p:childTnLst>
                  <p:par>
                    <p:cTn id="519" nodeType="clickEffect" fill="hold">
                      <p:stCondLst>
                        <p:cond delay="indefinite"/>
                      </p:stCondLst>
                      <p:childTnLst>
                        <p:par>
                          <p:cTn id="520" nodeType="withEffect" fill="hold">
                            <p:stCondLst>
                              <p:cond delay="0"/>
                            </p:stCondLst>
                            <p:childTnLst>
                              <p:par>
                                <p:cTn id="521" nodeType="clickEffect" fill="hold" presetClass="entr" presetID="22" presetSubtype="8">
                                  <p:stCondLst>
                                    <p:cond delay="0"/>
                                  </p:stCondLst>
                                  <p:childTnLst>
                                    <p:set>
                                      <p:cBhvr>
                                        <p:cTn id="522" dur="1" fill="hold">
                                          <p:stCondLst>
                                            <p:cond delay="0"/>
                                          </p:stCondLst>
                                        </p:cTn>
                                        <p:tgtEl>
                                          <p:spTgt spid="149">
                                            <p:txEl>
                                              <p:pRg st="1" end="1"/>
                                            </p:txEl>
                                          </p:spTgt>
                                        </p:tgtEl>
                                        <p:attrNameLst>
                                          <p:attrName>style.visibility</p:attrName>
                                        </p:attrNameLst>
                                      </p:cBhvr>
                                      <p:to>
                                        <p:strVal val="visible"/>
                                      </p:to>
                                    </p:set>
                                    <p:animEffect filter="wipe(left)" transition="in">
                                      <p:cBhvr additive="repl">
                                        <p:cTn id="523" dur="500"/>
                                        <p:tgtEl>
                                          <p:spTgt spid="149">
                                            <p:txEl>
                                              <p:pRg st="1" end="1"/>
                                            </p:txEl>
                                          </p:spTgt>
                                        </p:tgtEl>
                                      </p:cBhvr>
                                    </p:animEffect>
                                  </p:childTnLst>
                                </p:cTn>
                              </p:par>
                            </p:childTnLst>
                          </p:cTn>
                        </p:par>
                      </p:childTnLst>
                    </p:cTn>
                  </p:par>
                  <p:par>
                    <p:cTn id="524" nodeType="clickEffect" fill="hold">
                      <p:stCondLst>
                        <p:cond delay="indefinite"/>
                      </p:stCondLst>
                      <p:childTnLst>
                        <p:par>
                          <p:cTn id="525" nodeType="withEffect" fill="hold">
                            <p:stCondLst>
                              <p:cond delay="0"/>
                            </p:stCondLst>
                            <p:childTnLst>
                              <p:par>
                                <p:cTn id="526" nodeType="clickEffect" fill="hold" presetClass="entr" presetID="22" presetSubtype="8">
                                  <p:stCondLst>
                                    <p:cond delay="0"/>
                                  </p:stCondLst>
                                  <p:childTnLst>
                                    <p:set>
                                      <p:cBhvr>
                                        <p:cTn id="527" dur="1" fill="hold">
                                          <p:stCondLst>
                                            <p:cond delay="0"/>
                                          </p:stCondLst>
                                        </p:cTn>
                                        <p:tgtEl>
                                          <p:spTgt spid="149">
                                            <p:txEl>
                                              <p:pRg st="2" end="2"/>
                                            </p:txEl>
                                          </p:spTgt>
                                        </p:tgtEl>
                                        <p:attrNameLst>
                                          <p:attrName>style.visibility</p:attrName>
                                        </p:attrNameLst>
                                      </p:cBhvr>
                                      <p:to>
                                        <p:strVal val="visible"/>
                                      </p:to>
                                    </p:set>
                                    <p:animEffect filter="wipe(left)" transition="in">
                                      <p:cBhvr additive="repl">
                                        <p:cTn id="528" dur="500"/>
                                        <p:tgtEl>
                                          <p:spTgt spid="149">
                                            <p:txEl>
                                              <p:pRg st="2" end="2"/>
                                            </p:txEl>
                                          </p:spTgt>
                                        </p:tgtEl>
                                      </p:cBhvr>
                                    </p:animEffect>
                                  </p:childTnLst>
                                </p:cTn>
                              </p:par>
                            </p:childTnLst>
                          </p:cTn>
                        </p:par>
                      </p:childTnLst>
                    </p:cTn>
                  </p:par>
                  <p:par>
                    <p:cTn id="529" nodeType="clickEffect" fill="hold">
                      <p:stCondLst>
                        <p:cond delay="indefinite"/>
                      </p:stCondLst>
                      <p:childTnLst>
                        <p:par>
                          <p:cTn id="530" nodeType="withEffect" fill="hold">
                            <p:stCondLst>
                              <p:cond delay="0"/>
                            </p:stCondLst>
                            <p:childTnLst>
                              <p:par>
                                <p:cTn id="531" nodeType="clickEffect" fill="hold" presetClass="entr" presetID="22" presetSubtype="8">
                                  <p:stCondLst>
                                    <p:cond delay="0"/>
                                  </p:stCondLst>
                                  <p:childTnLst>
                                    <p:set>
                                      <p:cBhvr>
                                        <p:cTn id="532" dur="1" fill="hold">
                                          <p:stCondLst>
                                            <p:cond delay="0"/>
                                          </p:stCondLst>
                                        </p:cTn>
                                        <p:tgtEl>
                                          <p:spTgt spid="149">
                                            <p:txEl>
                                              <p:pRg st="3" end="3"/>
                                            </p:txEl>
                                          </p:spTgt>
                                        </p:tgtEl>
                                        <p:attrNameLst>
                                          <p:attrName>style.visibility</p:attrName>
                                        </p:attrNameLst>
                                      </p:cBhvr>
                                      <p:to>
                                        <p:strVal val="visible"/>
                                      </p:to>
                                    </p:set>
                                    <p:animEffect filter="wipe(left)" transition="in">
                                      <p:cBhvr additive="repl">
                                        <p:cTn id="533" dur="500"/>
                                        <p:tgtEl>
                                          <p:spTgt spid="149">
                                            <p:txEl>
                                              <p:pRg st="3" end="3"/>
                                            </p:txEl>
                                          </p:spTgt>
                                        </p:tgtEl>
                                      </p:cBhvr>
                                    </p:animEffect>
                                  </p:childTnLst>
                                </p:cTn>
                              </p:par>
                            </p:childTnLst>
                          </p:cTn>
                        </p:par>
                      </p:childTnLst>
                    </p:cTn>
                  </p:par>
                  <p:par>
                    <p:cTn id="534" nodeType="clickEffect" fill="hold">
                      <p:stCondLst>
                        <p:cond delay="indefinite"/>
                      </p:stCondLst>
                      <p:childTnLst>
                        <p:par>
                          <p:cTn id="535" nodeType="withEffect" fill="hold">
                            <p:stCondLst>
                              <p:cond delay="0"/>
                            </p:stCondLst>
                            <p:childTnLst>
                              <p:par>
                                <p:cTn id="536" nodeType="clickEffect" fill="hold" presetClass="entr" presetID="22" presetSubtype="8">
                                  <p:stCondLst>
                                    <p:cond delay="0"/>
                                  </p:stCondLst>
                                  <p:childTnLst>
                                    <p:set>
                                      <p:cBhvr>
                                        <p:cTn id="537" dur="1" fill="hold">
                                          <p:stCondLst>
                                            <p:cond delay="0"/>
                                          </p:stCondLst>
                                        </p:cTn>
                                        <p:tgtEl>
                                          <p:spTgt spid="149">
                                            <p:txEl>
                                              <p:pRg st="4" end="4"/>
                                            </p:txEl>
                                          </p:spTgt>
                                        </p:tgtEl>
                                        <p:attrNameLst>
                                          <p:attrName>style.visibility</p:attrName>
                                        </p:attrNameLst>
                                      </p:cBhvr>
                                      <p:to>
                                        <p:strVal val="visible"/>
                                      </p:to>
                                    </p:set>
                                    <p:animEffect filter="wipe(left)" transition="in">
                                      <p:cBhvr additive="repl">
                                        <p:cTn id="538" dur="500"/>
                                        <p:tgtEl>
                                          <p:spTgt spid="149">
                                            <p:txEl>
                                              <p:pRg st="4" end="4"/>
                                            </p:txEl>
                                          </p:spTgt>
                                        </p:tgtEl>
                                      </p:cBhvr>
                                    </p:animEffect>
                                  </p:childTnLst>
                                </p:cTn>
                              </p:par>
                            </p:childTnLst>
                          </p:cTn>
                        </p:par>
                      </p:childTnLst>
                    </p:cTn>
                  </p:par>
                  <p:par>
                    <p:cTn id="539" nodeType="clickEffect" fill="hold">
                      <p:stCondLst>
                        <p:cond delay="indefinite"/>
                      </p:stCondLst>
                      <p:childTnLst>
                        <p:par>
                          <p:cTn id="540" nodeType="withEffect" fill="hold">
                            <p:stCondLst>
                              <p:cond delay="0"/>
                            </p:stCondLst>
                            <p:childTnLst>
                              <p:par>
                                <p:cTn id="541" nodeType="clickEffect" fill="hold" presetClass="entr" presetID="22" presetSubtype="8">
                                  <p:stCondLst>
                                    <p:cond delay="0"/>
                                  </p:stCondLst>
                                  <p:childTnLst>
                                    <p:set>
                                      <p:cBhvr>
                                        <p:cTn id="542" dur="1" fill="hold">
                                          <p:stCondLst>
                                            <p:cond delay="0"/>
                                          </p:stCondLst>
                                        </p:cTn>
                                        <p:tgtEl>
                                          <p:spTgt spid="149">
                                            <p:txEl>
                                              <p:pRg st="5" end="5"/>
                                            </p:txEl>
                                          </p:spTgt>
                                        </p:tgtEl>
                                        <p:attrNameLst>
                                          <p:attrName>style.visibility</p:attrName>
                                        </p:attrNameLst>
                                      </p:cBhvr>
                                      <p:to>
                                        <p:strVal val="visible"/>
                                      </p:to>
                                    </p:set>
                                    <p:animEffect filter="wipe(left)" transition="in">
                                      <p:cBhvr additive="repl">
                                        <p:cTn id="543" dur="500"/>
                                        <p:tgtEl>
                                          <p:spTgt spid="149">
                                            <p:txEl>
                                              <p:pRg st="5" end="5"/>
                                            </p:txEl>
                                          </p:spTgt>
                                        </p:tgtEl>
                                      </p:cBhvr>
                                    </p:animEffect>
                                  </p:childTnLst>
                                </p:cTn>
                              </p:par>
                            </p:childTnLst>
                          </p:cTn>
                        </p:par>
                      </p:childTnLst>
                    </p:cTn>
                  </p:par>
                  <p:par>
                    <p:cTn id="544" nodeType="clickEffect" fill="hold">
                      <p:stCondLst>
                        <p:cond delay="indefinite"/>
                      </p:stCondLst>
                      <p:childTnLst>
                        <p:par>
                          <p:cTn id="545" nodeType="withEffect" fill="hold">
                            <p:stCondLst>
                              <p:cond delay="0"/>
                            </p:stCondLst>
                            <p:childTnLst>
                              <p:par>
                                <p:cTn id="546" nodeType="clickEffect" fill="hold" presetClass="entr" presetID="22" presetSubtype="8">
                                  <p:stCondLst>
                                    <p:cond delay="0"/>
                                  </p:stCondLst>
                                  <p:childTnLst>
                                    <p:set>
                                      <p:cBhvr>
                                        <p:cTn id="547" dur="1" fill="hold">
                                          <p:stCondLst>
                                            <p:cond delay="0"/>
                                          </p:stCondLst>
                                        </p:cTn>
                                        <p:tgtEl>
                                          <p:spTgt spid="149">
                                            <p:txEl>
                                              <p:pRg st="6" end="6"/>
                                            </p:txEl>
                                          </p:spTgt>
                                        </p:tgtEl>
                                        <p:attrNameLst>
                                          <p:attrName>style.visibility</p:attrName>
                                        </p:attrNameLst>
                                      </p:cBhvr>
                                      <p:to>
                                        <p:strVal val="visible"/>
                                      </p:to>
                                    </p:set>
                                    <p:animEffect filter="wipe(left)" transition="in">
                                      <p:cBhvr additive="repl">
                                        <p:cTn id="548" dur="500"/>
                                        <p:tgtEl>
                                          <p:spTgt spid="149">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pic>
        <p:nvPicPr>
          <p:cNvPr id="151" name="Picture 2" descr="tab1705.gif"/>
          <p:cNvPicPr/>
          <p:nvPr/>
        </p:nvPicPr>
        <p:blipFill>
          <a:blip r:embed="rId1"/>
          <a:stretch/>
        </p:blipFill>
        <p:spPr>
          <a:xfrm>
            <a:off x="4680000" y="1511280"/>
            <a:ext cx="3095280" cy="2514240"/>
          </a:xfrm>
          <a:prstGeom prst="rect">
            <a:avLst/>
          </a:prstGeom>
          <a:noFill/>
          <a:ln w="0">
            <a:noFill/>
          </a:ln>
        </p:spPr>
      </p:pic>
      <p:sp>
        <p:nvSpPr>
          <p:cNvPr id="152"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Table 18.5 shows the prisoners’ dilemma payoff matrix for Art and Bob.</a:t>
            </a:r>
            <a:endParaRPr b="1" lang="en-CA" sz="2400" strike="noStrike" u="none">
              <a:solidFill>
                <a:srgbClr val="00468f"/>
              </a:solidFill>
              <a:effectLst/>
              <a:uFillTx/>
              <a:latin typeface="Arial"/>
            </a:endParaRPr>
          </a:p>
        </p:txBody>
      </p:sp>
    </p:spTree>
  </p:cSld>
  <p:transition spd="slow">
    <p:wipe dir="r"/>
  </p:transition>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53" name="Picture 2" descr="tab1705.gif"/>
          <p:cNvPicPr/>
          <p:nvPr/>
        </p:nvPicPr>
        <p:blipFill>
          <a:blip r:embed="rId1"/>
          <a:stretch/>
        </p:blipFill>
        <p:spPr>
          <a:xfrm>
            <a:off x="2209680" y="1523880"/>
            <a:ext cx="4642920" cy="3771720"/>
          </a:xfrm>
          <a:prstGeom prst="rect">
            <a:avLst/>
          </a:prstGeom>
          <a:noFill/>
          <a:ln w="0">
            <a:noFill/>
          </a:ln>
        </p:spPr>
      </p:pic>
    </p:spTree>
  </p:cSld>
  <p:transition spd="slow">
    <p:wipe dir="r"/>
  </p:transition>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155"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Equilibrium</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Occurs when each player takes the best possible action given the action of the other player.</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Nash equilibrium </a:t>
            </a:r>
            <a:r>
              <a:rPr b="0" lang="en-US" sz="2400" strike="noStrike" u="none">
                <a:solidFill>
                  <a:schemeClr val="dk1"/>
                </a:solidFill>
                <a:effectLst/>
                <a:uFillTx/>
                <a:latin typeface="Arial"/>
                <a:ea typeface="ＭＳ Ｐゴシック"/>
              </a:rPr>
              <a:t>is an equilibrium in which each player takes the best possible action given the action of the other player.</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Nash equilibrium for Art and Bob is to confess.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equilibrium of the prisoners’ dilemma is not the best outcome for the players.</a:t>
            </a:r>
            <a:endParaRPr b="1" lang="en-CA" sz="2400" strike="noStrike" u="none">
              <a:solidFill>
                <a:srgbClr val="00468f"/>
              </a:solidFill>
              <a:effectLst/>
              <a:uFillTx/>
              <a:latin typeface="Arial"/>
            </a:endParaRPr>
          </a:p>
        </p:txBody>
      </p:sp>
    </p:spTree>
  </p:cSld>
  <p:transition spd="slow">
    <p:wipe dir="r"/>
  </p:transition>
  <p:timing>
    <p:tnLst>
      <p:par>
        <p:cTn id="549" dur="indefinite" restart="never" nodeType="tmRoot">
          <p:childTnLst>
            <p:seq>
              <p:cTn id="550" dur="indefinite" nodeType="mainSeq">
                <p:childTnLst>
                  <p:par>
                    <p:cTn id="551" nodeType="clickEffect" fill="hold">
                      <p:stCondLst>
                        <p:cond delay="indefinite"/>
                      </p:stCondLst>
                      <p:childTnLst>
                        <p:par>
                          <p:cTn id="552" nodeType="withEffect" fill="hold">
                            <p:stCondLst>
                              <p:cond delay="0"/>
                            </p:stCondLst>
                            <p:childTnLst>
                              <p:par>
                                <p:cTn id="553" nodeType="clickEffect" fill="hold" presetClass="entr" presetID="22" presetSubtype="8">
                                  <p:stCondLst>
                                    <p:cond delay="0"/>
                                  </p:stCondLst>
                                  <p:childTnLst>
                                    <p:set>
                                      <p:cBhvr>
                                        <p:cTn id="554" dur="1" fill="hold">
                                          <p:stCondLst>
                                            <p:cond delay="0"/>
                                          </p:stCondLst>
                                        </p:cTn>
                                        <p:tgtEl>
                                          <p:spTgt spid="155">
                                            <p:txEl>
                                              <p:pRg st="1" end="1"/>
                                            </p:txEl>
                                          </p:spTgt>
                                        </p:tgtEl>
                                        <p:attrNameLst>
                                          <p:attrName>style.visibility</p:attrName>
                                        </p:attrNameLst>
                                      </p:cBhvr>
                                      <p:to>
                                        <p:strVal val="visible"/>
                                      </p:to>
                                    </p:set>
                                    <p:animEffect filter="wipe(left)" transition="in">
                                      <p:cBhvr additive="repl">
                                        <p:cTn id="555" dur="500"/>
                                        <p:tgtEl>
                                          <p:spTgt spid="155">
                                            <p:txEl>
                                              <p:pRg st="1" end="1"/>
                                            </p:txEl>
                                          </p:spTgt>
                                        </p:tgtEl>
                                      </p:cBhvr>
                                    </p:animEffect>
                                  </p:childTnLst>
                                </p:cTn>
                              </p:par>
                            </p:childTnLst>
                          </p:cTn>
                        </p:par>
                      </p:childTnLst>
                    </p:cTn>
                  </p:par>
                  <p:par>
                    <p:cTn id="556" nodeType="clickEffect" fill="hold">
                      <p:stCondLst>
                        <p:cond delay="indefinite"/>
                      </p:stCondLst>
                      <p:childTnLst>
                        <p:par>
                          <p:cTn id="557" nodeType="withEffect" fill="hold">
                            <p:stCondLst>
                              <p:cond delay="0"/>
                            </p:stCondLst>
                            <p:childTnLst>
                              <p:par>
                                <p:cTn id="558" nodeType="clickEffect" fill="hold" presetClass="entr" presetID="22" presetSubtype="8">
                                  <p:stCondLst>
                                    <p:cond delay="0"/>
                                  </p:stCondLst>
                                  <p:childTnLst>
                                    <p:set>
                                      <p:cBhvr>
                                        <p:cTn id="559" dur="1" fill="hold">
                                          <p:stCondLst>
                                            <p:cond delay="0"/>
                                          </p:stCondLst>
                                        </p:cTn>
                                        <p:tgtEl>
                                          <p:spTgt spid="155">
                                            <p:txEl>
                                              <p:pRg st="2" end="2"/>
                                            </p:txEl>
                                          </p:spTgt>
                                        </p:tgtEl>
                                        <p:attrNameLst>
                                          <p:attrName>style.visibility</p:attrName>
                                        </p:attrNameLst>
                                      </p:cBhvr>
                                      <p:to>
                                        <p:strVal val="visible"/>
                                      </p:to>
                                    </p:set>
                                    <p:animEffect filter="wipe(left)" transition="in">
                                      <p:cBhvr additive="repl">
                                        <p:cTn id="560" dur="500"/>
                                        <p:tgtEl>
                                          <p:spTgt spid="155">
                                            <p:txEl>
                                              <p:pRg st="2" end="2"/>
                                            </p:txEl>
                                          </p:spTgt>
                                        </p:tgtEl>
                                      </p:cBhvr>
                                    </p:animEffect>
                                  </p:childTnLst>
                                </p:cTn>
                              </p:par>
                            </p:childTnLst>
                          </p:cTn>
                        </p:par>
                      </p:childTnLst>
                    </p:cTn>
                  </p:par>
                  <p:par>
                    <p:cTn id="561" nodeType="clickEffect" fill="hold">
                      <p:stCondLst>
                        <p:cond delay="indefinite"/>
                      </p:stCondLst>
                      <p:childTnLst>
                        <p:par>
                          <p:cTn id="562" nodeType="withEffect" fill="hold">
                            <p:stCondLst>
                              <p:cond delay="0"/>
                            </p:stCondLst>
                            <p:childTnLst>
                              <p:par>
                                <p:cTn id="563" nodeType="clickEffect" fill="hold" presetClass="entr" presetID="22" presetSubtype="8">
                                  <p:stCondLst>
                                    <p:cond delay="0"/>
                                  </p:stCondLst>
                                  <p:childTnLst>
                                    <p:set>
                                      <p:cBhvr>
                                        <p:cTn id="564" dur="1" fill="hold">
                                          <p:stCondLst>
                                            <p:cond delay="0"/>
                                          </p:stCondLst>
                                        </p:cTn>
                                        <p:tgtEl>
                                          <p:spTgt spid="155">
                                            <p:txEl>
                                              <p:pRg st="3" end="3"/>
                                            </p:txEl>
                                          </p:spTgt>
                                        </p:tgtEl>
                                        <p:attrNameLst>
                                          <p:attrName>style.visibility</p:attrName>
                                        </p:attrNameLst>
                                      </p:cBhvr>
                                      <p:to>
                                        <p:strVal val="visible"/>
                                      </p:to>
                                    </p:set>
                                    <p:animEffect filter="wipe(left)" transition="in">
                                      <p:cBhvr additive="repl">
                                        <p:cTn id="565" dur="500"/>
                                        <p:tgtEl>
                                          <p:spTgt spid="155">
                                            <p:txEl>
                                              <p:pRg st="3" end="3"/>
                                            </p:txEl>
                                          </p:spTgt>
                                        </p:tgtEl>
                                      </p:cBhvr>
                                    </p:animEffect>
                                  </p:childTnLst>
                                </p:cTn>
                              </p:par>
                            </p:childTnLst>
                          </p:cTn>
                        </p:par>
                      </p:childTnLst>
                    </p:cTn>
                  </p:par>
                  <p:par>
                    <p:cTn id="566" nodeType="clickEffect" fill="hold">
                      <p:stCondLst>
                        <p:cond delay="indefinite"/>
                      </p:stCondLst>
                      <p:childTnLst>
                        <p:par>
                          <p:cTn id="567" nodeType="withEffect" fill="hold">
                            <p:stCondLst>
                              <p:cond delay="0"/>
                            </p:stCondLst>
                            <p:childTnLst>
                              <p:par>
                                <p:cTn id="568" nodeType="clickEffect" fill="hold" presetClass="entr" presetID="22" presetSubtype="8">
                                  <p:stCondLst>
                                    <p:cond delay="0"/>
                                  </p:stCondLst>
                                  <p:childTnLst>
                                    <p:set>
                                      <p:cBhvr>
                                        <p:cTn id="569" dur="1" fill="hold">
                                          <p:stCondLst>
                                            <p:cond delay="0"/>
                                          </p:stCondLst>
                                        </p:cTn>
                                        <p:tgtEl>
                                          <p:spTgt spid="155">
                                            <p:txEl>
                                              <p:pRg st="4" end="4"/>
                                            </p:txEl>
                                          </p:spTgt>
                                        </p:tgtEl>
                                        <p:attrNameLst>
                                          <p:attrName>style.visibility</p:attrName>
                                        </p:attrNameLst>
                                      </p:cBhvr>
                                      <p:to>
                                        <p:strVal val="visible"/>
                                      </p:to>
                                    </p:set>
                                    <p:animEffect filter="wipe(left)" transition="in">
                                      <p:cBhvr additive="repl">
                                        <p:cTn id="570" dur="500"/>
                                        <p:tgtEl>
                                          <p:spTgt spid="155">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157"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The Duopolists’ Dilemma</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dilemma of Boeing and Airbus is similar to that of Art and Bob.</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Each firm has two strategies. It can produce airplanes at the rate of:</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3 a week</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4 a week</a:t>
            </a:r>
            <a:endParaRPr b="0" lang="en-CA" sz="2400" strike="noStrike" u="none">
              <a:solidFill>
                <a:schemeClr val="dk1"/>
              </a:solidFill>
              <a:effectLst/>
              <a:uFillTx/>
              <a:latin typeface="Arial"/>
            </a:endParaRPr>
          </a:p>
        </p:txBody>
      </p:sp>
    </p:spTree>
  </p:cSld>
  <p:transition spd="slow">
    <p:wipe dir="r"/>
  </p:transition>
  <p:timing>
    <p:tnLst>
      <p:par>
        <p:cTn id="571" dur="indefinite" restart="never" nodeType="tmRoot">
          <p:childTnLst>
            <p:seq>
              <p:cTn id="572" dur="indefinite" nodeType="mainSeq">
                <p:childTnLst>
                  <p:par>
                    <p:cTn id="573" nodeType="clickEffect" fill="hold">
                      <p:stCondLst>
                        <p:cond delay="indefinite"/>
                      </p:stCondLst>
                      <p:childTnLst>
                        <p:par>
                          <p:cTn id="574" nodeType="withEffect" fill="hold">
                            <p:stCondLst>
                              <p:cond delay="0"/>
                            </p:stCondLst>
                            <p:childTnLst>
                              <p:par>
                                <p:cTn id="575" nodeType="clickEffect" fill="hold" presetClass="entr" presetID="22" presetSubtype="8">
                                  <p:stCondLst>
                                    <p:cond delay="0"/>
                                  </p:stCondLst>
                                  <p:childTnLst>
                                    <p:set>
                                      <p:cBhvr>
                                        <p:cTn id="576" dur="1" fill="hold">
                                          <p:stCondLst>
                                            <p:cond delay="0"/>
                                          </p:stCondLst>
                                        </p:cTn>
                                        <p:tgtEl>
                                          <p:spTgt spid="157">
                                            <p:txEl>
                                              <p:pRg st="1" end="1"/>
                                            </p:txEl>
                                          </p:spTgt>
                                        </p:tgtEl>
                                        <p:attrNameLst>
                                          <p:attrName>style.visibility</p:attrName>
                                        </p:attrNameLst>
                                      </p:cBhvr>
                                      <p:to>
                                        <p:strVal val="visible"/>
                                      </p:to>
                                    </p:set>
                                    <p:animEffect filter="wipe(left)" transition="in">
                                      <p:cBhvr additive="repl">
                                        <p:cTn id="577" dur="500"/>
                                        <p:tgtEl>
                                          <p:spTgt spid="157">
                                            <p:txEl>
                                              <p:pRg st="1" end="1"/>
                                            </p:txEl>
                                          </p:spTgt>
                                        </p:tgtEl>
                                      </p:cBhvr>
                                    </p:animEffect>
                                  </p:childTnLst>
                                </p:cTn>
                              </p:par>
                            </p:childTnLst>
                          </p:cTn>
                        </p:par>
                      </p:childTnLst>
                    </p:cTn>
                  </p:par>
                  <p:par>
                    <p:cTn id="578" nodeType="clickEffect" fill="hold">
                      <p:stCondLst>
                        <p:cond delay="indefinite"/>
                      </p:stCondLst>
                      <p:childTnLst>
                        <p:par>
                          <p:cTn id="579" nodeType="withEffect" fill="hold">
                            <p:stCondLst>
                              <p:cond delay="0"/>
                            </p:stCondLst>
                            <p:childTnLst>
                              <p:par>
                                <p:cTn id="580" nodeType="clickEffect" fill="hold" presetClass="entr" presetID="22" presetSubtype="8">
                                  <p:stCondLst>
                                    <p:cond delay="0"/>
                                  </p:stCondLst>
                                  <p:childTnLst>
                                    <p:set>
                                      <p:cBhvr>
                                        <p:cTn id="581" dur="1" fill="hold">
                                          <p:stCondLst>
                                            <p:cond delay="0"/>
                                          </p:stCondLst>
                                        </p:cTn>
                                        <p:tgtEl>
                                          <p:spTgt spid="157">
                                            <p:txEl>
                                              <p:pRg st="2" end="2"/>
                                            </p:txEl>
                                          </p:spTgt>
                                        </p:tgtEl>
                                        <p:attrNameLst>
                                          <p:attrName>style.visibility</p:attrName>
                                        </p:attrNameLst>
                                      </p:cBhvr>
                                      <p:to>
                                        <p:strVal val="visible"/>
                                      </p:to>
                                    </p:set>
                                    <p:animEffect filter="wipe(left)" transition="in">
                                      <p:cBhvr additive="repl">
                                        <p:cTn id="582" dur="500"/>
                                        <p:tgtEl>
                                          <p:spTgt spid="157">
                                            <p:txEl>
                                              <p:pRg st="2" end="2"/>
                                            </p:txEl>
                                          </p:spTgt>
                                        </p:tgtEl>
                                      </p:cBhvr>
                                    </p:animEffect>
                                  </p:childTnLst>
                                </p:cTn>
                              </p:par>
                            </p:childTnLst>
                          </p:cTn>
                        </p:par>
                      </p:childTnLst>
                    </p:cTn>
                  </p:par>
                  <p:par>
                    <p:cTn id="583" nodeType="clickEffect" fill="hold">
                      <p:stCondLst>
                        <p:cond delay="indefinite"/>
                      </p:stCondLst>
                      <p:childTnLst>
                        <p:par>
                          <p:cTn id="584" nodeType="withEffect" fill="hold">
                            <p:stCondLst>
                              <p:cond delay="0"/>
                            </p:stCondLst>
                            <p:childTnLst>
                              <p:par>
                                <p:cTn id="585" nodeType="clickEffect" fill="hold" presetClass="entr" presetID="22" presetSubtype="8">
                                  <p:stCondLst>
                                    <p:cond delay="0"/>
                                  </p:stCondLst>
                                  <p:childTnLst>
                                    <p:set>
                                      <p:cBhvr>
                                        <p:cTn id="586" dur="1" fill="hold">
                                          <p:stCondLst>
                                            <p:cond delay="0"/>
                                          </p:stCondLst>
                                        </p:cTn>
                                        <p:tgtEl>
                                          <p:spTgt spid="157">
                                            <p:txEl>
                                              <p:pRg st="3" end="3"/>
                                            </p:txEl>
                                          </p:spTgt>
                                        </p:tgtEl>
                                        <p:attrNameLst>
                                          <p:attrName>style.visibility</p:attrName>
                                        </p:attrNameLst>
                                      </p:cBhvr>
                                      <p:to>
                                        <p:strVal val="visible"/>
                                      </p:to>
                                    </p:set>
                                    <p:animEffect filter="wipe(left)" transition="in">
                                      <p:cBhvr additive="repl">
                                        <p:cTn id="587" dur="500"/>
                                        <p:tgtEl>
                                          <p:spTgt spid="157">
                                            <p:txEl>
                                              <p:pRg st="3" end="3"/>
                                            </p:txEl>
                                          </p:spTgt>
                                        </p:tgtEl>
                                      </p:cBhvr>
                                    </p:animEffect>
                                  </p:childTnLst>
                                </p:cTn>
                              </p:par>
                            </p:childTnLst>
                          </p:cTn>
                        </p:par>
                      </p:childTnLst>
                    </p:cTn>
                  </p:par>
                  <p:par>
                    <p:cTn id="588" nodeType="clickEffect" fill="hold">
                      <p:stCondLst>
                        <p:cond delay="indefinite"/>
                      </p:stCondLst>
                      <p:childTnLst>
                        <p:par>
                          <p:cTn id="589" nodeType="withEffect" fill="hold">
                            <p:stCondLst>
                              <p:cond delay="0"/>
                            </p:stCondLst>
                            <p:childTnLst>
                              <p:par>
                                <p:cTn id="590" nodeType="clickEffect" fill="hold" presetClass="entr" presetID="22" presetSubtype="8">
                                  <p:stCondLst>
                                    <p:cond delay="0"/>
                                  </p:stCondLst>
                                  <p:childTnLst>
                                    <p:set>
                                      <p:cBhvr>
                                        <p:cTn id="591" dur="1" fill="hold">
                                          <p:stCondLst>
                                            <p:cond delay="0"/>
                                          </p:stCondLst>
                                        </p:cTn>
                                        <p:tgtEl>
                                          <p:spTgt spid="157">
                                            <p:txEl>
                                              <p:pRg st="4" end="4"/>
                                            </p:txEl>
                                          </p:spTgt>
                                        </p:tgtEl>
                                        <p:attrNameLst>
                                          <p:attrName>style.visibility</p:attrName>
                                        </p:attrNameLst>
                                      </p:cBhvr>
                                      <p:to>
                                        <p:strVal val="visible"/>
                                      </p:to>
                                    </p:set>
                                    <p:animEffect filter="wipe(left)" transition="in">
                                      <p:cBhvr additive="repl">
                                        <p:cTn id="592" dur="500"/>
                                        <p:tgtEl>
                                          <p:spTgt spid="157">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15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Because each firm has two strategies, there are four possible combinations of actions:</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Both firms produce 3 a week (monopoly outcome).</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Both firms produce 4 a week.</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Airbus produces 3 a week and Boeing produces 4 a week.</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Boeing produces 3 a week and Airbus produces 4 a week.</a:t>
            </a:r>
            <a:endParaRPr b="0" lang="en-CA" sz="2400" strike="noStrike" u="none">
              <a:solidFill>
                <a:schemeClr val="dk1"/>
              </a:solidFill>
              <a:effectLst/>
              <a:uFillTx/>
              <a:latin typeface="Arial"/>
            </a:endParaRPr>
          </a:p>
        </p:txBody>
      </p:sp>
    </p:spTree>
  </p:cSld>
  <p:transition spd="slow">
    <p:wipe dir="r"/>
  </p:transition>
  <p:timing>
    <p:tnLst>
      <p:par>
        <p:cTn id="593" dur="indefinite" restart="never" nodeType="tmRoot">
          <p:childTnLst>
            <p:seq>
              <p:cTn id="594" dur="indefinite" nodeType="mainSeq">
                <p:childTnLst>
                  <p:par>
                    <p:cTn id="595" nodeType="clickEffect" fill="hold">
                      <p:stCondLst>
                        <p:cond delay="indefinite"/>
                      </p:stCondLst>
                      <p:childTnLst>
                        <p:par>
                          <p:cTn id="596" nodeType="withEffect" fill="hold">
                            <p:stCondLst>
                              <p:cond delay="0"/>
                            </p:stCondLst>
                            <p:childTnLst>
                              <p:par>
                                <p:cTn id="597" nodeType="clickEffect" fill="hold" presetClass="entr" presetID="22" presetSubtype="8">
                                  <p:stCondLst>
                                    <p:cond delay="0"/>
                                  </p:stCondLst>
                                  <p:childTnLst>
                                    <p:set>
                                      <p:cBhvr>
                                        <p:cTn id="598" dur="1" fill="hold">
                                          <p:stCondLst>
                                            <p:cond delay="0"/>
                                          </p:stCondLst>
                                        </p:cTn>
                                        <p:tgtEl>
                                          <p:spTgt spid="159">
                                            <p:txEl>
                                              <p:pRg st="1" end="1"/>
                                            </p:txEl>
                                          </p:spTgt>
                                        </p:tgtEl>
                                        <p:attrNameLst>
                                          <p:attrName>style.visibility</p:attrName>
                                        </p:attrNameLst>
                                      </p:cBhvr>
                                      <p:to>
                                        <p:strVal val="visible"/>
                                      </p:to>
                                    </p:set>
                                    <p:animEffect filter="wipe(left)" transition="in">
                                      <p:cBhvr additive="repl">
                                        <p:cTn id="599" dur="500"/>
                                        <p:tgtEl>
                                          <p:spTgt spid="159">
                                            <p:txEl>
                                              <p:pRg st="1" end="1"/>
                                            </p:txEl>
                                          </p:spTgt>
                                        </p:tgtEl>
                                      </p:cBhvr>
                                    </p:animEffect>
                                  </p:childTnLst>
                                </p:cTn>
                              </p:par>
                            </p:childTnLst>
                          </p:cTn>
                        </p:par>
                      </p:childTnLst>
                    </p:cTn>
                  </p:par>
                  <p:par>
                    <p:cTn id="600" nodeType="clickEffect" fill="hold">
                      <p:stCondLst>
                        <p:cond delay="indefinite"/>
                      </p:stCondLst>
                      <p:childTnLst>
                        <p:par>
                          <p:cTn id="601" nodeType="withEffect" fill="hold">
                            <p:stCondLst>
                              <p:cond delay="0"/>
                            </p:stCondLst>
                            <p:childTnLst>
                              <p:par>
                                <p:cTn id="602" nodeType="clickEffect" fill="hold" presetClass="entr" presetID="22" presetSubtype="8">
                                  <p:stCondLst>
                                    <p:cond delay="0"/>
                                  </p:stCondLst>
                                  <p:childTnLst>
                                    <p:set>
                                      <p:cBhvr>
                                        <p:cTn id="603" dur="1" fill="hold">
                                          <p:stCondLst>
                                            <p:cond delay="0"/>
                                          </p:stCondLst>
                                        </p:cTn>
                                        <p:tgtEl>
                                          <p:spTgt spid="159">
                                            <p:txEl>
                                              <p:pRg st="2" end="2"/>
                                            </p:txEl>
                                          </p:spTgt>
                                        </p:tgtEl>
                                        <p:attrNameLst>
                                          <p:attrName>style.visibility</p:attrName>
                                        </p:attrNameLst>
                                      </p:cBhvr>
                                      <p:to>
                                        <p:strVal val="visible"/>
                                      </p:to>
                                    </p:set>
                                    <p:animEffect filter="wipe(left)" transition="in">
                                      <p:cBhvr additive="repl">
                                        <p:cTn id="604" dur="500"/>
                                        <p:tgtEl>
                                          <p:spTgt spid="159">
                                            <p:txEl>
                                              <p:pRg st="2" end="2"/>
                                            </p:txEl>
                                          </p:spTgt>
                                        </p:tgtEl>
                                      </p:cBhvr>
                                    </p:animEffect>
                                  </p:childTnLst>
                                </p:cTn>
                              </p:par>
                            </p:childTnLst>
                          </p:cTn>
                        </p:par>
                      </p:childTnLst>
                    </p:cTn>
                  </p:par>
                  <p:par>
                    <p:cTn id="605" nodeType="clickEffect" fill="hold">
                      <p:stCondLst>
                        <p:cond delay="indefinite"/>
                      </p:stCondLst>
                      <p:childTnLst>
                        <p:par>
                          <p:cTn id="606" nodeType="withEffect" fill="hold">
                            <p:stCondLst>
                              <p:cond delay="0"/>
                            </p:stCondLst>
                            <p:childTnLst>
                              <p:par>
                                <p:cTn id="607" nodeType="clickEffect" fill="hold" presetClass="entr" presetID="22" presetSubtype="8">
                                  <p:stCondLst>
                                    <p:cond delay="0"/>
                                  </p:stCondLst>
                                  <p:childTnLst>
                                    <p:set>
                                      <p:cBhvr>
                                        <p:cTn id="608" dur="1" fill="hold">
                                          <p:stCondLst>
                                            <p:cond delay="0"/>
                                          </p:stCondLst>
                                        </p:cTn>
                                        <p:tgtEl>
                                          <p:spTgt spid="159">
                                            <p:txEl>
                                              <p:pRg st="3" end="3"/>
                                            </p:txEl>
                                          </p:spTgt>
                                        </p:tgtEl>
                                        <p:attrNameLst>
                                          <p:attrName>style.visibility</p:attrName>
                                        </p:attrNameLst>
                                      </p:cBhvr>
                                      <p:to>
                                        <p:strVal val="visible"/>
                                      </p:to>
                                    </p:set>
                                    <p:animEffect filter="wipe(left)" transition="in">
                                      <p:cBhvr additive="repl">
                                        <p:cTn id="609" dur="500"/>
                                        <p:tgtEl>
                                          <p:spTgt spid="159">
                                            <p:txEl>
                                              <p:pRg st="3" end="3"/>
                                            </p:txEl>
                                          </p:spTgt>
                                        </p:tgtEl>
                                      </p:cBhvr>
                                    </p:animEffect>
                                  </p:childTnLst>
                                </p:cTn>
                              </p:par>
                            </p:childTnLst>
                          </p:cTn>
                        </p:par>
                      </p:childTnLst>
                    </p:cTn>
                  </p:par>
                  <p:par>
                    <p:cTn id="610" nodeType="clickEffect" fill="hold">
                      <p:stCondLst>
                        <p:cond delay="indefinite"/>
                      </p:stCondLst>
                      <p:childTnLst>
                        <p:par>
                          <p:cTn id="611" nodeType="withEffect" fill="hold">
                            <p:stCondLst>
                              <p:cond delay="0"/>
                            </p:stCondLst>
                            <p:childTnLst>
                              <p:par>
                                <p:cTn id="612" nodeType="clickEffect" fill="hold" presetClass="entr" presetID="22" presetSubtype="8">
                                  <p:stCondLst>
                                    <p:cond delay="0"/>
                                  </p:stCondLst>
                                  <p:childTnLst>
                                    <p:set>
                                      <p:cBhvr>
                                        <p:cTn id="613" dur="1" fill="hold">
                                          <p:stCondLst>
                                            <p:cond delay="0"/>
                                          </p:stCondLst>
                                        </p:cTn>
                                        <p:tgtEl>
                                          <p:spTgt spid="159">
                                            <p:txEl>
                                              <p:pRg st="4" end="4"/>
                                            </p:txEl>
                                          </p:spTgt>
                                        </p:tgtEl>
                                        <p:attrNameLst>
                                          <p:attrName>style.visibility</p:attrName>
                                        </p:attrNameLst>
                                      </p:cBhvr>
                                      <p:to>
                                        <p:strVal val="visible"/>
                                      </p:to>
                                    </p:set>
                                    <p:animEffect filter="wipe(left)" transition="in">
                                      <p:cBhvr additive="repl">
                                        <p:cTn id="614" dur="500"/>
                                        <p:tgtEl>
                                          <p:spTgt spid="159">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161" name="PlaceHolder 2"/>
          <p:cNvSpPr>
            <a:spLocks noGrp="1"/>
          </p:cNvSpPr>
          <p:nvPr>
            <p:ph/>
          </p:nvPr>
        </p:nvSpPr>
        <p:spPr>
          <a:xfrm>
            <a:off x="360360" y="1440000"/>
            <a:ext cx="4668480" cy="4647960"/>
          </a:xfrm>
          <a:prstGeom prst="rect">
            <a:avLst/>
          </a:prstGeom>
          <a:noFill/>
          <a:ln w="0">
            <a:noFill/>
          </a:ln>
        </p:spPr>
        <p:txBody>
          <a:bodyPr numCol="1" spcCol="0" lIns="91440" rIns="91440" tIns="45720" bIns="45720" anchor="t">
            <a:noAutofit/>
          </a:bodyPr>
          <a:p>
            <a:pPr marL="342000" indent="-34200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The Payoff Matrix</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Table 18.6 shows the payoff matrix as the economic profits for each firm in each </a:t>
            </a:r>
            <a:br>
              <a:rPr sz="2400"/>
            </a:br>
            <a:r>
              <a:rPr b="0" lang="en-US" sz="2400" strike="noStrike" u="none">
                <a:solidFill>
                  <a:schemeClr val="dk1"/>
                </a:solidFill>
                <a:effectLst/>
                <a:uFillTx/>
                <a:latin typeface="Arial"/>
                <a:ea typeface="ＭＳ Ｐゴシック"/>
              </a:rPr>
              <a:t>possible outcome.</a:t>
            </a:r>
            <a:endParaRPr b="1" lang="en-CA" sz="2400" strike="noStrike" u="none">
              <a:solidFill>
                <a:srgbClr val="00468f"/>
              </a:solidFill>
              <a:effectLst/>
              <a:uFillTx/>
              <a:latin typeface="Arial"/>
            </a:endParaRPr>
          </a:p>
        </p:txBody>
      </p:sp>
      <p:pic>
        <p:nvPicPr>
          <p:cNvPr id="162" name="Picture 5" descr="tab1707a.gif"/>
          <p:cNvPicPr/>
          <p:nvPr/>
        </p:nvPicPr>
        <p:blipFill>
          <a:blip r:embed="rId1"/>
          <a:stretch/>
        </p:blipFill>
        <p:spPr>
          <a:xfrm>
            <a:off x="5219640" y="1979640"/>
            <a:ext cx="3095280" cy="2514240"/>
          </a:xfrm>
          <a:prstGeom prst="rect">
            <a:avLst/>
          </a:prstGeom>
          <a:noFill/>
          <a:ln w="0">
            <a:noFill/>
          </a:ln>
        </p:spPr>
      </p:pic>
    </p:spTree>
  </p:cSld>
  <p:transition spd="slow">
    <p:wipe dir="r"/>
  </p:transition>
  <p:timing>
    <p:tnLst>
      <p:par>
        <p:cTn id="615" dur="indefinite" restart="never" nodeType="tmRoot">
          <p:childTnLst>
            <p:seq>
              <p:cTn id="616" dur="indefinite" nodeType="mainSeq">
                <p:childTnLst>
                  <p:par>
                    <p:cTn id="617" nodeType="clickEffect" fill="hold">
                      <p:stCondLst>
                        <p:cond delay="indefinite"/>
                      </p:stCondLst>
                      <p:childTnLst>
                        <p:par>
                          <p:cTn id="618" nodeType="withEffect" fill="hold">
                            <p:stCondLst>
                              <p:cond delay="0"/>
                            </p:stCondLst>
                            <p:childTnLst>
                              <p:par>
                                <p:cTn id="619" nodeType="clickEffect" fill="hold" presetClass="entr" presetID="22" presetSubtype="8">
                                  <p:stCondLst>
                                    <p:cond delay="0"/>
                                  </p:stCondLst>
                                  <p:childTnLst>
                                    <p:set>
                                      <p:cBhvr>
                                        <p:cTn id="620" dur="1" fill="hold">
                                          <p:stCondLst>
                                            <p:cond delay="0"/>
                                          </p:stCondLst>
                                        </p:cTn>
                                        <p:tgtEl>
                                          <p:spTgt spid="161">
                                            <p:txEl>
                                              <p:pRg st="1" end="1"/>
                                            </p:txEl>
                                          </p:spTgt>
                                        </p:tgtEl>
                                        <p:attrNameLst>
                                          <p:attrName>style.visibility</p:attrName>
                                        </p:attrNameLst>
                                      </p:cBhvr>
                                      <p:to>
                                        <p:strVal val="visible"/>
                                      </p:to>
                                    </p:set>
                                    <p:animEffect filter="wipe(left)" transition="in">
                                      <p:cBhvr additive="repl">
                                        <p:cTn id="621" dur="500"/>
                                        <p:tgtEl>
                                          <p:spTgt spid="161">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63" name="Picture 3" descr="tab1706.gif"/>
          <p:cNvPicPr/>
          <p:nvPr/>
        </p:nvPicPr>
        <p:blipFill>
          <a:blip r:embed="rId1"/>
          <a:stretch/>
        </p:blipFill>
        <p:spPr>
          <a:xfrm>
            <a:off x="2209680" y="1523880"/>
            <a:ext cx="4642920" cy="3771720"/>
          </a:xfrm>
          <a:prstGeom prst="rect">
            <a:avLst/>
          </a:prstGeom>
          <a:noFill/>
          <a:ln w="0">
            <a:noFill/>
          </a:ln>
        </p:spPr>
      </p:pic>
    </p:spTree>
  </p:cSld>
  <p:transition spd="slow">
    <p:wipe dir="r"/>
  </p:transition>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165" name="PlaceHolder 2"/>
          <p:cNvSpPr>
            <a:spLocks noGrp="1"/>
          </p:cNvSpPr>
          <p:nvPr>
            <p:ph/>
          </p:nvPr>
        </p:nvSpPr>
        <p:spPr>
          <a:xfrm>
            <a:off x="360360" y="1440000"/>
            <a:ext cx="46684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Equilibrium of the Duopolists’ Dilemma</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Both firms produce 4 a week.</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Like the prisoners, the duopolists fail to cooperate and get a worse outcome than the one that cooperation would deliver.</a:t>
            </a:r>
            <a:endParaRPr b="1" lang="en-CA" sz="2400" strike="noStrike" u="none">
              <a:solidFill>
                <a:srgbClr val="00468f"/>
              </a:solidFill>
              <a:effectLst/>
              <a:uFillTx/>
              <a:latin typeface="Arial"/>
            </a:endParaRPr>
          </a:p>
        </p:txBody>
      </p:sp>
      <p:pic>
        <p:nvPicPr>
          <p:cNvPr id="166" name="Picture 5" descr="tab1707a.gif"/>
          <p:cNvPicPr/>
          <p:nvPr/>
        </p:nvPicPr>
        <p:blipFill>
          <a:blip r:embed="rId1"/>
          <a:stretch/>
        </p:blipFill>
        <p:spPr>
          <a:xfrm>
            <a:off x="5219640" y="1979640"/>
            <a:ext cx="3095280" cy="2514240"/>
          </a:xfrm>
          <a:prstGeom prst="rect">
            <a:avLst/>
          </a:prstGeom>
          <a:noFill/>
          <a:ln w="0">
            <a:noFill/>
          </a:ln>
        </p:spPr>
      </p:pic>
      <p:pic>
        <p:nvPicPr>
          <p:cNvPr id="167" name="Picture 6" descr="tab1707b.gif"/>
          <p:cNvPicPr/>
          <p:nvPr/>
        </p:nvPicPr>
        <p:blipFill>
          <a:blip r:embed="rId2"/>
          <a:stretch/>
        </p:blipFill>
        <p:spPr>
          <a:xfrm>
            <a:off x="5219640" y="1979640"/>
            <a:ext cx="3095280" cy="2514240"/>
          </a:xfrm>
          <a:prstGeom prst="rect">
            <a:avLst/>
          </a:prstGeom>
          <a:noFill/>
          <a:ln w="0">
            <a:noFill/>
          </a:ln>
        </p:spPr>
      </p:pic>
    </p:spTree>
  </p:cSld>
  <p:transition spd="slow">
    <p:wipe dir="r"/>
  </p:transition>
  <p:timing>
    <p:tnLst>
      <p:par>
        <p:cTn id="622" dur="indefinite" restart="never" nodeType="tmRoot">
          <p:childTnLst>
            <p:seq>
              <p:cTn id="623" dur="indefinite" nodeType="mainSeq">
                <p:childTnLst>
                  <p:par>
                    <p:cTn id="624" nodeType="clickEffect" fill="hold">
                      <p:stCondLst>
                        <p:cond delay="indefinite"/>
                      </p:stCondLst>
                      <p:childTnLst>
                        <p:par>
                          <p:cTn id="625" nodeType="withEffect" fill="hold">
                            <p:stCondLst>
                              <p:cond delay="0"/>
                            </p:stCondLst>
                            <p:childTnLst>
                              <p:par>
                                <p:cTn id="626" nodeType="clickEffect" fill="hold" presetClass="entr" presetID="22" presetSubtype="8">
                                  <p:stCondLst>
                                    <p:cond delay="0"/>
                                  </p:stCondLst>
                                  <p:childTnLst>
                                    <p:set>
                                      <p:cBhvr>
                                        <p:cTn id="627" dur="1" fill="hold">
                                          <p:stCondLst>
                                            <p:cond delay="0"/>
                                          </p:stCondLst>
                                        </p:cTn>
                                        <p:tgtEl>
                                          <p:spTgt spid="165">
                                            <p:txEl>
                                              <p:pRg st="1" end="1"/>
                                            </p:txEl>
                                          </p:spTgt>
                                        </p:tgtEl>
                                        <p:attrNameLst>
                                          <p:attrName>style.visibility</p:attrName>
                                        </p:attrNameLst>
                                      </p:cBhvr>
                                      <p:to>
                                        <p:strVal val="visible"/>
                                      </p:to>
                                    </p:set>
                                    <p:animEffect filter="wipe(left)" transition="in">
                                      <p:cBhvr additive="repl">
                                        <p:cTn id="628" dur="500"/>
                                        <p:tgtEl>
                                          <p:spTgt spid="165">
                                            <p:txEl>
                                              <p:pRg st="1" end="1"/>
                                            </p:txEl>
                                          </p:spTgt>
                                        </p:tgtEl>
                                      </p:cBhvr>
                                    </p:animEffect>
                                  </p:childTnLst>
                                </p:cTn>
                              </p:par>
                              <p:par>
                                <p:cTn id="629" nodeType="withEffect" fill="hold" presetClass="entr" presetID="10">
                                  <p:stCondLst>
                                    <p:cond delay="0"/>
                                  </p:stCondLst>
                                  <p:childTnLst>
                                    <p:set>
                                      <p:cBhvr>
                                        <p:cTn id="630" dur="1" fill="hold">
                                          <p:stCondLst>
                                            <p:cond delay="0"/>
                                          </p:stCondLst>
                                        </p:cTn>
                                        <p:tgtEl>
                                          <p:spTgt spid="167"/>
                                        </p:tgtEl>
                                        <p:attrNameLst>
                                          <p:attrName>style.visibility</p:attrName>
                                        </p:attrNameLst>
                                      </p:cBhvr>
                                      <p:to>
                                        <p:strVal val="visible"/>
                                      </p:to>
                                    </p:set>
                                    <p:animEffect filter="fade" transition="in">
                                      <p:cBhvr additive="repl">
                                        <p:cTn id="631" dur="500"/>
                                        <p:tgtEl>
                                          <p:spTgt spid="167"/>
                                        </p:tgtEl>
                                      </p:cBhvr>
                                    </p:animEffect>
                                  </p:childTnLst>
                                </p:cTn>
                              </p:par>
                            </p:childTnLst>
                          </p:cTn>
                        </p:par>
                      </p:childTnLst>
                    </p:cTn>
                  </p:par>
                  <p:par>
                    <p:cTn id="632" nodeType="clickEffect" fill="hold">
                      <p:stCondLst>
                        <p:cond delay="indefinite"/>
                      </p:stCondLst>
                      <p:childTnLst>
                        <p:par>
                          <p:cTn id="633" nodeType="withEffect" fill="hold">
                            <p:stCondLst>
                              <p:cond delay="0"/>
                            </p:stCondLst>
                            <p:childTnLst>
                              <p:par>
                                <p:cTn id="634" nodeType="clickEffect" fill="hold" presetClass="entr" presetID="22" presetSubtype="8">
                                  <p:stCondLst>
                                    <p:cond delay="0"/>
                                  </p:stCondLst>
                                  <p:childTnLst>
                                    <p:set>
                                      <p:cBhvr>
                                        <p:cTn id="635" dur="1" fill="hold">
                                          <p:stCondLst>
                                            <p:cond delay="0"/>
                                          </p:stCondLst>
                                        </p:cTn>
                                        <p:tgtEl>
                                          <p:spTgt spid="165">
                                            <p:txEl>
                                              <p:pRg st="2" end="2"/>
                                            </p:txEl>
                                          </p:spTgt>
                                        </p:tgtEl>
                                        <p:attrNameLst>
                                          <p:attrName>style.visibility</p:attrName>
                                        </p:attrNameLst>
                                      </p:cBhvr>
                                      <p:to>
                                        <p:strVal val="visible"/>
                                      </p:to>
                                    </p:set>
                                    <p:animEffect filter="wipe(left)" transition="in">
                                      <p:cBhvr additive="repl">
                                        <p:cTn id="636" dur="500"/>
                                        <p:tgtEl>
                                          <p:spTgt spid="165">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68" name="Picture 5" descr="tab1707a.gif"/>
          <p:cNvPicPr/>
          <p:nvPr/>
        </p:nvPicPr>
        <p:blipFill>
          <a:blip r:embed="rId1"/>
          <a:stretch/>
        </p:blipFill>
        <p:spPr>
          <a:xfrm>
            <a:off x="2209680" y="1523880"/>
            <a:ext cx="4642920" cy="3771720"/>
          </a:xfrm>
          <a:prstGeom prst="rect">
            <a:avLst/>
          </a:prstGeom>
          <a:noFill/>
          <a:ln w="0">
            <a:noFill/>
          </a:ln>
        </p:spPr>
      </p:pic>
      <p:pic>
        <p:nvPicPr>
          <p:cNvPr id="169" name="Picture 6" descr="tab1707b.gif"/>
          <p:cNvPicPr/>
          <p:nvPr/>
        </p:nvPicPr>
        <p:blipFill>
          <a:blip r:embed="rId2"/>
          <a:stretch/>
        </p:blipFill>
        <p:spPr>
          <a:xfrm>
            <a:off x="2209680" y="1523880"/>
            <a:ext cx="4642920" cy="3771720"/>
          </a:xfrm>
          <a:prstGeom prst="rect">
            <a:avLst/>
          </a:prstGeom>
          <a:noFill/>
          <a:ln w="0">
            <a:noFill/>
          </a:ln>
        </p:spPr>
      </p:pic>
    </p:spTree>
  </p:cSld>
  <p:transition spd="slow">
    <p:wipe dir="r"/>
  </p:transition>
  <p:timing>
    <p:tnLst>
      <p:par>
        <p:cTn id="637" dur="indefinite" restart="never" nodeType="tmRoot">
          <p:childTnLst>
            <p:seq>
              <p:cTn id="638" dur="indefinite" nodeType="mainSeq">
                <p:childTnLst>
                  <p:par>
                    <p:cTn id="639" nodeType="clickEffect" fill="hold">
                      <p:stCondLst>
                        <p:cond delay="indefinite"/>
                      </p:stCondLst>
                      <p:childTnLst>
                        <p:par>
                          <p:cTn id="640" nodeType="withEffect" fill="hold">
                            <p:stCondLst>
                              <p:cond delay="0"/>
                            </p:stCondLst>
                            <p:childTnLst>
                              <p:par>
                                <p:cTn id="641" nodeType="clickEffect" fill="hold" presetClass="entr" presetID="10">
                                  <p:stCondLst>
                                    <p:cond delay="0"/>
                                  </p:stCondLst>
                                  <p:childTnLst>
                                    <p:set>
                                      <p:cBhvr>
                                        <p:cTn id="642" dur="1" fill="hold">
                                          <p:stCondLst>
                                            <p:cond delay="0"/>
                                          </p:stCondLst>
                                        </p:cTn>
                                        <p:tgtEl>
                                          <p:spTgt spid="169"/>
                                        </p:tgtEl>
                                        <p:attrNameLst>
                                          <p:attrName>style.visibility</p:attrName>
                                        </p:attrNameLst>
                                      </p:cBhvr>
                                      <p:to>
                                        <p:strVal val="visible"/>
                                      </p:to>
                                    </p:set>
                                    <p:animEffect filter="fade" transition="in">
                                      <p:cBhvr additive="repl">
                                        <p:cTn id="643" dur="500"/>
                                        <p:tgtEl>
                                          <p:spTgt spid="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17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Collusion Is Profitable but Difficult to Achieve</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duopolists’ dilemma explains why it is difficult for firms to collude and achieve the maximum monopoly profit.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Even if collusion were legal, it would be individually rational for each firm to cheat on a collusive agreement and increase output.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In an international oil cartel, OPEC, countries frequently break the cartel agreement and overproduce.</a:t>
            </a:r>
            <a:endParaRPr b="1" lang="en-CA" sz="2400" strike="noStrike" u="none">
              <a:solidFill>
                <a:srgbClr val="00468f"/>
              </a:solidFill>
              <a:effectLst/>
              <a:uFillTx/>
              <a:latin typeface="Arial"/>
            </a:endParaRPr>
          </a:p>
        </p:txBody>
      </p:sp>
    </p:spTree>
  </p:cSld>
  <p:transition spd="slow">
    <p:wipe dir="r"/>
  </p:transition>
  <p:timing>
    <p:tnLst>
      <p:par>
        <p:cTn id="644" dur="indefinite" restart="never" nodeType="tmRoot">
          <p:childTnLst>
            <p:seq>
              <p:cTn id="645" dur="indefinite" nodeType="mainSeq">
                <p:childTnLst>
                  <p:par>
                    <p:cTn id="646" nodeType="clickEffect" fill="hold">
                      <p:stCondLst>
                        <p:cond delay="indefinite"/>
                      </p:stCondLst>
                      <p:childTnLst>
                        <p:par>
                          <p:cTn id="647" nodeType="withEffect" fill="hold">
                            <p:stCondLst>
                              <p:cond delay="0"/>
                            </p:stCondLst>
                            <p:childTnLst>
                              <p:par>
                                <p:cTn id="648" nodeType="clickEffect" fill="hold" presetClass="entr" presetID="22" presetSubtype="8">
                                  <p:stCondLst>
                                    <p:cond delay="0"/>
                                  </p:stCondLst>
                                  <p:childTnLst>
                                    <p:set>
                                      <p:cBhvr>
                                        <p:cTn id="649" dur="1" fill="hold">
                                          <p:stCondLst>
                                            <p:cond delay="0"/>
                                          </p:stCondLst>
                                        </p:cTn>
                                        <p:tgtEl>
                                          <p:spTgt spid="171">
                                            <p:txEl>
                                              <p:pRg st="1" end="1"/>
                                            </p:txEl>
                                          </p:spTgt>
                                        </p:tgtEl>
                                        <p:attrNameLst>
                                          <p:attrName>style.visibility</p:attrName>
                                        </p:attrNameLst>
                                      </p:cBhvr>
                                      <p:to>
                                        <p:strVal val="visible"/>
                                      </p:to>
                                    </p:set>
                                    <p:animEffect filter="wipe(left)" transition="in">
                                      <p:cBhvr additive="repl">
                                        <p:cTn id="650" dur="500"/>
                                        <p:tgtEl>
                                          <p:spTgt spid="171">
                                            <p:txEl>
                                              <p:pRg st="1" end="1"/>
                                            </p:txEl>
                                          </p:spTgt>
                                        </p:tgtEl>
                                      </p:cBhvr>
                                    </p:animEffect>
                                  </p:childTnLst>
                                </p:cTn>
                              </p:par>
                            </p:childTnLst>
                          </p:cTn>
                        </p:par>
                      </p:childTnLst>
                    </p:cTn>
                  </p:par>
                  <p:par>
                    <p:cTn id="651" nodeType="clickEffect" fill="hold">
                      <p:stCondLst>
                        <p:cond delay="indefinite"/>
                      </p:stCondLst>
                      <p:childTnLst>
                        <p:par>
                          <p:cTn id="652" nodeType="withEffect" fill="hold">
                            <p:stCondLst>
                              <p:cond delay="0"/>
                            </p:stCondLst>
                            <p:childTnLst>
                              <p:par>
                                <p:cTn id="653" nodeType="clickEffect" fill="hold" presetClass="entr" presetID="22" presetSubtype="8">
                                  <p:stCondLst>
                                    <p:cond delay="0"/>
                                  </p:stCondLst>
                                  <p:childTnLst>
                                    <p:set>
                                      <p:cBhvr>
                                        <p:cTn id="654" dur="1" fill="hold">
                                          <p:stCondLst>
                                            <p:cond delay="0"/>
                                          </p:stCondLst>
                                        </p:cTn>
                                        <p:tgtEl>
                                          <p:spTgt spid="171">
                                            <p:txEl>
                                              <p:pRg st="2" end="2"/>
                                            </p:txEl>
                                          </p:spTgt>
                                        </p:tgtEl>
                                        <p:attrNameLst>
                                          <p:attrName>style.visibility</p:attrName>
                                        </p:attrNameLst>
                                      </p:cBhvr>
                                      <p:to>
                                        <p:strVal val="visible"/>
                                      </p:to>
                                    </p:set>
                                    <p:animEffect filter="wipe(left)" transition="in">
                                      <p:cBhvr additive="repl">
                                        <p:cTn id="655" dur="500"/>
                                        <p:tgtEl>
                                          <p:spTgt spid="171">
                                            <p:txEl>
                                              <p:pRg st="2" end="2"/>
                                            </p:txEl>
                                          </p:spTgt>
                                        </p:tgtEl>
                                      </p:cBhvr>
                                    </p:animEffect>
                                  </p:childTnLst>
                                </p:cTn>
                              </p:par>
                            </p:childTnLst>
                          </p:cTn>
                        </p:par>
                      </p:childTnLst>
                    </p:cTn>
                  </p:par>
                  <p:par>
                    <p:cTn id="656" nodeType="clickEffect" fill="hold">
                      <p:stCondLst>
                        <p:cond delay="indefinite"/>
                      </p:stCondLst>
                      <p:childTnLst>
                        <p:par>
                          <p:cTn id="657" nodeType="withEffect" fill="hold">
                            <p:stCondLst>
                              <p:cond delay="0"/>
                            </p:stCondLst>
                            <p:childTnLst>
                              <p:par>
                                <p:cTn id="658" nodeType="clickEffect" fill="hold" presetClass="entr" presetID="22" presetSubtype="8">
                                  <p:stCondLst>
                                    <p:cond delay="0"/>
                                  </p:stCondLst>
                                  <p:childTnLst>
                                    <p:set>
                                      <p:cBhvr>
                                        <p:cTn id="659" dur="1" fill="hold">
                                          <p:stCondLst>
                                            <p:cond delay="0"/>
                                          </p:stCondLst>
                                        </p:cTn>
                                        <p:tgtEl>
                                          <p:spTgt spid="171">
                                            <p:txEl>
                                              <p:pRg st="3" end="3"/>
                                            </p:txEl>
                                          </p:spTgt>
                                        </p:tgtEl>
                                        <p:attrNameLst>
                                          <p:attrName>style.visibility</p:attrName>
                                        </p:attrNameLst>
                                      </p:cBhvr>
                                      <p:to>
                                        <p:strVal val="visible"/>
                                      </p:to>
                                    </p:set>
                                    <p:animEffect filter="wipe(left)" transition="in">
                                      <p:cBhvr additive="repl">
                                        <p:cTn id="660" dur="500"/>
                                        <p:tgtEl>
                                          <p:spTgt spid="171">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17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Advertising and Research Games in Oligopoly</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Advertising campaigns by Coke and Pepsi, and research and development (R&amp;D) competition between Procter &amp; Gamble and Kimberly-Clark are like the prisoners’ dilemma game.</a:t>
            </a:r>
            <a:endParaRPr b="1" lang="en-CA" sz="2400" strike="noStrike" u="none">
              <a:solidFill>
                <a:srgbClr val="00468f"/>
              </a:solidFill>
              <a:effectLst/>
              <a:uFillTx/>
              <a:latin typeface="Arial"/>
            </a:endParaRPr>
          </a:p>
        </p:txBody>
      </p:sp>
    </p:spTree>
  </p:cSld>
  <p:transition spd="slow">
    <p:wipe dir="r"/>
  </p:transition>
  <p:timing>
    <p:tnLst>
      <p:par>
        <p:cTn id="661" dur="indefinite" restart="never" nodeType="tmRoot">
          <p:childTnLst>
            <p:seq>
              <p:cTn id="662" dur="indefinite" nodeType="mainSeq">
                <p:childTnLst>
                  <p:par>
                    <p:cTn id="663" nodeType="clickEffect" fill="hold">
                      <p:stCondLst>
                        <p:cond delay="indefinite"/>
                      </p:stCondLst>
                      <p:childTnLst>
                        <p:par>
                          <p:cTn id="664" nodeType="withEffect" fill="hold">
                            <p:stCondLst>
                              <p:cond delay="0"/>
                            </p:stCondLst>
                            <p:childTnLst>
                              <p:par>
                                <p:cTn id="665" nodeType="clickEffect" fill="hold" presetClass="entr" presetID="22" presetSubtype="8">
                                  <p:stCondLst>
                                    <p:cond delay="0"/>
                                  </p:stCondLst>
                                  <p:childTnLst>
                                    <p:set>
                                      <p:cBhvr>
                                        <p:cTn id="666" dur="1" fill="hold">
                                          <p:stCondLst>
                                            <p:cond delay="0"/>
                                          </p:stCondLst>
                                        </p:cTn>
                                        <p:tgtEl>
                                          <p:spTgt spid="173">
                                            <p:txEl>
                                              <p:pRg st="1" end="1"/>
                                            </p:txEl>
                                          </p:spTgt>
                                        </p:tgtEl>
                                        <p:attrNameLst>
                                          <p:attrName>style.visibility</p:attrName>
                                        </p:attrNameLst>
                                      </p:cBhvr>
                                      <p:to>
                                        <p:strVal val="visible"/>
                                      </p:to>
                                    </p:set>
                                    <p:animEffect filter="wipe(left)" transition="in">
                                      <p:cBhvr additive="repl">
                                        <p:cTn id="667" dur="500"/>
                                        <p:tgtEl>
                                          <p:spTgt spid="173">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175" name="PlaceHolder 2"/>
          <p:cNvSpPr>
            <a:spLocks noGrp="1"/>
          </p:cNvSpPr>
          <p:nvPr>
            <p:ph/>
          </p:nvPr>
        </p:nvSpPr>
        <p:spPr>
          <a:xfrm>
            <a:off x="360360" y="1440000"/>
            <a:ext cx="44398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Advertising Game</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Coke and Pepsi have two strategies: advertise or not advertise.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Table 18.8 shows the payoff matrix as the economic profits for each firm in each possible outcome.</a:t>
            </a:r>
            <a:endParaRPr b="1" lang="en-CA" sz="2400" strike="noStrike" u="none">
              <a:solidFill>
                <a:srgbClr val="00468f"/>
              </a:solidFill>
              <a:effectLst/>
              <a:uFillTx/>
              <a:latin typeface="Arial"/>
            </a:endParaRPr>
          </a:p>
        </p:txBody>
      </p:sp>
      <p:pic>
        <p:nvPicPr>
          <p:cNvPr id="176" name="Picture 3" descr="tab1708.gif"/>
          <p:cNvPicPr/>
          <p:nvPr/>
        </p:nvPicPr>
        <p:blipFill>
          <a:blip r:embed="rId1"/>
          <a:stretch/>
        </p:blipFill>
        <p:spPr>
          <a:xfrm>
            <a:off x="5219640" y="1981080"/>
            <a:ext cx="3095280" cy="2685600"/>
          </a:xfrm>
          <a:prstGeom prst="rect">
            <a:avLst/>
          </a:prstGeom>
          <a:noFill/>
          <a:ln w="0">
            <a:noFill/>
          </a:ln>
        </p:spPr>
      </p:pic>
    </p:spTree>
  </p:cSld>
  <p:transition spd="slow">
    <p:wipe dir="r"/>
  </p:transition>
  <p:timing>
    <p:tnLst>
      <p:par>
        <p:cTn id="668" dur="indefinite" restart="never" nodeType="tmRoot">
          <p:childTnLst>
            <p:seq>
              <p:cTn id="669" dur="indefinite" nodeType="mainSeq">
                <p:childTnLst>
                  <p:par>
                    <p:cTn id="670" nodeType="clickEffect" fill="hold">
                      <p:stCondLst>
                        <p:cond delay="indefinite"/>
                      </p:stCondLst>
                      <p:childTnLst>
                        <p:par>
                          <p:cTn id="671" nodeType="withEffect" fill="hold">
                            <p:stCondLst>
                              <p:cond delay="0"/>
                            </p:stCondLst>
                            <p:childTnLst>
                              <p:par>
                                <p:cTn id="672" nodeType="clickEffect" fill="hold" presetClass="entr" presetID="22" presetSubtype="8">
                                  <p:stCondLst>
                                    <p:cond delay="0"/>
                                  </p:stCondLst>
                                  <p:childTnLst>
                                    <p:set>
                                      <p:cBhvr>
                                        <p:cTn id="673" dur="1" fill="hold">
                                          <p:stCondLst>
                                            <p:cond delay="0"/>
                                          </p:stCondLst>
                                        </p:cTn>
                                        <p:tgtEl>
                                          <p:spTgt spid="175">
                                            <p:txEl>
                                              <p:pRg st="1" end="1"/>
                                            </p:txEl>
                                          </p:spTgt>
                                        </p:tgtEl>
                                        <p:attrNameLst>
                                          <p:attrName>style.visibility</p:attrName>
                                        </p:attrNameLst>
                                      </p:cBhvr>
                                      <p:to>
                                        <p:strVal val="visible"/>
                                      </p:to>
                                    </p:set>
                                    <p:animEffect filter="wipe(left)" transition="in">
                                      <p:cBhvr additive="repl">
                                        <p:cTn id="674" dur="500"/>
                                        <p:tgtEl>
                                          <p:spTgt spid="175">
                                            <p:txEl>
                                              <p:pRg st="1" end="1"/>
                                            </p:txEl>
                                          </p:spTgt>
                                        </p:tgtEl>
                                      </p:cBhvr>
                                    </p:animEffect>
                                  </p:childTnLst>
                                </p:cTn>
                              </p:par>
                            </p:childTnLst>
                          </p:cTn>
                        </p:par>
                      </p:childTnLst>
                    </p:cTn>
                  </p:par>
                  <p:par>
                    <p:cTn id="675" nodeType="clickEffect" fill="hold">
                      <p:stCondLst>
                        <p:cond delay="indefinite"/>
                      </p:stCondLst>
                      <p:childTnLst>
                        <p:par>
                          <p:cTn id="676" nodeType="withEffect" fill="hold">
                            <p:stCondLst>
                              <p:cond delay="0"/>
                            </p:stCondLst>
                            <p:childTnLst>
                              <p:par>
                                <p:cTn id="677" nodeType="clickEffect" fill="hold" presetClass="entr" presetID="22" presetSubtype="8">
                                  <p:stCondLst>
                                    <p:cond delay="0"/>
                                  </p:stCondLst>
                                  <p:childTnLst>
                                    <p:set>
                                      <p:cBhvr>
                                        <p:cTn id="678" dur="1" fill="hold">
                                          <p:stCondLst>
                                            <p:cond delay="0"/>
                                          </p:stCondLst>
                                        </p:cTn>
                                        <p:tgtEl>
                                          <p:spTgt spid="175">
                                            <p:txEl>
                                              <p:pRg st="2" end="2"/>
                                            </p:txEl>
                                          </p:spTgt>
                                        </p:tgtEl>
                                        <p:attrNameLst>
                                          <p:attrName>style.visibility</p:attrName>
                                        </p:attrNameLst>
                                      </p:cBhvr>
                                      <p:to>
                                        <p:strVal val="visible"/>
                                      </p:to>
                                    </p:set>
                                    <p:animEffect filter="wipe(left)" transition="in">
                                      <p:cBhvr additive="repl">
                                        <p:cTn id="679" dur="500"/>
                                        <p:tgtEl>
                                          <p:spTgt spid="175">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77" name="Picture 3" descr="tab1708.gif"/>
          <p:cNvPicPr/>
          <p:nvPr/>
        </p:nvPicPr>
        <p:blipFill>
          <a:blip r:embed="rId1"/>
          <a:stretch/>
        </p:blipFill>
        <p:spPr>
          <a:xfrm>
            <a:off x="2209680" y="1266840"/>
            <a:ext cx="4642920" cy="4028760"/>
          </a:xfrm>
          <a:prstGeom prst="rect">
            <a:avLst/>
          </a:prstGeom>
          <a:noFill/>
          <a:ln w="0">
            <a:noFill/>
          </a:ln>
        </p:spPr>
      </p:pic>
    </p:spTree>
  </p:cSld>
  <p:transition spd="slow">
    <p:wipe dir="r"/>
  </p:transition>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179"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Nash equilibrium for this game is for both firms to advertise.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But they could earn a larger joint profit if they could collude and not advertise.</a:t>
            </a:r>
            <a:endParaRPr b="1" lang="en-CA" sz="2400" strike="noStrike" u="none">
              <a:solidFill>
                <a:srgbClr val="00468f"/>
              </a:solidFill>
              <a:effectLst/>
              <a:uFillTx/>
              <a:latin typeface="Arial"/>
            </a:endParaRPr>
          </a:p>
        </p:txBody>
      </p:sp>
      <p:pic>
        <p:nvPicPr>
          <p:cNvPr id="180" name="Picture 3" descr="tab1708.gif"/>
          <p:cNvPicPr/>
          <p:nvPr/>
        </p:nvPicPr>
        <p:blipFill>
          <a:blip r:embed="rId1"/>
          <a:stretch/>
        </p:blipFill>
        <p:spPr>
          <a:xfrm>
            <a:off x="5219640" y="1981080"/>
            <a:ext cx="3095280" cy="2685600"/>
          </a:xfrm>
          <a:prstGeom prst="rect">
            <a:avLst/>
          </a:prstGeom>
          <a:noFill/>
          <a:ln w="0">
            <a:noFill/>
          </a:ln>
        </p:spPr>
      </p:pic>
    </p:spTree>
  </p:cSld>
  <p:transition spd="slow">
    <p:wipe dir="r"/>
  </p:transition>
  <p:timing>
    <p:tnLst>
      <p:par>
        <p:cTn id="680" dur="indefinite" restart="never" nodeType="tmRoot">
          <p:childTnLst>
            <p:seq>
              <p:cTn id="681" dur="indefinite" nodeType="mainSeq">
                <p:childTnLst>
                  <p:par>
                    <p:cTn id="682" nodeType="clickEffect" fill="hold">
                      <p:stCondLst>
                        <p:cond delay="indefinite"/>
                      </p:stCondLst>
                      <p:childTnLst>
                        <p:par>
                          <p:cTn id="683" nodeType="withEffect" fill="hold">
                            <p:stCondLst>
                              <p:cond delay="0"/>
                            </p:stCondLst>
                            <p:childTnLst>
                              <p:par>
                                <p:cTn id="684" nodeType="clickEffect" fill="hold" presetClass="entr" presetID="22" presetSubtype="8">
                                  <p:stCondLst>
                                    <p:cond delay="0"/>
                                  </p:stCondLst>
                                  <p:childTnLst>
                                    <p:set>
                                      <p:cBhvr>
                                        <p:cTn id="685" dur="1" fill="hold">
                                          <p:stCondLst>
                                            <p:cond delay="0"/>
                                          </p:stCondLst>
                                        </p:cTn>
                                        <p:tgtEl>
                                          <p:spTgt spid="179">
                                            <p:txEl>
                                              <p:pRg st="1" end="1"/>
                                            </p:txEl>
                                          </p:spTgt>
                                        </p:tgtEl>
                                        <p:attrNameLst>
                                          <p:attrName>style.visibility</p:attrName>
                                        </p:attrNameLst>
                                      </p:cBhvr>
                                      <p:to>
                                        <p:strVal val="visible"/>
                                      </p:to>
                                    </p:set>
                                    <p:animEffect filter="wipe(left)" transition="in">
                                      <p:cBhvr additive="repl">
                                        <p:cTn id="686" dur="500"/>
                                        <p:tgtEl>
                                          <p:spTgt spid="179">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182"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Research and Development Game</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P&amp;G and Kimberly-Clark have two strategies: spend on R&amp;D or do no R&amp;D.</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Table 18.9 shows the payoff matrix as the economic profits for each firm in each possible outcome.</a:t>
            </a:r>
            <a:endParaRPr b="1" lang="en-CA" sz="2400" strike="noStrike" u="none">
              <a:solidFill>
                <a:srgbClr val="00468f"/>
              </a:solidFill>
              <a:effectLst/>
              <a:uFillTx/>
              <a:latin typeface="Arial"/>
            </a:endParaRPr>
          </a:p>
        </p:txBody>
      </p:sp>
      <p:pic>
        <p:nvPicPr>
          <p:cNvPr id="183" name="Picture 7" descr="tab1709a.gif"/>
          <p:cNvPicPr/>
          <p:nvPr/>
        </p:nvPicPr>
        <p:blipFill>
          <a:blip r:embed="rId1"/>
          <a:stretch/>
        </p:blipFill>
        <p:spPr>
          <a:xfrm>
            <a:off x="5219640" y="2340000"/>
            <a:ext cx="3095280" cy="2685600"/>
          </a:xfrm>
          <a:prstGeom prst="rect">
            <a:avLst/>
          </a:prstGeom>
          <a:noFill/>
          <a:ln w="0">
            <a:noFill/>
          </a:ln>
        </p:spPr>
      </p:pic>
    </p:spTree>
  </p:cSld>
  <p:transition spd="slow">
    <p:wipe dir="r"/>
  </p:transition>
  <p:timing>
    <p:tnLst>
      <p:par>
        <p:cTn id="687" dur="indefinite" restart="never" nodeType="tmRoot">
          <p:childTnLst>
            <p:seq>
              <p:cTn id="688" dur="indefinite" nodeType="mainSeq">
                <p:childTnLst>
                  <p:par>
                    <p:cTn id="689" nodeType="clickEffect" fill="hold">
                      <p:stCondLst>
                        <p:cond delay="indefinite"/>
                      </p:stCondLst>
                      <p:childTnLst>
                        <p:par>
                          <p:cTn id="690" nodeType="withEffect" fill="hold">
                            <p:stCondLst>
                              <p:cond delay="0"/>
                            </p:stCondLst>
                            <p:childTnLst>
                              <p:par>
                                <p:cTn id="691" nodeType="clickEffect" fill="hold" presetClass="entr" presetID="22" presetSubtype="8">
                                  <p:stCondLst>
                                    <p:cond delay="0"/>
                                  </p:stCondLst>
                                  <p:childTnLst>
                                    <p:set>
                                      <p:cBhvr>
                                        <p:cTn id="692" dur="1" fill="hold">
                                          <p:stCondLst>
                                            <p:cond delay="0"/>
                                          </p:stCondLst>
                                        </p:cTn>
                                        <p:tgtEl>
                                          <p:spTgt spid="182">
                                            <p:txEl>
                                              <p:pRg st="1" end="1"/>
                                            </p:txEl>
                                          </p:spTgt>
                                        </p:tgtEl>
                                        <p:attrNameLst>
                                          <p:attrName>style.visibility</p:attrName>
                                        </p:attrNameLst>
                                      </p:cBhvr>
                                      <p:to>
                                        <p:strVal val="visible"/>
                                      </p:to>
                                    </p:set>
                                    <p:animEffect filter="wipe(left)" transition="in">
                                      <p:cBhvr additive="repl">
                                        <p:cTn id="693" dur="500"/>
                                        <p:tgtEl>
                                          <p:spTgt spid="182">
                                            <p:txEl>
                                              <p:pRg st="1" end="1"/>
                                            </p:txEl>
                                          </p:spTgt>
                                        </p:tgtEl>
                                      </p:cBhvr>
                                    </p:animEffect>
                                  </p:childTnLst>
                                </p:cTn>
                              </p:par>
                            </p:childTnLst>
                          </p:cTn>
                        </p:par>
                      </p:childTnLst>
                    </p:cTn>
                  </p:par>
                  <p:par>
                    <p:cTn id="694" nodeType="clickEffect" fill="hold">
                      <p:stCondLst>
                        <p:cond delay="indefinite"/>
                      </p:stCondLst>
                      <p:childTnLst>
                        <p:par>
                          <p:cTn id="695" nodeType="withEffect" fill="hold">
                            <p:stCondLst>
                              <p:cond delay="0"/>
                            </p:stCondLst>
                            <p:childTnLst>
                              <p:par>
                                <p:cTn id="696" nodeType="clickEffect" fill="hold" presetClass="entr" presetID="22" presetSubtype="8">
                                  <p:stCondLst>
                                    <p:cond delay="0"/>
                                  </p:stCondLst>
                                  <p:childTnLst>
                                    <p:set>
                                      <p:cBhvr>
                                        <p:cTn id="697" dur="1" fill="hold">
                                          <p:stCondLst>
                                            <p:cond delay="0"/>
                                          </p:stCondLst>
                                        </p:cTn>
                                        <p:tgtEl>
                                          <p:spTgt spid="182">
                                            <p:txEl>
                                              <p:pRg st="2" end="2"/>
                                            </p:txEl>
                                          </p:spTgt>
                                        </p:tgtEl>
                                        <p:attrNameLst>
                                          <p:attrName>style.visibility</p:attrName>
                                        </p:attrNameLst>
                                      </p:cBhvr>
                                      <p:to>
                                        <p:strVal val="visible"/>
                                      </p:to>
                                    </p:set>
                                    <p:animEffect filter="wipe(left)" transition="in">
                                      <p:cBhvr additive="repl">
                                        <p:cTn id="698" dur="500"/>
                                        <p:tgtEl>
                                          <p:spTgt spid="182">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84" name="Picture 4" descr="tab1709a.gif"/>
          <p:cNvPicPr/>
          <p:nvPr/>
        </p:nvPicPr>
        <p:blipFill>
          <a:blip r:embed="rId1"/>
          <a:stretch/>
        </p:blipFill>
        <p:spPr>
          <a:xfrm>
            <a:off x="2209680" y="1266840"/>
            <a:ext cx="4642920" cy="4028760"/>
          </a:xfrm>
          <a:prstGeom prst="rect">
            <a:avLst/>
          </a:prstGeom>
          <a:noFill/>
          <a:ln w="0">
            <a:noFill/>
          </a:ln>
        </p:spPr>
      </p:pic>
      <p:pic>
        <p:nvPicPr>
          <p:cNvPr id="185" name="Picture 5" descr="tab1709b.gif"/>
          <p:cNvPicPr/>
          <p:nvPr/>
        </p:nvPicPr>
        <p:blipFill>
          <a:blip r:embed="rId2"/>
          <a:stretch/>
        </p:blipFill>
        <p:spPr>
          <a:xfrm>
            <a:off x="2209680" y="1266840"/>
            <a:ext cx="4642920" cy="4028760"/>
          </a:xfrm>
          <a:prstGeom prst="rect">
            <a:avLst/>
          </a:prstGeom>
          <a:noFill/>
          <a:ln w="0">
            <a:noFill/>
          </a:ln>
        </p:spPr>
      </p:pic>
    </p:spTree>
  </p:cSld>
  <p:transition spd="slow">
    <p:wipe dir="r"/>
  </p:transition>
  <p:timing>
    <p:tnLst>
      <p:par>
        <p:cTn id="699" dur="indefinite" restart="never" nodeType="tmRoot">
          <p:childTnLst>
            <p:seq>
              <p:cTn id="700" dur="indefinite" nodeType="mainSeq">
                <p:childTnLst>
                  <p:par>
                    <p:cTn id="701" nodeType="clickEffect" fill="hold">
                      <p:stCondLst>
                        <p:cond delay="indefinite"/>
                      </p:stCondLst>
                      <p:childTnLst>
                        <p:par>
                          <p:cTn id="702" nodeType="withEffect" fill="hold">
                            <p:stCondLst>
                              <p:cond delay="0"/>
                            </p:stCondLst>
                            <p:childTnLst>
                              <p:par>
                                <p:cTn id="703" nodeType="clickEffect" fill="hold" presetClass="entr" presetID="10">
                                  <p:stCondLst>
                                    <p:cond delay="0"/>
                                  </p:stCondLst>
                                  <p:childTnLst>
                                    <p:set>
                                      <p:cBhvr>
                                        <p:cTn id="704" dur="1" fill="hold">
                                          <p:stCondLst>
                                            <p:cond delay="0"/>
                                          </p:stCondLst>
                                        </p:cTn>
                                        <p:tgtEl>
                                          <p:spTgt spid="185"/>
                                        </p:tgtEl>
                                        <p:attrNameLst>
                                          <p:attrName>style.visibility</p:attrName>
                                        </p:attrNameLst>
                                      </p:cBhvr>
                                      <p:to>
                                        <p:strVal val="visible"/>
                                      </p:to>
                                    </p:set>
                                    <p:animEffect filter="fade" transition="in">
                                      <p:cBhvr additive="repl">
                                        <p:cTn id="705" dur="500"/>
                                        <p:tgtEl>
                                          <p:spTgt spid="1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Research and Development Game</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The Nash equilibrium for this game is for both firms to undertake R&amp;D.</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But they could earn a larger joint profit if they could collude and not do R&amp;D.</a:t>
            </a:r>
            <a:endParaRPr b="1" lang="en-CA" sz="2400" strike="noStrike" u="none">
              <a:solidFill>
                <a:srgbClr val="00468f"/>
              </a:solidFill>
              <a:effectLst/>
              <a:uFillTx/>
              <a:latin typeface="Arial"/>
            </a:endParaRPr>
          </a:p>
        </p:txBody>
      </p:sp>
      <p:sp>
        <p:nvSpPr>
          <p:cNvPr id="187" name="PlaceHolder 2"/>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pic>
        <p:nvPicPr>
          <p:cNvPr id="188" name="Picture 7" descr="tab1709a.gif"/>
          <p:cNvPicPr/>
          <p:nvPr/>
        </p:nvPicPr>
        <p:blipFill>
          <a:blip r:embed="rId1"/>
          <a:stretch/>
        </p:blipFill>
        <p:spPr>
          <a:xfrm>
            <a:off x="5219640" y="2340000"/>
            <a:ext cx="3095280" cy="2685600"/>
          </a:xfrm>
          <a:prstGeom prst="rect">
            <a:avLst/>
          </a:prstGeom>
          <a:noFill/>
          <a:ln w="0">
            <a:noFill/>
          </a:ln>
        </p:spPr>
      </p:pic>
      <p:pic>
        <p:nvPicPr>
          <p:cNvPr id="189" name="Picture 8" descr="tab1709b.gif"/>
          <p:cNvPicPr/>
          <p:nvPr/>
        </p:nvPicPr>
        <p:blipFill>
          <a:blip r:embed="rId2"/>
          <a:stretch/>
        </p:blipFill>
        <p:spPr>
          <a:xfrm>
            <a:off x="5219640" y="2340000"/>
            <a:ext cx="3095280" cy="2685600"/>
          </a:xfrm>
          <a:prstGeom prst="rect">
            <a:avLst/>
          </a:prstGeom>
          <a:noFill/>
          <a:ln w="0">
            <a:noFill/>
          </a:ln>
        </p:spPr>
      </p:pic>
    </p:spTree>
  </p:cSld>
  <p:transition spd="slow">
    <p:wipe dir="r"/>
  </p:transition>
  <p:timing>
    <p:tnLst>
      <p:par>
        <p:cTn id="706" dur="indefinite" restart="never" nodeType="tmRoot">
          <p:childTnLst>
            <p:seq>
              <p:cTn id="707" dur="indefinite" nodeType="mainSeq">
                <p:childTnLst>
                  <p:par>
                    <p:cTn id="708" nodeType="clickEffect" fill="hold">
                      <p:stCondLst>
                        <p:cond delay="0"/>
                      </p:stCondLst>
                      <p:childTnLst>
                        <p:par>
                          <p:cTn id="709" nodeType="withEffect" fill="hold">
                            <p:stCondLst>
                              <p:cond delay="0"/>
                            </p:stCondLst>
                            <p:childTnLst>
                              <p:par>
                                <p:cTn id="710" nodeType="withEffect" fill="hold" presetClass="entr" presetID="10">
                                  <p:stCondLst>
                                    <p:cond delay="0"/>
                                  </p:stCondLst>
                                  <p:childTnLst>
                                    <p:set>
                                      <p:cBhvr>
                                        <p:cTn id="711" dur="1" fill="hold">
                                          <p:stCondLst>
                                            <p:cond delay="0"/>
                                          </p:stCondLst>
                                        </p:cTn>
                                        <p:tgtEl>
                                          <p:spTgt spid="189"/>
                                        </p:tgtEl>
                                        <p:attrNameLst>
                                          <p:attrName>style.visibility</p:attrName>
                                        </p:attrNameLst>
                                      </p:cBhvr>
                                      <p:to>
                                        <p:strVal val="visible"/>
                                      </p:to>
                                    </p:set>
                                    <p:animEffect filter="fade" transition="in">
                                      <p:cBhvr additive="repl">
                                        <p:cTn id="712" dur="500"/>
                                        <p:tgtEl>
                                          <p:spTgt spid="189"/>
                                        </p:tgtEl>
                                      </p:cBhvr>
                                    </p:animEffect>
                                  </p:childTnLst>
                                </p:cTn>
                              </p:par>
                            </p:childTnLst>
                          </p:cTn>
                        </p:par>
                      </p:childTnLst>
                    </p:cTn>
                  </p:par>
                  <p:par>
                    <p:cTn id="713" nodeType="clickEffect" fill="hold">
                      <p:stCondLst>
                        <p:cond delay="indefinite"/>
                      </p:stCondLst>
                      <p:childTnLst>
                        <p:par>
                          <p:cTn id="714" nodeType="withEffect" fill="hold">
                            <p:stCondLst>
                              <p:cond delay="0"/>
                            </p:stCondLst>
                            <p:childTnLst>
                              <p:par>
                                <p:cTn id="715" nodeType="clickEffect" fill="hold" presetClass="entr" presetID="22" presetSubtype="8">
                                  <p:stCondLst>
                                    <p:cond delay="0"/>
                                  </p:stCondLst>
                                  <p:childTnLst>
                                    <p:set>
                                      <p:cBhvr>
                                        <p:cTn id="716" dur="1" fill="hold">
                                          <p:stCondLst>
                                            <p:cond delay="0"/>
                                          </p:stCondLst>
                                        </p:cTn>
                                        <p:tgtEl>
                                          <p:spTgt spid="186">
                                            <p:txEl>
                                              <p:pRg st="2" end="2"/>
                                            </p:txEl>
                                          </p:spTgt>
                                        </p:tgtEl>
                                        <p:attrNameLst>
                                          <p:attrName>style.visibility</p:attrName>
                                        </p:attrNameLst>
                                      </p:cBhvr>
                                      <p:to>
                                        <p:strVal val="visible"/>
                                      </p:to>
                                    </p:set>
                                    <p:animEffect filter="wipe(left)" transition="in">
                                      <p:cBhvr additive="repl">
                                        <p:cTn id="717" dur="500"/>
                                        <p:tgtEl>
                                          <p:spTgt spid="186">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19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Repeated Games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Most real-world games get played repeatedly.</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Repeated games have a larger number of strategies because a player can be punished for not cooperating.</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This suggests that real-world duopolists might find a way of learning to cooperate so they can enjoy monopoly profit.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next slide shows the payoffs with a “tit-for-tat” response.</a:t>
            </a:r>
            <a:endParaRPr b="1" lang="en-CA" sz="2400" strike="noStrike" u="none">
              <a:solidFill>
                <a:srgbClr val="00468f"/>
              </a:solidFill>
              <a:effectLst/>
              <a:uFillTx/>
              <a:latin typeface="Arial"/>
            </a:endParaRPr>
          </a:p>
        </p:txBody>
      </p:sp>
    </p:spTree>
  </p:cSld>
  <p:transition spd="slow">
    <p:wipe dir="r"/>
  </p:transition>
  <p:timing>
    <p:tnLst>
      <p:par>
        <p:cTn id="718" dur="indefinite" restart="never" nodeType="tmRoot">
          <p:childTnLst>
            <p:seq>
              <p:cTn id="719" dur="indefinite" nodeType="mainSeq">
                <p:childTnLst>
                  <p:par>
                    <p:cTn id="720" nodeType="clickEffect" fill="hold">
                      <p:stCondLst>
                        <p:cond delay="indefinite"/>
                      </p:stCondLst>
                      <p:childTnLst>
                        <p:par>
                          <p:cTn id="721" nodeType="withEffect" fill="hold">
                            <p:stCondLst>
                              <p:cond delay="0"/>
                            </p:stCondLst>
                            <p:childTnLst>
                              <p:par>
                                <p:cTn id="722" nodeType="clickEffect" fill="hold" presetClass="entr" presetID="22" presetSubtype="8">
                                  <p:stCondLst>
                                    <p:cond delay="0"/>
                                  </p:stCondLst>
                                  <p:childTnLst>
                                    <p:set>
                                      <p:cBhvr>
                                        <p:cTn id="723" dur="1" fill="hold">
                                          <p:stCondLst>
                                            <p:cond delay="0"/>
                                          </p:stCondLst>
                                        </p:cTn>
                                        <p:tgtEl>
                                          <p:spTgt spid="191">
                                            <p:txEl>
                                              <p:pRg st="1" end="1"/>
                                            </p:txEl>
                                          </p:spTgt>
                                        </p:tgtEl>
                                        <p:attrNameLst>
                                          <p:attrName>style.visibility</p:attrName>
                                        </p:attrNameLst>
                                      </p:cBhvr>
                                      <p:to>
                                        <p:strVal val="visible"/>
                                      </p:to>
                                    </p:set>
                                    <p:animEffect filter="wipe(left)" transition="in">
                                      <p:cBhvr additive="repl">
                                        <p:cTn id="724" dur="500"/>
                                        <p:tgtEl>
                                          <p:spTgt spid="191">
                                            <p:txEl>
                                              <p:pRg st="1" end="1"/>
                                            </p:txEl>
                                          </p:spTgt>
                                        </p:tgtEl>
                                      </p:cBhvr>
                                    </p:animEffect>
                                  </p:childTnLst>
                                </p:cTn>
                              </p:par>
                            </p:childTnLst>
                          </p:cTn>
                        </p:par>
                      </p:childTnLst>
                    </p:cTn>
                  </p:par>
                  <p:par>
                    <p:cTn id="725" nodeType="clickEffect" fill="hold">
                      <p:stCondLst>
                        <p:cond delay="indefinite"/>
                      </p:stCondLst>
                      <p:childTnLst>
                        <p:par>
                          <p:cTn id="726" nodeType="withEffect" fill="hold">
                            <p:stCondLst>
                              <p:cond delay="0"/>
                            </p:stCondLst>
                            <p:childTnLst>
                              <p:par>
                                <p:cTn id="727" nodeType="clickEffect" fill="hold" presetClass="entr" presetID="22" presetSubtype="8">
                                  <p:stCondLst>
                                    <p:cond delay="0"/>
                                  </p:stCondLst>
                                  <p:childTnLst>
                                    <p:set>
                                      <p:cBhvr>
                                        <p:cTn id="728" dur="1" fill="hold">
                                          <p:stCondLst>
                                            <p:cond delay="0"/>
                                          </p:stCondLst>
                                        </p:cTn>
                                        <p:tgtEl>
                                          <p:spTgt spid="191">
                                            <p:txEl>
                                              <p:pRg st="2" end="2"/>
                                            </p:txEl>
                                          </p:spTgt>
                                        </p:tgtEl>
                                        <p:attrNameLst>
                                          <p:attrName>style.visibility</p:attrName>
                                        </p:attrNameLst>
                                      </p:cBhvr>
                                      <p:to>
                                        <p:strVal val="visible"/>
                                      </p:to>
                                    </p:set>
                                    <p:animEffect filter="wipe(left)" transition="in">
                                      <p:cBhvr additive="repl">
                                        <p:cTn id="729" dur="500"/>
                                        <p:tgtEl>
                                          <p:spTgt spid="191">
                                            <p:txEl>
                                              <p:pRg st="2" end="2"/>
                                            </p:txEl>
                                          </p:spTgt>
                                        </p:tgtEl>
                                      </p:cBhvr>
                                    </p:animEffect>
                                  </p:childTnLst>
                                </p:cTn>
                              </p:par>
                            </p:childTnLst>
                          </p:cTn>
                        </p:par>
                      </p:childTnLst>
                    </p:cTn>
                  </p:par>
                  <p:par>
                    <p:cTn id="730" nodeType="clickEffect" fill="hold">
                      <p:stCondLst>
                        <p:cond delay="indefinite"/>
                      </p:stCondLst>
                      <p:childTnLst>
                        <p:par>
                          <p:cTn id="731" nodeType="withEffect" fill="hold">
                            <p:stCondLst>
                              <p:cond delay="0"/>
                            </p:stCondLst>
                            <p:childTnLst>
                              <p:par>
                                <p:cTn id="732" nodeType="clickEffect" fill="hold" presetClass="entr" presetID="22" presetSubtype="8">
                                  <p:stCondLst>
                                    <p:cond delay="0"/>
                                  </p:stCondLst>
                                  <p:childTnLst>
                                    <p:set>
                                      <p:cBhvr>
                                        <p:cTn id="733" dur="1" fill="hold">
                                          <p:stCondLst>
                                            <p:cond delay="0"/>
                                          </p:stCondLst>
                                        </p:cTn>
                                        <p:tgtEl>
                                          <p:spTgt spid="191">
                                            <p:txEl>
                                              <p:pRg st="3" end="3"/>
                                            </p:txEl>
                                          </p:spTgt>
                                        </p:tgtEl>
                                        <p:attrNameLst>
                                          <p:attrName>style.visibility</p:attrName>
                                        </p:attrNameLst>
                                      </p:cBhvr>
                                      <p:to>
                                        <p:strVal val="visible"/>
                                      </p:to>
                                    </p:set>
                                    <p:animEffect filter="wipe(left)" transition="in">
                                      <p:cBhvr additive="repl">
                                        <p:cTn id="734" dur="500"/>
                                        <p:tgtEl>
                                          <p:spTgt spid="191">
                                            <p:txEl>
                                              <p:pRg st="3" end="3"/>
                                            </p:txEl>
                                          </p:spTgt>
                                        </p:tgtEl>
                                      </p:cBhvr>
                                    </p:animEffect>
                                  </p:childTnLst>
                                </p:cTn>
                              </p:par>
                            </p:childTnLst>
                          </p:cTn>
                        </p:par>
                      </p:childTnLst>
                    </p:cTn>
                  </p:par>
                  <p:par>
                    <p:cTn id="735" nodeType="clickEffect" fill="hold">
                      <p:stCondLst>
                        <p:cond delay="indefinite"/>
                      </p:stCondLst>
                      <p:childTnLst>
                        <p:par>
                          <p:cTn id="736" nodeType="withEffect" fill="hold">
                            <p:stCondLst>
                              <p:cond delay="0"/>
                            </p:stCondLst>
                            <p:childTnLst>
                              <p:par>
                                <p:cTn id="737" nodeType="clickEffect" fill="hold" presetClass="entr" presetID="22" presetSubtype="8">
                                  <p:stCondLst>
                                    <p:cond delay="0"/>
                                  </p:stCondLst>
                                  <p:childTnLst>
                                    <p:set>
                                      <p:cBhvr>
                                        <p:cTn id="738" dur="1" fill="hold">
                                          <p:stCondLst>
                                            <p:cond delay="0"/>
                                          </p:stCondLst>
                                        </p:cTn>
                                        <p:tgtEl>
                                          <p:spTgt spid="191">
                                            <p:txEl>
                                              <p:pRg st="4" end="4"/>
                                            </p:txEl>
                                          </p:spTgt>
                                        </p:tgtEl>
                                        <p:attrNameLst>
                                          <p:attrName>style.visibility</p:attrName>
                                        </p:attrNameLst>
                                      </p:cBhvr>
                                      <p:to>
                                        <p:strVal val="visible"/>
                                      </p:to>
                                    </p:set>
                                    <p:animEffect filter="wipe(left)" transition="in">
                                      <p:cBhvr additive="repl">
                                        <p:cTn id="739" dur="500"/>
                                        <p:tgtEl>
                                          <p:spTgt spid="191">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193"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117360"/>
              </a:tabLst>
            </a:pPr>
            <a:r>
              <a:rPr b="0" lang="en-US" sz="2400" strike="noStrike" u="none">
                <a:solidFill>
                  <a:schemeClr val="dk1"/>
                </a:solidFill>
                <a:effectLst/>
                <a:uFillTx/>
                <a:latin typeface="Arial"/>
                <a:ea typeface="ＭＳ Ｐゴシック"/>
              </a:rPr>
              <a:t>Week 1: Suppose Boeing contemplates producing 4 planes instead of the agreed 3 planes.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117360"/>
              </a:tabLst>
            </a:pPr>
            <a:r>
              <a:rPr b="0" lang="en-US" sz="2400" strike="noStrike" u="none">
                <a:solidFill>
                  <a:schemeClr val="dk1"/>
                </a:solidFill>
                <a:effectLst/>
                <a:uFillTx/>
                <a:latin typeface="Arial"/>
                <a:ea typeface="ＭＳ Ｐゴシック"/>
              </a:rPr>
              <a:t>Boeing’s profit will increase from $36 million to $40 million, and Airbus’s profit will decrease from $36 million to $30 million.</a:t>
            </a:r>
            <a:endParaRPr b="1" lang="en-CA" sz="2400" strike="noStrike" u="none">
              <a:solidFill>
                <a:srgbClr val="00468f"/>
              </a:solidFill>
              <a:effectLst/>
              <a:uFillTx/>
              <a:latin typeface="Arial"/>
            </a:endParaRPr>
          </a:p>
        </p:txBody>
      </p:sp>
      <p:pic>
        <p:nvPicPr>
          <p:cNvPr id="194" name="Picture 8" descr=""/>
          <p:cNvPicPr/>
          <p:nvPr/>
        </p:nvPicPr>
        <p:blipFill>
          <a:blip r:embed="rId1"/>
          <a:stretch/>
        </p:blipFill>
        <p:spPr>
          <a:xfrm>
            <a:off x="4859280" y="1511280"/>
            <a:ext cx="3414240" cy="2661840"/>
          </a:xfrm>
          <a:prstGeom prst="rect">
            <a:avLst/>
          </a:prstGeom>
          <a:noFill/>
          <a:ln w="0">
            <a:noFill/>
          </a:ln>
        </p:spPr>
      </p:pic>
      <p:pic>
        <p:nvPicPr>
          <p:cNvPr id="195" name="Picture 9" descr=""/>
          <p:cNvPicPr/>
          <p:nvPr/>
        </p:nvPicPr>
        <p:blipFill>
          <a:blip r:embed="rId2"/>
          <a:stretch/>
        </p:blipFill>
        <p:spPr>
          <a:xfrm>
            <a:off x="4859280" y="1511280"/>
            <a:ext cx="3414240" cy="2661840"/>
          </a:xfrm>
          <a:prstGeom prst="rect">
            <a:avLst/>
          </a:prstGeom>
          <a:noFill/>
          <a:ln w="0">
            <a:noFill/>
          </a:ln>
        </p:spPr>
      </p:pic>
      <p:pic>
        <p:nvPicPr>
          <p:cNvPr id="196" name="Picture 10" descr=""/>
          <p:cNvPicPr/>
          <p:nvPr/>
        </p:nvPicPr>
        <p:blipFill>
          <a:blip r:embed="rId3"/>
          <a:stretch/>
        </p:blipFill>
        <p:spPr>
          <a:xfrm>
            <a:off x="4859280" y="1511280"/>
            <a:ext cx="3414240" cy="2661840"/>
          </a:xfrm>
          <a:prstGeom prst="rect">
            <a:avLst/>
          </a:prstGeom>
          <a:noFill/>
          <a:ln w="0">
            <a:noFill/>
          </a:ln>
        </p:spPr>
      </p:pic>
      <p:pic>
        <p:nvPicPr>
          <p:cNvPr id="197" name="Picture 11" descr=""/>
          <p:cNvPicPr/>
          <p:nvPr/>
        </p:nvPicPr>
        <p:blipFill>
          <a:blip r:embed="rId4"/>
          <a:stretch/>
        </p:blipFill>
        <p:spPr>
          <a:xfrm>
            <a:off x="4859280" y="1511280"/>
            <a:ext cx="3414240" cy="2661840"/>
          </a:xfrm>
          <a:prstGeom prst="rect">
            <a:avLst/>
          </a:prstGeom>
          <a:noFill/>
          <a:ln w="0">
            <a:noFill/>
          </a:ln>
        </p:spPr>
      </p:pic>
      <p:pic>
        <p:nvPicPr>
          <p:cNvPr id="198" name="Picture 12" descr=""/>
          <p:cNvPicPr/>
          <p:nvPr/>
        </p:nvPicPr>
        <p:blipFill>
          <a:blip r:embed="rId5"/>
          <a:stretch/>
        </p:blipFill>
        <p:spPr>
          <a:xfrm>
            <a:off x="4859280" y="1511280"/>
            <a:ext cx="3414240" cy="2661840"/>
          </a:xfrm>
          <a:prstGeom prst="rect">
            <a:avLst/>
          </a:prstGeom>
          <a:noFill/>
          <a:ln w="0">
            <a:noFill/>
          </a:ln>
        </p:spPr>
      </p:pic>
    </p:spTree>
  </p:cSld>
  <p:transition spd="slow">
    <p:wipe dir="r"/>
  </p:transition>
  <p:timing>
    <p:tnLst>
      <p:par>
        <p:cTn id="740" dur="indefinite" restart="never" nodeType="tmRoot">
          <p:childTnLst>
            <p:seq>
              <p:cTn id="741" dur="indefinite" nodeType="mainSeq">
                <p:childTnLst>
                  <p:par>
                    <p:cTn id="742" nodeType="clickEffect" fill="hold">
                      <p:stCondLst>
                        <p:cond delay="indefinite"/>
                      </p:stCondLst>
                      <p:childTnLst>
                        <p:par>
                          <p:cTn id="743" nodeType="withEffect" fill="hold">
                            <p:stCondLst>
                              <p:cond delay="0"/>
                            </p:stCondLst>
                            <p:childTnLst>
                              <p:par>
                                <p:cTn id="744" nodeType="clickEffect" fill="hold" presetClass="entr" presetID="22" presetSubtype="8">
                                  <p:stCondLst>
                                    <p:cond delay="0"/>
                                  </p:stCondLst>
                                  <p:childTnLst>
                                    <p:set>
                                      <p:cBhvr>
                                        <p:cTn id="745" dur="1" fill="hold">
                                          <p:stCondLst>
                                            <p:cond delay="0"/>
                                          </p:stCondLst>
                                        </p:cTn>
                                        <p:tgtEl>
                                          <p:spTgt spid="193">
                                            <p:txEl>
                                              <p:pRg st="1" end="1"/>
                                            </p:txEl>
                                          </p:spTgt>
                                        </p:tgtEl>
                                        <p:attrNameLst>
                                          <p:attrName>style.visibility</p:attrName>
                                        </p:attrNameLst>
                                      </p:cBhvr>
                                      <p:to>
                                        <p:strVal val="visible"/>
                                      </p:to>
                                    </p:set>
                                    <p:animEffect filter="wipe(left)" transition="in">
                                      <p:cBhvr additive="repl">
                                        <p:cTn id="746" dur="500"/>
                                        <p:tgtEl>
                                          <p:spTgt spid="193">
                                            <p:txEl>
                                              <p:pRg st="1" end="1"/>
                                            </p:txEl>
                                          </p:spTgt>
                                        </p:tgtEl>
                                      </p:cBhvr>
                                    </p:animEffect>
                                  </p:childTnLst>
                                </p:cTn>
                              </p:par>
                            </p:childTnLst>
                          </p:cTn>
                        </p:par>
                      </p:childTnLst>
                    </p:cTn>
                  </p:par>
                  <p:par>
                    <p:cTn id="747" nodeType="clickEffect" fill="hold">
                      <p:stCondLst>
                        <p:cond delay="indefinite"/>
                      </p:stCondLst>
                      <p:childTnLst>
                        <p:par>
                          <p:cTn id="748" nodeType="withEffect" fill="hold">
                            <p:stCondLst>
                              <p:cond delay="0"/>
                            </p:stCondLst>
                            <p:childTnLst>
                              <p:par>
                                <p:cTn id="749" nodeType="clickEffect" fill="hold" presetClass="entr" presetID="22" presetSubtype="8">
                                  <p:stCondLst>
                                    <p:cond delay="0"/>
                                  </p:stCondLst>
                                  <p:childTnLst>
                                    <p:set>
                                      <p:cBhvr>
                                        <p:cTn id="750" dur="1" fill="hold">
                                          <p:stCondLst>
                                            <p:cond delay="0"/>
                                          </p:stCondLst>
                                        </p:cTn>
                                        <p:tgtEl>
                                          <p:spTgt spid="195"/>
                                        </p:tgtEl>
                                        <p:attrNameLst>
                                          <p:attrName>style.visibility</p:attrName>
                                        </p:attrNameLst>
                                      </p:cBhvr>
                                      <p:to>
                                        <p:strVal val="visible"/>
                                      </p:to>
                                    </p:set>
                                    <p:animEffect filter="wipe(left)" transition="in">
                                      <p:cBhvr additive="repl">
                                        <p:cTn id="751" dur="1000"/>
                                        <p:tgtEl>
                                          <p:spTgt spid="195"/>
                                        </p:tgtEl>
                                      </p:cBhvr>
                                    </p:animEffect>
                                  </p:childTnLst>
                                </p:cTn>
                              </p:par>
                            </p:childTnLst>
                          </p:cTn>
                        </p:par>
                      </p:childTnLst>
                    </p:cTn>
                  </p:par>
                  <p:par>
                    <p:cTn id="752" nodeType="clickEffect" fill="hold">
                      <p:stCondLst>
                        <p:cond delay="indefinite"/>
                      </p:stCondLst>
                      <p:childTnLst>
                        <p:par>
                          <p:cTn id="753" nodeType="withEffect" fill="hold">
                            <p:stCondLst>
                              <p:cond delay="0"/>
                            </p:stCondLst>
                            <p:childTnLst>
                              <p:par>
                                <p:cTn id="754" nodeType="clickEffect" fill="hold" presetClass="entr" presetID="10">
                                  <p:stCondLst>
                                    <p:cond delay="0"/>
                                  </p:stCondLst>
                                  <p:childTnLst>
                                    <p:set>
                                      <p:cBhvr>
                                        <p:cTn id="755" dur="1" fill="hold">
                                          <p:stCondLst>
                                            <p:cond delay="0"/>
                                          </p:stCondLst>
                                        </p:cTn>
                                        <p:tgtEl>
                                          <p:spTgt spid="196"/>
                                        </p:tgtEl>
                                        <p:attrNameLst>
                                          <p:attrName>style.visibility</p:attrName>
                                        </p:attrNameLst>
                                      </p:cBhvr>
                                      <p:to>
                                        <p:strVal val="visible"/>
                                      </p:to>
                                    </p:set>
                                    <p:animEffect filter="fade" transition="in">
                                      <p:cBhvr additive="repl">
                                        <p:cTn id="756" dur="500"/>
                                        <p:tgtEl>
                                          <p:spTgt spid="196"/>
                                        </p:tgtEl>
                                      </p:cBhvr>
                                    </p:animEffect>
                                  </p:childTnLst>
                                </p:cTn>
                              </p:par>
                            </p:childTnLst>
                          </p:cTn>
                        </p:par>
                      </p:childTnLst>
                    </p:cTn>
                  </p:par>
                  <p:par>
                    <p:cTn id="757" nodeType="clickEffect" fill="hold">
                      <p:stCondLst>
                        <p:cond delay="indefinite"/>
                      </p:stCondLst>
                      <p:childTnLst>
                        <p:par>
                          <p:cTn id="758" nodeType="withEffect" fill="hold">
                            <p:stCondLst>
                              <p:cond delay="0"/>
                            </p:stCondLst>
                            <p:childTnLst>
                              <p:par>
                                <p:cTn id="759" nodeType="clickEffect" fill="hold" presetClass="entr" presetID="22" presetSubtype="8">
                                  <p:stCondLst>
                                    <p:cond delay="0"/>
                                  </p:stCondLst>
                                  <p:childTnLst>
                                    <p:set>
                                      <p:cBhvr>
                                        <p:cTn id="760" dur="1" fill="hold">
                                          <p:stCondLst>
                                            <p:cond delay="0"/>
                                          </p:stCondLst>
                                        </p:cTn>
                                        <p:tgtEl>
                                          <p:spTgt spid="197"/>
                                        </p:tgtEl>
                                        <p:attrNameLst>
                                          <p:attrName>style.visibility</p:attrName>
                                        </p:attrNameLst>
                                      </p:cBhvr>
                                      <p:to>
                                        <p:strVal val="visible"/>
                                      </p:to>
                                    </p:set>
                                    <p:animEffect filter="wipe(left)" transition="in">
                                      <p:cBhvr additive="repl">
                                        <p:cTn id="761" dur="1000"/>
                                        <p:tgtEl>
                                          <p:spTgt spid="197"/>
                                        </p:tgtEl>
                                      </p:cBhvr>
                                    </p:animEffect>
                                  </p:childTnLst>
                                </p:cTn>
                              </p:par>
                            </p:childTnLst>
                          </p:cTn>
                        </p:par>
                      </p:childTnLst>
                    </p:cTn>
                  </p:par>
                  <p:par>
                    <p:cTn id="762" nodeType="clickEffect" fill="hold">
                      <p:stCondLst>
                        <p:cond delay="indefinite"/>
                      </p:stCondLst>
                      <p:childTnLst>
                        <p:par>
                          <p:cTn id="763" nodeType="withEffect" fill="hold">
                            <p:stCondLst>
                              <p:cond delay="0"/>
                            </p:stCondLst>
                            <p:childTnLst>
                              <p:par>
                                <p:cTn id="764" nodeType="clickEffect" fill="hold" presetClass="entr" presetID="10">
                                  <p:stCondLst>
                                    <p:cond delay="0"/>
                                  </p:stCondLst>
                                  <p:childTnLst>
                                    <p:set>
                                      <p:cBhvr>
                                        <p:cTn id="765" dur="1" fill="hold">
                                          <p:stCondLst>
                                            <p:cond delay="0"/>
                                          </p:stCondLst>
                                        </p:cTn>
                                        <p:tgtEl>
                                          <p:spTgt spid="198"/>
                                        </p:tgtEl>
                                        <p:attrNameLst>
                                          <p:attrName>style.visibility</p:attrName>
                                        </p:attrNameLst>
                                      </p:cBhvr>
                                      <p:to>
                                        <p:strVal val="visible"/>
                                      </p:to>
                                    </p:set>
                                    <p:animEffect filter="fade" transition="in">
                                      <p:cBhvr additive="repl">
                                        <p:cTn id="766" dur="500"/>
                                        <p:tgtEl>
                                          <p:spTgt spid="1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199" name="TextBox 6"/>
          <p:cNvSpPr/>
          <p:nvPr/>
        </p:nvSpPr>
        <p:spPr>
          <a:xfrm>
            <a:off x="2286000" y="1600200"/>
            <a:ext cx="1447560" cy="461520"/>
          </a:xfrm>
          <a:prstGeom prst="rect">
            <a:avLst/>
          </a:prstGeom>
          <a:solidFill>
            <a:schemeClr val="bg1"/>
          </a:solidFill>
          <a:ln w="0">
            <a:noFill/>
          </a:ln>
        </p:spPr>
        <p:style>
          <a:lnRef idx="0"/>
          <a:fillRef idx="0"/>
          <a:effectRef idx="0"/>
          <a:fontRef idx="minor"/>
        </p:style>
        <p:txBody>
          <a:bodyPr lIns="90000" rIns="90000" tIns="45000" bIns="45000" anchor="t">
            <a:spAutoFit/>
          </a:bodyPr>
          <a:p>
            <a:pPr>
              <a:lnSpc>
                <a:spcPct val="100000"/>
              </a:lnSpc>
            </a:pPr>
            <a:endParaRPr b="0" lang="en-US" sz="2400" strike="noStrike" u="none">
              <a:solidFill>
                <a:schemeClr val="dk1"/>
              </a:solidFill>
              <a:effectLst/>
              <a:uFillTx/>
              <a:latin typeface="Arial"/>
              <a:ea typeface="ＭＳ Ｐゴシック"/>
            </a:endParaRPr>
          </a:p>
        </p:txBody>
      </p:sp>
      <p:pic>
        <p:nvPicPr>
          <p:cNvPr id="200" name="Picture 1" descr=""/>
          <p:cNvPicPr/>
          <p:nvPr/>
        </p:nvPicPr>
        <p:blipFill>
          <a:blip r:embed="rId1"/>
          <a:stretch/>
        </p:blipFill>
        <p:spPr>
          <a:xfrm>
            <a:off x="2298600" y="1573200"/>
            <a:ext cx="4266720" cy="3327120"/>
          </a:xfrm>
          <a:prstGeom prst="rect">
            <a:avLst/>
          </a:prstGeom>
          <a:noFill/>
          <a:ln w="0">
            <a:noFill/>
          </a:ln>
        </p:spPr>
      </p:pic>
      <p:pic>
        <p:nvPicPr>
          <p:cNvPr id="201" name="Picture 2" descr=""/>
          <p:cNvPicPr/>
          <p:nvPr/>
        </p:nvPicPr>
        <p:blipFill>
          <a:blip r:embed="rId2"/>
          <a:stretch/>
        </p:blipFill>
        <p:spPr>
          <a:xfrm>
            <a:off x="2298600" y="1573200"/>
            <a:ext cx="4266720" cy="3327120"/>
          </a:xfrm>
          <a:prstGeom prst="rect">
            <a:avLst/>
          </a:prstGeom>
          <a:noFill/>
          <a:ln w="0">
            <a:noFill/>
          </a:ln>
        </p:spPr>
      </p:pic>
      <p:pic>
        <p:nvPicPr>
          <p:cNvPr id="202" name="Picture 3" descr=""/>
          <p:cNvPicPr/>
          <p:nvPr/>
        </p:nvPicPr>
        <p:blipFill>
          <a:blip r:embed="rId3"/>
          <a:stretch/>
        </p:blipFill>
        <p:spPr>
          <a:xfrm>
            <a:off x="2298600" y="1573200"/>
            <a:ext cx="4266720" cy="3327120"/>
          </a:xfrm>
          <a:prstGeom prst="rect">
            <a:avLst/>
          </a:prstGeom>
          <a:noFill/>
          <a:ln w="0">
            <a:noFill/>
          </a:ln>
        </p:spPr>
      </p:pic>
      <p:pic>
        <p:nvPicPr>
          <p:cNvPr id="203" name="Picture 4" descr=""/>
          <p:cNvPicPr/>
          <p:nvPr/>
        </p:nvPicPr>
        <p:blipFill>
          <a:blip r:embed="rId4"/>
          <a:stretch/>
        </p:blipFill>
        <p:spPr>
          <a:xfrm>
            <a:off x="2298600" y="1573200"/>
            <a:ext cx="4266720" cy="3327120"/>
          </a:xfrm>
          <a:prstGeom prst="rect">
            <a:avLst/>
          </a:prstGeom>
          <a:noFill/>
          <a:ln w="0">
            <a:noFill/>
          </a:ln>
        </p:spPr>
      </p:pic>
      <p:pic>
        <p:nvPicPr>
          <p:cNvPr id="204" name="Picture 5" descr=""/>
          <p:cNvPicPr/>
          <p:nvPr/>
        </p:nvPicPr>
        <p:blipFill>
          <a:blip r:embed="rId5"/>
          <a:stretch/>
        </p:blipFill>
        <p:spPr>
          <a:xfrm>
            <a:off x="2298600" y="1573200"/>
            <a:ext cx="4266720" cy="3327120"/>
          </a:xfrm>
          <a:prstGeom prst="rect">
            <a:avLst/>
          </a:prstGeom>
          <a:noFill/>
          <a:ln w="0">
            <a:noFill/>
          </a:ln>
        </p:spPr>
      </p:pic>
    </p:spTree>
  </p:cSld>
  <p:transition spd="slow">
    <p:wipe dir="r"/>
  </p:transition>
  <p:timing>
    <p:tnLst>
      <p:par>
        <p:cTn id="767" dur="indefinite" restart="never" nodeType="tmRoot">
          <p:childTnLst>
            <p:seq>
              <p:cTn id="768" dur="indefinite" nodeType="mainSeq">
                <p:childTnLst>
                  <p:par>
                    <p:cTn id="769" nodeType="clickEffect" fill="hold">
                      <p:stCondLst>
                        <p:cond delay="indefinite"/>
                      </p:stCondLst>
                      <p:childTnLst>
                        <p:par>
                          <p:cTn id="770" nodeType="withEffect" fill="hold">
                            <p:stCondLst>
                              <p:cond delay="0"/>
                            </p:stCondLst>
                            <p:childTnLst>
                              <p:par>
                                <p:cTn id="771" nodeType="clickEffect" fill="hold" presetClass="entr" presetID="22" presetSubtype="8">
                                  <p:stCondLst>
                                    <p:cond delay="0"/>
                                  </p:stCondLst>
                                  <p:childTnLst>
                                    <p:set>
                                      <p:cBhvr>
                                        <p:cTn id="772" dur="1" fill="hold">
                                          <p:stCondLst>
                                            <p:cond delay="0"/>
                                          </p:stCondLst>
                                        </p:cTn>
                                        <p:tgtEl>
                                          <p:spTgt spid="201"/>
                                        </p:tgtEl>
                                        <p:attrNameLst>
                                          <p:attrName>style.visibility</p:attrName>
                                        </p:attrNameLst>
                                      </p:cBhvr>
                                      <p:to>
                                        <p:strVal val="visible"/>
                                      </p:to>
                                    </p:set>
                                    <p:animEffect filter="wipe(left)" transition="in">
                                      <p:cBhvr additive="repl">
                                        <p:cTn id="773" dur="1000"/>
                                        <p:tgtEl>
                                          <p:spTgt spid="201"/>
                                        </p:tgtEl>
                                      </p:cBhvr>
                                    </p:animEffect>
                                  </p:childTnLst>
                                </p:cTn>
                              </p:par>
                            </p:childTnLst>
                          </p:cTn>
                        </p:par>
                      </p:childTnLst>
                    </p:cTn>
                  </p:par>
                  <p:par>
                    <p:cTn id="774" nodeType="clickEffect" fill="hold">
                      <p:stCondLst>
                        <p:cond delay="indefinite"/>
                      </p:stCondLst>
                      <p:childTnLst>
                        <p:par>
                          <p:cTn id="775" nodeType="withEffect" fill="hold">
                            <p:stCondLst>
                              <p:cond delay="0"/>
                            </p:stCondLst>
                            <p:childTnLst>
                              <p:par>
                                <p:cTn id="776" nodeType="clickEffect" fill="hold" presetClass="entr" presetID="10">
                                  <p:stCondLst>
                                    <p:cond delay="0"/>
                                  </p:stCondLst>
                                  <p:childTnLst>
                                    <p:set>
                                      <p:cBhvr>
                                        <p:cTn id="777" dur="1" fill="hold">
                                          <p:stCondLst>
                                            <p:cond delay="0"/>
                                          </p:stCondLst>
                                        </p:cTn>
                                        <p:tgtEl>
                                          <p:spTgt spid="202"/>
                                        </p:tgtEl>
                                        <p:attrNameLst>
                                          <p:attrName>style.visibility</p:attrName>
                                        </p:attrNameLst>
                                      </p:cBhvr>
                                      <p:to>
                                        <p:strVal val="visible"/>
                                      </p:to>
                                    </p:set>
                                    <p:animEffect filter="fade" transition="in">
                                      <p:cBhvr additive="repl">
                                        <p:cTn id="778" dur="500"/>
                                        <p:tgtEl>
                                          <p:spTgt spid="202"/>
                                        </p:tgtEl>
                                      </p:cBhvr>
                                    </p:animEffect>
                                  </p:childTnLst>
                                </p:cTn>
                              </p:par>
                            </p:childTnLst>
                          </p:cTn>
                        </p:par>
                      </p:childTnLst>
                    </p:cTn>
                  </p:par>
                  <p:par>
                    <p:cTn id="779" nodeType="clickEffect" fill="hold">
                      <p:stCondLst>
                        <p:cond delay="indefinite"/>
                      </p:stCondLst>
                      <p:childTnLst>
                        <p:par>
                          <p:cTn id="780" nodeType="withEffect" fill="hold">
                            <p:stCondLst>
                              <p:cond delay="0"/>
                            </p:stCondLst>
                            <p:childTnLst>
                              <p:par>
                                <p:cTn id="781" nodeType="clickEffect" fill="hold" presetClass="entr" presetID="22" presetSubtype="8">
                                  <p:stCondLst>
                                    <p:cond delay="0"/>
                                  </p:stCondLst>
                                  <p:childTnLst>
                                    <p:set>
                                      <p:cBhvr>
                                        <p:cTn id="782" dur="1" fill="hold">
                                          <p:stCondLst>
                                            <p:cond delay="0"/>
                                          </p:stCondLst>
                                        </p:cTn>
                                        <p:tgtEl>
                                          <p:spTgt spid="203"/>
                                        </p:tgtEl>
                                        <p:attrNameLst>
                                          <p:attrName>style.visibility</p:attrName>
                                        </p:attrNameLst>
                                      </p:cBhvr>
                                      <p:to>
                                        <p:strVal val="visible"/>
                                      </p:to>
                                    </p:set>
                                    <p:animEffect filter="wipe(left)" transition="in">
                                      <p:cBhvr additive="repl">
                                        <p:cTn id="783" dur="1000"/>
                                        <p:tgtEl>
                                          <p:spTgt spid="203"/>
                                        </p:tgtEl>
                                      </p:cBhvr>
                                    </p:animEffect>
                                  </p:childTnLst>
                                </p:cTn>
                              </p:par>
                            </p:childTnLst>
                          </p:cTn>
                        </p:par>
                      </p:childTnLst>
                    </p:cTn>
                  </p:par>
                  <p:par>
                    <p:cTn id="784" nodeType="clickEffect" fill="hold">
                      <p:stCondLst>
                        <p:cond delay="indefinite"/>
                      </p:stCondLst>
                      <p:childTnLst>
                        <p:par>
                          <p:cTn id="785" nodeType="withEffect" fill="hold">
                            <p:stCondLst>
                              <p:cond delay="0"/>
                            </p:stCondLst>
                            <p:childTnLst>
                              <p:par>
                                <p:cTn id="786" nodeType="clickEffect" fill="hold" presetClass="entr" presetID="10">
                                  <p:stCondLst>
                                    <p:cond delay="0"/>
                                  </p:stCondLst>
                                  <p:childTnLst>
                                    <p:set>
                                      <p:cBhvr>
                                        <p:cTn id="787" dur="1" fill="hold">
                                          <p:stCondLst>
                                            <p:cond delay="0"/>
                                          </p:stCondLst>
                                        </p:cTn>
                                        <p:tgtEl>
                                          <p:spTgt spid="204"/>
                                        </p:tgtEl>
                                        <p:attrNameLst>
                                          <p:attrName>style.visibility</p:attrName>
                                        </p:attrNameLst>
                                      </p:cBhvr>
                                      <p:to>
                                        <p:strVal val="visible"/>
                                      </p:to>
                                    </p:set>
                                    <p:animEffect filter="fade" transition="in">
                                      <p:cBhvr additive="repl">
                                        <p:cTn id="788" dur="500"/>
                                        <p:tgtEl>
                                          <p:spTgt spid="2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206"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117360"/>
              </a:tabLst>
            </a:pPr>
            <a:r>
              <a:rPr b="0" lang="en-US" sz="2400" strike="noStrike" u="none">
                <a:solidFill>
                  <a:schemeClr val="dk1"/>
                </a:solidFill>
                <a:effectLst/>
                <a:uFillTx/>
                <a:latin typeface="Arial"/>
                <a:ea typeface="ＭＳ Ｐゴシック"/>
              </a:rPr>
              <a:t>Week 2: Airbus punishes Boeing and produces 4 planes.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117360"/>
              </a:tabLst>
            </a:pPr>
            <a:r>
              <a:rPr b="0" lang="en-US" sz="2400" strike="noStrike" u="none">
                <a:solidFill>
                  <a:schemeClr val="dk1"/>
                </a:solidFill>
                <a:effectLst/>
                <a:uFillTx/>
                <a:latin typeface="Arial"/>
                <a:ea typeface="ＭＳ Ｐゴシック"/>
              </a:rPr>
              <a:t>But Boeing must go back to producing 3 planes to induce Airbus to cooperate in week 3.</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117360"/>
              </a:tabLst>
            </a:pPr>
            <a:r>
              <a:rPr b="0" lang="en-US" sz="2400" strike="noStrike" u="none">
                <a:solidFill>
                  <a:schemeClr val="dk1"/>
                </a:solidFill>
                <a:effectLst/>
                <a:uFillTx/>
                <a:latin typeface="Arial"/>
                <a:ea typeface="ＭＳ Ｐゴシック"/>
              </a:rPr>
              <a:t>In week 2, Boeing’s profit falls to $30 million and Airbus’s profit increases to $40 million.</a:t>
            </a:r>
            <a:endParaRPr b="1" lang="en-CA" sz="2400" strike="noStrike" u="none">
              <a:solidFill>
                <a:srgbClr val="00468f"/>
              </a:solidFill>
              <a:effectLst/>
              <a:uFillTx/>
              <a:latin typeface="Arial"/>
            </a:endParaRPr>
          </a:p>
        </p:txBody>
      </p:sp>
      <p:pic>
        <p:nvPicPr>
          <p:cNvPr id="207" name="Picture 9" descr=""/>
          <p:cNvPicPr/>
          <p:nvPr/>
        </p:nvPicPr>
        <p:blipFill>
          <a:blip r:embed="rId1"/>
          <a:stretch/>
        </p:blipFill>
        <p:spPr>
          <a:xfrm>
            <a:off x="4859280" y="1511280"/>
            <a:ext cx="3414240" cy="2661840"/>
          </a:xfrm>
          <a:prstGeom prst="rect">
            <a:avLst/>
          </a:prstGeom>
          <a:noFill/>
          <a:ln w="0">
            <a:noFill/>
          </a:ln>
        </p:spPr>
      </p:pic>
      <p:pic>
        <p:nvPicPr>
          <p:cNvPr id="208" name="Picture 10" descr=""/>
          <p:cNvPicPr/>
          <p:nvPr/>
        </p:nvPicPr>
        <p:blipFill>
          <a:blip r:embed="rId2"/>
          <a:stretch/>
        </p:blipFill>
        <p:spPr>
          <a:xfrm>
            <a:off x="4859280" y="1511280"/>
            <a:ext cx="3414240" cy="2661840"/>
          </a:xfrm>
          <a:prstGeom prst="rect">
            <a:avLst/>
          </a:prstGeom>
          <a:noFill/>
          <a:ln w="0">
            <a:noFill/>
          </a:ln>
        </p:spPr>
      </p:pic>
      <p:pic>
        <p:nvPicPr>
          <p:cNvPr id="209" name="Picture 11" descr=""/>
          <p:cNvPicPr/>
          <p:nvPr/>
        </p:nvPicPr>
        <p:blipFill>
          <a:blip r:embed="rId3"/>
          <a:stretch/>
        </p:blipFill>
        <p:spPr>
          <a:xfrm>
            <a:off x="4859280" y="1511280"/>
            <a:ext cx="3414240" cy="2661840"/>
          </a:xfrm>
          <a:prstGeom prst="rect">
            <a:avLst/>
          </a:prstGeom>
          <a:noFill/>
          <a:ln w="0">
            <a:noFill/>
          </a:ln>
        </p:spPr>
      </p:pic>
      <p:pic>
        <p:nvPicPr>
          <p:cNvPr id="210" name="Picture 12" descr=""/>
          <p:cNvPicPr/>
          <p:nvPr/>
        </p:nvPicPr>
        <p:blipFill>
          <a:blip r:embed="rId4"/>
          <a:stretch/>
        </p:blipFill>
        <p:spPr>
          <a:xfrm>
            <a:off x="4859280" y="1511280"/>
            <a:ext cx="3414240" cy="2661840"/>
          </a:xfrm>
          <a:prstGeom prst="rect">
            <a:avLst/>
          </a:prstGeom>
          <a:noFill/>
          <a:ln w="0">
            <a:noFill/>
          </a:ln>
        </p:spPr>
      </p:pic>
      <p:pic>
        <p:nvPicPr>
          <p:cNvPr id="211" name="Picture 13" descr=""/>
          <p:cNvPicPr/>
          <p:nvPr/>
        </p:nvPicPr>
        <p:blipFill>
          <a:blip r:embed="rId5"/>
          <a:stretch/>
        </p:blipFill>
        <p:spPr>
          <a:xfrm>
            <a:off x="4859280" y="1511280"/>
            <a:ext cx="3414240" cy="2661840"/>
          </a:xfrm>
          <a:prstGeom prst="rect">
            <a:avLst/>
          </a:prstGeom>
          <a:noFill/>
          <a:ln w="0">
            <a:noFill/>
          </a:ln>
        </p:spPr>
      </p:pic>
    </p:spTree>
  </p:cSld>
  <p:transition spd="slow">
    <p:wipe dir="r"/>
  </p:transition>
  <p:timing>
    <p:tnLst>
      <p:par>
        <p:cTn id="789" dur="indefinite" restart="never" nodeType="tmRoot">
          <p:childTnLst>
            <p:seq>
              <p:cTn id="790" dur="indefinite" nodeType="mainSeq">
                <p:childTnLst>
                  <p:par>
                    <p:cTn id="791" nodeType="clickEffect" fill="hold">
                      <p:stCondLst>
                        <p:cond delay="0"/>
                      </p:stCondLst>
                      <p:childTnLst>
                        <p:par>
                          <p:cTn id="792" nodeType="withEffect" fill="hold">
                            <p:stCondLst>
                              <p:cond delay="0"/>
                            </p:stCondLst>
                            <p:childTnLst>
                              <p:par>
                                <p:cTn id="793" nodeType="withEffect" fill="hold" presetClass="entr" presetID="22" presetSubtype="8">
                                  <p:stCondLst>
                                    <p:cond delay="0"/>
                                  </p:stCondLst>
                                  <p:childTnLst>
                                    <p:set>
                                      <p:cBhvr>
                                        <p:cTn id="794" dur="1" fill="hold">
                                          <p:stCondLst>
                                            <p:cond delay="0"/>
                                          </p:stCondLst>
                                        </p:cTn>
                                        <p:tgtEl>
                                          <p:spTgt spid="210"/>
                                        </p:tgtEl>
                                        <p:attrNameLst>
                                          <p:attrName>style.visibility</p:attrName>
                                        </p:attrNameLst>
                                      </p:cBhvr>
                                      <p:to>
                                        <p:strVal val="visible"/>
                                      </p:to>
                                    </p:set>
                                    <p:animEffect filter="wipe(left)" transition="in">
                                      <p:cBhvr additive="repl">
                                        <p:cTn id="795" dur="1000"/>
                                        <p:tgtEl>
                                          <p:spTgt spid="210"/>
                                        </p:tgtEl>
                                      </p:cBhvr>
                                    </p:animEffect>
                                  </p:childTnLst>
                                </p:cTn>
                              </p:par>
                            </p:childTnLst>
                          </p:cTn>
                        </p:par>
                      </p:childTnLst>
                    </p:cTn>
                  </p:par>
                  <p:par>
                    <p:cTn id="796" nodeType="clickEffect" fill="hold">
                      <p:stCondLst>
                        <p:cond delay="indefinite"/>
                      </p:stCondLst>
                      <p:childTnLst>
                        <p:par>
                          <p:cTn id="797" nodeType="withEffect" fill="hold">
                            <p:stCondLst>
                              <p:cond delay="0"/>
                            </p:stCondLst>
                            <p:childTnLst>
                              <p:par>
                                <p:cTn id="798" nodeType="clickEffect" fill="hold" presetClass="entr" presetID="22" presetSubtype="8">
                                  <p:stCondLst>
                                    <p:cond delay="0"/>
                                  </p:stCondLst>
                                  <p:childTnLst>
                                    <p:set>
                                      <p:cBhvr>
                                        <p:cTn id="799" dur="1" fill="hold">
                                          <p:stCondLst>
                                            <p:cond delay="0"/>
                                          </p:stCondLst>
                                        </p:cTn>
                                        <p:tgtEl>
                                          <p:spTgt spid="206">
                                            <p:txEl>
                                              <p:pRg st="1" end="1"/>
                                            </p:txEl>
                                          </p:spTgt>
                                        </p:tgtEl>
                                        <p:attrNameLst>
                                          <p:attrName>style.visibility</p:attrName>
                                        </p:attrNameLst>
                                      </p:cBhvr>
                                      <p:to>
                                        <p:strVal val="visible"/>
                                      </p:to>
                                    </p:set>
                                    <p:animEffect filter="wipe(left)" transition="in">
                                      <p:cBhvr additive="repl">
                                        <p:cTn id="800" dur="500"/>
                                        <p:tgtEl>
                                          <p:spTgt spid="206">
                                            <p:txEl>
                                              <p:pRg st="1" end="1"/>
                                            </p:txEl>
                                          </p:spTgt>
                                        </p:tgtEl>
                                      </p:cBhvr>
                                    </p:animEffect>
                                  </p:childTnLst>
                                </p:cTn>
                              </p:par>
                            </p:childTnLst>
                          </p:cTn>
                        </p:par>
                      </p:childTnLst>
                    </p:cTn>
                  </p:par>
                  <p:par>
                    <p:cTn id="801" nodeType="clickEffect" fill="hold">
                      <p:stCondLst>
                        <p:cond delay="indefinite"/>
                      </p:stCondLst>
                      <p:childTnLst>
                        <p:par>
                          <p:cTn id="802" nodeType="withEffect" fill="hold">
                            <p:stCondLst>
                              <p:cond delay="0"/>
                            </p:stCondLst>
                            <p:childTnLst>
                              <p:par>
                                <p:cTn id="803" nodeType="clickEffect" fill="hold" presetClass="entr" presetID="22" presetSubtype="8">
                                  <p:stCondLst>
                                    <p:cond delay="0"/>
                                  </p:stCondLst>
                                  <p:childTnLst>
                                    <p:set>
                                      <p:cBhvr>
                                        <p:cTn id="804" dur="1" fill="hold">
                                          <p:stCondLst>
                                            <p:cond delay="0"/>
                                          </p:stCondLst>
                                        </p:cTn>
                                        <p:tgtEl>
                                          <p:spTgt spid="206">
                                            <p:txEl>
                                              <p:pRg st="2" end="2"/>
                                            </p:txEl>
                                          </p:spTgt>
                                        </p:tgtEl>
                                        <p:attrNameLst>
                                          <p:attrName>style.visibility</p:attrName>
                                        </p:attrNameLst>
                                      </p:cBhvr>
                                      <p:to>
                                        <p:strVal val="visible"/>
                                      </p:to>
                                    </p:set>
                                    <p:animEffect filter="wipe(left)" transition="in">
                                      <p:cBhvr additive="repl">
                                        <p:cTn id="805" dur="500"/>
                                        <p:tgtEl>
                                          <p:spTgt spid="206">
                                            <p:txEl>
                                              <p:pRg st="2" end="2"/>
                                            </p:txEl>
                                          </p:spTgt>
                                        </p:tgtEl>
                                      </p:cBhvr>
                                    </p:animEffect>
                                  </p:childTnLst>
                                </p:cTn>
                              </p:par>
                              <p:par>
                                <p:cTn id="806" nodeType="withEffect" fill="hold" presetClass="entr" presetID="10">
                                  <p:stCondLst>
                                    <p:cond delay="0"/>
                                  </p:stCondLst>
                                  <p:childTnLst>
                                    <p:set>
                                      <p:cBhvr>
                                        <p:cTn id="807" dur="1" fill="hold">
                                          <p:stCondLst>
                                            <p:cond delay="0"/>
                                          </p:stCondLst>
                                        </p:cTn>
                                        <p:tgtEl>
                                          <p:spTgt spid="211"/>
                                        </p:tgtEl>
                                        <p:attrNameLst>
                                          <p:attrName>style.visibility</p:attrName>
                                        </p:attrNameLst>
                                      </p:cBhvr>
                                      <p:to>
                                        <p:strVal val="visible"/>
                                      </p:to>
                                    </p:set>
                                    <p:animEffect filter="fade" transition="in">
                                      <p:cBhvr additive="repl">
                                        <p:cTn id="808" dur="500"/>
                                        <p:tgtEl>
                                          <p:spTgt spid="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213" name="PlaceHolder 2"/>
          <p:cNvSpPr>
            <a:spLocks noGrp="1"/>
          </p:cNvSpPr>
          <p:nvPr>
            <p:ph/>
          </p:nvPr>
        </p:nvSpPr>
        <p:spPr>
          <a:xfrm>
            <a:off x="360360" y="1440000"/>
            <a:ext cx="42112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Over the two-week period,</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Boeing’s profit would have been $72 million if it had cooperated, but it was only $70 million with Airbus’s tit-for-tat response.</a:t>
            </a:r>
            <a:endParaRPr b="1" lang="en-CA" sz="2400" strike="noStrike" u="none">
              <a:solidFill>
                <a:srgbClr val="00468f"/>
              </a:solidFill>
              <a:effectLst/>
              <a:uFillTx/>
              <a:latin typeface="Arial"/>
            </a:endParaRPr>
          </a:p>
        </p:txBody>
      </p:sp>
      <p:pic>
        <p:nvPicPr>
          <p:cNvPr id="214" name="Picture 9" descr=""/>
          <p:cNvPicPr/>
          <p:nvPr/>
        </p:nvPicPr>
        <p:blipFill>
          <a:blip r:embed="rId1"/>
          <a:stretch/>
        </p:blipFill>
        <p:spPr>
          <a:xfrm>
            <a:off x="4859280" y="1511280"/>
            <a:ext cx="3414240" cy="2661840"/>
          </a:xfrm>
          <a:prstGeom prst="rect">
            <a:avLst/>
          </a:prstGeom>
          <a:noFill/>
          <a:ln w="0">
            <a:noFill/>
          </a:ln>
        </p:spPr>
      </p:pic>
      <p:pic>
        <p:nvPicPr>
          <p:cNvPr id="215" name="Picture 10" descr=""/>
          <p:cNvPicPr/>
          <p:nvPr/>
        </p:nvPicPr>
        <p:blipFill>
          <a:blip r:embed="rId2"/>
          <a:stretch/>
        </p:blipFill>
        <p:spPr>
          <a:xfrm>
            <a:off x="4859280" y="1511280"/>
            <a:ext cx="3414240" cy="2661840"/>
          </a:xfrm>
          <a:prstGeom prst="rect">
            <a:avLst/>
          </a:prstGeom>
          <a:noFill/>
          <a:ln w="0">
            <a:noFill/>
          </a:ln>
        </p:spPr>
      </p:pic>
      <p:pic>
        <p:nvPicPr>
          <p:cNvPr id="216" name="Picture 11" descr=""/>
          <p:cNvPicPr/>
          <p:nvPr/>
        </p:nvPicPr>
        <p:blipFill>
          <a:blip r:embed="rId3"/>
          <a:stretch/>
        </p:blipFill>
        <p:spPr>
          <a:xfrm>
            <a:off x="4859280" y="1511280"/>
            <a:ext cx="3414240" cy="2661840"/>
          </a:xfrm>
          <a:prstGeom prst="rect">
            <a:avLst/>
          </a:prstGeom>
          <a:noFill/>
          <a:ln w="0">
            <a:noFill/>
          </a:ln>
        </p:spPr>
      </p:pic>
      <p:pic>
        <p:nvPicPr>
          <p:cNvPr id="217" name="Picture 12" descr=""/>
          <p:cNvPicPr/>
          <p:nvPr/>
        </p:nvPicPr>
        <p:blipFill>
          <a:blip r:embed="rId4"/>
          <a:stretch/>
        </p:blipFill>
        <p:spPr>
          <a:xfrm>
            <a:off x="4859280" y="1511280"/>
            <a:ext cx="3414240" cy="2661840"/>
          </a:xfrm>
          <a:prstGeom prst="rect">
            <a:avLst/>
          </a:prstGeom>
          <a:noFill/>
          <a:ln w="0">
            <a:noFill/>
          </a:ln>
        </p:spPr>
      </p:pic>
      <p:pic>
        <p:nvPicPr>
          <p:cNvPr id="218" name="Picture 13" descr=""/>
          <p:cNvPicPr/>
          <p:nvPr/>
        </p:nvPicPr>
        <p:blipFill>
          <a:blip r:embed="rId5"/>
          <a:stretch/>
        </p:blipFill>
        <p:spPr>
          <a:xfrm>
            <a:off x="4859280" y="1511280"/>
            <a:ext cx="3414240" cy="2661840"/>
          </a:xfrm>
          <a:prstGeom prst="rect">
            <a:avLst/>
          </a:prstGeom>
          <a:noFill/>
          <a:ln w="0">
            <a:noFill/>
          </a:ln>
        </p:spPr>
      </p:pic>
    </p:spTree>
  </p:cSld>
  <p:transition spd="slow">
    <p:wipe dir="r"/>
  </p:transition>
  <p:timing>
    <p:tnLst>
      <p:par>
        <p:cTn id="809" dur="indefinite" restart="never" nodeType="tmRoot">
          <p:childTnLst>
            <p:seq>
              <p:cTn id="810" dur="indefinite" nodeType="mainSeq">
                <p:childTnLst>
                  <p:par>
                    <p:cTn id="811" nodeType="clickEffect" fill="hold">
                      <p:stCondLst>
                        <p:cond delay="indefinite"/>
                      </p:stCondLst>
                      <p:childTnLst>
                        <p:par>
                          <p:cTn id="812" nodeType="withEffect" fill="hold">
                            <p:stCondLst>
                              <p:cond delay="0"/>
                            </p:stCondLst>
                            <p:childTnLst>
                              <p:par>
                                <p:cTn id="813" nodeType="clickEffect" fill="hold" presetClass="entr" presetID="22" presetSubtype="8">
                                  <p:stCondLst>
                                    <p:cond delay="0"/>
                                  </p:stCondLst>
                                  <p:childTnLst>
                                    <p:set>
                                      <p:cBhvr>
                                        <p:cTn id="814" dur="1" fill="hold">
                                          <p:stCondLst>
                                            <p:cond delay="0"/>
                                          </p:stCondLst>
                                        </p:cTn>
                                        <p:tgtEl>
                                          <p:spTgt spid="213">
                                            <p:txEl>
                                              <p:pRg st="1" end="1"/>
                                            </p:txEl>
                                          </p:spTgt>
                                        </p:tgtEl>
                                        <p:attrNameLst>
                                          <p:attrName>style.visibility</p:attrName>
                                        </p:attrNameLst>
                                      </p:cBhvr>
                                      <p:to>
                                        <p:strVal val="visible"/>
                                      </p:to>
                                    </p:set>
                                    <p:animEffect filter="wipe(left)" transition="in">
                                      <p:cBhvr additive="repl">
                                        <p:cTn id="815" dur="500"/>
                                        <p:tgtEl>
                                          <p:spTgt spid="213">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220"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In reality, whether a duopoly works like a one-play game or a repeated game depends on the number of players and the ease of detecting and punishing overproduction.</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larger the number of players, the harder it is to maintain the monopoly outcome.</a:t>
            </a:r>
            <a:endParaRPr b="1" lang="en-CA" sz="2400" strike="noStrike" u="none">
              <a:solidFill>
                <a:srgbClr val="00468f"/>
              </a:solidFill>
              <a:effectLst/>
              <a:uFillTx/>
              <a:latin typeface="Arial"/>
            </a:endParaRPr>
          </a:p>
        </p:txBody>
      </p:sp>
    </p:spTree>
  </p:cSld>
  <p:transition spd="slow">
    <p:wipe dir="r"/>
  </p:transition>
  <p:timing>
    <p:tnLst>
      <p:par>
        <p:cTn id="816" dur="indefinite" restart="never" nodeType="tmRoot">
          <p:childTnLst>
            <p:seq>
              <p:cTn id="817" dur="indefinite" nodeType="mainSeq">
                <p:childTnLst>
                  <p:par>
                    <p:cTn id="818" nodeType="clickEffect" fill="hold">
                      <p:stCondLst>
                        <p:cond delay="indefinite"/>
                      </p:stCondLst>
                      <p:childTnLst>
                        <p:par>
                          <p:cTn id="819" nodeType="withEffect" fill="hold">
                            <p:stCondLst>
                              <p:cond delay="0"/>
                            </p:stCondLst>
                            <p:childTnLst>
                              <p:par>
                                <p:cTn id="820" nodeType="clickEffect" fill="hold" presetClass="entr" presetID="22" presetSubtype="8">
                                  <p:stCondLst>
                                    <p:cond delay="0"/>
                                  </p:stCondLst>
                                  <p:childTnLst>
                                    <p:set>
                                      <p:cBhvr>
                                        <p:cTn id="821" dur="1" fill="hold">
                                          <p:stCondLst>
                                            <p:cond delay="0"/>
                                          </p:stCondLst>
                                        </p:cTn>
                                        <p:tgtEl>
                                          <p:spTgt spid="220">
                                            <p:txEl>
                                              <p:pRg st="1" end="1"/>
                                            </p:txEl>
                                          </p:spTgt>
                                        </p:tgtEl>
                                        <p:attrNameLst>
                                          <p:attrName>style.visibility</p:attrName>
                                        </p:attrNameLst>
                                      </p:cBhvr>
                                      <p:to>
                                        <p:strVal val="visible"/>
                                      </p:to>
                                    </p:set>
                                    <p:animEffect filter="wipe(left)" transition="in">
                                      <p:cBhvr additive="repl">
                                        <p:cTn id="822" dur="500"/>
                                        <p:tgtEl>
                                          <p:spTgt spid="220">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18.3  GAME THEORY</a:t>
            </a:r>
            <a:endParaRPr b="0" lang="en-CA" sz="2600" strike="noStrike" u="none">
              <a:solidFill>
                <a:schemeClr val="dk1"/>
              </a:solidFill>
              <a:effectLst/>
              <a:uFillTx/>
              <a:latin typeface="Arial"/>
            </a:endParaRPr>
          </a:p>
        </p:txBody>
      </p:sp>
      <p:sp>
        <p:nvSpPr>
          <p:cNvPr id="222"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Is Oligopoly Efficient?</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In oligopoly, price usually exceeds marginal cost.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So the quantity produced is less than the efficient quantity.</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Oligopoly suffers from the same source and type of inefficiency as monopoly.</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Because oligopoly is inefficient, antitrust laws and regulations are used to try to reduce market power and move the outcome closer to that of competition and efficiency.</a:t>
            </a:r>
            <a:endParaRPr b="1" lang="en-CA" sz="2400" strike="noStrike" u="none">
              <a:solidFill>
                <a:srgbClr val="00468f"/>
              </a:solidFill>
              <a:effectLst/>
              <a:uFillTx/>
              <a:latin typeface="Arial"/>
            </a:endParaRPr>
          </a:p>
        </p:txBody>
      </p:sp>
    </p:spTree>
  </p:cSld>
  <p:transition spd="slow">
    <p:wipe dir="r"/>
  </p:transition>
  <p:timing>
    <p:tnLst>
      <p:par>
        <p:cTn id="823" dur="indefinite" restart="never" nodeType="tmRoot">
          <p:childTnLst>
            <p:seq>
              <p:cTn id="824" dur="indefinite" nodeType="mainSeq">
                <p:childTnLst>
                  <p:par>
                    <p:cTn id="825" nodeType="clickEffect" fill="hold">
                      <p:stCondLst>
                        <p:cond delay="indefinite"/>
                      </p:stCondLst>
                      <p:childTnLst>
                        <p:par>
                          <p:cTn id="826" nodeType="withEffect" fill="hold">
                            <p:stCondLst>
                              <p:cond delay="0"/>
                            </p:stCondLst>
                            <p:childTnLst>
                              <p:par>
                                <p:cTn id="827" nodeType="clickEffect" fill="hold" presetClass="entr" presetID="22" presetSubtype="8">
                                  <p:stCondLst>
                                    <p:cond delay="0"/>
                                  </p:stCondLst>
                                  <p:childTnLst>
                                    <p:set>
                                      <p:cBhvr>
                                        <p:cTn id="828" dur="1" fill="hold">
                                          <p:stCondLst>
                                            <p:cond delay="0"/>
                                          </p:stCondLst>
                                        </p:cTn>
                                        <p:tgtEl>
                                          <p:spTgt spid="222">
                                            <p:txEl>
                                              <p:pRg st="1" end="1"/>
                                            </p:txEl>
                                          </p:spTgt>
                                        </p:tgtEl>
                                        <p:attrNameLst>
                                          <p:attrName>style.visibility</p:attrName>
                                        </p:attrNameLst>
                                      </p:cBhvr>
                                      <p:to>
                                        <p:strVal val="visible"/>
                                      </p:to>
                                    </p:set>
                                    <p:animEffect filter="wipe(left)" transition="in">
                                      <p:cBhvr additive="repl">
                                        <p:cTn id="829" dur="500"/>
                                        <p:tgtEl>
                                          <p:spTgt spid="222">
                                            <p:txEl>
                                              <p:pRg st="1" end="1"/>
                                            </p:txEl>
                                          </p:spTgt>
                                        </p:tgtEl>
                                      </p:cBhvr>
                                    </p:animEffect>
                                  </p:childTnLst>
                                </p:cTn>
                              </p:par>
                            </p:childTnLst>
                          </p:cTn>
                        </p:par>
                      </p:childTnLst>
                    </p:cTn>
                  </p:par>
                  <p:par>
                    <p:cTn id="830" nodeType="clickEffect" fill="hold">
                      <p:stCondLst>
                        <p:cond delay="indefinite"/>
                      </p:stCondLst>
                      <p:childTnLst>
                        <p:par>
                          <p:cTn id="831" nodeType="withEffect" fill="hold">
                            <p:stCondLst>
                              <p:cond delay="0"/>
                            </p:stCondLst>
                            <p:childTnLst>
                              <p:par>
                                <p:cTn id="832" nodeType="clickEffect" fill="hold" presetClass="entr" presetID="22" presetSubtype="8">
                                  <p:stCondLst>
                                    <p:cond delay="0"/>
                                  </p:stCondLst>
                                  <p:childTnLst>
                                    <p:set>
                                      <p:cBhvr>
                                        <p:cTn id="833" dur="1" fill="hold">
                                          <p:stCondLst>
                                            <p:cond delay="0"/>
                                          </p:stCondLst>
                                        </p:cTn>
                                        <p:tgtEl>
                                          <p:spTgt spid="222">
                                            <p:txEl>
                                              <p:pRg st="2" end="2"/>
                                            </p:txEl>
                                          </p:spTgt>
                                        </p:tgtEl>
                                        <p:attrNameLst>
                                          <p:attrName>style.visibility</p:attrName>
                                        </p:attrNameLst>
                                      </p:cBhvr>
                                      <p:to>
                                        <p:strVal val="visible"/>
                                      </p:to>
                                    </p:set>
                                    <p:animEffect filter="wipe(left)" transition="in">
                                      <p:cBhvr additive="repl">
                                        <p:cTn id="834" dur="500"/>
                                        <p:tgtEl>
                                          <p:spTgt spid="222">
                                            <p:txEl>
                                              <p:pRg st="2" end="2"/>
                                            </p:txEl>
                                          </p:spTgt>
                                        </p:tgtEl>
                                      </p:cBhvr>
                                    </p:animEffect>
                                  </p:childTnLst>
                                </p:cTn>
                              </p:par>
                            </p:childTnLst>
                          </p:cTn>
                        </p:par>
                      </p:childTnLst>
                    </p:cTn>
                  </p:par>
                  <p:par>
                    <p:cTn id="835" nodeType="clickEffect" fill="hold">
                      <p:stCondLst>
                        <p:cond delay="indefinite"/>
                      </p:stCondLst>
                      <p:childTnLst>
                        <p:par>
                          <p:cTn id="836" nodeType="withEffect" fill="hold">
                            <p:stCondLst>
                              <p:cond delay="0"/>
                            </p:stCondLst>
                            <p:childTnLst>
                              <p:par>
                                <p:cTn id="837" nodeType="clickEffect" fill="hold" presetClass="entr" presetID="22" presetSubtype="8">
                                  <p:stCondLst>
                                    <p:cond delay="0"/>
                                  </p:stCondLst>
                                  <p:childTnLst>
                                    <p:set>
                                      <p:cBhvr>
                                        <p:cTn id="838" dur="1" fill="hold">
                                          <p:stCondLst>
                                            <p:cond delay="0"/>
                                          </p:stCondLst>
                                        </p:cTn>
                                        <p:tgtEl>
                                          <p:spTgt spid="222">
                                            <p:txEl>
                                              <p:pRg st="3" end="3"/>
                                            </p:txEl>
                                          </p:spTgt>
                                        </p:tgtEl>
                                        <p:attrNameLst>
                                          <p:attrName>style.visibility</p:attrName>
                                        </p:attrNameLst>
                                      </p:cBhvr>
                                      <p:to>
                                        <p:strVal val="visible"/>
                                      </p:to>
                                    </p:set>
                                    <p:animEffect filter="wipe(left)" transition="in">
                                      <p:cBhvr additive="repl">
                                        <p:cTn id="839" dur="500"/>
                                        <p:tgtEl>
                                          <p:spTgt spid="222">
                                            <p:txEl>
                                              <p:pRg st="3" end="3"/>
                                            </p:txEl>
                                          </p:spTgt>
                                        </p:tgtEl>
                                      </p:cBhvr>
                                    </p:animEffect>
                                  </p:childTnLst>
                                </p:cTn>
                              </p:par>
                            </p:childTnLst>
                          </p:cTn>
                        </p:par>
                      </p:childTnLst>
                    </p:cTn>
                  </p:par>
                  <p:par>
                    <p:cTn id="840" nodeType="clickEffect" fill="hold">
                      <p:stCondLst>
                        <p:cond delay="indefinite"/>
                      </p:stCondLst>
                      <p:childTnLst>
                        <p:par>
                          <p:cTn id="841" nodeType="withEffect" fill="hold">
                            <p:stCondLst>
                              <p:cond delay="0"/>
                            </p:stCondLst>
                            <p:childTnLst>
                              <p:par>
                                <p:cTn id="842" nodeType="clickEffect" fill="hold" presetClass="entr" presetID="22" presetSubtype="8">
                                  <p:stCondLst>
                                    <p:cond delay="0"/>
                                  </p:stCondLst>
                                  <p:childTnLst>
                                    <p:set>
                                      <p:cBhvr>
                                        <p:cTn id="843" dur="1" fill="hold">
                                          <p:stCondLst>
                                            <p:cond delay="0"/>
                                          </p:stCondLst>
                                        </p:cTn>
                                        <p:tgtEl>
                                          <p:spTgt spid="222">
                                            <p:txEl>
                                              <p:pRg st="4" end="4"/>
                                            </p:txEl>
                                          </p:spTgt>
                                        </p:tgtEl>
                                        <p:attrNameLst>
                                          <p:attrName>style.visibility</p:attrName>
                                        </p:attrNameLst>
                                      </p:cBhvr>
                                      <p:to>
                                        <p:strVal val="visible"/>
                                      </p:to>
                                    </p:set>
                                    <p:animEffect filter="wipe(left)" transition="in">
                                      <p:cBhvr additive="repl">
                                        <p:cTn id="844" dur="500"/>
                                        <p:tgtEl>
                                          <p:spTgt spid="222">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18.4  ANTITRUST LAWS</a:t>
            </a:r>
            <a:endParaRPr b="0" lang="en-CA" sz="2600" strike="noStrike" u="none">
              <a:solidFill>
                <a:schemeClr val="dk1"/>
              </a:solidFill>
              <a:effectLst/>
              <a:uFillTx/>
              <a:latin typeface="Arial"/>
            </a:endParaRPr>
          </a:p>
        </p:txBody>
      </p:sp>
      <p:sp>
        <p:nvSpPr>
          <p:cNvPr id="224"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CA" sz="2400" strike="noStrike" u="none">
                <a:solidFill>
                  <a:srgbClr val="ff0000"/>
                </a:solidFill>
                <a:effectLst/>
                <a:uFillTx/>
                <a:latin typeface="Arial"/>
                <a:ea typeface="MS Mincho"/>
              </a:rPr>
              <a:t>Antitrust </a:t>
            </a:r>
            <a:r>
              <a:rPr b="1" lang="en-US" sz="2400" strike="noStrike" u="none">
                <a:solidFill>
                  <a:srgbClr val="ff0000"/>
                </a:solidFill>
                <a:effectLst/>
                <a:uFillTx/>
                <a:latin typeface="Arial"/>
                <a:ea typeface="MS Mincho"/>
              </a:rPr>
              <a:t>law </a:t>
            </a:r>
            <a:r>
              <a:rPr b="0" lang="en-US" sz="2400" strike="noStrike" u="none">
                <a:solidFill>
                  <a:schemeClr val="dk1"/>
                </a:solidFill>
                <a:effectLst/>
                <a:uFillTx/>
                <a:latin typeface="Arial"/>
                <a:ea typeface="MS Mincho"/>
              </a:rPr>
              <a:t>is the body of law that regulates and prohibits certain kinds of market behavior, such as monopoly and monopolistic practices.</a:t>
            </a:r>
            <a:endParaRPr b="1" lang="en-CA" sz="2400" strike="noStrike" u="none">
              <a:solidFill>
                <a:srgbClr val="00468f"/>
              </a:solidFill>
              <a:effectLst/>
              <a:uFillTx/>
              <a:latin typeface="Arial"/>
            </a:endParaRPr>
          </a:p>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MS Mincho"/>
              </a:rPr>
              <a:t>The</a:t>
            </a:r>
            <a:r>
              <a:rPr b="0" lang="en-US" sz="2800" strike="noStrike" u="none">
                <a:solidFill>
                  <a:srgbClr val="00468f"/>
                </a:solidFill>
                <a:effectLst/>
                <a:uFillTx/>
                <a:latin typeface="Arial"/>
                <a:ea typeface="MS Mincho"/>
              </a:rPr>
              <a:t> </a:t>
            </a:r>
            <a:r>
              <a:rPr b="1" lang="en-US" sz="2800" strike="noStrike" u="none">
                <a:solidFill>
                  <a:srgbClr val="00468f"/>
                </a:solidFill>
                <a:effectLst/>
                <a:uFillTx/>
                <a:latin typeface="Arial"/>
                <a:ea typeface="MS Mincho"/>
              </a:rPr>
              <a:t>Antitrust Laws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MS Mincho"/>
              </a:rPr>
              <a:t>The first antitrust law, the Sherman Act, passed in 1890.</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MS Mincho"/>
              </a:rPr>
              <a:t>The Clayton Act of 1914 supplemented the Sherman Act.</a:t>
            </a:r>
            <a:endParaRPr b="1" lang="en-CA" sz="2400" strike="noStrike" u="none">
              <a:solidFill>
                <a:srgbClr val="00468f"/>
              </a:solidFill>
              <a:effectLst/>
              <a:uFillTx/>
              <a:latin typeface="Arial"/>
            </a:endParaRPr>
          </a:p>
        </p:txBody>
      </p:sp>
    </p:spTree>
  </p:cSld>
  <p:transition spd="slow">
    <p:wipe dir="r"/>
  </p:transition>
  <p:timing>
    <p:tnLst>
      <p:par>
        <p:cTn id="845" dur="indefinite" restart="never" nodeType="tmRoot">
          <p:childTnLst>
            <p:seq>
              <p:cTn id="846" dur="indefinite" nodeType="mainSeq">
                <p:childTnLst>
                  <p:par>
                    <p:cTn id="847" nodeType="clickEffect" fill="hold">
                      <p:stCondLst>
                        <p:cond delay="indefinite"/>
                      </p:stCondLst>
                      <p:childTnLst>
                        <p:par>
                          <p:cTn id="848" nodeType="withEffect" fill="hold">
                            <p:stCondLst>
                              <p:cond delay="0"/>
                            </p:stCondLst>
                            <p:childTnLst>
                              <p:par>
                                <p:cTn id="849" nodeType="clickEffect" fill="hold" presetClass="entr" presetID="22" presetSubtype="8">
                                  <p:stCondLst>
                                    <p:cond delay="0"/>
                                  </p:stCondLst>
                                  <p:childTnLst>
                                    <p:set>
                                      <p:cBhvr>
                                        <p:cTn id="850" dur="1" fill="hold">
                                          <p:stCondLst>
                                            <p:cond delay="0"/>
                                          </p:stCondLst>
                                        </p:cTn>
                                        <p:tgtEl>
                                          <p:spTgt spid="224">
                                            <p:txEl>
                                              <p:pRg st="1" end="1"/>
                                            </p:txEl>
                                          </p:spTgt>
                                        </p:tgtEl>
                                        <p:attrNameLst>
                                          <p:attrName>style.visibility</p:attrName>
                                        </p:attrNameLst>
                                      </p:cBhvr>
                                      <p:to>
                                        <p:strVal val="visible"/>
                                      </p:to>
                                    </p:set>
                                    <p:animEffect filter="wipe(left)" transition="in">
                                      <p:cBhvr additive="repl">
                                        <p:cTn id="851" dur="500"/>
                                        <p:tgtEl>
                                          <p:spTgt spid="224">
                                            <p:txEl>
                                              <p:pRg st="1" end="1"/>
                                            </p:txEl>
                                          </p:spTgt>
                                        </p:tgtEl>
                                      </p:cBhvr>
                                    </p:animEffect>
                                  </p:childTnLst>
                                </p:cTn>
                              </p:par>
                            </p:childTnLst>
                          </p:cTn>
                        </p:par>
                      </p:childTnLst>
                    </p:cTn>
                  </p:par>
                  <p:par>
                    <p:cTn id="852" nodeType="clickEffect" fill="hold">
                      <p:stCondLst>
                        <p:cond delay="indefinite"/>
                      </p:stCondLst>
                      <p:childTnLst>
                        <p:par>
                          <p:cTn id="853" nodeType="withEffect" fill="hold">
                            <p:stCondLst>
                              <p:cond delay="0"/>
                            </p:stCondLst>
                            <p:childTnLst>
                              <p:par>
                                <p:cTn id="854" nodeType="clickEffect" fill="hold" presetClass="entr" presetID="22" presetSubtype="8">
                                  <p:stCondLst>
                                    <p:cond delay="0"/>
                                  </p:stCondLst>
                                  <p:childTnLst>
                                    <p:set>
                                      <p:cBhvr>
                                        <p:cTn id="855" dur="1" fill="hold">
                                          <p:stCondLst>
                                            <p:cond delay="0"/>
                                          </p:stCondLst>
                                        </p:cTn>
                                        <p:tgtEl>
                                          <p:spTgt spid="224">
                                            <p:txEl>
                                              <p:pRg st="2" end="2"/>
                                            </p:txEl>
                                          </p:spTgt>
                                        </p:tgtEl>
                                        <p:attrNameLst>
                                          <p:attrName>style.visibility</p:attrName>
                                        </p:attrNameLst>
                                      </p:cBhvr>
                                      <p:to>
                                        <p:strVal val="visible"/>
                                      </p:to>
                                    </p:set>
                                    <p:animEffect filter="wipe(left)" transition="in">
                                      <p:cBhvr additive="repl">
                                        <p:cTn id="856" dur="500"/>
                                        <p:tgtEl>
                                          <p:spTgt spid="224">
                                            <p:txEl>
                                              <p:pRg st="2" end="2"/>
                                            </p:txEl>
                                          </p:spTgt>
                                        </p:tgtEl>
                                      </p:cBhvr>
                                    </p:animEffect>
                                  </p:childTnLst>
                                </p:cTn>
                              </p:par>
                            </p:childTnLst>
                          </p:cTn>
                        </p:par>
                      </p:childTnLst>
                    </p:cTn>
                  </p:par>
                  <p:par>
                    <p:cTn id="857" nodeType="clickEffect" fill="hold">
                      <p:stCondLst>
                        <p:cond delay="indefinite"/>
                      </p:stCondLst>
                      <p:childTnLst>
                        <p:par>
                          <p:cTn id="858" nodeType="withEffect" fill="hold">
                            <p:stCondLst>
                              <p:cond delay="0"/>
                            </p:stCondLst>
                            <p:childTnLst>
                              <p:par>
                                <p:cTn id="859" nodeType="clickEffect" fill="hold" presetClass="entr" presetID="22" presetSubtype="8">
                                  <p:stCondLst>
                                    <p:cond delay="0"/>
                                  </p:stCondLst>
                                  <p:childTnLst>
                                    <p:set>
                                      <p:cBhvr>
                                        <p:cTn id="860" dur="1" fill="hold">
                                          <p:stCondLst>
                                            <p:cond delay="0"/>
                                          </p:stCondLst>
                                        </p:cTn>
                                        <p:tgtEl>
                                          <p:spTgt spid="224">
                                            <p:txEl>
                                              <p:pRg st="3" end="3"/>
                                            </p:txEl>
                                          </p:spTgt>
                                        </p:tgtEl>
                                        <p:attrNameLst>
                                          <p:attrName>style.visibility</p:attrName>
                                        </p:attrNameLst>
                                      </p:cBhvr>
                                      <p:to>
                                        <p:strVal val="visible"/>
                                      </p:to>
                                    </p:set>
                                    <p:animEffect filter="wipe(left)" transition="in">
                                      <p:cBhvr additive="repl">
                                        <p:cTn id="861" dur="500"/>
                                        <p:tgtEl>
                                          <p:spTgt spid="224">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18.4  ANTITRUST LAWS</a:t>
            </a:r>
            <a:endParaRPr b="0" lang="en-CA" sz="2600" strike="noStrike" u="none">
              <a:solidFill>
                <a:schemeClr val="dk1"/>
              </a:solidFill>
              <a:effectLst/>
              <a:uFillTx/>
              <a:latin typeface="Arial"/>
            </a:endParaRPr>
          </a:p>
        </p:txBody>
      </p:sp>
      <p:sp>
        <p:nvSpPr>
          <p:cNvPr id="226" name="Rectangle 4"/>
          <p:cNvSpPr/>
          <p:nvPr/>
        </p:nvSpPr>
        <p:spPr>
          <a:xfrm>
            <a:off x="380880" y="1752480"/>
            <a:ext cx="8229240" cy="685440"/>
          </a:xfrm>
          <a:prstGeom prst="rect">
            <a:avLst/>
          </a:prstGeom>
          <a:solidFill>
            <a:schemeClr val="bg1"/>
          </a:solidFill>
          <a:ln w="0">
            <a:noFill/>
          </a:ln>
        </p:spPr>
        <p:style>
          <a:lnRef idx="0"/>
          <a:fillRef idx="0"/>
          <a:effectRef idx="0"/>
          <a:fontRef idx="minor"/>
        </p:style>
        <p:txBody>
          <a:bodyPr wrap="none" lIns="90000" rIns="90000" tIns="45000" bIns="45000" anchor="ctr">
            <a:noAutofit/>
          </a:bodyPr>
          <a:p>
            <a:pPr>
              <a:lnSpc>
                <a:spcPct val="100000"/>
              </a:lnSpc>
            </a:pPr>
            <a:endParaRPr b="0" lang="en-US" sz="2400" strike="noStrike" u="none">
              <a:solidFill>
                <a:schemeClr val="dk1"/>
              </a:solidFill>
              <a:effectLst/>
              <a:uFillTx/>
              <a:latin typeface="Arial"/>
              <a:ea typeface="ＭＳ Ｐゴシック"/>
            </a:endParaRPr>
          </a:p>
        </p:txBody>
      </p:sp>
      <p:pic>
        <p:nvPicPr>
          <p:cNvPr id="227" name="Picture 1" descr=""/>
          <p:cNvPicPr/>
          <p:nvPr/>
        </p:nvPicPr>
        <p:blipFill>
          <a:blip r:embed="rId1"/>
          <a:stretch/>
        </p:blipFill>
        <p:spPr>
          <a:xfrm>
            <a:off x="971640" y="1260360"/>
            <a:ext cx="7149600" cy="3492000"/>
          </a:xfrm>
          <a:prstGeom prst="rect">
            <a:avLst/>
          </a:prstGeom>
          <a:noFill/>
          <a:ln w="0">
            <a:noFill/>
          </a:ln>
        </p:spPr>
      </p:pic>
    </p:spTree>
  </p:cSld>
  <p:transition spd="slow">
    <p:wipe dir="r"/>
  </p:transition>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18.4  ANTITRUST LAWS</a:t>
            </a:r>
            <a:endParaRPr b="0" lang="en-CA" sz="2600" strike="noStrike" u="none">
              <a:solidFill>
                <a:schemeClr val="dk1"/>
              </a:solidFill>
              <a:effectLst/>
              <a:uFillTx/>
              <a:latin typeface="Arial"/>
            </a:endParaRPr>
          </a:p>
        </p:txBody>
      </p:sp>
      <p:pic>
        <p:nvPicPr>
          <p:cNvPr id="229" name="Picture 1" descr=""/>
          <p:cNvPicPr/>
          <p:nvPr/>
        </p:nvPicPr>
        <p:blipFill>
          <a:blip r:embed="rId1"/>
          <a:stretch/>
        </p:blipFill>
        <p:spPr>
          <a:xfrm>
            <a:off x="971640" y="1260360"/>
            <a:ext cx="7149600" cy="5168520"/>
          </a:xfrm>
          <a:prstGeom prst="rect">
            <a:avLst/>
          </a:prstGeom>
          <a:noFill/>
          <a:ln w="0">
            <a:noFill/>
          </a:ln>
        </p:spPr>
      </p:pic>
    </p:spTree>
  </p:cSld>
  <p:transition spd="slow">
    <p:wipe dir="r"/>
  </p:transition>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18.4  ANTITRUST LAWS</a:t>
            </a:r>
            <a:endParaRPr b="0" lang="en-CA" sz="2600" strike="noStrike" u="none">
              <a:solidFill>
                <a:schemeClr val="dk1"/>
              </a:solidFill>
              <a:effectLst/>
              <a:uFillTx/>
              <a:latin typeface="Arial"/>
            </a:endParaRPr>
          </a:p>
        </p:txBody>
      </p:sp>
      <p:sp>
        <p:nvSpPr>
          <p:cNvPr id="23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Three Antitrust Policy Debates</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Price fixing is </a:t>
            </a:r>
            <a:r>
              <a:rPr b="0" i="1" lang="en-US" sz="2400" strike="noStrike" u="none">
                <a:solidFill>
                  <a:schemeClr val="dk1"/>
                </a:solidFill>
                <a:effectLst/>
                <a:uFillTx/>
                <a:latin typeface="Arial"/>
                <a:ea typeface="ＭＳ Ｐゴシック"/>
              </a:rPr>
              <a:t>always</a:t>
            </a:r>
            <a:r>
              <a:rPr b="0" lang="en-US" sz="2400" strike="noStrike" u="none">
                <a:solidFill>
                  <a:schemeClr val="dk1"/>
                </a:solidFill>
                <a:effectLst/>
                <a:uFillTx/>
                <a:latin typeface="Arial"/>
                <a:ea typeface="ＭＳ Ｐゴシック"/>
              </a:rPr>
              <a:t> a violation of the antitrust law.</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Some other practices are more controversial and generate debate.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Three of these practices are</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Resale price maintenance</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Predatory pricing</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Tying arrangements</a:t>
            </a:r>
            <a:endParaRPr b="0" lang="en-CA" sz="2400" strike="noStrike" u="none">
              <a:solidFill>
                <a:schemeClr val="dk1"/>
              </a:solidFill>
              <a:effectLst/>
              <a:uFillTx/>
              <a:latin typeface="Arial"/>
            </a:endParaRPr>
          </a:p>
        </p:txBody>
      </p:sp>
    </p:spTree>
  </p:cSld>
  <p:transition spd="slow">
    <p:wipe dir="r"/>
  </p:transition>
  <p:timing>
    <p:tnLst>
      <p:par>
        <p:cTn id="862" dur="indefinite" restart="never" nodeType="tmRoot">
          <p:childTnLst>
            <p:seq>
              <p:cTn id="863" dur="indefinite" nodeType="mainSeq">
                <p:childTnLst>
                  <p:par>
                    <p:cTn id="864" nodeType="clickEffect" fill="hold">
                      <p:stCondLst>
                        <p:cond delay="indefinite"/>
                      </p:stCondLst>
                      <p:childTnLst>
                        <p:par>
                          <p:cTn id="865" nodeType="withEffect" fill="hold">
                            <p:stCondLst>
                              <p:cond delay="0"/>
                            </p:stCondLst>
                            <p:childTnLst>
                              <p:par>
                                <p:cTn id="866" nodeType="clickEffect" fill="hold" presetClass="entr" presetID="22" presetSubtype="8">
                                  <p:stCondLst>
                                    <p:cond delay="0"/>
                                  </p:stCondLst>
                                  <p:childTnLst>
                                    <p:set>
                                      <p:cBhvr>
                                        <p:cTn id="867" dur="1" fill="hold">
                                          <p:stCondLst>
                                            <p:cond delay="0"/>
                                          </p:stCondLst>
                                        </p:cTn>
                                        <p:tgtEl>
                                          <p:spTgt spid="231">
                                            <p:txEl>
                                              <p:pRg st="1" end="1"/>
                                            </p:txEl>
                                          </p:spTgt>
                                        </p:tgtEl>
                                        <p:attrNameLst>
                                          <p:attrName>style.visibility</p:attrName>
                                        </p:attrNameLst>
                                      </p:cBhvr>
                                      <p:to>
                                        <p:strVal val="visible"/>
                                      </p:to>
                                    </p:set>
                                    <p:animEffect filter="wipe(left)" transition="in">
                                      <p:cBhvr additive="repl">
                                        <p:cTn id="868" dur="500"/>
                                        <p:tgtEl>
                                          <p:spTgt spid="231">
                                            <p:txEl>
                                              <p:pRg st="1" end="1"/>
                                            </p:txEl>
                                          </p:spTgt>
                                        </p:tgtEl>
                                      </p:cBhvr>
                                    </p:animEffect>
                                  </p:childTnLst>
                                </p:cTn>
                              </p:par>
                            </p:childTnLst>
                          </p:cTn>
                        </p:par>
                      </p:childTnLst>
                    </p:cTn>
                  </p:par>
                  <p:par>
                    <p:cTn id="869" nodeType="clickEffect" fill="hold">
                      <p:stCondLst>
                        <p:cond delay="indefinite"/>
                      </p:stCondLst>
                      <p:childTnLst>
                        <p:par>
                          <p:cTn id="870" nodeType="withEffect" fill="hold">
                            <p:stCondLst>
                              <p:cond delay="0"/>
                            </p:stCondLst>
                            <p:childTnLst>
                              <p:par>
                                <p:cTn id="871" nodeType="clickEffect" fill="hold" presetClass="entr" presetID="22" presetSubtype="8">
                                  <p:stCondLst>
                                    <p:cond delay="0"/>
                                  </p:stCondLst>
                                  <p:childTnLst>
                                    <p:set>
                                      <p:cBhvr>
                                        <p:cTn id="872" dur="1" fill="hold">
                                          <p:stCondLst>
                                            <p:cond delay="0"/>
                                          </p:stCondLst>
                                        </p:cTn>
                                        <p:tgtEl>
                                          <p:spTgt spid="231">
                                            <p:txEl>
                                              <p:pRg st="2" end="2"/>
                                            </p:txEl>
                                          </p:spTgt>
                                        </p:tgtEl>
                                        <p:attrNameLst>
                                          <p:attrName>style.visibility</p:attrName>
                                        </p:attrNameLst>
                                      </p:cBhvr>
                                      <p:to>
                                        <p:strVal val="visible"/>
                                      </p:to>
                                    </p:set>
                                    <p:animEffect filter="wipe(left)" transition="in">
                                      <p:cBhvr additive="repl">
                                        <p:cTn id="873" dur="500"/>
                                        <p:tgtEl>
                                          <p:spTgt spid="231">
                                            <p:txEl>
                                              <p:pRg st="2" end="2"/>
                                            </p:txEl>
                                          </p:spTgt>
                                        </p:tgtEl>
                                      </p:cBhvr>
                                    </p:animEffect>
                                  </p:childTnLst>
                                </p:cTn>
                              </p:par>
                            </p:childTnLst>
                          </p:cTn>
                        </p:par>
                      </p:childTnLst>
                    </p:cTn>
                  </p:par>
                  <p:par>
                    <p:cTn id="874" nodeType="clickEffect" fill="hold">
                      <p:stCondLst>
                        <p:cond delay="indefinite"/>
                      </p:stCondLst>
                      <p:childTnLst>
                        <p:par>
                          <p:cTn id="875" nodeType="withEffect" fill="hold">
                            <p:stCondLst>
                              <p:cond delay="0"/>
                            </p:stCondLst>
                            <p:childTnLst>
                              <p:par>
                                <p:cTn id="876" nodeType="clickEffect" fill="hold" presetClass="entr" presetID="22" presetSubtype="8">
                                  <p:stCondLst>
                                    <p:cond delay="0"/>
                                  </p:stCondLst>
                                  <p:childTnLst>
                                    <p:set>
                                      <p:cBhvr>
                                        <p:cTn id="877" dur="1" fill="hold">
                                          <p:stCondLst>
                                            <p:cond delay="0"/>
                                          </p:stCondLst>
                                        </p:cTn>
                                        <p:tgtEl>
                                          <p:spTgt spid="231">
                                            <p:txEl>
                                              <p:pRg st="3" end="3"/>
                                            </p:txEl>
                                          </p:spTgt>
                                        </p:tgtEl>
                                        <p:attrNameLst>
                                          <p:attrName>style.visibility</p:attrName>
                                        </p:attrNameLst>
                                      </p:cBhvr>
                                      <p:to>
                                        <p:strVal val="visible"/>
                                      </p:to>
                                    </p:set>
                                    <p:animEffect filter="wipe(left)" transition="in">
                                      <p:cBhvr additive="repl">
                                        <p:cTn id="878" dur="500"/>
                                        <p:tgtEl>
                                          <p:spTgt spid="231">
                                            <p:txEl>
                                              <p:pRg st="3" end="3"/>
                                            </p:txEl>
                                          </p:spTgt>
                                        </p:tgtEl>
                                      </p:cBhvr>
                                    </p:animEffect>
                                  </p:childTnLst>
                                </p:cTn>
                              </p:par>
                            </p:childTnLst>
                          </p:cTn>
                        </p:par>
                      </p:childTnLst>
                    </p:cTn>
                  </p:par>
                  <p:par>
                    <p:cTn id="879" nodeType="clickEffect" fill="hold">
                      <p:stCondLst>
                        <p:cond delay="indefinite"/>
                      </p:stCondLst>
                      <p:childTnLst>
                        <p:par>
                          <p:cTn id="880" nodeType="withEffect" fill="hold">
                            <p:stCondLst>
                              <p:cond delay="0"/>
                            </p:stCondLst>
                            <p:childTnLst>
                              <p:par>
                                <p:cTn id="881" nodeType="clickEffect" fill="hold" presetClass="entr" presetID="22" presetSubtype="8">
                                  <p:stCondLst>
                                    <p:cond delay="0"/>
                                  </p:stCondLst>
                                  <p:childTnLst>
                                    <p:set>
                                      <p:cBhvr>
                                        <p:cTn id="882" dur="1" fill="hold">
                                          <p:stCondLst>
                                            <p:cond delay="0"/>
                                          </p:stCondLst>
                                        </p:cTn>
                                        <p:tgtEl>
                                          <p:spTgt spid="231">
                                            <p:txEl>
                                              <p:pRg st="4" end="4"/>
                                            </p:txEl>
                                          </p:spTgt>
                                        </p:tgtEl>
                                        <p:attrNameLst>
                                          <p:attrName>style.visibility</p:attrName>
                                        </p:attrNameLst>
                                      </p:cBhvr>
                                      <p:to>
                                        <p:strVal val="visible"/>
                                      </p:to>
                                    </p:set>
                                    <p:animEffect filter="wipe(left)" transition="in">
                                      <p:cBhvr additive="repl">
                                        <p:cTn id="883" dur="500"/>
                                        <p:tgtEl>
                                          <p:spTgt spid="231">
                                            <p:txEl>
                                              <p:pRg st="4" end="4"/>
                                            </p:txEl>
                                          </p:spTgt>
                                        </p:tgtEl>
                                      </p:cBhvr>
                                    </p:animEffect>
                                  </p:childTnLst>
                                </p:cTn>
                              </p:par>
                            </p:childTnLst>
                          </p:cTn>
                        </p:par>
                      </p:childTnLst>
                    </p:cTn>
                  </p:par>
                  <p:par>
                    <p:cTn id="884" nodeType="clickEffect" fill="hold">
                      <p:stCondLst>
                        <p:cond delay="indefinite"/>
                      </p:stCondLst>
                      <p:childTnLst>
                        <p:par>
                          <p:cTn id="885" nodeType="withEffect" fill="hold">
                            <p:stCondLst>
                              <p:cond delay="0"/>
                            </p:stCondLst>
                            <p:childTnLst>
                              <p:par>
                                <p:cTn id="886" nodeType="clickEffect" fill="hold" presetClass="entr" presetID="22" presetSubtype="8">
                                  <p:stCondLst>
                                    <p:cond delay="0"/>
                                  </p:stCondLst>
                                  <p:childTnLst>
                                    <p:set>
                                      <p:cBhvr>
                                        <p:cTn id="887" dur="1" fill="hold">
                                          <p:stCondLst>
                                            <p:cond delay="0"/>
                                          </p:stCondLst>
                                        </p:cTn>
                                        <p:tgtEl>
                                          <p:spTgt spid="231">
                                            <p:txEl>
                                              <p:pRg st="5" end="5"/>
                                            </p:txEl>
                                          </p:spTgt>
                                        </p:tgtEl>
                                        <p:attrNameLst>
                                          <p:attrName>style.visibility</p:attrName>
                                        </p:attrNameLst>
                                      </p:cBhvr>
                                      <p:to>
                                        <p:strVal val="visible"/>
                                      </p:to>
                                    </p:set>
                                    <p:animEffect filter="wipe(left)" transition="in">
                                      <p:cBhvr additive="repl">
                                        <p:cTn id="888" dur="500"/>
                                        <p:tgtEl>
                                          <p:spTgt spid="231">
                                            <p:txEl>
                                              <p:pRg st="5" end="5"/>
                                            </p:txEl>
                                          </p:spTgt>
                                        </p:tgtEl>
                                      </p:cBhvr>
                                    </p:animEffect>
                                  </p:childTnLst>
                                </p:cTn>
                              </p:par>
                            </p:childTnLst>
                          </p:cTn>
                        </p:par>
                      </p:childTnLst>
                    </p:cTn>
                  </p:par>
                  <p:par>
                    <p:cTn id="889" nodeType="clickEffect" fill="hold">
                      <p:stCondLst>
                        <p:cond delay="indefinite"/>
                      </p:stCondLst>
                      <p:childTnLst>
                        <p:par>
                          <p:cTn id="890" nodeType="withEffect" fill="hold">
                            <p:stCondLst>
                              <p:cond delay="0"/>
                            </p:stCondLst>
                            <p:childTnLst>
                              <p:par>
                                <p:cTn id="891" nodeType="clickEffect" fill="hold" presetClass="entr" presetID="22" presetSubtype="8">
                                  <p:stCondLst>
                                    <p:cond delay="0"/>
                                  </p:stCondLst>
                                  <p:childTnLst>
                                    <p:set>
                                      <p:cBhvr>
                                        <p:cTn id="892" dur="1" fill="hold">
                                          <p:stCondLst>
                                            <p:cond delay="0"/>
                                          </p:stCondLst>
                                        </p:cTn>
                                        <p:tgtEl>
                                          <p:spTgt spid="231">
                                            <p:txEl>
                                              <p:pRg st="6" end="6"/>
                                            </p:txEl>
                                          </p:spTgt>
                                        </p:tgtEl>
                                        <p:attrNameLst>
                                          <p:attrName>style.visibility</p:attrName>
                                        </p:attrNameLst>
                                      </p:cBhvr>
                                      <p:to>
                                        <p:strVal val="visible"/>
                                      </p:to>
                                    </p:set>
                                    <p:animEffect filter="wipe(left)" transition="in">
                                      <p:cBhvr additive="repl">
                                        <p:cTn id="893" dur="500"/>
                                        <p:tgtEl>
                                          <p:spTgt spid="231">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18.4  ANTITRUST LAWS</a:t>
            </a:r>
            <a:endParaRPr b="0" lang="en-CA" sz="2600" strike="noStrike" u="none">
              <a:solidFill>
                <a:schemeClr val="dk1"/>
              </a:solidFill>
              <a:effectLst/>
              <a:uFillTx/>
              <a:latin typeface="Arial"/>
            </a:endParaRPr>
          </a:p>
        </p:txBody>
      </p:sp>
      <p:sp>
        <p:nvSpPr>
          <p:cNvPr id="23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Resale Price Maintenance</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Resale price maintenance</a:t>
            </a:r>
            <a:r>
              <a:rPr b="0" lang="en-US" sz="2400" strike="noStrike" u="none">
                <a:solidFill>
                  <a:schemeClr val="dk1"/>
                </a:solidFill>
                <a:effectLst/>
                <a:uFillTx/>
                <a:latin typeface="Arial"/>
                <a:ea typeface="ＭＳ Ｐゴシック"/>
              </a:rPr>
              <a:t> is an agreement between a manufacturer and a distributor on the price at which a product will be resold.</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Resale price maintenance </a:t>
            </a:r>
            <a:r>
              <a:rPr b="0" i="1" lang="en-US" sz="2400" strike="noStrike" u="none">
                <a:solidFill>
                  <a:schemeClr val="dk1"/>
                </a:solidFill>
                <a:effectLst/>
                <a:uFillTx/>
                <a:latin typeface="Arial"/>
                <a:ea typeface="ＭＳ Ｐゴシック"/>
              </a:rPr>
              <a:t>agreements</a:t>
            </a:r>
            <a:r>
              <a:rPr b="0" lang="en-US" sz="2400" strike="noStrike" u="none">
                <a:solidFill>
                  <a:schemeClr val="dk1"/>
                </a:solidFill>
                <a:effectLst/>
                <a:uFillTx/>
                <a:latin typeface="Arial"/>
                <a:ea typeface="ＭＳ Ｐゴシック"/>
              </a:rPr>
              <a:t> (called vertical price fixing) are illegal under the Sherman Act.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But it is not illegal for a firm to refuse to supply a retailer who won’t accept the manufacturer’s guidance on what the price should be.</a:t>
            </a:r>
            <a:endParaRPr b="1" lang="en-CA" sz="2400" strike="noStrike" u="none">
              <a:solidFill>
                <a:srgbClr val="00468f"/>
              </a:solidFill>
              <a:effectLst/>
              <a:uFillTx/>
              <a:latin typeface="Arial"/>
            </a:endParaRPr>
          </a:p>
        </p:txBody>
      </p:sp>
    </p:spTree>
  </p:cSld>
  <p:transition spd="slow">
    <p:wipe dir="r"/>
  </p:transition>
  <p:timing>
    <p:tnLst>
      <p:par>
        <p:cTn id="894" dur="indefinite" restart="never" nodeType="tmRoot">
          <p:childTnLst>
            <p:seq>
              <p:cTn id="895" dur="indefinite" nodeType="mainSeq">
                <p:childTnLst>
                  <p:par>
                    <p:cTn id="896" nodeType="clickEffect" fill="hold">
                      <p:stCondLst>
                        <p:cond delay="indefinite"/>
                      </p:stCondLst>
                      <p:childTnLst>
                        <p:par>
                          <p:cTn id="897" nodeType="withEffect" fill="hold">
                            <p:stCondLst>
                              <p:cond delay="0"/>
                            </p:stCondLst>
                            <p:childTnLst>
                              <p:par>
                                <p:cTn id="898" nodeType="clickEffect" fill="hold" presetClass="entr" presetID="22" presetSubtype="8">
                                  <p:stCondLst>
                                    <p:cond delay="0"/>
                                  </p:stCondLst>
                                  <p:childTnLst>
                                    <p:set>
                                      <p:cBhvr>
                                        <p:cTn id="899" dur="1" fill="hold">
                                          <p:stCondLst>
                                            <p:cond delay="0"/>
                                          </p:stCondLst>
                                        </p:cTn>
                                        <p:tgtEl>
                                          <p:spTgt spid="233">
                                            <p:txEl>
                                              <p:pRg st="1" end="1"/>
                                            </p:txEl>
                                          </p:spTgt>
                                        </p:tgtEl>
                                        <p:attrNameLst>
                                          <p:attrName>style.visibility</p:attrName>
                                        </p:attrNameLst>
                                      </p:cBhvr>
                                      <p:to>
                                        <p:strVal val="visible"/>
                                      </p:to>
                                    </p:set>
                                    <p:animEffect filter="wipe(left)" transition="in">
                                      <p:cBhvr additive="repl">
                                        <p:cTn id="900" dur="500"/>
                                        <p:tgtEl>
                                          <p:spTgt spid="233">
                                            <p:txEl>
                                              <p:pRg st="1" end="1"/>
                                            </p:txEl>
                                          </p:spTgt>
                                        </p:tgtEl>
                                      </p:cBhvr>
                                    </p:animEffect>
                                  </p:childTnLst>
                                </p:cTn>
                              </p:par>
                            </p:childTnLst>
                          </p:cTn>
                        </p:par>
                      </p:childTnLst>
                    </p:cTn>
                  </p:par>
                  <p:par>
                    <p:cTn id="901" nodeType="clickEffect" fill="hold">
                      <p:stCondLst>
                        <p:cond delay="indefinite"/>
                      </p:stCondLst>
                      <p:childTnLst>
                        <p:par>
                          <p:cTn id="902" nodeType="withEffect" fill="hold">
                            <p:stCondLst>
                              <p:cond delay="0"/>
                            </p:stCondLst>
                            <p:childTnLst>
                              <p:par>
                                <p:cTn id="903" nodeType="clickEffect" fill="hold" presetClass="entr" presetID="22" presetSubtype="8">
                                  <p:stCondLst>
                                    <p:cond delay="0"/>
                                  </p:stCondLst>
                                  <p:childTnLst>
                                    <p:set>
                                      <p:cBhvr>
                                        <p:cTn id="904" dur="1" fill="hold">
                                          <p:stCondLst>
                                            <p:cond delay="0"/>
                                          </p:stCondLst>
                                        </p:cTn>
                                        <p:tgtEl>
                                          <p:spTgt spid="233">
                                            <p:txEl>
                                              <p:pRg st="2" end="2"/>
                                            </p:txEl>
                                          </p:spTgt>
                                        </p:tgtEl>
                                        <p:attrNameLst>
                                          <p:attrName>style.visibility</p:attrName>
                                        </p:attrNameLst>
                                      </p:cBhvr>
                                      <p:to>
                                        <p:strVal val="visible"/>
                                      </p:to>
                                    </p:set>
                                    <p:animEffect filter="wipe(left)" transition="in">
                                      <p:cBhvr additive="repl">
                                        <p:cTn id="905" dur="500"/>
                                        <p:tgtEl>
                                          <p:spTgt spid="233">
                                            <p:txEl>
                                              <p:pRg st="2" end="2"/>
                                            </p:txEl>
                                          </p:spTgt>
                                        </p:tgtEl>
                                      </p:cBhvr>
                                    </p:animEffect>
                                  </p:childTnLst>
                                </p:cTn>
                              </p:par>
                            </p:childTnLst>
                          </p:cTn>
                        </p:par>
                      </p:childTnLst>
                    </p:cTn>
                  </p:par>
                  <p:par>
                    <p:cTn id="906" nodeType="clickEffect" fill="hold">
                      <p:stCondLst>
                        <p:cond delay="indefinite"/>
                      </p:stCondLst>
                      <p:childTnLst>
                        <p:par>
                          <p:cTn id="907" nodeType="withEffect" fill="hold">
                            <p:stCondLst>
                              <p:cond delay="0"/>
                            </p:stCondLst>
                            <p:childTnLst>
                              <p:par>
                                <p:cTn id="908" nodeType="clickEffect" fill="hold" presetClass="entr" presetID="22" presetSubtype="8">
                                  <p:stCondLst>
                                    <p:cond delay="0"/>
                                  </p:stCondLst>
                                  <p:childTnLst>
                                    <p:set>
                                      <p:cBhvr>
                                        <p:cTn id="909" dur="1" fill="hold">
                                          <p:stCondLst>
                                            <p:cond delay="0"/>
                                          </p:stCondLst>
                                        </p:cTn>
                                        <p:tgtEl>
                                          <p:spTgt spid="233">
                                            <p:txEl>
                                              <p:pRg st="3" end="3"/>
                                            </p:txEl>
                                          </p:spTgt>
                                        </p:tgtEl>
                                        <p:attrNameLst>
                                          <p:attrName>style.visibility</p:attrName>
                                        </p:attrNameLst>
                                      </p:cBhvr>
                                      <p:to>
                                        <p:strVal val="visible"/>
                                      </p:to>
                                    </p:set>
                                    <p:animEffect filter="wipe(left)" transition="in">
                                      <p:cBhvr additive="repl">
                                        <p:cTn id="910" dur="500"/>
                                        <p:tgtEl>
                                          <p:spTgt spid="233">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18.4  ANTITRUST LAWS</a:t>
            </a:r>
            <a:endParaRPr b="0" lang="en-CA" sz="2600" strike="noStrike" u="none">
              <a:solidFill>
                <a:schemeClr val="dk1"/>
              </a:solidFill>
              <a:effectLst/>
              <a:uFillTx/>
              <a:latin typeface="Arial"/>
            </a:endParaRPr>
          </a:p>
        </p:txBody>
      </p:sp>
      <p:sp>
        <p:nvSpPr>
          <p:cNvPr id="235"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Resale price maintenance is inefficient if it enables a manufacturer and dealers to operate a cartel and charge the monopoly price.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Resale price maintenance can be efficient if it permits retailers to provide an efficient level of service in selling a product.</a:t>
            </a:r>
            <a:endParaRPr b="1" lang="en-CA" sz="2400" strike="noStrike" u="none">
              <a:solidFill>
                <a:srgbClr val="00468f"/>
              </a:solidFill>
              <a:effectLst/>
              <a:uFillTx/>
              <a:latin typeface="Arial"/>
            </a:endParaRPr>
          </a:p>
        </p:txBody>
      </p:sp>
    </p:spTree>
  </p:cSld>
  <p:transition spd="slow">
    <p:wipe dir="r"/>
  </p:transition>
  <p:timing>
    <p:tnLst>
      <p:par>
        <p:cTn id="911" dur="indefinite" restart="never" nodeType="tmRoot">
          <p:childTnLst>
            <p:seq>
              <p:cTn id="912" dur="indefinite" nodeType="mainSeq">
                <p:childTnLst>
                  <p:par>
                    <p:cTn id="913" nodeType="clickEffect" fill="hold">
                      <p:stCondLst>
                        <p:cond delay="indefinite"/>
                      </p:stCondLst>
                      <p:childTnLst>
                        <p:par>
                          <p:cTn id="914" nodeType="withEffect" fill="hold">
                            <p:stCondLst>
                              <p:cond delay="0"/>
                            </p:stCondLst>
                            <p:childTnLst>
                              <p:par>
                                <p:cTn id="915" nodeType="clickEffect" fill="hold" presetClass="entr" presetID="22" presetSubtype="8">
                                  <p:stCondLst>
                                    <p:cond delay="0"/>
                                  </p:stCondLst>
                                  <p:childTnLst>
                                    <p:set>
                                      <p:cBhvr>
                                        <p:cTn id="916" dur="1" fill="hold">
                                          <p:stCondLst>
                                            <p:cond delay="0"/>
                                          </p:stCondLst>
                                        </p:cTn>
                                        <p:tgtEl>
                                          <p:spTgt spid="235">
                                            <p:txEl>
                                              <p:pRg st="1" end="1"/>
                                            </p:txEl>
                                          </p:spTgt>
                                        </p:tgtEl>
                                        <p:attrNameLst>
                                          <p:attrName>style.visibility</p:attrName>
                                        </p:attrNameLst>
                                      </p:cBhvr>
                                      <p:to>
                                        <p:strVal val="visible"/>
                                      </p:to>
                                    </p:set>
                                    <p:animEffect filter="wipe(left)" transition="in">
                                      <p:cBhvr additive="repl">
                                        <p:cTn id="917" dur="500"/>
                                        <p:tgtEl>
                                          <p:spTgt spid="235">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18.4  ANTITRUST LAWS</a:t>
            </a:r>
            <a:endParaRPr b="0" lang="en-CA" sz="2600" strike="noStrike" u="none">
              <a:solidFill>
                <a:schemeClr val="dk1"/>
              </a:solidFill>
              <a:effectLst/>
              <a:uFillTx/>
              <a:latin typeface="Arial"/>
            </a:endParaRPr>
          </a:p>
        </p:txBody>
      </p:sp>
      <p:sp>
        <p:nvSpPr>
          <p:cNvPr id="237"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Predatory Pricing</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Predatory pricing</a:t>
            </a:r>
            <a:r>
              <a:rPr b="0" lang="en-US" sz="2400" strike="noStrike" u="none">
                <a:solidFill>
                  <a:schemeClr val="dk1"/>
                </a:solidFill>
                <a:effectLst/>
                <a:uFillTx/>
                <a:latin typeface="Arial"/>
                <a:ea typeface="ＭＳ Ｐゴシック"/>
              </a:rPr>
              <a:t> is setting a low price to drive competitors out of business with the intention of setting a monopoly price when the competition has gone.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If a firm engaged in this practice, it would incur a loss while its price were low.</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firm would gain only if the high monopoly price didn’t induce entry.</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Most economists say that predatory pricing is unprofitable and doesn’t occur.  </a:t>
            </a:r>
            <a:endParaRPr b="1" lang="en-CA" sz="2400" strike="noStrike" u="none">
              <a:solidFill>
                <a:srgbClr val="00468f"/>
              </a:solidFill>
              <a:effectLst/>
              <a:uFillTx/>
              <a:latin typeface="Arial"/>
            </a:endParaRPr>
          </a:p>
        </p:txBody>
      </p:sp>
    </p:spTree>
  </p:cSld>
  <p:transition spd="slow">
    <p:wipe dir="r"/>
  </p:transition>
  <p:timing>
    <p:tnLst>
      <p:par>
        <p:cTn id="918" dur="indefinite" restart="never" nodeType="tmRoot">
          <p:childTnLst>
            <p:seq>
              <p:cTn id="919" dur="indefinite" nodeType="mainSeq">
                <p:childTnLst>
                  <p:par>
                    <p:cTn id="920" nodeType="clickEffect" fill="hold">
                      <p:stCondLst>
                        <p:cond delay="indefinite"/>
                      </p:stCondLst>
                      <p:childTnLst>
                        <p:par>
                          <p:cTn id="921" nodeType="withEffect" fill="hold">
                            <p:stCondLst>
                              <p:cond delay="0"/>
                            </p:stCondLst>
                            <p:childTnLst>
                              <p:par>
                                <p:cTn id="922" nodeType="clickEffect" fill="hold" presetClass="entr" presetID="22" presetSubtype="8">
                                  <p:stCondLst>
                                    <p:cond delay="0"/>
                                  </p:stCondLst>
                                  <p:childTnLst>
                                    <p:set>
                                      <p:cBhvr>
                                        <p:cTn id="923" dur="1" fill="hold">
                                          <p:stCondLst>
                                            <p:cond delay="0"/>
                                          </p:stCondLst>
                                        </p:cTn>
                                        <p:tgtEl>
                                          <p:spTgt spid="237">
                                            <p:txEl>
                                              <p:pRg st="1" end="1"/>
                                            </p:txEl>
                                          </p:spTgt>
                                        </p:tgtEl>
                                        <p:attrNameLst>
                                          <p:attrName>style.visibility</p:attrName>
                                        </p:attrNameLst>
                                      </p:cBhvr>
                                      <p:to>
                                        <p:strVal val="visible"/>
                                      </p:to>
                                    </p:set>
                                    <p:animEffect filter="wipe(left)" transition="in">
                                      <p:cBhvr additive="repl">
                                        <p:cTn id="924" dur="500"/>
                                        <p:tgtEl>
                                          <p:spTgt spid="237">
                                            <p:txEl>
                                              <p:pRg st="1" end="1"/>
                                            </p:txEl>
                                          </p:spTgt>
                                        </p:tgtEl>
                                      </p:cBhvr>
                                    </p:animEffect>
                                  </p:childTnLst>
                                </p:cTn>
                              </p:par>
                            </p:childTnLst>
                          </p:cTn>
                        </p:par>
                      </p:childTnLst>
                    </p:cTn>
                  </p:par>
                  <p:par>
                    <p:cTn id="925" nodeType="clickEffect" fill="hold">
                      <p:stCondLst>
                        <p:cond delay="indefinite"/>
                      </p:stCondLst>
                      <p:childTnLst>
                        <p:par>
                          <p:cTn id="926" nodeType="withEffect" fill="hold">
                            <p:stCondLst>
                              <p:cond delay="0"/>
                            </p:stCondLst>
                            <p:childTnLst>
                              <p:par>
                                <p:cTn id="927" nodeType="clickEffect" fill="hold" presetClass="entr" presetID="22" presetSubtype="8">
                                  <p:stCondLst>
                                    <p:cond delay="0"/>
                                  </p:stCondLst>
                                  <p:childTnLst>
                                    <p:set>
                                      <p:cBhvr>
                                        <p:cTn id="928" dur="1" fill="hold">
                                          <p:stCondLst>
                                            <p:cond delay="0"/>
                                          </p:stCondLst>
                                        </p:cTn>
                                        <p:tgtEl>
                                          <p:spTgt spid="237">
                                            <p:txEl>
                                              <p:pRg st="2" end="2"/>
                                            </p:txEl>
                                          </p:spTgt>
                                        </p:tgtEl>
                                        <p:attrNameLst>
                                          <p:attrName>style.visibility</p:attrName>
                                        </p:attrNameLst>
                                      </p:cBhvr>
                                      <p:to>
                                        <p:strVal val="visible"/>
                                      </p:to>
                                    </p:set>
                                    <p:animEffect filter="wipe(left)" transition="in">
                                      <p:cBhvr additive="repl">
                                        <p:cTn id="929" dur="500"/>
                                        <p:tgtEl>
                                          <p:spTgt spid="237">
                                            <p:txEl>
                                              <p:pRg st="2" end="2"/>
                                            </p:txEl>
                                          </p:spTgt>
                                        </p:tgtEl>
                                      </p:cBhvr>
                                    </p:animEffect>
                                  </p:childTnLst>
                                </p:cTn>
                              </p:par>
                            </p:childTnLst>
                          </p:cTn>
                        </p:par>
                      </p:childTnLst>
                    </p:cTn>
                  </p:par>
                  <p:par>
                    <p:cTn id="930" nodeType="clickEffect" fill="hold">
                      <p:stCondLst>
                        <p:cond delay="indefinite"/>
                      </p:stCondLst>
                      <p:childTnLst>
                        <p:par>
                          <p:cTn id="931" nodeType="withEffect" fill="hold">
                            <p:stCondLst>
                              <p:cond delay="0"/>
                            </p:stCondLst>
                            <p:childTnLst>
                              <p:par>
                                <p:cTn id="932" nodeType="clickEffect" fill="hold" presetClass="entr" presetID="22" presetSubtype="8">
                                  <p:stCondLst>
                                    <p:cond delay="0"/>
                                  </p:stCondLst>
                                  <p:childTnLst>
                                    <p:set>
                                      <p:cBhvr>
                                        <p:cTn id="933" dur="1" fill="hold">
                                          <p:stCondLst>
                                            <p:cond delay="0"/>
                                          </p:stCondLst>
                                        </p:cTn>
                                        <p:tgtEl>
                                          <p:spTgt spid="237">
                                            <p:txEl>
                                              <p:pRg st="3" end="3"/>
                                            </p:txEl>
                                          </p:spTgt>
                                        </p:tgtEl>
                                        <p:attrNameLst>
                                          <p:attrName>style.visibility</p:attrName>
                                        </p:attrNameLst>
                                      </p:cBhvr>
                                      <p:to>
                                        <p:strVal val="visible"/>
                                      </p:to>
                                    </p:set>
                                    <p:animEffect filter="wipe(left)" transition="in">
                                      <p:cBhvr additive="repl">
                                        <p:cTn id="934" dur="500"/>
                                        <p:tgtEl>
                                          <p:spTgt spid="237">
                                            <p:txEl>
                                              <p:pRg st="3" end="3"/>
                                            </p:txEl>
                                          </p:spTgt>
                                        </p:tgtEl>
                                      </p:cBhvr>
                                    </p:animEffect>
                                  </p:childTnLst>
                                </p:cTn>
                              </p:par>
                            </p:childTnLst>
                          </p:cTn>
                        </p:par>
                      </p:childTnLst>
                    </p:cTn>
                  </p:par>
                  <p:par>
                    <p:cTn id="935" nodeType="clickEffect" fill="hold">
                      <p:stCondLst>
                        <p:cond delay="indefinite"/>
                      </p:stCondLst>
                      <p:childTnLst>
                        <p:par>
                          <p:cTn id="936" nodeType="withEffect" fill="hold">
                            <p:stCondLst>
                              <p:cond delay="0"/>
                            </p:stCondLst>
                            <p:childTnLst>
                              <p:par>
                                <p:cTn id="937" nodeType="clickEffect" fill="hold" presetClass="entr" presetID="22" presetSubtype="8">
                                  <p:stCondLst>
                                    <p:cond delay="0"/>
                                  </p:stCondLst>
                                  <p:childTnLst>
                                    <p:set>
                                      <p:cBhvr>
                                        <p:cTn id="938" dur="1" fill="hold">
                                          <p:stCondLst>
                                            <p:cond delay="0"/>
                                          </p:stCondLst>
                                        </p:cTn>
                                        <p:tgtEl>
                                          <p:spTgt spid="237">
                                            <p:txEl>
                                              <p:pRg st="4" end="4"/>
                                            </p:txEl>
                                          </p:spTgt>
                                        </p:tgtEl>
                                        <p:attrNameLst>
                                          <p:attrName>style.visibility</p:attrName>
                                        </p:attrNameLst>
                                      </p:cBhvr>
                                      <p:to>
                                        <p:strVal val="visible"/>
                                      </p:to>
                                    </p:set>
                                    <p:animEffect filter="wipe(left)" transition="in">
                                      <p:cBhvr additive="repl">
                                        <p:cTn id="939" dur="500"/>
                                        <p:tgtEl>
                                          <p:spTgt spid="237">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18.4  ANTITRUST LAWS</a:t>
            </a:r>
            <a:endParaRPr b="0" lang="en-CA" sz="2600" strike="noStrike" u="none">
              <a:solidFill>
                <a:schemeClr val="dk1"/>
              </a:solidFill>
              <a:effectLst/>
              <a:uFillTx/>
              <a:latin typeface="Arial"/>
            </a:endParaRPr>
          </a:p>
        </p:txBody>
      </p:sp>
      <p:sp>
        <p:nvSpPr>
          <p:cNvPr id="23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Tying Arrangements</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 </a:t>
            </a:r>
            <a:r>
              <a:rPr b="1" lang="en-US" sz="2400" strike="noStrike" u="none">
                <a:solidFill>
                  <a:srgbClr val="ff0000"/>
                </a:solidFill>
                <a:effectLst/>
                <a:uFillTx/>
                <a:latin typeface="Arial"/>
                <a:ea typeface="ＭＳ Ｐゴシック"/>
              </a:rPr>
              <a:t>tying arrangement</a:t>
            </a:r>
            <a:r>
              <a:rPr b="0" lang="en-US" sz="2400" strike="noStrike" u="none">
                <a:solidFill>
                  <a:schemeClr val="dk1"/>
                </a:solidFill>
                <a:effectLst/>
                <a:uFillTx/>
                <a:latin typeface="Arial"/>
                <a:ea typeface="ＭＳ Ｐゴシック"/>
              </a:rPr>
              <a:t> is an agreement to sell one product only if the buyer agrees to also buy another different product.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Example: textbook plus Web site bundle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It is sometimes possible to use tying as a way of price discriminating. </a:t>
            </a:r>
            <a:endParaRPr b="1" lang="en-CA" sz="2400" strike="noStrike" u="none">
              <a:solidFill>
                <a:srgbClr val="00468f"/>
              </a:solidFill>
              <a:effectLst/>
              <a:uFillTx/>
              <a:latin typeface="Arial"/>
            </a:endParaRPr>
          </a:p>
        </p:txBody>
      </p:sp>
    </p:spTree>
  </p:cSld>
  <p:transition spd="slow">
    <p:wipe dir="r"/>
  </p:transition>
  <p:timing>
    <p:tnLst>
      <p:par>
        <p:cTn id="940" dur="indefinite" restart="never" nodeType="tmRoot">
          <p:childTnLst>
            <p:seq>
              <p:cTn id="941" dur="indefinite" nodeType="mainSeq">
                <p:childTnLst>
                  <p:par>
                    <p:cTn id="942" nodeType="clickEffect" fill="hold">
                      <p:stCondLst>
                        <p:cond delay="indefinite"/>
                      </p:stCondLst>
                      <p:childTnLst>
                        <p:par>
                          <p:cTn id="943" nodeType="withEffect" fill="hold">
                            <p:stCondLst>
                              <p:cond delay="0"/>
                            </p:stCondLst>
                            <p:childTnLst>
                              <p:par>
                                <p:cTn id="944" nodeType="clickEffect" fill="hold" presetClass="entr" presetID="22" presetSubtype="8">
                                  <p:stCondLst>
                                    <p:cond delay="0"/>
                                  </p:stCondLst>
                                  <p:childTnLst>
                                    <p:set>
                                      <p:cBhvr>
                                        <p:cTn id="945" dur="1" fill="hold">
                                          <p:stCondLst>
                                            <p:cond delay="0"/>
                                          </p:stCondLst>
                                        </p:cTn>
                                        <p:tgtEl>
                                          <p:spTgt spid="239">
                                            <p:txEl>
                                              <p:pRg st="1" end="1"/>
                                            </p:txEl>
                                          </p:spTgt>
                                        </p:tgtEl>
                                        <p:attrNameLst>
                                          <p:attrName>style.visibility</p:attrName>
                                        </p:attrNameLst>
                                      </p:cBhvr>
                                      <p:to>
                                        <p:strVal val="visible"/>
                                      </p:to>
                                    </p:set>
                                    <p:animEffect filter="wipe(left)" transition="in">
                                      <p:cBhvr additive="repl">
                                        <p:cTn id="946" dur="500"/>
                                        <p:tgtEl>
                                          <p:spTgt spid="239">
                                            <p:txEl>
                                              <p:pRg st="1" end="1"/>
                                            </p:txEl>
                                          </p:spTgt>
                                        </p:tgtEl>
                                      </p:cBhvr>
                                    </p:animEffect>
                                  </p:childTnLst>
                                </p:cTn>
                              </p:par>
                            </p:childTnLst>
                          </p:cTn>
                        </p:par>
                      </p:childTnLst>
                    </p:cTn>
                  </p:par>
                  <p:par>
                    <p:cTn id="947" nodeType="clickEffect" fill="hold">
                      <p:stCondLst>
                        <p:cond delay="indefinite"/>
                      </p:stCondLst>
                      <p:childTnLst>
                        <p:par>
                          <p:cTn id="948" nodeType="withEffect" fill="hold">
                            <p:stCondLst>
                              <p:cond delay="0"/>
                            </p:stCondLst>
                            <p:childTnLst>
                              <p:par>
                                <p:cTn id="949" nodeType="clickEffect" fill="hold" presetClass="entr" presetID="22" presetSubtype="8">
                                  <p:stCondLst>
                                    <p:cond delay="0"/>
                                  </p:stCondLst>
                                  <p:childTnLst>
                                    <p:set>
                                      <p:cBhvr>
                                        <p:cTn id="950" dur="1" fill="hold">
                                          <p:stCondLst>
                                            <p:cond delay="0"/>
                                          </p:stCondLst>
                                        </p:cTn>
                                        <p:tgtEl>
                                          <p:spTgt spid="239">
                                            <p:txEl>
                                              <p:pRg st="2" end="2"/>
                                            </p:txEl>
                                          </p:spTgt>
                                        </p:tgtEl>
                                        <p:attrNameLst>
                                          <p:attrName>style.visibility</p:attrName>
                                        </p:attrNameLst>
                                      </p:cBhvr>
                                      <p:to>
                                        <p:strVal val="visible"/>
                                      </p:to>
                                    </p:set>
                                    <p:animEffect filter="wipe(left)" transition="in">
                                      <p:cBhvr additive="repl">
                                        <p:cTn id="951" dur="500"/>
                                        <p:tgtEl>
                                          <p:spTgt spid="239">
                                            <p:txEl>
                                              <p:pRg st="2" end="2"/>
                                            </p:txEl>
                                          </p:spTgt>
                                        </p:tgtEl>
                                      </p:cBhvr>
                                    </p:animEffect>
                                  </p:childTnLst>
                                </p:cTn>
                              </p:par>
                            </p:childTnLst>
                          </p:cTn>
                        </p:par>
                      </p:childTnLst>
                    </p:cTn>
                  </p:par>
                  <p:par>
                    <p:cTn id="952" nodeType="clickEffect" fill="hold">
                      <p:stCondLst>
                        <p:cond delay="indefinite"/>
                      </p:stCondLst>
                      <p:childTnLst>
                        <p:par>
                          <p:cTn id="953" nodeType="withEffect" fill="hold">
                            <p:stCondLst>
                              <p:cond delay="0"/>
                            </p:stCondLst>
                            <p:childTnLst>
                              <p:par>
                                <p:cTn id="954" nodeType="clickEffect" fill="hold" presetClass="entr" presetID="22" presetSubtype="8">
                                  <p:stCondLst>
                                    <p:cond delay="0"/>
                                  </p:stCondLst>
                                  <p:childTnLst>
                                    <p:set>
                                      <p:cBhvr>
                                        <p:cTn id="955" dur="1" fill="hold">
                                          <p:stCondLst>
                                            <p:cond delay="0"/>
                                          </p:stCondLst>
                                        </p:cTn>
                                        <p:tgtEl>
                                          <p:spTgt spid="239">
                                            <p:txEl>
                                              <p:pRg st="3" end="3"/>
                                            </p:txEl>
                                          </p:spTgt>
                                        </p:tgtEl>
                                        <p:attrNameLst>
                                          <p:attrName>style.visibility</p:attrName>
                                        </p:attrNameLst>
                                      </p:cBhvr>
                                      <p:to>
                                        <p:strVal val="visible"/>
                                      </p:to>
                                    </p:set>
                                    <p:animEffect filter="wipe(left)" transition="in">
                                      <p:cBhvr additive="repl">
                                        <p:cTn id="956" dur="500"/>
                                        <p:tgtEl>
                                          <p:spTgt spid="239">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18.4  ANTITRUST LAWS</a:t>
            </a:r>
            <a:endParaRPr b="0" lang="en-CA" sz="2600" strike="noStrike" u="none">
              <a:solidFill>
                <a:schemeClr val="dk1"/>
              </a:solidFill>
              <a:effectLst/>
              <a:uFillTx/>
              <a:latin typeface="Arial"/>
            </a:endParaRPr>
          </a:p>
        </p:txBody>
      </p:sp>
      <p:sp>
        <p:nvSpPr>
          <p:cNvPr id="24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MS Mincho"/>
              </a:rPr>
              <a:t>Recent Antitrust Showcase: The United States Versus Microsoft</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1" lang="en-US" sz="2600" strike="noStrike" u="none">
                <a:solidFill>
                  <a:srgbClr val="00468f"/>
                </a:solidFill>
                <a:effectLst/>
                <a:uFillTx/>
                <a:latin typeface="Arial"/>
                <a:ea typeface="MS Mincho"/>
              </a:rPr>
              <a:t>The Case Against Microsoft</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MS Mincho"/>
              </a:rPr>
              <a:t>The Department of Justice claimed that Microsoft:</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Possesses monopoly power in the market for PC operating systems.</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Uses </a:t>
            </a:r>
            <a:r>
              <a:rPr b="0" i="1" lang="en-US" sz="2400" strike="noStrike" u="none">
                <a:solidFill>
                  <a:schemeClr val="dk1"/>
                </a:solidFill>
                <a:effectLst/>
                <a:uFillTx/>
                <a:latin typeface="Arial"/>
                <a:ea typeface="MS Mincho"/>
              </a:rPr>
              <a:t>predatory pricing</a:t>
            </a:r>
            <a:r>
              <a:rPr b="0" lang="en-US" sz="2400" strike="noStrike" u="none">
                <a:solidFill>
                  <a:schemeClr val="dk1"/>
                </a:solidFill>
                <a:effectLst/>
                <a:uFillTx/>
                <a:latin typeface="Arial"/>
                <a:ea typeface="MS Mincho"/>
              </a:rPr>
              <a:t> and </a:t>
            </a:r>
            <a:r>
              <a:rPr b="0" i="1" lang="en-US" sz="2400" strike="noStrike" u="none">
                <a:solidFill>
                  <a:schemeClr val="dk1"/>
                </a:solidFill>
                <a:effectLst/>
                <a:uFillTx/>
                <a:latin typeface="Arial"/>
                <a:ea typeface="MS Mincho"/>
              </a:rPr>
              <a:t>tying agreements</a:t>
            </a:r>
            <a:r>
              <a:rPr b="0" lang="en-US" sz="2400" strike="noStrike" u="none">
                <a:solidFill>
                  <a:schemeClr val="dk1"/>
                </a:solidFill>
                <a:effectLst/>
                <a:uFillTx/>
                <a:latin typeface="Arial"/>
                <a:ea typeface="MS Mincho"/>
              </a:rPr>
              <a:t> to achieve monopoly in the market for Web browsers.</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Uses other anticompetitive practices to strengthen its monopoly in these two markets.</a:t>
            </a:r>
            <a:endParaRPr b="0" lang="en-CA" sz="2400" strike="noStrike" u="none">
              <a:solidFill>
                <a:schemeClr val="dk1"/>
              </a:solidFill>
              <a:effectLst/>
              <a:uFillTx/>
              <a:latin typeface="Arial"/>
            </a:endParaRPr>
          </a:p>
        </p:txBody>
      </p:sp>
    </p:spTree>
  </p:cSld>
  <p:transition spd="slow">
    <p:wipe dir="r"/>
  </p:transition>
  <p:timing>
    <p:tnLst>
      <p:par>
        <p:cTn id="957" dur="indefinite" restart="never" nodeType="tmRoot">
          <p:childTnLst>
            <p:seq>
              <p:cTn id="958" dur="indefinite" nodeType="mainSeq">
                <p:childTnLst>
                  <p:par>
                    <p:cTn id="959" nodeType="clickEffect" fill="hold">
                      <p:stCondLst>
                        <p:cond delay="indefinite"/>
                      </p:stCondLst>
                      <p:childTnLst>
                        <p:par>
                          <p:cTn id="960" nodeType="withEffect" fill="hold">
                            <p:stCondLst>
                              <p:cond delay="0"/>
                            </p:stCondLst>
                            <p:childTnLst>
                              <p:par>
                                <p:cTn id="961" nodeType="clickEffect" fill="hold" presetClass="entr" presetID="22" presetSubtype="8">
                                  <p:stCondLst>
                                    <p:cond delay="0"/>
                                  </p:stCondLst>
                                  <p:childTnLst>
                                    <p:set>
                                      <p:cBhvr>
                                        <p:cTn id="962" dur="1" fill="hold">
                                          <p:stCondLst>
                                            <p:cond delay="0"/>
                                          </p:stCondLst>
                                        </p:cTn>
                                        <p:tgtEl>
                                          <p:spTgt spid="241">
                                            <p:txEl>
                                              <p:pRg st="1" end="1"/>
                                            </p:txEl>
                                          </p:spTgt>
                                        </p:tgtEl>
                                        <p:attrNameLst>
                                          <p:attrName>style.visibility</p:attrName>
                                        </p:attrNameLst>
                                      </p:cBhvr>
                                      <p:to>
                                        <p:strVal val="visible"/>
                                      </p:to>
                                    </p:set>
                                    <p:animEffect filter="wipe(left)" transition="in">
                                      <p:cBhvr additive="repl">
                                        <p:cTn id="963" dur="500"/>
                                        <p:tgtEl>
                                          <p:spTgt spid="241">
                                            <p:txEl>
                                              <p:pRg st="1" end="1"/>
                                            </p:txEl>
                                          </p:spTgt>
                                        </p:tgtEl>
                                      </p:cBhvr>
                                    </p:animEffect>
                                  </p:childTnLst>
                                </p:cTn>
                              </p:par>
                            </p:childTnLst>
                          </p:cTn>
                        </p:par>
                      </p:childTnLst>
                    </p:cTn>
                  </p:par>
                  <p:par>
                    <p:cTn id="964" nodeType="clickEffect" fill="hold">
                      <p:stCondLst>
                        <p:cond delay="indefinite"/>
                      </p:stCondLst>
                      <p:childTnLst>
                        <p:par>
                          <p:cTn id="965" nodeType="withEffect" fill="hold">
                            <p:stCondLst>
                              <p:cond delay="0"/>
                            </p:stCondLst>
                            <p:childTnLst>
                              <p:par>
                                <p:cTn id="966" nodeType="clickEffect" fill="hold" presetClass="entr" presetID="22" presetSubtype="8">
                                  <p:stCondLst>
                                    <p:cond delay="0"/>
                                  </p:stCondLst>
                                  <p:childTnLst>
                                    <p:set>
                                      <p:cBhvr>
                                        <p:cTn id="967" dur="1" fill="hold">
                                          <p:stCondLst>
                                            <p:cond delay="0"/>
                                          </p:stCondLst>
                                        </p:cTn>
                                        <p:tgtEl>
                                          <p:spTgt spid="241">
                                            <p:txEl>
                                              <p:pRg st="2" end="2"/>
                                            </p:txEl>
                                          </p:spTgt>
                                        </p:tgtEl>
                                        <p:attrNameLst>
                                          <p:attrName>style.visibility</p:attrName>
                                        </p:attrNameLst>
                                      </p:cBhvr>
                                      <p:to>
                                        <p:strVal val="visible"/>
                                      </p:to>
                                    </p:set>
                                    <p:animEffect filter="wipe(left)" transition="in">
                                      <p:cBhvr additive="repl">
                                        <p:cTn id="968" dur="500"/>
                                        <p:tgtEl>
                                          <p:spTgt spid="241">
                                            <p:txEl>
                                              <p:pRg st="2" end="2"/>
                                            </p:txEl>
                                          </p:spTgt>
                                        </p:tgtEl>
                                      </p:cBhvr>
                                    </p:animEffect>
                                  </p:childTnLst>
                                </p:cTn>
                              </p:par>
                            </p:childTnLst>
                          </p:cTn>
                        </p:par>
                      </p:childTnLst>
                    </p:cTn>
                  </p:par>
                  <p:par>
                    <p:cTn id="969" nodeType="clickEffect" fill="hold">
                      <p:stCondLst>
                        <p:cond delay="indefinite"/>
                      </p:stCondLst>
                      <p:childTnLst>
                        <p:par>
                          <p:cTn id="970" nodeType="withEffect" fill="hold">
                            <p:stCondLst>
                              <p:cond delay="0"/>
                            </p:stCondLst>
                            <p:childTnLst>
                              <p:par>
                                <p:cTn id="971" nodeType="clickEffect" fill="hold" presetClass="entr" presetID="22" presetSubtype="8">
                                  <p:stCondLst>
                                    <p:cond delay="0"/>
                                  </p:stCondLst>
                                  <p:childTnLst>
                                    <p:set>
                                      <p:cBhvr>
                                        <p:cTn id="972" dur="1" fill="hold">
                                          <p:stCondLst>
                                            <p:cond delay="0"/>
                                          </p:stCondLst>
                                        </p:cTn>
                                        <p:tgtEl>
                                          <p:spTgt spid="241">
                                            <p:txEl>
                                              <p:pRg st="3" end="3"/>
                                            </p:txEl>
                                          </p:spTgt>
                                        </p:tgtEl>
                                        <p:attrNameLst>
                                          <p:attrName>style.visibility</p:attrName>
                                        </p:attrNameLst>
                                      </p:cBhvr>
                                      <p:to>
                                        <p:strVal val="visible"/>
                                      </p:to>
                                    </p:set>
                                    <p:animEffect filter="wipe(left)" transition="in">
                                      <p:cBhvr additive="repl">
                                        <p:cTn id="973" dur="500"/>
                                        <p:tgtEl>
                                          <p:spTgt spid="241">
                                            <p:txEl>
                                              <p:pRg st="3" end="3"/>
                                            </p:txEl>
                                          </p:spTgt>
                                        </p:tgtEl>
                                      </p:cBhvr>
                                    </p:animEffect>
                                  </p:childTnLst>
                                </p:cTn>
                              </p:par>
                            </p:childTnLst>
                          </p:cTn>
                        </p:par>
                      </p:childTnLst>
                    </p:cTn>
                  </p:par>
                  <p:par>
                    <p:cTn id="974" nodeType="clickEffect" fill="hold">
                      <p:stCondLst>
                        <p:cond delay="indefinite"/>
                      </p:stCondLst>
                      <p:childTnLst>
                        <p:par>
                          <p:cTn id="975" nodeType="withEffect" fill="hold">
                            <p:stCondLst>
                              <p:cond delay="0"/>
                            </p:stCondLst>
                            <p:childTnLst>
                              <p:par>
                                <p:cTn id="976" nodeType="clickEffect" fill="hold" presetClass="entr" presetID="22" presetSubtype="8">
                                  <p:stCondLst>
                                    <p:cond delay="0"/>
                                  </p:stCondLst>
                                  <p:childTnLst>
                                    <p:set>
                                      <p:cBhvr>
                                        <p:cTn id="977" dur="1" fill="hold">
                                          <p:stCondLst>
                                            <p:cond delay="0"/>
                                          </p:stCondLst>
                                        </p:cTn>
                                        <p:tgtEl>
                                          <p:spTgt spid="241">
                                            <p:txEl>
                                              <p:pRg st="4" end="4"/>
                                            </p:txEl>
                                          </p:spTgt>
                                        </p:tgtEl>
                                        <p:attrNameLst>
                                          <p:attrName>style.visibility</p:attrName>
                                        </p:attrNameLst>
                                      </p:cBhvr>
                                      <p:to>
                                        <p:strVal val="visible"/>
                                      </p:to>
                                    </p:set>
                                    <p:animEffect filter="wipe(left)" transition="in">
                                      <p:cBhvr additive="repl">
                                        <p:cTn id="978" dur="500"/>
                                        <p:tgtEl>
                                          <p:spTgt spid="241">
                                            <p:txEl>
                                              <p:pRg st="4" end="4"/>
                                            </p:txEl>
                                          </p:spTgt>
                                        </p:tgtEl>
                                      </p:cBhvr>
                                    </p:animEffect>
                                  </p:childTnLst>
                                </p:cTn>
                              </p:par>
                            </p:childTnLst>
                          </p:cTn>
                        </p:par>
                      </p:childTnLst>
                    </p:cTn>
                  </p:par>
                  <p:par>
                    <p:cTn id="979" nodeType="clickEffect" fill="hold">
                      <p:stCondLst>
                        <p:cond delay="indefinite"/>
                      </p:stCondLst>
                      <p:childTnLst>
                        <p:par>
                          <p:cTn id="980" nodeType="withEffect" fill="hold">
                            <p:stCondLst>
                              <p:cond delay="0"/>
                            </p:stCondLst>
                            <p:childTnLst>
                              <p:par>
                                <p:cTn id="981" nodeType="clickEffect" fill="hold" presetClass="entr" presetID="22" presetSubtype="8">
                                  <p:stCondLst>
                                    <p:cond delay="0"/>
                                  </p:stCondLst>
                                  <p:childTnLst>
                                    <p:set>
                                      <p:cBhvr>
                                        <p:cTn id="982" dur="1" fill="hold">
                                          <p:stCondLst>
                                            <p:cond delay="0"/>
                                          </p:stCondLst>
                                        </p:cTn>
                                        <p:tgtEl>
                                          <p:spTgt spid="241">
                                            <p:txEl>
                                              <p:pRg st="5" end="5"/>
                                            </p:txEl>
                                          </p:spTgt>
                                        </p:tgtEl>
                                        <p:attrNameLst>
                                          <p:attrName>style.visibility</p:attrName>
                                        </p:attrNameLst>
                                      </p:cBhvr>
                                      <p:to>
                                        <p:strVal val="visible"/>
                                      </p:to>
                                    </p:set>
                                    <p:animEffect filter="wipe(left)" transition="in">
                                      <p:cBhvr additive="repl">
                                        <p:cTn id="983" dur="500"/>
                                        <p:tgtEl>
                                          <p:spTgt spid="241">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18.4  ANTITRUST LAWS</a:t>
            </a:r>
            <a:endParaRPr b="0" lang="en-CA" sz="2600" strike="noStrike" u="none">
              <a:solidFill>
                <a:schemeClr val="dk1"/>
              </a:solidFill>
              <a:effectLst/>
              <a:uFillTx/>
              <a:latin typeface="Arial"/>
            </a:endParaRPr>
          </a:p>
        </p:txBody>
      </p:sp>
      <p:sp>
        <p:nvSpPr>
          <p:cNvPr id="24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AU" sz="2600" strike="noStrike" u="none">
                <a:solidFill>
                  <a:srgbClr val="00468f"/>
                </a:solidFill>
                <a:effectLst/>
                <a:uFillTx/>
                <a:latin typeface="Arial"/>
                <a:ea typeface="MS Mincho"/>
              </a:rPr>
              <a:t>Microsoft’s Response</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AU" sz="2400" strike="noStrike" u="none">
                <a:solidFill>
                  <a:schemeClr val="dk1"/>
                </a:solidFill>
                <a:effectLst/>
                <a:uFillTx/>
                <a:latin typeface="Arial"/>
                <a:ea typeface="MS Mincho"/>
              </a:rPr>
              <a:t>Microsoft challenged all claims.</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It said that Windows competes with Macintosh.</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Windows dominates because it is the best product.</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Internet Explorer with Windows 98 provides a product of greater consumer value.</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The browser and operating system is one product.</a:t>
            </a:r>
            <a:endParaRPr b="0" lang="en-CA" sz="2400" strike="noStrike" u="none">
              <a:solidFill>
                <a:schemeClr val="dk1"/>
              </a:solidFill>
              <a:effectLst/>
              <a:uFillTx/>
              <a:latin typeface="Arial"/>
            </a:endParaRPr>
          </a:p>
        </p:txBody>
      </p:sp>
    </p:spTree>
  </p:cSld>
  <p:transition spd="slow">
    <p:wipe dir="r"/>
  </p:transition>
  <p:timing>
    <p:tnLst>
      <p:par>
        <p:cTn id="984" dur="indefinite" restart="never" nodeType="tmRoot">
          <p:childTnLst>
            <p:seq>
              <p:cTn id="985" dur="indefinite" nodeType="mainSeq">
                <p:childTnLst>
                  <p:par>
                    <p:cTn id="986" nodeType="clickEffect" fill="hold">
                      <p:stCondLst>
                        <p:cond delay="indefinite"/>
                      </p:stCondLst>
                      <p:childTnLst>
                        <p:par>
                          <p:cTn id="987" nodeType="withEffect" fill="hold">
                            <p:stCondLst>
                              <p:cond delay="0"/>
                            </p:stCondLst>
                            <p:childTnLst>
                              <p:par>
                                <p:cTn id="988" nodeType="clickEffect" fill="hold" presetClass="entr" presetID="22" presetSubtype="8">
                                  <p:stCondLst>
                                    <p:cond delay="0"/>
                                  </p:stCondLst>
                                  <p:childTnLst>
                                    <p:set>
                                      <p:cBhvr>
                                        <p:cTn id="989" dur="1" fill="hold">
                                          <p:stCondLst>
                                            <p:cond delay="0"/>
                                          </p:stCondLst>
                                        </p:cTn>
                                        <p:tgtEl>
                                          <p:spTgt spid="243">
                                            <p:txEl>
                                              <p:pRg st="1" end="1"/>
                                            </p:txEl>
                                          </p:spTgt>
                                        </p:tgtEl>
                                        <p:attrNameLst>
                                          <p:attrName>style.visibility</p:attrName>
                                        </p:attrNameLst>
                                      </p:cBhvr>
                                      <p:to>
                                        <p:strVal val="visible"/>
                                      </p:to>
                                    </p:set>
                                    <p:animEffect filter="wipe(left)" transition="in">
                                      <p:cBhvr additive="repl">
                                        <p:cTn id="990" dur="500"/>
                                        <p:tgtEl>
                                          <p:spTgt spid="243">
                                            <p:txEl>
                                              <p:pRg st="1" end="1"/>
                                            </p:txEl>
                                          </p:spTgt>
                                        </p:tgtEl>
                                      </p:cBhvr>
                                    </p:animEffect>
                                  </p:childTnLst>
                                </p:cTn>
                              </p:par>
                            </p:childTnLst>
                          </p:cTn>
                        </p:par>
                      </p:childTnLst>
                    </p:cTn>
                  </p:par>
                  <p:par>
                    <p:cTn id="991" nodeType="clickEffect" fill="hold">
                      <p:stCondLst>
                        <p:cond delay="indefinite"/>
                      </p:stCondLst>
                      <p:childTnLst>
                        <p:par>
                          <p:cTn id="992" nodeType="withEffect" fill="hold">
                            <p:stCondLst>
                              <p:cond delay="0"/>
                            </p:stCondLst>
                            <p:childTnLst>
                              <p:par>
                                <p:cTn id="993" nodeType="clickEffect" fill="hold" presetClass="entr" presetID="22" presetSubtype="8">
                                  <p:stCondLst>
                                    <p:cond delay="0"/>
                                  </p:stCondLst>
                                  <p:childTnLst>
                                    <p:set>
                                      <p:cBhvr>
                                        <p:cTn id="994" dur="1" fill="hold">
                                          <p:stCondLst>
                                            <p:cond delay="0"/>
                                          </p:stCondLst>
                                        </p:cTn>
                                        <p:tgtEl>
                                          <p:spTgt spid="243">
                                            <p:txEl>
                                              <p:pRg st="2" end="2"/>
                                            </p:txEl>
                                          </p:spTgt>
                                        </p:tgtEl>
                                        <p:attrNameLst>
                                          <p:attrName>style.visibility</p:attrName>
                                        </p:attrNameLst>
                                      </p:cBhvr>
                                      <p:to>
                                        <p:strVal val="visible"/>
                                      </p:to>
                                    </p:set>
                                    <p:animEffect filter="wipe(left)" transition="in">
                                      <p:cBhvr additive="repl">
                                        <p:cTn id="995" dur="500"/>
                                        <p:tgtEl>
                                          <p:spTgt spid="243">
                                            <p:txEl>
                                              <p:pRg st="2" end="2"/>
                                            </p:txEl>
                                          </p:spTgt>
                                        </p:tgtEl>
                                      </p:cBhvr>
                                    </p:animEffect>
                                  </p:childTnLst>
                                </p:cTn>
                              </p:par>
                            </p:childTnLst>
                          </p:cTn>
                        </p:par>
                      </p:childTnLst>
                    </p:cTn>
                  </p:par>
                  <p:par>
                    <p:cTn id="996" nodeType="clickEffect" fill="hold">
                      <p:stCondLst>
                        <p:cond delay="indefinite"/>
                      </p:stCondLst>
                      <p:childTnLst>
                        <p:par>
                          <p:cTn id="997" nodeType="withEffect" fill="hold">
                            <p:stCondLst>
                              <p:cond delay="0"/>
                            </p:stCondLst>
                            <p:childTnLst>
                              <p:par>
                                <p:cTn id="998" nodeType="clickEffect" fill="hold" presetClass="entr" presetID="22" presetSubtype="8">
                                  <p:stCondLst>
                                    <p:cond delay="0"/>
                                  </p:stCondLst>
                                  <p:childTnLst>
                                    <p:set>
                                      <p:cBhvr>
                                        <p:cTn id="999" dur="1" fill="hold">
                                          <p:stCondLst>
                                            <p:cond delay="0"/>
                                          </p:stCondLst>
                                        </p:cTn>
                                        <p:tgtEl>
                                          <p:spTgt spid="243">
                                            <p:txEl>
                                              <p:pRg st="3" end="3"/>
                                            </p:txEl>
                                          </p:spTgt>
                                        </p:tgtEl>
                                        <p:attrNameLst>
                                          <p:attrName>style.visibility</p:attrName>
                                        </p:attrNameLst>
                                      </p:cBhvr>
                                      <p:to>
                                        <p:strVal val="visible"/>
                                      </p:to>
                                    </p:set>
                                    <p:animEffect filter="wipe(left)" transition="in">
                                      <p:cBhvr additive="repl">
                                        <p:cTn id="1000" dur="500"/>
                                        <p:tgtEl>
                                          <p:spTgt spid="243">
                                            <p:txEl>
                                              <p:pRg st="3" end="3"/>
                                            </p:txEl>
                                          </p:spTgt>
                                        </p:tgtEl>
                                      </p:cBhvr>
                                    </p:animEffect>
                                  </p:childTnLst>
                                </p:cTn>
                              </p:par>
                            </p:childTnLst>
                          </p:cTn>
                        </p:par>
                      </p:childTnLst>
                    </p:cTn>
                  </p:par>
                  <p:par>
                    <p:cTn id="1001" nodeType="clickEffect" fill="hold">
                      <p:stCondLst>
                        <p:cond delay="indefinite"/>
                      </p:stCondLst>
                      <p:childTnLst>
                        <p:par>
                          <p:cTn id="1002" nodeType="withEffect" fill="hold">
                            <p:stCondLst>
                              <p:cond delay="0"/>
                            </p:stCondLst>
                            <p:childTnLst>
                              <p:par>
                                <p:cTn id="1003" nodeType="clickEffect" fill="hold" presetClass="entr" presetID="22" presetSubtype="8">
                                  <p:stCondLst>
                                    <p:cond delay="0"/>
                                  </p:stCondLst>
                                  <p:childTnLst>
                                    <p:set>
                                      <p:cBhvr>
                                        <p:cTn id="1004" dur="1" fill="hold">
                                          <p:stCondLst>
                                            <p:cond delay="0"/>
                                          </p:stCondLst>
                                        </p:cTn>
                                        <p:tgtEl>
                                          <p:spTgt spid="243">
                                            <p:txEl>
                                              <p:pRg st="4" end="4"/>
                                            </p:txEl>
                                          </p:spTgt>
                                        </p:tgtEl>
                                        <p:attrNameLst>
                                          <p:attrName>style.visibility</p:attrName>
                                        </p:attrNameLst>
                                      </p:cBhvr>
                                      <p:to>
                                        <p:strVal val="visible"/>
                                      </p:to>
                                    </p:set>
                                    <p:animEffect filter="wipe(left)" transition="in">
                                      <p:cBhvr additive="repl">
                                        <p:cTn id="1005" dur="500"/>
                                        <p:tgtEl>
                                          <p:spTgt spid="243">
                                            <p:txEl>
                                              <p:pRg st="4" end="4"/>
                                            </p:txEl>
                                          </p:spTgt>
                                        </p:tgtEl>
                                      </p:cBhvr>
                                    </p:animEffect>
                                  </p:childTnLst>
                                </p:cTn>
                              </p:par>
                            </p:childTnLst>
                          </p:cTn>
                        </p:par>
                      </p:childTnLst>
                    </p:cTn>
                  </p:par>
                  <p:par>
                    <p:cTn id="1006" nodeType="clickEffect" fill="hold">
                      <p:stCondLst>
                        <p:cond delay="indefinite"/>
                      </p:stCondLst>
                      <p:childTnLst>
                        <p:par>
                          <p:cTn id="1007" nodeType="withEffect" fill="hold">
                            <p:stCondLst>
                              <p:cond delay="0"/>
                            </p:stCondLst>
                            <p:childTnLst>
                              <p:par>
                                <p:cTn id="1008" nodeType="clickEffect" fill="hold" presetClass="entr" presetID="22" presetSubtype="8">
                                  <p:stCondLst>
                                    <p:cond delay="0"/>
                                  </p:stCondLst>
                                  <p:childTnLst>
                                    <p:set>
                                      <p:cBhvr>
                                        <p:cTn id="1009" dur="1" fill="hold">
                                          <p:stCondLst>
                                            <p:cond delay="0"/>
                                          </p:stCondLst>
                                        </p:cTn>
                                        <p:tgtEl>
                                          <p:spTgt spid="243">
                                            <p:txEl>
                                              <p:pRg st="5" end="5"/>
                                            </p:txEl>
                                          </p:spTgt>
                                        </p:tgtEl>
                                        <p:attrNameLst>
                                          <p:attrName>style.visibility</p:attrName>
                                        </p:attrNameLst>
                                      </p:cBhvr>
                                      <p:to>
                                        <p:strVal val="visible"/>
                                      </p:to>
                                    </p:set>
                                    <p:animEffect filter="wipe(left)" transition="in">
                                      <p:cBhvr additive="repl">
                                        <p:cTn id="1010" dur="500"/>
                                        <p:tgtEl>
                                          <p:spTgt spid="243">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18.4  ANTITRUST LAWS</a:t>
            </a:r>
            <a:endParaRPr b="0" lang="en-CA" sz="2600" strike="noStrike" u="none">
              <a:solidFill>
                <a:schemeClr val="dk1"/>
              </a:solidFill>
              <a:effectLst/>
              <a:uFillTx/>
              <a:latin typeface="Arial"/>
            </a:endParaRPr>
          </a:p>
        </p:txBody>
      </p:sp>
      <p:sp>
        <p:nvSpPr>
          <p:cNvPr id="245"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US" sz="2600" strike="noStrike" u="none">
                <a:solidFill>
                  <a:srgbClr val="00468f"/>
                </a:solidFill>
                <a:effectLst/>
                <a:uFillTx/>
                <a:latin typeface="Arial"/>
                <a:ea typeface="MS Mincho"/>
              </a:rPr>
              <a:t>The Outcome</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MS Mincho"/>
              </a:rPr>
              <a:t>The court ruled that Microsoft was in violation of the Sherman Act and ordered that the company be broken into two firms:</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One that produces operating systems</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One that produces applications</a:t>
            </a:r>
            <a:endParaRPr b="0" lang="en-CA" sz="2400" strike="noStrike" u="none">
              <a:solidFill>
                <a:schemeClr val="dk1"/>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MS Mincho"/>
              </a:rPr>
              <a:t>Microsoft successfully appealed this order.</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MS Mincho"/>
              </a:rPr>
              <a:t>In its final judgment, the court ordered Microsoft to reveal details of its code to other software developers.</a:t>
            </a:r>
            <a:endParaRPr b="1" lang="en-CA" sz="2400" strike="noStrike" u="none">
              <a:solidFill>
                <a:srgbClr val="00468f"/>
              </a:solidFill>
              <a:effectLst/>
              <a:uFillTx/>
              <a:latin typeface="Arial"/>
            </a:endParaRPr>
          </a:p>
        </p:txBody>
      </p:sp>
    </p:spTree>
  </p:cSld>
  <p:transition spd="slow">
    <p:wipe dir="r"/>
  </p:transition>
  <p:timing>
    <p:tnLst>
      <p:par>
        <p:cTn id="1011" dur="indefinite" restart="never" nodeType="tmRoot">
          <p:childTnLst>
            <p:seq>
              <p:cTn id="1012" dur="indefinite" nodeType="mainSeq">
                <p:childTnLst>
                  <p:par>
                    <p:cTn id="1013" nodeType="clickEffect" fill="hold">
                      <p:stCondLst>
                        <p:cond delay="indefinite"/>
                      </p:stCondLst>
                      <p:childTnLst>
                        <p:par>
                          <p:cTn id="1014" nodeType="withEffect" fill="hold">
                            <p:stCondLst>
                              <p:cond delay="0"/>
                            </p:stCondLst>
                            <p:childTnLst>
                              <p:par>
                                <p:cTn id="1015" nodeType="clickEffect" fill="hold" presetClass="entr" presetID="22" presetSubtype="8">
                                  <p:stCondLst>
                                    <p:cond delay="0"/>
                                  </p:stCondLst>
                                  <p:childTnLst>
                                    <p:set>
                                      <p:cBhvr>
                                        <p:cTn id="1016" dur="1" fill="hold">
                                          <p:stCondLst>
                                            <p:cond delay="0"/>
                                          </p:stCondLst>
                                        </p:cTn>
                                        <p:tgtEl>
                                          <p:spTgt spid="245">
                                            <p:txEl>
                                              <p:pRg st="1" end="1"/>
                                            </p:txEl>
                                          </p:spTgt>
                                        </p:tgtEl>
                                        <p:attrNameLst>
                                          <p:attrName>style.visibility</p:attrName>
                                        </p:attrNameLst>
                                      </p:cBhvr>
                                      <p:to>
                                        <p:strVal val="visible"/>
                                      </p:to>
                                    </p:set>
                                    <p:animEffect filter="wipe(left)" transition="in">
                                      <p:cBhvr additive="repl">
                                        <p:cTn id="1017" dur="500"/>
                                        <p:tgtEl>
                                          <p:spTgt spid="245">
                                            <p:txEl>
                                              <p:pRg st="1" end="1"/>
                                            </p:txEl>
                                          </p:spTgt>
                                        </p:tgtEl>
                                      </p:cBhvr>
                                    </p:animEffect>
                                  </p:childTnLst>
                                </p:cTn>
                              </p:par>
                            </p:childTnLst>
                          </p:cTn>
                        </p:par>
                      </p:childTnLst>
                    </p:cTn>
                  </p:par>
                  <p:par>
                    <p:cTn id="1018" nodeType="clickEffect" fill="hold">
                      <p:stCondLst>
                        <p:cond delay="indefinite"/>
                      </p:stCondLst>
                      <p:childTnLst>
                        <p:par>
                          <p:cTn id="1019" nodeType="withEffect" fill="hold">
                            <p:stCondLst>
                              <p:cond delay="0"/>
                            </p:stCondLst>
                            <p:childTnLst>
                              <p:par>
                                <p:cTn id="1020" nodeType="clickEffect" fill="hold" presetClass="entr" presetID="22" presetSubtype="8">
                                  <p:stCondLst>
                                    <p:cond delay="0"/>
                                  </p:stCondLst>
                                  <p:childTnLst>
                                    <p:set>
                                      <p:cBhvr>
                                        <p:cTn id="1021" dur="1" fill="hold">
                                          <p:stCondLst>
                                            <p:cond delay="0"/>
                                          </p:stCondLst>
                                        </p:cTn>
                                        <p:tgtEl>
                                          <p:spTgt spid="245">
                                            <p:txEl>
                                              <p:pRg st="2" end="2"/>
                                            </p:txEl>
                                          </p:spTgt>
                                        </p:tgtEl>
                                        <p:attrNameLst>
                                          <p:attrName>style.visibility</p:attrName>
                                        </p:attrNameLst>
                                      </p:cBhvr>
                                      <p:to>
                                        <p:strVal val="visible"/>
                                      </p:to>
                                    </p:set>
                                    <p:animEffect filter="wipe(left)" transition="in">
                                      <p:cBhvr additive="repl">
                                        <p:cTn id="1022" dur="500"/>
                                        <p:tgtEl>
                                          <p:spTgt spid="245">
                                            <p:txEl>
                                              <p:pRg st="2" end="2"/>
                                            </p:txEl>
                                          </p:spTgt>
                                        </p:tgtEl>
                                      </p:cBhvr>
                                    </p:animEffect>
                                  </p:childTnLst>
                                </p:cTn>
                              </p:par>
                            </p:childTnLst>
                          </p:cTn>
                        </p:par>
                      </p:childTnLst>
                    </p:cTn>
                  </p:par>
                  <p:par>
                    <p:cTn id="1023" nodeType="clickEffect" fill="hold">
                      <p:stCondLst>
                        <p:cond delay="indefinite"/>
                      </p:stCondLst>
                      <p:childTnLst>
                        <p:par>
                          <p:cTn id="1024" nodeType="withEffect" fill="hold">
                            <p:stCondLst>
                              <p:cond delay="0"/>
                            </p:stCondLst>
                            <p:childTnLst>
                              <p:par>
                                <p:cTn id="1025" nodeType="clickEffect" fill="hold" presetClass="entr" presetID="22" presetSubtype="8">
                                  <p:stCondLst>
                                    <p:cond delay="0"/>
                                  </p:stCondLst>
                                  <p:childTnLst>
                                    <p:set>
                                      <p:cBhvr>
                                        <p:cTn id="1026" dur="1" fill="hold">
                                          <p:stCondLst>
                                            <p:cond delay="0"/>
                                          </p:stCondLst>
                                        </p:cTn>
                                        <p:tgtEl>
                                          <p:spTgt spid="245">
                                            <p:txEl>
                                              <p:pRg st="3" end="3"/>
                                            </p:txEl>
                                          </p:spTgt>
                                        </p:tgtEl>
                                        <p:attrNameLst>
                                          <p:attrName>style.visibility</p:attrName>
                                        </p:attrNameLst>
                                      </p:cBhvr>
                                      <p:to>
                                        <p:strVal val="visible"/>
                                      </p:to>
                                    </p:set>
                                    <p:animEffect filter="wipe(left)" transition="in">
                                      <p:cBhvr additive="repl">
                                        <p:cTn id="1027" dur="500"/>
                                        <p:tgtEl>
                                          <p:spTgt spid="245">
                                            <p:txEl>
                                              <p:pRg st="3" end="3"/>
                                            </p:txEl>
                                          </p:spTgt>
                                        </p:tgtEl>
                                      </p:cBhvr>
                                    </p:animEffect>
                                  </p:childTnLst>
                                </p:cTn>
                              </p:par>
                            </p:childTnLst>
                          </p:cTn>
                        </p:par>
                      </p:childTnLst>
                    </p:cTn>
                  </p:par>
                  <p:par>
                    <p:cTn id="1028" nodeType="clickEffect" fill="hold">
                      <p:stCondLst>
                        <p:cond delay="indefinite"/>
                      </p:stCondLst>
                      <p:childTnLst>
                        <p:par>
                          <p:cTn id="1029" nodeType="withEffect" fill="hold">
                            <p:stCondLst>
                              <p:cond delay="0"/>
                            </p:stCondLst>
                            <p:childTnLst>
                              <p:par>
                                <p:cTn id="1030" nodeType="clickEffect" fill="hold" presetClass="entr" presetID="22" presetSubtype="8">
                                  <p:stCondLst>
                                    <p:cond delay="0"/>
                                  </p:stCondLst>
                                  <p:childTnLst>
                                    <p:set>
                                      <p:cBhvr>
                                        <p:cTn id="1031" dur="1" fill="hold">
                                          <p:stCondLst>
                                            <p:cond delay="0"/>
                                          </p:stCondLst>
                                        </p:cTn>
                                        <p:tgtEl>
                                          <p:spTgt spid="245">
                                            <p:txEl>
                                              <p:pRg st="4" end="4"/>
                                            </p:txEl>
                                          </p:spTgt>
                                        </p:tgtEl>
                                        <p:attrNameLst>
                                          <p:attrName>style.visibility</p:attrName>
                                        </p:attrNameLst>
                                      </p:cBhvr>
                                      <p:to>
                                        <p:strVal val="visible"/>
                                      </p:to>
                                    </p:set>
                                    <p:animEffect filter="wipe(left)" transition="in">
                                      <p:cBhvr additive="repl">
                                        <p:cTn id="1032" dur="500"/>
                                        <p:tgtEl>
                                          <p:spTgt spid="245">
                                            <p:txEl>
                                              <p:pRg st="4" end="4"/>
                                            </p:txEl>
                                          </p:spTgt>
                                        </p:tgtEl>
                                      </p:cBhvr>
                                    </p:animEffect>
                                  </p:childTnLst>
                                </p:cTn>
                              </p:par>
                            </p:childTnLst>
                          </p:cTn>
                        </p:par>
                      </p:childTnLst>
                    </p:cTn>
                  </p:par>
                  <p:par>
                    <p:cTn id="1033" nodeType="clickEffect" fill="hold">
                      <p:stCondLst>
                        <p:cond delay="indefinite"/>
                      </p:stCondLst>
                      <p:childTnLst>
                        <p:par>
                          <p:cTn id="1034" nodeType="withEffect" fill="hold">
                            <p:stCondLst>
                              <p:cond delay="0"/>
                            </p:stCondLst>
                            <p:childTnLst>
                              <p:par>
                                <p:cTn id="1035" nodeType="clickEffect" fill="hold" presetClass="entr" presetID="22" presetSubtype="8">
                                  <p:stCondLst>
                                    <p:cond delay="0"/>
                                  </p:stCondLst>
                                  <p:childTnLst>
                                    <p:set>
                                      <p:cBhvr>
                                        <p:cTn id="1036" dur="1" fill="hold">
                                          <p:stCondLst>
                                            <p:cond delay="0"/>
                                          </p:stCondLst>
                                        </p:cTn>
                                        <p:tgtEl>
                                          <p:spTgt spid="245">
                                            <p:txEl>
                                              <p:pRg st="5" end="5"/>
                                            </p:txEl>
                                          </p:spTgt>
                                        </p:tgtEl>
                                        <p:attrNameLst>
                                          <p:attrName>style.visibility</p:attrName>
                                        </p:attrNameLst>
                                      </p:cBhvr>
                                      <p:to>
                                        <p:strVal val="visible"/>
                                      </p:to>
                                    </p:set>
                                    <p:animEffect filter="wipe(left)" transition="in">
                                      <p:cBhvr additive="repl">
                                        <p:cTn id="1037" dur="500"/>
                                        <p:tgtEl>
                                          <p:spTgt spid="245">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18.4  ANTITRUST LAWS</a:t>
            </a:r>
            <a:endParaRPr b="0" lang="en-CA" sz="2600" strike="noStrike" u="none">
              <a:solidFill>
                <a:schemeClr val="dk1"/>
              </a:solidFill>
              <a:effectLst/>
              <a:uFillTx/>
              <a:latin typeface="Arial"/>
            </a:endParaRPr>
          </a:p>
        </p:txBody>
      </p:sp>
      <p:sp>
        <p:nvSpPr>
          <p:cNvPr id="247"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CA" sz="2800" strike="noStrike" u="none">
                <a:solidFill>
                  <a:srgbClr val="00468f"/>
                </a:solidFill>
                <a:effectLst/>
                <a:uFillTx/>
                <a:latin typeface="Arial"/>
                <a:ea typeface="MS Mincho"/>
              </a:rPr>
              <a:t>Merger Rules</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0" lang="en-CA" sz="2400" strike="noStrike" u="none">
                <a:solidFill>
                  <a:schemeClr val="dk1"/>
                </a:solidFill>
                <a:effectLst/>
                <a:uFillTx/>
                <a:latin typeface="Arial"/>
                <a:ea typeface="MS Mincho"/>
              </a:rPr>
              <a:t>The Department of Justice uses </a:t>
            </a:r>
            <a:r>
              <a:rPr b="0" lang="en-US" sz="2400" strike="noStrike" u="none">
                <a:solidFill>
                  <a:schemeClr val="dk1"/>
                </a:solidFill>
                <a:effectLst/>
                <a:uFillTx/>
                <a:latin typeface="Arial"/>
                <a:ea typeface="MS Mincho"/>
              </a:rPr>
              <a:t>HHI to determine which mergers it will examine and possibly block:</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A HHI between 1,000 and 1,800 indicates a moderately concentrated market.</a:t>
            </a:r>
            <a:endParaRPr b="0" lang="en-CA" sz="2400" strike="noStrike" u="none">
              <a:solidFill>
                <a:schemeClr val="dk1"/>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MS Mincho"/>
              </a:rPr>
              <a:t>The Department of Justice challenges a merger that would increase the index by 100 points.</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A HHI above 1,800 indicates a concentrated market.</a:t>
            </a:r>
            <a:endParaRPr b="0" lang="en-CA" sz="2400" strike="noStrike" u="none">
              <a:solidFill>
                <a:schemeClr val="dk1"/>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MS Mincho"/>
              </a:rPr>
              <a:t>The Department of Justice challenges a merger that would increase the index by 50 points.</a:t>
            </a:r>
            <a:endParaRPr b="1" lang="en-CA" sz="2400" strike="noStrike" u="none">
              <a:solidFill>
                <a:srgbClr val="00468f"/>
              </a:solidFill>
              <a:effectLst/>
              <a:uFillTx/>
              <a:latin typeface="Arial"/>
            </a:endParaRPr>
          </a:p>
        </p:txBody>
      </p:sp>
    </p:spTree>
  </p:cSld>
  <p:transition spd="slow">
    <p:wipe dir="r"/>
  </p:transition>
  <p:timing>
    <p:tnLst>
      <p:par>
        <p:cTn id="1038" dur="indefinite" restart="never" nodeType="tmRoot">
          <p:childTnLst>
            <p:seq>
              <p:cTn id="1039" dur="indefinite" nodeType="mainSeq">
                <p:childTnLst>
                  <p:par>
                    <p:cTn id="1040" nodeType="clickEffect" fill="hold">
                      <p:stCondLst>
                        <p:cond delay="indefinite"/>
                      </p:stCondLst>
                      <p:childTnLst>
                        <p:par>
                          <p:cTn id="1041" nodeType="withEffect" fill="hold">
                            <p:stCondLst>
                              <p:cond delay="0"/>
                            </p:stCondLst>
                            <p:childTnLst>
                              <p:par>
                                <p:cTn id="1042" nodeType="clickEffect" fill="hold" presetClass="entr" presetID="22" presetSubtype="8">
                                  <p:stCondLst>
                                    <p:cond delay="0"/>
                                  </p:stCondLst>
                                  <p:childTnLst>
                                    <p:set>
                                      <p:cBhvr>
                                        <p:cTn id="1043" dur="1" fill="hold">
                                          <p:stCondLst>
                                            <p:cond delay="0"/>
                                          </p:stCondLst>
                                        </p:cTn>
                                        <p:tgtEl>
                                          <p:spTgt spid="247">
                                            <p:txEl>
                                              <p:pRg st="1" end="1"/>
                                            </p:txEl>
                                          </p:spTgt>
                                        </p:tgtEl>
                                        <p:attrNameLst>
                                          <p:attrName>style.visibility</p:attrName>
                                        </p:attrNameLst>
                                      </p:cBhvr>
                                      <p:to>
                                        <p:strVal val="visible"/>
                                      </p:to>
                                    </p:set>
                                    <p:animEffect filter="wipe(left)" transition="in">
                                      <p:cBhvr additive="repl">
                                        <p:cTn id="1044" dur="500"/>
                                        <p:tgtEl>
                                          <p:spTgt spid="247">
                                            <p:txEl>
                                              <p:pRg st="1" end="1"/>
                                            </p:txEl>
                                          </p:spTgt>
                                        </p:tgtEl>
                                      </p:cBhvr>
                                    </p:animEffect>
                                  </p:childTnLst>
                                </p:cTn>
                              </p:par>
                            </p:childTnLst>
                          </p:cTn>
                        </p:par>
                      </p:childTnLst>
                    </p:cTn>
                  </p:par>
                  <p:par>
                    <p:cTn id="1045" nodeType="clickEffect" fill="hold">
                      <p:stCondLst>
                        <p:cond delay="indefinite"/>
                      </p:stCondLst>
                      <p:childTnLst>
                        <p:par>
                          <p:cTn id="1046" nodeType="withEffect" fill="hold">
                            <p:stCondLst>
                              <p:cond delay="0"/>
                            </p:stCondLst>
                            <p:childTnLst>
                              <p:par>
                                <p:cTn id="1047" nodeType="clickEffect" fill="hold" presetClass="entr" presetID="22" presetSubtype="8">
                                  <p:stCondLst>
                                    <p:cond delay="0"/>
                                  </p:stCondLst>
                                  <p:childTnLst>
                                    <p:set>
                                      <p:cBhvr>
                                        <p:cTn id="1048" dur="1" fill="hold">
                                          <p:stCondLst>
                                            <p:cond delay="0"/>
                                          </p:stCondLst>
                                        </p:cTn>
                                        <p:tgtEl>
                                          <p:spTgt spid="247">
                                            <p:txEl>
                                              <p:pRg st="2" end="2"/>
                                            </p:txEl>
                                          </p:spTgt>
                                        </p:tgtEl>
                                        <p:attrNameLst>
                                          <p:attrName>style.visibility</p:attrName>
                                        </p:attrNameLst>
                                      </p:cBhvr>
                                      <p:to>
                                        <p:strVal val="visible"/>
                                      </p:to>
                                    </p:set>
                                    <p:animEffect filter="wipe(left)" transition="in">
                                      <p:cBhvr additive="repl">
                                        <p:cTn id="1049" dur="500"/>
                                        <p:tgtEl>
                                          <p:spTgt spid="247">
                                            <p:txEl>
                                              <p:pRg st="2" end="2"/>
                                            </p:txEl>
                                          </p:spTgt>
                                        </p:tgtEl>
                                      </p:cBhvr>
                                    </p:animEffect>
                                  </p:childTnLst>
                                </p:cTn>
                              </p:par>
                            </p:childTnLst>
                          </p:cTn>
                        </p:par>
                      </p:childTnLst>
                    </p:cTn>
                  </p:par>
                  <p:par>
                    <p:cTn id="1050" nodeType="clickEffect" fill="hold">
                      <p:stCondLst>
                        <p:cond delay="indefinite"/>
                      </p:stCondLst>
                      <p:childTnLst>
                        <p:par>
                          <p:cTn id="1051" nodeType="withEffect" fill="hold">
                            <p:stCondLst>
                              <p:cond delay="0"/>
                            </p:stCondLst>
                            <p:childTnLst>
                              <p:par>
                                <p:cTn id="1052" nodeType="clickEffect" fill="hold" presetClass="entr" presetID="22" presetSubtype="8">
                                  <p:stCondLst>
                                    <p:cond delay="0"/>
                                  </p:stCondLst>
                                  <p:childTnLst>
                                    <p:set>
                                      <p:cBhvr>
                                        <p:cTn id="1053" dur="1" fill="hold">
                                          <p:stCondLst>
                                            <p:cond delay="0"/>
                                          </p:stCondLst>
                                        </p:cTn>
                                        <p:tgtEl>
                                          <p:spTgt spid="247">
                                            <p:txEl>
                                              <p:pRg st="3" end="3"/>
                                            </p:txEl>
                                          </p:spTgt>
                                        </p:tgtEl>
                                        <p:attrNameLst>
                                          <p:attrName>style.visibility</p:attrName>
                                        </p:attrNameLst>
                                      </p:cBhvr>
                                      <p:to>
                                        <p:strVal val="visible"/>
                                      </p:to>
                                    </p:set>
                                    <p:animEffect filter="wipe(left)" transition="in">
                                      <p:cBhvr additive="repl">
                                        <p:cTn id="1054" dur="500"/>
                                        <p:tgtEl>
                                          <p:spTgt spid="247">
                                            <p:txEl>
                                              <p:pRg st="3" end="3"/>
                                            </p:txEl>
                                          </p:spTgt>
                                        </p:tgtEl>
                                      </p:cBhvr>
                                    </p:animEffect>
                                  </p:childTnLst>
                                </p:cTn>
                              </p:par>
                            </p:childTnLst>
                          </p:cTn>
                        </p:par>
                      </p:childTnLst>
                    </p:cTn>
                  </p:par>
                  <p:par>
                    <p:cTn id="1055" nodeType="clickEffect" fill="hold">
                      <p:stCondLst>
                        <p:cond delay="indefinite"/>
                      </p:stCondLst>
                      <p:childTnLst>
                        <p:par>
                          <p:cTn id="1056" nodeType="withEffect" fill="hold">
                            <p:stCondLst>
                              <p:cond delay="0"/>
                            </p:stCondLst>
                            <p:childTnLst>
                              <p:par>
                                <p:cTn id="1057" nodeType="clickEffect" fill="hold" presetClass="entr" presetID="22" presetSubtype="8">
                                  <p:stCondLst>
                                    <p:cond delay="0"/>
                                  </p:stCondLst>
                                  <p:childTnLst>
                                    <p:set>
                                      <p:cBhvr>
                                        <p:cTn id="1058" dur="1" fill="hold">
                                          <p:stCondLst>
                                            <p:cond delay="0"/>
                                          </p:stCondLst>
                                        </p:cTn>
                                        <p:tgtEl>
                                          <p:spTgt spid="247">
                                            <p:txEl>
                                              <p:pRg st="4" end="4"/>
                                            </p:txEl>
                                          </p:spTgt>
                                        </p:tgtEl>
                                        <p:attrNameLst>
                                          <p:attrName>style.visibility</p:attrName>
                                        </p:attrNameLst>
                                      </p:cBhvr>
                                      <p:to>
                                        <p:strVal val="visible"/>
                                      </p:to>
                                    </p:set>
                                    <p:animEffect filter="wipe(left)" transition="in">
                                      <p:cBhvr additive="repl">
                                        <p:cTn id="1059" dur="500"/>
                                        <p:tgtEl>
                                          <p:spTgt spid="247">
                                            <p:txEl>
                                              <p:pRg st="4" end="4"/>
                                            </p:txEl>
                                          </p:spTgt>
                                        </p:tgtEl>
                                      </p:cBhvr>
                                    </p:animEffect>
                                  </p:childTnLst>
                                </p:cTn>
                              </p:par>
                            </p:childTnLst>
                          </p:cTn>
                        </p:par>
                      </p:childTnLst>
                    </p:cTn>
                  </p:par>
                  <p:par>
                    <p:cTn id="1060" nodeType="clickEffect" fill="hold">
                      <p:stCondLst>
                        <p:cond delay="indefinite"/>
                      </p:stCondLst>
                      <p:childTnLst>
                        <p:par>
                          <p:cTn id="1061" nodeType="withEffect" fill="hold">
                            <p:stCondLst>
                              <p:cond delay="0"/>
                            </p:stCondLst>
                            <p:childTnLst>
                              <p:par>
                                <p:cTn id="1062" nodeType="clickEffect" fill="hold" presetClass="entr" presetID="22" presetSubtype="8">
                                  <p:stCondLst>
                                    <p:cond delay="0"/>
                                  </p:stCondLst>
                                  <p:childTnLst>
                                    <p:set>
                                      <p:cBhvr>
                                        <p:cTn id="1063" dur="1" fill="hold">
                                          <p:stCondLst>
                                            <p:cond delay="0"/>
                                          </p:stCondLst>
                                        </p:cTn>
                                        <p:tgtEl>
                                          <p:spTgt spid="247">
                                            <p:txEl>
                                              <p:pRg st="5" end="5"/>
                                            </p:txEl>
                                          </p:spTgt>
                                        </p:tgtEl>
                                        <p:attrNameLst>
                                          <p:attrName>style.visibility</p:attrName>
                                        </p:attrNameLst>
                                      </p:cBhvr>
                                      <p:to>
                                        <p:strVal val="visible"/>
                                      </p:to>
                                    </p:set>
                                    <p:animEffect filter="wipe(left)" transition="in">
                                      <p:cBhvr additive="repl">
                                        <p:cTn id="1064" dur="500"/>
                                        <p:tgtEl>
                                          <p:spTgt spid="247">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Rectangle 3"/>
          <p:cNvSpPr/>
          <p:nvPr/>
        </p:nvSpPr>
        <p:spPr>
          <a:xfrm>
            <a:off x="360360" y="1511280"/>
            <a:ext cx="7868880" cy="434304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Your smartphone plan is almost certainly with one of four firms: AT&amp;T, Verizon, Sprint, or T-Mobile. </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AT&amp;T and Verizon are the dominant players, but sharing almost equally the other third, Sprint and T-Mobile are also significant participants in what is a wireless service oligopoly.</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Does this market have enough firms? Is four too few? </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Would consumers be better served if more firms entered the market?</a:t>
            </a:r>
            <a:endParaRPr b="0" lang="en-US" sz="2400" strike="noStrike" u="none">
              <a:solidFill>
                <a:srgbClr val="000000"/>
              </a:solidFill>
              <a:effectLst/>
              <a:uFillTx/>
              <a:latin typeface="Arial"/>
            </a:endParaRPr>
          </a:p>
          <a:p>
            <a:pPr marL="108000">
              <a:lnSpc>
                <a:spcPct val="100000"/>
              </a:lnSpc>
              <a:spcBef>
                <a:spcPts val="1400"/>
              </a:spcBef>
            </a:pPr>
            <a:endParaRPr b="0" lang="en-US" sz="2400" strike="noStrike" u="none">
              <a:solidFill>
                <a:srgbClr val="000000"/>
              </a:solidFill>
              <a:effectLst/>
              <a:uFillTx/>
              <a:latin typeface="Arial"/>
            </a:endParaRPr>
          </a:p>
        </p:txBody>
      </p:sp>
      <p:pic>
        <p:nvPicPr>
          <p:cNvPr id="249" name="Picture 1" descr=""/>
          <p:cNvPicPr/>
          <p:nvPr/>
        </p:nvPicPr>
        <p:blipFill>
          <a:blip r:embed="rId1"/>
          <a:stretch/>
        </p:blipFill>
        <p:spPr>
          <a:xfrm>
            <a:off x="0" y="0"/>
            <a:ext cx="7775280" cy="1336320"/>
          </a:xfrm>
          <a:prstGeom prst="rect">
            <a:avLst/>
          </a:prstGeom>
          <a:noFill/>
          <a:ln w="0">
            <a:noFill/>
          </a:ln>
        </p:spPr>
      </p:pic>
    </p:spTree>
  </p:cSld>
  <p:transition spd="slow">
    <p:wipe dir="r"/>
  </p:transition>
  <p:timing>
    <p:tnLst>
      <p:par>
        <p:cTn id="1065" dur="indefinite" restart="never" nodeType="tmRoot">
          <p:childTnLst>
            <p:seq>
              <p:cTn id="1066" dur="indefinite" nodeType="mainSeq">
                <p:childTnLst>
                  <p:par>
                    <p:cTn id="1067" nodeType="clickEffect" fill="hold">
                      <p:stCondLst>
                        <p:cond delay="indefinite"/>
                      </p:stCondLst>
                      <p:childTnLst>
                        <p:par>
                          <p:cTn id="1068" nodeType="withEffect" fill="hold">
                            <p:stCondLst>
                              <p:cond delay="0"/>
                            </p:stCondLst>
                            <p:childTnLst>
                              <p:par>
                                <p:cTn id="1069" nodeType="clickEffect" fill="hold" presetClass="entr" presetID="22" presetSubtype="8">
                                  <p:stCondLst>
                                    <p:cond delay="0"/>
                                  </p:stCondLst>
                                  <p:childTnLst>
                                    <p:set>
                                      <p:cBhvr>
                                        <p:cTn id="1070" dur="1" fill="hold">
                                          <p:stCondLst>
                                            <p:cond delay="0"/>
                                          </p:stCondLst>
                                        </p:cTn>
                                        <p:tgtEl>
                                          <p:spTgt spid="248">
                                            <p:txEl>
                                              <p:pRg st="0" end="0"/>
                                            </p:txEl>
                                          </p:spTgt>
                                        </p:tgtEl>
                                        <p:attrNameLst>
                                          <p:attrName>style.visibility</p:attrName>
                                        </p:attrNameLst>
                                      </p:cBhvr>
                                      <p:to>
                                        <p:strVal val="visible"/>
                                      </p:to>
                                    </p:set>
                                    <p:animEffect filter="wipe(left)" transition="in">
                                      <p:cBhvr additive="repl">
                                        <p:cTn id="1071" dur="500"/>
                                        <p:tgtEl>
                                          <p:spTgt spid="248">
                                            <p:txEl>
                                              <p:pRg st="0" end="0"/>
                                            </p:txEl>
                                          </p:spTgt>
                                        </p:tgtEl>
                                      </p:cBhvr>
                                    </p:animEffect>
                                  </p:childTnLst>
                                </p:cTn>
                              </p:par>
                            </p:childTnLst>
                          </p:cTn>
                        </p:par>
                      </p:childTnLst>
                    </p:cTn>
                  </p:par>
                  <p:par>
                    <p:cTn id="1072" nodeType="clickEffect" fill="hold">
                      <p:stCondLst>
                        <p:cond delay="indefinite"/>
                      </p:stCondLst>
                      <p:childTnLst>
                        <p:par>
                          <p:cTn id="1073" nodeType="withEffect" fill="hold">
                            <p:stCondLst>
                              <p:cond delay="0"/>
                            </p:stCondLst>
                            <p:childTnLst>
                              <p:par>
                                <p:cTn id="1074" nodeType="clickEffect" fill="hold" presetClass="entr" presetID="22" presetSubtype="8">
                                  <p:stCondLst>
                                    <p:cond delay="0"/>
                                  </p:stCondLst>
                                  <p:childTnLst>
                                    <p:set>
                                      <p:cBhvr>
                                        <p:cTn id="1075" dur="1" fill="hold">
                                          <p:stCondLst>
                                            <p:cond delay="0"/>
                                          </p:stCondLst>
                                        </p:cTn>
                                        <p:tgtEl>
                                          <p:spTgt spid="248">
                                            <p:txEl>
                                              <p:pRg st="1" end="1"/>
                                            </p:txEl>
                                          </p:spTgt>
                                        </p:tgtEl>
                                        <p:attrNameLst>
                                          <p:attrName>style.visibility</p:attrName>
                                        </p:attrNameLst>
                                      </p:cBhvr>
                                      <p:to>
                                        <p:strVal val="visible"/>
                                      </p:to>
                                    </p:set>
                                    <p:animEffect filter="wipe(left)" transition="in">
                                      <p:cBhvr additive="repl">
                                        <p:cTn id="1076" dur="500"/>
                                        <p:tgtEl>
                                          <p:spTgt spid="248">
                                            <p:txEl>
                                              <p:pRg st="1" end="1"/>
                                            </p:txEl>
                                          </p:spTgt>
                                        </p:tgtEl>
                                      </p:cBhvr>
                                    </p:animEffect>
                                  </p:childTnLst>
                                </p:cTn>
                              </p:par>
                            </p:childTnLst>
                          </p:cTn>
                        </p:par>
                      </p:childTnLst>
                    </p:cTn>
                  </p:par>
                  <p:par>
                    <p:cTn id="1077" nodeType="clickEffect" fill="hold">
                      <p:stCondLst>
                        <p:cond delay="indefinite"/>
                      </p:stCondLst>
                      <p:childTnLst>
                        <p:par>
                          <p:cTn id="1078" nodeType="withEffect" fill="hold">
                            <p:stCondLst>
                              <p:cond delay="0"/>
                            </p:stCondLst>
                            <p:childTnLst>
                              <p:par>
                                <p:cTn id="1079" nodeType="clickEffect" fill="hold" presetClass="entr" presetID="22" presetSubtype="8">
                                  <p:stCondLst>
                                    <p:cond delay="0"/>
                                  </p:stCondLst>
                                  <p:childTnLst>
                                    <p:set>
                                      <p:cBhvr>
                                        <p:cTn id="1080" dur="1" fill="hold">
                                          <p:stCondLst>
                                            <p:cond delay="0"/>
                                          </p:stCondLst>
                                        </p:cTn>
                                        <p:tgtEl>
                                          <p:spTgt spid="248">
                                            <p:txEl>
                                              <p:pRg st="2" end="2"/>
                                            </p:txEl>
                                          </p:spTgt>
                                        </p:tgtEl>
                                        <p:attrNameLst>
                                          <p:attrName>style.visibility</p:attrName>
                                        </p:attrNameLst>
                                      </p:cBhvr>
                                      <p:to>
                                        <p:strVal val="visible"/>
                                      </p:to>
                                    </p:set>
                                    <p:animEffect filter="wipe(left)" transition="in">
                                      <p:cBhvr additive="repl">
                                        <p:cTn id="1081" dur="500"/>
                                        <p:tgtEl>
                                          <p:spTgt spid="248">
                                            <p:txEl>
                                              <p:pRg st="2" end="2"/>
                                            </p:txEl>
                                          </p:spTgt>
                                        </p:tgtEl>
                                      </p:cBhvr>
                                    </p:animEffect>
                                  </p:childTnLst>
                                </p:cTn>
                              </p:par>
                            </p:childTnLst>
                          </p:cTn>
                        </p:par>
                      </p:childTnLst>
                    </p:cTn>
                  </p:par>
                  <p:par>
                    <p:cTn id="1082" nodeType="clickEffect" fill="hold">
                      <p:stCondLst>
                        <p:cond delay="indefinite"/>
                      </p:stCondLst>
                      <p:childTnLst>
                        <p:par>
                          <p:cTn id="1083" nodeType="withEffect" fill="hold">
                            <p:stCondLst>
                              <p:cond delay="0"/>
                            </p:stCondLst>
                            <p:childTnLst>
                              <p:par>
                                <p:cTn id="1084" nodeType="clickEffect" fill="hold" presetClass="entr" presetID="22" presetSubtype="8">
                                  <p:stCondLst>
                                    <p:cond delay="0"/>
                                  </p:stCondLst>
                                  <p:childTnLst>
                                    <p:set>
                                      <p:cBhvr>
                                        <p:cTn id="1085" dur="1" fill="hold">
                                          <p:stCondLst>
                                            <p:cond delay="0"/>
                                          </p:stCondLst>
                                        </p:cTn>
                                        <p:tgtEl>
                                          <p:spTgt spid="248">
                                            <p:txEl>
                                              <p:pRg st="3" end="3"/>
                                            </p:txEl>
                                          </p:spTgt>
                                        </p:tgtEl>
                                        <p:attrNameLst>
                                          <p:attrName>style.visibility</p:attrName>
                                        </p:attrNameLst>
                                      </p:cBhvr>
                                      <p:to>
                                        <p:strVal val="visible"/>
                                      </p:to>
                                    </p:set>
                                    <p:animEffect filter="wipe(left)" transition="in">
                                      <p:cBhvr additive="repl">
                                        <p:cTn id="1086" dur="500"/>
                                        <p:tgtEl>
                                          <p:spTgt spid="248">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Rectangle 3"/>
          <p:cNvSpPr/>
          <p:nvPr/>
        </p:nvSpPr>
        <p:spPr>
          <a:xfrm>
            <a:off x="360360" y="1511280"/>
            <a:ext cx="4211280" cy="457164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Figure 1 shows the four firms’ market shares along with that of a token fifth firm, U.S. Cellular.</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Figure 2 shows the gross earnings of the four wireless firms. (Gross means before deducting </a:t>
            </a:r>
            <a:r>
              <a:rPr b="0" lang="en-CA" sz="2400" strike="noStrike" u="none">
                <a:solidFill>
                  <a:srgbClr val="000000"/>
                </a:solidFill>
                <a:effectLst/>
                <a:uFillTx/>
                <a:latin typeface="Arial"/>
                <a:ea typeface="ＭＳ Ｐゴシック"/>
              </a:rPr>
              <a:t>depreciation.)</a:t>
            </a:r>
            <a:endParaRPr b="0" lang="en-US" sz="2400" strike="noStrike" u="none">
              <a:solidFill>
                <a:srgbClr val="000000"/>
              </a:solidFill>
              <a:effectLst/>
              <a:uFillTx/>
              <a:latin typeface="Arial"/>
            </a:endParaRPr>
          </a:p>
        </p:txBody>
      </p:sp>
      <p:pic>
        <p:nvPicPr>
          <p:cNvPr id="251" name="Picture 13" descr=""/>
          <p:cNvPicPr/>
          <p:nvPr/>
        </p:nvPicPr>
        <p:blipFill>
          <a:blip r:embed="rId1"/>
          <a:stretch/>
        </p:blipFill>
        <p:spPr>
          <a:xfrm>
            <a:off x="0" y="0"/>
            <a:ext cx="7775280" cy="1336320"/>
          </a:xfrm>
          <a:prstGeom prst="rect">
            <a:avLst/>
          </a:prstGeom>
          <a:noFill/>
          <a:ln w="0">
            <a:noFill/>
          </a:ln>
        </p:spPr>
      </p:pic>
      <p:pic>
        <p:nvPicPr>
          <p:cNvPr id="252" name="Picture 13" descr=""/>
          <p:cNvPicPr/>
          <p:nvPr/>
        </p:nvPicPr>
        <p:blipFill>
          <a:blip r:embed="rId2"/>
          <a:stretch/>
        </p:blipFill>
        <p:spPr>
          <a:xfrm>
            <a:off x="5105520" y="1143000"/>
            <a:ext cx="3400200" cy="5238360"/>
          </a:xfrm>
          <a:prstGeom prst="rect">
            <a:avLst/>
          </a:prstGeom>
          <a:noFill/>
          <a:ln w="0">
            <a:noFill/>
          </a:ln>
        </p:spPr>
      </p:pic>
      <p:pic>
        <p:nvPicPr>
          <p:cNvPr id="253" name="Picture 14" descr=""/>
          <p:cNvPicPr/>
          <p:nvPr/>
        </p:nvPicPr>
        <p:blipFill>
          <a:blip r:embed="rId3"/>
          <a:stretch/>
        </p:blipFill>
        <p:spPr>
          <a:xfrm>
            <a:off x="5105520" y="1143000"/>
            <a:ext cx="3400200" cy="5238360"/>
          </a:xfrm>
          <a:prstGeom prst="rect">
            <a:avLst/>
          </a:prstGeom>
          <a:noFill/>
          <a:ln w="0">
            <a:noFill/>
          </a:ln>
        </p:spPr>
      </p:pic>
      <p:pic>
        <p:nvPicPr>
          <p:cNvPr id="254" name="Picture 15" descr=""/>
          <p:cNvPicPr/>
          <p:nvPr/>
        </p:nvPicPr>
        <p:blipFill>
          <a:blip r:embed="rId4"/>
          <a:stretch/>
        </p:blipFill>
        <p:spPr>
          <a:xfrm>
            <a:off x="5105520" y="1143000"/>
            <a:ext cx="3400200" cy="5238360"/>
          </a:xfrm>
          <a:prstGeom prst="rect">
            <a:avLst/>
          </a:prstGeom>
          <a:noFill/>
          <a:ln w="0">
            <a:noFill/>
          </a:ln>
        </p:spPr>
      </p:pic>
      <p:pic>
        <p:nvPicPr>
          <p:cNvPr id="255" name="Picture 16" descr=""/>
          <p:cNvPicPr/>
          <p:nvPr/>
        </p:nvPicPr>
        <p:blipFill>
          <a:blip r:embed="rId5"/>
          <a:stretch/>
        </p:blipFill>
        <p:spPr>
          <a:xfrm>
            <a:off x="5105520" y="1143000"/>
            <a:ext cx="3400200" cy="5238360"/>
          </a:xfrm>
          <a:prstGeom prst="rect">
            <a:avLst/>
          </a:prstGeom>
          <a:noFill/>
          <a:ln w="0">
            <a:noFill/>
          </a:ln>
        </p:spPr>
      </p:pic>
      <p:pic>
        <p:nvPicPr>
          <p:cNvPr id="256" name="Picture 17" descr=""/>
          <p:cNvPicPr/>
          <p:nvPr/>
        </p:nvPicPr>
        <p:blipFill>
          <a:blip r:embed="rId6"/>
          <a:stretch/>
        </p:blipFill>
        <p:spPr>
          <a:xfrm>
            <a:off x="5105520" y="1143000"/>
            <a:ext cx="3400200" cy="5238360"/>
          </a:xfrm>
          <a:prstGeom prst="rect">
            <a:avLst/>
          </a:prstGeom>
          <a:noFill/>
          <a:ln w="0">
            <a:noFill/>
          </a:ln>
        </p:spPr>
      </p:pic>
      <p:pic>
        <p:nvPicPr>
          <p:cNvPr id="257" name="Picture 18" descr=""/>
          <p:cNvPicPr/>
          <p:nvPr/>
        </p:nvPicPr>
        <p:blipFill>
          <a:blip r:embed="rId7"/>
          <a:stretch/>
        </p:blipFill>
        <p:spPr>
          <a:xfrm>
            <a:off x="5105520" y="1143000"/>
            <a:ext cx="3400200" cy="5238360"/>
          </a:xfrm>
          <a:prstGeom prst="rect">
            <a:avLst/>
          </a:prstGeom>
          <a:noFill/>
          <a:ln w="0">
            <a:noFill/>
          </a:ln>
        </p:spPr>
      </p:pic>
      <p:pic>
        <p:nvPicPr>
          <p:cNvPr id="258" name="Picture 19" descr=""/>
          <p:cNvPicPr/>
          <p:nvPr/>
        </p:nvPicPr>
        <p:blipFill>
          <a:blip r:embed="rId8"/>
          <a:stretch/>
        </p:blipFill>
        <p:spPr>
          <a:xfrm>
            <a:off x="5105520" y="1143000"/>
            <a:ext cx="3400200" cy="5238360"/>
          </a:xfrm>
          <a:prstGeom prst="rect">
            <a:avLst/>
          </a:prstGeom>
          <a:noFill/>
          <a:ln w="0">
            <a:noFill/>
          </a:ln>
        </p:spPr>
      </p:pic>
      <p:pic>
        <p:nvPicPr>
          <p:cNvPr id="259" name="Picture 20" descr=""/>
          <p:cNvPicPr/>
          <p:nvPr/>
        </p:nvPicPr>
        <p:blipFill>
          <a:blip r:embed="rId9"/>
          <a:stretch/>
        </p:blipFill>
        <p:spPr>
          <a:xfrm>
            <a:off x="5105520" y="1143000"/>
            <a:ext cx="3400200" cy="5238360"/>
          </a:xfrm>
          <a:prstGeom prst="rect">
            <a:avLst/>
          </a:prstGeom>
          <a:noFill/>
          <a:ln w="0">
            <a:noFill/>
          </a:ln>
        </p:spPr>
      </p:pic>
      <p:pic>
        <p:nvPicPr>
          <p:cNvPr id="260" name="Picture 21" descr=""/>
          <p:cNvPicPr/>
          <p:nvPr/>
        </p:nvPicPr>
        <p:blipFill>
          <a:blip r:embed="rId10"/>
          <a:stretch/>
        </p:blipFill>
        <p:spPr>
          <a:xfrm>
            <a:off x="5105520" y="1143000"/>
            <a:ext cx="3400200" cy="5238360"/>
          </a:xfrm>
          <a:prstGeom prst="rect">
            <a:avLst/>
          </a:prstGeom>
          <a:noFill/>
          <a:ln w="0">
            <a:noFill/>
          </a:ln>
        </p:spPr>
      </p:pic>
      <p:pic>
        <p:nvPicPr>
          <p:cNvPr id="261" name="Picture 22" descr=""/>
          <p:cNvPicPr/>
          <p:nvPr/>
        </p:nvPicPr>
        <p:blipFill>
          <a:blip r:embed="rId11"/>
          <a:stretch/>
        </p:blipFill>
        <p:spPr>
          <a:xfrm>
            <a:off x="5105520" y="1143000"/>
            <a:ext cx="3400200" cy="5238360"/>
          </a:xfrm>
          <a:prstGeom prst="rect">
            <a:avLst/>
          </a:prstGeom>
          <a:noFill/>
          <a:ln w="0">
            <a:noFill/>
          </a:ln>
        </p:spPr>
      </p:pic>
    </p:spTree>
  </p:cSld>
  <p:transition spd="slow">
    <p:wipe dir="r"/>
  </p:transition>
  <p:timing>
    <p:tnLst>
      <p:par>
        <p:cTn id="1087" dur="indefinite" restart="never" nodeType="tmRoot">
          <p:childTnLst>
            <p:seq>
              <p:cTn id="1088" dur="indefinite" nodeType="mainSeq">
                <p:childTnLst>
                  <p:par>
                    <p:cTn id="1089" nodeType="clickEffect" fill="hold">
                      <p:stCondLst>
                        <p:cond delay="0"/>
                      </p:stCondLst>
                      <p:childTnLst>
                        <p:par>
                          <p:cTn id="1090" nodeType="withEffect" fill="hold">
                            <p:stCondLst>
                              <p:cond delay="0"/>
                            </p:stCondLst>
                            <p:childTnLst>
                              <p:par>
                                <p:cTn id="1091" nodeType="withEffect" fill="hold" presetClass="entr" presetID="10">
                                  <p:stCondLst>
                                    <p:cond delay="0"/>
                                  </p:stCondLst>
                                  <p:childTnLst>
                                    <p:set>
                                      <p:cBhvr>
                                        <p:cTn id="1092" dur="1" fill="hold">
                                          <p:stCondLst>
                                            <p:cond delay="0"/>
                                          </p:stCondLst>
                                        </p:cTn>
                                        <p:tgtEl>
                                          <p:spTgt spid="253"/>
                                        </p:tgtEl>
                                        <p:attrNameLst>
                                          <p:attrName>style.visibility</p:attrName>
                                        </p:attrNameLst>
                                      </p:cBhvr>
                                      <p:to>
                                        <p:strVal val="visible"/>
                                      </p:to>
                                    </p:set>
                                    <p:animEffect filter="fade" transition="in">
                                      <p:cBhvr additive="repl">
                                        <p:cTn id="1093" dur="500"/>
                                        <p:tgtEl>
                                          <p:spTgt spid="253"/>
                                        </p:tgtEl>
                                      </p:cBhvr>
                                    </p:animEffect>
                                  </p:childTnLst>
                                </p:cTn>
                              </p:par>
                            </p:childTnLst>
                          </p:cTn>
                        </p:par>
                        <p:par>
                          <p:cTn id="1094" nodeType="afterEffect" fill="hold">
                            <p:stCondLst>
                              <p:cond delay="500"/>
                            </p:stCondLst>
                            <p:childTnLst>
                              <p:par>
                                <p:cTn id="1095" nodeType="afterEffect" fill="hold" presetClass="entr" presetID="10">
                                  <p:stCondLst>
                                    <p:cond delay="0"/>
                                  </p:stCondLst>
                                  <p:childTnLst>
                                    <p:set>
                                      <p:cBhvr>
                                        <p:cTn id="1096" dur="1" fill="hold">
                                          <p:stCondLst>
                                            <p:cond delay="0"/>
                                          </p:stCondLst>
                                        </p:cTn>
                                        <p:tgtEl>
                                          <p:spTgt spid="254"/>
                                        </p:tgtEl>
                                        <p:attrNameLst>
                                          <p:attrName>style.visibility</p:attrName>
                                        </p:attrNameLst>
                                      </p:cBhvr>
                                      <p:to>
                                        <p:strVal val="visible"/>
                                      </p:to>
                                    </p:set>
                                    <p:animEffect filter="fade" transition="in">
                                      <p:cBhvr additive="repl">
                                        <p:cTn id="1097" dur="500"/>
                                        <p:tgtEl>
                                          <p:spTgt spid="254"/>
                                        </p:tgtEl>
                                      </p:cBhvr>
                                    </p:animEffect>
                                  </p:childTnLst>
                                </p:cTn>
                              </p:par>
                            </p:childTnLst>
                          </p:cTn>
                        </p:par>
                        <p:par>
                          <p:cTn id="1098" nodeType="afterEffect" fill="hold">
                            <p:stCondLst>
                              <p:cond delay="1000"/>
                            </p:stCondLst>
                            <p:childTnLst>
                              <p:par>
                                <p:cTn id="1099" nodeType="afterEffect" fill="hold" presetClass="entr" presetID="10">
                                  <p:stCondLst>
                                    <p:cond delay="0"/>
                                  </p:stCondLst>
                                  <p:childTnLst>
                                    <p:set>
                                      <p:cBhvr>
                                        <p:cTn id="1100" dur="1" fill="hold">
                                          <p:stCondLst>
                                            <p:cond delay="0"/>
                                          </p:stCondLst>
                                        </p:cTn>
                                        <p:tgtEl>
                                          <p:spTgt spid="255"/>
                                        </p:tgtEl>
                                        <p:attrNameLst>
                                          <p:attrName>style.visibility</p:attrName>
                                        </p:attrNameLst>
                                      </p:cBhvr>
                                      <p:to>
                                        <p:strVal val="visible"/>
                                      </p:to>
                                    </p:set>
                                    <p:animEffect filter="fade" transition="in">
                                      <p:cBhvr additive="repl">
                                        <p:cTn id="1101" dur="500"/>
                                        <p:tgtEl>
                                          <p:spTgt spid="255"/>
                                        </p:tgtEl>
                                      </p:cBhvr>
                                    </p:animEffect>
                                  </p:childTnLst>
                                </p:cTn>
                              </p:par>
                            </p:childTnLst>
                          </p:cTn>
                        </p:par>
                        <p:par>
                          <p:cTn id="1102" nodeType="afterEffect" fill="hold">
                            <p:stCondLst>
                              <p:cond delay="1500"/>
                            </p:stCondLst>
                            <p:childTnLst>
                              <p:par>
                                <p:cTn id="1103" nodeType="afterEffect" fill="hold" presetClass="entr" presetID="10">
                                  <p:stCondLst>
                                    <p:cond delay="0"/>
                                  </p:stCondLst>
                                  <p:childTnLst>
                                    <p:set>
                                      <p:cBhvr>
                                        <p:cTn id="1104" dur="1" fill="hold">
                                          <p:stCondLst>
                                            <p:cond delay="0"/>
                                          </p:stCondLst>
                                        </p:cTn>
                                        <p:tgtEl>
                                          <p:spTgt spid="256"/>
                                        </p:tgtEl>
                                        <p:attrNameLst>
                                          <p:attrName>style.visibility</p:attrName>
                                        </p:attrNameLst>
                                      </p:cBhvr>
                                      <p:to>
                                        <p:strVal val="visible"/>
                                      </p:to>
                                    </p:set>
                                    <p:animEffect filter="fade" transition="in">
                                      <p:cBhvr additive="repl">
                                        <p:cTn id="1105" dur="500"/>
                                        <p:tgtEl>
                                          <p:spTgt spid="256"/>
                                        </p:tgtEl>
                                      </p:cBhvr>
                                    </p:animEffect>
                                  </p:childTnLst>
                                </p:cTn>
                              </p:par>
                            </p:childTnLst>
                          </p:cTn>
                        </p:par>
                        <p:par>
                          <p:cTn id="1106" nodeType="afterEffect" fill="hold">
                            <p:stCondLst>
                              <p:cond delay="2000"/>
                            </p:stCondLst>
                            <p:childTnLst>
                              <p:par>
                                <p:cTn id="1107" nodeType="afterEffect" fill="hold" presetClass="entr" presetID="10">
                                  <p:stCondLst>
                                    <p:cond delay="0"/>
                                  </p:stCondLst>
                                  <p:childTnLst>
                                    <p:set>
                                      <p:cBhvr>
                                        <p:cTn id="1108" dur="1" fill="hold">
                                          <p:stCondLst>
                                            <p:cond delay="0"/>
                                          </p:stCondLst>
                                        </p:cTn>
                                        <p:tgtEl>
                                          <p:spTgt spid="257"/>
                                        </p:tgtEl>
                                        <p:attrNameLst>
                                          <p:attrName>style.visibility</p:attrName>
                                        </p:attrNameLst>
                                      </p:cBhvr>
                                      <p:to>
                                        <p:strVal val="visible"/>
                                      </p:to>
                                    </p:set>
                                    <p:animEffect filter="fade" transition="in">
                                      <p:cBhvr additive="repl">
                                        <p:cTn id="1109" dur="500"/>
                                        <p:tgtEl>
                                          <p:spTgt spid="257"/>
                                        </p:tgtEl>
                                      </p:cBhvr>
                                    </p:animEffect>
                                  </p:childTnLst>
                                </p:cTn>
                              </p:par>
                            </p:childTnLst>
                          </p:cTn>
                        </p:par>
                      </p:childTnLst>
                    </p:cTn>
                  </p:par>
                  <p:par>
                    <p:cTn id="1110" nodeType="clickEffect" fill="hold">
                      <p:stCondLst>
                        <p:cond delay="indefinite"/>
                      </p:stCondLst>
                      <p:childTnLst>
                        <p:par>
                          <p:cTn id="1111" nodeType="withEffect" fill="hold">
                            <p:stCondLst>
                              <p:cond delay="0"/>
                            </p:stCondLst>
                            <p:childTnLst>
                              <p:par>
                                <p:cTn id="1112" nodeType="clickEffect" fill="hold" presetClass="entr" presetID="22" presetSubtype="8">
                                  <p:stCondLst>
                                    <p:cond delay="0"/>
                                  </p:stCondLst>
                                  <p:childTnLst>
                                    <p:set>
                                      <p:cBhvr>
                                        <p:cTn id="1113" dur="1" fill="hold">
                                          <p:stCondLst>
                                            <p:cond delay="0"/>
                                          </p:stCondLst>
                                        </p:cTn>
                                        <p:tgtEl>
                                          <p:spTgt spid="250">
                                            <p:txEl>
                                              <p:pRg st="1" end="1"/>
                                            </p:txEl>
                                          </p:spTgt>
                                        </p:tgtEl>
                                        <p:attrNameLst>
                                          <p:attrName>style.visibility</p:attrName>
                                        </p:attrNameLst>
                                      </p:cBhvr>
                                      <p:to>
                                        <p:strVal val="visible"/>
                                      </p:to>
                                    </p:set>
                                    <p:animEffect filter="wipe(left)" transition="in">
                                      <p:cBhvr additive="repl">
                                        <p:cTn id="1114" dur="500"/>
                                        <p:tgtEl>
                                          <p:spTgt spid="250">
                                            <p:txEl>
                                              <p:pRg st="1" end="1"/>
                                            </p:txEl>
                                          </p:spTgt>
                                        </p:tgtEl>
                                      </p:cBhvr>
                                    </p:animEffect>
                                  </p:childTnLst>
                                </p:cTn>
                              </p:par>
                              <p:par>
                                <p:cTn id="1115" nodeType="withEffect" fill="hold" presetClass="entr" presetID="10">
                                  <p:stCondLst>
                                    <p:cond delay="0"/>
                                  </p:stCondLst>
                                  <p:childTnLst>
                                    <p:set>
                                      <p:cBhvr>
                                        <p:cTn id="1116" dur="1" fill="hold">
                                          <p:stCondLst>
                                            <p:cond delay="0"/>
                                          </p:stCondLst>
                                        </p:cTn>
                                        <p:tgtEl>
                                          <p:spTgt spid="258"/>
                                        </p:tgtEl>
                                        <p:attrNameLst>
                                          <p:attrName>style.visibility</p:attrName>
                                        </p:attrNameLst>
                                      </p:cBhvr>
                                      <p:to>
                                        <p:strVal val="visible"/>
                                      </p:to>
                                    </p:set>
                                    <p:animEffect filter="fade" transition="in">
                                      <p:cBhvr additive="repl">
                                        <p:cTn id="1117" dur="500"/>
                                        <p:tgtEl>
                                          <p:spTgt spid="258"/>
                                        </p:tgtEl>
                                      </p:cBhvr>
                                    </p:animEffect>
                                  </p:childTnLst>
                                </p:cTn>
                              </p:par>
                            </p:childTnLst>
                          </p:cTn>
                        </p:par>
                        <p:par>
                          <p:cTn id="1118" nodeType="afterEffect" fill="hold">
                            <p:stCondLst>
                              <p:cond delay="500"/>
                            </p:stCondLst>
                            <p:childTnLst>
                              <p:par>
                                <p:cTn id="1119" nodeType="afterEffect" fill="hold" presetClass="entr" presetID="10">
                                  <p:stCondLst>
                                    <p:cond delay="0"/>
                                  </p:stCondLst>
                                  <p:childTnLst>
                                    <p:set>
                                      <p:cBhvr>
                                        <p:cTn id="1120" dur="1" fill="hold">
                                          <p:stCondLst>
                                            <p:cond delay="0"/>
                                          </p:stCondLst>
                                        </p:cTn>
                                        <p:tgtEl>
                                          <p:spTgt spid="259"/>
                                        </p:tgtEl>
                                        <p:attrNameLst>
                                          <p:attrName>style.visibility</p:attrName>
                                        </p:attrNameLst>
                                      </p:cBhvr>
                                      <p:to>
                                        <p:strVal val="visible"/>
                                      </p:to>
                                    </p:set>
                                    <p:animEffect filter="fade" transition="in">
                                      <p:cBhvr additive="repl">
                                        <p:cTn id="1121" dur="500"/>
                                        <p:tgtEl>
                                          <p:spTgt spid="259"/>
                                        </p:tgtEl>
                                      </p:cBhvr>
                                    </p:animEffect>
                                  </p:childTnLst>
                                </p:cTn>
                              </p:par>
                            </p:childTnLst>
                          </p:cTn>
                        </p:par>
                        <p:par>
                          <p:cTn id="1122" nodeType="afterEffect" fill="hold">
                            <p:stCondLst>
                              <p:cond delay="1000"/>
                            </p:stCondLst>
                            <p:childTnLst>
                              <p:par>
                                <p:cTn id="1123" nodeType="afterEffect" fill="hold" presetClass="entr" presetID="10">
                                  <p:stCondLst>
                                    <p:cond delay="0"/>
                                  </p:stCondLst>
                                  <p:childTnLst>
                                    <p:set>
                                      <p:cBhvr>
                                        <p:cTn id="1124" dur="1" fill="hold">
                                          <p:stCondLst>
                                            <p:cond delay="0"/>
                                          </p:stCondLst>
                                        </p:cTn>
                                        <p:tgtEl>
                                          <p:spTgt spid="260"/>
                                        </p:tgtEl>
                                        <p:attrNameLst>
                                          <p:attrName>style.visibility</p:attrName>
                                        </p:attrNameLst>
                                      </p:cBhvr>
                                      <p:to>
                                        <p:strVal val="visible"/>
                                      </p:to>
                                    </p:set>
                                    <p:animEffect filter="fade" transition="in">
                                      <p:cBhvr additive="repl">
                                        <p:cTn id="1125" dur="500"/>
                                        <p:tgtEl>
                                          <p:spTgt spid="260"/>
                                        </p:tgtEl>
                                      </p:cBhvr>
                                    </p:animEffect>
                                  </p:childTnLst>
                                </p:cTn>
                              </p:par>
                            </p:childTnLst>
                          </p:cTn>
                        </p:par>
                        <p:par>
                          <p:cTn id="1126" nodeType="afterEffect" fill="hold">
                            <p:stCondLst>
                              <p:cond delay="1500"/>
                            </p:stCondLst>
                            <p:childTnLst>
                              <p:par>
                                <p:cTn id="1127" nodeType="afterEffect" fill="hold" presetClass="entr" presetID="10">
                                  <p:stCondLst>
                                    <p:cond delay="0"/>
                                  </p:stCondLst>
                                  <p:childTnLst>
                                    <p:set>
                                      <p:cBhvr>
                                        <p:cTn id="1128" dur="1" fill="hold">
                                          <p:stCondLst>
                                            <p:cond delay="0"/>
                                          </p:stCondLst>
                                        </p:cTn>
                                        <p:tgtEl>
                                          <p:spTgt spid="261"/>
                                        </p:tgtEl>
                                        <p:attrNameLst>
                                          <p:attrName>style.visibility</p:attrName>
                                        </p:attrNameLst>
                                      </p:cBhvr>
                                      <p:to>
                                        <p:strVal val="visible"/>
                                      </p:to>
                                    </p:set>
                                    <p:animEffect filter="fade" transition="in">
                                      <p:cBhvr additive="repl">
                                        <p:cTn id="1129" dur="500"/>
                                        <p:tgtEl>
                                          <p:spTgt spid="2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Rectangle 3"/>
          <p:cNvSpPr/>
          <p:nvPr/>
        </p:nvSpPr>
        <p:spPr>
          <a:xfrm>
            <a:off x="360360" y="1511280"/>
            <a:ext cx="7848360" cy="365724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The number of firms that a market can support depends on the extent of its economies of scale and the market demand. </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We don’t have data on the firm’s long-run average cost curves that would tell us about the economies of scale, but we do have information about the firms’ profits. </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We can use that profit information to get an indirect look at economies of scale.</a:t>
            </a:r>
            <a:endParaRPr b="0" lang="en-US" sz="2400" strike="noStrike" u="none">
              <a:solidFill>
                <a:srgbClr val="000000"/>
              </a:solidFill>
              <a:effectLst/>
              <a:uFillTx/>
              <a:latin typeface="Arial"/>
            </a:endParaRPr>
          </a:p>
        </p:txBody>
      </p:sp>
      <p:pic>
        <p:nvPicPr>
          <p:cNvPr id="263" name="Picture 3" descr=""/>
          <p:cNvPicPr/>
          <p:nvPr/>
        </p:nvPicPr>
        <p:blipFill>
          <a:blip r:embed="rId1"/>
          <a:stretch/>
        </p:blipFill>
        <p:spPr>
          <a:xfrm>
            <a:off x="0" y="0"/>
            <a:ext cx="7775280" cy="1336320"/>
          </a:xfrm>
          <a:prstGeom prst="rect">
            <a:avLst/>
          </a:prstGeom>
          <a:noFill/>
          <a:ln w="0">
            <a:noFill/>
          </a:ln>
        </p:spPr>
      </p:pic>
    </p:spTree>
  </p:cSld>
  <p:transition spd="slow">
    <p:wipe dir="r"/>
  </p:transition>
  <p:timing>
    <p:tnLst>
      <p:par>
        <p:cTn id="1130" dur="indefinite" restart="never" nodeType="tmRoot">
          <p:childTnLst>
            <p:seq>
              <p:cTn id="1131" dur="indefinite" nodeType="mainSeq">
                <p:childTnLst>
                  <p:par>
                    <p:cTn id="1132" nodeType="clickEffect" fill="hold">
                      <p:stCondLst>
                        <p:cond delay="indefinite"/>
                      </p:stCondLst>
                      <p:childTnLst>
                        <p:par>
                          <p:cTn id="1133" nodeType="withEffect" fill="hold">
                            <p:stCondLst>
                              <p:cond delay="0"/>
                            </p:stCondLst>
                            <p:childTnLst>
                              <p:par>
                                <p:cTn id="1134" nodeType="clickEffect" fill="hold" presetClass="entr" presetID="22" presetSubtype="8">
                                  <p:stCondLst>
                                    <p:cond delay="0"/>
                                  </p:stCondLst>
                                  <p:childTnLst>
                                    <p:set>
                                      <p:cBhvr>
                                        <p:cTn id="1135" dur="1" fill="hold">
                                          <p:stCondLst>
                                            <p:cond delay="0"/>
                                          </p:stCondLst>
                                        </p:cTn>
                                        <p:tgtEl>
                                          <p:spTgt spid="262">
                                            <p:txEl>
                                              <p:pRg st="1" end="1"/>
                                            </p:txEl>
                                          </p:spTgt>
                                        </p:tgtEl>
                                        <p:attrNameLst>
                                          <p:attrName>style.visibility</p:attrName>
                                        </p:attrNameLst>
                                      </p:cBhvr>
                                      <p:to>
                                        <p:strVal val="visible"/>
                                      </p:to>
                                    </p:set>
                                    <p:animEffect filter="wipe(left)" transition="in">
                                      <p:cBhvr additive="repl">
                                        <p:cTn id="1136" dur="500"/>
                                        <p:tgtEl>
                                          <p:spTgt spid="262">
                                            <p:txEl>
                                              <p:pRg st="1" end="1"/>
                                            </p:txEl>
                                          </p:spTgt>
                                        </p:tgtEl>
                                      </p:cBhvr>
                                    </p:animEffect>
                                  </p:childTnLst>
                                </p:cTn>
                              </p:par>
                            </p:childTnLst>
                          </p:cTn>
                        </p:par>
                      </p:childTnLst>
                    </p:cTn>
                  </p:par>
                  <p:par>
                    <p:cTn id="1137" nodeType="clickEffect" fill="hold">
                      <p:stCondLst>
                        <p:cond delay="indefinite"/>
                      </p:stCondLst>
                      <p:childTnLst>
                        <p:par>
                          <p:cTn id="1138" nodeType="withEffect" fill="hold">
                            <p:stCondLst>
                              <p:cond delay="0"/>
                            </p:stCondLst>
                            <p:childTnLst>
                              <p:par>
                                <p:cTn id="1139" nodeType="clickEffect" fill="hold" presetClass="entr" presetID="22" presetSubtype="8">
                                  <p:stCondLst>
                                    <p:cond delay="0"/>
                                  </p:stCondLst>
                                  <p:childTnLst>
                                    <p:set>
                                      <p:cBhvr>
                                        <p:cTn id="1140" dur="1" fill="hold">
                                          <p:stCondLst>
                                            <p:cond delay="0"/>
                                          </p:stCondLst>
                                        </p:cTn>
                                        <p:tgtEl>
                                          <p:spTgt spid="262">
                                            <p:txEl>
                                              <p:pRg st="2" end="2"/>
                                            </p:txEl>
                                          </p:spTgt>
                                        </p:tgtEl>
                                        <p:attrNameLst>
                                          <p:attrName>style.visibility</p:attrName>
                                        </p:attrNameLst>
                                      </p:cBhvr>
                                      <p:to>
                                        <p:strVal val="visible"/>
                                      </p:to>
                                    </p:set>
                                    <p:animEffect filter="wipe(left)" transition="in">
                                      <p:cBhvr additive="repl">
                                        <p:cTn id="1141" dur="500"/>
                                        <p:tgtEl>
                                          <p:spTgt spid="262">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Rectangle 3"/>
          <p:cNvSpPr/>
          <p:nvPr/>
        </p:nvSpPr>
        <p:spPr>
          <a:xfrm>
            <a:off x="360360" y="1511280"/>
            <a:ext cx="8173800" cy="441936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Because of economies of scale, the two larger firms have much bigger gross profits than the two smaller firms. </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But the two smaller firms are large enough to earn a profit. </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With the two smaller firms being profitable, and with each having about a one-sixth market share, …</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it seems likely that demand in the U.S. wireless market is large enough for more than four firms to profitably survive.</a:t>
            </a:r>
            <a:endParaRPr b="0" lang="en-US" sz="2400" strike="noStrike" u="none">
              <a:solidFill>
                <a:srgbClr val="000000"/>
              </a:solidFill>
              <a:effectLst/>
              <a:uFillTx/>
              <a:latin typeface="Arial"/>
            </a:endParaRPr>
          </a:p>
        </p:txBody>
      </p:sp>
      <p:pic>
        <p:nvPicPr>
          <p:cNvPr id="265" name="Picture 3" descr=""/>
          <p:cNvPicPr/>
          <p:nvPr/>
        </p:nvPicPr>
        <p:blipFill>
          <a:blip r:embed="rId1"/>
          <a:stretch/>
        </p:blipFill>
        <p:spPr>
          <a:xfrm>
            <a:off x="0" y="0"/>
            <a:ext cx="7775280" cy="1336320"/>
          </a:xfrm>
          <a:prstGeom prst="rect">
            <a:avLst/>
          </a:prstGeom>
          <a:noFill/>
          <a:ln w="0">
            <a:noFill/>
          </a:ln>
        </p:spPr>
      </p:pic>
    </p:spTree>
  </p:cSld>
  <p:transition spd="slow">
    <p:wipe dir="r"/>
  </p:transition>
  <p:timing>
    <p:tnLst>
      <p:par>
        <p:cTn id="1142" dur="indefinite" restart="never" nodeType="tmRoot">
          <p:childTnLst>
            <p:seq>
              <p:cTn id="1143" dur="indefinite" nodeType="mainSeq">
                <p:childTnLst>
                  <p:par>
                    <p:cTn id="1144" nodeType="clickEffect" fill="hold">
                      <p:stCondLst>
                        <p:cond delay="indefinite"/>
                      </p:stCondLst>
                      <p:childTnLst>
                        <p:par>
                          <p:cTn id="1145" nodeType="withEffect" fill="hold">
                            <p:stCondLst>
                              <p:cond delay="0"/>
                            </p:stCondLst>
                            <p:childTnLst>
                              <p:par>
                                <p:cTn id="1146" nodeType="clickEffect" fill="hold" presetClass="entr" presetID="22" presetSubtype="8">
                                  <p:stCondLst>
                                    <p:cond delay="0"/>
                                  </p:stCondLst>
                                  <p:childTnLst>
                                    <p:set>
                                      <p:cBhvr>
                                        <p:cTn id="1147" dur="1" fill="hold">
                                          <p:stCondLst>
                                            <p:cond delay="0"/>
                                          </p:stCondLst>
                                        </p:cTn>
                                        <p:tgtEl>
                                          <p:spTgt spid="264">
                                            <p:txEl>
                                              <p:pRg st="1" end="1"/>
                                            </p:txEl>
                                          </p:spTgt>
                                        </p:tgtEl>
                                        <p:attrNameLst>
                                          <p:attrName>style.visibility</p:attrName>
                                        </p:attrNameLst>
                                      </p:cBhvr>
                                      <p:to>
                                        <p:strVal val="visible"/>
                                      </p:to>
                                    </p:set>
                                    <p:animEffect filter="wipe(left)" transition="in">
                                      <p:cBhvr additive="repl">
                                        <p:cTn id="1148" dur="500"/>
                                        <p:tgtEl>
                                          <p:spTgt spid="264">
                                            <p:txEl>
                                              <p:pRg st="1" end="1"/>
                                            </p:txEl>
                                          </p:spTgt>
                                        </p:tgtEl>
                                      </p:cBhvr>
                                    </p:animEffect>
                                  </p:childTnLst>
                                </p:cTn>
                              </p:par>
                            </p:childTnLst>
                          </p:cTn>
                        </p:par>
                      </p:childTnLst>
                    </p:cTn>
                  </p:par>
                  <p:par>
                    <p:cTn id="1149" nodeType="clickEffect" fill="hold">
                      <p:stCondLst>
                        <p:cond delay="indefinite"/>
                      </p:stCondLst>
                      <p:childTnLst>
                        <p:par>
                          <p:cTn id="1150" nodeType="withEffect" fill="hold">
                            <p:stCondLst>
                              <p:cond delay="0"/>
                            </p:stCondLst>
                            <p:childTnLst>
                              <p:par>
                                <p:cTn id="1151" nodeType="clickEffect" fill="hold" presetClass="entr" presetID="22" presetSubtype="8">
                                  <p:stCondLst>
                                    <p:cond delay="0"/>
                                  </p:stCondLst>
                                  <p:childTnLst>
                                    <p:set>
                                      <p:cBhvr>
                                        <p:cTn id="1152" dur="1" fill="hold">
                                          <p:stCondLst>
                                            <p:cond delay="0"/>
                                          </p:stCondLst>
                                        </p:cTn>
                                        <p:tgtEl>
                                          <p:spTgt spid="264">
                                            <p:txEl>
                                              <p:pRg st="2" end="2"/>
                                            </p:txEl>
                                          </p:spTgt>
                                        </p:tgtEl>
                                        <p:attrNameLst>
                                          <p:attrName>style.visibility</p:attrName>
                                        </p:attrNameLst>
                                      </p:cBhvr>
                                      <p:to>
                                        <p:strVal val="visible"/>
                                      </p:to>
                                    </p:set>
                                    <p:animEffect filter="wipe(left)" transition="in">
                                      <p:cBhvr additive="repl">
                                        <p:cTn id="1153" dur="500"/>
                                        <p:tgtEl>
                                          <p:spTgt spid="264">
                                            <p:txEl>
                                              <p:pRg st="2" end="2"/>
                                            </p:txEl>
                                          </p:spTgt>
                                        </p:tgtEl>
                                      </p:cBhvr>
                                    </p:animEffect>
                                  </p:childTnLst>
                                </p:cTn>
                              </p:par>
                            </p:childTnLst>
                          </p:cTn>
                        </p:par>
                      </p:childTnLst>
                    </p:cTn>
                  </p:par>
                  <p:par>
                    <p:cTn id="1154" nodeType="clickEffect" fill="hold">
                      <p:stCondLst>
                        <p:cond delay="indefinite"/>
                      </p:stCondLst>
                      <p:childTnLst>
                        <p:par>
                          <p:cTn id="1155" nodeType="withEffect" fill="hold">
                            <p:stCondLst>
                              <p:cond delay="0"/>
                            </p:stCondLst>
                            <p:childTnLst>
                              <p:par>
                                <p:cTn id="1156" nodeType="clickEffect" fill="hold" presetClass="entr" presetID="22" presetSubtype="8">
                                  <p:stCondLst>
                                    <p:cond delay="0"/>
                                  </p:stCondLst>
                                  <p:childTnLst>
                                    <p:set>
                                      <p:cBhvr>
                                        <p:cTn id="1157" dur="1" fill="hold">
                                          <p:stCondLst>
                                            <p:cond delay="0"/>
                                          </p:stCondLst>
                                        </p:cTn>
                                        <p:tgtEl>
                                          <p:spTgt spid="264">
                                            <p:txEl>
                                              <p:pRg st="3" end="3"/>
                                            </p:txEl>
                                          </p:spTgt>
                                        </p:tgtEl>
                                        <p:attrNameLst>
                                          <p:attrName>style.visibility</p:attrName>
                                        </p:attrNameLst>
                                      </p:cBhvr>
                                      <p:to>
                                        <p:strVal val="visible"/>
                                      </p:to>
                                    </p:set>
                                    <p:animEffect filter="wipe(left)" transition="in">
                                      <p:cBhvr additive="repl">
                                        <p:cTn id="1158" dur="500"/>
                                        <p:tgtEl>
                                          <p:spTgt spid="264">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Rectangle 3"/>
          <p:cNvSpPr/>
          <p:nvPr/>
        </p:nvSpPr>
        <p:spPr>
          <a:xfrm>
            <a:off x="360360" y="1511280"/>
            <a:ext cx="7848360" cy="441936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If more firms could operate profitably in this market, we should expect to see entry. </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And that is exactly what is happening. Google in collaboration with Dish Network is entering with a virtual wireless service. </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There might be room for even more firms.</a:t>
            </a:r>
            <a:endParaRPr b="0" lang="en-US" sz="2400" strike="noStrike" u="none">
              <a:solidFill>
                <a:srgbClr val="000000"/>
              </a:solidFill>
              <a:effectLst/>
              <a:uFillTx/>
              <a:latin typeface="Arial"/>
            </a:endParaRPr>
          </a:p>
        </p:txBody>
      </p:sp>
      <p:pic>
        <p:nvPicPr>
          <p:cNvPr id="267" name="Picture 3" descr=""/>
          <p:cNvPicPr/>
          <p:nvPr/>
        </p:nvPicPr>
        <p:blipFill>
          <a:blip r:embed="rId1"/>
          <a:stretch/>
        </p:blipFill>
        <p:spPr>
          <a:xfrm>
            <a:off x="0" y="0"/>
            <a:ext cx="7775280" cy="1336320"/>
          </a:xfrm>
          <a:prstGeom prst="rect">
            <a:avLst/>
          </a:prstGeom>
          <a:noFill/>
          <a:ln w="0">
            <a:noFill/>
          </a:ln>
        </p:spPr>
      </p:pic>
    </p:spTree>
  </p:cSld>
  <p:transition spd="slow">
    <p:wipe dir="r"/>
  </p:transition>
  <p:timing>
    <p:tnLst>
      <p:par>
        <p:cTn id="1159" dur="indefinite" restart="never" nodeType="tmRoot">
          <p:childTnLst>
            <p:seq>
              <p:cTn id="1160" dur="indefinite" nodeType="mainSeq">
                <p:childTnLst>
                  <p:par>
                    <p:cTn id="1161" nodeType="clickEffect" fill="hold">
                      <p:stCondLst>
                        <p:cond delay="indefinite"/>
                      </p:stCondLst>
                      <p:childTnLst>
                        <p:par>
                          <p:cTn id="1162" nodeType="withEffect" fill="hold">
                            <p:stCondLst>
                              <p:cond delay="0"/>
                            </p:stCondLst>
                            <p:childTnLst>
                              <p:par>
                                <p:cTn id="1163" nodeType="clickEffect" fill="hold" presetClass="entr" presetID="22" presetSubtype="8">
                                  <p:stCondLst>
                                    <p:cond delay="0"/>
                                  </p:stCondLst>
                                  <p:childTnLst>
                                    <p:set>
                                      <p:cBhvr>
                                        <p:cTn id="1164" dur="1" fill="hold">
                                          <p:stCondLst>
                                            <p:cond delay="0"/>
                                          </p:stCondLst>
                                        </p:cTn>
                                        <p:tgtEl>
                                          <p:spTgt spid="266">
                                            <p:txEl>
                                              <p:pRg st="1" end="1"/>
                                            </p:txEl>
                                          </p:spTgt>
                                        </p:tgtEl>
                                        <p:attrNameLst>
                                          <p:attrName>style.visibility</p:attrName>
                                        </p:attrNameLst>
                                      </p:cBhvr>
                                      <p:to>
                                        <p:strVal val="visible"/>
                                      </p:to>
                                    </p:set>
                                    <p:animEffect filter="wipe(left)" transition="in">
                                      <p:cBhvr additive="repl">
                                        <p:cTn id="1165" dur="500"/>
                                        <p:tgtEl>
                                          <p:spTgt spid="266">
                                            <p:txEl>
                                              <p:pRg st="1" end="1"/>
                                            </p:txEl>
                                          </p:spTgt>
                                        </p:tgtEl>
                                      </p:cBhvr>
                                    </p:animEffect>
                                  </p:childTnLst>
                                </p:cTn>
                              </p:par>
                            </p:childTnLst>
                          </p:cTn>
                        </p:par>
                      </p:childTnLst>
                    </p:cTn>
                  </p:par>
                  <p:par>
                    <p:cTn id="1166" nodeType="clickEffect" fill="hold">
                      <p:stCondLst>
                        <p:cond delay="indefinite"/>
                      </p:stCondLst>
                      <p:childTnLst>
                        <p:par>
                          <p:cTn id="1167" nodeType="withEffect" fill="hold">
                            <p:stCondLst>
                              <p:cond delay="0"/>
                            </p:stCondLst>
                            <p:childTnLst>
                              <p:par>
                                <p:cTn id="1168" nodeType="clickEffect" fill="hold" presetClass="entr" presetID="22" presetSubtype="8">
                                  <p:stCondLst>
                                    <p:cond delay="0"/>
                                  </p:stCondLst>
                                  <p:childTnLst>
                                    <p:set>
                                      <p:cBhvr>
                                        <p:cTn id="1169" dur="1" fill="hold">
                                          <p:stCondLst>
                                            <p:cond delay="0"/>
                                          </p:stCondLst>
                                        </p:cTn>
                                        <p:tgtEl>
                                          <p:spTgt spid="266">
                                            <p:txEl>
                                              <p:pRg st="2" end="2"/>
                                            </p:txEl>
                                          </p:spTgt>
                                        </p:tgtEl>
                                        <p:attrNameLst>
                                          <p:attrName>style.visibility</p:attrName>
                                        </p:attrNameLst>
                                      </p:cBhvr>
                                      <p:to>
                                        <p:strVal val="visible"/>
                                      </p:to>
                                    </p:set>
                                    <p:animEffect filter="wipe(left)" transition="in">
                                      <p:cBhvr additive="repl">
                                        <p:cTn id="1170" dur="500"/>
                                        <p:tgtEl>
                                          <p:spTgt spid="266">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6_Custom Design">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9_newdesign">
  <a:themeElements>
    <a:clrScheme name="1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10_newdesign">
  <a:themeElements>
    <a:clrScheme name="3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11_newdesign">
  <a:themeElements>
    <a:clrScheme name="3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5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9_foundations">
  <a:themeElements>
    <a:clrScheme name="9_foundations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9_foundations">
      <a:majorFont>
        <a:latin typeface="Arial" pitchFamily="0" charset="1"/>
        <a:ea typeface="ＭＳ Ｐゴシック" pitchFamily="0" charset="1"/>
        <a:cs typeface=""/>
      </a:majorFont>
      <a:minorFont>
        <a:latin typeface="Arial" pitchFamily="0" charset="1"/>
        <a:ea typeface="ＭＳ Ｐゴシック" pitchFamily="0" charset="1"/>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10_foundations">
  <a:themeElements>
    <a:clrScheme name="9_foundations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9_foundations">
      <a:majorFont>
        <a:latin typeface="Arial" pitchFamily="0" charset="1"/>
        <a:ea typeface="ＭＳ Ｐゴシック" pitchFamily="0" charset="1"/>
        <a:cs typeface=""/>
      </a:majorFont>
      <a:minorFont>
        <a:latin typeface="Arial" pitchFamily="0" charset="1"/>
        <a:ea typeface="ＭＳ Ｐゴシック" pitchFamily="0" charset="1"/>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11_foundations">
  <a:themeElements>
    <a:clrScheme name="9_foundations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9_foundations">
      <a:majorFont>
        <a:latin typeface="Arial" pitchFamily="0" charset="1"/>
        <a:ea typeface="ＭＳ Ｐゴシック" pitchFamily="0" charset="1"/>
        <a:cs typeface=""/>
      </a:majorFont>
      <a:minorFont>
        <a:latin typeface="Arial" pitchFamily="0" charset="1"/>
        <a:ea typeface="ＭＳ Ｐゴシック" pitchFamily="0" charset="1"/>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Foundations 2e</Template>
  <TotalTime>22086</TotalTime>
  <Application>LibreOffice/25.2.3.2$MacOSX_AARCH64 LibreOffice_project/bbb074479178df812d175f709636b368952c2ce3</Application>
  <AppVersion>15.0000</AppVersion>
  <Words>4515</Words>
  <Paragraphs>373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2000-11-24T17:02:06Z</dcterms:created>
  <dc:creator>Robin Bade and Michael Parkin</dc:creator>
  <dc:description/>
  <dc:language>en-US</dc:language>
  <cp:lastModifiedBy/>
  <dcterms:modified xsi:type="dcterms:W3CDTF">2025-07-29T07:44:55Z</dcterms:modified>
  <cp:revision>242</cp:revision>
  <dc:subject/>
  <dc:title>Chapter17</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12</vt:i4>
  </property>
  <property fmtid="{D5CDD505-2E9C-101B-9397-08002B2CF9AE}" pid="3" name="Notes">
    <vt:i4>74</vt:i4>
  </property>
  <property fmtid="{D5CDD505-2E9C-101B-9397-08002B2CF9AE}" pid="4" name="PresentationFormat">
    <vt:lpwstr>On-screen Show (4:3)</vt:lpwstr>
  </property>
  <property fmtid="{D5CDD505-2E9C-101B-9397-08002B2CF9AE}" pid="5" name="Slides">
    <vt:i4>74</vt:i4>
  </property>
</Properties>
</file>