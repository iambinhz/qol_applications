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slideLayouts/slideLayout5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 id="2147483667" r:id="rId2"/>
    <p:sldMasterId id="2147483670" r:id="rId3"/>
    <p:sldMasterId id="2147483675" r:id="rId4"/>
    <p:sldMasterId id="2147483676" r:id="rId5"/>
    <p:sldMasterId id="2147483732" r:id="rId6"/>
    <p:sldMasterId id="2147483734" r:id="rId7"/>
  </p:sldMasterIdLst>
  <p:notesMasterIdLst>
    <p:notesMasterId r:id="rId68"/>
  </p:notesMasterIdLst>
  <p:handoutMasterIdLst>
    <p:handoutMasterId r:id="rId69"/>
  </p:handoutMasterIdLst>
  <p:sldIdLst>
    <p:sldId id="304" r:id="rId8"/>
    <p:sldId id="439" r:id="rId9"/>
    <p:sldId id="317" r:id="rId10"/>
    <p:sldId id="321" r:id="rId11"/>
    <p:sldId id="322" r:id="rId12"/>
    <p:sldId id="323" r:id="rId13"/>
    <p:sldId id="325" r:id="rId14"/>
    <p:sldId id="367" r:id="rId15"/>
    <p:sldId id="432" r:id="rId16"/>
    <p:sldId id="369" r:id="rId17"/>
    <p:sldId id="407" r:id="rId18"/>
    <p:sldId id="370" r:id="rId19"/>
    <p:sldId id="372" r:id="rId20"/>
    <p:sldId id="373" r:id="rId21"/>
    <p:sldId id="408" r:id="rId22"/>
    <p:sldId id="374" r:id="rId23"/>
    <p:sldId id="375" r:id="rId24"/>
    <p:sldId id="376" r:id="rId25"/>
    <p:sldId id="377" r:id="rId26"/>
    <p:sldId id="378" r:id="rId27"/>
    <p:sldId id="327" r:id="rId28"/>
    <p:sldId id="333" r:id="rId29"/>
    <p:sldId id="409" r:id="rId30"/>
    <p:sldId id="334" r:id="rId31"/>
    <p:sldId id="318" r:id="rId32"/>
    <p:sldId id="338" r:id="rId33"/>
    <p:sldId id="410" r:id="rId34"/>
    <p:sldId id="339" r:id="rId35"/>
    <p:sldId id="340" r:id="rId36"/>
    <p:sldId id="341" r:id="rId37"/>
    <p:sldId id="411" r:id="rId38"/>
    <p:sldId id="319" r:id="rId39"/>
    <p:sldId id="412" r:id="rId40"/>
    <p:sldId id="413" r:id="rId41"/>
    <p:sldId id="414" r:id="rId42"/>
    <p:sldId id="415" r:id="rId43"/>
    <p:sldId id="416" r:id="rId44"/>
    <p:sldId id="417" r:id="rId45"/>
    <p:sldId id="424" r:id="rId46"/>
    <p:sldId id="425" r:id="rId47"/>
    <p:sldId id="434" r:id="rId48"/>
    <p:sldId id="433" r:id="rId49"/>
    <p:sldId id="429" r:id="rId50"/>
    <p:sldId id="428" r:id="rId51"/>
    <p:sldId id="436" r:id="rId52"/>
    <p:sldId id="418" r:id="rId53"/>
    <p:sldId id="430" r:id="rId54"/>
    <p:sldId id="441" r:id="rId55"/>
    <p:sldId id="442" r:id="rId56"/>
    <p:sldId id="320" r:id="rId57"/>
    <p:sldId id="443" r:id="rId58"/>
    <p:sldId id="444" r:id="rId59"/>
    <p:sldId id="445" r:id="rId60"/>
    <p:sldId id="324" r:id="rId61"/>
    <p:sldId id="446" r:id="rId62"/>
    <p:sldId id="326" r:id="rId63"/>
    <p:sldId id="447" r:id="rId64"/>
    <p:sldId id="328" r:id="rId65"/>
    <p:sldId id="329" r:id="rId66"/>
    <p:sldId id="330" r:id="rId6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3408">
          <p15:clr>
            <a:srgbClr val="A4A3A4"/>
          </p15:clr>
        </p15:guide>
        <p15:guide id="2" pos="321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CE4928-EFCD-9541-8CE8-540712886EE4}" v="1" dt="2026-01-27T02:50:54.6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9" autoAdjust="0"/>
    <p:restoredTop sz="88435" autoAdjust="0"/>
  </p:normalViewPr>
  <p:slideViewPr>
    <p:cSldViewPr>
      <p:cViewPr varScale="1">
        <p:scale>
          <a:sx n="112" d="100"/>
          <a:sy n="112" d="100"/>
        </p:scale>
        <p:origin x="1176" y="200"/>
      </p:cViewPr>
      <p:guideLst>
        <p:guide orient="horz" pos="3408"/>
        <p:guide pos="321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6630"/>
    </p:cViewPr>
  </p:sorterViewPr>
  <p:notesViewPr>
    <p:cSldViewPr>
      <p:cViewPr>
        <p:scale>
          <a:sx n="75" d="100"/>
          <a:sy n="75" d="100"/>
        </p:scale>
        <p:origin x="-4008" y="-3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microsoft.com/office/2015/10/relationships/revisionInfo" Target="revisionInfo.xml"/><Relationship Id="rId5" Type="http://schemas.openxmlformats.org/officeDocument/2006/relationships/slideMaster" Target="slideMasters/slideMaster5.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handoutMaster" Target="handoutMasters/handoutMaster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 Type="http://schemas.openxmlformats.org/officeDocument/2006/relationships/slideMaster" Target="slideMasters/slideMaster7.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9698" name="Rectangle 2">
            <a:extLst>
              <a:ext uri="{FF2B5EF4-FFF2-40B4-BE49-F238E27FC236}">
                <a16:creationId xmlns:a16="http://schemas.microsoft.com/office/drawing/2014/main" id="{5954EC7E-CABA-7637-593E-314355E44E3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669699" name="Rectangle 3">
            <a:extLst>
              <a:ext uri="{FF2B5EF4-FFF2-40B4-BE49-F238E27FC236}">
                <a16:creationId xmlns:a16="http://schemas.microsoft.com/office/drawing/2014/main" id="{5F778DA2-0F2E-4BF0-13AD-21133C3945F1}"/>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669700" name="Rectangle 4">
            <a:extLst>
              <a:ext uri="{FF2B5EF4-FFF2-40B4-BE49-F238E27FC236}">
                <a16:creationId xmlns:a16="http://schemas.microsoft.com/office/drawing/2014/main" id="{25405A13-E616-7715-0015-E9605F8A10D6}"/>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669701" name="Rectangle 5">
            <a:extLst>
              <a:ext uri="{FF2B5EF4-FFF2-40B4-BE49-F238E27FC236}">
                <a16:creationId xmlns:a16="http://schemas.microsoft.com/office/drawing/2014/main" id="{A7DD5BF4-F9CC-2EBC-FAEB-2F9D8EA8F5AF}"/>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2EC971F5-C4F8-434A-B766-3C42B9974BCE}" type="slidenum">
              <a:rPr lang="zh-TW" altLang="en-US"/>
              <a:pPr/>
              <a:t>‹#›</a:t>
            </a:fld>
            <a:endParaRPr lang="en-US" altLang="zh-TW"/>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48AFD94E-0FCA-A43C-930D-B24B257CCAC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45411" name="Rectangle 3">
            <a:extLst>
              <a:ext uri="{FF2B5EF4-FFF2-40B4-BE49-F238E27FC236}">
                <a16:creationId xmlns:a16="http://schemas.microsoft.com/office/drawing/2014/main" id="{7BB7E635-3D91-8F4C-E4B6-1EE5E6C9820F}"/>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7172" name="Rectangle 4">
            <a:extLst>
              <a:ext uri="{FF2B5EF4-FFF2-40B4-BE49-F238E27FC236}">
                <a16:creationId xmlns:a16="http://schemas.microsoft.com/office/drawing/2014/main" id="{BCB4AF70-B798-B5EF-85FE-D3FE5A2CE2A8}"/>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3" name="Rectangle 5">
            <a:extLst>
              <a:ext uri="{FF2B5EF4-FFF2-40B4-BE49-F238E27FC236}">
                <a16:creationId xmlns:a16="http://schemas.microsoft.com/office/drawing/2014/main" id="{62BF409C-ACFF-1988-927C-15C7B4DE8756}"/>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5414" name="Rectangle 6">
            <a:extLst>
              <a:ext uri="{FF2B5EF4-FFF2-40B4-BE49-F238E27FC236}">
                <a16:creationId xmlns:a16="http://schemas.microsoft.com/office/drawing/2014/main" id="{D867E8F7-6651-1EC1-7EB8-941C50A3DF9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45415" name="Rectangle 7">
            <a:extLst>
              <a:ext uri="{FF2B5EF4-FFF2-40B4-BE49-F238E27FC236}">
                <a16:creationId xmlns:a16="http://schemas.microsoft.com/office/drawing/2014/main" id="{00407113-726C-58DD-179E-0D0A658177F5}"/>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D79EA0F1-EC5C-F94B-B694-EA4E19033EB7}" type="slidenum">
              <a:rPr lang="zh-TW" altLang="en-US"/>
              <a:pPr/>
              <a:t>‹#›</a:t>
            </a:fld>
            <a:endParaRPr lang="en-US" altLang="zh-TW"/>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a:xfrm>
            <a:off x="1143000" y="685800"/>
            <a:ext cx="4573588" cy="3429000"/>
          </a:xfrm>
          <a:ln/>
        </p:spPr>
      </p:sp>
      <p:sp>
        <p:nvSpPr>
          <p:cNvPr id="6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anose="02020603050405020304" pitchFamily="18" charset="0"/>
            </a:endParaRPr>
          </a:p>
        </p:txBody>
      </p:sp>
      <p:sp>
        <p:nvSpPr>
          <p:cNvPr id="6148" name="Slide Number Placeholder 3"/>
          <p:cNvSpPr>
            <a:spLocks noGrp="1"/>
          </p:cNvSpPr>
          <p:nvPr>
            <p:ph type="sldNum" sz="quarter" idx="5"/>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76D3EE1-26EB-4098-B0C0-27B5598D974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Tree>
    <p:extLst>
      <p:ext uri="{BB962C8B-B14F-4D97-AF65-F5344CB8AC3E}">
        <p14:creationId xmlns:p14="http://schemas.microsoft.com/office/powerpoint/2010/main" val="1620092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5D4DBDF9-E4E4-3DEA-C5D2-3559A480F6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983D714-4413-6D47-A294-52AAA2517F44}" type="slidenum">
              <a:rPr lang="zh-TW" altLang="en-US">
                <a:solidFill>
                  <a:srgbClr val="000000"/>
                </a:solidFill>
              </a:rPr>
              <a:pPr>
                <a:spcBef>
                  <a:spcPct val="0"/>
                </a:spcBef>
              </a:pPr>
              <a:t>2</a:t>
            </a:fld>
            <a:endParaRPr lang="en-US" altLang="zh-TW">
              <a:solidFill>
                <a:srgbClr val="000000"/>
              </a:solidFill>
            </a:endParaRPr>
          </a:p>
        </p:txBody>
      </p:sp>
      <p:sp>
        <p:nvSpPr>
          <p:cNvPr id="14339" name="Rectangle 2">
            <a:extLst>
              <a:ext uri="{FF2B5EF4-FFF2-40B4-BE49-F238E27FC236}">
                <a16:creationId xmlns:a16="http://schemas.microsoft.com/office/drawing/2014/main" id="{F70A2872-3715-B46D-C156-3DC58DB9B071}"/>
              </a:ext>
            </a:extLst>
          </p:cNvPr>
          <p:cNvSpPr>
            <a:spLocks noRot="1" noChangeArrowheads="1" noTextEdit="1"/>
          </p:cNvSpPr>
          <p:nvPr>
            <p:ph type="sldImg"/>
          </p:nvPr>
        </p:nvSpPr>
        <p:spPr>
          <a:ln/>
        </p:spPr>
      </p:sp>
      <p:sp>
        <p:nvSpPr>
          <p:cNvPr id="14340" name="Rectangle 3">
            <a:extLst>
              <a:ext uri="{FF2B5EF4-FFF2-40B4-BE49-F238E27FC236}">
                <a16:creationId xmlns:a16="http://schemas.microsoft.com/office/drawing/2014/main" id="{C93C3334-AB4E-38CD-6FA3-C60528E806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CA" altLang="en-US" sz="2400">
                <a:latin typeface="Arial" panose="020B0604020202020204" pitchFamily="34" charset="0"/>
              </a:rPr>
              <a:t>Notes and teaching tips: 5, 16, 27, 39, 45, 48, 52, 55, and 56. </a:t>
            </a:r>
          </a:p>
          <a:p>
            <a:pPr eaLnBrk="1" hangingPunct="1"/>
            <a:r>
              <a:rPr lang="en-CA" altLang="en-US" sz="2400">
                <a:latin typeface="Arial" panose="020B0604020202020204" pitchFamily="34" charset="0"/>
              </a:rPr>
              <a:t>To view a full-screen figure during a class, click the red “expand” button.</a:t>
            </a:r>
          </a:p>
          <a:p>
            <a:pPr eaLnBrk="1" hangingPunct="1"/>
            <a:r>
              <a:rPr lang="en-CA" altLang="en-US" sz="2400">
                <a:latin typeface="Arial" panose="020B0604020202020204" pitchFamily="34" charset="0"/>
              </a:rPr>
              <a:t>To return to the previous slide, click the red “shrink” button.</a:t>
            </a:r>
          </a:p>
          <a:p>
            <a:pPr eaLnBrk="1" hangingPunct="1"/>
            <a:r>
              <a:rPr lang="en-CA" altLang="en-US" sz="2400">
                <a:latin typeface="Arial" panose="020B0604020202020204" pitchFamily="34" charset="0"/>
              </a:rPr>
              <a:t>To advance to the next slide, click anywhere on the full screen figure.</a:t>
            </a:r>
            <a:endParaRPr lang="en-CA" altLang="en-US">
              <a:latin typeface="Arial" panose="020B0604020202020204" pitchFamily="34" charset="0"/>
            </a:endParaRPr>
          </a:p>
          <a:p>
            <a:pPr eaLnBrk="1" hangingPunct="1"/>
            <a:endParaRPr lang="en-GB" altLang="en-US">
              <a:latin typeface="Arial" panose="020B0604020202020204" pitchFamily="34" charset="0"/>
            </a:endParaRPr>
          </a:p>
          <a:p>
            <a:pPr eaLnBrk="1" hangingPunct="1"/>
            <a:endParaRPr lang="en-GB" altLang="en-US">
              <a:latin typeface="Arial" panose="020B0604020202020204" pitchFamily="34" charset="0"/>
            </a:endParaRPr>
          </a:p>
          <a:p>
            <a:pPr eaLnBrk="1" hangingPunct="1"/>
            <a:endParaRPr lang="en-GB"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2E46304D-4EF6-D264-F723-9A67C632F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E488E58-611F-0D44-96C1-DFD680BCE974}" type="slidenum">
              <a:rPr lang="zh-TW" altLang="en-US"/>
              <a:pPr>
                <a:spcBef>
                  <a:spcPct val="0"/>
                </a:spcBef>
              </a:pPr>
              <a:t>3</a:t>
            </a:fld>
            <a:endParaRPr lang="en-US" altLang="zh-TW"/>
          </a:p>
        </p:txBody>
      </p:sp>
      <p:sp>
        <p:nvSpPr>
          <p:cNvPr id="16387" name="Rectangle 2">
            <a:extLst>
              <a:ext uri="{FF2B5EF4-FFF2-40B4-BE49-F238E27FC236}">
                <a16:creationId xmlns:a16="http://schemas.microsoft.com/office/drawing/2014/main" id="{DD46C729-9747-487C-3FB6-777FDB1C3D9B}"/>
              </a:ext>
            </a:extLst>
          </p:cNvPr>
          <p:cNvSpPr>
            <a:spLocks noRot="1" noChangeArrowheads="1" noTextEdit="1"/>
          </p:cNvSpPr>
          <p:nvPr>
            <p:ph type="sldImg"/>
          </p:nvPr>
        </p:nvSpPr>
        <p:spPr>
          <a:ln/>
        </p:spPr>
      </p:sp>
      <p:sp>
        <p:nvSpPr>
          <p:cNvPr id="16388" name="Rectangle 3">
            <a:extLst>
              <a:ext uri="{FF2B5EF4-FFF2-40B4-BE49-F238E27FC236}">
                <a16:creationId xmlns:a16="http://schemas.microsoft.com/office/drawing/2014/main" id="{B71E9AC8-08E3-DF1B-C0C8-A4B2B42BE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TW" b="1" i="1">
                <a:latin typeface="Arial" panose="020B0604020202020204" pitchFamily="34" charset="0"/>
              </a:rPr>
              <a:t>The main challenge in teaching this topic is generating interest in it.</a:t>
            </a:r>
            <a:r>
              <a:rPr lang="en-US" altLang="zh-TW">
                <a:latin typeface="Arial" panose="020B0604020202020204" pitchFamily="34" charset="0"/>
              </a:rPr>
              <a:t> Many teachers are bored by it and not surprisingly, they bore their students. If you are one of the many who lean toward boredom, start by recalling just how vital it is that we measure the value of production with reasonable accuracy. It is vital because we use GDP as the basis of measurement of the standard of living, economic welfare, and making international comparisons.</a:t>
            </a:r>
          </a:p>
          <a:p>
            <a:pPr eaLnBrk="1" hangingPunct="1"/>
            <a:r>
              <a:rPr lang="en-US" altLang="zh-TW" b="1">
                <a:latin typeface="Arial" panose="020B0604020202020204" pitchFamily="34" charset="0"/>
              </a:rPr>
              <a:t>Final goods versus intermediate goods</a:t>
            </a:r>
            <a:r>
              <a:rPr lang="en-US" altLang="zh-TW" i="1">
                <a:latin typeface="Arial" panose="020B0604020202020204" pitchFamily="34" charset="0"/>
              </a:rPr>
              <a:t>. </a:t>
            </a:r>
            <a:r>
              <a:rPr lang="en-US" altLang="zh-TW">
                <a:latin typeface="Arial" panose="020B0604020202020204" pitchFamily="34" charset="0"/>
              </a:rPr>
              <a:t>The distinction between final and intermediate goods is one of the key points in this first section. Use some standard examples to make the key point—tires and autos, chips and computers, and so on. Also, if you want to spend a bit of time on this topic, tell your students about the Bureau of Economic Analysis (BEA) revision in the treatment of business spending on software. </a:t>
            </a:r>
          </a:p>
          <a:p>
            <a:pPr eaLnBrk="1" hangingPunct="1"/>
            <a:r>
              <a:rPr lang="en-US" altLang="zh-TW">
                <a:latin typeface="Arial" panose="020B0604020202020204" pitchFamily="34" charset="0"/>
              </a:rPr>
              <a:t>The BEA began a major revision in 1998 and published the first revisions to reclassify software from intermediate to final good status in 1999. And, when the 1996 GDP was recalculated to include software, it increased by $115 billion, or 1.5 percent of GDP.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5F8F3B4B-A6F5-0268-E2E1-D410894223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B49F56C-DC8E-4347-8515-1138B4853B91}" type="slidenum">
              <a:rPr lang="zh-TW" altLang="en-US"/>
              <a:pPr>
                <a:spcBef>
                  <a:spcPct val="0"/>
                </a:spcBef>
              </a:pPr>
              <a:t>4</a:t>
            </a:fld>
            <a:endParaRPr lang="en-US" altLang="zh-TW"/>
          </a:p>
        </p:txBody>
      </p:sp>
      <p:sp>
        <p:nvSpPr>
          <p:cNvPr id="18435" name="Rectangle 2">
            <a:extLst>
              <a:ext uri="{FF2B5EF4-FFF2-40B4-BE49-F238E27FC236}">
                <a16:creationId xmlns:a16="http://schemas.microsoft.com/office/drawing/2014/main" id="{7CE08AC4-1D4B-885A-6CD9-6E0C4773C27E}"/>
              </a:ext>
            </a:extLst>
          </p:cNvPr>
          <p:cNvSpPr>
            <a:spLocks noRot="1" noChangeArrowheads="1" noTextEdit="1"/>
          </p:cNvSpPr>
          <p:nvPr>
            <p:ph type="sldImg"/>
          </p:nvPr>
        </p:nvSpPr>
        <p:spPr>
          <a:ln/>
        </p:spPr>
      </p:sp>
      <p:sp>
        <p:nvSpPr>
          <p:cNvPr id="18436" name="Rectangle 3">
            <a:extLst>
              <a:ext uri="{FF2B5EF4-FFF2-40B4-BE49-F238E27FC236}">
                <a16:creationId xmlns:a16="http://schemas.microsoft.com/office/drawing/2014/main" id="{367CE8CF-4034-0BFF-B28A-7D1DE58812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43691815-5500-737B-4A74-F815213012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62600B0-07C4-A849-A9BC-C73EFE3A56DB}" type="slidenum">
              <a:rPr lang="zh-TW" altLang="en-US"/>
              <a:pPr>
                <a:spcBef>
                  <a:spcPct val="0"/>
                </a:spcBef>
              </a:pPr>
              <a:t>5</a:t>
            </a:fld>
            <a:endParaRPr lang="en-US" altLang="zh-TW"/>
          </a:p>
        </p:txBody>
      </p:sp>
      <p:sp>
        <p:nvSpPr>
          <p:cNvPr id="20483" name="Rectangle 2">
            <a:extLst>
              <a:ext uri="{FF2B5EF4-FFF2-40B4-BE49-F238E27FC236}">
                <a16:creationId xmlns:a16="http://schemas.microsoft.com/office/drawing/2014/main" id="{0C2DE4D0-9FDD-67A1-A35B-A6320C7CA57A}"/>
              </a:ext>
            </a:extLst>
          </p:cNvPr>
          <p:cNvSpPr>
            <a:spLocks noRot="1" noChangeArrowheads="1" noTextEdit="1"/>
          </p:cNvSpPr>
          <p:nvPr>
            <p:ph type="sldImg"/>
          </p:nvPr>
        </p:nvSpPr>
        <p:spPr>
          <a:ln/>
        </p:spPr>
      </p:sp>
      <p:sp>
        <p:nvSpPr>
          <p:cNvPr id="20484" name="Rectangle 3">
            <a:extLst>
              <a:ext uri="{FF2B5EF4-FFF2-40B4-BE49-F238E27FC236}">
                <a16:creationId xmlns:a16="http://schemas.microsoft.com/office/drawing/2014/main" id="{8A38D816-8A03-3977-D101-A176E4DBCB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6AEDB90B-A2FB-2B83-8A8F-EEEFA6298C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7B5FB2C-63F8-524D-84A2-1C70E59F1D42}" type="slidenum">
              <a:rPr lang="zh-TW" altLang="en-US"/>
              <a:pPr>
                <a:spcBef>
                  <a:spcPct val="0"/>
                </a:spcBef>
              </a:pPr>
              <a:t>6</a:t>
            </a:fld>
            <a:endParaRPr lang="en-US" altLang="zh-TW"/>
          </a:p>
        </p:txBody>
      </p:sp>
      <p:sp>
        <p:nvSpPr>
          <p:cNvPr id="22531" name="Rectangle 2">
            <a:extLst>
              <a:ext uri="{FF2B5EF4-FFF2-40B4-BE49-F238E27FC236}">
                <a16:creationId xmlns:a16="http://schemas.microsoft.com/office/drawing/2014/main" id="{CAE5A33E-01AF-C8D0-1F9C-D9DC7DAB9C7F}"/>
              </a:ext>
            </a:extLst>
          </p:cNvPr>
          <p:cNvSpPr>
            <a:spLocks noRot="1" noChangeArrowheads="1" noTextEdit="1"/>
          </p:cNvSpPr>
          <p:nvPr>
            <p:ph type="sldImg"/>
          </p:nvPr>
        </p:nvSpPr>
        <p:spPr>
          <a:ln/>
        </p:spPr>
      </p:sp>
      <p:sp>
        <p:nvSpPr>
          <p:cNvPr id="22532" name="Rectangle 3">
            <a:extLst>
              <a:ext uri="{FF2B5EF4-FFF2-40B4-BE49-F238E27FC236}">
                <a16:creationId xmlns:a16="http://schemas.microsoft.com/office/drawing/2014/main" id="{206381CA-F249-491D-36E7-2FDB952371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CF124683-2D9E-DC64-8C9A-95569F57F4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67D78B7-C559-8C4C-AC01-3CAB1C42F24A}" type="slidenum">
              <a:rPr lang="zh-TW" altLang="en-US"/>
              <a:pPr>
                <a:spcBef>
                  <a:spcPct val="0"/>
                </a:spcBef>
              </a:pPr>
              <a:t>7</a:t>
            </a:fld>
            <a:endParaRPr lang="en-US" altLang="zh-TW"/>
          </a:p>
        </p:txBody>
      </p:sp>
      <p:sp>
        <p:nvSpPr>
          <p:cNvPr id="24579" name="Rectangle 2">
            <a:extLst>
              <a:ext uri="{FF2B5EF4-FFF2-40B4-BE49-F238E27FC236}">
                <a16:creationId xmlns:a16="http://schemas.microsoft.com/office/drawing/2014/main" id="{B7765D0A-8656-E948-F12D-DA01A407CFCE}"/>
              </a:ext>
            </a:extLst>
          </p:cNvPr>
          <p:cNvSpPr>
            <a:spLocks noRot="1" noChangeArrowheads="1" noTextEdit="1"/>
          </p:cNvSpPr>
          <p:nvPr>
            <p:ph type="sldImg"/>
          </p:nvPr>
        </p:nvSpPr>
        <p:spPr>
          <a:ln/>
        </p:spPr>
      </p:sp>
      <p:sp>
        <p:nvSpPr>
          <p:cNvPr id="24580" name="Rectangle 3">
            <a:extLst>
              <a:ext uri="{FF2B5EF4-FFF2-40B4-BE49-F238E27FC236}">
                <a16:creationId xmlns:a16="http://schemas.microsoft.com/office/drawing/2014/main" id="{E1EB72D2-2442-4D66-60A4-2F5F199E27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16F31FC9-DF92-41CC-36E7-861F1E1955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3468D54-F05A-734D-A088-B97918C93C65}" type="slidenum">
              <a:rPr lang="zh-TW" altLang="en-US"/>
              <a:pPr>
                <a:spcBef>
                  <a:spcPct val="0"/>
                </a:spcBef>
              </a:pPr>
              <a:t>8</a:t>
            </a:fld>
            <a:endParaRPr lang="en-US" altLang="zh-TW"/>
          </a:p>
        </p:txBody>
      </p:sp>
      <p:sp>
        <p:nvSpPr>
          <p:cNvPr id="26627" name="Rectangle 2">
            <a:extLst>
              <a:ext uri="{FF2B5EF4-FFF2-40B4-BE49-F238E27FC236}">
                <a16:creationId xmlns:a16="http://schemas.microsoft.com/office/drawing/2014/main" id="{8509FCB8-9942-DE1F-F285-F4ABE646C56C}"/>
              </a:ext>
            </a:extLst>
          </p:cNvPr>
          <p:cNvSpPr>
            <a:spLocks noRot="1" noChangeArrowheads="1" noTextEdit="1"/>
          </p:cNvSpPr>
          <p:nvPr>
            <p:ph type="sldImg"/>
          </p:nvPr>
        </p:nvSpPr>
        <p:spPr>
          <a:ln/>
        </p:spPr>
      </p:sp>
      <p:sp>
        <p:nvSpPr>
          <p:cNvPr id="26628" name="Rectangle 3">
            <a:extLst>
              <a:ext uri="{FF2B5EF4-FFF2-40B4-BE49-F238E27FC236}">
                <a16:creationId xmlns:a16="http://schemas.microsoft.com/office/drawing/2014/main" id="{B791712C-DD41-E29E-20DD-02A9998297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B6C3BE0B-5E6D-CD91-4509-8225F0FF26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2A218C6-42A3-3249-B436-5B564CE7A2CC}" type="slidenum">
              <a:rPr lang="zh-TW" altLang="en-US"/>
              <a:pPr>
                <a:spcBef>
                  <a:spcPct val="0"/>
                </a:spcBef>
              </a:pPr>
              <a:t>9</a:t>
            </a:fld>
            <a:endParaRPr lang="en-US" altLang="zh-TW"/>
          </a:p>
        </p:txBody>
      </p:sp>
      <p:sp>
        <p:nvSpPr>
          <p:cNvPr id="28675" name="Rectangle 2">
            <a:extLst>
              <a:ext uri="{FF2B5EF4-FFF2-40B4-BE49-F238E27FC236}">
                <a16:creationId xmlns:a16="http://schemas.microsoft.com/office/drawing/2014/main" id="{F030AD5D-6EB0-F86C-4988-C073DB4D940D}"/>
              </a:ext>
            </a:extLst>
          </p:cNvPr>
          <p:cNvSpPr>
            <a:spLocks noRot="1" noChangeArrowheads="1" noTextEdit="1"/>
          </p:cNvSpPr>
          <p:nvPr>
            <p:ph type="sldImg"/>
          </p:nvPr>
        </p:nvSpPr>
        <p:spPr>
          <a:ln/>
        </p:spPr>
      </p:sp>
      <p:sp>
        <p:nvSpPr>
          <p:cNvPr id="28676" name="Rectangle 3">
            <a:extLst>
              <a:ext uri="{FF2B5EF4-FFF2-40B4-BE49-F238E27FC236}">
                <a16:creationId xmlns:a16="http://schemas.microsoft.com/office/drawing/2014/main" id="{B4E60B8C-D1F7-8F7F-417C-A4BDB56105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DB24C946-B7DE-D795-5642-33A753852B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A31B329-398B-574C-A764-9AD9CDF632AA}" type="slidenum">
              <a:rPr lang="zh-TW" altLang="en-US"/>
              <a:pPr>
                <a:spcBef>
                  <a:spcPct val="0"/>
                </a:spcBef>
              </a:pPr>
              <a:t>10</a:t>
            </a:fld>
            <a:endParaRPr lang="en-US" altLang="zh-TW"/>
          </a:p>
        </p:txBody>
      </p:sp>
      <p:sp>
        <p:nvSpPr>
          <p:cNvPr id="30723" name="Rectangle 2">
            <a:extLst>
              <a:ext uri="{FF2B5EF4-FFF2-40B4-BE49-F238E27FC236}">
                <a16:creationId xmlns:a16="http://schemas.microsoft.com/office/drawing/2014/main" id="{E37E87AF-159E-B34F-BF23-3D6E126EB982}"/>
              </a:ext>
            </a:extLst>
          </p:cNvPr>
          <p:cNvSpPr>
            <a:spLocks noRot="1" noChangeArrowheads="1" noTextEdit="1"/>
          </p:cNvSpPr>
          <p:nvPr>
            <p:ph type="sldImg"/>
          </p:nvPr>
        </p:nvSpPr>
        <p:spPr>
          <a:ln/>
        </p:spPr>
      </p:sp>
      <p:sp>
        <p:nvSpPr>
          <p:cNvPr id="30724" name="Rectangle 3">
            <a:extLst>
              <a:ext uri="{FF2B5EF4-FFF2-40B4-BE49-F238E27FC236}">
                <a16:creationId xmlns:a16="http://schemas.microsoft.com/office/drawing/2014/main" id="{1C985981-C127-61C0-79D4-02D8824F0C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A345B146-6B7D-B02A-7DE7-C6D97A17DB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8493C2A-594D-784B-B590-7D2ECE74F8ED}" type="slidenum">
              <a:rPr lang="zh-TW" altLang="en-US"/>
              <a:pPr>
                <a:spcBef>
                  <a:spcPct val="0"/>
                </a:spcBef>
              </a:pPr>
              <a:t>11</a:t>
            </a:fld>
            <a:endParaRPr lang="en-US" altLang="zh-TW"/>
          </a:p>
        </p:txBody>
      </p:sp>
      <p:sp>
        <p:nvSpPr>
          <p:cNvPr id="32771" name="Rectangle 2">
            <a:extLst>
              <a:ext uri="{FF2B5EF4-FFF2-40B4-BE49-F238E27FC236}">
                <a16:creationId xmlns:a16="http://schemas.microsoft.com/office/drawing/2014/main" id="{09826C36-5458-53C4-F689-9365DB331576}"/>
              </a:ext>
            </a:extLst>
          </p:cNvPr>
          <p:cNvSpPr>
            <a:spLocks noRot="1" noChangeArrowheads="1" noTextEdit="1"/>
          </p:cNvSpPr>
          <p:nvPr>
            <p:ph type="sldImg"/>
          </p:nvPr>
        </p:nvSpPr>
        <p:spPr>
          <a:ln/>
        </p:spPr>
      </p:sp>
      <p:sp>
        <p:nvSpPr>
          <p:cNvPr id="32772" name="Rectangle 3">
            <a:extLst>
              <a:ext uri="{FF2B5EF4-FFF2-40B4-BE49-F238E27FC236}">
                <a16:creationId xmlns:a16="http://schemas.microsoft.com/office/drawing/2014/main" id="{80C04978-EF8F-D934-B564-1D794B0D0A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C1FDDF1B-9585-77E2-0905-2E47DBFDBE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A1D7AC0-7292-414C-BA45-E36E043AC731}" type="slidenum">
              <a:rPr lang="zh-TW" altLang="en-US"/>
              <a:pPr>
                <a:spcBef>
                  <a:spcPct val="0"/>
                </a:spcBef>
              </a:pPr>
              <a:t>12</a:t>
            </a:fld>
            <a:endParaRPr lang="en-US" altLang="zh-TW"/>
          </a:p>
        </p:txBody>
      </p:sp>
      <p:sp>
        <p:nvSpPr>
          <p:cNvPr id="34819" name="Rectangle 2">
            <a:extLst>
              <a:ext uri="{FF2B5EF4-FFF2-40B4-BE49-F238E27FC236}">
                <a16:creationId xmlns:a16="http://schemas.microsoft.com/office/drawing/2014/main" id="{EF4087A1-9AF0-504E-A44A-0ABFEA0EF225}"/>
              </a:ext>
            </a:extLst>
          </p:cNvPr>
          <p:cNvSpPr>
            <a:spLocks noRot="1" noChangeArrowheads="1" noTextEdit="1"/>
          </p:cNvSpPr>
          <p:nvPr>
            <p:ph type="sldImg"/>
          </p:nvPr>
        </p:nvSpPr>
        <p:spPr>
          <a:ln/>
        </p:spPr>
      </p:sp>
      <p:sp>
        <p:nvSpPr>
          <p:cNvPr id="34820" name="Rectangle 3">
            <a:extLst>
              <a:ext uri="{FF2B5EF4-FFF2-40B4-BE49-F238E27FC236}">
                <a16:creationId xmlns:a16="http://schemas.microsoft.com/office/drawing/2014/main" id="{A2D8B354-B1C2-2BCC-D8D8-74557C4A79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A0BDFF52-D8D4-8E05-A65E-BD95311227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DC96FA2-36F2-BA42-8695-D9E3C396E1F7}" type="slidenum">
              <a:rPr lang="zh-TW" altLang="en-US"/>
              <a:pPr>
                <a:spcBef>
                  <a:spcPct val="0"/>
                </a:spcBef>
              </a:pPr>
              <a:t>13</a:t>
            </a:fld>
            <a:endParaRPr lang="en-US" altLang="zh-TW"/>
          </a:p>
        </p:txBody>
      </p:sp>
      <p:sp>
        <p:nvSpPr>
          <p:cNvPr id="36867" name="Rectangle 2">
            <a:extLst>
              <a:ext uri="{FF2B5EF4-FFF2-40B4-BE49-F238E27FC236}">
                <a16:creationId xmlns:a16="http://schemas.microsoft.com/office/drawing/2014/main" id="{C46BCBAE-16EE-5831-AA5E-7ECC9F732A55}"/>
              </a:ext>
            </a:extLst>
          </p:cNvPr>
          <p:cNvSpPr>
            <a:spLocks noRot="1" noChangeArrowheads="1" noTextEdit="1"/>
          </p:cNvSpPr>
          <p:nvPr>
            <p:ph type="sldImg"/>
          </p:nvPr>
        </p:nvSpPr>
        <p:spPr>
          <a:ln/>
        </p:spPr>
      </p:sp>
      <p:sp>
        <p:nvSpPr>
          <p:cNvPr id="36868" name="Rectangle 3">
            <a:extLst>
              <a:ext uri="{FF2B5EF4-FFF2-40B4-BE49-F238E27FC236}">
                <a16:creationId xmlns:a16="http://schemas.microsoft.com/office/drawing/2014/main" id="{6A7D94AF-59B4-D173-C11F-59389EB6C1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6A3E336E-D107-E690-60C8-F88AC086D5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DB6AEAD-5221-DA48-AEB2-95D8928327BE}" type="slidenum">
              <a:rPr lang="zh-TW" altLang="en-US"/>
              <a:pPr>
                <a:spcBef>
                  <a:spcPct val="0"/>
                </a:spcBef>
              </a:pPr>
              <a:t>14</a:t>
            </a:fld>
            <a:endParaRPr lang="en-US" altLang="zh-TW"/>
          </a:p>
        </p:txBody>
      </p:sp>
      <p:sp>
        <p:nvSpPr>
          <p:cNvPr id="38915" name="Rectangle 2">
            <a:extLst>
              <a:ext uri="{FF2B5EF4-FFF2-40B4-BE49-F238E27FC236}">
                <a16:creationId xmlns:a16="http://schemas.microsoft.com/office/drawing/2014/main" id="{ECBD8C63-DA38-A27D-0785-F46DC06DCB14}"/>
              </a:ext>
            </a:extLst>
          </p:cNvPr>
          <p:cNvSpPr>
            <a:spLocks noRot="1" noChangeArrowheads="1" noTextEdit="1"/>
          </p:cNvSpPr>
          <p:nvPr>
            <p:ph type="sldImg"/>
          </p:nvPr>
        </p:nvSpPr>
        <p:spPr>
          <a:ln/>
        </p:spPr>
      </p:sp>
      <p:sp>
        <p:nvSpPr>
          <p:cNvPr id="38916" name="Rectangle 3">
            <a:extLst>
              <a:ext uri="{FF2B5EF4-FFF2-40B4-BE49-F238E27FC236}">
                <a16:creationId xmlns:a16="http://schemas.microsoft.com/office/drawing/2014/main" id="{1CC7E366-ED07-C537-DB0D-E325D40614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rPr>
              <a:t>Government transfer payments, such as Social Security payments, are </a:t>
            </a:r>
            <a:r>
              <a:rPr lang="en-GB" altLang="en-US" i="1">
                <a:latin typeface="Arial" panose="020B0604020202020204" pitchFamily="34" charset="0"/>
              </a:rPr>
              <a:t>not </a:t>
            </a:r>
            <a:r>
              <a:rPr lang="en-GB" altLang="en-US">
                <a:latin typeface="Arial" panose="020B0604020202020204" pitchFamily="34" charset="0"/>
              </a:rPr>
              <a:t>part of government expenditure because government expenditure includes only funds used by the government to buy goods and services. Transfer payments are not buying a good or service for the government and so are not included in government expenditures.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03E95B2B-BEE1-35E2-9727-F0FDC6448F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44206DA-5EA9-C34B-AD68-D55307EDD737}" type="slidenum">
              <a:rPr lang="zh-TW" altLang="en-US"/>
              <a:pPr>
                <a:spcBef>
                  <a:spcPct val="0"/>
                </a:spcBef>
              </a:pPr>
              <a:t>15</a:t>
            </a:fld>
            <a:endParaRPr lang="en-US" altLang="zh-TW"/>
          </a:p>
        </p:txBody>
      </p:sp>
      <p:sp>
        <p:nvSpPr>
          <p:cNvPr id="40963" name="Rectangle 2">
            <a:extLst>
              <a:ext uri="{FF2B5EF4-FFF2-40B4-BE49-F238E27FC236}">
                <a16:creationId xmlns:a16="http://schemas.microsoft.com/office/drawing/2014/main" id="{9B2375BB-BCAA-944D-1AF2-01D9E393E447}"/>
              </a:ext>
            </a:extLst>
          </p:cNvPr>
          <p:cNvSpPr>
            <a:spLocks noRot="1" noChangeArrowheads="1" noTextEdit="1"/>
          </p:cNvSpPr>
          <p:nvPr>
            <p:ph type="sldImg"/>
          </p:nvPr>
        </p:nvSpPr>
        <p:spPr>
          <a:ln/>
        </p:spPr>
      </p:sp>
      <p:sp>
        <p:nvSpPr>
          <p:cNvPr id="40964" name="Rectangle 3">
            <a:extLst>
              <a:ext uri="{FF2B5EF4-FFF2-40B4-BE49-F238E27FC236}">
                <a16:creationId xmlns:a16="http://schemas.microsoft.com/office/drawing/2014/main" id="{DC7F5D2C-1E77-6361-BF4D-211850CDDC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78B70E48-DF5B-AC91-9C6C-6A36968FB5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C08AF1A-7795-7B49-9A5C-290FBE1D2E21}" type="slidenum">
              <a:rPr lang="zh-TW" altLang="en-US"/>
              <a:pPr>
                <a:spcBef>
                  <a:spcPct val="0"/>
                </a:spcBef>
              </a:pPr>
              <a:t>16</a:t>
            </a:fld>
            <a:endParaRPr lang="en-US" altLang="zh-TW"/>
          </a:p>
        </p:txBody>
      </p:sp>
      <p:sp>
        <p:nvSpPr>
          <p:cNvPr id="43011" name="Rectangle 2">
            <a:extLst>
              <a:ext uri="{FF2B5EF4-FFF2-40B4-BE49-F238E27FC236}">
                <a16:creationId xmlns:a16="http://schemas.microsoft.com/office/drawing/2014/main" id="{8DDBF68B-36B9-30CC-9E20-4A9F4A774E23}"/>
              </a:ext>
            </a:extLst>
          </p:cNvPr>
          <p:cNvSpPr>
            <a:spLocks noRot="1" noChangeArrowheads="1" noTextEdit="1"/>
          </p:cNvSpPr>
          <p:nvPr>
            <p:ph type="sldImg"/>
          </p:nvPr>
        </p:nvSpPr>
        <p:spPr>
          <a:ln/>
        </p:spPr>
      </p:sp>
      <p:sp>
        <p:nvSpPr>
          <p:cNvPr id="43012" name="Rectangle 3">
            <a:extLst>
              <a:ext uri="{FF2B5EF4-FFF2-40B4-BE49-F238E27FC236}">
                <a16:creationId xmlns:a16="http://schemas.microsoft.com/office/drawing/2014/main" id="{6223FAF0-C359-31F4-CFE9-99D490E0B1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B552DAB5-7467-2594-D791-147FE81570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38D82C1-785C-744A-AC7B-597BCA1F29E0}" type="slidenum">
              <a:rPr lang="zh-TW" altLang="en-US"/>
              <a:pPr>
                <a:spcBef>
                  <a:spcPct val="0"/>
                </a:spcBef>
              </a:pPr>
              <a:t>17</a:t>
            </a:fld>
            <a:endParaRPr lang="en-US" altLang="zh-TW"/>
          </a:p>
        </p:txBody>
      </p:sp>
      <p:sp>
        <p:nvSpPr>
          <p:cNvPr id="45059" name="Rectangle 2">
            <a:extLst>
              <a:ext uri="{FF2B5EF4-FFF2-40B4-BE49-F238E27FC236}">
                <a16:creationId xmlns:a16="http://schemas.microsoft.com/office/drawing/2014/main" id="{9BD50006-3AC1-457A-2338-A35D57E747E7}"/>
              </a:ext>
            </a:extLst>
          </p:cNvPr>
          <p:cNvSpPr>
            <a:spLocks noRot="1" noChangeArrowheads="1" noTextEdit="1"/>
          </p:cNvSpPr>
          <p:nvPr>
            <p:ph type="sldImg"/>
          </p:nvPr>
        </p:nvSpPr>
        <p:spPr>
          <a:ln/>
        </p:spPr>
      </p:sp>
      <p:sp>
        <p:nvSpPr>
          <p:cNvPr id="45060" name="Rectangle 3">
            <a:extLst>
              <a:ext uri="{FF2B5EF4-FFF2-40B4-BE49-F238E27FC236}">
                <a16:creationId xmlns:a16="http://schemas.microsoft.com/office/drawing/2014/main" id="{715112AA-0A48-BFDF-E301-A29B1FFA6D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5320847-789F-C804-BD97-CAFEC92738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62DEE4B-CAB4-E349-AA11-38386FFFB8CE}" type="slidenum">
              <a:rPr lang="zh-TW" altLang="en-US"/>
              <a:pPr>
                <a:spcBef>
                  <a:spcPct val="0"/>
                </a:spcBef>
              </a:pPr>
              <a:t>18</a:t>
            </a:fld>
            <a:endParaRPr lang="en-US" altLang="zh-TW"/>
          </a:p>
        </p:txBody>
      </p:sp>
      <p:sp>
        <p:nvSpPr>
          <p:cNvPr id="47107" name="Rectangle 2">
            <a:extLst>
              <a:ext uri="{FF2B5EF4-FFF2-40B4-BE49-F238E27FC236}">
                <a16:creationId xmlns:a16="http://schemas.microsoft.com/office/drawing/2014/main" id="{5366BAD2-26C1-09EC-6B45-B2D253F6273C}"/>
              </a:ext>
            </a:extLst>
          </p:cNvPr>
          <p:cNvSpPr>
            <a:spLocks noRot="1" noChangeArrowheads="1" noTextEdit="1"/>
          </p:cNvSpPr>
          <p:nvPr>
            <p:ph type="sldImg"/>
          </p:nvPr>
        </p:nvSpPr>
        <p:spPr>
          <a:ln/>
        </p:spPr>
      </p:sp>
      <p:sp>
        <p:nvSpPr>
          <p:cNvPr id="47108" name="Rectangle 3">
            <a:extLst>
              <a:ext uri="{FF2B5EF4-FFF2-40B4-BE49-F238E27FC236}">
                <a16:creationId xmlns:a16="http://schemas.microsoft.com/office/drawing/2014/main" id="{FE4D8B9B-517D-F57D-24C0-EADF4874A4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1228613B-AD5C-BA24-2748-B8D6C0127B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24A597F-AE40-E74E-B730-793613FB15F9}" type="slidenum">
              <a:rPr lang="zh-TW" altLang="en-US"/>
              <a:pPr>
                <a:spcBef>
                  <a:spcPct val="0"/>
                </a:spcBef>
              </a:pPr>
              <a:t>19</a:t>
            </a:fld>
            <a:endParaRPr lang="en-US" altLang="zh-TW"/>
          </a:p>
        </p:txBody>
      </p:sp>
      <p:sp>
        <p:nvSpPr>
          <p:cNvPr id="49155" name="Rectangle 2">
            <a:extLst>
              <a:ext uri="{FF2B5EF4-FFF2-40B4-BE49-F238E27FC236}">
                <a16:creationId xmlns:a16="http://schemas.microsoft.com/office/drawing/2014/main" id="{5DC06676-53A4-041E-1E19-961A157C07A2}"/>
              </a:ext>
            </a:extLst>
          </p:cNvPr>
          <p:cNvSpPr>
            <a:spLocks noRot="1" noChangeArrowheads="1" noTextEdit="1"/>
          </p:cNvSpPr>
          <p:nvPr>
            <p:ph type="sldImg"/>
          </p:nvPr>
        </p:nvSpPr>
        <p:spPr>
          <a:ln/>
        </p:spPr>
      </p:sp>
      <p:sp>
        <p:nvSpPr>
          <p:cNvPr id="49156" name="Rectangle 3">
            <a:extLst>
              <a:ext uri="{FF2B5EF4-FFF2-40B4-BE49-F238E27FC236}">
                <a16:creationId xmlns:a16="http://schemas.microsoft.com/office/drawing/2014/main" id="{B26FC1E8-0045-5019-2A99-FCEFACB0DA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6E6C50D3-0FAF-419C-2D2D-CEC29DE3A9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C593653-A6AE-8E42-B246-75D180AA2BB6}" type="slidenum">
              <a:rPr lang="zh-TW" altLang="en-US"/>
              <a:pPr>
                <a:spcBef>
                  <a:spcPct val="0"/>
                </a:spcBef>
              </a:pPr>
              <a:t>20</a:t>
            </a:fld>
            <a:endParaRPr lang="en-US" altLang="zh-TW"/>
          </a:p>
        </p:txBody>
      </p:sp>
      <p:sp>
        <p:nvSpPr>
          <p:cNvPr id="51203" name="Rectangle 2">
            <a:extLst>
              <a:ext uri="{FF2B5EF4-FFF2-40B4-BE49-F238E27FC236}">
                <a16:creationId xmlns:a16="http://schemas.microsoft.com/office/drawing/2014/main" id="{CFF23CE2-7A87-FE92-17FC-286879C2EB1A}"/>
              </a:ext>
            </a:extLst>
          </p:cNvPr>
          <p:cNvSpPr>
            <a:spLocks noRot="1" noChangeArrowheads="1" noTextEdit="1"/>
          </p:cNvSpPr>
          <p:nvPr>
            <p:ph type="sldImg"/>
          </p:nvPr>
        </p:nvSpPr>
        <p:spPr>
          <a:ln/>
        </p:spPr>
      </p:sp>
      <p:sp>
        <p:nvSpPr>
          <p:cNvPr id="51204" name="Rectangle 3">
            <a:extLst>
              <a:ext uri="{FF2B5EF4-FFF2-40B4-BE49-F238E27FC236}">
                <a16:creationId xmlns:a16="http://schemas.microsoft.com/office/drawing/2014/main" id="{33CFD46B-4ABB-B04D-1110-6FCEFCC6A8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220EADC8-2633-3C43-C440-0A76C4F35B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5F80F9D-65B5-EA43-AC71-D07AFB443FFA}" type="slidenum">
              <a:rPr lang="zh-TW" altLang="en-US"/>
              <a:pPr>
                <a:spcBef>
                  <a:spcPct val="0"/>
                </a:spcBef>
              </a:pPr>
              <a:t>21</a:t>
            </a:fld>
            <a:endParaRPr lang="en-US" altLang="zh-TW"/>
          </a:p>
        </p:txBody>
      </p:sp>
      <p:sp>
        <p:nvSpPr>
          <p:cNvPr id="53251" name="Rectangle 2">
            <a:extLst>
              <a:ext uri="{FF2B5EF4-FFF2-40B4-BE49-F238E27FC236}">
                <a16:creationId xmlns:a16="http://schemas.microsoft.com/office/drawing/2014/main" id="{C3703E86-A01A-59A3-F81A-A9EDAE9C0DA8}"/>
              </a:ext>
            </a:extLst>
          </p:cNvPr>
          <p:cNvSpPr>
            <a:spLocks noRot="1" noChangeArrowheads="1" noTextEdit="1"/>
          </p:cNvSpPr>
          <p:nvPr>
            <p:ph type="sldImg"/>
          </p:nvPr>
        </p:nvSpPr>
        <p:spPr>
          <a:ln/>
        </p:spPr>
      </p:sp>
      <p:sp>
        <p:nvSpPr>
          <p:cNvPr id="53252" name="Rectangle 3">
            <a:extLst>
              <a:ext uri="{FF2B5EF4-FFF2-40B4-BE49-F238E27FC236}">
                <a16:creationId xmlns:a16="http://schemas.microsoft.com/office/drawing/2014/main" id="{F741E36A-61DB-5DFD-7F4D-6148D88C97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83C43A22-50B7-848C-B074-D6C0E4BC16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B1B4EAC-F4E8-1248-920B-E12C50CF2A53}" type="slidenum">
              <a:rPr lang="zh-TW" altLang="en-US"/>
              <a:pPr>
                <a:spcBef>
                  <a:spcPct val="0"/>
                </a:spcBef>
              </a:pPr>
              <a:t>22</a:t>
            </a:fld>
            <a:endParaRPr lang="en-US" altLang="zh-TW"/>
          </a:p>
        </p:txBody>
      </p:sp>
      <p:sp>
        <p:nvSpPr>
          <p:cNvPr id="55299" name="Rectangle 2">
            <a:extLst>
              <a:ext uri="{FF2B5EF4-FFF2-40B4-BE49-F238E27FC236}">
                <a16:creationId xmlns:a16="http://schemas.microsoft.com/office/drawing/2014/main" id="{060B53E0-040F-42EC-AF02-8865F9248277}"/>
              </a:ext>
            </a:extLst>
          </p:cNvPr>
          <p:cNvSpPr>
            <a:spLocks noRot="1" noChangeArrowheads="1" noTextEdit="1"/>
          </p:cNvSpPr>
          <p:nvPr>
            <p:ph type="sldImg"/>
          </p:nvPr>
        </p:nvSpPr>
        <p:spPr>
          <a:ln/>
        </p:spPr>
      </p:sp>
      <p:sp>
        <p:nvSpPr>
          <p:cNvPr id="55300" name="Rectangle 3">
            <a:extLst>
              <a:ext uri="{FF2B5EF4-FFF2-40B4-BE49-F238E27FC236}">
                <a16:creationId xmlns:a16="http://schemas.microsoft.com/office/drawing/2014/main" id="{2B47F244-EFC4-7764-A38B-97E3F73FEF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C182E00B-1FA0-A894-E28B-72518AB9A7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54BD334-8BE0-024B-B52F-091DF3B416A2}" type="slidenum">
              <a:rPr lang="zh-TW" altLang="en-US"/>
              <a:pPr>
                <a:spcBef>
                  <a:spcPct val="0"/>
                </a:spcBef>
              </a:pPr>
              <a:t>23</a:t>
            </a:fld>
            <a:endParaRPr lang="en-US" altLang="zh-TW"/>
          </a:p>
        </p:txBody>
      </p:sp>
      <p:sp>
        <p:nvSpPr>
          <p:cNvPr id="57347" name="Rectangle 2">
            <a:extLst>
              <a:ext uri="{FF2B5EF4-FFF2-40B4-BE49-F238E27FC236}">
                <a16:creationId xmlns:a16="http://schemas.microsoft.com/office/drawing/2014/main" id="{E396E918-144E-6CDF-C36D-3400BF5B9957}"/>
              </a:ext>
            </a:extLst>
          </p:cNvPr>
          <p:cNvSpPr>
            <a:spLocks noRot="1" noChangeArrowheads="1" noTextEdit="1"/>
          </p:cNvSpPr>
          <p:nvPr>
            <p:ph type="sldImg"/>
          </p:nvPr>
        </p:nvSpPr>
        <p:spPr>
          <a:ln/>
        </p:spPr>
      </p:sp>
      <p:sp>
        <p:nvSpPr>
          <p:cNvPr id="57348" name="Rectangle 3">
            <a:extLst>
              <a:ext uri="{FF2B5EF4-FFF2-40B4-BE49-F238E27FC236}">
                <a16:creationId xmlns:a16="http://schemas.microsoft.com/office/drawing/2014/main" id="{58EA29BB-70FB-D2E7-533A-4B2AFEF703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FD99738E-7383-2870-2A07-3B6C933000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C5A0C07-5A2E-1844-A39A-9FC232A76F77}" type="slidenum">
              <a:rPr lang="zh-TW" altLang="en-US"/>
              <a:pPr>
                <a:spcBef>
                  <a:spcPct val="0"/>
                </a:spcBef>
              </a:pPr>
              <a:t>24</a:t>
            </a:fld>
            <a:endParaRPr lang="en-US" altLang="zh-TW"/>
          </a:p>
        </p:txBody>
      </p:sp>
      <p:sp>
        <p:nvSpPr>
          <p:cNvPr id="59395" name="Rectangle 2">
            <a:extLst>
              <a:ext uri="{FF2B5EF4-FFF2-40B4-BE49-F238E27FC236}">
                <a16:creationId xmlns:a16="http://schemas.microsoft.com/office/drawing/2014/main" id="{8DB0DF1F-9E47-121F-05BD-5BFBE0359F2A}"/>
              </a:ext>
            </a:extLst>
          </p:cNvPr>
          <p:cNvSpPr>
            <a:spLocks noRot="1" noChangeArrowheads="1" noTextEdit="1"/>
          </p:cNvSpPr>
          <p:nvPr>
            <p:ph type="sldImg"/>
          </p:nvPr>
        </p:nvSpPr>
        <p:spPr>
          <a:ln/>
        </p:spPr>
      </p:sp>
      <p:sp>
        <p:nvSpPr>
          <p:cNvPr id="59396" name="Rectangle 3">
            <a:extLst>
              <a:ext uri="{FF2B5EF4-FFF2-40B4-BE49-F238E27FC236}">
                <a16:creationId xmlns:a16="http://schemas.microsoft.com/office/drawing/2014/main" id="{602C9E90-9535-9378-F96C-DD791E2421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C8B839EE-B270-B1B8-2C6E-1728A42EA4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CED4A7B-ECF4-2848-9752-8C393D810C34}" type="slidenum">
              <a:rPr lang="zh-TW" altLang="en-US"/>
              <a:pPr>
                <a:spcBef>
                  <a:spcPct val="0"/>
                </a:spcBef>
              </a:pPr>
              <a:t>25</a:t>
            </a:fld>
            <a:endParaRPr lang="en-US" altLang="zh-TW"/>
          </a:p>
        </p:txBody>
      </p:sp>
      <p:sp>
        <p:nvSpPr>
          <p:cNvPr id="61443" name="Rectangle 2">
            <a:extLst>
              <a:ext uri="{FF2B5EF4-FFF2-40B4-BE49-F238E27FC236}">
                <a16:creationId xmlns:a16="http://schemas.microsoft.com/office/drawing/2014/main" id="{5A8FDA25-98C6-9423-B607-EAA6782B83D7}"/>
              </a:ext>
            </a:extLst>
          </p:cNvPr>
          <p:cNvSpPr>
            <a:spLocks noRot="1" noChangeArrowheads="1" noTextEdit="1"/>
          </p:cNvSpPr>
          <p:nvPr>
            <p:ph type="sldImg"/>
          </p:nvPr>
        </p:nvSpPr>
        <p:spPr>
          <a:ln/>
        </p:spPr>
      </p:sp>
      <p:sp>
        <p:nvSpPr>
          <p:cNvPr id="61444" name="Rectangle 3">
            <a:extLst>
              <a:ext uri="{FF2B5EF4-FFF2-40B4-BE49-F238E27FC236}">
                <a16:creationId xmlns:a16="http://schemas.microsoft.com/office/drawing/2014/main" id="{A3C76B8C-5E89-5355-497B-D17FD556D895}"/>
              </a:ext>
            </a:extLst>
          </p:cNvPr>
          <p:cNvSpPr>
            <a:spLocks noGrp="1" noChangeArrowheads="1"/>
          </p:cNvSpPr>
          <p:nvPr>
            <p:ph type="body" idx="1"/>
          </p:nvPr>
        </p:nvSpPr>
        <p:spPr>
          <a:xfrm>
            <a:off x="685800" y="4343400"/>
            <a:ext cx="5486400" cy="4191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altLang="zh-TW" sz="1000" b="1" i="1">
                <a:latin typeface="Arial" panose="020B0604020202020204" pitchFamily="34" charset="0"/>
              </a:rPr>
              <a:t>Little is spent on measuring U.S. GDP</a:t>
            </a:r>
            <a:r>
              <a:rPr lang="en-US" altLang="zh-TW" sz="1000" i="1">
                <a:latin typeface="Arial" panose="020B0604020202020204" pitchFamily="34" charset="0"/>
              </a:rPr>
              <a:t>. </a:t>
            </a:r>
            <a:r>
              <a:rPr lang="en-US" altLang="zh-TW" sz="1000">
                <a:latin typeface="Arial" panose="020B0604020202020204" pitchFamily="34" charset="0"/>
              </a:rPr>
              <a:t>You might like to tell your students that the U.S. government spends very little on the measurement of real GDP. The BEA (in the Department of Commerce) employs fewer than 500 economists, accountants, statisticians, and IT specialists at an annual cost of less that $70 million. It costs each American less than 0.25¢ (a quarter of a cent) to measure the value of the nation’s production. For some further  perspective, the National Oceanic and Atmospheric Administration (also in the Department of Commerce), whose mission is to “describe and predict changes in the Earth’s environment, and conserve and manage wisely the nation’s coastal and marine resources so as to ensure sustainable economic opportunities,” employs more than 11,000 scientists and support personnel at an annual cost of $3.2 billion!</a:t>
            </a:r>
          </a:p>
          <a:p>
            <a:pPr eaLnBrk="1" hangingPunct="1">
              <a:lnSpc>
                <a:spcPct val="80000"/>
              </a:lnSpc>
            </a:pPr>
            <a:r>
              <a:rPr lang="en-US" altLang="zh-TW" sz="1000" b="1" i="1">
                <a:latin typeface="Arial" panose="020B0604020202020204" pitchFamily="34" charset="0"/>
              </a:rPr>
              <a:t>Most of the income data used by BEA comes from IRS.</a:t>
            </a:r>
            <a:r>
              <a:rPr lang="en-US" altLang="zh-TW" sz="1000">
                <a:latin typeface="Arial" panose="020B0604020202020204" pitchFamily="34" charset="0"/>
              </a:rPr>
              <a:t> Expenditure data comes from a variety of sources.</a:t>
            </a:r>
          </a:p>
          <a:p>
            <a:pPr eaLnBrk="1" hangingPunct="1">
              <a:lnSpc>
                <a:spcPct val="80000"/>
              </a:lnSpc>
            </a:pPr>
            <a:r>
              <a:rPr lang="en-US" altLang="zh-TW" sz="1000">
                <a:latin typeface="Arial" panose="020B0604020202020204" pitchFamily="34" charset="0"/>
              </a:rPr>
              <a:t>You might like to explain how the omission of illegal goods and services also leads to some misleading comparisons. For instance, the day before prohibition ended, the production of (illegal) beer was not counted as part of GDP. But the day after prohibition ended, the production of (now legal) beer counted. Ask your students to suggest two good reasons why illegal goods and services are omitted. </a:t>
            </a:r>
          </a:p>
          <a:p>
            <a:pPr eaLnBrk="1" hangingPunct="1">
              <a:lnSpc>
                <a:spcPct val="80000"/>
              </a:lnSpc>
            </a:pPr>
            <a:r>
              <a:rPr lang="en-US" altLang="zh-TW" sz="1000">
                <a:latin typeface="Arial" panose="020B0604020202020204" pitchFamily="34" charset="0"/>
              </a:rPr>
              <a:t>First, the data are hard (but not impossible) to obtain. Second, there may be the moral position that illegal activities should not be included in GDP. This latter observation can lead to an interesting discussion. Ask the students if they think that the production of, say, marijuana should be included in GDP. Some, maybe even many, of them will see no problem with this. Then ask about the production of murder-for-hire. The response, we hope, will be significantly different. Does such a good have any value?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5FB00F3E-E595-4892-E613-5A1CAA32C4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6A88C22-6897-3C47-A056-002CAE5BF873}" type="slidenum">
              <a:rPr lang="zh-TW" altLang="en-US"/>
              <a:pPr>
                <a:spcBef>
                  <a:spcPct val="0"/>
                </a:spcBef>
              </a:pPr>
              <a:t>26</a:t>
            </a:fld>
            <a:endParaRPr lang="en-US" altLang="zh-TW"/>
          </a:p>
        </p:txBody>
      </p:sp>
      <p:sp>
        <p:nvSpPr>
          <p:cNvPr id="63491" name="Rectangle 2">
            <a:extLst>
              <a:ext uri="{FF2B5EF4-FFF2-40B4-BE49-F238E27FC236}">
                <a16:creationId xmlns:a16="http://schemas.microsoft.com/office/drawing/2014/main" id="{D8E02AC2-BE6D-41EE-B5F0-1B6D65B04B3D}"/>
              </a:ext>
            </a:extLst>
          </p:cNvPr>
          <p:cNvSpPr>
            <a:spLocks noRot="1" noChangeArrowheads="1" noTextEdit="1"/>
          </p:cNvSpPr>
          <p:nvPr>
            <p:ph type="sldImg"/>
          </p:nvPr>
        </p:nvSpPr>
        <p:spPr>
          <a:ln/>
        </p:spPr>
      </p:sp>
      <p:sp>
        <p:nvSpPr>
          <p:cNvPr id="63492" name="Rectangle 3">
            <a:extLst>
              <a:ext uri="{FF2B5EF4-FFF2-40B4-BE49-F238E27FC236}">
                <a16:creationId xmlns:a16="http://schemas.microsoft.com/office/drawing/2014/main" id="{6136EC24-9155-ED8F-519B-F592A71EBB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FF2B82CB-2588-304A-4F7E-1216C6649B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00109C5-1F87-1146-8D08-5B5FC9FC212C}" type="slidenum">
              <a:rPr lang="zh-TW" altLang="en-US"/>
              <a:pPr>
                <a:spcBef>
                  <a:spcPct val="0"/>
                </a:spcBef>
              </a:pPr>
              <a:t>27</a:t>
            </a:fld>
            <a:endParaRPr lang="en-US" altLang="zh-TW"/>
          </a:p>
        </p:txBody>
      </p:sp>
      <p:sp>
        <p:nvSpPr>
          <p:cNvPr id="65539" name="Rectangle 2">
            <a:extLst>
              <a:ext uri="{FF2B5EF4-FFF2-40B4-BE49-F238E27FC236}">
                <a16:creationId xmlns:a16="http://schemas.microsoft.com/office/drawing/2014/main" id="{0AFD861C-FFB7-A91B-5BEB-42648F24D5F0}"/>
              </a:ext>
            </a:extLst>
          </p:cNvPr>
          <p:cNvSpPr>
            <a:spLocks noRot="1" noChangeArrowheads="1" noTextEdit="1"/>
          </p:cNvSpPr>
          <p:nvPr>
            <p:ph type="sldImg"/>
          </p:nvPr>
        </p:nvSpPr>
        <p:spPr>
          <a:ln/>
        </p:spPr>
      </p:sp>
      <p:sp>
        <p:nvSpPr>
          <p:cNvPr id="65540" name="Rectangle 3">
            <a:extLst>
              <a:ext uri="{FF2B5EF4-FFF2-40B4-BE49-F238E27FC236}">
                <a16:creationId xmlns:a16="http://schemas.microsoft.com/office/drawing/2014/main" id="{B32478FE-B7E5-B85F-EB36-5596A6AB70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7073D3BC-ADF8-E4FD-9E4D-F3488967EE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41B2151-8B59-CA4A-B6B4-EC1A9A991463}" type="slidenum">
              <a:rPr lang="zh-TW" altLang="en-US"/>
              <a:pPr>
                <a:spcBef>
                  <a:spcPct val="0"/>
                </a:spcBef>
              </a:pPr>
              <a:t>28</a:t>
            </a:fld>
            <a:endParaRPr lang="en-US" altLang="zh-TW"/>
          </a:p>
        </p:txBody>
      </p:sp>
      <p:sp>
        <p:nvSpPr>
          <p:cNvPr id="67587" name="Rectangle 2">
            <a:extLst>
              <a:ext uri="{FF2B5EF4-FFF2-40B4-BE49-F238E27FC236}">
                <a16:creationId xmlns:a16="http://schemas.microsoft.com/office/drawing/2014/main" id="{3178764D-3B56-C4B8-CB79-2B6CC7C35014}"/>
              </a:ext>
            </a:extLst>
          </p:cNvPr>
          <p:cNvSpPr>
            <a:spLocks noRot="1" noChangeArrowheads="1" noTextEdit="1"/>
          </p:cNvSpPr>
          <p:nvPr>
            <p:ph type="sldImg"/>
          </p:nvPr>
        </p:nvSpPr>
        <p:spPr>
          <a:ln/>
        </p:spPr>
      </p:sp>
      <p:sp>
        <p:nvSpPr>
          <p:cNvPr id="67588" name="Rectangle 3">
            <a:extLst>
              <a:ext uri="{FF2B5EF4-FFF2-40B4-BE49-F238E27FC236}">
                <a16:creationId xmlns:a16="http://schemas.microsoft.com/office/drawing/2014/main" id="{F6EDC32A-AF94-5197-8BA4-35B9692D40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E71ACC51-3061-033C-9E53-04D6FC85C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D1D04F3-4DF5-1A4B-A95F-B0ADABE80FFB}" type="slidenum">
              <a:rPr lang="zh-TW" altLang="en-US"/>
              <a:pPr>
                <a:spcBef>
                  <a:spcPct val="0"/>
                </a:spcBef>
              </a:pPr>
              <a:t>29</a:t>
            </a:fld>
            <a:endParaRPr lang="en-US" altLang="zh-TW"/>
          </a:p>
        </p:txBody>
      </p:sp>
      <p:sp>
        <p:nvSpPr>
          <p:cNvPr id="69635" name="Rectangle 2">
            <a:extLst>
              <a:ext uri="{FF2B5EF4-FFF2-40B4-BE49-F238E27FC236}">
                <a16:creationId xmlns:a16="http://schemas.microsoft.com/office/drawing/2014/main" id="{0DC1BAC3-DDC0-F312-503E-551DE228E2C1}"/>
              </a:ext>
            </a:extLst>
          </p:cNvPr>
          <p:cNvSpPr>
            <a:spLocks noRot="1" noChangeArrowheads="1" noTextEdit="1"/>
          </p:cNvSpPr>
          <p:nvPr>
            <p:ph type="sldImg"/>
          </p:nvPr>
        </p:nvSpPr>
        <p:spPr>
          <a:ln/>
        </p:spPr>
      </p:sp>
      <p:sp>
        <p:nvSpPr>
          <p:cNvPr id="69636" name="Rectangle 3">
            <a:extLst>
              <a:ext uri="{FF2B5EF4-FFF2-40B4-BE49-F238E27FC236}">
                <a16:creationId xmlns:a16="http://schemas.microsoft.com/office/drawing/2014/main" id="{09D4A53F-0D91-583A-9647-98A1597C29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F53B644B-E842-D870-971E-2C99F8AB08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3EDC538-752A-924D-9372-3D5FE0662BCF}" type="slidenum">
              <a:rPr lang="zh-TW" altLang="en-US"/>
              <a:pPr>
                <a:spcBef>
                  <a:spcPct val="0"/>
                </a:spcBef>
              </a:pPr>
              <a:t>30</a:t>
            </a:fld>
            <a:endParaRPr lang="en-US" altLang="zh-TW"/>
          </a:p>
        </p:txBody>
      </p:sp>
      <p:sp>
        <p:nvSpPr>
          <p:cNvPr id="71683" name="Rectangle 2">
            <a:extLst>
              <a:ext uri="{FF2B5EF4-FFF2-40B4-BE49-F238E27FC236}">
                <a16:creationId xmlns:a16="http://schemas.microsoft.com/office/drawing/2014/main" id="{C4DE5B2E-055D-8685-9EF9-C49729F2AD48}"/>
              </a:ext>
            </a:extLst>
          </p:cNvPr>
          <p:cNvSpPr>
            <a:spLocks noRot="1" noChangeArrowheads="1" noTextEdit="1"/>
          </p:cNvSpPr>
          <p:nvPr>
            <p:ph type="sldImg"/>
          </p:nvPr>
        </p:nvSpPr>
        <p:spPr>
          <a:ln/>
        </p:spPr>
      </p:sp>
      <p:sp>
        <p:nvSpPr>
          <p:cNvPr id="71684" name="Rectangle 3">
            <a:extLst>
              <a:ext uri="{FF2B5EF4-FFF2-40B4-BE49-F238E27FC236}">
                <a16:creationId xmlns:a16="http://schemas.microsoft.com/office/drawing/2014/main" id="{B5AE23E3-2E2F-0EE3-9EBE-C57CE73265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44596DDE-8E98-2828-7649-4A7F3CAFA4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68C70CF-6100-444C-8EA2-6F01F18225BC}" type="slidenum">
              <a:rPr lang="zh-TW" altLang="en-US"/>
              <a:pPr>
                <a:spcBef>
                  <a:spcPct val="0"/>
                </a:spcBef>
              </a:pPr>
              <a:t>31</a:t>
            </a:fld>
            <a:endParaRPr lang="en-US" altLang="zh-TW"/>
          </a:p>
        </p:txBody>
      </p:sp>
      <p:sp>
        <p:nvSpPr>
          <p:cNvPr id="73731" name="Rectangle 2">
            <a:extLst>
              <a:ext uri="{FF2B5EF4-FFF2-40B4-BE49-F238E27FC236}">
                <a16:creationId xmlns:a16="http://schemas.microsoft.com/office/drawing/2014/main" id="{23036856-D67F-2753-60E7-F7CA48B59B22}"/>
              </a:ext>
            </a:extLst>
          </p:cNvPr>
          <p:cNvSpPr>
            <a:spLocks noRot="1" noChangeArrowheads="1" noTextEdit="1"/>
          </p:cNvSpPr>
          <p:nvPr>
            <p:ph type="sldImg"/>
          </p:nvPr>
        </p:nvSpPr>
        <p:spPr>
          <a:ln/>
        </p:spPr>
      </p:sp>
      <p:sp>
        <p:nvSpPr>
          <p:cNvPr id="73732" name="Rectangle 3">
            <a:extLst>
              <a:ext uri="{FF2B5EF4-FFF2-40B4-BE49-F238E27FC236}">
                <a16:creationId xmlns:a16="http://schemas.microsoft.com/office/drawing/2014/main" id="{001951DA-4A20-3028-78CD-9C4F22BD1D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B74B6E78-2EE9-396F-1BE4-B92FA5ACC9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5835D45-F034-D543-B76E-BF43FD42F599}" type="slidenum">
              <a:rPr lang="zh-TW" altLang="en-US"/>
              <a:pPr>
                <a:spcBef>
                  <a:spcPct val="0"/>
                </a:spcBef>
              </a:pPr>
              <a:t>32</a:t>
            </a:fld>
            <a:endParaRPr lang="en-US" altLang="zh-TW"/>
          </a:p>
        </p:txBody>
      </p:sp>
      <p:sp>
        <p:nvSpPr>
          <p:cNvPr id="75779" name="Rectangle 2">
            <a:extLst>
              <a:ext uri="{FF2B5EF4-FFF2-40B4-BE49-F238E27FC236}">
                <a16:creationId xmlns:a16="http://schemas.microsoft.com/office/drawing/2014/main" id="{2BBA4F78-BDCA-79FF-3DAD-33D851DE9826}"/>
              </a:ext>
            </a:extLst>
          </p:cNvPr>
          <p:cNvSpPr>
            <a:spLocks noRot="1" noChangeArrowheads="1" noTextEdit="1"/>
          </p:cNvSpPr>
          <p:nvPr>
            <p:ph type="sldImg"/>
          </p:nvPr>
        </p:nvSpPr>
        <p:spPr>
          <a:ln/>
        </p:spPr>
      </p:sp>
      <p:sp>
        <p:nvSpPr>
          <p:cNvPr id="75780" name="Rectangle 3">
            <a:extLst>
              <a:ext uri="{FF2B5EF4-FFF2-40B4-BE49-F238E27FC236}">
                <a16:creationId xmlns:a16="http://schemas.microsoft.com/office/drawing/2014/main" id="{B55A6A88-B869-C8E4-8A8E-E726DCCD93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17BA0EC5-9B9D-65C3-6D04-1895FAA640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3BBDB7B-F52D-C846-AAD9-85037688CA56}" type="slidenum">
              <a:rPr lang="zh-TW" altLang="en-US"/>
              <a:pPr>
                <a:spcBef>
                  <a:spcPct val="0"/>
                </a:spcBef>
              </a:pPr>
              <a:t>33</a:t>
            </a:fld>
            <a:endParaRPr lang="en-US" altLang="zh-TW"/>
          </a:p>
        </p:txBody>
      </p:sp>
      <p:sp>
        <p:nvSpPr>
          <p:cNvPr id="77827" name="Rectangle 2">
            <a:extLst>
              <a:ext uri="{FF2B5EF4-FFF2-40B4-BE49-F238E27FC236}">
                <a16:creationId xmlns:a16="http://schemas.microsoft.com/office/drawing/2014/main" id="{7821AF64-4A8F-F259-B082-9CC0D72BB510}"/>
              </a:ext>
            </a:extLst>
          </p:cNvPr>
          <p:cNvSpPr>
            <a:spLocks noRot="1" noChangeArrowheads="1" noTextEdit="1"/>
          </p:cNvSpPr>
          <p:nvPr>
            <p:ph type="sldImg"/>
          </p:nvPr>
        </p:nvSpPr>
        <p:spPr>
          <a:ln/>
        </p:spPr>
      </p:sp>
      <p:sp>
        <p:nvSpPr>
          <p:cNvPr id="77828" name="Rectangle 3">
            <a:extLst>
              <a:ext uri="{FF2B5EF4-FFF2-40B4-BE49-F238E27FC236}">
                <a16:creationId xmlns:a16="http://schemas.microsoft.com/office/drawing/2014/main" id="{CDF14B2F-9F30-4702-C5AB-C6C1DEF30D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B3D46A00-5029-4987-4A60-40B5C45D96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87D9236-5635-F24D-A599-E26F5F68D176}" type="slidenum">
              <a:rPr lang="zh-TW" altLang="en-US"/>
              <a:pPr>
                <a:spcBef>
                  <a:spcPct val="0"/>
                </a:spcBef>
              </a:pPr>
              <a:t>34</a:t>
            </a:fld>
            <a:endParaRPr lang="en-US" altLang="zh-TW"/>
          </a:p>
        </p:txBody>
      </p:sp>
      <p:sp>
        <p:nvSpPr>
          <p:cNvPr id="79875" name="Rectangle 2">
            <a:extLst>
              <a:ext uri="{FF2B5EF4-FFF2-40B4-BE49-F238E27FC236}">
                <a16:creationId xmlns:a16="http://schemas.microsoft.com/office/drawing/2014/main" id="{4DC86921-F9F2-0086-8E29-D9A0D9287D01}"/>
              </a:ext>
            </a:extLst>
          </p:cNvPr>
          <p:cNvSpPr>
            <a:spLocks noRot="1" noChangeArrowheads="1" noTextEdit="1"/>
          </p:cNvSpPr>
          <p:nvPr>
            <p:ph type="sldImg"/>
          </p:nvPr>
        </p:nvSpPr>
        <p:spPr>
          <a:ln/>
        </p:spPr>
      </p:sp>
      <p:sp>
        <p:nvSpPr>
          <p:cNvPr id="79876" name="Rectangle 3">
            <a:extLst>
              <a:ext uri="{FF2B5EF4-FFF2-40B4-BE49-F238E27FC236}">
                <a16:creationId xmlns:a16="http://schemas.microsoft.com/office/drawing/2014/main" id="{93440BF0-69E0-7A68-F486-8F887F5FAF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5C08ADBB-06FD-1218-7A1F-112150EDC5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9FCE7C8-14BF-EE45-938F-A004245307FD}" type="slidenum">
              <a:rPr lang="zh-TW" altLang="en-US"/>
              <a:pPr>
                <a:spcBef>
                  <a:spcPct val="0"/>
                </a:spcBef>
              </a:pPr>
              <a:t>35</a:t>
            </a:fld>
            <a:endParaRPr lang="en-US" altLang="zh-TW"/>
          </a:p>
        </p:txBody>
      </p:sp>
      <p:sp>
        <p:nvSpPr>
          <p:cNvPr id="81923" name="Rectangle 2">
            <a:extLst>
              <a:ext uri="{FF2B5EF4-FFF2-40B4-BE49-F238E27FC236}">
                <a16:creationId xmlns:a16="http://schemas.microsoft.com/office/drawing/2014/main" id="{847A4C37-7A8E-DC42-7E9B-0198AA0ECFCB}"/>
              </a:ext>
            </a:extLst>
          </p:cNvPr>
          <p:cNvSpPr>
            <a:spLocks noRot="1" noChangeArrowheads="1" noTextEdit="1"/>
          </p:cNvSpPr>
          <p:nvPr>
            <p:ph type="sldImg"/>
          </p:nvPr>
        </p:nvSpPr>
        <p:spPr>
          <a:ln/>
        </p:spPr>
      </p:sp>
      <p:sp>
        <p:nvSpPr>
          <p:cNvPr id="81924" name="Rectangle 3">
            <a:extLst>
              <a:ext uri="{FF2B5EF4-FFF2-40B4-BE49-F238E27FC236}">
                <a16:creationId xmlns:a16="http://schemas.microsoft.com/office/drawing/2014/main" id="{1D024625-6151-A206-53AA-D8A5462643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000B40AB-B6E1-0CE1-4382-609516F204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D19AFB9-13AE-4A41-B605-7C47EDE9FC9B}" type="slidenum">
              <a:rPr lang="zh-TW" altLang="en-US"/>
              <a:pPr>
                <a:spcBef>
                  <a:spcPct val="0"/>
                </a:spcBef>
              </a:pPr>
              <a:t>36</a:t>
            </a:fld>
            <a:endParaRPr lang="en-US" altLang="zh-TW"/>
          </a:p>
        </p:txBody>
      </p:sp>
      <p:sp>
        <p:nvSpPr>
          <p:cNvPr id="83971" name="Rectangle 2">
            <a:extLst>
              <a:ext uri="{FF2B5EF4-FFF2-40B4-BE49-F238E27FC236}">
                <a16:creationId xmlns:a16="http://schemas.microsoft.com/office/drawing/2014/main" id="{2EDC01EF-07CA-90E3-CC7D-44208958CA98}"/>
              </a:ext>
            </a:extLst>
          </p:cNvPr>
          <p:cNvSpPr>
            <a:spLocks noRot="1" noChangeArrowheads="1" noTextEdit="1"/>
          </p:cNvSpPr>
          <p:nvPr>
            <p:ph type="sldImg"/>
          </p:nvPr>
        </p:nvSpPr>
        <p:spPr>
          <a:ln/>
        </p:spPr>
      </p:sp>
      <p:sp>
        <p:nvSpPr>
          <p:cNvPr id="83972" name="Rectangle 3">
            <a:extLst>
              <a:ext uri="{FF2B5EF4-FFF2-40B4-BE49-F238E27FC236}">
                <a16:creationId xmlns:a16="http://schemas.microsoft.com/office/drawing/2014/main" id="{D9BD55AD-DE06-6C9F-AE70-C9C62D7866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D7F4F3F6-D1AC-CB98-7AF0-265E8E4AC5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8B44131-C0B2-9F46-B9E1-B8BDEDAE08DC}" type="slidenum">
              <a:rPr lang="zh-TW" altLang="en-US"/>
              <a:pPr>
                <a:spcBef>
                  <a:spcPct val="0"/>
                </a:spcBef>
              </a:pPr>
              <a:t>37</a:t>
            </a:fld>
            <a:endParaRPr lang="en-US" altLang="zh-TW"/>
          </a:p>
        </p:txBody>
      </p:sp>
      <p:sp>
        <p:nvSpPr>
          <p:cNvPr id="86019" name="Rectangle 2">
            <a:extLst>
              <a:ext uri="{FF2B5EF4-FFF2-40B4-BE49-F238E27FC236}">
                <a16:creationId xmlns:a16="http://schemas.microsoft.com/office/drawing/2014/main" id="{DCB667C6-C130-E8BE-B6DE-8C507AA524BF}"/>
              </a:ext>
            </a:extLst>
          </p:cNvPr>
          <p:cNvSpPr>
            <a:spLocks noRot="1" noChangeArrowheads="1" noTextEdit="1"/>
          </p:cNvSpPr>
          <p:nvPr>
            <p:ph type="sldImg"/>
          </p:nvPr>
        </p:nvSpPr>
        <p:spPr>
          <a:ln/>
        </p:spPr>
      </p:sp>
      <p:sp>
        <p:nvSpPr>
          <p:cNvPr id="86020" name="Rectangle 3">
            <a:extLst>
              <a:ext uri="{FF2B5EF4-FFF2-40B4-BE49-F238E27FC236}">
                <a16:creationId xmlns:a16="http://schemas.microsoft.com/office/drawing/2014/main" id="{D759AC00-4ADA-4FD6-311C-4549FAD7C7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TW" sz="1000" b="1" i="1">
                <a:latin typeface="Arial" panose="020B0604020202020204" pitchFamily="34" charset="0"/>
              </a:rPr>
              <a:t>Omissions from GDP.</a:t>
            </a:r>
            <a:r>
              <a:rPr lang="en-US" altLang="zh-TW" sz="1000">
                <a:latin typeface="Arial" panose="020B0604020202020204" pitchFamily="34" charset="0"/>
              </a:rPr>
              <a:t> A discussion of omissions from GDP can arouse students’ interest. For example, you might point out that if one of your students mows her/his own lawn, the value of the student’s production doesn’t show up in GDP. But if you hire the student to mow your lawn (and if your student reports the income earned correctly to CCRA), the value of the student’s production does show up in GDP.</a:t>
            </a:r>
          </a:p>
          <a:p>
            <a:pPr eaLnBrk="1" hangingPunct="1"/>
            <a:r>
              <a:rPr lang="en-US" altLang="zh-TW" sz="1000" b="1" i="1">
                <a:latin typeface="Arial" panose="020B0604020202020204" pitchFamily="34" charset="0"/>
              </a:rPr>
              <a:t>Why don’t we measure all lawn mowing as part of GDP?</a:t>
            </a:r>
            <a:r>
              <a:rPr lang="en-US" altLang="zh-TW" sz="1000">
                <a:latin typeface="Arial" panose="020B0604020202020204" pitchFamily="34" charset="0"/>
              </a:rPr>
              <a:t> Some reasons are cost of collecting data and the degree of intrusiveness we’d be willing to tolerate. But note how little we spend on collecting the GDP data and how relatively inexpensive it would be to add some questions about domestic production to either the Current Population Survey or the Family Expenditure Survey.</a:t>
            </a:r>
          </a:p>
          <a:p>
            <a:pPr eaLnBrk="1" hangingPunct="1"/>
            <a:r>
              <a:rPr lang="en-US" altLang="zh-TW" sz="1000">
                <a:latin typeface="Arial" panose="020B0604020202020204" pitchFamily="34" charset="0"/>
              </a:rPr>
              <a:t>The inclusion of the imputed rental of owner-occupied houses, but not owner-used cars and other durables, is a good example. </a:t>
            </a:r>
          </a:p>
          <a:p>
            <a:pPr eaLnBrk="1" hangingPunct="1"/>
            <a:r>
              <a:rPr lang="en-US" altLang="zh-TW" sz="1000">
                <a:latin typeface="Arial" panose="020B0604020202020204" pitchFamily="34" charset="0"/>
              </a:rPr>
              <a:t>You might like to explain how the omission of illegal goods and services also leads to some misleading comparisons. For instance, the day before prohibition ended, the production of (illegal) beer was not counted as part of GDP. But the day after prohibition ended, the production of (now legal) beer counted. Ask your students to suggest two good reasons why illegal goods and services are omitted. First, the data are hard (but not impossible) to obtain. Second, there may be the moral position that illegal activities should not be included in GDP. This latter observation can lead to an interesting discussion. Ask the students if they think that the production of, say, marijuana should be included in GDP. Some, maybe even many, of them will see no problem with this. Then ask about the production of murder-for-hire. The response, we hope, will be significantly different. Does such a good have any value?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16B23B5C-22D1-0CBD-BBDE-FC7BC25CF7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0AC7A17-6DE4-4E4F-B128-3B1D2AC265C3}" type="slidenum">
              <a:rPr lang="zh-TW" altLang="en-US"/>
              <a:pPr>
                <a:spcBef>
                  <a:spcPct val="0"/>
                </a:spcBef>
              </a:pPr>
              <a:t>38</a:t>
            </a:fld>
            <a:endParaRPr lang="en-US" altLang="zh-TW"/>
          </a:p>
        </p:txBody>
      </p:sp>
      <p:sp>
        <p:nvSpPr>
          <p:cNvPr id="88067" name="Rectangle 2">
            <a:extLst>
              <a:ext uri="{FF2B5EF4-FFF2-40B4-BE49-F238E27FC236}">
                <a16:creationId xmlns:a16="http://schemas.microsoft.com/office/drawing/2014/main" id="{287571EA-E6A2-DB63-1F47-0F5A16822D89}"/>
              </a:ext>
            </a:extLst>
          </p:cNvPr>
          <p:cNvSpPr>
            <a:spLocks noRot="1" noChangeArrowheads="1" noTextEdit="1"/>
          </p:cNvSpPr>
          <p:nvPr>
            <p:ph type="sldImg"/>
          </p:nvPr>
        </p:nvSpPr>
        <p:spPr>
          <a:ln/>
        </p:spPr>
      </p:sp>
      <p:sp>
        <p:nvSpPr>
          <p:cNvPr id="88068" name="Rectangle 3">
            <a:extLst>
              <a:ext uri="{FF2B5EF4-FFF2-40B4-BE49-F238E27FC236}">
                <a16:creationId xmlns:a16="http://schemas.microsoft.com/office/drawing/2014/main" id="{B8D78599-8C21-9C43-CF41-BD7007C4B5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6F140998-DCB0-76ED-3523-E5C4B601F9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1919036-691E-D441-844C-70383CFE5419}" type="slidenum">
              <a:rPr lang="zh-TW" altLang="en-US"/>
              <a:pPr>
                <a:spcBef>
                  <a:spcPct val="0"/>
                </a:spcBef>
              </a:pPr>
              <a:t>39</a:t>
            </a:fld>
            <a:endParaRPr lang="en-US" altLang="zh-TW"/>
          </a:p>
        </p:txBody>
      </p:sp>
      <p:sp>
        <p:nvSpPr>
          <p:cNvPr id="90115" name="Rectangle 2">
            <a:extLst>
              <a:ext uri="{FF2B5EF4-FFF2-40B4-BE49-F238E27FC236}">
                <a16:creationId xmlns:a16="http://schemas.microsoft.com/office/drawing/2014/main" id="{C6E6C3D8-A5EF-653C-0C34-CBDA29D7AF63}"/>
              </a:ext>
            </a:extLst>
          </p:cNvPr>
          <p:cNvSpPr>
            <a:spLocks noRot="1" noChangeArrowheads="1" noTextEdit="1"/>
          </p:cNvSpPr>
          <p:nvPr>
            <p:ph type="sldImg"/>
          </p:nvPr>
        </p:nvSpPr>
        <p:spPr>
          <a:ln/>
        </p:spPr>
      </p:sp>
      <p:sp>
        <p:nvSpPr>
          <p:cNvPr id="90116" name="Rectangle 3">
            <a:extLst>
              <a:ext uri="{FF2B5EF4-FFF2-40B4-BE49-F238E27FC236}">
                <a16:creationId xmlns:a16="http://schemas.microsoft.com/office/drawing/2014/main" id="{313FF103-723C-0B45-F476-3DD4A5EDAC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8647DB66-E0FA-F2E6-2CBD-E2C3378B3F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ADCF19D-CB24-4F44-9E45-5A022FDCD07A}" type="slidenum">
              <a:rPr lang="zh-TW" altLang="en-US"/>
              <a:pPr>
                <a:spcBef>
                  <a:spcPct val="0"/>
                </a:spcBef>
              </a:pPr>
              <a:t>40</a:t>
            </a:fld>
            <a:endParaRPr lang="en-US" altLang="zh-TW"/>
          </a:p>
        </p:txBody>
      </p:sp>
      <p:sp>
        <p:nvSpPr>
          <p:cNvPr id="92163" name="Rectangle 2">
            <a:extLst>
              <a:ext uri="{FF2B5EF4-FFF2-40B4-BE49-F238E27FC236}">
                <a16:creationId xmlns:a16="http://schemas.microsoft.com/office/drawing/2014/main" id="{BEB8A7FB-F9E2-C38E-F766-224848CDB7B1}"/>
              </a:ext>
            </a:extLst>
          </p:cNvPr>
          <p:cNvSpPr>
            <a:spLocks noRot="1" noChangeArrowheads="1" noTextEdit="1"/>
          </p:cNvSpPr>
          <p:nvPr>
            <p:ph type="sldImg"/>
          </p:nvPr>
        </p:nvSpPr>
        <p:spPr>
          <a:ln/>
        </p:spPr>
      </p:sp>
      <p:sp>
        <p:nvSpPr>
          <p:cNvPr id="92164" name="Rectangle 3">
            <a:extLst>
              <a:ext uri="{FF2B5EF4-FFF2-40B4-BE49-F238E27FC236}">
                <a16:creationId xmlns:a16="http://schemas.microsoft.com/office/drawing/2014/main" id="{CFC52489-24D3-4462-2B22-1611FF1BAA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6911E50C-561D-AE5A-A769-338AFEC73B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74EF71A-5ECC-4C4C-B663-633A108B9F2D}" type="slidenum">
              <a:rPr lang="zh-TW" altLang="en-US"/>
              <a:pPr>
                <a:spcBef>
                  <a:spcPct val="0"/>
                </a:spcBef>
              </a:pPr>
              <a:t>41</a:t>
            </a:fld>
            <a:endParaRPr lang="en-US" altLang="zh-TW"/>
          </a:p>
        </p:txBody>
      </p:sp>
      <p:sp>
        <p:nvSpPr>
          <p:cNvPr id="94211" name="Rectangle 2">
            <a:extLst>
              <a:ext uri="{FF2B5EF4-FFF2-40B4-BE49-F238E27FC236}">
                <a16:creationId xmlns:a16="http://schemas.microsoft.com/office/drawing/2014/main" id="{AF3B81C4-6376-B3F0-3F91-895CE0C27767}"/>
              </a:ext>
            </a:extLst>
          </p:cNvPr>
          <p:cNvSpPr>
            <a:spLocks noRot="1" noChangeArrowheads="1" noTextEdit="1"/>
          </p:cNvSpPr>
          <p:nvPr>
            <p:ph type="sldImg"/>
          </p:nvPr>
        </p:nvSpPr>
        <p:spPr>
          <a:ln/>
        </p:spPr>
      </p:sp>
      <p:sp>
        <p:nvSpPr>
          <p:cNvPr id="94212" name="Rectangle 3">
            <a:extLst>
              <a:ext uri="{FF2B5EF4-FFF2-40B4-BE49-F238E27FC236}">
                <a16:creationId xmlns:a16="http://schemas.microsoft.com/office/drawing/2014/main" id="{0E1A1E11-CB4F-0B48-B0FB-7D9DBFE9B0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6832B5A4-89A8-51F4-9B2F-F826A2238A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2956248-84CE-EB4F-9CED-192B6AECF92C}" type="slidenum">
              <a:rPr lang="zh-TW" altLang="en-US"/>
              <a:pPr>
                <a:spcBef>
                  <a:spcPct val="0"/>
                </a:spcBef>
              </a:pPr>
              <a:t>42</a:t>
            </a:fld>
            <a:endParaRPr lang="en-US" altLang="zh-TW"/>
          </a:p>
        </p:txBody>
      </p:sp>
      <p:sp>
        <p:nvSpPr>
          <p:cNvPr id="96259" name="Rectangle 2">
            <a:extLst>
              <a:ext uri="{FF2B5EF4-FFF2-40B4-BE49-F238E27FC236}">
                <a16:creationId xmlns:a16="http://schemas.microsoft.com/office/drawing/2014/main" id="{C4E66DB7-AACA-A786-B968-CF40134D7EA4}"/>
              </a:ext>
            </a:extLst>
          </p:cNvPr>
          <p:cNvSpPr>
            <a:spLocks noRot="1" noChangeArrowheads="1" noTextEdit="1"/>
          </p:cNvSpPr>
          <p:nvPr>
            <p:ph type="sldImg"/>
          </p:nvPr>
        </p:nvSpPr>
        <p:spPr>
          <a:ln/>
        </p:spPr>
      </p:sp>
      <p:sp>
        <p:nvSpPr>
          <p:cNvPr id="96260" name="Rectangle 3">
            <a:extLst>
              <a:ext uri="{FF2B5EF4-FFF2-40B4-BE49-F238E27FC236}">
                <a16:creationId xmlns:a16="http://schemas.microsoft.com/office/drawing/2014/main" id="{44BC07D8-96C5-F416-BA0B-E1CB8C016B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B3F76D52-7C48-F66F-B721-986DFEDA1F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21BE72E-2196-C64F-BC43-4F70EFEB2C73}" type="slidenum">
              <a:rPr lang="zh-TW" altLang="en-US"/>
              <a:pPr>
                <a:spcBef>
                  <a:spcPct val="0"/>
                </a:spcBef>
              </a:pPr>
              <a:t>43</a:t>
            </a:fld>
            <a:endParaRPr lang="en-US" altLang="zh-TW"/>
          </a:p>
        </p:txBody>
      </p:sp>
      <p:sp>
        <p:nvSpPr>
          <p:cNvPr id="98307" name="Rectangle 2">
            <a:extLst>
              <a:ext uri="{FF2B5EF4-FFF2-40B4-BE49-F238E27FC236}">
                <a16:creationId xmlns:a16="http://schemas.microsoft.com/office/drawing/2014/main" id="{C80CABA9-BB13-93D7-049E-C093791C36BB}"/>
              </a:ext>
            </a:extLst>
          </p:cNvPr>
          <p:cNvSpPr>
            <a:spLocks noRot="1" noChangeArrowheads="1" noTextEdit="1"/>
          </p:cNvSpPr>
          <p:nvPr>
            <p:ph type="sldImg"/>
          </p:nvPr>
        </p:nvSpPr>
        <p:spPr>
          <a:ln/>
        </p:spPr>
      </p:sp>
      <p:sp>
        <p:nvSpPr>
          <p:cNvPr id="98308" name="Rectangle 3">
            <a:extLst>
              <a:ext uri="{FF2B5EF4-FFF2-40B4-BE49-F238E27FC236}">
                <a16:creationId xmlns:a16="http://schemas.microsoft.com/office/drawing/2014/main" id="{06FA941D-33DF-1323-D466-C6B5927D60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b="1">
                <a:latin typeface="Arial" panose="020B0604020202020204" pitchFamily="34" charset="0"/>
              </a:rPr>
              <a:t>The Business Cycle </a:t>
            </a:r>
            <a:r>
              <a:rPr lang="en-GB" altLang="en-US">
                <a:latin typeface="Arial" panose="020B0604020202020204" pitchFamily="34" charset="0"/>
              </a:rPr>
              <a:t>Students generally are interested in the topic of business cycles, particularly if the economy happens to be in a recession when this chapter is covered. Often it is very difficult to tell the future path of the economy. Stress to the students that it is not stupidity on the part of economists that prevents us from knowing where the economy is heading. Rather it is the fact that forecasting is difficult for at least two reasons. </a:t>
            </a:r>
          </a:p>
          <a:p>
            <a:pPr eaLnBrk="1" hangingPunct="1"/>
            <a:r>
              <a:rPr lang="en-GB" altLang="en-US">
                <a:latin typeface="Arial" panose="020B0604020202020204" pitchFamily="34" charset="0"/>
              </a:rPr>
              <a:t>First, different sectors of the economy frequently send different signals. For instance, retail sales may be down, signaling a start to a recession, but housing starts may be up, indicating that an expansion will continue for a while. </a:t>
            </a:r>
          </a:p>
          <a:p>
            <a:pPr eaLnBrk="1" hangingPunct="1"/>
            <a:r>
              <a:rPr lang="en-GB" altLang="en-US">
                <a:latin typeface="Arial" panose="020B0604020202020204" pitchFamily="34" charset="0"/>
              </a:rPr>
              <a:t>Second, the data that must be used always are at least a bit out-of-date. For example, the preliminary estimate of GDP is not made until approximately six weeks after the end of the quarter, and the final revision of GDP doesn’t appear until years later.</a:t>
            </a:r>
          </a:p>
          <a:p>
            <a:pPr eaLnBrk="1" hangingPunct="1"/>
            <a:r>
              <a:rPr lang="en-GB" altLang="en-US">
                <a:latin typeface="Arial" panose="020B0604020202020204" pitchFamily="34" charset="0"/>
              </a:rPr>
              <a:t>Although economists’ forecasts are much better than those of others, forecasting GDP with complete accuracy is unlikely. Conclude by mentioning that this fact is important in later chapters when we discuss implementation of countercyclical policies.</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EBCE609C-1047-4424-E8A6-46762DB906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023FB10-083B-7C49-BE06-B1B80E65DAD0}" type="slidenum">
              <a:rPr lang="zh-TW" altLang="en-US"/>
              <a:pPr>
                <a:spcBef>
                  <a:spcPct val="0"/>
                </a:spcBef>
              </a:pPr>
              <a:t>44</a:t>
            </a:fld>
            <a:endParaRPr lang="en-US" altLang="zh-TW"/>
          </a:p>
        </p:txBody>
      </p:sp>
      <p:sp>
        <p:nvSpPr>
          <p:cNvPr id="100355" name="Rectangle 2">
            <a:extLst>
              <a:ext uri="{FF2B5EF4-FFF2-40B4-BE49-F238E27FC236}">
                <a16:creationId xmlns:a16="http://schemas.microsoft.com/office/drawing/2014/main" id="{EA7751B3-1550-05F8-B72E-BADABA2E554E}"/>
              </a:ext>
            </a:extLst>
          </p:cNvPr>
          <p:cNvSpPr>
            <a:spLocks noRot="1" noChangeArrowheads="1" noTextEdit="1"/>
          </p:cNvSpPr>
          <p:nvPr>
            <p:ph type="sldImg"/>
          </p:nvPr>
        </p:nvSpPr>
        <p:spPr>
          <a:ln/>
        </p:spPr>
      </p:sp>
      <p:sp>
        <p:nvSpPr>
          <p:cNvPr id="100356" name="Rectangle 3">
            <a:extLst>
              <a:ext uri="{FF2B5EF4-FFF2-40B4-BE49-F238E27FC236}">
                <a16:creationId xmlns:a16="http://schemas.microsoft.com/office/drawing/2014/main" id="{218EE10D-9A13-59C2-53CC-2DCD646573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3A3385DD-958F-4A63-9F3B-E7F54706E3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DE5B542-2821-6F40-A119-FD1908A3F15E}" type="slidenum">
              <a:rPr lang="zh-TW" altLang="en-US"/>
              <a:pPr>
                <a:spcBef>
                  <a:spcPct val="0"/>
                </a:spcBef>
              </a:pPr>
              <a:t>45</a:t>
            </a:fld>
            <a:endParaRPr lang="en-US" altLang="zh-TW"/>
          </a:p>
        </p:txBody>
      </p:sp>
      <p:sp>
        <p:nvSpPr>
          <p:cNvPr id="102403" name="Rectangle 2">
            <a:extLst>
              <a:ext uri="{FF2B5EF4-FFF2-40B4-BE49-F238E27FC236}">
                <a16:creationId xmlns:a16="http://schemas.microsoft.com/office/drawing/2014/main" id="{9C05BF41-42B7-B5A8-7CF7-0957BB097A5D}"/>
              </a:ext>
            </a:extLst>
          </p:cNvPr>
          <p:cNvSpPr>
            <a:spLocks noRot="1" noChangeArrowheads="1" noTextEdit="1"/>
          </p:cNvSpPr>
          <p:nvPr>
            <p:ph type="sldImg"/>
          </p:nvPr>
        </p:nvSpPr>
        <p:spPr>
          <a:ln/>
        </p:spPr>
      </p:sp>
      <p:sp>
        <p:nvSpPr>
          <p:cNvPr id="102404" name="Rectangle 3">
            <a:extLst>
              <a:ext uri="{FF2B5EF4-FFF2-40B4-BE49-F238E27FC236}">
                <a16:creationId xmlns:a16="http://schemas.microsoft.com/office/drawing/2014/main" id="{8DDDBC9B-10A2-F624-AE28-6806891418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7AB454A6-2239-C9B4-2C11-6AA83B8CAC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4C1419A-C3F0-E24F-B0BE-254212AFC8DD}" type="slidenum">
              <a:rPr lang="zh-TW" altLang="en-US"/>
              <a:pPr>
                <a:spcBef>
                  <a:spcPct val="0"/>
                </a:spcBef>
              </a:pPr>
              <a:t>46</a:t>
            </a:fld>
            <a:endParaRPr lang="en-US" altLang="zh-TW"/>
          </a:p>
        </p:txBody>
      </p:sp>
      <p:sp>
        <p:nvSpPr>
          <p:cNvPr id="104451" name="Rectangle 2">
            <a:extLst>
              <a:ext uri="{FF2B5EF4-FFF2-40B4-BE49-F238E27FC236}">
                <a16:creationId xmlns:a16="http://schemas.microsoft.com/office/drawing/2014/main" id="{7CA1A85A-1DF5-20ED-05A7-4707DD388175}"/>
              </a:ext>
            </a:extLst>
          </p:cNvPr>
          <p:cNvSpPr>
            <a:spLocks noRot="1" noChangeArrowheads="1" noTextEdit="1"/>
          </p:cNvSpPr>
          <p:nvPr>
            <p:ph type="sldImg"/>
          </p:nvPr>
        </p:nvSpPr>
        <p:spPr>
          <a:ln/>
        </p:spPr>
      </p:sp>
      <p:sp>
        <p:nvSpPr>
          <p:cNvPr id="104452" name="Rectangle 3">
            <a:extLst>
              <a:ext uri="{FF2B5EF4-FFF2-40B4-BE49-F238E27FC236}">
                <a16:creationId xmlns:a16="http://schemas.microsoft.com/office/drawing/2014/main" id="{8AF2D3E7-214D-B744-B602-D0339194DC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114190A8-98BF-FF21-1EF0-5111DCA182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4C9BBBB-409C-8640-AA00-8A3D0E782DCB}" type="slidenum">
              <a:rPr lang="zh-TW" altLang="en-US"/>
              <a:pPr>
                <a:spcBef>
                  <a:spcPct val="0"/>
                </a:spcBef>
              </a:pPr>
              <a:t>47</a:t>
            </a:fld>
            <a:endParaRPr lang="en-US" altLang="zh-TW"/>
          </a:p>
        </p:txBody>
      </p:sp>
      <p:sp>
        <p:nvSpPr>
          <p:cNvPr id="106499" name="Rectangle 2">
            <a:extLst>
              <a:ext uri="{FF2B5EF4-FFF2-40B4-BE49-F238E27FC236}">
                <a16:creationId xmlns:a16="http://schemas.microsoft.com/office/drawing/2014/main" id="{8C84BE87-7E6F-7A3E-D2F4-2042B18FE8A2}"/>
              </a:ext>
            </a:extLst>
          </p:cNvPr>
          <p:cNvSpPr>
            <a:spLocks noRot="1" noChangeArrowheads="1" noTextEdit="1"/>
          </p:cNvSpPr>
          <p:nvPr>
            <p:ph type="sldImg"/>
          </p:nvPr>
        </p:nvSpPr>
        <p:spPr>
          <a:ln/>
        </p:spPr>
      </p:sp>
      <p:sp>
        <p:nvSpPr>
          <p:cNvPr id="106500" name="Rectangle 3">
            <a:extLst>
              <a:ext uri="{FF2B5EF4-FFF2-40B4-BE49-F238E27FC236}">
                <a16:creationId xmlns:a16="http://schemas.microsoft.com/office/drawing/2014/main" id="{4DAA437D-A8DC-F918-ED28-624C6B73C3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TW" sz="1000" b="1" i="1">
                <a:latin typeface="Arial" panose="020B0604020202020204" pitchFamily="34" charset="0"/>
              </a:rPr>
              <a:t>Omissions from GDP.</a:t>
            </a:r>
            <a:r>
              <a:rPr lang="en-US" altLang="zh-TW" sz="1000">
                <a:latin typeface="Arial" panose="020B0604020202020204" pitchFamily="34" charset="0"/>
              </a:rPr>
              <a:t> A discussion of omissions from GDP can arouse students’ interest. For example, you might point out that if one of your students mows her/his own lawn, the value of the student’s production doesn’t show up in GDP. But if you hire the student to mow your lawn (and if your student reports the income earned correctly to the IRS), the value of the student’s production does show up in GDP.</a:t>
            </a:r>
          </a:p>
          <a:p>
            <a:pPr eaLnBrk="1" hangingPunct="1"/>
            <a:r>
              <a:rPr lang="en-US" altLang="zh-TW" sz="1000" b="1" i="1">
                <a:latin typeface="Arial" panose="020B0604020202020204" pitchFamily="34" charset="0"/>
              </a:rPr>
              <a:t>Why don’t we measure all lawn mowing as part of GDP?</a:t>
            </a:r>
            <a:r>
              <a:rPr lang="en-US" altLang="zh-TW" sz="1000">
                <a:latin typeface="Arial" panose="020B0604020202020204" pitchFamily="34" charset="0"/>
              </a:rPr>
              <a:t> Some reasons are cost of collecting data and the degree of intrusiveness we’d be willing to tolerate. But note how little we spend on collecting the GDP data and how relatively inexpensive it would be to add some questions about domestic production to either the Current Population Survey or the Consumer Expenditure Survey.</a:t>
            </a:r>
          </a:p>
          <a:p>
            <a:pPr eaLnBrk="1" hangingPunct="1"/>
            <a:r>
              <a:rPr lang="en-US" altLang="zh-TW" sz="1000">
                <a:latin typeface="Arial" panose="020B0604020202020204" pitchFamily="34" charset="0"/>
              </a:rPr>
              <a:t>The inclusion of the imputed rental of owner-occupied houses, but not owner-used cars and other durables, is a good example. </a:t>
            </a:r>
          </a:p>
          <a:p>
            <a:pPr eaLnBrk="1" hangingPunct="1"/>
            <a:r>
              <a:rPr lang="en-US" altLang="zh-TW" sz="1000">
                <a:latin typeface="Arial" panose="020B0604020202020204" pitchFamily="34" charset="0"/>
              </a:rPr>
              <a:t>You might like to explain how the omission of illegal goods and services also leads to some misleading comparisons. For instance, the day before prohibition ended, the production of (illegal) beer was not counted as part of GDP. But the day after prohibition ended, the production of (now legal) beer counted. Ask your students to suggest two good reasons why illegal goods and services are omitted. First, the data are hard (but not impossible) to obtain. Second, there may be the moral position that illegal activities should not be included in GDP. This latter observation can lead to an interesting discussion. Ask the students if they think that the production of, say, marijuana should be included in GDP. Some, maybe even many, of them will see no problem with this. Then ask about the production of murder-for-hire. The response, we hope, will be significantly different. Does such a good have any value?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W" dirty="0"/>
          </a:p>
        </p:txBody>
      </p:sp>
      <p:sp>
        <p:nvSpPr>
          <p:cNvPr id="4" name="Slide Number Placeholder 3"/>
          <p:cNvSpPr>
            <a:spLocks noGrp="1"/>
          </p:cNvSpPr>
          <p:nvPr>
            <p:ph type="sldNum" sz="quarter" idx="5"/>
          </p:nvPr>
        </p:nvSpPr>
        <p:spPr/>
        <p:txBody>
          <a:bodyPr/>
          <a:lstStyle/>
          <a:p>
            <a:fld id="{D79EA0F1-EC5C-F94B-B694-EA4E19033EB7}" type="slidenum">
              <a:rPr lang="zh-TW" altLang="en-US" smtClean="0"/>
              <a:pPr/>
              <a:t>57</a:t>
            </a:fld>
            <a:endParaRPr lang="en-US" altLang="zh-TW"/>
          </a:p>
        </p:txBody>
      </p:sp>
    </p:spTree>
    <p:extLst>
      <p:ext uri="{BB962C8B-B14F-4D97-AF65-F5344CB8AC3E}">
        <p14:creationId xmlns:p14="http://schemas.microsoft.com/office/powerpoint/2010/main" val="2639823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2275257687"/>
      </p:ext>
    </p:extLst>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812344052"/>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22878989"/>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981200"/>
            <a:ext cx="4038600" cy="4144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981200"/>
            <a:ext cx="4038600" cy="4144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008824647"/>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269753945"/>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442022680"/>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23996336"/>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65880801"/>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7984109"/>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175875662"/>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04800"/>
            <a:ext cx="2057400" cy="5821363"/>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304800"/>
            <a:ext cx="6019800" cy="58213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300846152"/>
      </p:ext>
    </p:extLst>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437794487"/>
      </p:ext>
    </p:extLst>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643441414"/>
      </p:ext>
    </p:extLst>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80540725"/>
      </p:ext>
    </p:extLst>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905000"/>
            <a:ext cx="19050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2514600" y="1905000"/>
            <a:ext cx="19050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111903086"/>
      </p:ext>
    </p:extLst>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287335647"/>
      </p:ext>
    </p:extLst>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3329750697"/>
      </p:ext>
    </p:extLst>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5586104"/>
      </p:ext>
    </p:extLst>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61319780"/>
      </p:ext>
    </p:extLst>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78589237"/>
      </p:ext>
    </p:extLst>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514603324"/>
      </p:ext>
    </p:extLst>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04800"/>
            <a:ext cx="2057400" cy="6126163"/>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304800"/>
            <a:ext cx="6019800" cy="6126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766901438"/>
      </p:ext>
    </p:extLst>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2670692523"/>
      </p:ext>
    </p:extLst>
  </p:cSld>
  <p:clrMapOvr>
    <a:masterClrMapping/>
  </p:clrMapOvr>
  <p:transition spd="med">
    <p:zo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645123146"/>
      </p:ext>
    </p:extLst>
  </p:cSld>
  <p:clrMapOvr>
    <a:masterClrMapping/>
  </p:clrMapOvr>
  <p:transition spd="med">
    <p:zo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63816359"/>
      </p:ext>
    </p:extLst>
  </p:cSld>
  <p:clrMapOvr>
    <a:masterClrMapping/>
  </p:clrMapOvr>
  <p:transition spd="med">
    <p:zo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140008742"/>
      </p:ext>
    </p:extLst>
  </p:cSld>
  <p:clrMapOvr>
    <a:masterClrMapping/>
  </p:clrMapOvr>
  <p:transition spd="med">
    <p:zo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248232585"/>
      </p:ext>
    </p:extLst>
  </p:cSld>
  <p:clrMapOvr>
    <a:masterClrMapping/>
  </p:clrMapOvr>
  <p:transition spd="med">
    <p:zo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Tree>
    <p:extLst>
      <p:ext uri="{BB962C8B-B14F-4D97-AF65-F5344CB8AC3E}">
        <p14:creationId xmlns:p14="http://schemas.microsoft.com/office/powerpoint/2010/main" val="3656165493"/>
      </p:ext>
    </p:extLst>
  </p:cSld>
  <p:clrMapOvr>
    <a:masterClrMapping/>
  </p:clrMapOvr>
  <p:transition spd="med">
    <p:zo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627437"/>
      </p:ext>
    </p:extLst>
  </p:cSld>
  <p:clrMapOvr>
    <a:masterClrMapping/>
  </p:clrMapOvr>
  <p:transition spd="med">
    <p:zo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61609527"/>
      </p:ext>
    </p:extLst>
  </p:cSld>
  <p:clrMapOvr>
    <a:masterClrMapping/>
  </p:clrMapOvr>
  <p:transition spd="med">
    <p:zo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76376558"/>
      </p:ext>
    </p:extLst>
  </p:cSld>
  <p:clrMapOvr>
    <a:masterClrMapping/>
  </p:clrMapOvr>
  <p:transition spd="med">
    <p:zo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766641888"/>
      </p:ext>
    </p:extLst>
  </p:cSld>
  <p:clrMapOvr>
    <a:masterClrMapping/>
  </p:clrMapOvr>
  <p:transition spd="med">
    <p:zo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162555761"/>
      </p:ext>
    </p:extLst>
  </p:cSld>
  <p:clrMapOvr>
    <a:masterClrMapping/>
  </p:clrMapOvr>
  <p:transition spd="med">
    <p:zo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39934627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1071628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192304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330680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046189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Tree>
    <p:extLst>
      <p:ext uri="{BB962C8B-B14F-4D97-AF65-F5344CB8AC3E}">
        <p14:creationId xmlns:p14="http://schemas.microsoft.com/office/powerpoint/2010/main" val="5991654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23079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9623990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786807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12141036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3570997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3450233827"/>
      </p:ext>
    </p:extLst>
  </p:cSld>
  <p:clrMapOvr>
    <a:masterClrMapping/>
  </p:clrMapOvr>
  <p:transition spd="med">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557232824"/>
      </p:ext>
    </p:extLst>
  </p:cSld>
  <p:clrMapOvr>
    <a:masterClrMapping/>
  </p:clrMapOvr>
  <p:transition spd="med">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972171724"/>
      </p:ext>
    </p:extLst>
  </p:cSld>
  <p:clrMapOvr>
    <a:masterClrMapping/>
  </p:clrMapOvr>
  <p:transition spd="med">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sz="half" idx="1"/>
          </p:nvPr>
        </p:nvSpPr>
        <p:spPr>
          <a:xfrm>
            <a:off x="457200" y="914400"/>
            <a:ext cx="4191000" cy="5516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800600" y="914400"/>
            <a:ext cx="4191000" cy="5516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863194576"/>
      </p:ext>
    </p:extLst>
  </p:cSld>
  <p:clrMapOvr>
    <a:masterClrMapping/>
  </p:clrMapOvr>
  <p:transition spd="med">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289316339"/>
      </p:ext>
    </p:extLst>
  </p:cSld>
  <p:clrMapOvr>
    <a:masterClrMapping/>
  </p:clrMapOvr>
  <p:transition spd="med">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Tree>
    <p:extLst>
      <p:ext uri="{BB962C8B-B14F-4D97-AF65-F5344CB8AC3E}">
        <p14:creationId xmlns:p14="http://schemas.microsoft.com/office/powerpoint/2010/main" val="2457041165"/>
      </p:ext>
    </p:extLst>
  </p:cSld>
  <p:clrMapOvr>
    <a:masterClrMapping/>
  </p:clrMapOvr>
  <p:transition spd="med">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8595938"/>
      </p:ext>
    </p:extLst>
  </p:cSld>
  <p:clrMapOvr>
    <a:masterClrMapping/>
  </p:clrMapOvr>
  <p:transition spd="med">
    <p:wipe dir="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32581700"/>
      </p:ext>
    </p:extLst>
  </p:cSld>
  <p:clrMapOvr>
    <a:masterClrMapping/>
  </p:clrMapOvr>
  <p:transition spd="med">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03053365"/>
      </p:ext>
    </p:extLst>
  </p:cSld>
  <p:clrMapOvr>
    <a:masterClrMapping/>
  </p:clrMapOvr>
  <p:transition spd="med">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406949616"/>
      </p:ext>
    </p:extLst>
  </p:cSld>
  <p:clrMapOvr>
    <a:masterClrMapping/>
  </p:clrMapOvr>
  <p:transition spd="med">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8"/>
            <a:ext cx="2133600" cy="6156325"/>
          </a:xfrm>
          <a:prstGeom prst="rect">
            <a:avLst/>
          </a:prstGeo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248400" cy="61563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834482640"/>
      </p:ext>
    </p:extLst>
  </p:cSld>
  <p:clrMapOvr>
    <a:masterClrMapping/>
  </p:clrMapOvr>
  <p:transition spd="med">
    <p:wipe dir="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2713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98174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7398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B323109-3048-87EB-C00B-11EEB4B1CE00}"/>
              </a:ext>
            </a:extLst>
          </p:cNvPr>
          <p:cNvSpPr>
            <a:spLocks noGrp="1" noChangeArrowheads="1"/>
          </p:cNvSpPr>
          <p:nvPr>
            <p:ph type="title"/>
          </p:nvPr>
        </p:nvSpPr>
        <p:spPr bwMode="auto">
          <a:xfrm>
            <a:off x="990600" y="304800"/>
            <a:ext cx="76962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TW"/>
              <a:t>Click to edit Master title style and text style</a:t>
            </a:r>
          </a:p>
        </p:txBody>
      </p:sp>
      <p:sp>
        <p:nvSpPr>
          <p:cNvPr id="580611" name="Rectangle 3">
            <a:extLst>
              <a:ext uri="{FF2B5EF4-FFF2-40B4-BE49-F238E27FC236}">
                <a16:creationId xmlns:a16="http://schemas.microsoft.com/office/drawing/2014/main" id="{AB5F60E0-C9C8-17D2-E59F-E07195A71BAF}"/>
              </a:ext>
            </a:extLst>
          </p:cNvPr>
          <p:cNvSpPr>
            <a:spLocks noGrp="1" noChangeArrowheads="1"/>
          </p:cNvSpPr>
          <p:nvPr>
            <p:ph type="body" idx="1"/>
          </p:nvPr>
        </p:nvSpPr>
        <p:spPr bwMode="auto">
          <a:xfrm>
            <a:off x="457200" y="1981200"/>
            <a:ext cx="8229600" cy="414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TW"/>
              <a:t>Click to edit Master text styles</a:t>
            </a:r>
          </a:p>
          <a:p>
            <a:pPr lvl="1"/>
            <a:r>
              <a:rPr lang="en-US" altLang="zh-TW"/>
              <a:t>Second level</a:t>
            </a:r>
          </a:p>
          <a:p>
            <a:pPr lvl="2"/>
            <a:r>
              <a:rPr lang="en-US" altLang="zh-TW"/>
              <a:t>Third level</a:t>
            </a:r>
          </a:p>
        </p:txBody>
      </p:sp>
      <p:sp>
        <p:nvSpPr>
          <p:cNvPr id="1028" name="Text Box 6">
            <a:extLst>
              <a:ext uri="{FF2B5EF4-FFF2-40B4-BE49-F238E27FC236}">
                <a16:creationId xmlns:a16="http://schemas.microsoft.com/office/drawing/2014/main" id="{9C313DD6-842A-65BE-B957-0FA9B22F4E78}"/>
              </a:ext>
            </a:extLst>
          </p:cNvPr>
          <p:cNvSpPr txBox="1">
            <a:spLocks noChangeArrowheads="1"/>
          </p:cNvSpPr>
          <p:nvPr userDrawn="1"/>
        </p:nvSpPr>
        <p:spPr bwMode="auto">
          <a:xfrm>
            <a:off x="457200" y="6613525"/>
            <a:ext cx="2514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defRPr/>
            </a:pPr>
            <a:r>
              <a:rPr lang="en-US" sz="1000" dirty="0"/>
              <a:t>© 2012 Pearson Addison-Wesley</a:t>
            </a:r>
          </a:p>
        </p:txBody>
      </p:sp>
      <p:pic>
        <p:nvPicPr>
          <p:cNvPr id="1029" name="Picture 16">
            <a:extLst>
              <a:ext uri="{FF2B5EF4-FFF2-40B4-BE49-F238E27FC236}">
                <a16:creationId xmlns:a16="http://schemas.microsoft.com/office/drawing/2014/main" id="{3C34162F-39FD-797D-3E01-5745F4D46BF0}"/>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304800" y="685800"/>
            <a:ext cx="673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0611">
                                            <p:txEl>
                                              <p:pRg st="0" end="0"/>
                                            </p:txEl>
                                          </p:spTgt>
                                        </p:tgtEl>
                                        <p:attrNameLst>
                                          <p:attrName>style.visibility</p:attrName>
                                        </p:attrNameLst>
                                      </p:cBhvr>
                                      <p:to>
                                        <p:strVal val="visible"/>
                                      </p:to>
                                    </p:set>
                                    <p:animEffect transition="in" filter="wipe(left)">
                                      <p:cBhvr>
                                        <p:cTn id="7" dur="1000"/>
                                        <p:tgtEl>
                                          <p:spTgt spid="5806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0611">
                                            <p:txEl>
                                              <p:pRg st="1" end="1"/>
                                            </p:txEl>
                                          </p:spTgt>
                                        </p:tgtEl>
                                        <p:attrNameLst>
                                          <p:attrName>style.visibility</p:attrName>
                                        </p:attrNameLst>
                                      </p:cBhvr>
                                      <p:to>
                                        <p:strVal val="visible"/>
                                      </p:to>
                                    </p:set>
                                    <p:animEffect transition="in" filter="wipe(left)">
                                      <p:cBhvr>
                                        <p:cTn id="12" dur="1000"/>
                                        <p:tgtEl>
                                          <p:spTgt spid="5806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1" grpId="0" build="p" bldLvl="3">
        <p:tmplLst>
          <p:tmpl lvl="1">
            <p:tnLst>
              <p:par>
                <p:cTn presetID="22" presetClass="entr" presetSubtype="8" fill="hold" nodeType="clickEffect">
                  <p:stCondLst>
                    <p:cond delay="0"/>
                  </p:stCondLst>
                  <p:childTnLst>
                    <p:set>
                      <p:cBhvr>
                        <p:cTn dur="1" fill="hold">
                          <p:stCondLst>
                            <p:cond delay="0"/>
                          </p:stCondLst>
                        </p:cTn>
                        <p:tgtEl>
                          <p:spTgt spid="580611"/>
                        </p:tgtEl>
                        <p:attrNameLst>
                          <p:attrName>style.visibility</p:attrName>
                        </p:attrNameLst>
                      </p:cBhvr>
                      <p:to>
                        <p:strVal val="visible"/>
                      </p:to>
                    </p:set>
                    <p:animEffect transition="in" filter="wipe(left)">
                      <p:cBhvr>
                        <p:cTn dur="1000"/>
                        <p:tgtEl>
                          <p:spTgt spid="580611"/>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580611"/>
                        </p:tgtEl>
                        <p:attrNameLst>
                          <p:attrName>style.visibility</p:attrName>
                        </p:attrNameLst>
                      </p:cBhvr>
                      <p:to>
                        <p:strVal val="visible"/>
                      </p:to>
                    </p:set>
                    <p:animEffect transition="in" filter="wipe(left)">
                      <p:cBhvr>
                        <p:cTn dur="1000"/>
                        <p:tgtEl>
                          <p:spTgt spid="580611"/>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580611"/>
                        </p:tgtEl>
                        <p:attrNameLst>
                          <p:attrName>style.visibility</p:attrName>
                        </p:attrNameLst>
                      </p:cBhvr>
                      <p:to>
                        <p:strVal val="visible"/>
                      </p:to>
                    </p:set>
                    <p:animEffect transition="in" filter="wipe(left)">
                      <p:cBhvr>
                        <p:cTn dur="1000"/>
                        <p:tgtEl>
                          <p:spTgt spid="580611"/>
                        </p:tgtEl>
                      </p:cBhvr>
                    </p:animEffect>
                  </p:childTnLst>
                </p:cTn>
              </p:par>
            </p:tnLst>
          </p:tmpl>
        </p:tmplLst>
      </p:bldP>
    </p:bldLst>
  </p:timing>
  <p:txStyles>
    <p:titleStyle>
      <a:lvl1pPr algn="l" rtl="0" eaLnBrk="0" fontAlgn="base" hangingPunct="0">
        <a:spcBef>
          <a:spcPct val="0"/>
        </a:spcBef>
        <a:spcAft>
          <a:spcPct val="0"/>
        </a:spcAft>
        <a:defRPr sz="3200" b="1">
          <a:solidFill>
            <a:srgbClr val="C40075"/>
          </a:solidFill>
          <a:latin typeface="+mj-lt"/>
          <a:ea typeface="+mj-ea"/>
          <a:cs typeface="+mj-cs"/>
        </a:defRPr>
      </a:lvl1pPr>
      <a:lvl2pPr algn="l" rtl="0" eaLnBrk="0" fontAlgn="base" hangingPunct="0">
        <a:spcBef>
          <a:spcPct val="0"/>
        </a:spcBef>
        <a:spcAft>
          <a:spcPct val="0"/>
        </a:spcAft>
        <a:defRPr sz="3200" b="1">
          <a:solidFill>
            <a:srgbClr val="C40075"/>
          </a:solidFill>
          <a:latin typeface="Arial" charset="0"/>
        </a:defRPr>
      </a:lvl2pPr>
      <a:lvl3pPr algn="l" rtl="0" eaLnBrk="0" fontAlgn="base" hangingPunct="0">
        <a:spcBef>
          <a:spcPct val="0"/>
        </a:spcBef>
        <a:spcAft>
          <a:spcPct val="0"/>
        </a:spcAft>
        <a:defRPr sz="3200" b="1">
          <a:solidFill>
            <a:srgbClr val="C40075"/>
          </a:solidFill>
          <a:latin typeface="Arial" charset="0"/>
        </a:defRPr>
      </a:lvl3pPr>
      <a:lvl4pPr algn="l" rtl="0" eaLnBrk="0" fontAlgn="base" hangingPunct="0">
        <a:spcBef>
          <a:spcPct val="0"/>
        </a:spcBef>
        <a:spcAft>
          <a:spcPct val="0"/>
        </a:spcAft>
        <a:defRPr sz="3200" b="1">
          <a:solidFill>
            <a:srgbClr val="C40075"/>
          </a:solidFill>
          <a:latin typeface="Arial" charset="0"/>
        </a:defRPr>
      </a:lvl4pPr>
      <a:lvl5pPr algn="l" rtl="0" eaLnBrk="0" fontAlgn="base" hangingPunct="0">
        <a:spcBef>
          <a:spcPct val="0"/>
        </a:spcBef>
        <a:spcAft>
          <a:spcPct val="0"/>
        </a:spcAft>
        <a:defRPr sz="3200" b="1">
          <a:solidFill>
            <a:srgbClr val="C40075"/>
          </a:solidFill>
          <a:latin typeface="Arial" charset="0"/>
        </a:defRPr>
      </a:lvl5pPr>
      <a:lvl6pPr marL="457200" algn="l" rtl="0" fontAlgn="base">
        <a:spcBef>
          <a:spcPct val="0"/>
        </a:spcBef>
        <a:spcAft>
          <a:spcPct val="0"/>
        </a:spcAft>
        <a:defRPr sz="3200" b="1">
          <a:solidFill>
            <a:srgbClr val="126723"/>
          </a:solidFill>
          <a:latin typeface="Arial" charset="0"/>
        </a:defRPr>
      </a:lvl6pPr>
      <a:lvl7pPr marL="914400" algn="l" rtl="0" fontAlgn="base">
        <a:spcBef>
          <a:spcPct val="0"/>
        </a:spcBef>
        <a:spcAft>
          <a:spcPct val="0"/>
        </a:spcAft>
        <a:defRPr sz="3200" b="1">
          <a:solidFill>
            <a:srgbClr val="126723"/>
          </a:solidFill>
          <a:latin typeface="Arial" charset="0"/>
        </a:defRPr>
      </a:lvl7pPr>
      <a:lvl8pPr marL="1371600" algn="l" rtl="0" fontAlgn="base">
        <a:spcBef>
          <a:spcPct val="0"/>
        </a:spcBef>
        <a:spcAft>
          <a:spcPct val="0"/>
        </a:spcAft>
        <a:defRPr sz="3200" b="1">
          <a:solidFill>
            <a:srgbClr val="126723"/>
          </a:solidFill>
          <a:latin typeface="Arial" charset="0"/>
        </a:defRPr>
      </a:lvl8pPr>
      <a:lvl9pPr marL="1828800" algn="l" rtl="0" fontAlgn="base">
        <a:spcBef>
          <a:spcPct val="0"/>
        </a:spcBef>
        <a:spcAft>
          <a:spcPct val="0"/>
        </a:spcAft>
        <a:defRPr sz="3200" b="1">
          <a:solidFill>
            <a:srgbClr val="126723"/>
          </a:solidFill>
          <a:latin typeface="Arial" charset="0"/>
        </a:defRPr>
      </a:lvl9pPr>
    </p:titleStyle>
    <p:bodyStyle>
      <a:lvl1pPr marL="342900" indent="-342900" algn="l" rtl="0" eaLnBrk="0" fontAlgn="base" hangingPunct="0">
        <a:spcBef>
          <a:spcPct val="20000"/>
        </a:spcBef>
        <a:spcAft>
          <a:spcPct val="50000"/>
        </a:spcAft>
        <a:defRPr sz="2400" b="1">
          <a:solidFill>
            <a:srgbClr val="FFC000"/>
          </a:solidFill>
          <a:latin typeface="+mn-lt"/>
          <a:ea typeface="+mn-ea"/>
          <a:cs typeface="+mn-cs"/>
        </a:defRPr>
      </a:lvl1pPr>
      <a:lvl2pPr marL="114300" indent="342900" algn="l" rtl="0" eaLnBrk="0" fontAlgn="base" hangingPunct="0">
        <a:spcBef>
          <a:spcPct val="20000"/>
        </a:spcBef>
        <a:spcAft>
          <a:spcPct val="50000"/>
        </a:spcAft>
        <a:buClr>
          <a:srgbClr val="FF0000"/>
        </a:buClr>
        <a:buFont typeface="Wingdings" pitchFamily="2" charset="2"/>
        <a:defRPr sz="2400">
          <a:solidFill>
            <a:schemeClr val="tx1"/>
          </a:solidFill>
          <a:latin typeface="+mn-lt"/>
        </a:defRPr>
      </a:lvl2pPr>
      <a:lvl3pPr marL="228600" indent="685800" algn="l" rtl="0" eaLnBrk="0" fontAlgn="base" hangingPunct="0">
        <a:spcBef>
          <a:spcPct val="20000"/>
        </a:spcBef>
        <a:spcAft>
          <a:spcPct val="50000"/>
        </a:spcAft>
        <a:buChar char="•"/>
        <a:defRPr sz="2400">
          <a:solidFill>
            <a:schemeClr val="tx1"/>
          </a:solidFill>
          <a:latin typeface="+mn-lt"/>
        </a:defRPr>
      </a:lvl3pPr>
      <a:lvl4pPr marL="571500" indent="800100" algn="l" rtl="0" eaLnBrk="0" fontAlgn="base" hangingPunct="0">
        <a:spcBef>
          <a:spcPct val="20000"/>
        </a:spcBef>
        <a:spcAft>
          <a:spcPct val="0"/>
        </a:spcAft>
        <a:buChar char="–"/>
        <a:defRPr sz="2000">
          <a:solidFill>
            <a:schemeClr val="tx1"/>
          </a:solidFill>
          <a:latin typeface="Gill Sans MT" pitchFamily="34" charset="0"/>
        </a:defRPr>
      </a:lvl4pPr>
      <a:lvl5pPr marL="742950" indent="1085850" algn="l" rtl="0" eaLnBrk="0" fontAlgn="base" hangingPunct="0">
        <a:spcBef>
          <a:spcPct val="20000"/>
        </a:spcBef>
        <a:spcAft>
          <a:spcPct val="0"/>
        </a:spcAft>
        <a:buChar char="»"/>
        <a:defRPr sz="2000">
          <a:solidFill>
            <a:schemeClr val="tx1"/>
          </a:solidFill>
          <a:latin typeface="Gill Sans MT" pitchFamily="34" charset="0"/>
        </a:defRPr>
      </a:lvl5pPr>
      <a:lvl6pPr marL="1200150" algn="l" rtl="0" fontAlgn="base">
        <a:spcBef>
          <a:spcPct val="20000"/>
        </a:spcBef>
        <a:spcAft>
          <a:spcPct val="0"/>
        </a:spcAft>
        <a:buChar char="»"/>
        <a:defRPr sz="2000">
          <a:solidFill>
            <a:schemeClr val="tx1"/>
          </a:solidFill>
          <a:latin typeface="Gill Sans MT" pitchFamily="34" charset="0"/>
        </a:defRPr>
      </a:lvl6pPr>
      <a:lvl7pPr marL="1657350" algn="l" rtl="0" fontAlgn="base">
        <a:spcBef>
          <a:spcPct val="20000"/>
        </a:spcBef>
        <a:spcAft>
          <a:spcPct val="0"/>
        </a:spcAft>
        <a:buChar char="»"/>
        <a:defRPr sz="2000">
          <a:solidFill>
            <a:schemeClr val="tx1"/>
          </a:solidFill>
          <a:latin typeface="Gill Sans MT" pitchFamily="34" charset="0"/>
        </a:defRPr>
      </a:lvl7pPr>
      <a:lvl8pPr marL="2114550" algn="l" rtl="0" fontAlgn="base">
        <a:spcBef>
          <a:spcPct val="20000"/>
        </a:spcBef>
        <a:spcAft>
          <a:spcPct val="0"/>
        </a:spcAft>
        <a:buChar char="»"/>
        <a:defRPr sz="2000">
          <a:solidFill>
            <a:schemeClr val="tx1"/>
          </a:solidFill>
          <a:latin typeface="Gill Sans MT" pitchFamily="34" charset="0"/>
        </a:defRPr>
      </a:lvl8pPr>
      <a:lvl9pPr marL="2571750" algn="l" rtl="0" fontAlgn="base">
        <a:spcBef>
          <a:spcPct val="20000"/>
        </a:spcBef>
        <a:spcAft>
          <a:spcPct val="0"/>
        </a:spcAft>
        <a:buChar char="»"/>
        <a:defRPr sz="2000">
          <a:solidFill>
            <a:schemeClr val="tx1"/>
          </a:solidFill>
          <a:latin typeface="Gill Sans MT"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81634" name="Rectangle 2">
            <a:extLst>
              <a:ext uri="{FF2B5EF4-FFF2-40B4-BE49-F238E27FC236}">
                <a16:creationId xmlns:a16="http://schemas.microsoft.com/office/drawing/2014/main" id="{6F97DAAC-C4A6-F1F5-BA39-F46F61809FDE}"/>
              </a:ext>
            </a:extLst>
          </p:cNvPr>
          <p:cNvSpPr>
            <a:spLocks noGrp="1" noChangeArrowheads="1"/>
          </p:cNvSpPr>
          <p:nvPr>
            <p:ph type="body" idx="1"/>
          </p:nvPr>
        </p:nvSpPr>
        <p:spPr bwMode="auto">
          <a:xfrm>
            <a:off x="457200" y="1905000"/>
            <a:ext cx="3962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TW"/>
              <a:t>Click to edit Master text styles</a:t>
            </a:r>
          </a:p>
          <a:p>
            <a:pPr lvl="1"/>
            <a:r>
              <a:rPr lang="en-US" altLang="zh-TW"/>
              <a:t>Second level</a:t>
            </a:r>
          </a:p>
          <a:p>
            <a:pPr lvl="2"/>
            <a:r>
              <a:rPr lang="en-US" altLang="zh-TW"/>
              <a:t>Third level</a:t>
            </a:r>
          </a:p>
        </p:txBody>
      </p:sp>
      <p:pic>
        <p:nvPicPr>
          <p:cNvPr id="581635" name="Picture 3" descr="but2">
            <a:hlinkClick r:id="" action="ppaction://hlinkshowjump?jump=nextslide" tooltip="Expand figure"/>
            <a:extLst>
              <a:ext uri="{FF2B5EF4-FFF2-40B4-BE49-F238E27FC236}">
                <a16:creationId xmlns:a16="http://schemas.microsoft.com/office/drawing/2014/main" id="{3324468B-0A8E-F629-DBAB-7D1E3D7A372A}"/>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534400" y="942975"/>
            <a:ext cx="5810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Rectangle 4">
            <a:extLst>
              <a:ext uri="{FF2B5EF4-FFF2-40B4-BE49-F238E27FC236}">
                <a16:creationId xmlns:a16="http://schemas.microsoft.com/office/drawing/2014/main" id="{2050A701-9DC1-D92C-A934-F84312C834D8}"/>
              </a:ext>
            </a:extLst>
          </p:cNvPr>
          <p:cNvSpPr>
            <a:spLocks noGrp="1" noChangeArrowheads="1"/>
          </p:cNvSpPr>
          <p:nvPr>
            <p:ph type="title"/>
          </p:nvPr>
        </p:nvSpPr>
        <p:spPr bwMode="auto">
          <a:xfrm>
            <a:off x="990600" y="304800"/>
            <a:ext cx="76962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TW"/>
              <a:t>Click to edit Master title style and text style</a:t>
            </a:r>
          </a:p>
        </p:txBody>
      </p:sp>
      <p:sp>
        <p:nvSpPr>
          <p:cNvPr id="2053" name="Text Box 7">
            <a:extLst>
              <a:ext uri="{FF2B5EF4-FFF2-40B4-BE49-F238E27FC236}">
                <a16:creationId xmlns:a16="http://schemas.microsoft.com/office/drawing/2014/main" id="{5B2B57E5-D6D2-2189-0ED2-9D9AB55BAEBF}"/>
              </a:ext>
            </a:extLst>
          </p:cNvPr>
          <p:cNvSpPr txBox="1">
            <a:spLocks noChangeArrowheads="1"/>
          </p:cNvSpPr>
          <p:nvPr userDrawn="1"/>
        </p:nvSpPr>
        <p:spPr bwMode="auto">
          <a:xfrm>
            <a:off x="457200" y="6613525"/>
            <a:ext cx="2514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defRPr/>
            </a:pPr>
            <a:r>
              <a:rPr lang="en-US" sz="1000" dirty="0"/>
              <a:t>© 2012 Pearson Addison-Wesley</a:t>
            </a:r>
          </a:p>
        </p:txBody>
      </p:sp>
      <p:pic>
        <p:nvPicPr>
          <p:cNvPr id="2054" name="Picture 16">
            <a:extLst>
              <a:ext uri="{FF2B5EF4-FFF2-40B4-BE49-F238E27FC236}">
                <a16:creationId xmlns:a16="http://schemas.microsoft.com/office/drawing/2014/main" id="{6AEA14C7-2C54-2E43-D01F-364CB396B5DB}"/>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304800" y="685800"/>
            <a:ext cx="673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1634">
                                            <p:txEl>
                                              <p:pRg st="0" end="0"/>
                                            </p:txEl>
                                          </p:spTgt>
                                        </p:tgtEl>
                                        <p:attrNameLst>
                                          <p:attrName>style.visibility</p:attrName>
                                        </p:attrNameLst>
                                      </p:cBhvr>
                                      <p:to>
                                        <p:strVal val="visible"/>
                                      </p:to>
                                    </p:set>
                                    <p:animEffect transition="in" filter="wipe(left)">
                                      <p:cBhvr>
                                        <p:cTn id="7" dur="1000"/>
                                        <p:tgtEl>
                                          <p:spTgt spid="58163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1634">
                                            <p:txEl>
                                              <p:pRg st="1" end="1"/>
                                            </p:txEl>
                                          </p:spTgt>
                                        </p:tgtEl>
                                        <p:attrNameLst>
                                          <p:attrName>style.visibility</p:attrName>
                                        </p:attrNameLst>
                                      </p:cBhvr>
                                      <p:to>
                                        <p:strVal val="visible"/>
                                      </p:to>
                                    </p:set>
                                    <p:animEffect transition="in" filter="wipe(left)">
                                      <p:cBhvr>
                                        <p:cTn id="12" dur="1000"/>
                                        <p:tgtEl>
                                          <p:spTgt spid="581634">
                                            <p:txEl>
                                              <p:pRg st="1" end="1"/>
                                            </p:txEl>
                                          </p:spTgt>
                                        </p:tgtEl>
                                      </p:cBhvr>
                                    </p:animEffect>
                                  </p:childTnLst>
                                </p:cTn>
                              </p:par>
                            </p:childTnLst>
                          </p:cTn>
                        </p:par>
                        <p:par>
                          <p:cTn id="13" fill="hold" nodeType="afterGroup">
                            <p:stCondLst>
                              <p:cond delay="1000"/>
                            </p:stCondLst>
                            <p:childTnLst>
                              <p:par>
                                <p:cTn id="14" presetID="1" presetClass="entr" presetSubtype="0" fill="hold" nodeType="afterEffect">
                                  <p:stCondLst>
                                    <p:cond delay="0"/>
                                  </p:stCondLst>
                                  <p:childTnLst>
                                    <p:set>
                                      <p:cBhvr>
                                        <p:cTn id="15" dur="1" fill="hold">
                                          <p:stCondLst>
                                            <p:cond delay="0"/>
                                          </p:stCondLst>
                                        </p:cTn>
                                        <p:tgtEl>
                                          <p:spTgt spid="5816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4" grpId="0" build="p" bldLvl="3">
        <p:tmplLst>
          <p:tmpl lvl="1">
            <p:tnLst>
              <p:par>
                <p:cTn presetID="22" presetClass="entr" presetSubtype="8" fill="hold" nodeType="clickEffect">
                  <p:stCondLst>
                    <p:cond delay="0"/>
                  </p:stCondLst>
                  <p:childTnLst>
                    <p:set>
                      <p:cBhvr>
                        <p:cTn dur="1" fill="hold">
                          <p:stCondLst>
                            <p:cond delay="0"/>
                          </p:stCondLst>
                        </p:cTn>
                        <p:tgtEl>
                          <p:spTgt spid="581634"/>
                        </p:tgtEl>
                        <p:attrNameLst>
                          <p:attrName>style.visibility</p:attrName>
                        </p:attrNameLst>
                      </p:cBhvr>
                      <p:to>
                        <p:strVal val="visible"/>
                      </p:to>
                    </p:set>
                    <p:animEffect transition="in" filter="wipe(left)">
                      <p:cBhvr>
                        <p:cTn dur="1000"/>
                        <p:tgtEl>
                          <p:spTgt spid="581634"/>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581634"/>
                        </p:tgtEl>
                        <p:attrNameLst>
                          <p:attrName>style.visibility</p:attrName>
                        </p:attrNameLst>
                      </p:cBhvr>
                      <p:to>
                        <p:strVal val="visible"/>
                      </p:to>
                    </p:set>
                    <p:animEffect transition="in" filter="wipe(left)">
                      <p:cBhvr>
                        <p:cTn dur="1000"/>
                        <p:tgtEl>
                          <p:spTgt spid="581634"/>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581634"/>
                        </p:tgtEl>
                        <p:attrNameLst>
                          <p:attrName>style.visibility</p:attrName>
                        </p:attrNameLst>
                      </p:cBhvr>
                      <p:to>
                        <p:strVal val="visible"/>
                      </p:to>
                    </p:set>
                    <p:animEffect transition="in" filter="wipe(left)">
                      <p:cBhvr>
                        <p:cTn dur="1000"/>
                        <p:tgtEl>
                          <p:spTgt spid="581634"/>
                        </p:tgtEl>
                      </p:cBhvr>
                    </p:animEffect>
                  </p:childTnLst>
                </p:cTn>
              </p:par>
            </p:tnLst>
          </p:tmpl>
        </p:tmplLst>
      </p:bldP>
    </p:bldLst>
  </p:timing>
  <p:txStyles>
    <p:titleStyle>
      <a:lvl1pPr algn="l" rtl="0" eaLnBrk="0" fontAlgn="base" hangingPunct="0">
        <a:spcBef>
          <a:spcPct val="0"/>
        </a:spcBef>
        <a:spcAft>
          <a:spcPct val="0"/>
        </a:spcAft>
        <a:defRPr sz="3200" b="1">
          <a:solidFill>
            <a:srgbClr val="C40075"/>
          </a:solidFill>
          <a:latin typeface="+mj-lt"/>
          <a:ea typeface="+mj-ea"/>
          <a:cs typeface="+mj-cs"/>
        </a:defRPr>
      </a:lvl1pPr>
      <a:lvl2pPr algn="l" rtl="0" eaLnBrk="0" fontAlgn="base" hangingPunct="0">
        <a:spcBef>
          <a:spcPct val="0"/>
        </a:spcBef>
        <a:spcAft>
          <a:spcPct val="0"/>
        </a:spcAft>
        <a:defRPr sz="3200" b="1">
          <a:solidFill>
            <a:srgbClr val="C40075"/>
          </a:solidFill>
          <a:latin typeface="Arial" charset="0"/>
        </a:defRPr>
      </a:lvl2pPr>
      <a:lvl3pPr algn="l" rtl="0" eaLnBrk="0" fontAlgn="base" hangingPunct="0">
        <a:spcBef>
          <a:spcPct val="0"/>
        </a:spcBef>
        <a:spcAft>
          <a:spcPct val="0"/>
        </a:spcAft>
        <a:defRPr sz="3200" b="1">
          <a:solidFill>
            <a:srgbClr val="C40075"/>
          </a:solidFill>
          <a:latin typeface="Arial" charset="0"/>
        </a:defRPr>
      </a:lvl3pPr>
      <a:lvl4pPr algn="l" rtl="0" eaLnBrk="0" fontAlgn="base" hangingPunct="0">
        <a:spcBef>
          <a:spcPct val="0"/>
        </a:spcBef>
        <a:spcAft>
          <a:spcPct val="0"/>
        </a:spcAft>
        <a:defRPr sz="3200" b="1">
          <a:solidFill>
            <a:srgbClr val="C40075"/>
          </a:solidFill>
          <a:latin typeface="Arial" charset="0"/>
        </a:defRPr>
      </a:lvl4pPr>
      <a:lvl5pPr algn="l" rtl="0" eaLnBrk="0" fontAlgn="base" hangingPunct="0">
        <a:spcBef>
          <a:spcPct val="0"/>
        </a:spcBef>
        <a:spcAft>
          <a:spcPct val="0"/>
        </a:spcAft>
        <a:defRPr sz="3200" b="1">
          <a:solidFill>
            <a:srgbClr val="C40075"/>
          </a:solidFill>
          <a:latin typeface="Arial" charset="0"/>
        </a:defRPr>
      </a:lvl5pPr>
      <a:lvl6pPr marL="457200" algn="l" rtl="0" fontAlgn="base">
        <a:spcBef>
          <a:spcPct val="0"/>
        </a:spcBef>
        <a:spcAft>
          <a:spcPct val="0"/>
        </a:spcAft>
        <a:defRPr sz="3200" b="1">
          <a:solidFill>
            <a:srgbClr val="126723"/>
          </a:solidFill>
          <a:latin typeface="Arial" charset="0"/>
        </a:defRPr>
      </a:lvl6pPr>
      <a:lvl7pPr marL="914400" algn="l" rtl="0" fontAlgn="base">
        <a:spcBef>
          <a:spcPct val="0"/>
        </a:spcBef>
        <a:spcAft>
          <a:spcPct val="0"/>
        </a:spcAft>
        <a:defRPr sz="3200" b="1">
          <a:solidFill>
            <a:srgbClr val="126723"/>
          </a:solidFill>
          <a:latin typeface="Arial" charset="0"/>
        </a:defRPr>
      </a:lvl7pPr>
      <a:lvl8pPr marL="1371600" algn="l" rtl="0" fontAlgn="base">
        <a:spcBef>
          <a:spcPct val="0"/>
        </a:spcBef>
        <a:spcAft>
          <a:spcPct val="0"/>
        </a:spcAft>
        <a:defRPr sz="3200" b="1">
          <a:solidFill>
            <a:srgbClr val="126723"/>
          </a:solidFill>
          <a:latin typeface="Arial" charset="0"/>
        </a:defRPr>
      </a:lvl8pPr>
      <a:lvl9pPr marL="1828800" algn="l" rtl="0" fontAlgn="base">
        <a:spcBef>
          <a:spcPct val="0"/>
        </a:spcBef>
        <a:spcAft>
          <a:spcPct val="0"/>
        </a:spcAft>
        <a:defRPr sz="3200" b="1">
          <a:solidFill>
            <a:srgbClr val="126723"/>
          </a:solidFill>
          <a:latin typeface="Arial" charset="0"/>
        </a:defRPr>
      </a:lvl9pPr>
    </p:titleStyle>
    <p:bodyStyle>
      <a:lvl1pPr marL="342900" indent="-342900" algn="l" rtl="0" eaLnBrk="0" fontAlgn="base" hangingPunct="0">
        <a:spcBef>
          <a:spcPct val="20000"/>
        </a:spcBef>
        <a:spcAft>
          <a:spcPct val="50000"/>
        </a:spcAft>
        <a:defRPr sz="2400" b="1">
          <a:solidFill>
            <a:srgbClr val="FFC000"/>
          </a:solidFill>
          <a:latin typeface="+mn-lt"/>
          <a:ea typeface="+mn-ea"/>
          <a:cs typeface="+mn-cs"/>
        </a:defRPr>
      </a:lvl1pPr>
      <a:lvl2pPr marL="114300" indent="342900" algn="l" rtl="0" eaLnBrk="0" fontAlgn="base" hangingPunct="0">
        <a:spcBef>
          <a:spcPct val="20000"/>
        </a:spcBef>
        <a:spcAft>
          <a:spcPct val="50000"/>
        </a:spcAft>
        <a:buClr>
          <a:srgbClr val="FF0000"/>
        </a:buClr>
        <a:buFont typeface="Wingdings" pitchFamily="2" charset="2"/>
        <a:defRPr sz="2400">
          <a:solidFill>
            <a:schemeClr val="tx1"/>
          </a:solidFill>
          <a:latin typeface="+mn-lt"/>
        </a:defRPr>
      </a:lvl2pPr>
      <a:lvl3pPr marL="347663" indent="566738" algn="l" rtl="0" eaLnBrk="0" fontAlgn="base" hangingPunct="0">
        <a:spcBef>
          <a:spcPct val="20000"/>
        </a:spcBef>
        <a:spcAft>
          <a:spcPct val="50000"/>
        </a:spcAft>
        <a:buChar char="•"/>
        <a:defRPr sz="2000">
          <a:solidFill>
            <a:schemeClr val="tx1"/>
          </a:solidFill>
          <a:latin typeface="+mn-lt"/>
        </a:defRPr>
      </a:lvl3pPr>
      <a:lvl4pPr marL="571500" indent="800100" algn="l" rtl="0" eaLnBrk="0" fontAlgn="base" hangingPunct="0">
        <a:spcBef>
          <a:spcPct val="20000"/>
        </a:spcBef>
        <a:spcAft>
          <a:spcPct val="0"/>
        </a:spcAft>
        <a:buChar char="–"/>
        <a:defRPr sz="2000">
          <a:solidFill>
            <a:schemeClr val="tx1"/>
          </a:solidFill>
          <a:latin typeface="Gill Sans MT" pitchFamily="34" charset="0"/>
        </a:defRPr>
      </a:lvl4pPr>
      <a:lvl5pPr marL="742950" indent="1085850" algn="l" rtl="0" eaLnBrk="0" fontAlgn="base" hangingPunct="0">
        <a:spcBef>
          <a:spcPct val="20000"/>
        </a:spcBef>
        <a:spcAft>
          <a:spcPct val="0"/>
        </a:spcAft>
        <a:buChar char="»"/>
        <a:defRPr sz="2000">
          <a:solidFill>
            <a:schemeClr val="tx1"/>
          </a:solidFill>
          <a:latin typeface="Gill Sans MT" pitchFamily="34" charset="0"/>
        </a:defRPr>
      </a:lvl5pPr>
      <a:lvl6pPr marL="1200150" algn="l" rtl="0" fontAlgn="base">
        <a:spcBef>
          <a:spcPct val="20000"/>
        </a:spcBef>
        <a:spcAft>
          <a:spcPct val="0"/>
        </a:spcAft>
        <a:buChar char="»"/>
        <a:defRPr sz="2000">
          <a:solidFill>
            <a:schemeClr val="tx1"/>
          </a:solidFill>
          <a:latin typeface="Gill Sans MT" pitchFamily="34" charset="0"/>
        </a:defRPr>
      </a:lvl6pPr>
      <a:lvl7pPr marL="1657350" algn="l" rtl="0" fontAlgn="base">
        <a:spcBef>
          <a:spcPct val="20000"/>
        </a:spcBef>
        <a:spcAft>
          <a:spcPct val="0"/>
        </a:spcAft>
        <a:buChar char="»"/>
        <a:defRPr sz="2000">
          <a:solidFill>
            <a:schemeClr val="tx1"/>
          </a:solidFill>
          <a:latin typeface="Gill Sans MT" pitchFamily="34" charset="0"/>
        </a:defRPr>
      </a:lvl7pPr>
      <a:lvl8pPr marL="2114550" algn="l" rtl="0" fontAlgn="base">
        <a:spcBef>
          <a:spcPct val="20000"/>
        </a:spcBef>
        <a:spcAft>
          <a:spcPct val="0"/>
        </a:spcAft>
        <a:buChar char="»"/>
        <a:defRPr sz="2000">
          <a:solidFill>
            <a:schemeClr val="tx1"/>
          </a:solidFill>
          <a:latin typeface="Gill Sans MT" pitchFamily="34" charset="0"/>
        </a:defRPr>
      </a:lvl8pPr>
      <a:lvl9pPr marL="2571750" algn="l" rtl="0" fontAlgn="base">
        <a:spcBef>
          <a:spcPct val="20000"/>
        </a:spcBef>
        <a:spcAft>
          <a:spcPct val="0"/>
        </a:spcAft>
        <a:buChar char="»"/>
        <a:defRPr sz="2000">
          <a:solidFill>
            <a:schemeClr val="tx1"/>
          </a:solidFill>
          <a:latin typeface="Gill Sans MT"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2" descr="but1">
            <a:hlinkClick r:id="" action="ppaction://hlinkshowjump?jump=previousslide" tooltip="Back to previous slide"/>
            <a:extLst>
              <a:ext uri="{FF2B5EF4-FFF2-40B4-BE49-F238E27FC236}">
                <a16:creationId xmlns:a16="http://schemas.microsoft.com/office/drawing/2014/main" id="{FE375611-E086-04BF-996E-B16173C48E3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24875" y="935038"/>
            <a:ext cx="617538"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 Box 4">
            <a:extLst>
              <a:ext uri="{FF2B5EF4-FFF2-40B4-BE49-F238E27FC236}">
                <a16:creationId xmlns:a16="http://schemas.microsoft.com/office/drawing/2014/main" id="{7DD68B9D-EE7C-F349-74FC-66497B720A19}"/>
              </a:ext>
            </a:extLst>
          </p:cNvPr>
          <p:cNvSpPr txBox="1">
            <a:spLocks noChangeArrowheads="1"/>
          </p:cNvSpPr>
          <p:nvPr userDrawn="1"/>
        </p:nvSpPr>
        <p:spPr bwMode="auto">
          <a:xfrm>
            <a:off x="457200" y="6613525"/>
            <a:ext cx="2514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defRPr/>
            </a:pPr>
            <a:r>
              <a:rPr lang="en-US" sz="1000" dirty="0"/>
              <a:t>© 2012 Pearson Addison-Wesley</a:t>
            </a:r>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spd="med">
    <p:zoom/>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ext Box 8">
            <a:extLst>
              <a:ext uri="{FF2B5EF4-FFF2-40B4-BE49-F238E27FC236}">
                <a16:creationId xmlns:a16="http://schemas.microsoft.com/office/drawing/2014/main" id="{56F9E378-3B0F-50A5-9527-9BA08EEECBFB}"/>
              </a:ext>
            </a:extLst>
          </p:cNvPr>
          <p:cNvSpPr txBox="1">
            <a:spLocks noChangeArrowheads="1"/>
          </p:cNvSpPr>
          <p:nvPr userDrawn="1"/>
        </p:nvSpPr>
        <p:spPr bwMode="auto">
          <a:xfrm>
            <a:off x="457200" y="6613525"/>
            <a:ext cx="2514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defRPr/>
            </a:pPr>
            <a:r>
              <a:rPr lang="en-US" sz="1000" dirty="0"/>
              <a:t>© 2012 Pearson Addison-Wesley</a:t>
            </a:r>
          </a:p>
        </p:txBody>
      </p:sp>
    </p:spTree>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6802" name="Rectangle 2">
            <a:extLst>
              <a:ext uri="{FF2B5EF4-FFF2-40B4-BE49-F238E27FC236}">
                <a16:creationId xmlns:a16="http://schemas.microsoft.com/office/drawing/2014/main" id="{7A73AF2D-A391-8B77-34E4-B51265F5B195}"/>
              </a:ext>
            </a:extLst>
          </p:cNvPr>
          <p:cNvSpPr>
            <a:spLocks noGrp="1" noChangeArrowheads="1"/>
          </p:cNvSpPr>
          <p:nvPr>
            <p:ph type="body" idx="1"/>
          </p:nvPr>
        </p:nvSpPr>
        <p:spPr bwMode="auto">
          <a:xfrm>
            <a:off x="457200" y="914400"/>
            <a:ext cx="8534400" cy="551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a:r>
              <a:rPr lang="en-US" altLang="zh-TW"/>
              <a:t>Second level</a:t>
            </a:r>
          </a:p>
        </p:txBody>
      </p:sp>
      <p:sp>
        <p:nvSpPr>
          <p:cNvPr id="5123" name="Text Box 6">
            <a:extLst>
              <a:ext uri="{FF2B5EF4-FFF2-40B4-BE49-F238E27FC236}">
                <a16:creationId xmlns:a16="http://schemas.microsoft.com/office/drawing/2014/main" id="{A6C83461-A58D-810B-8BA7-EB4B79D8FC13}"/>
              </a:ext>
            </a:extLst>
          </p:cNvPr>
          <p:cNvSpPr txBox="1">
            <a:spLocks noChangeArrowheads="1"/>
          </p:cNvSpPr>
          <p:nvPr userDrawn="1"/>
        </p:nvSpPr>
        <p:spPr bwMode="auto">
          <a:xfrm>
            <a:off x="457200" y="6613525"/>
            <a:ext cx="2514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defRPr/>
            </a:pPr>
            <a:r>
              <a:rPr lang="en-US" sz="1000" dirty="0"/>
              <a:t>© 2012 Pearson Addison-Wesley</a:t>
            </a:r>
          </a:p>
        </p:txBody>
      </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Lst>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6802">
                                            <p:txEl>
                                              <p:pRg st="0" end="0"/>
                                            </p:txEl>
                                          </p:spTgt>
                                        </p:tgtEl>
                                        <p:attrNameLst>
                                          <p:attrName>style.visibility</p:attrName>
                                        </p:attrNameLst>
                                      </p:cBhvr>
                                      <p:to>
                                        <p:strVal val="visible"/>
                                      </p:to>
                                    </p:set>
                                    <p:animEffect transition="in" filter="wipe(left)">
                                      <p:cBhvr>
                                        <p:cTn id="7" dur="1000"/>
                                        <p:tgtEl>
                                          <p:spTgt spid="71680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02" grpId="0" build="p" bldLvl="3">
        <p:tmplLst>
          <p:tmpl lvl="1">
            <p:tnLst>
              <p:par>
                <p:cTn presetID="22" presetClass="entr" presetSubtype="8" fill="hold" nodeType="clickEffect">
                  <p:stCondLst>
                    <p:cond delay="0"/>
                  </p:stCondLst>
                  <p:childTnLst>
                    <p:set>
                      <p:cBhvr>
                        <p:cTn dur="1" fill="hold">
                          <p:stCondLst>
                            <p:cond delay="0"/>
                          </p:stCondLst>
                        </p:cTn>
                        <p:tgtEl>
                          <p:spTgt spid="716802"/>
                        </p:tgtEl>
                        <p:attrNameLst>
                          <p:attrName>style.visibility</p:attrName>
                        </p:attrNameLst>
                      </p:cBhvr>
                      <p:to>
                        <p:strVal val="visible"/>
                      </p:to>
                    </p:set>
                    <p:animEffect transition="in" filter="wipe(left)">
                      <p:cBhvr>
                        <p:cTn dur="1000"/>
                        <p:tgtEl>
                          <p:spTgt spid="716802"/>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716802"/>
                        </p:tgtEl>
                        <p:attrNameLst>
                          <p:attrName>style.visibility</p:attrName>
                        </p:attrNameLst>
                      </p:cBhvr>
                      <p:to>
                        <p:strVal val="visible"/>
                      </p:to>
                    </p:set>
                    <p:animEffect transition="in" filter="wipe(left)">
                      <p:cBhvr>
                        <p:cTn dur="1000"/>
                        <p:tgtEl>
                          <p:spTgt spid="716802"/>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716802"/>
                        </p:tgtEl>
                        <p:attrNameLst>
                          <p:attrName>style.visibility</p:attrName>
                        </p:attrNameLst>
                      </p:cBhvr>
                      <p:to>
                        <p:strVal val="visible"/>
                      </p:to>
                    </p:set>
                    <p:animEffect transition="in" filter="wipe(left)">
                      <p:cBhvr>
                        <p:cTn dur="1000"/>
                        <p:tgtEl>
                          <p:spTgt spid="716802"/>
                        </p:tgtEl>
                      </p:cBhvr>
                    </p:animEffect>
                  </p:childTnLst>
                </p:cTn>
              </p:par>
            </p:tnLst>
          </p:tmpl>
        </p:tmplLst>
      </p:bldP>
    </p:bldLst>
  </p:timing>
  <p:txStyles>
    <p:titleStyle>
      <a:lvl1pPr algn="l" rtl="0" eaLnBrk="0" fontAlgn="base" hangingPunct="0">
        <a:spcBef>
          <a:spcPct val="0"/>
        </a:spcBef>
        <a:spcAft>
          <a:spcPct val="0"/>
        </a:spcAft>
        <a:defRPr sz="3200" b="1">
          <a:solidFill>
            <a:srgbClr val="126723"/>
          </a:solidFill>
          <a:latin typeface="+mj-lt"/>
          <a:ea typeface="+mj-ea"/>
          <a:cs typeface="+mj-cs"/>
        </a:defRPr>
      </a:lvl1pPr>
      <a:lvl2pPr algn="l" rtl="0" eaLnBrk="0" fontAlgn="base" hangingPunct="0">
        <a:spcBef>
          <a:spcPct val="0"/>
        </a:spcBef>
        <a:spcAft>
          <a:spcPct val="0"/>
        </a:spcAft>
        <a:defRPr sz="3200" b="1">
          <a:solidFill>
            <a:srgbClr val="126723"/>
          </a:solidFill>
          <a:latin typeface="Arial" charset="0"/>
        </a:defRPr>
      </a:lvl2pPr>
      <a:lvl3pPr algn="l" rtl="0" eaLnBrk="0" fontAlgn="base" hangingPunct="0">
        <a:spcBef>
          <a:spcPct val="0"/>
        </a:spcBef>
        <a:spcAft>
          <a:spcPct val="0"/>
        </a:spcAft>
        <a:defRPr sz="3200" b="1">
          <a:solidFill>
            <a:srgbClr val="126723"/>
          </a:solidFill>
          <a:latin typeface="Arial" charset="0"/>
        </a:defRPr>
      </a:lvl3pPr>
      <a:lvl4pPr algn="l" rtl="0" eaLnBrk="0" fontAlgn="base" hangingPunct="0">
        <a:spcBef>
          <a:spcPct val="0"/>
        </a:spcBef>
        <a:spcAft>
          <a:spcPct val="0"/>
        </a:spcAft>
        <a:defRPr sz="3200" b="1">
          <a:solidFill>
            <a:srgbClr val="126723"/>
          </a:solidFill>
          <a:latin typeface="Arial" charset="0"/>
        </a:defRPr>
      </a:lvl4pPr>
      <a:lvl5pPr algn="l" rtl="0" eaLnBrk="0" fontAlgn="base" hangingPunct="0">
        <a:spcBef>
          <a:spcPct val="0"/>
        </a:spcBef>
        <a:spcAft>
          <a:spcPct val="0"/>
        </a:spcAft>
        <a:defRPr sz="3200" b="1">
          <a:solidFill>
            <a:srgbClr val="126723"/>
          </a:solidFill>
          <a:latin typeface="Arial" charset="0"/>
        </a:defRPr>
      </a:lvl5pPr>
      <a:lvl6pPr marL="457200" algn="l" rtl="0" fontAlgn="base">
        <a:spcBef>
          <a:spcPct val="0"/>
        </a:spcBef>
        <a:spcAft>
          <a:spcPct val="0"/>
        </a:spcAft>
        <a:defRPr sz="3200" b="1">
          <a:solidFill>
            <a:srgbClr val="126723"/>
          </a:solidFill>
          <a:latin typeface="Arial" charset="0"/>
        </a:defRPr>
      </a:lvl6pPr>
      <a:lvl7pPr marL="914400" algn="l" rtl="0" fontAlgn="base">
        <a:spcBef>
          <a:spcPct val="0"/>
        </a:spcBef>
        <a:spcAft>
          <a:spcPct val="0"/>
        </a:spcAft>
        <a:defRPr sz="3200" b="1">
          <a:solidFill>
            <a:srgbClr val="126723"/>
          </a:solidFill>
          <a:latin typeface="Arial" charset="0"/>
        </a:defRPr>
      </a:lvl7pPr>
      <a:lvl8pPr marL="1371600" algn="l" rtl="0" fontAlgn="base">
        <a:spcBef>
          <a:spcPct val="0"/>
        </a:spcBef>
        <a:spcAft>
          <a:spcPct val="0"/>
        </a:spcAft>
        <a:defRPr sz="3200" b="1">
          <a:solidFill>
            <a:srgbClr val="126723"/>
          </a:solidFill>
          <a:latin typeface="Arial" charset="0"/>
        </a:defRPr>
      </a:lvl8pPr>
      <a:lvl9pPr marL="1828800" algn="l" rtl="0" fontAlgn="base">
        <a:spcBef>
          <a:spcPct val="0"/>
        </a:spcBef>
        <a:spcAft>
          <a:spcPct val="0"/>
        </a:spcAft>
        <a:defRPr sz="3200" b="1">
          <a:solidFill>
            <a:srgbClr val="126723"/>
          </a:solidFill>
          <a:latin typeface="Arial" charset="0"/>
        </a:defRPr>
      </a:lvl9pPr>
    </p:titleStyle>
    <p:bodyStyle>
      <a:lvl1pPr marL="342900" indent="-342900" algn="l" rtl="0" eaLnBrk="0" fontAlgn="base" hangingPunct="0">
        <a:spcBef>
          <a:spcPct val="20000"/>
        </a:spcBef>
        <a:spcAft>
          <a:spcPct val="50000"/>
        </a:spcAft>
        <a:defRPr sz="2400" b="1">
          <a:solidFill>
            <a:srgbClr val="600033"/>
          </a:solidFill>
          <a:latin typeface="+mn-lt"/>
          <a:ea typeface="+mn-ea"/>
          <a:cs typeface="+mn-cs"/>
        </a:defRPr>
      </a:lvl1pPr>
      <a:lvl2pPr marL="114300" indent="342900" algn="l" rtl="0" eaLnBrk="0" fontAlgn="base" hangingPunct="0">
        <a:spcBef>
          <a:spcPct val="20000"/>
        </a:spcBef>
        <a:spcAft>
          <a:spcPct val="50000"/>
        </a:spcAft>
        <a:buClr>
          <a:srgbClr val="FF0000"/>
        </a:buClr>
        <a:buFont typeface="Wingdings" pitchFamily="2" charset="2"/>
        <a:defRPr sz="2400">
          <a:solidFill>
            <a:schemeClr val="tx1"/>
          </a:solidFill>
          <a:latin typeface="+mn-lt"/>
        </a:defRPr>
      </a:lvl2pPr>
      <a:lvl3pPr marL="347663" indent="566738" algn="l" rtl="0" eaLnBrk="0" fontAlgn="base" hangingPunct="0">
        <a:spcBef>
          <a:spcPct val="20000"/>
        </a:spcBef>
        <a:spcAft>
          <a:spcPct val="50000"/>
        </a:spcAft>
        <a:buChar char="•"/>
        <a:defRPr sz="2000">
          <a:solidFill>
            <a:schemeClr val="tx1"/>
          </a:solidFill>
          <a:latin typeface="+mn-lt"/>
        </a:defRPr>
      </a:lvl3pPr>
      <a:lvl4pPr marL="571500" indent="800100" algn="l" rtl="0" eaLnBrk="0" fontAlgn="base" hangingPunct="0">
        <a:spcBef>
          <a:spcPct val="20000"/>
        </a:spcBef>
        <a:spcAft>
          <a:spcPct val="0"/>
        </a:spcAft>
        <a:buChar char="–"/>
        <a:defRPr sz="2000">
          <a:solidFill>
            <a:schemeClr val="tx1"/>
          </a:solidFill>
          <a:latin typeface="Gill Sans MT" pitchFamily="34" charset="0"/>
        </a:defRPr>
      </a:lvl4pPr>
      <a:lvl5pPr marL="742950" indent="1085850" algn="l" rtl="0" eaLnBrk="0" fontAlgn="base" hangingPunct="0">
        <a:spcBef>
          <a:spcPct val="20000"/>
        </a:spcBef>
        <a:spcAft>
          <a:spcPct val="0"/>
        </a:spcAft>
        <a:buChar char="»"/>
        <a:defRPr sz="2000">
          <a:solidFill>
            <a:schemeClr val="tx1"/>
          </a:solidFill>
          <a:latin typeface="Gill Sans MT" pitchFamily="34" charset="0"/>
        </a:defRPr>
      </a:lvl5pPr>
      <a:lvl6pPr marL="1200150" algn="l" rtl="0" fontAlgn="base">
        <a:spcBef>
          <a:spcPct val="20000"/>
        </a:spcBef>
        <a:spcAft>
          <a:spcPct val="0"/>
        </a:spcAft>
        <a:buChar char="»"/>
        <a:defRPr sz="2000">
          <a:solidFill>
            <a:schemeClr val="tx1"/>
          </a:solidFill>
          <a:latin typeface="Gill Sans MT" pitchFamily="34" charset="0"/>
        </a:defRPr>
      </a:lvl6pPr>
      <a:lvl7pPr marL="1657350" algn="l" rtl="0" fontAlgn="base">
        <a:spcBef>
          <a:spcPct val="20000"/>
        </a:spcBef>
        <a:spcAft>
          <a:spcPct val="0"/>
        </a:spcAft>
        <a:buChar char="»"/>
        <a:defRPr sz="2000">
          <a:solidFill>
            <a:schemeClr val="tx1"/>
          </a:solidFill>
          <a:latin typeface="Gill Sans MT" pitchFamily="34" charset="0"/>
        </a:defRPr>
      </a:lvl7pPr>
      <a:lvl8pPr marL="2114550" algn="l" rtl="0" fontAlgn="base">
        <a:spcBef>
          <a:spcPct val="20000"/>
        </a:spcBef>
        <a:spcAft>
          <a:spcPct val="0"/>
        </a:spcAft>
        <a:buChar char="»"/>
        <a:defRPr sz="2000">
          <a:solidFill>
            <a:schemeClr val="tx1"/>
          </a:solidFill>
          <a:latin typeface="Gill Sans MT" pitchFamily="34" charset="0"/>
        </a:defRPr>
      </a:lvl8pPr>
      <a:lvl9pPr marL="2571750" algn="l" rtl="0" fontAlgn="base">
        <a:spcBef>
          <a:spcPct val="20000"/>
        </a:spcBef>
        <a:spcAft>
          <a:spcPct val="0"/>
        </a:spcAft>
        <a:buChar char="»"/>
        <a:defRPr sz="2000">
          <a:solidFill>
            <a:schemeClr val="tx1"/>
          </a:solidFill>
          <a:latin typeface="Gill Sans MT"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90" r:id="rId1"/>
    <p:sldLayoutId id="2147483792" r:id="rId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Text Box 6">
            <a:extLst>
              <a:ext uri="{FF2B5EF4-FFF2-40B4-BE49-F238E27FC236}">
                <a16:creationId xmlns:a16="http://schemas.microsoft.com/office/drawing/2014/main" id="{B382F603-475F-EB77-9B46-555CBA1A13ED}"/>
              </a:ext>
            </a:extLst>
          </p:cNvPr>
          <p:cNvSpPr txBox="1">
            <a:spLocks noChangeArrowheads="1"/>
          </p:cNvSpPr>
          <p:nvPr userDrawn="1"/>
        </p:nvSpPr>
        <p:spPr bwMode="auto">
          <a:xfrm>
            <a:off x="431800" y="6643688"/>
            <a:ext cx="169227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defRPr/>
            </a:pPr>
            <a:r>
              <a:rPr lang="en-US" sz="800" dirty="0">
                <a:solidFill>
                  <a:srgbClr val="000000"/>
                </a:solidFill>
              </a:rPr>
              <a:t>© 2012 Pearson Addison-Wesley</a:t>
            </a:r>
          </a:p>
        </p:txBody>
      </p:sp>
    </p:spTree>
  </p:cSld>
  <p:clrMap bg1="lt1" tx1="dk1" bg2="lt2" tx2="dk2" accent1="accent1" accent2="accent2" accent3="accent3" accent4="accent4" accent5="accent5" accent6="accent6" hlink="hlink" folHlink="folHlink"/>
  <p:sldLayoutIdLst>
    <p:sldLayoutId id="2147483791" r:id="rId1"/>
  </p:sldLayoutIdLst>
  <p:txStyles>
    <p:titleStyle>
      <a:lvl1pPr algn="l" rtl="0" eaLnBrk="0" fontAlgn="base" hangingPunct="0">
        <a:spcBef>
          <a:spcPct val="0"/>
        </a:spcBef>
        <a:spcAft>
          <a:spcPct val="0"/>
        </a:spcAft>
        <a:defRPr sz="2400" b="1">
          <a:solidFill>
            <a:srgbClr val="600033"/>
          </a:solidFill>
          <a:latin typeface="+mj-lt"/>
          <a:ea typeface="+mj-ea"/>
          <a:cs typeface="+mj-cs"/>
        </a:defRPr>
      </a:lvl1pPr>
      <a:lvl2pPr algn="l" rtl="0" eaLnBrk="0" fontAlgn="base" hangingPunct="0">
        <a:spcBef>
          <a:spcPct val="0"/>
        </a:spcBef>
        <a:spcAft>
          <a:spcPct val="0"/>
        </a:spcAft>
        <a:defRPr sz="2400" b="1">
          <a:solidFill>
            <a:srgbClr val="600033"/>
          </a:solidFill>
          <a:latin typeface="Arial" charset="0"/>
        </a:defRPr>
      </a:lvl2pPr>
      <a:lvl3pPr algn="l" rtl="0" eaLnBrk="0" fontAlgn="base" hangingPunct="0">
        <a:spcBef>
          <a:spcPct val="0"/>
        </a:spcBef>
        <a:spcAft>
          <a:spcPct val="0"/>
        </a:spcAft>
        <a:defRPr sz="2400" b="1">
          <a:solidFill>
            <a:srgbClr val="600033"/>
          </a:solidFill>
          <a:latin typeface="Arial" charset="0"/>
        </a:defRPr>
      </a:lvl3pPr>
      <a:lvl4pPr algn="l" rtl="0" eaLnBrk="0" fontAlgn="base" hangingPunct="0">
        <a:spcBef>
          <a:spcPct val="0"/>
        </a:spcBef>
        <a:spcAft>
          <a:spcPct val="0"/>
        </a:spcAft>
        <a:defRPr sz="2400" b="1">
          <a:solidFill>
            <a:srgbClr val="600033"/>
          </a:solidFill>
          <a:latin typeface="Arial" charset="0"/>
        </a:defRPr>
      </a:lvl4pPr>
      <a:lvl5pPr algn="l" rtl="0" eaLnBrk="0" fontAlgn="base" hangingPunct="0">
        <a:spcBef>
          <a:spcPct val="0"/>
        </a:spcBef>
        <a:spcAft>
          <a:spcPct val="0"/>
        </a:spcAft>
        <a:defRPr sz="2400" b="1">
          <a:solidFill>
            <a:srgbClr val="600033"/>
          </a:solidFill>
          <a:latin typeface="Arial" charset="0"/>
        </a:defRPr>
      </a:lvl5pPr>
      <a:lvl6pPr marL="457200" algn="l" rtl="0" fontAlgn="base">
        <a:spcBef>
          <a:spcPct val="0"/>
        </a:spcBef>
        <a:spcAft>
          <a:spcPct val="0"/>
        </a:spcAft>
        <a:defRPr sz="2400" b="1">
          <a:solidFill>
            <a:srgbClr val="600033"/>
          </a:solidFill>
          <a:latin typeface="Arial" charset="0"/>
        </a:defRPr>
      </a:lvl6pPr>
      <a:lvl7pPr marL="914400" algn="l" rtl="0" fontAlgn="base">
        <a:spcBef>
          <a:spcPct val="0"/>
        </a:spcBef>
        <a:spcAft>
          <a:spcPct val="0"/>
        </a:spcAft>
        <a:defRPr sz="2400" b="1">
          <a:solidFill>
            <a:srgbClr val="600033"/>
          </a:solidFill>
          <a:latin typeface="Arial" charset="0"/>
        </a:defRPr>
      </a:lvl7pPr>
      <a:lvl8pPr marL="1371600" algn="l" rtl="0" fontAlgn="base">
        <a:spcBef>
          <a:spcPct val="0"/>
        </a:spcBef>
        <a:spcAft>
          <a:spcPct val="0"/>
        </a:spcAft>
        <a:defRPr sz="2400" b="1">
          <a:solidFill>
            <a:srgbClr val="600033"/>
          </a:solidFill>
          <a:latin typeface="Arial" charset="0"/>
        </a:defRPr>
      </a:lvl8pPr>
      <a:lvl9pPr marL="1828800" algn="l" rtl="0" fontAlgn="base">
        <a:spcBef>
          <a:spcPct val="0"/>
        </a:spcBef>
        <a:spcAft>
          <a:spcPct val="0"/>
        </a:spcAft>
        <a:defRPr sz="2400" b="1">
          <a:solidFill>
            <a:srgbClr val="600033"/>
          </a:solidFill>
          <a:latin typeface="Arial" charset="0"/>
        </a:defRPr>
      </a:lvl9pPr>
    </p:titleStyle>
    <p:bodyStyle>
      <a:lvl1pPr marL="342900" indent="-342900" algn="l" rtl="0" eaLnBrk="0" fontAlgn="base" hangingPunct="0">
        <a:spcBef>
          <a:spcPct val="20000"/>
        </a:spcBef>
        <a:spcAft>
          <a:spcPct val="0"/>
        </a:spcAft>
        <a:defRPr sz="2400" b="1">
          <a:solidFill>
            <a:srgbClr val="600033"/>
          </a:solidFill>
          <a:latin typeface="+mn-lt"/>
          <a:ea typeface="+mn-ea"/>
          <a:cs typeface="+mn-cs"/>
        </a:defRPr>
      </a:lvl1pPr>
      <a:lvl2pPr marL="828675" indent="-285750" algn="l" rtl="0" eaLnBrk="0" fontAlgn="base" hangingPunct="0">
        <a:spcBef>
          <a:spcPct val="20000"/>
        </a:spcBef>
        <a:spcAft>
          <a:spcPct val="0"/>
        </a:spcAft>
        <a:buChar char="–"/>
        <a:defRPr sz="2800">
          <a:solidFill>
            <a:schemeClr val="tx1"/>
          </a:solidFill>
          <a:latin typeface="+mn-lt"/>
        </a:defRPr>
      </a:lvl2pPr>
      <a:lvl3pPr marL="1236663" indent="-228600" algn="l" rtl="0" eaLnBrk="0" fontAlgn="base" hangingPunct="0">
        <a:spcBef>
          <a:spcPct val="20000"/>
        </a:spcBef>
        <a:spcAft>
          <a:spcPct val="0"/>
        </a:spcAft>
        <a:buClr>
          <a:srgbClr val="FF4C0B"/>
        </a:buClr>
        <a:buFont typeface="Webdings" pitchFamily="2" charset="2"/>
        <a:buChar char="4"/>
        <a:defRPr sz="2400">
          <a:solidFill>
            <a:schemeClr val="tx1"/>
          </a:solidFill>
          <a:latin typeface="+mn-lt"/>
        </a:defRPr>
      </a:lvl3pPr>
      <a:lvl4pPr marL="164465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5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9.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2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2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4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29.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0.gi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1.gi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2.gi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3.gi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5.gi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6.gif"/><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7.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p:cNvSpPr txBox="1">
            <a:spLocks/>
          </p:cNvSpPr>
          <p:nvPr/>
        </p:nvSpPr>
        <p:spPr bwMode="auto">
          <a:xfrm>
            <a:off x="4859412" y="3502025"/>
            <a:ext cx="396106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l" defTabSz="914400" rtl="0" eaLnBrk="0" fontAlgn="base" latinLnBrk="0" hangingPunct="0">
              <a:lnSpc>
                <a:spcPct val="100000"/>
              </a:lnSpc>
              <a:spcBef>
                <a:spcPts val="1200"/>
              </a:spcBef>
              <a:spcAft>
                <a:spcPct val="0"/>
              </a:spcAft>
              <a:buClrTx/>
              <a:buSzTx/>
              <a:buFontTx/>
              <a:buNone/>
              <a:tabLst/>
              <a:defRPr/>
            </a:pPr>
            <a:r>
              <a:rPr kumimoji="0" lang="en-US" sz="3000" b="0" i="0" u="none" strike="noStrike" kern="0" cap="none" spc="0" normalizeH="0" baseline="0" noProof="0" dirty="0">
                <a:ln>
                  <a:noFill/>
                </a:ln>
                <a:solidFill>
                  <a:srgbClr val="000000"/>
                </a:solidFill>
                <a:effectLst/>
                <a:uLnTx/>
                <a:uFillTx/>
                <a:latin typeface="Arial"/>
                <a:ea typeface="+mn-ea"/>
                <a:cs typeface="+mn-cs"/>
              </a:rPr>
              <a:t>Chapter 20</a:t>
            </a:r>
          </a:p>
          <a:p>
            <a:pPr marL="0" lvl="0" indent="0">
              <a:spcBef>
                <a:spcPts val="1200"/>
              </a:spcBef>
              <a:buNone/>
              <a:defRPr/>
            </a:pPr>
            <a:r>
              <a:rPr lang="en-US" sz="2200" kern="0" dirty="0">
                <a:solidFill>
                  <a:srgbClr val="000000"/>
                </a:solidFill>
              </a:rPr>
              <a:t>Measuring GDP and economic growth</a:t>
            </a:r>
            <a:endParaRPr kumimoji="0" lang="en-US" sz="2200" b="0" i="0" u="none" strike="noStrike" kern="0" cap="none" spc="0" normalizeH="0" baseline="0" noProof="0" dirty="0">
              <a:ln>
                <a:noFill/>
              </a:ln>
              <a:solidFill>
                <a:srgbClr val="000000"/>
              </a:solidFill>
              <a:effectLst/>
              <a:uLnTx/>
              <a:uFillTx/>
              <a:latin typeface="Arial"/>
              <a:ea typeface="+mn-ea"/>
              <a:cs typeface="+mn-cs"/>
            </a:endParaRPr>
          </a:p>
        </p:txBody>
      </p:sp>
      <p:sp>
        <p:nvSpPr>
          <p:cNvPr id="5" name="Title 1"/>
          <p:cNvSpPr txBox="1">
            <a:spLocks/>
          </p:cNvSpPr>
          <p:nvPr/>
        </p:nvSpPr>
        <p:spPr>
          <a:xfrm>
            <a:off x="407988" y="238125"/>
            <a:ext cx="8051800" cy="1531938"/>
          </a:xfrm>
          <a:prstGeom prst="rect">
            <a:avLst/>
          </a:prstGeom>
        </p:spPr>
        <p:txBody>
          <a:bodyPr/>
          <a:lstStyle>
            <a:lvl1pPr algn="ctr" rtl="0" eaLnBrk="0" fontAlgn="base" hangingPunct="0">
              <a:spcBef>
                <a:spcPct val="0"/>
              </a:spcBef>
              <a:spcAft>
                <a:spcPct val="0"/>
              </a:spcAft>
              <a:defRPr sz="3600" b="1">
                <a:solidFill>
                  <a:srgbClr val="007FA3"/>
                </a:solidFill>
                <a:latin typeface="+mj-lt"/>
                <a:ea typeface="+mj-ea"/>
                <a:cs typeface="+mj-cs"/>
              </a:defRPr>
            </a:lvl1pPr>
            <a:lvl2pPr algn="ctr" rtl="0" eaLnBrk="0" fontAlgn="base" hangingPunct="0">
              <a:spcBef>
                <a:spcPct val="0"/>
              </a:spcBef>
              <a:spcAft>
                <a:spcPct val="0"/>
              </a:spcAft>
              <a:defRPr sz="3600" b="1">
                <a:solidFill>
                  <a:srgbClr val="007FA3"/>
                </a:solidFill>
                <a:latin typeface="Arial" pitchFamily="34" charset="0"/>
              </a:defRPr>
            </a:lvl2pPr>
            <a:lvl3pPr algn="ctr" rtl="0" eaLnBrk="0" fontAlgn="base" hangingPunct="0">
              <a:spcBef>
                <a:spcPct val="0"/>
              </a:spcBef>
              <a:spcAft>
                <a:spcPct val="0"/>
              </a:spcAft>
              <a:defRPr sz="3600" b="1">
                <a:solidFill>
                  <a:srgbClr val="007FA3"/>
                </a:solidFill>
                <a:latin typeface="Arial" pitchFamily="34" charset="0"/>
              </a:defRPr>
            </a:lvl3pPr>
            <a:lvl4pPr algn="ctr" rtl="0" eaLnBrk="0" fontAlgn="base" hangingPunct="0">
              <a:spcBef>
                <a:spcPct val="0"/>
              </a:spcBef>
              <a:spcAft>
                <a:spcPct val="0"/>
              </a:spcAft>
              <a:defRPr sz="3600" b="1">
                <a:solidFill>
                  <a:srgbClr val="007FA3"/>
                </a:solidFill>
                <a:latin typeface="Arial" pitchFamily="34" charset="0"/>
              </a:defRPr>
            </a:lvl4pPr>
            <a:lvl5pPr algn="ctr" rtl="0" eaLnBrk="0" fontAlgn="base" hangingPunct="0">
              <a:spcBef>
                <a:spcPct val="0"/>
              </a:spcBef>
              <a:spcAft>
                <a:spcPct val="0"/>
              </a:spcAft>
              <a:defRPr sz="3600" b="1">
                <a:solidFill>
                  <a:srgbClr val="007FA3"/>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lvl="0" algn="l">
              <a:spcBef>
                <a:spcPts val="600"/>
              </a:spcBef>
              <a:defRPr/>
            </a:pPr>
            <a:r>
              <a:rPr lang="en-US" kern="0" dirty="0"/>
              <a:t>Economics</a:t>
            </a:r>
          </a:p>
          <a:p>
            <a:pPr lvl="0" algn="l">
              <a:spcBef>
                <a:spcPts val="600"/>
              </a:spcBef>
              <a:defRPr/>
            </a:pPr>
            <a:r>
              <a:rPr kumimoji="0" lang="en-US" sz="2400" b="0" i="0" u="none" strike="noStrike" kern="0" cap="none" spc="0" normalizeH="0" baseline="0" noProof="0" dirty="0">
                <a:ln>
                  <a:noFill/>
                </a:ln>
                <a:solidFill>
                  <a:srgbClr val="007FA3"/>
                </a:solidFill>
                <a:effectLst/>
                <a:uLnTx/>
                <a:uFillTx/>
                <a:latin typeface="Arial"/>
                <a:ea typeface="+mj-ea"/>
                <a:cs typeface="+mj-cs"/>
              </a:rPr>
              <a:t>Eleventh European Edition</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551" y="1312948"/>
            <a:ext cx="3600401" cy="4922808"/>
          </a:xfrm>
          <a:prstGeom prst="rect">
            <a:avLst/>
          </a:prstGeom>
          <a:noFill/>
          <a:effectLst>
            <a:outerShdw blurRad="50800" dist="38100" dir="2700000" algn="tl" rotWithShape="0">
              <a:prstClr val="black">
                <a:alpha val="40000"/>
              </a:prstClr>
            </a:outerShdw>
          </a:effectLst>
        </p:spPr>
      </p:pic>
      <p:sp>
        <p:nvSpPr>
          <p:cNvPr id="8" name="Text Placeholder 4"/>
          <p:cNvSpPr txBox="1">
            <a:spLocks/>
          </p:cNvSpPr>
          <p:nvPr/>
        </p:nvSpPr>
        <p:spPr bwMode="auto">
          <a:xfrm>
            <a:off x="4859412" y="1962150"/>
            <a:ext cx="3889301"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l" defTabSz="914400" rtl="0" eaLnBrk="0" fontAlgn="base" latinLnBrk="0" hangingPunct="0">
              <a:lnSpc>
                <a:spcPct val="100000"/>
              </a:lnSpc>
              <a:spcBef>
                <a:spcPts val="1200"/>
              </a:spcBef>
              <a:spcAft>
                <a:spcPct val="0"/>
              </a:spcAft>
              <a:buClrTx/>
              <a:buSzTx/>
              <a:buFontTx/>
              <a:buNone/>
              <a:tabLst/>
              <a:defRPr/>
            </a:pPr>
            <a:r>
              <a:rPr kumimoji="0" lang="en-US" sz="3000" b="0" i="0" u="none" strike="noStrike" kern="0" cap="none" spc="0" normalizeH="0" baseline="0" noProof="0" dirty="0">
                <a:ln>
                  <a:noFill/>
                </a:ln>
                <a:solidFill>
                  <a:srgbClr val="000000"/>
                </a:solidFill>
                <a:effectLst/>
                <a:uLnTx/>
                <a:uFillTx/>
                <a:latin typeface="Arial"/>
                <a:ea typeface="+mn-ea"/>
                <a:cs typeface="+mn-cs"/>
              </a:rPr>
              <a:t>Part </a:t>
            </a:r>
            <a:r>
              <a:rPr lang="en-US" sz="3000" kern="0" dirty="0">
                <a:solidFill>
                  <a:srgbClr val="000000"/>
                </a:solidFill>
                <a:latin typeface="Arial"/>
              </a:rPr>
              <a:t>6</a:t>
            </a:r>
            <a:endParaRPr kumimoji="0" lang="en-US" sz="3000" b="0" i="0" u="none" strike="noStrike" kern="0" cap="none" spc="0" normalizeH="0" baseline="0" noProof="0" dirty="0">
              <a:ln>
                <a:noFill/>
              </a:ln>
              <a:solidFill>
                <a:srgbClr val="000000"/>
              </a:solidFill>
              <a:effectLst/>
              <a:uLnTx/>
              <a:uFillTx/>
              <a:latin typeface="Arial"/>
              <a:ea typeface="+mn-ea"/>
              <a:cs typeface="+mn-cs"/>
            </a:endParaRPr>
          </a:p>
          <a:p>
            <a:pPr marL="0" lvl="0" indent="0">
              <a:spcBef>
                <a:spcPts val="1200"/>
              </a:spcBef>
              <a:buNone/>
              <a:defRPr/>
            </a:pPr>
            <a:r>
              <a:rPr lang="en-US" sz="2200" kern="0" dirty="0">
                <a:solidFill>
                  <a:srgbClr val="000000"/>
                </a:solidFill>
              </a:rPr>
              <a:t>Monitoring macroeconomic performance</a:t>
            </a:r>
            <a:endParaRPr kumimoji="0" lang="en-US" sz="2200" b="0" i="0" u="none" strike="noStrike" kern="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607155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11" descr="ch21photo.jpg">
            <a:extLst>
              <a:ext uri="{FF2B5EF4-FFF2-40B4-BE49-F238E27FC236}">
                <a16:creationId xmlns:a16="http://schemas.microsoft.com/office/drawing/2014/main" id="{403E3151-00A7-450C-0D51-BF1F23AD34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588"/>
            <a:ext cx="9144000" cy="685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5" name="Picture 7" descr="a.gif">
            <a:extLst>
              <a:ext uri="{FF2B5EF4-FFF2-40B4-BE49-F238E27FC236}">
                <a16:creationId xmlns:a16="http://schemas.microsoft.com/office/drawing/2014/main" id="{DCD47D09-32A1-9A1C-0DD2-2F8A8831992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81475" y="2819400"/>
            <a:ext cx="4962525"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b.gif">
            <a:extLst>
              <a:ext uri="{FF2B5EF4-FFF2-40B4-BE49-F238E27FC236}">
                <a16:creationId xmlns:a16="http://schemas.microsoft.com/office/drawing/2014/main" id="{16DE9CF4-8311-C769-2E29-058144BC9FB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181475" y="2819400"/>
            <a:ext cx="4962525"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gif">
            <a:extLst>
              <a:ext uri="{FF2B5EF4-FFF2-40B4-BE49-F238E27FC236}">
                <a16:creationId xmlns:a16="http://schemas.microsoft.com/office/drawing/2014/main" id="{96F6D7AB-E098-4757-447F-309F230E31E9}"/>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181475" y="2819400"/>
            <a:ext cx="4962525"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d.gif">
            <a:extLst>
              <a:ext uri="{FF2B5EF4-FFF2-40B4-BE49-F238E27FC236}">
                <a16:creationId xmlns:a16="http://schemas.microsoft.com/office/drawing/2014/main" id="{BDE78E20-F95E-DBC6-9C34-FB2E03D266D0}"/>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181475" y="2819400"/>
            <a:ext cx="4962525"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10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2C176BEB-61FC-EFFC-2701-A19E62D724BF}"/>
              </a:ext>
            </a:extLst>
          </p:cNvPr>
          <p:cNvSpPr>
            <a:spLocks noGrp="1" noChangeArrowheads="1"/>
          </p:cNvSpPr>
          <p:nvPr>
            <p:ph type="title"/>
          </p:nvPr>
        </p:nvSpPr>
        <p:spPr>
          <a:xfrm>
            <a:off x="990600" y="304800"/>
            <a:ext cx="7696200" cy="1143000"/>
          </a:xfrm>
        </p:spPr>
        <p:txBody>
          <a:bodyPr/>
          <a:lstStyle/>
          <a:p>
            <a:pPr eaLnBrk="1" hangingPunct="1"/>
            <a:r>
              <a:rPr lang="en-US" altLang="zh-TW">
                <a:ea typeface="新細明體" panose="02020500000000000000" pitchFamily="18" charset="-120"/>
              </a:rPr>
              <a:t>Gross Domestic Product </a:t>
            </a:r>
          </a:p>
        </p:txBody>
      </p:sp>
      <p:sp>
        <p:nvSpPr>
          <p:cNvPr id="204803" name="Rectangle 3">
            <a:extLst>
              <a:ext uri="{FF2B5EF4-FFF2-40B4-BE49-F238E27FC236}">
                <a16:creationId xmlns:a16="http://schemas.microsoft.com/office/drawing/2014/main" id="{766CB26D-84F4-C2C4-40C9-38E2D6403117}"/>
              </a:ext>
            </a:extLst>
          </p:cNvPr>
          <p:cNvSpPr>
            <a:spLocks noGrp="1" noChangeArrowheads="1"/>
          </p:cNvSpPr>
          <p:nvPr>
            <p:ph type="body" idx="1"/>
          </p:nvPr>
        </p:nvSpPr>
        <p:spPr>
          <a:xfrm>
            <a:off x="457200" y="1646238"/>
            <a:ext cx="8229600" cy="4906962"/>
          </a:xfrm>
        </p:spPr>
        <p:txBody>
          <a:bodyPr/>
          <a:lstStyle/>
          <a:p>
            <a:pPr marL="0" indent="0" eaLnBrk="1" hangingPunct="1">
              <a:defRPr/>
            </a:pPr>
            <a:r>
              <a:rPr lang="en-US" dirty="0"/>
              <a:t>GDP Defined</a:t>
            </a:r>
          </a:p>
          <a:p>
            <a:pPr lvl="1" indent="0" eaLnBrk="1" hangingPunct="1">
              <a:defRPr/>
            </a:pPr>
            <a:r>
              <a:rPr lang="en-US" b="1" dirty="0"/>
              <a:t>GDP</a:t>
            </a:r>
            <a:r>
              <a:rPr lang="en-US" dirty="0"/>
              <a:t> or </a:t>
            </a:r>
            <a:r>
              <a:rPr lang="en-US" b="1" dirty="0"/>
              <a:t>gross domestic product</a:t>
            </a:r>
            <a:r>
              <a:rPr lang="en-US" dirty="0"/>
              <a:t> is the market value of all final goods and services produced in a country in a given time period.</a:t>
            </a:r>
          </a:p>
          <a:p>
            <a:pPr lvl="1" indent="0" eaLnBrk="1" hangingPunct="1">
              <a:defRPr/>
            </a:pPr>
            <a:r>
              <a:rPr lang="en-US" dirty="0"/>
              <a:t>This definition has four parts:</a:t>
            </a:r>
          </a:p>
          <a:p>
            <a:pPr marL="457200" lvl="1" indent="-342900" eaLnBrk="1" hangingPunct="1">
              <a:buClr>
                <a:srgbClr val="C40075"/>
              </a:buClr>
              <a:buSzPct val="120000"/>
              <a:buFont typeface="Wingdings" pitchFamily="2" charset="2"/>
              <a:buChar char="§"/>
              <a:defRPr/>
            </a:pPr>
            <a:r>
              <a:rPr lang="en-US" dirty="0"/>
              <a:t>Market value</a:t>
            </a:r>
          </a:p>
          <a:p>
            <a:pPr marL="457200" lvl="1" indent="-342900" eaLnBrk="1" hangingPunct="1">
              <a:spcBef>
                <a:spcPct val="5000"/>
              </a:spcBef>
              <a:buClr>
                <a:srgbClr val="C40075"/>
              </a:buClr>
              <a:buSzPct val="120000"/>
              <a:buFont typeface="Wingdings" pitchFamily="2" charset="2"/>
              <a:buChar char="§"/>
              <a:defRPr/>
            </a:pPr>
            <a:r>
              <a:rPr lang="en-US" dirty="0"/>
              <a:t>Final goods and services</a:t>
            </a:r>
          </a:p>
          <a:p>
            <a:pPr marL="457200" lvl="1" indent="-342900" eaLnBrk="1" hangingPunct="1">
              <a:spcBef>
                <a:spcPct val="5000"/>
              </a:spcBef>
              <a:buClr>
                <a:srgbClr val="C40075"/>
              </a:buClr>
              <a:buSzPct val="120000"/>
              <a:buFont typeface="Wingdings" pitchFamily="2" charset="2"/>
              <a:buChar char="§"/>
              <a:defRPr/>
            </a:pPr>
            <a:r>
              <a:rPr lang="en-US" dirty="0"/>
              <a:t>Produced within a country</a:t>
            </a:r>
          </a:p>
          <a:p>
            <a:pPr marL="457200" lvl="1" indent="-342900" eaLnBrk="1" hangingPunct="1">
              <a:spcBef>
                <a:spcPct val="5000"/>
              </a:spcBef>
              <a:buClr>
                <a:srgbClr val="C40075"/>
              </a:buClr>
              <a:buSzPct val="120000"/>
              <a:buFont typeface="Wingdings" pitchFamily="2" charset="2"/>
              <a:buChar char="§"/>
              <a:defRPr/>
            </a:pPr>
            <a:r>
              <a:rPr lang="en-US" dirty="0"/>
              <a:t>In a given time period</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03">
                                            <p:txEl>
                                              <p:pRg st="1" end="1"/>
                                            </p:txEl>
                                          </p:spTgt>
                                        </p:tgtEl>
                                        <p:attrNameLst>
                                          <p:attrName>style.visibility</p:attrName>
                                        </p:attrNameLst>
                                      </p:cBhvr>
                                      <p:to>
                                        <p:strVal val="visible"/>
                                      </p:to>
                                    </p:set>
                                    <p:animEffect transition="in" filter="wipe(left)">
                                      <p:cBhvr>
                                        <p:cTn id="7" dur="1000"/>
                                        <p:tgtEl>
                                          <p:spTgt spid="20480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03">
                                            <p:txEl>
                                              <p:pRg st="2" end="2"/>
                                            </p:txEl>
                                          </p:spTgt>
                                        </p:tgtEl>
                                        <p:attrNameLst>
                                          <p:attrName>style.visibility</p:attrName>
                                        </p:attrNameLst>
                                      </p:cBhvr>
                                      <p:to>
                                        <p:strVal val="visible"/>
                                      </p:to>
                                    </p:set>
                                    <p:animEffect transition="in" filter="wipe(left)">
                                      <p:cBhvr>
                                        <p:cTn id="12" dur="1000"/>
                                        <p:tgtEl>
                                          <p:spTgt spid="20480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03">
                                            <p:txEl>
                                              <p:pRg st="3" end="3"/>
                                            </p:txEl>
                                          </p:spTgt>
                                        </p:tgtEl>
                                        <p:attrNameLst>
                                          <p:attrName>style.visibility</p:attrName>
                                        </p:attrNameLst>
                                      </p:cBhvr>
                                      <p:to>
                                        <p:strVal val="visible"/>
                                      </p:to>
                                    </p:set>
                                    <p:animEffect transition="in" filter="wipe(left)">
                                      <p:cBhvr>
                                        <p:cTn id="17" dur="1000"/>
                                        <p:tgtEl>
                                          <p:spTgt spid="20480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03">
                                            <p:txEl>
                                              <p:pRg st="4" end="4"/>
                                            </p:txEl>
                                          </p:spTgt>
                                        </p:tgtEl>
                                        <p:attrNameLst>
                                          <p:attrName>style.visibility</p:attrName>
                                        </p:attrNameLst>
                                      </p:cBhvr>
                                      <p:to>
                                        <p:strVal val="visible"/>
                                      </p:to>
                                    </p:set>
                                    <p:animEffect transition="in" filter="wipe(left)">
                                      <p:cBhvr>
                                        <p:cTn id="22" dur="1000"/>
                                        <p:tgtEl>
                                          <p:spTgt spid="20480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4803">
                                            <p:txEl>
                                              <p:pRg st="5" end="5"/>
                                            </p:txEl>
                                          </p:spTgt>
                                        </p:tgtEl>
                                        <p:attrNameLst>
                                          <p:attrName>style.visibility</p:attrName>
                                        </p:attrNameLst>
                                      </p:cBhvr>
                                      <p:to>
                                        <p:strVal val="visible"/>
                                      </p:to>
                                    </p:set>
                                    <p:animEffect transition="in" filter="wipe(left)">
                                      <p:cBhvr>
                                        <p:cTn id="27" dur="1000"/>
                                        <p:tgtEl>
                                          <p:spTgt spid="20480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4803">
                                            <p:txEl>
                                              <p:pRg st="6" end="6"/>
                                            </p:txEl>
                                          </p:spTgt>
                                        </p:tgtEl>
                                        <p:attrNameLst>
                                          <p:attrName>style.visibility</p:attrName>
                                        </p:attrNameLst>
                                      </p:cBhvr>
                                      <p:to>
                                        <p:strVal val="visible"/>
                                      </p:to>
                                    </p:set>
                                    <p:animEffect transition="in" filter="wipe(left)">
                                      <p:cBhvr>
                                        <p:cTn id="32" dur="1000"/>
                                        <p:tgtEl>
                                          <p:spTgt spid="20480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3" grpId="0" build="p" bldLvl="3"/>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99" name="Rectangle 3">
            <a:extLst>
              <a:ext uri="{FF2B5EF4-FFF2-40B4-BE49-F238E27FC236}">
                <a16:creationId xmlns:a16="http://schemas.microsoft.com/office/drawing/2014/main" id="{25392FAD-A355-747C-9DEA-171711247676}"/>
              </a:ext>
            </a:extLst>
          </p:cNvPr>
          <p:cNvSpPr>
            <a:spLocks noGrp="1" noChangeArrowheads="1"/>
          </p:cNvSpPr>
          <p:nvPr>
            <p:ph type="body" idx="1"/>
          </p:nvPr>
        </p:nvSpPr>
        <p:spPr>
          <a:xfrm>
            <a:off x="457200" y="1676400"/>
            <a:ext cx="8229600" cy="4144963"/>
          </a:xfrm>
        </p:spPr>
        <p:txBody>
          <a:bodyPr/>
          <a:lstStyle/>
          <a:p>
            <a:pPr lvl="1" indent="0" eaLnBrk="1" hangingPunct="1"/>
            <a:r>
              <a:rPr lang="en-US" altLang="zh-TW" b="1">
                <a:solidFill>
                  <a:srgbClr val="C40075"/>
                </a:solidFill>
                <a:ea typeface="新細明體" panose="02020500000000000000" pitchFamily="18" charset="-120"/>
              </a:rPr>
              <a:t>Market Value</a:t>
            </a:r>
          </a:p>
          <a:p>
            <a:pPr lvl="1" indent="0" eaLnBrk="1" hangingPunct="1"/>
            <a:r>
              <a:rPr lang="en-US" altLang="zh-TW">
                <a:ea typeface="新細明體" panose="02020500000000000000" pitchFamily="18" charset="-120"/>
              </a:rPr>
              <a:t>GDP is a market value—goods and services are valued at their market prices. </a:t>
            </a:r>
          </a:p>
          <a:p>
            <a:pPr lvl="1" indent="0" eaLnBrk="1" hangingPunct="1"/>
            <a:r>
              <a:rPr lang="en-US" altLang="zh-TW">
                <a:ea typeface="新細明體" panose="02020500000000000000" pitchFamily="18" charset="-120"/>
              </a:rPr>
              <a:t>To add apples and oranges, computers and popcorn, we add the market values so we have a total value of output in dollars.</a:t>
            </a:r>
          </a:p>
        </p:txBody>
      </p:sp>
      <p:sp>
        <p:nvSpPr>
          <p:cNvPr id="17411" name="Rectangle 5">
            <a:extLst>
              <a:ext uri="{FF2B5EF4-FFF2-40B4-BE49-F238E27FC236}">
                <a16:creationId xmlns:a16="http://schemas.microsoft.com/office/drawing/2014/main" id="{C153C0D2-BC1D-843F-5FBF-BE64148C2E1B}"/>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8899">
                                            <p:txEl>
                                              <p:pRg st="1" end="1"/>
                                            </p:txEl>
                                          </p:spTgt>
                                        </p:tgtEl>
                                        <p:attrNameLst>
                                          <p:attrName>style.visibility</p:attrName>
                                        </p:attrNameLst>
                                      </p:cBhvr>
                                      <p:to>
                                        <p:strVal val="visible"/>
                                      </p:to>
                                    </p:set>
                                    <p:animEffect transition="in" filter="wipe(left)">
                                      <p:cBhvr>
                                        <p:cTn id="7" dur="1000"/>
                                        <p:tgtEl>
                                          <p:spTgt spid="2088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8899">
                                            <p:txEl>
                                              <p:pRg st="2" end="2"/>
                                            </p:txEl>
                                          </p:spTgt>
                                        </p:tgtEl>
                                        <p:attrNameLst>
                                          <p:attrName>style.visibility</p:attrName>
                                        </p:attrNameLst>
                                      </p:cBhvr>
                                      <p:to>
                                        <p:strVal val="visible"/>
                                      </p:to>
                                    </p:set>
                                    <p:animEffect transition="in" filter="wipe(left)">
                                      <p:cBhvr>
                                        <p:cTn id="12" dur="1000"/>
                                        <p:tgtEl>
                                          <p:spTgt spid="2088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build="p" bldLvl="3"/>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9923" name="Rectangle 3">
            <a:extLst>
              <a:ext uri="{FF2B5EF4-FFF2-40B4-BE49-F238E27FC236}">
                <a16:creationId xmlns:a16="http://schemas.microsoft.com/office/drawing/2014/main" id="{6A66BCFA-0247-5156-8654-CEBBC2086B4E}"/>
              </a:ext>
            </a:extLst>
          </p:cNvPr>
          <p:cNvSpPr>
            <a:spLocks noGrp="1" noChangeArrowheads="1"/>
          </p:cNvSpPr>
          <p:nvPr>
            <p:ph type="body" idx="1"/>
          </p:nvPr>
        </p:nvSpPr>
        <p:spPr>
          <a:xfrm>
            <a:off x="457200" y="1600200"/>
            <a:ext cx="8229600" cy="4876800"/>
          </a:xfrm>
        </p:spPr>
        <p:txBody>
          <a:bodyPr/>
          <a:lstStyle/>
          <a:p>
            <a:pPr lvl="1" indent="0" eaLnBrk="1" hangingPunct="1"/>
            <a:r>
              <a:rPr lang="en-US" altLang="zh-TW" b="1">
                <a:solidFill>
                  <a:srgbClr val="C40075"/>
                </a:solidFill>
                <a:ea typeface="新細明體" panose="02020500000000000000" pitchFamily="18" charset="-120"/>
              </a:rPr>
              <a:t>Final Goods and Services</a:t>
            </a:r>
          </a:p>
          <a:p>
            <a:pPr lvl="1" indent="0" eaLnBrk="1" hangingPunct="1"/>
            <a:r>
              <a:rPr lang="en-US" altLang="zh-TW">
                <a:ea typeface="新細明體" panose="02020500000000000000" pitchFamily="18" charset="-120"/>
              </a:rPr>
              <a:t>GDP is the value of the </a:t>
            </a:r>
            <a:r>
              <a:rPr lang="en-US" altLang="zh-TW" i="1">
                <a:ea typeface="新細明體" panose="02020500000000000000" pitchFamily="18" charset="-120"/>
              </a:rPr>
              <a:t>final goods and services</a:t>
            </a:r>
            <a:r>
              <a:rPr lang="en-US" altLang="zh-TW">
                <a:ea typeface="新細明體" panose="02020500000000000000" pitchFamily="18" charset="-120"/>
              </a:rPr>
              <a:t> produced. </a:t>
            </a:r>
          </a:p>
          <a:p>
            <a:pPr lvl="1" indent="0" eaLnBrk="1" hangingPunct="1"/>
            <a:r>
              <a:rPr lang="en-US" altLang="zh-TW">
                <a:ea typeface="新細明體" panose="02020500000000000000" pitchFamily="18" charset="-120"/>
              </a:rPr>
              <a:t>A </a:t>
            </a:r>
            <a:r>
              <a:rPr lang="en-US" altLang="zh-TW" b="1">
                <a:ea typeface="新細明體" panose="02020500000000000000" pitchFamily="18" charset="-120"/>
              </a:rPr>
              <a:t>final good</a:t>
            </a:r>
            <a:r>
              <a:rPr lang="en-US" altLang="zh-TW">
                <a:ea typeface="新細明體" panose="02020500000000000000" pitchFamily="18" charset="-120"/>
              </a:rPr>
              <a:t> (or service) is an item bought by its final user during a specified time period. </a:t>
            </a:r>
          </a:p>
          <a:p>
            <a:pPr lvl="1" indent="0" eaLnBrk="1" hangingPunct="1"/>
            <a:r>
              <a:rPr lang="en-US" altLang="zh-TW">
                <a:ea typeface="新細明體" panose="02020500000000000000" pitchFamily="18" charset="-120"/>
              </a:rPr>
              <a:t>A final good contrasts with an </a:t>
            </a:r>
            <a:r>
              <a:rPr lang="en-US" altLang="zh-TW" b="1">
                <a:ea typeface="新細明體" panose="02020500000000000000" pitchFamily="18" charset="-120"/>
              </a:rPr>
              <a:t>intermediate good</a:t>
            </a:r>
            <a:r>
              <a:rPr lang="en-US" altLang="zh-TW">
                <a:ea typeface="新細明體" panose="02020500000000000000" pitchFamily="18" charset="-120"/>
              </a:rPr>
              <a:t>, which is an item that is produced by one firm, bought by another firm, and used as a component of a final good or service.</a:t>
            </a:r>
          </a:p>
          <a:p>
            <a:pPr lvl="1" indent="0" eaLnBrk="1" hangingPunct="1"/>
            <a:r>
              <a:rPr lang="en-US" altLang="zh-TW">
                <a:ea typeface="新細明體" panose="02020500000000000000" pitchFamily="18" charset="-120"/>
              </a:rPr>
              <a:t>Excluding the value of intermediate goods and services avoids counting the same value more than once. </a:t>
            </a:r>
          </a:p>
        </p:txBody>
      </p:sp>
      <p:sp>
        <p:nvSpPr>
          <p:cNvPr id="19459" name="Rectangle 5">
            <a:extLst>
              <a:ext uri="{FF2B5EF4-FFF2-40B4-BE49-F238E27FC236}">
                <a16:creationId xmlns:a16="http://schemas.microsoft.com/office/drawing/2014/main" id="{03035EE5-FE7A-6A8D-8395-4DB72183B6E6}"/>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9923">
                                            <p:txEl>
                                              <p:pRg st="1" end="1"/>
                                            </p:txEl>
                                          </p:spTgt>
                                        </p:tgtEl>
                                        <p:attrNameLst>
                                          <p:attrName>style.visibility</p:attrName>
                                        </p:attrNameLst>
                                      </p:cBhvr>
                                      <p:to>
                                        <p:strVal val="visible"/>
                                      </p:to>
                                    </p:set>
                                    <p:animEffect transition="in" filter="wipe(left)">
                                      <p:cBhvr>
                                        <p:cTn id="7" dur="1000"/>
                                        <p:tgtEl>
                                          <p:spTgt spid="20992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9923">
                                            <p:txEl>
                                              <p:pRg st="2" end="2"/>
                                            </p:txEl>
                                          </p:spTgt>
                                        </p:tgtEl>
                                        <p:attrNameLst>
                                          <p:attrName>style.visibility</p:attrName>
                                        </p:attrNameLst>
                                      </p:cBhvr>
                                      <p:to>
                                        <p:strVal val="visible"/>
                                      </p:to>
                                    </p:set>
                                    <p:animEffect transition="in" filter="wipe(left)">
                                      <p:cBhvr>
                                        <p:cTn id="12" dur="1000"/>
                                        <p:tgtEl>
                                          <p:spTgt spid="20992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9923">
                                            <p:txEl>
                                              <p:pRg st="3" end="3"/>
                                            </p:txEl>
                                          </p:spTgt>
                                        </p:tgtEl>
                                        <p:attrNameLst>
                                          <p:attrName>style.visibility</p:attrName>
                                        </p:attrNameLst>
                                      </p:cBhvr>
                                      <p:to>
                                        <p:strVal val="visible"/>
                                      </p:to>
                                    </p:set>
                                    <p:animEffect transition="in" filter="wipe(left)">
                                      <p:cBhvr>
                                        <p:cTn id="17" dur="1000"/>
                                        <p:tgtEl>
                                          <p:spTgt spid="20992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9923">
                                            <p:txEl>
                                              <p:pRg st="4" end="4"/>
                                            </p:txEl>
                                          </p:spTgt>
                                        </p:tgtEl>
                                        <p:attrNameLst>
                                          <p:attrName>style.visibility</p:attrName>
                                        </p:attrNameLst>
                                      </p:cBhvr>
                                      <p:to>
                                        <p:strVal val="visible"/>
                                      </p:to>
                                    </p:set>
                                    <p:animEffect transition="in" filter="wipe(left)">
                                      <p:cBhvr>
                                        <p:cTn id="22" dur="1000"/>
                                        <p:tgtEl>
                                          <p:spTgt spid="2099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bldLvl="3"/>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0947" name="Rectangle 3">
            <a:extLst>
              <a:ext uri="{FF2B5EF4-FFF2-40B4-BE49-F238E27FC236}">
                <a16:creationId xmlns:a16="http://schemas.microsoft.com/office/drawing/2014/main" id="{6A88A660-E916-DC30-B538-AB6F34999828}"/>
              </a:ext>
            </a:extLst>
          </p:cNvPr>
          <p:cNvSpPr>
            <a:spLocks noGrp="1" noChangeArrowheads="1"/>
          </p:cNvSpPr>
          <p:nvPr>
            <p:ph type="body" idx="1"/>
          </p:nvPr>
        </p:nvSpPr>
        <p:spPr>
          <a:xfrm>
            <a:off x="457200" y="1646238"/>
            <a:ext cx="8229600" cy="4144962"/>
          </a:xfrm>
        </p:spPr>
        <p:txBody>
          <a:bodyPr/>
          <a:lstStyle/>
          <a:p>
            <a:pPr lvl="1" indent="0" eaLnBrk="1" hangingPunct="1"/>
            <a:r>
              <a:rPr lang="en-US" altLang="zh-TW" b="1">
                <a:solidFill>
                  <a:srgbClr val="C40075"/>
                </a:solidFill>
                <a:ea typeface="新細明體" panose="02020500000000000000" pitchFamily="18" charset="-120"/>
              </a:rPr>
              <a:t>Produced Within a Country</a:t>
            </a:r>
          </a:p>
          <a:p>
            <a:pPr lvl="1" indent="0" eaLnBrk="1" hangingPunct="1"/>
            <a:r>
              <a:rPr lang="en-US" altLang="zh-TW">
                <a:ea typeface="新細明體" panose="02020500000000000000" pitchFamily="18" charset="-120"/>
              </a:rPr>
              <a:t>GDP measures production within a country—domestic production.</a:t>
            </a:r>
          </a:p>
          <a:p>
            <a:pPr lvl="1" indent="0" eaLnBrk="1" hangingPunct="1"/>
            <a:r>
              <a:rPr lang="en-US" altLang="zh-TW" b="1">
                <a:solidFill>
                  <a:srgbClr val="C40075"/>
                </a:solidFill>
                <a:ea typeface="新細明體" panose="02020500000000000000" pitchFamily="18" charset="-120"/>
              </a:rPr>
              <a:t>In a Given Time Period</a:t>
            </a:r>
          </a:p>
          <a:p>
            <a:pPr lvl="1" indent="0" eaLnBrk="1" hangingPunct="1"/>
            <a:r>
              <a:rPr lang="en-US" altLang="zh-TW">
                <a:ea typeface="新細明體" panose="02020500000000000000" pitchFamily="18" charset="-120"/>
              </a:rPr>
              <a:t>GDP measures production during a specific time period, normally a year or a quarter of a year.</a:t>
            </a:r>
          </a:p>
        </p:txBody>
      </p:sp>
      <p:sp>
        <p:nvSpPr>
          <p:cNvPr id="21507" name="Rectangle 5">
            <a:extLst>
              <a:ext uri="{FF2B5EF4-FFF2-40B4-BE49-F238E27FC236}">
                <a16:creationId xmlns:a16="http://schemas.microsoft.com/office/drawing/2014/main" id="{9050DDDF-0F7A-F05E-13DC-C0FD5A936424}"/>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0947">
                                            <p:txEl>
                                              <p:pRg st="1" end="1"/>
                                            </p:txEl>
                                          </p:spTgt>
                                        </p:tgtEl>
                                        <p:attrNameLst>
                                          <p:attrName>style.visibility</p:attrName>
                                        </p:attrNameLst>
                                      </p:cBhvr>
                                      <p:to>
                                        <p:strVal val="visible"/>
                                      </p:to>
                                    </p:set>
                                    <p:animEffect transition="in" filter="wipe(left)">
                                      <p:cBhvr>
                                        <p:cTn id="7" dur="1000"/>
                                        <p:tgtEl>
                                          <p:spTgt spid="2109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0947">
                                            <p:txEl>
                                              <p:pRg st="2" end="2"/>
                                            </p:txEl>
                                          </p:spTgt>
                                        </p:tgtEl>
                                        <p:attrNameLst>
                                          <p:attrName>style.visibility</p:attrName>
                                        </p:attrNameLst>
                                      </p:cBhvr>
                                      <p:to>
                                        <p:strVal val="visible"/>
                                      </p:to>
                                    </p:set>
                                    <p:animEffect transition="in" filter="wipe(left)">
                                      <p:cBhvr>
                                        <p:cTn id="12" dur="1000"/>
                                        <p:tgtEl>
                                          <p:spTgt spid="21094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0947">
                                            <p:txEl>
                                              <p:pRg st="3" end="3"/>
                                            </p:txEl>
                                          </p:spTgt>
                                        </p:tgtEl>
                                        <p:attrNameLst>
                                          <p:attrName>style.visibility</p:attrName>
                                        </p:attrNameLst>
                                      </p:cBhvr>
                                      <p:to>
                                        <p:strVal val="visible"/>
                                      </p:to>
                                    </p:set>
                                    <p:animEffect transition="in" filter="wipe(left)">
                                      <p:cBhvr>
                                        <p:cTn id="17" dur="1000"/>
                                        <p:tgtEl>
                                          <p:spTgt spid="2109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7" grpId="0" build="p" bldLvl="3"/>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2995" name="Rectangle 3">
            <a:extLst>
              <a:ext uri="{FF2B5EF4-FFF2-40B4-BE49-F238E27FC236}">
                <a16:creationId xmlns:a16="http://schemas.microsoft.com/office/drawing/2014/main" id="{00E9F214-99C0-B8F5-D8FE-A16A0CD7605B}"/>
              </a:ext>
            </a:extLst>
          </p:cNvPr>
          <p:cNvSpPr>
            <a:spLocks noGrp="1" noChangeArrowheads="1"/>
          </p:cNvSpPr>
          <p:nvPr>
            <p:ph type="body" idx="1"/>
          </p:nvPr>
        </p:nvSpPr>
        <p:spPr>
          <a:xfrm>
            <a:off x="457200" y="1676400"/>
            <a:ext cx="8229600" cy="4144963"/>
          </a:xfrm>
        </p:spPr>
        <p:txBody>
          <a:bodyPr/>
          <a:lstStyle/>
          <a:p>
            <a:pPr marL="0" indent="0" eaLnBrk="1" hangingPunct="1"/>
            <a:r>
              <a:rPr lang="en-US" altLang="zh-TW">
                <a:ea typeface="新細明體" panose="02020500000000000000" pitchFamily="18" charset="-120"/>
              </a:rPr>
              <a:t>GDP and the Circular Flow of Expenditure and Income</a:t>
            </a:r>
          </a:p>
          <a:p>
            <a:pPr lvl="1" indent="0" eaLnBrk="1" hangingPunct="1"/>
            <a:r>
              <a:rPr lang="en-US" altLang="zh-TW">
                <a:ea typeface="新細明體" panose="02020500000000000000" pitchFamily="18" charset="-120"/>
              </a:rPr>
              <a:t>GDP measures the value of production, which also equals total expenditure on final goods and total income. </a:t>
            </a:r>
          </a:p>
          <a:p>
            <a:pPr lvl="1" indent="0" eaLnBrk="1" hangingPunct="1"/>
            <a:r>
              <a:rPr lang="en-US" altLang="zh-TW">
                <a:ea typeface="新細明體" panose="02020500000000000000" pitchFamily="18" charset="-120"/>
              </a:rPr>
              <a:t>The equality of income and value of production shows the link between productivity and living standards.</a:t>
            </a:r>
          </a:p>
          <a:p>
            <a:pPr lvl="1" indent="0" eaLnBrk="1" hangingPunct="1"/>
            <a:r>
              <a:rPr lang="en-US" altLang="zh-TW">
                <a:ea typeface="新細明體" panose="02020500000000000000" pitchFamily="18" charset="-120"/>
              </a:rPr>
              <a:t>The circular flow diagram in Figure 21.1 illustrates the equality of income and expenditure. </a:t>
            </a:r>
          </a:p>
        </p:txBody>
      </p:sp>
      <p:sp>
        <p:nvSpPr>
          <p:cNvPr id="23555" name="Rectangle 5">
            <a:extLst>
              <a:ext uri="{FF2B5EF4-FFF2-40B4-BE49-F238E27FC236}">
                <a16:creationId xmlns:a16="http://schemas.microsoft.com/office/drawing/2014/main" id="{D3014153-8C15-DD26-E26F-FA8F30101661}"/>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2995">
                                            <p:txEl>
                                              <p:pRg st="1" end="1"/>
                                            </p:txEl>
                                          </p:spTgt>
                                        </p:tgtEl>
                                        <p:attrNameLst>
                                          <p:attrName>style.visibility</p:attrName>
                                        </p:attrNameLst>
                                      </p:cBhvr>
                                      <p:to>
                                        <p:strVal val="visible"/>
                                      </p:to>
                                    </p:set>
                                    <p:animEffect transition="in" filter="wipe(left)">
                                      <p:cBhvr>
                                        <p:cTn id="7" dur="1000"/>
                                        <p:tgtEl>
                                          <p:spTgt spid="2129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2995">
                                            <p:txEl>
                                              <p:pRg st="2" end="2"/>
                                            </p:txEl>
                                          </p:spTgt>
                                        </p:tgtEl>
                                        <p:attrNameLst>
                                          <p:attrName>style.visibility</p:attrName>
                                        </p:attrNameLst>
                                      </p:cBhvr>
                                      <p:to>
                                        <p:strVal val="visible"/>
                                      </p:to>
                                    </p:set>
                                    <p:animEffect transition="in" filter="wipe(left)">
                                      <p:cBhvr>
                                        <p:cTn id="12" dur="1000"/>
                                        <p:tgtEl>
                                          <p:spTgt spid="21299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2995">
                                            <p:txEl>
                                              <p:pRg st="3" end="3"/>
                                            </p:txEl>
                                          </p:spTgt>
                                        </p:tgtEl>
                                        <p:attrNameLst>
                                          <p:attrName>style.visibility</p:attrName>
                                        </p:attrNameLst>
                                      </p:cBhvr>
                                      <p:to>
                                        <p:strVal val="visible"/>
                                      </p:to>
                                    </p:set>
                                    <p:animEffect transition="in" filter="wipe(left)">
                                      <p:cBhvr>
                                        <p:cTn id="17" dur="1000"/>
                                        <p:tgtEl>
                                          <p:spTgt spid="2129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5" grpId="0" build="p" bldLvl="3"/>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4675" name="Rectangle 3">
            <a:extLst>
              <a:ext uri="{FF2B5EF4-FFF2-40B4-BE49-F238E27FC236}">
                <a16:creationId xmlns:a16="http://schemas.microsoft.com/office/drawing/2014/main" id="{D739480B-CCF7-2304-E77F-E42ACCC60B53}"/>
              </a:ext>
            </a:extLst>
          </p:cNvPr>
          <p:cNvSpPr>
            <a:spLocks noGrp="1" noChangeArrowheads="1"/>
          </p:cNvSpPr>
          <p:nvPr>
            <p:ph type="body" idx="1"/>
          </p:nvPr>
        </p:nvSpPr>
        <p:spPr>
          <a:xfrm>
            <a:off x="381000" y="1447800"/>
            <a:ext cx="8229600" cy="762000"/>
          </a:xfrm>
        </p:spPr>
        <p:txBody>
          <a:bodyPr/>
          <a:lstStyle/>
          <a:p>
            <a:pPr lvl="1" indent="0" eaLnBrk="1" hangingPunct="1"/>
            <a:r>
              <a:rPr lang="en-US" altLang="zh-TW">
                <a:ea typeface="新細明體" panose="02020500000000000000" pitchFamily="18" charset="-120"/>
              </a:rPr>
              <a:t>The circular flow diagram shows the transactions among households, firms, governments, and the rest of the world.</a:t>
            </a:r>
          </a:p>
        </p:txBody>
      </p:sp>
      <p:sp>
        <p:nvSpPr>
          <p:cNvPr id="25603" name="Rectangle 50">
            <a:extLst>
              <a:ext uri="{FF2B5EF4-FFF2-40B4-BE49-F238E27FC236}">
                <a16:creationId xmlns:a16="http://schemas.microsoft.com/office/drawing/2014/main" id="{14BF7BD6-2FE6-8992-DAE9-9D0CF75C2702}"/>
              </a:ext>
            </a:extLst>
          </p:cNvPr>
          <p:cNvSpPr>
            <a:spLocks noGrp="1" noChangeArrowheads="1"/>
          </p:cNvSpPr>
          <p:nvPr>
            <p:ph type="title"/>
          </p:nvPr>
        </p:nvSpPr>
        <p:spPr>
          <a:xfrm>
            <a:off x="990600" y="304800"/>
            <a:ext cx="7696200" cy="1144588"/>
          </a:xfrm>
          <a:noFill/>
        </p:spPr>
        <p:txBody>
          <a:bodyPr/>
          <a:lstStyle/>
          <a:p>
            <a:pPr eaLnBrk="1" hangingPunct="1"/>
            <a:r>
              <a:rPr lang="en-US" altLang="zh-TW">
                <a:ea typeface="新細明體" panose="02020500000000000000" pitchFamily="18" charset="-120"/>
              </a:rPr>
              <a:t>Gross Domestic Product </a:t>
            </a:r>
          </a:p>
        </p:txBody>
      </p:sp>
      <p:pic>
        <p:nvPicPr>
          <p:cNvPr id="25604" name="Picture 60" descr="fig21">
            <a:extLst>
              <a:ext uri="{FF2B5EF4-FFF2-40B4-BE49-F238E27FC236}">
                <a16:creationId xmlns:a16="http://schemas.microsoft.com/office/drawing/2014/main" id="{A112AF69-A1EF-8F2C-FAF7-35502D728F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362200"/>
            <a:ext cx="5233988"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733" name="Picture 61" descr="fig21">
            <a:extLst>
              <a:ext uri="{FF2B5EF4-FFF2-40B4-BE49-F238E27FC236}">
                <a16:creationId xmlns:a16="http://schemas.microsoft.com/office/drawing/2014/main" id="{1C17DECC-2B98-D8CD-07DF-34FE17AB29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362200"/>
            <a:ext cx="5233988"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4675">
                                            <p:txEl>
                                              <p:pRg st="0" end="0"/>
                                            </p:txEl>
                                          </p:spTgt>
                                        </p:tgtEl>
                                        <p:attrNameLst>
                                          <p:attrName>style.visibility</p:attrName>
                                        </p:attrNameLst>
                                      </p:cBhvr>
                                      <p:to>
                                        <p:strVal val="visible"/>
                                      </p:to>
                                    </p:set>
                                    <p:animEffect transition="in" filter="wipe(left)">
                                      <p:cBhvr>
                                        <p:cTn id="7" dur="1000"/>
                                        <p:tgtEl>
                                          <p:spTgt spid="2846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84733"/>
                                        </p:tgtEl>
                                        <p:attrNameLst>
                                          <p:attrName>style.visibility</p:attrName>
                                        </p:attrNameLst>
                                      </p:cBhvr>
                                      <p:to>
                                        <p:strVal val="visible"/>
                                      </p:to>
                                    </p:set>
                                    <p:animEffect transition="in" filter="fade">
                                      <p:cBhvr>
                                        <p:cTn id="12" dur="500"/>
                                        <p:tgtEl>
                                          <p:spTgt spid="284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5" grpId="0" build="p" bldLvl="3"/>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7650" name="Picture 2" descr="fig21">
            <a:extLst>
              <a:ext uri="{FF2B5EF4-FFF2-40B4-BE49-F238E27FC236}">
                <a16:creationId xmlns:a16="http://schemas.microsoft.com/office/drawing/2014/main" id="{9D1A6820-2701-13C9-F998-019AECD9BF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280988"/>
            <a:ext cx="7572375" cy="629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9155" name="Picture 3" descr="fig21">
            <a:extLst>
              <a:ext uri="{FF2B5EF4-FFF2-40B4-BE49-F238E27FC236}">
                <a16:creationId xmlns:a16="http://schemas.microsoft.com/office/drawing/2014/main" id="{CF9109E9-FE9B-DEBD-25C9-FBC7D41366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813" y="280988"/>
            <a:ext cx="7572375" cy="629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9156" name="Picture 4" descr="fig21">
            <a:extLst>
              <a:ext uri="{FF2B5EF4-FFF2-40B4-BE49-F238E27FC236}">
                <a16:creationId xmlns:a16="http://schemas.microsoft.com/office/drawing/2014/main" id="{DE55E446-099C-F4FC-F4D5-F1816263D6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813" y="280988"/>
            <a:ext cx="7572375" cy="629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9157" name="Picture 5" descr="fig21">
            <a:extLst>
              <a:ext uri="{FF2B5EF4-FFF2-40B4-BE49-F238E27FC236}">
                <a16:creationId xmlns:a16="http://schemas.microsoft.com/office/drawing/2014/main" id="{827C0EDB-5E6D-A552-952E-AE7A78EA6C7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5813" y="280988"/>
            <a:ext cx="7572375" cy="629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9158" name="Picture 6" descr="fig21">
            <a:extLst>
              <a:ext uri="{FF2B5EF4-FFF2-40B4-BE49-F238E27FC236}">
                <a16:creationId xmlns:a16="http://schemas.microsoft.com/office/drawing/2014/main" id="{00583C22-96EB-69A3-0C3F-2040C31D957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5813" y="280988"/>
            <a:ext cx="7572375" cy="629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9159" name="Picture 7" descr="fig21">
            <a:extLst>
              <a:ext uri="{FF2B5EF4-FFF2-40B4-BE49-F238E27FC236}">
                <a16:creationId xmlns:a16="http://schemas.microsoft.com/office/drawing/2014/main" id="{516158D6-8AD0-C4BA-4B0E-2FBED576839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5813" y="280988"/>
            <a:ext cx="7572375" cy="629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9160" name="Picture 8" descr="fig21">
            <a:extLst>
              <a:ext uri="{FF2B5EF4-FFF2-40B4-BE49-F238E27FC236}">
                <a16:creationId xmlns:a16="http://schemas.microsoft.com/office/drawing/2014/main" id="{1C850080-0E53-4765-7E99-85249AA7122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5813" y="280988"/>
            <a:ext cx="7572375" cy="629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9161" name="Picture 9" descr="fig21">
            <a:extLst>
              <a:ext uri="{FF2B5EF4-FFF2-40B4-BE49-F238E27FC236}">
                <a16:creationId xmlns:a16="http://schemas.microsoft.com/office/drawing/2014/main" id="{B88C544D-9BE2-C497-F30B-1403AA63C8E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5813" y="280988"/>
            <a:ext cx="7572375" cy="629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9162" name="Picture 10" descr="fig21">
            <a:extLst>
              <a:ext uri="{FF2B5EF4-FFF2-40B4-BE49-F238E27FC236}">
                <a16:creationId xmlns:a16="http://schemas.microsoft.com/office/drawing/2014/main" id="{DA7486C2-E870-C853-572C-0A8D65E5916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5813" y="280988"/>
            <a:ext cx="7572375" cy="629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89155"/>
                                        </p:tgtEl>
                                        <p:attrNameLst>
                                          <p:attrName>style.visibility</p:attrName>
                                        </p:attrNameLst>
                                      </p:cBhvr>
                                      <p:to>
                                        <p:strVal val="visible"/>
                                      </p:to>
                                    </p:set>
                                    <p:animEffect transition="in" filter="fade">
                                      <p:cBhvr>
                                        <p:cTn id="7" dur="500"/>
                                        <p:tgtEl>
                                          <p:spTgt spid="6891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689156"/>
                                        </p:tgtEl>
                                        <p:attrNameLst>
                                          <p:attrName>style.visibility</p:attrName>
                                        </p:attrNameLst>
                                      </p:cBhvr>
                                      <p:to>
                                        <p:strVal val="visible"/>
                                      </p:to>
                                    </p:set>
                                    <p:animEffect transition="in" filter="wipe(down)">
                                      <p:cBhvr>
                                        <p:cTn id="12" dur="1000"/>
                                        <p:tgtEl>
                                          <p:spTgt spid="6891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89157"/>
                                        </p:tgtEl>
                                        <p:attrNameLst>
                                          <p:attrName>style.visibility</p:attrName>
                                        </p:attrNameLst>
                                      </p:cBhvr>
                                      <p:to>
                                        <p:strVal val="visible"/>
                                      </p:to>
                                    </p:set>
                                    <p:animEffect transition="in" filter="wipe(up)">
                                      <p:cBhvr>
                                        <p:cTn id="17" dur="1000"/>
                                        <p:tgtEl>
                                          <p:spTgt spid="6891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689158"/>
                                        </p:tgtEl>
                                        <p:attrNameLst>
                                          <p:attrName>style.visibility</p:attrName>
                                        </p:attrNameLst>
                                      </p:cBhvr>
                                      <p:to>
                                        <p:strVal val="visible"/>
                                      </p:to>
                                    </p:set>
                                    <p:animEffect transition="in" filter="wipe(down)">
                                      <p:cBhvr>
                                        <p:cTn id="22" dur="1000"/>
                                        <p:tgtEl>
                                          <p:spTgt spid="689158"/>
                                        </p:tgtEl>
                                      </p:cBhvr>
                                    </p:animEffect>
                                  </p:childTnLst>
                                </p:cTn>
                              </p:par>
                            </p:childTnLst>
                          </p:cTn>
                        </p:par>
                        <p:par>
                          <p:cTn id="23" fill="hold" nodeType="afterGroup">
                            <p:stCondLst>
                              <p:cond delay="1000"/>
                            </p:stCondLst>
                            <p:childTnLst>
                              <p:par>
                                <p:cTn id="24" presetID="22" presetClass="entr" presetSubtype="2" fill="hold" nodeType="afterEffect">
                                  <p:stCondLst>
                                    <p:cond delay="0"/>
                                  </p:stCondLst>
                                  <p:childTnLst>
                                    <p:set>
                                      <p:cBhvr>
                                        <p:cTn id="25" dur="1" fill="hold">
                                          <p:stCondLst>
                                            <p:cond delay="0"/>
                                          </p:stCondLst>
                                        </p:cTn>
                                        <p:tgtEl>
                                          <p:spTgt spid="689159"/>
                                        </p:tgtEl>
                                        <p:attrNameLst>
                                          <p:attrName>style.visibility</p:attrName>
                                        </p:attrNameLst>
                                      </p:cBhvr>
                                      <p:to>
                                        <p:strVal val="visible"/>
                                      </p:to>
                                    </p:set>
                                    <p:animEffect transition="in" filter="wipe(right)">
                                      <p:cBhvr>
                                        <p:cTn id="26" dur="1000"/>
                                        <p:tgtEl>
                                          <p:spTgt spid="68915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689160"/>
                                        </p:tgtEl>
                                        <p:attrNameLst>
                                          <p:attrName>style.visibility</p:attrName>
                                        </p:attrNameLst>
                                      </p:cBhvr>
                                      <p:to>
                                        <p:strVal val="visible"/>
                                      </p:to>
                                    </p:set>
                                    <p:animEffect transition="in" filter="wipe(up)">
                                      <p:cBhvr>
                                        <p:cTn id="31" dur="1000"/>
                                        <p:tgtEl>
                                          <p:spTgt spid="68916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689161"/>
                                        </p:tgtEl>
                                        <p:attrNameLst>
                                          <p:attrName>style.visibility</p:attrName>
                                        </p:attrNameLst>
                                      </p:cBhvr>
                                      <p:to>
                                        <p:strVal val="visible"/>
                                      </p:to>
                                    </p:set>
                                    <p:animEffect transition="in" filter="wipe(down)">
                                      <p:cBhvr>
                                        <p:cTn id="36" dur="1000"/>
                                        <p:tgtEl>
                                          <p:spTgt spid="689161"/>
                                        </p:tgtEl>
                                      </p:cBhvr>
                                    </p:animEffect>
                                  </p:childTnLst>
                                </p:cTn>
                              </p:par>
                            </p:childTnLst>
                          </p:cTn>
                        </p:par>
                        <p:par>
                          <p:cTn id="37" fill="hold" nodeType="afterGroup">
                            <p:stCondLst>
                              <p:cond delay="1000"/>
                            </p:stCondLst>
                            <p:childTnLst>
                              <p:par>
                                <p:cTn id="38" presetID="22" presetClass="entr" presetSubtype="2" fill="hold" nodeType="afterEffect">
                                  <p:stCondLst>
                                    <p:cond delay="0"/>
                                  </p:stCondLst>
                                  <p:childTnLst>
                                    <p:set>
                                      <p:cBhvr>
                                        <p:cTn id="39" dur="1" fill="hold">
                                          <p:stCondLst>
                                            <p:cond delay="0"/>
                                          </p:stCondLst>
                                        </p:cTn>
                                        <p:tgtEl>
                                          <p:spTgt spid="689162"/>
                                        </p:tgtEl>
                                        <p:attrNameLst>
                                          <p:attrName>style.visibility</p:attrName>
                                        </p:attrNameLst>
                                      </p:cBhvr>
                                      <p:to>
                                        <p:strVal val="visible"/>
                                      </p:to>
                                    </p:set>
                                    <p:animEffect transition="in" filter="wipe(right)">
                                      <p:cBhvr>
                                        <p:cTn id="40" dur="1000"/>
                                        <p:tgtEl>
                                          <p:spTgt spid="689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23" name="Rectangle 3">
            <a:extLst>
              <a:ext uri="{FF2B5EF4-FFF2-40B4-BE49-F238E27FC236}">
                <a16:creationId xmlns:a16="http://schemas.microsoft.com/office/drawing/2014/main" id="{21CD12C8-7BE7-45D9-B672-204EE945D4BA}"/>
              </a:ext>
            </a:extLst>
          </p:cNvPr>
          <p:cNvSpPr>
            <a:spLocks noGrp="1" noChangeArrowheads="1"/>
          </p:cNvSpPr>
          <p:nvPr>
            <p:ph type="body" idx="1"/>
          </p:nvPr>
        </p:nvSpPr>
        <p:spPr>
          <a:xfrm>
            <a:off x="381000" y="1600200"/>
            <a:ext cx="8229600" cy="4419600"/>
          </a:xfrm>
        </p:spPr>
        <p:txBody>
          <a:bodyPr/>
          <a:lstStyle/>
          <a:p>
            <a:pPr lvl="1" indent="0" eaLnBrk="1" hangingPunct="1"/>
            <a:r>
              <a:rPr lang="en-US" altLang="zh-TW" b="1" dirty="0">
                <a:solidFill>
                  <a:srgbClr val="C40075"/>
                </a:solidFill>
                <a:ea typeface="新細明體" panose="02020500000000000000" pitchFamily="18" charset="-120"/>
              </a:rPr>
              <a:t>Households and Firms</a:t>
            </a:r>
          </a:p>
          <a:p>
            <a:pPr lvl="1" indent="0" eaLnBrk="1" hangingPunct="1"/>
            <a:r>
              <a:rPr lang="en-US" altLang="zh-TW" dirty="0">
                <a:ea typeface="新細明體" panose="02020500000000000000" pitchFamily="18" charset="-120"/>
              </a:rPr>
              <a:t>Households sell and firms buy the services of labor, capital, and land in </a:t>
            </a:r>
            <a:r>
              <a:rPr lang="en-US" altLang="zh-TW" b="1" dirty="0">
                <a:ea typeface="新細明體" panose="02020500000000000000" pitchFamily="18" charset="-120"/>
              </a:rPr>
              <a:t>factor markets</a:t>
            </a:r>
            <a:r>
              <a:rPr lang="en-US" altLang="zh-TW" dirty="0">
                <a:ea typeface="新細明體" panose="02020500000000000000" pitchFamily="18" charset="-120"/>
              </a:rPr>
              <a:t>.</a:t>
            </a:r>
          </a:p>
          <a:p>
            <a:pPr lvl="1" indent="0" eaLnBrk="1" hangingPunct="1"/>
            <a:r>
              <a:rPr lang="en-US" altLang="zh-TW" dirty="0">
                <a:ea typeface="新細明體" panose="02020500000000000000" pitchFamily="18" charset="-120"/>
              </a:rPr>
              <a:t>For these factor services, firms pay income to households: wages for labor services, interest for the use of capital, and rent for the use of land. A fourth factor of production, entrepreneurship, receives profit.</a:t>
            </a:r>
          </a:p>
          <a:p>
            <a:pPr lvl="1" indent="0" eaLnBrk="1" hangingPunct="1"/>
            <a:r>
              <a:rPr lang="en-US" altLang="zh-TW" dirty="0">
                <a:ea typeface="新細明體" panose="02020500000000000000" pitchFamily="18" charset="-120"/>
              </a:rPr>
              <a:t>In the figure, the blue flow, </a:t>
            </a:r>
            <a:r>
              <a:rPr lang="en-US" altLang="zh-TW" i="1" dirty="0">
                <a:ea typeface="新細明體" panose="02020500000000000000" pitchFamily="18" charset="-120"/>
              </a:rPr>
              <a:t>Y</a:t>
            </a:r>
            <a:r>
              <a:rPr lang="en-US" altLang="zh-TW" dirty="0">
                <a:ea typeface="新細明體" panose="02020500000000000000" pitchFamily="18" charset="-120"/>
              </a:rPr>
              <a:t>, shows total income paid by firms to households.</a:t>
            </a:r>
          </a:p>
        </p:txBody>
      </p:sp>
      <p:sp>
        <p:nvSpPr>
          <p:cNvPr id="29699" name="Rectangle 50">
            <a:extLst>
              <a:ext uri="{FF2B5EF4-FFF2-40B4-BE49-F238E27FC236}">
                <a16:creationId xmlns:a16="http://schemas.microsoft.com/office/drawing/2014/main" id="{3E7BC575-9EEA-BE73-8B60-6EDBF6DEB90F}"/>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23">
                                            <p:txEl>
                                              <p:pRg st="1" end="1"/>
                                            </p:txEl>
                                          </p:spTgt>
                                        </p:tgtEl>
                                        <p:attrNameLst>
                                          <p:attrName>style.visibility</p:attrName>
                                        </p:attrNameLst>
                                      </p:cBhvr>
                                      <p:to>
                                        <p:strVal val="visible"/>
                                      </p:to>
                                    </p:set>
                                    <p:animEffect transition="in" filter="wipe(left)">
                                      <p:cBhvr>
                                        <p:cTn id="7" dur="1000"/>
                                        <p:tgtEl>
                                          <p:spTgt spid="28672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23">
                                            <p:txEl>
                                              <p:pRg st="2" end="2"/>
                                            </p:txEl>
                                          </p:spTgt>
                                        </p:tgtEl>
                                        <p:attrNameLst>
                                          <p:attrName>style.visibility</p:attrName>
                                        </p:attrNameLst>
                                      </p:cBhvr>
                                      <p:to>
                                        <p:strVal val="visible"/>
                                      </p:to>
                                    </p:set>
                                    <p:animEffect transition="in" filter="wipe(left)">
                                      <p:cBhvr>
                                        <p:cTn id="12" dur="1000"/>
                                        <p:tgtEl>
                                          <p:spTgt spid="28672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723">
                                            <p:txEl>
                                              <p:pRg st="3" end="3"/>
                                            </p:txEl>
                                          </p:spTgt>
                                        </p:tgtEl>
                                        <p:attrNameLst>
                                          <p:attrName>style.visibility</p:attrName>
                                        </p:attrNameLst>
                                      </p:cBhvr>
                                      <p:to>
                                        <p:strVal val="visible"/>
                                      </p:to>
                                    </p:set>
                                    <p:animEffect transition="in" filter="wipe(left)">
                                      <p:cBhvr>
                                        <p:cTn id="17" dur="1000"/>
                                        <p:tgtEl>
                                          <p:spTgt spid="2867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3" grpId="0" build="p" bldLvl="3"/>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a:extLst>
              <a:ext uri="{FF2B5EF4-FFF2-40B4-BE49-F238E27FC236}">
                <a16:creationId xmlns:a16="http://schemas.microsoft.com/office/drawing/2014/main" id="{8F5C77E4-E234-464F-C019-B32E13D26F40}"/>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pic>
        <p:nvPicPr>
          <p:cNvPr id="31747" name="Picture 5" descr="fig21">
            <a:extLst>
              <a:ext uri="{FF2B5EF4-FFF2-40B4-BE49-F238E27FC236}">
                <a16:creationId xmlns:a16="http://schemas.microsoft.com/office/drawing/2014/main" id="{153B7F4B-9707-3D08-EF80-DD61C1DD0D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6" descr="fig21">
            <a:extLst>
              <a:ext uri="{FF2B5EF4-FFF2-40B4-BE49-F238E27FC236}">
                <a16:creationId xmlns:a16="http://schemas.microsoft.com/office/drawing/2014/main" id="{95E23424-EA6E-5967-1C1F-E07EBCEAC9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0311" name="Picture 7" descr="fig21">
            <a:extLst>
              <a:ext uri="{FF2B5EF4-FFF2-40B4-BE49-F238E27FC236}">
                <a16:creationId xmlns:a16="http://schemas.microsoft.com/office/drawing/2014/main" id="{B90F2D6C-7C9D-77CD-9621-9BFE509461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10311"/>
                                        </p:tgtEl>
                                        <p:attrNameLst>
                                          <p:attrName>style.visibility</p:attrName>
                                        </p:attrNameLst>
                                      </p:cBhvr>
                                      <p:to>
                                        <p:strVal val="visible"/>
                                      </p:to>
                                    </p:set>
                                    <p:animEffect transition="in" filter="wipe(down)">
                                      <p:cBhvr>
                                        <p:cTn id="7" dur="1000"/>
                                        <p:tgtEl>
                                          <p:spTgt spid="610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7747" name="Rectangle 3">
            <a:extLst>
              <a:ext uri="{FF2B5EF4-FFF2-40B4-BE49-F238E27FC236}">
                <a16:creationId xmlns:a16="http://schemas.microsoft.com/office/drawing/2014/main" id="{75BED1AD-1DB0-C68F-9A50-2E620B63CB70}"/>
              </a:ext>
            </a:extLst>
          </p:cNvPr>
          <p:cNvSpPr>
            <a:spLocks noGrp="1" noChangeArrowheads="1"/>
          </p:cNvSpPr>
          <p:nvPr>
            <p:ph type="body" idx="1"/>
          </p:nvPr>
        </p:nvSpPr>
        <p:spPr>
          <a:xfrm>
            <a:off x="381000" y="1371600"/>
            <a:ext cx="8229600" cy="4724400"/>
          </a:xfrm>
        </p:spPr>
        <p:txBody>
          <a:bodyPr/>
          <a:lstStyle/>
          <a:p>
            <a:pPr lvl="1" indent="0" eaLnBrk="1" hangingPunct="1"/>
            <a:r>
              <a:rPr lang="en-US" altLang="zh-TW">
                <a:ea typeface="新細明體" panose="02020500000000000000" pitchFamily="18" charset="-120"/>
              </a:rPr>
              <a:t>Firms sell and households buy consumer goods and services in the </a:t>
            </a:r>
            <a:r>
              <a:rPr lang="en-US" altLang="zh-TW" b="1">
                <a:ea typeface="新細明體" panose="02020500000000000000" pitchFamily="18" charset="-120"/>
              </a:rPr>
              <a:t>goods market</a:t>
            </a:r>
            <a:r>
              <a:rPr lang="en-US" altLang="zh-TW">
                <a:ea typeface="新細明體" panose="02020500000000000000" pitchFamily="18" charset="-120"/>
              </a:rPr>
              <a:t>. </a:t>
            </a:r>
          </a:p>
          <a:p>
            <a:pPr lvl="1" indent="0" eaLnBrk="1" hangingPunct="1"/>
            <a:r>
              <a:rPr lang="en-US" altLang="zh-TW" b="1">
                <a:ea typeface="新細明體" panose="02020500000000000000" pitchFamily="18" charset="-120"/>
              </a:rPr>
              <a:t>Consumption expenditure</a:t>
            </a:r>
            <a:r>
              <a:rPr lang="en-US" altLang="zh-TW">
                <a:ea typeface="新細明體" panose="02020500000000000000" pitchFamily="18" charset="-120"/>
              </a:rPr>
              <a:t> is the total payment for consumer goods and services, shown by the red flow labeled </a:t>
            </a:r>
            <a:r>
              <a:rPr lang="en-US" altLang="zh-TW" i="1">
                <a:ea typeface="新細明體" panose="02020500000000000000" pitchFamily="18" charset="-120"/>
              </a:rPr>
              <a:t>C</a:t>
            </a:r>
            <a:r>
              <a:rPr lang="en-US" altLang="zh-TW">
                <a:ea typeface="新細明體" panose="02020500000000000000" pitchFamily="18" charset="-120"/>
              </a:rPr>
              <a:t> .</a:t>
            </a:r>
          </a:p>
          <a:p>
            <a:pPr lvl="1" indent="0" eaLnBrk="1" hangingPunct="1"/>
            <a:r>
              <a:rPr lang="en-US" altLang="zh-TW">
                <a:ea typeface="新細明體" panose="02020500000000000000" pitchFamily="18" charset="-120"/>
              </a:rPr>
              <a:t>Firms buy and sell new capital equipment in the goods market and put unsold output into inventory.</a:t>
            </a:r>
          </a:p>
          <a:p>
            <a:pPr lvl="1" indent="0" eaLnBrk="1" hangingPunct="1"/>
            <a:r>
              <a:rPr lang="en-US" altLang="zh-TW">
                <a:ea typeface="新細明體" panose="02020500000000000000" pitchFamily="18" charset="-120"/>
              </a:rPr>
              <a:t>The purchase of new plant, equipment, and buildings and the additions to inventories are </a:t>
            </a:r>
            <a:r>
              <a:rPr lang="en-US" altLang="zh-TW" b="1">
                <a:ea typeface="新細明體" panose="02020500000000000000" pitchFamily="18" charset="-120"/>
              </a:rPr>
              <a:t>investment</a:t>
            </a:r>
            <a:r>
              <a:rPr lang="en-US" altLang="zh-TW">
                <a:ea typeface="新細明體" panose="02020500000000000000" pitchFamily="18" charset="-120"/>
              </a:rPr>
              <a:t>, shown by the red flow labeled </a:t>
            </a:r>
            <a:r>
              <a:rPr lang="en-US" altLang="zh-TW" i="1">
                <a:ea typeface="新細明體" panose="02020500000000000000" pitchFamily="18" charset="-120"/>
              </a:rPr>
              <a:t>I.</a:t>
            </a:r>
          </a:p>
        </p:txBody>
      </p:sp>
      <p:sp>
        <p:nvSpPr>
          <p:cNvPr id="33795" name="Rectangle 50">
            <a:extLst>
              <a:ext uri="{FF2B5EF4-FFF2-40B4-BE49-F238E27FC236}">
                <a16:creationId xmlns:a16="http://schemas.microsoft.com/office/drawing/2014/main" id="{3EF3BD67-63C1-B690-4A99-326E2464CC0B}"/>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7747">
                                            <p:txEl>
                                              <p:pRg st="1" end="1"/>
                                            </p:txEl>
                                          </p:spTgt>
                                        </p:tgtEl>
                                        <p:attrNameLst>
                                          <p:attrName>style.visibility</p:attrName>
                                        </p:attrNameLst>
                                      </p:cBhvr>
                                      <p:to>
                                        <p:strVal val="visible"/>
                                      </p:to>
                                    </p:set>
                                    <p:animEffect transition="in" filter="wipe(left)">
                                      <p:cBhvr>
                                        <p:cTn id="7" dur="1000"/>
                                        <p:tgtEl>
                                          <p:spTgt spid="2877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7747">
                                            <p:txEl>
                                              <p:pRg st="2" end="2"/>
                                            </p:txEl>
                                          </p:spTgt>
                                        </p:tgtEl>
                                        <p:attrNameLst>
                                          <p:attrName>style.visibility</p:attrName>
                                        </p:attrNameLst>
                                      </p:cBhvr>
                                      <p:to>
                                        <p:strVal val="visible"/>
                                      </p:to>
                                    </p:set>
                                    <p:animEffect transition="in" filter="wipe(left)">
                                      <p:cBhvr>
                                        <p:cTn id="12" dur="1000"/>
                                        <p:tgtEl>
                                          <p:spTgt spid="28774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7747">
                                            <p:txEl>
                                              <p:pRg st="3" end="3"/>
                                            </p:txEl>
                                          </p:spTgt>
                                        </p:tgtEl>
                                        <p:attrNameLst>
                                          <p:attrName>style.visibility</p:attrName>
                                        </p:attrNameLst>
                                      </p:cBhvr>
                                      <p:to>
                                        <p:strVal val="visible"/>
                                      </p:to>
                                    </p:set>
                                    <p:animEffect transition="in" filter="wipe(left)">
                                      <p:cBhvr>
                                        <p:cTn id="17" dur="1000"/>
                                        <p:tgtEl>
                                          <p:spTgt spid="2877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7" grpId="0" build="p" bldLvl="3"/>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9">
            <a:extLst>
              <a:ext uri="{FF2B5EF4-FFF2-40B4-BE49-F238E27FC236}">
                <a16:creationId xmlns:a16="http://schemas.microsoft.com/office/drawing/2014/main" id="{B1176003-2FD3-1B83-E739-ADE612364E8B}"/>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pic>
        <p:nvPicPr>
          <p:cNvPr id="35843" name="Picture 41" descr="fig21">
            <a:extLst>
              <a:ext uri="{FF2B5EF4-FFF2-40B4-BE49-F238E27FC236}">
                <a16:creationId xmlns:a16="http://schemas.microsoft.com/office/drawing/2014/main" id="{E8249134-B7E8-2B97-2431-A7CB07D548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4" name="Picture 42" descr="fig21">
            <a:extLst>
              <a:ext uri="{FF2B5EF4-FFF2-40B4-BE49-F238E27FC236}">
                <a16:creationId xmlns:a16="http://schemas.microsoft.com/office/drawing/2014/main" id="{1E818781-91FE-C354-E6D0-8C43CA3E67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43" descr="fig21">
            <a:extLst>
              <a:ext uri="{FF2B5EF4-FFF2-40B4-BE49-F238E27FC236}">
                <a16:creationId xmlns:a16="http://schemas.microsoft.com/office/drawing/2014/main" id="{BE4C76AA-3870-AEE4-61B9-065724C77D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9836" name="Picture 44" descr="fig21">
            <a:extLst>
              <a:ext uri="{FF2B5EF4-FFF2-40B4-BE49-F238E27FC236}">
                <a16:creationId xmlns:a16="http://schemas.microsoft.com/office/drawing/2014/main" id="{943A645A-40CD-72B8-AB57-A226EDF526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9837" name="Picture 45" descr="fig21">
            <a:extLst>
              <a:ext uri="{FF2B5EF4-FFF2-40B4-BE49-F238E27FC236}">
                <a16:creationId xmlns:a16="http://schemas.microsoft.com/office/drawing/2014/main" id="{EBF5F0D6-DEFF-BF80-E47D-387C935F23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9838" name="Picture 46" descr="fig21">
            <a:extLst>
              <a:ext uri="{FF2B5EF4-FFF2-40B4-BE49-F238E27FC236}">
                <a16:creationId xmlns:a16="http://schemas.microsoft.com/office/drawing/2014/main" id="{9918FF49-A46F-EF50-6BC1-070F215027B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89836"/>
                                        </p:tgtEl>
                                        <p:attrNameLst>
                                          <p:attrName>style.visibility</p:attrName>
                                        </p:attrNameLst>
                                      </p:cBhvr>
                                      <p:to>
                                        <p:strVal val="visible"/>
                                      </p:to>
                                    </p:set>
                                    <p:animEffect transition="in" filter="wipe(up)">
                                      <p:cBhvr>
                                        <p:cTn id="7" dur="1000"/>
                                        <p:tgtEl>
                                          <p:spTgt spid="2898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89837"/>
                                        </p:tgtEl>
                                        <p:attrNameLst>
                                          <p:attrName>style.visibility</p:attrName>
                                        </p:attrNameLst>
                                      </p:cBhvr>
                                      <p:to>
                                        <p:strVal val="visible"/>
                                      </p:to>
                                    </p:set>
                                    <p:animEffect transition="in" filter="wipe(down)">
                                      <p:cBhvr>
                                        <p:cTn id="12" dur="1000"/>
                                        <p:tgtEl>
                                          <p:spTgt spid="289837"/>
                                        </p:tgtEl>
                                      </p:cBhvr>
                                    </p:animEffect>
                                  </p:childTnLst>
                                </p:cTn>
                              </p:par>
                            </p:childTnLst>
                          </p:cTn>
                        </p:par>
                        <p:par>
                          <p:cTn id="13" fill="hold" nodeType="afterGroup">
                            <p:stCondLst>
                              <p:cond delay="1000"/>
                            </p:stCondLst>
                            <p:childTnLst>
                              <p:par>
                                <p:cTn id="14" presetID="22" presetClass="entr" presetSubtype="2" fill="hold" nodeType="afterEffect">
                                  <p:stCondLst>
                                    <p:cond delay="0"/>
                                  </p:stCondLst>
                                  <p:childTnLst>
                                    <p:set>
                                      <p:cBhvr>
                                        <p:cTn id="15" dur="1" fill="hold">
                                          <p:stCondLst>
                                            <p:cond delay="0"/>
                                          </p:stCondLst>
                                        </p:cTn>
                                        <p:tgtEl>
                                          <p:spTgt spid="289838"/>
                                        </p:tgtEl>
                                        <p:attrNameLst>
                                          <p:attrName>style.visibility</p:attrName>
                                        </p:attrNameLst>
                                      </p:cBhvr>
                                      <p:to>
                                        <p:strVal val="visible"/>
                                      </p:to>
                                    </p:set>
                                    <p:animEffect transition="in" filter="wipe(right)">
                                      <p:cBhvr>
                                        <p:cTn id="16" dur="1000"/>
                                        <p:tgtEl>
                                          <p:spTgt spid="2898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0819" name="Rectangle 3">
            <a:extLst>
              <a:ext uri="{FF2B5EF4-FFF2-40B4-BE49-F238E27FC236}">
                <a16:creationId xmlns:a16="http://schemas.microsoft.com/office/drawing/2014/main" id="{B232091F-49F4-E581-AD48-0D1F341A32A9}"/>
              </a:ext>
            </a:extLst>
          </p:cNvPr>
          <p:cNvSpPr>
            <a:spLocks noGrp="1" noChangeArrowheads="1"/>
          </p:cNvSpPr>
          <p:nvPr>
            <p:ph type="body" idx="1"/>
          </p:nvPr>
        </p:nvSpPr>
        <p:spPr>
          <a:xfrm>
            <a:off x="457200" y="1371600"/>
            <a:ext cx="8229600" cy="4876800"/>
          </a:xfrm>
        </p:spPr>
        <p:txBody>
          <a:bodyPr/>
          <a:lstStyle/>
          <a:p>
            <a:pPr lvl="1" indent="0" eaLnBrk="1" hangingPunct="1"/>
            <a:r>
              <a:rPr lang="en-US" altLang="zh-TW" b="1">
                <a:solidFill>
                  <a:srgbClr val="C40075"/>
                </a:solidFill>
                <a:ea typeface="新細明體" panose="02020500000000000000" pitchFamily="18" charset="-120"/>
              </a:rPr>
              <a:t>Governments</a:t>
            </a:r>
          </a:p>
          <a:p>
            <a:pPr lvl="1" indent="0" eaLnBrk="1" hangingPunct="1"/>
            <a:r>
              <a:rPr lang="en-US" altLang="zh-TW">
                <a:ea typeface="新細明體" panose="02020500000000000000" pitchFamily="18" charset="-120"/>
              </a:rPr>
              <a:t>Governments buy goods and services from firms and their expenditure on goods and services is called </a:t>
            </a:r>
            <a:r>
              <a:rPr lang="en-US" altLang="zh-TW" b="1">
                <a:ea typeface="新細明體" panose="02020500000000000000" pitchFamily="18" charset="-120"/>
              </a:rPr>
              <a:t>government expenditure</a:t>
            </a:r>
            <a:r>
              <a:rPr lang="en-US" altLang="zh-TW">
                <a:ea typeface="新細明體" panose="02020500000000000000" pitchFamily="18" charset="-120"/>
              </a:rPr>
              <a:t>.</a:t>
            </a:r>
          </a:p>
          <a:p>
            <a:pPr lvl="1" indent="0" eaLnBrk="1" hangingPunct="1"/>
            <a:r>
              <a:rPr lang="en-US" altLang="zh-TW">
                <a:ea typeface="新細明體" panose="02020500000000000000" pitchFamily="18" charset="-120"/>
              </a:rPr>
              <a:t>Government expenditure is shown as the red flow </a:t>
            </a:r>
            <a:r>
              <a:rPr lang="en-US" altLang="zh-TW" i="1">
                <a:ea typeface="新細明體" panose="02020500000000000000" pitchFamily="18" charset="-120"/>
              </a:rPr>
              <a:t>G</a:t>
            </a:r>
            <a:r>
              <a:rPr lang="en-US" altLang="zh-TW">
                <a:ea typeface="新細明體" panose="02020500000000000000" pitchFamily="18" charset="-120"/>
              </a:rPr>
              <a:t>.</a:t>
            </a:r>
          </a:p>
          <a:p>
            <a:pPr lvl="1" indent="0" eaLnBrk="1" hangingPunct="1"/>
            <a:r>
              <a:rPr lang="en-US" altLang="zh-TW">
                <a:ea typeface="新細明體" panose="02020500000000000000" pitchFamily="18" charset="-120"/>
              </a:rPr>
              <a:t>Governments finance their expenditure with taxes and pay financial transfers to households, such as unemployment benefits, and pay subsidies to firms.</a:t>
            </a:r>
          </a:p>
          <a:p>
            <a:pPr lvl="1" indent="0" eaLnBrk="1" hangingPunct="1"/>
            <a:r>
              <a:rPr lang="en-US" altLang="zh-TW">
                <a:ea typeface="新細明體" panose="02020500000000000000" pitchFamily="18" charset="-120"/>
              </a:rPr>
              <a:t>These financial transfers are </a:t>
            </a:r>
            <a:r>
              <a:rPr lang="en-US" altLang="zh-TW" i="1">
                <a:ea typeface="新細明體" panose="02020500000000000000" pitchFamily="18" charset="-120"/>
              </a:rPr>
              <a:t>not</a:t>
            </a:r>
            <a:r>
              <a:rPr lang="en-US" altLang="zh-TW">
                <a:ea typeface="新細明體" panose="02020500000000000000" pitchFamily="18" charset="-120"/>
              </a:rPr>
              <a:t> part of the circular flow of expenditure and income.</a:t>
            </a:r>
          </a:p>
        </p:txBody>
      </p:sp>
      <p:sp>
        <p:nvSpPr>
          <p:cNvPr id="37891" name="Rectangle 39">
            <a:extLst>
              <a:ext uri="{FF2B5EF4-FFF2-40B4-BE49-F238E27FC236}">
                <a16:creationId xmlns:a16="http://schemas.microsoft.com/office/drawing/2014/main" id="{09A5BB2A-D420-8F1E-7951-E789CE708E65}"/>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0819">
                                            <p:txEl>
                                              <p:pRg st="1" end="1"/>
                                            </p:txEl>
                                          </p:spTgt>
                                        </p:tgtEl>
                                        <p:attrNameLst>
                                          <p:attrName>style.visibility</p:attrName>
                                        </p:attrNameLst>
                                      </p:cBhvr>
                                      <p:to>
                                        <p:strVal val="visible"/>
                                      </p:to>
                                    </p:set>
                                    <p:animEffect transition="in" filter="wipe(left)">
                                      <p:cBhvr>
                                        <p:cTn id="7" dur="1000"/>
                                        <p:tgtEl>
                                          <p:spTgt spid="2908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0819">
                                            <p:txEl>
                                              <p:pRg st="2" end="2"/>
                                            </p:txEl>
                                          </p:spTgt>
                                        </p:tgtEl>
                                        <p:attrNameLst>
                                          <p:attrName>style.visibility</p:attrName>
                                        </p:attrNameLst>
                                      </p:cBhvr>
                                      <p:to>
                                        <p:strVal val="visible"/>
                                      </p:to>
                                    </p:set>
                                    <p:animEffect transition="in" filter="wipe(left)">
                                      <p:cBhvr>
                                        <p:cTn id="12" dur="1000"/>
                                        <p:tgtEl>
                                          <p:spTgt spid="29081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0819">
                                            <p:txEl>
                                              <p:pRg st="3" end="3"/>
                                            </p:txEl>
                                          </p:spTgt>
                                        </p:tgtEl>
                                        <p:attrNameLst>
                                          <p:attrName>style.visibility</p:attrName>
                                        </p:attrNameLst>
                                      </p:cBhvr>
                                      <p:to>
                                        <p:strVal val="visible"/>
                                      </p:to>
                                    </p:set>
                                    <p:animEffect transition="in" filter="wipe(left)">
                                      <p:cBhvr>
                                        <p:cTn id="17" dur="1000"/>
                                        <p:tgtEl>
                                          <p:spTgt spid="29081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0819">
                                            <p:txEl>
                                              <p:pRg st="4" end="4"/>
                                            </p:txEl>
                                          </p:spTgt>
                                        </p:tgtEl>
                                        <p:attrNameLst>
                                          <p:attrName>style.visibility</p:attrName>
                                        </p:attrNameLst>
                                      </p:cBhvr>
                                      <p:to>
                                        <p:strVal val="visible"/>
                                      </p:to>
                                    </p:set>
                                    <p:animEffect transition="in" filter="wipe(left)">
                                      <p:cBhvr>
                                        <p:cTn id="22" dur="1000"/>
                                        <p:tgtEl>
                                          <p:spTgt spid="2908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9" grpId="0" build="p" bldLvl="3"/>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B45FD3C-9AA0-219F-B681-F33059F26D2D}"/>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pic>
        <p:nvPicPr>
          <p:cNvPr id="39939" name="Picture 3" descr="fig21">
            <a:extLst>
              <a:ext uri="{FF2B5EF4-FFF2-40B4-BE49-F238E27FC236}">
                <a16:creationId xmlns:a16="http://schemas.microsoft.com/office/drawing/2014/main" id="{2EB39733-5E14-5F08-F1D6-41D2281F9A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4" descr="fig21">
            <a:extLst>
              <a:ext uri="{FF2B5EF4-FFF2-40B4-BE49-F238E27FC236}">
                <a16:creationId xmlns:a16="http://schemas.microsoft.com/office/drawing/2014/main" id="{95474078-61B8-62EA-26C1-47FC7B5CD1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5" descr="fig21">
            <a:extLst>
              <a:ext uri="{FF2B5EF4-FFF2-40B4-BE49-F238E27FC236}">
                <a16:creationId xmlns:a16="http://schemas.microsoft.com/office/drawing/2014/main" id="{2AF3F96D-82E7-B284-FAA7-0F8E4C3D25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2" name="Picture 6" descr="fig21">
            <a:extLst>
              <a:ext uri="{FF2B5EF4-FFF2-40B4-BE49-F238E27FC236}">
                <a16:creationId xmlns:a16="http://schemas.microsoft.com/office/drawing/2014/main" id="{A692DFEF-47EF-3386-D815-42064D63F3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3" name="Picture 7" descr="fig21">
            <a:extLst>
              <a:ext uri="{FF2B5EF4-FFF2-40B4-BE49-F238E27FC236}">
                <a16:creationId xmlns:a16="http://schemas.microsoft.com/office/drawing/2014/main" id="{B3D8B62F-5218-B23B-EB11-A8B303627A4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4" name="Picture 8" descr="fig21">
            <a:extLst>
              <a:ext uri="{FF2B5EF4-FFF2-40B4-BE49-F238E27FC236}">
                <a16:creationId xmlns:a16="http://schemas.microsoft.com/office/drawing/2014/main" id="{EE1ED1D5-952E-5EBC-03DB-63D019F7E20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09" name="Picture 9" descr="fig21">
            <a:extLst>
              <a:ext uri="{FF2B5EF4-FFF2-40B4-BE49-F238E27FC236}">
                <a16:creationId xmlns:a16="http://schemas.microsoft.com/office/drawing/2014/main" id="{7967EE0C-1A4A-C550-2356-D4E0BAD7FA2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5000" y="18970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14409"/>
                                        </p:tgtEl>
                                        <p:attrNameLst>
                                          <p:attrName>style.visibility</p:attrName>
                                        </p:attrNameLst>
                                      </p:cBhvr>
                                      <p:to>
                                        <p:strVal val="visible"/>
                                      </p:to>
                                    </p:set>
                                    <p:animEffect transition="in" filter="wipe(up)">
                                      <p:cBhvr>
                                        <p:cTn id="7" dur="1000"/>
                                        <p:tgtEl>
                                          <p:spTgt spid="614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1843" name="Rectangle 3">
            <a:extLst>
              <a:ext uri="{FF2B5EF4-FFF2-40B4-BE49-F238E27FC236}">
                <a16:creationId xmlns:a16="http://schemas.microsoft.com/office/drawing/2014/main" id="{53D220C3-6C11-8F0D-C1A8-7530F952C43C}"/>
              </a:ext>
            </a:extLst>
          </p:cNvPr>
          <p:cNvSpPr>
            <a:spLocks noGrp="1" noChangeArrowheads="1"/>
          </p:cNvSpPr>
          <p:nvPr>
            <p:ph type="body" idx="1"/>
          </p:nvPr>
        </p:nvSpPr>
        <p:spPr>
          <a:xfrm>
            <a:off x="457200" y="1447800"/>
            <a:ext cx="8458200" cy="4876800"/>
          </a:xfrm>
        </p:spPr>
        <p:txBody>
          <a:bodyPr/>
          <a:lstStyle/>
          <a:p>
            <a:pPr lvl="1" indent="0" eaLnBrk="1" hangingPunct="1"/>
            <a:r>
              <a:rPr lang="en-US" altLang="zh-TW" b="1">
                <a:solidFill>
                  <a:srgbClr val="C40075"/>
                </a:solidFill>
                <a:ea typeface="新細明體" panose="02020500000000000000" pitchFamily="18" charset="-120"/>
              </a:rPr>
              <a:t>Rest of the World </a:t>
            </a:r>
          </a:p>
          <a:p>
            <a:pPr lvl="1" indent="0" eaLnBrk="1" hangingPunct="1"/>
            <a:r>
              <a:rPr lang="en-US" altLang="zh-TW">
                <a:ea typeface="新細明體" panose="02020500000000000000" pitchFamily="18" charset="-120"/>
              </a:rPr>
              <a:t>Firms in the United States sell goods and services to the rest of the world—</a:t>
            </a:r>
            <a:r>
              <a:rPr lang="en-US" altLang="zh-TW" b="1">
                <a:ea typeface="新細明體" panose="02020500000000000000" pitchFamily="18" charset="-120"/>
              </a:rPr>
              <a:t>exports</a:t>
            </a:r>
            <a:r>
              <a:rPr lang="en-US" altLang="zh-TW">
                <a:ea typeface="新細明體" panose="02020500000000000000" pitchFamily="18" charset="-120"/>
              </a:rPr>
              <a:t>—and buy goods and services from the rest of the world—</a:t>
            </a:r>
            <a:r>
              <a:rPr lang="en-US" altLang="zh-TW" b="1">
                <a:ea typeface="新細明體" panose="02020500000000000000" pitchFamily="18" charset="-120"/>
              </a:rPr>
              <a:t>imports</a:t>
            </a:r>
            <a:r>
              <a:rPr lang="en-US" altLang="zh-TW">
                <a:ea typeface="新細明體" panose="02020500000000000000" pitchFamily="18" charset="-120"/>
              </a:rPr>
              <a:t>. </a:t>
            </a:r>
          </a:p>
          <a:p>
            <a:pPr lvl="1" indent="0" eaLnBrk="1" hangingPunct="1"/>
            <a:r>
              <a:rPr lang="en-US" altLang="zh-TW">
                <a:ea typeface="新細明體" panose="02020500000000000000" pitchFamily="18" charset="-120"/>
              </a:rPr>
              <a:t>The value of exports (</a:t>
            </a:r>
            <a:r>
              <a:rPr lang="en-US" altLang="zh-TW" i="1">
                <a:ea typeface="新細明體" panose="02020500000000000000" pitchFamily="18" charset="-120"/>
              </a:rPr>
              <a:t>X </a:t>
            </a:r>
            <a:r>
              <a:rPr lang="en-US" altLang="zh-TW">
                <a:ea typeface="新細明體" panose="02020500000000000000" pitchFamily="18" charset="-120"/>
              </a:rPr>
              <a:t>) minus the value of imports (</a:t>
            </a:r>
            <a:r>
              <a:rPr lang="en-US" altLang="zh-TW" i="1">
                <a:ea typeface="新細明體" panose="02020500000000000000" pitchFamily="18" charset="-120"/>
              </a:rPr>
              <a:t>M</a:t>
            </a:r>
            <a:r>
              <a:rPr lang="en-US" altLang="zh-TW">
                <a:ea typeface="新細明體" panose="02020500000000000000" pitchFamily="18" charset="-120"/>
              </a:rPr>
              <a:t>) is called </a:t>
            </a:r>
            <a:r>
              <a:rPr lang="en-US" altLang="zh-TW" b="1">
                <a:ea typeface="新細明體" panose="02020500000000000000" pitchFamily="18" charset="-120"/>
              </a:rPr>
              <a:t>net exports</a:t>
            </a:r>
            <a:r>
              <a:rPr lang="en-US" altLang="zh-TW">
                <a:ea typeface="新細明體" panose="02020500000000000000" pitchFamily="18" charset="-120"/>
              </a:rPr>
              <a:t>, the red flow </a:t>
            </a:r>
            <a:r>
              <a:rPr lang="en-US" altLang="zh-TW" i="1">
                <a:ea typeface="新細明體" panose="02020500000000000000" pitchFamily="18" charset="-120"/>
              </a:rPr>
              <a:t>X </a:t>
            </a:r>
            <a:r>
              <a:rPr lang="en-US" altLang="zh-TW">
                <a:ea typeface="新細明體" panose="02020500000000000000" pitchFamily="18" charset="-120"/>
              </a:rPr>
              <a:t>– </a:t>
            </a:r>
            <a:r>
              <a:rPr lang="en-US" altLang="zh-TW" i="1">
                <a:ea typeface="新細明體" panose="02020500000000000000" pitchFamily="18" charset="-120"/>
              </a:rPr>
              <a:t>M.</a:t>
            </a:r>
          </a:p>
          <a:p>
            <a:pPr lvl="1" indent="0" eaLnBrk="1" hangingPunct="1"/>
            <a:r>
              <a:rPr lang="en-US" altLang="zh-TW">
                <a:ea typeface="新細明體" panose="02020500000000000000" pitchFamily="18" charset="-120"/>
              </a:rPr>
              <a:t>If net exports are </a:t>
            </a:r>
            <a:r>
              <a:rPr lang="en-US" altLang="zh-TW" i="1">
                <a:ea typeface="新細明體" panose="02020500000000000000" pitchFamily="18" charset="-120"/>
              </a:rPr>
              <a:t>positive</a:t>
            </a:r>
            <a:r>
              <a:rPr lang="en-US" altLang="zh-TW">
                <a:ea typeface="新細明體" panose="02020500000000000000" pitchFamily="18" charset="-120"/>
              </a:rPr>
              <a:t>, the net flow of goods and services is from U.S. firms to the rest of the world.</a:t>
            </a:r>
          </a:p>
          <a:p>
            <a:pPr lvl="1" indent="0" eaLnBrk="1" hangingPunct="1"/>
            <a:r>
              <a:rPr lang="en-US" altLang="zh-TW">
                <a:ea typeface="新細明體" panose="02020500000000000000" pitchFamily="18" charset="-120"/>
              </a:rPr>
              <a:t>If net exports are </a:t>
            </a:r>
            <a:r>
              <a:rPr lang="en-US" altLang="zh-TW" i="1">
                <a:ea typeface="新細明體" panose="02020500000000000000" pitchFamily="18" charset="-120"/>
              </a:rPr>
              <a:t>negative</a:t>
            </a:r>
            <a:r>
              <a:rPr lang="en-US" altLang="zh-TW">
                <a:ea typeface="新細明體" panose="02020500000000000000" pitchFamily="18" charset="-120"/>
              </a:rPr>
              <a:t>, the net flow of goods and services is from the rest of the world to U.S. firms.</a:t>
            </a:r>
          </a:p>
        </p:txBody>
      </p:sp>
      <p:sp>
        <p:nvSpPr>
          <p:cNvPr id="41987" name="Rectangle 61">
            <a:extLst>
              <a:ext uri="{FF2B5EF4-FFF2-40B4-BE49-F238E27FC236}">
                <a16:creationId xmlns:a16="http://schemas.microsoft.com/office/drawing/2014/main" id="{552FDA54-089C-99AE-B87A-C9D3AB309A81}"/>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1843">
                                            <p:txEl>
                                              <p:pRg st="1" end="1"/>
                                            </p:txEl>
                                          </p:spTgt>
                                        </p:tgtEl>
                                        <p:attrNameLst>
                                          <p:attrName>style.visibility</p:attrName>
                                        </p:attrNameLst>
                                      </p:cBhvr>
                                      <p:to>
                                        <p:strVal val="visible"/>
                                      </p:to>
                                    </p:set>
                                    <p:animEffect transition="in" filter="wipe(left)">
                                      <p:cBhvr>
                                        <p:cTn id="7" dur="1000"/>
                                        <p:tgtEl>
                                          <p:spTgt spid="2918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1843">
                                            <p:txEl>
                                              <p:pRg st="2" end="2"/>
                                            </p:txEl>
                                          </p:spTgt>
                                        </p:tgtEl>
                                        <p:attrNameLst>
                                          <p:attrName>style.visibility</p:attrName>
                                        </p:attrNameLst>
                                      </p:cBhvr>
                                      <p:to>
                                        <p:strVal val="visible"/>
                                      </p:to>
                                    </p:set>
                                    <p:animEffect transition="in" filter="wipe(left)">
                                      <p:cBhvr>
                                        <p:cTn id="12" dur="1000"/>
                                        <p:tgtEl>
                                          <p:spTgt spid="29184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1843">
                                            <p:txEl>
                                              <p:pRg st="3" end="3"/>
                                            </p:txEl>
                                          </p:spTgt>
                                        </p:tgtEl>
                                        <p:attrNameLst>
                                          <p:attrName>style.visibility</p:attrName>
                                        </p:attrNameLst>
                                      </p:cBhvr>
                                      <p:to>
                                        <p:strVal val="visible"/>
                                      </p:to>
                                    </p:set>
                                    <p:animEffect transition="in" filter="wipe(left)">
                                      <p:cBhvr>
                                        <p:cTn id="17" dur="1000"/>
                                        <p:tgtEl>
                                          <p:spTgt spid="29184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1843">
                                            <p:txEl>
                                              <p:pRg st="4" end="4"/>
                                            </p:txEl>
                                          </p:spTgt>
                                        </p:tgtEl>
                                        <p:attrNameLst>
                                          <p:attrName>style.visibility</p:attrName>
                                        </p:attrNameLst>
                                      </p:cBhvr>
                                      <p:to>
                                        <p:strVal val="visible"/>
                                      </p:to>
                                    </p:set>
                                    <p:animEffect transition="in" filter="wipe(left)">
                                      <p:cBhvr>
                                        <p:cTn id="22" dur="1000"/>
                                        <p:tgtEl>
                                          <p:spTgt spid="2918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3" grpId="0" build="p" bldLvl="3"/>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9">
            <a:extLst>
              <a:ext uri="{FF2B5EF4-FFF2-40B4-BE49-F238E27FC236}">
                <a16:creationId xmlns:a16="http://schemas.microsoft.com/office/drawing/2014/main" id="{591EB36D-39CD-77A0-3F7D-13714BF66E8D}"/>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pic>
        <p:nvPicPr>
          <p:cNvPr id="44035" name="Picture 41" descr="fig21">
            <a:extLst>
              <a:ext uri="{FF2B5EF4-FFF2-40B4-BE49-F238E27FC236}">
                <a16:creationId xmlns:a16="http://schemas.microsoft.com/office/drawing/2014/main" id="{27FE4B53-00F8-D0E3-6B9B-25F8522797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6" name="Picture 42" descr="fig21">
            <a:extLst>
              <a:ext uri="{FF2B5EF4-FFF2-40B4-BE49-F238E27FC236}">
                <a16:creationId xmlns:a16="http://schemas.microsoft.com/office/drawing/2014/main" id="{60ECEF44-F106-E4C4-7AC0-76F207C95D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7" name="Picture 43" descr="fig21">
            <a:extLst>
              <a:ext uri="{FF2B5EF4-FFF2-40B4-BE49-F238E27FC236}">
                <a16:creationId xmlns:a16="http://schemas.microsoft.com/office/drawing/2014/main" id="{E3A20EAF-789F-A16C-4489-71B76F7E86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8" name="Picture 44" descr="fig21">
            <a:extLst>
              <a:ext uri="{FF2B5EF4-FFF2-40B4-BE49-F238E27FC236}">
                <a16:creationId xmlns:a16="http://schemas.microsoft.com/office/drawing/2014/main" id="{9C2D81DE-32CD-5E1C-4737-A847310CD2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9" name="Picture 45" descr="fig21">
            <a:extLst>
              <a:ext uri="{FF2B5EF4-FFF2-40B4-BE49-F238E27FC236}">
                <a16:creationId xmlns:a16="http://schemas.microsoft.com/office/drawing/2014/main" id="{DAD49DDC-6A45-DB8B-35D9-A620697355E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0" name="Picture 46" descr="fig21">
            <a:extLst>
              <a:ext uri="{FF2B5EF4-FFF2-40B4-BE49-F238E27FC236}">
                <a16:creationId xmlns:a16="http://schemas.microsoft.com/office/drawing/2014/main" id="{2801AC8D-61BD-5E51-AD82-4462556688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1" name="Picture 47" descr="fig21">
            <a:extLst>
              <a:ext uri="{FF2B5EF4-FFF2-40B4-BE49-F238E27FC236}">
                <a16:creationId xmlns:a16="http://schemas.microsoft.com/office/drawing/2014/main" id="{CD9669A2-1821-87F3-0C85-64A986C8A5C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2912" name="Picture 48" descr="fig21">
            <a:extLst>
              <a:ext uri="{FF2B5EF4-FFF2-40B4-BE49-F238E27FC236}">
                <a16:creationId xmlns:a16="http://schemas.microsoft.com/office/drawing/2014/main" id="{AE07D035-5590-502D-73D1-FA23B688CC7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2913" name="Picture 49" descr="fig21">
            <a:extLst>
              <a:ext uri="{FF2B5EF4-FFF2-40B4-BE49-F238E27FC236}">
                <a16:creationId xmlns:a16="http://schemas.microsoft.com/office/drawing/2014/main" id="{A4B98372-3C39-FE1A-EB36-45A8317FBC1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92912"/>
                                        </p:tgtEl>
                                        <p:attrNameLst>
                                          <p:attrName>style.visibility</p:attrName>
                                        </p:attrNameLst>
                                      </p:cBhvr>
                                      <p:to>
                                        <p:strVal val="visible"/>
                                      </p:to>
                                    </p:set>
                                    <p:animEffect transition="in" filter="wipe(down)">
                                      <p:cBhvr>
                                        <p:cTn id="7" dur="1000"/>
                                        <p:tgtEl>
                                          <p:spTgt spid="292912"/>
                                        </p:tgtEl>
                                      </p:cBhvr>
                                    </p:animEffect>
                                  </p:childTnLst>
                                </p:cTn>
                              </p:par>
                            </p:childTnLst>
                          </p:cTn>
                        </p:par>
                        <p:par>
                          <p:cTn id="8" fill="hold" nodeType="afterGroup">
                            <p:stCondLst>
                              <p:cond delay="1000"/>
                            </p:stCondLst>
                            <p:childTnLst>
                              <p:par>
                                <p:cTn id="9" presetID="22" presetClass="entr" presetSubtype="2" fill="hold" nodeType="afterEffect">
                                  <p:stCondLst>
                                    <p:cond delay="0"/>
                                  </p:stCondLst>
                                  <p:childTnLst>
                                    <p:set>
                                      <p:cBhvr>
                                        <p:cTn id="10" dur="1" fill="hold">
                                          <p:stCondLst>
                                            <p:cond delay="0"/>
                                          </p:stCondLst>
                                        </p:cTn>
                                        <p:tgtEl>
                                          <p:spTgt spid="292913"/>
                                        </p:tgtEl>
                                        <p:attrNameLst>
                                          <p:attrName>style.visibility</p:attrName>
                                        </p:attrNameLst>
                                      </p:cBhvr>
                                      <p:to>
                                        <p:strVal val="visible"/>
                                      </p:to>
                                    </p:set>
                                    <p:animEffect transition="in" filter="wipe(right)">
                                      <p:cBhvr>
                                        <p:cTn id="11" dur="1000"/>
                                        <p:tgtEl>
                                          <p:spTgt spid="2929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3D314EC9-B424-B0AB-7429-34DF4F3F14CD}"/>
              </a:ext>
            </a:extLst>
          </p:cNvPr>
          <p:cNvSpPr>
            <a:spLocks noGrp="1" noChangeArrowheads="1"/>
          </p:cNvSpPr>
          <p:nvPr>
            <p:ph type="body" idx="1"/>
          </p:nvPr>
        </p:nvSpPr>
        <p:spPr>
          <a:xfrm>
            <a:off x="381000" y="1219200"/>
            <a:ext cx="8382000" cy="762000"/>
          </a:xfrm>
        </p:spPr>
        <p:txBody>
          <a:bodyPr/>
          <a:lstStyle/>
          <a:p>
            <a:pPr lvl="1" indent="0" eaLnBrk="1" hangingPunct="1"/>
            <a:r>
              <a:rPr lang="en-US" altLang="zh-TW">
                <a:ea typeface="新細明體" panose="02020500000000000000" pitchFamily="18" charset="-120"/>
              </a:rPr>
              <a:t>The blue and red flows are the circular flow of expenditure  and income. </a:t>
            </a:r>
          </a:p>
        </p:txBody>
      </p:sp>
      <p:sp>
        <p:nvSpPr>
          <p:cNvPr id="46083" name="Rectangle 50">
            <a:extLst>
              <a:ext uri="{FF2B5EF4-FFF2-40B4-BE49-F238E27FC236}">
                <a16:creationId xmlns:a16="http://schemas.microsoft.com/office/drawing/2014/main" id="{614E8BAF-C2B0-DE66-0AF9-A21D6B100220}"/>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pic>
        <p:nvPicPr>
          <p:cNvPr id="46084" name="Picture 51" descr="fig21">
            <a:extLst>
              <a:ext uri="{FF2B5EF4-FFF2-40B4-BE49-F238E27FC236}">
                <a16:creationId xmlns:a16="http://schemas.microsoft.com/office/drawing/2014/main" id="{AE533CE1-585E-FD77-7D33-CB6179DCA8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5" name="Picture 52" descr="fig21">
            <a:extLst>
              <a:ext uri="{FF2B5EF4-FFF2-40B4-BE49-F238E27FC236}">
                <a16:creationId xmlns:a16="http://schemas.microsoft.com/office/drawing/2014/main" id="{09B056CC-F0E7-0FAB-C949-ECA2CBEB4E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6" name="Picture 53" descr="fig21">
            <a:extLst>
              <a:ext uri="{FF2B5EF4-FFF2-40B4-BE49-F238E27FC236}">
                <a16:creationId xmlns:a16="http://schemas.microsoft.com/office/drawing/2014/main" id="{9667B2A2-3333-C8F1-46A0-07D477DC08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7" name="Picture 54" descr="fig21">
            <a:extLst>
              <a:ext uri="{FF2B5EF4-FFF2-40B4-BE49-F238E27FC236}">
                <a16:creationId xmlns:a16="http://schemas.microsoft.com/office/drawing/2014/main" id="{9FCD71DA-E298-872C-BB29-9051407C64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8" name="Picture 55" descr="fig21">
            <a:extLst>
              <a:ext uri="{FF2B5EF4-FFF2-40B4-BE49-F238E27FC236}">
                <a16:creationId xmlns:a16="http://schemas.microsoft.com/office/drawing/2014/main" id="{66E67DB8-6225-03FB-DACF-14162EB1B1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9" name="Picture 56" descr="fig21">
            <a:extLst>
              <a:ext uri="{FF2B5EF4-FFF2-40B4-BE49-F238E27FC236}">
                <a16:creationId xmlns:a16="http://schemas.microsoft.com/office/drawing/2014/main" id="{6D3226D9-7BEE-B410-64FB-B1897D8999B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0" name="Picture 57" descr="fig21">
            <a:extLst>
              <a:ext uri="{FF2B5EF4-FFF2-40B4-BE49-F238E27FC236}">
                <a16:creationId xmlns:a16="http://schemas.microsoft.com/office/drawing/2014/main" id="{B016554D-7536-4D05-5263-71056E7F749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1" name="Picture 58" descr="fig21">
            <a:extLst>
              <a:ext uri="{FF2B5EF4-FFF2-40B4-BE49-F238E27FC236}">
                <a16:creationId xmlns:a16="http://schemas.microsoft.com/office/drawing/2014/main" id="{3E252D2B-F0BA-A5B5-ECA9-AB4D3FA51FC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2" name="Picture 59" descr="fig21">
            <a:extLst>
              <a:ext uri="{FF2B5EF4-FFF2-40B4-BE49-F238E27FC236}">
                <a16:creationId xmlns:a16="http://schemas.microsoft.com/office/drawing/2014/main" id="{69112337-70D6-912E-47D2-344CE3BDB2E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3">
            <a:extLst>
              <a:ext uri="{FF2B5EF4-FFF2-40B4-BE49-F238E27FC236}">
                <a16:creationId xmlns:a16="http://schemas.microsoft.com/office/drawing/2014/main" id="{0E890346-AFF9-096E-D142-ABF51DB4035D}"/>
              </a:ext>
            </a:extLst>
          </p:cNvPr>
          <p:cNvSpPr>
            <a:spLocks noGrp="1" noChangeArrowheads="1"/>
          </p:cNvSpPr>
          <p:nvPr>
            <p:ph type="body" idx="1"/>
          </p:nvPr>
        </p:nvSpPr>
        <p:spPr>
          <a:xfrm>
            <a:off x="228600" y="1371600"/>
            <a:ext cx="8382000" cy="533400"/>
          </a:xfrm>
        </p:spPr>
        <p:txBody>
          <a:bodyPr/>
          <a:lstStyle/>
          <a:p>
            <a:pPr lvl="1" indent="0" eaLnBrk="1" hangingPunct="1"/>
            <a:r>
              <a:rPr lang="en-US" altLang="zh-TW">
                <a:ea typeface="新細明體" panose="02020500000000000000" pitchFamily="18" charset="-120"/>
              </a:rPr>
              <a:t>The sum of the red flows equals the blue flow.</a:t>
            </a:r>
            <a:endParaRPr lang="en-US" altLang="zh-TW" i="1">
              <a:ea typeface="新細明體" panose="02020500000000000000" pitchFamily="18" charset="-120"/>
            </a:endParaRPr>
          </a:p>
        </p:txBody>
      </p:sp>
      <p:sp>
        <p:nvSpPr>
          <p:cNvPr id="48131" name="Rectangle 50">
            <a:extLst>
              <a:ext uri="{FF2B5EF4-FFF2-40B4-BE49-F238E27FC236}">
                <a16:creationId xmlns:a16="http://schemas.microsoft.com/office/drawing/2014/main" id="{55F8BEEB-0092-ECBF-C1A8-DBD1D6050410}"/>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pic>
        <p:nvPicPr>
          <p:cNvPr id="48132" name="Picture 51" descr="fig21">
            <a:extLst>
              <a:ext uri="{FF2B5EF4-FFF2-40B4-BE49-F238E27FC236}">
                <a16:creationId xmlns:a16="http://schemas.microsoft.com/office/drawing/2014/main" id="{69E56F06-6502-ED6D-A0ED-D33F3CD3A2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3" name="Picture 52" descr="fig21">
            <a:extLst>
              <a:ext uri="{FF2B5EF4-FFF2-40B4-BE49-F238E27FC236}">
                <a16:creationId xmlns:a16="http://schemas.microsoft.com/office/drawing/2014/main" id="{CEA4D310-1B76-0298-0190-28D7F49CBF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4" name="Picture 53" descr="fig21">
            <a:extLst>
              <a:ext uri="{FF2B5EF4-FFF2-40B4-BE49-F238E27FC236}">
                <a16:creationId xmlns:a16="http://schemas.microsoft.com/office/drawing/2014/main" id="{687C0F94-631B-D6A0-885F-22EC17DC7C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5" name="Picture 54" descr="fig21">
            <a:extLst>
              <a:ext uri="{FF2B5EF4-FFF2-40B4-BE49-F238E27FC236}">
                <a16:creationId xmlns:a16="http://schemas.microsoft.com/office/drawing/2014/main" id="{B2581CFB-A659-6C4C-BE13-D63B654D07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6" name="Picture 55" descr="fig21">
            <a:extLst>
              <a:ext uri="{FF2B5EF4-FFF2-40B4-BE49-F238E27FC236}">
                <a16:creationId xmlns:a16="http://schemas.microsoft.com/office/drawing/2014/main" id="{D7C8FC4D-D5FB-ABF5-6F67-BFCF26E8FC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7" name="Picture 56" descr="fig21">
            <a:extLst>
              <a:ext uri="{FF2B5EF4-FFF2-40B4-BE49-F238E27FC236}">
                <a16:creationId xmlns:a16="http://schemas.microsoft.com/office/drawing/2014/main" id="{B65565B3-3823-D429-543C-5F46364B18F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8" name="Picture 57" descr="fig21">
            <a:extLst>
              <a:ext uri="{FF2B5EF4-FFF2-40B4-BE49-F238E27FC236}">
                <a16:creationId xmlns:a16="http://schemas.microsoft.com/office/drawing/2014/main" id="{9869F456-69ED-D362-0D35-089E5F93D2C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9" name="Picture 58" descr="fig21">
            <a:extLst>
              <a:ext uri="{FF2B5EF4-FFF2-40B4-BE49-F238E27FC236}">
                <a16:creationId xmlns:a16="http://schemas.microsoft.com/office/drawing/2014/main" id="{283D8F5B-57E4-E0C6-3533-86B29B9A2D0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0" name="Picture 59" descr="fig21">
            <a:extLst>
              <a:ext uri="{FF2B5EF4-FFF2-40B4-BE49-F238E27FC236}">
                <a16:creationId xmlns:a16="http://schemas.microsoft.com/office/drawing/2014/main" id="{6F85D66B-A1FE-E7DC-31D7-08F08D596F7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3">
            <a:extLst>
              <a:ext uri="{FF2B5EF4-FFF2-40B4-BE49-F238E27FC236}">
                <a16:creationId xmlns:a16="http://schemas.microsoft.com/office/drawing/2014/main" id="{209243BF-0AA0-776B-DB45-F2A689687F35}"/>
              </a:ext>
            </a:extLst>
          </p:cNvPr>
          <p:cNvSpPr>
            <a:spLocks noGrp="1" noChangeArrowheads="1"/>
          </p:cNvSpPr>
          <p:nvPr>
            <p:ph type="body" idx="1"/>
          </p:nvPr>
        </p:nvSpPr>
        <p:spPr>
          <a:xfrm>
            <a:off x="304800" y="1295400"/>
            <a:ext cx="7543800" cy="762000"/>
          </a:xfrm>
        </p:spPr>
        <p:txBody>
          <a:bodyPr/>
          <a:lstStyle/>
          <a:p>
            <a:pPr lvl="1" indent="0" eaLnBrk="1" hangingPunct="1"/>
            <a:r>
              <a:rPr lang="en-US" altLang="zh-TW">
                <a:ea typeface="新細明體" panose="02020500000000000000" pitchFamily="18" charset="-120"/>
              </a:rPr>
              <a:t>That is: </a:t>
            </a:r>
            <a:r>
              <a:rPr lang="en-US" altLang="zh-TW" i="1">
                <a:ea typeface="新細明體" panose="02020500000000000000" pitchFamily="18" charset="-120"/>
              </a:rPr>
              <a:t>Y</a:t>
            </a:r>
            <a:r>
              <a:rPr lang="en-US" altLang="zh-TW">
                <a:ea typeface="新細明體" panose="02020500000000000000" pitchFamily="18" charset="-120"/>
              </a:rPr>
              <a:t> = </a:t>
            </a:r>
            <a:r>
              <a:rPr lang="en-US" altLang="zh-TW" i="1">
                <a:ea typeface="新細明體" panose="02020500000000000000" pitchFamily="18" charset="-120"/>
              </a:rPr>
              <a:t>C</a:t>
            </a:r>
            <a:r>
              <a:rPr lang="en-US" altLang="zh-TW">
                <a:ea typeface="新細明體" panose="02020500000000000000" pitchFamily="18" charset="-120"/>
              </a:rPr>
              <a:t> + </a:t>
            </a:r>
            <a:r>
              <a:rPr lang="en-US" altLang="zh-TW" i="1">
                <a:ea typeface="新細明體" panose="02020500000000000000" pitchFamily="18" charset="-120"/>
              </a:rPr>
              <a:t>I</a:t>
            </a:r>
            <a:r>
              <a:rPr lang="en-US" altLang="zh-TW">
                <a:ea typeface="新細明體" panose="02020500000000000000" pitchFamily="18" charset="-120"/>
              </a:rPr>
              <a:t> + </a:t>
            </a:r>
            <a:r>
              <a:rPr lang="en-US" altLang="zh-TW" i="1">
                <a:ea typeface="新細明體" panose="02020500000000000000" pitchFamily="18" charset="-120"/>
              </a:rPr>
              <a:t>G</a:t>
            </a:r>
            <a:r>
              <a:rPr lang="en-US" altLang="zh-TW">
                <a:ea typeface="新細明體" panose="02020500000000000000" pitchFamily="18" charset="-120"/>
              </a:rPr>
              <a:t> + </a:t>
            </a:r>
            <a:r>
              <a:rPr lang="en-US" altLang="zh-TW" i="1">
                <a:ea typeface="新細明體" panose="02020500000000000000" pitchFamily="18" charset="-120"/>
              </a:rPr>
              <a:t>X</a:t>
            </a:r>
            <a:r>
              <a:rPr lang="en-US" altLang="zh-TW">
                <a:ea typeface="新細明體" panose="02020500000000000000" pitchFamily="18" charset="-120"/>
              </a:rPr>
              <a:t> – </a:t>
            </a:r>
            <a:r>
              <a:rPr lang="en-US" altLang="zh-TW" i="1">
                <a:ea typeface="新細明體" panose="02020500000000000000" pitchFamily="18" charset="-120"/>
              </a:rPr>
              <a:t>M</a:t>
            </a:r>
          </a:p>
        </p:txBody>
      </p:sp>
      <p:sp>
        <p:nvSpPr>
          <p:cNvPr id="50179" name="Rectangle 39">
            <a:extLst>
              <a:ext uri="{FF2B5EF4-FFF2-40B4-BE49-F238E27FC236}">
                <a16:creationId xmlns:a16="http://schemas.microsoft.com/office/drawing/2014/main" id="{BE5FA6CD-7705-13E5-6E3A-BCE2B8EFA5BD}"/>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pic>
        <p:nvPicPr>
          <p:cNvPr id="50180" name="Picture 40" descr="fig21">
            <a:extLst>
              <a:ext uri="{FF2B5EF4-FFF2-40B4-BE49-F238E27FC236}">
                <a16:creationId xmlns:a16="http://schemas.microsoft.com/office/drawing/2014/main" id="{0766846E-F61A-045A-E25C-0ADB80965A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1" name="Picture 41" descr="fig21">
            <a:extLst>
              <a:ext uri="{FF2B5EF4-FFF2-40B4-BE49-F238E27FC236}">
                <a16:creationId xmlns:a16="http://schemas.microsoft.com/office/drawing/2014/main" id="{777F8855-8D00-0DC1-71A6-4EB004FFF9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2" name="Picture 42" descr="fig21">
            <a:extLst>
              <a:ext uri="{FF2B5EF4-FFF2-40B4-BE49-F238E27FC236}">
                <a16:creationId xmlns:a16="http://schemas.microsoft.com/office/drawing/2014/main" id="{712355A7-D07A-681C-FCE3-08FF6354D5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3" name="Picture 43" descr="fig21">
            <a:extLst>
              <a:ext uri="{FF2B5EF4-FFF2-40B4-BE49-F238E27FC236}">
                <a16:creationId xmlns:a16="http://schemas.microsoft.com/office/drawing/2014/main" id="{EC6B065E-2F08-A575-EC81-D7D4926DC5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4" name="Picture 44" descr="fig21">
            <a:extLst>
              <a:ext uri="{FF2B5EF4-FFF2-40B4-BE49-F238E27FC236}">
                <a16:creationId xmlns:a16="http://schemas.microsoft.com/office/drawing/2014/main" id="{6F3B3727-A3CA-2557-7F1D-8CB38F2275A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5" name="Picture 45" descr="fig21">
            <a:extLst>
              <a:ext uri="{FF2B5EF4-FFF2-40B4-BE49-F238E27FC236}">
                <a16:creationId xmlns:a16="http://schemas.microsoft.com/office/drawing/2014/main" id="{27F0457B-DBA1-4245-1D69-BCC2B9E8C0B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6" name="Picture 46" descr="fig21">
            <a:extLst>
              <a:ext uri="{FF2B5EF4-FFF2-40B4-BE49-F238E27FC236}">
                <a16:creationId xmlns:a16="http://schemas.microsoft.com/office/drawing/2014/main" id="{09010F57-16DD-463D-CC90-CFB0963D018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7" name="Picture 47" descr="fig21">
            <a:extLst>
              <a:ext uri="{FF2B5EF4-FFF2-40B4-BE49-F238E27FC236}">
                <a16:creationId xmlns:a16="http://schemas.microsoft.com/office/drawing/2014/main" id="{4CE9F85F-5BA5-4DC8-FD3C-AA6B55DC179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8" name="Picture 48" descr="fig21">
            <a:extLst>
              <a:ext uri="{FF2B5EF4-FFF2-40B4-BE49-F238E27FC236}">
                <a16:creationId xmlns:a16="http://schemas.microsoft.com/office/drawing/2014/main" id="{0F016404-3422-E087-0109-02FB8A3DDB9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05000" y="1973263"/>
            <a:ext cx="5233988"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3" name="Rectangle 3">
            <a:extLst>
              <a:ext uri="{FF2B5EF4-FFF2-40B4-BE49-F238E27FC236}">
                <a16:creationId xmlns:a16="http://schemas.microsoft.com/office/drawing/2014/main" id="{2FAEC407-795A-BC51-02F7-B750F59363FF}"/>
              </a:ext>
            </a:extLst>
          </p:cNvPr>
          <p:cNvSpPr>
            <a:spLocks noGrp="1" noChangeArrowheads="1"/>
          </p:cNvSpPr>
          <p:nvPr>
            <p:ph type="body" idx="1"/>
          </p:nvPr>
        </p:nvSpPr>
        <p:spPr>
          <a:xfrm>
            <a:off x="457200" y="1524000"/>
            <a:ext cx="8382000" cy="4953000"/>
          </a:xfrm>
        </p:spPr>
        <p:txBody>
          <a:bodyPr/>
          <a:lstStyle/>
          <a:p>
            <a:pPr lvl="1" indent="0" eaLnBrk="1" hangingPunct="1"/>
            <a:r>
              <a:rPr lang="en-US" altLang="zh-TW">
                <a:ea typeface="新細明體" panose="02020500000000000000" pitchFamily="18" charset="-120"/>
              </a:rPr>
              <a:t>The circular flow shows two ways of measuring GDP.</a:t>
            </a:r>
          </a:p>
          <a:p>
            <a:pPr lvl="1" indent="0" eaLnBrk="1" hangingPunct="1"/>
            <a:r>
              <a:rPr lang="en-US" altLang="zh-TW" b="1">
                <a:solidFill>
                  <a:srgbClr val="C40075"/>
                </a:solidFill>
                <a:ea typeface="新細明體" panose="02020500000000000000" pitchFamily="18" charset="-120"/>
              </a:rPr>
              <a:t>GDP Equals Expenditure Equals Income</a:t>
            </a:r>
          </a:p>
          <a:p>
            <a:pPr lvl="1" indent="0" eaLnBrk="1" hangingPunct="1"/>
            <a:r>
              <a:rPr lang="en-US" altLang="zh-TW">
                <a:ea typeface="新細明體" panose="02020500000000000000" pitchFamily="18" charset="-120"/>
              </a:rPr>
              <a:t>Total expenditure on final goods and services equals GDP.</a:t>
            </a:r>
          </a:p>
          <a:p>
            <a:pPr lvl="1" indent="0" algn="ctr" eaLnBrk="1" hangingPunct="1"/>
            <a:r>
              <a:rPr lang="en-US" altLang="zh-TW">
                <a:ea typeface="新細明體" panose="02020500000000000000" pitchFamily="18" charset="-120"/>
              </a:rPr>
              <a:t>GDP</a:t>
            </a:r>
            <a:r>
              <a:rPr lang="en-US" altLang="zh-TW" i="1">
                <a:ea typeface="新細明體" panose="02020500000000000000" pitchFamily="18" charset="-120"/>
              </a:rPr>
              <a:t> = C</a:t>
            </a:r>
            <a:r>
              <a:rPr lang="en-US" altLang="zh-TW">
                <a:ea typeface="新細明體" panose="02020500000000000000" pitchFamily="18" charset="-120"/>
              </a:rPr>
              <a:t> + </a:t>
            </a:r>
            <a:r>
              <a:rPr lang="en-US" altLang="zh-TW" i="1">
                <a:ea typeface="新細明體" panose="02020500000000000000" pitchFamily="18" charset="-120"/>
              </a:rPr>
              <a:t>I</a:t>
            </a:r>
            <a:r>
              <a:rPr lang="en-US" altLang="zh-TW">
                <a:ea typeface="新細明體" panose="02020500000000000000" pitchFamily="18" charset="-120"/>
              </a:rPr>
              <a:t> + </a:t>
            </a:r>
            <a:r>
              <a:rPr lang="en-US" altLang="zh-TW" i="1">
                <a:ea typeface="新細明體" panose="02020500000000000000" pitchFamily="18" charset="-120"/>
              </a:rPr>
              <a:t>G</a:t>
            </a:r>
            <a:r>
              <a:rPr lang="en-US" altLang="zh-TW">
                <a:ea typeface="新細明體" panose="02020500000000000000" pitchFamily="18" charset="-120"/>
              </a:rPr>
              <a:t> + </a:t>
            </a:r>
            <a:r>
              <a:rPr lang="en-US" altLang="zh-TW" i="1">
                <a:ea typeface="新細明體" panose="02020500000000000000" pitchFamily="18" charset="-120"/>
              </a:rPr>
              <a:t>X</a:t>
            </a:r>
            <a:r>
              <a:rPr lang="en-US" altLang="zh-TW">
                <a:ea typeface="新細明體" panose="02020500000000000000" pitchFamily="18" charset="-120"/>
              </a:rPr>
              <a:t> – </a:t>
            </a:r>
            <a:r>
              <a:rPr lang="en-US" altLang="zh-TW" i="1">
                <a:ea typeface="新細明體" panose="02020500000000000000" pitchFamily="18" charset="-120"/>
              </a:rPr>
              <a:t>M</a:t>
            </a:r>
            <a:r>
              <a:rPr lang="en-US" altLang="zh-TW">
                <a:ea typeface="新細明體" panose="02020500000000000000" pitchFamily="18" charset="-120"/>
              </a:rPr>
              <a:t>.</a:t>
            </a:r>
          </a:p>
          <a:p>
            <a:pPr lvl="1" indent="0" eaLnBrk="1" hangingPunct="1"/>
            <a:r>
              <a:rPr lang="en-US" altLang="zh-TW">
                <a:ea typeface="新細明體" panose="02020500000000000000" pitchFamily="18" charset="-120"/>
              </a:rPr>
              <a:t>Aggregate income equals the total amount paid for the use of factors of production: wages, interest, rent, and profit.</a:t>
            </a:r>
          </a:p>
          <a:p>
            <a:pPr lvl="1" indent="0" eaLnBrk="1" hangingPunct="1"/>
            <a:r>
              <a:rPr lang="en-US" altLang="zh-TW">
                <a:ea typeface="新細明體" panose="02020500000000000000" pitchFamily="18" charset="-120"/>
              </a:rPr>
              <a:t>Firms pay out all their receipts from the sale of final goods, so income equals expenditure,</a:t>
            </a:r>
          </a:p>
          <a:p>
            <a:pPr lvl="1" indent="0" algn="ctr" eaLnBrk="1" hangingPunct="1"/>
            <a:r>
              <a:rPr lang="en-US" altLang="zh-TW" i="1">
                <a:ea typeface="新細明體" panose="02020500000000000000" pitchFamily="18" charset="-120"/>
              </a:rPr>
              <a:t>Y</a:t>
            </a:r>
            <a:r>
              <a:rPr lang="en-US" altLang="zh-TW">
                <a:ea typeface="新細明體" panose="02020500000000000000" pitchFamily="18" charset="-120"/>
              </a:rPr>
              <a:t> = </a:t>
            </a:r>
            <a:r>
              <a:rPr lang="en-US" altLang="zh-TW" i="1">
                <a:ea typeface="新細明體" panose="02020500000000000000" pitchFamily="18" charset="-120"/>
              </a:rPr>
              <a:t>C</a:t>
            </a:r>
            <a:r>
              <a:rPr lang="en-US" altLang="zh-TW">
                <a:ea typeface="新細明體" panose="02020500000000000000" pitchFamily="18" charset="-120"/>
              </a:rPr>
              <a:t> + </a:t>
            </a:r>
            <a:r>
              <a:rPr lang="en-US" altLang="zh-TW" i="1">
                <a:ea typeface="新細明體" panose="02020500000000000000" pitchFamily="18" charset="-120"/>
              </a:rPr>
              <a:t>I</a:t>
            </a:r>
            <a:r>
              <a:rPr lang="en-US" altLang="zh-TW">
                <a:ea typeface="新細明體" panose="02020500000000000000" pitchFamily="18" charset="-120"/>
              </a:rPr>
              <a:t> + </a:t>
            </a:r>
            <a:r>
              <a:rPr lang="en-US" altLang="zh-TW" i="1">
                <a:ea typeface="新細明體" panose="02020500000000000000" pitchFamily="18" charset="-120"/>
              </a:rPr>
              <a:t>G</a:t>
            </a:r>
            <a:r>
              <a:rPr lang="en-US" altLang="zh-TW">
                <a:ea typeface="新細明體" panose="02020500000000000000" pitchFamily="18" charset="-120"/>
              </a:rPr>
              <a:t> + (</a:t>
            </a:r>
            <a:r>
              <a:rPr lang="en-US" altLang="zh-TW" i="1">
                <a:ea typeface="新細明體" panose="02020500000000000000" pitchFamily="18" charset="-120"/>
              </a:rPr>
              <a:t>X</a:t>
            </a:r>
            <a:r>
              <a:rPr lang="en-US" altLang="zh-TW">
                <a:ea typeface="新細明體" panose="02020500000000000000" pitchFamily="18" charset="-120"/>
              </a:rPr>
              <a:t> – </a:t>
            </a:r>
            <a:r>
              <a:rPr lang="en-US" altLang="zh-TW" i="1">
                <a:ea typeface="新細明體" panose="02020500000000000000" pitchFamily="18" charset="-120"/>
              </a:rPr>
              <a:t>M</a:t>
            </a:r>
            <a:r>
              <a:rPr lang="en-US" altLang="zh-TW">
                <a:ea typeface="新細明體" panose="02020500000000000000" pitchFamily="18" charset="-120"/>
              </a:rPr>
              <a:t>).</a:t>
            </a:r>
          </a:p>
        </p:txBody>
      </p:sp>
      <p:sp>
        <p:nvSpPr>
          <p:cNvPr id="52227" name="Rectangle 5">
            <a:extLst>
              <a:ext uri="{FF2B5EF4-FFF2-40B4-BE49-F238E27FC236}">
                <a16:creationId xmlns:a16="http://schemas.microsoft.com/office/drawing/2014/main" id="{96BA5A9C-6745-56E6-34DB-5569B70AA2B1}"/>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43">
                                            <p:txEl>
                                              <p:pRg st="1" end="1"/>
                                            </p:txEl>
                                          </p:spTgt>
                                        </p:tgtEl>
                                        <p:attrNameLst>
                                          <p:attrName>style.visibility</p:attrName>
                                        </p:attrNameLst>
                                      </p:cBhvr>
                                      <p:to>
                                        <p:strVal val="visible"/>
                                      </p:to>
                                    </p:set>
                                    <p:animEffect transition="in" filter="wipe(left)">
                                      <p:cBhvr>
                                        <p:cTn id="7" dur="1000"/>
                                        <p:tgtEl>
                                          <p:spTgt spid="2150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043">
                                            <p:txEl>
                                              <p:pRg st="2" end="2"/>
                                            </p:txEl>
                                          </p:spTgt>
                                        </p:tgtEl>
                                        <p:attrNameLst>
                                          <p:attrName>style.visibility</p:attrName>
                                        </p:attrNameLst>
                                      </p:cBhvr>
                                      <p:to>
                                        <p:strVal val="visible"/>
                                      </p:to>
                                    </p:set>
                                    <p:animEffect transition="in" filter="wipe(left)">
                                      <p:cBhvr>
                                        <p:cTn id="12" dur="1000"/>
                                        <p:tgtEl>
                                          <p:spTgt spid="21504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5043">
                                            <p:txEl>
                                              <p:pRg st="3" end="3"/>
                                            </p:txEl>
                                          </p:spTgt>
                                        </p:tgtEl>
                                        <p:attrNameLst>
                                          <p:attrName>style.visibility</p:attrName>
                                        </p:attrNameLst>
                                      </p:cBhvr>
                                      <p:to>
                                        <p:strVal val="visible"/>
                                      </p:to>
                                    </p:set>
                                    <p:animEffect transition="in" filter="wipe(left)">
                                      <p:cBhvr>
                                        <p:cTn id="17" dur="1000"/>
                                        <p:tgtEl>
                                          <p:spTgt spid="21504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5043">
                                            <p:txEl>
                                              <p:pRg st="4" end="4"/>
                                            </p:txEl>
                                          </p:spTgt>
                                        </p:tgtEl>
                                        <p:attrNameLst>
                                          <p:attrName>style.visibility</p:attrName>
                                        </p:attrNameLst>
                                      </p:cBhvr>
                                      <p:to>
                                        <p:strVal val="visible"/>
                                      </p:to>
                                    </p:set>
                                    <p:animEffect transition="in" filter="wipe(left)">
                                      <p:cBhvr>
                                        <p:cTn id="22" dur="1000"/>
                                        <p:tgtEl>
                                          <p:spTgt spid="21504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5043">
                                            <p:txEl>
                                              <p:pRg st="5" end="5"/>
                                            </p:txEl>
                                          </p:spTgt>
                                        </p:tgtEl>
                                        <p:attrNameLst>
                                          <p:attrName>style.visibility</p:attrName>
                                        </p:attrNameLst>
                                      </p:cBhvr>
                                      <p:to>
                                        <p:strVal val="visible"/>
                                      </p:to>
                                    </p:set>
                                    <p:animEffect transition="in" filter="wipe(left)">
                                      <p:cBhvr>
                                        <p:cTn id="27" dur="1000"/>
                                        <p:tgtEl>
                                          <p:spTgt spid="21504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5043">
                                            <p:txEl>
                                              <p:pRg st="6" end="6"/>
                                            </p:txEl>
                                          </p:spTgt>
                                        </p:tgtEl>
                                        <p:attrNameLst>
                                          <p:attrName>style.visibility</p:attrName>
                                        </p:attrNameLst>
                                      </p:cBhvr>
                                      <p:to>
                                        <p:strVal val="visible"/>
                                      </p:to>
                                    </p:set>
                                    <p:animEffect transition="in" filter="wipe(left)">
                                      <p:cBhvr>
                                        <p:cTn id="32" dur="1000"/>
                                        <p:tgtEl>
                                          <p:spTgt spid="2150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build="p" bldLvl="3"/>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7" name="Rectangle 3">
            <a:extLst>
              <a:ext uri="{FF2B5EF4-FFF2-40B4-BE49-F238E27FC236}">
                <a16:creationId xmlns:a16="http://schemas.microsoft.com/office/drawing/2014/main" id="{8DCA8C29-C5C4-759C-173B-EEE6E27E8A67}"/>
              </a:ext>
            </a:extLst>
          </p:cNvPr>
          <p:cNvSpPr>
            <a:spLocks noGrp="1" noChangeArrowheads="1"/>
          </p:cNvSpPr>
          <p:nvPr>
            <p:ph type="body" idx="1"/>
          </p:nvPr>
        </p:nvSpPr>
        <p:spPr>
          <a:xfrm>
            <a:off x="457200" y="1600200"/>
            <a:ext cx="8229600" cy="4572000"/>
          </a:xfrm>
        </p:spPr>
        <p:txBody>
          <a:bodyPr/>
          <a:lstStyle/>
          <a:p>
            <a:pPr marL="0" indent="0" eaLnBrk="1" hangingPunct="1"/>
            <a:r>
              <a:rPr lang="en-US" altLang="zh-TW">
                <a:ea typeface="新細明體" panose="02020500000000000000" pitchFamily="18" charset="-120"/>
              </a:rPr>
              <a:t>Why Is Domestic Product “Gross”?</a:t>
            </a:r>
          </a:p>
          <a:p>
            <a:pPr lvl="1" indent="0" eaLnBrk="1" hangingPunct="1"/>
            <a:r>
              <a:rPr lang="en-US" altLang="zh-TW">
                <a:ea typeface="新細明體" panose="02020500000000000000" pitchFamily="18" charset="-120"/>
              </a:rPr>
              <a:t>“Gross” means before deducting the depreciation of capital. </a:t>
            </a:r>
          </a:p>
          <a:p>
            <a:pPr lvl="1" indent="0" eaLnBrk="1" hangingPunct="1"/>
            <a:r>
              <a:rPr lang="en-US" altLang="zh-TW">
                <a:ea typeface="新細明體" panose="02020500000000000000" pitchFamily="18" charset="-120"/>
              </a:rPr>
              <a:t>The opposite of </a:t>
            </a:r>
            <a:r>
              <a:rPr lang="en-US" altLang="zh-TW" i="1">
                <a:ea typeface="新細明體" panose="02020500000000000000" pitchFamily="18" charset="-120"/>
              </a:rPr>
              <a:t>gross</a:t>
            </a:r>
            <a:r>
              <a:rPr lang="en-US" altLang="zh-TW">
                <a:ea typeface="新細明體" panose="02020500000000000000" pitchFamily="18" charset="-120"/>
              </a:rPr>
              <a:t> is </a:t>
            </a:r>
            <a:r>
              <a:rPr lang="en-US" altLang="zh-TW" i="1">
                <a:ea typeface="新細明體" panose="02020500000000000000" pitchFamily="18" charset="-120"/>
              </a:rPr>
              <a:t>net</a:t>
            </a:r>
            <a:r>
              <a:rPr lang="en-US" altLang="zh-TW">
                <a:ea typeface="新細明體" panose="02020500000000000000" pitchFamily="18" charset="-120"/>
              </a:rPr>
              <a:t>. </a:t>
            </a:r>
          </a:p>
          <a:p>
            <a:pPr lvl="1" indent="0" eaLnBrk="1" hangingPunct="1"/>
            <a:r>
              <a:rPr lang="en-US" altLang="zh-TW">
                <a:ea typeface="新細明體" panose="02020500000000000000" pitchFamily="18" charset="-120"/>
              </a:rPr>
              <a:t>“Net” means after deducting the depreciation of capital.</a:t>
            </a:r>
          </a:p>
        </p:txBody>
      </p:sp>
      <p:sp>
        <p:nvSpPr>
          <p:cNvPr id="54275" name="Rectangle 5">
            <a:extLst>
              <a:ext uri="{FF2B5EF4-FFF2-40B4-BE49-F238E27FC236}">
                <a16:creationId xmlns:a16="http://schemas.microsoft.com/office/drawing/2014/main" id="{CF23D90D-2D18-B4A5-29CE-AD75B42A6964}"/>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1187">
                                            <p:txEl>
                                              <p:pRg st="1" end="1"/>
                                            </p:txEl>
                                          </p:spTgt>
                                        </p:tgtEl>
                                        <p:attrNameLst>
                                          <p:attrName>style.visibility</p:attrName>
                                        </p:attrNameLst>
                                      </p:cBhvr>
                                      <p:to>
                                        <p:strVal val="visible"/>
                                      </p:to>
                                    </p:set>
                                    <p:animEffect transition="in" filter="wipe(left)">
                                      <p:cBhvr>
                                        <p:cTn id="7" dur="1000"/>
                                        <p:tgtEl>
                                          <p:spTgt spid="22118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1187">
                                            <p:txEl>
                                              <p:pRg st="2" end="2"/>
                                            </p:txEl>
                                          </p:spTgt>
                                        </p:tgtEl>
                                        <p:attrNameLst>
                                          <p:attrName>style.visibility</p:attrName>
                                        </p:attrNameLst>
                                      </p:cBhvr>
                                      <p:to>
                                        <p:strVal val="visible"/>
                                      </p:to>
                                    </p:set>
                                    <p:animEffect transition="in" filter="wipe(left)">
                                      <p:cBhvr>
                                        <p:cTn id="12" dur="1000"/>
                                        <p:tgtEl>
                                          <p:spTgt spid="22118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1187">
                                            <p:txEl>
                                              <p:pRg st="3" end="3"/>
                                            </p:txEl>
                                          </p:spTgt>
                                        </p:tgtEl>
                                        <p:attrNameLst>
                                          <p:attrName>style.visibility</p:attrName>
                                        </p:attrNameLst>
                                      </p:cBhvr>
                                      <p:to>
                                        <p:strVal val="visible"/>
                                      </p:to>
                                    </p:set>
                                    <p:animEffect transition="in" filter="wipe(left)">
                                      <p:cBhvr>
                                        <p:cTn id="17" dur="1000"/>
                                        <p:tgtEl>
                                          <p:spTgt spid="2211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7" grpId="0" build="p" bldLvl="3"/>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6450" name="Rectangle 2">
            <a:extLst>
              <a:ext uri="{FF2B5EF4-FFF2-40B4-BE49-F238E27FC236}">
                <a16:creationId xmlns:a16="http://schemas.microsoft.com/office/drawing/2014/main" id="{7682E3AE-2C46-B383-12AB-B144D25728C2}"/>
              </a:ext>
            </a:extLst>
          </p:cNvPr>
          <p:cNvSpPr>
            <a:spLocks noGrp="1" noChangeArrowheads="1"/>
          </p:cNvSpPr>
          <p:nvPr>
            <p:ph type="body" idx="1"/>
          </p:nvPr>
        </p:nvSpPr>
        <p:spPr>
          <a:xfrm>
            <a:off x="457200" y="1600200"/>
            <a:ext cx="8229600" cy="4876800"/>
          </a:xfrm>
        </p:spPr>
        <p:txBody>
          <a:bodyPr/>
          <a:lstStyle/>
          <a:p>
            <a:pPr lvl="1" indent="0" eaLnBrk="1" hangingPunct="1"/>
            <a:r>
              <a:rPr lang="en-US" altLang="zh-TW" b="1">
                <a:ea typeface="新細明體" panose="02020500000000000000" pitchFamily="18" charset="-120"/>
              </a:rPr>
              <a:t>Depreciation</a:t>
            </a:r>
            <a:r>
              <a:rPr lang="en-US" altLang="zh-TW">
                <a:ea typeface="新細明體" panose="02020500000000000000" pitchFamily="18" charset="-120"/>
              </a:rPr>
              <a:t> is the decrease in the value of a firm’s capital that results from wear and tear and obsolescence.</a:t>
            </a:r>
          </a:p>
          <a:p>
            <a:pPr lvl="1" indent="0" eaLnBrk="1" hangingPunct="1"/>
            <a:r>
              <a:rPr lang="en-US" altLang="zh-TW" b="1">
                <a:ea typeface="新細明體" panose="02020500000000000000" pitchFamily="18" charset="-120"/>
              </a:rPr>
              <a:t>Gross investment</a:t>
            </a:r>
            <a:r>
              <a:rPr lang="en-US" altLang="zh-TW">
                <a:ea typeface="新細明體" panose="02020500000000000000" pitchFamily="18" charset="-120"/>
              </a:rPr>
              <a:t> is the total amount spent on purchases of new capital and on replacing depreciated capital.</a:t>
            </a:r>
          </a:p>
          <a:p>
            <a:pPr lvl="1" indent="0" eaLnBrk="1" hangingPunct="1"/>
            <a:r>
              <a:rPr lang="en-US" altLang="zh-TW" b="1">
                <a:ea typeface="新細明體" panose="02020500000000000000" pitchFamily="18" charset="-120"/>
              </a:rPr>
              <a:t>Net investment</a:t>
            </a:r>
            <a:r>
              <a:rPr lang="en-US" altLang="zh-TW">
                <a:ea typeface="新細明體" panose="02020500000000000000" pitchFamily="18" charset="-120"/>
              </a:rPr>
              <a:t> is the increase in the value of the firm’s capital.</a:t>
            </a:r>
          </a:p>
          <a:p>
            <a:pPr lvl="1" indent="0" algn="ctr" eaLnBrk="1" hangingPunct="1"/>
            <a:r>
              <a:rPr lang="en-US" altLang="zh-TW">
                <a:ea typeface="新細明體" panose="02020500000000000000" pitchFamily="18" charset="-120"/>
              </a:rPr>
              <a:t>Net investment = Gross investment </a:t>
            </a:r>
            <a:r>
              <a:rPr lang="en-US" altLang="zh-TW">
                <a:ea typeface="新細明體" panose="02020500000000000000" pitchFamily="18" charset="-120"/>
                <a:sym typeface="Symbol" pitchFamily="2" charset="2"/>
              </a:rPr>
              <a:t> Depreciation.</a:t>
            </a:r>
          </a:p>
        </p:txBody>
      </p:sp>
      <p:sp>
        <p:nvSpPr>
          <p:cNvPr id="56323" name="Rectangle 3">
            <a:extLst>
              <a:ext uri="{FF2B5EF4-FFF2-40B4-BE49-F238E27FC236}">
                <a16:creationId xmlns:a16="http://schemas.microsoft.com/office/drawing/2014/main" id="{D6F43326-5231-06D9-5583-4AE450496EA6}"/>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6450">
                                            <p:txEl>
                                              <p:pRg st="1" end="1"/>
                                            </p:txEl>
                                          </p:spTgt>
                                        </p:tgtEl>
                                        <p:attrNameLst>
                                          <p:attrName>style.visibility</p:attrName>
                                        </p:attrNameLst>
                                      </p:cBhvr>
                                      <p:to>
                                        <p:strVal val="visible"/>
                                      </p:to>
                                    </p:set>
                                    <p:animEffect transition="in" filter="wipe(left)">
                                      <p:cBhvr>
                                        <p:cTn id="7" dur="1000"/>
                                        <p:tgtEl>
                                          <p:spTgt spid="61645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6450">
                                            <p:txEl>
                                              <p:pRg st="2" end="2"/>
                                            </p:txEl>
                                          </p:spTgt>
                                        </p:tgtEl>
                                        <p:attrNameLst>
                                          <p:attrName>style.visibility</p:attrName>
                                        </p:attrNameLst>
                                      </p:cBhvr>
                                      <p:to>
                                        <p:strVal val="visible"/>
                                      </p:to>
                                    </p:set>
                                    <p:animEffect transition="in" filter="wipe(left)">
                                      <p:cBhvr>
                                        <p:cTn id="12" dur="1000"/>
                                        <p:tgtEl>
                                          <p:spTgt spid="61645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6450">
                                            <p:txEl>
                                              <p:pRg st="3" end="3"/>
                                            </p:txEl>
                                          </p:spTgt>
                                        </p:tgtEl>
                                        <p:attrNameLst>
                                          <p:attrName>style.visibility</p:attrName>
                                        </p:attrNameLst>
                                      </p:cBhvr>
                                      <p:to>
                                        <p:strVal val="visible"/>
                                      </p:to>
                                    </p:set>
                                    <p:animEffect transition="in" filter="wipe(left)">
                                      <p:cBhvr>
                                        <p:cTn id="17" dur="1000"/>
                                        <p:tgtEl>
                                          <p:spTgt spid="61645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450" grpId="0" build="p" bldLvl="3"/>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1" name="Rectangle 3">
            <a:extLst>
              <a:ext uri="{FF2B5EF4-FFF2-40B4-BE49-F238E27FC236}">
                <a16:creationId xmlns:a16="http://schemas.microsoft.com/office/drawing/2014/main" id="{89632C5A-5081-48AF-EB2B-2810E45CD406}"/>
              </a:ext>
            </a:extLst>
          </p:cNvPr>
          <p:cNvSpPr>
            <a:spLocks noGrp="1" noChangeArrowheads="1"/>
          </p:cNvSpPr>
          <p:nvPr>
            <p:ph type="body" idx="1"/>
          </p:nvPr>
        </p:nvSpPr>
        <p:spPr/>
        <p:txBody>
          <a:bodyPr/>
          <a:lstStyle/>
          <a:p>
            <a:pPr lvl="1" indent="0" eaLnBrk="1" hangingPunct="1"/>
            <a:r>
              <a:rPr lang="en-US" altLang="zh-TW" i="1">
                <a:ea typeface="新細明體" panose="02020500000000000000" pitchFamily="18" charset="-120"/>
              </a:rPr>
              <a:t>Gross investment </a:t>
            </a:r>
            <a:r>
              <a:rPr lang="en-US" altLang="zh-TW">
                <a:ea typeface="新細明體" panose="02020500000000000000" pitchFamily="18" charset="-120"/>
              </a:rPr>
              <a:t>is one of the expenditures included in the expenditure approach to measuring GDP.</a:t>
            </a:r>
          </a:p>
          <a:p>
            <a:pPr lvl="1" indent="0" eaLnBrk="1" hangingPunct="1"/>
            <a:r>
              <a:rPr lang="en-US" altLang="zh-TW">
                <a:ea typeface="新細明體" panose="02020500000000000000" pitchFamily="18" charset="-120"/>
              </a:rPr>
              <a:t>So total product is a gross measure.</a:t>
            </a:r>
          </a:p>
          <a:p>
            <a:pPr lvl="1" indent="0" eaLnBrk="1" hangingPunct="1"/>
            <a:r>
              <a:rPr lang="en-US" altLang="zh-TW" i="1">
                <a:ea typeface="新細明體" panose="02020500000000000000" pitchFamily="18" charset="-120"/>
              </a:rPr>
              <a:t>Gross profit</a:t>
            </a:r>
            <a:r>
              <a:rPr lang="en-US" altLang="zh-TW">
                <a:ea typeface="新細明體" panose="02020500000000000000" pitchFamily="18" charset="-120"/>
              </a:rPr>
              <a:t>, which is a firm’s profit before subtracting depreciation, is one of the incomes included in the income approach to measuring GDP.</a:t>
            </a:r>
          </a:p>
          <a:p>
            <a:pPr lvl="1" indent="0" eaLnBrk="1" hangingPunct="1"/>
            <a:r>
              <a:rPr lang="en-US" altLang="zh-TW">
                <a:ea typeface="新細明體" panose="02020500000000000000" pitchFamily="18" charset="-120"/>
              </a:rPr>
              <a:t>So total product is a gross measure.</a:t>
            </a:r>
          </a:p>
        </p:txBody>
      </p:sp>
      <p:sp>
        <p:nvSpPr>
          <p:cNvPr id="58371" name="Rectangle 5">
            <a:extLst>
              <a:ext uri="{FF2B5EF4-FFF2-40B4-BE49-F238E27FC236}">
                <a16:creationId xmlns:a16="http://schemas.microsoft.com/office/drawing/2014/main" id="{DEF7BFD2-E732-A046-C507-F7638C8E1874}"/>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Gross Domestic Product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2211">
                                            <p:txEl>
                                              <p:pRg st="1" end="1"/>
                                            </p:txEl>
                                          </p:spTgt>
                                        </p:tgtEl>
                                        <p:attrNameLst>
                                          <p:attrName>style.visibility</p:attrName>
                                        </p:attrNameLst>
                                      </p:cBhvr>
                                      <p:to>
                                        <p:strVal val="visible"/>
                                      </p:to>
                                    </p:set>
                                    <p:animEffect transition="in" filter="wipe(left)">
                                      <p:cBhvr>
                                        <p:cTn id="7" dur="1000"/>
                                        <p:tgtEl>
                                          <p:spTgt spid="22221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2211">
                                            <p:txEl>
                                              <p:pRg st="2" end="2"/>
                                            </p:txEl>
                                          </p:spTgt>
                                        </p:tgtEl>
                                        <p:attrNameLst>
                                          <p:attrName>style.visibility</p:attrName>
                                        </p:attrNameLst>
                                      </p:cBhvr>
                                      <p:to>
                                        <p:strVal val="visible"/>
                                      </p:to>
                                    </p:set>
                                    <p:animEffect transition="in" filter="wipe(left)">
                                      <p:cBhvr>
                                        <p:cTn id="12" dur="1000"/>
                                        <p:tgtEl>
                                          <p:spTgt spid="22221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2211">
                                            <p:txEl>
                                              <p:pRg st="3" end="3"/>
                                            </p:txEl>
                                          </p:spTgt>
                                        </p:tgtEl>
                                        <p:attrNameLst>
                                          <p:attrName>style.visibility</p:attrName>
                                        </p:attrNameLst>
                                      </p:cBhvr>
                                      <p:to>
                                        <p:strVal val="visible"/>
                                      </p:to>
                                    </p:set>
                                    <p:animEffect transition="in" filter="wipe(left)">
                                      <p:cBhvr>
                                        <p:cTn id="17" dur="1000"/>
                                        <p:tgtEl>
                                          <p:spTgt spid="2222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420D16AC-AA02-F8FE-785E-0B0EA42B9274}"/>
              </a:ext>
            </a:extLst>
          </p:cNvPr>
          <p:cNvSpPr>
            <a:spLocks noGrp="1" noChangeArrowheads="1"/>
          </p:cNvSpPr>
          <p:nvPr>
            <p:ph type="title"/>
          </p:nvPr>
        </p:nvSpPr>
        <p:spPr>
          <a:xfrm>
            <a:off x="990600" y="304800"/>
            <a:ext cx="7696200" cy="1066800"/>
          </a:xfrm>
        </p:spPr>
        <p:txBody>
          <a:bodyPr/>
          <a:lstStyle/>
          <a:p>
            <a:pPr eaLnBrk="1" hangingPunct="1"/>
            <a:r>
              <a:rPr lang="en-US" altLang="zh-TW">
                <a:ea typeface="新細明體" panose="02020500000000000000" pitchFamily="18" charset="-120"/>
              </a:rPr>
              <a:t>Measuring U.S. GDP</a:t>
            </a:r>
          </a:p>
        </p:txBody>
      </p:sp>
      <p:sp>
        <p:nvSpPr>
          <p:cNvPr id="60419" name="Rectangle 3">
            <a:extLst>
              <a:ext uri="{FF2B5EF4-FFF2-40B4-BE49-F238E27FC236}">
                <a16:creationId xmlns:a16="http://schemas.microsoft.com/office/drawing/2014/main" id="{4D3F4B45-DAAF-EB95-EC74-F3B41698F955}"/>
              </a:ext>
            </a:extLst>
          </p:cNvPr>
          <p:cNvSpPr>
            <a:spLocks noGrp="1" noChangeArrowheads="1"/>
          </p:cNvSpPr>
          <p:nvPr>
            <p:ph type="body" idx="1"/>
          </p:nvPr>
        </p:nvSpPr>
        <p:spPr/>
        <p:txBody>
          <a:bodyPr/>
          <a:lstStyle/>
          <a:p>
            <a:pPr lvl="1" indent="0" eaLnBrk="1" hangingPunct="1"/>
            <a:r>
              <a:rPr lang="en-US" altLang="zh-TW">
                <a:ea typeface="新細明體" panose="02020500000000000000" pitchFamily="18" charset="-120"/>
              </a:rPr>
              <a:t>Two approaches to measure GDP:</a:t>
            </a:r>
          </a:p>
          <a:p>
            <a:pPr lvl="1" indent="0" eaLnBrk="1" hangingPunct="1">
              <a:buClr>
                <a:srgbClr val="FFC000"/>
              </a:buClr>
              <a:buSzPct val="120000"/>
              <a:buFont typeface="Wingdings" pitchFamily="2" charset="2"/>
              <a:buChar char="§"/>
            </a:pPr>
            <a:r>
              <a:rPr lang="en-US" altLang="zh-TW">
                <a:ea typeface="新細明體" panose="02020500000000000000" pitchFamily="18" charset="-120"/>
              </a:rPr>
              <a:t> The expenditure approach</a:t>
            </a:r>
          </a:p>
          <a:p>
            <a:pPr lvl="1" indent="0" eaLnBrk="1" hangingPunct="1">
              <a:buClr>
                <a:srgbClr val="FFC000"/>
              </a:buClr>
              <a:buSzPct val="120000"/>
              <a:buFont typeface="Wingdings" pitchFamily="2" charset="2"/>
              <a:buChar char="§"/>
            </a:pPr>
            <a:r>
              <a:rPr lang="en-US" altLang="zh-TW">
                <a:ea typeface="新細明體" panose="02020500000000000000" pitchFamily="18" charset="-120"/>
              </a:rPr>
              <a:t> The income approach </a:t>
            </a:r>
          </a:p>
        </p:txBody>
      </p:sp>
    </p:spTree>
  </p:cSld>
  <p:clrMapOvr>
    <a:masterClrMapping/>
  </p:clrMapOvr>
  <p:transition spd="slow">
    <p:wipe dir="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6307" name="Rectangle 3">
            <a:extLst>
              <a:ext uri="{FF2B5EF4-FFF2-40B4-BE49-F238E27FC236}">
                <a16:creationId xmlns:a16="http://schemas.microsoft.com/office/drawing/2014/main" id="{2F3F9034-ED37-1E3A-3F09-B666D09256CA}"/>
              </a:ext>
            </a:extLst>
          </p:cNvPr>
          <p:cNvSpPr>
            <a:spLocks noGrp="1" noChangeArrowheads="1"/>
          </p:cNvSpPr>
          <p:nvPr>
            <p:ph type="body" idx="1"/>
          </p:nvPr>
        </p:nvSpPr>
        <p:spPr>
          <a:xfrm>
            <a:off x="457200" y="1600200"/>
            <a:ext cx="8229600" cy="4648200"/>
          </a:xfrm>
        </p:spPr>
        <p:txBody>
          <a:bodyPr/>
          <a:lstStyle/>
          <a:p>
            <a:pPr marL="0" indent="0" eaLnBrk="1" hangingPunct="1">
              <a:tabLst>
                <a:tab pos="1603375" algn="l"/>
                <a:tab pos="2339975" algn="l"/>
              </a:tabLst>
            </a:pPr>
            <a:r>
              <a:rPr lang="en-US" altLang="zh-TW">
                <a:ea typeface="新細明體" panose="02020500000000000000" pitchFamily="18" charset="-120"/>
              </a:rPr>
              <a:t>The Expenditure Approach</a:t>
            </a:r>
          </a:p>
          <a:p>
            <a:pPr marL="117475" lvl="1" indent="0" eaLnBrk="1" hangingPunct="1">
              <a:tabLst>
                <a:tab pos="1603375" algn="l"/>
                <a:tab pos="2339975" algn="l"/>
              </a:tabLst>
            </a:pPr>
            <a:r>
              <a:rPr lang="en-US" altLang="zh-TW">
                <a:ea typeface="新細明體" panose="02020500000000000000" pitchFamily="18" charset="-120"/>
              </a:rPr>
              <a:t>The </a:t>
            </a:r>
            <a:r>
              <a:rPr lang="en-US" altLang="zh-TW" i="1">
                <a:ea typeface="新細明體" panose="02020500000000000000" pitchFamily="18" charset="-120"/>
              </a:rPr>
              <a:t>expenditure approach</a:t>
            </a:r>
            <a:r>
              <a:rPr lang="en-US" altLang="zh-TW">
                <a:ea typeface="新細明體" panose="02020500000000000000" pitchFamily="18" charset="-120"/>
              </a:rPr>
              <a:t> measures GDP as the sum of consumption expenditure, investment, government expenditure on goods and services, and net exports. </a:t>
            </a:r>
          </a:p>
          <a:p>
            <a:pPr marL="117475" lvl="1" indent="0" algn="ctr" eaLnBrk="1" hangingPunct="1">
              <a:tabLst>
                <a:tab pos="1603375" algn="l"/>
                <a:tab pos="2339975" algn="l"/>
              </a:tabLst>
            </a:pPr>
            <a:r>
              <a:rPr lang="en-US" altLang="zh-TW">
                <a:ea typeface="新細明體" panose="02020500000000000000" pitchFamily="18" charset="-120"/>
              </a:rPr>
              <a:t>GDP = </a:t>
            </a:r>
            <a:r>
              <a:rPr lang="en-US" altLang="zh-TW" i="1">
                <a:ea typeface="新細明體" panose="02020500000000000000" pitchFamily="18" charset="-120"/>
              </a:rPr>
              <a:t>C</a:t>
            </a:r>
            <a:r>
              <a:rPr lang="en-US" altLang="zh-TW">
                <a:ea typeface="新細明體" panose="02020500000000000000" pitchFamily="18" charset="-120"/>
              </a:rPr>
              <a:t> + </a:t>
            </a:r>
            <a:r>
              <a:rPr lang="en-US" altLang="zh-TW" i="1">
                <a:ea typeface="新細明體" panose="02020500000000000000" pitchFamily="18" charset="-120"/>
              </a:rPr>
              <a:t>I</a:t>
            </a:r>
            <a:r>
              <a:rPr lang="en-US" altLang="zh-TW">
                <a:ea typeface="新細明體" panose="02020500000000000000" pitchFamily="18" charset="-120"/>
              </a:rPr>
              <a:t> + </a:t>
            </a:r>
            <a:r>
              <a:rPr lang="en-US" altLang="zh-TW" i="1">
                <a:ea typeface="新細明體" panose="02020500000000000000" pitchFamily="18" charset="-120"/>
              </a:rPr>
              <a:t>G</a:t>
            </a:r>
            <a:r>
              <a:rPr lang="en-US" altLang="zh-TW">
                <a:ea typeface="新細明體" panose="02020500000000000000" pitchFamily="18" charset="-120"/>
              </a:rPr>
              <a:t> +</a:t>
            </a:r>
            <a:r>
              <a:rPr lang="en-US" altLang="zh-TW" i="1">
                <a:ea typeface="新細明體" panose="02020500000000000000" pitchFamily="18" charset="-120"/>
              </a:rPr>
              <a:t> (X</a:t>
            </a:r>
            <a:r>
              <a:rPr lang="en-US" altLang="zh-TW">
                <a:ea typeface="新細明體" panose="02020500000000000000" pitchFamily="18" charset="-120"/>
              </a:rPr>
              <a:t> </a:t>
            </a:r>
            <a:r>
              <a:rPr lang="en-US" altLang="zh-TW">
                <a:ea typeface="新細明體" panose="02020500000000000000" pitchFamily="18" charset="-120"/>
                <a:sym typeface="Symbol" pitchFamily="2" charset="2"/>
              </a:rPr>
              <a:t> </a:t>
            </a:r>
            <a:r>
              <a:rPr lang="en-US" altLang="zh-TW" i="1">
                <a:ea typeface="新細明體" panose="02020500000000000000" pitchFamily="18" charset="-120"/>
                <a:cs typeface="Arial" panose="020B0604020202020204" pitchFamily="34" charset="0"/>
              </a:rPr>
              <a:t>M</a:t>
            </a:r>
            <a:r>
              <a:rPr lang="en-US" altLang="zh-TW">
                <a:ea typeface="新細明體" panose="02020500000000000000" pitchFamily="18" charset="-120"/>
                <a:cs typeface="Arial" panose="020B0604020202020204" pitchFamily="34" charset="0"/>
              </a:rPr>
              <a:t>)</a:t>
            </a:r>
          </a:p>
          <a:p>
            <a:pPr marL="117475" lvl="1" indent="0" eaLnBrk="1" hangingPunct="1">
              <a:tabLst>
                <a:tab pos="1603375" algn="l"/>
                <a:tab pos="2339975" algn="l"/>
              </a:tabLst>
            </a:pPr>
            <a:r>
              <a:rPr lang="en-US" altLang="zh-TW">
                <a:ea typeface="新細明體" panose="02020500000000000000" pitchFamily="18" charset="-120"/>
              </a:rPr>
              <a:t>Table 21.1 on next slide shows the expenditure approach with data (in billions) for 2010.</a:t>
            </a:r>
          </a:p>
          <a:p>
            <a:pPr marL="117475" lvl="1" indent="0" eaLnBrk="1" hangingPunct="1">
              <a:tabLst>
                <a:tab pos="1603375" algn="l"/>
                <a:tab pos="2339975" algn="l"/>
              </a:tabLst>
            </a:pPr>
            <a:r>
              <a:rPr lang="en-US" altLang="zh-TW">
                <a:ea typeface="新細明體" panose="02020500000000000000" pitchFamily="18" charset="-120"/>
              </a:rPr>
              <a:t>	GDP = $10,285 + $1,842 + $2,991 </a:t>
            </a:r>
            <a:r>
              <a:rPr lang="en-US" altLang="zh-TW">
                <a:ea typeface="新細明體" panose="02020500000000000000" pitchFamily="18" charset="-120"/>
                <a:sym typeface="Symbol" pitchFamily="2" charset="2"/>
              </a:rPr>
              <a:t> $539</a:t>
            </a:r>
          </a:p>
          <a:p>
            <a:pPr marL="117475" lvl="1" indent="0" eaLnBrk="1" hangingPunct="1">
              <a:tabLst>
                <a:tab pos="1603375" algn="l"/>
                <a:tab pos="2339975" algn="l"/>
              </a:tabLst>
            </a:pPr>
            <a:r>
              <a:rPr lang="en-US" altLang="zh-TW">
                <a:ea typeface="新細明體" panose="02020500000000000000" pitchFamily="18" charset="-120"/>
                <a:sym typeface="Symbol" pitchFamily="2" charset="2"/>
              </a:rPr>
              <a:t>		= $14,579 billion</a:t>
            </a:r>
          </a:p>
        </p:txBody>
      </p:sp>
      <p:sp>
        <p:nvSpPr>
          <p:cNvPr id="62467" name="Rectangle 6">
            <a:extLst>
              <a:ext uri="{FF2B5EF4-FFF2-40B4-BE49-F238E27FC236}">
                <a16:creationId xmlns:a16="http://schemas.microsoft.com/office/drawing/2014/main" id="{4E13358F-3AD0-F68B-1264-A1E3B094D445}"/>
              </a:ext>
            </a:extLst>
          </p:cNvPr>
          <p:cNvSpPr>
            <a:spLocks noGrp="1" noChangeArrowheads="1"/>
          </p:cNvSpPr>
          <p:nvPr>
            <p:ph type="title"/>
          </p:nvPr>
        </p:nvSpPr>
        <p:spPr>
          <a:xfrm>
            <a:off x="990600" y="304800"/>
            <a:ext cx="7696200" cy="1066800"/>
          </a:xfrm>
          <a:noFill/>
        </p:spPr>
        <p:txBody>
          <a:bodyPr/>
          <a:lstStyle/>
          <a:p>
            <a:pPr eaLnBrk="1" hangingPunct="1"/>
            <a:r>
              <a:rPr lang="en-US" altLang="zh-TW">
                <a:ea typeface="新細明體" panose="02020500000000000000" pitchFamily="18" charset="-120"/>
              </a:rPr>
              <a:t>Measuring U.S. GDP</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6307">
                                            <p:txEl>
                                              <p:pRg st="1" end="1"/>
                                            </p:txEl>
                                          </p:spTgt>
                                        </p:tgtEl>
                                        <p:attrNameLst>
                                          <p:attrName>style.visibility</p:attrName>
                                        </p:attrNameLst>
                                      </p:cBhvr>
                                      <p:to>
                                        <p:strVal val="visible"/>
                                      </p:to>
                                    </p:set>
                                    <p:animEffect transition="in" filter="wipe(left)">
                                      <p:cBhvr>
                                        <p:cTn id="7" dur="1000"/>
                                        <p:tgtEl>
                                          <p:spTgt spid="226307">
                                            <p:txEl>
                                              <p:pRg st="1" end="1"/>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26307">
                                            <p:txEl>
                                              <p:pRg st="2" end="2"/>
                                            </p:txEl>
                                          </p:spTgt>
                                        </p:tgtEl>
                                        <p:attrNameLst>
                                          <p:attrName>style.visibility</p:attrName>
                                        </p:attrNameLst>
                                      </p:cBhvr>
                                      <p:to>
                                        <p:strVal val="visible"/>
                                      </p:to>
                                    </p:set>
                                    <p:animEffect transition="in" filter="wipe(left)">
                                      <p:cBhvr>
                                        <p:cTn id="11" dur="1000"/>
                                        <p:tgtEl>
                                          <p:spTgt spid="226307">
                                            <p:txEl>
                                              <p:pRg st="2" end="2"/>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26307">
                                            <p:txEl>
                                              <p:pRg st="3" end="3"/>
                                            </p:txEl>
                                          </p:spTgt>
                                        </p:tgtEl>
                                        <p:attrNameLst>
                                          <p:attrName>style.visibility</p:attrName>
                                        </p:attrNameLst>
                                      </p:cBhvr>
                                      <p:to>
                                        <p:strVal val="visible"/>
                                      </p:to>
                                    </p:set>
                                    <p:animEffect transition="in" filter="wipe(left)">
                                      <p:cBhvr>
                                        <p:cTn id="16" dur="1000"/>
                                        <p:tgtEl>
                                          <p:spTgt spid="226307">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26307">
                                            <p:txEl>
                                              <p:pRg st="4" end="4"/>
                                            </p:txEl>
                                          </p:spTgt>
                                        </p:tgtEl>
                                        <p:attrNameLst>
                                          <p:attrName>style.visibility</p:attrName>
                                        </p:attrNameLst>
                                      </p:cBhvr>
                                      <p:to>
                                        <p:strVal val="visible"/>
                                      </p:to>
                                    </p:set>
                                    <p:animEffect transition="in" filter="wipe(left)">
                                      <p:cBhvr>
                                        <p:cTn id="21" dur="1000"/>
                                        <p:tgtEl>
                                          <p:spTgt spid="226307">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26307">
                                            <p:txEl>
                                              <p:pRg st="5" end="5"/>
                                            </p:txEl>
                                          </p:spTgt>
                                        </p:tgtEl>
                                        <p:attrNameLst>
                                          <p:attrName>style.visibility</p:attrName>
                                        </p:attrNameLst>
                                      </p:cBhvr>
                                      <p:to>
                                        <p:strVal val="visible"/>
                                      </p:to>
                                    </p:set>
                                    <p:animEffect transition="in" filter="wipe(left)">
                                      <p:cBhvr>
                                        <p:cTn id="26" dur="1000"/>
                                        <p:tgtEl>
                                          <p:spTgt spid="2263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7" grpId="0" build="p" bldLvl="3"/>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4514" name="Picture 2" descr="tab2101.gif">
            <a:extLst>
              <a:ext uri="{FF2B5EF4-FFF2-40B4-BE49-F238E27FC236}">
                <a16:creationId xmlns:a16="http://schemas.microsoft.com/office/drawing/2014/main" id="{0404E563-84B9-3DB1-3566-4762D95F248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57450" y="219075"/>
            <a:ext cx="4229100" cy="641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7331" name="Rectangle 3">
            <a:extLst>
              <a:ext uri="{FF2B5EF4-FFF2-40B4-BE49-F238E27FC236}">
                <a16:creationId xmlns:a16="http://schemas.microsoft.com/office/drawing/2014/main" id="{3838B188-384C-974A-C65C-4F74A0E4AAA3}"/>
              </a:ext>
            </a:extLst>
          </p:cNvPr>
          <p:cNvSpPr>
            <a:spLocks noGrp="1" noChangeArrowheads="1"/>
          </p:cNvSpPr>
          <p:nvPr>
            <p:ph type="body" idx="1"/>
          </p:nvPr>
        </p:nvSpPr>
        <p:spPr>
          <a:xfrm>
            <a:off x="457200" y="1676400"/>
            <a:ext cx="8229600" cy="4449763"/>
          </a:xfrm>
        </p:spPr>
        <p:txBody>
          <a:bodyPr/>
          <a:lstStyle/>
          <a:p>
            <a:pPr marL="0" indent="0" eaLnBrk="1" hangingPunct="1"/>
            <a:r>
              <a:rPr lang="en-US" altLang="zh-TW">
                <a:ea typeface="新細明體" panose="02020500000000000000" pitchFamily="18" charset="-120"/>
              </a:rPr>
              <a:t>The Income Approach</a:t>
            </a:r>
          </a:p>
          <a:p>
            <a:pPr lvl="1" indent="0" eaLnBrk="1" hangingPunct="1"/>
            <a:r>
              <a:rPr lang="en-US" altLang="zh-TW">
                <a:ea typeface="新細明體" panose="02020500000000000000" pitchFamily="18" charset="-120"/>
              </a:rPr>
              <a:t>The </a:t>
            </a:r>
            <a:r>
              <a:rPr lang="en-US" altLang="zh-TW" i="1">
                <a:ea typeface="新細明體" panose="02020500000000000000" pitchFamily="18" charset="-120"/>
              </a:rPr>
              <a:t>income approach</a:t>
            </a:r>
            <a:r>
              <a:rPr lang="en-US" altLang="zh-TW">
                <a:ea typeface="新細明體" panose="02020500000000000000" pitchFamily="18" charset="-120"/>
              </a:rPr>
              <a:t> measures GDP by summing the incomes that firms pay households for the factors of production they hire. </a:t>
            </a:r>
          </a:p>
        </p:txBody>
      </p:sp>
      <p:sp>
        <p:nvSpPr>
          <p:cNvPr id="66563" name="Rectangle 5">
            <a:extLst>
              <a:ext uri="{FF2B5EF4-FFF2-40B4-BE49-F238E27FC236}">
                <a16:creationId xmlns:a16="http://schemas.microsoft.com/office/drawing/2014/main" id="{699CB318-D193-ABA4-63FE-A3DA070705D3}"/>
              </a:ext>
            </a:extLst>
          </p:cNvPr>
          <p:cNvSpPr>
            <a:spLocks noGrp="1" noChangeArrowheads="1"/>
          </p:cNvSpPr>
          <p:nvPr>
            <p:ph type="title"/>
          </p:nvPr>
        </p:nvSpPr>
        <p:spPr>
          <a:xfrm>
            <a:off x="990600" y="304800"/>
            <a:ext cx="7696200" cy="1066800"/>
          </a:xfrm>
          <a:noFill/>
        </p:spPr>
        <p:txBody>
          <a:bodyPr/>
          <a:lstStyle/>
          <a:p>
            <a:pPr eaLnBrk="1" hangingPunct="1"/>
            <a:r>
              <a:rPr lang="en-US" altLang="zh-TW">
                <a:ea typeface="新細明體" panose="02020500000000000000" pitchFamily="18" charset="-120"/>
              </a:rPr>
              <a:t>Measuring U.S. GDP</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7331">
                                            <p:txEl>
                                              <p:pRg st="1" end="1"/>
                                            </p:txEl>
                                          </p:spTgt>
                                        </p:tgtEl>
                                        <p:attrNameLst>
                                          <p:attrName>style.visibility</p:attrName>
                                        </p:attrNameLst>
                                      </p:cBhvr>
                                      <p:to>
                                        <p:strVal val="visible"/>
                                      </p:to>
                                    </p:set>
                                    <p:animEffect transition="in" filter="wipe(left)">
                                      <p:cBhvr>
                                        <p:cTn id="7" dur="1000"/>
                                        <p:tgtEl>
                                          <p:spTgt spid="2273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1" grpId="0" build="p" bldLvl="3"/>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8355" name="Rectangle 3">
            <a:extLst>
              <a:ext uri="{FF2B5EF4-FFF2-40B4-BE49-F238E27FC236}">
                <a16:creationId xmlns:a16="http://schemas.microsoft.com/office/drawing/2014/main" id="{6BEA2E53-1DA2-1051-661C-18E8DD5C4A02}"/>
              </a:ext>
            </a:extLst>
          </p:cNvPr>
          <p:cNvSpPr>
            <a:spLocks noGrp="1" noChangeArrowheads="1"/>
          </p:cNvSpPr>
          <p:nvPr>
            <p:ph type="body" idx="1"/>
          </p:nvPr>
        </p:nvSpPr>
        <p:spPr>
          <a:xfrm>
            <a:off x="457200" y="1600200"/>
            <a:ext cx="8229600" cy="4525963"/>
          </a:xfrm>
        </p:spPr>
        <p:txBody>
          <a:bodyPr/>
          <a:lstStyle/>
          <a:p>
            <a:pPr lvl="1" indent="0" eaLnBrk="1" hangingPunct="1"/>
            <a:r>
              <a:rPr lang="en-US" altLang="zh-TW">
                <a:ea typeface="新細明體" panose="02020500000000000000" pitchFamily="18" charset="-120"/>
              </a:rPr>
              <a:t>The </a:t>
            </a:r>
            <a:r>
              <a:rPr lang="en-US" altLang="zh-TW" i="1">
                <a:ea typeface="新細明體" panose="02020500000000000000" pitchFamily="18" charset="-120"/>
              </a:rPr>
              <a:t>National Income and Expenditure Accounts</a:t>
            </a:r>
            <a:r>
              <a:rPr lang="en-US" altLang="zh-TW">
                <a:ea typeface="新細明體" panose="02020500000000000000" pitchFamily="18" charset="-120"/>
              </a:rPr>
              <a:t> divide incomes into two broad categories:</a:t>
            </a:r>
          </a:p>
          <a:p>
            <a:pPr lvl="2" indent="0" eaLnBrk="1" hangingPunct="1">
              <a:spcBef>
                <a:spcPct val="2000"/>
              </a:spcBef>
              <a:spcAft>
                <a:spcPct val="20000"/>
              </a:spcAft>
              <a:buClr>
                <a:schemeClr val="tx1"/>
              </a:buClr>
              <a:buFont typeface="Wingdings" pitchFamily="2" charset="2"/>
              <a:buNone/>
            </a:pPr>
            <a:r>
              <a:rPr lang="en-US" altLang="zh-TW">
                <a:ea typeface="新細明體" panose="02020500000000000000" pitchFamily="18" charset="-120"/>
              </a:rPr>
              <a:t> 1. Compensation of employees</a:t>
            </a:r>
          </a:p>
          <a:p>
            <a:pPr lvl="2" indent="0" eaLnBrk="1" hangingPunct="1">
              <a:spcBef>
                <a:spcPct val="2000"/>
              </a:spcBef>
              <a:spcAft>
                <a:spcPct val="20000"/>
              </a:spcAft>
              <a:buClr>
                <a:schemeClr val="tx1"/>
              </a:buClr>
              <a:buFont typeface="Wingdings" pitchFamily="2" charset="2"/>
              <a:buNone/>
            </a:pPr>
            <a:r>
              <a:rPr lang="en-US" altLang="zh-TW">
                <a:ea typeface="新細明體" panose="02020500000000000000" pitchFamily="18" charset="-120"/>
              </a:rPr>
              <a:t> 2. Net operating surplus</a:t>
            </a:r>
          </a:p>
          <a:p>
            <a:pPr lvl="1" indent="0" eaLnBrk="1" hangingPunct="1"/>
            <a:r>
              <a:rPr lang="en-US" altLang="zh-TW" i="1">
                <a:ea typeface="新細明體" panose="02020500000000000000" pitchFamily="18" charset="-120"/>
              </a:rPr>
              <a:t>Compensation of employees </a:t>
            </a:r>
            <a:r>
              <a:rPr lang="en-US" altLang="zh-TW">
                <a:ea typeface="新細明體" panose="02020500000000000000" pitchFamily="18" charset="-120"/>
              </a:rPr>
              <a:t>is the payments for labor services. </a:t>
            </a:r>
          </a:p>
          <a:p>
            <a:pPr lvl="1" indent="0" eaLnBrk="1" hangingPunct="1"/>
            <a:r>
              <a:rPr lang="en-US" altLang="zh-TW" i="1">
                <a:ea typeface="新細明體" panose="02020500000000000000" pitchFamily="18" charset="-120"/>
              </a:rPr>
              <a:t>Net operating surplus </a:t>
            </a:r>
            <a:r>
              <a:rPr lang="en-US" altLang="zh-TW">
                <a:ea typeface="新細明體" panose="02020500000000000000" pitchFamily="18" charset="-120"/>
              </a:rPr>
              <a:t>is the sum of other factor incomes. It includes net interest, rental income, corporate profits, and proprietor’s income. </a:t>
            </a:r>
          </a:p>
        </p:txBody>
      </p:sp>
      <p:sp>
        <p:nvSpPr>
          <p:cNvPr id="68611" name="Rectangle 5">
            <a:extLst>
              <a:ext uri="{FF2B5EF4-FFF2-40B4-BE49-F238E27FC236}">
                <a16:creationId xmlns:a16="http://schemas.microsoft.com/office/drawing/2014/main" id="{AFB6E24D-A0C0-2D28-0565-ADCA9E3D70AD}"/>
              </a:ext>
            </a:extLst>
          </p:cNvPr>
          <p:cNvSpPr>
            <a:spLocks noGrp="1" noChangeArrowheads="1"/>
          </p:cNvSpPr>
          <p:nvPr>
            <p:ph type="title"/>
          </p:nvPr>
        </p:nvSpPr>
        <p:spPr>
          <a:xfrm>
            <a:off x="990600" y="304800"/>
            <a:ext cx="7696200" cy="1066800"/>
          </a:xfrm>
          <a:noFill/>
        </p:spPr>
        <p:txBody>
          <a:bodyPr/>
          <a:lstStyle/>
          <a:p>
            <a:pPr eaLnBrk="1" hangingPunct="1"/>
            <a:r>
              <a:rPr lang="en-US" altLang="zh-TW">
                <a:ea typeface="新細明體" panose="02020500000000000000" pitchFamily="18" charset="-120"/>
              </a:rPr>
              <a:t>Measuring U.S. GDP</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8355">
                                            <p:txEl>
                                              <p:pRg st="1" end="1"/>
                                            </p:txEl>
                                          </p:spTgt>
                                        </p:tgtEl>
                                        <p:attrNameLst>
                                          <p:attrName>style.visibility</p:attrName>
                                        </p:attrNameLst>
                                      </p:cBhvr>
                                      <p:to>
                                        <p:strVal val="visible"/>
                                      </p:to>
                                    </p:set>
                                    <p:animEffect transition="in" filter="wipe(left)">
                                      <p:cBhvr>
                                        <p:cTn id="7" dur="1000"/>
                                        <p:tgtEl>
                                          <p:spTgt spid="22835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8355">
                                            <p:txEl>
                                              <p:pRg st="2" end="2"/>
                                            </p:txEl>
                                          </p:spTgt>
                                        </p:tgtEl>
                                        <p:attrNameLst>
                                          <p:attrName>style.visibility</p:attrName>
                                        </p:attrNameLst>
                                      </p:cBhvr>
                                      <p:to>
                                        <p:strVal val="visible"/>
                                      </p:to>
                                    </p:set>
                                    <p:animEffect transition="in" filter="wipe(left)">
                                      <p:cBhvr>
                                        <p:cTn id="12" dur="1000"/>
                                        <p:tgtEl>
                                          <p:spTgt spid="22835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8355">
                                            <p:txEl>
                                              <p:pRg st="3" end="3"/>
                                            </p:txEl>
                                          </p:spTgt>
                                        </p:tgtEl>
                                        <p:attrNameLst>
                                          <p:attrName>style.visibility</p:attrName>
                                        </p:attrNameLst>
                                      </p:cBhvr>
                                      <p:to>
                                        <p:strVal val="visible"/>
                                      </p:to>
                                    </p:set>
                                    <p:animEffect transition="in" filter="wipe(left)">
                                      <p:cBhvr>
                                        <p:cTn id="17" dur="1000"/>
                                        <p:tgtEl>
                                          <p:spTgt spid="22835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8355">
                                            <p:txEl>
                                              <p:pRg st="4" end="4"/>
                                            </p:txEl>
                                          </p:spTgt>
                                        </p:tgtEl>
                                        <p:attrNameLst>
                                          <p:attrName>style.visibility</p:attrName>
                                        </p:attrNameLst>
                                      </p:cBhvr>
                                      <p:to>
                                        <p:strVal val="visible"/>
                                      </p:to>
                                    </p:set>
                                    <p:animEffect transition="in" filter="wipe(left)">
                                      <p:cBhvr>
                                        <p:cTn id="22" dur="1000"/>
                                        <p:tgtEl>
                                          <p:spTgt spid="2283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5" grpId="0" build="p" bldLvl="3"/>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a:extLst>
              <a:ext uri="{FF2B5EF4-FFF2-40B4-BE49-F238E27FC236}">
                <a16:creationId xmlns:a16="http://schemas.microsoft.com/office/drawing/2014/main" id="{58B3CC98-9625-41D6-EAB4-D032DC7BC369}"/>
              </a:ext>
            </a:extLst>
          </p:cNvPr>
          <p:cNvSpPr>
            <a:spLocks noGrp="1" noChangeArrowheads="1"/>
          </p:cNvSpPr>
          <p:nvPr>
            <p:ph type="body" idx="1"/>
          </p:nvPr>
        </p:nvSpPr>
        <p:spPr>
          <a:xfrm>
            <a:off x="457200" y="1600200"/>
            <a:ext cx="8229600" cy="4525963"/>
          </a:xfrm>
        </p:spPr>
        <p:txBody>
          <a:bodyPr/>
          <a:lstStyle/>
          <a:p>
            <a:pPr lvl="1" indent="0" defTabSz="461963" eaLnBrk="1" hangingPunct="1">
              <a:defRPr/>
            </a:pPr>
            <a:r>
              <a:rPr lang="en-AU" dirty="0"/>
              <a:t>The sum of all factor incomes is </a:t>
            </a:r>
            <a:r>
              <a:rPr lang="en-AU" i="1" dirty="0"/>
              <a:t>net domestic income at factor cost</a:t>
            </a:r>
            <a:r>
              <a:rPr lang="en-AU" dirty="0"/>
              <a:t>.</a:t>
            </a:r>
            <a:endParaRPr lang="en-US" dirty="0"/>
          </a:p>
          <a:p>
            <a:pPr lvl="1" indent="0" defTabSz="461963" eaLnBrk="1" hangingPunct="1">
              <a:defRPr/>
            </a:pPr>
            <a:r>
              <a:rPr lang="en-US" dirty="0"/>
              <a:t>Two adjustments must be made to get GDP:</a:t>
            </a:r>
          </a:p>
          <a:p>
            <a:pPr lvl="1" indent="0" defTabSz="461963" eaLnBrk="1" hangingPunct="1">
              <a:buClr>
                <a:schemeClr val="tx1"/>
              </a:buClr>
              <a:defRPr/>
            </a:pPr>
            <a:r>
              <a:rPr lang="en-US" dirty="0"/>
              <a:t>1.	Indirect taxes less subsidies are added to get from 	</a:t>
            </a:r>
            <a:r>
              <a:rPr lang="en-US" i="1" dirty="0"/>
              <a:t>factor cost</a:t>
            </a:r>
            <a:r>
              <a:rPr lang="en-US" dirty="0"/>
              <a:t> to </a:t>
            </a:r>
            <a:r>
              <a:rPr lang="en-US" i="1" dirty="0"/>
              <a:t>market prices</a:t>
            </a:r>
            <a:r>
              <a:rPr lang="en-US" dirty="0"/>
              <a:t>.</a:t>
            </a:r>
          </a:p>
          <a:p>
            <a:pPr marL="452438" lvl="1" indent="-338138" defTabSz="461963" eaLnBrk="1" hangingPunct="1">
              <a:buClr>
                <a:schemeClr val="tx1"/>
              </a:buClr>
              <a:defRPr/>
            </a:pPr>
            <a:r>
              <a:rPr lang="en-US" dirty="0"/>
              <a:t>2. Depreciation is added to get from </a:t>
            </a:r>
            <a:r>
              <a:rPr lang="en-US" i="1" dirty="0"/>
              <a:t>net</a:t>
            </a:r>
            <a:r>
              <a:rPr lang="en-US" dirty="0"/>
              <a:t> domestic income to </a:t>
            </a:r>
            <a:r>
              <a:rPr lang="en-US" i="1" dirty="0"/>
              <a:t>gross</a:t>
            </a:r>
            <a:r>
              <a:rPr lang="en-US" dirty="0"/>
              <a:t> domestic income.</a:t>
            </a:r>
          </a:p>
          <a:p>
            <a:pPr lvl="1" indent="0" defTabSz="461963" eaLnBrk="1" hangingPunct="1">
              <a:defRPr/>
            </a:pPr>
            <a:r>
              <a:rPr lang="en-US" dirty="0"/>
              <a:t>Table 21.2 on the next slide shows the income approach with data for 2010.</a:t>
            </a:r>
          </a:p>
        </p:txBody>
      </p:sp>
      <p:sp>
        <p:nvSpPr>
          <p:cNvPr id="70659" name="Rectangle 5">
            <a:extLst>
              <a:ext uri="{FF2B5EF4-FFF2-40B4-BE49-F238E27FC236}">
                <a16:creationId xmlns:a16="http://schemas.microsoft.com/office/drawing/2014/main" id="{51552794-2997-4675-245A-6BE1647519DB}"/>
              </a:ext>
            </a:extLst>
          </p:cNvPr>
          <p:cNvSpPr>
            <a:spLocks noGrp="1" noChangeArrowheads="1"/>
          </p:cNvSpPr>
          <p:nvPr>
            <p:ph type="title"/>
          </p:nvPr>
        </p:nvSpPr>
        <p:spPr>
          <a:xfrm>
            <a:off x="990600" y="304800"/>
            <a:ext cx="7696200" cy="1066800"/>
          </a:xfrm>
          <a:noFill/>
        </p:spPr>
        <p:txBody>
          <a:bodyPr/>
          <a:lstStyle/>
          <a:p>
            <a:pPr eaLnBrk="1" hangingPunct="1"/>
            <a:r>
              <a:rPr lang="en-US" altLang="zh-TW">
                <a:ea typeface="新細明體" panose="02020500000000000000" pitchFamily="18" charset="-120"/>
              </a:rPr>
              <a:t>Measuring U.S. GDP</a:t>
            </a:r>
          </a:p>
        </p:txBody>
      </p:sp>
    </p:spTree>
  </p:cSld>
  <p:clrMapOvr>
    <a:masterClrMapping/>
  </p:clrMapOvr>
  <p:transition spd="slow">
    <p:wipe dir="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2706" name="Picture 2" descr="tab2102.gif">
            <a:extLst>
              <a:ext uri="{FF2B5EF4-FFF2-40B4-BE49-F238E27FC236}">
                <a16:creationId xmlns:a16="http://schemas.microsoft.com/office/drawing/2014/main" id="{860189C6-B929-7417-A8F8-8F68AEDFE2F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22563" y="152400"/>
            <a:ext cx="3698875"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6851" name="Rectangle 3">
            <a:extLst>
              <a:ext uri="{FF2B5EF4-FFF2-40B4-BE49-F238E27FC236}">
                <a16:creationId xmlns:a16="http://schemas.microsoft.com/office/drawing/2014/main" id="{8733D7B8-85D3-2127-72A6-4EA4FE780CC2}"/>
              </a:ext>
            </a:extLst>
          </p:cNvPr>
          <p:cNvSpPr>
            <a:spLocks noGrp="1" noChangeArrowheads="1"/>
          </p:cNvSpPr>
          <p:nvPr>
            <p:ph type="body" idx="1"/>
          </p:nvPr>
        </p:nvSpPr>
        <p:spPr>
          <a:xfrm>
            <a:off x="457200" y="1600200"/>
            <a:ext cx="8229600" cy="4800600"/>
          </a:xfrm>
        </p:spPr>
        <p:txBody>
          <a:bodyPr/>
          <a:lstStyle/>
          <a:p>
            <a:pPr marL="0" indent="0" eaLnBrk="1" hangingPunct="1"/>
            <a:r>
              <a:rPr lang="en-US" altLang="zh-TW">
                <a:ea typeface="新細明體" panose="02020500000000000000" pitchFamily="18" charset="-120"/>
              </a:rPr>
              <a:t>Nominal GDP and Real GDP</a:t>
            </a:r>
          </a:p>
          <a:p>
            <a:pPr lvl="1" indent="0" eaLnBrk="1" hangingPunct="1"/>
            <a:r>
              <a:rPr lang="en-US" altLang="zh-TW" b="1">
                <a:ea typeface="新細明體" panose="02020500000000000000" pitchFamily="18" charset="-120"/>
              </a:rPr>
              <a:t>Real GDP</a:t>
            </a:r>
            <a:r>
              <a:rPr lang="en-US" altLang="zh-TW">
                <a:ea typeface="新細明體" panose="02020500000000000000" pitchFamily="18" charset="-120"/>
              </a:rPr>
              <a:t> is the value of final goods and services produced in a given year when valued at </a:t>
            </a:r>
            <a:r>
              <a:rPr lang="en-US" altLang="zh-TW" i="1">
                <a:ea typeface="新細明體" panose="02020500000000000000" pitchFamily="18" charset="-120"/>
              </a:rPr>
              <a:t>valued at the prices of a reference base year</a:t>
            </a:r>
            <a:r>
              <a:rPr lang="en-US" altLang="zh-TW">
                <a:ea typeface="新細明體" panose="02020500000000000000" pitchFamily="18" charset="-120"/>
              </a:rPr>
              <a:t>.</a:t>
            </a:r>
          </a:p>
          <a:p>
            <a:pPr lvl="1" indent="0" eaLnBrk="1" hangingPunct="1"/>
            <a:r>
              <a:rPr lang="en-US" altLang="zh-TW">
                <a:ea typeface="新細明體" panose="02020500000000000000" pitchFamily="18" charset="-120"/>
              </a:rPr>
              <a:t>Currently, the reference base year is 2005 and we describe real GDP as measured in 2005 dollars.</a:t>
            </a:r>
          </a:p>
          <a:p>
            <a:pPr lvl="1" indent="0" eaLnBrk="1" hangingPunct="1"/>
            <a:r>
              <a:rPr lang="en-US" altLang="zh-TW" b="1">
                <a:ea typeface="新細明體" panose="02020500000000000000" pitchFamily="18" charset="-120"/>
              </a:rPr>
              <a:t>Nominal GDP</a:t>
            </a:r>
            <a:r>
              <a:rPr lang="en-US" altLang="zh-TW">
                <a:ea typeface="新細明體" panose="02020500000000000000" pitchFamily="18" charset="-120"/>
              </a:rPr>
              <a:t> is the value of goods and services produced during a given year valued at the prices that prevailed in that same year.</a:t>
            </a:r>
          </a:p>
          <a:p>
            <a:pPr lvl="1" indent="0" eaLnBrk="1" hangingPunct="1"/>
            <a:r>
              <a:rPr lang="en-US" altLang="zh-TW">
                <a:ea typeface="新細明體" panose="02020500000000000000" pitchFamily="18" charset="-120"/>
              </a:rPr>
              <a:t>Nominal GDP is just a more precise name for GDP.</a:t>
            </a:r>
          </a:p>
        </p:txBody>
      </p:sp>
      <p:sp>
        <p:nvSpPr>
          <p:cNvPr id="74755" name="Rectangle 5">
            <a:extLst>
              <a:ext uri="{FF2B5EF4-FFF2-40B4-BE49-F238E27FC236}">
                <a16:creationId xmlns:a16="http://schemas.microsoft.com/office/drawing/2014/main" id="{99987F9E-8610-FFCD-AFFD-85F438109879}"/>
              </a:ext>
            </a:extLst>
          </p:cNvPr>
          <p:cNvSpPr>
            <a:spLocks noGrp="1" noChangeArrowheads="1"/>
          </p:cNvSpPr>
          <p:nvPr>
            <p:ph type="title"/>
          </p:nvPr>
        </p:nvSpPr>
        <p:spPr>
          <a:xfrm>
            <a:off x="990600" y="304800"/>
            <a:ext cx="7696200" cy="1066800"/>
          </a:xfrm>
          <a:noFill/>
        </p:spPr>
        <p:txBody>
          <a:bodyPr/>
          <a:lstStyle/>
          <a:p>
            <a:pPr eaLnBrk="1" hangingPunct="1"/>
            <a:r>
              <a:rPr lang="en-US" altLang="zh-TW">
                <a:ea typeface="新細明體" panose="02020500000000000000" pitchFamily="18" charset="-120"/>
              </a:rPr>
              <a:t>Measuring U.S. GDP</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6851">
                                            <p:txEl>
                                              <p:pRg st="1" end="1"/>
                                            </p:txEl>
                                          </p:spTgt>
                                        </p:tgtEl>
                                        <p:attrNameLst>
                                          <p:attrName>style.visibility</p:attrName>
                                        </p:attrNameLst>
                                      </p:cBhvr>
                                      <p:to>
                                        <p:strVal val="visible"/>
                                      </p:to>
                                    </p:set>
                                    <p:animEffect transition="in" filter="wipe(left)">
                                      <p:cBhvr>
                                        <p:cTn id="7" dur="1000"/>
                                        <p:tgtEl>
                                          <p:spTgt spid="20685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6851">
                                            <p:txEl>
                                              <p:pRg st="2" end="2"/>
                                            </p:txEl>
                                          </p:spTgt>
                                        </p:tgtEl>
                                        <p:attrNameLst>
                                          <p:attrName>style.visibility</p:attrName>
                                        </p:attrNameLst>
                                      </p:cBhvr>
                                      <p:to>
                                        <p:strVal val="visible"/>
                                      </p:to>
                                    </p:set>
                                    <p:animEffect transition="in" filter="wipe(left)">
                                      <p:cBhvr>
                                        <p:cTn id="12" dur="1000"/>
                                        <p:tgtEl>
                                          <p:spTgt spid="20685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6851">
                                            <p:txEl>
                                              <p:pRg st="3" end="3"/>
                                            </p:txEl>
                                          </p:spTgt>
                                        </p:tgtEl>
                                        <p:attrNameLst>
                                          <p:attrName>style.visibility</p:attrName>
                                        </p:attrNameLst>
                                      </p:cBhvr>
                                      <p:to>
                                        <p:strVal val="visible"/>
                                      </p:to>
                                    </p:set>
                                    <p:animEffect transition="in" filter="wipe(left)">
                                      <p:cBhvr>
                                        <p:cTn id="17" dur="1000"/>
                                        <p:tgtEl>
                                          <p:spTgt spid="20685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6851">
                                            <p:txEl>
                                              <p:pRg st="4" end="4"/>
                                            </p:txEl>
                                          </p:spTgt>
                                        </p:tgtEl>
                                        <p:attrNameLst>
                                          <p:attrName>style.visibility</p:attrName>
                                        </p:attrNameLst>
                                      </p:cBhvr>
                                      <p:to>
                                        <p:strVal val="visible"/>
                                      </p:to>
                                    </p:set>
                                    <p:animEffect transition="in" filter="wipe(left)">
                                      <p:cBhvr>
                                        <p:cTn id="22" dur="1000"/>
                                        <p:tgtEl>
                                          <p:spTgt spid="2068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build="p" bldLvl="3"/>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6690" name="Rectangle 2">
            <a:extLst>
              <a:ext uri="{FF2B5EF4-FFF2-40B4-BE49-F238E27FC236}">
                <a16:creationId xmlns:a16="http://schemas.microsoft.com/office/drawing/2014/main" id="{82EAEC70-510A-6682-77EC-C471ECCFB31A}"/>
              </a:ext>
            </a:extLst>
          </p:cNvPr>
          <p:cNvSpPr>
            <a:spLocks noGrp="1" noChangeArrowheads="1"/>
          </p:cNvSpPr>
          <p:nvPr>
            <p:ph type="body" idx="1"/>
          </p:nvPr>
        </p:nvSpPr>
        <p:spPr>
          <a:xfrm>
            <a:off x="457200" y="1600200"/>
            <a:ext cx="4191000" cy="4800600"/>
          </a:xfrm>
        </p:spPr>
        <p:txBody>
          <a:bodyPr/>
          <a:lstStyle/>
          <a:p>
            <a:pPr marL="0" indent="0" eaLnBrk="1" hangingPunct="1"/>
            <a:r>
              <a:rPr lang="en-US" altLang="zh-TW">
                <a:ea typeface="新細明體" panose="02020500000000000000" pitchFamily="18" charset="-120"/>
              </a:rPr>
              <a:t>Calculating Real GDP</a:t>
            </a:r>
          </a:p>
          <a:p>
            <a:pPr lvl="1" indent="0" eaLnBrk="1" hangingPunct="1"/>
            <a:r>
              <a:rPr lang="en-US" altLang="zh-TW">
                <a:ea typeface="新細明體" panose="02020500000000000000" pitchFamily="18" charset="-120"/>
              </a:rPr>
              <a:t>Table 21.3(a) shows the quantities produced and the prices in 2005 (the base year). </a:t>
            </a:r>
          </a:p>
          <a:p>
            <a:pPr lvl="1" indent="0" eaLnBrk="1" hangingPunct="1"/>
            <a:r>
              <a:rPr lang="en-US" altLang="zh-TW">
                <a:ea typeface="新細明體" panose="02020500000000000000" pitchFamily="18" charset="-120"/>
              </a:rPr>
              <a:t>Nominal GDP in 2005 is $100 million.</a:t>
            </a:r>
          </a:p>
          <a:p>
            <a:pPr lvl="1" indent="0" eaLnBrk="1" hangingPunct="1"/>
            <a:r>
              <a:rPr lang="en-US" altLang="zh-TW">
                <a:ea typeface="新細明體" panose="02020500000000000000" pitchFamily="18" charset="-120"/>
              </a:rPr>
              <a:t>Because 2005 is the base year, real GDP and nominal GDP both are $100 million.</a:t>
            </a:r>
          </a:p>
        </p:txBody>
      </p:sp>
      <p:sp>
        <p:nvSpPr>
          <p:cNvPr id="76803" name="Rectangle 3">
            <a:extLst>
              <a:ext uri="{FF2B5EF4-FFF2-40B4-BE49-F238E27FC236}">
                <a16:creationId xmlns:a16="http://schemas.microsoft.com/office/drawing/2014/main" id="{E348C3D0-D91A-4CDB-E025-B87BF739A0A5}"/>
              </a:ext>
            </a:extLst>
          </p:cNvPr>
          <p:cNvSpPr>
            <a:spLocks noGrp="1" noChangeArrowheads="1"/>
          </p:cNvSpPr>
          <p:nvPr>
            <p:ph type="title"/>
          </p:nvPr>
        </p:nvSpPr>
        <p:spPr>
          <a:xfrm>
            <a:off x="990600" y="304800"/>
            <a:ext cx="7696200" cy="1066800"/>
          </a:xfrm>
          <a:noFill/>
        </p:spPr>
        <p:txBody>
          <a:bodyPr/>
          <a:lstStyle/>
          <a:p>
            <a:pPr eaLnBrk="1" hangingPunct="1"/>
            <a:r>
              <a:rPr lang="en-US" altLang="zh-TW">
                <a:ea typeface="新細明體" panose="02020500000000000000" pitchFamily="18" charset="-120"/>
              </a:rPr>
              <a:t>Measuring U.S. GDP</a:t>
            </a:r>
          </a:p>
        </p:txBody>
      </p:sp>
      <p:pic>
        <p:nvPicPr>
          <p:cNvPr id="76804" name="Picture 2" descr="tab2103.gif">
            <a:extLst>
              <a:ext uri="{FF2B5EF4-FFF2-40B4-BE49-F238E27FC236}">
                <a16:creationId xmlns:a16="http://schemas.microsoft.com/office/drawing/2014/main" id="{0389C0B2-9AD1-CFB0-EE05-AA479B9AC14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295400"/>
            <a:ext cx="3570288" cy="530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5" name="Rectangle 5">
            <a:extLst>
              <a:ext uri="{FF2B5EF4-FFF2-40B4-BE49-F238E27FC236}">
                <a16:creationId xmlns:a16="http://schemas.microsoft.com/office/drawing/2014/main" id="{B9FF14DE-1CCB-3D9C-B3FA-17C3EA3A2FB6}"/>
              </a:ext>
            </a:extLst>
          </p:cNvPr>
          <p:cNvSpPr>
            <a:spLocks noChangeArrowheads="1"/>
          </p:cNvSpPr>
          <p:nvPr/>
        </p:nvSpPr>
        <p:spPr bwMode="auto">
          <a:xfrm>
            <a:off x="5181600" y="3352800"/>
            <a:ext cx="3429000" cy="304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spcAft>
                <a:spcPct val="50000"/>
              </a:spcAft>
              <a:defRPr sz="2400" b="1">
                <a:solidFill>
                  <a:srgbClr val="FFC000"/>
                </a:solidFill>
                <a:latin typeface="Arial" panose="020B0604020202020204" pitchFamily="34" charset="0"/>
              </a:defRPr>
            </a:lvl1pPr>
            <a:lvl2pPr marL="742950" indent="-285750">
              <a:spcBef>
                <a:spcPct val="20000"/>
              </a:spcBef>
              <a:spcAft>
                <a:spcPct val="50000"/>
              </a:spcAft>
              <a:buClr>
                <a:srgbClr val="FF0000"/>
              </a:buClr>
              <a:buFont typeface="Wingdings" pitchFamily="2" charset="2"/>
              <a:defRPr sz="2400">
                <a:solidFill>
                  <a:schemeClr val="tx1"/>
                </a:solidFill>
                <a:latin typeface="Arial" panose="020B0604020202020204" pitchFamily="34" charset="0"/>
              </a:defRPr>
            </a:lvl2pPr>
            <a:lvl3pPr marL="1143000" indent="-228600">
              <a:spcBef>
                <a:spcPct val="20000"/>
              </a:spcBef>
              <a:spcAft>
                <a:spcPct val="50000"/>
              </a:spcAft>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Gill Sans MT" panose="020B0502020104020203" pitchFamily="34" charset="77"/>
              </a:defRPr>
            </a:lvl4pPr>
            <a:lvl5pPr marL="2057400" indent="-228600">
              <a:spcBef>
                <a:spcPct val="20000"/>
              </a:spcBef>
              <a:buChar char="»"/>
              <a:defRPr sz="2000">
                <a:solidFill>
                  <a:schemeClr val="tx1"/>
                </a:solidFill>
                <a:latin typeface="Gill Sans MT" panose="020B0502020104020203" pitchFamily="34" charset="77"/>
              </a:defRPr>
            </a:lvl5pPr>
            <a:lvl6pPr marL="2514600" indent="-228600" eaLnBrk="0" fontAlgn="base" hangingPunct="0">
              <a:spcBef>
                <a:spcPct val="20000"/>
              </a:spcBef>
              <a:spcAft>
                <a:spcPct val="0"/>
              </a:spcAft>
              <a:buChar char="»"/>
              <a:defRPr sz="2000">
                <a:solidFill>
                  <a:schemeClr val="tx1"/>
                </a:solidFill>
                <a:latin typeface="Gill Sans MT" panose="020B0502020104020203" pitchFamily="34" charset="77"/>
              </a:defRPr>
            </a:lvl6pPr>
            <a:lvl7pPr marL="2971800" indent="-228600" eaLnBrk="0" fontAlgn="base" hangingPunct="0">
              <a:spcBef>
                <a:spcPct val="20000"/>
              </a:spcBef>
              <a:spcAft>
                <a:spcPct val="0"/>
              </a:spcAft>
              <a:buChar char="»"/>
              <a:defRPr sz="2000">
                <a:solidFill>
                  <a:schemeClr val="tx1"/>
                </a:solidFill>
                <a:latin typeface="Gill Sans MT" panose="020B0502020104020203" pitchFamily="34" charset="77"/>
              </a:defRPr>
            </a:lvl7pPr>
            <a:lvl8pPr marL="3429000" indent="-228600" eaLnBrk="0" fontAlgn="base" hangingPunct="0">
              <a:spcBef>
                <a:spcPct val="20000"/>
              </a:spcBef>
              <a:spcAft>
                <a:spcPct val="0"/>
              </a:spcAft>
              <a:buChar char="»"/>
              <a:defRPr sz="2000">
                <a:solidFill>
                  <a:schemeClr val="tx1"/>
                </a:solidFill>
                <a:latin typeface="Gill Sans MT" panose="020B0502020104020203" pitchFamily="34" charset="77"/>
              </a:defRPr>
            </a:lvl8pPr>
            <a:lvl9pPr marL="3886200" indent="-228600" eaLnBrk="0" fontAlgn="base" hangingPunct="0">
              <a:spcBef>
                <a:spcPct val="20000"/>
              </a:spcBef>
              <a:spcAft>
                <a:spcPct val="0"/>
              </a:spcAft>
              <a:buChar char="»"/>
              <a:defRPr sz="2000">
                <a:solidFill>
                  <a:schemeClr val="tx1"/>
                </a:solidFill>
                <a:latin typeface="Gill Sans MT" panose="020B0502020104020203" pitchFamily="34" charset="77"/>
              </a:defRPr>
            </a:lvl9pPr>
          </a:lstStyle>
          <a:p>
            <a:pPr eaLnBrk="1" hangingPunct="1">
              <a:spcBef>
                <a:spcPct val="0"/>
              </a:spcBef>
              <a:spcAft>
                <a:spcPct val="0"/>
              </a:spcAft>
            </a:pPr>
            <a:endParaRPr lang="en-CA" altLang="en-US" sz="1800" b="0">
              <a:solidFill>
                <a:schemeClr val="tx1"/>
              </a:solidFill>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6690">
                                            <p:txEl>
                                              <p:pRg st="1" end="1"/>
                                            </p:txEl>
                                          </p:spTgt>
                                        </p:tgtEl>
                                        <p:attrNameLst>
                                          <p:attrName>style.visibility</p:attrName>
                                        </p:attrNameLst>
                                      </p:cBhvr>
                                      <p:to>
                                        <p:strVal val="visible"/>
                                      </p:to>
                                    </p:set>
                                    <p:animEffect transition="in" filter="wipe(left)">
                                      <p:cBhvr>
                                        <p:cTn id="7" dur="1000"/>
                                        <p:tgtEl>
                                          <p:spTgt spid="62669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6690">
                                            <p:txEl>
                                              <p:pRg st="2" end="2"/>
                                            </p:txEl>
                                          </p:spTgt>
                                        </p:tgtEl>
                                        <p:attrNameLst>
                                          <p:attrName>style.visibility</p:attrName>
                                        </p:attrNameLst>
                                      </p:cBhvr>
                                      <p:to>
                                        <p:strVal val="visible"/>
                                      </p:to>
                                    </p:set>
                                    <p:animEffect transition="in" filter="wipe(left)">
                                      <p:cBhvr>
                                        <p:cTn id="12" dur="1000"/>
                                        <p:tgtEl>
                                          <p:spTgt spid="62669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6690">
                                            <p:txEl>
                                              <p:pRg st="3" end="3"/>
                                            </p:txEl>
                                          </p:spTgt>
                                        </p:tgtEl>
                                        <p:attrNameLst>
                                          <p:attrName>style.visibility</p:attrName>
                                        </p:attrNameLst>
                                      </p:cBhvr>
                                      <p:to>
                                        <p:strVal val="visible"/>
                                      </p:to>
                                    </p:set>
                                    <p:animEffect transition="in" filter="wipe(left)">
                                      <p:cBhvr>
                                        <p:cTn id="17" dur="1000"/>
                                        <p:tgtEl>
                                          <p:spTgt spid="62669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690" grpId="0" build="p" bldLvl="3"/>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8738" name="Rectangle 2">
            <a:extLst>
              <a:ext uri="{FF2B5EF4-FFF2-40B4-BE49-F238E27FC236}">
                <a16:creationId xmlns:a16="http://schemas.microsoft.com/office/drawing/2014/main" id="{E5C55C7F-A2D5-B854-0051-EC1BCC5261EF}"/>
              </a:ext>
            </a:extLst>
          </p:cNvPr>
          <p:cNvSpPr>
            <a:spLocks noGrp="1" noChangeArrowheads="1"/>
          </p:cNvSpPr>
          <p:nvPr>
            <p:ph type="body" idx="1"/>
          </p:nvPr>
        </p:nvSpPr>
        <p:spPr>
          <a:xfrm>
            <a:off x="457200" y="1600200"/>
            <a:ext cx="4114800" cy="4800600"/>
          </a:xfrm>
        </p:spPr>
        <p:txBody>
          <a:bodyPr/>
          <a:lstStyle/>
          <a:p>
            <a:pPr marL="0" indent="0" eaLnBrk="1" hangingPunct="1"/>
            <a:r>
              <a:rPr lang="en-US" altLang="zh-TW" b="0">
                <a:solidFill>
                  <a:schemeClr val="tx1"/>
                </a:solidFill>
                <a:ea typeface="新細明體" panose="02020500000000000000" pitchFamily="18" charset="-120"/>
              </a:rPr>
              <a:t>Table 21.3(b) shows the quantities produced and the prices in 2010.</a:t>
            </a:r>
            <a:r>
              <a:rPr lang="en-US" altLang="zh-TW" sz="2800">
                <a:ea typeface="新細明體" panose="02020500000000000000" pitchFamily="18" charset="-120"/>
              </a:rPr>
              <a:t> </a:t>
            </a:r>
            <a:endParaRPr lang="en-US" altLang="zh-TW" b="0">
              <a:solidFill>
                <a:schemeClr val="tx1"/>
              </a:solidFill>
              <a:ea typeface="新細明體" panose="02020500000000000000" pitchFamily="18" charset="-120"/>
            </a:endParaRPr>
          </a:p>
          <a:p>
            <a:pPr marL="0" indent="0" eaLnBrk="1" hangingPunct="1"/>
            <a:r>
              <a:rPr lang="en-US" altLang="zh-TW" b="0">
                <a:solidFill>
                  <a:schemeClr val="tx1"/>
                </a:solidFill>
                <a:ea typeface="新細明體" panose="02020500000000000000" pitchFamily="18" charset="-120"/>
              </a:rPr>
              <a:t>Nominal GDP in 2010 is $300 million. </a:t>
            </a:r>
          </a:p>
          <a:p>
            <a:pPr marL="0" indent="0" eaLnBrk="1" hangingPunct="1"/>
            <a:r>
              <a:rPr lang="en-US" altLang="zh-TW" b="0">
                <a:solidFill>
                  <a:schemeClr val="tx1"/>
                </a:solidFill>
                <a:ea typeface="新細明體" panose="02020500000000000000" pitchFamily="18" charset="-120"/>
              </a:rPr>
              <a:t>Nominal GDP in 2010 is three times its value in 2005.</a:t>
            </a:r>
          </a:p>
        </p:txBody>
      </p:sp>
      <p:sp>
        <p:nvSpPr>
          <p:cNvPr id="78851" name="Rectangle 3">
            <a:extLst>
              <a:ext uri="{FF2B5EF4-FFF2-40B4-BE49-F238E27FC236}">
                <a16:creationId xmlns:a16="http://schemas.microsoft.com/office/drawing/2014/main" id="{F88F7D7C-A747-937E-DB85-65BCFA6AB493}"/>
              </a:ext>
            </a:extLst>
          </p:cNvPr>
          <p:cNvSpPr>
            <a:spLocks noGrp="1" noChangeArrowheads="1"/>
          </p:cNvSpPr>
          <p:nvPr>
            <p:ph type="title"/>
          </p:nvPr>
        </p:nvSpPr>
        <p:spPr>
          <a:xfrm>
            <a:off x="990600" y="304800"/>
            <a:ext cx="7696200" cy="1066800"/>
          </a:xfrm>
          <a:noFill/>
        </p:spPr>
        <p:txBody>
          <a:bodyPr/>
          <a:lstStyle/>
          <a:p>
            <a:pPr eaLnBrk="1" hangingPunct="1"/>
            <a:r>
              <a:rPr lang="en-US" altLang="zh-TW">
                <a:ea typeface="新細明體" panose="02020500000000000000" pitchFamily="18" charset="-120"/>
              </a:rPr>
              <a:t>Measuring U.S. GDP</a:t>
            </a:r>
          </a:p>
        </p:txBody>
      </p:sp>
      <p:pic>
        <p:nvPicPr>
          <p:cNvPr id="78852" name="Picture 2" descr="tab2103.gif">
            <a:extLst>
              <a:ext uri="{FF2B5EF4-FFF2-40B4-BE49-F238E27FC236}">
                <a16:creationId xmlns:a16="http://schemas.microsoft.com/office/drawing/2014/main" id="{17A82BC7-31C8-D1FB-CD54-40CACDE8D0C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295400"/>
            <a:ext cx="3570288" cy="530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3" name="Rectangle 5">
            <a:extLst>
              <a:ext uri="{FF2B5EF4-FFF2-40B4-BE49-F238E27FC236}">
                <a16:creationId xmlns:a16="http://schemas.microsoft.com/office/drawing/2014/main" id="{E78AC7F1-8EDE-00C8-65F1-A26B3A0858E7}"/>
              </a:ext>
            </a:extLst>
          </p:cNvPr>
          <p:cNvSpPr>
            <a:spLocks noChangeArrowheads="1"/>
          </p:cNvSpPr>
          <p:nvPr/>
        </p:nvSpPr>
        <p:spPr bwMode="auto">
          <a:xfrm>
            <a:off x="5181600" y="4267200"/>
            <a:ext cx="3429000" cy="2133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spcAft>
                <a:spcPct val="50000"/>
              </a:spcAft>
              <a:defRPr sz="2400" b="1">
                <a:solidFill>
                  <a:srgbClr val="FFC000"/>
                </a:solidFill>
                <a:latin typeface="Arial" panose="020B0604020202020204" pitchFamily="34" charset="0"/>
              </a:defRPr>
            </a:lvl1pPr>
            <a:lvl2pPr marL="742950" indent="-285750">
              <a:spcBef>
                <a:spcPct val="20000"/>
              </a:spcBef>
              <a:spcAft>
                <a:spcPct val="50000"/>
              </a:spcAft>
              <a:buClr>
                <a:srgbClr val="FF0000"/>
              </a:buClr>
              <a:buFont typeface="Wingdings" pitchFamily="2" charset="2"/>
              <a:defRPr sz="2400">
                <a:solidFill>
                  <a:schemeClr val="tx1"/>
                </a:solidFill>
                <a:latin typeface="Arial" panose="020B0604020202020204" pitchFamily="34" charset="0"/>
              </a:defRPr>
            </a:lvl2pPr>
            <a:lvl3pPr marL="1143000" indent="-228600">
              <a:spcBef>
                <a:spcPct val="20000"/>
              </a:spcBef>
              <a:spcAft>
                <a:spcPct val="50000"/>
              </a:spcAft>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Gill Sans MT" panose="020B0502020104020203" pitchFamily="34" charset="77"/>
              </a:defRPr>
            </a:lvl4pPr>
            <a:lvl5pPr marL="2057400" indent="-228600">
              <a:spcBef>
                <a:spcPct val="20000"/>
              </a:spcBef>
              <a:buChar char="»"/>
              <a:defRPr sz="2000">
                <a:solidFill>
                  <a:schemeClr val="tx1"/>
                </a:solidFill>
                <a:latin typeface="Gill Sans MT" panose="020B0502020104020203" pitchFamily="34" charset="77"/>
              </a:defRPr>
            </a:lvl5pPr>
            <a:lvl6pPr marL="2514600" indent="-228600" eaLnBrk="0" fontAlgn="base" hangingPunct="0">
              <a:spcBef>
                <a:spcPct val="20000"/>
              </a:spcBef>
              <a:spcAft>
                <a:spcPct val="0"/>
              </a:spcAft>
              <a:buChar char="»"/>
              <a:defRPr sz="2000">
                <a:solidFill>
                  <a:schemeClr val="tx1"/>
                </a:solidFill>
                <a:latin typeface="Gill Sans MT" panose="020B0502020104020203" pitchFamily="34" charset="77"/>
              </a:defRPr>
            </a:lvl6pPr>
            <a:lvl7pPr marL="2971800" indent="-228600" eaLnBrk="0" fontAlgn="base" hangingPunct="0">
              <a:spcBef>
                <a:spcPct val="20000"/>
              </a:spcBef>
              <a:spcAft>
                <a:spcPct val="0"/>
              </a:spcAft>
              <a:buChar char="»"/>
              <a:defRPr sz="2000">
                <a:solidFill>
                  <a:schemeClr val="tx1"/>
                </a:solidFill>
                <a:latin typeface="Gill Sans MT" panose="020B0502020104020203" pitchFamily="34" charset="77"/>
              </a:defRPr>
            </a:lvl7pPr>
            <a:lvl8pPr marL="3429000" indent="-228600" eaLnBrk="0" fontAlgn="base" hangingPunct="0">
              <a:spcBef>
                <a:spcPct val="20000"/>
              </a:spcBef>
              <a:spcAft>
                <a:spcPct val="0"/>
              </a:spcAft>
              <a:buChar char="»"/>
              <a:defRPr sz="2000">
                <a:solidFill>
                  <a:schemeClr val="tx1"/>
                </a:solidFill>
                <a:latin typeface="Gill Sans MT" panose="020B0502020104020203" pitchFamily="34" charset="77"/>
              </a:defRPr>
            </a:lvl8pPr>
            <a:lvl9pPr marL="3886200" indent="-228600" eaLnBrk="0" fontAlgn="base" hangingPunct="0">
              <a:spcBef>
                <a:spcPct val="20000"/>
              </a:spcBef>
              <a:spcAft>
                <a:spcPct val="0"/>
              </a:spcAft>
              <a:buChar char="»"/>
              <a:defRPr sz="2000">
                <a:solidFill>
                  <a:schemeClr val="tx1"/>
                </a:solidFill>
                <a:latin typeface="Gill Sans MT" panose="020B0502020104020203" pitchFamily="34" charset="77"/>
              </a:defRPr>
            </a:lvl9pPr>
          </a:lstStyle>
          <a:p>
            <a:pPr eaLnBrk="1" hangingPunct="1">
              <a:spcBef>
                <a:spcPct val="0"/>
              </a:spcBef>
              <a:spcAft>
                <a:spcPct val="0"/>
              </a:spcAft>
            </a:pPr>
            <a:endParaRPr lang="en-CA" altLang="en-US" sz="1800" b="0">
              <a:solidFill>
                <a:schemeClr val="tx1"/>
              </a:solidFill>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28738">
                                            <p:txEl>
                                              <p:pRg st="1" end="1"/>
                                            </p:txEl>
                                          </p:spTgt>
                                        </p:tgtEl>
                                        <p:attrNameLst>
                                          <p:attrName>style.visibility</p:attrName>
                                        </p:attrNameLst>
                                      </p:cBhvr>
                                      <p:to>
                                        <p:strVal val="visible"/>
                                      </p:to>
                                    </p:set>
                                    <p:animEffect transition="in" filter="wipe(left)">
                                      <p:cBhvr>
                                        <p:cTn id="7" dur="1000"/>
                                        <p:tgtEl>
                                          <p:spTgt spid="62873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8738">
                                            <p:txEl>
                                              <p:pRg st="2" end="2"/>
                                            </p:txEl>
                                          </p:spTgt>
                                        </p:tgtEl>
                                        <p:attrNameLst>
                                          <p:attrName>style.visibility</p:attrName>
                                        </p:attrNameLst>
                                      </p:cBhvr>
                                      <p:to>
                                        <p:strVal val="visible"/>
                                      </p:to>
                                    </p:set>
                                    <p:animEffect transition="in" filter="wipe(left)">
                                      <p:cBhvr>
                                        <p:cTn id="12" dur="1000"/>
                                        <p:tgtEl>
                                          <p:spTgt spid="62873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738" grpId="0" build="p" bldLvl="3"/>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0786" name="Rectangle 2">
            <a:extLst>
              <a:ext uri="{FF2B5EF4-FFF2-40B4-BE49-F238E27FC236}">
                <a16:creationId xmlns:a16="http://schemas.microsoft.com/office/drawing/2014/main" id="{FFEFE612-3263-101F-FC1B-84A7413A99A5}"/>
              </a:ext>
            </a:extLst>
          </p:cNvPr>
          <p:cNvSpPr>
            <a:spLocks noGrp="1" noChangeArrowheads="1"/>
          </p:cNvSpPr>
          <p:nvPr>
            <p:ph type="body" idx="1"/>
          </p:nvPr>
        </p:nvSpPr>
        <p:spPr>
          <a:xfrm>
            <a:off x="457200" y="1447800"/>
            <a:ext cx="4114800" cy="4876800"/>
          </a:xfrm>
        </p:spPr>
        <p:txBody>
          <a:bodyPr/>
          <a:lstStyle/>
          <a:p>
            <a:pPr marL="0" indent="0" eaLnBrk="1" hangingPunct="1">
              <a:lnSpc>
                <a:spcPct val="90000"/>
              </a:lnSpc>
            </a:pPr>
            <a:r>
              <a:rPr lang="en-US" altLang="zh-TW" b="0">
                <a:solidFill>
                  <a:schemeClr val="tx1"/>
                </a:solidFill>
                <a:ea typeface="新細明體" panose="02020500000000000000" pitchFamily="18" charset="-120"/>
              </a:rPr>
              <a:t>In Table 21.3(c), we calculate real GDP in 2010. </a:t>
            </a:r>
          </a:p>
          <a:p>
            <a:pPr marL="0" indent="0" eaLnBrk="1" hangingPunct="1">
              <a:lnSpc>
                <a:spcPct val="90000"/>
              </a:lnSpc>
            </a:pPr>
            <a:r>
              <a:rPr lang="en-US" altLang="zh-TW" b="0">
                <a:solidFill>
                  <a:schemeClr val="tx1"/>
                </a:solidFill>
                <a:ea typeface="新細明體" panose="02020500000000000000" pitchFamily="18" charset="-120"/>
              </a:rPr>
              <a:t>The quantities are those of 2010, as in part (b). </a:t>
            </a:r>
          </a:p>
          <a:p>
            <a:pPr marL="0" indent="0" eaLnBrk="1" hangingPunct="1">
              <a:lnSpc>
                <a:spcPct val="90000"/>
              </a:lnSpc>
            </a:pPr>
            <a:r>
              <a:rPr lang="en-US" altLang="zh-TW" b="0">
                <a:solidFill>
                  <a:schemeClr val="tx1"/>
                </a:solidFill>
                <a:ea typeface="新細明體" panose="02020500000000000000" pitchFamily="18" charset="-120"/>
              </a:rPr>
              <a:t>The prices are those in the base year (2005) as in part (a).</a:t>
            </a:r>
          </a:p>
          <a:p>
            <a:pPr marL="0" indent="0" eaLnBrk="1" hangingPunct="1">
              <a:lnSpc>
                <a:spcPct val="90000"/>
              </a:lnSpc>
            </a:pPr>
            <a:r>
              <a:rPr lang="en-US" altLang="zh-TW" b="0">
                <a:solidFill>
                  <a:schemeClr val="tx1"/>
                </a:solidFill>
                <a:ea typeface="新細明體" panose="02020500000000000000" pitchFamily="18" charset="-120"/>
              </a:rPr>
              <a:t>The sum of these expenditures is real GDP in 2010, which is $160 million.</a:t>
            </a:r>
          </a:p>
        </p:txBody>
      </p:sp>
      <p:sp>
        <p:nvSpPr>
          <p:cNvPr id="80899" name="Rectangle 3">
            <a:extLst>
              <a:ext uri="{FF2B5EF4-FFF2-40B4-BE49-F238E27FC236}">
                <a16:creationId xmlns:a16="http://schemas.microsoft.com/office/drawing/2014/main" id="{AC5500A5-2027-B828-AF81-547AECFD142E}"/>
              </a:ext>
            </a:extLst>
          </p:cNvPr>
          <p:cNvSpPr>
            <a:spLocks noGrp="1" noChangeArrowheads="1"/>
          </p:cNvSpPr>
          <p:nvPr>
            <p:ph type="title"/>
          </p:nvPr>
        </p:nvSpPr>
        <p:spPr>
          <a:xfrm>
            <a:off x="990600" y="304800"/>
            <a:ext cx="7696200" cy="1066800"/>
          </a:xfrm>
          <a:noFill/>
        </p:spPr>
        <p:txBody>
          <a:bodyPr/>
          <a:lstStyle/>
          <a:p>
            <a:pPr eaLnBrk="1" hangingPunct="1"/>
            <a:r>
              <a:rPr lang="en-US" altLang="zh-TW">
                <a:ea typeface="新細明體" panose="02020500000000000000" pitchFamily="18" charset="-120"/>
              </a:rPr>
              <a:t>Measuring U.S. GDP</a:t>
            </a:r>
          </a:p>
        </p:txBody>
      </p:sp>
      <p:pic>
        <p:nvPicPr>
          <p:cNvPr id="80900" name="Picture 2" descr="tab2103.gif">
            <a:extLst>
              <a:ext uri="{FF2B5EF4-FFF2-40B4-BE49-F238E27FC236}">
                <a16:creationId xmlns:a16="http://schemas.microsoft.com/office/drawing/2014/main" id="{F22580E7-A798-CF4D-C1A5-F46CFFC7D1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295400"/>
            <a:ext cx="3570288" cy="530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0786">
                                            <p:txEl>
                                              <p:pRg st="1" end="1"/>
                                            </p:txEl>
                                          </p:spTgt>
                                        </p:tgtEl>
                                        <p:attrNameLst>
                                          <p:attrName>style.visibility</p:attrName>
                                        </p:attrNameLst>
                                      </p:cBhvr>
                                      <p:to>
                                        <p:strVal val="visible"/>
                                      </p:to>
                                    </p:set>
                                    <p:animEffect transition="in" filter="wipe(left)">
                                      <p:cBhvr>
                                        <p:cTn id="7" dur="1000"/>
                                        <p:tgtEl>
                                          <p:spTgt spid="63078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0786">
                                            <p:txEl>
                                              <p:pRg st="2" end="2"/>
                                            </p:txEl>
                                          </p:spTgt>
                                        </p:tgtEl>
                                        <p:attrNameLst>
                                          <p:attrName>style.visibility</p:attrName>
                                        </p:attrNameLst>
                                      </p:cBhvr>
                                      <p:to>
                                        <p:strVal val="visible"/>
                                      </p:to>
                                    </p:set>
                                    <p:animEffect transition="in" filter="wipe(left)">
                                      <p:cBhvr>
                                        <p:cTn id="12" dur="1000"/>
                                        <p:tgtEl>
                                          <p:spTgt spid="630786">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0786">
                                            <p:txEl>
                                              <p:pRg st="3" end="3"/>
                                            </p:txEl>
                                          </p:spTgt>
                                        </p:tgtEl>
                                        <p:attrNameLst>
                                          <p:attrName>style.visibility</p:attrName>
                                        </p:attrNameLst>
                                      </p:cBhvr>
                                      <p:to>
                                        <p:strVal val="visible"/>
                                      </p:to>
                                    </p:set>
                                    <p:animEffect transition="in" filter="wipe(left)">
                                      <p:cBhvr>
                                        <p:cTn id="17" dur="1000"/>
                                        <p:tgtEl>
                                          <p:spTgt spid="63078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86" grpId="0" build="p" bldLvl="3"/>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F0C3EF4C-A70B-E453-7D4D-E101DB624E87}"/>
              </a:ext>
            </a:extLst>
          </p:cNvPr>
          <p:cNvSpPr>
            <a:spLocks noGrp="1" noChangeArrowheads="1"/>
          </p:cNvSpPr>
          <p:nvPr>
            <p:ph type="title"/>
          </p:nvPr>
        </p:nvSpPr>
        <p:spPr>
          <a:xfrm>
            <a:off x="990600" y="304800"/>
            <a:ext cx="7696200" cy="1143000"/>
          </a:xfrm>
        </p:spPr>
        <p:txBody>
          <a:bodyPr/>
          <a:lstStyle/>
          <a:p>
            <a:pPr eaLnBrk="1" hangingPunct="1"/>
            <a:r>
              <a:rPr lang="en-US" altLang="zh-TW">
                <a:ea typeface="新細明體" panose="02020500000000000000" pitchFamily="18" charset="-120"/>
              </a:rPr>
              <a:t>The Uses and Limitations of Real GDP</a:t>
            </a:r>
          </a:p>
        </p:txBody>
      </p:sp>
      <p:sp>
        <p:nvSpPr>
          <p:cNvPr id="632835" name="Rectangle 3">
            <a:extLst>
              <a:ext uri="{FF2B5EF4-FFF2-40B4-BE49-F238E27FC236}">
                <a16:creationId xmlns:a16="http://schemas.microsoft.com/office/drawing/2014/main" id="{B8959E72-5EFD-C5BC-3072-07684AC57E74}"/>
              </a:ext>
            </a:extLst>
          </p:cNvPr>
          <p:cNvSpPr>
            <a:spLocks noGrp="1" noChangeArrowheads="1"/>
          </p:cNvSpPr>
          <p:nvPr>
            <p:ph type="body" idx="1"/>
          </p:nvPr>
        </p:nvSpPr>
        <p:spPr/>
        <p:txBody>
          <a:bodyPr/>
          <a:lstStyle/>
          <a:p>
            <a:pPr lvl="1" indent="0" eaLnBrk="1" hangingPunct="1">
              <a:defRPr/>
            </a:pPr>
            <a:r>
              <a:rPr lang="en-US" dirty="0"/>
              <a:t>Economists use estimates of real GDP for two main purposes:</a:t>
            </a:r>
          </a:p>
          <a:p>
            <a:pPr marL="457200" lvl="1" indent="-342900" eaLnBrk="1" hangingPunct="1">
              <a:buClr>
                <a:srgbClr val="FFC000"/>
              </a:buClr>
              <a:buSzPct val="120000"/>
              <a:buFont typeface="Wingdings" pitchFamily="2" charset="2"/>
              <a:buChar char="§"/>
              <a:defRPr/>
            </a:pPr>
            <a:r>
              <a:rPr lang="en-US" dirty="0"/>
              <a:t>To compare the standard of living over time</a:t>
            </a:r>
          </a:p>
          <a:p>
            <a:pPr marL="457200" lvl="1" indent="-342900" eaLnBrk="1" hangingPunct="1">
              <a:buClr>
                <a:srgbClr val="FFC000"/>
              </a:buClr>
              <a:buSzPct val="120000"/>
              <a:buFont typeface="Wingdings" pitchFamily="2" charset="2"/>
              <a:buChar char="§"/>
              <a:defRPr/>
            </a:pPr>
            <a:r>
              <a:rPr lang="en-US" dirty="0"/>
              <a:t>To compare the standard of living across countries</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2835">
                                            <p:txEl>
                                              <p:pRg st="0" end="0"/>
                                            </p:txEl>
                                          </p:spTgt>
                                        </p:tgtEl>
                                        <p:attrNameLst>
                                          <p:attrName>style.visibility</p:attrName>
                                        </p:attrNameLst>
                                      </p:cBhvr>
                                      <p:to>
                                        <p:strVal val="visible"/>
                                      </p:to>
                                    </p:set>
                                    <p:animEffect transition="in" filter="wipe(left)">
                                      <p:cBhvr>
                                        <p:cTn id="7" dur="1000"/>
                                        <p:tgtEl>
                                          <p:spTgt spid="6328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2835">
                                            <p:txEl>
                                              <p:pRg st="1" end="1"/>
                                            </p:txEl>
                                          </p:spTgt>
                                        </p:tgtEl>
                                        <p:attrNameLst>
                                          <p:attrName>style.visibility</p:attrName>
                                        </p:attrNameLst>
                                      </p:cBhvr>
                                      <p:to>
                                        <p:strVal val="visible"/>
                                      </p:to>
                                    </p:set>
                                    <p:animEffect transition="in" filter="wipe(left)">
                                      <p:cBhvr>
                                        <p:cTn id="12" dur="1000"/>
                                        <p:tgtEl>
                                          <p:spTgt spid="6328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2835">
                                            <p:txEl>
                                              <p:pRg st="2" end="2"/>
                                            </p:txEl>
                                          </p:spTgt>
                                        </p:tgtEl>
                                        <p:attrNameLst>
                                          <p:attrName>style.visibility</p:attrName>
                                        </p:attrNameLst>
                                      </p:cBhvr>
                                      <p:to>
                                        <p:strVal val="visible"/>
                                      </p:to>
                                    </p:set>
                                    <p:animEffect transition="in" filter="wipe(left)">
                                      <p:cBhvr>
                                        <p:cTn id="17" dur="1000"/>
                                        <p:tgtEl>
                                          <p:spTgt spid="6328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2835" grpId="0" build="p" bldLvl="3"/>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883" name="Rectangle 3">
            <a:extLst>
              <a:ext uri="{FF2B5EF4-FFF2-40B4-BE49-F238E27FC236}">
                <a16:creationId xmlns:a16="http://schemas.microsoft.com/office/drawing/2014/main" id="{3A0C04CD-DB12-1E9A-C3C5-4383716730DA}"/>
              </a:ext>
            </a:extLst>
          </p:cNvPr>
          <p:cNvSpPr>
            <a:spLocks noGrp="1" noChangeArrowheads="1"/>
          </p:cNvSpPr>
          <p:nvPr>
            <p:ph type="body" idx="1"/>
          </p:nvPr>
        </p:nvSpPr>
        <p:spPr>
          <a:xfrm>
            <a:off x="457200" y="1600200"/>
            <a:ext cx="8305800" cy="4800600"/>
          </a:xfrm>
        </p:spPr>
        <p:txBody>
          <a:bodyPr/>
          <a:lstStyle/>
          <a:p>
            <a:pPr marL="0" indent="0" defTabSz="457200" eaLnBrk="1" hangingPunct="1"/>
            <a:r>
              <a:rPr lang="en-US" altLang="zh-TW">
                <a:ea typeface="新細明體" panose="02020500000000000000" pitchFamily="18" charset="-120"/>
              </a:rPr>
              <a:t>The Standard of Living Over Time</a:t>
            </a:r>
          </a:p>
          <a:p>
            <a:pPr lvl="1" indent="0" defTabSz="457200" eaLnBrk="1" hangingPunct="1"/>
            <a:r>
              <a:rPr lang="en-US" altLang="zh-TW" b="1">
                <a:ea typeface="新細明體" panose="02020500000000000000" pitchFamily="18" charset="-120"/>
              </a:rPr>
              <a:t>Real GDP per person </a:t>
            </a:r>
            <a:r>
              <a:rPr lang="en-US" altLang="zh-TW">
                <a:ea typeface="新細明體" panose="02020500000000000000" pitchFamily="18" charset="-120"/>
              </a:rPr>
              <a:t>is real GDP divided by the population. </a:t>
            </a:r>
          </a:p>
          <a:p>
            <a:pPr lvl="1" indent="0" defTabSz="457200" eaLnBrk="1" hangingPunct="1"/>
            <a:r>
              <a:rPr lang="en-US" altLang="zh-TW">
                <a:ea typeface="新細明體" panose="02020500000000000000" pitchFamily="18" charset="-120"/>
              </a:rPr>
              <a:t>Real GDP per person tells us the value of goods and services that the average person can enjoy.</a:t>
            </a:r>
          </a:p>
          <a:p>
            <a:pPr lvl="1" indent="0" defTabSz="457200" eaLnBrk="1" hangingPunct="1"/>
            <a:r>
              <a:rPr lang="en-US" altLang="zh-TW">
                <a:ea typeface="新細明體" panose="02020500000000000000" pitchFamily="18" charset="-120"/>
              </a:rPr>
              <a:t>By using </a:t>
            </a:r>
            <a:r>
              <a:rPr lang="en-US" altLang="zh-TW" i="1">
                <a:ea typeface="新細明體" panose="02020500000000000000" pitchFamily="18" charset="-120"/>
              </a:rPr>
              <a:t>real </a:t>
            </a:r>
            <a:r>
              <a:rPr lang="en-US" altLang="zh-TW">
                <a:ea typeface="新細明體" panose="02020500000000000000" pitchFamily="18" charset="-120"/>
              </a:rPr>
              <a:t>GDP, we remove any influence that rising prices and a rising cost of living might have had on our comparison.</a:t>
            </a:r>
          </a:p>
        </p:txBody>
      </p:sp>
      <p:sp>
        <p:nvSpPr>
          <p:cNvPr id="84995" name="Rectangle 5">
            <a:extLst>
              <a:ext uri="{FF2B5EF4-FFF2-40B4-BE49-F238E27FC236}">
                <a16:creationId xmlns:a16="http://schemas.microsoft.com/office/drawing/2014/main" id="{C5E59A69-E1FE-691D-80DE-3248D86C7FBA}"/>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The Uses and Limitations of Real GDP</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883">
                                            <p:txEl>
                                              <p:pRg st="1" end="1"/>
                                            </p:txEl>
                                          </p:spTgt>
                                        </p:tgtEl>
                                        <p:attrNameLst>
                                          <p:attrName>style.visibility</p:attrName>
                                        </p:attrNameLst>
                                      </p:cBhvr>
                                      <p:to>
                                        <p:strVal val="visible"/>
                                      </p:to>
                                    </p:set>
                                    <p:animEffect transition="in" filter="wipe(left)">
                                      <p:cBhvr>
                                        <p:cTn id="7" dur="1000"/>
                                        <p:tgtEl>
                                          <p:spTgt spid="63488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883">
                                            <p:txEl>
                                              <p:pRg st="2" end="2"/>
                                            </p:txEl>
                                          </p:spTgt>
                                        </p:tgtEl>
                                        <p:attrNameLst>
                                          <p:attrName>style.visibility</p:attrName>
                                        </p:attrNameLst>
                                      </p:cBhvr>
                                      <p:to>
                                        <p:strVal val="visible"/>
                                      </p:to>
                                    </p:set>
                                    <p:animEffect transition="in" filter="wipe(left)">
                                      <p:cBhvr>
                                        <p:cTn id="12" dur="1000"/>
                                        <p:tgtEl>
                                          <p:spTgt spid="63488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4883">
                                            <p:txEl>
                                              <p:pRg st="3" end="3"/>
                                            </p:txEl>
                                          </p:spTgt>
                                        </p:tgtEl>
                                        <p:attrNameLst>
                                          <p:attrName>style.visibility</p:attrName>
                                        </p:attrNameLst>
                                      </p:cBhvr>
                                      <p:to>
                                        <p:strVal val="visible"/>
                                      </p:to>
                                    </p:set>
                                    <p:animEffect transition="in" filter="wipe(left)">
                                      <p:cBhvr>
                                        <p:cTn id="17" dur="1000"/>
                                        <p:tgtEl>
                                          <p:spTgt spid="6348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883" grpId="0" build="p" bldLvl="3"/>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6931" name="Rectangle 3">
            <a:extLst>
              <a:ext uri="{FF2B5EF4-FFF2-40B4-BE49-F238E27FC236}">
                <a16:creationId xmlns:a16="http://schemas.microsoft.com/office/drawing/2014/main" id="{22BE1066-2E06-1C9F-ABCA-667A92BE4CE1}"/>
              </a:ext>
            </a:extLst>
          </p:cNvPr>
          <p:cNvSpPr>
            <a:spLocks noGrp="1" noChangeArrowheads="1"/>
          </p:cNvSpPr>
          <p:nvPr>
            <p:ph type="body" idx="1"/>
          </p:nvPr>
        </p:nvSpPr>
        <p:spPr>
          <a:xfrm>
            <a:off x="457200" y="1600200"/>
            <a:ext cx="8229600" cy="4800600"/>
          </a:xfrm>
        </p:spPr>
        <p:txBody>
          <a:bodyPr/>
          <a:lstStyle/>
          <a:p>
            <a:pPr lvl="1" indent="0" eaLnBrk="1" hangingPunct="1"/>
            <a:r>
              <a:rPr lang="en-US" altLang="zh-TW" b="1">
                <a:solidFill>
                  <a:srgbClr val="C40075"/>
                </a:solidFill>
                <a:ea typeface="新細明體" panose="02020500000000000000" pitchFamily="18" charset="-120"/>
              </a:rPr>
              <a:t>Long-Term Trend</a:t>
            </a:r>
          </a:p>
          <a:p>
            <a:pPr lvl="1" indent="0" eaLnBrk="1" hangingPunct="1"/>
            <a:r>
              <a:rPr lang="en-US" altLang="zh-TW">
                <a:ea typeface="新細明體" panose="02020500000000000000" pitchFamily="18" charset="-120"/>
              </a:rPr>
              <a:t>A handy way of comparing real GDP per person over time is to express it as a ratio of some reference year. </a:t>
            </a:r>
          </a:p>
          <a:p>
            <a:pPr lvl="1" indent="0" eaLnBrk="1" hangingPunct="1"/>
            <a:r>
              <a:rPr lang="en-US" altLang="zh-TW">
                <a:ea typeface="新細明體" panose="02020500000000000000" pitchFamily="18" charset="-120"/>
              </a:rPr>
              <a:t>For example, in 1960, real GDP per person was $15,850 and in 2010, it was $42,800.</a:t>
            </a:r>
          </a:p>
          <a:p>
            <a:pPr lvl="1" indent="0" eaLnBrk="1" hangingPunct="1"/>
            <a:r>
              <a:rPr lang="en-US" altLang="zh-TW">
                <a:ea typeface="新細明體" panose="02020500000000000000" pitchFamily="18" charset="-120"/>
              </a:rPr>
              <a:t>So real GDP per person in 2010 was 2.7 times its 1960 level—that is, $42,800 ÷ $15,850 = 2.7.</a:t>
            </a:r>
          </a:p>
        </p:txBody>
      </p:sp>
      <p:sp>
        <p:nvSpPr>
          <p:cNvPr id="87043" name="Rectangle 5">
            <a:extLst>
              <a:ext uri="{FF2B5EF4-FFF2-40B4-BE49-F238E27FC236}">
                <a16:creationId xmlns:a16="http://schemas.microsoft.com/office/drawing/2014/main" id="{D9A1A3BC-8079-431A-1948-6883AE243E13}"/>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The Uses and Limitations of Real GDP</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6931">
                                            <p:txEl>
                                              <p:pRg st="1" end="1"/>
                                            </p:txEl>
                                          </p:spTgt>
                                        </p:tgtEl>
                                        <p:attrNameLst>
                                          <p:attrName>style.visibility</p:attrName>
                                        </p:attrNameLst>
                                      </p:cBhvr>
                                      <p:to>
                                        <p:strVal val="visible"/>
                                      </p:to>
                                    </p:set>
                                    <p:animEffect transition="in" filter="wipe(left)">
                                      <p:cBhvr>
                                        <p:cTn id="7" dur="1000"/>
                                        <p:tgtEl>
                                          <p:spTgt spid="63693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6931">
                                            <p:txEl>
                                              <p:pRg st="2" end="2"/>
                                            </p:txEl>
                                          </p:spTgt>
                                        </p:tgtEl>
                                        <p:attrNameLst>
                                          <p:attrName>style.visibility</p:attrName>
                                        </p:attrNameLst>
                                      </p:cBhvr>
                                      <p:to>
                                        <p:strVal val="visible"/>
                                      </p:to>
                                    </p:set>
                                    <p:animEffect transition="in" filter="wipe(left)">
                                      <p:cBhvr>
                                        <p:cTn id="12" dur="1000"/>
                                        <p:tgtEl>
                                          <p:spTgt spid="63693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6931">
                                            <p:txEl>
                                              <p:pRg st="3" end="3"/>
                                            </p:txEl>
                                          </p:spTgt>
                                        </p:tgtEl>
                                        <p:attrNameLst>
                                          <p:attrName>style.visibility</p:attrName>
                                        </p:attrNameLst>
                                      </p:cBhvr>
                                      <p:to>
                                        <p:strVal val="visible"/>
                                      </p:to>
                                    </p:set>
                                    <p:animEffect transition="in" filter="wipe(left)">
                                      <p:cBhvr>
                                        <p:cTn id="17" dur="1000"/>
                                        <p:tgtEl>
                                          <p:spTgt spid="6369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931" grpId="0" build="p" bldLvl="3"/>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1266" name="Rectangle 2">
            <a:extLst>
              <a:ext uri="{FF2B5EF4-FFF2-40B4-BE49-F238E27FC236}">
                <a16:creationId xmlns:a16="http://schemas.microsoft.com/office/drawing/2014/main" id="{E8BBA4E4-14A8-E2A8-FE53-96A50DA60314}"/>
              </a:ext>
            </a:extLst>
          </p:cNvPr>
          <p:cNvSpPr>
            <a:spLocks noGrp="1" noChangeArrowheads="1"/>
          </p:cNvSpPr>
          <p:nvPr>
            <p:ph type="body" idx="1"/>
          </p:nvPr>
        </p:nvSpPr>
        <p:spPr>
          <a:xfrm>
            <a:off x="457200" y="1600200"/>
            <a:ext cx="7924800" cy="4800600"/>
          </a:xfrm>
        </p:spPr>
        <p:txBody>
          <a:bodyPr/>
          <a:lstStyle/>
          <a:p>
            <a:pPr lvl="1" indent="0" eaLnBrk="1" hangingPunct="1">
              <a:tabLst>
                <a:tab pos="461963" algn="l"/>
              </a:tabLst>
            </a:pPr>
            <a:r>
              <a:rPr lang="en-US" altLang="zh-TW">
                <a:ea typeface="新細明體" panose="02020500000000000000" pitchFamily="18" charset="-120"/>
              </a:rPr>
              <a:t>Two features of our expanding living standard are</a:t>
            </a:r>
          </a:p>
          <a:p>
            <a:pPr lvl="1" indent="0" eaLnBrk="1" hangingPunct="1">
              <a:buClr>
                <a:schemeClr val="tx1"/>
              </a:buClr>
              <a:buSzPct val="150000"/>
              <a:buFont typeface="Wingdings" pitchFamily="2" charset="2"/>
              <a:buChar char="§"/>
              <a:tabLst>
                <a:tab pos="461963" algn="l"/>
              </a:tabLst>
            </a:pPr>
            <a:r>
              <a:rPr lang="en-US" altLang="zh-TW">
                <a:ea typeface="新細明體" panose="02020500000000000000" pitchFamily="18" charset="-120"/>
              </a:rPr>
              <a:t> The growth of potential GDP per person</a:t>
            </a:r>
          </a:p>
          <a:p>
            <a:pPr lvl="1" indent="0" eaLnBrk="1" hangingPunct="1">
              <a:buClr>
                <a:schemeClr val="tx1"/>
              </a:buClr>
              <a:buSzPct val="150000"/>
              <a:buFont typeface="Wingdings" pitchFamily="2" charset="2"/>
              <a:buChar char="§"/>
              <a:tabLst>
                <a:tab pos="461963" algn="l"/>
              </a:tabLst>
            </a:pPr>
            <a:r>
              <a:rPr lang="en-US" altLang="zh-TW">
                <a:ea typeface="新細明體" panose="02020500000000000000" pitchFamily="18" charset="-120"/>
              </a:rPr>
              <a:t> Fluctuations of real GDP around potential GDP</a:t>
            </a:r>
          </a:p>
          <a:p>
            <a:pPr lvl="1" indent="0" eaLnBrk="1" hangingPunct="1">
              <a:tabLst>
                <a:tab pos="461963" algn="l"/>
              </a:tabLst>
            </a:pPr>
            <a:r>
              <a:rPr lang="en-US" altLang="zh-TW">
                <a:ea typeface="新細明體" panose="02020500000000000000" pitchFamily="18" charset="-120"/>
              </a:rPr>
              <a:t>The value of real GDP when all the economy’s labor, capital, land, and entrepreneurial ability are fully employed is called </a:t>
            </a:r>
            <a:r>
              <a:rPr lang="en-US" altLang="zh-TW" b="1">
                <a:ea typeface="新細明體" panose="02020500000000000000" pitchFamily="18" charset="-120"/>
              </a:rPr>
              <a:t>potential GDP</a:t>
            </a:r>
            <a:r>
              <a:rPr lang="en-US" altLang="zh-TW">
                <a:ea typeface="新細明體" panose="02020500000000000000" pitchFamily="18" charset="-120"/>
              </a:rPr>
              <a:t>.</a:t>
            </a:r>
          </a:p>
        </p:txBody>
      </p:sp>
      <p:sp>
        <p:nvSpPr>
          <p:cNvPr id="89091" name="Rectangle 3">
            <a:extLst>
              <a:ext uri="{FF2B5EF4-FFF2-40B4-BE49-F238E27FC236}">
                <a16:creationId xmlns:a16="http://schemas.microsoft.com/office/drawing/2014/main" id="{41360FAA-B88A-007B-A9A2-8DFF8A2981DA}"/>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The Uses and Limitations of Real GDP</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1266">
                                            <p:txEl>
                                              <p:pRg st="1" end="1"/>
                                            </p:txEl>
                                          </p:spTgt>
                                        </p:tgtEl>
                                        <p:attrNameLst>
                                          <p:attrName>style.visibility</p:attrName>
                                        </p:attrNameLst>
                                      </p:cBhvr>
                                      <p:to>
                                        <p:strVal val="visible"/>
                                      </p:to>
                                    </p:set>
                                    <p:animEffect transition="in" filter="wipe(left)">
                                      <p:cBhvr>
                                        <p:cTn id="7" dur="1000"/>
                                        <p:tgtEl>
                                          <p:spTgt spid="65126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1266">
                                            <p:txEl>
                                              <p:pRg st="2" end="2"/>
                                            </p:txEl>
                                          </p:spTgt>
                                        </p:tgtEl>
                                        <p:attrNameLst>
                                          <p:attrName>style.visibility</p:attrName>
                                        </p:attrNameLst>
                                      </p:cBhvr>
                                      <p:to>
                                        <p:strVal val="visible"/>
                                      </p:to>
                                    </p:set>
                                    <p:animEffect transition="in" filter="wipe(left)">
                                      <p:cBhvr>
                                        <p:cTn id="12" dur="1000"/>
                                        <p:tgtEl>
                                          <p:spTgt spid="651266">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1266">
                                            <p:txEl>
                                              <p:pRg st="3" end="3"/>
                                            </p:txEl>
                                          </p:spTgt>
                                        </p:tgtEl>
                                        <p:attrNameLst>
                                          <p:attrName>style.visibility</p:attrName>
                                        </p:attrNameLst>
                                      </p:cBhvr>
                                      <p:to>
                                        <p:strVal val="visible"/>
                                      </p:to>
                                    </p:set>
                                    <p:animEffect transition="in" filter="wipe(left)">
                                      <p:cBhvr>
                                        <p:cTn id="17" dur="1000"/>
                                        <p:tgtEl>
                                          <p:spTgt spid="65126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1266" grpId="0" build="p" bldLvl="3"/>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3314" name="Rectangle 2">
            <a:extLst>
              <a:ext uri="{FF2B5EF4-FFF2-40B4-BE49-F238E27FC236}">
                <a16:creationId xmlns:a16="http://schemas.microsoft.com/office/drawing/2014/main" id="{1402B0AB-3308-174C-5B33-D98F5A95975C}"/>
              </a:ext>
            </a:extLst>
          </p:cNvPr>
          <p:cNvSpPr>
            <a:spLocks noGrp="1" noChangeArrowheads="1"/>
          </p:cNvSpPr>
          <p:nvPr>
            <p:ph type="body" idx="1"/>
          </p:nvPr>
        </p:nvSpPr>
        <p:spPr>
          <a:xfrm>
            <a:off x="457200" y="1600200"/>
            <a:ext cx="3733800" cy="4800600"/>
          </a:xfrm>
        </p:spPr>
        <p:txBody>
          <a:bodyPr/>
          <a:lstStyle/>
          <a:p>
            <a:pPr lvl="1" indent="0" eaLnBrk="1" hangingPunct="1">
              <a:tabLst>
                <a:tab pos="461963" algn="l"/>
              </a:tabLst>
            </a:pPr>
            <a:r>
              <a:rPr lang="en-US" altLang="zh-TW">
                <a:ea typeface="新細明體" panose="02020500000000000000" pitchFamily="18" charset="-120"/>
              </a:rPr>
              <a:t>Figure 21.2 shows U.S. real GDP per person.</a:t>
            </a:r>
          </a:p>
          <a:p>
            <a:pPr lvl="1" indent="0" eaLnBrk="1" hangingPunct="1">
              <a:tabLst>
                <a:tab pos="461963" algn="l"/>
              </a:tabLst>
            </a:pPr>
            <a:r>
              <a:rPr lang="en-US" altLang="zh-TW">
                <a:ea typeface="新細明體" panose="02020500000000000000" pitchFamily="18" charset="-120"/>
              </a:rPr>
              <a:t>Potential GDP grows at a steady pace because the quantities of the factors of production and their productivity grow at a steady pace.</a:t>
            </a:r>
          </a:p>
          <a:p>
            <a:pPr lvl="1" indent="0" eaLnBrk="1" hangingPunct="1">
              <a:tabLst>
                <a:tab pos="461963" algn="l"/>
              </a:tabLst>
            </a:pPr>
            <a:r>
              <a:rPr lang="en-US" altLang="zh-TW">
                <a:ea typeface="新細明體" panose="02020500000000000000" pitchFamily="18" charset="-120"/>
              </a:rPr>
              <a:t>Real GDP fluctuates around potential GDP.</a:t>
            </a:r>
          </a:p>
        </p:txBody>
      </p:sp>
      <p:sp>
        <p:nvSpPr>
          <p:cNvPr id="91139" name="Rectangle 3">
            <a:extLst>
              <a:ext uri="{FF2B5EF4-FFF2-40B4-BE49-F238E27FC236}">
                <a16:creationId xmlns:a16="http://schemas.microsoft.com/office/drawing/2014/main" id="{AFE6323C-3A5C-FF5A-0C16-669F5EB190B0}"/>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The Uses and Limitations of Real GDP</a:t>
            </a:r>
          </a:p>
        </p:txBody>
      </p:sp>
      <p:pic>
        <p:nvPicPr>
          <p:cNvPr id="91140" name="Picture 6" descr="fig21.02a.gif">
            <a:extLst>
              <a:ext uri="{FF2B5EF4-FFF2-40B4-BE49-F238E27FC236}">
                <a16:creationId xmlns:a16="http://schemas.microsoft.com/office/drawing/2014/main" id="{92925663-CD47-D5EF-F8E7-8B8A6D4A497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905000"/>
            <a:ext cx="4170363"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fig21.02b.gif">
            <a:extLst>
              <a:ext uri="{FF2B5EF4-FFF2-40B4-BE49-F238E27FC236}">
                <a16:creationId xmlns:a16="http://schemas.microsoft.com/office/drawing/2014/main" id="{40EAB71B-16DE-D902-3FF2-4253694CFDC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905000"/>
            <a:ext cx="4170363"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21.02c.gif">
            <a:extLst>
              <a:ext uri="{FF2B5EF4-FFF2-40B4-BE49-F238E27FC236}">
                <a16:creationId xmlns:a16="http://schemas.microsoft.com/office/drawing/2014/main" id="{94F25714-6896-17BC-3D7B-F2DCA6D19A8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1905000"/>
            <a:ext cx="4170363"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3314">
                                            <p:txEl>
                                              <p:pRg st="1" end="1"/>
                                            </p:txEl>
                                          </p:spTgt>
                                        </p:tgtEl>
                                        <p:attrNameLst>
                                          <p:attrName>style.visibility</p:attrName>
                                        </p:attrNameLst>
                                      </p:cBhvr>
                                      <p:to>
                                        <p:strVal val="visible"/>
                                      </p:to>
                                    </p:set>
                                    <p:animEffect transition="in" filter="wipe(left)">
                                      <p:cBhvr>
                                        <p:cTn id="7" dur="1000"/>
                                        <p:tgtEl>
                                          <p:spTgt spid="653314">
                                            <p:txEl>
                                              <p:pRg st="1" end="1"/>
                                            </p:txEl>
                                          </p:spTgt>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0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53314">
                                            <p:txEl>
                                              <p:pRg st="2" end="2"/>
                                            </p:txEl>
                                          </p:spTgt>
                                        </p:tgtEl>
                                        <p:attrNameLst>
                                          <p:attrName>style.visibility</p:attrName>
                                        </p:attrNameLst>
                                      </p:cBhvr>
                                      <p:to>
                                        <p:strVal val="visible"/>
                                      </p:to>
                                    </p:set>
                                    <p:animEffect transition="in" filter="wipe(left)">
                                      <p:cBhvr>
                                        <p:cTn id="16" dur="1000"/>
                                        <p:tgtEl>
                                          <p:spTgt spid="653314">
                                            <p:txEl>
                                              <p:pRg st="2" end="2"/>
                                            </p:txEl>
                                          </p:spTgt>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3314" grpId="0" build="p" bldLvl="3"/>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3186" name="Picture 6" descr="fig21.02a.gif">
            <a:extLst>
              <a:ext uri="{FF2B5EF4-FFF2-40B4-BE49-F238E27FC236}">
                <a16:creationId xmlns:a16="http://schemas.microsoft.com/office/drawing/2014/main" id="{74F6DDEE-3C18-4141-C0DF-FD39BB5920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838200"/>
            <a:ext cx="5505450"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fig21.02b.gif">
            <a:extLst>
              <a:ext uri="{FF2B5EF4-FFF2-40B4-BE49-F238E27FC236}">
                <a16:creationId xmlns:a16="http://schemas.microsoft.com/office/drawing/2014/main" id="{DFD361AF-E979-3632-8405-38D60EC8C4E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838200"/>
            <a:ext cx="5505450"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21.02c.gif">
            <a:extLst>
              <a:ext uri="{FF2B5EF4-FFF2-40B4-BE49-F238E27FC236}">
                <a16:creationId xmlns:a16="http://schemas.microsoft.com/office/drawing/2014/main" id="{736501EF-D625-4C9F-3993-549B63D9412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838200"/>
            <a:ext cx="5505450"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fig21.02d.gif">
            <a:extLst>
              <a:ext uri="{FF2B5EF4-FFF2-40B4-BE49-F238E27FC236}">
                <a16:creationId xmlns:a16="http://schemas.microsoft.com/office/drawing/2014/main" id="{2DCB8D2C-9D16-0922-2877-78BE740BCA5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838200"/>
            <a:ext cx="5505450"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21.02e.gif">
            <a:extLst>
              <a:ext uri="{FF2B5EF4-FFF2-40B4-BE49-F238E27FC236}">
                <a16:creationId xmlns:a16="http://schemas.microsoft.com/office/drawing/2014/main" id="{975C530A-273F-79FC-F74D-361FCCC7BF2A}"/>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838200"/>
            <a:ext cx="5505450"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1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10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22" name="Rectangle 2">
            <a:extLst>
              <a:ext uri="{FF2B5EF4-FFF2-40B4-BE49-F238E27FC236}">
                <a16:creationId xmlns:a16="http://schemas.microsoft.com/office/drawing/2014/main" id="{9E35A3AD-4668-3FA3-03D1-5721E9D796D8}"/>
              </a:ext>
            </a:extLst>
          </p:cNvPr>
          <p:cNvSpPr>
            <a:spLocks noGrp="1" noChangeArrowheads="1"/>
          </p:cNvSpPr>
          <p:nvPr>
            <p:ph type="body" idx="1"/>
          </p:nvPr>
        </p:nvSpPr>
        <p:spPr>
          <a:xfrm>
            <a:off x="457200" y="1600200"/>
            <a:ext cx="3733800" cy="4800600"/>
          </a:xfrm>
        </p:spPr>
        <p:txBody>
          <a:bodyPr/>
          <a:lstStyle/>
          <a:p>
            <a:pPr lvl="1" indent="0" eaLnBrk="1" hangingPunct="1">
              <a:tabLst>
                <a:tab pos="461963" algn="l"/>
              </a:tabLst>
            </a:pPr>
            <a:r>
              <a:rPr lang="en-US" altLang="zh-TW">
                <a:ea typeface="新細明體" panose="02020500000000000000" pitchFamily="18" charset="-120"/>
              </a:rPr>
              <a:t>Real GDP per person in the United States:</a:t>
            </a:r>
          </a:p>
          <a:p>
            <a:pPr lvl="1" indent="0" eaLnBrk="1" hangingPunct="1">
              <a:tabLst>
                <a:tab pos="461963" algn="l"/>
              </a:tabLst>
            </a:pPr>
            <a:r>
              <a:rPr lang="en-US" altLang="zh-TW">
                <a:ea typeface="新細明體" panose="02020500000000000000" pitchFamily="18" charset="-120"/>
              </a:rPr>
              <a:t>Doubled between 1960 and 1990.</a:t>
            </a:r>
          </a:p>
          <a:p>
            <a:pPr lvl="1" indent="0" eaLnBrk="1" hangingPunct="1">
              <a:tabLst>
                <a:tab pos="461963" algn="l"/>
              </a:tabLst>
            </a:pPr>
            <a:r>
              <a:rPr lang="en-US" altLang="zh-TW">
                <a:ea typeface="新細明體" panose="02020500000000000000" pitchFamily="18" charset="-120"/>
              </a:rPr>
              <a:t>Was 2.7 times its 1960 level in 2010.</a:t>
            </a:r>
          </a:p>
        </p:txBody>
      </p:sp>
      <p:sp>
        <p:nvSpPr>
          <p:cNvPr id="95235" name="Rectangle 3">
            <a:extLst>
              <a:ext uri="{FF2B5EF4-FFF2-40B4-BE49-F238E27FC236}">
                <a16:creationId xmlns:a16="http://schemas.microsoft.com/office/drawing/2014/main" id="{0A5FB2B3-56E7-79AE-F387-19643423E2EF}"/>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The Uses and Limitations of Real GDP</a:t>
            </a:r>
          </a:p>
        </p:txBody>
      </p:sp>
      <p:pic>
        <p:nvPicPr>
          <p:cNvPr id="95236" name="Picture 8" descr="fig21.02a.gif">
            <a:extLst>
              <a:ext uri="{FF2B5EF4-FFF2-40B4-BE49-F238E27FC236}">
                <a16:creationId xmlns:a16="http://schemas.microsoft.com/office/drawing/2014/main" id="{1F8033AF-1946-426B-2EA0-B2FFEFBA58D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905000"/>
            <a:ext cx="4170363"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7" name="Picture 9" descr="fig21.02b.gif">
            <a:extLst>
              <a:ext uri="{FF2B5EF4-FFF2-40B4-BE49-F238E27FC236}">
                <a16:creationId xmlns:a16="http://schemas.microsoft.com/office/drawing/2014/main" id="{09CF53A0-0761-CC80-CA9A-50826F3DA20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905000"/>
            <a:ext cx="4170363"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8" name="Picture 10" descr="fig21.02c.gif">
            <a:extLst>
              <a:ext uri="{FF2B5EF4-FFF2-40B4-BE49-F238E27FC236}">
                <a16:creationId xmlns:a16="http://schemas.microsoft.com/office/drawing/2014/main" id="{19E39C74-B2F1-6470-BE9F-E1B8FCB8BAF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1905000"/>
            <a:ext cx="4170363"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21.02d.gif">
            <a:extLst>
              <a:ext uri="{FF2B5EF4-FFF2-40B4-BE49-F238E27FC236}">
                <a16:creationId xmlns:a16="http://schemas.microsoft.com/office/drawing/2014/main" id="{B4FA828E-6BD4-4E02-146C-A13E45A04BA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1905000"/>
            <a:ext cx="4170363"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21.02e.gif">
            <a:extLst>
              <a:ext uri="{FF2B5EF4-FFF2-40B4-BE49-F238E27FC236}">
                <a16:creationId xmlns:a16="http://schemas.microsoft.com/office/drawing/2014/main" id="{8DAE2E7E-2ED3-B5EF-4899-7DE110444EE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724400" y="1905000"/>
            <a:ext cx="4170363"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96322">
                                            <p:txEl>
                                              <p:pRg st="1" end="1"/>
                                            </p:txEl>
                                          </p:spTgt>
                                        </p:tgtEl>
                                        <p:attrNameLst>
                                          <p:attrName>style.visibility</p:attrName>
                                        </p:attrNameLst>
                                      </p:cBhvr>
                                      <p:to>
                                        <p:strVal val="visible"/>
                                      </p:to>
                                    </p:set>
                                    <p:animEffect transition="in" filter="wipe(left)">
                                      <p:cBhvr>
                                        <p:cTn id="7" dur="1000"/>
                                        <p:tgtEl>
                                          <p:spTgt spid="696322">
                                            <p:txEl>
                                              <p:pRg st="1" end="1"/>
                                            </p:txEl>
                                          </p:spTgt>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696322">
                                            <p:txEl>
                                              <p:pRg st="2" end="2"/>
                                            </p:txEl>
                                          </p:spTgt>
                                        </p:tgtEl>
                                        <p:attrNameLst>
                                          <p:attrName>style.visibility</p:attrName>
                                        </p:attrNameLst>
                                      </p:cBhvr>
                                      <p:to>
                                        <p:strVal val="visible"/>
                                      </p:to>
                                    </p:set>
                                    <p:animEffect transition="in" filter="wipe(left)">
                                      <p:cBhvr>
                                        <p:cTn id="16" dur="1000"/>
                                        <p:tgtEl>
                                          <p:spTgt spid="696322">
                                            <p:txEl>
                                              <p:pRg st="2" end="2"/>
                                            </p:txEl>
                                          </p:spTgt>
                                        </p:tgtEl>
                                      </p:cBhvr>
                                    </p:animEffect>
                                  </p:childTnLst>
                                </p:cTn>
                              </p:par>
                            </p:childTnLst>
                          </p:cTn>
                        </p:par>
                        <p:par>
                          <p:cTn id="17" fill="hold" nodeType="afterGroup">
                            <p:stCondLst>
                              <p:cond delay="1000"/>
                            </p:stCondLst>
                            <p:childTnLst>
                              <p:par>
                                <p:cTn id="18" presetID="10" presetClass="entr" presetSubtype="0"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1506" name="Rectangle 2">
            <a:extLst>
              <a:ext uri="{FF2B5EF4-FFF2-40B4-BE49-F238E27FC236}">
                <a16:creationId xmlns:a16="http://schemas.microsoft.com/office/drawing/2014/main" id="{7CC94B01-017C-A24D-30D4-05964D2C1454}"/>
              </a:ext>
            </a:extLst>
          </p:cNvPr>
          <p:cNvSpPr>
            <a:spLocks noGrp="1" noChangeArrowheads="1"/>
          </p:cNvSpPr>
          <p:nvPr>
            <p:ph type="body" idx="1"/>
          </p:nvPr>
        </p:nvSpPr>
        <p:spPr>
          <a:xfrm>
            <a:off x="457200" y="1600200"/>
            <a:ext cx="8153400" cy="4800600"/>
          </a:xfrm>
        </p:spPr>
        <p:txBody>
          <a:bodyPr/>
          <a:lstStyle/>
          <a:p>
            <a:pPr lvl="1" indent="0" eaLnBrk="1" hangingPunct="1">
              <a:tabLst>
                <a:tab pos="461963" algn="l"/>
              </a:tabLst>
            </a:pPr>
            <a:r>
              <a:rPr lang="en-US" altLang="zh-TW" b="1">
                <a:solidFill>
                  <a:srgbClr val="C40075"/>
                </a:solidFill>
                <a:ea typeface="新細明體" panose="02020500000000000000" pitchFamily="18" charset="-120"/>
              </a:rPr>
              <a:t>Real GDP Fluctuations— The Business Cycle </a:t>
            </a:r>
          </a:p>
          <a:p>
            <a:pPr lvl="1" indent="0" eaLnBrk="1" hangingPunct="1">
              <a:tabLst>
                <a:tab pos="461963" algn="l"/>
              </a:tabLst>
            </a:pPr>
            <a:r>
              <a:rPr lang="en-US" altLang="zh-TW">
                <a:ea typeface="新細明體" panose="02020500000000000000" pitchFamily="18" charset="-120"/>
              </a:rPr>
              <a:t>A </a:t>
            </a:r>
            <a:r>
              <a:rPr lang="en-US" altLang="zh-TW" b="1">
                <a:ea typeface="新細明體" panose="02020500000000000000" pitchFamily="18" charset="-120"/>
              </a:rPr>
              <a:t>business cycle </a:t>
            </a:r>
            <a:r>
              <a:rPr lang="en-US" altLang="zh-TW">
                <a:ea typeface="新細明體" panose="02020500000000000000" pitchFamily="18" charset="-120"/>
              </a:rPr>
              <a:t>is a periodic but irregular up-and-down movement of total production and other measures of economic activity. </a:t>
            </a:r>
          </a:p>
          <a:p>
            <a:pPr lvl="1" indent="0" eaLnBrk="1" hangingPunct="1">
              <a:spcBef>
                <a:spcPct val="10000"/>
              </a:spcBef>
              <a:tabLst>
                <a:tab pos="461963" algn="l"/>
              </a:tabLst>
            </a:pPr>
            <a:r>
              <a:rPr lang="en-US" altLang="zh-TW">
                <a:ea typeface="新細明體" panose="02020500000000000000" pitchFamily="18" charset="-120"/>
              </a:rPr>
              <a:t>Every cycle has two phases:</a:t>
            </a:r>
            <a:br>
              <a:rPr lang="en-US" altLang="zh-TW">
                <a:ea typeface="新細明體" panose="02020500000000000000" pitchFamily="18" charset="-120"/>
              </a:rPr>
            </a:br>
            <a:r>
              <a:rPr lang="en-US" altLang="zh-TW">
                <a:ea typeface="新細明體" panose="02020500000000000000" pitchFamily="18" charset="-120"/>
              </a:rPr>
              <a:t>1. Expansion</a:t>
            </a:r>
            <a:br>
              <a:rPr lang="en-US" altLang="zh-TW">
                <a:ea typeface="新細明體" panose="02020500000000000000" pitchFamily="18" charset="-120"/>
              </a:rPr>
            </a:br>
            <a:r>
              <a:rPr lang="en-US" altLang="zh-TW">
                <a:ea typeface="新細明體" panose="02020500000000000000" pitchFamily="18" charset="-120"/>
              </a:rPr>
              <a:t>2. Recession</a:t>
            </a:r>
          </a:p>
          <a:p>
            <a:pPr lvl="1" indent="0" eaLnBrk="1" hangingPunct="1">
              <a:tabLst>
                <a:tab pos="461963" algn="l"/>
              </a:tabLst>
            </a:pPr>
            <a:r>
              <a:rPr lang="en-US" altLang="zh-TW">
                <a:ea typeface="新細明體" panose="02020500000000000000" pitchFamily="18" charset="-120"/>
              </a:rPr>
              <a:t>and two turning points:</a:t>
            </a:r>
            <a:br>
              <a:rPr lang="en-US" altLang="zh-TW">
                <a:ea typeface="新細明體" panose="02020500000000000000" pitchFamily="18" charset="-120"/>
              </a:rPr>
            </a:br>
            <a:r>
              <a:rPr lang="en-US" altLang="zh-TW">
                <a:ea typeface="新細明體" panose="02020500000000000000" pitchFamily="18" charset="-120"/>
              </a:rPr>
              <a:t>1. Peak</a:t>
            </a:r>
            <a:br>
              <a:rPr lang="en-US" altLang="zh-TW">
                <a:ea typeface="新細明體" panose="02020500000000000000" pitchFamily="18" charset="-120"/>
              </a:rPr>
            </a:br>
            <a:r>
              <a:rPr lang="en-US" altLang="zh-TW">
                <a:ea typeface="新細明體" panose="02020500000000000000" pitchFamily="18" charset="-120"/>
              </a:rPr>
              <a:t>2. Trough</a:t>
            </a:r>
          </a:p>
        </p:txBody>
      </p:sp>
      <p:sp>
        <p:nvSpPr>
          <p:cNvPr id="97283" name="Rectangle 3">
            <a:extLst>
              <a:ext uri="{FF2B5EF4-FFF2-40B4-BE49-F238E27FC236}">
                <a16:creationId xmlns:a16="http://schemas.microsoft.com/office/drawing/2014/main" id="{5FE5D4F7-97E8-28D3-014A-06A7E03C7677}"/>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The Uses and Limitations of Real GDP</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1506">
                                            <p:txEl>
                                              <p:pRg st="1" end="1"/>
                                            </p:txEl>
                                          </p:spTgt>
                                        </p:tgtEl>
                                        <p:attrNameLst>
                                          <p:attrName>style.visibility</p:attrName>
                                        </p:attrNameLst>
                                      </p:cBhvr>
                                      <p:to>
                                        <p:strVal val="visible"/>
                                      </p:to>
                                    </p:set>
                                    <p:animEffect transition="in" filter="wipe(left)">
                                      <p:cBhvr>
                                        <p:cTn id="7" dur="1000"/>
                                        <p:tgtEl>
                                          <p:spTgt spid="66150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61506">
                                            <p:txEl>
                                              <p:pRg st="2" end="2"/>
                                            </p:txEl>
                                          </p:spTgt>
                                        </p:tgtEl>
                                        <p:attrNameLst>
                                          <p:attrName>style.visibility</p:attrName>
                                        </p:attrNameLst>
                                      </p:cBhvr>
                                      <p:to>
                                        <p:strVal val="visible"/>
                                      </p:to>
                                    </p:set>
                                    <p:animEffect transition="in" filter="wipe(left)">
                                      <p:cBhvr>
                                        <p:cTn id="12" dur="1000"/>
                                        <p:tgtEl>
                                          <p:spTgt spid="661506">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61506">
                                            <p:txEl>
                                              <p:pRg st="3" end="3"/>
                                            </p:txEl>
                                          </p:spTgt>
                                        </p:tgtEl>
                                        <p:attrNameLst>
                                          <p:attrName>style.visibility</p:attrName>
                                        </p:attrNameLst>
                                      </p:cBhvr>
                                      <p:to>
                                        <p:strVal val="visible"/>
                                      </p:to>
                                    </p:set>
                                    <p:animEffect transition="in" filter="wipe(left)">
                                      <p:cBhvr>
                                        <p:cTn id="17" dur="1000"/>
                                        <p:tgtEl>
                                          <p:spTgt spid="66150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506" grpId="0" build="p" bldLvl="3"/>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9458" name="Rectangle 2">
            <a:extLst>
              <a:ext uri="{FF2B5EF4-FFF2-40B4-BE49-F238E27FC236}">
                <a16:creationId xmlns:a16="http://schemas.microsoft.com/office/drawing/2014/main" id="{ECAFB573-39F2-371C-112A-19046C07D273}"/>
              </a:ext>
            </a:extLst>
          </p:cNvPr>
          <p:cNvSpPr>
            <a:spLocks noGrp="1" noChangeArrowheads="1"/>
          </p:cNvSpPr>
          <p:nvPr>
            <p:ph type="body" idx="1"/>
          </p:nvPr>
        </p:nvSpPr>
        <p:spPr>
          <a:xfrm>
            <a:off x="457200" y="1600200"/>
            <a:ext cx="4038600" cy="4800600"/>
          </a:xfrm>
        </p:spPr>
        <p:txBody>
          <a:bodyPr/>
          <a:lstStyle/>
          <a:p>
            <a:pPr lvl="1" indent="0" eaLnBrk="1" hangingPunct="1">
              <a:tabLst>
                <a:tab pos="461963" algn="l"/>
              </a:tabLst>
            </a:pPr>
            <a:r>
              <a:rPr lang="en-US" altLang="zh-TW">
                <a:ea typeface="新細明體" panose="02020500000000000000" pitchFamily="18" charset="-120"/>
              </a:rPr>
              <a:t>Figure 21.4 illustrates the business cycle. </a:t>
            </a:r>
          </a:p>
          <a:p>
            <a:pPr lvl="1" indent="0" eaLnBrk="1" hangingPunct="1">
              <a:tabLst>
                <a:tab pos="461963" algn="l"/>
              </a:tabLst>
            </a:pPr>
            <a:r>
              <a:rPr lang="en-US" altLang="zh-TW">
                <a:ea typeface="新細明體" panose="02020500000000000000" pitchFamily="18" charset="-120"/>
              </a:rPr>
              <a:t>An </a:t>
            </a:r>
            <a:r>
              <a:rPr lang="en-US" altLang="zh-TW" b="1">
                <a:ea typeface="新細明體" panose="02020500000000000000" pitchFamily="18" charset="-120"/>
              </a:rPr>
              <a:t>expansion </a:t>
            </a:r>
            <a:r>
              <a:rPr lang="en-US" altLang="zh-TW">
                <a:ea typeface="新細明體" panose="02020500000000000000" pitchFamily="18" charset="-120"/>
              </a:rPr>
              <a:t>is a period during which real GDP increases—from a trough to a peak. </a:t>
            </a:r>
          </a:p>
          <a:p>
            <a:pPr lvl="1" indent="0" eaLnBrk="1" hangingPunct="1">
              <a:tabLst>
                <a:tab pos="461963" algn="l"/>
              </a:tabLst>
            </a:pPr>
            <a:r>
              <a:rPr lang="en-US" altLang="zh-TW" b="1">
                <a:ea typeface="新細明體" panose="02020500000000000000" pitchFamily="18" charset="-120"/>
              </a:rPr>
              <a:t>Recession </a:t>
            </a:r>
            <a:r>
              <a:rPr lang="en-US" altLang="zh-TW">
                <a:ea typeface="新細明體" panose="02020500000000000000" pitchFamily="18" charset="-120"/>
              </a:rPr>
              <a:t>is a period during which real GDP decreases—its growth rate is negative for at least two successive quarters.</a:t>
            </a:r>
          </a:p>
        </p:txBody>
      </p:sp>
      <p:sp>
        <p:nvSpPr>
          <p:cNvPr id="99331" name="Rectangle 3">
            <a:extLst>
              <a:ext uri="{FF2B5EF4-FFF2-40B4-BE49-F238E27FC236}">
                <a16:creationId xmlns:a16="http://schemas.microsoft.com/office/drawing/2014/main" id="{3203B73D-3683-BBFE-4FF4-3AB8340CE285}"/>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The Uses and Limitations of Real GDP</a:t>
            </a:r>
          </a:p>
        </p:txBody>
      </p:sp>
      <p:pic>
        <p:nvPicPr>
          <p:cNvPr id="99332" name="Picture 8" descr="fig21.04a.gif">
            <a:extLst>
              <a:ext uri="{FF2B5EF4-FFF2-40B4-BE49-F238E27FC236}">
                <a16:creationId xmlns:a16="http://schemas.microsoft.com/office/drawing/2014/main" id="{AD0A6279-07A0-EE77-2E02-ED2430924C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19613" y="2087563"/>
            <a:ext cx="4443412" cy="393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21.04b.gif">
            <a:extLst>
              <a:ext uri="{FF2B5EF4-FFF2-40B4-BE49-F238E27FC236}">
                <a16:creationId xmlns:a16="http://schemas.microsoft.com/office/drawing/2014/main" id="{4C6E5B99-CE08-479B-B168-AE25F1CE479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19613" y="2087563"/>
            <a:ext cx="4443412" cy="393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21.04c.gif">
            <a:extLst>
              <a:ext uri="{FF2B5EF4-FFF2-40B4-BE49-F238E27FC236}">
                <a16:creationId xmlns:a16="http://schemas.microsoft.com/office/drawing/2014/main" id="{CC01A6AC-27B9-DBFE-6A24-4A11D7A552C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19613" y="2087563"/>
            <a:ext cx="4443412" cy="393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21.04d.gif">
            <a:extLst>
              <a:ext uri="{FF2B5EF4-FFF2-40B4-BE49-F238E27FC236}">
                <a16:creationId xmlns:a16="http://schemas.microsoft.com/office/drawing/2014/main" id="{1A4F0179-8A44-2CA9-3AAA-152BFEECA2B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519613" y="2087563"/>
            <a:ext cx="4443412" cy="393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21.04e.gif">
            <a:extLst>
              <a:ext uri="{FF2B5EF4-FFF2-40B4-BE49-F238E27FC236}">
                <a16:creationId xmlns:a16="http://schemas.microsoft.com/office/drawing/2014/main" id="{23480DCD-114D-ED30-273A-AE018A2EB02F}"/>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519613" y="2087563"/>
            <a:ext cx="4443412" cy="393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fig21.04f.gif">
            <a:extLst>
              <a:ext uri="{FF2B5EF4-FFF2-40B4-BE49-F238E27FC236}">
                <a16:creationId xmlns:a16="http://schemas.microsoft.com/office/drawing/2014/main" id="{C7351BD3-6566-8EFD-8A57-16E9B286FB8B}"/>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519613" y="2087563"/>
            <a:ext cx="4443412" cy="393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fig21.04g.gif">
            <a:extLst>
              <a:ext uri="{FF2B5EF4-FFF2-40B4-BE49-F238E27FC236}">
                <a16:creationId xmlns:a16="http://schemas.microsoft.com/office/drawing/2014/main" id="{40D39F91-07B9-E3C9-9DD3-1979AF6A5002}"/>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519613" y="2087563"/>
            <a:ext cx="4443412" cy="393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fig21.04h.gif">
            <a:extLst>
              <a:ext uri="{FF2B5EF4-FFF2-40B4-BE49-F238E27FC236}">
                <a16:creationId xmlns:a16="http://schemas.microsoft.com/office/drawing/2014/main" id="{601A8578-8C4F-01C8-A0DF-A079ED0D4527}"/>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4519613" y="2087563"/>
            <a:ext cx="4443412" cy="393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1000"/>
                                        <p:tgtEl>
                                          <p:spTgt spid="12"/>
                                        </p:tgtEl>
                                      </p:cBhvr>
                                    </p:animEffect>
                                  </p:childTnLst>
                                </p:cTn>
                              </p:par>
                              <p:par>
                                <p:cTn id="8" presetID="22" presetClass="entr" presetSubtype="8"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1000"/>
                                        <p:tgtEl>
                                          <p:spTgt spid="1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59458">
                                            <p:txEl>
                                              <p:pRg st="1" end="1"/>
                                            </p:txEl>
                                          </p:spTgt>
                                        </p:tgtEl>
                                        <p:attrNameLst>
                                          <p:attrName>style.visibility</p:attrName>
                                        </p:attrNameLst>
                                      </p:cBhvr>
                                      <p:to>
                                        <p:strVal val="visible"/>
                                      </p:to>
                                    </p:set>
                                    <p:animEffect transition="in" filter="wipe(left)">
                                      <p:cBhvr>
                                        <p:cTn id="15" dur="1000"/>
                                        <p:tgtEl>
                                          <p:spTgt spid="659458">
                                            <p:txEl>
                                              <p:pRg st="1" end="1"/>
                                            </p:txEl>
                                          </p:spTgt>
                                        </p:tgtEl>
                                      </p:cBhvr>
                                    </p:animEffect>
                                  </p:childTnLst>
                                </p:cTn>
                              </p:par>
                            </p:childTnLst>
                          </p:cTn>
                        </p:par>
                        <p:par>
                          <p:cTn id="16" fill="hold" nodeType="afterGroup">
                            <p:stCondLst>
                              <p:cond delay="1000"/>
                            </p:stCondLst>
                            <p:childTnLst>
                              <p:par>
                                <p:cTn id="17" presetID="10" presetClass="entr" presetSubtype="0"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par>
                          <p:cTn id="20" fill="hold" nodeType="afterGroup">
                            <p:stCondLst>
                              <p:cond delay="1500"/>
                            </p:stCondLst>
                            <p:childTnLst>
                              <p:par>
                                <p:cTn id="21" presetID="10" presetClass="entr" presetSubtype="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par>
                          <p:cTn id="24" fill="hold" nodeType="afterGroup">
                            <p:stCondLst>
                              <p:cond delay="2000"/>
                            </p:stCondLst>
                            <p:childTnLst>
                              <p:par>
                                <p:cTn id="25" presetID="10" presetClass="entr" presetSubtype="0"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59458">
                                            <p:txEl>
                                              <p:pRg st="2" end="2"/>
                                            </p:txEl>
                                          </p:spTgt>
                                        </p:tgtEl>
                                        <p:attrNameLst>
                                          <p:attrName>style.visibility</p:attrName>
                                        </p:attrNameLst>
                                      </p:cBhvr>
                                      <p:to>
                                        <p:strVal val="visible"/>
                                      </p:to>
                                    </p:set>
                                    <p:animEffect transition="in" filter="wipe(left)">
                                      <p:cBhvr>
                                        <p:cTn id="32" dur="1000"/>
                                        <p:tgtEl>
                                          <p:spTgt spid="659458">
                                            <p:txEl>
                                              <p:pRg st="2" end="2"/>
                                            </p:txEl>
                                          </p:spTgt>
                                        </p:tgtEl>
                                      </p:cBhvr>
                                    </p:animEffect>
                                  </p:childTnLst>
                                </p:cTn>
                              </p:par>
                            </p:childTnLst>
                          </p:cTn>
                        </p:par>
                        <p:par>
                          <p:cTn id="33" fill="hold" nodeType="afterGroup">
                            <p:stCondLst>
                              <p:cond delay="1000"/>
                            </p:stCondLst>
                            <p:childTnLst>
                              <p:par>
                                <p:cTn id="34" presetID="10" presetClass="entr" presetSubtype="0" fill="hold" nodeType="after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par>
                          <p:cTn id="37" fill="hold" nodeType="afterGroup">
                            <p:stCondLst>
                              <p:cond delay="1500"/>
                            </p:stCondLst>
                            <p:childTnLst>
                              <p:par>
                                <p:cTn id="38" presetID="10" presetClass="entr" presetSubtype="0" fill="hold" nodeType="after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9458" grpId="0" build="p" bldLvl="3"/>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1378" name="Picture 8" descr="fig21.04a.gif">
            <a:extLst>
              <a:ext uri="{FF2B5EF4-FFF2-40B4-BE49-F238E27FC236}">
                <a16:creationId xmlns:a16="http://schemas.microsoft.com/office/drawing/2014/main" id="{CD6330AA-5344-CB70-A831-511CD826077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685800"/>
            <a:ext cx="5381625"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fig21.04b.gif">
            <a:extLst>
              <a:ext uri="{FF2B5EF4-FFF2-40B4-BE49-F238E27FC236}">
                <a16:creationId xmlns:a16="http://schemas.microsoft.com/office/drawing/2014/main" id="{B2536DBF-9392-8E97-DBFF-38E90AAC481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685800"/>
            <a:ext cx="5381625"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21.04c.gif">
            <a:extLst>
              <a:ext uri="{FF2B5EF4-FFF2-40B4-BE49-F238E27FC236}">
                <a16:creationId xmlns:a16="http://schemas.microsoft.com/office/drawing/2014/main" id="{0DF14EE9-606F-BD49-6BF7-2A52ADC91F1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685800"/>
            <a:ext cx="5381625"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21.04d.gif">
            <a:extLst>
              <a:ext uri="{FF2B5EF4-FFF2-40B4-BE49-F238E27FC236}">
                <a16:creationId xmlns:a16="http://schemas.microsoft.com/office/drawing/2014/main" id="{70F3A0C6-3C00-E29A-0107-70CBFE56FCF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685800"/>
            <a:ext cx="5381625"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21.04e.gif">
            <a:extLst>
              <a:ext uri="{FF2B5EF4-FFF2-40B4-BE49-F238E27FC236}">
                <a16:creationId xmlns:a16="http://schemas.microsoft.com/office/drawing/2014/main" id="{F9401DF3-2D7F-4921-58F0-3C8BACAE2FD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828800" y="685800"/>
            <a:ext cx="5381625"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21.04f.gif">
            <a:extLst>
              <a:ext uri="{FF2B5EF4-FFF2-40B4-BE49-F238E27FC236}">
                <a16:creationId xmlns:a16="http://schemas.microsoft.com/office/drawing/2014/main" id="{B5671760-C602-EF2E-C0FA-C3F6A63655A9}"/>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685800"/>
            <a:ext cx="5381625"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21.04g.gif">
            <a:extLst>
              <a:ext uri="{FF2B5EF4-FFF2-40B4-BE49-F238E27FC236}">
                <a16:creationId xmlns:a16="http://schemas.microsoft.com/office/drawing/2014/main" id="{803DF6F0-6D98-AB2B-BD46-CCEAFAF22DBC}"/>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1828800" y="685800"/>
            <a:ext cx="5381625"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fig21.04h.gif">
            <a:extLst>
              <a:ext uri="{FF2B5EF4-FFF2-40B4-BE49-F238E27FC236}">
                <a16:creationId xmlns:a16="http://schemas.microsoft.com/office/drawing/2014/main" id="{5A8147D9-FADD-C74B-27EE-35306DE2D17D}"/>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1828800" y="685800"/>
            <a:ext cx="5381625"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10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8979" name="Rectangle 3">
            <a:extLst>
              <a:ext uri="{FF2B5EF4-FFF2-40B4-BE49-F238E27FC236}">
                <a16:creationId xmlns:a16="http://schemas.microsoft.com/office/drawing/2014/main" id="{19E8344C-6946-5F8C-817E-F706B5AC097D}"/>
              </a:ext>
            </a:extLst>
          </p:cNvPr>
          <p:cNvSpPr>
            <a:spLocks noGrp="1" noChangeArrowheads="1"/>
          </p:cNvSpPr>
          <p:nvPr>
            <p:ph type="body" idx="1"/>
          </p:nvPr>
        </p:nvSpPr>
        <p:spPr>
          <a:xfrm>
            <a:off x="457200" y="1600200"/>
            <a:ext cx="8229600" cy="4724400"/>
          </a:xfrm>
        </p:spPr>
        <p:txBody>
          <a:bodyPr/>
          <a:lstStyle/>
          <a:p>
            <a:pPr marL="0" indent="0" defTabSz="515938" eaLnBrk="1" hangingPunct="1"/>
            <a:r>
              <a:rPr lang="en-US" altLang="zh-TW">
                <a:ea typeface="新細明體" panose="02020500000000000000" pitchFamily="18" charset="-120"/>
              </a:rPr>
              <a:t>The Standard of Living Across Countries</a:t>
            </a:r>
          </a:p>
          <a:p>
            <a:pPr lvl="1" indent="0" defTabSz="515938" eaLnBrk="1" hangingPunct="1"/>
            <a:r>
              <a:rPr lang="en-US" altLang="zh-TW">
                <a:ea typeface="新細明體" panose="02020500000000000000" pitchFamily="18" charset="-120"/>
              </a:rPr>
              <a:t>Two problems arise in using real GDP to compare living standards across countries:</a:t>
            </a:r>
          </a:p>
          <a:p>
            <a:pPr lvl="1" indent="0" defTabSz="515938" eaLnBrk="1" hangingPunct="1"/>
            <a:r>
              <a:rPr lang="en-US" altLang="zh-TW">
                <a:ea typeface="新細明體" panose="02020500000000000000" pitchFamily="18" charset="-120"/>
              </a:rPr>
              <a:t>1. The real GDP of one country must be converted into the 	same currency units as the real GDP of the other 	country.</a:t>
            </a:r>
          </a:p>
          <a:p>
            <a:pPr lvl="1" indent="0" defTabSz="515938" eaLnBrk="1" hangingPunct="1"/>
            <a:r>
              <a:rPr lang="en-US" altLang="zh-TW">
                <a:ea typeface="新細明體" panose="02020500000000000000" pitchFamily="18" charset="-120"/>
              </a:rPr>
              <a:t>2. The goods and services in both countries must be 	valued at the same prices.</a:t>
            </a:r>
          </a:p>
        </p:txBody>
      </p:sp>
      <p:sp>
        <p:nvSpPr>
          <p:cNvPr id="103427" name="Rectangle 5">
            <a:extLst>
              <a:ext uri="{FF2B5EF4-FFF2-40B4-BE49-F238E27FC236}">
                <a16:creationId xmlns:a16="http://schemas.microsoft.com/office/drawing/2014/main" id="{BC6C6951-D54B-B8F2-DBE3-8CDF6517CEEB}"/>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The Uses and Limitations of Real GDP</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8979">
                                            <p:txEl>
                                              <p:pRg st="1" end="1"/>
                                            </p:txEl>
                                          </p:spTgt>
                                        </p:tgtEl>
                                        <p:attrNameLst>
                                          <p:attrName>style.visibility</p:attrName>
                                        </p:attrNameLst>
                                      </p:cBhvr>
                                      <p:to>
                                        <p:strVal val="visible"/>
                                      </p:to>
                                    </p:set>
                                    <p:animEffect transition="in" filter="wipe(left)">
                                      <p:cBhvr>
                                        <p:cTn id="7" dur="1000"/>
                                        <p:tgtEl>
                                          <p:spTgt spid="63897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8979">
                                            <p:txEl>
                                              <p:pRg st="2" end="2"/>
                                            </p:txEl>
                                          </p:spTgt>
                                        </p:tgtEl>
                                        <p:attrNameLst>
                                          <p:attrName>style.visibility</p:attrName>
                                        </p:attrNameLst>
                                      </p:cBhvr>
                                      <p:to>
                                        <p:strVal val="visible"/>
                                      </p:to>
                                    </p:set>
                                    <p:animEffect transition="in" filter="wipe(left)">
                                      <p:cBhvr>
                                        <p:cTn id="12" dur="1000"/>
                                        <p:tgtEl>
                                          <p:spTgt spid="63897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8979">
                                            <p:txEl>
                                              <p:pRg st="3" end="3"/>
                                            </p:txEl>
                                          </p:spTgt>
                                        </p:tgtEl>
                                        <p:attrNameLst>
                                          <p:attrName>style.visibility</p:attrName>
                                        </p:attrNameLst>
                                      </p:cBhvr>
                                      <p:to>
                                        <p:strVal val="visible"/>
                                      </p:to>
                                    </p:set>
                                    <p:animEffect transition="in" filter="wipe(left)">
                                      <p:cBhvr>
                                        <p:cTn id="17" dur="1000"/>
                                        <p:tgtEl>
                                          <p:spTgt spid="6389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8979" grpId="0" build="p" bldLvl="3"/>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3555" name="Rectangle 3">
            <a:extLst>
              <a:ext uri="{FF2B5EF4-FFF2-40B4-BE49-F238E27FC236}">
                <a16:creationId xmlns:a16="http://schemas.microsoft.com/office/drawing/2014/main" id="{BEECE12D-FF13-5F9C-E0A1-AFC71F6B89D5}"/>
              </a:ext>
            </a:extLst>
          </p:cNvPr>
          <p:cNvSpPr>
            <a:spLocks noGrp="1" noChangeArrowheads="1"/>
          </p:cNvSpPr>
          <p:nvPr>
            <p:ph type="body" idx="1"/>
          </p:nvPr>
        </p:nvSpPr>
        <p:spPr>
          <a:xfrm>
            <a:off x="457200" y="1371600"/>
            <a:ext cx="8305800" cy="5181600"/>
          </a:xfrm>
        </p:spPr>
        <p:txBody>
          <a:bodyPr/>
          <a:lstStyle/>
          <a:p>
            <a:pPr marL="0" indent="0" defTabSz="457200" eaLnBrk="1" hangingPunct="1"/>
            <a:r>
              <a:rPr lang="en-US" altLang="zh-TW">
                <a:ea typeface="新細明體" panose="02020500000000000000" pitchFamily="18" charset="-120"/>
              </a:rPr>
              <a:t>Limitations of Real GDP</a:t>
            </a:r>
          </a:p>
          <a:p>
            <a:pPr lvl="1" indent="0" defTabSz="457200" eaLnBrk="1" hangingPunct="1"/>
            <a:r>
              <a:rPr lang="en-US" altLang="zh-TW">
                <a:ea typeface="新細明體" panose="02020500000000000000" pitchFamily="18" charset="-120"/>
              </a:rPr>
              <a:t>Real GDP measures the value of goods and services that are bought in markets. </a:t>
            </a:r>
          </a:p>
          <a:p>
            <a:pPr lvl="1" indent="0" defTabSz="457200" eaLnBrk="1" hangingPunct="1"/>
            <a:r>
              <a:rPr lang="en-US" altLang="zh-TW">
                <a:ea typeface="新細明體" panose="02020500000000000000" pitchFamily="18" charset="-120"/>
              </a:rPr>
              <a:t>Some of the factors that influence the standard of living and that are not part of GDP are</a:t>
            </a:r>
          </a:p>
          <a:p>
            <a:pPr lvl="1" indent="0" defTabSz="457200" eaLnBrk="1" hangingPunct="1">
              <a:spcBef>
                <a:spcPct val="0"/>
              </a:spcBef>
              <a:spcAft>
                <a:spcPct val="20000"/>
              </a:spcAft>
              <a:buClr>
                <a:srgbClr val="C40075"/>
              </a:buClr>
              <a:buSzPct val="120000"/>
              <a:buFont typeface="Wingdings" pitchFamily="2" charset="2"/>
              <a:buChar char="§"/>
            </a:pPr>
            <a:r>
              <a:rPr lang="en-US" altLang="zh-TW">
                <a:ea typeface="新細明體" panose="02020500000000000000" pitchFamily="18" charset="-120"/>
              </a:rPr>
              <a:t> Household production</a:t>
            </a:r>
          </a:p>
          <a:p>
            <a:pPr lvl="1" indent="0" defTabSz="457200" eaLnBrk="1" hangingPunct="1">
              <a:spcBef>
                <a:spcPct val="0"/>
              </a:spcBef>
              <a:spcAft>
                <a:spcPct val="20000"/>
              </a:spcAft>
              <a:buClr>
                <a:srgbClr val="C40075"/>
              </a:buClr>
              <a:buSzPct val="120000"/>
              <a:buFont typeface="Wingdings" pitchFamily="2" charset="2"/>
              <a:buChar char="§"/>
            </a:pPr>
            <a:r>
              <a:rPr lang="en-US" altLang="zh-TW">
                <a:ea typeface="新細明體" panose="02020500000000000000" pitchFamily="18" charset="-120"/>
              </a:rPr>
              <a:t> Underground economic activity</a:t>
            </a:r>
          </a:p>
          <a:p>
            <a:pPr lvl="1" indent="0" defTabSz="457200" eaLnBrk="1" hangingPunct="1">
              <a:spcBef>
                <a:spcPct val="0"/>
              </a:spcBef>
              <a:spcAft>
                <a:spcPct val="20000"/>
              </a:spcAft>
              <a:buClr>
                <a:srgbClr val="C40075"/>
              </a:buClr>
              <a:buSzPct val="120000"/>
              <a:buFont typeface="Wingdings" pitchFamily="2" charset="2"/>
              <a:buChar char="§"/>
            </a:pPr>
            <a:r>
              <a:rPr lang="en-US" altLang="zh-TW">
                <a:ea typeface="新細明體" panose="02020500000000000000" pitchFamily="18" charset="-120"/>
              </a:rPr>
              <a:t> Health and life expectancy</a:t>
            </a:r>
          </a:p>
          <a:p>
            <a:pPr lvl="1" indent="0" defTabSz="457200" eaLnBrk="1" hangingPunct="1">
              <a:spcBef>
                <a:spcPct val="0"/>
              </a:spcBef>
              <a:spcAft>
                <a:spcPct val="20000"/>
              </a:spcAft>
              <a:buClr>
                <a:srgbClr val="C40075"/>
              </a:buClr>
              <a:buSzPct val="120000"/>
              <a:buFont typeface="Wingdings" pitchFamily="2" charset="2"/>
              <a:buChar char="§"/>
            </a:pPr>
            <a:r>
              <a:rPr lang="en-US" altLang="zh-TW">
                <a:ea typeface="新細明體" panose="02020500000000000000" pitchFamily="18" charset="-120"/>
              </a:rPr>
              <a:t> Leisure time</a:t>
            </a:r>
          </a:p>
          <a:p>
            <a:pPr lvl="1" indent="0" defTabSz="457200" eaLnBrk="1" hangingPunct="1">
              <a:spcBef>
                <a:spcPct val="0"/>
              </a:spcBef>
              <a:spcAft>
                <a:spcPct val="20000"/>
              </a:spcAft>
              <a:buClr>
                <a:srgbClr val="C40075"/>
              </a:buClr>
              <a:buSzPct val="120000"/>
              <a:buFont typeface="Wingdings" pitchFamily="2" charset="2"/>
              <a:buChar char="§"/>
            </a:pPr>
            <a:r>
              <a:rPr lang="en-US" altLang="zh-TW">
                <a:ea typeface="新細明體" panose="02020500000000000000" pitchFamily="18" charset="-120"/>
              </a:rPr>
              <a:t> Environmental quality</a:t>
            </a:r>
          </a:p>
          <a:p>
            <a:pPr lvl="1" indent="0" defTabSz="457200" eaLnBrk="1" hangingPunct="1">
              <a:spcBef>
                <a:spcPct val="0"/>
              </a:spcBef>
              <a:spcAft>
                <a:spcPct val="20000"/>
              </a:spcAft>
              <a:buClr>
                <a:srgbClr val="C40075"/>
              </a:buClr>
              <a:buSzPct val="120000"/>
              <a:buFont typeface="Wingdings" pitchFamily="2" charset="2"/>
              <a:buChar char="§"/>
            </a:pPr>
            <a:r>
              <a:rPr lang="en-US" altLang="zh-TW">
                <a:ea typeface="新細明體" panose="02020500000000000000" pitchFamily="18" charset="-120"/>
              </a:rPr>
              <a:t> Political freedom and social justice</a:t>
            </a:r>
          </a:p>
        </p:txBody>
      </p:sp>
      <p:sp>
        <p:nvSpPr>
          <p:cNvPr id="105475" name="Rectangle 5">
            <a:extLst>
              <a:ext uri="{FF2B5EF4-FFF2-40B4-BE49-F238E27FC236}">
                <a16:creationId xmlns:a16="http://schemas.microsoft.com/office/drawing/2014/main" id="{FF01FCB1-B104-6EE3-2768-8C4AB79A0631}"/>
              </a:ext>
            </a:extLst>
          </p:cNvPr>
          <p:cNvSpPr>
            <a:spLocks noGrp="1" noChangeArrowheads="1"/>
          </p:cNvSpPr>
          <p:nvPr>
            <p:ph type="title"/>
          </p:nvPr>
        </p:nvSpPr>
        <p:spPr>
          <a:xfrm>
            <a:off x="990600" y="304800"/>
            <a:ext cx="7696200" cy="1143000"/>
          </a:xfrm>
          <a:noFill/>
        </p:spPr>
        <p:txBody>
          <a:bodyPr/>
          <a:lstStyle/>
          <a:p>
            <a:pPr eaLnBrk="1" hangingPunct="1"/>
            <a:r>
              <a:rPr lang="en-US" altLang="zh-TW">
                <a:ea typeface="新細明體" panose="02020500000000000000" pitchFamily="18" charset="-120"/>
              </a:rPr>
              <a:t>The Uses and Limitations of Real GDP</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3555">
                                            <p:txEl>
                                              <p:pRg st="1" end="1"/>
                                            </p:txEl>
                                          </p:spTgt>
                                        </p:tgtEl>
                                        <p:attrNameLst>
                                          <p:attrName>style.visibility</p:attrName>
                                        </p:attrNameLst>
                                      </p:cBhvr>
                                      <p:to>
                                        <p:strVal val="visible"/>
                                      </p:to>
                                    </p:set>
                                    <p:animEffect transition="in" filter="wipe(left)">
                                      <p:cBhvr>
                                        <p:cTn id="7" dur="1000"/>
                                        <p:tgtEl>
                                          <p:spTgt spid="66355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63555">
                                            <p:txEl>
                                              <p:pRg st="2" end="2"/>
                                            </p:txEl>
                                          </p:spTgt>
                                        </p:tgtEl>
                                        <p:attrNameLst>
                                          <p:attrName>style.visibility</p:attrName>
                                        </p:attrNameLst>
                                      </p:cBhvr>
                                      <p:to>
                                        <p:strVal val="visible"/>
                                      </p:to>
                                    </p:set>
                                    <p:animEffect transition="in" filter="wipe(left)">
                                      <p:cBhvr>
                                        <p:cTn id="12" dur="1000"/>
                                        <p:tgtEl>
                                          <p:spTgt spid="66355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63555">
                                            <p:txEl>
                                              <p:pRg st="3" end="3"/>
                                            </p:txEl>
                                          </p:spTgt>
                                        </p:tgtEl>
                                        <p:attrNameLst>
                                          <p:attrName>style.visibility</p:attrName>
                                        </p:attrNameLst>
                                      </p:cBhvr>
                                      <p:to>
                                        <p:strVal val="visible"/>
                                      </p:to>
                                    </p:set>
                                    <p:animEffect transition="in" filter="wipe(left)">
                                      <p:cBhvr>
                                        <p:cTn id="17" dur="1000"/>
                                        <p:tgtEl>
                                          <p:spTgt spid="66355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63555">
                                            <p:txEl>
                                              <p:pRg st="4" end="4"/>
                                            </p:txEl>
                                          </p:spTgt>
                                        </p:tgtEl>
                                        <p:attrNameLst>
                                          <p:attrName>style.visibility</p:attrName>
                                        </p:attrNameLst>
                                      </p:cBhvr>
                                      <p:to>
                                        <p:strVal val="visible"/>
                                      </p:to>
                                    </p:set>
                                    <p:animEffect transition="in" filter="wipe(left)">
                                      <p:cBhvr>
                                        <p:cTn id="22" dur="1000"/>
                                        <p:tgtEl>
                                          <p:spTgt spid="66355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63555">
                                            <p:txEl>
                                              <p:pRg st="5" end="5"/>
                                            </p:txEl>
                                          </p:spTgt>
                                        </p:tgtEl>
                                        <p:attrNameLst>
                                          <p:attrName>style.visibility</p:attrName>
                                        </p:attrNameLst>
                                      </p:cBhvr>
                                      <p:to>
                                        <p:strVal val="visible"/>
                                      </p:to>
                                    </p:set>
                                    <p:animEffect transition="in" filter="wipe(left)">
                                      <p:cBhvr>
                                        <p:cTn id="27" dur="1000"/>
                                        <p:tgtEl>
                                          <p:spTgt spid="66355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63555">
                                            <p:txEl>
                                              <p:pRg st="6" end="6"/>
                                            </p:txEl>
                                          </p:spTgt>
                                        </p:tgtEl>
                                        <p:attrNameLst>
                                          <p:attrName>style.visibility</p:attrName>
                                        </p:attrNameLst>
                                      </p:cBhvr>
                                      <p:to>
                                        <p:strVal val="visible"/>
                                      </p:to>
                                    </p:set>
                                    <p:animEffect transition="in" filter="wipe(left)">
                                      <p:cBhvr>
                                        <p:cTn id="32" dur="1000"/>
                                        <p:tgtEl>
                                          <p:spTgt spid="663555">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63555">
                                            <p:txEl>
                                              <p:pRg st="7" end="7"/>
                                            </p:txEl>
                                          </p:spTgt>
                                        </p:tgtEl>
                                        <p:attrNameLst>
                                          <p:attrName>style.visibility</p:attrName>
                                        </p:attrNameLst>
                                      </p:cBhvr>
                                      <p:to>
                                        <p:strVal val="visible"/>
                                      </p:to>
                                    </p:set>
                                    <p:animEffect transition="in" filter="wipe(left)">
                                      <p:cBhvr>
                                        <p:cTn id="37" dur="1000"/>
                                        <p:tgtEl>
                                          <p:spTgt spid="663555">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63555">
                                            <p:txEl>
                                              <p:pRg st="8" end="8"/>
                                            </p:txEl>
                                          </p:spTgt>
                                        </p:tgtEl>
                                        <p:attrNameLst>
                                          <p:attrName>style.visibility</p:attrName>
                                        </p:attrNameLst>
                                      </p:cBhvr>
                                      <p:to>
                                        <p:strVal val="visible"/>
                                      </p:to>
                                    </p:set>
                                    <p:animEffect transition="in" filter="wipe(left)">
                                      <p:cBhvr>
                                        <p:cTn id="42" dur="1000"/>
                                        <p:tgtEl>
                                          <p:spTgt spid="66355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555" grpId="0" build="p" bldLvl="3"/>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7224"/>
            <a:ext cx="8229600" cy="1034744"/>
          </a:xfrm>
        </p:spPr>
        <p:txBody>
          <a:bodyPr/>
          <a:lstStyle/>
          <a:p>
            <a:pPr algn="l"/>
            <a:r>
              <a:rPr lang="en-US" sz="3200" dirty="0"/>
              <a:t>Figure 20.4 </a:t>
            </a:r>
            <a:br>
              <a:rPr lang="en-US" sz="3200" dirty="0"/>
            </a:br>
            <a:r>
              <a:rPr lang="en-US" sz="3200" dirty="0"/>
              <a:t>Rising UK standard of living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802031"/>
            <a:ext cx="8312727" cy="3253938"/>
          </a:xfrm>
          <a:prstGeom prst="rect">
            <a:avLst/>
          </a:prstGeom>
        </p:spPr>
      </p:pic>
      <p:sp>
        <p:nvSpPr>
          <p:cNvPr id="3" name="TextBox 2"/>
          <p:cNvSpPr txBox="1"/>
          <p:nvPr/>
        </p:nvSpPr>
        <p:spPr>
          <a:xfrm>
            <a:off x="353216" y="6092990"/>
            <a:ext cx="5702202" cy="215444"/>
          </a:xfrm>
          <a:prstGeom prst="rect">
            <a:avLst/>
          </a:prstGeom>
          <a:noFill/>
        </p:spPr>
        <p:txBody>
          <a:bodyPr wrap="none" rtlCol="0">
            <a:spAutoFit/>
          </a:bodyPr>
          <a:lstStyle/>
          <a:p>
            <a:r>
              <a:rPr lang="en-US" sz="800" dirty="0"/>
              <a:t>Sources of data: </a:t>
            </a:r>
            <a:r>
              <a:rPr lang="en-US" sz="800" dirty="0" err="1"/>
              <a:t>Authors’assumptions</a:t>
            </a:r>
            <a:r>
              <a:rPr lang="en-US" sz="800" dirty="0"/>
              <a:t> and calculations based on data from the Office for Budget Responsibility forecasts</a:t>
            </a:r>
            <a:endParaRPr lang="en-IN" sz="800" dirty="0"/>
          </a:p>
        </p:txBody>
      </p:sp>
    </p:spTree>
    <p:extLst>
      <p:ext uri="{BB962C8B-B14F-4D97-AF65-F5344CB8AC3E}">
        <p14:creationId xmlns:p14="http://schemas.microsoft.com/office/powerpoint/2010/main" val="1108509333"/>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7224"/>
            <a:ext cx="8229600" cy="1034744"/>
          </a:xfrm>
        </p:spPr>
        <p:txBody>
          <a:bodyPr/>
          <a:lstStyle/>
          <a:p>
            <a:pPr algn="l"/>
            <a:r>
              <a:rPr lang="en-US" sz="3200" dirty="0"/>
              <a:t>Figure 20.5 </a:t>
            </a:r>
            <a:br>
              <a:rPr lang="en-US" sz="3200" dirty="0"/>
            </a:br>
            <a:r>
              <a:rPr lang="en-US" sz="3200" dirty="0"/>
              <a:t>The cost of slower growth</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772816"/>
            <a:ext cx="8312727" cy="3461898"/>
          </a:xfrm>
          <a:prstGeom prst="rect">
            <a:avLst/>
          </a:prstGeom>
        </p:spPr>
      </p:pic>
      <p:sp>
        <p:nvSpPr>
          <p:cNvPr id="6" name="TextBox 5"/>
          <p:cNvSpPr txBox="1"/>
          <p:nvPr/>
        </p:nvSpPr>
        <p:spPr>
          <a:xfrm>
            <a:off x="353216" y="6092990"/>
            <a:ext cx="5682966" cy="215444"/>
          </a:xfrm>
          <a:prstGeom prst="rect">
            <a:avLst/>
          </a:prstGeom>
          <a:noFill/>
        </p:spPr>
        <p:txBody>
          <a:bodyPr wrap="none" rtlCol="0">
            <a:spAutoFit/>
          </a:bodyPr>
          <a:lstStyle/>
          <a:p>
            <a:r>
              <a:rPr lang="en-US" sz="800" dirty="0"/>
              <a:t>Source of data: Office for National Statistics. Lucas wedge based on authors’ assumptions about the 1960s growth trend</a:t>
            </a:r>
            <a:endParaRPr lang="en-IN" sz="800" dirty="0"/>
          </a:p>
        </p:txBody>
      </p:sp>
    </p:spTree>
    <p:extLst>
      <p:ext uri="{BB962C8B-B14F-4D97-AF65-F5344CB8AC3E}">
        <p14:creationId xmlns:p14="http://schemas.microsoft.com/office/powerpoint/2010/main" val="1908726957"/>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7224"/>
            <a:ext cx="8229600" cy="1034744"/>
          </a:xfrm>
        </p:spPr>
        <p:txBody>
          <a:bodyPr/>
          <a:lstStyle/>
          <a:p>
            <a:pPr algn="l"/>
            <a:r>
              <a:rPr lang="en-US" sz="3200" dirty="0"/>
              <a:t>Figure 20.6 </a:t>
            </a:r>
            <a:br>
              <a:rPr lang="en-US" sz="3200" dirty="0"/>
            </a:br>
            <a:r>
              <a:rPr lang="en-US" sz="3200" dirty="0"/>
              <a:t>Most recent UK business cycle</a:t>
            </a:r>
          </a:p>
        </p:txBody>
      </p:sp>
      <p:sp>
        <p:nvSpPr>
          <p:cNvPr id="6" name="TextBox 5"/>
          <p:cNvSpPr txBox="1"/>
          <p:nvPr/>
        </p:nvSpPr>
        <p:spPr>
          <a:xfrm>
            <a:off x="353216" y="6092990"/>
            <a:ext cx="3398687" cy="215444"/>
          </a:xfrm>
          <a:prstGeom prst="rect">
            <a:avLst/>
          </a:prstGeom>
          <a:noFill/>
        </p:spPr>
        <p:txBody>
          <a:bodyPr wrap="none" rtlCol="0">
            <a:spAutoFit/>
          </a:bodyPr>
          <a:lstStyle/>
          <a:p>
            <a:r>
              <a:rPr lang="en-US" sz="800" dirty="0"/>
              <a:t>Sources of data: Office for National Statistics and authors’ </a:t>
            </a:r>
            <a:r>
              <a:rPr lang="en-IN" sz="800" dirty="0"/>
              <a:t>calculations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698583"/>
            <a:ext cx="8312727" cy="3746641"/>
          </a:xfrm>
          <a:prstGeom prst="rect">
            <a:avLst/>
          </a:prstGeom>
        </p:spPr>
      </p:pic>
    </p:spTree>
    <p:extLst>
      <p:ext uri="{BB962C8B-B14F-4D97-AF65-F5344CB8AC3E}">
        <p14:creationId xmlns:p14="http://schemas.microsoft.com/office/powerpoint/2010/main" val="611885053"/>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7224"/>
            <a:ext cx="8229600" cy="1034744"/>
          </a:xfrm>
        </p:spPr>
        <p:txBody>
          <a:bodyPr/>
          <a:lstStyle/>
          <a:p>
            <a:pPr algn="l"/>
            <a:r>
              <a:rPr lang="en-US" sz="3200" dirty="0"/>
              <a:t>Figure 20.7 </a:t>
            </a:r>
            <a:br>
              <a:rPr lang="en-US" sz="3200" dirty="0"/>
            </a:br>
            <a:r>
              <a:rPr lang="en-US" sz="3200" dirty="0"/>
              <a:t>Two views of real GDP in china</a:t>
            </a:r>
          </a:p>
        </p:txBody>
      </p:sp>
      <p:sp>
        <p:nvSpPr>
          <p:cNvPr id="6" name="TextBox 5"/>
          <p:cNvSpPr txBox="1"/>
          <p:nvPr/>
        </p:nvSpPr>
        <p:spPr>
          <a:xfrm>
            <a:off x="353216" y="6092990"/>
            <a:ext cx="4405373" cy="215444"/>
          </a:xfrm>
          <a:prstGeom prst="rect">
            <a:avLst/>
          </a:prstGeom>
          <a:noFill/>
        </p:spPr>
        <p:txBody>
          <a:bodyPr wrap="none" rtlCol="0">
            <a:spAutoFit/>
          </a:bodyPr>
          <a:lstStyle/>
          <a:p>
            <a:r>
              <a:rPr lang="en-US" sz="800" dirty="0"/>
              <a:t>Source of data: International Monetary Fund, World Economic </a:t>
            </a:r>
            <a:r>
              <a:rPr lang="en-IN" sz="800" dirty="0"/>
              <a:t>Outlook database, April 2021</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2005157"/>
            <a:ext cx="8312727" cy="2847685"/>
          </a:xfrm>
          <a:prstGeom prst="rect">
            <a:avLst/>
          </a:prstGeom>
        </p:spPr>
      </p:pic>
    </p:spTree>
    <p:extLst>
      <p:ext uri="{BB962C8B-B14F-4D97-AF65-F5344CB8AC3E}">
        <p14:creationId xmlns:p14="http://schemas.microsoft.com/office/powerpoint/2010/main" val="1202165950"/>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7224"/>
            <a:ext cx="8229600" cy="1034744"/>
          </a:xfrm>
        </p:spPr>
        <p:txBody>
          <a:bodyPr/>
          <a:lstStyle/>
          <a:p>
            <a:pPr algn="l"/>
            <a:r>
              <a:rPr lang="en-US" sz="3200" dirty="0"/>
              <a:t>Figure 1 </a:t>
            </a:r>
            <a:br>
              <a:rPr lang="en-US" sz="3200" dirty="0"/>
            </a:br>
            <a:r>
              <a:rPr lang="en-US" sz="3200" dirty="0"/>
              <a:t>The human development index</a:t>
            </a:r>
          </a:p>
        </p:txBody>
      </p:sp>
      <p:sp>
        <p:nvSpPr>
          <p:cNvPr id="6" name="TextBox 5"/>
          <p:cNvSpPr txBox="1"/>
          <p:nvPr/>
        </p:nvSpPr>
        <p:spPr>
          <a:xfrm>
            <a:off x="353216" y="6092990"/>
            <a:ext cx="3187091" cy="215444"/>
          </a:xfrm>
          <a:prstGeom prst="rect">
            <a:avLst/>
          </a:prstGeom>
          <a:noFill/>
        </p:spPr>
        <p:txBody>
          <a:bodyPr wrap="none" rtlCol="0">
            <a:spAutoFit/>
          </a:bodyPr>
          <a:lstStyle/>
          <a:p>
            <a:r>
              <a:rPr lang="en-US" sz="800" dirty="0"/>
              <a:t>Source of data: United Nations Human Development Report </a:t>
            </a:r>
            <a:r>
              <a:rPr lang="en-IN" sz="800" dirty="0"/>
              <a:t>2020</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7026" y="1404947"/>
            <a:ext cx="4889948" cy="4637728"/>
          </a:xfrm>
          <a:prstGeom prst="rect">
            <a:avLst/>
          </a:prstGeom>
        </p:spPr>
      </p:pic>
    </p:spTree>
    <p:extLst>
      <p:ext uri="{BB962C8B-B14F-4D97-AF65-F5344CB8AC3E}">
        <p14:creationId xmlns:p14="http://schemas.microsoft.com/office/powerpoint/2010/main" val="2252874867"/>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7224"/>
            <a:ext cx="8229600" cy="1034744"/>
          </a:xfrm>
        </p:spPr>
        <p:txBody>
          <a:bodyPr/>
          <a:lstStyle/>
          <a:p>
            <a:pPr algn="l"/>
            <a:r>
              <a:rPr lang="en-US" sz="3200" dirty="0"/>
              <a:t>Figure 1 </a:t>
            </a:r>
            <a:br>
              <a:rPr lang="en-US" sz="3200" dirty="0"/>
            </a:br>
            <a:r>
              <a:rPr lang="en-US" sz="3200" dirty="0"/>
              <a:t>GDP growth 1720-2020</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8587" y="1447457"/>
            <a:ext cx="6546826" cy="4792720"/>
          </a:xfrm>
          <a:prstGeom prst="rect">
            <a:avLst/>
          </a:prstGeom>
        </p:spPr>
      </p:pic>
    </p:spTree>
    <p:extLst>
      <p:ext uri="{BB962C8B-B14F-4D97-AF65-F5344CB8AC3E}">
        <p14:creationId xmlns:p14="http://schemas.microsoft.com/office/powerpoint/2010/main" val="3244610210"/>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7224"/>
            <a:ext cx="8229600" cy="1034744"/>
          </a:xfrm>
        </p:spPr>
        <p:txBody>
          <a:bodyPr/>
          <a:lstStyle/>
          <a:p>
            <a:pPr algn="l"/>
            <a:r>
              <a:rPr lang="en-US" sz="3200" dirty="0"/>
              <a:t>Figure 2 </a:t>
            </a:r>
            <a:br>
              <a:rPr lang="en-US" sz="3200" dirty="0"/>
            </a:br>
            <a:r>
              <a:rPr lang="en-US" sz="3200" dirty="0"/>
              <a:t>GDP growth in 2020</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083" y="1563820"/>
            <a:ext cx="6769835" cy="4601484"/>
          </a:xfrm>
          <a:prstGeom prst="rect">
            <a:avLst/>
          </a:prstGeom>
        </p:spPr>
      </p:pic>
    </p:spTree>
    <p:extLst>
      <p:ext uri="{BB962C8B-B14F-4D97-AF65-F5344CB8AC3E}">
        <p14:creationId xmlns:p14="http://schemas.microsoft.com/office/powerpoint/2010/main" val="3855773318"/>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539536"/>
            <a:ext cx="8229600" cy="1034744"/>
          </a:xfrm>
        </p:spPr>
        <p:txBody>
          <a:bodyPr/>
          <a:lstStyle/>
          <a:p>
            <a:pPr algn="l"/>
            <a:r>
              <a:rPr lang="en-US" sz="3200" dirty="0"/>
              <a:t>Figure 3 </a:t>
            </a:r>
            <a:br>
              <a:rPr lang="en-US" sz="3200" dirty="0"/>
            </a:br>
            <a:r>
              <a:rPr lang="en-US" sz="3200" dirty="0"/>
              <a:t>Percentage growth of GDP components in 2020</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0945" y="1839993"/>
            <a:ext cx="5982110" cy="4496149"/>
          </a:xfrm>
          <a:prstGeom prst="rect">
            <a:avLst/>
          </a:prstGeom>
        </p:spPr>
      </p:pic>
    </p:spTree>
    <p:extLst>
      <p:ext uri="{BB962C8B-B14F-4D97-AF65-F5344CB8AC3E}">
        <p14:creationId xmlns:p14="http://schemas.microsoft.com/office/powerpoint/2010/main" val="76947033"/>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7224"/>
            <a:ext cx="8229600" cy="1034744"/>
          </a:xfrm>
        </p:spPr>
        <p:txBody>
          <a:bodyPr/>
          <a:lstStyle/>
          <a:p>
            <a:pPr algn="l"/>
            <a:r>
              <a:rPr lang="en-US" sz="3200" dirty="0"/>
              <a:t>Figure A20.1 </a:t>
            </a:r>
            <a:br>
              <a:rPr lang="en-US" sz="3200" dirty="0"/>
            </a:br>
            <a:r>
              <a:rPr lang="en-US" sz="3200" dirty="0"/>
              <a:t>A time-series graph</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847248"/>
            <a:ext cx="8312727" cy="3381952"/>
          </a:xfrm>
          <a:prstGeom prst="rect">
            <a:avLst/>
          </a:prstGeom>
        </p:spPr>
      </p:pic>
    </p:spTree>
    <p:extLst>
      <p:ext uri="{BB962C8B-B14F-4D97-AF65-F5344CB8AC3E}">
        <p14:creationId xmlns:p14="http://schemas.microsoft.com/office/powerpoint/2010/main" val="2745427029"/>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7224"/>
            <a:ext cx="8229600" cy="1034744"/>
          </a:xfrm>
        </p:spPr>
        <p:txBody>
          <a:bodyPr/>
          <a:lstStyle/>
          <a:p>
            <a:pPr algn="l"/>
            <a:r>
              <a:rPr lang="en-US" sz="3200" dirty="0"/>
              <a:t>Figure A20.2 </a:t>
            </a:r>
            <a:br>
              <a:rPr lang="en-US" sz="3200" dirty="0"/>
            </a:br>
            <a:r>
              <a:rPr lang="en-US" sz="3200" dirty="0"/>
              <a:t>Ratio scale reveals trend</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5637" y="1409480"/>
            <a:ext cx="8312727" cy="4467792"/>
          </a:xfrm>
          <a:prstGeom prst="rect">
            <a:avLst/>
          </a:prstGeom>
        </p:spPr>
      </p:pic>
    </p:spTree>
    <p:extLst>
      <p:ext uri="{BB962C8B-B14F-4D97-AF65-F5344CB8AC3E}">
        <p14:creationId xmlns:p14="http://schemas.microsoft.com/office/powerpoint/2010/main" val="2200213876"/>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52538"/>
            <a:ext cx="8229600" cy="2097252"/>
          </a:xfrm>
        </p:spPr>
        <p:txBody>
          <a:bodyPr/>
          <a:lstStyle/>
          <a:p>
            <a:pPr algn="l"/>
            <a:r>
              <a:rPr lang="en-US" sz="3200" dirty="0"/>
              <a:t>Table 1 </a:t>
            </a:r>
            <a:br>
              <a:rPr lang="en-US" sz="3200" dirty="0"/>
            </a:br>
            <a:r>
              <a:rPr lang="en-US" sz="3200" dirty="0"/>
              <a:t>Real GDP calculation step 1: value</a:t>
            </a:r>
            <a:br>
              <a:rPr lang="en-US" sz="3200" dirty="0"/>
            </a:br>
            <a:r>
              <a:rPr lang="en-US" sz="3200" dirty="0"/>
              <a:t>production in adjacent years at prices in</a:t>
            </a:r>
            <a:br>
              <a:rPr lang="en-US" sz="3200" dirty="0"/>
            </a:br>
            <a:r>
              <a:rPr lang="en-US" sz="3200" dirty="0"/>
              <a:t>both years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53784" y="2346304"/>
            <a:ext cx="6036432" cy="4025310"/>
          </a:xfrm>
          <a:prstGeom prst="rect">
            <a:avLst/>
          </a:prstGeom>
        </p:spPr>
      </p:pic>
    </p:spTree>
    <p:extLst>
      <p:ext uri="{BB962C8B-B14F-4D97-AF65-F5344CB8AC3E}">
        <p14:creationId xmlns:p14="http://schemas.microsoft.com/office/powerpoint/2010/main" val="1969846715"/>
      </p:ext>
    </p:extLst>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47085"/>
            <a:ext cx="8419529" cy="1619179"/>
          </a:xfrm>
        </p:spPr>
        <p:txBody>
          <a:bodyPr/>
          <a:lstStyle/>
          <a:p>
            <a:pPr algn="l"/>
            <a:r>
              <a:rPr lang="en-US" sz="3200" dirty="0"/>
              <a:t>Table 2 </a:t>
            </a:r>
            <a:br>
              <a:rPr lang="en-US" sz="3200" dirty="0"/>
            </a:br>
            <a:r>
              <a:rPr lang="en-US" sz="3200" dirty="0"/>
              <a:t>Real GDP calculation step 2: find average of two percentage changes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2116330"/>
            <a:ext cx="8312727" cy="3112870"/>
          </a:xfrm>
          <a:prstGeom prst="rect">
            <a:avLst/>
          </a:prstGeom>
        </p:spPr>
      </p:pic>
    </p:spTree>
    <p:extLst>
      <p:ext uri="{BB962C8B-B14F-4D97-AF65-F5344CB8AC3E}">
        <p14:creationId xmlns:p14="http://schemas.microsoft.com/office/powerpoint/2010/main" val="2950686042"/>
      </p:ext>
    </p:extLst>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47085"/>
            <a:ext cx="8419529" cy="1619179"/>
          </a:xfrm>
        </p:spPr>
        <p:txBody>
          <a:bodyPr/>
          <a:lstStyle/>
          <a:p>
            <a:pPr algn="l"/>
            <a:r>
              <a:rPr lang="en-US" sz="3200" dirty="0"/>
              <a:t>Figure 1 </a:t>
            </a:r>
            <a:br>
              <a:rPr lang="en-US" sz="3200" dirty="0"/>
            </a:br>
            <a:r>
              <a:rPr lang="en-US" sz="3200" dirty="0"/>
              <a:t>Real GDP calculation step 3: link (chain) to base year</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64179" y="1932079"/>
            <a:ext cx="3015640" cy="4362121"/>
          </a:xfrm>
          <a:prstGeom prst="rect">
            <a:avLst/>
          </a:prstGeom>
        </p:spPr>
      </p:pic>
    </p:spTree>
    <p:extLst>
      <p:ext uri="{BB962C8B-B14F-4D97-AF65-F5344CB8AC3E}">
        <p14:creationId xmlns:p14="http://schemas.microsoft.com/office/powerpoint/2010/main" val="3332831648"/>
      </p:ext>
    </p:extLst>
  </p:cSld>
  <p:clrMapOvr>
    <a:masterClrMapping/>
  </p:clrMapOvr>
  <p:transition spd="med">
    <p:wipe dir="r"/>
  </p:transition>
</p:sld>
</file>

<file path=ppt/theme/theme1.xml><?xml version="1.0" encoding="utf-8"?>
<a:theme xmlns:a="http://schemas.openxmlformats.org/drawingml/2006/main" name="4_US6e">
  <a:themeElements>
    <a:clrScheme name="4_US6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4_US6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US6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_US6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_US6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_US6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_US6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_US6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_US6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_US6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_US6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_US6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_US6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_US6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4_Default Design">
  <a:themeElements>
    <a:clrScheme name="4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4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5_Custom Design">
  <a:themeElements>
    <a:clrScheme name="5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5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5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5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5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5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5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5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5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5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5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5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5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Default Design">
  <a:themeElements>
    <a:clrScheme name="5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5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5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5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5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5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5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5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5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5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5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5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5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7_Custom Design">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0c7fd77c-bf1b-4511-8a0d-ca095442aa9f}" enabled="1" method="Privileged" siteId="{07ef1208-413c-4b5e-9cdd-64ef305754f0}" removed="0"/>
</clbl:labelList>
</file>

<file path=docProps/app.xml><?xml version="1.0" encoding="utf-8"?>
<Properties xmlns="http://schemas.openxmlformats.org/officeDocument/2006/extended-properties" xmlns:vt="http://schemas.openxmlformats.org/officeDocument/2006/docPropsVTypes">
  <Template>US6e</Template>
  <TotalTime>7366</TotalTime>
  <Words>4008</Words>
  <Application>Microsoft Macintosh PowerPoint</Application>
  <PresentationFormat>On-screen Show (4:3)</PresentationFormat>
  <Paragraphs>279</Paragraphs>
  <Slides>60</Slides>
  <Notes>48</Notes>
  <HiddenSlides>3</HiddenSlides>
  <MMClips>0</MMClips>
  <ScaleCrop>false</ScaleCrop>
  <HeadingPairs>
    <vt:vector size="6" baseType="variant">
      <vt:variant>
        <vt:lpstr>Fonts Used</vt:lpstr>
      </vt:variant>
      <vt:variant>
        <vt:i4>9</vt:i4>
      </vt:variant>
      <vt:variant>
        <vt:lpstr>Theme</vt:lpstr>
      </vt:variant>
      <vt:variant>
        <vt:i4>7</vt:i4>
      </vt:variant>
      <vt:variant>
        <vt:lpstr>Slide Titles</vt:lpstr>
      </vt:variant>
      <vt:variant>
        <vt:i4>60</vt:i4>
      </vt:variant>
    </vt:vector>
  </HeadingPairs>
  <TitlesOfParts>
    <vt:vector size="76" baseType="lpstr">
      <vt:lpstr>Arial</vt:lpstr>
      <vt:lpstr>Wingdings</vt:lpstr>
      <vt:lpstr>Gill Sans MT</vt:lpstr>
      <vt:lpstr>Calibri</vt:lpstr>
      <vt:lpstr>Webdings</vt:lpstr>
      <vt:lpstr>新細明體</vt:lpstr>
      <vt:lpstr>AGaramond Bold</vt:lpstr>
      <vt:lpstr>Futura Book</vt:lpstr>
      <vt:lpstr>Symbol</vt:lpstr>
      <vt:lpstr>4_US6e</vt:lpstr>
      <vt:lpstr>4_Default Design</vt:lpstr>
      <vt:lpstr>5_Custom Design</vt:lpstr>
      <vt:lpstr>Custom Design</vt:lpstr>
      <vt:lpstr>5_Default Design</vt:lpstr>
      <vt:lpstr>Office Theme</vt:lpstr>
      <vt:lpstr>7_Custom Design</vt:lpstr>
      <vt:lpstr>PowerPoint Presentation</vt:lpstr>
      <vt:lpstr>PowerPoint Presentation</vt:lpstr>
      <vt:lpstr>Gross Domestic Product </vt:lpstr>
      <vt:lpstr>Gross Domestic Product </vt:lpstr>
      <vt:lpstr>Gross Domestic Product </vt:lpstr>
      <vt:lpstr>Gross Domestic Product </vt:lpstr>
      <vt:lpstr>Gross Domestic Product </vt:lpstr>
      <vt:lpstr>Gross Domestic Product </vt:lpstr>
      <vt:lpstr>PowerPoint Presentation</vt:lpstr>
      <vt:lpstr>Gross Domestic Product </vt:lpstr>
      <vt:lpstr>Gross Domestic Product </vt:lpstr>
      <vt:lpstr>Gross Domestic Product </vt:lpstr>
      <vt:lpstr>Gross Domestic Product </vt:lpstr>
      <vt:lpstr>Gross Domestic Product </vt:lpstr>
      <vt:lpstr>Gross Domestic Product </vt:lpstr>
      <vt:lpstr>Gross Domestic Product </vt:lpstr>
      <vt:lpstr>Gross Domestic Product </vt:lpstr>
      <vt:lpstr>Gross Domestic Product </vt:lpstr>
      <vt:lpstr>Gross Domestic Product </vt:lpstr>
      <vt:lpstr>Gross Domestic Product </vt:lpstr>
      <vt:lpstr>Gross Domestic Product </vt:lpstr>
      <vt:lpstr>Gross Domestic Product </vt:lpstr>
      <vt:lpstr>Gross Domestic Product </vt:lpstr>
      <vt:lpstr>Gross Domestic Product </vt:lpstr>
      <vt:lpstr>Measuring U.S. GDP</vt:lpstr>
      <vt:lpstr>Measuring U.S. GDP</vt:lpstr>
      <vt:lpstr>PowerPoint Presentation</vt:lpstr>
      <vt:lpstr>Measuring U.S. GDP</vt:lpstr>
      <vt:lpstr>Measuring U.S. GDP</vt:lpstr>
      <vt:lpstr>Measuring U.S. GDP</vt:lpstr>
      <vt:lpstr>PowerPoint Presentation</vt:lpstr>
      <vt:lpstr>Measuring U.S. GDP</vt:lpstr>
      <vt:lpstr>Measuring U.S. GDP</vt:lpstr>
      <vt:lpstr>Measuring U.S. GDP</vt:lpstr>
      <vt:lpstr>Measuring U.S. GDP</vt:lpstr>
      <vt:lpstr>The Uses and Limitations of Real GDP</vt:lpstr>
      <vt:lpstr>The Uses and Limitations of Real GDP</vt:lpstr>
      <vt:lpstr>The Uses and Limitations of Real GDP</vt:lpstr>
      <vt:lpstr>The Uses and Limitations of Real GDP</vt:lpstr>
      <vt:lpstr>The Uses and Limitations of Real GDP</vt:lpstr>
      <vt:lpstr>PowerPoint Presentation</vt:lpstr>
      <vt:lpstr>The Uses and Limitations of Real GDP</vt:lpstr>
      <vt:lpstr>The Uses and Limitations of Real GDP</vt:lpstr>
      <vt:lpstr>The Uses and Limitations of Real GDP</vt:lpstr>
      <vt:lpstr>PowerPoint Presentation</vt:lpstr>
      <vt:lpstr>The Uses and Limitations of Real GDP</vt:lpstr>
      <vt:lpstr>The Uses and Limitations of Real GDP</vt:lpstr>
      <vt:lpstr>Figure 20.4  Rising UK standard of living</vt:lpstr>
      <vt:lpstr>Figure 20.5  The cost of slower growth</vt:lpstr>
      <vt:lpstr>Figure 20.6  Most recent UK business cycle</vt:lpstr>
      <vt:lpstr>Figure 20.7  Two views of real GDP in china</vt:lpstr>
      <vt:lpstr>Figure 1  The human development index</vt:lpstr>
      <vt:lpstr>Figure 1  GDP growth 1720-2020</vt:lpstr>
      <vt:lpstr>Figure 2  GDP growth in 2020</vt:lpstr>
      <vt:lpstr>Figure 3  Percentage growth of GDP components in 2020</vt:lpstr>
      <vt:lpstr>Figure A20.1  A time-series graph</vt:lpstr>
      <vt:lpstr>Figure A20.2  Ratio scale reveals trend</vt:lpstr>
      <vt:lpstr>Table 1  Real GDP calculation step 1: value production in adjacent years at prices in both years</vt:lpstr>
      <vt:lpstr>Table 2  Real GDP calculation step 2: find average of two percentage changes</vt:lpstr>
      <vt:lpstr>Figure 1  Real GDP calculation step 3: link (chain) to base year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Michael</dc:creator>
  <cp:lastModifiedBy>Le Mai. Huong</cp:lastModifiedBy>
  <cp:revision>99</cp:revision>
  <dcterms:created xsi:type="dcterms:W3CDTF">2002-04-24T05:17:56Z</dcterms:created>
  <dcterms:modified xsi:type="dcterms:W3CDTF">2026-01-27T02:53:19Z</dcterms:modified>
</cp:coreProperties>
</file>