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3.xml" ContentType="application/vnd.openxmlformats-officedocument.theme+xml"/>
  <Override PartName="/ppt/theme/theme8.xml" ContentType="application/vnd.openxmlformats-officedocument.theme+xml"/>
  <Override PartName="/ppt/slideMasters/slideMaster1.xml" ContentType="application/vnd.openxmlformats-officedocument.presentationml.slideMaster+xml"/>
  <Override PartName="/ppt/slideMasters/slideMaster6.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2.xml" ContentType="application/vnd.openxmlformats-officedocument.presentationml.slideMaster+xml"/>
  <Override PartName="/ppt/slideMasters/_rels/slideMaster7.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6.xml.rels" ContentType="application/vnd.openxmlformats-package.relationships+xml"/>
  <Override PartName="/ppt/slideMasters/_rels/slideMaster1.xml.rels" ContentType="application/vnd.openxmlformats-package.relationships+xml"/>
  <Override PartName="/ppt/slideMasters/slideMaster7.xml" ContentType="application/vnd.openxmlformats-officedocument.presentationml.slideMaster+xml"/>
  <Override PartName="/ppt/notesMasters/_rels/notesMaster1.xml.rels" ContentType="application/vnd.openxmlformats-package.relationships+xml"/>
  <Override PartName="/ppt/notesMasters/notesMaster1.xml" ContentType="application/vnd.openxmlformats-officedocument.presentationml.notesMaster+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media/image17.png" ContentType="image/png"/>
  <Override PartName="/ppt/media/image92.png" ContentType="image/png"/>
  <Override PartName="/ppt/media/image37.png" ContentType="image/png"/>
  <Override PartName="/ppt/media/image21.png" ContentType="image/png"/>
  <Override PartName="/ppt/media/image35.png" ContentType="image/png"/>
  <Override PartName="/ppt/media/image1.jpeg" ContentType="image/jpeg"/>
  <Override PartName="/ppt/media/image116.png" ContentType="image/png"/>
  <Override PartName="/ppt/media/image83.png" ContentType="image/png"/>
  <Override PartName="/ppt/media/image41.png" ContentType="image/png"/>
  <Override PartName="/ppt/media/image11.png" ContentType="image/png"/>
  <Override PartName="/ppt/media/image36.png" ContentType="image/png"/>
  <Override PartName="/ppt/media/image12.png" ContentType="image/png"/>
  <Override PartName="/ppt/media/image13.png" ContentType="image/png"/>
  <Override PartName="/ppt/media/image38.png" ContentType="image/png"/>
  <Override PartName="/ppt/media/image14.png" ContentType="image/png"/>
  <Override PartName="/ppt/media/image39.png" ContentType="image/png"/>
  <Override PartName="/ppt/media/image16.png" ContentType="image/png"/>
  <Override PartName="/ppt/media/image91.png" ContentType="image/png"/>
  <Override PartName="/ppt/media/image10.png" ContentType="image/png"/>
  <Override PartName="/ppt/media/image69.png" ContentType="image/png"/>
  <Override PartName="/ppt/media/image18.png" ContentType="image/png"/>
  <Override PartName="/ppt/media/image2.jpeg" ContentType="image/jpeg"/>
  <Override PartName="/ppt/media/image93.png" ContentType="image/png"/>
  <Override PartName="/ppt/media/image100.png" ContentType="image/png"/>
  <Override PartName="/ppt/media/image19.png" ContentType="image/png"/>
  <Override PartName="/ppt/media/image94.png" ContentType="image/png"/>
  <Override PartName="/ppt/media/image101.png" ContentType="image/png"/>
  <Override PartName="/ppt/media/image20.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media/image27.png" ContentType="image/png"/>
  <Override PartName="/ppt/media/image28.png" ContentType="image/png"/>
  <Override PartName="/ppt/media/image29.png" ContentType="image/png"/>
  <Override PartName="/ppt/media/image30.png" ContentType="image/png"/>
  <Override PartName="/ppt/media/image89.png" ContentType="image/png"/>
  <Override PartName="/ppt/media/image31.png" ContentType="image/png"/>
  <Override PartName="/ppt/media/image32.png" ContentType="image/png"/>
  <Override PartName="/ppt/media/image33.png" ContentType="image/png"/>
  <Override PartName="/ppt/media/image34.png" ContentType="image/png"/>
  <Override PartName="/ppt/media/image42.png" ContentType="image/png"/>
  <Override PartName="/ppt/media/image43.png" ContentType="image/png"/>
  <Override PartName="/ppt/media/image44.png" ContentType="image/png"/>
  <Override PartName="/ppt/media/image45.png" ContentType="image/png"/>
  <Override PartName="/ppt/media/image46.png" ContentType="image/png"/>
  <Override PartName="/ppt/media/image47.png" ContentType="image/png"/>
  <Override PartName="/ppt/media/image48.png" ContentType="image/png"/>
  <Override PartName="/ppt/media/image49.png" ContentType="image/png"/>
  <Override PartName="/ppt/media/image119.png" ContentType="image/png"/>
  <Override PartName="/ppt/media/image50.png" ContentType="image/png"/>
  <Override PartName="/ppt/media/image51.png" ContentType="image/png"/>
  <Override PartName="/ppt/media/image52.png" ContentType="image/png"/>
  <Override PartName="/ppt/media/image53.png" ContentType="image/png"/>
  <Override PartName="/ppt/media/image54.png" ContentType="image/png"/>
  <Override PartName="/ppt/media/image55.png" ContentType="image/png"/>
  <Override PartName="/ppt/media/image56.png" ContentType="image/png"/>
  <Override PartName="/ppt/media/image60.png" ContentType="image/png"/>
  <Override PartName="/ppt/media/image61.png" ContentType="image/png"/>
  <Override PartName="/ppt/media/image62.png" ContentType="image/png"/>
  <Override PartName="/ppt/media/image63.png" ContentType="image/png"/>
  <Override PartName="/ppt/media/image64.png" ContentType="image/png"/>
  <Override PartName="/ppt/media/image70.png" ContentType="image/png"/>
  <Override PartName="/ppt/media/image71.png" ContentType="image/png"/>
  <Override PartName="/ppt/media/image3.png" ContentType="image/png"/>
  <Override PartName="/ppt/media/image72.png" ContentType="image/png"/>
  <Override PartName="/ppt/media/image115.png" ContentType="image/png"/>
  <Override PartName="/ppt/media/image73.png" ContentType="image/png"/>
  <Override PartName="/ppt/media/image4.png" ContentType="image/png"/>
  <Override PartName="/ppt/media/image74.png" ContentType="image/png"/>
  <Override PartName="/ppt/media/image5.png" ContentType="image/png"/>
  <Override PartName="/ppt/media/image9.png" ContentType="image/png"/>
  <Override PartName="/ppt/media/image78.png" ContentType="image/png"/>
  <Override PartName="/ppt/media/image85.png" ContentType="image/png"/>
  <Override PartName="/ppt/media/image114.png" ContentType="image/png"/>
  <Override PartName="/ppt/media/image88.png" ContentType="image/png"/>
  <Override PartName="/ppt/media/image102.png" ContentType="image/png"/>
  <Override PartName="/ppt/media/image95.png" ContentType="image/png"/>
  <Override PartName="/ppt/media/image117.png" ContentType="image/png"/>
  <Override PartName="/ppt/media/image75.png" ContentType="image/png"/>
  <Override PartName="/ppt/media/image6.png" ContentType="image/png"/>
  <Override PartName="/ppt/media/image57.png" ContentType="image/png"/>
  <Override PartName="/ppt/media/image103.png" ContentType="image/png"/>
  <Override PartName="/ppt/media/image96.png" ContentType="image/png"/>
  <Override PartName="/ppt/media/image104.png" ContentType="image/png"/>
  <Override PartName="/ppt/media/image97.png" ContentType="image/png"/>
  <Override PartName="/ppt/media/image15.png" ContentType="image/png"/>
  <Override PartName="/ppt/media/image90.png" ContentType="image/png"/>
  <Override PartName="/ppt/media/image77.png" ContentType="image/png"/>
  <Override PartName="/ppt/media/image8.png" ContentType="image/png"/>
  <Override PartName="/ppt/media/image59.png" ContentType="image/png"/>
  <Override PartName="/ppt/media/image105.png" ContentType="image/png"/>
  <Override PartName="/ppt/media/image98.png" ContentType="image/png"/>
  <Override PartName="/ppt/media/image118.png" ContentType="image/png"/>
  <Override PartName="/ppt/media/image76.png" ContentType="image/png"/>
  <Override PartName="/ppt/media/image7.png" ContentType="image/png"/>
  <Override PartName="/ppt/media/image58.png" ContentType="image/png"/>
  <Override PartName="/ppt/media/image65.png" ContentType="image/png"/>
  <Override PartName="/ppt/media/image110.png" ContentType="image/png"/>
  <Override PartName="/ppt/media/image109.png" ContentType="image/png"/>
  <Override PartName="/ppt/media/image40.png" ContentType="image/png"/>
  <Override PartName="/ppt/media/image106.png" ContentType="image/png"/>
  <Override PartName="/ppt/media/image99.png" ContentType="image/png"/>
  <Override PartName="/ppt/media/image122.png" ContentType="image/png"/>
  <Override PartName="/ppt/media/image108.png" ContentType="image/png"/>
  <Override PartName="/ppt/media/image80.png" ContentType="image/png"/>
  <Override PartName="/ppt/media/image123.jpeg" ContentType="image/jpeg"/>
  <Override PartName="/ppt/media/image66.png" ContentType="image/png"/>
  <Override PartName="/ppt/media/image111.png" ContentType="image/png"/>
  <Override PartName="/ppt/media/image81.png" ContentType="image/png"/>
  <Override PartName="/ppt/media/image67.png" ContentType="image/png"/>
  <Override PartName="/ppt/media/image112.png" ContentType="image/png"/>
  <Override PartName="/ppt/media/image82.png" ContentType="image/png"/>
  <Override PartName="/ppt/media/image68.png" ContentType="image/png"/>
  <Override PartName="/ppt/media/image113.png" ContentType="image/png"/>
  <Override PartName="/ppt/media/image86.png" ContentType="image/png"/>
  <Override PartName="/ppt/media/image120.png" ContentType="image/png"/>
  <Override PartName="/ppt/media/image84.png" ContentType="image/png"/>
  <Override PartName="/ppt/media/image121.png" ContentType="image/png"/>
  <Override PartName="/ppt/media/image107.png" ContentType="image/png"/>
  <Override PartName="/ppt/media/image87.png" ContentType="image/png"/>
  <Override PartName="/ppt/media/image79.png" ContentType="image/png"/>
  <Override PartName="/ppt/media/image124.png" ContentType="image/png"/>
  <Override PartName="/ppt/media/image125.png" ContentType="image/png"/>
  <Override PartName="/ppt/slides/slide16.xml" ContentType="application/vnd.openxmlformats-officedocument.presentationml.slide+xml"/>
  <Override PartName="/ppt/slides/slide2.xml" ContentType="application/vnd.openxmlformats-officedocument.presentationml.slide+xml"/>
  <Override PartName="/ppt/slides/slide91.xml" ContentType="application/vnd.openxmlformats-officedocument.presentationml.slide+xml"/>
  <Override PartName="/ppt/slides/slide10.xml" ContentType="application/vnd.openxmlformats-officedocument.presentationml.slide+xml"/>
  <Override PartName="/ppt/slides/slide69.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20.xml" ContentType="application/vnd.openxmlformats-officedocument.presentationml.slide+xml"/>
  <Override PartName="/ppt/slides/slide7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9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89.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_rels/slide88.xml.rels" ContentType="application/vnd.openxmlformats-package.relationships+xml"/>
  <Override PartName="/ppt/slides/_rels/slide87.xml.rels" ContentType="application/vnd.openxmlformats-package.relationships+xml"/>
  <Override PartName="/ppt/slides/_rels/slide86.xml.rels" ContentType="application/vnd.openxmlformats-package.relationships+xml"/>
  <Override PartName="/ppt/slides/_rels/slide85.xml.rels" ContentType="application/vnd.openxmlformats-package.relationships+xml"/>
  <Override PartName="/ppt/slides/_rels/slide84.xml.rels" ContentType="application/vnd.openxmlformats-package.relationships+xml"/>
  <Override PartName="/ppt/slides/_rels/slide78.xml.rels" ContentType="application/vnd.openxmlformats-package.relationships+xml"/>
  <Override PartName="/ppt/slides/_rels/slide83.xml.rels" ContentType="application/vnd.openxmlformats-package.relationships+xml"/>
  <Override PartName="/ppt/slides/_rels/slide68.xml.rels" ContentType="application/vnd.openxmlformats-package.relationships+xml"/>
  <Override PartName="/ppt/slides/_rels/slide77.xml.rels" ContentType="application/vnd.openxmlformats-package.relationships+xml"/>
  <Override PartName="/ppt/slides/_rels/slide82.xml.rels" ContentType="application/vnd.openxmlformats-package.relationships+xml"/>
  <Override PartName="/ppt/slides/_rels/slide49.xml.rels" ContentType="application/vnd.openxmlformats-package.relationships+xml"/>
  <Override PartName="/ppt/slides/_rels/slide9.xml.rels" ContentType="application/vnd.openxmlformats-package.relationships+xml"/>
  <Override PartName="/ppt/slides/_rels/slide67.xml.rels" ContentType="application/vnd.openxmlformats-package.relationships+xml"/>
  <Override PartName="/ppt/slides/_rels/slide81.xml.rels" ContentType="application/vnd.openxmlformats-package.relationships+xml"/>
  <Override PartName="/ppt/slides/_rels/slide48.xml.rels" ContentType="application/vnd.openxmlformats-package.relationships+xml"/>
  <Override PartName="/ppt/slides/_rels/slide8.xml.rels" ContentType="application/vnd.openxmlformats-package.relationships+xml"/>
  <Override PartName="/ppt/slides/_rels/slide66.xml.rels" ContentType="application/vnd.openxmlformats-package.relationships+xml"/>
  <Override PartName="/ppt/slides/_rels/slide80.xml.rels" ContentType="application/vnd.openxmlformats-package.relationships+xml"/>
  <Override PartName="/ppt/slides/_rels/slide47.xml.rels" ContentType="application/vnd.openxmlformats-package.relationships+xml"/>
  <Override PartName="/ppt/slides/_rels/slide7.xml.rels" ContentType="application/vnd.openxmlformats-package.relationships+xml"/>
  <Override PartName="/ppt/slides/_rels/slide65.xml.rels" ContentType="application/vnd.openxmlformats-package.relationships+xml"/>
  <Override PartName="/ppt/slides/_rels/slide76.xml.rels" ContentType="application/vnd.openxmlformats-package.relationships+xml"/>
  <Override PartName="/ppt/slides/_rels/slide75.xml.rels" ContentType="application/vnd.openxmlformats-package.relationships+xml"/>
  <Override PartName="/ppt/slides/_rels/slide74.xml.rels" ContentType="application/vnd.openxmlformats-package.relationships+xml"/>
  <Override PartName="/ppt/slides/_rels/slide73.xml.rels" ContentType="application/vnd.openxmlformats-package.relationships+xml"/>
  <Override PartName="/ppt/slides/_rels/slide72.xml.rels" ContentType="application/vnd.openxmlformats-package.relationships+xml"/>
  <Override PartName="/ppt/slides/_rels/slide71.xml.rels" ContentType="application/vnd.openxmlformats-package.relationships+xml"/>
  <Override PartName="/ppt/slides/_rels/slide70.xml.rels" ContentType="application/vnd.openxmlformats-package.relationships+xml"/>
  <Override PartName="/ppt/slides/_rels/slide64.xml.rels" ContentType="application/vnd.openxmlformats-package.relationships+xml"/>
  <Override PartName="/ppt/slides/_rels/slide63.xml.rels" ContentType="application/vnd.openxmlformats-package.relationships+xml"/>
  <Override PartName="/ppt/slides/_rels/slide62.xml.rels" ContentType="application/vnd.openxmlformats-package.relationships+xml"/>
  <Override PartName="/ppt/slides/_rels/slide61.xml.rels" ContentType="application/vnd.openxmlformats-package.relationships+xml"/>
  <Override PartName="/ppt/slides/_rels/slide60.xml.rels" ContentType="application/vnd.openxmlformats-package.relationships+xml"/>
  <Override PartName="/ppt/slides/_rels/slide59.xml.rels" ContentType="application/vnd.openxmlformats-package.relationships+xml"/>
  <Override PartName="/ppt/slides/_rels/slide58.xml.rels" ContentType="application/vnd.openxmlformats-package.relationships+xml"/>
  <Override PartName="/ppt/slides/_rels/slide57.xml.rels" ContentType="application/vnd.openxmlformats-package.relationships+xml"/>
  <Override PartName="/ppt/slides/_rels/slide56.xml.rels" ContentType="application/vnd.openxmlformats-package.relationships+xml"/>
  <Override PartName="/ppt/slides/_rels/slide55.xml.rels" ContentType="application/vnd.openxmlformats-package.relationships+xml"/>
  <Override PartName="/ppt/slides/_rels/slide54.xml.rels" ContentType="application/vnd.openxmlformats-package.relationships+xml"/>
  <Override PartName="/ppt/slides/_rels/slide53.xml.rels" ContentType="application/vnd.openxmlformats-package.relationships+xml"/>
  <Override PartName="/ppt/slides/_rels/slide52.xml.rels" ContentType="application/vnd.openxmlformats-package.relationships+xml"/>
  <Override PartName="/ppt/slides/_rels/slide51.xml.rels" ContentType="application/vnd.openxmlformats-package.relationships+xml"/>
  <Override PartName="/ppt/slides/_rels/slide50.xml.rels" ContentType="application/vnd.openxmlformats-package.relationships+xml"/>
  <Override PartName="/ppt/slides/_rels/slide5.xml.rels" ContentType="application/vnd.openxmlformats-package.relationships+xml"/>
  <Override PartName="/ppt/slides/_rels/slide45.xml.rels" ContentType="application/vnd.openxmlformats-package.relationships+xml"/>
  <Override PartName="/ppt/slides/_rels/slide44.xml.rels" ContentType="application/vnd.openxmlformats-package.relationships+xml"/>
  <Override PartName="/ppt/slides/_rels/slide4.xml.rels" ContentType="application/vnd.openxmlformats-package.relationships+xml"/>
  <Override PartName="/ppt/slides/_rels/slide43.xml.rels" ContentType="application/vnd.openxmlformats-package.relationships+xml"/>
  <Override PartName="/ppt/slides/_rels/slide3.xml.rels" ContentType="application/vnd.openxmlformats-package.relationships+xml"/>
  <Override PartName="/ppt/slides/_rels/slide42.xml.rels" ContentType="application/vnd.openxmlformats-package.relationships+xml"/>
  <Override PartName="/ppt/slides/_rels/slide2.xml.rels" ContentType="application/vnd.openxmlformats-package.relationships+xml"/>
  <Override PartName="/ppt/slides/_rels/slide41.xml.rels" ContentType="application/vnd.openxmlformats-package.relationships+xml"/>
  <Override PartName="/ppt/slides/_rels/slide1.xml.rels" ContentType="application/vnd.openxmlformats-package.relationships+xml"/>
  <Override PartName="/ppt/slides/_rels/slide40.xml.rels" ContentType="application/vnd.openxmlformats-package.relationships+xml"/>
  <Override PartName="/ppt/slides/_rels/slide39.xml.rels" ContentType="application/vnd.openxmlformats-package.relationships+xml"/>
  <Override PartName="/ppt/slides/_rels/slide38.xml.rels" ContentType="application/vnd.openxmlformats-package.relationships+xml"/>
  <Override PartName="/ppt/slides/_rels/slide37.xml.rels" ContentType="application/vnd.openxmlformats-package.relationships+xml"/>
  <Override PartName="/ppt/slides/_rels/slide35.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46.xml.rels" ContentType="application/vnd.openxmlformats-package.relationships+xml"/>
  <Override PartName="/ppt/slides/_rels/slide6.xml.rels" ContentType="application/vnd.openxmlformats-package.relationships+xml"/>
  <Override PartName="/ppt/slides/_rels/slide31.xml.rels" ContentType="application/vnd.openxmlformats-package.relationships+xml"/>
  <Override PartName="/ppt/slides/_rels/slide36.xml.rels" ContentType="application/vnd.openxmlformats-package.relationships+xml"/>
  <Override PartName="/ppt/slides/_rels/slide89.xml.rels" ContentType="application/vnd.openxmlformats-package.relationships+xml"/>
  <Override PartName="/ppt/slides/_rels/slide30.xml.rels" ContentType="application/vnd.openxmlformats-package.relationships+xml"/>
  <Override PartName="/ppt/slides/_rels/slide29.xml.rels" ContentType="application/vnd.openxmlformats-package.relationships+xml"/>
  <Override PartName="/ppt/slides/_rels/slide28.xml.rels" ContentType="application/vnd.openxmlformats-package.relationships+xml"/>
  <Override PartName="/ppt/slides/_rels/slide25.xml.rels" ContentType="application/vnd.openxmlformats-package.relationships+xml"/>
  <Override PartName="/ppt/slides/_rels/slide24.xml.rels" ContentType="application/vnd.openxmlformats-package.relationships+xml"/>
  <Override PartName="/ppt/slides/_rels/slide23.xml.rels" ContentType="application/vnd.openxmlformats-package.relationships+xml"/>
  <Override PartName="/ppt/slides/_rels/slide22.xml.rels" ContentType="application/vnd.openxmlformats-package.relationships+xml"/>
  <Override PartName="/ppt/slides/_rels/slide21.xml.rels" ContentType="application/vnd.openxmlformats-package.relationships+xml"/>
  <Override PartName="/ppt/slides/_rels/slide20.xml.rels" ContentType="application/vnd.openxmlformats-package.relationships+xml"/>
  <Override PartName="/ppt/slides/_rels/slide79.xml.rels" ContentType="application/vnd.openxmlformats-package.relationships+xml"/>
  <Override PartName="/ppt/slides/_rels/slide26.xml.rels" ContentType="application/vnd.openxmlformats-package.relationships+xml"/>
  <Override PartName="/ppt/slides/_rels/slide90.xml.rels" ContentType="application/vnd.openxmlformats-package.relationships+xml"/>
  <Override PartName="/ppt/slides/_rels/slide15.xml.rels" ContentType="application/vnd.openxmlformats-package.relationships+xml"/>
  <Override PartName="/ppt/slides/_rels/slide14.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17.xml.rels" ContentType="application/vnd.openxmlformats-package.relationships+xml"/>
  <Override PartName="/ppt/slides/_rels/slide91.xml.rels" ContentType="application/vnd.openxmlformats-package.relationships+xml"/>
  <Override PartName="/ppt/slides/_rels/slide16.xml.rels" ContentType="application/vnd.openxmlformats-package.relationships+xml"/>
  <Override PartName="/ppt/slides/_rels/slide69.xml.rels" ContentType="application/vnd.openxmlformats-package.relationships+xml"/>
  <Override PartName="/ppt/slides/_rels/slide10.xml.rels" ContentType="application/vnd.openxmlformats-package.relationships+xml"/>
  <Override PartName="/ppt/slides/_rels/slide27.xml.rels" ContentType="application/vnd.openxmlformats-package.relationships+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65.xml" ContentType="application/vnd.openxmlformats-officedocument.presentationml.slide+xml"/>
  <Override PartName="/ppt/slides/slide47.xml" ContentType="application/vnd.openxmlformats-officedocument.presentationml.slide+xml"/>
  <Override PartName="/ppt/slides/slide80.xml" ContentType="application/vnd.openxmlformats-officedocument.presentationml.slide+xml"/>
  <Override PartName="/ppt/slides/slide66.xml" ContentType="application/vnd.openxmlformats-officedocument.presentationml.slide+xml"/>
  <Override PartName="/ppt/slides/slide48.xml" ContentType="application/vnd.openxmlformats-officedocument.presentationml.slide+xml"/>
  <Override PartName="/ppt/slides/slide81.xml" ContentType="application/vnd.openxmlformats-officedocument.presentationml.slide+xml"/>
  <Override PartName="/ppt/slides/slide67.xml" ContentType="application/vnd.openxmlformats-officedocument.presentationml.slide+xml"/>
  <Override PartName="/ppt/slides/slide49.xml" ContentType="application/vnd.openxmlformats-officedocument.presentationml.slide+xml"/>
  <Override PartName="/ppt/slides/slide82.xml" ContentType="application/vnd.openxmlformats-officedocument.presentationml.slide+xml"/>
  <Override PartName="/ppt/slides/slide77.xml" ContentType="application/vnd.openxmlformats-officedocument.presentationml.slide+xml"/>
  <Override PartName="/ppt/slides/slide68.xml" ContentType="application/vnd.openxmlformats-officedocument.presentationml.slide+xml"/>
  <Override PartName="/ppt/slides/slide83.xml" ContentType="application/vnd.openxmlformats-officedocument.presentationml.slide+xml"/>
  <Override PartName="/ppt/slides/slide78.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Slides/notesSlide37.xml" ContentType="application/vnd.openxmlformats-officedocument.presentationml.notesSlide+xml"/>
  <Override PartName="/ppt/notesSlides/notesSlide11.xml" ContentType="application/vnd.openxmlformats-officedocument.presentationml.notesSlide+xml"/>
  <Override PartName="/ppt/notesSlides/notesSlide38.xml" ContentType="application/vnd.openxmlformats-officedocument.presentationml.notesSlide+xml"/>
  <Override PartName="/ppt/notesSlides/notesSlide3.xml" ContentType="application/vnd.openxmlformats-officedocument.presentationml.notesSlide+xml"/>
  <Override PartName="/ppt/notesSlides/notesSlide39.xml" ContentType="application/vnd.openxmlformats-officedocument.presentationml.notesSlide+xml"/>
  <Override PartName="/ppt/notesSlides/notesSlide5.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10.xml" ContentType="application/vnd.openxmlformats-officedocument.presentationml.notesSlide+xml"/>
  <Override PartName="/ppt/notesSlides/notesSlide69.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90.xml" ContentType="application/vnd.openxmlformats-officedocument.presentationml.notesSlide+xml"/>
  <Override PartName="/ppt/notesSlides/notesSlide16.xml" ContentType="application/vnd.openxmlformats-officedocument.presentationml.notesSlide+xml"/>
  <Override PartName="/ppt/notesSlides/notesSlide91.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79.xml" ContentType="application/vnd.openxmlformats-officedocument.presentationml.notesSlide+xml"/>
  <Override PartName="/ppt/notesSlides/notesSlide4.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89.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0.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65.xml" ContentType="application/vnd.openxmlformats-officedocument.presentationml.notesSlide+xml"/>
  <Override PartName="/ppt/notesSlides/notesSlide47.xml" ContentType="application/vnd.openxmlformats-officedocument.presentationml.notesSlide+xml"/>
  <Override PartName="/ppt/notesSlides/notesSlide80.xml" ContentType="application/vnd.openxmlformats-officedocument.presentationml.notesSlide+xml"/>
  <Override PartName="/ppt/notesSlides/notesSlide66.xml" ContentType="application/vnd.openxmlformats-officedocument.presentationml.notesSlide+xml"/>
  <Override PartName="/ppt/notesSlides/notesSlide48.xml" ContentType="application/vnd.openxmlformats-officedocument.presentationml.notesSlide+xml"/>
  <Override PartName="/ppt/notesSlides/_rels/notesSlide88.xml.rels" ContentType="application/vnd.openxmlformats-package.relationships+xml"/>
  <Override PartName="/ppt/notesSlides/_rels/notesSlide87.xml.rels" ContentType="application/vnd.openxmlformats-package.relationships+xml"/>
  <Override PartName="/ppt/notesSlides/_rels/notesSlide86.xml.rels" ContentType="application/vnd.openxmlformats-package.relationships+xml"/>
  <Override PartName="/ppt/notesSlides/_rels/notesSlide85.xml.rels" ContentType="application/vnd.openxmlformats-package.relationships+xml"/>
  <Override PartName="/ppt/notesSlides/_rels/notesSlide84.xml.rels" ContentType="application/vnd.openxmlformats-package.relationships+xml"/>
  <Override PartName="/ppt/notesSlides/_rels/notesSlide78.xml.rels" ContentType="application/vnd.openxmlformats-package.relationships+xml"/>
  <Override PartName="/ppt/notesSlides/_rels/notesSlide83.xml.rels" ContentType="application/vnd.openxmlformats-package.relationships+xml"/>
  <Override PartName="/ppt/notesSlides/_rels/notesSlide68.xml.rels" ContentType="application/vnd.openxmlformats-package.relationships+xml"/>
  <Override PartName="/ppt/notesSlides/_rels/notesSlide77.xml.rels" ContentType="application/vnd.openxmlformats-package.relationships+xml"/>
  <Override PartName="/ppt/notesSlides/_rels/notesSlide82.xml.rels" ContentType="application/vnd.openxmlformats-package.relationships+xml"/>
  <Override PartName="/ppt/notesSlides/_rels/notesSlide49.xml.rels" ContentType="application/vnd.openxmlformats-package.relationships+xml"/>
  <Override PartName="/ppt/notesSlides/_rels/notesSlide67.xml.rels" ContentType="application/vnd.openxmlformats-package.relationships+xml"/>
  <Override PartName="/ppt/notesSlides/_rels/notesSlide81.xml.rels" ContentType="application/vnd.openxmlformats-package.relationships+xml"/>
  <Override PartName="/ppt/notesSlides/_rels/notesSlide48.xml.rels" ContentType="application/vnd.openxmlformats-package.relationships+xml"/>
  <Override PartName="/ppt/notesSlides/_rels/notesSlide66.xml.rels" ContentType="application/vnd.openxmlformats-package.relationships+xml"/>
  <Override PartName="/ppt/notesSlides/_rels/notesSlide80.xml.rels" ContentType="application/vnd.openxmlformats-package.relationships+xml"/>
  <Override PartName="/ppt/notesSlides/_rels/notesSlide47.xml.rels" ContentType="application/vnd.openxmlformats-package.relationships+xml"/>
  <Override PartName="/ppt/notesSlides/_rels/notesSlide65.xml.rels" ContentType="application/vnd.openxmlformats-package.relationships+xml"/>
  <Override PartName="/ppt/notesSlides/_rels/notesSlide76.xml.rels" ContentType="application/vnd.openxmlformats-package.relationships+xml"/>
  <Override PartName="/ppt/notesSlides/_rels/notesSlide75.xml.rels" ContentType="application/vnd.openxmlformats-package.relationships+xml"/>
  <Override PartName="/ppt/notesSlides/_rels/notesSlide74.xml.rels" ContentType="application/vnd.openxmlformats-package.relationships+xml"/>
  <Override PartName="/ppt/notesSlides/_rels/notesSlide73.xml.rels" ContentType="application/vnd.openxmlformats-package.relationships+xml"/>
  <Override PartName="/ppt/notesSlides/_rels/notesSlide72.xml.rels" ContentType="application/vnd.openxmlformats-package.relationships+xml"/>
  <Override PartName="/ppt/notesSlides/_rels/notesSlide71.xml.rels" ContentType="application/vnd.openxmlformats-package.relationships+xml"/>
  <Override PartName="/ppt/notesSlides/_rels/notesSlide70.xml.rels" ContentType="application/vnd.openxmlformats-package.relationships+xml"/>
  <Override PartName="/ppt/notesSlides/_rels/notesSlide64.xml.rels" ContentType="application/vnd.openxmlformats-package.relationships+xml"/>
  <Override PartName="/ppt/notesSlides/_rels/notesSlide61.xml.rels" ContentType="application/vnd.openxmlformats-package.relationships+xml"/>
  <Override PartName="/ppt/notesSlides/_rels/notesSlide7.xml.rels" ContentType="application/vnd.openxmlformats-package.relationships+xml"/>
  <Override PartName="/ppt/notesSlides/_rels/notesSlide60.xml.rels" ContentType="application/vnd.openxmlformats-package.relationships+xml"/>
  <Override PartName="/ppt/notesSlides/_rels/notesSlide6.xml.rels" ContentType="application/vnd.openxmlformats-package.relationships+xml"/>
  <Override PartName="/ppt/notesSlides/_rels/notesSlide59.xml.rels" ContentType="application/vnd.openxmlformats-package.relationships+xml"/>
  <Override PartName="/ppt/notesSlides/_rels/notesSlide58.xml.rels" ContentType="application/vnd.openxmlformats-package.relationships+xml"/>
  <Override PartName="/ppt/notesSlides/_rels/notesSlide57.xml.rels" ContentType="application/vnd.openxmlformats-package.relationships+xml"/>
  <Override PartName="/ppt/notesSlides/_rels/notesSlide56.xml.rels" ContentType="application/vnd.openxmlformats-package.relationships+xml"/>
  <Override PartName="/ppt/notesSlides/_rels/notesSlide55.xml.rels" ContentType="application/vnd.openxmlformats-package.relationships+xml"/>
  <Override PartName="/ppt/notesSlides/_rels/notesSlide54.xml.rels" ContentType="application/vnd.openxmlformats-package.relationships+xml"/>
  <Override PartName="/ppt/notesSlides/_rels/notesSlide53.xml.rels" ContentType="application/vnd.openxmlformats-package.relationships+xml"/>
  <Override PartName="/ppt/notesSlides/_rels/notesSlide9.xml.rels" ContentType="application/vnd.openxmlformats-package.relationships+xml"/>
  <Override PartName="/ppt/notesSlides/_rels/notesSlide63.xml.rels" ContentType="application/vnd.openxmlformats-package.relationships+xml"/>
  <Override PartName="/ppt/notesSlides/_rels/notesSlide52.xml.rels" ContentType="application/vnd.openxmlformats-package.relationships+xml"/>
  <Override PartName="/ppt/notesSlides/_rels/notesSlide8.xml.rels" ContentType="application/vnd.openxmlformats-package.relationships+xml"/>
  <Override PartName="/ppt/notesSlides/_rels/notesSlide62.xml.rels" ContentType="application/vnd.openxmlformats-package.relationships+xml"/>
  <Override PartName="/ppt/notesSlides/_rels/notesSlide51.xml.rels" ContentType="application/vnd.openxmlformats-package.relationships+xml"/>
  <Override PartName="/ppt/notesSlides/_rels/notesSlide50.xml.rels" ContentType="application/vnd.openxmlformats-package.relationships+xml"/>
  <Override PartName="/ppt/notesSlides/_rels/notesSlide46.xml.rels" ContentType="application/vnd.openxmlformats-package.relationships+xml"/>
  <Override PartName="/ppt/notesSlides/_rels/notesSlide45.xml.rels" ContentType="application/vnd.openxmlformats-package.relationships+xml"/>
  <Override PartName="/ppt/notesSlides/_rels/notesSlide44.xml.rels" ContentType="application/vnd.openxmlformats-package.relationships+xml"/>
  <Override PartName="/ppt/notesSlides/_rels/notesSlide43.xml.rels" ContentType="application/vnd.openxmlformats-package.relationships+xml"/>
  <Override PartName="/ppt/notesSlides/_rels/notesSlide42.xml.rels" ContentType="application/vnd.openxmlformats-package.relationships+xml"/>
  <Override PartName="/ppt/notesSlides/_rels/notesSlide41.xml.rels" ContentType="application/vnd.openxmlformats-package.relationships+xml"/>
  <Override PartName="/ppt/notesSlides/_rels/notesSlide40.xml.rels" ContentType="application/vnd.openxmlformats-package.relationships+xml"/>
  <Override PartName="/ppt/notesSlides/_rels/notesSlide35.xml.rels" ContentType="application/vnd.openxmlformats-package.relationships+xml"/>
  <Override PartName="/ppt/notesSlides/_rels/notesSlide34.xml.rels" ContentType="application/vnd.openxmlformats-package.relationships+xml"/>
  <Override PartName="/ppt/notesSlides/_rels/notesSlide33.xml.rels" ContentType="application/vnd.openxmlformats-package.relationships+xml"/>
  <Override PartName="/ppt/notesSlides/_rels/notesSlide32.xml.rels" ContentType="application/vnd.openxmlformats-package.relationships+xml"/>
  <Override PartName="/ppt/notesSlides/_rels/notesSlide31.xml.rels" ContentType="application/vnd.openxmlformats-package.relationships+xml"/>
  <Override PartName="/ppt/notesSlides/_rels/notesSlide36.xml.rels" ContentType="application/vnd.openxmlformats-package.relationships+xml"/>
  <Override PartName="/ppt/notesSlides/_rels/notesSlide89.xml.rels" ContentType="application/vnd.openxmlformats-package.relationships+xml"/>
  <Override PartName="/ppt/notesSlides/_rels/notesSlide30.xml.rels" ContentType="application/vnd.openxmlformats-package.relationships+xml"/>
  <Override PartName="/ppt/notesSlides/_rels/notesSlide29.xml.rels" ContentType="application/vnd.openxmlformats-package.relationships+xml"/>
  <Override PartName="/ppt/notesSlides/_rels/notesSlide28.xml.rels" ContentType="application/vnd.openxmlformats-package.relationships+xml"/>
  <Override PartName="/ppt/notesSlides/_rels/notesSlide27.xml.rels" ContentType="application/vnd.openxmlformats-package.relationships+xml"/>
  <Override PartName="/ppt/notesSlides/_rels/notesSlide26.xml.rels" ContentType="application/vnd.openxmlformats-package.relationships+xml"/>
  <Override PartName="/ppt/notesSlides/_rels/notesSlide79.xml.rels" ContentType="application/vnd.openxmlformats-package.relationships+xml"/>
  <Override PartName="/ppt/notesSlides/_rels/notesSlide20.xml.rels" ContentType="application/vnd.openxmlformats-package.relationships+xml"/>
  <Override PartName="/ppt/notesSlides/_rels/notesSlide19.xml.rels" ContentType="application/vnd.openxmlformats-package.relationships+xml"/>
  <Override PartName="/ppt/notesSlides/_rels/notesSlide12.xml.rels" ContentType="application/vnd.openxmlformats-package.relationships+xml"/>
  <Override PartName="/ppt/notesSlides/_rels/notesSlide1.xml.rels" ContentType="application/vnd.openxmlformats-package.relationships+xml"/>
  <Override PartName="/ppt/notesSlides/_rels/notesSlide39.xml.rels" ContentType="application/vnd.openxmlformats-package.relationships+xml"/>
  <Override PartName="/ppt/notesSlides/_rels/notesSlide18.xml.rels" ContentType="application/vnd.openxmlformats-package.relationships+xml"/>
  <Override PartName="/ppt/notesSlides/_rels/notesSlide17.xml.rels" ContentType="application/vnd.openxmlformats-package.relationships+xml"/>
  <Override PartName="/ppt/notesSlides/_rels/notesSlide16.xml.rels" ContentType="application/vnd.openxmlformats-package.relationships+xml"/>
  <Override PartName="/ppt/notesSlides/_rels/notesSlide91.xml.rels" ContentType="application/vnd.openxmlformats-package.relationships+xml"/>
  <Override PartName="/ppt/notesSlides/_rels/notesSlide5.xml.rels" ContentType="application/vnd.openxmlformats-package.relationships+xml"/>
  <Override PartName="/ppt/notesSlides/_rels/notesSlide10.xml.rels" ContentType="application/vnd.openxmlformats-package.relationships+xml"/>
  <Override PartName="/ppt/notesSlides/_rels/notesSlide69.xml.rels" ContentType="application/vnd.openxmlformats-package.relationships+xml"/>
  <Override PartName="/ppt/notesSlides/_rels/notesSlide15.xml.rels" ContentType="application/vnd.openxmlformats-package.relationships+xml"/>
  <Override PartName="/ppt/notesSlides/_rels/notesSlide90.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14.xml.rels" ContentType="application/vnd.openxmlformats-package.relationships+xml"/>
  <Override PartName="/ppt/notesSlides/_rels/notesSlide2.xml.rels" ContentType="application/vnd.openxmlformats-package.relationships+xml"/>
  <Override PartName="/ppt/notesSlides/_rels/notesSlide13.xml.rels" ContentType="application/vnd.openxmlformats-package.relationships+xml"/>
  <Override PartName="/ppt/notesSlides/_rels/notesSlide25.xml.rels" ContentType="application/vnd.openxmlformats-package.relationships+xml"/>
  <Override PartName="/ppt/notesSlides/_rels/notesSlide24.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1.xml.rels" ContentType="application/vnd.openxmlformats-package.relationships+xml"/>
  <Override PartName="/ppt/notesSlides/_rels/notesSlide38.xml.rels" ContentType="application/vnd.openxmlformats-package.relationships+xml"/>
  <Override PartName="/ppt/notesSlides/_rels/notesSlide11.xml.rels" ContentType="application/vnd.openxmlformats-package.relationships+xml"/>
  <Override PartName="/ppt/notesSlides/_rels/notesSlide37.xml.rels" ContentType="application/vnd.openxmlformats-package.relationships+xml"/>
  <Override PartName="/ppt/notesSlides/notesSlide81.xml" ContentType="application/vnd.openxmlformats-officedocument.presentationml.notesSlide+xml"/>
  <Override PartName="/ppt/notesSlides/notesSlide67.xml" ContentType="application/vnd.openxmlformats-officedocument.presentationml.notesSlide+xml"/>
  <Override PartName="/ppt/notesSlides/notesSlide49.xml" ContentType="application/vnd.openxmlformats-officedocument.presentationml.notesSlide+xml"/>
  <Override PartName="/ppt/notesSlides/notesSlide82.xml" ContentType="application/vnd.openxmlformats-officedocument.presentationml.notesSlide+xml"/>
  <Override PartName="/ppt/notesSlides/notesSlide41.xml" ContentType="application/vnd.openxmlformats-officedocument.presentationml.notesSlide+xml"/>
  <Override PartName="/ppt/notesSlides/notesSlide8.xml" ContentType="application/vnd.openxmlformats-officedocument.presentationml.notesSlide+xml"/>
  <Override PartName="/ppt/notesSlides/notesSlide77.xml" ContentType="application/vnd.openxmlformats-officedocument.presentationml.notesSlide+xml"/>
  <Override PartName="/ppt/notesSlides/notesSlide68.xml" ContentType="application/vnd.openxmlformats-officedocument.presentationml.notesSlide+xml"/>
  <Override PartName="/ppt/notesSlides/notesSlide83.xml" ContentType="application/vnd.openxmlformats-officedocument.presentationml.notesSlide+xml"/>
  <Override PartName="/ppt/notesSlides/notesSlide78.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7" r:id="rId6"/>
    <p:sldMasterId id="2147483659"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6.xml"/><Relationship Id="rId7" Type="http://schemas.openxmlformats.org/officeDocument/2006/relationships/slideMaster" Target="slideMasters/slideMaster7.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 Id="rId75" Type="http://schemas.openxmlformats.org/officeDocument/2006/relationships/slide" Target="slides/slide67.xml"/><Relationship Id="rId76" Type="http://schemas.openxmlformats.org/officeDocument/2006/relationships/slide" Target="slides/slide68.xml"/><Relationship Id="rId77" Type="http://schemas.openxmlformats.org/officeDocument/2006/relationships/slide" Target="slides/slide69.xml"/><Relationship Id="rId78" Type="http://schemas.openxmlformats.org/officeDocument/2006/relationships/slide" Target="slides/slide70.xml"/><Relationship Id="rId79" Type="http://schemas.openxmlformats.org/officeDocument/2006/relationships/slide" Target="slides/slide71.xml"/><Relationship Id="rId80" Type="http://schemas.openxmlformats.org/officeDocument/2006/relationships/slide" Target="slides/slide72.xml"/><Relationship Id="rId81" Type="http://schemas.openxmlformats.org/officeDocument/2006/relationships/slide" Target="slides/slide73.xml"/><Relationship Id="rId82" Type="http://schemas.openxmlformats.org/officeDocument/2006/relationships/slide" Target="slides/slide74.xml"/><Relationship Id="rId83" Type="http://schemas.openxmlformats.org/officeDocument/2006/relationships/slide" Target="slides/slide75.xml"/><Relationship Id="rId84" Type="http://schemas.openxmlformats.org/officeDocument/2006/relationships/slide" Target="slides/slide76.xml"/><Relationship Id="rId85" Type="http://schemas.openxmlformats.org/officeDocument/2006/relationships/slide" Target="slides/slide77.xml"/><Relationship Id="rId86" Type="http://schemas.openxmlformats.org/officeDocument/2006/relationships/slide" Target="slides/slide78.xml"/><Relationship Id="rId87" Type="http://schemas.openxmlformats.org/officeDocument/2006/relationships/slide" Target="slides/slide79.xml"/><Relationship Id="rId88" Type="http://schemas.openxmlformats.org/officeDocument/2006/relationships/slide" Target="slides/slide80.xml"/><Relationship Id="rId89" Type="http://schemas.openxmlformats.org/officeDocument/2006/relationships/slide" Target="slides/slide81.xml"/><Relationship Id="rId90" Type="http://schemas.openxmlformats.org/officeDocument/2006/relationships/slide" Target="slides/slide82.xml"/><Relationship Id="rId91" Type="http://schemas.openxmlformats.org/officeDocument/2006/relationships/slide" Target="slides/slide83.xml"/><Relationship Id="rId92" Type="http://schemas.openxmlformats.org/officeDocument/2006/relationships/slide" Target="slides/slide84.xml"/><Relationship Id="rId93" Type="http://schemas.openxmlformats.org/officeDocument/2006/relationships/slide" Target="slides/slide85.xml"/><Relationship Id="rId94" Type="http://schemas.openxmlformats.org/officeDocument/2006/relationships/slide" Target="slides/slide86.xml"/><Relationship Id="rId95" Type="http://schemas.openxmlformats.org/officeDocument/2006/relationships/slide" Target="slides/slide87.xml"/><Relationship Id="rId96" Type="http://schemas.openxmlformats.org/officeDocument/2006/relationships/slide" Target="slides/slide88.xml"/><Relationship Id="rId97" Type="http://schemas.openxmlformats.org/officeDocument/2006/relationships/slide" Target="slides/slide89.xml"/><Relationship Id="rId98" Type="http://schemas.openxmlformats.org/officeDocument/2006/relationships/slide" Target="slides/slide90.xml"/><Relationship Id="rId99" Type="http://schemas.openxmlformats.org/officeDocument/2006/relationships/slide" Target="slides/slide91.xml"/><Relationship Id="rId10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CA" sz="2400" strike="noStrike" u="none">
                <a:solidFill>
                  <a:schemeClr val="dk1"/>
                </a:solidFill>
                <a:effectLst/>
                <a:uFillTx/>
                <a:latin typeface="Arial"/>
              </a:rPr>
              <a:t>Click to move the slide</a:t>
            </a:r>
            <a:endParaRPr b="0" lang="en-CA" sz="2400" strike="noStrike" u="none">
              <a:solidFill>
                <a:schemeClr val="dk1"/>
              </a:solidFill>
              <a:effectLst/>
              <a:uFillTx/>
              <a:latin typeface="Arial"/>
            </a:endParaRPr>
          </a:p>
        </p:txBody>
      </p:sp>
      <p:sp>
        <p:nvSpPr>
          <p:cNvPr id="31"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32"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33"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34"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5"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629E3C97-EE8F-4A86-ADF6-172D685F487C}"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8.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_rels/notesSlide73.xml.rels><?xml version="1.0" encoding="UTF-8"?>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
</Relationships>
</file>

<file path=ppt/notesSlides/_rels/notesSlide74.xml.rels><?xml version="1.0" encoding="UTF-8"?>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
</Relationships>
</file>

<file path=ppt/notesSlides/_rels/notesSlide75.xml.rels><?xml version="1.0" encoding="UTF-8"?>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
</Relationships>
</file>

<file path=ppt/notesSlides/_rels/notesSlide76.xml.rels><?xml version="1.0" encoding="UTF-8"?>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
</Relationships>
</file>

<file path=ppt/notesSlides/_rels/notesSlide77.xml.rels><?xml version="1.0" encoding="UTF-8"?>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
</Relationships>
</file>

<file path=ppt/notesSlides/_rels/notesSlide78.xml.rels><?xml version="1.0" encoding="UTF-8"?>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
</Relationships>
</file>

<file path=ppt/notesSlides/_rels/notesSlide79.xml.rels><?xml version="1.0" encoding="UTF-8"?>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
</Relationships>
</file>

<file path=ppt/notesSlides/_rels/notesSlide80.xml.rels><?xml version="1.0" encoding="UTF-8"?>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
</Relationships>
</file>

<file path=ppt/notesSlides/_rels/notesSlide81.xml.rels><?xml version="1.0" encoding="UTF-8"?>
<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
</Relationships>
</file>

<file path=ppt/notesSlides/_rels/notesSlide82.xml.rels><?xml version="1.0" encoding="UTF-8"?>
<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
</Relationships>
</file>

<file path=ppt/notesSlides/_rels/notesSlide83.xml.rels><?xml version="1.0" encoding="UTF-8"?>
<Relationships xmlns="http://schemas.openxmlformats.org/package/2006/relationships"><Relationship Id="rId1" Type="http://schemas.openxmlformats.org/officeDocument/2006/relationships/slide" Target="../slides/slide83.xml"/><Relationship Id="rId2" Type="http://schemas.openxmlformats.org/officeDocument/2006/relationships/notesMaster" Target="../notesMasters/notesMaster1.xml"/>
</Relationships>
</file>

<file path=ppt/notesSlides/_rels/notesSlide84.xml.rels><?xml version="1.0" encoding="UTF-8"?>
<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
</Relationships>
</file>

<file path=ppt/notesSlides/_rels/notesSlide85.xml.rels><?xml version="1.0" encoding="UTF-8"?>
<Relationships xmlns="http://schemas.openxmlformats.org/package/2006/relationships"><Relationship Id="rId1" Type="http://schemas.openxmlformats.org/officeDocument/2006/relationships/slide" Target="../slides/slide85.xml"/><Relationship Id="rId2" Type="http://schemas.openxmlformats.org/officeDocument/2006/relationships/notesMaster" Target="../notesMasters/notesMaster1.xml"/>
</Relationships>
</file>

<file path=ppt/notesSlides/_rels/notesSlide86.xml.rels><?xml version="1.0" encoding="UTF-8"?>
<Relationships xmlns="http://schemas.openxmlformats.org/package/2006/relationships"><Relationship Id="rId1" Type="http://schemas.openxmlformats.org/officeDocument/2006/relationships/slide" Target="../slides/slide86.xml"/><Relationship Id="rId2" Type="http://schemas.openxmlformats.org/officeDocument/2006/relationships/notesMaster" Target="../notesMasters/notesMaster1.xml"/>
</Relationships>
</file>

<file path=ppt/notesSlides/_rels/notesSlide87.xml.rels><?xml version="1.0" encoding="UTF-8"?>
<Relationships xmlns="http://schemas.openxmlformats.org/package/2006/relationships"><Relationship Id="rId1" Type="http://schemas.openxmlformats.org/officeDocument/2006/relationships/slide" Target="../slides/slide87.xml"/><Relationship Id="rId2" Type="http://schemas.openxmlformats.org/officeDocument/2006/relationships/notesMaster" Target="../notesMasters/notesMaster1.xml"/>
</Relationships>
</file>

<file path=ppt/notesSlides/_rels/notesSlide88.xml.rels><?xml version="1.0" encoding="UTF-8"?>
<Relationships xmlns="http://schemas.openxmlformats.org/package/2006/relationships"><Relationship Id="rId1" Type="http://schemas.openxmlformats.org/officeDocument/2006/relationships/slide" Target="../slides/slide88.xml"/><Relationship Id="rId2" Type="http://schemas.openxmlformats.org/officeDocument/2006/relationships/notesMaster" Target="../notesMasters/notesMaster1.xml"/>
</Relationships>
</file>

<file path=ppt/notesSlides/_rels/notesSlide89.xml.rels><?xml version="1.0" encoding="UTF-8"?>
<Relationships xmlns="http://schemas.openxmlformats.org/package/2006/relationships"><Relationship Id="rId1" Type="http://schemas.openxmlformats.org/officeDocument/2006/relationships/slide" Target="../slides/slide89.xml"/><Relationship Id="rId2" Type="http://schemas.openxmlformats.org/officeDocument/2006/relationships/notesMaster" Target="../notesMasters/notesMaster1.xml"/>
</Relationships>
</file>

<file path=ppt/notesSlides/_rels/notesSlide90.xml.rels><?xml version="1.0" encoding="UTF-8"?>
<Relationships xmlns="http://schemas.openxmlformats.org/package/2006/relationships"><Relationship Id="rId1" Type="http://schemas.openxmlformats.org/officeDocument/2006/relationships/slide" Target="../slides/slide90.xml"/><Relationship Id="rId2" Type="http://schemas.openxmlformats.org/officeDocument/2006/relationships/notesMaster" Target="../notesMasters/notesMaster1.xml"/>
</Relationships>
</file>

<file path=ppt/notesSlides/_rels/notesSlide91.xml.rels><?xml version="1.0" encoding="UTF-8"?>
<Relationships xmlns="http://schemas.openxmlformats.org/package/2006/relationships"><Relationship Id="rId1" Type="http://schemas.openxmlformats.org/officeDocument/2006/relationships/slide" Target="../slides/slide9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0" name="PlaceHolder 1"/>
          <p:cNvSpPr>
            <a:spLocks noGrp="1"/>
          </p:cNvSpPr>
          <p:nvPr>
            <p:ph type="sldNum" idx="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10E175E5-E9EB-4482-AAC9-933FD86E274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51" name="PlaceHolder 2"/>
          <p:cNvSpPr>
            <a:spLocks noGrp="1"/>
          </p:cNvSpPr>
          <p:nvPr>
            <p:ph type="sldImg"/>
          </p:nvPr>
        </p:nvSpPr>
        <p:spPr>
          <a:xfrm>
            <a:off x="1143000" y="685800"/>
            <a:ext cx="4571640" cy="3428640"/>
          </a:xfrm>
          <a:prstGeom prst="rect">
            <a:avLst/>
          </a:prstGeom>
          <a:ln w="0">
            <a:noFill/>
          </a:ln>
        </p:spPr>
      </p:sp>
      <p:sp>
        <p:nvSpPr>
          <p:cNvPr id="55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100000"/>
              </a:lnSpc>
              <a:buNone/>
            </a:pPr>
            <a:r>
              <a:rPr b="0" lang="en-CA" sz="1600" strike="noStrike" u="none">
                <a:solidFill>
                  <a:srgbClr val="000000"/>
                </a:solidFill>
                <a:effectLst/>
                <a:uFillTx/>
                <a:latin typeface="Times New Roman"/>
                <a:ea typeface="ＭＳ Ｐゴシック"/>
              </a:rPr>
              <a:t>Notes and teaching tips: 5, 13, 16, 43, 52, 63, 76, 78, and 83.</a:t>
            </a:r>
            <a:endParaRPr b="0" lang="en-US" sz="1600" strike="noStrike" u="none">
              <a:solidFill>
                <a:srgbClr val="000000"/>
              </a:solidFill>
              <a:effectLst/>
              <a:uFillTx/>
              <a:latin typeface="Arial"/>
            </a:endParaRPr>
          </a:p>
          <a:p>
            <a:pPr indent="0">
              <a:lnSpc>
                <a:spcPct val="100000"/>
              </a:lnSpc>
              <a:buNone/>
            </a:pPr>
            <a:r>
              <a:rPr b="0" lang="en-CA" sz="1600" strike="noStrike" u="none">
                <a:solidFill>
                  <a:srgbClr val="000000"/>
                </a:solidFill>
                <a:effectLst/>
                <a:uFillTx/>
                <a:latin typeface="Times New Roman"/>
                <a:ea typeface="ＭＳ Ｐゴシック"/>
              </a:rPr>
              <a:t>To view a full-screen figure during a class, click the red </a:t>
            </a:r>
            <a:r>
              <a:rPr b="0" lang="en-CA" sz="1600" strike="noStrike" u="none">
                <a:solidFill>
                  <a:srgbClr val="000000"/>
                </a:solidFill>
                <a:effectLst/>
                <a:uFillTx/>
                <a:latin typeface="Arial"/>
                <a:ea typeface="ＭＳ Ｐゴシック"/>
              </a:rPr>
              <a:t>“</a:t>
            </a:r>
            <a:r>
              <a:rPr b="0" lang="en-CA" sz="1600" strike="noStrike" u="none">
                <a:solidFill>
                  <a:srgbClr val="000000"/>
                </a:solidFill>
                <a:effectLst/>
                <a:uFillTx/>
                <a:latin typeface="Times New Roman"/>
                <a:ea typeface="ＭＳ Ｐゴシック"/>
              </a:rPr>
              <a:t>expand</a:t>
            </a:r>
            <a:r>
              <a:rPr b="0" lang="en-CA" sz="1600" strike="noStrike" u="none">
                <a:solidFill>
                  <a:srgbClr val="000000"/>
                </a:solidFill>
                <a:effectLst/>
                <a:uFillTx/>
                <a:latin typeface="Arial"/>
                <a:ea typeface="ＭＳ Ｐゴシック"/>
              </a:rPr>
              <a:t>”</a:t>
            </a:r>
            <a:r>
              <a:rPr b="0" lang="en-CA" sz="1600" strike="noStrike" u="none">
                <a:solidFill>
                  <a:srgbClr val="000000"/>
                </a:solidFill>
                <a:effectLst/>
                <a:uFillTx/>
                <a:latin typeface="Times New Roman"/>
                <a:ea typeface="ＭＳ Ｐゴシック"/>
              </a:rPr>
              <a:t> button.</a:t>
            </a:r>
            <a:endParaRPr b="0" lang="en-US" sz="1600" strike="noStrike" u="none">
              <a:solidFill>
                <a:srgbClr val="000000"/>
              </a:solidFill>
              <a:effectLst/>
              <a:uFillTx/>
              <a:latin typeface="Arial"/>
            </a:endParaRPr>
          </a:p>
          <a:p>
            <a:pPr indent="0">
              <a:lnSpc>
                <a:spcPct val="100000"/>
              </a:lnSpc>
              <a:buNone/>
            </a:pPr>
            <a:r>
              <a:rPr b="0" lang="en-CA" sz="1600" strike="noStrike" u="none">
                <a:solidFill>
                  <a:srgbClr val="000000"/>
                </a:solidFill>
                <a:effectLst/>
                <a:uFillTx/>
                <a:latin typeface="Times New Roman"/>
                <a:ea typeface="ＭＳ Ｐゴシック"/>
              </a:rPr>
              <a:t>To return to the previous slide, click the red </a:t>
            </a:r>
            <a:r>
              <a:rPr b="0" lang="en-CA" sz="1600" strike="noStrike" u="none">
                <a:solidFill>
                  <a:srgbClr val="000000"/>
                </a:solidFill>
                <a:effectLst/>
                <a:uFillTx/>
                <a:latin typeface="Arial"/>
                <a:ea typeface="ＭＳ Ｐゴシック"/>
              </a:rPr>
              <a:t>“</a:t>
            </a:r>
            <a:r>
              <a:rPr b="0" lang="en-CA" sz="1600" strike="noStrike" u="none">
                <a:solidFill>
                  <a:srgbClr val="000000"/>
                </a:solidFill>
                <a:effectLst/>
                <a:uFillTx/>
                <a:latin typeface="Times New Roman"/>
                <a:ea typeface="ＭＳ Ｐゴシック"/>
              </a:rPr>
              <a:t>shrink</a:t>
            </a:r>
            <a:r>
              <a:rPr b="0" lang="en-CA" sz="1600" strike="noStrike" u="none">
                <a:solidFill>
                  <a:srgbClr val="000000"/>
                </a:solidFill>
                <a:effectLst/>
                <a:uFillTx/>
                <a:latin typeface="Arial"/>
                <a:ea typeface="ＭＳ Ｐゴシック"/>
              </a:rPr>
              <a:t>”</a:t>
            </a:r>
            <a:r>
              <a:rPr b="0" lang="en-CA" sz="1600" strike="noStrike" u="none">
                <a:solidFill>
                  <a:srgbClr val="000000"/>
                </a:solidFill>
                <a:effectLst/>
                <a:uFillTx/>
                <a:latin typeface="Times New Roman"/>
                <a:ea typeface="ＭＳ Ｐゴシック"/>
              </a:rPr>
              <a:t> button.</a:t>
            </a:r>
            <a:endParaRPr b="0" lang="en-US" sz="1600" strike="noStrike" u="none">
              <a:solidFill>
                <a:srgbClr val="000000"/>
              </a:solidFill>
              <a:effectLst/>
              <a:uFillTx/>
              <a:latin typeface="Arial"/>
            </a:endParaRPr>
          </a:p>
          <a:p>
            <a:pPr indent="0">
              <a:lnSpc>
                <a:spcPct val="100000"/>
              </a:lnSpc>
              <a:buNone/>
            </a:pPr>
            <a:r>
              <a:rPr b="0" lang="en-CA" sz="1600" strike="noStrike" u="none">
                <a:solidFill>
                  <a:srgbClr val="000000"/>
                </a:solidFill>
                <a:effectLst/>
                <a:uFillTx/>
                <a:latin typeface="Times New Roman"/>
                <a:ea typeface="ＭＳ Ｐゴシック"/>
              </a:rPr>
              <a:t>To advance to the next slide, click anywhere on the full screen figure.</a:t>
            </a:r>
            <a:endParaRPr b="0" lang="en-US" sz="1600" strike="noStrike" u="none">
              <a:solidFill>
                <a:srgbClr val="000000"/>
              </a:solidFill>
              <a:effectLst/>
              <a:uFillTx/>
              <a:latin typeface="Arial"/>
            </a:endParaRPr>
          </a:p>
          <a:p>
            <a:pPr indent="0">
              <a:lnSpc>
                <a:spcPct val="100000"/>
              </a:lnSpc>
              <a:buNone/>
            </a:pPr>
            <a:r>
              <a:rPr b="0" lang="en-CA" sz="1600" strike="noStrike" u="none">
                <a:solidFill>
                  <a:srgbClr val="000000"/>
                </a:solidFill>
                <a:effectLst/>
                <a:uFillTx/>
                <a:latin typeface="Times New Roman"/>
                <a:ea typeface="ＭＳ Ｐゴシック"/>
              </a:rPr>
              <a:t>To enhance your lecture, check out the Lecture Launchers, Land Mines, and Class Activities in the Instructor</a:t>
            </a:r>
            <a:r>
              <a:rPr b="0" lang="en-CA" sz="1600" strike="noStrike" u="none">
                <a:solidFill>
                  <a:srgbClr val="000000"/>
                </a:solidFill>
                <a:effectLst/>
                <a:uFillTx/>
                <a:latin typeface="Arial"/>
                <a:ea typeface="ＭＳ Ｐゴシック"/>
              </a:rPr>
              <a:t>’</a:t>
            </a:r>
            <a:r>
              <a:rPr b="0" lang="en-CA" sz="1600" strike="noStrike" u="none">
                <a:solidFill>
                  <a:srgbClr val="000000"/>
                </a:solidFill>
                <a:effectLst/>
                <a:uFillTx/>
                <a:latin typeface="Times New Roman"/>
                <a:ea typeface="ＭＳ Ｐゴシック"/>
              </a:rPr>
              <a:t>s Manual.</a:t>
            </a:r>
            <a:r>
              <a:rPr b="0" lang="en-US" sz="1600" strike="noStrike" u="none">
                <a:solidFill>
                  <a:srgbClr val="000000"/>
                </a:solidFill>
                <a:effectLst/>
                <a:uFillTx/>
                <a:latin typeface="Times New Roman"/>
                <a:ea typeface="ＭＳ Ｐゴシック"/>
              </a:rPr>
              <a:t> </a:t>
            </a:r>
            <a:endParaRPr b="0" lang="en-US" sz="1600" strike="noStrike" u="none">
              <a:solidFill>
                <a:srgbClr val="000000"/>
              </a:solidFill>
              <a:effectLst/>
              <a:uFillTx/>
              <a:latin typeface="Arial"/>
            </a:endParaRPr>
          </a:p>
          <a:p>
            <a:pPr indent="0">
              <a:lnSpc>
                <a:spcPct val="100000"/>
              </a:lnSpc>
              <a:buNone/>
            </a:pPr>
            <a:endParaRPr b="0" lang="en-US" sz="1600" strike="noStrike" u="non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3" name="PlaceHolder 1"/>
          <p:cNvSpPr>
            <a:spLocks noGrp="1"/>
          </p:cNvSpPr>
          <p:nvPr>
            <p:ph type="sldNum" idx="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90991BA1-D9CF-4301-A10A-F28145B18FF1}"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54" name="PlaceHolder 2"/>
          <p:cNvSpPr>
            <a:spLocks noGrp="1"/>
          </p:cNvSpPr>
          <p:nvPr>
            <p:ph type="sldImg"/>
          </p:nvPr>
        </p:nvSpPr>
        <p:spPr>
          <a:xfrm>
            <a:off x="1143000" y="685800"/>
            <a:ext cx="4571640" cy="3428640"/>
          </a:xfrm>
          <a:prstGeom prst="rect">
            <a:avLst/>
          </a:prstGeom>
          <a:ln w="0">
            <a:noFill/>
          </a:ln>
        </p:spPr>
      </p:sp>
      <p:sp>
        <p:nvSpPr>
          <p:cNvPr id="55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6" name="PlaceHolder 1"/>
          <p:cNvSpPr>
            <a:spLocks noGrp="1"/>
          </p:cNvSpPr>
          <p:nvPr>
            <p:ph type="sldNum" idx="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D6ED654C-8805-4ADB-8C41-A30306F4F31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57" name="PlaceHolder 2"/>
          <p:cNvSpPr>
            <a:spLocks noGrp="1"/>
          </p:cNvSpPr>
          <p:nvPr>
            <p:ph type="sldImg"/>
          </p:nvPr>
        </p:nvSpPr>
        <p:spPr>
          <a:xfrm>
            <a:off x="1143000" y="685800"/>
            <a:ext cx="4571640" cy="3428640"/>
          </a:xfrm>
          <a:prstGeom prst="rect">
            <a:avLst/>
          </a:prstGeom>
          <a:ln w="0">
            <a:noFill/>
          </a:ln>
        </p:spPr>
      </p:sp>
      <p:sp>
        <p:nvSpPr>
          <p:cNvPr id="55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90000"/>
              </a:lnSpc>
              <a:buNone/>
            </a:pPr>
            <a:r>
              <a:rPr b="0" lang="en-AU" sz="1400" strike="noStrike" u="none">
                <a:solidFill>
                  <a:srgbClr val="000000"/>
                </a:solidFill>
                <a:effectLst/>
                <a:uFillTx/>
                <a:latin typeface="Times New Roman"/>
                <a:ea typeface="ＭＳ Ｐゴシック"/>
              </a:rPr>
              <a:t>Did you ever set up a lemonade stand when you were a kid? Probably not, but you can bet your students have heard of this sort of endeavor and, depending on their circumstance, maybe even beseeched their parents to let them do so. And, even if they didn’t, they can easily identify with this sort of small business. Point out that if you were able to convince your folks to let you set up a lemonade stand, you probably ran a monopoly (at least for a day) as long as none of your friends set up a stand. Their parents provided the barrier to entry! You could determine your own price and sell a certain number of cups of lemonade. If you reduced your price, you could sell more. At the end of the day, you added up your revenues and found out you made money. By the next day (or weekend) after your friends saw your success, you lost your monopoly power as they opened competing stands. But for a little while, you were a monopolist! This easily understood story captures the essence of monopoly. Indeed, you can even embellish it to include price discrimination by pointing out how you might have charged your folks more—or less!— than other customers!</a:t>
            </a:r>
            <a:r>
              <a:rPr b="0" lang="en-GB" sz="1400" strike="noStrike" u="none">
                <a:solidFill>
                  <a:srgbClr val="000000"/>
                </a:solidFill>
                <a:effectLst/>
                <a:uFillTx/>
                <a:latin typeface="Times New Roman"/>
                <a:ea typeface="ＭＳ Ｐゴシック"/>
              </a:rPr>
              <a:t> </a:t>
            </a:r>
            <a:endParaRPr b="0" lang="en-US" sz="1400" strike="noStrike" u="non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9" name="PlaceHolder 1"/>
          <p:cNvSpPr>
            <a:spLocks noGrp="1"/>
          </p:cNvSpPr>
          <p:nvPr>
            <p:ph type="sldNum" idx="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8DBFD034-1EA9-45B6-AC75-29B1DA1CE6A8}"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60" name="PlaceHolder 2"/>
          <p:cNvSpPr>
            <a:spLocks noGrp="1"/>
          </p:cNvSpPr>
          <p:nvPr>
            <p:ph type="sldImg"/>
          </p:nvPr>
        </p:nvSpPr>
        <p:spPr>
          <a:xfrm>
            <a:off x="1143000" y="685800"/>
            <a:ext cx="4571640" cy="3428640"/>
          </a:xfrm>
          <a:prstGeom prst="rect">
            <a:avLst/>
          </a:prstGeom>
          <a:ln w="0">
            <a:noFill/>
          </a:ln>
        </p:spPr>
      </p:sp>
      <p:sp>
        <p:nvSpPr>
          <p:cNvPr id="56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2" name="PlaceHolder 1"/>
          <p:cNvSpPr>
            <a:spLocks noGrp="1"/>
          </p:cNvSpPr>
          <p:nvPr>
            <p:ph type="sldNum" idx="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017092E2-C38B-4BB9-A34D-D33C10FBDC18}"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63" name="PlaceHolder 2"/>
          <p:cNvSpPr>
            <a:spLocks noGrp="1"/>
          </p:cNvSpPr>
          <p:nvPr>
            <p:ph type="sldImg"/>
          </p:nvPr>
        </p:nvSpPr>
        <p:spPr>
          <a:xfrm>
            <a:off x="1143000" y="685800"/>
            <a:ext cx="4571640" cy="3428640"/>
          </a:xfrm>
          <a:prstGeom prst="rect">
            <a:avLst/>
          </a:prstGeom>
          <a:ln w="0">
            <a:noFill/>
          </a:ln>
        </p:spPr>
      </p:sp>
      <p:sp>
        <p:nvSpPr>
          <p:cNvPr id="56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5" name="PlaceHolder 1"/>
          <p:cNvSpPr>
            <a:spLocks noGrp="1"/>
          </p:cNvSpPr>
          <p:nvPr>
            <p:ph type="sldNum" idx="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636824EF-B16E-4EF5-ADD3-99B7F63ECDD5}"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66" name="PlaceHolder 2"/>
          <p:cNvSpPr>
            <a:spLocks noGrp="1"/>
          </p:cNvSpPr>
          <p:nvPr>
            <p:ph type="sldImg"/>
          </p:nvPr>
        </p:nvSpPr>
        <p:spPr>
          <a:xfrm>
            <a:off x="1143000" y="685800"/>
            <a:ext cx="4571640" cy="3428640"/>
          </a:xfrm>
          <a:prstGeom prst="rect">
            <a:avLst/>
          </a:prstGeom>
          <a:ln w="0">
            <a:noFill/>
          </a:ln>
        </p:spPr>
      </p:sp>
      <p:sp>
        <p:nvSpPr>
          <p:cNvPr id="56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8" name="PlaceHolder 1"/>
          <p:cNvSpPr>
            <a:spLocks noGrp="1"/>
          </p:cNvSpPr>
          <p:nvPr>
            <p:ph type="sldNum" idx="1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F08EEBB5-DEAD-49A4-9A00-9ECDE61B452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69" name="PlaceHolder 2"/>
          <p:cNvSpPr>
            <a:spLocks noGrp="1"/>
          </p:cNvSpPr>
          <p:nvPr>
            <p:ph type="sldImg"/>
          </p:nvPr>
        </p:nvSpPr>
        <p:spPr>
          <a:xfrm>
            <a:off x="1143000" y="685800"/>
            <a:ext cx="4571640" cy="3428640"/>
          </a:xfrm>
          <a:prstGeom prst="rect">
            <a:avLst/>
          </a:prstGeom>
          <a:ln w="0">
            <a:noFill/>
          </a:ln>
        </p:spPr>
      </p:sp>
      <p:sp>
        <p:nvSpPr>
          <p:cNvPr id="57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1" name="PlaceHolder 1"/>
          <p:cNvSpPr>
            <a:spLocks noGrp="1"/>
          </p:cNvSpPr>
          <p:nvPr>
            <p:ph type="sldNum" idx="1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1ADB0E80-D4DF-4A17-9DA1-39B47EAE1DA3}"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72" name="PlaceHolder 2"/>
          <p:cNvSpPr>
            <a:spLocks noGrp="1"/>
          </p:cNvSpPr>
          <p:nvPr>
            <p:ph type="sldImg"/>
          </p:nvPr>
        </p:nvSpPr>
        <p:spPr>
          <a:xfrm>
            <a:off x="1143000" y="685800"/>
            <a:ext cx="4571640" cy="3428640"/>
          </a:xfrm>
          <a:prstGeom prst="rect">
            <a:avLst/>
          </a:prstGeom>
          <a:ln w="0">
            <a:noFill/>
          </a:ln>
        </p:spPr>
      </p:sp>
      <p:sp>
        <p:nvSpPr>
          <p:cNvPr id="57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4" name="PlaceHolder 1"/>
          <p:cNvSpPr>
            <a:spLocks noGrp="1"/>
          </p:cNvSpPr>
          <p:nvPr>
            <p:ph type="sldNum" idx="1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70D9C061-72EA-4DFF-A747-56B386F96B98}"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75" name="PlaceHolder 2"/>
          <p:cNvSpPr>
            <a:spLocks noGrp="1"/>
          </p:cNvSpPr>
          <p:nvPr>
            <p:ph type="sldImg"/>
          </p:nvPr>
        </p:nvSpPr>
        <p:spPr>
          <a:xfrm>
            <a:off x="1143000" y="685800"/>
            <a:ext cx="4571640" cy="3428640"/>
          </a:xfrm>
          <a:prstGeom prst="rect">
            <a:avLst/>
          </a:prstGeom>
          <a:ln w="0">
            <a:noFill/>
          </a:ln>
        </p:spPr>
      </p:sp>
      <p:sp>
        <p:nvSpPr>
          <p:cNvPr id="57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7" name="PlaceHolder 1"/>
          <p:cNvSpPr>
            <a:spLocks noGrp="1"/>
          </p:cNvSpPr>
          <p:nvPr>
            <p:ph type="sldNum" idx="1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FEB9F10C-6083-4DE2-A070-BDDA84CD966F}"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78" name="PlaceHolder 2"/>
          <p:cNvSpPr>
            <a:spLocks noGrp="1"/>
          </p:cNvSpPr>
          <p:nvPr>
            <p:ph type="sldImg"/>
          </p:nvPr>
        </p:nvSpPr>
        <p:spPr>
          <a:xfrm>
            <a:off x="1143000" y="685800"/>
            <a:ext cx="4571640" cy="3428640"/>
          </a:xfrm>
          <a:prstGeom prst="rect">
            <a:avLst/>
          </a:prstGeom>
          <a:ln w="0">
            <a:noFill/>
          </a:ln>
        </p:spPr>
      </p:sp>
      <p:sp>
        <p:nvSpPr>
          <p:cNvPr id="57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0" name="PlaceHolder 1"/>
          <p:cNvSpPr>
            <a:spLocks noGrp="1"/>
          </p:cNvSpPr>
          <p:nvPr>
            <p:ph type="sldNum" idx="1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EEDAB68E-2196-451D-9EC5-4515A83E2C47}"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81" name="PlaceHolder 2"/>
          <p:cNvSpPr>
            <a:spLocks noGrp="1"/>
          </p:cNvSpPr>
          <p:nvPr>
            <p:ph type="sldImg"/>
          </p:nvPr>
        </p:nvSpPr>
        <p:spPr>
          <a:xfrm>
            <a:off x="1143000" y="685800"/>
            <a:ext cx="4571640" cy="3428640"/>
          </a:xfrm>
          <a:prstGeom prst="rect">
            <a:avLst/>
          </a:prstGeom>
          <a:ln w="0">
            <a:noFill/>
          </a:ln>
        </p:spPr>
      </p:sp>
      <p:sp>
        <p:nvSpPr>
          <p:cNvPr id="58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100000"/>
              </a:lnSpc>
              <a:buNone/>
            </a:pPr>
            <a:r>
              <a:rPr b="0" lang="en-AU" sz="2000" strike="noStrike" u="none">
                <a:solidFill>
                  <a:srgbClr val="000000"/>
                </a:solidFill>
                <a:effectLst/>
                <a:uFillTx/>
                <a:latin typeface="Times New Roman"/>
                <a:ea typeface="ＭＳ Ｐゴシック"/>
              </a:rPr>
              <a:t>Explain that the monopoly model is a benchmark model. Similar to the case of perfect competition, although no real-world industry satisfies the full definition of a monopoly market, the behavior of firms in many real world industries can be predicted by using the monopoly model. Mention that this chapter examines the least competitive end of the spectrum of markets, just like Chapter 13 discussed the most competitive end.</a:t>
            </a:r>
            <a:r>
              <a:rPr b="0" lang="en-GB" sz="2000" strike="noStrike" u="none">
                <a:solidFill>
                  <a:srgbClr val="000000"/>
                </a:solidFill>
                <a:effectLst/>
                <a:uFillTx/>
                <a:latin typeface="Times New Roman"/>
                <a:ea typeface="ＭＳ Ｐゴシック"/>
              </a:rPr>
              <a:t> </a:t>
            </a:r>
            <a:endParaRPr b="0" lang="en-US" sz="2000" strike="noStrike" u="non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3" name="PlaceHolder 1"/>
          <p:cNvSpPr>
            <a:spLocks noGrp="1"/>
          </p:cNvSpPr>
          <p:nvPr>
            <p:ph type="sldNum" idx="1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358C09A2-32CC-4265-9870-4A15A9D125E1}"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84" name="PlaceHolder 2"/>
          <p:cNvSpPr>
            <a:spLocks noGrp="1"/>
          </p:cNvSpPr>
          <p:nvPr>
            <p:ph type="sldImg"/>
          </p:nvPr>
        </p:nvSpPr>
        <p:spPr>
          <a:xfrm>
            <a:off x="1143000" y="685800"/>
            <a:ext cx="4571640" cy="3428640"/>
          </a:xfrm>
          <a:prstGeom prst="rect">
            <a:avLst/>
          </a:prstGeom>
          <a:ln w="0">
            <a:noFill/>
          </a:ln>
        </p:spPr>
      </p:sp>
      <p:sp>
        <p:nvSpPr>
          <p:cNvPr id="58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6" name="PlaceHolder 1"/>
          <p:cNvSpPr>
            <a:spLocks noGrp="1"/>
          </p:cNvSpPr>
          <p:nvPr>
            <p:ph type="sldNum" idx="1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260853BB-A48B-4ADB-9BDE-0CAFAFDBDC1D}"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87" name="PlaceHolder 2"/>
          <p:cNvSpPr>
            <a:spLocks noGrp="1"/>
          </p:cNvSpPr>
          <p:nvPr>
            <p:ph type="sldImg"/>
          </p:nvPr>
        </p:nvSpPr>
        <p:spPr>
          <a:xfrm>
            <a:off x="1143000" y="685800"/>
            <a:ext cx="4571640" cy="3428640"/>
          </a:xfrm>
          <a:prstGeom prst="rect">
            <a:avLst/>
          </a:prstGeom>
          <a:ln w="0">
            <a:noFill/>
          </a:ln>
        </p:spPr>
      </p:sp>
      <p:sp>
        <p:nvSpPr>
          <p:cNvPr id="58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9" name="PlaceHolder 1"/>
          <p:cNvSpPr>
            <a:spLocks noGrp="1"/>
          </p:cNvSpPr>
          <p:nvPr>
            <p:ph type="sldNum" idx="1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5B2DA3A-C608-4399-83B5-09CF51D74DFA}"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90" name="PlaceHolder 2"/>
          <p:cNvSpPr>
            <a:spLocks noGrp="1"/>
          </p:cNvSpPr>
          <p:nvPr>
            <p:ph type="sldImg"/>
          </p:nvPr>
        </p:nvSpPr>
        <p:spPr>
          <a:xfrm>
            <a:off x="1143000" y="685800"/>
            <a:ext cx="4571640" cy="3428640"/>
          </a:xfrm>
          <a:prstGeom prst="rect">
            <a:avLst/>
          </a:prstGeom>
          <a:ln w="0">
            <a:noFill/>
          </a:ln>
        </p:spPr>
      </p:sp>
      <p:sp>
        <p:nvSpPr>
          <p:cNvPr id="59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100000"/>
              </a:lnSpc>
              <a:buNone/>
            </a:pPr>
            <a:r>
              <a:rPr b="0" lang="en-AU" sz="2000" strike="noStrike" u="none">
                <a:solidFill>
                  <a:srgbClr val="000000"/>
                </a:solidFill>
                <a:effectLst/>
                <a:uFillTx/>
                <a:latin typeface="Times New Roman"/>
                <a:ea typeface="ＭＳ Ｐゴシック"/>
              </a:rPr>
              <a:t>Marginal revenue can be a sticking point for many students. Students find it easier to see the difference between the monopoly’s demand and marginal revenue curves if you take two steps. First develop a total revenue schedule using price and quantity data. Then add another column showing marginal revenue. As the text shows, place the marginal revenue values </a:t>
            </a:r>
            <a:r>
              <a:rPr b="0" i="1" lang="en-AU" sz="2000" strike="noStrike" u="none">
                <a:solidFill>
                  <a:srgbClr val="000000"/>
                </a:solidFill>
                <a:effectLst/>
                <a:uFillTx/>
                <a:latin typeface="Times New Roman"/>
                <a:ea typeface="ＭＳ Ｐゴシック"/>
              </a:rPr>
              <a:t>between </a:t>
            </a:r>
            <a:r>
              <a:rPr b="0" lang="en-AU" sz="2000" strike="noStrike" u="none">
                <a:solidFill>
                  <a:srgbClr val="000000"/>
                </a:solidFill>
                <a:effectLst/>
                <a:uFillTx/>
                <a:latin typeface="Times New Roman"/>
                <a:ea typeface="ＭＳ Ｐゴシック"/>
              </a:rPr>
              <a:t>the quantity values. In the next step, draw the demand and marginal revenue curves. Again, emphasize that marginal revenue is plotted </a:t>
            </a:r>
            <a:r>
              <a:rPr b="0" i="1" lang="en-AU" sz="2000" strike="noStrike" u="none">
                <a:solidFill>
                  <a:srgbClr val="000000"/>
                </a:solidFill>
                <a:effectLst/>
                <a:uFillTx/>
                <a:latin typeface="Times New Roman"/>
                <a:ea typeface="ＭＳ Ｐゴシック"/>
              </a:rPr>
              <a:t>between </a:t>
            </a:r>
            <a:r>
              <a:rPr b="0" lang="en-AU" sz="2000" strike="noStrike" u="none">
                <a:solidFill>
                  <a:srgbClr val="000000"/>
                </a:solidFill>
                <a:effectLst/>
                <a:uFillTx/>
                <a:latin typeface="Times New Roman"/>
                <a:ea typeface="ＭＳ Ｐゴシック"/>
              </a:rPr>
              <a:t>two quantity levels. By explicitly graphing the data, you also have the framework for showing that the price of the good is always less than marginal revenue of a monopoly.</a:t>
            </a:r>
            <a:r>
              <a:rPr b="0" lang="en-GB" sz="2000" strike="noStrike" u="none">
                <a:solidFill>
                  <a:srgbClr val="000000"/>
                </a:solidFill>
                <a:effectLst/>
                <a:uFillTx/>
                <a:latin typeface="Times New Roman"/>
                <a:ea typeface="ＭＳ Ｐゴシック"/>
              </a:rPr>
              <a:t> </a:t>
            </a:r>
            <a:endParaRPr b="0" lang="en-US" sz="2000" strike="noStrike" u="none">
              <a:solidFill>
                <a:srgbClr val="000000"/>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2" name="PlaceHolder 1"/>
          <p:cNvSpPr>
            <a:spLocks noGrp="1"/>
          </p:cNvSpPr>
          <p:nvPr>
            <p:ph type="sldNum" idx="1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3B421BEF-4381-4FAD-A75C-95839E45C143}"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93" name="PlaceHolder 2"/>
          <p:cNvSpPr>
            <a:spLocks noGrp="1"/>
          </p:cNvSpPr>
          <p:nvPr>
            <p:ph type="sldImg"/>
          </p:nvPr>
        </p:nvSpPr>
        <p:spPr>
          <a:xfrm>
            <a:off x="1143000" y="685800"/>
            <a:ext cx="4571640" cy="3428640"/>
          </a:xfrm>
          <a:prstGeom prst="rect">
            <a:avLst/>
          </a:prstGeom>
          <a:ln w="0">
            <a:noFill/>
          </a:ln>
        </p:spPr>
      </p:sp>
      <p:sp>
        <p:nvSpPr>
          <p:cNvPr id="59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5" name="PlaceHolder 1"/>
          <p:cNvSpPr>
            <a:spLocks noGrp="1"/>
          </p:cNvSpPr>
          <p:nvPr>
            <p:ph type="sldNum" idx="1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688CDCC2-D34A-4C37-80AA-A4609894D0EB}"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96" name="PlaceHolder 2"/>
          <p:cNvSpPr>
            <a:spLocks noGrp="1"/>
          </p:cNvSpPr>
          <p:nvPr>
            <p:ph type="sldImg"/>
          </p:nvPr>
        </p:nvSpPr>
        <p:spPr>
          <a:xfrm>
            <a:off x="1143000" y="685800"/>
            <a:ext cx="4571640" cy="3428640"/>
          </a:xfrm>
          <a:prstGeom prst="rect">
            <a:avLst/>
          </a:prstGeom>
          <a:ln w="0">
            <a:noFill/>
          </a:ln>
        </p:spPr>
      </p:sp>
      <p:sp>
        <p:nvSpPr>
          <p:cNvPr id="59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8" name="PlaceHolder 1"/>
          <p:cNvSpPr>
            <a:spLocks noGrp="1"/>
          </p:cNvSpPr>
          <p:nvPr>
            <p:ph type="sldNum" idx="2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67F6CDEE-A6BA-4AAA-B29A-9898C1760DB1}"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99" name="PlaceHolder 2"/>
          <p:cNvSpPr>
            <a:spLocks noGrp="1"/>
          </p:cNvSpPr>
          <p:nvPr>
            <p:ph type="sldImg"/>
          </p:nvPr>
        </p:nvSpPr>
        <p:spPr>
          <a:xfrm>
            <a:off x="1143000" y="685800"/>
            <a:ext cx="4571640" cy="3428640"/>
          </a:xfrm>
          <a:prstGeom prst="rect">
            <a:avLst/>
          </a:prstGeom>
          <a:ln w="0">
            <a:noFill/>
          </a:ln>
        </p:spPr>
      </p:sp>
      <p:sp>
        <p:nvSpPr>
          <p:cNvPr id="60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1" name="PlaceHolder 1"/>
          <p:cNvSpPr>
            <a:spLocks noGrp="1"/>
          </p:cNvSpPr>
          <p:nvPr>
            <p:ph type="sldNum" idx="2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38CE210E-CD5A-40B9-B99B-D21D46978F2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02" name="PlaceHolder 2"/>
          <p:cNvSpPr>
            <a:spLocks noGrp="1"/>
          </p:cNvSpPr>
          <p:nvPr>
            <p:ph type="sldImg"/>
          </p:nvPr>
        </p:nvSpPr>
        <p:spPr>
          <a:xfrm>
            <a:off x="1143000" y="685800"/>
            <a:ext cx="4571640" cy="3428640"/>
          </a:xfrm>
          <a:prstGeom prst="rect">
            <a:avLst/>
          </a:prstGeom>
          <a:ln w="0">
            <a:noFill/>
          </a:ln>
        </p:spPr>
      </p:sp>
      <p:sp>
        <p:nvSpPr>
          <p:cNvPr id="60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4" name="PlaceHolder 1"/>
          <p:cNvSpPr>
            <a:spLocks noGrp="1"/>
          </p:cNvSpPr>
          <p:nvPr>
            <p:ph type="sldNum" idx="2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F5BB4134-1F95-452C-A646-728DFCA0FAF4}"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05" name="PlaceHolder 2"/>
          <p:cNvSpPr>
            <a:spLocks noGrp="1"/>
          </p:cNvSpPr>
          <p:nvPr>
            <p:ph type="sldImg"/>
          </p:nvPr>
        </p:nvSpPr>
        <p:spPr>
          <a:xfrm>
            <a:off x="1143000" y="685800"/>
            <a:ext cx="4571640" cy="3428640"/>
          </a:xfrm>
          <a:prstGeom prst="rect">
            <a:avLst/>
          </a:prstGeom>
          <a:ln w="0">
            <a:noFill/>
          </a:ln>
        </p:spPr>
      </p:sp>
      <p:sp>
        <p:nvSpPr>
          <p:cNvPr id="60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7" name="PlaceHolder 1"/>
          <p:cNvSpPr>
            <a:spLocks noGrp="1"/>
          </p:cNvSpPr>
          <p:nvPr>
            <p:ph type="sldNum" idx="2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65CB62E0-EC82-4F0F-8758-314233DCDCF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08" name="PlaceHolder 2"/>
          <p:cNvSpPr>
            <a:spLocks noGrp="1"/>
          </p:cNvSpPr>
          <p:nvPr>
            <p:ph type="sldImg"/>
          </p:nvPr>
        </p:nvSpPr>
        <p:spPr>
          <a:xfrm>
            <a:off x="1143000" y="685800"/>
            <a:ext cx="4571640" cy="3428640"/>
          </a:xfrm>
          <a:prstGeom prst="rect">
            <a:avLst/>
          </a:prstGeom>
          <a:ln w="0">
            <a:noFill/>
          </a:ln>
        </p:spPr>
      </p:sp>
      <p:sp>
        <p:nvSpPr>
          <p:cNvPr id="60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0" name="PlaceHolder 1"/>
          <p:cNvSpPr>
            <a:spLocks noGrp="1"/>
          </p:cNvSpPr>
          <p:nvPr>
            <p:ph type="sldNum" idx="2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FCCDECF8-A81E-4241-89F7-C07EBDA4595A}"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11" name="PlaceHolder 2"/>
          <p:cNvSpPr>
            <a:spLocks noGrp="1"/>
          </p:cNvSpPr>
          <p:nvPr>
            <p:ph type="sldImg"/>
          </p:nvPr>
        </p:nvSpPr>
        <p:spPr>
          <a:xfrm>
            <a:off x="1143000" y="685800"/>
            <a:ext cx="4571640" cy="3428640"/>
          </a:xfrm>
          <a:prstGeom prst="rect">
            <a:avLst/>
          </a:prstGeom>
          <a:ln w="0">
            <a:noFill/>
          </a:ln>
        </p:spPr>
      </p:sp>
      <p:sp>
        <p:nvSpPr>
          <p:cNvPr id="61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3" name="PlaceHolder 1"/>
          <p:cNvSpPr>
            <a:spLocks noGrp="1"/>
          </p:cNvSpPr>
          <p:nvPr>
            <p:ph type="sldNum" idx="2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F0B6BEF3-C175-4276-A5F9-FEDE6058626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14" name="PlaceHolder 2"/>
          <p:cNvSpPr>
            <a:spLocks noGrp="1"/>
          </p:cNvSpPr>
          <p:nvPr>
            <p:ph type="sldImg"/>
          </p:nvPr>
        </p:nvSpPr>
        <p:spPr>
          <a:xfrm>
            <a:off x="1143000" y="685800"/>
            <a:ext cx="4571640" cy="3428640"/>
          </a:xfrm>
          <a:prstGeom prst="rect">
            <a:avLst/>
          </a:prstGeom>
          <a:ln w="0">
            <a:noFill/>
          </a:ln>
        </p:spPr>
      </p:sp>
      <p:sp>
        <p:nvSpPr>
          <p:cNvPr id="61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6" name="PlaceHolder 1"/>
          <p:cNvSpPr>
            <a:spLocks noGrp="1"/>
          </p:cNvSpPr>
          <p:nvPr>
            <p:ph type="sldNum" idx="2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7033BC53-297B-4B82-9369-2B99C80B7841}"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17" name="PlaceHolder 2"/>
          <p:cNvSpPr>
            <a:spLocks noGrp="1"/>
          </p:cNvSpPr>
          <p:nvPr>
            <p:ph type="sldImg"/>
          </p:nvPr>
        </p:nvSpPr>
        <p:spPr>
          <a:xfrm>
            <a:off x="1143000" y="685800"/>
            <a:ext cx="4571640" cy="3428640"/>
          </a:xfrm>
          <a:prstGeom prst="rect">
            <a:avLst/>
          </a:prstGeom>
          <a:ln w="0">
            <a:noFill/>
          </a:ln>
        </p:spPr>
      </p:sp>
      <p:sp>
        <p:nvSpPr>
          <p:cNvPr id="61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9" name="PlaceHolder 1"/>
          <p:cNvSpPr>
            <a:spLocks noGrp="1"/>
          </p:cNvSpPr>
          <p:nvPr>
            <p:ph type="sldNum" idx="2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DF9F85BA-C5D1-47E1-B74F-53AF1D74452E}"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20" name="PlaceHolder 2"/>
          <p:cNvSpPr>
            <a:spLocks noGrp="1"/>
          </p:cNvSpPr>
          <p:nvPr>
            <p:ph type="sldImg"/>
          </p:nvPr>
        </p:nvSpPr>
        <p:spPr>
          <a:xfrm>
            <a:off x="1143000" y="685800"/>
            <a:ext cx="4571640" cy="3428640"/>
          </a:xfrm>
          <a:prstGeom prst="rect">
            <a:avLst/>
          </a:prstGeom>
          <a:ln w="0">
            <a:noFill/>
          </a:ln>
        </p:spPr>
      </p:sp>
      <p:sp>
        <p:nvSpPr>
          <p:cNvPr id="62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2" name="PlaceHolder 1"/>
          <p:cNvSpPr>
            <a:spLocks noGrp="1"/>
          </p:cNvSpPr>
          <p:nvPr>
            <p:ph type="sldNum" idx="2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A888E0B4-9E52-42D4-9339-506293ABDEC0}"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23" name="Rectangle 7"/>
          <p:cNvSpPr/>
          <p:nvPr/>
        </p:nvSpPr>
        <p:spPr>
          <a:xfrm>
            <a:off x="3886200" y="8686800"/>
            <a:ext cx="2971440" cy="45684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pPr>
            <a:fld id="{DB4E8CF4-6B46-45C5-85DD-099AF1456F03}"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Arial"/>
            </a:endParaRPr>
          </a:p>
        </p:txBody>
      </p:sp>
      <p:sp>
        <p:nvSpPr>
          <p:cNvPr id="624" name="PlaceHolder 2"/>
          <p:cNvSpPr>
            <a:spLocks noGrp="1"/>
          </p:cNvSpPr>
          <p:nvPr>
            <p:ph type="sldImg"/>
          </p:nvPr>
        </p:nvSpPr>
        <p:spPr>
          <a:xfrm>
            <a:off x="1143000" y="685800"/>
            <a:ext cx="4571640" cy="3428640"/>
          </a:xfrm>
          <a:prstGeom prst="rect">
            <a:avLst/>
          </a:prstGeom>
          <a:ln w="0">
            <a:noFill/>
          </a:ln>
        </p:spPr>
      </p:sp>
      <p:sp>
        <p:nvSpPr>
          <p:cNvPr id="62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6" name="PlaceHolder 1"/>
          <p:cNvSpPr>
            <a:spLocks noGrp="1"/>
          </p:cNvSpPr>
          <p:nvPr>
            <p:ph type="sldNum" idx="2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53BABFE-3312-4977-8D03-05E1B10E19C6}"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27" name="PlaceHolder 2"/>
          <p:cNvSpPr>
            <a:spLocks noGrp="1"/>
          </p:cNvSpPr>
          <p:nvPr>
            <p:ph type="sldImg"/>
          </p:nvPr>
        </p:nvSpPr>
        <p:spPr>
          <a:xfrm>
            <a:off x="1143000" y="685800"/>
            <a:ext cx="4571640" cy="3428640"/>
          </a:xfrm>
          <a:prstGeom prst="rect">
            <a:avLst/>
          </a:prstGeom>
          <a:ln w="0">
            <a:noFill/>
          </a:ln>
        </p:spPr>
      </p:sp>
      <p:sp>
        <p:nvSpPr>
          <p:cNvPr id="62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9" name="PlaceHolder 1"/>
          <p:cNvSpPr>
            <a:spLocks noGrp="1"/>
          </p:cNvSpPr>
          <p:nvPr>
            <p:ph type="sldNum" idx="3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97B555C-2C82-4AAD-8342-D2FD5F02DFB4}"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30" name="PlaceHolder 2"/>
          <p:cNvSpPr>
            <a:spLocks noGrp="1"/>
          </p:cNvSpPr>
          <p:nvPr>
            <p:ph type="sldImg"/>
          </p:nvPr>
        </p:nvSpPr>
        <p:spPr>
          <a:xfrm>
            <a:off x="1143000" y="685800"/>
            <a:ext cx="4571640" cy="3428640"/>
          </a:xfrm>
          <a:prstGeom prst="rect">
            <a:avLst/>
          </a:prstGeom>
          <a:ln w="0">
            <a:noFill/>
          </a:ln>
        </p:spPr>
      </p:sp>
      <p:sp>
        <p:nvSpPr>
          <p:cNvPr id="63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2" name="PlaceHolder 1"/>
          <p:cNvSpPr>
            <a:spLocks noGrp="1"/>
          </p:cNvSpPr>
          <p:nvPr>
            <p:ph type="sldNum" idx="3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9811B55-DD35-48D1-BE2D-F784A16A731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33" name="Rectangle 7"/>
          <p:cNvSpPr/>
          <p:nvPr/>
        </p:nvSpPr>
        <p:spPr>
          <a:xfrm>
            <a:off x="3886200" y="8686800"/>
            <a:ext cx="2971440" cy="45684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pPr>
            <a:fld id="{71B28F43-F080-4FCC-AAED-0B512783EAF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Arial"/>
            </a:endParaRPr>
          </a:p>
        </p:txBody>
      </p:sp>
      <p:sp>
        <p:nvSpPr>
          <p:cNvPr id="634" name="PlaceHolder 2"/>
          <p:cNvSpPr>
            <a:spLocks noGrp="1"/>
          </p:cNvSpPr>
          <p:nvPr>
            <p:ph type="sldImg"/>
          </p:nvPr>
        </p:nvSpPr>
        <p:spPr>
          <a:xfrm>
            <a:off x="1143000" y="685800"/>
            <a:ext cx="4571640" cy="3428640"/>
          </a:xfrm>
          <a:prstGeom prst="rect">
            <a:avLst/>
          </a:prstGeom>
          <a:ln w="0">
            <a:noFill/>
          </a:ln>
        </p:spPr>
      </p:sp>
      <p:sp>
        <p:nvSpPr>
          <p:cNvPr id="63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6" name="PlaceHolder 1"/>
          <p:cNvSpPr>
            <a:spLocks noGrp="1"/>
          </p:cNvSpPr>
          <p:nvPr>
            <p:ph type="sldNum" idx="3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A88D2C3-9CFA-4239-90DF-9D0F09588DFE}"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37" name="PlaceHolder 2"/>
          <p:cNvSpPr>
            <a:spLocks noGrp="1"/>
          </p:cNvSpPr>
          <p:nvPr>
            <p:ph type="sldImg"/>
          </p:nvPr>
        </p:nvSpPr>
        <p:spPr>
          <a:xfrm>
            <a:off x="1143000" y="685800"/>
            <a:ext cx="4571640" cy="3428640"/>
          </a:xfrm>
          <a:prstGeom prst="rect">
            <a:avLst/>
          </a:prstGeom>
          <a:ln w="0">
            <a:noFill/>
          </a:ln>
        </p:spPr>
      </p:sp>
      <p:sp>
        <p:nvSpPr>
          <p:cNvPr id="63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9" name="PlaceHolder 1"/>
          <p:cNvSpPr>
            <a:spLocks noGrp="1"/>
          </p:cNvSpPr>
          <p:nvPr>
            <p:ph type="sldNum" idx="3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B4DEF006-9789-4973-B282-82DAB3F7E31D}"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40" name="PlaceHolder 2"/>
          <p:cNvSpPr>
            <a:spLocks noGrp="1"/>
          </p:cNvSpPr>
          <p:nvPr>
            <p:ph type="sldImg"/>
          </p:nvPr>
        </p:nvSpPr>
        <p:spPr>
          <a:xfrm>
            <a:off x="1143000" y="685800"/>
            <a:ext cx="4571640" cy="3428640"/>
          </a:xfrm>
          <a:prstGeom prst="rect">
            <a:avLst/>
          </a:prstGeom>
          <a:ln w="0">
            <a:noFill/>
          </a:ln>
        </p:spPr>
      </p:sp>
      <p:sp>
        <p:nvSpPr>
          <p:cNvPr id="64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2" name="PlaceHolder 1"/>
          <p:cNvSpPr>
            <a:spLocks noGrp="1"/>
          </p:cNvSpPr>
          <p:nvPr>
            <p:ph type="sldNum" idx="3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3405AD0-7E60-4762-B753-A793A977010D}"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43" name="PlaceHolder 2"/>
          <p:cNvSpPr>
            <a:spLocks noGrp="1"/>
          </p:cNvSpPr>
          <p:nvPr>
            <p:ph type="sldImg"/>
          </p:nvPr>
        </p:nvSpPr>
        <p:spPr>
          <a:xfrm>
            <a:off x="1143000" y="685800"/>
            <a:ext cx="4571640" cy="3428640"/>
          </a:xfrm>
          <a:prstGeom prst="rect">
            <a:avLst/>
          </a:prstGeom>
          <a:ln w="0">
            <a:noFill/>
          </a:ln>
        </p:spPr>
      </p:sp>
      <p:sp>
        <p:nvSpPr>
          <p:cNvPr id="64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5" name="PlaceHolder 1"/>
          <p:cNvSpPr>
            <a:spLocks noGrp="1"/>
          </p:cNvSpPr>
          <p:nvPr>
            <p:ph type="sldNum" idx="3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B7074ACE-CB8F-4E43-A6ED-2612E4E9BD0F}"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46" name="PlaceHolder 2"/>
          <p:cNvSpPr>
            <a:spLocks noGrp="1"/>
          </p:cNvSpPr>
          <p:nvPr>
            <p:ph type="sldImg"/>
          </p:nvPr>
        </p:nvSpPr>
        <p:spPr>
          <a:xfrm>
            <a:off x="1143000" y="685800"/>
            <a:ext cx="4571640" cy="3428640"/>
          </a:xfrm>
          <a:prstGeom prst="rect">
            <a:avLst/>
          </a:prstGeom>
          <a:ln w="0">
            <a:noFill/>
          </a:ln>
        </p:spPr>
      </p:sp>
      <p:sp>
        <p:nvSpPr>
          <p:cNvPr id="64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8" name="PlaceHolder 1"/>
          <p:cNvSpPr>
            <a:spLocks noGrp="1"/>
          </p:cNvSpPr>
          <p:nvPr>
            <p:ph type="sldNum" idx="3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1C561CA4-C94A-4481-8D6A-BE3BC13809C6}"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49" name="PlaceHolder 2"/>
          <p:cNvSpPr>
            <a:spLocks noGrp="1"/>
          </p:cNvSpPr>
          <p:nvPr>
            <p:ph type="sldImg"/>
          </p:nvPr>
        </p:nvSpPr>
        <p:spPr>
          <a:xfrm>
            <a:off x="1143000" y="685800"/>
            <a:ext cx="4571640" cy="3428640"/>
          </a:xfrm>
          <a:prstGeom prst="rect">
            <a:avLst/>
          </a:prstGeom>
          <a:ln w="0">
            <a:noFill/>
          </a:ln>
        </p:spPr>
      </p:sp>
      <p:sp>
        <p:nvSpPr>
          <p:cNvPr id="65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1" name="PlaceHolder 1"/>
          <p:cNvSpPr>
            <a:spLocks noGrp="1"/>
          </p:cNvSpPr>
          <p:nvPr>
            <p:ph type="sldNum" idx="3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083921AF-0286-488C-AABE-D15CD17030E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52" name="PlaceHolder 2"/>
          <p:cNvSpPr>
            <a:spLocks noGrp="1"/>
          </p:cNvSpPr>
          <p:nvPr>
            <p:ph type="sldImg"/>
          </p:nvPr>
        </p:nvSpPr>
        <p:spPr>
          <a:xfrm>
            <a:off x="1143000" y="685800"/>
            <a:ext cx="4571640" cy="3428640"/>
          </a:xfrm>
          <a:prstGeom prst="rect">
            <a:avLst/>
          </a:prstGeom>
          <a:ln w="0">
            <a:noFill/>
          </a:ln>
        </p:spPr>
      </p:sp>
      <p:sp>
        <p:nvSpPr>
          <p:cNvPr id="65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4" name="PlaceHolder 1"/>
          <p:cNvSpPr>
            <a:spLocks noGrp="1"/>
          </p:cNvSpPr>
          <p:nvPr>
            <p:ph type="sldNum" idx="3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AA9821D7-DCC9-4769-9B2A-1937520D1766}"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55" name="PlaceHolder 2"/>
          <p:cNvSpPr>
            <a:spLocks noGrp="1"/>
          </p:cNvSpPr>
          <p:nvPr>
            <p:ph type="sldImg"/>
          </p:nvPr>
        </p:nvSpPr>
        <p:spPr>
          <a:xfrm>
            <a:off x="1143000" y="685800"/>
            <a:ext cx="4571640" cy="3428640"/>
          </a:xfrm>
          <a:prstGeom prst="rect">
            <a:avLst/>
          </a:prstGeom>
          <a:ln w="0">
            <a:noFill/>
          </a:ln>
        </p:spPr>
      </p:sp>
      <p:sp>
        <p:nvSpPr>
          <p:cNvPr id="65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7" name="PlaceHolder 1"/>
          <p:cNvSpPr>
            <a:spLocks noGrp="1"/>
          </p:cNvSpPr>
          <p:nvPr>
            <p:ph type="sldNum" idx="3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6DAEA28-725A-4AA0-8475-CFDC3369A07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58" name="PlaceHolder 2"/>
          <p:cNvSpPr>
            <a:spLocks noGrp="1"/>
          </p:cNvSpPr>
          <p:nvPr>
            <p:ph type="sldImg"/>
          </p:nvPr>
        </p:nvSpPr>
        <p:spPr>
          <a:xfrm>
            <a:off x="1143000" y="685800"/>
            <a:ext cx="4571640" cy="3428640"/>
          </a:xfrm>
          <a:prstGeom prst="rect">
            <a:avLst/>
          </a:prstGeom>
          <a:ln w="0">
            <a:noFill/>
          </a:ln>
        </p:spPr>
      </p:sp>
      <p:sp>
        <p:nvSpPr>
          <p:cNvPr id="65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0" name="PlaceHolder 1"/>
          <p:cNvSpPr>
            <a:spLocks noGrp="1"/>
          </p:cNvSpPr>
          <p:nvPr>
            <p:ph type="sldNum" idx="4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B5F05126-11A3-4574-B47D-FE4830A461EB}"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61" name="PlaceHolder 2"/>
          <p:cNvSpPr>
            <a:spLocks noGrp="1"/>
          </p:cNvSpPr>
          <p:nvPr>
            <p:ph type="sldImg"/>
          </p:nvPr>
        </p:nvSpPr>
        <p:spPr>
          <a:xfrm>
            <a:off x="1143000" y="685800"/>
            <a:ext cx="4571640" cy="3428640"/>
          </a:xfrm>
          <a:prstGeom prst="rect">
            <a:avLst/>
          </a:prstGeom>
          <a:ln w="0">
            <a:noFill/>
          </a:ln>
        </p:spPr>
      </p:sp>
      <p:sp>
        <p:nvSpPr>
          <p:cNvPr id="66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3" name="PlaceHolder 1"/>
          <p:cNvSpPr>
            <a:spLocks noGrp="1"/>
          </p:cNvSpPr>
          <p:nvPr>
            <p:ph type="sldNum" idx="4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982B0D12-701E-4E39-9ACD-4DBCF24CB43A}"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64" name="PlaceHolder 2"/>
          <p:cNvSpPr>
            <a:spLocks noGrp="1"/>
          </p:cNvSpPr>
          <p:nvPr>
            <p:ph type="sldImg"/>
          </p:nvPr>
        </p:nvSpPr>
        <p:spPr>
          <a:xfrm>
            <a:off x="1143000" y="685800"/>
            <a:ext cx="4571640" cy="3428640"/>
          </a:xfrm>
          <a:prstGeom prst="rect">
            <a:avLst/>
          </a:prstGeom>
          <a:ln w="0">
            <a:noFill/>
          </a:ln>
        </p:spPr>
      </p:sp>
      <p:sp>
        <p:nvSpPr>
          <p:cNvPr id="66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6" name="PlaceHolder 1"/>
          <p:cNvSpPr>
            <a:spLocks noGrp="1"/>
          </p:cNvSpPr>
          <p:nvPr>
            <p:ph type="sldNum" idx="4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7502CD2C-EBD3-447F-B0FD-E23A6B2DADC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67" name="PlaceHolder 2"/>
          <p:cNvSpPr>
            <a:spLocks noGrp="1"/>
          </p:cNvSpPr>
          <p:nvPr>
            <p:ph type="sldImg"/>
          </p:nvPr>
        </p:nvSpPr>
        <p:spPr>
          <a:xfrm>
            <a:off x="1143000" y="685800"/>
            <a:ext cx="4571640" cy="3428640"/>
          </a:xfrm>
          <a:prstGeom prst="rect">
            <a:avLst/>
          </a:prstGeom>
          <a:ln w="0">
            <a:noFill/>
          </a:ln>
        </p:spPr>
      </p:sp>
      <p:sp>
        <p:nvSpPr>
          <p:cNvPr id="66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9" name="PlaceHolder 1"/>
          <p:cNvSpPr>
            <a:spLocks noGrp="1"/>
          </p:cNvSpPr>
          <p:nvPr>
            <p:ph type="sldNum" idx="4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B9925ACC-60D8-4A0A-84C5-72A6ACFE079B}"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70" name="PlaceHolder 2"/>
          <p:cNvSpPr>
            <a:spLocks noGrp="1"/>
          </p:cNvSpPr>
          <p:nvPr>
            <p:ph type="sldImg"/>
          </p:nvPr>
        </p:nvSpPr>
        <p:spPr>
          <a:xfrm>
            <a:off x="1143000" y="685800"/>
            <a:ext cx="4571640" cy="3428640"/>
          </a:xfrm>
          <a:prstGeom prst="rect">
            <a:avLst/>
          </a:prstGeom>
          <a:ln w="0">
            <a:noFill/>
          </a:ln>
        </p:spPr>
      </p:sp>
      <p:sp>
        <p:nvSpPr>
          <p:cNvPr id="67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2" name="PlaceHolder 1"/>
          <p:cNvSpPr>
            <a:spLocks noGrp="1"/>
          </p:cNvSpPr>
          <p:nvPr>
            <p:ph type="sldNum" idx="4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C1F7771-B1C3-4A20-B616-C1E0FDBDEE86}"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73" name="PlaceHolder 2"/>
          <p:cNvSpPr>
            <a:spLocks noGrp="1"/>
          </p:cNvSpPr>
          <p:nvPr>
            <p:ph type="sldImg"/>
          </p:nvPr>
        </p:nvSpPr>
        <p:spPr>
          <a:xfrm>
            <a:off x="1143000" y="685800"/>
            <a:ext cx="4571640" cy="3428640"/>
          </a:xfrm>
          <a:prstGeom prst="rect">
            <a:avLst/>
          </a:prstGeom>
          <a:ln w="0">
            <a:noFill/>
          </a:ln>
        </p:spPr>
      </p:sp>
      <p:sp>
        <p:nvSpPr>
          <p:cNvPr id="67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80000"/>
              </a:lnSpc>
              <a:buNone/>
            </a:pPr>
            <a:r>
              <a:rPr b="0" lang="en-AU" sz="1400" strike="noStrike" u="none">
                <a:solidFill>
                  <a:srgbClr val="000000"/>
                </a:solidFill>
                <a:effectLst/>
                <a:uFillTx/>
                <a:latin typeface="Times New Roman"/>
                <a:ea typeface="ＭＳ Ｐゴシック"/>
              </a:rPr>
              <a:t>Figure 16.4(b), the classic monopoly diagram, provides a good opportunity to tell your students about the contribution of one of the most brilliant economists of the 20th century, Joan Robinson. This diagram first appeared in her book </a:t>
            </a:r>
            <a:r>
              <a:rPr b="0" i="1" lang="en-AU" sz="1400" strike="noStrike" u="none">
                <a:solidFill>
                  <a:srgbClr val="000000"/>
                </a:solidFill>
                <a:effectLst/>
                <a:uFillTx/>
                <a:latin typeface="Times New Roman"/>
                <a:ea typeface="ＭＳ Ｐゴシック"/>
              </a:rPr>
              <a:t>The Economics of Imperfect Competition</a:t>
            </a:r>
            <a:r>
              <a:rPr b="0" lang="en-AU" sz="1400" strike="noStrike" u="none">
                <a:solidFill>
                  <a:srgbClr val="000000"/>
                </a:solidFill>
                <a:effectLst/>
                <a:uFillTx/>
                <a:latin typeface="Times New Roman"/>
                <a:ea typeface="ＭＳ Ｐゴシック"/>
              </a:rPr>
              <a:t>, published in 1933 when she was just 30 years old. You and your students can learn more about Joan Robinson at http://cepa.newschool.edu/het/profiles/robinson.htm . Women are still not attracted to economics on the scale that they’re attracted to most other disciplines. So the opportunity to talk about an outstanding female economist shouldn’t be lost. Joan Robinson was a formidable debater and reveled in verbal battles, a notable one of which was with Paul Samuelson on one of her visits to MIT. Anxious to make and illustrate a point, Samuelson asked Robinson for the chalk. Monopolizing the chalk and the blackboard, the unyielding Robinson snapped, “Say it in words young man.” Samuelson meekly obeyed. This story illustrates Joan Robinson’s approach to economics: work out the answers to economic problems using the appropriate techniques of math and logic, but then “say it in words.” Don’t be satisfied with formal argument if you don’t understand it. Your students will benefit from this story if you can work it into your class time.</a:t>
            </a:r>
            <a:r>
              <a:rPr b="0" lang="en-GB" sz="1400" strike="noStrike" u="none">
                <a:solidFill>
                  <a:srgbClr val="000000"/>
                </a:solidFill>
                <a:effectLst/>
                <a:uFillTx/>
                <a:latin typeface="Times New Roman"/>
                <a:ea typeface="ＭＳ Ｐゴシック"/>
              </a:rPr>
              <a:t> </a:t>
            </a:r>
            <a:endParaRPr b="0" lang="en-US" sz="1400" strike="noStrike" u="none">
              <a:solidFill>
                <a:srgbClr val="000000"/>
              </a:solidFill>
              <a:effectLst/>
              <a:uFillTx/>
              <a:latin typeface="Arial"/>
            </a:endParaRPr>
          </a:p>
          <a:p>
            <a:pPr indent="0">
              <a:lnSpc>
                <a:spcPct val="80000"/>
              </a:lnSpc>
              <a:buNone/>
            </a:pPr>
            <a:r>
              <a:rPr b="0" lang="en-GB" sz="1400" strike="noStrike" u="none">
                <a:solidFill>
                  <a:srgbClr val="000000"/>
                </a:solidFill>
                <a:effectLst/>
                <a:uFillTx/>
                <a:latin typeface="Times New Roman"/>
                <a:ea typeface="ＭＳ Ｐゴシック"/>
              </a:rPr>
              <a:t>Most famous economists have been men. But here is role model for half of today’s students. Don’t let this point be lost.</a:t>
            </a:r>
            <a:endParaRPr b="0" lang="en-US" sz="1400" strike="noStrike" u="none">
              <a:solidFill>
                <a:srgbClr val="000000"/>
              </a:solidFill>
              <a:effectLst/>
              <a:uFillTx/>
              <a:latin typeface="Arial"/>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5" name="PlaceHolder 1"/>
          <p:cNvSpPr>
            <a:spLocks noGrp="1"/>
          </p:cNvSpPr>
          <p:nvPr>
            <p:ph type="sldNum" idx="4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3C2635BF-E369-4EDA-ABC6-3A847FE727C3}"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76" name="PlaceHolder 2"/>
          <p:cNvSpPr>
            <a:spLocks noGrp="1"/>
          </p:cNvSpPr>
          <p:nvPr>
            <p:ph type="sldImg"/>
          </p:nvPr>
        </p:nvSpPr>
        <p:spPr>
          <a:xfrm>
            <a:off x="1143000" y="685800"/>
            <a:ext cx="4571640" cy="3428640"/>
          </a:xfrm>
          <a:prstGeom prst="rect">
            <a:avLst/>
          </a:prstGeom>
          <a:ln w="0">
            <a:noFill/>
          </a:ln>
        </p:spPr>
      </p:sp>
      <p:sp>
        <p:nvSpPr>
          <p:cNvPr id="67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8" name="PlaceHolder 1"/>
          <p:cNvSpPr>
            <a:spLocks noGrp="1"/>
          </p:cNvSpPr>
          <p:nvPr>
            <p:ph type="sldNum" idx="4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A781A4A6-5551-47BF-B2B2-654E80F1AAB6}"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79" name="PlaceHolder 2"/>
          <p:cNvSpPr>
            <a:spLocks noGrp="1"/>
          </p:cNvSpPr>
          <p:nvPr>
            <p:ph type="sldImg"/>
          </p:nvPr>
        </p:nvSpPr>
        <p:spPr>
          <a:xfrm>
            <a:off x="1143000" y="685800"/>
            <a:ext cx="4571640" cy="3428640"/>
          </a:xfrm>
          <a:prstGeom prst="rect">
            <a:avLst/>
          </a:prstGeom>
          <a:ln w="0">
            <a:noFill/>
          </a:ln>
        </p:spPr>
      </p:sp>
      <p:sp>
        <p:nvSpPr>
          <p:cNvPr id="68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1" name="PlaceHolder 1"/>
          <p:cNvSpPr>
            <a:spLocks noGrp="1"/>
          </p:cNvSpPr>
          <p:nvPr>
            <p:ph type="sldNum" idx="4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B70A5021-FE99-4A42-9B51-997475F8CF69}"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82" name="PlaceHolder 2"/>
          <p:cNvSpPr>
            <a:spLocks noGrp="1"/>
          </p:cNvSpPr>
          <p:nvPr>
            <p:ph type="sldImg"/>
          </p:nvPr>
        </p:nvSpPr>
        <p:spPr>
          <a:xfrm>
            <a:off x="1143000" y="685800"/>
            <a:ext cx="4571640" cy="3428640"/>
          </a:xfrm>
          <a:prstGeom prst="rect">
            <a:avLst/>
          </a:prstGeom>
          <a:ln w="0">
            <a:noFill/>
          </a:ln>
        </p:spPr>
      </p:sp>
      <p:sp>
        <p:nvSpPr>
          <p:cNvPr id="68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4" name="PlaceHolder 1"/>
          <p:cNvSpPr>
            <a:spLocks noGrp="1"/>
          </p:cNvSpPr>
          <p:nvPr>
            <p:ph type="sldNum" idx="4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E023A40D-FFED-4BD1-9BA8-538DC1818F7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85" name="PlaceHolder 2"/>
          <p:cNvSpPr>
            <a:spLocks noGrp="1"/>
          </p:cNvSpPr>
          <p:nvPr>
            <p:ph type="sldImg"/>
          </p:nvPr>
        </p:nvSpPr>
        <p:spPr>
          <a:xfrm>
            <a:off x="1143000" y="685800"/>
            <a:ext cx="4571640" cy="3428640"/>
          </a:xfrm>
          <a:prstGeom prst="rect">
            <a:avLst/>
          </a:prstGeom>
          <a:ln w="0">
            <a:noFill/>
          </a:ln>
        </p:spPr>
      </p:sp>
      <p:sp>
        <p:nvSpPr>
          <p:cNvPr id="68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7" name="PlaceHolder 1"/>
          <p:cNvSpPr>
            <a:spLocks noGrp="1"/>
          </p:cNvSpPr>
          <p:nvPr>
            <p:ph type="sldNum" idx="4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64AAB17B-6BCC-4105-9976-41588BB3395A}"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88" name="PlaceHolder 2"/>
          <p:cNvSpPr>
            <a:spLocks noGrp="1"/>
          </p:cNvSpPr>
          <p:nvPr>
            <p:ph type="sldImg"/>
          </p:nvPr>
        </p:nvSpPr>
        <p:spPr>
          <a:xfrm>
            <a:off x="1143000" y="685800"/>
            <a:ext cx="4571640" cy="3428640"/>
          </a:xfrm>
          <a:prstGeom prst="rect">
            <a:avLst/>
          </a:prstGeom>
          <a:ln w="0">
            <a:noFill/>
          </a:ln>
        </p:spPr>
      </p:sp>
      <p:sp>
        <p:nvSpPr>
          <p:cNvPr id="68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0" name="PlaceHolder 1"/>
          <p:cNvSpPr>
            <a:spLocks noGrp="1"/>
          </p:cNvSpPr>
          <p:nvPr>
            <p:ph type="sldNum" idx="5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5E8BF864-3101-4EB5-883C-64E1DCF41F14}"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91" name="PlaceHolder 2"/>
          <p:cNvSpPr>
            <a:spLocks noGrp="1"/>
          </p:cNvSpPr>
          <p:nvPr>
            <p:ph type="sldImg"/>
          </p:nvPr>
        </p:nvSpPr>
        <p:spPr>
          <a:xfrm>
            <a:off x="1143000" y="685800"/>
            <a:ext cx="4571640" cy="3428640"/>
          </a:xfrm>
          <a:prstGeom prst="rect">
            <a:avLst/>
          </a:prstGeom>
          <a:ln w="0">
            <a:noFill/>
          </a:ln>
        </p:spPr>
      </p:sp>
      <p:sp>
        <p:nvSpPr>
          <p:cNvPr id="69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3" name="PlaceHolder 1"/>
          <p:cNvSpPr>
            <a:spLocks noGrp="1"/>
          </p:cNvSpPr>
          <p:nvPr>
            <p:ph type="sldNum" idx="5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8A3CC1F2-D169-4DFD-A12E-ABA801555979}"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94" name="PlaceHolder 2"/>
          <p:cNvSpPr>
            <a:spLocks noGrp="1"/>
          </p:cNvSpPr>
          <p:nvPr>
            <p:ph type="sldImg"/>
          </p:nvPr>
        </p:nvSpPr>
        <p:spPr>
          <a:xfrm>
            <a:off x="1143000" y="685800"/>
            <a:ext cx="4571640" cy="3428640"/>
          </a:xfrm>
          <a:prstGeom prst="rect">
            <a:avLst/>
          </a:prstGeom>
          <a:ln w="0">
            <a:noFill/>
          </a:ln>
        </p:spPr>
      </p:sp>
      <p:sp>
        <p:nvSpPr>
          <p:cNvPr id="69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6" name="PlaceHolder 1"/>
          <p:cNvSpPr>
            <a:spLocks noGrp="1"/>
          </p:cNvSpPr>
          <p:nvPr>
            <p:ph type="sldNum" idx="5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A8A716B6-A7E6-4B1D-9D3E-4311DB57C8F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697" name="PlaceHolder 2"/>
          <p:cNvSpPr>
            <a:spLocks noGrp="1"/>
          </p:cNvSpPr>
          <p:nvPr>
            <p:ph type="sldImg"/>
          </p:nvPr>
        </p:nvSpPr>
        <p:spPr>
          <a:xfrm>
            <a:off x="1143000" y="685800"/>
            <a:ext cx="4571640" cy="3428640"/>
          </a:xfrm>
          <a:prstGeom prst="rect">
            <a:avLst/>
          </a:prstGeom>
          <a:ln w="0">
            <a:noFill/>
          </a:ln>
        </p:spPr>
      </p:sp>
      <p:sp>
        <p:nvSpPr>
          <p:cNvPr id="69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9" name="PlaceHolder 1"/>
          <p:cNvSpPr>
            <a:spLocks noGrp="1"/>
          </p:cNvSpPr>
          <p:nvPr>
            <p:ph type="sldNum" idx="5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29939DA5-3603-4CD3-93C3-DDCF078864F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00" name="PlaceHolder 2"/>
          <p:cNvSpPr>
            <a:spLocks noGrp="1"/>
          </p:cNvSpPr>
          <p:nvPr>
            <p:ph type="sldImg"/>
          </p:nvPr>
        </p:nvSpPr>
        <p:spPr>
          <a:xfrm>
            <a:off x="1143000" y="685800"/>
            <a:ext cx="4571640" cy="3428640"/>
          </a:xfrm>
          <a:prstGeom prst="rect">
            <a:avLst/>
          </a:prstGeom>
          <a:ln w="0">
            <a:noFill/>
          </a:ln>
        </p:spPr>
      </p:sp>
      <p:sp>
        <p:nvSpPr>
          <p:cNvPr id="70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100000"/>
              </a:lnSpc>
              <a:buNone/>
            </a:pPr>
            <a:r>
              <a:rPr b="0" lang="en-US" sz="2000" strike="noStrike" u="none">
                <a:solidFill>
                  <a:srgbClr val="000000"/>
                </a:solidFill>
                <a:effectLst/>
                <a:uFillTx/>
                <a:latin typeface="Arial"/>
              </a:rPr>
              <a:t>Explain to students that the source of the inefficiency of a monopoly’s output and pricing decision arises from the absence of competition in the market, rather than any change in the behavioral assumptions about the firm owners. The intentions of a monopoly are the same as a competitive firm – maximize profit. So, “Mom and Pop,” the owners of a perfectly competitive firm, are maximizing their profit as surely as the owners of a monopoly. </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2" name="PlaceHolder 1"/>
          <p:cNvSpPr>
            <a:spLocks noGrp="1"/>
          </p:cNvSpPr>
          <p:nvPr>
            <p:ph type="sldNum" idx="5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DE7BD935-B833-47C3-9D13-AB2597FE9C3A}"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03" name="PlaceHolder 2"/>
          <p:cNvSpPr>
            <a:spLocks noGrp="1"/>
          </p:cNvSpPr>
          <p:nvPr>
            <p:ph type="sldImg"/>
          </p:nvPr>
        </p:nvSpPr>
        <p:spPr>
          <a:xfrm>
            <a:off x="1143000" y="685800"/>
            <a:ext cx="4571640" cy="3428640"/>
          </a:xfrm>
          <a:prstGeom prst="rect">
            <a:avLst/>
          </a:prstGeom>
          <a:ln w="0">
            <a:noFill/>
          </a:ln>
        </p:spPr>
      </p:sp>
      <p:sp>
        <p:nvSpPr>
          <p:cNvPr id="70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5" name="PlaceHolder 1"/>
          <p:cNvSpPr>
            <a:spLocks noGrp="1"/>
          </p:cNvSpPr>
          <p:nvPr>
            <p:ph type="sldNum" idx="5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6953BC36-B5BB-4B1D-8CAA-70DB4BCF787B}"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06" name="PlaceHolder 2"/>
          <p:cNvSpPr>
            <a:spLocks noGrp="1"/>
          </p:cNvSpPr>
          <p:nvPr>
            <p:ph type="sldImg"/>
          </p:nvPr>
        </p:nvSpPr>
        <p:spPr>
          <a:xfrm>
            <a:off x="1143000" y="685800"/>
            <a:ext cx="4571640" cy="3428640"/>
          </a:xfrm>
          <a:prstGeom prst="rect">
            <a:avLst/>
          </a:prstGeom>
          <a:ln w="0">
            <a:noFill/>
          </a:ln>
        </p:spPr>
      </p:sp>
      <p:sp>
        <p:nvSpPr>
          <p:cNvPr id="70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8" name="PlaceHolder 1"/>
          <p:cNvSpPr>
            <a:spLocks noGrp="1"/>
          </p:cNvSpPr>
          <p:nvPr>
            <p:ph type="sldNum" idx="5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33B18BC3-A8A5-4734-9183-AED6A64FAA75}"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09" name="PlaceHolder 2"/>
          <p:cNvSpPr>
            <a:spLocks noGrp="1"/>
          </p:cNvSpPr>
          <p:nvPr>
            <p:ph type="sldImg"/>
          </p:nvPr>
        </p:nvSpPr>
        <p:spPr>
          <a:xfrm>
            <a:off x="1143000" y="685800"/>
            <a:ext cx="4571640" cy="3428640"/>
          </a:xfrm>
          <a:prstGeom prst="rect">
            <a:avLst/>
          </a:prstGeom>
          <a:ln w="0">
            <a:noFill/>
          </a:ln>
        </p:spPr>
      </p:sp>
      <p:sp>
        <p:nvSpPr>
          <p:cNvPr id="71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1" name="PlaceHolder 1"/>
          <p:cNvSpPr>
            <a:spLocks noGrp="1"/>
          </p:cNvSpPr>
          <p:nvPr>
            <p:ph type="sldNum" idx="5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96B888C1-3097-454B-9B47-87226E68F4C7}"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12" name="PlaceHolder 2"/>
          <p:cNvSpPr>
            <a:spLocks noGrp="1"/>
          </p:cNvSpPr>
          <p:nvPr>
            <p:ph type="sldImg"/>
          </p:nvPr>
        </p:nvSpPr>
        <p:spPr>
          <a:xfrm>
            <a:off x="1143000" y="685800"/>
            <a:ext cx="4571640" cy="3428640"/>
          </a:xfrm>
          <a:prstGeom prst="rect">
            <a:avLst/>
          </a:prstGeom>
          <a:ln w="0">
            <a:noFill/>
          </a:ln>
        </p:spPr>
      </p:sp>
      <p:sp>
        <p:nvSpPr>
          <p:cNvPr id="71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4" name="PlaceHolder 1"/>
          <p:cNvSpPr>
            <a:spLocks noGrp="1"/>
          </p:cNvSpPr>
          <p:nvPr>
            <p:ph type="sldNum" idx="5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CD734760-BD8D-43E1-811C-1D249ECFA3AF}"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15" name="PlaceHolder 2"/>
          <p:cNvSpPr>
            <a:spLocks noGrp="1"/>
          </p:cNvSpPr>
          <p:nvPr>
            <p:ph type="sldImg"/>
          </p:nvPr>
        </p:nvSpPr>
        <p:spPr>
          <a:xfrm>
            <a:off x="1143000" y="685800"/>
            <a:ext cx="4571640" cy="3428640"/>
          </a:xfrm>
          <a:prstGeom prst="rect">
            <a:avLst/>
          </a:prstGeom>
          <a:ln w="0">
            <a:noFill/>
          </a:ln>
        </p:spPr>
      </p:sp>
      <p:sp>
        <p:nvSpPr>
          <p:cNvPr id="71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7" name="PlaceHolder 1"/>
          <p:cNvSpPr>
            <a:spLocks noGrp="1"/>
          </p:cNvSpPr>
          <p:nvPr>
            <p:ph type="sldNum" idx="5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268DF39D-9798-4F2A-BEE5-DA36E31587AB}"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18" name="PlaceHolder 2"/>
          <p:cNvSpPr>
            <a:spLocks noGrp="1"/>
          </p:cNvSpPr>
          <p:nvPr>
            <p:ph type="sldImg"/>
          </p:nvPr>
        </p:nvSpPr>
        <p:spPr>
          <a:xfrm>
            <a:off x="1143000" y="685800"/>
            <a:ext cx="4571640" cy="3428640"/>
          </a:xfrm>
          <a:prstGeom prst="rect">
            <a:avLst/>
          </a:prstGeom>
          <a:ln w="0">
            <a:noFill/>
          </a:ln>
        </p:spPr>
      </p:sp>
      <p:sp>
        <p:nvSpPr>
          <p:cNvPr id="71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0" name="PlaceHolder 1"/>
          <p:cNvSpPr>
            <a:spLocks noGrp="1"/>
          </p:cNvSpPr>
          <p:nvPr>
            <p:ph type="sldNum" idx="6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F6272C7E-1327-4113-BAF8-17C48F320426}"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21" name="PlaceHolder 2"/>
          <p:cNvSpPr>
            <a:spLocks noGrp="1"/>
          </p:cNvSpPr>
          <p:nvPr>
            <p:ph type="sldImg"/>
          </p:nvPr>
        </p:nvSpPr>
        <p:spPr>
          <a:xfrm>
            <a:off x="1143000" y="685800"/>
            <a:ext cx="4571640" cy="3428640"/>
          </a:xfrm>
          <a:prstGeom prst="rect">
            <a:avLst/>
          </a:prstGeom>
          <a:ln w="0">
            <a:noFill/>
          </a:ln>
        </p:spPr>
      </p:sp>
      <p:sp>
        <p:nvSpPr>
          <p:cNvPr id="72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3" name="PlaceHolder 1"/>
          <p:cNvSpPr>
            <a:spLocks noGrp="1"/>
          </p:cNvSpPr>
          <p:nvPr>
            <p:ph type="sldNum" idx="6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A191F017-9ADD-4529-8953-EEF9E7BAAF49}"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24" name="PlaceHolder 2"/>
          <p:cNvSpPr>
            <a:spLocks noGrp="1"/>
          </p:cNvSpPr>
          <p:nvPr>
            <p:ph type="sldImg"/>
          </p:nvPr>
        </p:nvSpPr>
        <p:spPr>
          <a:xfrm>
            <a:off x="1143000" y="685800"/>
            <a:ext cx="4571640" cy="3428640"/>
          </a:xfrm>
          <a:prstGeom prst="rect">
            <a:avLst/>
          </a:prstGeom>
          <a:ln w="0">
            <a:noFill/>
          </a:ln>
        </p:spPr>
      </p:sp>
      <p:sp>
        <p:nvSpPr>
          <p:cNvPr id="72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6" name="PlaceHolder 1"/>
          <p:cNvSpPr>
            <a:spLocks noGrp="1"/>
          </p:cNvSpPr>
          <p:nvPr>
            <p:ph type="sldNum" idx="6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98939A7E-D1E4-473E-B7D9-ACF00ECBD46E}"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27" name="PlaceHolder 2"/>
          <p:cNvSpPr>
            <a:spLocks noGrp="1"/>
          </p:cNvSpPr>
          <p:nvPr>
            <p:ph type="sldImg"/>
          </p:nvPr>
        </p:nvSpPr>
        <p:spPr>
          <a:xfrm>
            <a:off x="1143000" y="685800"/>
            <a:ext cx="4571640" cy="3428640"/>
          </a:xfrm>
          <a:prstGeom prst="rect">
            <a:avLst/>
          </a:prstGeom>
          <a:ln w="0">
            <a:noFill/>
          </a:ln>
        </p:spPr>
      </p:sp>
      <p:sp>
        <p:nvSpPr>
          <p:cNvPr id="72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9" name="PlaceHolder 1"/>
          <p:cNvSpPr>
            <a:spLocks noGrp="1"/>
          </p:cNvSpPr>
          <p:nvPr>
            <p:ph type="sldNum" idx="6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E10FCE9D-2393-465C-877D-B0272E886988}"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30" name="PlaceHolder 2"/>
          <p:cNvSpPr>
            <a:spLocks noGrp="1"/>
          </p:cNvSpPr>
          <p:nvPr>
            <p:ph type="sldImg"/>
          </p:nvPr>
        </p:nvSpPr>
        <p:spPr>
          <a:xfrm>
            <a:off x="1143000" y="685800"/>
            <a:ext cx="4571640" cy="3428640"/>
          </a:xfrm>
          <a:prstGeom prst="rect">
            <a:avLst/>
          </a:prstGeom>
          <a:ln w="0">
            <a:noFill/>
          </a:ln>
        </p:spPr>
      </p:sp>
      <p:sp>
        <p:nvSpPr>
          <p:cNvPr id="73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2" name="PlaceHolder 1"/>
          <p:cNvSpPr>
            <a:spLocks noGrp="1"/>
          </p:cNvSpPr>
          <p:nvPr>
            <p:ph type="sldNum" idx="6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F25DA09B-64F0-4E72-B391-47B1120890D5}"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33" name="PlaceHolder 2"/>
          <p:cNvSpPr>
            <a:spLocks noGrp="1"/>
          </p:cNvSpPr>
          <p:nvPr>
            <p:ph type="sldImg"/>
          </p:nvPr>
        </p:nvSpPr>
        <p:spPr>
          <a:xfrm>
            <a:off x="1143000" y="685800"/>
            <a:ext cx="4571640" cy="3428640"/>
          </a:xfrm>
          <a:prstGeom prst="rect">
            <a:avLst/>
          </a:prstGeom>
          <a:ln w="0">
            <a:noFill/>
          </a:ln>
        </p:spPr>
      </p:sp>
      <p:sp>
        <p:nvSpPr>
          <p:cNvPr id="734" name="PlaceHolder 3"/>
          <p:cNvSpPr>
            <a:spLocks noGrp="1"/>
          </p:cNvSpPr>
          <p:nvPr>
            <p:ph type="body"/>
          </p:nvPr>
        </p:nvSpPr>
        <p:spPr>
          <a:xfrm>
            <a:off x="914400" y="4343400"/>
            <a:ext cx="5028840" cy="4343040"/>
          </a:xfrm>
          <a:prstGeom prst="rect">
            <a:avLst/>
          </a:prstGeom>
          <a:noFill/>
          <a:ln w="0">
            <a:noFill/>
          </a:ln>
        </p:spPr>
        <p:txBody>
          <a:bodyPr numCol="1" spcCol="0" lIns="91440" rIns="91440" tIns="45720" bIns="45720" anchor="t">
            <a:noAutofit/>
          </a:bodyPr>
          <a:p>
            <a:pPr indent="0">
              <a:lnSpc>
                <a:spcPct val="100000"/>
              </a:lnSpc>
              <a:buNone/>
            </a:pPr>
            <a:r>
              <a:rPr b="0" lang="en-US" sz="2000" strike="noStrike" u="none">
                <a:solidFill>
                  <a:srgbClr val="000000"/>
                </a:solidFill>
                <a:effectLst/>
                <a:uFillTx/>
                <a:latin typeface="Arial"/>
              </a:rPr>
              <a:t>Students find price discrimination very interesting, so take advantage of that by getting them to brainstorm examples and discuss those as a class. Outside of movie tickets (matinee pricing, student/senior/child discounts), air travel (14-day window for business/emergency vs. leisure travelers), and haircuts (age, gender?). Here is one:</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The “Pink Tax”: Many consumer products and services (dry cleaning, shaving cream, razors, deodorant, lotion, shampoo, conditioner, etc) have higher prices for women’s versions than for the generally equivalent men’s versions. These price differentials do not reflect differences in production costs, but instead are examples of price discrimination. </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5" name="PlaceHolder 1"/>
          <p:cNvSpPr>
            <a:spLocks noGrp="1"/>
          </p:cNvSpPr>
          <p:nvPr>
            <p:ph type="sldNum" idx="6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C65DD604-E038-46E5-942A-C8D8D3DAB7FF}"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36" name="PlaceHolder 2"/>
          <p:cNvSpPr>
            <a:spLocks noGrp="1"/>
          </p:cNvSpPr>
          <p:nvPr>
            <p:ph type="sldImg"/>
          </p:nvPr>
        </p:nvSpPr>
        <p:spPr>
          <a:xfrm>
            <a:off x="1143000" y="685800"/>
            <a:ext cx="4571640" cy="3428640"/>
          </a:xfrm>
          <a:prstGeom prst="rect">
            <a:avLst/>
          </a:prstGeom>
          <a:ln w="0">
            <a:noFill/>
          </a:ln>
        </p:spPr>
      </p:sp>
      <p:sp>
        <p:nvSpPr>
          <p:cNvPr id="73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PlaceHolder 1"/>
          <p:cNvSpPr>
            <a:spLocks noGrp="1"/>
          </p:cNvSpPr>
          <p:nvPr>
            <p:ph type="sldNum" idx="6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9057F44A-E79B-4FE7-9C2E-958804DA63CD}"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39" name="PlaceHolder 2"/>
          <p:cNvSpPr>
            <a:spLocks noGrp="1"/>
          </p:cNvSpPr>
          <p:nvPr>
            <p:ph type="sldImg"/>
          </p:nvPr>
        </p:nvSpPr>
        <p:spPr>
          <a:xfrm>
            <a:off x="1143000" y="685800"/>
            <a:ext cx="4571640" cy="3428640"/>
          </a:xfrm>
          <a:prstGeom prst="rect">
            <a:avLst/>
          </a:prstGeom>
          <a:ln w="0">
            <a:noFill/>
          </a:ln>
        </p:spPr>
      </p:sp>
      <p:sp>
        <p:nvSpPr>
          <p:cNvPr id="74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1" name="PlaceHolder 1"/>
          <p:cNvSpPr>
            <a:spLocks noGrp="1"/>
          </p:cNvSpPr>
          <p:nvPr>
            <p:ph type="sldNum" idx="6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D5B92D31-8D48-45D5-B2C6-4870B6E92FB4}"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42" name="PlaceHolder 2"/>
          <p:cNvSpPr>
            <a:spLocks noGrp="1"/>
          </p:cNvSpPr>
          <p:nvPr>
            <p:ph type="sldImg"/>
          </p:nvPr>
        </p:nvSpPr>
        <p:spPr>
          <a:xfrm>
            <a:off x="1143000" y="685800"/>
            <a:ext cx="4571640" cy="3428640"/>
          </a:xfrm>
          <a:prstGeom prst="rect">
            <a:avLst/>
          </a:prstGeom>
          <a:ln w="0">
            <a:noFill/>
          </a:ln>
        </p:spPr>
      </p:sp>
      <p:sp>
        <p:nvSpPr>
          <p:cNvPr id="74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4" name="PlaceHolder 1"/>
          <p:cNvSpPr>
            <a:spLocks noGrp="1"/>
          </p:cNvSpPr>
          <p:nvPr>
            <p:ph type="sldNum" idx="6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7A17FAD8-4677-49B2-BA1A-2A8CAFE1B859}"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45" name="PlaceHolder 2"/>
          <p:cNvSpPr>
            <a:spLocks noGrp="1"/>
          </p:cNvSpPr>
          <p:nvPr>
            <p:ph type="sldImg"/>
          </p:nvPr>
        </p:nvSpPr>
        <p:spPr>
          <a:xfrm>
            <a:off x="1143000" y="685800"/>
            <a:ext cx="4571640" cy="3428640"/>
          </a:xfrm>
          <a:prstGeom prst="rect">
            <a:avLst/>
          </a:prstGeom>
          <a:ln w="0">
            <a:noFill/>
          </a:ln>
        </p:spPr>
      </p:sp>
      <p:sp>
        <p:nvSpPr>
          <p:cNvPr id="74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7" name="PlaceHolder 1"/>
          <p:cNvSpPr>
            <a:spLocks noGrp="1"/>
          </p:cNvSpPr>
          <p:nvPr>
            <p:ph type="sldNum" idx="6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B3336267-65E5-42C9-8F62-F6BEEB6D1D20}"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48" name="PlaceHolder 2"/>
          <p:cNvSpPr>
            <a:spLocks noGrp="1"/>
          </p:cNvSpPr>
          <p:nvPr>
            <p:ph type="sldImg"/>
          </p:nvPr>
        </p:nvSpPr>
        <p:spPr>
          <a:xfrm>
            <a:off x="1143000" y="685800"/>
            <a:ext cx="4571640" cy="3428640"/>
          </a:xfrm>
          <a:prstGeom prst="rect">
            <a:avLst/>
          </a:prstGeom>
          <a:ln w="0">
            <a:noFill/>
          </a:ln>
        </p:spPr>
      </p:sp>
      <p:sp>
        <p:nvSpPr>
          <p:cNvPr id="74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0" name="PlaceHolder 1"/>
          <p:cNvSpPr>
            <a:spLocks noGrp="1"/>
          </p:cNvSpPr>
          <p:nvPr>
            <p:ph type="sldNum" idx="7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8998AB2B-6D91-4987-A172-90EC8521667B}"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51" name="PlaceHolder 2"/>
          <p:cNvSpPr>
            <a:spLocks noGrp="1"/>
          </p:cNvSpPr>
          <p:nvPr>
            <p:ph type="sldImg"/>
          </p:nvPr>
        </p:nvSpPr>
        <p:spPr>
          <a:xfrm>
            <a:off x="1143000" y="685800"/>
            <a:ext cx="4571640" cy="3428640"/>
          </a:xfrm>
          <a:prstGeom prst="rect">
            <a:avLst/>
          </a:prstGeom>
          <a:ln w="0">
            <a:noFill/>
          </a:ln>
        </p:spPr>
      </p:sp>
      <p:sp>
        <p:nvSpPr>
          <p:cNvPr id="75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3" name="PlaceHolder 1"/>
          <p:cNvSpPr>
            <a:spLocks noGrp="1"/>
          </p:cNvSpPr>
          <p:nvPr>
            <p:ph type="sldNum" idx="7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247EC512-D2A2-400F-84A3-706FED98AD8E}"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54" name="PlaceHolder 2"/>
          <p:cNvSpPr>
            <a:spLocks noGrp="1"/>
          </p:cNvSpPr>
          <p:nvPr>
            <p:ph type="sldImg"/>
          </p:nvPr>
        </p:nvSpPr>
        <p:spPr>
          <a:xfrm>
            <a:off x="1143000" y="685800"/>
            <a:ext cx="4571640" cy="3428640"/>
          </a:xfrm>
          <a:prstGeom prst="rect">
            <a:avLst/>
          </a:prstGeom>
          <a:ln w="0">
            <a:noFill/>
          </a:ln>
        </p:spPr>
      </p:sp>
      <p:sp>
        <p:nvSpPr>
          <p:cNvPr id="75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6" name="PlaceHolder 1"/>
          <p:cNvSpPr>
            <a:spLocks noGrp="1"/>
          </p:cNvSpPr>
          <p:nvPr>
            <p:ph type="sldNum" idx="7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D7B9C8DE-ACDE-41A1-8C2B-98D64E9C565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57" name="PlaceHolder 2"/>
          <p:cNvSpPr>
            <a:spLocks noGrp="1"/>
          </p:cNvSpPr>
          <p:nvPr>
            <p:ph type="sldImg"/>
          </p:nvPr>
        </p:nvSpPr>
        <p:spPr>
          <a:xfrm>
            <a:off x="1143000" y="685800"/>
            <a:ext cx="4571640" cy="3428640"/>
          </a:xfrm>
          <a:prstGeom prst="rect">
            <a:avLst/>
          </a:prstGeom>
          <a:ln w="0">
            <a:noFill/>
          </a:ln>
        </p:spPr>
      </p:sp>
      <p:sp>
        <p:nvSpPr>
          <p:cNvPr id="75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9" name="PlaceHolder 1"/>
          <p:cNvSpPr>
            <a:spLocks noGrp="1"/>
          </p:cNvSpPr>
          <p:nvPr>
            <p:ph type="sldNum" idx="7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1FF2EBCB-0BCD-47E0-A7F5-A35018D64F78}"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60" name="PlaceHolder 2"/>
          <p:cNvSpPr>
            <a:spLocks noGrp="1"/>
          </p:cNvSpPr>
          <p:nvPr>
            <p:ph type="sldImg"/>
          </p:nvPr>
        </p:nvSpPr>
        <p:spPr>
          <a:xfrm>
            <a:off x="1143000" y="685800"/>
            <a:ext cx="4571640" cy="3428640"/>
          </a:xfrm>
          <a:prstGeom prst="rect">
            <a:avLst/>
          </a:prstGeom>
          <a:ln w="0">
            <a:noFill/>
          </a:ln>
        </p:spPr>
      </p:sp>
      <p:sp>
        <p:nvSpPr>
          <p:cNvPr id="76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2" name="PlaceHolder 1"/>
          <p:cNvSpPr>
            <a:spLocks noGrp="1"/>
          </p:cNvSpPr>
          <p:nvPr>
            <p:ph type="sldNum" idx="7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66B804F3-2A7D-469F-82C7-98248E143A60}"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63" name="PlaceHolder 2"/>
          <p:cNvSpPr>
            <a:spLocks noGrp="1"/>
          </p:cNvSpPr>
          <p:nvPr>
            <p:ph type="sldImg"/>
          </p:nvPr>
        </p:nvSpPr>
        <p:spPr>
          <a:xfrm>
            <a:off x="1143000" y="685800"/>
            <a:ext cx="4571640" cy="3428640"/>
          </a:xfrm>
          <a:prstGeom prst="rect">
            <a:avLst/>
          </a:prstGeom>
          <a:ln w="0">
            <a:noFill/>
          </a:ln>
        </p:spPr>
      </p:sp>
      <p:sp>
        <p:nvSpPr>
          <p:cNvPr id="76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5" name="PlaceHolder 1"/>
          <p:cNvSpPr>
            <a:spLocks noGrp="1"/>
          </p:cNvSpPr>
          <p:nvPr>
            <p:ph type="sldNum" idx="7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030AC6D-10B6-4768-9D57-4A7067DACC89}"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66" name="PlaceHolder 2"/>
          <p:cNvSpPr>
            <a:spLocks noGrp="1"/>
          </p:cNvSpPr>
          <p:nvPr>
            <p:ph type="sldImg"/>
          </p:nvPr>
        </p:nvSpPr>
        <p:spPr>
          <a:xfrm>
            <a:off x="1143000" y="685800"/>
            <a:ext cx="4571640" cy="3428640"/>
          </a:xfrm>
          <a:prstGeom prst="rect">
            <a:avLst/>
          </a:prstGeom>
          <a:ln w="0">
            <a:noFill/>
          </a:ln>
        </p:spPr>
      </p:sp>
      <p:sp>
        <p:nvSpPr>
          <p:cNvPr id="76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8" name="PlaceHolder 1"/>
          <p:cNvSpPr>
            <a:spLocks noGrp="1"/>
          </p:cNvSpPr>
          <p:nvPr>
            <p:ph type="sldNum" idx="7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F1B8C59B-0077-4F65-9C69-DE49F9F333AC}"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69" name="PlaceHolder 2"/>
          <p:cNvSpPr>
            <a:spLocks noGrp="1"/>
          </p:cNvSpPr>
          <p:nvPr>
            <p:ph type="sldImg"/>
          </p:nvPr>
        </p:nvSpPr>
        <p:spPr>
          <a:xfrm>
            <a:off x="1143000" y="685800"/>
            <a:ext cx="4571640" cy="3428640"/>
          </a:xfrm>
          <a:prstGeom prst="rect">
            <a:avLst/>
          </a:prstGeom>
          <a:ln w="0">
            <a:noFill/>
          </a:ln>
        </p:spPr>
      </p:sp>
      <p:sp>
        <p:nvSpPr>
          <p:cNvPr id="77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1" name="PlaceHolder 1"/>
          <p:cNvSpPr>
            <a:spLocks noGrp="1"/>
          </p:cNvSpPr>
          <p:nvPr>
            <p:ph type="sldNum" idx="7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0D2D0956-A0BD-4FC3-A368-4AB7C8DAD446}"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72" name="PlaceHolder 2"/>
          <p:cNvSpPr>
            <a:spLocks noGrp="1"/>
          </p:cNvSpPr>
          <p:nvPr>
            <p:ph type="sldImg"/>
          </p:nvPr>
        </p:nvSpPr>
        <p:spPr>
          <a:xfrm>
            <a:off x="1143000" y="685800"/>
            <a:ext cx="4571640" cy="3428640"/>
          </a:xfrm>
          <a:prstGeom prst="rect">
            <a:avLst/>
          </a:prstGeom>
          <a:ln w="0">
            <a:noFill/>
          </a:ln>
        </p:spPr>
      </p:sp>
      <p:sp>
        <p:nvSpPr>
          <p:cNvPr id="77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100000"/>
              </a:lnSpc>
              <a:buNone/>
            </a:pPr>
            <a:r>
              <a:rPr b="0" lang="en-AU" sz="2000" strike="noStrike" u="none">
                <a:solidFill>
                  <a:srgbClr val="000000"/>
                </a:solidFill>
                <a:effectLst/>
                <a:uFillTx/>
                <a:latin typeface="Times New Roman"/>
                <a:ea typeface="ＭＳ Ｐゴシック"/>
              </a:rPr>
              <a:t>Get your students to go to Federal Register Web site, located at www.archives.gov/federal_register/the_federal_register/indexes.html. They (and you) will be amazed at the volume and detail of regulatory activity, almost all of which has an economic dimension and impact. There is no free lunch in regulating firms and industries that embody market power. Make the issue of industry regulation intriguing for the students by emphasizing the following countervailing opportunity costs that arise in regulating the firms in those industries that are creating a market failure.</a:t>
            </a:r>
            <a:r>
              <a:rPr b="0" lang="en-GB" sz="2000" strike="noStrike" u="none">
                <a:solidFill>
                  <a:srgbClr val="000000"/>
                </a:solidFill>
                <a:effectLst/>
                <a:uFillTx/>
                <a:latin typeface="Times New Roman"/>
                <a:ea typeface="ＭＳ Ｐゴシック"/>
              </a:rPr>
              <a:t> </a:t>
            </a:r>
            <a:endParaRPr b="0" lang="en-US" sz="2000" strike="noStrike" u="none">
              <a:solidFill>
                <a:srgbClr val="000000"/>
              </a:solidFill>
              <a:effectLst/>
              <a:uFillTx/>
              <a:latin typeface="Arial"/>
            </a:endParaRPr>
          </a:p>
        </p:txBody>
      </p:sp>
    </p:spTree>
  </p:cSld>
</p:notes>
</file>

<file path=ppt/notesSlides/notesSlide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4" name="PlaceHolder 1"/>
          <p:cNvSpPr>
            <a:spLocks noGrp="1"/>
          </p:cNvSpPr>
          <p:nvPr>
            <p:ph type="sldNum" idx="7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F1ADF009-6CD2-41EC-BBFD-2E5323BD0AA7}"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75" name="PlaceHolder 2"/>
          <p:cNvSpPr>
            <a:spLocks noGrp="1"/>
          </p:cNvSpPr>
          <p:nvPr>
            <p:ph type="sldImg"/>
          </p:nvPr>
        </p:nvSpPr>
        <p:spPr>
          <a:xfrm>
            <a:off x="1143000" y="685800"/>
            <a:ext cx="4571640" cy="3428640"/>
          </a:xfrm>
          <a:prstGeom prst="rect">
            <a:avLst/>
          </a:prstGeom>
          <a:ln w="0">
            <a:noFill/>
          </a:ln>
        </p:spPr>
      </p:sp>
      <p:sp>
        <p:nvSpPr>
          <p:cNvPr id="77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7" name="PlaceHolder 1"/>
          <p:cNvSpPr>
            <a:spLocks noGrp="1"/>
          </p:cNvSpPr>
          <p:nvPr>
            <p:ph type="sldNum" idx="7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FFE74112-57B8-4A34-BF10-F1A677277ABB}"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78" name="PlaceHolder 2"/>
          <p:cNvSpPr>
            <a:spLocks noGrp="1"/>
          </p:cNvSpPr>
          <p:nvPr>
            <p:ph type="sldImg"/>
          </p:nvPr>
        </p:nvSpPr>
        <p:spPr>
          <a:xfrm>
            <a:off x="1143000" y="685800"/>
            <a:ext cx="4571640" cy="3428640"/>
          </a:xfrm>
          <a:prstGeom prst="rect">
            <a:avLst/>
          </a:prstGeom>
          <a:ln w="0">
            <a:noFill/>
          </a:ln>
        </p:spPr>
      </p:sp>
      <p:sp>
        <p:nvSpPr>
          <p:cNvPr id="77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100000"/>
              </a:lnSpc>
              <a:buNone/>
            </a:pPr>
            <a:r>
              <a:rPr b="0" lang="en-AU" sz="2000" strike="noStrike" u="none">
                <a:solidFill>
                  <a:srgbClr val="000000"/>
                </a:solidFill>
                <a:effectLst/>
                <a:uFillTx/>
                <a:latin typeface="Times New Roman"/>
                <a:ea typeface="ＭＳ Ｐゴシック"/>
              </a:rPr>
              <a:t>Emphasize the tension between the potential for efficiency in production inherent with a natural monopoly and the inefficiency potential from the firm exercising its inherent market power. Be sure the students understand that economies of scale or scope enable the unregulated natural monopoly to provide products and services at the lowest possible cost, but the lack of competition also enables the firm to increase producer surplus at the expense of consumer surplus and creates a significant deadweight loss to society.</a:t>
            </a:r>
            <a:r>
              <a:rPr b="0" lang="en-GB" sz="2000" strike="noStrike" u="none">
                <a:solidFill>
                  <a:srgbClr val="000000"/>
                </a:solidFill>
                <a:effectLst/>
                <a:uFillTx/>
                <a:latin typeface="Times New Roman"/>
                <a:ea typeface="ＭＳ Ｐゴシック"/>
              </a:rPr>
              <a:t> </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p:txBody>
      </p:sp>
    </p:spTree>
  </p:cSld>
</p:notes>
</file>

<file path=ppt/notesSlides/notesSlide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0" name="PlaceHolder 1"/>
          <p:cNvSpPr>
            <a:spLocks noGrp="1"/>
          </p:cNvSpPr>
          <p:nvPr>
            <p:ph type="sldNum" idx="8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2439150-D4F9-45C9-8FE9-6A5EA2D772C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81" name="PlaceHolder 2"/>
          <p:cNvSpPr>
            <a:spLocks noGrp="1"/>
          </p:cNvSpPr>
          <p:nvPr>
            <p:ph type="sldImg"/>
          </p:nvPr>
        </p:nvSpPr>
        <p:spPr>
          <a:xfrm>
            <a:off x="1143000" y="685800"/>
            <a:ext cx="4571640" cy="3428640"/>
          </a:xfrm>
          <a:prstGeom prst="rect">
            <a:avLst/>
          </a:prstGeom>
          <a:ln w="0">
            <a:noFill/>
          </a:ln>
        </p:spPr>
      </p:sp>
      <p:sp>
        <p:nvSpPr>
          <p:cNvPr id="78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3" name="PlaceHolder 1"/>
          <p:cNvSpPr>
            <a:spLocks noGrp="1"/>
          </p:cNvSpPr>
          <p:nvPr>
            <p:ph type="sldNum" idx="8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E538FC03-73F2-4805-AA69-79D7E4188136}"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84" name="PlaceHolder 2"/>
          <p:cNvSpPr>
            <a:spLocks noGrp="1"/>
          </p:cNvSpPr>
          <p:nvPr>
            <p:ph type="sldImg"/>
          </p:nvPr>
        </p:nvSpPr>
        <p:spPr>
          <a:xfrm>
            <a:off x="1143000" y="685800"/>
            <a:ext cx="4571640" cy="3428640"/>
          </a:xfrm>
          <a:prstGeom prst="rect">
            <a:avLst/>
          </a:prstGeom>
          <a:ln w="0">
            <a:noFill/>
          </a:ln>
        </p:spPr>
      </p:sp>
      <p:sp>
        <p:nvSpPr>
          <p:cNvPr id="78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6" name="PlaceHolder 1"/>
          <p:cNvSpPr>
            <a:spLocks noGrp="1"/>
          </p:cNvSpPr>
          <p:nvPr>
            <p:ph type="sldNum" idx="8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25C71CF1-42BE-4064-A1CD-82C80D659427}"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87" name="PlaceHolder 2"/>
          <p:cNvSpPr>
            <a:spLocks noGrp="1"/>
          </p:cNvSpPr>
          <p:nvPr>
            <p:ph type="sldImg"/>
          </p:nvPr>
        </p:nvSpPr>
        <p:spPr>
          <a:xfrm>
            <a:off x="1143000" y="685800"/>
            <a:ext cx="4571640" cy="3428640"/>
          </a:xfrm>
          <a:prstGeom prst="rect">
            <a:avLst/>
          </a:prstGeom>
          <a:ln w="0">
            <a:noFill/>
          </a:ln>
        </p:spPr>
      </p:sp>
      <p:sp>
        <p:nvSpPr>
          <p:cNvPr id="78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9" name="PlaceHolder 1"/>
          <p:cNvSpPr>
            <a:spLocks noGrp="1"/>
          </p:cNvSpPr>
          <p:nvPr>
            <p:ph type="sldNum" idx="8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97D70755-B981-43F5-989B-849E05A54125}"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90" name="PlaceHolder 2"/>
          <p:cNvSpPr>
            <a:spLocks noGrp="1"/>
          </p:cNvSpPr>
          <p:nvPr>
            <p:ph type="sldImg"/>
          </p:nvPr>
        </p:nvSpPr>
        <p:spPr>
          <a:xfrm>
            <a:off x="1143000" y="685800"/>
            <a:ext cx="4571640" cy="3428640"/>
          </a:xfrm>
          <a:prstGeom prst="rect">
            <a:avLst/>
          </a:prstGeom>
          <a:ln w="0">
            <a:noFill/>
          </a:ln>
        </p:spPr>
      </p:sp>
      <p:sp>
        <p:nvSpPr>
          <p:cNvPr id="79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8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2" name="PlaceHolder 1"/>
          <p:cNvSpPr>
            <a:spLocks noGrp="1"/>
          </p:cNvSpPr>
          <p:nvPr>
            <p:ph type="sldNum" idx="8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F927F9CE-4823-49FA-8BB6-8F12782A5018}"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93" name="PlaceHolder 2"/>
          <p:cNvSpPr>
            <a:spLocks noGrp="1"/>
          </p:cNvSpPr>
          <p:nvPr>
            <p:ph type="sldImg"/>
          </p:nvPr>
        </p:nvSpPr>
        <p:spPr>
          <a:xfrm>
            <a:off x="1143000" y="685800"/>
            <a:ext cx="4571640" cy="3428640"/>
          </a:xfrm>
          <a:prstGeom prst="rect">
            <a:avLst/>
          </a:prstGeom>
          <a:ln w="0">
            <a:noFill/>
          </a:ln>
        </p:spPr>
      </p:sp>
      <p:sp>
        <p:nvSpPr>
          <p:cNvPr id="79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100000"/>
              </a:lnSpc>
              <a:buNone/>
            </a:pPr>
            <a:r>
              <a:rPr b="0" lang="en-AU" sz="2000" strike="noStrike" u="none">
                <a:solidFill>
                  <a:srgbClr val="000000"/>
                </a:solidFill>
                <a:effectLst/>
                <a:uFillTx/>
                <a:latin typeface="Times New Roman"/>
                <a:ea typeface="ＭＳ Ｐゴシック"/>
              </a:rPr>
              <a:t>To help present the differences between marginal cost pricing and average cost pricing, draw matching graphs side-by-side. Show students the prices that will be allowed by regulators. Ask students which regulation is “better.” Be sure to show your students that marginal cost pricing generates an economic loss even though output is at the competitive level.</a:t>
            </a:r>
            <a:r>
              <a:rPr b="0" lang="en-GB" sz="2000" strike="noStrike" u="none">
                <a:solidFill>
                  <a:srgbClr val="000000"/>
                </a:solidFill>
                <a:effectLst/>
                <a:uFillTx/>
                <a:latin typeface="Times New Roman"/>
                <a:ea typeface="ＭＳ Ｐゴシック"/>
              </a:rPr>
              <a:t> </a:t>
            </a:r>
            <a:endParaRPr b="0" lang="en-US" sz="2000" strike="noStrike" u="none">
              <a:solidFill>
                <a:srgbClr val="000000"/>
              </a:solidFill>
              <a:effectLst/>
              <a:uFillTx/>
              <a:latin typeface="Arial"/>
            </a:endParaRPr>
          </a:p>
        </p:txBody>
      </p:sp>
    </p:spTree>
  </p:cSld>
</p:notes>
</file>

<file path=ppt/notesSlides/notesSlide8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5" name="PlaceHolder 1"/>
          <p:cNvSpPr>
            <a:spLocks noGrp="1"/>
          </p:cNvSpPr>
          <p:nvPr>
            <p:ph type="sldNum" idx="8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F4F4AC67-8FB9-4D27-A30B-4676DA63D0E3}"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96" name="PlaceHolder 2"/>
          <p:cNvSpPr>
            <a:spLocks noGrp="1"/>
          </p:cNvSpPr>
          <p:nvPr>
            <p:ph type="sldImg"/>
          </p:nvPr>
        </p:nvSpPr>
        <p:spPr>
          <a:xfrm>
            <a:off x="1143000" y="685800"/>
            <a:ext cx="4571640" cy="3428640"/>
          </a:xfrm>
          <a:prstGeom prst="rect">
            <a:avLst/>
          </a:prstGeom>
          <a:ln w="0">
            <a:noFill/>
          </a:ln>
        </p:spPr>
      </p:sp>
      <p:sp>
        <p:nvSpPr>
          <p:cNvPr id="79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8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8" name="PlaceHolder 1"/>
          <p:cNvSpPr>
            <a:spLocks noGrp="1"/>
          </p:cNvSpPr>
          <p:nvPr>
            <p:ph type="sldNum" idx="8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00AC8CFD-F21F-4E94-9682-EADB37304895}"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799" name="PlaceHolder 2"/>
          <p:cNvSpPr>
            <a:spLocks noGrp="1"/>
          </p:cNvSpPr>
          <p:nvPr>
            <p:ph type="sldImg"/>
          </p:nvPr>
        </p:nvSpPr>
        <p:spPr>
          <a:xfrm>
            <a:off x="1143000" y="685800"/>
            <a:ext cx="4571640" cy="3428640"/>
          </a:xfrm>
          <a:prstGeom prst="rect">
            <a:avLst/>
          </a:prstGeom>
          <a:ln w="0">
            <a:noFill/>
          </a:ln>
        </p:spPr>
      </p:sp>
      <p:sp>
        <p:nvSpPr>
          <p:cNvPr id="80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1" name="PlaceHolder 1"/>
          <p:cNvSpPr>
            <a:spLocks noGrp="1"/>
          </p:cNvSpPr>
          <p:nvPr>
            <p:ph type="sldNum" idx="8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B0D1CC2B-FBBE-46E3-814A-5BA5296121F7}"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802" name="PlaceHolder 2"/>
          <p:cNvSpPr>
            <a:spLocks noGrp="1"/>
          </p:cNvSpPr>
          <p:nvPr>
            <p:ph type="sldImg"/>
          </p:nvPr>
        </p:nvSpPr>
        <p:spPr>
          <a:xfrm>
            <a:off x="1143000" y="685800"/>
            <a:ext cx="4571640" cy="3428640"/>
          </a:xfrm>
          <a:prstGeom prst="rect">
            <a:avLst/>
          </a:prstGeom>
          <a:ln w="0">
            <a:noFill/>
          </a:ln>
        </p:spPr>
      </p:sp>
      <p:sp>
        <p:nvSpPr>
          <p:cNvPr id="80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8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4" name="PlaceHolder 1"/>
          <p:cNvSpPr>
            <a:spLocks noGrp="1"/>
          </p:cNvSpPr>
          <p:nvPr>
            <p:ph type="sldNum" idx="8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FAA9BD4F-5914-443B-B210-F0C0656EBD63}"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805" name="PlaceHolder 2"/>
          <p:cNvSpPr>
            <a:spLocks noGrp="1"/>
          </p:cNvSpPr>
          <p:nvPr>
            <p:ph type="sldImg"/>
          </p:nvPr>
        </p:nvSpPr>
        <p:spPr>
          <a:xfrm>
            <a:off x="1143000" y="685800"/>
            <a:ext cx="4571640" cy="3428640"/>
          </a:xfrm>
          <a:prstGeom prst="rect">
            <a:avLst/>
          </a:prstGeom>
          <a:ln w="0">
            <a:noFill/>
          </a:ln>
        </p:spPr>
      </p:sp>
      <p:sp>
        <p:nvSpPr>
          <p:cNvPr id="80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8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7" name="PlaceHolder 1"/>
          <p:cNvSpPr>
            <a:spLocks noGrp="1"/>
          </p:cNvSpPr>
          <p:nvPr>
            <p:ph type="sldNum" idx="8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D89FFDB-12F1-44A3-8C6E-961F6EFFA0FA}"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808" name="PlaceHolder 2"/>
          <p:cNvSpPr>
            <a:spLocks noGrp="1"/>
          </p:cNvSpPr>
          <p:nvPr>
            <p:ph type="sldImg"/>
          </p:nvPr>
        </p:nvSpPr>
        <p:spPr>
          <a:xfrm>
            <a:off x="1143000" y="685800"/>
            <a:ext cx="4571640" cy="3428640"/>
          </a:xfrm>
          <a:prstGeom prst="rect">
            <a:avLst/>
          </a:prstGeom>
          <a:ln w="0">
            <a:noFill/>
          </a:ln>
        </p:spPr>
      </p:sp>
      <p:sp>
        <p:nvSpPr>
          <p:cNvPr id="80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8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0" name="PlaceHolder 1"/>
          <p:cNvSpPr>
            <a:spLocks noGrp="1"/>
          </p:cNvSpPr>
          <p:nvPr>
            <p:ph type="sldNum" idx="9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50F85952-C3B0-4724-9BC9-2C80D0501362}" type="slidenum">
              <a:rPr b="0" lang="en-CA" sz="1200" strike="noStrike" u="none">
                <a:solidFill>
                  <a:schemeClr val="dk1"/>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811" name="PlaceHolder 2"/>
          <p:cNvSpPr>
            <a:spLocks noGrp="1"/>
          </p:cNvSpPr>
          <p:nvPr>
            <p:ph type="sldImg"/>
          </p:nvPr>
        </p:nvSpPr>
        <p:spPr>
          <a:xfrm>
            <a:off x="1143000" y="685800"/>
            <a:ext cx="4571640" cy="3428640"/>
          </a:xfrm>
          <a:prstGeom prst="rect">
            <a:avLst/>
          </a:prstGeom>
          <a:ln w="0">
            <a:noFill/>
          </a:ln>
        </p:spPr>
      </p:sp>
      <p:sp>
        <p:nvSpPr>
          <p:cNvPr id="81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8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3" name="PlaceHolder 1"/>
          <p:cNvSpPr>
            <a:spLocks noGrp="1"/>
          </p:cNvSpPr>
          <p:nvPr>
            <p:ph type="sldNum" idx="9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rgbClr val="000000"/>
                </a:solidFill>
                <a:effectLst/>
                <a:uFillTx/>
                <a:latin typeface="Tahoma"/>
                <a:ea typeface="ＭＳ Ｐゴシック"/>
              </a:defRPr>
            </a:lvl1pPr>
          </a:lstStyle>
          <a:p>
            <a:pPr indent="0" algn="r">
              <a:lnSpc>
                <a:spcPct val="100000"/>
              </a:lnSpc>
              <a:buNone/>
            </a:pPr>
            <a:fld id="{8A85C201-468F-4592-8858-39F3DCEA6281}" type="slidenum">
              <a:rPr b="0" lang="en-CA" sz="1200" strike="noStrike" u="none">
                <a:solidFill>
                  <a:srgbClr val="000000"/>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814" name="PlaceHolder 2"/>
          <p:cNvSpPr>
            <a:spLocks noGrp="1"/>
          </p:cNvSpPr>
          <p:nvPr>
            <p:ph type="sldImg"/>
          </p:nvPr>
        </p:nvSpPr>
        <p:spPr>
          <a:xfrm>
            <a:off x="1143000" y="685800"/>
            <a:ext cx="4571640" cy="3428640"/>
          </a:xfrm>
          <a:prstGeom prst="rect">
            <a:avLst/>
          </a:prstGeom>
          <a:ln w="0">
            <a:noFill/>
          </a:ln>
        </p:spPr>
      </p:sp>
      <p:sp>
        <p:nvSpPr>
          <p:cNvPr id="81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8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6" name="PlaceHolder 1"/>
          <p:cNvSpPr>
            <a:spLocks noGrp="1"/>
          </p:cNvSpPr>
          <p:nvPr>
            <p:ph type="sldNum" idx="9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rgbClr val="000000"/>
                </a:solidFill>
                <a:effectLst/>
                <a:uFillTx/>
                <a:latin typeface="Tahoma"/>
                <a:ea typeface="ＭＳ Ｐゴシック"/>
              </a:defRPr>
            </a:lvl1pPr>
          </a:lstStyle>
          <a:p>
            <a:pPr indent="0" algn="r">
              <a:lnSpc>
                <a:spcPct val="100000"/>
              </a:lnSpc>
              <a:buNone/>
            </a:pPr>
            <a:fld id="{7B178640-1036-4106-8130-1D791B96D2ED}" type="slidenum">
              <a:rPr b="0" lang="en-CA" sz="1200" strike="noStrike" u="none">
                <a:solidFill>
                  <a:srgbClr val="000000"/>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817" name="PlaceHolder 2"/>
          <p:cNvSpPr>
            <a:spLocks noGrp="1"/>
          </p:cNvSpPr>
          <p:nvPr>
            <p:ph type="sldImg"/>
          </p:nvPr>
        </p:nvSpPr>
        <p:spPr>
          <a:xfrm>
            <a:off x="1143000" y="685800"/>
            <a:ext cx="4571640" cy="3428640"/>
          </a:xfrm>
          <a:prstGeom prst="rect">
            <a:avLst/>
          </a:prstGeom>
          <a:ln w="0">
            <a:noFill/>
          </a:ln>
        </p:spPr>
      </p:sp>
      <p:sp>
        <p:nvSpPr>
          <p:cNvPr id="81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9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9" name="PlaceHolder 1"/>
          <p:cNvSpPr>
            <a:spLocks noGrp="1"/>
          </p:cNvSpPr>
          <p:nvPr>
            <p:ph type="sldNum" idx="9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rgbClr val="000000"/>
                </a:solidFill>
                <a:effectLst/>
                <a:uFillTx/>
                <a:latin typeface="Tahoma"/>
                <a:ea typeface="ＭＳ Ｐゴシック"/>
              </a:defRPr>
            </a:lvl1pPr>
          </a:lstStyle>
          <a:p>
            <a:pPr indent="0" algn="r">
              <a:lnSpc>
                <a:spcPct val="100000"/>
              </a:lnSpc>
              <a:buNone/>
            </a:pPr>
            <a:fld id="{2F099DA0-085B-417E-B7DE-D8A05CA1ADDB}" type="slidenum">
              <a:rPr b="0" lang="en-CA" sz="1200" strike="noStrike" u="none">
                <a:solidFill>
                  <a:srgbClr val="000000"/>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820" name="PlaceHolder 2"/>
          <p:cNvSpPr>
            <a:spLocks noGrp="1"/>
          </p:cNvSpPr>
          <p:nvPr>
            <p:ph type="sldImg"/>
          </p:nvPr>
        </p:nvSpPr>
        <p:spPr>
          <a:xfrm>
            <a:off x="1143000" y="685800"/>
            <a:ext cx="4571640" cy="3428640"/>
          </a:xfrm>
          <a:prstGeom prst="rect">
            <a:avLst/>
          </a:prstGeom>
          <a:ln w="0">
            <a:noFill/>
          </a:ln>
        </p:spPr>
      </p:sp>
      <p:sp>
        <p:nvSpPr>
          <p:cNvPr id="82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9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2" name="PlaceHolder 1"/>
          <p:cNvSpPr>
            <a:spLocks noGrp="1"/>
          </p:cNvSpPr>
          <p:nvPr>
            <p:ph type="sldNum" idx="9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rgbClr val="000000"/>
                </a:solidFill>
                <a:effectLst/>
                <a:uFillTx/>
                <a:latin typeface="Tahoma"/>
                <a:ea typeface="ＭＳ Ｐゴシック"/>
              </a:defRPr>
            </a:lvl1pPr>
          </a:lstStyle>
          <a:p>
            <a:pPr indent="0" algn="r">
              <a:lnSpc>
                <a:spcPct val="100000"/>
              </a:lnSpc>
              <a:buNone/>
            </a:pPr>
            <a:fld id="{4513573C-CBC0-4276-8E16-73BC573B776A}" type="slidenum">
              <a:rPr b="0" lang="en-CA" sz="1200" strike="noStrike" u="none">
                <a:solidFill>
                  <a:srgbClr val="000000"/>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823" name="PlaceHolder 2"/>
          <p:cNvSpPr>
            <a:spLocks noGrp="1"/>
          </p:cNvSpPr>
          <p:nvPr>
            <p:ph type="sldImg"/>
          </p:nvPr>
        </p:nvSpPr>
        <p:spPr>
          <a:xfrm>
            <a:off x="1143000" y="685800"/>
            <a:ext cx="4571640" cy="3428640"/>
          </a:xfrm>
          <a:prstGeom prst="rect">
            <a:avLst/>
          </a:prstGeom>
          <a:ln w="0">
            <a:noFill/>
          </a:ln>
        </p:spPr>
      </p:sp>
      <p:sp>
        <p:nvSpPr>
          <p:cNvPr id="82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a:noFill/>
          <a:ln w="0">
            <a:noFill/>
          </a:ln>
        </p:spPr>
        <p:txBody>
          <a:bodyPr lIns="0" rIns="0" tIns="0" bIns="0" anchor="ctr">
            <a:spAutoFit/>
          </a:bodyPr>
          <a:p>
            <a:pPr indent="0">
              <a:buNone/>
            </a:pPr>
            <a:endParaRPr b="0" lang="en-CA" sz="2400" strike="noStrike" u="none">
              <a:solidFill>
                <a:schemeClr val="dk1"/>
              </a:solidFill>
              <a:effectLst/>
              <a:uFillTx/>
              <a:latin typeface="Arial"/>
            </a:endParaRPr>
          </a:p>
        </p:txBody>
      </p:sp>
      <p:sp>
        <p:nvSpPr>
          <p:cNvPr id="7"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1" lang="en-CA" sz="2800" strike="noStrike" u="none">
              <a:solidFill>
                <a:srgbClr val="00468f"/>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a:noFill/>
          <a:ln w="0">
            <a:noFill/>
          </a:ln>
        </p:spPr>
        <p:txBody>
          <a:bodyPr lIns="0" rIns="0" tIns="0" bIns="0" anchor="ctr">
            <a:spAutoFit/>
          </a:bodyPr>
          <a:p>
            <a:pPr indent="0">
              <a:buNone/>
            </a:pPr>
            <a:endParaRPr b="0" lang="en-CA" sz="2400" strike="noStrike" u="none">
              <a:solidFill>
                <a:schemeClr val="dk1"/>
              </a:solidFill>
              <a:effectLst/>
              <a:uFillTx/>
              <a:latin typeface="Arial"/>
            </a:endParaRPr>
          </a:p>
        </p:txBody>
      </p:sp>
      <p:sp>
        <p:nvSpPr>
          <p:cNvPr id="12"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1" lang="en-CA" sz="2800" strike="noStrike" u="none">
              <a:solidFill>
                <a:srgbClr val="00468f"/>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
    <p:bg>
      <p:bgPr>
        <a:solidFill>
          <a:schemeClr val="lt1"/>
        </a:solidFill>
      </p:bgPr>
    </p:bg>
    <p:spTree>
      <p:nvGrpSpPr>
        <p:cNvPr id="1" name=""/>
        <p:cNvGrpSpPr/>
        <p:nvPr/>
      </p:nvGrpSpPr>
      <p:grpSpPr>
        <a:xfrm>
          <a:off x="0" y="0"/>
          <a:ext cx="0" cy="0"/>
          <a:chOff x="0" y="0"/>
          <a:chExt cx="0" cy="0"/>
        </a:xfrm>
      </p:grpSpPr>
      <p:pic>
        <p:nvPicPr>
          <p:cNvPr id="13" name="Picture 7" descr="">
            <a:hlinkClick r:id="" action="ppaction://hlinkshowjump?jump=nextslide"/>
          </p:cNvPr>
          <p:cNvPicPr/>
          <p:nvPr/>
        </p:nvPicPr>
        <p:blipFill>
          <a:blip r:embed="rId2"/>
          <a:stretch/>
        </p:blipFill>
        <p:spPr>
          <a:xfrm>
            <a:off x="8640720" y="6480000"/>
            <a:ext cx="221760" cy="221760"/>
          </a:xfrm>
          <a:prstGeom prst="rect">
            <a:avLst/>
          </a:prstGeom>
          <a:noFill/>
          <a:ln w="0">
            <a:noFill/>
          </a:ln>
        </p:spPr>
      </p:pic>
      <p:sp>
        <p:nvSpPr>
          <p:cNvPr id="14" name="Text Box 2"/>
          <p:cNvSpPr/>
          <p:nvPr/>
        </p:nvSpPr>
        <p:spPr>
          <a:xfrm>
            <a:off x="3581280" y="663732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1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Click to edit Master title style</a:t>
            </a:r>
            <a:endParaRPr b="0" lang="en-CA" sz="2600" strike="noStrike" u="none">
              <a:solidFill>
                <a:schemeClr val="dk1"/>
              </a:solidFill>
              <a:effectLst/>
              <a:uFillTx/>
              <a:latin typeface="Arial"/>
            </a:endParaRPr>
          </a:p>
        </p:txBody>
      </p:sp>
      <p:sp>
        <p:nvSpPr>
          <p:cNvPr id="16" name="PlaceHolder 2"/>
          <p:cNvSpPr>
            <a:spLocks noGrp="1"/>
          </p:cNvSpPr>
          <p:nvPr>
            <p:ph type="body"/>
          </p:nvPr>
        </p:nvSpPr>
        <p:spPr>
          <a:xfrm>
            <a:off x="360000" y="1440000"/>
            <a:ext cx="4114440" cy="46479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00468f"/>
              </a:buClr>
              <a:buFont typeface="Webdings" charset="2"/>
              <a:buChar char=""/>
            </a:pPr>
            <a:r>
              <a:rPr b="1" lang="en-US" sz="2800" strike="noStrike" u="none">
                <a:solidFill>
                  <a:srgbClr val="00468f"/>
                </a:solidFill>
                <a:effectLst/>
                <a:uFillTx/>
                <a:latin typeface="Arial"/>
                <a:ea typeface="ＭＳ Ｐゴシック"/>
              </a:rPr>
              <a:t>Click to edit Master text styles</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Second level</a:t>
            </a:r>
            <a:endParaRPr b="1" lang="en-CA" sz="2400" strike="noStrike" u="none">
              <a:solidFill>
                <a:srgbClr val="00468f"/>
              </a:solidFill>
              <a:effectLst/>
              <a:uFillTx/>
              <a:latin typeface="Arial"/>
            </a:endParaRPr>
          </a:p>
          <a:p>
            <a:pPr lvl="2" marL="1143000" indent="-228600">
              <a:lnSpc>
                <a:spcPct val="100000"/>
              </a:lnSpc>
              <a:spcBef>
                <a:spcPts val="479"/>
              </a:spcBef>
              <a:buClr>
                <a:srgbClr val="00468f"/>
              </a:buClr>
              <a:buFont typeface="Symbol" charset="2"/>
              <a:buChar char=""/>
            </a:pPr>
            <a:r>
              <a:rPr b="0" lang="en-US" sz="2400" strike="noStrike" u="none">
                <a:solidFill>
                  <a:schemeClr val="dk1"/>
                </a:solidFill>
                <a:effectLst/>
                <a:uFillTx/>
                <a:latin typeface="Arial"/>
                <a:ea typeface="ＭＳ Ｐゴシック"/>
              </a:rPr>
              <a:t>Third level</a:t>
            </a:r>
            <a:endParaRPr b="0" lang="en-CA" sz="2400" strike="noStrike" u="none">
              <a:solidFill>
                <a:schemeClr val="dk1"/>
              </a:solidFill>
              <a:effectLst/>
              <a:uFillTx/>
              <a:latin typeface="Arial"/>
            </a:endParaRPr>
          </a:p>
          <a:p>
            <a:pPr lvl="3" marL="1600200" indent="-228600">
              <a:lnSpc>
                <a:spcPct val="100000"/>
              </a:lnSpc>
              <a:spcBef>
                <a:spcPts val="400"/>
              </a:spcBef>
              <a:buClr>
                <a:srgbClr val="000000"/>
              </a:buClr>
              <a:buFont typeface="Symbol" charset="2"/>
              <a:buChar char=""/>
            </a:pPr>
            <a:r>
              <a:rPr b="0" lang="en-US" sz="2000" strike="noStrike" u="none">
                <a:solidFill>
                  <a:schemeClr val="dk1"/>
                </a:solidFill>
                <a:effectLst/>
                <a:uFillTx/>
                <a:latin typeface="Arial"/>
                <a:ea typeface="ＭＳ Ｐゴシック"/>
              </a:rPr>
              <a:t>Fourth level</a:t>
            </a:r>
            <a:endParaRPr b="0" lang="en-CA" sz="2000" strike="noStrike" u="none">
              <a:solidFill>
                <a:schemeClr val="dk1"/>
              </a:solidFill>
              <a:effectLst/>
              <a:uFillTx/>
              <a:latin typeface="Arial"/>
            </a:endParaRPr>
          </a:p>
          <a:p>
            <a:pPr lvl="4" marL="2057400" indent="-228600">
              <a:lnSpc>
                <a:spcPct val="100000"/>
              </a:lnSpc>
              <a:spcBef>
                <a:spcPts val="400"/>
              </a:spcBef>
              <a:buClr>
                <a:srgbClr val="000000"/>
              </a:buClr>
              <a:buFont typeface="OpenSymbol"/>
              <a:buChar char="»"/>
            </a:pPr>
            <a:r>
              <a:rPr b="0" lang="en-US" sz="2000" strike="noStrike" u="none">
                <a:solidFill>
                  <a:schemeClr val="dk1"/>
                </a:solidFill>
                <a:effectLst/>
                <a:uFillTx/>
                <a:latin typeface="Arial"/>
                <a:ea typeface="ＭＳ Ｐゴシック"/>
              </a:rPr>
              <a:t>Fifth level</a:t>
            </a:r>
            <a:endParaRPr b="0" lang="en-CA" sz="2000" strike="noStrike" u="none">
              <a:solidFill>
                <a:schemeClr val="dk1"/>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itle and Content">
    <p:bg>
      <p:bgPr>
        <a:solidFill>
          <a:schemeClr val="lt1"/>
        </a:solidFill>
      </p:bgPr>
    </p:bg>
    <p:spTree>
      <p:nvGrpSpPr>
        <p:cNvPr id="1" name=""/>
        <p:cNvGrpSpPr/>
        <p:nvPr/>
      </p:nvGrpSpPr>
      <p:grpSpPr>
        <a:xfrm>
          <a:off x="0" y="0"/>
          <a:ext cx="0" cy="0"/>
          <a:chOff x="0" y="0"/>
          <a:chExt cx="0" cy="0"/>
        </a:xfrm>
      </p:grpSpPr>
      <p:pic>
        <p:nvPicPr>
          <p:cNvPr id="17" name="Picture 7" descr="">
            <a:hlinkClick r:id="" action="ppaction://hlinkshowjump?jump=nextslide"/>
          </p:cNvPr>
          <p:cNvPicPr/>
          <p:nvPr/>
        </p:nvPicPr>
        <p:blipFill>
          <a:blip r:embed="rId2"/>
          <a:stretch/>
        </p:blipFill>
        <p:spPr>
          <a:xfrm>
            <a:off x="8640720" y="6480000"/>
            <a:ext cx="221760" cy="221760"/>
          </a:xfrm>
          <a:prstGeom prst="rect">
            <a:avLst/>
          </a:prstGeom>
          <a:noFill/>
          <a:ln w="0">
            <a:noFill/>
          </a:ln>
        </p:spPr>
      </p:pic>
      <p:sp>
        <p:nvSpPr>
          <p:cNvPr id="18" name="Text Box 2"/>
          <p:cNvSpPr/>
          <p:nvPr/>
        </p:nvSpPr>
        <p:spPr>
          <a:xfrm>
            <a:off x="3581280" y="663732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1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b="0" lang="en-CA" sz="2400" strike="noStrike" u="none">
                <a:solidFill>
                  <a:schemeClr val="dk1"/>
                </a:solidFill>
                <a:effectLst/>
                <a:uFillTx/>
                <a:latin typeface="Arial"/>
              </a:rPr>
              <a:t>Click to edit the title text format</a:t>
            </a:r>
            <a:endParaRPr b="0" lang="en-CA" sz="2400" strike="noStrike" u="none">
              <a:solidFill>
                <a:schemeClr val="dk1"/>
              </a:solidFill>
              <a:effectLst/>
              <a:uFillTx/>
              <a:latin typeface="Arial"/>
            </a:endParaRPr>
          </a:p>
        </p:txBody>
      </p:sp>
      <p:sp>
        <p:nvSpPr>
          <p:cNvPr id="20"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1" lang="en-CA" sz="2800" strike="noStrike" u="none">
                <a:solidFill>
                  <a:srgbClr val="00468f"/>
                </a:solidFill>
                <a:effectLst/>
                <a:uFillTx/>
                <a:latin typeface="Arial"/>
              </a:rPr>
              <a:t>Click to edit the outline text format</a:t>
            </a:r>
            <a:endParaRPr b="1" lang="en-CA" sz="2800" strike="noStrike" u="none">
              <a:solidFill>
                <a:srgbClr val="00468f"/>
              </a:solidFill>
              <a:effectLst/>
              <a:uFillTx/>
              <a:latin typeface="Arial"/>
            </a:endParaRPr>
          </a:p>
          <a:p>
            <a:pPr lvl="1" marL="864000" indent="-324000">
              <a:spcBef>
                <a:spcPts val="1134"/>
              </a:spcBef>
              <a:buClr>
                <a:srgbClr val="000000"/>
              </a:buClr>
              <a:buSzPct val="75000"/>
              <a:buFont typeface="Symbol" charset="2"/>
              <a:buChar char=""/>
            </a:pPr>
            <a:r>
              <a:rPr b="0" lang="en-CA" sz="2400" strike="noStrike" u="none">
                <a:solidFill>
                  <a:schemeClr val="dk1"/>
                </a:solidFill>
                <a:effectLst/>
                <a:uFillTx/>
                <a:latin typeface="Arial"/>
              </a:rPr>
              <a:t>Second Outline Level</a:t>
            </a:r>
            <a:endParaRPr b="0" lang="en-CA" sz="2400" strike="noStrike" u="none">
              <a:solidFill>
                <a:schemeClr val="dk1"/>
              </a:solidFill>
              <a:effectLst/>
              <a:uFillTx/>
              <a:latin typeface="Arial"/>
            </a:endParaRPr>
          </a:p>
          <a:p>
            <a:pPr lvl="2" marL="1296000" indent="-288000">
              <a:spcBef>
                <a:spcPts val="850"/>
              </a:spcBef>
              <a:buClr>
                <a:srgbClr val="000000"/>
              </a:buClr>
              <a:buSzPct val="45000"/>
              <a:buFont typeface="Wingdings" charset="2"/>
              <a:buChar char=""/>
            </a:pPr>
            <a:r>
              <a:rPr b="0" lang="en-CA" sz="2000" strike="noStrike" u="none">
                <a:solidFill>
                  <a:schemeClr val="dk1"/>
                </a:solidFill>
                <a:effectLst/>
                <a:uFillTx/>
                <a:latin typeface="Arial"/>
              </a:rPr>
              <a:t>Third Outline Level</a:t>
            </a:r>
            <a:endParaRPr b="0" lang="en-CA" sz="2000" strike="noStrike" u="none">
              <a:solidFill>
                <a:schemeClr val="dk1"/>
              </a:solidFill>
              <a:effectLst/>
              <a:uFillTx/>
              <a:latin typeface="Arial"/>
            </a:endParaRPr>
          </a:p>
          <a:p>
            <a:pPr lvl="3" marL="1728000" indent="-216000">
              <a:spcBef>
                <a:spcPts val="567"/>
              </a:spcBef>
              <a:buClr>
                <a:srgbClr val="000000"/>
              </a:buClr>
              <a:buSzPct val="75000"/>
              <a:buFont typeface="Symbol" charset="2"/>
              <a:buChar char=""/>
            </a:pPr>
            <a:r>
              <a:rPr b="0" lang="en-CA" sz="2000" strike="noStrike" u="none">
                <a:solidFill>
                  <a:schemeClr val="dk1"/>
                </a:solidFill>
                <a:effectLst/>
                <a:uFillTx/>
                <a:latin typeface="Arial"/>
              </a:rPr>
              <a:t>Fourth Outline Level</a:t>
            </a:r>
            <a:endParaRPr b="0" lang="en-CA" sz="2000" strike="noStrike" u="none">
              <a:solidFill>
                <a:schemeClr val="dk1"/>
              </a:solidFill>
              <a:effectLst/>
              <a:uFillTx/>
              <a:latin typeface="Arial"/>
            </a:endParaRPr>
          </a:p>
          <a:p>
            <a:pPr lvl="4" marL="2160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Fifth Outline Level</a:t>
            </a:r>
            <a:endParaRPr b="0" lang="en-CA" sz="2000" strike="noStrike" u="none">
              <a:solidFill>
                <a:schemeClr val="dk1"/>
              </a:solidFill>
              <a:effectLst/>
              <a:uFillTx/>
              <a:latin typeface="Arial"/>
            </a:endParaRPr>
          </a:p>
          <a:p>
            <a:pPr lvl="5" marL="2592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Sixth Outline Level</a:t>
            </a:r>
            <a:endParaRPr b="0" lang="en-CA" sz="2000" strike="noStrike" u="none">
              <a:solidFill>
                <a:schemeClr val="dk1"/>
              </a:solidFill>
              <a:effectLst/>
              <a:uFillTx/>
              <a:latin typeface="Arial"/>
            </a:endParaRPr>
          </a:p>
          <a:p>
            <a:pPr lvl="6" marL="3024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Seventh Outline Level</a:t>
            </a:r>
            <a:endParaRPr b="0" lang="en-CA" sz="2000" strike="noStrike" u="none">
              <a:solidFill>
                <a:schemeClr val="dk1"/>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3">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3600"/>
            <a:ext cx="8229240" cy="1144800"/>
          </a:xfrm>
          <a:prstGeom prst="rect">
            <a:avLst/>
          </a:prstGeom>
          <a:noFill/>
          <a:ln w="0">
            <a:noFill/>
          </a:ln>
        </p:spPr>
        <p:txBody>
          <a:bodyPr lIns="0" rIns="0" tIns="0" bIns="0" anchor="ctr">
            <a:spAutoFit/>
          </a:bodyPr>
          <a:p>
            <a:pPr indent="0">
              <a:buNone/>
            </a:pPr>
            <a:endParaRPr b="0" lang="en-CA" sz="2400" strike="noStrike" u="none">
              <a:solidFill>
                <a:schemeClr val="dk1"/>
              </a:solidFill>
              <a:effectLst/>
              <a:uFillTx/>
              <a:latin typeface="Arial"/>
            </a:endParaRPr>
          </a:p>
        </p:txBody>
      </p:sp>
      <p:sp>
        <p:nvSpPr>
          <p:cNvPr id="29"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1" lang="en-CA" sz="2800" strike="noStrike" u="none">
              <a:solidFill>
                <a:srgbClr val="00468f"/>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2.jpe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7.xml"/><Relationship Id="rId3" Type="http://schemas.openxmlformats.org/officeDocument/2006/relationships/slideLayout" Target="../slideLayouts/slideLayout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Text Box 2"/>
          <p:cNvSpPr/>
          <p:nvPr/>
        </p:nvSpPr>
        <p:spPr>
          <a:xfrm>
            <a:off x="3581280" y="663732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b="0" lang="en-CA" sz="2400" strike="noStrike" u="none">
                <a:solidFill>
                  <a:schemeClr val="dk1"/>
                </a:solidFill>
                <a:effectLst/>
                <a:uFillTx/>
                <a:latin typeface="Arial"/>
              </a:rPr>
              <a:t>Click to edit the title text format</a:t>
            </a:r>
            <a:endParaRPr b="0" lang="en-CA" sz="2400" strike="noStrike" u="none">
              <a:solidFill>
                <a:schemeClr val="dk1"/>
              </a:solidFill>
              <a:effectLst/>
              <a:uFillTx/>
              <a:latin typeface="Arial"/>
            </a:endParaRPr>
          </a:p>
        </p:txBody>
      </p:sp>
      <p:sp>
        <p:nvSpPr>
          <p:cNvPr id="2"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1" lang="en-CA" sz="2800" strike="noStrike" u="none">
                <a:solidFill>
                  <a:srgbClr val="fb1b2a"/>
                </a:solidFill>
                <a:effectLst/>
                <a:uFillTx/>
                <a:latin typeface="Arial"/>
              </a:rPr>
              <a:t>Click to edit the outline text format</a:t>
            </a:r>
            <a:endParaRPr b="1" lang="en-CA" sz="2800" strike="noStrike" u="none">
              <a:solidFill>
                <a:srgbClr val="fb1b2a"/>
              </a:solidFill>
              <a:effectLst/>
              <a:uFillTx/>
              <a:latin typeface="Arial"/>
            </a:endParaRPr>
          </a:p>
          <a:p>
            <a:pPr lvl="1" marL="864000" indent="-324000">
              <a:spcBef>
                <a:spcPts val="1134"/>
              </a:spcBef>
              <a:buClr>
                <a:srgbClr val="000000"/>
              </a:buClr>
              <a:buSzPct val="75000"/>
              <a:buFont typeface="Symbol" charset="2"/>
              <a:buChar char=""/>
            </a:pPr>
            <a:r>
              <a:rPr b="0" lang="en-CA" sz="2400" strike="noStrike" u="none">
                <a:solidFill>
                  <a:schemeClr val="dk1"/>
                </a:solidFill>
                <a:effectLst/>
                <a:uFillTx/>
                <a:latin typeface="Arial"/>
              </a:rPr>
              <a:t>Second Outline Level</a:t>
            </a:r>
            <a:endParaRPr b="0" lang="en-CA" sz="2400" strike="noStrike" u="none">
              <a:solidFill>
                <a:schemeClr val="dk1"/>
              </a:solidFill>
              <a:effectLst/>
              <a:uFillTx/>
              <a:latin typeface="Arial"/>
            </a:endParaRPr>
          </a:p>
          <a:p>
            <a:pPr lvl="2" marL="1296000" indent="-288000">
              <a:spcBef>
                <a:spcPts val="850"/>
              </a:spcBef>
              <a:buClr>
                <a:srgbClr val="000000"/>
              </a:buClr>
              <a:buSzPct val="45000"/>
              <a:buFont typeface="Wingdings" charset="2"/>
              <a:buChar char=""/>
            </a:pPr>
            <a:r>
              <a:rPr b="0" lang="en-CA" sz="2000" strike="noStrike" u="none">
                <a:solidFill>
                  <a:schemeClr val="dk1"/>
                </a:solidFill>
                <a:effectLst/>
                <a:uFillTx/>
                <a:latin typeface="Arial"/>
              </a:rPr>
              <a:t>Third Outline Level</a:t>
            </a:r>
            <a:endParaRPr b="0" lang="en-CA" sz="2000" strike="noStrike" u="none">
              <a:solidFill>
                <a:schemeClr val="dk1"/>
              </a:solidFill>
              <a:effectLst/>
              <a:uFillTx/>
              <a:latin typeface="Arial"/>
            </a:endParaRPr>
          </a:p>
          <a:p>
            <a:pPr lvl="3" marL="1728000" indent="-216000">
              <a:spcBef>
                <a:spcPts val="567"/>
              </a:spcBef>
              <a:buClr>
                <a:srgbClr val="000000"/>
              </a:buClr>
              <a:buSzPct val="75000"/>
              <a:buFont typeface="Symbol" charset="2"/>
              <a:buChar char=""/>
            </a:pPr>
            <a:r>
              <a:rPr b="0" lang="en-CA" sz="2000" strike="noStrike" u="none">
                <a:solidFill>
                  <a:schemeClr val="dk1"/>
                </a:solidFill>
                <a:effectLst/>
                <a:uFillTx/>
                <a:latin typeface="Arial"/>
              </a:rPr>
              <a:t>Fourth Outline Level</a:t>
            </a:r>
            <a:endParaRPr b="0" lang="en-CA" sz="2000" strike="noStrike" u="none">
              <a:solidFill>
                <a:schemeClr val="dk1"/>
              </a:solidFill>
              <a:effectLst/>
              <a:uFillTx/>
              <a:latin typeface="Arial"/>
            </a:endParaRPr>
          </a:p>
          <a:p>
            <a:pPr lvl="4" marL="2160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Fifth Outline Level</a:t>
            </a:r>
            <a:endParaRPr b="0" lang="en-CA" sz="2000" strike="noStrike" u="none">
              <a:solidFill>
                <a:schemeClr val="dk1"/>
              </a:solidFill>
              <a:effectLst/>
              <a:uFillTx/>
              <a:latin typeface="Arial"/>
            </a:endParaRPr>
          </a:p>
          <a:p>
            <a:pPr lvl="5" marL="2592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Sixth Outline Level</a:t>
            </a:r>
            <a:endParaRPr b="0" lang="en-CA" sz="2000" strike="noStrike" u="none">
              <a:solidFill>
                <a:schemeClr val="dk1"/>
              </a:solidFill>
              <a:effectLst/>
              <a:uFillTx/>
              <a:latin typeface="Arial"/>
            </a:endParaRPr>
          </a:p>
          <a:p>
            <a:pPr lvl="6" marL="3024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Seventh Outline Level</a:t>
            </a:r>
            <a:endParaRPr b="0" lang="en-CA"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 name="Text Box 2"/>
          <p:cNvSpPr/>
          <p:nvPr/>
        </p:nvSpPr>
        <p:spPr>
          <a:xfrm>
            <a:off x="3581280" y="663732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Click to edit Master title style</a:t>
            </a:r>
            <a:endParaRPr b="0" lang="en-CA" sz="2600" strike="noStrike" u="none">
              <a:solidFill>
                <a:schemeClr val="dk1"/>
              </a:solidFill>
              <a:effectLst/>
              <a:uFillTx/>
              <a:latin typeface="Arial"/>
            </a:endParaRPr>
          </a:p>
        </p:txBody>
      </p:sp>
      <p:sp>
        <p:nvSpPr>
          <p:cNvPr id="5" name="PlaceHolder 2"/>
          <p:cNvSpPr>
            <a:spLocks noGrp="1"/>
          </p:cNvSpPr>
          <p:nvPr>
            <p:ph type="body"/>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00468f"/>
              </a:buClr>
              <a:buFont typeface="Webdings" charset="2"/>
              <a:buChar char=""/>
            </a:pPr>
            <a:r>
              <a:rPr b="1" lang="en-US" sz="2800" strike="noStrike" u="none">
                <a:solidFill>
                  <a:srgbClr val="00468f"/>
                </a:solidFill>
                <a:effectLst/>
                <a:uFillTx/>
                <a:latin typeface="Arial"/>
                <a:ea typeface="ＭＳ Ｐゴシック"/>
              </a:rPr>
              <a:t>Click to edit Master text styles</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Second level</a:t>
            </a:r>
            <a:endParaRPr b="1" lang="en-CA" sz="2400" strike="noStrike" u="none">
              <a:solidFill>
                <a:srgbClr val="00468f"/>
              </a:solidFill>
              <a:effectLst/>
              <a:uFillTx/>
              <a:latin typeface="Arial"/>
            </a:endParaRPr>
          </a:p>
          <a:p>
            <a:pPr lvl="2" marL="1079640" indent="-288000">
              <a:lnSpc>
                <a:spcPct val="100000"/>
              </a:lnSpc>
              <a:spcBef>
                <a:spcPts val="601"/>
              </a:spcBef>
              <a:spcAft>
                <a:spcPts val="601"/>
              </a:spcAft>
              <a:buClr>
                <a:srgbClr val="00468f"/>
              </a:buClr>
              <a:buFont typeface="Symbol" charset="2"/>
              <a:buChar char=""/>
            </a:pPr>
            <a:r>
              <a:rPr b="0" lang="en-US" sz="2400" strike="noStrike" u="none">
                <a:solidFill>
                  <a:schemeClr val="dk1"/>
                </a:solidFill>
                <a:effectLst/>
                <a:uFillTx/>
                <a:latin typeface="Arial"/>
                <a:ea typeface="ＭＳ Ｐゴシック"/>
              </a:rPr>
              <a:t>Third level</a:t>
            </a:r>
            <a:endParaRPr b="0" lang="en-CA" sz="2400" strike="noStrike" u="none">
              <a:solidFill>
                <a:schemeClr val="dk1"/>
              </a:solidFill>
              <a:effectLst/>
              <a:uFillTx/>
              <a:latin typeface="Arial"/>
            </a:endParaRPr>
          </a:p>
          <a:p>
            <a:pPr lvl="3" marL="1600200" indent="-228600">
              <a:lnSpc>
                <a:spcPct val="100000"/>
              </a:lnSpc>
              <a:spcBef>
                <a:spcPts val="400"/>
              </a:spcBef>
              <a:buClr>
                <a:srgbClr val="000000"/>
              </a:buClr>
              <a:buFont typeface="Symbol" charset="2"/>
              <a:buChar char=""/>
            </a:pPr>
            <a:r>
              <a:rPr b="0" lang="en-US" sz="2000" strike="noStrike" u="none">
                <a:solidFill>
                  <a:schemeClr val="dk1"/>
                </a:solidFill>
                <a:effectLst/>
                <a:uFillTx/>
                <a:latin typeface="Arial"/>
                <a:ea typeface="ＭＳ Ｐゴシック"/>
              </a:rPr>
              <a:t>Fourth level</a:t>
            </a:r>
            <a:endParaRPr b="0" lang="en-CA" sz="2000" strike="noStrike" u="none">
              <a:solidFill>
                <a:schemeClr val="dk1"/>
              </a:solidFill>
              <a:effectLst/>
              <a:uFillTx/>
              <a:latin typeface="Arial"/>
            </a:endParaRPr>
          </a:p>
          <a:p>
            <a:pPr lvl="4" marL="2057400" indent="-228600">
              <a:lnSpc>
                <a:spcPct val="100000"/>
              </a:lnSpc>
              <a:spcBef>
                <a:spcPts val="400"/>
              </a:spcBef>
              <a:buClr>
                <a:srgbClr val="000000"/>
              </a:buClr>
              <a:buFont typeface="OpenSymbol"/>
              <a:buChar char="»"/>
            </a:pPr>
            <a:r>
              <a:rPr b="0" lang="en-US" sz="2000" strike="noStrike" u="none">
                <a:solidFill>
                  <a:schemeClr val="dk1"/>
                </a:solidFill>
                <a:effectLst/>
                <a:uFillTx/>
                <a:latin typeface="Arial"/>
                <a:ea typeface="ＭＳ Ｐゴシック"/>
              </a:rPr>
              <a:t>Fifth level</a:t>
            </a:r>
            <a:endParaRPr b="0" lang="en-CA"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 name="Text Box 2"/>
          <p:cNvSpPr/>
          <p:nvPr/>
        </p:nvSpPr>
        <p:spPr>
          <a:xfrm>
            <a:off x="3581280" y="663732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Click to edit Master title style</a:t>
            </a:r>
            <a:endParaRPr b="0" lang="en-CA" sz="2600" strike="noStrike" u="none">
              <a:solidFill>
                <a:schemeClr val="dk1"/>
              </a:solidFill>
              <a:effectLst/>
              <a:uFillTx/>
              <a:latin typeface="Arial"/>
            </a:endParaRPr>
          </a:p>
        </p:txBody>
      </p:sp>
      <p:sp>
        <p:nvSpPr>
          <p:cNvPr id="10" name="PlaceHolder 2"/>
          <p:cNvSpPr>
            <a:spLocks noGrp="1"/>
          </p:cNvSpPr>
          <p:nvPr>
            <p:ph type="body"/>
          </p:nvPr>
        </p:nvSpPr>
        <p:spPr>
          <a:xfrm>
            <a:off x="360000" y="1440000"/>
            <a:ext cx="4114440" cy="46479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00468f"/>
              </a:buClr>
              <a:buFont typeface="Webdings" charset="2"/>
              <a:buChar char=""/>
            </a:pPr>
            <a:r>
              <a:rPr b="1" lang="en-US" sz="2800" strike="noStrike" u="none">
                <a:solidFill>
                  <a:srgbClr val="00468f"/>
                </a:solidFill>
                <a:effectLst/>
                <a:uFillTx/>
                <a:latin typeface="Arial"/>
                <a:ea typeface="ＭＳ Ｐゴシック"/>
              </a:rPr>
              <a:t>Click to edit Master text styles</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Second level</a:t>
            </a:r>
            <a:endParaRPr b="1" lang="en-CA" sz="2400" strike="noStrike" u="none">
              <a:solidFill>
                <a:srgbClr val="00468f"/>
              </a:solidFill>
              <a:effectLst/>
              <a:uFillTx/>
              <a:latin typeface="Arial"/>
            </a:endParaRPr>
          </a:p>
          <a:p>
            <a:pPr lvl="2" marL="1143000" indent="-228600">
              <a:lnSpc>
                <a:spcPct val="100000"/>
              </a:lnSpc>
              <a:spcBef>
                <a:spcPts val="479"/>
              </a:spcBef>
              <a:buClr>
                <a:srgbClr val="00468f"/>
              </a:buClr>
              <a:buFont typeface="Symbol" charset="2"/>
              <a:buChar char=""/>
            </a:pPr>
            <a:r>
              <a:rPr b="0" lang="en-US" sz="2400" strike="noStrike" u="none">
                <a:solidFill>
                  <a:schemeClr val="dk1"/>
                </a:solidFill>
                <a:effectLst/>
                <a:uFillTx/>
                <a:latin typeface="Arial"/>
                <a:ea typeface="ＭＳ Ｐゴシック"/>
              </a:rPr>
              <a:t>Third level</a:t>
            </a:r>
            <a:endParaRPr b="0" lang="en-CA" sz="2400" strike="noStrike" u="none">
              <a:solidFill>
                <a:schemeClr val="dk1"/>
              </a:solidFill>
              <a:effectLst/>
              <a:uFillTx/>
              <a:latin typeface="Arial"/>
            </a:endParaRPr>
          </a:p>
          <a:p>
            <a:pPr lvl="3" marL="1600200" indent="-228600">
              <a:lnSpc>
                <a:spcPct val="100000"/>
              </a:lnSpc>
              <a:spcBef>
                <a:spcPts val="400"/>
              </a:spcBef>
              <a:buClr>
                <a:srgbClr val="000000"/>
              </a:buClr>
              <a:buFont typeface="Symbol" charset="2"/>
              <a:buChar char=""/>
            </a:pPr>
            <a:r>
              <a:rPr b="0" lang="en-US" sz="2000" strike="noStrike" u="none">
                <a:solidFill>
                  <a:schemeClr val="dk1"/>
                </a:solidFill>
                <a:effectLst/>
                <a:uFillTx/>
                <a:latin typeface="Arial"/>
                <a:ea typeface="ＭＳ Ｐゴシック"/>
              </a:rPr>
              <a:t>Fourth level</a:t>
            </a:r>
            <a:endParaRPr b="0" lang="en-CA" sz="2000" strike="noStrike" u="none">
              <a:solidFill>
                <a:schemeClr val="dk1"/>
              </a:solidFill>
              <a:effectLst/>
              <a:uFillTx/>
              <a:latin typeface="Arial"/>
            </a:endParaRPr>
          </a:p>
          <a:p>
            <a:pPr lvl="4" marL="2057400" indent="-228600">
              <a:lnSpc>
                <a:spcPct val="100000"/>
              </a:lnSpc>
              <a:spcBef>
                <a:spcPts val="400"/>
              </a:spcBef>
              <a:buClr>
                <a:srgbClr val="000000"/>
              </a:buClr>
              <a:buFont typeface="OpenSymbol"/>
              <a:buChar char="»"/>
            </a:pPr>
            <a:r>
              <a:rPr b="0" lang="en-US" sz="2000" strike="noStrike" u="none">
                <a:solidFill>
                  <a:schemeClr val="dk1"/>
                </a:solidFill>
                <a:effectLst/>
                <a:uFillTx/>
                <a:latin typeface="Arial"/>
                <a:ea typeface="ＭＳ Ｐゴシック"/>
              </a:rPr>
              <a:t>Fifth level</a:t>
            </a:r>
            <a:endParaRPr b="0" lang="en-CA"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2"/>
    <p:sldLayoutId id="2147483656"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21" name="Picture 4" descr="">
            <a:hlinkClick r:id="" action="ppaction://hlinkshowjump?jump=previousslide"/>
          </p:cNvPr>
          <p:cNvPicPr/>
          <p:nvPr/>
        </p:nvPicPr>
        <p:blipFill>
          <a:blip r:embed="rId2"/>
          <a:stretch/>
        </p:blipFill>
        <p:spPr>
          <a:xfrm>
            <a:off x="8640720" y="6480000"/>
            <a:ext cx="221760" cy="221760"/>
          </a:xfrm>
          <a:prstGeom prst="rect">
            <a:avLst/>
          </a:prstGeom>
          <a:noFill/>
          <a:ln w="0">
            <a:noFill/>
          </a:ln>
        </p:spPr>
      </p:pic>
      <p:sp>
        <p:nvSpPr>
          <p:cNvPr id="22" name="Text Box 2"/>
          <p:cNvSpPr/>
          <p:nvPr/>
        </p:nvSpPr>
        <p:spPr>
          <a:xfrm>
            <a:off x="3581280" y="663732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2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b="0" lang="en-CA" sz="2400" strike="noStrike" u="none">
                <a:solidFill>
                  <a:schemeClr val="dk1"/>
                </a:solidFill>
                <a:effectLst/>
                <a:uFillTx/>
                <a:latin typeface="Arial"/>
              </a:rPr>
              <a:t>Click to edit the title text format</a:t>
            </a:r>
            <a:endParaRPr b="0" lang="en-CA" sz="2400" strike="noStrike" u="none">
              <a:solidFill>
                <a:schemeClr val="dk1"/>
              </a:solidFill>
              <a:effectLst/>
              <a:uFillTx/>
              <a:latin typeface="Arial"/>
            </a:endParaRPr>
          </a:p>
        </p:txBody>
      </p:sp>
      <p:sp>
        <p:nvSpPr>
          <p:cNvPr id="24"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CA" sz="3200" strike="noStrike" u="none">
                <a:solidFill>
                  <a:schemeClr val="dk1"/>
                </a:solidFill>
                <a:effectLst/>
                <a:uFillTx/>
                <a:latin typeface="Arial"/>
              </a:rPr>
              <a:t>Click to edit the outline text format</a:t>
            </a:r>
            <a:endParaRPr b="0" lang="en-CA" sz="3200" strike="noStrike" u="none">
              <a:solidFill>
                <a:schemeClr val="dk1"/>
              </a:solidFill>
              <a:effectLst/>
              <a:uFillTx/>
              <a:latin typeface="Arial"/>
            </a:endParaRPr>
          </a:p>
          <a:p>
            <a:pPr lvl="1" marL="864000" indent="-324000">
              <a:spcBef>
                <a:spcPts val="1134"/>
              </a:spcBef>
              <a:buClr>
                <a:srgbClr val="000000"/>
              </a:buClr>
              <a:buSzPct val="75000"/>
              <a:buFont typeface="Symbol" charset="2"/>
              <a:buChar char=""/>
            </a:pPr>
            <a:r>
              <a:rPr b="0" lang="en-CA" sz="2400" strike="noStrike" u="none">
                <a:solidFill>
                  <a:schemeClr val="dk1"/>
                </a:solidFill>
                <a:effectLst/>
                <a:uFillTx/>
                <a:latin typeface="Arial"/>
              </a:rPr>
              <a:t>Second Outline Level</a:t>
            </a:r>
            <a:endParaRPr b="0" lang="en-CA" sz="2400" strike="noStrike" u="none">
              <a:solidFill>
                <a:schemeClr val="dk1"/>
              </a:solidFill>
              <a:effectLst/>
              <a:uFillTx/>
              <a:latin typeface="Arial"/>
            </a:endParaRPr>
          </a:p>
          <a:p>
            <a:pPr lvl="2" marL="1296000" indent="-288000">
              <a:spcBef>
                <a:spcPts val="850"/>
              </a:spcBef>
              <a:buClr>
                <a:srgbClr val="000000"/>
              </a:buClr>
              <a:buSzPct val="45000"/>
              <a:buFont typeface="Wingdings" charset="2"/>
              <a:buChar char=""/>
            </a:pPr>
            <a:r>
              <a:rPr b="0" lang="en-CA" sz="2000" strike="noStrike" u="none">
                <a:solidFill>
                  <a:schemeClr val="dk1"/>
                </a:solidFill>
                <a:effectLst/>
                <a:uFillTx/>
                <a:latin typeface="Arial"/>
              </a:rPr>
              <a:t>Third Outline Level</a:t>
            </a:r>
            <a:endParaRPr b="0" lang="en-CA" sz="2000" strike="noStrike" u="none">
              <a:solidFill>
                <a:schemeClr val="dk1"/>
              </a:solidFill>
              <a:effectLst/>
              <a:uFillTx/>
              <a:latin typeface="Arial"/>
            </a:endParaRPr>
          </a:p>
          <a:p>
            <a:pPr lvl="3" marL="1728000" indent="-216000">
              <a:spcBef>
                <a:spcPts val="567"/>
              </a:spcBef>
              <a:buClr>
                <a:srgbClr val="000000"/>
              </a:buClr>
              <a:buSzPct val="75000"/>
              <a:buFont typeface="Symbol" charset="2"/>
              <a:buChar char=""/>
            </a:pPr>
            <a:r>
              <a:rPr b="0" lang="en-CA" sz="2000" strike="noStrike" u="none">
                <a:solidFill>
                  <a:schemeClr val="dk1"/>
                </a:solidFill>
                <a:effectLst/>
                <a:uFillTx/>
                <a:latin typeface="Arial"/>
              </a:rPr>
              <a:t>Fourth Outline Level</a:t>
            </a:r>
            <a:endParaRPr b="0" lang="en-CA" sz="2000" strike="noStrike" u="none">
              <a:solidFill>
                <a:schemeClr val="dk1"/>
              </a:solidFill>
              <a:effectLst/>
              <a:uFillTx/>
              <a:latin typeface="Arial"/>
            </a:endParaRPr>
          </a:p>
          <a:p>
            <a:pPr lvl="4" marL="2160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Fifth Outline Level</a:t>
            </a:r>
            <a:endParaRPr b="0" lang="en-CA" sz="2000" strike="noStrike" u="none">
              <a:solidFill>
                <a:schemeClr val="dk1"/>
              </a:solidFill>
              <a:effectLst/>
              <a:uFillTx/>
              <a:latin typeface="Arial"/>
            </a:endParaRPr>
          </a:p>
          <a:p>
            <a:pPr lvl="5" marL="2592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Sixth Outline Level</a:t>
            </a:r>
            <a:endParaRPr b="0" lang="en-CA" sz="2000" strike="noStrike" u="none">
              <a:solidFill>
                <a:schemeClr val="dk1"/>
              </a:solidFill>
              <a:effectLst/>
              <a:uFillTx/>
              <a:latin typeface="Arial"/>
            </a:endParaRPr>
          </a:p>
          <a:p>
            <a:pPr lvl="6" marL="3024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Seventh Outline Level</a:t>
            </a:r>
            <a:endParaRPr b="0" lang="en-CA"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8"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5" name="Text Box 3"/>
          <p:cNvSpPr/>
          <p:nvPr/>
        </p:nvSpPr>
        <p:spPr>
          <a:xfrm>
            <a:off x="3733920" y="663408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2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b="0" lang="en-CA" sz="2400" strike="noStrike" u="none">
                <a:solidFill>
                  <a:schemeClr val="dk1"/>
                </a:solidFill>
                <a:effectLst/>
                <a:uFillTx/>
                <a:latin typeface="Arial"/>
              </a:rPr>
              <a:t>Click to edit the title text format</a:t>
            </a:r>
            <a:endParaRPr b="0" lang="en-CA" sz="2400" strike="noStrike" u="none">
              <a:solidFill>
                <a:schemeClr val="dk1"/>
              </a:solidFill>
              <a:effectLst/>
              <a:uFillTx/>
              <a:latin typeface="Arial"/>
            </a:endParaRPr>
          </a:p>
        </p:txBody>
      </p:sp>
      <p:sp>
        <p:nvSpPr>
          <p:cNvPr id="27"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1" lang="en-CA" sz="2800" strike="noStrike" u="none">
                <a:solidFill>
                  <a:srgbClr val="00468f"/>
                </a:solidFill>
                <a:effectLst/>
                <a:uFillTx/>
                <a:latin typeface="Arial"/>
              </a:rPr>
              <a:t>Click to edit the outline text format</a:t>
            </a:r>
            <a:endParaRPr b="1" lang="en-CA" sz="2800" strike="noStrike" u="none">
              <a:solidFill>
                <a:srgbClr val="00468f"/>
              </a:solidFill>
              <a:effectLst/>
              <a:uFillTx/>
              <a:latin typeface="Arial"/>
            </a:endParaRPr>
          </a:p>
          <a:p>
            <a:pPr lvl="1" marL="864000" indent="-324000">
              <a:spcBef>
                <a:spcPts val="1134"/>
              </a:spcBef>
              <a:buClr>
                <a:srgbClr val="000000"/>
              </a:buClr>
              <a:buSzPct val="75000"/>
              <a:buFont typeface="Symbol" charset="2"/>
              <a:buChar char=""/>
            </a:pPr>
            <a:r>
              <a:rPr b="0" lang="en-CA" sz="2400" strike="noStrike" u="none">
                <a:solidFill>
                  <a:schemeClr val="dk1"/>
                </a:solidFill>
                <a:effectLst/>
                <a:uFillTx/>
                <a:latin typeface="Arial"/>
              </a:rPr>
              <a:t>Second Outline Level</a:t>
            </a:r>
            <a:endParaRPr b="0" lang="en-CA" sz="2400" strike="noStrike" u="none">
              <a:solidFill>
                <a:schemeClr val="dk1"/>
              </a:solidFill>
              <a:effectLst/>
              <a:uFillTx/>
              <a:latin typeface="Arial"/>
            </a:endParaRPr>
          </a:p>
          <a:p>
            <a:pPr lvl="2" marL="1296000" indent="-288000">
              <a:spcBef>
                <a:spcPts val="850"/>
              </a:spcBef>
              <a:buClr>
                <a:srgbClr val="000000"/>
              </a:buClr>
              <a:buSzPct val="45000"/>
              <a:buFont typeface="Wingdings" charset="2"/>
              <a:buChar char=""/>
            </a:pPr>
            <a:r>
              <a:rPr b="0" lang="en-CA" sz="2000" strike="noStrike" u="none">
                <a:solidFill>
                  <a:schemeClr val="dk1"/>
                </a:solidFill>
                <a:effectLst/>
                <a:uFillTx/>
                <a:latin typeface="Arial"/>
              </a:rPr>
              <a:t>Third Outline Level</a:t>
            </a:r>
            <a:endParaRPr b="0" lang="en-CA" sz="2000" strike="noStrike" u="none">
              <a:solidFill>
                <a:schemeClr val="dk1"/>
              </a:solidFill>
              <a:effectLst/>
              <a:uFillTx/>
              <a:latin typeface="Arial"/>
            </a:endParaRPr>
          </a:p>
          <a:p>
            <a:pPr lvl="3" marL="1728000" indent="-216000">
              <a:spcBef>
                <a:spcPts val="567"/>
              </a:spcBef>
              <a:buClr>
                <a:srgbClr val="000000"/>
              </a:buClr>
              <a:buSzPct val="75000"/>
              <a:buFont typeface="Symbol" charset="2"/>
              <a:buChar char=""/>
            </a:pPr>
            <a:r>
              <a:rPr b="0" lang="en-CA" sz="2000" strike="noStrike" u="none">
                <a:solidFill>
                  <a:schemeClr val="dk1"/>
                </a:solidFill>
                <a:effectLst/>
                <a:uFillTx/>
                <a:latin typeface="Arial"/>
              </a:rPr>
              <a:t>Fourth Outline Level</a:t>
            </a:r>
            <a:endParaRPr b="0" lang="en-CA" sz="2000" strike="noStrike" u="none">
              <a:solidFill>
                <a:schemeClr val="dk1"/>
              </a:solidFill>
              <a:effectLst/>
              <a:uFillTx/>
              <a:latin typeface="Arial"/>
            </a:endParaRPr>
          </a:p>
          <a:p>
            <a:pPr lvl="4" marL="2160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Fifth Outline Level</a:t>
            </a:r>
            <a:endParaRPr b="0" lang="en-CA" sz="2000" strike="noStrike" u="none">
              <a:solidFill>
                <a:schemeClr val="dk1"/>
              </a:solidFill>
              <a:effectLst/>
              <a:uFillTx/>
              <a:latin typeface="Arial"/>
            </a:endParaRPr>
          </a:p>
          <a:p>
            <a:pPr lvl="5" marL="2592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Sixth Outline Level</a:t>
            </a:r>
            <a:endParaRPr b="0" lang="en-CA" sz="2000" strike="noStrike" u="none">
              <a:solidFill>
                <a:schemeClr val="dk1"/>
              </a:solidFill>
              <a:effectLst/>
              <a:uFillTx/>
              <a:latin typeface="Arial"/>
            </a:endParaRPr>
          </a:p>
          <a:p>
            <a:pPr lvl="6" marL="3024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Seventh Outline Level</a:t>
            </a:r>
            <a:endParaRPr b="0" lang="en-CA"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60" r:id="rId2"/>
    <p:sldLayoutId id="2147483661"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slideLayout" Target="../slideLayouts/slideLayout4.xml"/><Relationship Id="rId7"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slideLayout" Target="../slideLayouts/slideLayout6.xml"/><Relationship Id="rId9"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slideLayout" Target="../slideLayouts/slideLayout3.xml"/><Relationship Id="rId9"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6.xml"/><Relationship Id="rId10"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2.xml"/><Relationship Id="rId9"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2.xml"/><Relationship Id="rId10"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 Id="rId11" Type="http://schemas.openxmlformats.org/officeDocument/2006/relationships/image" Target="../media/image29.png"/><Relationship Id="rId12" Type="http://schemas.openxmlformats.org/officeDocument/2006/relationships/image" Target="../media/image30.png"/><Relationship Id="rId13" Type="http://schemas.openxmlformats.org/officeDocument/2006/relationships/image" Target="../media/image31.png"/><Relationship Id="rId14" Type="http://schemas.openxmlformats.org/officeDocument/2006/relationships/slideLayout" Target="../slideLayouts/slideLayout4.xml"/><Relationship Id="rId15"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 Id="rId11" Type="http://schemas.openxmlformats.org/officeDocument/2006/relationships/image" Target="../media/image29.png"/><Relationship Id="rId12" Type="http://schemas.openxmlformats.org/officeDocument/2006/relationships/image" Target="../media/image30.png"/><Relationship Id="rId13" Type="http://schemas.openxmlformats.org/officeDocument/2006/relationships/image" Target="../media/image31.png"/><Relationship Id="rId14" Type="http://schemas.openxmlformats.org/officeDocument/2006/relationships/image" Target="../media/image32.png"/><Relationship Id="rId15" Type="http://schemas.openxmlformats.org/officeDocument/2006/relationships/image" Target="../media/image33.png"/><Relationship Id="rId16" Type="http://schemas.openxmlformats.org/officeDocument/2006/relationships/image" Target="../media/image34.png"/><Relationship Id="rId17" Type="http://schemas.openxmlformats.org/officeDocument/2006/relationships/slideLayout" Target="../slideLayouts/slideLayout6.xml"/><Relationship Id="rId18"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 Id="rId11" Type="http://schemas.openxmlformats.org/officeDocument/2006/relationships/image" Target="../media/image29.png"/><Relationship Id="rId12" Type="http://schemas.openxmlformats.org/officeDocument/2006/relationships/image" Target="../media/image30.png"/><Relationship Id="rId13" Type="http://schemas.openxmlformats.org/officeDocument/2006/relationships/image" Target="../media/image31.png"/><Relationship Id="rId14" Type="http://schemas.openxmlformats.org/officeDocument/2006/relationships/image" Target="../media/image32.png"/><Relationship Id="rId15" Type="http://schemas.openxmlformats.org/officeDocument/2006/relationships/image" Target="../media/image33.png"/><Relationship Id="rId16" Type="http://schemas.openxmlformats.org/officeDocument/2006/relationships/slideLayout" Target="../slideLayouts/slideLayout3.xml"/><Relationship Id="rId17"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slideLayout" Target="../slideLayouts/slideLayout4.xml"/><Relationship Id="rId8"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43.png"/><Relationship Id="rId10" Type="http://schemas.openxmlformats.org/officeDocument/2006/relationships/image" Target="../media/image44.png"/><Relationship Id="rId11" Type="http://schemas.openxmlformats.org/officeDocument/2006/relationships/image" Target="../media/image45.png"/><Relationship Id="rId12" Type="http://schemas.openxmlformats.org/officeDocument/2006/relationships/image" Target="../media/image46.png"/><Relationship Id="rId13" Type="http://schemas.openxmlformats.org/officeDocument/2006/relationships/image" Target="../media/image47.png"/><Relationship Id="rId14" Type="http://schemas.openxmlformats.org/officeDocument/2006/relationships/slideLayout" Target="../slideLayouts/slideLayout6.xml"/><Relationship Id="rId15"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43.png"/><Relationship Id="rId10" Type="http://schemas.openxmlformats.org/officeDocument/2006/relationships/image" Target="../media/image44.png"/><Relationship Id="rId11" Type="http://schemas.openxmlformats.org/officeDocument/2006/relationships/image" Target="../media/image45.png"/><Relationship Id="rId12" Type="http://schemas.openxmlformats.org/officeDocument/2006/relationships/image" Target="../media/image46.png"/><Relationship Id="rId13" Type="http://schemas.openxmlformats.org/officeDocument/2006/relationships/slideLayout" Target="../slideLayouts/slideLayout3.xml"/><Relationship Id="rId14"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 Id="rId11" Type="http://schemas.openxmlformats.org/officeDocument/2006/relationships/image" Target="../media/image29.png"/><Relationship Id="rId12" Type="http://schemas.openxmlformats.org/officeDocument/2006/relationships/image" Target="../media/image30.png"/><Relationship Id="rId13" Type="http://schemas.openxmlformats.org/officeDocument/2006/relationships/image" Target="../media/image31.png"/><Relationship Id="rId14" Type="http://schemas.openxmlformats.org/officeDocument/2006/relationships/image" Target="../media/image32.png"/><Relationship Id="rId15" Type="http://schemas.openxmlformats.org/officeDocument/2006/relationships/image" Target="../media/image33.png"/><Relationship Id="rId16" Type="http://schemas.openxmlformats.org/officeDocument/2006/relationships/image" Target="../media/image34.png"/><Relationship Id="rId17" Type="http://schemas.openxmlformats.org/officeDocument/2006/relationships/slideLayout" Target="../slideLayouts/slideLayout3.xml"/><Relationship Id="rId18"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43.png"/><Relationship Id="rId10" Type="http://schemas.openxmlformats.org/officeDocument/2006/relationships/image" Target="../media/image44.png"/><Relationship Id="rId11" Type="http://schemas.openxmlformats.org/officeDocument/2006/relationships/image" Target="../media/image45.png"/><Relationship Id="rId12" Type="http://schemas.openxmlformats.org/officeDocument/2006/relationships/image" Target="../media/image46.png"/><Relationship Id="rId13" Type="http://schemas.openxmlformats.org/officeDocument/2006/relationships/image" Target="../media/image47.png"/><Relationship Id="rId14" Type="http://schemas.openxmlformats.org/officeDocument/2006/relationships/slideLayout" Target="../slideLayouts/slideLayout3.xml"/><Relationship Id="rId15"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48.png"/><Relationship Id="rId2" Type="http://schemas.openxmlformats.org/officeDocument/2006/relationships/image" Target="../media/image49.png"/><Relationship Id="rId3" Type="http://schemas.openxmlformats.org/officeDocument/2006/relationships/slideLayout" Target="../slideLayouts/slideLayout2.xml"/><Relationship Id="rId4"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50.png"/><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slideLayout" Target="../slideLayouts/slideLayout3.xml"/><Relationship Id="rId6"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50.png"/><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slideLayout" Target="../slideLayouts/slideLayout4.xml"/><Relationship Id="rId7"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50.png"/><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slideLayout" Target="../slideLayouts/slideLayout6.xml"/><Relationship Id="rId7"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55.png"/><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slideLayout" Target="../slideLayouts/slideLayout3.xml"/><Relationship Id="rId7"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55.png"/><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slideLayout" Target="../slideLayouts/slideLayout6.xml"/><Relationship Id="rId11"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55.png"/><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 Id="rId8" Type="http://schemas.openxmlformats.org/officeDocument/2006/relationships/slideLayout" Target="../slideLayouts/slideLayout3.xml"/><Relationship Id="rId9"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55.png"/><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slideLayout" Target="../slideLayouts/slideLayout3.xml"/><Relationship Id="rId11"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64.png"/><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slideLayout" Target="../slideLayouts/slideLayout4.xml"/><Relationship Id="rId6"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64.png"/><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69.png"/><Relationship Id="rId7" Type="http://schemas.openxmlformats.org/officeDocument/2006/relationships/image" Target="../media/image70.png"/><Relationship Id="rId8" Type="http://schemas.openxmlformats.org/officeDocument/2006/relationships/slideLayout" Target="../slideLayouts/slideLayout6.xml"/><Relationship Id="rId9"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image" Target="../media/image64.png"/><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slideLayout" Target="../slideLayouts/slideLayout3.xml"/><Relationship Id="rId7"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image" Target="../media/image64.png"/><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69.png"/><Relationship Id="rId7" Type="http://schemas.openxmlformats.org/officeDocument/2006/relationships/image" Target="../media/image70.png"/><Relationship Id="rId8" Type="http://schemas.openxmlformats.org/officeDocument/2006/relationships/slideLayout" Target="../slideLayouts/slideLayout3.xml"/><Relationship Id="rId9"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6.xml"/><Relationship Id="rId6"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image" Target="../media/image75.png"/><Relationship Id="rId2" Type="http://schemas.openxmlformats.org/officeDocument/2006/relationships/image" Target="../media/image76.png"/><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slideLayout" Target="../slideLayouts/slideLayout4.xml"/><Relationship Id="rId6"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image" Target="../media/image75.png"/><Relationship Id="rId2" Type="http://schemas.openxmlformats.org/officeDocument/2006/relationships/image" Target="../media/image76.png"/><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 Id="rId7" Type="http://schemas.openxmlformats.org/officeDocument/2006/relationships/image" Target="../media/image81.png"/><Relationship Id="rId8" Type="http://schemas.openxmlformats.org/officeDocument/2006/relationships/slideLayout" Target="../slideLayouts/slideLayout5.xml"/><Relationship Id="rId9"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image" Target="../media/image75.png"/><Relationship Id="rId2" Type="http://schemas.openxmlformats.org/officeDocument/2006/relationships/image" Target="../media/image76.png"/><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 Id="rId7" Type="http://schemas.openxmlformats.org/officeDocument/2006/relationships/image" Target="../media/image81.png"/><Relationship Id="rId8" Type="http://schemas.openxmlformats.org/officeDocument/2006/relationships/slideLayout" Target="../slideLayouts/slideLayout3.xml"/><Relationship Id="rId9"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image" Target="../media/image82.png"/><Relationship Id="rId2" Type="http://schemas.openxmlformats.org/officeDocument/2006/relationships/image" Target="../media/image83.png"/><Relationship Id="rId3" Type="http://schemas.openxmlformats.org/officeDocument/2006/relationships/slideLayout" Target="../slideLayouts/slideLayout4.xml"/><Relationship Id="rId4"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image" Target="../media/image82.png"/><Relationship Id="rId2" Type="http://schemas.openxmlformats.org/officeDocument/2006/relationships/image" Target="../media/image83.png"/><Relationship Id="rId3" Type="http://schemas.openxmlformats.org/officeDocument/2006/relationships/image" Target="../media/image84.png"/><Relationship Id="rId4" Type="http://schemas.openxmlformats.org/officeDocument/2006/relationships/image" Target="../media/image85.png"/><Relationship Id="rId5" Type="http://schemas.openxmlformats.org/officeDocument/2006/relationships/slideLayout" Target="../slideLayouts/slideLayout6.xml"/><Relationship Id="rId6"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image" Target="../media/image82.png"/><Relationship Id="rId2" Type="http://schemas.openxmlformats.org/officeDocument/2006/relationships/image" Target="../media/image83.png"/><Relationship Id="rId3" Type="http://schemas.openxmlformats.org/officeDocument/2006/relationships/image" Target="../media/image84.png"/><Relationship Id="rId4" Type="http://schemas.openxmlformats.org/officeDocument/2006/relationships/image" Target="../media/image85.png"/><Relationship Id="rId5" Type="http://schemas.openxmlformats.org/officeDocument/2006/relationships/slideLayout" Target="../slideLayouts/slideLayout3.xml"/><Relationship Id="rId6"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image" Target="../media/image86.png"/><Relationship Id="rId2" Type="http://schemas.openxmlformats.org/officeDocument/2006/relationships/image" Target="../media/image87.png"/><Relationship Id="rId3" Type="http://schemas.openxmlformats.org/officeDocument/2006/relationships/image" Target="../media/image88.png"/><Relationship Id="rId4" Type="http://schemas.openxmlformats.org/officeDocument/2006/relationships/image" Target="../media/image89.png"/><Relationship Id="rId5" Type="http://schemas.openxmlformats.org/officeDocument/2006/relationships/image" Target="../media/image90.png"/><Relationship Id="rId6" Type="http://schemas.openxmlformats.org/officeDocument/2006/relationships/slideLayout" Target="../slideLayouts/slideLayout4.xml"/><Relationship Id="rId7"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image" Target="../media/image86.png"/><Relationship Id="rId2" Type="http://schemas.openxmlformats.org/officeDocument/2006/relationships/image" Target="../media/image87.png"/><Relationship Id="rId3" Type="http://schemas.openxmlformats.org/officeDocument/2006/relationships/image" Target="../media/image88.png"/><Relationship Id="rId4" Type="http://schemas.openxmlformats.org/officeDocument/2006/relationships/image" Target="../media/image89.png"/><Relationship Id="rId5" Type="http://schemas.openxmlformats.org/officeDocument/2006/relationships/image" Target="../media/image90.png"/><Relationship Id="rId6" Type="http://schemas.openxmlformats.org/officeDocument/2006/relationships/slideLayout" Target="../slideLayouts/slideLayout6.xml"/><Relationship Id="rId7"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6.xml"/><Relationship Id="rId7"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image" Target="../media/image96.png"/><Relationship Id="rId2" Type="http://schemas.openxmlformats.org/officeDocument/2006/relationships/image" Target="../media/image97.png"/><Relationship Id="rId3" Type="http://schemas.openxmlformats.org/officeDocument/2006/relationships/image" Target="../media/image98.png"/><Relationship Id="rId4" Type="http://schemas.openxmlformats.org/officeDocument/2006/relationships/slideLayout" Target="../slideLayouts/slideLayout4.xml"/><Relationship Id="rId5"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image" Target="../media/image96.png"/><Relationship Id="rId2" Type="http://schemas.openxmlformats.org/officeDocument/2006/relationships/image" Target="../media/image97.png"/><Relationship Id="rId3" Type="http://schemas.openxmlformats.org/officeDocument/2006/relationships/image" Target="../media/image98.png"/><Relationship Id="rId4" Type="http://schemas.openxmlformats.org/officeDocument/2006/relationships/slideLayout" Target="../slideLayouts/slideLayout6.xml"/><Relationship Id="rId5" Type="http://schemas.openxmlformats.org/officeDocument/2006/relationships/notesSlide" Target="../notesSlides/notesSlide72.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
</Relationships>
</file>

<file path=ppt/slides/_rels/slide77.xml.rels><?xml version="1.0" encoding="UTF-8"?>
<Relationships xmlns="http://schemas.openxmlformats.org/package/2006/relationships"><Relationship Id="rId1" Type="http://schemas.openxmlformats.org/officeDocument/2006/relationships/image" Target="../media/image99.png"/><Relationship Id="rId2" Type="http://schemas.openxmlformats.org/officeDocument/2006/relationships/image" Target="../media/image100.png"/><Relationship Id="rId3" Type="http://schemas.openxmlformats.org/officeDocument/2006/relationships/image" Target="../media/image101.png"/><Relationship Id="rId4" Type="http://schemas.openxmlformats.org/officeDocument/2006/relationships/image" Target="../media/image102.png"/><Relationship Id="rId5" Type="http://schemas.openxmlformats.org/officeDocument/2006/relationships/image" Target="../media/image103.png"/><Relationship Id="rId6" Type="http://schemas.openxmlformats.org/officeDocument/2006/relationships/slideLayout" Target="../slideLayouts/slideLayout4.xml"/><Relationship Id="rId7" Type="http://schemas.openxmlformats.org/officeDocument/2006/relationships/notesSlide" Target="../notesSlides/notesSlide77.xml"/>
</Relationships>
</file>

<file path=ppt/slides/_rels/slide78.xml.rels><?xml version="1.0" encoding="UTF-8"?>
<Relationships xmlns="http://schemas.openxmlformats.org/package/2006/relationships"><Relationship Id="rId1" Type="http://schemas.openxmlformats.org/officeDocument/2006/relationships/image" Target="../media/image99.png"/><Relationship Id="rId2" Type="http://schemas.openxmlformats.org/officeDocument/2006/relationships/image" Target="../media/image100.png"/><Relationship Id="rId3" Type="http://schemas.openxmlformats.org/officeDocument/2006/relationships/image" Target="../media/image101.png"/><Relationship Id="rId4" Type="http://schemas.openxmlformats.org/officeDocument/2006/relationships/image" Target="../media/image102.png"/><Relationship Id="rId5" Type="http://schemas.openxmlformats.org/officeDocument/2006/relationships/image" Target="../media/image103.png"/><Relationship Id="rId6" Type="http://schemas.openxmlformats.org/officeDocument/2006/relationships/slideLayout" Target="../slideLayouts/slideLayout6.xml"/><Relationship Id="rId7" Type="http://schemas.openxmlformats.org/officeDocument/2006/relationships/notesSlide" Target="../notesSlides/notesSlide78.xml"/>
</Relationships>
</file>

<file path=ppt/slides/_rels/slide7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
</Relationships>
</file>

<file path=ppt/slides/_rels/slide8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
</Relationships>
</file>

<file path=ppt/slides/_rels/slide81.xml.rels><?xml version="1.0" encoding="UTF-8"?>
<Relationships xmlns="http://schemas.openxmlformats.org/package/2006/relationships"><Relationship Id="rId1" Type="http://schemas.openxmlformats.org/officeDocument/2006/relationships/image" Target="../media/image104.png"/><Relationship Id="rId2" Type="http://schemas.openxmlformats.org/officeDocument/2006/relationships/image" Target="../media/image105.png"/><Relationship Id="rId3" Type="http://schemas.openxmlformats.org/officeDocument/2006/relationships/image" Target="../media/image106.png"/><Relationship Id="rId4" Type="http://schemas.openxmlformats.org/officeDocument/2006/relationships/image" Target="../media/image107.png"/><Relationship Id="rId5" Type="http://schemas.openxmlformats.org/officeDocument/2006/relationships/slideLayout" Target="../slideLayouts/slideLayout4.xml"/><Relationship Id="rId6" Type="http://schemas.openxmlformats.org/officeDocument/2006/relationships/notesSlide" Target="../notesSlides/notesSlide81.xml"/>
</Relationships>
</file>

<file path=ppt/slides/_rels/slide82.xml.rels><?xml version="1.0" encoding="UTF-8"?>
<Relationships xmlns="http://schemas.openxmlformats.org/package/2006/relationships"><Relationship Id="rId1" Type="http://schemas.openxmlformats.org/officeDocument/2006/relationships/image" Target="../media/image104.png"/><Relationship Id="rId2" Type="http://schemas.openxmlformats.org/officeDocument/2006/relationships/image" Target="../media/image105.png"/><Relationship Id="rId3" Type="http://schemas.openxmlformats.org/officeDocument/2006/relationships/image" Target="../media/image106.png"/><Relationship Id="rId4" Type="http://schemas.openxmlformats.org/officeDocument/2006/relationships/image" Target="../media/image107.png"/><Relationship Id="rId5" Type="http://schemas.openxmlformats.org/officeDocument/2006/relationships/image" Target="../media/image108.png"/><Relationship Id="rId6" Type="http://schemas.openxmlformats.org/officeDocument/2006/relationships/image" Target="../media/image109.png"/><Relationship Id="rId7" Type="http://schemas.openxmlformats.org/officeDocument/2006/relationships/slideLayout" Target="../slideLayouts/slideLayout6.xml"/><Relationship Id="rId8" Type="http://schemas.openxmlformats.org/officeDocument/2006/relationships/notesSlide" Target="../notesSlides/notesSlide82.xml"/>
</Relationships>
</file>

<file path=ppt/slides/_rels/slide83.xml.rels><?xml version="1.0" encoding="UTF-8"?>
<Relationships xmlns="http://schemas.openxmlformats.org/package/2006/relationships"><Relationship Id="rId1" Type="http://schemas.openxmlformats.org/officeDocument/2006/relationships/image" Target="../media/image104.png"/><Relationship Id="rId2" Type="http://schemas.openxmlformats.org/officeDocument/2006/relationships/image" Target="../media/image105.png"/><Relationship Id="rId3" Type="http://schemas.openxmlformats.org/officeDocument/2006/relationships/image" Target="../media/image106.png"/><Relationship Id="rId4" Type="http://schemas.openxmlformats.org/officeDocument/2006/relationships/image" Target="../media/image107.png"/><Relationship Id="rId5" Type="http://schemas.openxmlformats.org/officeDocument/2006/relationships/image" Target="../media/image108.png"/><Relationship Id="rId6" Type="http://schemas.openxmlformats.org/officeDocument/2006/relationships/image" Target="../media/image109.png"/><Relationship Id="rId7" Type="http://schemas.openxmlformats.org/officeDocument/2006/relationships/slideLayout" Target="../slideLayouts/slideLayout3.xml"/><Relationship Id="rId8" Type="http://schemas.openxmlformats.org/officeDocument/2006/relationships/notesSlide" Target="../notesSlides/notesSlide83.xml"/>
</Relationships>
</file>

<file path=ppt/slides/_rels/slide8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
</Relationships>
</file>

<file path=ppt/slides/_rels/slide8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
</Relationships>
</file>

<file path=ppt/slides/_rels/slide86.xml.rels><?xml version="1.0" encoding="UTF-8"?>
<Relationships xmlns="http://schemas.openxmlformats.org/package/2006/relationships"><Relationship Id="rId1" Type="http://schemas.openxmlformats.org/officeDocument/2006/relationships/image" Target="../media/image110.png"/><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 Id="rId6" Type="http://schemas.openxmlformats.org/officeDocument/2006/relationships/image" Target="../media/image115.png"/><Relationship Id="rId7" Type="http://schemas.openxmlformats.org/officeDocument/2006/relationships/image" Target="../media/image116.png"/><Relationship Id="rId8" Type="http://schemas.openxmlformats.org/officeDocument/2006/relationships/slideLayout" Target="../slideLayouts/slideLayout4.xml"/><Relationship Id="rId9" Type="http://schemas.openxmlformats.org/officeDocument/2006/relationships/notesSlide" Target="../notesSlides/notesSlide86.xml"/>
</Relationships>
</file>

<file path=ppt/slides/_rels/slide87.xml.rels><?xml version="1.0" encoding="UTF-8"?>
<Relationships xmlns="http://schemas.openxmlformats.org/package/2006/relationships"><Relationship Id="rId1" Type="http://schemas.openxmlformats.org/officeDocument/2006/relationships/image" Target="../media/image110.png"/><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 Id="rId6" Type="http://schemas.openxmlformats.org/officeDocument/2006/relationships/image" Target="../media/image115.png"/><Relationship Id="rId7" Type="http://schemas.openxmlformats.org/officeDocument/2006/relationships/image" Target="../media/image116.png"/><Relationship Id="rId8" Type="http://schemas.openxmlformats.org/officeDocument/2006/relationships/slideLayout" Target="../slideLayouts/slideLayout6.xml"/><Relationship Id="rId9" Type="http://schemas.openxmlformats.org/officeDocument/2006/relationships/notesSlide" Target="../notesSlides/notesSlide87.xml"/>
</Relationships>
</file>

<file path=ppt/slides/_rels/slide88.xml.rels><?xml version="1.0" encoding="UTF-8"?>
<Relationships xmlns="http://schemas.openxmlformats.org/package/2006/relationships"><Relationship Id="rId1" Type="http://schemas.openxmlformats.org/officeDocument/2006/relationships/image" Target="../media/image117.png"/><Relationship Id="rId2" Type="http://schemas.openxmlformats.org/officeDocument/2006/relationships/image" Target="../media/image118.png"/><Relationship Id="rId3" Type="http://schemas.openxmlformats.org/officeDocument/2006/relationships/image" Target="../media/image119.png"/><Relationship Id="rId4" Type="http://schemas.openxmlformats.org/officeDocument/2006/relationships/image" Target="../media/image120.png"/><Relationship Id="rId5" Type="http://schemas.openxmlformats.org/officeDocument/2006/relationships/image" Target="../media/image121.png"/><Relationship Id="rId6" Type="http://schemas.openxmlformats.org/officeDocument/2006/relationships/image" Target="../media/image122.png"/><Relationship Id="rId7" Type="http://schemas.openxmlformats.org/officeDocument/2006/relationships/image" Target="../media/image123.jpeg"/><Relationship Id="rId8" Type="http://schemas.openxmlformats.org/officeDocument/2006/relationships/slideLayout" Target="../slideLayouts/slideLayout8.xml"/><Relationship Id="rId9" Type="http://schemas.openxmlformats.org/officeDocument/2006/relationships/notesSlide" Target="../notesSlides/notesSlide88.xml"/>
</Relationships>
</file>

<file path=ppt/slides/_rels/slide89.xml.rels><?xml version="1.0" encoding="UTF-8"?>
<Relationships xmlns="http://schemas.openxmlformats.org/package/2006/relationships"><Relationship Id="rId1" Type="http://schemas.openxmlformats.org/officeDocument/2006/relationships/image" Target="../media/image117.png"/><Relationship Id="rId2" Type="http://schemas.openxmlformats.org/officeDocument/2006/relationships/image" Target="../media/image118.png"/><Relationship Id="rId3" Type="http://schemas.openxmlformats.org/officeDocument/2006/relationships/image" Target="../media/image119.png"/><Relationship Id="rId4" Type="http://schemas.openxmlformats.org/officeDocument/2006/relationships/image" Target="../media/image120.png"/><Relationship Id="rId5" Type="http://schemas.openxmlformats.org/officeDocument/2006/relationships/image" Target="../media/image121.png"/><Relationship Id="rId6" Type="http://schemas.openxmlformats.org/officeDocument/2006/relationships/image" Target="../media/image122.png"/><Relationship Id="rId7" Type="http://schemas.openxmlformats.org/officeDocument/2006/relationships/image" Target="../media/image124.png"/><Relationship Id="rId8" Type="http://schemas.openxmlformats.org/officeDocument/2006/relationships/image" Target="../media/image125.png"/><Relationship Id="rId9" Type="http://schemas.openxmlformats.org/officeDocument/2006/relationships/image" Target="../media/image123.jpeg"/><Relationship Id="rId10" Type="http://schemas.openxmlformats.org/officeDocument/2006/relationships/slideLayout" Target="../slideLayouts/slideLayout8.xml"/><Relationship Id="rId11" Type="http://schemas.openxmlformats.org/officeDocument/2006/relationships/notesSlide" Target="../notesSlides/notesSlide89.xml"/>
</Relationships>
</file>

<file path=ppt/slides/_rels/slide90.xml.rels><?xml version="1.0" encoding="UTF-8"?>
<Relationships xmlns="http://schemas.openxmlformats.org/package/2006/relationships"><Relationship Id="rId1" Type="http://schemas.openxmlformats.org/officeDocument/2006/relationships/image" Target="../media/image123.jpeg"/><Relationship Id="rId2" Type="http://schemas.openxmlformats.org/officeDocument/2006/relationships/slideLayout" Target="../slideLayouts/slideLayout8.xml"/><Relationship Id="rId3" Type="http://schemas.openxmlformats.org/officeDocument/2006/relationships/notesSlide" Target="../notesSlides/notesSlide90.xml"/>
</Relationships>
</file>

<file path=ppt/slides/_rels/slide91.xml.rels><?xml version="1.0" encoding="UTF-8"?>
<Relationships xmlns="http://schemas.openxmlformats.org/package/2006/relationships"><Relationship Id="rId1" Type="http://schemas.openxmlformats.org/officeDocument/2006/relationships/image" Target="../media/image123.jpeg"/><Relationship Id="rId2" Type="http://schemas.openxmlformats.org/officeDocument/2006/relationships/slideLayout" Target="../slideLayouts/slideLayout8.xml"/><Relationship Id="rId3" Type="http://schemas.openxmlformats.org/officeDocument/2006/relationships/notesSlide" Target="../notesSlides/notesSlide9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6" name="Picture 7" descr=""/>
          <p:cNvPicPr/>
          <p:nvPr/>
        </p:nvPicPr>
        <p:blipFill>
          <a:blip r:embed="rId1"/>
          <a:stretch/>
        </p:blipFill>
        <p:spPr>
          <a:xfrm>
            <a:off x="228600" y="380880"/>
            <a:ext cx="8683200" cy="2209320"/>
          </a:xfrm>
          <a:prstGeom prst="rect">
            <a:avLst/>
          </a:prstGeom>
          <a:noFill/>
          <a:ln w="0">
            <a:noFill/>
          </a:ln>
        </p:spPr>
      </p:pic>
      <p:sp>
        <p:nvSpPr>
          <p:cNvPr id="37" name="Text Box 5"/>
          <p:cNvSpPr/>
          <p:nvPr/>
        </p:nvSpPr>
        <p:spPr>
          <a:xfrm>
            <a:off x="6068880" y="700560"/>
            <a:ext cx="1157040" cy="1097640"/>
          </a:xfrm>
          <a:prstGeom prst="rect">
            <a:avLst/>
          </a:prstGeom>
          <a:noFill/>
          <a:ln w="0">
            <a:noFill/>
          </a:ln>
        </p:spPr>
        <p:style>
          <a:lnRef idx="0"/>
          <a:fillRef idx="0"/>
          <a:effectRef idx="0"/>
          <a:fontRef idx="minor"/>
        </p:style>
        <p:txBody>
          <a:bodyPr lIns="0" rIns="0" tIns="0" bIns="0" anchor="b">
            <a:spAutoFit/>
          </a:bodyPr>
          <a:p>
            <a:pPr algn="ctr">
              <a:lnSpc>
                <a:spcPct val="100000"/>
              </a:lnSpc>
              <a:spcBef>
                <a:spcPts val="3600"/>
              </a:spcBef>
            </a:pPr>
            <a:r>
              <a:rPr b="1" lang="en-US" sz="7200" strike="noStrike" u="none">
                <a:solidFill>
                  <a:schemeClr val="lt1"/>
                </a:solidFill>
                <a:effectLst/>
                <a:uFillTx/>
                <a:latin typeface="Arial"/>
                <a:ea typeface="ＭＳ Ｐゴシック"/>
              </a:rPr>
              <a:t>12</a:t>
            </a:r>
            <a:endParaRPr b="0" lang="en-US" sz="7200" strike="noStrike" u="none">
              <a:solidFill>
                <a:srgbClr val="000000"/>
              </a:solidFill>
              <a:effectLst/>
              <a:uFillTx/>
              <a:latin typeface="Arial"/>
            </a:endParaRPr>
          </a:p>
        </p:txBody>
      </p:sp>
      <p:sp>
        <p:nvSpPr>
          <p:cNvPr id="38" name="TextBox 6"/>
          <p:cNvSpPr/>
          <p:nvPr/>
        </p:nvSpPr>
        <p:spPr>
          <a:xfrm>
            <a:off x="231840" y="2354400"/>
            <a:ext cx="6098760" cy="821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CA" sz="2400" strike="noStrike" u="none">
                <a:solidFill>
                  <a:schemeClr val="dk1"/>
                </a:solidFill>
                <a:effectLst/>
                <a:uFillTx/>
                <a:latin typeface="Arial"/>
                <a:ea typeface="ＭＳ Ｐゴシック"/>
              </a:rPr>
              <a:t>When you have completed your </a:t>
            </a:r>
            <a:br>
              <a:rPr sz="2400"/>
            </a:br>
            <a:r>
              <a:rPr b="1" lang="en-CA" sz="2400" strike="noStrike" u="none">
                <a:solidFill>
                  <a:schemeClr val="dk1"/>
                </a:solidFill>
                <a:effectLst/>
                <a:uFillTx/>
                <a:latin typeface="Arial"/>
                <a:ea typeface="ＭＳ Ｐゴシック"/>
              </a:rPr>
              <a:t>study of this chapter, you will be able to</a:t>
            </a:r>
            <a:endParaRPr b="0" lang="en-US" sz="2400" strike="noStrike" u="none">
              <a:solidFill>
                <a:srgbClr val="000000"/>
              </a:solidFill>
              <a:effectLst/>
              <a:uFillTx/>
              <a:latin typeface="Arial"/>
            </a:endParaRPr>
          </a:p>
        </p:txBody>
      </p:sp>
      <p:sp>
        <p:nvSpPr>
          <p:cNvPr id="39" name="TextBox 7"/>
          <p:cNvSpPr/>
          <p:nvPr/>
        </p:nvSpPr>
        <p:spPr>
          <a:xfrm>
            <a:off x="360360" y="3240000"/>
            <a:ext cx="8454600" cy="2615760"/>
          </a:xfrm>
          <a:prstGeom prst="rect">
            <a:avLst/>
          </a:prstGeom>
          <a:noFill/>
          <a:ln w="0">
            <a:noFill/>
          </a:ln>
        </p:spPr>
        <p:style>
          <a:lnRef idx="0"/>
          <a:fillRef idx="0"/>
          <a:effectRef idx="0"/>
          <a:fontRef idx="minor"/>
        </p:style>
        <p:txBody>
          <a:bodyPr lIns="90000" rIns="90000" tIns="45000" bIns="45000" anchor="t">
            <a:spAutoFit/>
          </a:bodyPr>
          <a:p>
            <a:pPr marL="108000" defTabSz="457200">
              <a:lnSpc>
                <a:spcPct val="100000"/>
              </a:lnSpc>
              <a:spcBef>
                <a:spcPts val="601"/>
              </a:spcBef>
              <a:spcAft>
                <a:spcPts val="601"/>
              </a:spcAft>
            </a:pPr>
            <a:r>
              <a:rPr b="1" lang="en-US" sz="2400" strike="noStrike" u="none">
                <a:solidFill>
                  <a:srgbClr val="ff0000"/>
                </a:solidFill>
                <a:effectLst/>
                <a:uFillTx/>
                <a:latin typeface="Arial"/>
                <a:ea typeface="ＭＳ Ｐゴシック"/>
              </a:rPr>
              <a:t>1</a:t>
            </a:r>
            <a:r>
              <a:rPr b="1"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Explain how monopoly arises and distinguish between </a:t>
            </a:r>
            <a:r>
              <a:rPr b="0"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single-price monopoly and price-discriminating monopoly.</a:t>
            </a:r>
            <a:endParaRPr b="0" lang="en-US" sz="2400" strike="noStrike" u="none">
              <a:solidFill>
                <a:srgbClr val="000000"/>
              </a:solidFill>
              <a:effectLst/>
              <a:uFillTx/>
              <a:latin typeface="Arial"/>
            </a:endParaRPr>
          </a:p>
          <a:p>
            <a:pPr marL="108000" defTabSz="457200">
              <a:lnSpc>
                <a:spcPct val="100000"/>
              </a:lnSpc>
              <a:spcBef>
                <a:spcPts val="601"/>
              </a:spcBef>
              <a:spcAft>
                <a:spcPts val="601"/>
              </a:spcAft>
            </a:pPr>
            <a:r>
              <a:rPr b="1" lang="en-US" sz="2400" strike="noStrike" u="none">
                <a:solidFill>
                  <a:srgbClr val="ff0000"/>
                </a:solidFill>
                <a:effectLst/>
                <a:uFillTx/>
                <a:latin typeface="Arial"/>
                <a:ea typeface="ＭＳ Ｐゴシック"/>
              </a:rPr>
              <a:t>2</a:t>
            </a:r>
            <a:r>
              <a:rPr b="1" lang="en-US" sz="2400" strike="noStrike" u="none">
                <a:solidFill>
                  <a:srgbClr val="ff0000"/>
                </a:solidFill>
                <a:effectLst/>
                <a:uFillTx/>
                <a:latin typeface="Arial"/>
                <a:ea typeface="ＭＳ Ｐゴシック"/>
              </a:rPr>
              <a:t>	</a:t>
            </a:r>
            <a:r>
              <a:rPr b="0" lang="en-US" sz="2400" strike="noStrike" u="none">
                <a:solidFill>
                  <a:schemeClr val="dk1"/>
                </a:solidFill>
                <a:effectLst/>
                <a:uFillTx/>
                <a:latin typeface="Arial"/>
                <a:ea typeface="ＭＳ Ｐゴシック"/>
              </a:rPr>
              <a:t>Explain how a single-price monopoly determines its </a:t>
            </a:r>
            <a:r>
              <a:rPr b="0"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output and price.</a:t>
            </a:r>
            <a:endParaRPr b="0" lang="en-US" sz="2400" strike="noStrike" u="none">
              <a:solidFill>
                <a:srgbClr val="000000"/>
              </a:solidFill>
              <a:effectLst/>
              <a:uFillTx/>
              <a:latin typeface="Arial"/>
            </a:endParaRPr>
          </a:p>
          <a:p>
            <a:pPr marL="108000" defTabSz="457200">
              <a:lnSpc>
                <a:spcPct val="100000"/>
              </a:lnSpc>
              <a:spcBef>
                <a:spcPts val="601"/>
              </a:spcBef>
              <a:spcAft>
                <a:spcPts val="601"/>
              </a:spcAft>
            </a:pPr>
            <a:r>
              <a:rPr b="1" lang="en-US" sz="2400" strike="noStrike" u="none">
                <a:solidFill>
                  <a:srgbClr val="ff0000"/>
                </a:solidFill>
                <a:effectLst/>
                <a:uFillTx/>
                <a:latin typeface="Arial"/>
                <a:ea typeface="ＭＳ Ｐゴシック"/>
              </a:rPr>
              <a:t>3</a:t>
            </a:r>
            <a:r>
              <a:rPr b="1" lang="en-US" sz="2400" strike="noStrike" u="none">
                <a:solidFill>
                  <a:srgbClr val="ff0000"/>
                </a:solidFill>
                <a:effectLst/>
                <a:uFillTx/>
                <a:latin typeface="Arial"/>
                <a:ea typeface="ＭＳ Ｐゴシック"/>
              </a:rPr>
              <a:t>	</a:t>
            </a:r>
            <a:r>
              <a:rPr b="0" lang="en-US" sz="2400" strike="noStrike" u="none">
                <a:solidFill>
                  <a:schemeClr val="dk1"/>
                </a:solidFill>
                <a:effectLst/>
                <a:uFillTx/>
                <a:latin typeface="Arial"/>
                <a:ea typeface="ＭＳ Ｐゴシック"/>
              </a:rPr>
              <a:t>Compare the performance of a single-price monopoly </a:t>
            </a:r>
            <a:r>
              <a:rPr b="0"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with that of perfect competition.</a:t>
            </a:r>
            <a:endParaRPr b="0" lang="en-US" sz="2400" strike="noStrike" u="none">
              <a:solidFill>
                <a:srgbClr val="000000"/>
              </a:solidFill>
              <a:effectLst/>
              <a:uFillTx/>
              <a:latin typeface="Arial"/>
            </a:endParaRPr>
          </a:p>
        </p:txBody>
      </p:sp>
      <p:sp>
        <p:nvSpPr>
          <p:cNvPr id="40" name="TextBox 9"/>
          <p:cNvSpPr/>
          <p:nvPr/>
        </p:nvSpPr>
        <p:spPr>
          <a:xfrm>
            <a:off x="5843520" y="2192400"/>
            <a:ext cx="2971440" cy="3362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1600" strike="noStrike" u="none">
                <a:solidFill>
                  <a:schemeClr val="lt1"/>
                </a:solidFill>
                <a:effectLst/>
                <a:uFillTx/>
                <a:latin typeface="Arial"/>
                <a:ea typeface="ＭＳ Ｐゴシック"/>
              </a:rPr>
              <a:t>CHAPTER CHECKLIST</a:t>
            </a:r>
            <a:endParaRPr b="0" lang="en-US" sz="1600" strike="noStrike" u="none">
              <a:solidFill>
                <a:srgbClr val="000000"/>
              </a:solidFill>
              <a:effectLst/>
              <a:uFillTx/>
              <a:latin typeface="Arial"/>
            </a:endParaRPr>
          </a:p>
        </p:txBody>
      </p:sp>
      <p:sp>
        <p:nvSpPr>
          <p:cNvPr id="41" name="Rectangle 1"/>
          <p:cNvSpPr/>
          <p:nvPr/>
        </p:nvSpPr>
        <p:spPr>
          <a:xfrm>
            <a:off x="284040" y="1523880"/>
            <a:ext cx="1902960" cy="523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CA" sz="2800" strike="noStrike" u="none">
                <a:solidFill>
                  <a:schemeClr val="dk1"/>
                </a:solidFill>
                <a:effectLst/>
                <a:uFillTx/>
                <a:latin typeface="Arial"/>
                <a:ea typeface="ＭＳ Ｐゴシック"/>
              </a:rPr>
              <a:t>Monopoly</a:t>
            </a:r>
            <a:endParaRPr b="0" lang="en-US" sz="2800" strike="noStrike" u="none">
              <a:solidFill>
                <a:srgbClr val="000000"/>
              </a:solidFill>
              <a:effectLst/>
              <a:uFillTx/>
              <a:latin typeface="Arial"/>
            </a:endParaRPr>
          </a:p>
        </p:txBody>
      </p:sp>
    </p:spTree>
  </p:cSld>
  <p:transition spd="slow">
    <p:wipe dir="r"/>
  </p:transition>
  <p:timing>
    <p:tnLst>
      <p:par>
        <p:cTn id="1" dur="indefinite" restart="never" nodeType="tmRoot">
          <p:childTnLst>
            <p:seq>
              <p:cTn id="2" dur="indefinite" nodeType="mainSeq">
                <p:childTnLst>
                  <p:par>
                    <p:cTn id="3" nodeType="clickEffect" fill="hold">
                      <p:stCondLst>
                        <p:cond delay="indefinite"/>
                      </p:stCondLst>
                      <p:childTnLst>
                        <p:par>
                          <p:cTn id="4" nodeType="withEffect" fill="hold">
                            <p:stCondLst>
                              <p:cond delay="0"/>
                            </p:stCondLst>
                            <p:childTnLst>
                              <p:par>
                                <p:cTn id="5" nodeType="clickEffect" fill="hold" presetClass="entr" presetID="22" presetSubtype="8">
                                  <p:stCondLst>
                                    <p:cond delay="0"/>
                                  </p:stCondLst>
                                  <p:childTnLst>
                                    <p:set>
                                      <p:cBhvr>
                                        <p:cTn id="6" dur="1" fill="hold">
                                          <p:stCondLst>
                                            <p:cond delay="0"/>
                                          </p:stCondLst>
                                        </p:cTn>
                                        <p:tgtEl>
                                          <p:spTgt spid="38"/>
                                        </p:tgtEl>
                                        <p:attrNameLst>
                                          <p:attrName>style.visibility</p:attrName>
                                        </p:attrNameLst>
                                      </p:cBhvr>
                                      <p:to>
                                        <p:strVal val="visible"/>
                                      </p:to>
                                    </p:set>
                                    <p:animEffect filter="wipe(left)" transition="in">
                                      <p:cBhvr additive="repl">
                                        <p:cTn id="7" dur="500"/>
                                        <p:tgtEl>
                                          <p:spTgt spid="38"/>
                                        </p:tgtEl>
                                      </p:cBhvr>
                                    </p:animEffect>
                                  </p:childTnLst>
                                </p:cTn>
                              </p:par>
                            </p:childTnLst>
                          </p:cTn>
                        </p:par>
                      </p:childTnLst>
                    </p:cTn>
                  </p:par>
                  <p:par>
                    <p:cTn id="8" nodeType="clickEffect" fill="hold">
                      <p:stCondLst>
                        <p:cond delay="indefinite"/>
                      </p:stCondLst>
                      <p:childTnLst>
                        <p:par>
                          <p:cTn id="9" nodeType="withEffect" fill="hold">
                            <p:stCondLst>
                              <p:cond delay="0"/>
                            </p:stCondLst>
                            <p:childTnLst>
                              <p:par>
                                <p:cTn id="10" nodeType="clickEffect" fill="hold" presetClass="entr" presetID="22" presetSubtype="8">
                                  <p:stCondLst>
                                    <p:cond delay="0"/>
                                  </p:stCondLst>
                                  <p:childTnLst>
                                    <p:set>
                                      <p:cBhvr>
                                        <p:cTn id="11" dur="1" fill="hold">
                                          <p:stCondLst>
                                            <p:cond delay="0"/>
                                          </p:stCondLst>
                                        </p:cTn>
                                        <p:tgtEl>
                                          <p:spTgt spid="39">
                                            <p:txEl>
                                              <p:pRg st="0" end="0"/>
                                            </p:txEl>
                                          </p:spTgt>
                                        </p:tgtEl>
                                        <p:attrNameLst>
                                          <p:attrName>style.visibility</p:attrName>
                                        </p:attrNameLst>
                                      </p:cBhvr>
                                      <p:to>
                                        <p:strVal val="visible"/>
                                      </p:to>
                                    </p:set>
                                    <p:animEffect filter="wipe(left)" transition="in">
                                      <p:cBhvr additive="repl">
                                        <p:cTn id="12" dur="1000"/>
                                        <p:tgtEl>
                                          <p:spTgt spid="39">
                                            <p:txEl>
                                              <p:pRg st="0" end="0"/>
                                            </p:txEl>
                                          </p:spTgt>
                                        </p:tgtEl>
                                      </p:cBhvr>
                                    </p:animEffect>
                                  </p:childTnLst>
                                </p:cTn>
                              </p:par>
                            </p:childTnLst>
                          </p:cTn>
                        </p:par>
                      </p:childTnLst>
                    </p:cTn>
                  </p:par>
                  <p:par>
                    <p:cTn id="13" nodeType="clickEffect" fill="hold">
                      <p:stCondLst>
                        <p:cond delay="indefinite"/>
                      </p:stCondLst>
                      <p:childTnLst>
                        <p:par>
                          <p:cTn id="14" nodeType="withEffect" fill="hold">
                            <p:stCondLst>
                              <p:cond delay="0"/>
                            </p:stCondLst>
                            <p:childTnLst>
                              <p:par>
                                <p:cTn id="15" nodeType="clickEffect" fill="hold" presetClass="entr" presetID="22" presetSubtype="8">
                                  <p:stCondLst>
                                    <p:cond delay="0"/>
                                  </p:stCondLst>
                                  <p:childTnLst>
                                    <p:set>
                                      <p:cBhvr>
                                        <p:cTn id="16" dur="1" fill="hold">
                                          <p:stCondLst>
                                            <p:cond delay="0"/>
                                          </p:stCondLst>
                                        </p:cTn>
                                        <p:tgtEl>
                                          <p:spTgt spid="39">
                                            <p:txEl>
                                              <p:pRg st="1" end="1"/>
                                            </p:txEl>
                                          </p:spTgt>
                                        </p:tgtEl>
                                        <p:attrNameLst>
                                          <p:attrName>style.visibility</p:attrName>
                                        </p:attrNameLst>
                                      </p:cBhvr>
                                      <p:to>
                                        <p:strVal val="visible"/>
                                      </p:to>
                                    </p:set>
                                    <p:animEffect filter="wipe(left)" transition="in">
                                      <p:cBhvr additive="repl">
                                        <p:cTn id="17" dur="1000"/>
                                        <p:tgtEl>
                                          <p:spTgt spid="39">
                                            <p:txEl>
                                              <p:pRg st="1" end="1"/>
                                            </p:txEl>
                                          </p:spTgt>
                                        </p:tgtEl>
                                      </p:cBhvr>
                                    </p:animEffect>
                                  </p:childTnLst>
                                </p:cTn>
                              </p:par>
                            </p:childTnLst>
                          </p:cTn>
                        </p:par>
                      </p:childTnLst>
                    </p:cTn>
                  </p:par>
                  <p:par>
                    <p:cTn id="18" nodeType="clickEffect" fill="hold">
                      <p:stCondLst>
                        <p:cond delay="indefinite"/>
                      </p:stCondLst>
                      <p:childTnLst>
                        <p:par>
                          <p:cTn id="19" nodeType="withEffect" fill="hold">
                            <p:stCondLst>
                              <p:cond delay="0"/>
                            </p:stCondLst>
                            <p:childTnLst>
                              <p:par>
                                <p:cTn id="20" nodeType="clickEffect" fill="hold" presetClass="entr" presetID="22" presetSubtype="8">
                                  <p:stCondLst>
                                    <p:cond delay="0"/>
                                  </p:stCondLst>
                                  <p:childTnLst>
                                    <p:set>
                                      <p:cBhvr>
                                        <p:cTn id="21" dur="1" fill="hold">
                                          <p:stCondLst>
                                            <p:cond delay="0"/>
                                          </p:stCondLst>
                                        </p:cTn>
                                        <p:tgtEl>
                                          <p:spTgt spid="39">
                                            <p:txEl>
                                              <p:pRg st="2" end="2"/>
                                            </p:txEl>
                                          </p:spTgt>
                                        </p:tgtEl>
                                        <p:attrNameLst>
                                          <p:attrName>style.visibility</p:attrName>
                                        </p:attrNameLst>
                                      </p:cBhvr>
                                      <p:to>
                                        <p:strVal val="visible"/>
                                      </p:to>
                                    </p:set>
                                    <p:animEffect filter="wipe(left)" transition="in">
                                      <p:cBhvr additive="repl">
                                        <p:cTn id="22" dur="1000"/>
                                        <p:tgtEl>
                                          <p:spTgt spid="39">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Rectangle 4"/>
          <p:cNvSpPr/>
          <p:nvPr/>
        </p:nvSpPr>
        <p:spPr>
          <a:xfrm>
            <a:off x="360360" y="3240000"/>
            <a:ext cx="8381520" cy="2687400"/>
          </a:xfrm>
          <a:prstGeom prst="rect">
            <a:avLst/>
          </a:prstGeom>
          <a:noFill/>
          <a:ln w="0">
            <a:noFill/>
          </a:ln>
        </p:spPr>
        <p:style>
          <a:lnRef idx="0"/>
          <a:fillRef idx="0"/>
          <a:effectRef idx="0"/>
          <a:fontRef idx="minor"/>
        </p:style>
        <p:txBody>
          <a:bodyPr lIns="90000" rIns="90000" tIns="45000" bIns="45000" anchor="t">
            <a:noAutofit/>
          </a:bodyPr>
          <a:p>
            <a:pPr marL="108000" defTabSz="509760">
              <a:lnSpc>
                <a:spcPct val="100000"/>
              </a:lnSpc>
              <a:spcBef>
                <a:spcPts val="601"/>
              </a:spcBef>
              <a:spcAft>
                <a:spcPts val="601"/>
              </a:spcAft>
            </a:pPr>
            <a:r>
              <a:rPr b="1" lang="en-US" sz="2400" strike="noStrike" u="none">
                <a:solidFill>
                  <a:srgbClr val="ff0000"/>
                </a:solidFill>
                <a:effectLst/>
                <a:uFillTx/>
                <a:latin typeface="Arial"/>
                <a:ea typeface="ＭＳ Ｐゴシック"/>
              </a:rPr>
              <a:t>4  </a:t>
            </a:r>
            <a:r>
              <a:rPr b="0" lang="en-US" sz="2400" strike="noStrike" u="none">
                <a:solidFill>
                  <a:schemeClr val="dk1"/>
                </a:solidFill>
                <a:effectLst/>
                <a:uFillTx/>
                <a:latin typeface="Arial"/>
                <a:ea typeface="ＭＳ Ｐゴシック"/>
              </a:rPr>
              <a:t>Explain how price discrimination increases profit.</a:t>
            </a:r>
            <a:endParaRPr b="0" lang="en-US" sz="2400" strike="noStrike" u="none">
              <a:solidFill>
                <a:srgbClr val="000000"/>
              </a:solidFill>
              <a:effectLst/>
              <a:uFillTx/>
              <a:latin typeface="Arial"/>
            </a:endParaRPr>
          </a:p>
          <a:p>
            <a:pPr marL="108000" defTabSz="509760">
              <a:lnSpc>
                <a:spcPct val="100000"/>
              </a:lnSpc>
              <a:spcBef>
                <a:spcPts val="601"/>
              </a:spcBef>
              <a:spcAft>
                <a:spcPts val="601"/>
              </a:spcAft>
            </a:pPr>
            <a:r>
              <a:rPr b="1" lang="en-US" sz="2400" strike="noStrike" u="none">
                <a:solidFill>
                  <a:srgbClr val="ff0000"/>
                </a:solidFill>
                <a:effectLst/>
                <a:uFillTx/>
                <a:latin typeface="Arial"/>
                <a:ea typeface="ＭＳ Ｐゴシック"/>
              </a:rPr>
              <a:t>5  </a:t>
            </a:r>
            <a:r>
              <a:rPr b="0" lang="en-US" sz="2400" strike="noStrike" u="none">
                <a:solidFill>
                  <a:schemeClr val="dk1"/>
                </a:solidFill>
                <a:effectLst/>
                <a:uFillTx/>
                <a:latin typeface="Arial"/>
                <a:ea typeface="ＭＳ Ｐゴシック"/>
              </a:rPr>
              <a:t>Explain why natural monopoly is regulated and the                              </a:t>
            </a:r>
            <a:r>
              <a:rPr b="0" lang="en-US" sz="2400" strike="noStrike" u="none">
                <a:solidFill>
                  <a:schemeClr val="lt1"/>
                </a:solidFill>
                <a:effectLst/>
                <a:uFillTx/>
                <a:latin typeface="Arial"/>
                <a:ea typeface="ＭＳ Ｐゴシック"/>
              </a:rPr>
              <a:t>a  </a:t>
            </a:r>
            <a:r>
              <a:rPr b="0" lang="en-US" sz="2400" strike="noStrike" u="none">
                <a:solidFill>
                  <a:schemeClr val="dk1"/>
                </a:solidFill>
                <a:effectLst/>
                <a:uFillTx/>
                <a:latin typeface="Arial"/>
                <a:ea typeface="ＭＳ Ｐゴシック"/>
              </a:rPr>
              <a:t>effects of regulation.</a:t>
            </a:r>
            <a:endParaRPr b="0" lang="en-US" sz="2400" strike="noStrike" u="none">
              <a:solidFill>
                <a:srgbClr val="000000"/>
              </a:solidFill>
              <a:effectLst/>
              <a:uFillTx/>
              <a:latin typeface="Arial"/>
            </a:endParaRPr>
          </a:p>
        </p:txBody>
      </p:sp>
      <p:pic>
        <p:nvPicPr>
          <p:cNvPr id="43" name="Picture 7" descr=""/>
          <p:cNvPicPr/>
          <p:nvPr/>
        </p:nvPicPr>
        <p:blipFill>
          <a:blip r:embed="rId1"/>
          <a:stretch/>
        </p:blipFill>
        <p:spPr>
          <a:xfrm>
            <a:off x="228600" y="380880"/>
            <a:ext cx="8683200" cy="2209320"/>
          </a:xfrm>
          <a:prstGeom prst="rect">
            <a:avLst/>
          </a:prstGeom>
          <a:noFill/>
          <a:ln w="0">
            <a:noFill/>
          </a:ln>
        </p:spPr>
      </p:pic>
      <p:sp>
        <p:nvSpPr>
          <p:cNvPr id="44" name="Text Box 5"/>
          <p:cNvSpPr/>
          <p:nvPr/>
        </p:nvSpPr>
        <p:spPr>
          <a:xfrm>
            <a:off x="6068880" y="690480"/>
            <a:ext cx="1157040" cy="1107720"/>
          </a:xfrm>
          <a:prstGeom prst="rect">
            <a:avLst/>
          </a:prstGeom>
          <a:noFill/>
          <a:ln w="0">
            <a:noFill/>
          </a:ln>
        </p:spPr>
        <p:style>
          <a:lnRef idx="0"/>
          <a:fillRef idx="0"/>
          <a:effectRef idx="0"/>
          <a:fontRef idx="minor"/>
        </p:style>
        <p:txBody>
          <a:bodyPr lIns="0" rIns="0" tIns="0" bIns="0" anchor="b">
            <a:spAutoFit/>
          </a:bodyPr>
          <a:p>
            <a:pPr algn="ctr">
              <a:lnSpc>
                <a:spcPct val="100000"/>
              </a:lnSpc>
              <a:spcBef>
                <a:spcPts val="3600"/>
              </a:spcBef>
            </a:pPr>
            <a:r>
              <a:rPr b="1" lang="en-US" sz="7200" strike="noStrike" u="none">
                <a:solidFill>
                  <a:schemeClr val="lt1"/>
                </a:solidFill>
                <a:effectLst/>
                <a:uFillTx/>
                <a:latin typeface="Arial"/>
                <a:ea typeface="ＭＳ Ｐゴシック"/>
              </a:rPr>
              <a:t>16</a:t>
            </a:r>
            <a:endParaRPr b="0" lang="en-US" sz="7200" strike="noStrike" u="none">
              <a:solidFill>
                <a:srgbClr val="000000"/>
              </a:solidFill>
              <a:effectLst/>
              <a:uFillTx/>
              <a:latin typeface="Arial"/>
            </a:endParaRPr>
          </a:p>
        </p:txBody>
      </p:sp>
      <p:sp>
        <p:nvSpPr>
          <p:cNvPr id="45" name="TextBox 6"/>
          <p:cNvSpPr/>
          <p:nvPr/>
        </p:nvSpPr>
        <p:spPr>
          <a:xfrm>
            <a:off x="231840" y="2354400"/>
            <a:ext cx="6098760" cy="821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CA" sz="2400" strike="noStrike" u="none">
                <a:solidFill>
                  <a:schemeClr val="dk1"/>
                </a:solidFill>
                <a:effectLst/>
                <a:uFillTx/>
                <a:latin typeface="Arial"/>
                <a:ea typeface="ＭＳ Ｐゴシック"/>
              </a:rPr>
              <a:t>When you have completed your </a:t>
            </a:r>
            <a:br>
              <a:rPr sz="2400"/>
            </a:br>
            <a:r>
              <a:rPr b="1" lang="en-CA" sz="2400" strike="noStrike" u="none">
                <a:solidFill>
                  <a:schemeClr val="dk1"/>
                </a:solidFill>
                <a:effectLst/>
                <a:uFillTx/>
                <a:latin typeface="Arial"/>
                <a:ea typeface="ＭＳ Ｐゴシック"/>
              </a:rPr>
              <a:t>study of this chapter, you will be able to</a:t>
            </a:r>
            <a:endParaRPr b="0" lang="en-US" sz="2400" strike="noStrike" u="none">
              <a:solidFill>
                <a:srgbClr val="000000"/>
              </a:solidFill>
              <a:effectLst/>
              <a:uFillTx/>
              <a:latin typeface="Arial"/>
            </a:endParaRPr>
          </a:p>
        </p:txBody>
      </p:sp>
      <p:sp>
        <p:nvSpPr>
          <p:cNvPr id="46" name="TextBox 9"/>
          <p:cNvSpPr/>
          <p:nvPr/>
        </p:nvSpPr>
        <p:spPr>
          <a:xfrm>
            <a:off x="5843520" y="2192400"/>
            <a:ext cx="2971440" cy="3362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1600" strike="noStrike" u="none">
                <a:solidFill>
                  <a:schemeClr val="lt1"/>
                </a:solidFill>
                <a:effectLst/>
                <a:uFillTx/>
                <a:latin typeface="Arial"/>
                <a:ea typeface="ＭＳ Ｐゴシック"/>
              </a:rPr>
              <a:t>CHAPTER CHECKLIST</a:t>
            </a:r>
            <a:endParaRPr b="0" lang="en-US" sz="1600" strike="noStrike" u="none">
              <a:solidFill>
                <a:srgbClr val="000000"/>
              </a:solidFill>
              <a:effectLst/>
              <a:uFillTx/>
              <a:latin typeface="Arial"/>
            </a:endParaRPr>
          </a:p>
        </p:txBody>
      </p:sp>
      <p:sp>
        <p:nvSpPr>
          <p:cNvPr id="47" name="Rectangle 1"/>
          <p:cNvSpPr/>
          <p:nvPr/>
        </p:nvSpPr>
        <p:spPr>
          <a:xfrm>
            <a:off x="284040" y="1523880"/>
            <a:ext cx="1902960" cy="523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CA" sz="2800" strike="noStrike" u="none">
                <a:solidFill>
                  <a:schemeClr val="dk1"/>
                </a:solidFill>
                <a:effectLst/>
                <a:uFillTx/>
                <a:latin typeface="Arial"/>
                <a:ea typeface="ＭＳ Ｐゴシック"/>
              </a:rPr>
              <a:t>Monopoly</a:t>
            </a:r>
            <a:endParaRPr b="0" lang="en-US" sz="2800" strike="noStrike" u="none">
              <a:solidFill>
                <a:srgbClr val="000000"/>
              </a:solidFill>
              <a:effectLst/>
              <a:uFillTx/>
              <a:latin typeface="Arial"/>
            </a:endParaRPr>
          </a:p>
        </p:txBody>
      </p:sp>
    </p:spTree>
  </p:cSld>
  <p:transition spd="slow">
    <p:wipe dir="r"/>
  </p:transition>
  <p:timing>
    <p:tnLst>
      <p:par>
        <p:cTn id="23" dur="indefinite" restart="never" nodeType="tmRoot">
          <p:childTnLst>
            <p:seq>
              <p:cTn id="24" dur="indefinite" nodeType="mainSeq">
                <p:childTnLst>
                  <p:par>
                    <p:cTn id="25" nodeType="clickEffect" fill="hold">
                      <p:stCondLst>
                        <p:cond delay="indefinite"/>
                      </p:stCondLst>
                      <p:childTnLst>
                        <p:par>
                          <p:cTn id="26" nodeType="withEffect" fill="hold">
                            <p:stCondLst>
                              <p:cond delay="0"/>
                            </p:stCondLst>
                            <p:childTnLst>
                              <p:par>
                                <p:cTn id="27" nodeType="clickEffect" fill="hold" presetClass="entr" presetID="22" presetSubtype="8">
                                  <p:stCondLst>
                                    <p:cond delay="0"/>
                                  </p:stCondLst>
                                  <p:childTnLst>
                                    <p:set>
                                      <p:cBhvr>
                                        <p:cTn id="28" dur="1" fill="hold">
                                          <p:stCondLst>
                                            <p:cond delay="0"/>
                                          </p:stCondLst>
                                        </p:cTn>
                                        <p:tgtEl>
                                          <p:spTgt spid="42">
                                            <p:txEl>
                                              <p:pRg st="0" end="0"/>
                                            </p:txEl>
                                          </p:spTgt>
                                        </p:tgtEl>
                                        <p:attrNameLst>
                                          <p:attrName>style.visibility</p:attrName>
                                        </p:attrNameLst>
                                      </p:cBhvr>
                                      <p:to>
                                        <p:strVal val="visible"/>
                                      </p:to>
                                    </p:set>
                                    <p:animEffect filter="wipe(left)" transition="in">
                                      <p:cBhvr additive="repl">
                                        <p:cTn id="29" dur="1000"/>
                                        <p:tgtEl>
                                          <p:spTgt spid="42">
                                            <p:txEl>
                                              <p:pRg st="0" end="0"/>
                                            </p:txEl>
                                          </p:spTgt>
                                        </p:tgtEl>
                                      </p:cBhvr>
                                    </p:animEffect>
                                  </p:childTnLst>
                                </p:cTn>
                              </p:par>
                            </p:childTnLst>
                          </p:cTn>
                        </p:par>
                      </p:childTnLst>
                    </p:cTn>
                  </p:par>
                  <p:par>
                    <p:cTn id="30" nodeType="clickEffect" fill="hold">
                      <p:stCondLst>
                        <p:cond delay="indefinite"/>
                      </p:stCondLst>
                      <p:childTnLst>
                        <p:par>
                          <p:cTn id="31" nodeType="withEffect" fill="hold">
                            <p:stCondLst>
                              <p:cond delay="0"/>
                            </p:stCondLst>
                            <p:childTnLst>
                              <p:par>
                                <p:cTn id="32" nodeType="clickEffect" fill="hold" presetClass="entr" presetID="22" presetSubtype="8">
                                  <p:stCondLst>
                                    <p:cond delay="0"/>
                                  </p:stCondLst>
                                  <p:childTnLst>
                                    <p:set>
                                      <p:cBhvr>
                                        <p:cTn id="33" dur="1" fill="hold">
                                          <p:stCondLst>
                                            <p:cond delay="0"/>
                                          </p:stCondLst>
                                        </p:cTn>
                                        <p:tgtEl>
                                          <p:spTgt spid="42">
                                            <p:txEl>
                                              <p:pRg st="1" end="1"/>
                                            </p:txEl>
                                          </p:spTgt>
                                        </p:tgtEl>
                                        <p:attrNameLst>
                                          <p:attrName>style.visibility</p:attrName>
                                        </p:attrNameLst>
                                      </p:cBhvr>
                                      <p:to>
                                        <p:strVal val="visible"/>
                                      </p:to>
                                    </p:set>
                                    <p:animEffect filter="wipe(left)" transition="in">
                                      <p:cBhvr additive="repl">
                                        <p:cTn id="34" dur="1000"/>
                                        <p:tgtEl>
                                          <p:spTgt spid="42">
                                            <p:txEl>
                                              <p:pRg st="1" end="1"/>
                                            </p:txEl>
                                          </p:spTgt>
                                        </p:tgtEl>
                                      </p:cBhvr>
                                    </p:animEffect>
                                  </p:childTnLst>
                                </p:cTn>
                              </p:par>
                            </p:childTnLst>
                          </p:cTn>
                        </p:par>
                      </p:childTnLst>
                    </p:cTn>
                  </p:par>
                  <p:par>
                    <p:cTn id="35" nodeType="clickEffect" fill="hold">
                      <p:stCondLst>
                        <p:cond delay="indefinite"/>
                      </p:stCondLst>
                      <p:childTnLst>
                        <p:par>
                          <p:cTn id="36" nodeType="withEffect" fill="hold">
                            <p:stCondLst>
                              <p:cond delay="0"/>
                            </p:stCondLst>
                            <p:childTnLst>
                              <p:par>
                                <p:cTn id="37" nodeType="clickEffect" fill="hold" presetClass="entr" presetID="22" presetSubtype="8">
                                  <p:stCondLst>
                                    <p:cond delay="0"/>
                                  </p:stCondLst>
                                  <p:childTnLst>
                                    <p:set>
                                      <p:cBhvr>
                                        <p:cTn id="38" dur="1" fill="hold">
                                          <p:stCondLst>
                                            <p:cond delay="0"/>
                                          </p:stCondLst>
                                        </p:cTn>
                                        <p:tgtEl>
                                          <p:spTgt spid="45"/>
                                        </p:tgtEl>
                                        <p:attrNameLst>
                                          <p:attrName>style.visibility</p:attrName>
                                        </p:attrNameLst>
                                      </p:cBhvr>
                                      <p:to>
                                        <p:strVal val="visible"/>
                                      </p:to>
                                    </p:set>
                                    <p:animEffect filter="wipe(left)" transition="in">
                                      <p:cBhvr additive="repl">
                                        <p:cTn id="39" dur="500"/>
                                        <p:tgtEl>
                                          <p:spTgt spid="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16.1  MONOPOLY AND HOW IT ARISES</a:t>
            </a:r>
            <a:endParaRPr b="0" lang="en-CA" sz="2600" strike="noStrike" u="none">
              <a:solidFill>
                <a:schemeClr val="dk1"/>
              </a:solidFill>
              <a:effectLst/>
              <a:uFillTx/>
              <a:latin typeface="Arial"/>
            </a:endParaRPr>
          </a:p>
        </p:txBody>
      </p:sp>
      <p:sp>
        <p:nvSpPr>
          <p:cNvPr id="49"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How Monopoly Arises</a:t>
            </a:r>
            <a:endParaRPr b="1" lang="en-CA" sz="28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Monopoly arises when there are</a:t>
            </a:r>
            <a:endParaRPr b="1" lang="en-CA" sz="24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No close substitutes</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Barriers to entry</a:t>
            </a:r>
            <a:endParaRPr b="0" lang="en-CA" sz="2400" strike="noStrike" u="none">
              <a:solidFill>
                <a:schemeClr val="dk1"/>
              </a:solidFill>
              <a:effectLst/>
              <a:uFillTx/>
              <a:latin typeface="Arial"/>
            </a:endParaRPr>
          </a:p>
          <a:p>
            <a:pPr marL="360000" indent="0">
              <a:lnSpc>
                <a:spcPct val="100000"/>
              </a:lnSpc>
              <a:spcBef>
                <a:spcPts val="601"/>
              </a:spcBef>
              <a:spcAft>
                <a:spcPts val="601"/>
              </a:spcAft>
              <a:buNone/>
            </a:pPr>
            <a:r>
              <a:rPr b="1" lang="en-US" sz="2400" strike="noStrike" u="none">
                <a:solidFill>
                  <a:srgbClr val="00468f"/>
                </a:solidFill>
                <a:effectLst/>
                <a:uFillTx/>
                <a:latin typeface="Arial"/>
                <a:ea typeface="ＭＳ Ｐゴシック"/>
              </a:rPr>
              <a:t>No Close Substitutes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If a good has a close substitute, even though only one firm produces it, that firm effectively faces competition from the producers of substitutes.</a:t>
            </a:r>
            <a:endParaRPr b="1" lang="en-CA" sz="2400" strike="noStrike" u="none">
              <a:solidFill>
                <a:srgbClr val="00468f"/>
              </a:solidFill>
              <a:effectLst/>
              <a:uFillTx/>
              <a:latin typeface="Arial"/>
            </a:endParaRPr>
          </a:p>
        </p:txBody>
      </p:sp>
    </p:spTree>
  </p:cSld>
  <p:transition spd="slow">
    <p:wipe dir="r"/>
  </p:transition>
  <p:timing>
    <p:tnLst>
      <p:par>
        <p:cTn id="40" dur="indefinite" restart="never" nodeType="tmRoot">
          <p:childTnLst>
            <p:seq>
              <p:cTn id="41" dur="indefinite" nodeType="mainSeq">
                <p:childTnLst>
                  <p:par>
                    <p:cTn id="42" nodeType="clickEffect" fill="hold">
                      <p:stCondLst>
                        <p:cond delay="indefinite"/>
                      </p:stCondLst>
                      <p:childTnLst>
                        <p:par>
                          <p:cTn id="43" nodeType="withEffect" fill="hold">
                            <p:stCondLst>
                              <p:cond delay="0"/>
                            </p:stCondLst>
                            <p:childTnLst>
                              <p:par>
                                <p:cTn id="44" nodeType="clickEffect" fill="hold" presetClass="entr" presetID="22" presetSubtype="8">
                                  <p:stCondLst>
                                    <p:cond delay="0"/>
                                  </p:stCondLst>
                                  <p:childTnLst>
                                    <p:set>
                                      <p:cBhvr>
                                        <p:cTn id="45" dur="1" fill="hold">
                                          <p:stCondLst>
                                            <p:cond delay="0"/>
                                          </p:stCondLst>
                                        </p:cTn>
                                        <p:tgtEl>
                                          <p:spTgt spid="49">
                                            <p:txEl>
                                              <p:pRg st="1" end="1"/>
                                            </p:txEl>
                                          </p:spTgt>
                                        </p:tgtEl>
                                        <p:attrNameLst>
                                          <p:attrName>style.visibility</p:attrName>
                                        </p:attrNameLst>
                                      </p:cBhvr>
                                      <p:to>
                                        <p:strVal val="visible"/>
                                      </p:to>
                                    </p:set>
                                    <p:animEffect filter="wipe(left)" transition="in">
                                      <p:cBhvr additive="repl">
                                        <p:cTn id="46" dur="500"/>
                                        <p:tgtEl>
                                          <p:spTgt spid="49">
                                            <p:txEl>
                                              <p:pRg st="1" end="1"/>
                                            </p:txEl>
                                          </p:spTgt>
                                        </p:tgtEl>
                                      </p:cBhvr>
                                    </p:animEffect>
                                  </p:childTnLst>
                                </p:cTn>
                              </p:par>
                            </p:childTnLst>
                          </p:cTn>
                        </p:par>
                      </p:childTnLst>
                    </p:cTn>
                  </p:par>
                  <p:par>
                    <p:cTn id="47" nodeType="clickEffect" fill="hold">
                      <p:stCondLst>
                        <p:cond delay="indefinite"/>
                      </p:stCondLst>
                      <p:childTnLst>
                        <p:par>
                          <p:cTn id="48" nodeType="withEffect" fill="hold">
                            <p:stCondLst>
                              <p:cond delay="0"/>
                            </p:stCondLst>
                            <p:childTnLst>
                              <p:par>
                                <p:cTn id="49" nodeType="clickEffect" fill="hold" presetClass="entr" presetID="22" presetSubtype="8">
                                  <p:stCondLst>
                                    <p:cond delay="0"/>
                                  </p:stCondLst>
                                  <p:childTnLst>
                                    <p:set>
                                      <p:cBhvr>
                                        <p:cTn id="50" dur="1" fill="hold">
                                          <p:stCondLst>
                                            <p:cond delay="0"/>
                                          </p:stCondLst>
                                        </p:cTn>
                                        <p:tgtEl>
                                          <p:spTgt spid="49">
                                            <p:txEl>
                                              <p:pRg st="2" end="2"/>
                                            </p:txEl>
                                          </p:spTgt>
                                        </p:tgtEl>
                                        <p:attrNameLst>
                                          <p:attrName>style.visibility</p:attrName>
                                        </p:attrNameLst>
                                      </p:cBhvr>
                                      <p:to>
                                        <p:strVal val="visible"/>
                                      </p:to>
                                    </p:set>
                                    <p:animEffect filter="wipe(left)" transition="in">
                                      <p:cBhvr additive="repl">
                                        <p:cTn id="51" dur="500"/>
                                        <p:tgtEl>
                                          <p:spTgt spid="49">
                                            <p:txEl>
                                              <p:pRg st="2" end="2"/>
                                            </p:txEl>
                                          </p:spTgt>
                                        </p:tgtEl>
                                      </p:cBhvr>
                                    </p:animEffect>
                                  </p:childTnLst>
                                </p:cTn>
                              </p:par>
                            </p:childTnLst>
                          </p:cTn>
                        </p:par>
                      </p:childTnLst>
                    </p:cTn>
                  </p:par>
                  <p:par>
                    <p:cTn id="52" nodeType="clickEffect" fill="hold">
                      <p:stCondLst>
                        <p:cond delay="indefinite"/>
                      </p:stCondLst>
                      <p:childTnLst>
                        <p:par>
                          <p:cTn id="53" nodeType="withEffect" fill="hold">
                            <p:stCondLst>
                              <p:cond delay="0"/>
                            </p:stCondLst>
                            <p:childTnLst>
                              <p:par>
                                <p:cTn id="54" nodeType="clickEffect" fill="hold" presetClass="entr" presetID="22" presetSubtype="8">
                                  <p:stCondLst>
                                    <p:cond delay="0"/>
                                  </p:stCondLst>
                                  <p:childTnLst>
                                    <p:set>
                                      <p:cBhvr>
                                        <p:cTn id="55" dur="1" fill="hold">
                                          <p:stCondLst>
                                            <p:cond delay="0"/>
                                          </p:stCondLst>
                                        </p:cTn>
                                        <p:tgtEl>
                                          <p:spTgt spid="49">
                                            <p:txEl>
                                              <p:pRg st="3" end="3"/>
                                            </p:txEl>
                                          </p:spTgt>
                                        </p:tgtEl>
                                        <p:attrNameLst>
                                          <p:attrName>style.visibility</p:attrName>
                                        </p:attrNameLst>
                                      </p:cBhvr>
                                      <p:to>
                                        <p:strVal val="visible"/>
                                      </p:to>
                                    </p:set>
                                    <p:animEffect filter="wipe(left)" transition="in">
                                      <p:cBhvr additive="repl">
                                        <p:cTn id="56" dur="500"/>
                                        <p:tgtEl>
                                          <p:spTgt spid="49">
                                            <p:txEl>
                                              <p:pRg st="3" end="3"/>
                                            </p:txEl>
                                          </p:spTgt>
                                        </p:tgtEl>
                                      </p:cBhvr>
                                    </p:animEffect>
                                  </p:childTnLst>
                                </p:cTn>
                              </p:par>
                            </p:childTnLst>
                          </p:cTn>
                        </p:par>
                      </p:childTnLst>
                    </p:cTn>
                  </p:par>
                  <p:par>
                    <p:cTn id="57" nodeType="clickEffect" fill="hold">
                      <p:stCondLst>
                        <p:cond delay="indefinite"/>
                      </p:stCondLst>
                      <p:childTnLst>
                        <p:par>
                          <p:cTn id="58" nodeType="withEffect" fill="hold">
                            <p:stCondLst>
                              <p:cond delay="0"/>
                            </p:stCondLst>
                            <p:childTnLst>
                              <p:par>
                                <p:cTn id="59" nodeType="clickEffect" fill="hold" presetClass="entr" presetID="22" presetSubtype="8">
                                  <p:stCondLst>
                                    <p:cond delay="0"/>
                                  </p:stCondLst>
                                  <p:childTnLst>
                                    <p:set>
                                      <p:cBhvr>
                                        <p:cTn id="60" dur="1" fill="hold">
                                          <p:stCondLst>
                                            <p:cond delay="0"/>
                                          </p:stCondLst>
                                        </p:cTn>
                                        <p:tgtEl>
                                          <p:spTgt spid="49">
                                            <p:txEl>
                                              <p:pRg st="4" end="4"/>
                                            </p:txEl>
                                          </p:spTgt>
                                        </p:tgtEl>
                                        <p:attrNameLst>
                                          <p:attrName>style.visibility</p:attrName>
                                        </p:attrNameLst>
                                      </p:cBhvr>
                                      <p:to>
                                        <p:strVal val="visible"/>
                                      </p:to>
                                    </p:set>
                                    <p:animEffect filter="wipe(left)" transition="in">
                                      <p:cBhvr additive="repl">
                                        <p:cTn id="61" dur="500"/>
                                        <p:tgtEl>
                                          <p:spTgt spid="49">
                                            <p:txEl>
                                              <p:pRg st="4" end="4"/>
                                            </p:txEl>
                                          </p:spTgt>
                                        </p:tgtEl>
                                      </p:cBhvr>
                                    </p:animEffect>
                                  </p:childTnLst>
                                </p:cTn>
                              </p:par>
                            </p:childTnLst>
                          </p:cTn>
                        </p:par>
                      </p:childTnLst>
                    </p:cTn>
                  </p:par>
                  <p:par>
                    <p:cTn id="62" nodeType="clickEffect" fill="hold">
                      <p:stCondLst>
                        <p:cond delay="indefinite"/>
                      </p:stCondLst>
                      <p:childTnLst>
                        <p:par>
                          <p:cTn id="63" nodeType="withEffect" fill="hold">
                            <p:stCondLst>
                              <p:cond delay="0"/>
                            </p:stCondLst>
                            <p:childTnLst>
                              <p:par>
                                <p:cTn id="64" nodeType="clickEffect" fill="hold" presetClass="entr" presetID="22" presetSubtype="8">
                                  <p:stCondLst>
                                    <p:cond delay="0"/>
                                  </p:stCondLst>
                                  <p:childTnLst>
                                    <p:set>
                                      <p:cBhvr>
                                        <p:cTn id="65" dur="1" fill="hold">
                                          <p:stCondLst>
                                            <p:cond delay="0"/>
                                          </p:stCondLst>
                                        </p:cTn>
                                        <p:tgtEl>
                                          <p:spTgt spid="49">
                                            <p:txEl>
                                              <p:pRg st="5" end="5"/>
                                            </p:txEl>
                                          </p:spTgt>
                                        </p:tgtEl>
                                        <p:attrNameLst>
                                          <p:attrName>style.visibility</p:attrName>
                                        </p:attrNameLst>
                                      </p:cBhvr>
                                      <p:to>
                                        <p:strVal val="visible"/>
                                      </p:to>
                                    </p:set>
                                    <p:animEffect filter="wipe(left)" transition="in">
                                      <p:cBhvr additive="repl">
                                        <p:cTn id="66" dur="500"/>
                                        <p:tgtEl>
                                          <p:spTgt spid="49">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16.1  MONOPOLY AND HOW IT ARISES</a:t>
            </a:r>
            <a:endParaRPr b="0" lang="en-CA" sz="2600" strike="noStrike" u="none">
              <a:solidFill>
                <a:schemeClr val="dk1"/>
              </a:solidFill>
              <a:effectLst/>
              <a:uFillTx/>
              <a:latin typeface="Arial"/>
            </a:endParaRPr>
          </a:p>
        </p:txBody>
      </p:sp>
      <p:sp>
        <p:nvSpPr>
          <p:cNvPr id="51"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A Barrier to Entry</a:t>
            </a:r>
            <a:endParaRPr b="1" lang="en-CA" sz="26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Any constraint that protects a firm from competitors is a </a:t>
            </a:r>
            <a:r>
              <a:rPr b="1" lang="en-US" sz="2400" strike="noStrike" u="none">
                <a:solidFill>
                  <a:srgbClr val="ff0000"/>
                </a:solidFill>
                <a:effectLst/>
                <a:uFillTx/>
                <a:latin typeface="Arial"/>
                <a:ea typeface="ＭＳ Ｐゴシック"/>
              </a:rPr>
              <a:t>barrier to entry</a:t>
            </a:r>
            <a:r>
              <a:rPr b="0" lang="en-US" sz="2400" strike="noStrike" u="none">
                <a:solidFill>
                  <a:srgbClr val="000000"/>
                </a:solidFill>
                <a:effectLst/>
                <a:uFillTx/>
                <a:latin typeface="Arial"/>
                <a:ea typeface="ＭＳ Ｐゴシック"/>
              </a:rPr>
              <a:t>.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There are two types of barrier to entry:</a:t>
            </a:r>
            <a:endParaRPr b="1" lang="en-CA" sz="24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rgbClr val="000000"/>
                </a:solidFill>
                <a:effectLst/>
                <a:uFillTx/>
                <a:latin typeface="Arial"/>
                <a:ea typeface="ＭＳ Ｐゴシック"/>
              </a:rPr>
              <a:t>Natural</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rgbClr val="000000"/>
                </a:solidFill>
                <a:effectLst/>
                <a:uFillTx/>
                <a:latin typeface="Arial"/>
                <a:ea typeface="ＭＳ Ｐゴシック"/>
              </a:rPr>
              <a:t>Legal</a:t>
            </a:r>
            <a:endParaRPr b="0" lang="en-CA" sz="2400" strike="noStrike" u="none">
              <a:solidFill>
                <a:schemeClr val="dk1"/>
              </a:solidFill>
              <a:effectLst/>
              <a:uFillTx/>
              <a:latin typeface="Arial"/>
            </a:endParaRPr>
          </a:p>
        </p:txBody>
      </p:sp>
    </p:spTree>
  </p:cSld>
  <p:transition spd="slow">
    <p:wipe dir="r"/>
  </p:transition>
  <p:timing>
    <p:tnLst>
      <p:par>
        <p:cTn id="67" dur="indefinite" restart="never" nodeType="tmRoot">
          <p:childTnLst>
            <p:seq>
              <p:cTn id="68" dur="indefinite" nodeType="mainSeq">
                <p:childTnLst>
                  <p:par>
                    <p:cTn id="69" nodeType="clickEffect" fill="hold">
                      <p:stCondLst>
                        <p:cond delay="indefinite"/>
                      </p:stCondLst>
                      <p:childTnLst>
                        <p:par>
                          <p:cTn id="70" nodeType="withEffect" fill="hold">
                            <p:stCondLst>
                              <p:cond delay="0"/>
                            </p:stCondLst>
                            <p:childTnLst>
                              <p:par>
                                <p:cTn id="71" nodeType="clickEffect" fill="hold" presetClass="entr" presetID="22" presetSubtype="8">
                                  <p:stCondLst>
                                    <p:cond delay="0"/>
                                  </p:stCondLst>
                                  <p:childTnLst>
                                    <p:set>
                                      <p:cBhvr>
                                        <p:cTn id="72" dur="1" fill="hold">
                                          <p:stCondLst>
                                            <p:cond delay="0"/>
                                          </p:stCondLst>
                                        </p:cTn>
                                        <p:tgtEl>
                                          <p:spTgt spid="51">
                                            <p:txEl>
                                              <p:pRg st="1" end="1"/>
                                            </p:txEl>
                                          </p:spTgt>
                                        </p:tgtEl>
                                        <p:attrNameLst>
                                          <p:attrName>style.visibility</p:attrName>
                                        </p:attrNameLst>
                                      </p:cBhvr>
                                      <p:to>
                                        <p:strVal val="visible"/>
                                      </p:to>
                                    </p:set>
                                    <p:animEffect filter="wipe(left)" transition="in">
                                      <p:cBhvr additive="repl">
                                        <p:cTn id="73" dur="500"/>
                                        <p:tgtEl>
                                          <p:spTgt spid="51">
                                            <p:txEl>
                                              <p:pRg st="1" end="1"/>
                                            </p:txEl>
                                          </p:spTgt>
                                        </p:tgtEl>
                                      </p:cBhvr>
                                    </p:animEffect>
                                  </p:childTnLst>
                                </p:cTn>
                              </p:par>
                            </p:childTnLst>
                          </p:cTn>
                        </p:par>
                      </p:childTnLst>
                    </p:cTn>
                  </p:par>
                  <p:par>
                    <p:cTn id="74" nodeType="clickEffect" fill="hold">
                      <p:stCondLst>
                        <p:cond delay="indefinite"/>
                      </p:stCondLst>
                      <p:childTnLst>
                        <p:par>
                          <p:cTn id="75" nodeType="withEffect" fill="hold">
                            <p:stCondLst>
                              <p:cond delay="0"/>
                            </p:stCondLst>
                            <p:childTnLst>
                              <p:par>
                                <p:cTn id="76" nodeType="clickEffect" fill="hold" presetClass="entr" presetID="22" presetSubtype="8">
                                  <p:stCondLst>
                                    <p:cond delay="0"/>
                                  </p:stCondLst>
                                  <p:childTnLst>
                                    <p:set>
                                      <p:cBhvr>
                                        <p:cTn id="77" dur="1" fill="hold">
                                          <p:stCondLst>
                                            <p:cond delay="0"/>
                                          </p:stCondLst>
                                        </p:cTn>
                                        <p:tgtEl>
                                          <p:spTgt spid="51">
                                            <p:txEl>
                                              <p:pRg st="2" end="2"/>
                                            </p:txEl>
                                          </p:spTgt>
                                        </p:tgtEl>
                                        <p:attrNameLst>
                                          <p:attrName>style.visibility</p:attrName>
                                        </p:attrNameLst>
                                      </p:cBhvr>
                                      <p:to>
                                        <p:strVal val="visible"/>
                                      </p:to>
                                    </p:set>
                                    <p:animEffect filter="wipe(left)" transition="in">
                                      <p:cBhvr additive="repl">
                                        <p:cTn id="78" dur="500"/>
                                        <p:tgtEl>
                                          <p:spTgt spid="51">
                                            <p:txEl>
                                              <p:pRg st="2" end="2"/>
                                            </p:txEl>
                                          </p:spTgt>
                                        </p:tgtEl>
                                      </p:cBhvr>
                                    </p:animEffect>
                                  </p:childTnLst>
                                </p:cTn>
                              </p:par>
                            </p:childTnLst>
                          </p:cTn>
                        </p:par>
                      </p:childTnLst>
                    </p:cTn>
                  </p:par>
                  <p:par>
                    <p:cTn id="79" nodeType="clickEffect" fill="hold">
                      <p:stCondLst>
                        <p:cond delay="indefinite"/>
                      </p:stCondLst>
                      <p:childTnLst>
                        <p:par>
                          <p:cTn id="80" nodeType="withEffect" fill="hold">
                            <p:stCondLst>
                              <p:cond delay="0"/>
                            </p:stCondLst>
                            <p:childTnLst>
                              <p:par>
                                <p:cTn id="81" nodeType="clickEffect" fill="hold" presetClass="entr" presetID="22" presetSubtype="8">
                                  <p:stCondLst>
                                    <p:cond delay="0"/>
                                  </p:stCondLst>
                                  <p:childTnLst>
                                    <p:set>
                                      <p:cBhvr>
                                        <p:cTn id="82" dur="1" fill="hold">
                                          <p:stCondLst>
                                            <p:cond delay="0"/>
                                          </p:stCondLst>
                                        </p:cTn>
                                        <p:tgtEl>
                                          <p:spTgt spid="51">
                                            <p:txEl>
                                              <p:pRg st="3" end="3"/>
                                            </p:txEl>
                                          </p:spTgt>
                                        </p:tgtEl>
                                        <p:attrNameLst>
                                          <p:attrName>style.visibility</p:attrName>
                                        </p:attrNameLst>
                                      </p:cBhvr>
                                      <p:to>
                                        <p:strVal val="visible"/>
                                      </p:to>
                                    </p:set>
                                    <p:animEffect filter="wipe(left)" transition="in">
                                      <p:cBhvr additive="repl">
                                        <p:cTn id="83" dur="500"/>
                                        <p:tgtEl>
                                          <p:spTgt spid="51">
                                            <p:txEl>
                                              <p:pRg st="3" end="3"/>
                                            </p:txEl>
                                          </p:spTgt>
                                        </p:tgtEl>
                                      </p:cBhvr>
                                    </p:animEffect>
                                  </p:childTnLst>
                                </p:cTn>
                              </p:par>
                            </p:childTnLst>
                          </p:cTn>
                        </p:par>
                      </p:childTnLst>
                    </p:cTn>
                  </p:par>
                  <p:par>
                    <p:cTn id="84" nodeType="clickEffect" fill="hold">
                      <p:stCondLst>
                        <p:cond delay="indefinite"/>
                      </p:stCondLst>
                      <p:childTnLst>
                        <p:par>
                          <p:cTn id="85" nodeType="withEffect" fill="hold">
                            <p:stCondLst>
                              <p:cond delay="0"/>
                            </p:stCondLst>
                            <p:childTnLst>
                              <p:par>
                                <p:cTn id="86" nodeType="clickEffect" fill="hold" presetClass="entr" presetID="22" presetSubtype="8">
                                  <p:stCondLst>
                                    <p:cond delay="0"/>
                                  </p:stCondLst>
                                  <p:childTnLst>
                                    <p:set>
                                      <p:cBhvr>
                                        <p:cTn id="87" dur="1" fill="hold">
                                          <p:stCondLst>
                                            <p:cond delay="0"/>
                                          </p:stCondLst>
                                        </p:cTn>
                                        <p:tgtEl>
                                          <p:spTgt spid="51">
                                            <p:txEl>
                                              <p:pRg st="4" end="4"/>
                                            </p:txEl>
                                          </p:spTgt>
                                        </p:tgtEl>
                                        <p:attrNameLst>
                                          <p:attrName>style.visibility</p:attrName>
                                        </p:attrNameLst>
                                      </p:cBhvr>
                                      <p:to>
                                        <p:strVal val="visible"/>
                                      </p:to>
                                    </p:set>
                                    <p:animEffect filter="wipe(left)" transition="in">
                                      <p:cBhvr additive="repl">
                                        <p:cTn id="88" dur="500"/>
                                        <p:tgtEl>
                                          <p:spTgt spid="51">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16.1  MONOPOLY AND HOW IT ARISES</a:t>
            </a:r>
            <a:endParaRPr b="0" lang="en-CA" sz="2600" strike="noStrike" u="none">
              <a:solidFill>
                <a:schemeClr val="dk1"/>
              </a:solidFill>
              <a:effectLst/>
              <a:uFillTx/>
              <a:latin typeface="Arial"/>
            </a:endParaRPr>
          </a:p>
        </p:txBody>
      </p:sp>
      <p:sp>
        <p:nvSpPr>
          <p:cNvPr id="53"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1" i="1" lang="en-US" sz="2400" strike="noStrike" u="none">
                <a:solidFill>
                  <a:schemeClr val="dk1"/>
                </a:solidFill>
                <a:effectLst/>
                <a:uFillTx/>
                <a:latin typeface="Arial"/>
                <a:ea typeface="ＭＳ Ｐゴシック"/>
              </a:rPr>
              <a:t>Natural Barrier to Entry</a:t>
            </a:r>
            <a:r>
              <a:rPr b="0" lang="en-US" sz="2400" strike="noStrike" u="none">
                <a:solidFill>
                  <a:schemeClr val="dk1"/>
                </a:solidFill>
                <a:effectLst/>
                <a:uFillTx/>
                <a:latin typeface="Arial"/>
                <a:ea typeface="ＭＳ Ｐゴシック"/>
              </a:rPr>
              <a:t>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a:t>
            </a:r>
            <a:r>
              <a:rPr b="1" lang="en-US" sz="2400" strike="noStrike" u="none">
                <a:solidFill>
                  <a:srgbClr val="ff0000"/>
                </a:solidFill>
                <a:effectLst/>
                <a:uFillTx/>
                <a:latin typeface="Arial"/>
                <a:ea typeface="ＭＳ Ｐゴシック"/>
              </a:rPr>
              <a:t> natural monopoly</a:t>
            </a:r>
            <a:r>
              <a:rPr b="0" lang="en-US" sz="2400" strike="noStrike" u="none">
                <a:solidFill>
                  <a:schemeClr val="dk1"/>
                </a:solidFill>
                <a:effectLst/>
                <a:uFillTx/>
                <a:latin typeface="Arial"/>
                <a:ea typeface="ＭＳ Ｐゴシック"/>
              </a:rPr>
              <a:t> exists when the technology for producing a good or service enables one firm to meet the entire market demand at a lower price than two or more firms could.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One electric power distributor can meet the market demand for electricity at a lower cost than two or more firms could.</a:t>
            </a:r>
            <a:endParaRPr b="1" lang="en-CA" sz="2400" strike="noStrike" u="none">
              <a:solidFill>
                <a:srgbClr val="00468f"/>
              </a:solidFill>
              <a:effectLst/>
              <a:uFillTx/>
              <a:latin typeface="Arial"/>
            </a:endParaRPr>
          </a:p>
        </p:txBody>
      </p:sp>
    </p:spTree>
  </p:cSld>
  <p:transition spd="slow">
    <p:wipe dir="r"/>
  </p:transition>
  <p:timing>
    <p:tnLst>
      <p:par>
        <p:cTn id="89" dur="indefinite" restart="never" nodeType="tmRoot">
          <p:childTnLst>
            <p:seq>
              <p:cTn id="90" dur="indefinite" nodeType="mainSeq">
                <p:childTnLst>
                  <p:par>
                    <p:cTn id="91" nodeType="clickEffect" fill="hold">
                      <p:stCondLst>
                        <p:cond delay="indefinite"/>
                      </p:stCondLst>
                      <p:childTnLst>
                        <p:par>
                          <p:cTn id="92" nodeType="withEffect" fill="hold">
                            <p:stCondLst>
                              <p:cond delay="0"/>
                            </p:stCondLst>
                            <p:childTnLst>
                              <p:par>
                                <p:cTn id="93" nodeType="clickEffect" fill="hold" presetClass="entr" presetID="22" presetSubtype="8">
                                  <p:stCondLst>
                                    <p:cond delay="0"/>
                                  </p:stCondLst>
                                  <p:childTnLst>
                                    <p:set>
                                      <p:cBhvr>
                                        <p:cTn id="94" dur="1" fill="hold">
                                          <p:stCondLst>
                                            <p:cond delay="0"/>
                                          </p:stCondLst>
                                        </p:cTn>
                                        <p:tgtEl>
                                          <p:spTgt spid="53">
                                            <p:txEl>
                                              <p:pRg st="1" end="1"/>
                                            </p:txEl>
                                          </p:spTgt>
                                        </p:tgtEl>
                                        <p:attrNameLst>
                                          <p:attrName>style.visibility</p:attrName>
                                        </p:attrNameLst>
                                      </p:cBhvr>
                                      <p:to>
                                        <p:strVal val="visible"/>
                                      </p:to>
                                    </p:set>
                                    <p:animEffect filter="wipe(left)" transition="in">
                                      <p:cBhvr additive="repl">
                                        <p:cTn id="95" dur="500"/>
                                        <p:tgtEl>
                                          <p:spTgt spid="53">
                                            <p:txEl>
                                              <p:pRg st="1" end="1"/>
                                            </p:txEl>
                                          </p:spTgt>
                                        </p:tgtEl>
                                      </p:cBhvr>
                                    </p:animEffect>
                                  </p:childTnLst>
                                </p:cTn>
                              </p:par>
                            </p:childTnLst>
                          </p:cTn>
                        </p:par>
                      </p:childTnLst>
                    </p:cTn>
                  </p:par>
                  <p:par>
                    <p:cTn id="96" nodeType="clickEffect" fill="hold">
                      <p:stCondLst>
                        <p:cond delay="indefinite"/>
                      </p:stCondLst>
                      <p:childTnLst>
                        <p:par>
                          <p:cTn id="97" nodeType="withEffect" fill="hold">
                            <p:stCondLst>
                              <p:cond delay="0"/>
                            </p:stCondLst>
                            <p:childTnLst>
                              <p:par>
                                <p:cTn id="98" nodeType="clickEffect" fill="hold" presetClass="entr" presetID="22" presetSubtype="8">
                                  <p:stCondLst>
                                    <p:cond delay="0"/>
                                  </p:stCondLst>
                                  <p:childTnLst>
                                    <p:set>
                                      <p:cBhvr>
                                        <p:cTn id="99" dur="1" fill="hold">
                                          <p:stCondLst>
                                            <p:cond delay="0"/>
                                          </p:stCondLst>
                                        </p:cTn>
                                        <p:tgtEl>
                                          <p:spTgt spid="53">
                                            <p:txEl>
                                              <p:pRg st="2" end="2"/>
                                            </p:txEl>
                                          </p:spTgt>
                                        </p:tgtEl>
                                        <p:attrNameLst>
                                          <p:attrName>style.visibility</p:attrName>
                                        </p:attrNameLst>
                                      </p:cBhvr>
                                      <p:to>
                                        <p:strVal val="visible"/>
                                      </p:to>
                                    </p:set>
                                    <p:animEffect filter="wipe(left)" transition="in">
                                      <p:cBhvr additive="repl">
                                        <p:cTn id="100" dur="500"/>
                                        <p:tgtEl>
                                          <p:spTgt spid="53">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 name="Picture 9" descr=""/>
          <p:cNvPicPr/>
          <p:nvPr/>
        </p:nvPicPr>
        <p:blipFill>
          <a:blip r:embed="rId1"/>
          <a:stretch/>
        </p:blipFill>
        <p:spPr>
          <a:xfrm>
            <a:off x="3780000" y="1547640"/>
            <a:ext cx="4825800" cy="3919320"/>
          </a:xfrm>
          <a:prstGeom prst="rect">
            <a:avLst/>
          </a:prstGeom>
          <a:noFill/>
          <a:ln w="0">
            <a:noFill/>
          </a:ln>
        </p:spPr>
      </p:pic>
      <p:pic>
        <p:nvPicPr>
          <p:cNvPr id="55" name="Picture 10" descr=""/>
          <p:cNvPicPr/>
          <p:nvPr/>
        </p:nvPicPr>
        <p:blipFill>
          <a:blip r:embed="rId2"/>
          <a:stretch/>
        </p:blipFill>
        <p:spPr>
          <a:xfrm>
            <a:off x="3780000" y="1547640"/>
            <a:ext cx="4825800" cy="3919320"/>
          </a:xfrm>
          <a:prstGeom prst="rect">
            <a:avLst/>
          </a:prstGeom>
          <a:noFill/>
          <a:ln w="0">
            <a:noFill/>
          </a:ln>
        </p:spPr>
      </p:pic>
      <p:pic>
        <p:nvPicPr>
          <p:cNvPr id="56" name="Picture 11" descr=""/>
          <p:cNvPicPr/>
          <p:nvPr/>
        </p:nvPicPr>
        <p:blipFill>
          <a:blip r:embed="rId3"/>
          <a:stretch/>
        </p:blipFill>
        <p:spPr>
          <a:xfrm>
            <a:off x="3780000" y="1547640"/>
            <a:ext cx="4825800" cy="3919320"/>
          </a:xfrm>
          <a:prstGeom prst="rect">
            <a:avLst/>
          </a:prstGeom>
          <a:noFill/>
          <a:ln w="0">
            <a:noFill/>
          </a:ln>
        </p:spPr>
      </p:pic>
      <p:pic>
        <p:nvPicPr>
          <p:cNvPr id="57" name="Picture 12" descr=""/>
          <p:cNvPicPr/>
          <p:nvPr/>
        </p:nvPicPr>
        <p:blipFill>
          <a:blip r:embed="rId4"/>
          <a:stretch/>
        </p:blipFill>
        <p:spPr>
          <a:xfrm>
            <a:off x="3780000" y="1547640"/>
            <a:ext cx="4825800" cy="3919320"/>
          </a:xfrm>
          <a:prstGeom prst="rect">
            <a:avLst/>
          </a:prstGeom>
          <a:noFill/>
          <a:ln w="0">
            <a:noFill/>
          </a:ln>
        </p:spPr>
      </p:pic>
      <p:pic>
        <p:nvPicPr>
          <p:cNvPr id="58" name="Picture 13" descr=""/>
          <p:cNvPicPr/>
          <p:nvPr/>
        </p:nvPicPr>
        <p:blipFill>
          <a:blip r:embed="rId5"/>
          <a:stretch/>
        </p:blipFill>
        <p:spPr>
          <a:xfrm>
            <a:off x="3780000" y="1547640"/>
            <a:ext cx="4825800" cy="3919320"/>
          </a:xfrm>
          <a:prstGeom prst="rect">
            <a:avLst/>
          </a:prstGeom>
          <a:noFill/>
          <a:ln w="0">
            <a:noFill/>
          </a:ln>
        </p:spPr>
      </p:pic>
      <p:sp>
        <p:nvSpPr>
          <p:cNvPr id="5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16.1  MONOPOLY AND HOW IT ARISES</a:t>
            </a:r>
            <a:endParaRPr b="0" lang="en-CA" sz="2600" strike="noStrike" u="none">
              <a:solidFill>
                <a:schemeClr val="dk1"/>
              </a:solidFill>
              <a:effectLst/>
              <a:uFillTx/>
              <a:latin typeface="Arial"/>
            </a:endParaRPr>
          </a:p>
        </p:txBody>
      </p:sp>
      <p:sp>
        <p:nvSpPr>
          <p:cNvPr id="60" name="PlaceHolder 2"/>
          <p:cNvSpPr>
            <a:spLocks noGrp="1"/>
          </p:cNvSpPr>
          <p:nvPr>
            <p:ph/>
          </p:nvPr>
        </p:nvSpPr>
        <p:spPr>
          <a:xfrm>
            <a:off x="360360" y="1440000"/>
            <a:ext cx="352080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Figure 16.1 shows a natural monopoly.</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a:tabLst>
                <a:tab algn="l" pos="0"/>
              </a:tabLst>
            </a:pPr>
            <a:r>
              <a:rPr b="0" lang="en-US" sz="2400" strike="noStrike" u="none">
                <a:solidFill>
                  <a:srgbClr val="000000"/>
                </a:solidFill>
                <a:effectLst/>
                <a:uFillTx/>
                <a:latin typeface="Arial"/>
                <a:ea typeface="ＭＳ Ｐゴシック"/>
              </a:rPr>
              <a:t>Economies of scale exist over the entire </a:t>
            </a:r>
            <a:r>
              <a:rPr b="0" i="1" lang="en-US" sz="2400" strike="noStrike" u="none">
                <a:solidFill>
                  <a:srgbClr val="000000"/>
                </a:solidFill>
                <a:effectLst/>
                <a:uFillTx/>
                <a:latin typeface="Arial"/>
                <a:ea typeface="ＭＳ Ｐゴシック"/>
              </a:rPr>
              <a:t>LRAC</a:t>
            </a:r>
            <a:r>
              <a:rPr b="0" lang="en-US" sz="2400" strike="noStrike" u="none">
                <a:solidFill>
                  <a:srgbClr val="000000"/>
                </a:solidFill>
                <a:effectLst/>
                <a:uFillTx/>
                <a:latin typeface="Arial"/>
                <a:ea typeface="ＭＳ Ｐゴシック"/>
              </a:rPr>
              <a:t> curve. </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a:tabLst>
                <a:tab algn="l" pos="0"/>
              </a:tabLst>
            </a:pPr>
            <a:r>
              <a:rPr b="0" lang="en-US" sz="2400" strike="noStrike" u="none">
                <a:solidFill>
                  <a:srgbClr val="000000"/>
                </a:solidFill>
                <a:effectLst/>
                <a:uFillTx/>
                <a:latin typeface="Arial"/>
                <a:ea typeface="ＭＳ Ｐゴシック"/>
              </a:rPr>
              <a:t>One firm can distribute 4 million kilowatt hours at a</a:t>
            </a:r>
            <a:r>
              <a:rPr b="0" lang="en-US" sz="2400" strike="noStrike" u="none">
                <a:solidFill>
                  <a:srgbClr val="ffffff"/>
                </a:solidFill>
                <a:effectLst/>
                <a:uFillTx/>
                <a:latin typeface="Arial"/>
                <a:ea typeface="ＭＳ Ｐゴシック"/>
              </a:rPr>
              <a:t> </a:t>
            </a:r>
            <a:r>
              <a:rPr b="0" lang="en-US" sz="2400" strike="noStrike" u="none">
                <a:solidFill>
                  <a:srgbClr val="000000"/>
                </a:solidFill>
                <a:effectLst/>
                <a:uFillTx/>
                <a:latin typeface="Arial"/>
                <a:ea typeface="ＭＳ Ｐゴシック"/>
              </a:rPr>
              <a:t>cost of 5 cents a kilowatt-hour.</a:t>
            </a:r>
            <a:endParaRPr b="1" lang="en-CA" sz="2400" strike="noStrike" u="none">
              <a:solidFill>
                <a:srgbClr val="00468f"/>
              </a:solidFill>
              <a:effectLst/>
              <a:uFillTx/>
              <a:latin typeface="Arial"/>
            </a:endParaRPr>
          </a:p>
        </p:txBody>
      </p:sp>
    </p:spTree>
  </p:cSld>
  <p:transition spd="slow">
    <p:wipe dir="r"/>
  </p:transition>
  <p:timing>
    <p:tnLst>
      <p:par>
        <p:cTn id="101" dur="indefinite" restart="never" nodeType="tmRoot">
          <p:childTnLst>
            <p:seq>
              <p:cTn id="102" dur="indefinite" nodeType="mainSeq">
                <p:childTnLst>
                  <p:par>
                    <p:cTn id="103" nodeType="clickEffect" fill="hold">
                      <p:stCondLst>
                        <p:cond delay="0"/>
                      </p:stCondLst>
                      <p:childTnLst>
                        <p:par>
                          <p:cTn id="104" nodeType="withEffect" fill="hold">
                            <p:stCondLst>
                              <p:cond delay="0"/>
                            </p:stCondLst>
                            <p:childTnLst>
                              <p:par>
                                <p:cTn id="105" nodeType="withEffect" fill="hold" presetClass="entr" presetID="22" presetSubtype="8">
                                  <p:stCondLst>
                                    <p:cond delay="0"/>
                                  </p:stCondLst>
                                  <p:childTnLst>
                                    <p:set>
                                      <p:cBhvr>
                                        <p:cTn id="106" dur="1" fill="hold">
                                          <p:stCondLst>
                                            <p:cond delay="0"/>
                                          </p:stCondLst>
                                        </p:cTn>
                                        <p:tgtEl>
                                          <p:spTgt spid="55"/>
                                        </p:tgtEl>
                                        <p:attrNameLst>
                                          <p:attrName>style.visibility</p:attrName>
                                        </p:attrNameLst>
                                      </p:cBhvr>
                                      <p:to>
                                        <p:strVal val="visible"/>
                                      </p:to>
                                    </p:set>
                                    <p:animEffect filter="wipe(left)" transition="in">
                                      <p:cBhvr additive="repl">
                                        <p:cTn id="107" dur="1000"/>
                                        <p:tgtEl>
                                          <p:spTgt spid="55"/>
                                        </p:tgtEl>
                                      </p:cBhvr>
                                    </p:animEffect>
                                  </p:childTnLst>
                                </p:cTn>
                              </p:par>
                              <p:par>
                                <p:cTn id="108" nodeType="withEffect" fill="hold" presetClass="entr" presetID="22" presetSubtype="8">
                                  <p:stCondLst>
                                    <p:cond delay="900"/>
                                  </p:stCondLst>
                                  <p:childTnLst>
                                    <p:set>
                                      <p:cBhvr>
                                        <p:cTn id="109" dur="1" fill="hold">
                                          <p:stCondLst>
                                            <p:cond delay="0"/>
                                          </p:stCondLst>
                                        </p:cTn>
                                        <p:tgtEl>
                                          <p:spTgt spid="56"/>
                                        </p:tgtEl>
                                        <p:attrNameLst>
                                          <p:attrName>style.visibility</p:attrName>
                                        </p:attrNameLst>
                                      </p:cBhvr>
                                      <p:to>
                                        <p:strVal val="visible"/>
                                      </p:to>
                                    </p:set>
                                    <p:animEffect filter="wipe(left)" transition="in">
                                      <p:cBhvr additive="repl">
                                        <p:cTn id="110" dur="1000"/>
                                        <p:tgtEl>
                                          <p:spTgt spid="56"/>
                                        </p:tgtEl>
                                      </p:cBhvr>
                                    </p:animEffect>
                                  </p:childTnLst>
                                </p:cTn>
                              </p:par>
                            </p:childTnLst>
                          </p:cTn>
                        </p:par>
                      </p:childTnLst>
                    </p:cTn>
                  </p:par>
                  <p:par>
                    <p:cTn id="111" nodeType="clickEffect" fill="hold">
                      <p:stCondLst>
                        <p:cond delay="indefinite"/>
                      </p:stCondLst>
                      <p:childTnLst>
                        <p:par>
                          <p:cTn id="112" nodeType="withEffect" fill="hold">
                            <p:stCondLst>
                              <p:cond delay="0"/>
                            </p:stCondLst>
                            <p:childTnLst>
                              <p:par>
                                <p:cTn id="113" nodeType="clickEffect" fill="hold" presetClass="entr" presetID="22" presetSubtype="8">
                                  <p:stCondLst>
                                    <p:cond delay="0"/>
                                  </p:stCondLst>
                                  <p:childTnLst>
                                    <p:set>
                                      <p:cBhvr>
                                        <p:cTn id="114" dur="1" fill="hold">
                                          <p:stCondLst>
                                            <p:cond delay="0"/>
                                          </p:stCondLst>
                                        </p:cTn>
                                        <p:tgtEl>
                                          <p:spTgt spid="60">
                                            <p:txEl>
                                              <p:pRg st="1" end="1"/>
                                            </p:txEl>
                                          </p:spTgt>
                                        </p:tgtEl>
                                        <p:attrNameLst>
                                          <p:attrName>style.visibility</p:attrName>
                                        </p:attrNameLst>
                                      </p:cBhvr>
                                      <p:to>
                                        <p:strVal val="visible"/>
                                      </p:to>
                                    </p:set>
                                    <p:animEffect filter="wipe(left)" transition="in">
                                      <p:cBhvr additive="repl">
                                        <p:cTn id="115" dur="500"/>
                                        <p:tgtEl>
                                          <p:spTgt spid="60">
                                            <p:txEl>
                                              <p:pRg st="1" end="1"/>
                                            </p:txEl>
                                          </p:spTgt>
                                        </p:tgtEl>
                                      </p:cBhvr>
                                    </p:animEffect>
                                  </p:childTnLst>
                                </p:cTn>
                              </p:par>
                              <p:par>
                                <p:cTn id="116" nodeType="withEffect" fill="hold" presetClass="entr" presetID="10">
                                  <p:stCondLst>
                                    <p:cond delay="0"/>
                                  </p:stCondLst>
                                  <p:childTnLst>
                                    <p:set>
                                      <p:cBhvr>
                                        <p:cTn id="117" dur="1" fill="hold">
                                          <p:stCondLst>
                                            <p:cond delay="0"/>
                                          </p:stCondLst>
                                        </p:cTn>
                                        <p:tgtEl>
                                          <p:spTgt spid="57"/>
                                        </p:tgtEl>
                                        <p:attrNameLst>
                                          <p:attrName>style.visibility</p:attrName>
                                        </p:attrNameLst>
                                      </p:cBhvr>
                                      <p:to>
                                        <p:strVal val="visible"/>
                                      </p:to>
                                    </p:set>
                                    <p:animEffect filter="fade" transition="in">
                                      <p:cBhvr additive="repl">
                                        <p:cTn id="118" dur="500"/>
                                        <p:tgtEl>
                                          <p:spTgt spid="57"/>
                                        </p:tgtEl>
                                      </p:cBhvr>
                                    </p:animEffect>
                                  </p:childTnLst>
                                </p:cTn>
                              </p:par>
                            </p:childTnLst>
                          </p:cTn>
                        </p:par>
                      </p:childTnLst>
                    </p:cTn>
                  </p:par>
                  <p:par>
                    <p:cTn id="119" nodeType="clickEffect" fill="hold">
                      <p:stCondLst>
                        <p:cond delay="indefinite"/>
                      </p:stCondLst>
                      <p:childTnLst>
                        <p:par>
                          <p:cTn id="120" nodeType="withEffect" fill="hold">
                            <p:stCondLst>
                              <p:cond delay="0"/>
                            </p:stCondLst>
                            <p:childTnLst>
                              <p:par>
                                <p:cTn id="121" nodeType="clickEffect" fill="hold" presetClass="entr" presetID="22" presetSubtype="8">
                                  <p:stCondLst>
                                    <p:cond delay="0"/>
                                  </p:stCondLst>
                                  <p:childTnLst>
                                    <p:set>
                                      <p:cBhvr>
                                        <p:cTn id="122" dur="1" fill="hold">
                                          <p:stCondLst>
                                            <p:cond delay="0"/>
                                          </p:stCondLst>
                                        </p:cTn>
                                        <p:tgtEl>
                                          <p:spTgt spid="60">
                                            <p:txEl>
                                              <p:pRg st="2" end="2"/>
                                            </p:txEl>
                                          </p:spTgt>
                                        </p:tgtEl>
                                        <p:attrNameLst>
                                          <p:attrName>style.visibility</p:attrName>
                                        </p:attrNameLst>
                                      </p:cBhvr>
                                      <p:to>
                                        <p:strVal val="visible"/>
                                      </p:to>
                                    </p:set>
                                    <p:animEffect filter="wipe(left)" transition="in">
                                      <p:cBhvr additive="repl">
                                        <p:cTn id="123" dur="500"/>
                                        <p:tgtEl>
                                          <p:spTgt spid="60">
                                            <p:txEl>
                                              <p:pRg st="2" end="2"/>
                                            </p:txEl>
                                          </p:spTgt>
                                        </p:tgtEl>
                                      </p:cBhvr>
                                    </p:animEffect>
                                  </p:childTnLst>
                                </p:cTn>
                              </p:par>
                              <p:par>
                                <p:cTn id="124" nodeType="withEffect" fill="hold" presetClass="entr" presetID="10">
                                  <p:stCondLst>
                                    <p:cond delay="0"/>
                                  </p:stCondLst>
                                  <p:childTnLst>
                                    <p:set>
                                      <p:cBhvr>
                                        <p:cTn id="125" dur="1" fill="hold">
                                          <p:stCondLst>
                                            <p:cond delay="0"/>
                                          </p:stCondLst>
                                        </p:cTn>
                                        <p:tgtEl>
                                          <p:spTgt spid="58"/>
                                        </p:tgtEl>
                                        <p:attrNameLst>
                                          <p:attrName>style.visibility</p:attrName>
                                        </p:attrNameLst>
                                      </p:cBhvr>
                                      <p:to>
                                        <p:strVal val="visible"/>
                                      </p:to>
                                    </p:set>
                                    <p:animEffect filter="fade" transition="in">
                                      <p:cBhvr additive="repl">
                                        <p:cTn id="126" dur="500"/>
                                        <p:tgtEl>
                                          <p:spTgt spid="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61" name="Picture 6" descr=""/>
          <p:cNvPicPr/>
          <p:nvPr/>
        </p:nvPicPr>
        <p:blipFill>
          <a:blip r:embed="rId1"/>
          <a:stretch/>
        </p:blipFill>
        <p:spPr>
          <a:xfrm>
            <a:off x="1600200" y="838080"/>
            <a:ext cx="5676480" cy="4609800"/>
          </a:xfrm>
          <a:prstGeom prst="rect">
            <a:avLst/>
          </a:prstGeom>
          <a:noFill/>
          <a:ln w="0">
            <a:noFill/>
          </a:ln>
        </p:spPr>
      </p:pic>
      <p:pic>
        <p:nvPicPr>
          <p:cNvPr id="62" name="Picture 7" descr=""/>
          <p:cNvPicPr/>
          <p:nvPr/>
        </p:nvPicPr>
        <p:blipFill>
          <a:blip r:embed="rId2"/>
          <a:stretch/>
        </p:blipFill>
        <p:spPr>
          <a:xfrm>
            <a:off x="1600200" y="838080"/>
            <a:ext cx="5676480" cy="4609800"/>
          </a:xfrm>
          <a:prstGeom prst="rect">
            <a:avLst/>
          </a:prstGeom>
          <a:noFill/>
          <a:ln w="0">
            <a:noFill/>
          </a:ln>
        </p:spPr>
      </p:pic>
      <p:pic>
        <p:nvPicPr>
          <p:cNvPr id="63" name="Picture 8" descr=""/>
          <p:cNvPicPr/>
          <p:nvPr/>
        </p:nvPicPr>
        <p:blipFill>
          <a:blip r:embed="rId3"/>
          <a:stretch/>
        </p:blipFill>
        <p:spPr>
          <a:xfrm>
            <a:off x="1600200" y="838080"/>
            <a:ext cx="5676480" cy="4609800"/>
          </a:xfrm>
          <a:prstGeom prst="rect">
            <a:avLst/>
          </a:prstGeom>
          <a:noFill/>
          <a:ln w="0">
            <a:noFill/>
          </a:ln>
        </p:spPr>
      </p:pic>
      <p:pic>
        <p:nvPicPr>
          <p:cNvPr id="64" name="Picture 9" descr=""/>
          <p:cNvPicPr/>
          <p:nvPr/>
        </p:nvPicPr>
        <p:blipFill>
          <a:blip r:embed="rId4"/>
          <a:stretch/>
        </p:blipFill>
        <p:spPr>
          <a:xfrm>
            <a:off x="1600200" y="838080"/>
            <a:ext cx="5676480" cy="4609800"/>
          </a:xfrm>
          <a:prstGeom prst="rect">
            <a:avLst/>
          </a:prstGeom>
          <a:noFill/>
          <a:ln w="0">
            <a:noFill/>
          </a:ln>
        </p:spPr>
      </p:pic>
      <p:pic>
        <p:nvPicPr>
          <p:cNvPr id="65" name="Picture 10" descr=""/>
          <p:cNvPicPr/>
          <p:nvPr/>
        </p:nvPicPr>
        <p:blipFill>
          <a:blip r:embed="rId5"/>
          <a:stretch/>
        </p:blipFill>
        <p:spPr>
          <a:xfrm>
            <a:off x="1600200" y="838080"/>
            <a:ext cx="5676480" cy="4609800"/>
          </a:xfrm>
          <a:prstGeom prst="rect">
            <a:avLst/>
          </a:prstGeom>
          <a:noFill/>
          <a:ln w="0">
            <a:noFill/>
          </a:ln>
        </p:spPr>
      </p:pic>
      <p:pic>
        <p:nvPicPr>
          <p:cNvPr id="66" name="Picture 15" descr=""/>
          <p:cNvPicPr/>
          <p:nvPr/>
        </p:nvPicPr>
        <p:blipFill>
          <a:blip r:embed="rId6"/>
          <a:stretch/>
        </p:blipFill>
        <p:spPr>
          <a:xfrm>
            <a:off x="1600200" y="838080"/>
            <a:ext cx="5676480" cy="4609800"/>
          </a:xfrm>
          <a:prstGeom prst="rect">
            <a:avLst/>
          </a:prstGeom>
          <a:noFill/>
          <a:ln w="0">
            <a:noFill/>
          </a:ln>
        </p:spPr>
      </p:pic>
      <p:pic>
        <p:nvPicPr>
          <p:cNvPr id="67" name="Picture 16" descr=""/>
          <p:cNvPicPr/>
          <p:nvPr/>
        </p:nvPicPr>
        <p:blipFill>
          <a:blip r:embed="rId7"/>
          <a:stretch/>
        </p:blipFill>
        <p:spPr>
          <a:xfrm>
            <a:off x="1600200" y="838080"/>
            <a:ext cx="5676480" cy="4609800"/>
          </a:xfrm>
          <a:prstGeom prst="rect">
            <a:avLst/>
          </a:prstGeom>
          <a:noFill/>
          <a:ln w="0">
            <a:noFill/>
          </a:ln>
        </p:spPr>
      </p:pic>
    </p:spTree>
  </p:cSld>
  <p:transition spd="slow">
    <p:wipe dir="r"/>
  </p:transition>
  <p:timing>
    <p:tnLst>
      <p:par>
        <p:cTn id="127" dur="indefinite" restart="never" nodeType="tmRoot">
          <p:childTnLst>
            <p:seq>
              <p:cTn id="128" dur="indefinite" nodeType="mainSeq">
                <p:childTnLst>
                  <p:par>
                    <p:cTn id="129" nodeType="clickEffect" fill="hold">
                      <p:stCondLst>
                        <p:cond delay="indefinite"/>
                      </p:stCondLst>
                      <p:childTnLst>
                        <p:par>
                          <p:cTn id="130" nodeType="withEffect" fill="hold">
                            <p:stCondLst>
                              <p:cond delay="0"/>
                            </p:stCondLst>
                            <p:childTnLst>
                              <p:par>
                                <p:cTn id="131" nodeType="clickEffect" fill="hold" presetClass="entr" presetID="22" presetSubtype="8">
                                  <p:stCondLst>
                                    <p:cond delay="0"/>
                                  </p:stCondLst>
                                  <p:childTnLst>
                                    <p:set>
                                      <p:cBhvr>
                                        <p:cTn id="132" dur="1" fill="hold">
                                          <p:stCondLst>
                                            <p:cond delay="0"/>
                                          </p:stCondLst>
                                        </p:cTn>
                                        <p:tgtEl>
                                          <p:spTgt spid="62"/>
                                        </p:tgtEl>
                                        <p:attrNameLst>
                                          <p:attrName>style.visibility</p:attrName>
                                        </p:attrNameLst>
                                      </p:cBhvr>
                                      <p:to>
                                        <p:strVal val="visible"/>
                                      </p:to>
                                    </p:set>
                                    <p:animEffect filter="wipe(left)" transition="in">
                                      <p:cBhvr additive="repl">
                                        <p:cTn id="133" dur="1000"/>
                                        <p:tgtEl>
                                          <p:spTgt spid="62"/>
                                        </p:tgtEl>
                                      </p:cBhvr>
                                    </p:animEffect>
                                  </p:childTnLst>
                                </p:cTn>
                              </p:par>
                            </p:childTnLst>
                          </p:cTn>
                        </p:par>
                      </p:childTnLst>
                    </p:cTn>
                  </p:par>
                  <p:par>
                    <p:cTn id="134" nodeType="clickEffect" fill="hold">
                      <p:stCondLst>
                        <p:cond delay="indefinite"/>
                      </p:stCondLst>
                      <p:childTnLst>
                        <p:par>
                          <p:cTn id="135" nodeType="withEffect" fill="hold">
                            <p:stCondLst>
                              <p:cond delay="0"/>
                            </p:stCondLst>
                            <p:childTnLst>
                              <p:par>
                                <p:cTn id="136" nodeType="clickEffect" fill="hold" presetClass="entr" presetID="22" presetSubtype="8">
                                  <p:stCondLst>
                                    <p:cond delay="0"/>
                                  </p:stCondLst>
                                  <p:childTnLst>
                                    <p:set>
                                      <p:cBhvr>
                                        <p:cTn id="137" dur="1" fill="hold">
                                          <p:stCondLst>
                                            <p:cond delay="0"/>
                                          </p:stCondLst>
                                        </p:cTn>
                                        <p:tgtEl>
                                          <p:spTgt spid="63"/>
                                        </p:tgtEl>
                                        <p:attrNameLst>
                                          <p:attrName>style.visibility</p:attrName>
                                        </p:attrNameLst>
                                      </p:cBhvr>
                                      <p:to>
                                        <p:strVal val="visible"/>
                                      </p:to>
                                    </p:set>
                                    <p:animEffect filter="wipe(left)" transition="in">
                                      <p:cBhvr additive="repl">
                                        <p:cTn id="138" dur="1000"/>
                                        <p:tgtEl>
                                          <p:spTgt spid="63"/>
                                        </p:tgtEl>
                                      </p:cBhvr>
                                    </p:animEffect>
                                  </p:childTnLst>
                                </p:cTn>
                              </p:par>
                            </p:childTnLst>
                          </p:cTn>
                        </p:par>
                      </p:childTnLst>
                    </p:cTn>
                  </p:par>
                  <p:par>
                    <p:cTn id="139" nodeType="clickEffect" fill="hold">
                      <p:stCondLst>
                        <p:cond delay="indefinite"/>
                      </p:stCondLst>
                      <p:childTnLst>
                        <p:par>
                          <p:cTn id="140" nodeType="withEffect" fill="hold">
                            <p:stCondLst>
                              <p:cond delay="0"/>
                            </p:stCondLst>
                            <p:childTnLst>
                              <p:par>
                                <p:cTn id="141" nodeType="clickEffect" fill="hold" presetClass="entr" presetID="10">
                                  <p:stCondLst>
                                    <p:cond delay="0"/>
                                  </p:stCondLst>
                                  <p:childTnLst>
                                    <p:set>
                                      <p:cBhvr>
                                        <p:cTn id="142" dur="1" fill="hold">
                                          <p:stCondLst>
                                            <p:cond delay="0"/>
                                          </p:stCondLst>
                                        </p:cTn>
                                        <p:tgtEl>
                                          <p:spTgt spid="64"/>
                                        </p:tgtEl>
                                        <p:attrNameLst>
                                          <p:attrName>style.visibility</p:attrName>
                                        </p:attrNameLst>
                                      </p:cBhvr>
                                      <p:to>
                                        <p:strVal val="visible"/>
                                      </p:to>
                                    </p:set>
                                    <p:animEffect filter="fade" transition="in">
                                      <p:cBhvr additive="repl">
                                        <p:cTn id="143" dur="500"/>
                                        <p:tgtEl>
                                          <p:spTgt spid="64"/>
                                        </p:tgtEl>
                                      </p:cBhvr>
                                    </p:animEffect>
                                  </p:childTnLst>
                                </p:cTn>
                              </p:par>
                            </p:childTnLst>
                          </p:cTn>
                        </p:par>
                      </p:childTnLst>
                    </p:cTn>
                  </p:par>
                  <p:par>
                    <p:cTn id="144" nodeType="clickEffect" fill="hold">
                      <p:stCondLst>
                        <p:cond delay="indefinite"/>
                      </p:stCondLst>
                      <p:childTnLst>
                        <p:par>
                          <p:cTn id="145" nodeType="withEffect" fill="hold">
                            <p:stCondLst>
                              <p:cond delay="0"/>
                            </p:stCondLst>
                            <p:childTnLst>
                              <p:par>
                                <p:cTn id="146" nodeType="clickEffect" fill="hold" presetClass="entr" presetID="10">
                                  <p:stCondLst>
                                    <p:cond delay="0"/>
                                  </p:stCondLst>
                                  <p:childTnLst>
                                    <p:set>
                                      <p:cBhvr>
                                        <p:cTn id="147" dur="1" fill="hold">
                                          <p:stCondLst>
                                            <p:cond delay="0"/>
                                          </p:stCondLst>
                                        </p:cTn>
                                        <p:tgtEl>
                                          <p:spTgt spid="65"/>
                                        </p:tgtEl>
                                        <p:attrNameLst>
                                          <p:attrName>style.visibility</p:attrName>
                                        </p:attrNameLst>
                                      </p:cBhvr>
                                      <p:to>
                                        <p:strVal val="visible"/>
                                      </p:to>
                                    </p:set>
                                    <p:animEffect filter="fade" transition="in">
                                      <p:cBhvr additive="repl">
                                        <p:cTn id="148" dur="500"/>
                                        <p:tgtEl>
                                          <p:spTgt spid="65"/>
                                        </p:tgtEl>
                                      </p:cBhvr>
                                    </p:animEffect>
                                  </p:childTnLst>
                                </p:cTn>
                              </p:par>
                            </p:childTnLst>
                          </p:cTn>
                        </p:par>
                      </p:childTnLst>
                    </p:cTn>
                  </p:par>
                  <p:par>
                    <p:cTn id="149" nodeType="clickEffect" fill="hold">
                      <p:stCondLst>
                        <p:cond delay="indefinite"/>
                      </p:stCondLst>
                      <p:childTnLst>
                        <p:par>
                          <p:cTn id="150" nodeType="withEffect" fill="hold">
                            <p:stCondLst>
                              <p:cond delay="0"/>
                            </p:stCondLst>
                            <p:childTnLst>
                              <p:par>
                                <p:cTn id="151" nodeType="clickEffect" fill="hold" presetClass="entr" presetID="10">
                                  <p:stCondLst>
                                    <p:cond delay="0"/>
                                  </p:stCondLst>
                                  <p:childTnLst>
                                    <p:set>
                                      <p:cBhvr>
                                        <p:cTn id="152" dur="1" fill="hold">
                                          <p:stCondLst>
                                            <p:cond delay="0"/>
                                          </p:stCondLst>
                                        </p:cTn>
                                        <p:tgtEl>
                                          <p:spTgt spid="66"/>
                                        </p:tgtEl>
                                        <p:attrNameLst>
                                          <p:attrName>style.visibility</p:attrName>
                                        </p:attrNameLst>
                                      </p:cBhvr>
                                      <p:to>
                                        <p:strVal val="visible"/>
                                      </p:to>
                                    </p:set>
                                    <p:animEffect filter="fade" transition="in">
                                      <p:cBhvr additive="repl">
                                        <p:cTn id="153" dur="500"/>
                                        <p:tgtEl>
                                          <p:spTgt spid="66"/>
                                        </p:tgtEl>
                                      </p:cBhvr>
                                    </p:animEffect>
                                  </p:childTnLst>
                                </p:cTn>
                              </p:par>
                            </p:childTnLst>
                          </p:cTn>
                        </p:par>
                      </p:childTnLst>
                    </p:cTn>
                  </p:par>
                  <p:par>
                    <p:cTn id="154" nodeType="clickEffect" fill="hold">
                      <p:stCondLst>
                        <p:cond delay="indefinite"/>
                      </p:stCondLst>
                      <p:childTnLst>
                        <p:par>
                          <p:cTn id="155" nodeType="withEffect" fill="hold">
                            <p:stCondLst>
                              <p:cond delay="0"/>
                            </p:stCondLst>
                            <p:childTnLst>
                              <p:par>
                                <p:cTn id="156" nodeType="clickEffect" fill="hold" presetClass="entr" presetID="10">
                                  <p:stCondLst>
                                    <p:cond delay="0"/>
                                  </p:stCondLst>
                                  <p:childTnLst>
                                    <p:set>
                                      <p:cBhvr>
                                        <p:cTn id="157" dur="1" fill="hold">
                                          <p:stCondLst>
                                            <p:cond delay="0"/>
                                          </p:stCondLst>
                                        </p:cTn>
                                        <p:tgtEl>
                                          <p:spTgt spid="67"/>
                                        </p:tgtEl>
                                        <p:attrNameLst>
                                          <p:attrName>style.visibility</p:attrName>
                                        </p:attrNameLst>
                                      </p:cBhvr>
                                      <p:to>
                                        <p:strVal val="visible"/>
                                      </p:to>
                                    </p:set>
                                    <p:animEffect filter="fade" transition="in">
                                      <p:cBhvr additive="repl">
                                        <p:cTn id="158" dur="500"/>
                                        <p:tgtEl>
                                          <p:spTgt spid="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16.1  MONOPOLY AND HOW IT ARISES</a:t>
            </a:r>
            <a:endParaRPr b="0" lang="en-CA" sz="2600" strike="noStrike" u="none">
              <a:solidFill>
                <a:schemeClr val="dk1"/>
              </a:solidFill>
              <a:effectLst/>
              <a:uFillTx/>
              <a:latin typeface="Arial"/>
            </a:endParaRPr>
          </a:p>
        </p:txBody>
      </p:sp>
      <p:pic>
        <p:nvPicPr>
          <p:cNvPr id="69" name="Picture 11" descr=""/>
          <p:cNvPicPr/>
          <p:nvPr/>
        </p:nvPicPr>
        <p:blipFill>
          <a:blip r:embed="rId1"/>
          <a:stretch/>
        </p:blipFill>
        <p:spPr>
          <a:xfrm>
            <a:off x="3780000" y="1547640"/>
            <a:ext cx="4825800" cy="3919320"/>
          </a:xfrm>
          <a:prstGeom prst="rect">
            <a:avLst/>
          </a:prstGeom>
          <a:noFill/>
          <a:ln w="0">
            <a:noFill/>
          </a:ln>
        </p:spPr>
      </p:pic>
      <p:pic>
        <p:nvPicPr>
          <p:cNvPr id="70" name="Picture 12" descr=""/>
          <p:cNvPicPr/>
          <p:nvPr/>
        </p:nvPicPr>
        <p:blipFill>
          <a:blip r:embed="rId2"/>
          <a:stretch/>
        </p:blipFill>
        <p:spPr>
          <a:xfrm>
            <a:off x="3780000" y="1547640"/>
            <a:ext cx="4825800" cy="3919320"/>
          </a:xfrm>
          <a:prstGeom prst="rect">
            <a:avLst/>
          </a:prstGeom>
          <a:noFill/>
          <a:ln w="0">
            <a:noFill/>
          </a:ln>
        </p:spPr>
      </p:pic>
      <p:pic>
        <p:nvPicPr>
          <p:cNvPr id="71" name="Picture 13" descr=""/>
          <p:cNvPicPr/>
          <p:nvPr/>
        </p:nvPicPr>
        <p:blipFill>
          <a:blip r:embed="rId3"/>
          <a:stretch/>
        </p:blipFill>
        <p:spPr>
          <a:xfrm>
            <a:off x="3780000" y="1547640"/>
            <a:ext cx="4825800" cy="3919320"/>
          </a:xfrm>
          <a:prstGeom prst="rect">
            <a:avLst/>
          </a:prstGeom>
          <a:noFill/>
          <a:ln w="0">
            <a:noFill/>
          </a:ln>
        </p:spPr>
      </p:pic>
      <p:pic>
        <p:nvPicPr>
          <p:cNvPr id="72" name="Picture 14" descr=""/>
          <p:cNvPicPr/>
          <p:nvPr/>
        </p:nvPicPr>
        <p:blipFill>
          <a:blip r:embed="rId4"/>
          <a:stretch/>
        </p:blipFill>
        <p:spPr>
          <a:xfrm>
            <a:off x="3780000" y="1547640"/>
            <a:ext cx="4825800" cy="3919320"/>
          </a:xfrm>
          <a:prstGeom prst="rect">
            <a:avLst/>
          </a:prstGeom>
          <a:noFill/>
          <a:ln w="0">
            <a:noFill/>
          </a:ln>
        </p:spPr>
      </p:pic>
      <p:pic>
        <p:nvPicPr>
          <p:cNvPr id="73" name="Picture 15" descr=""/>
          <p:cNvPicPr/>
          <p:nvPr/>
        </p:nvPicPr>
        <p:blipFill>
          <a:blip r:embed="rId5"/>
          <a:stretch/>
        </p:blipFill>
        <p:spPr>
          <a:xfrm>
            <a:off x="3780000" y="1547640"/>
            <a:ext cx="4825800" cy="3919320"/>
          </a:xfrm>
          <a:prstGeom prst="rect">
            <a:avLst/>
          </a:prstGeom>
          <a:noFill/>
          <a:ln w="0">
            <a:noFill/>
          </a:ln>
        </p:spPr>
      </p:pic>
      <p:pic>
        <p:nvPicPr>
          <p:cNvPr id="74" name="Picture 16" descr=""/>
          <p:cNvPicPr/>
          <p:nvPr/>
        </p:nvPicPr>
        <p:blipFill>
          <a:blip r:embed="rId6"/>
          <a:stretch/>
        </p:blipFill>
        <p:spPr>
          <a:xfrm>
            <a:off x="3780000" y="1547640"/>
            <a:ext cx="4825800" cy="3919320"/>
          </a:xfrm>
          <a:prstGeom prst="rect">
            <a:avLst/>
          </a:prstGeom>
          <a:noFill/>
          <a:ln w="0">
            <a:noFill/>
          </a:ln>
        </p:spPr>
      </p:pic>
      <p:pic>
        <p:nvPicPr>
          <p:cNvPr id="75" name="Picture 17" descr=""/>
          <p:cNvPicPr/>
          <p:nvPr/>
        </p:nvPicPr>
        <p:blipFill>
          <a:blip r:embed="rId7"/>
          <a:stretch/>
        </p:blipFill>
        <p:spPr>
          <a:xfrm>
            <a:off x="3780000" y="1547640"/>
            <a:ext cx="4825800" cy="3919320"/>
          </a:xfrm>
          <a:prstGeom prst="rect">
            <a:avLst/>
          </a:prstGeom>
          <a:noFill/>
          <a:ln w="0">
            <a:noFill/>
          </a:ln>
        </p:spPr>
      </p:pic>
      <p:sp>
        <p:nvSpPr>
          <p:cNvPr id="76" name="PlaceHolder 2"/>
          <p:cNvSpPr>
            <a:spLocks noGrp="1"/>
          </p:cNvSpPr>
          <p:nvPr>
            <p:ph/>
          </p:nvPr>
        </p:nvSpPr>
        <p:spPr>
          <a:xfrm>
            <a:off x="360360" y="1440000"/>
            <a:ext cx="4403520" cy="4647960"/>
          </a:xfrm>
          <a:prstGeom prst="rect">
            <a:avLst/>
          </a:prstGeom>
          <a:noFill/>
          <a:ln w="0">
            <a:noFill/>
          </a:ln>
        </p:spPr>
        <p:txBody>
          <a:bodyPr numCol="1" spcCol="0" lIns="91440" rIns="91440" tIns="45720" bIns="45720" anchor="t">
            <a:noAutofit/>
          </a:bodyPr>
          <a:p>
            <a:pPr marL="817200" indent="-457200">
              <a:lnSpc>
                <a:spcPct val="100000"/>
              </a:lnSpc>
              <a:spcBef>
                <a:spcPts val="601"/>
              </a:spcBef>
              <a:spcAft>
                <a:spcPts val="601"/>
              </a:spcAft>
              <a:buClr>
                <a:srgbClr val="000000"/>
              </a:buClr>
              <a:buFont typeface="Arial"/>
              <a:buAutoNum type="arabicPeriod" startAt="3"/>
            </a:pPr>
            <a:r>
              <a:rPr b="0" lang="en-US" sz="2400" strike="noStrike" u="none">
                <a:solidFill>
                  <a:srgbClr val="000000"/>
                </a:solidFill>
                <a:effectLst/>
                <a:uFillTx/>
                <a:latin typeface="Arial"/>
                <a:ea typeface="ＭＳ Ｐゴシック"/>
              </a:rPr>
              <a:t>This same total output costs 10 cents a kilowatt-hour with       two firms, </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startAt="3"/>
            </a:pPr>
            <a:r>
              <a:rPr b="0" lang="en-US" sz="2400" strike="noStrike" u="none">
                <a:solidFill>
                  <a:srgbClr val="000000"/>
                </a:solidFill>
                <a:effectLst/>
                <a:uFillTx/>
                <a:latin typeface="Arial"/>
                <a:ea typeface="ＭＳ Ｐゴシック"/>
              </a:rPr>
              <a:t>and</a:t>
            </a:r>
            <a:r>
              <a:rPr b="0" lang="en-US" sz="2400" strike="noStrike" u="none">
                <a:solidFill>
                  <a:schemeClr val="dk1"/>
                </a:solidFill>
                <a:effectLst/>
                <a:uFillTx/>
                <a:latin typeface="Arial"/>
                <a:ea typeface="ＭＳ Ｐゴシック"/>
              </a:rPr>
              <a:t> </a:t>
            </a:r>
            <a:r>
              <a:rPr b="0" lang="en-US" sz="2400" strike="noStrike" u="none">
                <a:solidFill>
                  <a:srgbClr val="000000"/>
                </a:solidFill>
                <a:effectLst/>
                <a:uFillTx/>
                <a:latin typeface="Arial"/>
                <a:ea typeface="ＭＳ Ｐゴシック"/>
              </a:rPr>
              <a:t>15 cents a    kilowatt-hour with       four firms.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One firm can meet            the market demand at a lower cost than two or more firms can, and the market is a natural monopoly. </a:t>
            </a:r>
            <a:endParaRPr b="1" lang="en-CA" sz="2400" strike="noStrike" u="none">
              <a:solidFill>
                <a:srgbClr val="00468f"/>
              </a:solidFill>
              <a:effectLst/>
              <a:uFillTx/>
              <a:latin typeface="Arial"/>
            </a:endParaRPr>
          </a:p>
        </p:txBody>
      </p:sp>
    </p:spTree>
  </p:cSld>
  <p:transition spd="slow">
    <p:wipe dir="r"/>
  </p:transition>
  <p:timing>
    <p:tnLst>
      <p:par>
        <p:cTn id="159" dur="indefinite" restart="never" nodeType="tmRoot">
          <p:childTnLst>
            <p:seq>
              <p:cTn id="160" dur="indefinite" nodeType="mainSeq">
                <p:childTnLst>
                  <p:par>
                    <p:cTn id="161" nodeType="clickEffect" fill="hold">
                      <p:stCondLst>
                        <p:cond delay="0"/>
                      </p:stCondLst>
                      <p:childTnLst>
                        <p:par>
                          <p:cTn id="162" nodeType="withEffect" fill="hold">
                            <p:stCondLst>
                              <p:cond delay="0"/>
                            </p:stCondLst>
                            <p:childTnLst>
                              <p:par>
                                <p:cTn id="163" nodeType="withEffect" fill="hold" presetClass="entr" presetID="10">
                                  <p:stCondLst>
                                    <p:cond delay="0"/>
                                  </p:stCondLst>
                                  <p:childTnLst>
                                    <p:set>
                                      <p:cBhvr>
                                        <p:cTn id="164" dur="1" fill="hold">
                                          <p:stCondLst>
                                            <p:cond delay="0"/>
                                          </p:stCondLst>
                                        </p:cTn>
                                        <p:tgtEl>
                                          <p:spTgt spid="74"/>
                                        </p:tgtEl>
                                        <p:attrNameLst>
                                          <p:attrName>style.visibility</p:attrName>
                                        </p:attrNameLst>
                                      </p:cBhvr>
                                      <p:to>
                                        <p:strVal val="visible"/>
                                      </p:to>
                                    </p:set>
                                    <p:animEffect filter="fade" transition="in">
                                      <p:cBhvr additive="repl">
                                        <p:cTn id="165" dur="500"/>
                                        <p:tgtEl>
                                          <p:spTgt spid="74"/>
                                        </p:tgtEl>
                                      </p:cBhvr>
                                    </p:animEffect>
                                  </p:childTnLst>
                                </p:cTn>
                              </p:par>
                            </p:childTnLst>
                          </p:cTn>
                        </p:par>
                      </p:childTnLst>
                    </p:cTn>
                  </p:par>
                  <p:par>
                    <p:cTn id="166" nodeType="clickEffect" fill="hold">
                      <p:stCondLst>
                        <p:cond delay="indefinite"/>
                      </p:stCondLst>
                      <p:childTnLst>
                        <p:par>
                          <p:cTn id="167" nodeType="withEffect" fill="hold">
                            <p:stCondLst>
                              <p:cond delay="0"/>
                            </p:stCondLst>
                            <p:childTnLst>
                              <p:par>
                                <p:cTn id="168" nodeType="clickEffect" fill="hold" presetClass="entr" presetID="22" presetSubtype="8">
                                  <p:stCondLst>
                                    <p:cond delay="0"/>
                                  </p:stCondLst>
                                  <p:childTnLst>
                                    <p:set>
                                      <p:cBhvr>
                                        <p:cTn id="169" dur="1" fill="hold">
                                          <p:stCondLst>
                                            <p:cond delay="0"/>
                                          </p:stCondLst>
                                        </p:cTn>
                                        <p:tgtEl>
                                          <p:spTgt spid="76">
                                            <p:txEl>
                                              <p:pRg st="1" end="1"/>
                                            </p:txEl>
                                          </p:spTgt>
                                        </p:tgtEl>
                                        <p:attrNameLst>
                                          <p:attrName>style.visibility</p:attrName>
                                        </p:attrNameLst>
                                      </p:cBhvr>
                                      <p:to>
                                        <p:strVal val="visible"/>
                                      </p:to>
                                    </p:set>
                                    <p:animEffect filter="wipe(left)" transition="in">
                                      <p:cBhvr additive="repl">
                                        <p:cTn id="170" dur="500"/>
                                        <p:tgtEl>
                                          <p:spTgt spid="76">
                                            <p:txEl>
                                              <p:pRg st="1" end="1"/>
                                            </p:txEl>
                                          </p:spTgt>
                                        </p:tgtEl>
                                      </p:cBhvr>
                                    </p:animEffect>
                                  </p:childTnLst>
                                </p:cTn>
                              </p:par>
                              <p:par>
                                <p:cTn id="171" nodeType="withEffect" fill="hold" presetClass="entr" presetID="10">
                                  <p:stCondLst>
                                    <p:cond delay="0"/>
                                  </p:stCondLst>
                                  <p:childTnLst>
                                    <p:set>
                                      <p:cBhvr>
                                        <p:cTn id="172" dur="1" fill="hold">
                                          <p:stCondLst>
                                            <p:cond delay="0"/>
                                          </p:stCondLst>
                                        </p:cTn>
                                        <p:tgtEl>
                                          <p:spTgt spid="75"/>
                                        </p:tgtEl>
                                        <p:attrNameLst>
                                          <p:attrName>style.visibility</p:attrName>
                                        </p:attrNameLst>
                                      </p:cBhvr>
                                      <p:to>
                                        <p:strVal val="visible"/>
                                      </p:to>
                                    </p:set>
                                    <p:animEffect filter="fade" transition="in">
                                      <p:cBhvr additive="repl">
                                        <p:cTn id="173" dur="500"/>
                                        <p:tgtEl>
                                          <p:spTgt spid="75"/>
                                        </p:tgtEl>
                                      </p:cBhvr>
                                    </p:animEffect>
                                  </p:childTnLst>
                                </p:cTn>
                              </p:par>
                            </p:childTnLst>
                          </p:cTn>
                        </p:par>
                      </p:childTnLst>
                    </p:cTn>
                  </p:par>
                  <p:par>
                    <p:cTn id="174" nodeType="clickEffect" fill="hold">
                      <p:stCondLst>
                        <p:cond delay="indefinite"/>
                      </p:stCondLst>
                      <p:childTnLst>
                        <p:par>
                          <p:cTn id="175" nodeType="withEffect" fill="hold">
                            <p:stCondLst>
                              <p:cond delay="0"/>
                            </p:stCondLst>
                            <p:childTnLst>
                              <p:par>
                                <p:cTn id="176" nodeType="clickEffect" fill="hold" presetClass="entr" presetID="22" presetSubtype="8">
                                  <p:stCondLst>
                                    <p:cond delay="0"/>
                                  </p:stCondLst>
                                  <p:childTnLst>
                                    <p:set>
                                      <p:cBhvr>
                                        <p:cTn id="177" dur="1" fill="hold">
                                          <p:stCondLst>
                                            <p:cond delay="0"/>
                                          </p:stCondLst>
                                        </p:cTn>
                                        <p:tgtEl>
                                          <p:spTgt spid="76">
                                            <p:txEl>
                                              <p:pRg st="2" end="2"/>
                                            </p:txEl>
                                          </p:spTgt>
                                        </p:tgtEl>
                                        <p:attrNameLst>
                                          <p:attrName>style.visibility</p:attrName>
                                        </p:attrNameLst>
                                      </p:cBhvr>
                                      <p:to>
                                        <p:strVal val="visible"/>
                                      </p:to>
                                    </p:set>
                                    <p:animEffect filter="wipe(left)" transition="in">
                                      <p:cBhvr additive="repl">
                                        <p:cTn id="178" dur="500"/>
                                        <p:tgtEl>
                                          <p:spTgt spid="76">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16.1  MONOPOLY AND HOW IT ARISES</a:t>
            </a:r>
            <a:endParaRPr b="0" lang="en-CA" sz="2600" strike="noStrike" u="none">
              <a:solidFill>
                <a:schemeClr val="dk1"/>
              </a:solidFill>
              <a:effectLst/>
              <a:uFillTx/>
              <a:latin typeface="Arial"/>
            </a:endParaRPr>
          </a:p>
        </p:txBody>
      </p:sp>
      <p:sp>
        <p:nvSpPr>
          <p:cNvPr id="78"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1" i="1" lang="en-US" sz="2400" strike="noStrike" u="none">
                <a:solidFill>
                  <a:srgbClr val="000000"/>
                </a:solidFill>
                <a:effectLst/>
                <a:uFillTx/>
                <a:latin typeface="Arial"/>
                <a:ea typeface="ＭＳ Ｐゴシック"/>
              </a:rPr>
              <a:t>Legal Barrier to Entry</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A legal barrier to entry creates legal monopoly.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A </a:t>
            </a:r>
            <a:r>
              <a:rPr b="1" lang="en-US" sz="2400" strike="noStrike" u="none">
                <a:solidFill>
                  <a:srgbClr val="ff0000"/>
                </a:solidFill>
                <a:effectLst/>
                <a:uFillTx/>
                <a:latin typeface="Arial"/>
                <a:ea typeface="ＭＳ Ｐゴシック"/>
              </a:rPr>
              <a:t>legal monopoly</a:t>
            </a:r>
            <a:r>
              <a:rPr b="0" lang="en-US" sz="2400" strike="noStrike" u="none">
                <a:solidFill>
                  <a:srgbClr val="000000"/>
                </a:solidFill>
                <a:effectLst/>
                <a:uFillTx/>
                <a:latin typeface="Arial"/>
                <a:ea typeface="ＭＳ Ｐゴシック"/>
              </a:rPr>
              <a:t> is a market in which competition and entry are restricted by granting of a public franchise, government license, patent, or copyright.</a:t>
            </a:r>
            <a:endParaRPr b="1" lang="en-CA" sz="2400" strike="noStrike" u="none">
              <a:solidFill>
                <a:srgbClr val="00468f"/>
              </a:solidFill>
              <a:effectLst/>
              <a:uFillTx/>
              <a:latin typeface="Arial"/>
            </a:endParaRPr>
          </a:p>
        </p:txBody>
      </p:sp>
    </p:spTree>
  </p:cSld>
  <p:transition spd="slow">
    <p:wipe dir="r"/>
  </p:transition>
  <p:timing>
    <p:tnLst>
      <p:par>
        <p:cTn id="179" dur="indefinite" restart="never" nodeType="tmRoot">
          <p:childTnLst>
            <p:seq>
              <p:cTn id="180" dur="indefinite" nodeType="mainSeq">
                <p:childTnLst>
                  <p:par>
                    <p:cTn id="181" nodeType="clickEffect" fill="hold">
                      <p:stCondLst>
                        <p:cond delay="indefinite"/>
                      </p:stCondLst>
                      <p:childTnLst>
                        <p:par>
                          <p:cTn id="182" nodeType="withEffect" fill="hold">
                            <p:stCondLst>
                              <p:cond delay="0"/>
                            </p:stCondLst>
                            <p:childTnLst>
                              <p:par>
                                <p:cTn id="183" nodeType="clickEffect" fill="hold" presetClass="entr" presetID="22" presetSubtype="8">
                                  <p:stCondLst>
                                    <p:cond delay="0"/>
                                  </p:stCondLst>
                                  <p:childTnLst>
                                    <p:set>
                                      <p:cBhvr>
                                        <p:cTn id="184" dur="1" fill="hold">
                                          <p:stCondLst>
                                            <p:cond delay="0"/>
                                          </p:stCondLst>
                                        </p:cTn>
                                        <p:tgtEl>
                                          <p:spTgt spid="78">
                                            <p:txEl>
                                              <p:pRg st="1" end="1"/>
                                            </p:txEl>
                                          </p:spTgt>
                                        </p:tgtEl>
                                        <p:attrNameLst>
                                          <p:attrName>style.visibility</p:attrName>
                                        </p:attrNameLst>
                                      </p:cBhvr>
                                      <p:to>
                                        <p:strVal val="visible"/>
                                      </p:to>
                                    </p:set>
                                    <p:animEffect filter="wipe(left)" transition="in">
                                      <p:cBhvr additive="repl">
                                        <p:cTn id="185" dur="500"/>
                                        <p:tgtEl>
                                          <p:spTgt spid="78">
                                            <p:txEl>
                                              <p:pRg st="1" end="1"/>
                                            </p:txEl>
                                          </p:spTgt>
                                        </p:tgtEl>
                                      </p:cBhvr>
                                    </p:animEffect>
                                  </p:childTnLst>
                                </p:cTn>
                              </p:par>
                            </p:childTnLst>
                          </p:cTn>
                        </p:par>
                      </p:childTnLst>
                    </p:cTn>
                  </p:par>
                  <p:par>
                    <p:cTn id="186" nodeType="clickEffect" fill="hold">
                      <p:stCondLst>
                        <p:cond delay="indefinite"/>
                      </p:stCondLst>
                      <p:childTnLst>
                        <p:par>
                          <p:cTn id="187" nodeType="withEffect" fill="hold">
                            <p:stCondLst>
                              <p:cond delay="0"/>
                            </p:stCondLst>
                            <p:childTnLst>
                              <p:par>
                                <p:cTn id="188" nodeType="clickEffect" fill="hold" presetClass="entr" presetID="22" presetSubtype="8">
                                  <p:stCondLst>
                                    <p:cond delay="0"/>
                                  </p:stCondLst>
                                  <p:childTnLst>
                                    <p:set>
                                      <p:cBhvr>
                                        <p:cTn id="189" dur="1" fill="hold">
                                          <p:stCondLst>
                                            <p:cond delay="0"/>
                                          </p:stCondLst>
                                        </p:cTn>
                                        <p:tgtEl>
                                          <p:spTgt spid="78">
                                            <p:txEl>
                                              <p:pRg st="2" end="2"/>
                                            </p:txEl>
                                          </p:spTgt>
                                        </p:tgtEl>
                                        <p:attrNameLst>
                                          <p:attrName>style.visibility</p:attrName>
                                        </p:attrNameLst>
                                      </p:cBhvr>
                                      <p:to>
                                        <p:strVal val="visible"/>
                                      </p:to>
                                    </p:set>
                                    <p:animEffect filter="wipe(left)" transition="in">
                                      <p:cBhvr additive="repl">
                                        <p:cTn id="190" dur="500"/>
                                        <p:tgtEl>
                                          <p:spTgt spid="78">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16.1  MONOPOLY AND HOW IT ARISES</a:t>
            </a:r>
            <a:endParaRPr b="0" lang="en-CA" sz="2600" strike="noStrike" u="none">
              <a:solidFill>
                <a:schemeClr val="dk1"/>
              </a:solidFill>
              <a:effectLst/>
              <a:uFillTx/>
              <a:latin typeface="Arial"/>
            </a:endParaRPr>
          </a:p>
        </p:txBody>
      </p:sp>
      <p:sp>
        <p:nvSpPr>
          <p:cNvPr id="80"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a:t>
            </a:r>
            <a:r>
              <a:rPr b="0" i="1" lang="en-US" sz="2400" strike="noStrike" u="none">
                <a:solidFill>
                  <a:schemeClr val="dk1"/>
                </a:solidFill>
                <a:effectLst/>
                <a:uFillTx/>
                <a:latin typeface="Arial"/>
                <a:ea typeface="ＭＳ Ｐゴシック"/>
              </a:rPr>
              <a:t> Public Franchise</a:t>
            </a:r>
            <a:r>
              <a:rPr b="0" lang="en-US" sz="2400" strike="noStrike" u="none">
                <a:solidFill>
                  <a:schemeClr val="dk1"/>
                </a:solidFill>
                <a:effectLst/>
                <a:uFillTx/>
                <a:latin typeface="Arial"/>
                <a:ea typeface="ＭＳ Ｐゴシック"/>
              </a:rPr>
              <a:t> is an exclusive right granted to a firm to supply a good or service. For example: The U.S. Postal Service’s exclusive right to deliver first-class mail.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 </a:t>
            </a:r>
            <a:r>
              <a:rPr b="0" i="1" lang="en-US" sz="2400" strike="noStrike" u="none">
                <a:solidFill>
                  <a:schemeClr val="dk1"/>
                </a:solidFill>
                <a:effectLst/>
                <a:uFillTx/>
                <a:latin typeface="Arial"/>
                <a:ea typeface="ＭＳ Ｐゴシック"/>
              </a:rPr>
              <a:t>government license</a:t>
            </a:r>
            <a:r>
              <a:rPr b="0" lang="en-US" sz="2400" strike="noStrike" u="none">
                <a:solidFill>
                  <a:schemeClr val="dk1"/>
                </a:solidFill>
                <a:effectLst/>
                <a:uFillTx/>
                <a:latin typeface="Arial"/>
                <a:ea typeface="ＭＳ Ｐゴシック"/>
              </a:rPr>
              <a:t> controls entry into particular occupations, professions, and industries.</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i="1" lang="en-US" sz="2400" strike="noStrike" u="none">
                <a:solidFill>
                  <a:schemeClr val="dk1"/>
                </a:solidFill>
                <a:effectLst/>
                <a:uFillTx/>
                <a:latin typeface="Arial"/>
                <a:ea typeface="ＭＳ Ｐゴシック"/>
              </a:rPr>
              <a:t>Patent </a:t>
            </a:r>
            <a:r>
              <a:rPr b="0" lang="en-US" sz="2400" strike="noStrike" u="none">
                <a:solidFill>
                  <a:schemeClr val="dk1"/>
                </a:solidFill>
                <a:effectLst/>
                <a:uFillTx/>
                <a:latin typeface="Arial"/>
                <a:ea typeface="ＭＳ Ｐゴシック"/>
              </a:rPr>
              <a:t>is an exclusive right granted to the inventor of a product or service.</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i="1" lang="en-US" sz="2400" strike="noStrike" u="none">
                <a:solidFill>
                  <a:schemeClr val="dk1"/>
                </a:solidFill>
                <a:effectLst/>
                <a:uFillTx/>
                <a:latin typeface="Arial"/>
                <a:ea typeface="ＭＳ Ｐゴシック"/>
              </a:rPr>
              <a:t>Copyright </a:t>
            </a:r>
            <a:r>
              <a:rPr b="0" lang="en-US" sz="2400" strike="noStrike" u="none">
                <a:solidFill>
                  <a:schemeClr val="dk1"/>
                </a:solidFill>
                <a:effectLst/>
                <a:uFillTx/>
                <a:latin typeface="Arial"/>
                <a:ea typeface="ＭＳ Ｐゴシック"/>
              </a:rPr>
              <a:t>is an exclusive right granted to the author or composer of a literary, musical, dramatic, or artistic work.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In the United States, a patent is valid for 20 years.</a:t>
            </a:r>
            <a:endParaRPr b="1" lang="en-CA" sz="2400" strike="noStrike" u="none">
              <a:solidFill>
                <a:srgbClr val="00468f"/>
              </a:solidFill>
              <a:effectLst/>
              <a:uFillTx/>
              <a:latin typeface="Arial"/>
            </a:endParaRPr>
          </a:p>
        </p:txBody>
      </p:sp>
    </p:spTree>
  </p:cSld>
  <p:transition spd="slow">
    <p:wipe dir="r"/>
  </p:transition>
  <p:timing>
    <p:tnLst>
      <p:par>
        <p:cTn id="191" dur="indefinite" restart="never" nodeType="tmRoot">
          <p:childTnLst>
            <p:seq>
              <p:cTn id="192" dur="indefinite" nodeType="mainSeq">
                <p:childTnLst>
                  <p:par>
                    <p:cTn id="193" nodeType="clickEffect" fill="hold">
                      <p:stCondLst>
                        <p:cond delay="indefinite"/>
                      </p:stCondLst>
                      <p:childTnLst>
                        <p:par>
                          <p:cTn id="194" nodeType="withEffect" fill="hold">
                            <p:stCondLst>
                              <p:cond delay="0"/>
                            </p:stCondLst>
                            <p:childTnLst>
                              <p:par>
                                <p:cTn id="195" nodeType="clickEffect" fill="hold" presetClass="entr" presetID="22" presetSubtype="8">
                                  <p:stCondLst>
                                    <p:cond delay="0"/>
                                  </p:stCondLst>
                                  <p:childTnLst>
                                    <p:set>
                                      <p:cBhvr>
                                        <p:cTn id="196" dur="1" fill="hold">
                                          <p:stCondLst>
                                            <p:cond delay="0"/>
                                          </p:stCondLst>
                                        </p:cTn>
                                        <p:tgtEl>
                                          <p:spTgt spid="80">
                                            <p:txEl>
                                              <p:pRg st="1" end="1"/>
                                            </p:txEl>
                                          </p:spTgt>
                                        </p:tgtEl>
                                        <p:attrNameLst>
                                          <p:attrName>style.visibility</p:attrName>
                                        </p:attrNameLst>
                                      </p:cBhvr>
                                      <p:to>
                                        <p:strVal val="visible"/>
                                      </p:to>
                                    </p:set>
                                    <p:animEffect filter="wipe(left)" transition="in">
                                      <p:cBhvr additive="repl">
                                        <p:cTn id="197" dur="500"/>
                                        <p:tgtEl>
                                          <p:spTgt spid="80">
                                            <p:txEl>
                                              <p:pRg st="1" end="1"/>
                                            </p:txEl>
                                          </p:spTgt>
                                        </p:tgtEl>
                                      </p:cBhvr>
                                    </p:animEffect>
                                  </p:childTnLst>
                                </p:cTn>
                              </p:par>
                            </p:childTnLst>
                          </p:cTn>
                        </p:par>
                      </p:childTnLst>
                    </p:cTn>
                  </p:par>
                  <p:par>
                    <p:cTn id="198" nodeType="clickEffect" fill="hold">
                      <p:stCondLst>
                        <p:cond delay="indefinite"/>
                      </p:stCondLst>
                      <p:childTnLst>
                        <p:par>
                          <p:cTn id="199" nodeType="withEffect" fill="hold">
                            <p:stCondLst>
                              <p:cond delay="0"/>
                            </p:stCondLst>
                            <p:childTnLst>
                              <p:par>
                                <p:cTn id="200" nodeType="clickEffect" fill="hold" presetClass="entr" presetID="22" presetSubtype="8">
                                  <p:stCondLst>
                                    <p:cond delay="0"/>
                                  </p:stCondLst>
                                  <p:childTnLst>
                                    <p:set>
                                      <p:cBhvr>
                                        <p:cTn id="201" dur="1" fill="hold">
                                          <p:stCondLst>
                                            <p:cond delay="0"/>
                                          </p:stCondLst>
                                        </p:cTn>
                                        <p:tgtEl>
                                          <p:spTgt spid="80">
                                            <p:txEl>
                                              <p:pRg st="2" end="2"/>
                                            </p:txEl>
                                          </p:spTgt>
                                        </p:tgtEl>
                                        <p:attrNameLst>
                                          <p:attrName>style.visibility</p:attrName>
                                        </p:attrNameLst>
                                      </p:cBhvr>
                                      <p:to>
                                        <p:strVal val="visible"/>
                                      </p:to>
                                    </p:set>
                                    <p:animEffect filter="wipe(left)" transition="in">
                                      <p:cBhvr additive="repl">
                                        <p:cTn id="202" dur="500"/>
                                        <p:tgtEl>
                                          <p:spTgt spid="80">
                                            <p:txEl>
                                              <p:pRg st="2" end="2"/>
                                            </p:txEl>
                                          </p:spTgt>
                                        </p:tgtEl>
                                      </p:cBhvr>
                                    </p:animEffect>
                                  </p:childTnLst>
                                </p:cTn>
                              </p:par>
                            </p:childTnLst>
                          </p:cTn>
                        </p:par>
                      </p:childTnLst>
                    </p:cTn>
                  </p:par>
                  <p:par>
                    <p:cTn id="203" nodeType="clickEffect" fill="hold">
                      <p:stCondLst>
                        <p:cond delay="indefinite"/>
                      </p:stCondLst>
                      <p:childTnLst>
                        <p:par>
                          <p:cTn id="204" nodeType="withEffect" fill="hold">
                            <p:stCondLst>
                              <p:cond delay="0"/>
                            </p:stCondLst>
                            <p:childTnLst>
                              <p:par>
                                <p:cTn id="205" nodeType="clickEffect" fill="hold" presetClass="entr" presetID="22" presetSubtype="8">
                                  <p:stCondLst>
                                    <p:cond delay="0"/>
                                  </p:stCondLst>
                                  <p:childTnLst>
                                    <p:set>
                                      <p:cBhvr>
                                        <p:cTn id="206" dur="1" fill="hold">
                                          <p:stCondLst>
                                            <p:cond delay="0"/>
                                          </p:stCondLst>
                                        </p:cTn>
                                        <p:tgtEl>
                                          <p:spTgt spid="80">
                                            <p:txEl>
                                              <p:pRg st="3" end="3"/>
                                            </p:txEl>
                                          </p:spTgt>
                                        </p:tgtEl>
                                        <p:attrNameLst>
                                          <p:attrName>style.visibility</p:attrName>
                                        </p:attrNameLst>
                                      </p:cBhvr>
                                      <p:to>
                                        <p:strVal val="visible"/>
                                      </p:to>
                                    </p:set>
                                    <p:animEffect filter="wipe(left)" transition="in">
                                      <p:cBhvr additive="repl">
                                        <p:cTn id="207" dur="500"/>
                                        <p:tgtEl>
                                          <p:spTgt spid="80">
                                            <p:txEl>
                                              <p:pRg st="3" end="3"/>
                                            </p:txEl>
                                          </p:spTgt>
                                        </p:tgtEl>
                                      </p:cBhvr>
                                    </p:animEffect>
                                  </p:childTnLst>
                                </p:cTn>
                              </p:par>
                            </p:childTnLst>
                          </p:cTn>
                        </p:par>
                      </p:childTnLst>
                    </p:cTn>
                  </p:par>
                  <p:par>
                    <p:cTn id="208" nodeType="clickEffect" fill="hold">
                      <p:stCondLst>
                        <p:cond delay="indefinite"/>
                      </p:stCondLst>
                      <p:childTnLst>
                        <p:par>
                          <p:cTn id="209" nodeType="withEffect" fill="hold">
                            <p:stCondLst>
                              <p:cond delay="0"/>
                            </p:stCondLst>
                            <p:childTnLst>
                              <p:par>
                                <p:cTn id="210" nodeType="clickEffect" fill="hold" presetClass="entr" presetID="22" presetSubtype="8">
                                  <p:stCondLst>
                                    <p:cond delay="0"/>
                                  </p:stCondLst>
                                  <p:childTnLst>
                                    <p:set>
                                      <p:cBhvr>
                                        <p:cTn id="211" dur="1" fill="hold">
                                          <p:stCondLst>
                                            <p:cond delay="0"/>
                                          </p:stCondLst>
                                        </p:cTn>
                                        <p:tgtEl>
                                          <p:spTgt spid="80">
                                            <p:txEl>
                                              <p:pRg st="4" end="4"/>
                                            </p:txEl>
                                          </p:spTgt>
                                        </p:tgtEl>
                                        <p:attrNameLst>
                                          <p:attrName>style.visibility</p:attrName>
                                        </p:attrNameLst>
                                      </p:cBhvr>
                                      <p:to>
                                        <p:strVal val="visible"/>
                                      </p:to>
                                    </p:set>
                                    <p:animEffect filter="wipe(left)" transition="in">
                                      <p:cBhvr additive="repl">
                                        <p:cTn id="212" dur="500"/>
                                        <p:tgtEl>
                                          <p:spTgt spid="80">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16.1  MONOPOLY AND HOW IT ARISES</a:t>
            </a:r>
            <a:endParaRPr b="0" lang="en-CA" sz="2600" strike="noStrike" u="none">
              <a:solidFill>
                <a:schemeClr val="dk1"/>
              </a:solidFill>
              <a:effectLst/>
              <a:uFillTx/>
              <a:latin typeface="Arial"/>
            </a:endParaRPr>
          </a:p>
        </p:txBody>
      </p:sp>
      <p:sp>
        <p:nvSpPr>
          <p:cNvPr id="82"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Monopoly Price-Setting Strategies</a:t>
            </a:r>
            <a:endParaRPr b="1" lang="en-CA" sz="28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 monopoly faces a tradeoff between price and the quantity sold.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To sell a larger quantity, the monopolist must set a lower price.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There are two price-setting possibilities that create different tradeoffs:</a:t>
            </a:r>
            <a:endParaRPr b="1" lang="en-CA" sz="24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Single price</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Price discrimination</a:t>
            </a:r>
            <a:endParaRPr b="0" lang="en-CA" sz="2400" strike="noStrike" u="none">
              <a:solidFill>
                <a:schemeClr val="dk1"/>
              </a:solidFill>
              <a:effectLst/>
              <a:uFillTx/>
              <a:latin typeface="Arial"/>
            </a:endParaRPr>
          </a:p>
        </p:txBody>
      </p:sp>
    </p:spTree>
  </p:cSld>
  <p:transition spd="slow">
    <p:wipe dir="r"/>
  </p:transition>
  <p:timing>
    <p:tnLst>
      <p:par>
        <p:cTn id="213" dur="indefinite" restart="never" nodeType="tmRoot">
          <p:childTnLst>
            <p:seq>
              <p:cTn id="214" dur="indefinite" nodeType="mainSeq">
                <p:childTnLst>
                  <p:par>
                    <p:cTn id="215" nodeType="clickEffect" fill="hold">
                      <p:stCondLst>
                        <p:cond delay="indefinite"/>
                      </p:stCondLst>
                      <p:childTnLst>
                        <p:par>
                          <p:cTn id="216" nodeType="withEffect" fill="hold">
                            <p:stCondLst>
                              <p:cond delay="0"/>
                            </p:stCondLst>
                            <p:childTnLst>
                              <p:par>
                                <p:cTn id="217" nodeType="clickEffect" fill="hold" presetClass="entr" presetID="22" presetSubtype="8">
                                  <p:stCondLst>
                                    <p:cond delay="0"/>
                                  </p:stCondLst>
                                  <p:childTnLst>
                                    <p:set>
                                      <p:cBhvr>
                                        <p:cTn id="218" dur="1" fill="hold">
                                          <p:stCondLst>
                                            <p:cond delay="0"/>
                                          </p:stCondLst>
                                        </p:cTn>
                                        <p:tgtEl>
                                          <p:spTgt spid="82">
                                            <p:txEl>
                                              <p:pRg st="1" end="1"/>
                                            </p:txEl>
                                          </p:spTgt>
                                        </p:tgtEl>
                                        <p:attrNameLst>
                                          <p:attrName>style.visibility</p:attrName>
                                        </p:attrNameLst>
                                      </p:cBhvr>
                                      <p:to>
                                        <p:strVal val="visible"/>
                                      </p:to>
                                    </p:set>
                                    <p:animEffect filter="wipe(left)" transition="in">
                                      <p:cBhvr additive="repl">
                                        <p:cTn id="219" dur="500"/>
                                        <p:tgtEl>
                                          <p:spTgt spid="82">
                                            <p:txEl>
                                              <p:pRg st="1" end="1"/>
                                            </p:txEl>
                                          </p:spTgt>
                                        </p:tgtEl>
                                      </p:cBhvr>
                                    </p:animEffect>
                                  </p:childTnLst>
                                </p:cTn>
                              </p:par>
                            </p:childTnLst>
                          </p:cTn>
                        </p:par>
                      </p:childTnLst>
                    </p:cTn>
                  </p:par>
                  <p:par>
                    <p:cTn id="220" nodeType="clickEffect" fill="hold">
                      <p:stCondLst>
                        <p:cond delay="indefinite"/>
                      </p:stCondLst>
                      <p:childTnLst>
                        <p:par>
                          <p:cTn id="221" nodeType="withEffect" fill="hold">
                            <p:stCondLst>
                              <p:cond delay="0"/>
                            </p:stCondLst>
                            <p:childTnLst>
                              <p:par>
                                <p:cTn id="222" nodeType="clickEffect" fill="hold" presetClass="entr" presetID="22" presetSubtype="8">
                                  <p:stCondLst>
                                    <p:cond delay="0"/>
                                  </p:stCondLst>
                                  <p:childTnLst>
                                    <p:set>
                                      <p:cBhvr>
                                        <p:cTn id="223" dur="1" fill="hold">
                                          <p:stCondLst>
                                            <p:cond delay="0"/>
                                          </p:stCondLst>
                                        </p:cTn>
                                        <p:tgtEl>
                                          <p:spTgt spid="82">
                                            <p:txEl>
                                              <p:pRg st="2" end="2"/>
                                            </p:txEl>
                                          </p:spTgt>
                                        </p:tgtEl>
                                        <p:attrNameLst>
                                          <p:attrName>style.visibility</p:attrName>
                                        </p:attrNameLst>
                                      </p:cBhvr>
                                      <p:to>
                                        <p:strVal val="visible"/>
                                      </p:to>
                                    </p:set>
                                    <p:animEffect filter="wipe(left)" transition="in">
                                      <p:cBhvr additive="repl">
                                        <p:cTn id="224" dur="500"/>
                                        <p:tgtEl>
                                          <p:spTgt spid="82">
                                            <p:txEl>
                                              <p:pRg st="2" end="2"/>
                                            </p:txEl>
                                          </p:spTgt>
                                        </p:tgtEl>
                                      </p:cBhvr>
                                    </p:animEffect>
                                  </p:childTnLst>
                                </p:cTn>
                              </p:par>
                            </p:childTnLst>
                          </p:cTn>
                        </p:par>
                      </p:childTnLst>
                    </p:cTn>
                  </p:par>
                  <p:par>
                    <p:cTn id="225" nodeType="clickEffect" fill="hold">
                      <p:stCondLst>
                        <p:cond delay="indefinite"/>
                      </p:stCondLst>
                      <p:childTnLst>
                        <p:par>
                          <p:cTn id="226" nodeType="withEffect" fill="hold">
                            <p:stCondLst>
                              <p:cond delay="0"/>
                            </p:stCondLst>
                            <p:childTnLst>
                              <p:par>
                                <p:cTn id="227" nodeType="clickEffect" fill="hold" presetClass="entr" presetID="22" presetSubtype="8">
                                  <p:stCondLst>
                                    <p:cond delay="0"/>
                                  </p:stCondLst>
                                  <p:childTnLst>
                                    <p:set>
                                      <p:cBhvr>
                                        <p:cTn id="228" dur="1" fill="hold">
                                          <p:stCondLst>
                                            <p:cond delay="0"/>
                                          </p:stCondLst>
                                        </p:cTn>
                                        <p:tgtEl>
                                          <p:spTgt spid="82">
                                            <p:txEl>
                                              <p:pRg st="3" end="3"/>
                                            </p:txEl>
                                          </p:spTgt>
                                        </p:tgtEl>
                                        <p:attrNameLst>
                                          <p:attrName>style.visibility</p:attrName>
                                        </p:attrNameLst>
                                      </p:cBhvr>
                                      <p:to>
                                        <p:strVal val="visible"/>
                                      </p:to>
                                    </p:set>
                                    <p:animEffect filter="wipe(left)" transition="in">
                                      <p:cBhvr additive="repl">
                                        <p:cTn id="229" dur="500"/>
                                        <p:tgtEl>
                                          <p:spTgt spid="82">
                                            <p:txEl>
                                              <p:pRg st="3" end="3"/>
                                            </p:txEl>
                                          </p:spTgt>
                                        </p:tgtEl>
                                      </p:cBhvr>
                                    </p:animEffect>
                                  </p:childTnLst>
                                </p:cTn>
                              </p:par>
                            </p:childTnLst>
                          </p:cTn>
                        </p:par>
                      </p:childTnLst>
                    </p:cTn>
                  </p:par>
                  <p:par>
                    <p:cTn id="230" nodeType="clickEffect" fill="hold">
                      <p:stCondLst>
                        <p:cond delay="indefinite"/>
                      </p:stCondLst>
                      <p:childTnLst>
                        <p:par>
                          <p:cTn id="231" nodeType="withEffect" fill="hold">
                            <p:stCondLst>
                              <p:cond delay="0"/>
                            </p:stCondLst>
                            <p:childTnLst>
                              <p:par>
                                <p:cTn id="232" nodeType="clickEffect" fill="hold" presetClass="entr" presetID="22" presetSubtype="8">
                                  <p:stCondLst>
                                    <p:cond delay="0"/>
                                  </p:stCondLst>
                                  <p:childTnLst>
                                    <p:set>
                                      <p:cBhvr>
                                        <p:cTn id="233" dur="1" fill="hold">
                                          <p:stCondLst>
                                            <p:cond delay="0"/>
                                          </p:stCondLst>
                                        </p:cTn>
                                        <p:tgtEl>
                                          <p:spTgt spid="82">
                                            <p:txEl>
                                              <p:pRg st="4" end="4"/>
                                            </p:txEl>
                                          </p:spTgt>
                                        </p:tgtEl>
                                        <p:attrNameLst>
                                          <p:attrName>style.visibility</p:attrName>
                                        </p:attrNameLst>
                                      </p:cBhvr>
                                      <p:to>
                                        <p:strVal val="visible"/>
                                      </p:to>
                                    </p:set>
                                    <p:animEffect filter="wipe(left)" transition="in">
                                      <p:cBhvr additive="repl">
                                        <p:cTn id="234" dur="500"/>
                                        <p:tgtEl>
                                          <p:spTgt spid="82">
                                            <p:txEl>
                                              <p:pRg st="4" end="4"/>
                                            </p:txEl>
                                          </p:spTgt>
                                        </p:tgtEl>
                                      </p:cBhvr>
                                    </p:animEffect>
                                  </p:childTnLst>
                                </p:cTn>
                              </p:par>
                            </p:childTnLst>
                          </p:cTn>
                        </p:par>
                      </p:childTnLst>
                    </p:cTn>
                  </p:par>
                  <p:par>
                    <p:cTn id="235" nodeType="clickEffect" fill="hold">
                      <p:stCondLst>
                        <p:cond delay="indefinite"/>
                      </p:stCondLst>
                      <p:childTnLst>
                        <p:par>
                          <p:cTn id="236" nodeType="withEffect" fill="hold">
                            <p:stCondLst>
                              <p:cond delay="0"/>
                            </p:stCondLst>
                            <p:childTnLst>
                              <p:par>
                                <p:cTn id="237" nodeType="clickEffect" fill="hold" presetClass="entr" presetID="22" presetSubtype="8">
                                  <p:stCondLst>
                                    <p:cond delay="0"/>
                                  </p:stCondLst>
                                  <p:childTnLst>
                                    <p:set>
                                      <p:cBhvr>
                                        <p:cTn id="238" dur="1" fill="hold">
                                          <p:stCondLst>
                                            <p:cond delay="0"/>
                                          </p:stCondLst>
                                        </p:cTn>
                                        <p:tgtEl>
                                          <p:spTgt spid="82">
                                            <p:txEl>
                                              <p:pRg st="5" end="5"/>
                                            </p:txEl>
                                          </p:spTgt>
                                        </p:tgtEl>
                                        <p:attrNameLst>
                                          <p:attrName>style.visibility</p:attrName>
                                        </p:attrNameLst>
                                      </p:cBhvr>
                                      <p:to>
                                        <p:strVal val="visible"/>
                                      </p:to>
                                    </p:set>
                                    <p:animEffect filter="wipe(left)" transition="in">
                                      <p:cBhvr additive="repl">
                                        <p:cTn id="239" dur="500"/>
                                        <p:tgtEl>
                                          <p:spTgt spid="82">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16.1  MONOPOLY AND HOW IT ARISES</a:t>
            </a:r>
            <a:endParaRPr b="0" lang="en-CA" sz="2600" strike="noStrike" u="none">
              <a:solidFill>
                <a:schemeClr val="dk1"/>
              </a:solidFill>
              <a:effectLst/>
              <a:uFillTx/>
              <a:latin typeface="Arial"/>
            </a:endParaRPr>
          </a:p>
        </p:txBody>
      </p:sp>
      <p:sp>
        <p:nvSpPr>
          <p:cNvPr id="84"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Single Price</a:t>
            </a:r>
            <a:endParaRPr b="1" lang="en-CA" sz="26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 </a:t>
            </a:r>
            <a:r>
              <a:rPr b="1" lang="en-US" sz="2400" strike="noStrike" u="none">
                <a:solidFill>
                  <a:srgbClr val="ff0000"/>
                </a:solidFill>
                <a:effectLst/>
                <a:uFillTx/>
                <a:latin typeface="Arial"/>
                <a:ea typeface="ＭＳ Ｐゴシック"/>
              </a:rPr>
              <a:t>single-price monopoly</a:t>
            </a:r>
            <a:r>
              <a:rPr b="0" lang="en-US" sz="2400" strike="noStrike" u="none">
                <a:solidFill>
                  <a:schemeClr val="dk1"/>
                </a:solidFill>
                <a:effectLst/>
                <a:uFillTx/>
                <a:latin typeface="Arial"/>
                <a:ea typeface="ＭＳ Ｐゴシック"/>
              </a:rPr>
              <a:t> is a firm that must sell each unit of its output for the same price to all its customers.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DeBeers sell diamonds (quality given) at a single price.</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Price Discrimination</a:t>
            </a:r>
            <a:endParaRPr b="1" lang="en-CA" sz="26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 </a:t>
            </a:r>
            <a:r>
              <a:rPr b="1" lang="en-US" sz="2400" strike="noStrike" u="none">
                <a:solidFill>
                  <a:srgbClr val="ff0000"/>
                </a:solidFill>
                <a:effectLst/>
                <a:uFillTx/>
                <a:latin typeface="Arial"/>
                <a:ea typeface="ＭＳ Ｐゴシック"/>
              </a:rPr>
              <a:t>price-discriminating monopoly</a:t>
            </a:r>
            <a:r>
              <a:rPr b="0" lang="en-US" sz="2400" strike="noStrike" u="none">
                <a:solidFill>
                  <a:schemeClr val="dk1"/>
                </a:solidFill>
                <a:effectLst/>
                <a:uFillTx/>
                <a:latin typeface="Arial"/>
                <a:ea typeface="ＭＳ Ｐゴシック"/>
              </a:rPr>
              <a:t> is a firm that is able to sell different units of a good or service for different prices.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Airlines offer different prices for the same trip.</a:t>
            </a:r>
            <a:endParaRPr b="1" lang="en-CA" sz="2400" strike="noStrike" u="none">
              <a:solidFill>
                <a:srgbClr val="00468f"/>
              </a:solidFill>
              <a:effectLst/>
              <a:uFillTx/>
              <a:latin typeface="Arial"/>
            </a:endParaRPr>
          </a:p>
        </p:txBody>
      </p:sp>
    </p:spTree>
  </p:cSld>
  <p:transition spd="slow">
    <p:wipe dir="r"/>
  </p:transition>
  <p:timing>
    <p:tnLst>
      <p:par>
        <p:cTn id="240" dur="indefinite" restart="never" nodeType="tmRoot">
          <p:childTnLst>
            <p:seq>
              <p:cTn id="241" dur="indefinite" nodeType="mainSeq">
                <p:childTnLst>
                  <p:par>
                    <p:cTn id="242" nodeType="clickEffect" fill="hold">
                      <p:stCondLst>
                        <p:cond delay="indefinite"/>
                      </p:stCondLst>
                      <p:childTnLst>
                        <p:par>
                          <p:cTn id="243" nodeType="withEffect" fill="hold">
                            <p:stCondLst>
                              <p:cond delay="0"/>
                            </p:stCondLst>
                            <p:childTnLst>
                              <p:par>
                                <p:cTn id="244" nodeType="clickEffect" fill="hold" presetClass="entr" presetID="22" presetSubtype="8">
                                  <p:stCondLst>
                                    <p:cond delay="0"/>
                                  </p:stCondLst>
                                  <p:childTnLst>
                                    <p:set>
                                      <p:cBhvr>
                                        <p:cTn id="245" dur="1" fill="hold">
                                          <p:stCondLst>
                                            <p:cond delay="0"/>
                                          </p:stCondLst>
                                        </p:cTn>
                                        <p:tgtEl>
                                          <p:spTgt spid="84">
                                            <p:txEl>
                                              <p:pRg st="1" end="1"/>
                                            </p:txEl>
                                          </p:spTgt>
                                        </p:tgtEl>
                                        <p:attrNameLst>
                                          <p:attrName>style.visibility</p:attrName>
                                        </p:attrNameLst>
                                      </p:cBhvr>
                                      <p:to>
                                        <p:strVal val="visible"/>
                                      </p:to>
                                    </p:set>
                                    <p:animEffect filter="wipe(left)" transition="in">
                                      <p:cBhvr additive="repl">
                                        <p:cTn id="246" dur="500"/>
                                        <p:tgtEl>
                                          <p:spTgt spid="84">
                                            <p:txEl>
                                              <p:pRg st="1" end="1"/>
                                            </p:txEl>
                                          </p:spTgt>
                                        </p:tgtEl>
                                      </p:cBhvr>
                                    </p:animEffect>
                                  </p:childTnLst>
                                </p:cTn>
                              </p:par>
                            </p:childTnLst>
                          </p:cTn>
                        </p:par>
                      </p:childTnLst>
                    </p:cTn>
                  </p:par>
                  <p:par>
                    <p:cTn id="247" nodeType="clickEffect" fill="hold">
                      <p:stCondLst>
                        <p:cond delay="indefinite"/>
                      </p:stCondLst>
                      <p:childTnLst>
                        <p:par>
                          <p:cTn id="248" nodeType="withEffect" fill="hold">
                            <p:stCondLst>
                              <p:cond delay="0"/>
                            </p:stCondLst>
                            <p:childTnLst>
                              <p:par>
                                <p:cTn id="249" nodeType="clickEffect" fill="hold" presetClass="entr" presetID="22" presetSubtype="8">
                                  <p:stCondLst>
                                    <p:cond delay="0"/>
                                  </p:stCondLst>
                                  <p:childTnLst>
                                    <p:set>
                                      <p:cBhvr>
                                        <p:cTn id="250" dur="1" fill="hold">
                                          <p:stCondLst>
                                            <p:cond delay="0"/>
                                          </p:stCondLst>
                                        </p:cTn>
                                        <p:tgtEl>
                                          <p:spTgt spid="84">
                                            <p:txEl>
                                              <p:pRg st="2" end="2"/>
                                            </p:txEl>
                                          </p:spTgt>
                                        </p:tgtEl>
                                        <p:attrNameLst>
                                          <p:attrName>style.visibility</p:attrName>
                                        </p:attrNameLst>
                                      </p:cBhvr>
                                      <p:to>
                                        <p:strVal val="visible"/>
                                      </p:to>
                                    </p:set>
                                    <p:animEffect filter="wipe(left)" transition="in">
                                      <p:cBhvr additive="repl">
                                        <p:cTn id="251" dur="500"/>
                                        <p:tgtEl>
                                          <p:spTgt spid="84">
                                            <p:txEl>
                                              <p:pRg st="2" end="2"/>
                                            </p:txEl>
                                          </p:spTgt>
                                        </p:tgtEl>
                                      </p:cBhvr>
                                    </p:animEffect>
                                  </p:childTnLst>
                                </p:cTn>
                              </p:par>
                            </p:childTnLst>
                          </p:cTn>
                        </p:par>
                      </p:childTnLst>
                    </p:cTn>
                  </p:par>
                  <p:par>
                    <p:cTn id="252" nodeType="clickEffect" fill="hold">
                      <p:stCondLst>
                        <p:cond delay="indefinite"/>
                      </p:stCondLst>
                      <p:childTnLst>
                        <p:par>
                          <p:cTn id="253" nodeType="withEffect" fill="hold">
                            <p:stCondLst>
                              <p:cond delay="0"/>
                            </p:stCondLst>
                            <p:childTnLst>
                              <p:par>
                                <p:cTn id="254" nodeType="clickEffect" fill="hold" presetClass="entr" presetID="22" presetSubtype="8">
                                  <p:stCondLst>
                                    <p:cond delay="0"/>
                                  </p:stCondLst>
                                  <p:childTnLst>
                                    <p:set>
                                      <p:cBhvr>
                                        <p:cTn id="255" dur="1" fill="hold">
                                          <p:stCondLst>
                                            <p:cond delay="0"/>
                                          </p:stCondLst>
                                        </p:cTn>
                                        <p:tgtEl>
                                          <p:spTgt spid="84">
                                            <p:txEl>
                                              <p:pRg st="3" end="3"/>
                                            </p:txEl>
                                          </p:spTgt>
                                        </p:tgtEl>
                                        <p:attrNameLst>
                                          <p:attrName>style.visibility</p:attrName>
                                        </p:attrNameLst>
                                      </p:cBhvr>
                                      <p:to>
                                        <p:strVal val="visible"/>
                                      </p:to>
                                    </p:set>
                                    <p:animEffect filter="wipe(left)" transition="in">
                                      <p:cBhvr additive="repl">
                                        <p:cTn id="256" dur="500"/>
                                        <p:tgtEl>
                                          <p:spTgt spid="84">
                                            <p:txEl>
                                              <p:pRg st="3" end="3"/>
                                            </p:txEl>
                                          </p:spTgt>
                                        </p:tgtEl>
                                      </p:cBhvr>
                                    </p:animEffect>
                                  </p:childTnLst>
                                </p:cTn>
                              </p:par>
                            </p:childTnLst>
                          </p:cTn>
                        </p:par>
                      </p:childTnLst>
                    </p:cTn>
                  </p:par>
                  <p:par>
                    <p:cTn id="257" nodeType="clickEffect" fill="hold">
                      <p:stCondLst>
                        <p:cond delay="indefinite"/>
                      </p:stCondLst>
                      <p:childTnLst>
                        <p:par>
                          <p:cTn id="258" nodeType="withEffect" fill="hold">
                            <p:stCondLst>
                              <p:cond delay="0"/>
                            </p:stCondLst>
                            <p:childTnLst>
                              <p:par>
                                <p:cTn id="259" nodeType="clickEffect" fill="hold" presetClass="entr" presetID="22" presetSubtype="8">
                                  <p:stCondLst>
                                    <p:cond delay="0"/>
                                  </p:stCondLst>
                                  <p:childTnLst>
                                    <p:set>
                                      <p:cBhvr>
                                        <p:cTn id="260" dur="1" fill="hold">
                                          <p:stCondLst>
                                            <p:cond delay="0"/>
                                          </p:stCondLst>
                                        </p:cTn>
                                        <p:tgtEl>
                                          <p:spTgt spid="84">
                                            <p:txEl>
                                              <p:pRg st="4" end="4"/>
                                            </p:txEl>
                                          </p:spTgt>
                                        </p:tgtEl>
                                        <p:attrNameLst>
                                          <p:attrName>style.visibility</p:attrName>
                                        </p:attrNameLst>
                                      </p:cBhvr>
                                      <p:to>
                                        <p:strVal val="visible"/>
                                      </p:to>
                                    </p:set>
                                    <p:animEffect filter="wipe(left)" transition="in">
                                      <p:cBhvr additive="repl">
                                        <p:cTn id="261" dur="500"/>
                                        <p:tgtEl>
                                          <p:spTgt spid="84">
                                            <p:txEl>
                                              <p:pRg st="4" end="4"/>
                                            </p:txEl>
                                          </p:spTgt>
                                        </p:tgtEl>
                                      </p:cBhvr>
                                    </p:animEffect>
                                  </p:childTnLst>
                                </p:cTn>
                              </p:par>
                            </p:childTnLst>
                          </p:cTn>
                        </p:par>
                      </p:childTnLst>
                    </p:cTn>
                  </p:par>
                  <p:par>
                    <p:cTn id="262" nodeType="clickEffect" fill="hold">
                      <p:stCondLst>
                        <p:cond delay="indefinite"/>
                      </p:stCondLst>
                      <p:childTnLst>
                        <p:par>
                          <p:cTn id="263" nodeType="withEffect" fill="hold">
                            <p:stCondLst>
                              <p:cond delay="0"/>
                            </p:stCondLst>
                            <p:childTnLst>
                              <p:par>
                                <p:cTn id="264" nodeType="clickEffect" fill="hold" presetClass="entr" presetID="22" presetSubtype="8">
                                  <p:stCondLst>
                                    <p:cond delay="0"/>
                                  </p:stCondLst>
                                  <p:childTnLst>
                                    <p:set>
                                      <p:cBhvr>
                                        <p:cTn id="265" dur="1" fill="hold">
                                          <p:stCondLst>
                                            <p:cond delay="0"/>
                                          </p:stCondLst>
                                        </p:cTn>
                                        <p:tgtEl>
                                          <p:spTgt spid="84">
                                            <p:txEl>
                                              <p:pRg st="5" end="5"/>
                                            </p:txEl>
                                          </p:spTgt>
                                        </p:tgtEl>
                                        <p:attrNameLst>
                                          <p:attrName>style.visibility</p:attrName>
                                        </p:attrNameLst>
                                      </p:cBhvr>
                                      <p:to>
                                        <p:strVal val="visible"/>
                                      </p:to>
                                    </p:set>
                                    <p:animEffect filter="wipe(left)" transition="in">
                                      <p:cBhvr additive="repl">
                                        <p:cTn id="266" dur="500"/>
                                        <p:tgtEl>
                                          <p:spTgt spid="84">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16.2  SINGLE-PRICE MONOPOLY</a:t>
            </a:r>
            <a:endParaRPr b="0" lang="en-CA" sz="2600" strike="noStrike" u="none">
              <a:solidFill>
                <a:schemeClr val="dk1"/>
              </a:solidFill>
              <a:effectLst/>
              <a:uFillTx/>
              <a:latin typeface="Arial"/>
            </a:endParaRPr>
          </a:p>
        </p:txBody>
      </p:sp>
      <p:sp>
        <p:nvSpPr>
          <p:cNvPr id="86"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Price and Marginal Revenue</a:t>
            </a:r>
            <a:endParaRPr b="1" lang="en-CA" sz="28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Because in a monopoly there is only one firm, the firm’s demand curve is the market demand curve.</a:t>
            </a:r>
            <a:endParaRPr b="1" lang="en-CA" sz="24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Total revenue</a:t>
            </a:r>
            <a:endParaRPr b="0" lang="en-CA" sz="2400" strike="noStrike" u="none">
              <a:solidFill>
                <a:schemeClr val="dk1"/>
              </a:solidFill>
              <a:effectLst/>
              <a:uFillTx/>
              <a:latin typeface="Arial"/>
            </a:endParaRPr>
          </a:p>
          <a:p>
            <a:pPr lvl="3" marL="703080" indent="-343080">
              <a:lnSpc>
                <a:spcPct val="100000"/>
              </a:lnSpc>
              <a:spcBef>
                <a:spcPts val="601"/>
              </a:spcBef>
              <a:spcAft>
                <a:spcPts val="601"/>
              </a:spcAft>
              <a:buClr>
                <a:srgbClr val="000000"/>
              </a:buClr>
              <a:buFont typeface="Arial"/>
              <a:buChar char="―"/>
            </a:pPr>
            <a:r>
              <a:rPr b="0" lang="en-US" sz="2400" strike="noStrike" u="none">
                <a:solidFill>
                  <a:schemeClr val="dk1"/>
                </a:solidFill>
                <a:effectLst/>
                <a:uFillTx/>
                <a:latin typeface="Arial"/>
                <a:ea typeface="ＭＳ Ｐゴシック"/>
              </a:rPr>
              <a:t>The price multiplied by the quantity sold.</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Marginal revenue</a:t>
            </a:r>
            <a:endParaRPr b="0" lang="en-CA" sz="2400" strike="noStrike" u="none">
              <a:solidFill>
                <a:schemeClr val="dk1"/>
              </a:solidFill>
              <a:effectLst/>
              <a:uFillTx/>
              <a:latin typeface="Arial"/>
            </a:endParaRPr>
          </a:p>
          <a:p>
            <a:pPr lvl="3" marL="703080" indent="-343080">
              <a:lnSpc>
                <a:spcPct val="100000"/>
              </a:lnSpc>
              <a:spcBef>
                <a:spcPts val="601"/>
              </a:spcBef>
              <a:spcAft>
                <a:spcPts val="601"/>
              </a:spcAft>
              <a:buClr>
                <a:srgbClr val="000000"/>
              </a:buClr>
              <a:buFont typeface="Arial"/>
              <a:buChar char="―"/>
            </a:pPr>
            <a:r>
              <a:rPr b="0" lang="en-US" sz="2400" strike="noStrike" u="none">
                <a:solidFill>
                  <a:schemeClr val="dk1"/>
                </a:solidFill>
                <a:effectLst/>
                <a:uFillTx/>
                <a:latin typeface="Arial"/>
                <a:ea typeface="ＭＳ Ｐゴシック"/>
              </a:rPr>
              <a:t>The change in total revenue resulting from a one-unit increase in the quantity sold.</a:t>
            </a:r>
            <a:endParaRPr b="0" lang="en-CA" sz="2400" strike="noStrike" u="none">
              <a:solidFill>
                <a:schemeClr val="dk1"/>
              </a:solidFill>
              <a:effectLst/>
              <a:uFillTx/>
              <a:latin typeface="Arial"/>
            </a:endParaRPr>
          </a:p>
          <a:p>
            <a:pPr marL="360000" indent="0">
              <a:lnSpc>
                <a:spcPct val="100000"/>
              </a:lnSpc>
              <a:spcBef>
                <a:spcPts val="601"/>
              </a:spcBef>
              <a:spcAft>
                <a:spcPts val="601"/>
              </a:spcAft>
              <a:buNone/>
            </a:pPr>
            <a:r>
              <a:rPr b="0" lang="en-CA" sz="2400" strike="noStrike" u="none">
                <a:solidFill>
                  <a:schemeClr val="dk1"/>
                </a:solidFill>
                <a:effectLst/>
                <a:uFillTx/>
                <a:latin typeface="Arial"/>
                <a:ea typeface="ＭＳ Ｐゴシック"/>
              </a:rPr>
              <a:t>Figure 16.2 on the next slide illustrates the relationship between marginal revenue and demand.</a:t>
            </a:r>
            <a:endParaRPr b="1" lang="en-CA" sz="2400" strike="noStrike" u="none">
              <a:solidFill>
                <a:srgbClr val="00468f"/>
              </a:solidFill>
              <a:effectLst/>
              <a:uFillTx/>
              <a:latin typeface="Arial"/>
            </a:endParaRPr>
          </a:p>
        </p:txBody>
      </p:sp>
    </p:spTree>
  </p:cSld>
  <p:transition spd="slow">
    <p:wipe dir="r"/>
  </p:transition>
  <p:timing>
    <p:tnLst>
      <p:par>
        <p:cTn id="267" dur="indefinite" restart="never" nodeType="tmRoot">
          <p:childTnLst>
            <p:seq>
              <p:cTn id="268" dur="indefinite" nodeType="mainSeq">
                <p:childTnLst>
                  <p:par>
                    <p:cTn id="269" nodeType="clickEffect" fill="hold">
                      <p:stCondLst>
                        <p:cond delay="indefinite"/>
                      </p:stCondLst>
                      <p:childTnLst>
                        <p:par>
                          <p:cTn id="270" nodeType="withEffect" fill="hold">
                            <p:stCondLst>
                              <p:cond delay="0"/>
                            </p:stCondLst>
                            <p:childTnLst>
                              <p:par>
                                <p:cTn id="271" nodeType="clickEffect" fill="hold" presetClass="entr" presetID="22" presetSubtype="8">
                                  <p:stCondLst>
                                    <p:cond delay="0"/>
                                  </p:stCondLst>
                                  <p:childTnLst>
                                    <p:set>
                                      <p:cBhvr>
                                        <p:cTn id="272" dur="1" fill="hold">
                                          <p:stCondLst>
                                            <p:cond delay="0"/>
                                          </p:stCondLst>
                                        </p:cTn>
                                        <p:tgtEl>
                                          <p:spTgt spid="86">
                                            <p:txEl>
                                              <p:pRg st="1" end="1"/>
                                            </p:txEl>
                                          </p:spTgt>
                                        </p:tgtEl>
                                        <p:attrNameLst>
                                          <p:attrName>style.visibility</p:attrName>
                                        </p:attrNameLst>
                                      </p:cBhvr>
                                      <p:to>
                                        <p:strVal val="visible"/>
                                      </p:to>
                                    </p:set>
                                    <p:animEffect filter="wipe(left)" transition="in">
                                      <p:cBhvr additive="repl">
                                        <p:cTn id="273" dur="500"/>
                                        <p:tgtEl>
                                          <p:spTgt spid="86">
                                            <p:txEl>
                                              <p:pRg st="1" end="1"/>
                                            </p:txEl>
                                          </p:spTgt>
                                        </p:tgtEl>
                                      </p:cBhvr>
                                    </p:animEffect>
                                  </p:childTnLst>
                                </p:cTn>
                              </p:par>
                            </p:childTnLst>
                          </p:cTn>
                        </p:par>
                      </p:childTnLst>
                    </p:cTn>
                  </p:par>
                  <p:par>
                    <p:cTn id="274" nodeType="clickEffect" fill="hold">
                      <p:stCondLst>
                        <p:cond delay="indefinite"/>
                      </p:stCondLst>
                      <p:childTnLst>
                        <p:par>
                          <p:cTn id="275" nodeType="withEffect" fill="hold">
                            <p:stCondLst>
                              <p:cond delay="0"/>
                            </p:stCondLst>
                            <p:childTnLst>
                              <p:par>
                                <p:cTn id="276" nodeType="clickEffect" fill="hold" presetClass="entr" presetID="22" presetSubtype="8">
                                  <p:stCondLst>
                                    <p:cond delay="0"/>
                                  </p:stCondLst>
                                  <p:childTnLst>
                                    <p:set>
                                      <p:cBhvr>
                                        <p:cTn id="277" dur="1" fill="hold">
                                          <p:stCondLst>
                                            <p:cond delay="0"/>
                                          </p:stCondLst>
                                        </p:cTn>
                                        <p:tgtEl>
                                          <p:spTgt spid="86">
                                            <p:txEl>
                                              <p:pRg st="2" end="2"/>
                                            </p:txEl>
                                          </p:spTgt>
                                        </p:tgtEl>
                                        <p:attrNameLst>
                                          <p:attrName>style.visibility</p:attrName>
                                        </p:attrNameLst>
                                      </p:cBhvr>
                                      <p:to>
                                        <p:strVal val="visible"/>
                                      </p:to>
                                    </p:set>
                                    <p:animEffect filter="wipe(left)" transition="in">
                                      <p:cBhvr additive="repl">
                                        <p:cTn id="278" dur="500"/>
                                        <p:tgtEl>
                                          <p:spTgt spid="86">
                                            <p:txEl>
                                              <p:pRg st="2" end="2"/>
                                            </p:txEl>
                                          </p:spTgt>
                                        </p:tgtEl>
                                      </p:cBhvr>
                                    </p:animEffect>
                                  </p:childTnLst>
                                </p:cTn>
                              </p:par>
                              <p:par>
                                <p:cTn id="279" nodeType="withEffect" fill="hold" presetClass="entr" presetID="22" presetSubtype="8">
                                  <p:stCondLst>
                                    <p:cond delay="0"/>
                                  </p:stCondLst>
                                  <p:childTnLst>
                                    <p:set>
                                      <p:cBhvr>
                                        <p:cTn id="280" dur="1" fill="hold">
                                          <p:stCondLst>
                                            <p:cond delay="0"/>
                                          </p:stCondLst>
                                        </p:cTn>
                                        <p:tgtEl>
                                          <p:spTgt spid="86">
                                            <p:txEl>
                                              <p:pRg st="3" end="3"/>
                                            </p:txEl>
                                          </p:spTgt>
                                        </p:tgtEl>
                                        <p:attrNameLst>
                                          <p:attrName>style.visibility</p:attrName>
                                        </p:attrNameLst>
                                      </p:cBhvr>
                                      <p:to>
                                        <p:strVal val="visible"/>
                                      </p:to>
                                    </p:set>
                                    <p:animEffect filter="wipe(left)" transition="in">
                                      <p:cBhvr additive="repl">
                                        <p:cTn id="281" dur="500"/>
                                        <p:tgtEl>
                                          <p:spTgt spid="86">
                                            <p:txEl>
                                              <p:pRg st="3" end="3"/>
                                            </p:txEl>
                                          </p:spTgt>
                                        </p:tgtEl>
                                      </p:cBhvr>
                                    </p:animEffect>
                                  </p:childTnLst>
                                </p:cTn>
                              </p:par>
                            </p:childTnLst>
                          </p:cTn>
                        </p:par>
                      </p:childTnLst>
                    </p:cTn>
                  </p:par>
                  <p:par>
                    <p:cTn id="282" nodeType="clickEffect" fill="hold">
                      <p:stCondLst>
                        <p:cond delay="indefinite"/>
                      </p:stCondLst>
                      <p:childTnLst>
                        <p:par>
                          <p:cTn id="283" nodeType="withEffect" fill="hold">
                            <p:stCondLst>
                              <p:cond delay="0"/>
                            </p:stCondLst>
                            <p:childTnLst>
                              <p:par>
                                <p:cTn id="284" nodeType="clickEffect" fill="hold" presetClass="entr" presetID="22" presetSubtype="8">
                                  <p:stCondLst>
                                    <p:cond delay="0"/>
                                  </p:stCondLst>
                                  <p:childTnLst>
                                    <p:set>
                                      <p:cBhvr>
                                        <p:cTn id="285" dur="1" fill="hold">
                                          <p:stCondLst>
                                            <p:cond delay="0"/>
                                          </p:stCondLst>
                                        </p:cTn>
                                        <p:tgtEl>
                                          <p:spTgt spid="86">
                                            <p:txEl>
                                              <p:pRg st="4" end="4"/>
                                            </p:txEl>
                                          </p:spTgt>
                                        </p:tgtEl>
                                        <p:attrNameLst>
                                          <p:attrName>style.visibility</p:attrName>
                                        </p:attrNameLst>
                                      </p:cBhvr>
                                      <p:to>
                                        <p:strVal val="visible"/>
                                      </p:to>
                                    </p:set>
                                    <p:animEffect filter="wipe(left)" transition="in">
                                      <p:cBhvr additive="repl">
                                        <p:cTn id="286" dur="500"/>
                                        <p:tgtEl>
                                          <p:spTgt spid="86">
                                            <p:txEl>
                                              <p:pRg st="4" end="4"/>
                                            </p:txEl>
                                          </p:spTgt>
                                        </p:tgtEl>
                                      </p:cBhvr>
                                    </p:animEffect>
                                  </p:childTnLst>
                                </p:cTn>
                              </p:par>
                              <p:par>
                                <p:cTn id="287" nodeType="withEffect" fill="hold" presetClass="entr" presetID="22" presetSubtype="8">
                                  <p:stCondLst>
                                    <p:cond delay="0"/>
                                  </p:stCondLst>
                                  <p:childTnLst>
                                    <p:set>
                                      <p:cBhvr>
                                        <p:cTn id="288" dur="1" fill="hold">
                                          <p:stCondLst>
                                            <p:cond delay="0"/>
                                          </p:stCondLst>
                                        </p:cTn>
                                        <p:tgtEl>
                                          <p:spTgt spid="86">
                                            <p:txEl>
                                              <p:pRg st="5" end="5"/>
                                            </p:txEl>
                                          </p:spTgt>
                                        </p:tgtEl>
                                        <p:attrNameLst>
                                          <p:attrName>style.visibility</p:attrName>
                                        </p:attrNameLst>
                                      </p:cBhvr>
                                      <p:to>
                                        <p:strVal val="visible"/>
                                      </p:to>
                                    </p:set>
                                    <p:animEffect filter="wipe(left)" transition="in">
                                      <p:cBhvr additive="repl">
                                        <p:cTn id="289" dur="500"/>
                                        <p:tgtEl>
                                          <p:spTgt spid="86">
                                            <p:txEl>
                                              <p:pRg st="5" end="5"/>
                                            </p:txEl>
                                          </p:spTgt>
                                        </p:tgtEl>
                                      </p:cBhvr>
                                    </p:animEffect>
                                  </p:childTnLst>
                                </p:cTn>
                              </p:par>
                            </p:childTnLst>
                          </p:cTn>
                        </p:par>
                      </p:childTnLst>
                    </p:cTn>
                  </p:par>
                  <p:par>
                    <p:cTn id="290" nodeType="clickEffect" fill="hold">
                      <p:stCondLst>
                        <p:cond delay="indefinite"/>
                      </p:stCondLst>
                      <p:childTnLst>
                        <p:par>
                          <p:cTn id="291" nodeType="withEffect" fill="hold">
                            <p:stCondLst>
                              <p:cond delay="0"/>
                            </p:stCondLst>
                            <p:childTnLst>
                              <p:par>
                                <p:cTn id="292" nodeType="clickEffect" fill="hold" presetClass="entr" presetID="22" presetSubtype="8">
                                  <p:stCondLst>
                                    <p:cond delay="0"/>
                                  </p:stCondLst>
                                  <p:childTnLst>
                                    <p:set>
                                      <p:cBhvr>
                                        <p:cTn id="293" dur="1" fill="hold">
                                          <p:stCondLst>
                                            <p:cond delay="0"/>
                                          </p:stCondLst>
                                        </p:cTn>
                                        <p:tgtEl>
                                          <p:spTgt spid="86">
                                            <p:txEl>
                                              <p:pRg st="6" end="6"/>
                                            </p:txEl>
                                          </p:spTgt>
                                        </p:tgtEl>
                                        <p:attrNameLst>
                                          <p:attrName>style.visibility</p:attrName>
                                        </p:attrNameLst>
                                      </p:cBhvr>
                                      <p:to>
                                        <p:strVal val="visible"/>
                                      </p:to>
                                    </p:set>
                                    <p:animEffect filter="wipe(left)" transition="in">
                                      <p:cBhvr additive="repl">
                                        <p:cTn id="294" dur="500"/>
                                        <p:tgtEl>
                                          <p:spTgt spid="86">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16.2  SINGLE-PRICE MONOPOLY</a:t>
            </a:r>
            <a:endParaRPr b="0" lang="en-CA" sz="2600" strike="noStrike" u="none">
              <a:solidFill>
                <a:schemeClr val="dk1"/>
              </a:solidFill>
              <a:effectLst/>
              <a:uFillTx/>
              <a:latin typeface="Arial"/>
            </a:endParaRPr>
          </a:p>
        </p:txBody>
      </p:sp>
      <p:sp>
        <p:nvSpPr>
          <p:cNvPr id="88" name="PlaceHolder 2"/>
          <p:cNvSpPr>
            <a:spLocks noGrp="1"/>
          </p:cNvSpPr>
          <p:nvPr>
            <p:ph/>
          </p:nvPr>
        </p:nvSpPr>
        <p:spPr>
          <a:xfrm>
            <a:off x="360360" y="1440000"/>
            <a:ext cx="839736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table shows the demand schedule and the graph shows the demand curve.</a:t>
            </a:r>
            <a:endParaRPr b="1" lang="en-CA" sz="2400" strike="noStrike" u="none">
              <a:solidFill>
                <a:srgbClr val="00468f"/>
              </a:solidFill>
              <a:effectLst/>
              <a:uFillTx/>
              <a:latin typeface="Arial"/>
            </a:endParaRPr>
          </a:p>
        </p:txBody>
      </p:sp>
      <p:pic>
        <p:nvPicPr>
          <p:cNvPr id="89" name="Picture 4" descr=""/>
          <p:cNvPicPr/>
          <p:nvPr/>
        </p:nvPicPr>
        <p:blipFill>
          <a:blip r:embed="rId1"/>
          <a:stretch/>
        </p:blipFill>
        <p:spPr>
          <a:xfrm>
            <a:off x="1192320" y="2546280"/>
            <a:ext cx="6598800" cy="3949200"/>
          </a:xfrm>
          <a:prstGeom prst="rect">
            <a:avLst/>
          </a:prstGeom>
          <a:noFill/>
          <a:ln w="0">
            <a:noFill/>
          </a:ln>
        </p:spPr>
      </p:pic>
    </p:spTree>
  </p:cSld>
  <p:transition spd="slow">
    <p:wipe dir="r"/>
  </p:transition>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90" name="Picture 9" descr=""/>
          <p:cNvPicPr/>
          <p:nvPr/>
        </p:nvPicPr>
        <p:blipFill>
          <a:blip r:embed="rId1"/>
          <a:stretch/>
        </p:blipFill>
        <p:spPr>
          <a:xfrm>
            <a:off x="609480" y="1066680"/>
            <a:ext cx="7762680" cy="4647960"/>
          </a:xfrm>
          <a:prstGeom prst="rect">
            <a:avLst/>
          </a:prstGeom>
          <a:noFill/>
          <a:ln w="0">
            <a:noFill/>
          </a:ln>
        </p:spPr>
      </p:pic>
      <p:pic>
        <p:nvPicPr>
          <p:cNvPr id="91" name="Picture 17" descr=""/>
          <p:cNvPicPr/>
          <p:nvPr/>
        </p:nvPicPr>
        <p:blipFill>
          <a:blip r:embed="rId2"/>
          <a:stretch/>
        </p:blipFill>
        <p:spPr>
          <a:xfrm>
            <a:off x="609480" y="1066680"/>
            <a:ext cx="7762680" cy="4647960"/>
          </a:xfrm>
          <a:prstGeom prst="rect">
            <a:avLst/>
          </a:prstGeom>
          <a:noFill/>
          <a:ln w="0">
            <a:noFill/>
          </a:ln>
        </p:spPr>
      </p:pic>
      <p:pic>
        <p:nvPicPr>
          <p:cNvPr id="92" name="Picture 18" descr=""/>
          <p:cNvPicPr/>
          <p:nvPr/>
        </p:nvPicPr>
        <p:blipFill>
          <a:blip r:embed="rId3"/>
          <a:stretch/>
        </p:blipFill>
        <p:spPr>
          <a:xfrm>
            <a:off x="609480" y="1066680"/>
            <a:ext cx="7762680" cy="4647960"/>
          </a:xfrm>
          <a:prstGeom prst="rect">
            <a:avLst/>
          </a:prstGeom>
          <a:noFill/>
          <a:ln w="0">
            <a:noFill/>
          </a:ln>
        </p:spPr>
      </p:pic>
      <p:pic>
        <p:nvPicPr>
          <p:cNvPr id="93" name="Picture 19" descr=""/>
          <p:cNvPicPr/>
          <p:nvPr/>
        </p:nvPicPr>
        <p:blipFill>
          <a:blip r:embed="rId4"/>
          <a:stretch/>
        </p:blipFill>
        <p:spPr>
          <a:xfrm>
            <a:off x="609480" y="1066680"/>
            <a:ext cx="7762680" cy="4647960"/>
          </a:xfrm>
          <a:prstGeom prst="rect">
            <a:avLst/>
          </a:prstGeom>
          <a:noFill/>
          <a:ln w="0">
            <a:noFill/>
          </a:ln>
        </p:spPr>
      </p:pic>
      <p:pic>
        <p:nvPicPr>
          <p:cNvPr id="94" name="Picture 20" descr=""/>
          <p:cNvPicPr/>
          <p:nvPr/>
        </p:nvPicPr>
        <p:blipFill>
          <a:blip r:embed="rId5"/>
          <a:stretch/>
        </p:blipFill>
        <p:spPr>
          <a:xfrm>
            <a:off x="609480" y="1066680"/>
            <a:ext cx="7762680" cy="4647960"/>
          </a:xfrm>
          <a:prstGeom prst="rect">
            <a:avLst/>
          </a:prstGeom>
          <a:noFill/>
          <a:ln w="0">
            <a:noFill/>
          </a:ln>
        </p:spPr>
      </p:pic>
      <p:pic>
        <p:nvPicPr>
          <p:cNvPr id="95" name="Picture 21" descr=""/>
          <p:cNvPicPr/>
          <p:nvPr/>
        </p:nvPicPr>
        <p:blipFill>
          <a:blip r:embed="rId6"/>
          <a:stretch/>
        </p:blipFill>
        <p:spPr>
          <a:xfrm>
            <a:off x="609480" y="1066680"/>
            <a:ext cx="7762680" cy="4647960"/>
          </a:xfrm>
          <a:prstGeom prst="rect">
            <a:avLst/>
          </a:prstGeom>
          <a:noFill/>
          <a:ln w="0">
            <a:noFill/>
          </a:ln>
        </p:spPr>
      </p:pic>
      <p:pic>
        <p:nvPicPr>
          <p:cNvPr id="96" name="Picture 22" descr=""/>
          <p:cNvPicPr/>
          <p:nvPr/>
        </p:nvPicPr>
        <p:blipFill>
          <a:blip r:embed="rId7"/>
          <a:stretch/>
        </p:blipFill>
        <p:spPr>
          <a:xfrm>
            <a:off x="609480" y="1066680"/>
            <a:ext cx="7762680" cy="4647960"/>
          </a:xfrm>
          <a:prstGeom prst="rect">
            <a:avLst/>
          </a:prstGeom>
          <a:noFill/>
          <a:ln w="0">
            <a:noFill/>
          </a:ln>
        </p:spPr>
      </p:pic>
      <p:pic>
        <p:nvPicPr>
          <p:cNvPr id="97" name="Picture 23" descr=""/>
          <p:cNvPicPr/>
          <p:nvPr/>
        </p:nvPicPr>
        <p:blipFill>
          <a:blip r:embed="rId8"/>
          <a:stretch/>
        </p:blipFill>
        <p:spPr>
          <a:xfrm>
            <a:off x="609480" y="1066680"/>
            <a:ext cx="7762680" cy="4647960"/>
          </a:xfrm>
          <a:prstGeom prst="rect">
            <a:avLst/>
          </a:prstGeom>
          <a:noFill/>
          <a:ln w="0">
            <a:noFill/>
          </a:ln>
        </p:spPr>
      </p:pic>
    </p:spTree>
  </p:cSld>
  <p:transition spd="slow">
    <p:wipe dir="r"/>
  </p:transition>
  <p:timing>
    <p:tnLst>
      <p:par>
        <p:cTn id="295" dur="indefinite" restart="never" nodeType="tmRoot">
          <p:childTnLst>
            <p:seq>
              <p:cTn id="296" dur="indefinite" nodeType="mainSeq">
                <p:childTnLst>
                  <p:par>
                    <p:cTn id="297" nodeType="clickEffect" fill="hold">
                      <p:stCondLst>
                        <p:cond delay="indefinite"/>
                      </p:stCondLst>
                      <p:childTnLst>
                        <p:par>
                          <p:cTn id="298" nodeType="withEffect" fill="hold">
                            <p:stCondLst>
                              <p:cond delay="0"/>
                            </p:stCondLst>
                            <p:childTnLst>
                              <p:par>
                                <p:cTn id="299" nodeType="clickEffect" fill="hold" presetClass="entr" presetID="10">
                                  <p:stCondLst>
                                    <p:cond delay="0"/>
                                  </p:stCondLst>
                                  <p:childTnLst>
                                    <p:set>
                                      <p:cBhvr>
                                        <p:cTn id="300" dur="1" fill="hold">
                                          <p:stCondLst>
                                            <p:cond delay="0"/>
                                          </p:stCondLst>
                                        </p:cTn>
                                        <p:tgtEl>
                                          <p:spTgt spid="91"/>
                                        </p:tgtEl>
                                        <p:attrNameLst>
                                          <p:attrName>style.visibility</p:attrName>
                                        </p:attrNameLst>
                                      </p:cBhvr>
                                      <p:to>
                                        <p:strVal val="visible"/>
                                      </p:to>
                                    </p:set>
                                    <p:animEffect filter="fade" transition="in">
                                      <p:cBhvr additive="repl">
                                        <p:cTn id="301" dur="500"/>
                                        <p:tgtEl>
                                          <p:spTgt spid="91"/>
                                        </p:tgtEl>
                                      </p:cBhvr>
                                    </p:animEffect>
                                  </p:childTnLst>
                                </p:cTn>
                              </p:par>
                            </p:childTnLst>
                          </p:cTn>
                        </p:par>
                      </p:childTnLst>
                    </p:cTn>
                  </p:par>
                  <p:par>
                    <p:cTn id="302" nodeType="clickEffect" fill="hold">
                      <p:stCondLst>
                        <p:cond delay="indefinite"/>
                      </p:stCondLst>
                      <p:childTnLst>
                        <p:par>
                          <p:cTn id="303" nodeType="withEffect" fill="hold">
                            <p:stCondLst>
                              <p:cond delay="0"/>
                            </p:stCondLst>
                            <p:childTnLst>
                              <p:par>
                                <p:cTn id="304" nodeType="clickEffect" fill="hold" presetClass="entr" presetID="10">
                                  <p:stCondLst>
                                    <p:cond delay="0"/>
                                  </p:stCondLst>
                                  <p:childTnLst>
                                    <p:set>
                                      <p:cBhvr>
                                        <p:cTn id="305" dur="1" fill="hold">
                                          <p:stCondLst>
                                            <p:cond delay="0"/>
                                          </p:stCondLst>
                                        </p:cTn>
                                        <p:tgtEl>
                                          <p:spTgt spid="92"/>
                                        </p:tgtEl>
                                        <p:attrNameLst>
                                          <p:attrName>style.visibility</p:attrName>
                                        </p:attrNameLst>
                                      </p:cBhvr>
                                      <p:to>
                                        <p:strVal val="visible"/>
                                      </p:to>
                                    </p:set>
                                    <p:animEffect filter="fade" transition="in">
                                      <p:cBhvr additive="repl">
                                        <p:cTn id="306" dur="500"/>
                                        <p:tgtEl>
                                          <p:spTgt spid="92"/>
                                        </p:tgtEl>
                                      </p:cBhvr>
                                    </p:animEffect>
                                  </p:childTnLst>
                                </p:cTn>
                              </p:par>
                            </p:childTnLst>
                          </p:cTn>
                        </p:par>
                      </p:childTnLst>
                    </p:cTn>
                  </p:par>
                  <p:par>
                    <p:cTn id="307" nodeType="clickEffect" fill="hold">
                      <p:stCondLst>
                        <p:cond delay="indefinite"/>
                      </p:stCondLst>
                      <p:childTnLst>
                        <p:par>
                          <p:cTn id="308" nodeType="withEffect" fill="hold">
                            <p:stCondLst>
                              <p:cond delay="0"/>
                            </p:stCondLst>
                            <p:childTnLst>
                              <p:par>
                                <p:cTn id="309" nodeType="clickEffect" fill="hold" presetClass="entr" presetID="10">
                                  <p:stCondLst>
                                    <p:cond delay="0"/>
                                  </p:stCondLst>
                                  <p:childTnLst>
                                    <p:set>
                                      <p:cBhvr>
                                        <p:cTn id="310" dur="1" fill="hold">
                                          <p:stCondLst>
                                            <p:cond delay="0"/>
                                          </p:stCondLst>
                                        </p:cTn>
                                        <p:tgtEl>
                                          <p:spTgt spid="93"/>
                                        </p:tgtEl>
                                        <p:attrNameLst>
                                          <p:attrName>style.visibility</p:attrName>
                                        </p:attrNameLst>
                                      </p:cBhvr>
                                      <p:to>
                                        <p:strVal val="visible"/>
                                      </p:to>
                                    </p:set>
                                    <p:animEffect filter="fade" transition="in">
                                      <p:cBhvr additive="repl">
                                        <p:cTn id="311" dur="500"/>
                                        <p:tgtEl>
                                          <p:spTgt spid="93"/>
                                        </p:tgtEl>
                                      </p:cBhvr>
                                    </p:animEffect>
                                  </p:childTnLst>
                                </p:cTn>
                              </p:par>
                            </p:childTnLst>
                          </p:cTn>
                        </p:par>
                      </p:childTnLst>
                    </p:cTn>
                  </p:par>
                  <p:par>
                    <p:cTn id="312" nodeType="clickEffect" fill="hold">
                      <p:stCondLst>
                        <p:cond delay="indefinite"/>
                      </p:stCondLst>
                      <p:childTnLst>
                        <p:par>
                          <p:cTn id="313" nodeType="withEffect" fill="hold">
                            <p:stCondLst>
                              <p:cond delay="0"/>
                            </p:stCondLst>
                            <p:childTnLst>
                              <p:par>
                                <p:cTn id="314" nodeType="clickEffect" fill="hold" presetClass="entr" presetID="10">
                                  <p:stCondLst>
                                    <p:cond delay="0"/>
                                  </p:stCondLst>
                                  <p:childTnLst>
                                    <p:set>
                                      <p:cBhvr>
                                        <p:cTn id="315" dur="1" fill="hold">
                                          <p:stCondLst>
                                            <p:cond delay="0"/>
                                          </p:stCondLst>
                                        </p:cTn>
                                        <p:tgtEl>
                                          <p:spTgt spid="94"/>
                                        </p:tgtEl>
                                        <p:attrNameLst>
                                          <p:attrName>style.visibility</p:attrName>
                                        </p:attrNameLst>
                                      </p:cBhvr>
                                      <p:to>
                                        <p:strVal val="visible"/>
                                      </p:to>
                                    </p:set>
                                    <p:animEffect filter="fade" transition="in">
                                      <p:cBhvr additive="repl">
                                        <p:cTn id="316" dur="500"/>
                                        <p:tgtEl>
                                          <p:spTgt spid="94"/>
                                        </p:tgtEl>
                                      </p:cBhvr>
                                    </p:animEffect>
                                  </p:childTnLst>
                                </p:cTn>
                              </p:par>
                            </p:childTnLst>
                          </p:cTn>
                        </p:par>
                      </p:childTnLst>
                    </p:cTn>
                  </p:par>
                  <p:par>
                    <p:cTn id="317" nodeType="clickEffect" fill="hold">
                      <p:stCondLst>
                        <p:cond delay="indefinite"/>
                      </p:stCondLst>
                      <p:childTnLst>
                        <p:par>
                          <p:cTn id="318" nodeType="withEffect" fill="hold">
                            <p:stCondLst>
                              <p:cond delay="0"/>
                            </p:stCondLst>
                            <p:childTnLst>
                              <p:par>
                                <p:cTn id="319" nodeType="clickEffect" fill="hold" presetClass="entr" presetID="10">
                                  <p:stCondLst>
                                    <p:cond delay="0"/>
                                  </p:stCondLst>
                                  <p:childTnLst>
                                    <p:set>
                                      <p:cBhvr>
                                        <p:cTn id="320" dur="1" fill="hold">
                                          <p:stCondLst>
                                            <p:cond delay="0"/>
                                          </p:stCondLst>
                                        </p:cTn>
                                        <p:tgtEl>
                                          <p:spTgt spid="95"/>
                                        </p:tgtEl>
                                        <p:attrNameLst>
                                          <p:attrName>style.visibility</p:attrName>
                                        </p:attrNameLst>
                                      </p:cBhvr>
                                      <p:to>
                                        <p:strVal val="visible"/>
                                      </p:to>
                                    </p:set>
                                    <p:animEffect filter="fade" transition="in">
                                      <p:cBhvr additive="repl">
                                        <p:cTn id="321" dur="500"/>
                                        <p:tgtEl>
                                          <p:spTgt spid="95"/>
                                        </p:tgtEl>
                                      </p:cBhvr>
                                    </p:animEffect>
                                  </p:childTnLst>
                                </p:cTn>
                              </p:par>
                            </p:childTnLst>
                          </p:cTn>
                        </p:par>
                      </p:childTnLst>
                    </p:cTn>
                  </p:par>
                  <p:par>
                    <p:cTn id="322" nodeType="clickEffect" fill="hold">
                      <p:stCondLst>
                        <p:cond delay="indefinite"/>
                      </p:stCondLst>
                      <p:childTnLst>
                        <p:par>
                          <p:cTn id="323" nodeType="withEffect" fill="hold">
                            <p:stCondLst>
                              <p:cond delay="0"/>
                            </p:stCondLst>
                            <p:childTnLst>
                              <p:par>
                                <p:cTn id="324" nodeType="clickEffect" fill="hold" presetClass="entr" presetID="10">
                                  <p:stCondLst>
                                    <p:cond delay="0"/>
                                  </p:stCondLst>
                                  <p:childTnLst>
                                    <p:set>
                                      <p:cBhvr>
                                        <p:cTn id="325" dur="1" fill="hold">
                                          <p:stCondLst>
                                            <p:cond delay="0"/>
                                          </p:stCondLst>
                                        </p:cTn>
                                        <p:tgtEl>
                                          <p:spTgt spid="96"/>
                                        </p:tgtEl>
                                        <p:attrNameLst>
                                          <p:attrName>style.visibility</p:attrName>
                                        </p:attrNameLst>
                                      </p:cBhvr>
                                      <p:to>
                                        <p:strVal val="visible"/>
                                      </p:to>
                                    </p:set>
                                    <p:animEffect filter="fade" transition="in">
                                      <p:cBhvr additive="repl">
                                        <p:cTn id="326" dur="500"/>
                                        <p:tgtEl>
                                          <p:spTgt spid="96"/>
                                        </p:tgtEl>
                                      </p:cBhvr>
                                    </p:animEffect>
                                  </p:childTnLst>
                                </p:cTn>
                              </p:par>
                            </p:childTnLst>
                          </p:cTn>
                        </p:par>
                      </p:childTnLst>
                    </p:cTn>
                  </p:par>
                  <p:par>
                    <p:cTn id="327" nodeType="clickEffect" fill="hold">
                      <p:stCondLst>
                        <p:cond delay="indefinite"/>
                      </p:stCondLst>
                      <p:childTnLst>
                        <p:par>
                          <p:cTn id="328" nodeType="withEffect" fill="hold">
                            <p:stCondLst>
                              <p:cond delay="0"/>
                            </p:stCondLst>
                            <p:childTnLst>
                              <p:par>
                                <p:cTn id="329" nodeType="clickEffect" fill="hold" presetClass="entr" presetID="22" presetSubtype="8">
                                  <p:stCondLst>
                                    <p:cond delay="0"/>
                                  </p:stCondLst>
                                  <p:childTnLst>
                                    <p:set>
                                      <p:cBhvr>
                                        <p:cTn id="330" dur="1" fill="hold">
                                          <p:stCondLst>
                                            <p:cond delay="0"/>
                                          </p:stCondLst>
                                        </p:cTn>
                                        <p:tgtEl>
                                          <p:spTgt spid="97"/>
                                        </p:tgtEl>
                                        <p:attrNameLst>
                                          <p:attrName>style.visibility</p:attrName>
                                        </p:attrNameLst>
                                      </p:cBhvr>
                                      <p:to>
                                        <p:strVal val="visible"/>
                                      </p:to>
                                    </p:set>
                                    <p:animEffect filter="wipe(left)" transition="in">
                                      <p:cBhvr additive="repl">
                                        <p:cTn id="331" dur="1000"/>
                                        <p:tgtEl>
                                          <p:spTgt spid="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16.2  SINGLE-PRICE MONOPOLY</a:t>
            </a:r>
            <a:endParaRPr b="0" lang="en-CA" sz="2600" strike="noStrike" u="none">
              <a:solidFill>
                <a:schemeClr val="dk1"/>
              </a:solidFill>
              <a:effectLst/>
              <a:uFillTx/>
              <a:latin typeface="Arial"/>
            </a:endParaRPr>
          </a:p>
        </p:txBody>
      </p:sp>
      <p:sp>
        <p:nvSpPr>
          <p:cNvPr id="99"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table also calculates total revenue and marginal revenue.</a:t>
            </a:r>
            <a:endParaRPr b="1" lang="en-CA" sz="2400" strike="noStrike" u="none">
              <a:solidFill>
                <a:srgbClr val="00468f"/>
              </a:solidFill>
              <a:effectLst/>
              <a:uFillTx/>
              <a:latin typeface="Arial"/>
            </a:endParaRPr>
          </a:p>
        </p:txBody>
      </p:sp>
      <p:pic>
        <p:nvPicPr>
          <p:cNvPr id="100" name="Picture 5" descr=""/>
          <p:cNvPicPr/>
          <p:nvPr/>
        </p:nvPicPr>
        <p:blipFill>
          <a:blip r:embed="rId1"/>
          <a:stretch/>
        </p:blipFill>
        <p:spPr>
          <a:xfrm>
            <a:off x="1192320" y="2546280"/>
            <a:ext cx="6598800" cy="3949200"/>
          </a:xfrm>
          <a:prstGeom prst="rect">
            <a:avLst/>
          </a:prstGeom>
          <a:noFill/>
          <a:ln w="0">
            <a:noFill/>
          </a:ln>
        </p:spPr>
      </p:pic>
      <p:pic>
        <p:nvPicPr>
          <p:cNvPr id="101" name="Picture 6" descr=""/>
          <p:cNvPicPr/>
          <p:nvPr/>
        </p:nvPicPr>
        <p:blipFill>
          <a:blip r:embed="rId2"/>
          <a:stretch/>
        </p:blipFill>
        <p:spPr>
          <a:xfrm>
            <a:off x="1192320" y="2546280"/>
            <a:ext cx="6598800" cy="3949200"/>
          </a:xfrm>
          <a:prstGeom prst="rect">
            <a:avLst/>
          </a:prstGeom>
          <a:noFill/>
          <a:ln w="0">
            <a:noFill/>
          </a:ln>
        </p:spPr>
      </p:pic>
    </p:spTree>
  </p:cSld>
  <p:transition spd="slow">
    <p:wipe dir="r"/>
  </p:transition>
  <p:timing>
    <p:tnLst>
      <p:par>
        <p:cTn id="332" dur="indefinite" restart="never" nodeType="tmRoot">
          <p:childTnLst>
            <p:seq>
              <p:cTn id="333" dur="indefinite" nodeType="mainSeq">
                <p:childTnLst>
                  <p:par>
                    <p:cTn id="334" nodeType="clickEffect" fill="hold">
                      <p:stCondLst>
                        <p:cond delay="0"/>
                      </p:stCondLst>
                      <p:childTnLst>
                        <p:par>
                          <p:cTn id="335" nodeType="withEffect" fill="hold">
                            <p:stCondLst>
                              <p:cond delay="0"/>
                            </p:stCondLst>
                            <p:childTnLst>
                              <p:par>
                                <p:cTn id="336" nodeType="withEffect" fill="hold" presetClass="entr" presetID="10">
                                  <p:stCondLst>
                                    <p:cond delay="0"/>
                                  </p:stCondLst>
                                  <p:childTnLst>
                                    <p:set>
                                      <p:cBhvr>
                                        <p:cTn id="337" dur="1" fill="hold">
                                          <p:stCondLst>
                                            <p:cond delay="0"/>
                                          </p:stCondLst>
                                        </p:cTn>
                                        <p:tgtEl>
                                          <p:spTgt spid="101"/>
                                        </p:tgtEl>
                                        <p:attrNameLst>
                                          <p:attrName>style.visibility</p:attrName>
                                        </p:attrNameLst>
                                      </p:cBhvr>
                                      <p:to>
                                        <p:strVal val="visible"/>
                                      </p:to>
                                    </p:set>
                                    <p:animEffect filter="fade" transition="in">
                                      <p:cBhvr additive="repl">
                                        <p:cTn id="338" dur="500"/>
                                        <p:tgtEl>
                                          <p:spTgt spid="1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16.2  SINGLE-PRICE MONOPOLY</a:t>
            </a:r>
            <a:endParaRPr b="0" lang="en-CA" sz="2600" strike="noStrike" u="none">
              <a:solidFill>
                <a:schemeClr val="dk1"/>
              </a:solidFill>
              <a:effectLst/>
              <a:uFillTx/>
              <a:latin typeface="Arial"/>
            </a:endParaRPr>
          </a:p>
        </p:txBody>
      </p:sp>
      <p:sp>
        <p:nvSpPr>
          <p:cNvPr id="103"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When the price is $16, the quantity demanded is 2 haircuts an hour.</a:t>
            </a:r>
            <a:endParaRPr b="1" lang="en-CA" sz="2400" strike="noStrike" u="none">
              <a:solidFill>
                <a:srgbClr val="00468f"/>
              </a:solidFill>
              <a:effectLst/>
              <a:uFillTx/>
              <a:latin typeface="Arial"/>
            </a:endParaRPr>
          </a:p>
        </p:txBody>
      </p:sp>
      <p:pic>
        <p:nvPicPr>
          <p:cNvPr id="104" name="Picture 6" descr=""/>
          <p:cNvPicPr/>
          <p:nvPr/>
        </p:nvPicPr>
        <p:blipFill>
          <a:blip r:embed="rId1"/>
          <a:stretch/>
        </p:blipFill>
        <p:spPr>
          <a:xfrm>
            <a:off x="1192320" y="2546280"/>
            <a:ext cx="6598800" cy="3949200"/>
          </a:xfrm>
          <a:prstGeom prst="rect">
            <a:avLst/>
          </a:prstGeom>
          <a:noFill/>
          <a:ln w="0">
            <a:noFill/>
          </a:ln>
        </p:spPr>
      </p:pic>
      <p:pic>
        <p:nvPicPr>
          <p:cNvPr id="105" name="Picture 7" descr=""/>
          <p:cNvPicPr/>
          <p:nvPr/>
        </p:nvPicPr>
        <p:blipFill>
          <a:blip r:embed="rId2"/>
          <a:stretch/>
        </p:blipFill>
        <p:spPr>
          <a:xfrm>
            <a:off x="1192320" y="2546280"/>
            <a:ext cx="6598800" cy="3949200"/>
          </a:xfrm>
          <a:prstGeom prst="rect">
            <a:avLst/>
          </a:prstGeom>
          <a:noFill/>
          <a:ln w="0">
            <a:noFill/>
          </a:ln>
        </p:spPr>
      </p:pic>
      <p:pic>
        <p:nvPicPr>
          <p:cNvPr id="106" name="Picture 8" descr=""/>
          <p:cNvPicPr/>
          <p:nvPr/>
        </p:nvPicPr>
        <p:blipFill>
          <a:blip r:embed="rId3"/>
          <a:stretch/>
        </p:blipFill>
        <p:spPr>
          <a:xfrm>
            <a:off x="1192320" y="2546280"/>
            <a:ext cx="6598800" cy="3949200"/>
          </a:xfrm>
          <a:prstGeom prst="rect">
            <a:avLst/>
          </a:prstGeom>
          <a:noFill/>
          <a:ln w="0">
            <a:noFill/>
          </a:ln>
        </p:spPr>
      </p:pic>
    </p:spTree>
  </p:cSld>
  <p:transition spd="slow">
    <p:wipe dir="r"/>
  </p:transition>
  <p:timing>
    <p:tnLst>
      <p:par>
        <p:cTn id="339" dur="indefinite" restart="never" nodeType="tmRoot">
          <p:childTnLst>
            <p:seq>
              <p:cTn id="340" dur="indefinite" nodeType="mainSeq">
                <p:childTnLst>
                  <p:par>
                    <p:cTn id="341" nodeType="clickEffect" fill="hold">
                      <p:stCondLst>
                        <p:cond delay="0"/>
                      </p:stCondLst>
                      <p:childTnLst>
                        <p:par>
                          <p:cTn id="342" nodeType="withEffect" fill="hold">
                            <p:stCondLst>
                              <p:cond delay="0"/>
                            </p:stCondLst>
                            <p:childTnLst>
                              <p:par>
                                <p:cTn id="343" nodeType="withEffect" fill="hold" presetClass="entr" presetID="10">
                                  <p:stCondLst>
                                    <p:cond delay="0"/>
                                  </p:stCondLst>
                                  <p:childTnLst>
                                    <p:set>
                                      <p:cBhvr>
                                        <p:cTn id="344" dur="1" fill="hold">
                                          <p:stCondLst>
                                            <p:cond delay="0"/>
                                          </p:stCondLst>
                                        </p:cTn>
                                        <p:tgtEl>
                                          <p:spTgt spid="106"/>
                                        </p:tgtEl>
                                        <p:attrNameLst>
                                          <p:attrName>style.visibility</p:attrName>
                                        </p:attrNameLst>
                                      </p:cBhvr>
                                      <p:to>
                                        <p:strVal val="visible"/>
                                      </p:to>
                                    </p:set>
                                    <p:animEffect filter="fade" transition="in">
                                      <p:cBhvr additive="repl">
                                        <p:cTn id="345" dur="500"/>
                                        <p:tgtEl>
                                          <p:spTgt spid="1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16.2  SINGLE-PRICE MONOPOLY</a:t>
            </a:r>
            <a:endParaRPr b="0" lang="en-CA" sz="2600" strike="noStrike" u="none">
              <a:solidFill>
                <a:schemeClr val="dk1"/>
              </a:solidFill>
              <a:effectLst/>
              <a:uFillTx/>
              <a:latin typeface="Arial"/>
            </a:endParaRPr>
          </a:p>
        </p:txBody>
      </p:sp>
      <p:sp>
        <p:nvSpPr>
          <p:cNvPr id="108"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When the price falls to $14, the quantity demanded increases to 3 haircuts an hour.</a:t>
            </a:r>
            <a:endParaRPr b="1" lang="en-CA" sz="2400" strike="noStrike" u="none">
              <a:solidFill>
                <a:srgbClr val="00468f"/>
              </a:solidFill>
              <a:effectLst/>
              <a:uFillTx/>
              <a:latin typeface="Arial"/>
            </a:endParaRPr>
          </a:p>
        </p:txBody>
      </p:sp>
      <p:pic>
        <p:nvPicPr>
          <p:cNvPr id="109" name="Picture 7" descr=""/>
          <p:cNvPicPr/>
          <p:nvPr/>
        </p:nvPicPr>
        <p:blipFill>
          <a:blip r:embed="rId1"/>
          <a:stretch/>
        </p:blipFill>
        <p:spPr>
          <a:xfrm>
            <a:off x="1192320" y="2546280"/>
            <a:ext cx="6598800" cy="3949200"/>
          </a:xfrm>
          <a:prstGeom prst="rect">
            <a:avLst/>
          </a:prstGeom>
          <a:noFill/>
          <a:ln w="0">
            <a:noFill/>
          </a:ln>
        </p:spPr>
      </p:pic>
      <p:pic>
        <p:nvPicPr>
          <p:cNvPr id="110" name="Picture 8" descr=""/>
          <p:cNvPicPr/>
          <p:nvPr/>
        </p:nvPicPr>
        <p:blipFill>
          <a:blip r:embed="rId2"/>
          <a:stretch/>
        </p:blipFill>
        <p:spPr>
          <a:xfrm>
            <a:off x="1192320" y="2546280"/>
            <a:ext cx="6598800" cy="3949200"/>
          </a:xfrm>
          <a:prstGeom prst="rect">
            <a:avLst/>
          </a:prstGeom>
          <a:noFill/>
          <a:ln w="0">
            <a:noFill/>
          </a:ln>
        </p:spPr>
      </p:pic>
      <p:pic>
        <p:nvPicPr>
          <p:cNvPr id="111" name="Picture 9" descr=""/>
          <p:cNvPicPr/>
          <p:nvPr/>
        </p:nvPicPr>
        <p:blipFill>
          <a:blip r:embed="rId3"/>
          <a:stretch/>
        </p:blipFill>
        <p:spPr>
          <a:xfrm>
            <a:off x="1192320" y="2546280"/>
            <a:ext cx="6598800" cy="3949200"/>
          </a:xfrm>
          <a:prstGeom prst="rect">
            <a:avLst/>
          </a:prstGeom>
          <a:noFill/>
          <a:ln w="0">
            <a:noFill/>
          </a:ln>
        </p:spPr>
      </p:pic>
      <p:pic>
        <p:nvPicPr>
          <p:cNvPr id="112" name="Picture 10" descr=""/>
          <p:cNvPicPr/>
          <p:nvPr/>
        </p:nvPicPr>
        <p:blipFill>
          <a:blip r:embed="rId4"/>
          <a:stretch/>
        </p:blipFill>
        <p:spPr>
          <a:xfrm>
            <a:off x="1192320" y="2546280"/>
            <a:ext cx="6598800" cy="3949200"/>
          </a:xfrm>
          <a:prstGeom prst="rect">
            <a:avLst/>
          </a:prstGeom>
          <a:noFill/>
          <a:ln w="0">
            <a:noFill/>
          </a:ln>
        </p:spPr>
      </p:pic>
    </p:spTree>
  </p:cSld>
  <p:transition spd="slow">
    <p:wipe dir="r"/>
  </p:transition>
  <p:timing>
    <p:tnLst>
      <p:par>
        <p:cTn id="346" dur="indefinite" restart="never" nodeType="tmRoot">
          <p:childTnLst>
            <p:seq>
              <p:cTn id="347" dur="indefinite" nodeType="mainSeq">
                <p:childTnLst>
                  <p:par>
                    <p:cTn id="348" nodeType="clickEffect" fill="hold">
                      <p:stCondLst>
                        <p:cond delay="0"/>
                      </p:stCondLst>
                      <p:childTnLst>
                        <p:par>
                          <p:cTn id="349" nodeType="withEffect" fill="hold">
                            <p:stCondLst>
                              <p:cond delay="0"/>
                            </p:stCondLst>
                            <p:childTnLst>
                              <p:par>
                                <p:cTn id="350" nodeType="withEffect" fill="hold" presetClass="entr" presetID="10">
                                  <p:stCondLst>
                                    <p:cond delay="0"/>
                                  </p:stCondLst>
                                  <p:childTnLst>
                                    <p:set>
                                      <p:cBhvr>
                                        <p:cTn id="351" dur="1" fill="hold">
                                          <p:stCondLst>
                                            <p:cond delay="0"/>
                                          </p:stCondLst>
                                        </p:cTn>
                                        <p:tgtEl>
                                          <p:spTgt spid="112"/>
                                        </p:tgtEl>
                                        <p:attrNameLst>
                                          <p:attrName>style.visibility</p:attrName>
                                        </p:attrNameLst>
                                      </p:cBhvr>
                                      <p:to>
                                        <p:strVal val="visible"/>
                                      </p:to>
                                    </p:set>
                                    <p:animEffect filter="fade" transition="in">
                                      <p:cBhvr additive="repl">
                                        <p:cTn id="352" dur="500"/>
                                        <p:tgtEl>
                                          <p:spTgt spid="1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16.2  SINGLE-PRICE MONOPOLY</a:t>
            </a:r>
            <a:endParaRPr b="0" lang="en-CA" sz="2600" strike="noStrike" u="none">
              <a:solidFill>
                <a:schemeClr val="dk1"/>
              </a:solidFill>
              <a:effectLst/>
              <a:uFillTx/>
              <a:latin typeface="Arial"/>
            </a:endParaRPr>
          </a:p>
        </p:txBody>
      </p:sp>
      <p:sp>
        <p:nvSpPr>
          <p:cNvPr id="114" name="PlaceHolder 2"/>
          <p:cNvSpPr>
            <a:spLocks noGrp="1"/>
          </p:cNvSpPr>
          <p:nvPr>
            <p:ph/>
          </p:nvPr>
        </p:nvSpPr>
        <p:spPr>
          <a:xfrm>
            <a:off x="360360" y="1440000"/>
            <a:ext cx="7783200" cy="4289040"/>
          </a:xfrm>
          <a:prstGeom prst="rect">
            <a:avLst/>
          </a:prstGeom>
          <a:noFill/>
          <a:ln w="0">
            <a:noFill/>
          </a:ln>
        </p:spPr>
        <p:txBody>
          <a:bodyPr numCol="1" spcCol="0" lIns="91440" rIns="91440" tIns="45720" bIns="45720" anchor="t">
            <a:noAutofit/>
          </a:bodyPr>
          <a:p>
            <a:pPr marL="817200" indent="-457200">
              <a:lnSpc>
                <a:spcPct val="100000"/>
              </a:lnSpc>
              <a:spcBef>
                <a:spcPts val="601"/>
              </a:spcBef>
              <a:spcAft>
                <a:spcPts val="601"/>
              </a:spcAft>
              <a:buClr>
                <a:srgbClr val="000000"/>
              </a:buClr>
              <a:buFont typeface="Arial"/>
              <a:buAutoNum type="arabicPeriod"/>
            </a:pPr>
            <a:r>
              <a:rPr b="0" lang="en-US" sz="2400" strike="noStrike" u="none">
                <a:solidFill>
                  <a:srgbClr val="000000"/>
                </a:solidFill>
                <a:effectLst/>
                <a:uFillTx/>
                <a:latin typeface="Arial"/>
                <a:ea typeface="ＭＳ Ｐゴシック"/>
              </a:rPr>
              <a:t>Total revenue lost on the 2 haircuts previously sold is $4.</a:t>
            </a:r>
            <a:endParaRPr b="1" lang="en-CA" sz="2400" strike="noStrike" u="none">
              <a:solidFill>
                <a:srgbClr val="00468f"/>
              </a:solidFill>
              <a:effectLst/>
              <a:uFillTx/>
              <a:latin typeface="Arial"/>
            </a:endParaRPr>
          </a:p>
        </p:txBody>
      </p:sp>
      <p:pic>
        <p:nvPicPr>
          <p:cNvPr id="115" name="Picture 8" descr=""/>
          <p:cNvPicPr/>
          <p:nvPr/>
        </p:nvPicPr>
        <p:blipFill>
          <a:blip r:embed="rId1"/>
          <a:stretch/>
        </p:blipFill>
        <p:spPr>
          <a:xfrm>
            <a:off x="1192320" y="2546280"/>
            <a:ext cx="6598800" cy="3949200"/>
          </a:xfrm>
          <a:prstGeom prst="rect">
            <a:avLst/>
          </a:prstGeom>
          <a:noFill/>
          <a:ln w="0">
            <a:noFill/>
          </a:ln>
        </p:spPr>
      </p:pic>
      <p:pic>
        <p:nvPicPr>
          <p:cNvPr id="116" name="Picture 9" descr=""/>
          <p:cNvPicPr/>
          <p:nvPr/>
        </p:nvPicPr>
        <p:blipFill>
          <a:blip r:embed="rId2"/>
          <a:stretch/>
        </p:blipFill>
        <p:spPr>
          <a:xfrm>
            <a:off x="1192320" y="2546280"/>
            <a:ext cx="6598800" cy="3949200"/>
          </a:xfrm>
          <a:prstGeom prst="rect">
            <a:avLst/>
          </a:prstGeom>
          <a:noFill/>
          <a:ln w="0">
            <a:noFill/>
          </a:ln>
        </p:spPr>
      </p:pic>
      <p:pic>
        <p:nvPicPr>
          <p:cNvPr id="117" name="Picture 10" descr=""/>
          <p:cNvPicPr/>
          <p:nvPr/>
        </p:nvPicPr>
        <p:blipFill>
          <a:blip r:embed="rId3"/>
          <a:stretch/>
        </p:blipFill>
        <p:spPr>
          <a:xfrm>
            <a:off x="1192320" y="2546280"/>
            <a:ext cx="6598800" cy="3949200"/>
          </a:xfrm>
          <a:prstGeom prst="rect">
            <a:avLst/>
          </a:prstGeom>
          <a:noFill/>
          <a:ln w="0">
            <a:noFill/>
          </a:ln>
        </p:spPr>
      </p:pic>
      <p:pic>
        <p:nvPicPr>
          <p:cNvPr id="118" name="Picture 11" descr=""/>
          <p:cNvPicPr/>
          <p:nvPr/>
        </p:nvPicPr>
        <p:blipFill>
          <a:blip r:embed="rId4"/>
          <a:stretch/>
        </p:blipFill>
        <p:spPr>
          <a:xfrm>
            <a:off x="1192320" y="2546280"/>
            <a:ext cx="6598800" cy="3949200"/>
          </a:xfrm>
          <a:prstGeom prst="rect">
            <a:avLst/>
          </a:prstGeom>
          <a:noFill/>
          <a:ln w="0">
            <a:noFill/>
          </a:ln>
        </p:spPr>
      </p:pic>
      <p:pic>
        <p:nvPicPr>
          <p:cNvPr id="119" name="Picture 12" descr=""/>
          <p:cNvPicPr/>
          <p:nvPr/>
        </p:nvPicPr>
        <p:blipFill>
          <a:blip r:embed="rId5"/>
          <a:stretch/>
        </p:blipFill>
        <p:spPr>
          <a:xfrm>
            <a:off x="1192320" y="2546280"/>
            <a:ext cx="6598800" cy="3949200"/>
          </a:xfrm>
          <a:prstGeom prst="rect">
            <a:avLst/>
          </a:prstGeom>
          <a:noFill/>
          <a:ln w="0">
            <a:noFill/>
          </a:ln>
        </p:spPr>
      </p:pic>
    </p:spTree>
  </p:cSld>
  <p:transition spd="slow">
    <p:wipe dir="r"/>
  </p:transition>
  <p:timing>
    <p:tnLst>
      <p:par>
        <p:cTn id="353" dur="indefinite" restart="never" nodeType="tmRoot">
          <p:childTnLst>
            <p:seq>
              <p:cTn id="354" dur="indefinite" nodeType="mainSeq">
                <p:childTnLst>
                  <p:par>
                    <p:cTn id="355" nodeType="clickEffect" fill="hold">
                      <p:stCondLst>
                        <p:cond delay="0"/>
                      </p:stCondLst>
                      <p:childTnLst>
                        <p:par>
                          <p:cTn id="356" nodeType="withEffect" fill="hold">
                            <p:stCondLst>
                              <p:cond delay="0"/>
                            </p:stCondLst>
                            <p:childTnLst>
                              <p:par>
                                <p:cTn id="357" nodeType="withEffect" fill="hold" presetClass="entr" presetID="10">
                                  <p:stCondLst>
                                    <p:cond delay="0"/>
                                  </p:stCondLst>
                                  <p:childTnLst>
                                    <p:set>
                                      <p:cBhvr>
                                        <p:cTn id="358" dur="1" fill="hold">
                                          <p:stCondLst>
                                            <p:cond delay="0"/>
                                          </p:stCondLst>
                                        </p:cTn>
                                        <p:tgtEl>
                                          <p:spTgt spid="119"/>
                                        </p:tgtEl>
                                        <p:attrNameLst>
                                          <p:attrName>style.visibility</p:attrName>
                                        </p:attrNameLst>
                                      </p:cBhvr>
                                      <p:to>
                                        <p:strVal val="visible"/>
                                      </p:to>
                                    </p:set>
                                    <p:animEffect filter="fade" transition="in">
                                      <p:cBhvr additive="repl">
                                        <p:cTn id="359" dur="500"/>
                                        <p:tgtEl>
                                          <p:spTgt spid="1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16.2  SINGLE-PRICE MONOPOLY</a:t>
            </a:r>
            <a:endParaRPr b="0" lang="en-CA" sz="2600" strike="noStrike" u="none">
              <a:solidFill>
                <a:schemeClr val="dk1"/>
              </a:solidFill>
              <a:effectLst/>
              <a:uFillTx/>
              <a:latin typeface="Arial"/>
            </a:endParaRPr>
          </a:p>
        </p:txBody>
      </p:sp>
      <p:sp>
        <p:nvSpPr>
          <p:cNvPr id="121"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817200" indent="-457200">
              <a:lnSpc>
                <a:spcPct val="100000"/>
              </a:lnSpc>
              <a:spcBef>
                <a:spcPts val="601"/>
              </a:spcBef>
              <a:spcAft>
                <a:spcPts val="601"/>
              </a:spcAft>
              <a:buClr>
                <a:srgbClr val="000000"/>
              </a:buClr>
              <a:buFont typeface="Arial"/>
              <a:buAutoNum type="arabicPeriod" startAt="2"/>
            </a:pPr>
            <a:r>
              <a:rPr b="0" lang="en-US" sz="2400" strike="noStrike" u="none">
                <a:solidFill>
                  <a:schemeClr val="dk1"/>
                </a:solidFill>
                <a:effectLst/>
                <a:uFillTx/>
                <a:latin typeface="Arial"/>
                <a:ea typeface="ＭＳ Ｐゴシック"/>
              </a:rPr>
              <a:t>T</a:t>
            </a:r>
            <a:r>
              <a:rPr b="0" lang="en-US" sz="2400" strike="noStrike" u="none">
                <a:solidFill>
                  <a:srgbClr val="000000"/>
                </a:solidFill>
                <a:effectLst/>
                <a:uFillTx/>
                <a:latin typeface="Arial"/>
                <a:ea typeface="ＭＳ Ｐゴシック"/>
              </a:rPr>
              <a:t>otal revenue gained on 1 additional haircut is $14.</a:t>
            </a:r>
            <a:endParaRPr b="1" lang="en-CA" sz="2400" strike="noStrike" u="none">
              <a:solidFill>
                <a:srgbClr val="00468f"/>
              </a:solidFill>
              <a:effectLst/>
              <a:uFillTx/>
              <a:latin typeface="Arial"/>
            </a:endParaRPr>
          </a:p>
        </p:txBody>
      </p:sp>
      <p:pic>
        <p:nvPicPr>
          <p:cNvPr id="122" name="Picture 9" descr=""/>
          <p:cNvPicPr/>
          <p:nvPr/>
        </p:nvPicPr>
        <p:blipFill>
          <a:blip r:embed="rId1"/>
          <a:stretch/>
        </p:blipFill>
        <p:spPr>
          <a:xfrm>
            <a:off x="1192320" y="2546280"/>
            <a:ext cx="6598800" cy="3949200"/>
          </a:xfrm>
          <a:prstGeom prst="rect">
            <a:avLst/>
          </a:prstGeom>
          <a:noFill/>
          <a:ln w="0">
            <a:noFill/>
          </a:ln>
        </p:spPr>
      </p:pic>
      <p:pic>
        <p:nvPicPr>
          <p:cNvPr id="123" name="Picture 10" descr=""/>
          <p:cNvPicPr/>
          <p:nvPr/>
        </p:nvPicPr>
        <p:blipFill>
          <a:blip r:embed="rId2"/>
          <a:stretch/>
        </p:blipFill>
        <p:spPr>
          <a:xfrm>
            <a:off x="1192320" y="2546280"/>
            <a:ext cx="6598800" cy="3949200"/>
          </a:xfrm>
          <a:prstGeom prst="rect">
            <a:avLst/>
          </a:prstGeom>
          <a:noFill/>
          <a:ln w="0">
            <a:noFill/>
          </a:ln>
        </p:spPr>
      </p:pic>
      <p:pic>
        <p:nvPicPr>
          <p:cNvPr id="124" name="Picture 11" descr=""/>
          <p:cNvPicPr/>
          <p:nvPr/>
        </p:nvPicPr>
        <p:blipFill>
          <a:blip r:embed="rId3"/>
          <a:stretch/>
        </p:blipFill>
        <p:spPr>
          <a:xfrm>
            <a:off x="1192320" y="2546280"/>
            <a:ext cx="6598800" cy="3949200"/>
          </a:xfrm>
          <a:prstGeom prst="rect">
            <a:avLst/>
          </a:prstGeom>
          <a:noFill/>
          <a:ln w="0">
            <a:noFill/>
          </a:ln>
        </p:spPr>
      </p:pic>
      <p:pic>
        <p:nvPicPr>
          <p:cNvPr id="125" name="Picture 12" descr=""/>
          <p:cNvPicPr/>
          <p:nvPr/>
        </p:nvPicPr>
        <p:blipFill>
          <a:blip r:embed="rId4"/>
          <a:stretch/>
        </p:blipFill>
        <p:spPr>
          <a:xfrm>
            <a:off x="1192320" y="2546280"/>
            <a:ext cx="6598800" cy="3949200"/>
          </a:xfrm>
          <a:prstGeom prst="rect">
            <a:avLst/>
          </a:prstGeom>
          <a:noFill/>
          <a:ln w="0">
            <a:noFill/>
          </a:ln>
        </p:spPr>
      </p:pic>
      <p:pic>
        <p:nvPicPr>
          <p:cNvPr id="126" name="Picture 13" descr=""/>
          <p:cNvPicPr/>
          <p:nvPr/>
        </p:nvPicPr>
        <p:blipFill>
          <a:blip r:embed="rId5"/>
          <a:stretch/>
        </p:blipFill>
        <p:spPr>
          <a:xfrm>
            <a:off x="1192320" y="2546280"/>
            <a:ext cx="6598800" cy="3949200"/>
          </a:xfrm>
          <a:prstGeom prst="rect">
            <a:avLst/>
          </a:prstGeom>
          <a:noFill/>
          <a:ln w="0">
            <a:noFill/>
          </a:ln>
        </p:spPr>
      </p:pic>
      <p:pic>
        <p:nvPicPr>
          <p:cNvPr id="127" name="Picture 14" descr=""/>
          <p:cNvPicPr/>
          <p:nvPr/>
        </p:nvPicPr>
        <p:blipFill>
          <a:blip r:embed="rId6"/>
          <a:stretch/>
        </p:blipFill>
        <p:spPr>
          <a:xfrm>
            <a:off x="1192320" y="2546280"/>
            <a:ext cx="6598800" cy="3949200"/>
          </a:xfrm>
          <a:prstGeom prst="rect">
            <a:avLst/>
          </a:prstGeom>
          <a:noFill/>
          <a:ln w="0">
            <a:noFill/>
          </a:ln>
        </p:spPr>
      </p:pic>
    </p:spTree>
  </p:cSld>
  <p:transition spd="slow">
    <p:wipe dir="r"/>
  </p:transition>
  <p:timing>
    <p:tnLst>
      <p:par>
        <p:cTn id="360" dur="indefinite" restart="never" nodeType="tmRoot">
          <p:childTnLst>
            <p:seq>
              <p:cTn id="361" dur="indefinite" nodeType="mainSeq">
                <p:childTnLst>
                  <p:par>
                    <p:cTn id="362" nodeType="clickEffect" fill="hold">
                      <p:stCondLst>
                        <p:cond delay="0"/>
                      </p:stCondLst>
                      <p:childTnLst>
                        <p:par>
                          <p:cTn id="363" nodeType="withEffect" fill="hold">
                            <p:stCondLst>
                              <p:cond delay="0"/>
                            </p:stCondLst>
                            <p:childTnLst>
                              <p:par>
                                <p:cTn id="364" nodeType="withEffect" fill="hold" presetClass="entr" presetID="10">
                                  <p:stCondLst>
                                    <p:cond delay="0"/>
                                  </p:stCondLst>
                                  <p:childTnLst>
                                    <p:set>
                                      <p:cBhvr>
                                        <p:cTn id="365" dur="1" fill="hold">
                                          <p:stCondLst>
                                            <p:cond delay="0"/>
                                          </p:stCondLst>
                                        </p:cTn>
                                        <p:tgtEl>
                                          <p:spTgt spid="127"/>
                                        </p:tgtEl>
                                        <p:attrNameLst>
                                          <p:attrName>style.visibility</p:attrName>
                                        </p:attrNameLst>
                                      </p:cBhvr>
                                      <p:to>
                                        <p:strVal val="visible"/>
                                      </p:to>
                                    </p:set>
                                    <p:animEffect filter="fade" transition="in">
                                      <p:cBhvr additive="repl">
                                        <p:cTn id="366" dur="500"/>
                                        <p:tgtEl>
                                          <p:spTgt spid="1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16.2  SINGLE-PRICE MONOPOLY</a:t>
            </a:r>
            <a:endParaRPr b="0" lang="en-CA" sz="2600" strike="noStrike" u="none">
              <a:solidFill>
                <a:schemeClr val="dk1"/>
              </a:solidFill>
              <a:effectLst/>
              <a:uFillTx/>
              <a:latin typeface="Arial"/>
            </a:endParaRPr>
          </a:p>
        </p:txBody>
      </p:sp>
      <p:sp>
        <p:nvSpPr>
          <p:cNvPr id="129"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817200" indent="-457200">
              <a:lnSpc>
                <a:spcPct val="100000"/>
              </a:lnSpc>
              <a:spcBef>
                <a:spcPts val="601"/>
              </a:spcBef>
              <a:spcAft>
                <a:spcPts val="601"/>
              </a:spcAft>
              <a:buClr>
                <a:srgbClr val="000000"/>
              </a:buClr>
              <a:buFont typeface="Arial"/>
              <a:buAutoNum type="arabicPeriod" startAt="3"/>
            </a:pPr>
            <a:r>
              <a:rPr b="0" lang="en-US" sz="2400" strike="noStrike" u="none">
                <a:solidFill>
                  <a:srgbClr val="000000"/>
                </a:solidFill>
                <a:effectLst/>
                <a:uFillTx/>
                <a:latin typeface="Arial"/>
                <a:ea typeface="ＭＳ Ｐゴシック"/>
              </a:rPr>
              <a:t>Marginal revenue is $10 ($14 gain minus $4 loss).</a:t>
            </a:r>
            <a:endParaRPr b="1" lang="en-CA" sz="2400" strike="noStrike" u="none">
              <a:solidFill>
                <a:srgbClr val="00468f"/>
              </a:solidFill>
              <a:effectLst/>
              <a:uFillTx/>
              <a:latin typeface="Arial"/>
            </a:endParaRPr>
          </a:p>
        </p:txBody>
      </p:sp>
      <p:pic>
        <p:nvPicPr>
          <p:cNvPr id="130" name="Picture 10" descr=""/>
          <p:cNvPicPr/>
          <p:nvPr/>
        </p:nvPicPr>
        <p:blipFill>
          <a:blip r:embed="rId1"/>
          <a:stretch/>
        </p:blipFill>
        <p:spPr>
          <a:xfrm>
            <a:off x="1192320" y="2546280"/>
            <a:ext cx="6598800" cy="3949200"/>
          </a:xfrm>
          <a:prstGeom prst="rect">
            <a:avLst/>
          </a:prstGeom>
          <a:noFill/>
          <a:ln w="0">
            <a:noFill/>
          </a:ln>
        </p:spPr>
      </p:pic>
      <p:pic>
        <p:nvPicPr>
          <p:cNvPr id="131" name="Picture 11" descr=""/>
          <p:cNvPicPr/>
          <p:nvPr/>
        </p:nvPicPr>
        <p:blipFill>
          <a:blip r:embed="rId2"/>
          <a:stretch/>
        </p:blipFill>
        <p:spPr>
          <a:xfrm>
            <a:off x="1192320" y="2546280"/>
            <a:ext cx="6598800" cy="3949200"/>
          </a:xfrm>
          <a:prstGeom prst="rect">
            <a:avLst/>
          </a:prstGeom>
          <a:noFill/>
          <a:ln w="0">
            <a:noFill/>
          </a:ln>
        </p:spPr>
      </p:pic>
      <p:pic>
        <p:nvPicPr>
          <p:cNvPr id="132" name="Picture 12" descr=""/>
          <p:cNvPicPr/>
          <p:nvPr/>
        </p:nvPicPr>
        <p:blipFill>
          <a:blip r:embed="rId3"/>
          <a:stretch/>
        </p:blipFill>
        <p:spPr>
          <a:xfrm>
            <a:off x="1192320" y="2546280"/>
            <a:ext cx="6598800" cy="3949200"/>
          </a:xfrm>
          <a:prstGeom prst="rect">
            <a:avLst/>
          </a:prstGeom>
          <a:noFill/>
          <a:ln w="0">
            <a:noFill/>
          </a:ln>
        </p:spPr>
      </p:pic>
      <p:pic>
        <p:nvPicPr>
          <p:cNvPr id="133" name="Picture 13" descr=""/>
          <p:cNvPicPr/>
          <p:nvPr/>
        </p:nvPicPr>
        <p:blipFill>
          <a:blip r:embed="rId4"/>
          <a:stretch/>
        </p:blipFill>
        <p:spPr>
          <a:xfrm>
            <a:off x="1192320" y="2546280"/>
            <a:ext cx="6598800" cy="3949200"/>
          </a:xfrm>
          <a:prstGeom prst="rect">
            <a:avLst/>
          </a:prstGeom>
          <a:noFill/>
          <a:ln w="0">
            <a:noFill/>
          </a:ln>
        </p:spPr>
      </p:pic>
      <p:pic>
        <p:nvPicPr>
          <p:cNvPr id="134" name="Picture 14" descr=""/>
          <p:cNvPicPr/>
          <p:nvPr/>
        </p:nvPicPr>
        <p:blipFill>
          <a:blip r:embed="rId5"/>
          <a:stretch/>
        </p:blipFill>
        <p:spPr>
          <a:xfrm>
            <a:off x="1192320" y="2546280"/>
            <a:ext cx="6598800" cy="3949200"/>
          </a:xfrm>
          <a:prstGeom prst="rect">
            <a:avLst/>
          </a:prstGeom>
          <a:noFill/>
          <a:ln w="0">
            <a:noFill/>
          </a:ln>
        </p:spPr>
      </p:pic>
      <p:pic>
        <p:nvPicPr>
          <p:cNvPr id="135" name="Picture 15" descr=""/>
          <p:cNvPicPr/>
          <p:nvPr/>
        </p:nvPicPr>
        <p:blipFill>
          <a:blip r:embed="rId6"/>
          <a:stretch/>
        </p:blipFill>
        <p:spPr>
          <a:xfrm>
            <a:off x="1192320" y="2546280"/>
            <a:ext cx="6598800" cy="3949200"/>
          </a:xfrm>
          <a:prstGeom prst="rect">
            <a:avLst/>
          </a:prstGeom>
          <a:noFill/>
          <a:ln w="0">
            <a:noFill/>
          </a:ln>
        </p:spPr>
      </p:pic>
      <p:pic>
        <p:nvPicPr>
          <p:cNvPr id="136" name="Picture 16" descr=""/>
          <p:cNvPicPr/>
          <p:nvPr/>
        </p:nvPicPr>
        <p:blipFill>
          <a:blip r:embed="rId7"/>
          <a:stretch/>
        </p:blipFill>
        <p:spPr>
          <a:xfrm>
            <a:off x="1192320" y="2546280"/>
            <a:ext cx="6598800" cy="3949200"/>
          </a:xfrm>
          <a:prstGeom prst="rect">
            <a:avLst/>
          </a:prstGeom>
          <a:noFill/>
          <a:ln w="0">
            <a:noFill/>
          </a:ln>
        </p:spPr>
      </p:pic>
    </p:spTree>
  </p:cSld>
  <p:transition spd="slow">
    <p:wipe dir="r"/>
  </p:transition>
  <p:timing>
    <p:tnLst>
      <p:par>
        <p:cTn id="367" dur="indefinite" restart="never" nodeType="tmRoot">
          <p:childTnLst>
            <p:seq>
              <p:cTn id="368" dur="indefinite" nodeType="mainSeq">
                <p:childTnLst>
                  <p:par>
                    <p:cTn id="369" nodeType="clickEffect" fill="hold">
                      <p:stCondLst>
                        <p:cond delay="0"/>
                      </p:stCondLst>
                      <p:childTnLst>
                        <p:par>
                          <p:cTn id="370" nodeType="withEffect" fill="hold">
                            <p:stCondLst>
                              <p:cond delay="0"/>
                            </p:stCondLst>
                            <p:childTnLst>
                              <p:par>
                                <p:cTn id="371" nodeType="withEffect" fill="hold" presetClass="entr" presetID="10">
                                  <p:stCondLst>
                                    <p:cond delay="0"/>
                                  </p:stCondLst>
                                  <p:childTnLst>
                                    <p:set>
                                      <p:cBhvr>
                                        <p:cTn id="372" dur="1" fill="hold">
                                          <p:stCondLst>
                                            <p:cond delay="0"/>
                                          </p:stCondLst>
                                        </p:cTn>
                                        <p:tgtEl>
                                          <p:spTgt spid="136"/>
                                        </p:tgtEl>
                                        <p:attrNameLst>
                                          <p:attrName>style.visibility</p:attrName>
                                        </p:attrNameLst>
                                      </p:cBhvr>
                                      <p:to>
                                        <p:strVal val="visible"/>
                                      </p:to>
                                    </p:set>
                                    <p:animEffect filter="fade" transition="in">
                                      <p:cBhvr additive="repl">
                                        <p:cTn id="373" dur="500"/>
                                        <p:tgtEl>
                                          <p:spTgt spid="1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16.2  SINGLE-PRICE MONOPOLY</a:t>
            </a:r>
            <a:endParaRPr b="0" lang="en-CA" sz="2600" strike="noStrike" u="none">
              <a:solidFill>
                <a:schemeClr val="dk1"/>
              </a:solidFill>
              <a:effectLst/>
              <a:uFillTx/>
              <a:latin typeface="Arial"/>
            </a:endParaRPr>
          </a:p>
        </p:txBody>
      </p:sp>
      <p:sp>
        <p:nvSpPr>
          <p:cNvPr id="138" name="PlaceHolder 2"/>
          <p:cNvSpPr>
            <a:spLocks noGrp="1"/>
          </p:cNvSpPr>
          <p:nvPr>
            <p:ph/>
          </p:nvPr>
        </p:nvSpPr>
        <p:spPr>
          <a:xfrm>
            <a:off x="360360" y="1440000"/>
            <a:ext cx="858960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marginal revenue curve slopes downward and is below the demand curve. Marginal revenue is less than price.</a:t>
            </a:r>
            <a:endParaRPr b="1" lang="en-CA" sz="2400" strike="noStrike" u="none">
              <a:solidFill>
                <a:srgbClr val="00468f"/>
              </a:solidFill>
              <a:effectLst/>
              <a:uFillTx/>
              <a:latin typeface="Arial"/>
            </a:endParaRPr>
          </a:p>
        </p:txBody>
      </p:sp>
      <p:pic>
        <p:nvPicPr>
          <p:cNvPr id="139" name="Picture 11" descr=""/>
          <p:cNvPicPr/>
          <p:nvPr/>
        </p:nvPicPr>
        <p:blipFill>
          <a:blip r:embed="rId1"/>
          <a:stretch/>
        </p:blipFill>
        <p:spPr>
          <a:xfrm>
            <a:off x="1192320" y="2546280"/>
            <a:ext cx="6598800" cy="3949200"/>
          </a:xfrm>
          <a:prstGeom prst="rect">
            <a:avLst/>
          </a:prstGeom>
          <a:noFill/>
          <a:ln w="0">
            <a:noFill/>
          </a:ln>
        </p:spPr>
      </p:pic>
      <p:pic>
        <p:nvPicPr>
          <p:cNvPr id="140" name="Picture 12" descr=""/>
          <p:cNvPicPr/>
          <p:nvPr/>
        </p:nvPicPr>
        <p:blipFill>
          <a:blip r:embed="rId2"/>
          <a:stretch/>
        </p:blipFill>
        <p:spPr>
          <a:xfrm>
            <a:off x="1192320" y="2546280"/>
            <a:ext cx="6598800" cy="3949200"/>
          </a:xfrm>
          <a:prstGeom prst="rect">
            <a:avLst/>
          </a:prstGeom>
          <a:noFill/>
          <a:ln w="0">
            <a:noFill/>
          </a:ln>
        </p:spPr>
      </p:pic>
      <p:pic>
        <p:nvPicPr>
          <p:cNvPr id="141" name="Picture 13" descr=""/>
          <p:cNvPicPr/>
          <p:nvPr/>
        </p:nvPicPr>
        <p:blipFill>
          <a:blip r:embed="rId3"/>
          <a:stretch/>
        </p:blipFill>
        <p:spPr>
          <a:xfrm>
            <a:off x="1192320" y="2546280"/>
            <a:ext cx="6598800" cy="3949200"/>
          </a:xfrm>
          <a:prstGeom prst="rect">
            <a:avLst/>
          </a:prstGeom>
          <a:noFill/>
          <a:ln w="0">
            <a:noFill/>
          </a:ln>
        </p:spPr>
      </p:pic>
      <p:pic>
        <p:nvPicPr>
          <p:cNvPr id="142" name="Picture 14" descr=""/>
          <p:cNvPicPr/>
          <p:nvPr/>
        </p:nvPicPr>
        <p:blipFill>
          <a:blip r:embed="rId4"/>
          <a:stretch/>
        </p:blipFill>
        <p:spPr>
          <a:xfrm>
            <a:off x="1192320" y="2546280"/>
            <a:ext cx="6598800" cy="3949200"/>
          </a:xfrm>
          <a:prstGeom prst="rect">
            <a:avLst/>
          </a:prstGeom>
          <a:noFill/>
          <a:ln w="0">
            <a:noFill/>
          </a:ln>
        </p:spPr>
      </p:pic>
      <p:pic>
        <p:nvPicPr>
          <p:cNvPr id="143" name="Picture 15" descr=""/>
          <p:cNvPicPr/>
          <p:nvPr/>
        </p:nvPicPr>
        <p:blipFill>
          <a:blip r:embed="rId5"/>
          <a:stretch/>
        </p:blipFill>
        <p:spPr>
          <a:xfrm>
            <a:off x="1192320" y="2546280"/>
            <a:ext cx="6598800" cy="3949200"/>
          </a:xfrm>
          <a:prstGeom prst="rect">
            <a:avLst/>
          </a:prstGeom>
          <a:noFill/>
          <a:ln w="0">
            <a:noFill/>
          </a:ln>
        </p:spPr>
      </p:pic>
      <p:pic>
        <p:nvPicPr>
          <p:cNvPr id="144" name="Picture 16" descr=""/>
          <p:cNvPicPr/>
          <p:nvPr/>
        </p:nvPicPr>
        <p:blipFill>
          <a:blip r:embed="rId6"/>
          <a:stretch/>
        </p:blipFill>
        <p:spPr>
          <a:xfrm>
            <a:off x="1192320" y="2546280"/>
            <a:ext cx="6598800" cy="3949200"/>
          </a:xfrm>
          <a:prstGeom prst="rect">
            <a:avLst/>
          </a:prstGeom>
          <a:noFill/>
          <a:ln w="0">
            <a:noFill/>
          </a:ln>
        </p:spPr>
      </p:pic>
      <p:pic>
        <p:nvPicPr>
          <p:cNvPr id="145" name="Picture 17" descr=""/>
          <p:cNvPicPr/>
          <p:nvPr/>
        </p:nvPicPr>
        <p:blipFill>
          <a:blip r:embed="rId7"/>
          <a:stretch/>
        </p:blipFill>
        <p:spPr>
          <a:xfrm>
            <a:off x="1192320" y="2546280"/>
            <a:ext cx="6598800" cy="3949200"/>
          </a:xfrm>
          <a:prstGeom prst="rect">
            <a:avLst/>
          </a:prstGeom>
          <a:noFill/>
          <a:ln w="0">
            <a:noFill/>
          </a:ln>
        </p:spPr>
      </p:pic>
      <p:pic>
        <p:nvPicPr>
          <p:cNvPr id="146" name="Picture 18" descr=""/>
          <p:cNvPicPr/>
          <p:nvPr/>
        </p:nvPicPr>
        <p:blipFill>
          <a:blip r:embed="rId8"/>
          <a:stretch/>
        </p:blipFill>
        <p:spPr>
          <a:xfrm>
            <a:off x="1192320" y="2546280"/>
            <a:ext cx="6598800" cy="3949200"/>
          </a:xfrm>
          <a:prstGeom prst="rect">
            <a:avLst/>
          </a:prstGeom>
          <a:noFill/>
          <a:ln w="0">
            <a:noFill/>
          </a:ln>
        </p:spPr>
      </p:pic>
    </p:spTree>
  </p:cSld>
  <p:transition spd="slow">
    <p:wipe dir="r"/>
  </p:transition>
  <p:timing>
    <p:tnLst>
      <p:par>
        <p:cTn id="374" dur="indefinite" restart="never" nodeType="tmRoot">
          <p:childTnLst>
            <p:seq>
              <p:cTn id="375" dur="indefinite" nodeType="mainSeq">
                <p:childTnLst>
                  <p:par>
                    <p:cTn id="376" nodeType="clickEffect" fill="hold">
                      <p:stCondLst>
                        <p:cond delay="0"/>
                      </p:stCondLst>
                      <p:childTnLst>
                        <p:par>
                          <p:cTn id="377" nodeType="withEffect" fill="hold">
                            <p:stCondLst>
                              <p:cond delay="0"/>
                            </p:stCondLst>
                            <p:childTnLst>
                              <p:par>
                                <p:cTn id="378" nodeType="withEffect" fill="hold" presetClass="entr" presetID="22" presetSubtype="8">
                                  <p:stCondLst>
                                    <p:cond delay="0"/>
                                  </p:stCondLst>
                                  <p:childTnLst>
                                    <p:set>
                                      <p:cBhvr>
                                        <p:cTn id="379" dur="1" fill="hold">
                                          <p:stCondLst>
                                            <p:cond delay="0"/>
                                          </p:stCondLst>
                                        </p:cTn>
                                        <p:tgtEl>
                                          <p:spTgt spid="146"/>
                                        </p:tgtEl>
                                        <p:attrNameLst>
                                          <p:attrName>style.visibility</p:attrName>
                                        </p:attrNameLst>
                                      </p:cBhvr>
                                      <p:to>
                                        <p:strVal val="visible"/>
                                      </p:to>
                                    </p:set>
                                    <p:animEffect filter="wipe(left)" transition="in">
                                      <p:cBhvr additive="repl">
                                        <p:cTn id="380" dur="1000"/>
                                        <p:tgtEl>
                                          <p:spTgt spid="1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16.2  SINGLE-PRICE MONOPOLY</a:t>
            </a:r>
            <a:endParaRPr b="0" lang="en-CA" sz="2600" strike="noStrike" u="none">
              <a:solidFill>
                <a:schemeClr val="dk1"/>
              </a:solidFill>
              <a:effectLst/>
              <a:uFillTx/>
              <a:latin typeface="Arial"/>
            </a:endParaRPr>
          </a:p>
        </p:txBody>
      </p:sp>
      <p:sp>
        <p:nvSpPr>
          <p:cNvPr id="148"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tabLst>
                <a:tab algn="l" pos="797040"/>
              </a:tabLst>
            </a:pPr>
            <a:r>
              <a:rPr b="1" lang="en-US" sz="2800" strike="noStrike" u="none">
                <a:solidFill>
                  <a:srgbClr val="00468f"/>
                </a:solidFill>
                <a:effectLst/>
                <a:uFillTx/>
                <a:latin typeface="Arial"/>
                <a:ea typeface="ＭＳ Ｐゴシック"/>
              </a:rPr>
              <a:t>Marginal Revenue and Elasticity</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tabLst>
                <a:tab algn="l" pos="797040"/>
              </a:tabLst>
            </a:pPr>
            <a:r>
              <a:rPr b="0" lang="en-US" sz="2400" strike="noStrike" u="none">
                <a:solidFill>
                  <a:schemeClr val="dk1"/>
                </a:solidFill>
                <a:effectLst/>
                <a:uFillTx/>
                <a:latin typeface="Arial"/>
                <a:ea typeface="ＭＳ Ｐゴシック"/>
              </a:rPr>
              <a:t>Recall the total revenue test, which determines whether demand is elastic or inelastic. </a:t>
            </a:r>
            <a:endParaRPr b="1" lang="en-CA" sz="2400" strike="noStrike" u="none">
              <a:solidFill>
                <a:srgbClr val="00468f"/>
              </a:solidFill>
              <a:effectLst/>
              <a:uFillTx/>
              <a:latin typeface="Arial"/>
            </a:endParaRPr>
          </a:p>
          <a:p>
            <a:pPr lvl="1" marL="358920" indent="-324000">
              <a:lnSpc>
                <a:spcPct val="100000"/>
              </a:lnSpc>
              <a:spcBef>
                <a:spcPts val="601"/>
              </a:spcBef>
              <a:spcAft>
                <a:spcPts val="601"/>
              </a:spcAft>
              <a:buClr>
                <a:srgbClr val="000000"/>
              </a:buClr>
              <a:buFont typeface="OpenSymbol"/>
              <a:buAutoNum type="arabicPeriod"/>
              <a:tabLst>
                <a:tab algn="l" pos="797040"/>
              </a:tabLst>
            </a:pPr>
            <a:r>
              <a:rPr b="0" lang="en-US" sz="2400" strike="noStrike" u="none">
                <a:solidFill>
                  <a:schemeClr val="dk1"/>
                </a:solidFill>
                <a:effectLst/>
                <a:uFillTx/>
                <a:latin typeface="Arial"/>
                <a:ea typeface="ＭＳ Ｐゴシック"/>
              </a:rPr>
              <a:t>If a price fall increases total revenue, demand is elastic. </a:t>
            </a:r>
            <a:endParaRPr b="0" lang="en-CA" sz="2400" strike="noStrike" u="none">
              <a:solidFill>
                <a:schemeClr val="dk1"/>
              </a:solidFill>
              <a:effectLst/>
              <a:uFillTx/>
              <a:latin typeface="Arial"/>
            </a:endParaRPr>
          </a:p>
          <a:p>
            <a:pPr lvl="1" marL="358920" indent="-324000">
              <a:lnSpc>
                <a:spcPct val="100000"/>
              </a:lnSpc>
              <a:spcBef>
                <a:spcPts val="601"/>
              </a:spcBef>
              <a:spcAft>
                <a:spcPts val="601"/>
              </a:spcAft>
              <a:buClr>
                <a:srgbClr val="000000"/>
              </a:buClr>
              <a:buFont typeface="OpenSymbol"/>
              <a:buAutoNum type="arabicPeriod"/>
              <a:tabLst>
                <a:tab algn="l" pos="797040"/>
              </a:tabLst>
            </a:pPr>
            <a:r>
              <a:rPr b="0" lang="en-US" sz="2400" strike="noStrike" u="none">
                <a:solidFill>
                  <a:schemeClr val="dk1"/>
                </a:solidFill>
                <a:effectLst/>
                <a:uFillTx/>
                <a:latin typeface="Arial"/>
                <a:ea typeface="ＭＳ Ｐゴシック"/>
              </a:rPr>
              <a:t>If a price fall decreases total revenue, demand is inelastic.</a:t>
            </a:r>
            <a:endParaRPr b="0" lang="en-CA" sz="2400" strike="noStrike" u="none">
              <a:solidFill>
                <a:schemeClr val="dk1"/>
              </a:solidFill>
              <a:effectLst/>
              <a:uFillTx/>
              <a:latin typeface="Arial"/>
            </a:endParaRPr>
          </a:p>
          <a:p>
            <a:pPr marL="358920" indent="0">
              <a:lnSpc>
                <a:spcPct val="100000"/>
              </a:lnSpc>
              <a:spcBef>
                <a:spcPts val="601"/>
              </a:spcBef>
              <a:spcAft>
                <a:spcPts val="601"/>
              </a:spcAft>
              <a:buNone/>
              <a:tabLst>
                <a:tab algn="l" pos="797040"/>
              </a:tabLst>
            </a:pPr>
            <a:r>
              <a:rPr b="0" lang="en-US" sz="2400" strike="noStrike" u="none">
                <a:solidFill>
                  <a:schemeClr val="dk1"/>
                </a:solidFill>
                <a:effectLst/>
                <a:uFillTx/>
                <a:latin typeface="Arial"/>
                <a:ea typeface="ＭＳ Ｐゴシック"/>
              </a:rPr>
              <a:t>Use the total revenue test to see the relationship between marginal revenue and elasticity.</a:t>
            </a:r>
            <a:endParaRPr b="1" lang="en-CA" sz="2400" strike="noStrike" u="none">
              <a:solidFill>
                <a:srgbClr val="00468f"/>
              </a:solidFill>
              <a:effectLst/>
              <a:uFillTx/>
              <a:latin typeface="Arial"/>
            </a:endParaRPr>
          </a:p>
        </p:txBody>
      </p:sp>
    </p:spTree>
  </p:cSld>
  <p:transition spd="slow">
    <p:wipe dir="r"/>
  </p:transition>
  <p:timing>
    <p:tnLst>
      <p:par>
        <p:cTn id="381" dur="indefinite" restart="never" nodeType="tmRoot">
          <p:childTnLst>
            <p:seq>
              <p:cTn id="382" dur="indefinite" nodeType="mainSeq">
                <p:childTnLst>
                  <p:par>
                    <p:cTn id="383" nodeType="clickEffect" fill="hold">
                      <p:stCondLst>
                        <p:cond delay="indefinite"/>
                      </p:stCondLst>
                      <p:childTnLst>
                        <p:par>
                          <p:cTn id="384" nodeType="withEffect" fill="hold">
                            <p:stCondLst>
                              <p:cond delay="0"/>
                            </p:stCondLst>
                            <p:childTnLst>
                              <p:par>
                                <p:cTn id="385" nodeType="clickEffect" fill="hold" presetClass="entr" presetID="22" presetSubtype="8">
                                  <p:stCondLst>
                                    <p:cond delay="0"/>
                                  </p:stCondLst>
                                  <p:childTnLst>
                                    <p:set>
                                      <p:cBhvr>
                                        <p:cTn id="386" dur="1" fill="hold">
                                          <p:stCondLst>
                                            <p:cond delay="0"/>
                                          </p:stCondLst>
                                        </p:cTn>
                                        <p:tgtEl>
                                          <p:spTgt spid="148">
                                            <p:txEl>
                                              <p:pRg st="1" end="1"/>
                                            </p:txEl>
                                          </p:spTgt>
                                        </p:tgtEl>
                                        <p:attrNameLst>
                                          <p:attrName>style.visibility</p:attrName>
                                        </p:attrNameLst>
                                      </p:cBhvr>
                                      <p:to>
                                        <p:strVal val="visible"/>
                                      </p:to>
                                    </p:set>
                                    <p:animEffect filter="wipe(left)" transition="in">
                                      <p:cBhvr additive="repl">
                                        <p:cTn id="387" dur="500"/>
                                        <p:tgtEl>
                                          <p:spTgt spid="148">
                                            <p:txEl>
                                              <p:pRg st="1" end="1"/>
                                            </p:txEl>
                                          </p:spTgt>
                                        </p:tgtEl>
                                      </p:cBhvr>
                                    </p:animEffect>
                                  </p:childTnLst>
                                </p:cTn>
                              </p:par>
                            </p:childTnLst>
                          </p:cTn>
                        </p:par>
                      </p:childTnLst>
                    </p:cTn>
                  </p:par>
                  <p:par>
                    <p:cTn id="388" nodeType="clickEffect" fill="hold">
                      <p:stCondLst>
                        <p:cond delay="indefinite"/>
                      </p:stCondLst>
                      <p:childTnLst>
                        <p:par>
                          <p:cTn id="389" nodeType="withEffect" fill="hold">
                            <p:stCondLst>
                              <p:cond delay="0"/>
                            </p:stCondLst>
                            <p:childTnLst>
                              <p:par>
                                <p:cTn id="390" nodeType="clickEffect" fill="hold" presetClass="entr" presetID="22" presetSubtype="8">
                                  <p:stCondLst>
                                    <p:cond delay="0"/>
                                  </p:stCondLst>
                                  <p:childTnLst>
                                    <p:set>
                                      <p:cBhvr>
                                        <p:cTn id="391" dur="1" fill="hold">
                                          <p:stCondLst>
                                            <p:cond delay="0"/>
                                          </p:stCondLst>
                                        </p:cTn>
                                        <p:tgtEl>
                                          <p:spTgt spid="148">
                                            <p:txEl>
                                              <p:pRg st="2" end="2"/>
                                            </p:txEl>
                                          </p:spTgt>
                                        </p:tgtEl>
                                        <p:attrNameLst>
                                          <p:attrName>style.visibility</p:attrName>
                                        </p:attrNameLst>
                                      </p:cBhvr>
                                      <p:to>
                                        <p:strVal val="visible"/>
                                      </p:to>
                                    </p:set>
                                    <p:animEffect filter="wipe(left)" transition="in">
                                      <p:cBhvr additive="repl">
                                        <p:cTn id="392" dur="500"/>
                                        <p:tgtEl>
                                          <p:spTgt spid="148">
                                            <p:txEl>
                                              <p:pRg st="2" end="2"/>
                                            </p:txEl>
                                          </p:spTgt>
                                        </p:tgtEl>
                                      </p:cBhvr>
                                    </p:animEffect>
                                  </p:childTnLst>
                                </p:cTn>
                              </p:par>
                            </p:childTnLst>
                          </p:cTn>
                        </p:par>
                      </p:childTnLst>
                    </p:cTn>
                  </p:par>
                  <p:par>
                    <p:cTn id="393" nodeType="clickEffect" fill="hold">
                      <p:stCondLst>
                        <p:cond delay="indefinite"/>
                      </p:stCondLst>
                      <p:childTnLst>
                        <p:par>
                          <p:cTn id="394" nodeType="withEffect" fill="hold">
                            <p:stCondLst>
                              <p:cond delay="0"/>
                            </p:stCondLst>
                            <p:childTnLst>
                              <p:par>
                                <p:cTn id="395" nodeType="clickEffect" fill="hold" presetClass="entr" presetID="22" presetSubtype="8">
                                  <p:stCondLst>
                                    <p:cond delay="0"/>
                                  </p:stCondLst>
                                  <p:childTnLst>
                                    <p:set>
                                      <p:cBhvr>
                                        <p:cTn id="396" dur="1" fill="hold">
                                          <p:stCondLst>
                                            <p:cond delay="0"/>
                                          </p:stCondLst>
                                        </p:cTn>
                                        <p:tgtEl>
                                          <p:spTgt spid="148">
                                            <p:txEl>
                                              <p:pRg st="3" end="3"/>
                                            </p:txEl>
                                          </p:spTgt>
                                        </p:tgtEl>
                                        <p:attrNameLst>
                                          <p:attrName>style.visibility</p:attrName>
                                        </p:attrNameLst>
                                      </p:cBhvr>
                                      <p:to>
                                        <p:strVal val="visible"/>
                                      </p:to>
                                    </p:set>
                                    <p:animEffect filter="wipe(left)" transition="in">
                                      <p:cBhvr additive="repl">
                                        <p:cTn id="397" dur="500"/>
                                        <p:tgtEl>
                                          <p:spTgt spid="148">
                                            <p:txEl>
                                              <p:pRg st="3" end="3"/>
                                            </p:txEl>
                                          </p:spTgt>
                                        </p:tgtEl>
                                      </p:cBhvr>
                                    </p:animEffect>
                                  </p:childTnLst>
                                </p:cTn>
                              </p:par>
                            </p:childTnLst>
                          </p:cTn>
                        </p:par>
                      </p:childTnLst>
                    </p:cTn>
                  </p:par>
                  <p:par>
                    <p:cTn id="398" nodeType="clickEffect" fill="hold">
                      <p:stCondLst>
                        <p:cond delay="indefinite"/>
                      </p:stCondLst>
                      <p:childTnLst>
                        <p:par>
                          <p:cTn id="399" nodeType="withEffect" fill="hold">
                            <p:stCondLst>
                              <p:cond delay="0"/>
                            </p:stCondLst>
                            <p:childTnLst>
                              <p:par>
                                <p:cTn id="400" nodeType="clickEffect" fill="hold" presetClass="entr" presetID="22" presetSubtype="8">
                                  <p:stCondLst>
                                    <p:cond delay="0"/>
                                  </p:stCondLst>
                                  <p:childTnLst>
                                    <p:set>
                                      <p:cBhvr>
                                        <p:cTn id="401" dur="1" fill="hold">
                                          <p:stCondLst>
                                            <p:cond delay="0"/>
                                          </p:stCondLst>
                                        </p:cTn>
                                        <p:tgtEl>
                                          <p:spTgt spid="148">
                                            <p:txEl>
                                              <p:pRg st="4" end="4"/>
                                            </p:txEl>
                                          </p:spTgt>
                                        </p:tgtEl>
                                        <p:attrNameLst>
                                          <p:attrName>style.visibility</p:attrName>
                                        </p:attrNameLst>
                                      </p:cBhvr>
                                      <p:to>
                                        <p:strVal val="visible"/>
                                      </p:to>
                                    </p:set>
                                    <p:animEffect filter="wipe(left)" transition="in">
                                      <p:cBhvr additive="repl">
                                        <p:cTn id="402" dur="500"/>
                                        <p:tgtEl>
                                          <p:spTgt spid="148">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16.2  SINGLE-PRICE MONOPOLY</a:t>
            </a:r>
            <a:endParaRPr b="0" lang="en-CA" sz="2600" strike="noStrike" u="none">
              <a:solidFill>
                <a:schemeClr val="dk1"/>
              </a:solidFill>
              <a:effectLst/>
              <a:uFillTx/>
              <a:latin typeface="Arial"/>
            </a:endParaRPr>
          </a:p>
        </p:txBody>
      </p:sp>
      <p:sp>
        <p:nvSpPr>
          <p:cNvPr id="150" name="PlaceHolder 2"/>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Figure 16.3(a) illustrates this relationship.</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Over the range from zero to 5 haircuts an hour, marginal revenue is positive.</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a:tabLst>
                <a:tab algn="l" pos="0"/>
                <a:tab algn="l" pos="339840"/>
              </a:tabLst>
            </a:pPr>
            <a:r>
              <a:rPr b="0" lang="en-US" sz="2400" strike="noStrike" u="none">
                <a:solidFill>
                  <a:srgbClr val="000000"/>
                </a:solidFill>
                <a:effectLst/>
                <a:uFillTx/>
                <a:latin typeface="Arial"/>
                <a:ea typeface="ＭＳ Ｐゴシック"/>
              </a:rPr>
              <a:t>A price fall increases total revenue, so demand is elastic.</a:t>
            </a:r>
            <a:endParaRPr b="1" lang="en-CA" sz="2400" strike="noStrike" u="none">
              <a:solidFill>
                <a:srgbClr val="00468f"/>
              </a:solidFill>
              <a:effectLst/>
              <a:uFillTx/>
              <a:latin typeface="Arial"/>
            </a:endParaRPr>
          </a:p>
        </p:txBody>
      </p:sp>
      <p:pic>
        <p:nvPicPr>
          <p:cNvPr id="151" name="Picture 17" descr=""/>
          <p:cNvPicPr/>
          <p:nvPr/>
        </p:nvPicPr>
        <p:blipFill>
          <a:blip r:embed="rId1"/>
          <a:stretch/>
        </p:blipFill>
        <p:spPr>
          <a:xfrm>
            <a:off x="4500720" y="1511280"/>
            <a:ext cx="4063680" cy="4397040"/>
          </a:xfrm>
          <a:prstGeom prst="rect">
            <a:avLst/>
          </a:prstGeom>
          <a:noFill/>
          <a:ln w="0">
            <a:noFill/>
          </a:ln>
        </p:spPr>
      </p:pic>
      <p:pic>
        <p:nvPicPr>
          <p:cNvPr id="152" name="Picture 18" descr=""/>
          <p:cNvPicPr/>
          <p:nvPr/>
        </p:nvPicPr>
        <p:blipFill>
          <a:blip r:embed="rId2"/>
          <a:stretch/>
        </p:blipFill>
        <p:spPr>
          <a:xfrm>
            <a:off x="4500720" y="1511280"/>
            <a:ext cx="4063680" cy="4397040"/>
          </a:xfrm>
          <a:prstGeom prst="rect">
            <a:avLst/>
          </a:prstGeom>
          <a:noFill/>
          <a:ln w="0">
            <a:noFill/>
          </a:ln>
        </p:spPr>
      </p:pic>
      <p:pic>
        <p:nvPicPr>
          <p:cNvPr id="153" name="Picture 19" descr=""/>
          <p:cNvPicPr/>
          <p:nvPr/>
        </p:nvPicPr>
        <p:blipFill>
          <a:blip r:embed="rId3"/>
          <a:stretch/>
        </p:blipFill>
        <p:spPr>
          <a:xfrm>
            <a:off x="4500720" y="1511280"/>
            <a:ext cx="4063680" cy="4397040"/>
          </a:xfrm>
          <a:prstGeom prst="rect">
            <a:avLst/>
          </a:prstGeom>
          <a:noFill/>
          <a:ln w="0">
            <a:noFill/>
          </a:ln>
        </p:spPr>
      </p:pic>
      <p:pic>
        <p:nvPicPr>
          <p:cNvPr id="154" name="Picture 20" descr=""/>
          <p:cNvPicPr/>
          <p:nvPr/>
        </p:nvPicPr>
        <p:blipFill>
          <a:blip r:embed="rId4"/>
          <a:stretch/>
        </p:blipFill>
        <p:spPr>
          <a:xfrm>
            <a:off x="4500720" y="1511280"/>
            <a:ext cx="4063680" cy="4397040"/>
          </a:xfrm>
          <a:prstGeom prst="rect">
            <a:avLst/>
          </a:prstGeom>
          <a:noFill/>
          <a:ln w="0">
            <a:noFill/>
          </a:ln>
        </p:spPr>
      </p:pic>
      <p:pic>
        <p:nvPicPr>
          <p:cNvPr id="155" name="Picture 21" descr=""/>
          <p:cNvPicPr/>
          <p:nvPr/>
        </p:nvPicPr>
        <p:blipFill>
          <a:blip r:embed="rId5"/>
          <a:stretch/>
        </p:blipFill>
        <p:spPr>
          <a:xfrm>
            <a:off x="4500720" y="1511280"/>
            <a:ext cx="4063680" cy="4397040"/>
          </a:xfrm>
          <a:prstGeom prst="rect">
            <a:avLst/>
          </a:prstGeom>
          <a:noFill/>
          <a:ln w="0">
            <a:noFill/>
          </a:ln>
        </p:spPr>
      </p:pic>
      <p:pic>
        <p:nvPicPr>
          <p:cNvPr id="156" name="Picture 34" descr=""/>
          <p:cNvPicPr/>
          <p:nvPr/>
        </p:nvPicPr>
        <p:blipFill>
          <a:blip r:embed="rId6"/>
          <a:stretch/>
        </p:blipFill>
        <p:spPr>
          <a:xfrm>
            <a:off x="4500720" y="1511280"/>
            <a:ext cx="4063680" cy="4397040"/>
          </a:xfrm>
          <a:prstGeom prst="rect">
            <a:avLst/>
          </a:prstGeom>
          <a:noFill/>
          <a:ln w="0">
            <a:noFill/>
          </a:ln>
        </p:spPr>
      </p:pic>
      <p:pic>
        <p:nvPicPr>
          <p:cNvPr id="157" name="Picture 35" descr=""/>
          <p:cNvPicPr/>
          <p:nvPr/>
        </p:nvPicPr>
        <p:blipFill>
          <a:blip r:embed="rId7"/>
          <a:stretch/>
        </p:blipFill>
        <p:spPr>
          <a:xfrm>
            <a:off x="4500720" y="1511280"/>
            <a:ext cx="4063680" cy="4397040"/>
          </a:xfrm>
          <a:prstGeom prst="rect">
            <a:avLst/>
          </a:prstGeom>
          <a:noFill/>
          <a:ln w="0">
            <a:noFill/>
          </a:ln>
        </p:spPr>
      </p:pic>
      <p:pic>
        <p:nvPicPr>
          <p:cNvPr id="158" name="Picture 36" descr=""/>
          <p:cNvPicPr/>
          <p:nvPr/>
        </p:nvPicPr>
        <p:blipFill>
          <a:blip r:embed="rId8"/>
          <a:stretch/>
        </p:blipFill>
        <p:spPr>
          <a:xfrm>
            <a:off x="4500720" y="1511280"/>
            <a:ext cx="4063680" cy="4397040"/>
          </a:xfrm>
          <a:prstGeom prst="rect">
            <a:avLst/>
          </a:prstGeom>
          <a:noFill/>
          <a:ln w="0">
            <a:noFill/>
          </a:ln>
        </p:spPr>
      </p:pic>
      <p:pic>
        <p:nvPicPr>
          <p:cNvPr id="159" name="Picture 37" descr=""/>
          <p:cNvPicPr/>
          <p:nvPr/>
        </p:nvPicPr>
        <p:blipFill>
          <a:blip r:embed="rId9"/>
          <a:stretch/>
        </p:blipFill>
        <p:spPr>
          <a:xfrm>
            <a:off x="4500720" y="1511280"/>
            <a:ext cx="4063680" cy="4397040"/>
          </a:xfrm>
          <a:prstGeom prst="rect">
            <a:avLst/>
          </a:prstGeom>
          <a:noFill/>
          <a:ln w="0">
            <a:noFill/>
          </a:ln>
        </p:spPr>
      </p:pic>
      <p:pic>
        <p:nvPicPr>
          <p:cNvPr id="160" name="Picture 38" descr=""/>
          <p:cNvPicPr/>
          <p:nvPr/>
        </p:nvPicPr>
        <p:blipFill>
          <a:blip r:embed="rId10"/>
          <a:stretch/>
        </p:blipFill>
        <p:spPr>
          <a:xfrm>
            <a:off x="4500720" y="1511280"/>
            <a:ext cx="4063680" cy="4397040"/>
          </a:xfrm>
          <a:prstGeom prst="rect">
            <a:avLst/>
          </a:prstGeom>
          <a:noFill/>
          <a:ln w="0">
            <a:noFill/>
          </a:ln>
        </p:spPr>
      </p:pic>
      <p:pic>
        <p:nvPicPr>
          <p:cNvPr id="161" name="Picture 39" descr=""/>
          <p:cNvPicPr/>
          <p:nvPr/>
        </p:nvPicPr>
        <p:blipFill>
          <a:blip r:embed="rId11"/>
          <a:stretch/>
        </p:blipFill>
        <p:spPr>
          <a:xfrm>
            <a:off x="4500720" y="1511280"/>
            <a:ext cx="4063680" cy="4397040"/>
          </a:xfrm>
          <a:prstGeom prst="rect">
            <a:avLst/>
          </a:prstGeom>
          <a:noFill/>
          <a:ln w="0">
            <a:noFill/>
          </a:ln>
        </p:spPr>
      </p:pic>
      <p:pic>
        <p:nvPicPr>
          <p:cNvPr id="162" name="Picture 40" descr=""/>
          <p:cNvPicPr/>
          <p:nvPr/>
        </p:nvPicPr>
        <p:blipFill>
          <a:blip r:embed="rId12"/>
          <a:stretch/>
        </p:blipFill>
        <p:spPr>
          <a:xfrm>
            <a:off x="4500720" y="1511280"/>
            <a:ext cx="4063680" cy="4397040"/>
          </a:xfrm>
          <a:prstGeom prst="rect">
            <a:avLst/>
          </a:prstGeom>
          <a:noFill/>
          <a:ln w="0">
            <a:noFill/>
          </a:ln>
        </p:spPr>
      </p:pic>
      <p:pic>
        <p:nvPicPr>
          <p:cNvPr id="163" name="Picture 41" descr=""/>
          <p:cNvPicPr/>
          <p:nvPr/>
        </p:nvPicPr>
        <p:blipFill>
          <a:blip r:embed="rId13"/>
          <a:stretch/>
        </p:blipFill>
        <p:spPr>
          <a:xfrm>
            <a:off x="4500720" y="1511280"/>
            <a:ext cx="4063680" cy="4397040"/>
          </a:xfrm>
          <a:prstGeom prst="rect">
            <a:avLst/>
          </a:prstGeom>
          <a:noFill/>
          <a:ln w="0">
            <a:noFill/>
          </a:ln>
        </p:spPr>
      </p:pic>
    </p:spTree>
  </p:cSld>
  <p:transition spd="slow">
    <p:wipe dir="r"/>
  </p:transition>
  <p:timing>
    <p:tnLst>
      <p:par>
        <p:cTn id="403" dur="indefinite" restart="never" nodeType="tmRoot">
          <p:childTnLst>
            <p:seq>
              <p:cTn id="404" dur="indefinite" nodeType="mainSeq">
                <p:childTnLst>
                  <p:par>
                    <p:cTn id="405" nodeType="clickEffect" fill="hold">
                      <p:stCondLst>
                        <p:cond delay="0"/>
                      </p:stCondLst>
                      <p:childTnLst>
                        <p:par>
                          <p:cTn id="406" nodeType="withEffect" fill="hold">
                            <p:stCondLst>
                              <p:cond delay="0"/>
                            </p:stCondLst>
                            <p:childTnLst>
                              <p:par>
                                <p:cTn id="407" nodeType="withEffect" fill="hold" presetClass="entr" presetID="22" presetSubtype="4">
                                  <p:stCondLst>
                                    <p:cond delay="250"/>
                                  </p:stCondLst>
                                  <p:childTnLst>
                                    <p:set>
                                      <p:cBhvr>
                                        <p:cTn id="408" dur="1" fill="hold">
                                          <p:stCondLst>
                                            <p:cond delay="0"/>
                                          </p:stCondLst>
                                        </p:cTn>
                                        <p:tgtEl>
                                          <p:spTgt spid="152"/>
                                        </p:tgtEl>
                                        <p:attrNameLst>
                                          <p:attrName>style.visibility</p:attrName>
                                        </p:attrNameLst>
                                      </p:cBhvr>
                                      <p:to>
                                        <p:strVal val="visible"/>
                                      </p:to>
                                    </p:set>
                                    <p:animEffect filter="wipe(down)" transition="in">
                                      <p:cBhvr additive="repl">
                                        <p:cTn id="409" dur="500"/>
                                        <p:tgtEl>
                                          <p:spTgt spid="152"/>
                                        </p:tgtEl>
                                      </p:cBhvr>
                                    </p:animEffect>
                                  </p:childTnLst>
                                </p:cTn>
                              </p:par>
                            </p:childTnLst>
                          </p:cTn>
                        </p:par>
                        <p:par>
                          <p:cTn id="410" nodeType="afterEffect" fill="hold">
                            <p:stCondLst>
                              <p:cond delay="750"/>
                            </p:stCondLst>
                            <p:childTnLst>
                              <p:par>
                                <p:cTn id="411" nodeType="afterEffect" fill="hold" presetClass="entr" presetID="22" presetSubtype="4">
                                  <p:stCondLst>
                                    <p:cond delay="250"/>
                                  </p:stCondLst>
                                  <p:childTnLst>
                                    <p:set>
                                      <p:cBhvr>
                                        <p:cTn id="412" dur="1" fill="hold">
                                          <p:stCondLst>
                                            <p:cond delay="0"/>
                                          </p:stCondLst>
                                        </p:cTn>
                                        <p:tgtEl>
                                          <p:spTgt spid="153"/>
                                        </p:tgtEl>
                                        <p:attrNameLst>
                                          <p:attrName>style.visibility</p:attrName>
                                        </p:attrNameLst>
                                      </p:cBhvr>
                                      <p:to>
                                        <p:strVal val="visible"/>
                                      </p:to>
                                    </p:set>
                                    <p:animEffect filter="wipe(down)" transition="in">
                                      <p:cBhvr additive="repl">
                                        <p:cTn id="413" dur="500"/>
                                        <p:tgtEl>
                                          <p:spTgt spid="153"/>
                                        </p:tgtEl>
                                      </p:cBhvr>
                                    </p:animEffect>
                                  </p:childTnLst>
                                </p:cTn>
                              </p:par>
                            </p:childTnLst>
                          </p:cTn>
                        </p:par>
                        <p:par>
                          <p:cTn id="414" nodeType="afterEffect" fill="hold">
                            <p:stCondLst>
                              <p:cond delay="1500"/>
                            </p:stCondLst>
                            <p:childTnLst>
                              <p:par>
                                <p:cTn id="415" nodeType="afterEffect" fill="hold" presetClass="entr" presetID="22" presetSubtype="4">
                                  <p:stCondLst>
                                    <p:cond delay="250"/>
                                  </p:stCondLst>
                                  <p:childTnLst>
                                    <p:set>
                                      <p:cBhvr>
                                        <p:cTn id="416" dur="1" fill="hold">
                                          <p:stCondLst>
                                            <p:cond delay="0"/>
                                          </p:stCondLst>
                                        </p:cTn>
                                        <p:tgtEl>
                                          <p:spTgt spid="154"/>
                                        </p:tgtEl>
                                        <p:attrNameLst>
                                          <p:attrName>style.visibility</p:attrName>
                                        </p:attrNameLst>
                                      </p:cBhvr>
                                      <p:to>
                                        <p:strVal val="visible"/>
                                      </p:to>
                                    </p:set>
                                    <p:animEffect filter="wipe(down)" transition="in">
                                      <p:cBhvr additive="repl">
                                        <p:cTn id="417" dur="500"/>
                                        <p:tgtEl>
                                          <p:spTgt spid="154"/>
                                        </p:tgtEl>
                                      </p:cBhvr>
                                    </p:animEffect>
                                  </p:childTnLst>
                                </p:cTn>
                              </p:par>
                            </p:childTnLst>
                          </p:cTn>
                        </p:par>
                        <p:par>
                          <p:cTn id="418" nodeType="afterEffect" fill="hold">
                            <p:stCondLst>
                              <p:cond delay="2250"/>
                            </p:stCondLst>
                            <p:childTnLst>
                              <p:par>
                                <p:cTn id="419" nodeType="afterEffect" fill="hold" presetClass="entr" presetID="22" presetSubtype="4">
                                  <p:stCondLst>
                                    <p:cond delay="250"/>
                                  </p:stCondLst>
                                  <p:childTnLst>
                                    <p:set>
                                      <p:cBhvr>
                                        <p:cTn id="420" dur="1" fill="hold">
                                          <p:stCondLst>
                                            <p:cond delay="0"/>
                                          </p:stCondLst>
                                        </p:cTn>
                                        <p:tgtEl>
                                          <p:spTgt spid="155"/>
                                        </p:tgtEl>
                                        <p:attrNameLst>
                                          <p:attrName>style.visibility</p:attrName>
                                        </p:attrNameLst>
                                      </p:cBhvr>
                                      <p:to>
                                        <p:strVal val="visible"/>
                                      </p:to>
                                    </p:set>
                                    <p:animEffect filter="wipe(down)" transition="in">
                                      <p:cBhvr additive="repl">
                                        <p:cTn id="421" dur="500"/>
                                        <p:tgtEl>
                                          <p:spTgt spid="155"/>
                                        </p:tgtEl>
                                      </p:cBhvr>
                                    </p:animEffect>
                                  </p:childTnLst>
                                </p:cTn>
                              </p:par>
                            </p:childTnLst>
                          </p:cTn>
                        </p:par>
                        <p:par>
                          <p:cTn id="422" nodeType="afterEffect" fill="hold">
                            <p:stCondLst>
                              <p:cond delay="3000"/>
                            </p:stCondLst>
                            <p:childTnLst>
                              <p:par>
                                <p:cTn id="423" nodeType="afterEffect" fill="hold" presetClass="entr" presetID="22" presetSubtype="4">
                                  <p:stCondLst>
                                    <p:cond delay="250"/>
                                  </p:stCondLst>
                                  <p:childTnLst>
                                    <p:set>
                                      <p:cBhvr>
                                        <p:cTn id="424" dur="1" fill="hold">
                                          <p:stCondLst>
                                            <p:cond delay="0"/>
                                          </p:stCondLst>
                                        </p:cTn>
                                        <p:tgtEl>
                                          <p:spTgt spid="156"/>
                                        </p:tgtEl>
                                        <p:attrNameLst>
                                          <p:attrName>style.visibility</p:attrName>
                                        </p:attrNameLst>
                                      </p:cBhvr>
                                      <p:to>
                                        <p:strVal val="visible"/>
                                      </p:to>
                                    </p:set>
                                    <p:animEffect filter="wipe(down)" transition="in">
                                      <p:cBhvr additive="repl">
                                        <p:cTn id="425" dur="500"/>
                                        <p:tgtEl>
                                          <p:spTgt spid="156"/>
                                        </p:tgtEl>
                                      </p:cBhvr>
                                    </p:animEffect>
                                  </p:childTnLst>
                                </p:cTn>
                              </p:par>
                            </p:childTnLst>
                          </p:cTn>
                        </p:par>
                        <p:par>
                          <p:cTn id="426" nodeType="afterEffect" fill="hold">
                            <p:stCondLst>
                              <p:cond delay="3750"/>
                            </p:stCondLst>
                            <p:childTnLst>
                              <p:par>
                                <p:cTn id="427" nodeType="afterEffect" fill="hold" presetClass="entr" presetID="22" presetSubtype="1">
                                  <p:stCondLst>
                                    <p:cond delay="250"/>
                                  </p:stCondLst>
                                  <p:childTnLst>
                                    <p:set>
                                      <p:cBhvr>
                                        <p:cTn id="428" dur="1" fill="hold">
                                          <p:stCondLst>
                                            <p:cond delay="0"/>
                                          </p:stCondLst>
                                        </p:cTn>
                                        <p:tgtEl>
                                          <p:spTgt spid="157"/>
                                        </p:tgtEl>
                                        <p:attrNameLst>
                                          <p:attrName>style.visibility</p:attrName>
                                        </p:attrNameLst>
                                      </p:cBhvr>
                                      <p:to>
                                        <p:strVal val="visible"/>
                                      </p:to>
                                    </p:set>
                                    <p:animEffect filter="wipe(up)" transition="in">
                                      <p:cBhvr additive="repl">
                                        <p:cTn id="429" dur="500"/>
                                        <p:tgtEl>
                                          <p:spTgt spid="157"/>
                                        </p:tgtEl>
                                      </p:cBhvr>
                                    </p:animEffect>
                                  </p:childTnLst>
                                </p:cTn>
                              </p:par>
                            </p:childTnLst>
                          </p:cTn>
                        </p:par>
                        <p:par>
                          <p:cTn id="430" nodeType="afterEffect" fill="hold">
                            <p:stCondLst>
                              <p:cond delay="4500"/>
                            </p:stCondLst>
                            <p:childTnLst>
                              <p:par>
                                <p:cTn id="431" nodeType="afterEffect" fill="hold" presetClass="entr" presetID="22" presetSubtype="1">
                                  <p:stCondLst>
                                    <p:cond delay="250"/>
                                  </p:stCondLst>
                                  <p:childTnLst>
                                    <p:set>
                                      <p:cBhvr>
                                        <p:cTn id="432" dur="1" fill="hold">
                                          <p:stCondLst>
                                            <p:cond delay="0"/>
                                          </p:stCondLst>
                                        </p:cTn>
                                        <p:tgtEl>
                                          <p:spTgt spid="158"/>
                                        </p:tgtEl>
                                        <p:attrNameLst>
                                          <p:attrName>style.visibility</p:attrName>
                                        </p:attrNameLst>
                                      </p:cBhvr>
                                      <p:to>
                                        <p:strVal val="visible"/>
                                      </p:to>
                                    </p:set>
                                    <p:animEffect filter="wipe(up)" transition="in">
                                      <p:cBhvr additive="repl">
                                        <p:cTn id="433" dur="500"/>
                                        <p:tgtEl>
                                          <p:spTgt spid="158"/>
                                        </p:tgtEl>
                                      </p:cBhvr>
                                    </p:animEffect>
                                  </p:childTnLst>
                                </p:cTn>
                              </p:par>
                            </p:childTnLst>
                          </p:cTn>
                        </p:par>
                        <p:par>
                          <p:cTn id="434" nodeType="afterEffect" fill="hold">
                            <p:stCondLst>
                              <p:cond delay="5250"/>
                            </p:stCondLst>
                            <p:childTnLst>
                              <p:par>
                                <p:cTn id="435" nodeType="afterEffect" fill="hold" presetClass="entr" presetID="22" presetSubtype="1">
                                  <p:stCondLst>
                                    <p:cond delay="250"/>
                                  </p:stCondLst>
                                  <p:childTnLst>
                                    <p:set>
                                      <p:cBhvr>
                                        <p:cTn id="436" dur="1" fill="hold">
                                          <p:stCondLst>
                                            <p:cond delay="0"/>
                                          </p:stCondLst>
                                        </p:cTn>
                                        <p:tgtEl>
                                          <p:spTgt spid="159"/>
                                        </p:tgtEl>
                                        <p:attrNameLst>
                                          <p:attrName>style.visibility</p:attrName>
                                        </p:attrNameLst>
                                      </p:cBhvr>
                                      <p:to>
                                        <p:strVal val="visible"/>
                                      </p:to>
                                    </p:set>
                                    <p:animEffect filter="wipe(up)" transition="in">
                                      <p:cBhvr additive="repl">
                                        <p:cTn id="437" dur="500"/>
                                        <p:tgtEl>
                                          <p:spTgt spid="159"/>
                                        </p:tgtEl>
                                      </p:cBhvr>
                                    </p:animEffect>
                                  </p:childTnLst>
                                </p:cTn>
                              </p:par>
                            </p:childTnLst>
                          </p:cTn>
                        </p:par>
                        <p:par>
                          <p:cTn id="438" nodeType="afterEffect" fill="hold">
                            <p:stCondLst>
                              <p:cond delay="6000"/>
                            </p:stCondLst>
                            <p:childTnLst>
                              <p:par>
                                <p:cTn id="439" nodeType="afterEffect" fill="hold" presetClass="entr" presetID="22" presetSubtype="1">
                                  <p:stCondLst>
                                    <p:cond delay="250"/>
                                  </p:stCondLst>
                                  <p:childTnLst>
                                    <p:set>
                                      <p:cBhvr>
                                        <p:cTn id="440" dur="1" fill="hold">
                                          <p:stCondLst>
                                            <p:cond delay="0"/>
                                          </p:stCondLst>
                                        </p:cTn>
                                        <p:tgtEl>
                                          <p:spTgt spid="160"/>
                                        </p:tgtEl>
                                        <p:attrNameLst>
                                          <p:attrName>style.visibility</p:attrName>
                                        </p:attrNameLst>
                                      </p:cBhvr>
                                      <p:to>
                                        <p:strVal val="visible"/>
                                      </p:to>
                                    </p:set>
                                    <p:animEffect filter="wipe(up)" transition="in">
                                      <p:cBhvr additive="repl">
                                        <p:cTn id="441" dur="500"/>
                                        <p:tgtEl>
                                          <p:spTgt spid="160"/>
                                        </p:tgtEl>
                                      </p:cBhvr>
                                    </p:animEffect>
                                  </p:childTnLst>
                                </p:cTn>
                              </p:par>
                            </p:childTnLst>
                          </p:cTn>
                        </p:par>
                        <p:par>
                          <p:cTn id="442" nodeType="afterEffect" fill="hold">
                            <p:stCondLst>
                              <p:cond delay="6750"/>
                            </p:stCondLst>
                            <p:childTnLst>
                              <p:par>
                                <p:cTn id="443" nodeType="afterEffect" fill="hold" presetClass="entr" presetID="22" presetSubtype="1">
                                  <p:stCondLst>
                                    <p:cond delay="250"/>
                                  </p:stCondLst>
                                  <p:childTnLst>
                                    <p:set>
                                      <p:cBhvr>
                                        <p:cTn id="444" dur="1" fill="hold">
                                          <p:stCondLst>
                                            <p:cond delay="0"/>
                                          </p:stCondLst>
                                        </p:cTn>
                                        <p:tgtEl>
                                          <p:spTgt spid="161"/>
                                        </p:tgtEl>
                                        <p:attrNameLst>
                                          <p:attrName>style.visibility</p:attrName>
                                        </p:attrNameLst>
                                      </p:cBhvr>
                                      <p:to>
                                        <p:strVal val="visible"/>
                                      </p:to>
                                    </p:set>
                                    <p:animEffect filter="wipe(up)" transition="in">
                                      <p:cBhvr additive="repl">
                                        <p:cTn id="445" dur="500"/>
                                        <p:tgtEl>
                                          <p:spTgt spid="161"/>
                                        </p:tgtEl>
                                      </p:cBhvr>
                                    </p:animEffect>
                                  </p:childTnLst>
                                </p:cTn>
                              </p:par>
                            </p:childTnLst>
                          </p:cTn>
                        </p:par>
                        <p:par>
                          <p:cTn id="446" nodeType="afterEffect" fill="hold">
                            <p:stCondLst>
                              <p:cond delay="7500"/>
                            </p:stCondLst>
                            <p:childTnLst>
                              <p:par>
                                <p:cTn id="447" nodeType="afterEffect" fill="hold" presetClass="entr" presetID="22" presetSubtype="8">
                                  <p:stCondLst>
                                    <p:cond delay="250"/>
                                  </p:stCondLst>
                                  <p:childTnLst>
                                    <p:set>
                                      <p:cBhvr>
                                        <p:cTn id="448" dur="1" fill="hold">
                                          <p:stCondLst>
                                            <p:cond delay="0"/>
                                          </p:stCondLst>
                                        </p:cTn>
                                        <p:tgtEl>
                                          <p:spTgt spid="162"/>
                                        </p:tgtEl>
                                        <p:attrNameLst>
                                          <p:attrName>style.visibility</p:attrName>
                                        </p:attrNameLst>
                                      </p:cBhvr>
                                      <p:to>
                                        <p:strVal val="visible"/>
                                      </p:to>
                                    </p:set>
                                    <p:animEffect filter="wipe(left)" transition="in">
                                      <p:cBhvr additive="repl">
                                        <p:cTn id="449" dur="1000"/>
                                        <p:tgtEl>
                                          <p:spTgt spid="162"/>
                                        </p:tgtEl>
                                      </p:cBhvr>
                                    </p:animEffect>
                                  </p:childTnLst>
                                </p:cTn>
                              </p:par>
                            </p:childTnLst>
                          </p:cTn>
                        </p:par>
                      </p:childTnLst>
                    </p:cTn>
                  </p:par>
                  <p:par>
                    <p:cTn id="450" nodeType="clickEffect" fill="hold">
                      <p:stCondLst>
                        <p:cond delay="indefinite"/>
                      </p:stCondLst>
                      <p:childTnLst>
                        <p:par>
                          <p:cTn id="451" nodeType="withEffect" fill="hold">
                            <p:stCondLst>
                              <p:cond delay="0"/>
                            </p:stCondLst>
                            <p:childTnLst>
                              <p:par>
                                <p:cTn id="452" nodeType="clickEffect" fill="hold" presetClass="entr" presetID="22" presetSubtype="8">
                                  <p:stCondLst>
                                    <p:cond delay="0"/>
                                  </p:stCondLst>
                                  <p:childTnLst>
                                    <p:set>
                                      <p:cBhvr>
                                        <p:cTn id="453" dur="1" fill="hold">
                                          <p:stCondLst>
                                            <p:cond delay="0"/>
                                          </p:stCondLst>
                                        </p:cTn>
                                        <p:tgtEl>
                                          <p:spTgt spid="150">
                                            <p:txEl>
                                              <p:pRg st="1" end="1"/>
                                            </p:txEl>
                                          </p:spTgt>
                                        </p:tgtEl>
                                        <p:attrNameLst>
                                          <p:attrName>style.visibility</p:attrName>
                                        </p:attrNameLst>
                                      </p:cBhvr>
                                      <p:to>
                                        <p:strVal val="visible"/>
                                      </p:to>
                                    </p:set>
                                    <p:animEffect filter="wipe(left)" transition="in">
                                      <p:cBhvr additive="repl">
                                        <p:cTn id="454" dur="500"/>
                                        <p:tgtEl>
                                          <p:spTgt spid="150">
                                            <p:txEl>
                                              <p:pRg st="1" end="1"/>
                                            </p:txEl>
                                          </p:spTgt>
                                        </p:tgtEl>
                                      </p:cBhvr>
                                    </p:animEffect>
                                  </p:childTnLst>
                                </p:cTn>
                              </p:par>
                              <p:par>
                                <p:cTn id="455" nodeType="withEffect" fill="hold" presetClass="entr" presetID="10">
                                  <p:stCondLst>
                                    <p:cond delay="0"/>
                                  </p:stCondLst>
                                  <p:childTnLst>
                                    <p:set>
                                      <p:cBhvr>
                                        <p:cTn id="456" dur="1" fill="hold">
                                          <p:stCondLst>
                                            <p:cond delay="0"/>
                                          </p:stCondLst>
                                        </p:cTn>
                                        <p:tgtEl>
                                          <p:spTgt spid="163"/>
                                        </p:tgtEl>
                                        <p:attrNameLst>
                                          <p:attrName>style.visibility</p:attrName>
                                        </p:attrNameLst>
                                      </p:cBhvr>
                                      <p:to>
                                        <p:strVal val="visible"/>
                                      </p:to>
                                    </p:set>
                                    <p:animEffect filter="fade" transition="in">
                                      <p:cBhvr additive="repl">
                                        <p:cTn id="457" dur="500"/>
                                        <p:tgtEl>
                                          <p:spTgt spid="163"/>
                                        </p:tgtEl>
                                      </p:cBhvr>
                                    </p:animEffect>
                                  </p:childTnLst>
                                </p:cTn>
                              </p:par>
                            </p:childTnLst>
                          </p:cTn>
                        </p:par>
                      </p:childTnLst>
                    </p:cTn>
                  </p:par>
                  <p:par>
                    <p:cTn id="458" nodeType="clickEffect" fill="hold">
                      <p:stCondLst>
                        <p:cond delay="indefinite"/>
                      </p:stCondLst>
                      <p:childTnLst>
                        <p:par>
                          <p:cTn id="459" nodeType="withEffect" fill="hold">
                            <p:stCondLst>
                              <p:cond delay="0"/>
                            </p:stCondLst>
                            <p:childTnLst>
                              <p:par>
                                <p:cTn id="460" nodeType="clickEffect" fill="hold" presetClass="entr" presetID="22" presetSubtype="8">
                                  <p:stCondLst>
                                    <p:cond delay="0"/>
                                  </p:stCondLst>
                                  <p:childTnLst>
                                    <p:set>
                                      <p:cBhvr>
                                        <p:cTn id="461" dur="1" fill="hold">
                                          <p:stCondLst>
                                            <p:cond delay="0"/>
                                          </p:stCondLst>
                                        </p:cTn>
                                        <p:tgtEl>
                                          <p:spTgt spid="150">
                                            <p:txEl>
                                              <p:pRg st="2" end="2"/>
                                            </p:txEl>
                                          </p:spTgt>
                                        </p:tgtEl>
                                        <p:attrNameLst>
                                          <p:attrName>style.visibility</p:attrName>
                                        </p:attrNameLst>
                                      </p:cBhvr>
                                      <p:to>
                                        <p:strVal val="visible"/>
                                      </p:to>
                                    </p:set>
                                    <p:animEffect filter="wipe(left)" transition="in">
                                      <p:cBhvr additive="repl">
                                        <p:cTn id="462" dur="500"/>
                                        <p:tgtEl>
                                          <p:spTgt spid="150">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164" name="Picture 17" descr=""/>
          <p:cNvPicPr/>
          <p:nvPr/>
        </p:nvPicPr>
        <p:blipFill>
          <a:blip r:embed="rId1"/>
          <a:stretch/>
        </p:blipFill>
        <p:spPr>
          <a:xfrm>
            <a:off x="2052720" y="792000"/>
            <a:ext cx="4781160" cy="5171760"/>
          </a:xfrm>
          <a:prstGeom prst="rect">
            <a:avLst/>
          </a:prstGeom>
          <a:noFill/>
          <a:ln w="0">
            <a:noFill/>
          </a:ln>
        </p:spPr>
      </p:pic>
      <p:pic>
        <p:nvPicPr>
          <p:cNvPr id="165" name="Picture 18" descr=""/>
          <p:cNvPicPr/>
          <p:nvPr/>
        </p:nvPicPr>
        <p:blipFill>
          <a:blip r:embed="rId2"/>
          <a:stretch/>
        </p:blipFill>
        <p:spPr>
          <a:xfrm>
            <a:off x="2052720" y="792000"/>
            <a:ext cx="4781160" cy="5171760"/>
          </a:xfrm>
          <a:prstGeom prst="rect">
            <a:avLst/>
          </a:prstGeom>
          <a:noFill/>
          <a:ln w="0">
            <a:noFill/>
          </a:ln>
        </p:spPr>
      </p:pic>
      <p:pic>
        <p:nvPicPr>
          <p:cNvPr id="166" name="Picture 19" descr=""/>
          <p:cNvPicPr/>
          <p:nvPr/>
        </p:nvPicPr>
        <p:blipFill>
          <a:blip r:embed="rId3"/>
          <a:stretch/>
        </p:blipFill>
        <p:spPr>
          <a:xfrm>
            <a:off x="2052720" y="792000"/>
            <a:ext cx="4781160" cy="5171760"/>
          </a:xfrm>
          <a:prstGeom prst="rect">
            <a:avLst/>
          </a:prstGeom>
          <a:noFill/>
          <a:ln w="0">
            <a:noFill/>
          </a:ln>
        </p:spPr>
      </p:pic>
      <p:pic>
        <p:nvPicPr>
          <p:cNvPr id="167" name="Picture 20" descr=""/>
          <p:cNvPicPr/>
          <p:nvPr/>
        </p:nvPicPr>
        <p:blipFill>
          <a:blip r:embed="rId4"/>
          <a:stretch/>
        </p:blipFill>
        <p:spPr>
          <a:xfrm>
            <a:off x="2052720" y="792000"/>
            <a:ext cx="4781160" cy="5171760"/>
          </a:xfrm>
          <a:prstGeom prst="rect">
            <a:avLst/>
          </a:prstGeom>
          <a:noFill/>
          <a:ln w="0">
            <a:noFill/>
          </a:ln>
        </p:spPr>
      </p:pic>
      <p:pic>
        <p:nvPicPr>
          <p:cNvPr id="168" name="Picture 21" descr=""/>
          <p:cNvPicPr/>
          <p:nvPr/>
        </p:nvPicPr>
        <p:blipFill>
          <a:blip r:embed="rId5"/>
          <a:stretch/>
        </p:blipFill>
        <p:spPr>
          <a:xfrm>
            <a:off x="2052720" y="792000"/>
            <a:ext cx="4781160" cy="5171760"/>
          </a:xfrm>
          <a:prstGeom prst="rect">
            <a:avLst/>
          </a:prstGeom>
          <a:noFill/>
          <a:ln w="0">
            <a:noFill/>
          </a:ln>
        </p:spPr>
      </p:pic>
      <p:pic>
        <p:nvPicPr>
          <p:cNvPr id="169" name="Picture 22" descr=""/>
          <p:cNvPicPr/>
          <p:nvPr/>
        </p:nvPicPr>
        <p:blipFill>
          <a:blip r:embed="rId6"/>
          <a:stretch/>
        </p:blipFill>
        <p:spPr>
          <a:xfrm>
            <a:off x="2052720" y="792000"/>
            <a:ext cx="4781160" cy="5171760"/>
          </a:xfrm>
          <a:prstGeom prst="rect">
            <a:avLst/>
          </a:prstGeom>
          <a:noFill/>
          <a:ln w="0">
            <a:noFill/>
          </a:ln>
        </p:spPr>
      </p:pic>
      <p:pic>
        <p:nvPicPr>
          <p:cNvPr id="170" name="Picture 23" descr=""/>
          <p:cNvPicPr/>
          <p:nvPr/>
        </p:nvPicPr>
        <p:blipFill>
          <a:blip r:embed="rId7"/>
          <a:stretch/>
        </p:blipFill>
        <p:spPr>
          <a:xfrm>
            <a:off x="2052720" y="792000"/>
            <a:ext cx="4781160" cy="5171760"/>
          </a:xfrm>
          <a:prstGeom prst="rect">
            <a:avLst/>
          </a:prstGeom>
          <a:noFill/>
          <a:ln w="0">
            <a:noFill/>
          </a:ln>
        </p:spPr>
      </p:pic>
      <p:pic>
        <p:nvPicPr>
          <p:cNvPr id="171" name="Picture 24" descr=""/>
          <p:cNvPicPr/>
          <p:nvPr/>
        </p:nvPicPr>
        <p:blipFill>
          <a:blip r:embed="rId8"/>
          <a:stretch/>
        </p:blipFill>
        <p:spPr>
          <a:xfrm>
            <a:off x="2052720" y="792000"/>
            <a:ext cx="4781160" cy="5171760"/>
          </a:xfrm>
          <a:prstGeom prst="rect">
            <a:avLst/>
          </a:prstGeom>
          <a:noFill/>
          <a:ln w="0">
            <a:noFill/>
          </a:ln>
        </p:spPr>
      </p:pic>
      <p:pic>
        <p:nvPicPr>
          <p:cNvPr id="172" name="Picture 25" descr=""/>
          <p:cNvPicPr/>
          <p:nvPr/>
        </p:nvPicPr>
        <p:blipFill>
          <a:blip r:embed="rId9"/>
          <a:stretch/>
        </p:blipFill>
        <p:spPr>
          <a:xfrm>
            <a:off x="2052720" y="792000"/>
            <a:ext cx="4781160" cy="5171760"/>
          </a:xfrm>
          <a:prstGeom prst="rect">
            <a:avLst/>
          </a:prstGeom>
          <a:noFill/>
          <a:ln w="0">
            <a:noFill/>
          </a:ln>
        </p:spPr>
      </p:pic>
      <p:pic>
        <p:nvPicPr>
          <p:cNvPr id="173" name="Picture 26" descr=""/>
          <p:cNvPicPr/>
          <p:nvPr/>
        </p:nvPicPr>
        <p:blipFill>
          <a:blip r:embed="rId10"/>
          <a:stretch/>
        </p:blipFill>
        <p:spPr>
          <a:xfrm>
            <a:off x="2052720" y="792000"/>
            <a:ext cx="4781160" cy="5171760"/>
          </a:xfrm>
          <a:prstGeom prst="rect">
            <a:avLst/>
          </a:prstGeom>
          <a:noFill/>
          <a:ln w="0">
            <a:noFill/>
          </a:ln>
        </p:spPr>
      </p:pic>
      <p:pic>
        <p:nvPicPr>
          <p:cNvPr id="174" name="Picture 27" descr=""/>
          <p:cNvPicPr/>
          <p:nvPr/>
        </p:nvPicPr>
        <p:blipFill>
          <a:blip r:embed="rId11"/>
          <a:stretch/>
        </p:blipFill>
        <p:spPr>
          <a:xfrm>
            <a:off x="2052720" y="792000"/>
            <a:ext cx="4781160" cy="5171760"/>
          </a:xfrm>
          <a:prstGeom prst="rect">
            <a:avLst/>
          </a:prstGeom>
          <a:noFill/>
          <a:ln w="0">
            <a:noFill/>
          </a:ln>
        </p:spPr>
      </p:pic>
      <p:pic>
        <p:nvPicPr>
          <p:cNvPr id="175" name="Picture 28" descr=""/>
          <p:cNvPicPr/>
          <p:nvPr/>
        </p:nvPicPr>
        <p:blipFill>
          <a:blip r:embed="rId12"/>
          <a:stretch/>
        </p:blipFill>
        <p:spPr>
          <a:xfrm>
            <a:off x="2052720" y="792000"/>
            <a:ext cx="4781160" cy="5171760"/>
          </a:xfrm>
          <a:prstGeom prst="rect">
            <a:avLst/>
          </a:prstGeom>
          <a:noFill/>
          <a:ln w="0">
            <a:noFill/>
          </a:ln>
        </p:spPr>
      </p:pic>
      <p:pic>
        <p:nvPicPr>
          <p:cNvPr id="176" name="Picture 29" descr=""/>
          <p:cNvPicPr/>
          <p:nvPr/>
        </p:nvPicPr>
        <p:blipFill>
          <a:blip r:embed="rId13"/>
          <a:stretch/>
        </p:blipFill>
        <p:spPr>
          <a:xfrm>
            <a:off x="2052720" y="792000"/>
            <a:ext cx="4781160" cy="5171760"/>
          </a:xfrm>
          <a:prstGeom prst="rect">
            <a:avLst/>
          </a:prstGeom>
          <a:noFill/>
          <a:ln w="0">
            <a:noFill/>
          </a:ln>
        </p:spPr>
      </p:pic>
      <p:pic>
        <p:nvPicPr>
          <p:cNvPr id="177" name="Picture 30" descr=""/>
          <p:cNvPicPr/>
          <p:nvPr/>
        </p:nvPicPr>
        <p:blipFill>
          <a:blip r:embed="rId14"/>
          <a:stretch/>
        </p:blipFill>
        <p:spPr>
          <a:xfrm>
            <a:off x="2052720" y="792000"/>
            <a:ext cx="4781160" cy="5171760"/>
          </a:xfrm>
          <a:prstGeom prst="rect">
            <a:avLst/>
          </a:prstGeom>
          <a:noFill/>
          <a:ln w="0">
            <a:noFill/>
          </a:ln>
        </p:spPr>
      </p:pic>
      <p:pic>
        <p:nvPicPr>
          <p:cNvPr id="178" name="Picture 31" descr=""/>
          <p:cNvPicPr/>
          <p:nvPr/>
        </p:nvPicPr>
        <p:blipFill>
          <a:blip r:embed="rId15"/>
          <a:stretch/>
        </p:blipFill>
        <p:spPr>
          <a:xfrm>
            <a:off x="2052720" y="792000"/>
            <a:ext cx="4781160" cy="5171760"/>
          </a:xfrm>
          <a:prstGeom prst="rect">
            <a:avLst/>
          </a:prstGeom>
          <a:noFill/>
          <a:ln w="0">
            <a:noFill/>
          </a:ln>
        </p:spPr>
      </p:pic>
      <p:pic>
        <p:nvPicPr>
          <p:cNvPr id="179" name="Picture 32" descr=""/>
          <p:cNvPicPr/>
          <p:nvPr/>
        </p:nvPicPr>
        <p:blipFill>
          <a:blip r:embed="rId16"/>
          <a:stretch/>
        </p:blipFill>
        <p:spPr>
          <a:xfrm>
            <a:off x="2052720" y="792000"/>
            <a:ext cx="4781160" cy="5171760"/>
          </a:xfrm>
          <a:prstGeom prst="rect">
            <a:avLst/>
          </a:prstGeom>
          <a:noFill/>
          <a:ln w="0">
            <a:noFill/>
          </a:ln>
        </p:spPr>
      </p:pic>
    </p:spTree>
  </p:cSld>
  <p:transition spd="slow">
    <p:wipe dir="r"/>
  </p:transition>
  <p:timing>
    <p:tnLst>
      <p:par>
        <p:cTn id="463" dur="indefinite" restart="never" nodeType="tmRoot">
          <p:childTnLst>
            <p:seq>
              <p:cTn id="464" dur="indefinite" nodeType="mainSeq">
                <p:childTnLst>
                  <p:par>
                    <p:cTn id="465" nodeType="clickEffect" fill="hold">
                      <p:stCondLst>
                        <p:cond delay="indefinite"/>
                      </p:stCondLst>
                      <p:childTnLst>
                        <p:par>
                          <p:cTn id="466" nodeType="withEffect" fill="hold">
                            <p:stCondLst>
                              <p:cond delay="0"/>
                            </p:stCondLst>
                            <p:childTnLst>
                              <p:par>
                                <p:cTn id="467" nodeType="clickEffect" fill="hold" presetClass="entr" presetID="22" presetSubtype="4">
                                  <p:stCondLst>
                                    <p:cond delay="0"/>
                                  </p:stCondLst>
                                  <p:childTnLst>
                                    <p:set>
                                      <p:cBhvr>
                                        <p:cTn id="468" dur="1" fill="hold">
                                          <p:stCondLst>
                                            <p:cond delay="0"/>
                                          </p:stCondLst>
                                        </p:cTn>
                                        <p:tgtEl>
                                          <p:spTgt spid="165"/>
                                        </p:tgtEl>
                                        <p:attrNameLst>
                                          <p:attrName>style.visibility</p:attrName>
                                        </p:attrNameLst>
                                      </p:cBhvr>
                                      <p:to>
                                        <p:strVal val="visible"/>
                                      </p:to>
                                    </p:set>
                                    <p:animEffect filter="wipe(down)" transition="in">
                                      <p:cBhvr additive="repl">
                                        <p:cTn id="469" dur="500"/>
                                        <p:tgtEl>
                                          <p:spTgt spid="165"/>
                                        </p:tgtEl>
                                      </p:cBhvr>
                                    </p:animEffect>
                                  </p:childTnLst>
                                </p:cTn>
                              </p:par>
                            </p:childTnLst>
                          </p:cTn>
                        </p:par>
                        <p:par>
                          <p:cTn id="470" nodeType="afterEffect" fill="hold">
                            <p:stCondLst>
                              <p:cond delay="500"/>
                            </p:stCondLst>
                            <p:childTnLst>
                              <p:par>
                                <p:cTn id="471" nodeType="afterEffect" fill="hold" presetClass="entr" presetID="22" presetSubtype="4">
                                  <p:stCondLst>
                                    <p:cond delay="0"/>
                                  </p:stCondLst>
                                  <p:childTnLst>
                                    <p:set>
                                      <p:cBhvr>
                                        <p:cTn id="472" dur="1" fill="hold">
                                          <p:stCondLst>
                                            <p:cond delay="0"/>
                                          </p:stCondLst>
                                        </p:cTn>
                                        <p:tgtEl>
                                          <p:spTgt spid="166"/>
                                        </p:tgtEl>
                                        <p:attrNameLst>
                                          <p:attrName>style.visibility</p:attrName>
                                        </p:attrNameLst>
                                      </p:cBhvr>
                                      <p:to>
                                        <p:strVal val="visible"/>
                                      </p:to>
                                    </p:set>
                                    <p:animEffect filter="wipe(down)" transition="in">
                                      <p:cBhvr additive="repl">
                                        <p:cTn id="473" dur="500"/>
                                        <p:tgtEl>
                                          <p:spTgt spid="166"/>
                                        </p:tgtEl>
                                      </p:cBhvr>
                                    </p:animEffect>
                                  </p:childTnLst>
                                </p:cTn>
                              </p:par>
                            </p:childTnLst>
                          </p:cTn>
                        </p:par>
                        <p:par>
                          <p:cTn id="474" nodeType="afterEffect" fill="hold">
                            <p:stCondLst>
                              <p:cond delay="1000"/>
                            </p:stCondLst>
                            <p:childTnLst>
                              <p:par>
                                <p:cTn id="475" nodeType="afterEffect" fill="hold" presetClass="entr" presetID="22" presetSubtype="4">
                                  <p:stCondLst>
                                    <p:cond delay="0"/>
                                  </p:stCondLst>
                                  <p:childTnLst>
                                    <p:set>
                                      <p:cBhvr>
                                        <p:cTn id="476" dur="1" fill="hold">
                                          <p:stCondLst>
                                            <p:cond delay="0"/>
                                          </p:stCondLst>
                                        </p:cTn>
                                        <p:tgtEl>
                                          <p:spTgt spid="167"/>
                                        </p:tgtEl>
                                        <p:attrNameLst>
                                          <p:attrName>style.visibility</p:attrName>
                                        </p:attrNameLst>
                                      </p:cBhvr>
                                      <p:to>
                                        <p:strVal val="visible"/>
                                      </p:to>
                                    </p:set>
                                    <p:animEffect filter="wipe(down)" transition="in">
                                      <p:cBhvr additive="repl">
                                        <p:cTn id="477" dur="500"/>
                                        <p:tgtEl>
                                          <p:spTgt spid="167"/>
                                        </p:tgtEl>
                                      </p:cBhvr>
                                    </p:animEffect>
                                  </p:childTnLst>
                                </p:cTn>
                              </p:par>
                            </p:childTnLst>
                          </p:cTn>
                        </p:par>
                        <p:par>
                          <p:cTn id="478" nodeType="afterEffect" fill="hold">
                            <p:stCondLst>
                              <p:cond delay="1500"/>
                            </p:stCondLst>
                            <p:childTnLst>
                              <p:par>
                                <p:cTn id="479" nodeType="afterEffect" fill="hold" presetClass="entr" presetID="22" presetSubtype="4">
                                  <p:stCondLst>
                                    <p:cond delay="0"/>
                                  </p:stCondLst>
                                  <p:childTnLst>
                                    <p:set>
                                      <p:cBhvr>
                                        <p:cTn id="480" dur="1" fill="hold">
                                          <p:stCondLst>
                                            <p:cond delay="0"/>
                                          </p:stCondLst>
                                        </p:cTn>
                                        <p:tgtEl>
                                          <p:spTgt spid="168"/>
                                        </p:tgtEl>
                                        <p:attrNameLst>
                                          <p:attrName>style.visibility</p:attrName>
                                        </p:attrNameLst>
                                      </p:cBhvr>
                                      <p:to>
                                        <p:strVal val="visible"/>
                                      </p:to>
                                    </p:set>
                                    <p:animEffect filter="wipe(down)" transition="in">
                                      <p:cBhvr additive="repl">
                                        <p:cTn id="481" dur="500"/>
                                        <p:tgtEl>
                                          <p:spTgt spid="168"/>
                                        </p:tgtEl>
                                      </p:cBhvr>
                                    </p:animEffect>
                                  </p:childTnLst>
                                </p:cTn>
                              </p:par>
                            </p:childTnLst>
                          </p:cTn>
                        </p:par>
                        <p:par>
                          <p:cTn id="482" nodeType="afterEffect" fill="hold">
                            <p:stCondLst>
                              <p:cond delay="2000"/>
                            </p:stCondLst>
                            <p:childTnLst>
                              <p:par>
                                <p:cTn id="483" nodeType="afterEffect" fill="hold" presetClass="entr" presetID="22" presetSubtype="4">
                                  <p:stCondLst>
                                    <p:cond delay="0"/>
                                  </p:stCondLst>
                                  <p:childTnLst>
                                    <p:set>
                                      <p:cBhvr>
                                        <p:cTn id="484" dur="1" fill="hold">
                                          <p:stCondLst>
                                            <p:cond delay="0"/>
                                          </p:stCondLst>
                                        </p:cTn>
                                        <p:tgtEl>
                                          <p:spTgt spid="169"/>
                                        </p:tgtEl>
                                        <p:attrNameLst>
                                          <p:attrName>style.visibility</p:attrName>
                                        </p:attrNameLst>
                                      </p:cBhvr>
                                      <p:to>
                                        <p:strVal val="visible"/>
                                      </p:to>
                                    </p:set>
                                    <p:animEffect filter="wipe(down)" transition="in">
                                      <p:cBhvr additive="repl">
                                        <p:cTn id="485" dur="500"/>
                                        <p:tgtEl>
                                          <p:spTgt spid="169"/>
                                        </p:tgtEl>
                                      </p:cBhvr>
                                    </p:animEffect>
                                  </p:childTnLst>
                                </p:cTn>
                              </p:par>
                            </p:childTnLst>
                          </p:cTn>
                        </p:par>
                      </p:childTnLst>
                    </p:cTn>
                  </p:par>
                  <p:par>
                    <p:cTn id="486" nodeType="clickEffect" fill="hold">
                      <p:stCondLst>
                        <p:cond delay="indefinite"/>
                      </p:stCondLst>
                      <p:childTnLst>
                        <p:par>
                          <p:cTn id="487" nodeType="withEffect" fill="hold">
                            <p:stCondLst>
                              <p:cond delay="0"/>
                            </p:stCondLst>
                            <p:childTnLst>
                              <p:par>
                                <p:cTn id="488" nodeType="clickEffect" fill="hold" presetClass="entr" presetID="22" presetSubtype="1">
                                  <p:stCondLst>
                                    <p:cond delay="0"/>
                                  </p:stCondLst>
                                  <p:childTnLst>
                                    <p:set>
                                      <p:cBhvr>
                                        <p:cTn id="489" dur="1" fill="hold">
                                          <p:stCondLst>
                                            <p:cond delay="0"/>
                                          </p:stCondLst>
                                        </p:cTn>
                                        <p:tgtEl>
                                          <p:spTgt spid="170"/>
                                        </p:tgtEl>
                                        <p:attrNameLst>
                                          <p:attrName>style.visibility</p:attrName>
                                        </p:attrNameLst>
                                      </p:cBhvr>
                                      <p:to>
                                        <p:strVal val="visible"/>
                                      </p:to>
                                    </p:set>
                                    <p:animEffect filter="wipe(up)" transition="in">
                                      <p:cBhvr additive="repl">
                                        <p:cTn id="490" dur="500"/>
                                        <p:tgtEl>
                                          <p:spTgt spid="170"/>
                                        </p:tgtEl>
                                      </p:cBhvr>
                                    </p:animEffect>
                                  </p:childTnLst>
                                </p:cTn>
                              </p:par>
                            </p:childTnLst>
                          </p:cTn>
                        </p:par>
                        <p:par>
                          <p:cTn id="491" nodeType="afterEffect" fill="hold">
                            <p:stCondLst>
                              <p:cond delay="500"/>
                            </p:stCondLst>
                            <p:childTnLst>
                              <p:par>
                                <p:cTn id="492" nodeType="afterEffect" fill="hold" presetClass="entr" presetID="22" presetSubtype="1">
                                  <p:stCondLst>
                                    <p:cond delay="0"/>
                                  </p:stCondLst>
                                  <p:childTnLst>
                                    <p:set>
                                      <p:cBhvr>
                                        <p:cTn id="493" dur="1" fill="hold">
                                          <p:stCondLst>
                                            <p:cond delay="0"/>
                                          </p:stCondLst>
                                        </p:cTn>
                                        <p:tgtEl>
                                          <p:spTgt spid="171"/>
                                        </p:tgtEl>
                                        <p:attrNameLst>
                                          <p:attrName>style.visibility</p:attrName>
                                        </p:attrNameLst>
                                      </p:cBhvr>
                                      <p:to>
                                        <p:strVal val="visible"/>
                                      </p:to>
                                    </p:set>
                                    <p:animEffect filter="wipe(up)" transition="in">
                                      <p:cBhvr additive="repl">
                                        <p:cTn id="494" dur="500"/>
                                        <p:tgtEl>
                                          <p:spTgt spid="171"/>
                                        </p:tgtEl>
                                      </p:cBhvr>
                                    </p:animEffect>
                                  </p:childTnLst>
                                </p:cTn>
                              </p:par>
                            </p:childTnLst>
                          </p:cTn>
                        </p:par>
                        <p:par>
                          <p:cTn id="495" nodeType="afterEffect" fill="hold">
                            <p:stCondLst>
                              <p:cond delay="1000"/>
                            </p:stCondLst>
                            <p:childTnLst>
                              <p:par>
                                <p:cTn id="496" nodeType="afterEffect" fill="hold" presetClass="entr" presetID="22" presetSubtype="1">
                                  <p:stCondLst>
                                    <p:cond delay="0"/>
                                  </p:stCondLst>
                                  <p:childTnLst>
                                    <p:set>
                                      <p:cBhvr>
                                        <p:cTn id="497" dur="1" fill="hold">
                                          <p:stCondLst>
                                            <p:cond delay="0"/>
                                          </p:stCondLst>
                                        </p:cTn>
                                        <p:tgtEl>
                                          <p:spTgt spid="172"/>
                                        </p:tgtEl>
                                        <p:attrNameLst>
                                          <p:attrName>style.visibility</p:attrName>
                                        </p:attrNameLst>
                                      </p:cBhvr>
                                      <p:to>
                                        <p:strVal val="visible"/>
                                      </p:to>
                                    </p:set>
                                    <p:animEffect filter="wipe(up)" transition="in">
                                      <p:cBhvr additive="repl">
                                        <p:cTn id="498" dur="500"/>
                                        <p:tgtEl>
                                          <p:spTgt spid="172"/>
                                        </p:tgtEl>
                                      </p:cBhvr>
                                    </p:animEffect>
                                  </p:childTnLst>
                                </p:cTn>
                              </p:par>
                            </p:childTnLst>
                          </p:cTn>
                        </p:par>
                        <p:par>
                          <p:cTn id="499" nodeType="afterEffect" fill="hold">
                            <p:stCondLst>
                              <p:cond delay="1500"/>
                            </p:stCondLst>
                            <p:childTnLst>
                              <p:par>
                                <p:cTn id="500" nodeType="afterEffect" fill="hold" presetClass="entr" presetID="22" presetSubtype="1">
                                  <p:stCondLst>
                                    <p:cond delay="0"/>
                                  </p:stCondLst>
                                  <p:childTnLst>
                                    <p:set>
                                      <p:cBhvr>
                                        <p:cTn id="501" dur="1" fill="hold">
                                          <p:stCondLst>
                                            <p:cond delay="0"/>
                                          </p:stCondLst>
                                        </p:cTn>
                                        <p:tgtEl>
                                          <p:spTgt spid="173"/>
                                        </p:tgtEl>
                                        <p:attrNameLst>
                                          <p:attrName>style.visibility</p:attrName>
                                        </p:attrNameLst>
                                      </p:cBhvr>
                                      <p:to>
                                        <p:strVal val="visible"/>
                                      </p:to>
                                    </p:set>
                                    <p:animEffect filter="wipe(up)" transition="in">
                                      <p:cBhvr additive="repl">
                                        <p:cTn id="502" dur="500"/>
                                        <p:tgtEl>
                                          <p:spTgt spid="173"/>
                                        </p:tgtEl>
                                      </p:cBhvr>
                                    </p:animEffect>
                                  </p:childTnLst>
                                </p:cTn>
                              </p:par>
                            </p:childTnLst>
                          </p:cTn>
                        </p:par>
                        <p:par>
                          <p:cTn id="503" nodeType="afterEffect" fill="hold">
                            <p:stCondLst>
                              <p:cond delay="2000"/>
                            </p:stCondLst>
                            <p:childTnLst>
                              <p:par>
                                <p:cTn id="504" nodeType="afterEffect" fill="hold" presetClass="entr" presetID="22" presetSubtype="1">
                                  <p:stCondLst>
                                    <p:cond delay="0"/>
                                  </p:stCondLst>
                                  <p:childTnLst>
                                    <p:set>
                                      <p:cBhvr>
                                        <p:cTn id="505" dur="1" fill="hold">
                                          <p:stCondLst>
                                            <p:cond delay="0"/>
                                          </p:stCondLst>
                                        </p:cTn>
                                        <p:tgtEl>
                                          <p:spTgt spid="174"/>
                                        </p:tgtEl>
                                        <p:attrNameLst>
                                          <p:attrName>style.visibility</p:attrName>
                                        </p:attrNameLst>
                                      </p:cBhvr>
                                      <p:to>
                                        <p:strVal val="visible"/>
                                      </p:to>
                                    </p:set>
                                    <p:animEffect filter="wipe(up)" transition="in">
                                      <p:cBhvr additive="repl">
                                        <p:cTn id="506" dur="500"/>
                                        <p:tgtEl>
                                          <p:spTgt spid="174"/>
                                        </p:tgtEl>
                                      </p:cBhvr>
                                    </p:animEffect>
                                  </p:childTnLst>
                                </p:cTn>
                              </p:par>
                            </p:childTnLst>
                          </p:cTn>
                        </p:par>
                      </p:childTnLst>
                    </p:cTn>
                  </p:par>
                  <p:par>
                    <p:cTn id="507" nodeType="clickEffect" fill="hold">
                      <p:stCondLst>
                        <p:cond delay="indefinite"/>
                      </p:stCondLst>
                      <p:childTnLst>
                        <p:par>
                          <p:cTn id="508" nodeType="withEffect" fill="hold">
                            <p:stCondLst>
                              <p:cond delay="0"/>
                            </p:stCondLst>
                            <p:childTnLst>
                              <p:par>
                                <p:cTn id="509" nodeType="clickEffect" fill="hold" presetClass="entr" presetID="22" presetSubtype="8">
                                  <p:stCondLst>
                                    <p:cond delay="0"/>
                                  </p:stCondLst>
                                  <p:childTnLst>
                                    <p:set>
                                      <p:cBhvr>
                                        <p:cTn id="510" dur="1" fill="hold">
                                          <p:stCondLst>
                                            <p:cond delay="0"/>
                                          </p:stCondLst>
                                        </p:cTn>
                                        <p:tgtEl>
                                          <p:spTgt spid="175"/>
                                        </p:tgtEl>
                                        <p:attrNameLst>
                                          <p:attrName>style.visibility</p:attrName>
                                        </p:attrNameLst>
                                      </p:cBhvr>
                                      <p:to>
                                        <p:strVal val="visible"/>
                                      </p:to>
                                    </p:set>
                                    <p:animEffect filter="wipe(left)" transition="in">
                                      <p:cBhvr additive="repl">
                                        <p:cTn id="511" dur="1000"/>
                                        <p:tgtEl>
                                          <p:spTgt spid="175"/>
                                        </p:tgtEl>
                                      </p:cBhvr>
                                    </p:animEffect>
                                  </p:childTnLst>
                                </p:cTn>
                              </p:par>
                            </p:childTnLst>
                          </p:cTn>
                        </p:par>
                      </p:childTnLst>
                    </p:cTn>
                  </p:par>
                  <p:par>
                    <p:cTn id="512" nodeType="clickEffect" fill="hold">
                      <p:stCondLst>
                        <p:cond delay="indefinite"/>
                      </p:stCondLst>
                      <p:childTnLst>
                        <p:par>
                          <p:cTn id="513" nodeType="withEffect" fill="hold">
                            <p:stCondLst>
                              <p:cond delay="0"/>
                            </p:stCondLst>
                            <p:childTnLst>
                              <p:par>
                                <p:cTn id="514" nodeType="clickEffect" fill="hold" presetClass="entr" presetID="10">
                                  <p:stCondLst>
                                    <p:cond delay="0"/>
                                  </p:stCondLst>
                                  <p:childTnLst>
                                    <p:set>
                                      <p:cBhvr>
                                        <p:cTn id="515" dur="1" fill="hold">
                                          <p:stCondLst>
                                            <p:cond delay="0"/>
                                          </p:stCondLst>
                                        </p:cTn>
                                        <p:tgtEl>
                                          <p:spTgt spid="176"/>
                                        </p:tgtEl>
                                        <p:attrNameLst>
                                          <p:attrName>style.visibility</p:attrName>
                                        </p:attrNameLst>
                                      </p:cBhvr>
                                      <p:to>
                                        <p:strVal val="visible"/>
                                      </p:to>
                                    </p:set>
                                    <p:animEffect filter="fade" transition="in">
                                      <p:cBhvr additive="repl">
                                        <p:cTn id="516" dur="500"/>
                                        <p:tgtEl>
                                          <p:spTgt spid="176"/>
                                        </p:tgtEl>
                                      </p:cBhvr>
                                    </p:animEffect>
                                  </p:childTnLst>
                                </p:cTn>
                              </p:par>
                            </p:childTnLst>
                          </p:cTn>
                        </p:par>
                      </p:childTnLst>
                    </p:cTn>
                  </p:par>
                  <p:par>
                    <p:cTn id="517" nodeType="clickEffect" fill="hold">
                      <p:stCondLst>
                        <p:cond delay="indefinite"/>
                      </p:stCondLst>
                      <p:childTnLst>
                        <p:par>
                          <p:cTn id="518" nodeType="withEffect" fill="hold">
                            <p:stCondLst>
                              <p:cond delay="0"/>
                            </p:stCondLst>
                            <p:childTnLst>
                              <p:par>
                                <p:cTn id="519" nodeType="clickEffect" fill="hold" presetClass="entr" presetID="10">
                                  <p:stCondLst>
                                    <p:cond delay="0"/>
                                  </p:stCondLst>
                                  <p:childTnLst>
                                    <p:set>
                                      <p:cBhvr>
                                        <p:cTn id="520" dur="1" fill="hold">
                                          <p:stCondLst>
                                            <p:cond delay="0"/>
                                          </p:stCondLst>
                                        </p:cTn>
                                        <p:tgtEl>
                                          <p:spTgt spid="177"/>
                                        </p:tgtEl>
                                        <p:attrNameLst>
                                          <p:attrName>style.visibility</p:attrName>
                                        </p:attrNameLst>
                                      </p:cBhvr>
                                      <p:to>
                                        <p:strVal val="visible"/>
                                      </p:to>
                                    </p:set>
                                    <p:animEffect filter="fade" transition="in">
                                      <p:cBhvr additive="repl">
                                        <p:cTn id="521" dur="500"/>
                                        <p:tgtEl>
                                          <p:spTgt spid="177"/>
                                        </p:tgtEl>
                                      </p:cBhvr>
                                    </p:animEffect>
                                  </p:childTnLst>
                                </p:cTn>
                              </p:par>
                            </p:childTnLst>
                          </p:cTn>
                        </p:par>
                      </p:childTnLst>
                    </p:cTn>
                  </p:par>
                  <p:par>
                    <p:cTn id="522" nodeType="clickEffect" fill="hold">
                      <p:stCondLst>
                        <p:cond delay="indefinite"/>
                      </p:stCondLst>
                      <p:childTnLst>
                        <p:par>
                          <p:cTn id="523" nodeType="withEffect" fill="hold">
                            <p:stCondLst>
                              <p:cond delay="0"/>
                            </p:stCondLst>
                            <p:childTnLst>
                              <p:par>
                                <p:cTn id="524" nodeType="clickEffect" fill="hold" presetClass="entr" presetID="10">
                                  <p:stCondLst>
                                    <p:cond delay="0"/>
                                  </p:stCondLst>
                                  <p:childTnLst>
                                    <p:set>
                                      <p:cBhvr>
                                        <p:cTn id="525" dur="1" fill="hold">
                                          <p:stCondLst>
                                            <p:cond delay="0"/>
                                          </p:stCondLst>
                                        </p:cTn>
                                        <p:tgtEl>
                                          <p:spTgt spid="178"/>
                                        </p:tgtEl>
                                        <p:attrNameLst>
                                          <p:attrName>style.visibility</p:attrName>
                                        </p:attrNameLst>
                                      </p:cBhvr>
                                      <p:to>
                                        <p:strVal val="visible"/>
                                      </p:to>
                                    </p:set>
                                    <p:animEffect filter="fade" transition="in">
                                      <p:cBhvr additive="repl">
                                        <p:cTn id="526" dur="500"/>
                                        <p:tgtEl>
                                          <p:spTgt spid="178"/>
                                        </p:tgtEl>
                                      </p:cBhvr>
                                    </p:animEffect>
                                  </p:childTnLst>
                                </p:cTn>
                              </p:par>
                            </p:childTnLst>
                          </p:cTn>
                        </p:par>
                      </p:childTnLst>
                    </p:cTn>
                  </p:par>
                  <p:par>
                    <p:cTn id="527" nodeType="clickEffect" fill="hold">
                      <p:stCondLst>
                        <p:cond delay="indefinite"/>
                      </p:stCondLst>
                      <p:childTnLst>
                        <p:par>
                          <p:cTn id="528" nodeType="withEffect" fill="hold">
                            <p:stCondLst>
                              <p:cond delay="0"/>
                            </p:stCondLst>
                            <p:childTnLst>
                              <p:par>
                                <p:cTn id="529" nodeType="clickEffect" fill="hold" presetClass="entr" presetID="10">
                                  <p:stCondLst>
                                    <p:cond delay="0"/>
                                  </p:stCondLst>
                                  <p:childTnLst>
                                    <p:set>
                                      <p:cBhvr>
                                        <p:cTn id="530" dur="1" fill="hold">
                                          <p:stCondLst>
                                            <p:cond delay="0"/>
                                          </p:stCondLst>
                                        </p:cTn>
                                        <p:tgtEl>
                                          <p:spTgt spid="179"/>
                                        </p:tgtEl>
                                        <p:attrNameLst>
                                          <p:attrName>style.visibility</p:attrName>
                                        </p:attrNameLst>
                                      </p:cBhvr>
                                      <p:to>
                                        <p:strVal val="visible"/>
                                      </p:to>
                                    </p:set>
                                    <p:animEffect filter="fade" transition="in">
                                      <p:cBhvr additive="repl">
                                        <p:cTn id="531" dur="500"/>
                                        <p:tgtEl>
                                          <p:spTgt spid="1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16.2  SINGLE-PRICE MONOPOLY</a:t>
            </a:r>
            <a:endParaRPr b="0" lang="en-CA" sz="2600" strike="noStrike" u="none">
              <a:solidFill>
                <a:schemeClr val="dk1"/>
              </a:solidFill>
              <a:effectLst/>
              <a:uFillTx/>
              <a:latin typeface="Arial"/>
            </a:endParaRPr>
          </a:p>
        </p:txBody>
      </p:sp>
      <p:sp>
        <p:nvSpPr>
          <p:cNvPr id="181" name="PlaceHolder 2"/>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817200" indent="-457200">
              <a:lnSpc>
                <a:spcPct val="100000"/>
              </a:lnSpc>
              <a:spcBef>
                <a:spcPts val="601"/>
              </a:spcBef>
              <a:spcAft>
                <a:spcPts val="601"/>
              </a:spcAft>
              <a:buClr>
                <a:srgbClr val="000000"/>
              </a:buClr>
              <a:buFont typeface="Arial"/>
              <a:buAutoNum type="arabicPeriod" startAt="2"/>
              <a:tabLst>
                <a:tab algn="l" pos="0"/>
                <a:tab algn="l" pos="339840"/>
              </a:tabLst>
            </a:pPr>
            <a:r>
              <a:rPr b="0" lang="en-US" sz="2400" strike="noStrike" u="none">
                <a:solidFill>
                  <a:srgbClr val="000000"/>
                </a:solidFill>
                <a:effectLst/>
                <a:uFillTx/>
                <a:latin typeface="Arial"/>
                <a:ea typeface="ＭＳ Ｐゴシック"/>
              </a:rPr>
              <a:t>At 5 haircuts an hour, marginal revenue is zero, so demand is unit elastic.</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startAt="2"/>
              <a:tabLst>
                <a:tab algn="l" pos="0"/>
                <a:tab algn="l" pos="339840"/>
              </a:tabLst>
            </a:pPr>
            <a:r>
              <a:rPr b="0" lang="en-US" sz="2400" strike="noStrike" u="none">
                <a:solidFill>
                  <a:srgbClr val="000000"/>
                </a:solidFill>
                <a:effectLst/>
                <a:uFillTx/>
                <a:latin typeface="Arial"/>
                <a:ea typeface="ＭＳ Ｐゴシック"/>
              </a:rPr>
              <a:t>Over the range 5 to 10  haircuts an hour, marginal revenue is negative. A price fall decreases total revenue, so demand is inelastic.</a:t>
            </a:r>
            <a:endParaRPr b="1" lang="en-CA" sz="2400" strike="noStrike" u="none">
              <a:solidFill>
                <a:srgbClr val="00468f"/>
              </a:solidFill>
              <a:effectLst/>
              <a:uFillTx/>
              <a:latin typeface="Arial"/>
            </a:endParaRPr>
          </a:p>
        </p:txBody>
      </p:sp>
      <p:pic>
        <p:nvPicPr>
          <p:cNvPr id="182" name="Picture 20" descr=""/>
          <p:cNvPicPr/>
          <p:nvPr/>
        </p:nvPicPr>
        <p:blipFill>
          <a:blip r:embed="rId1"/>
          <a:stretch/>
        </p:blipFill>
        <p:spPr>
          <a:xfrm>
            <a:off x="4500720" y="1511280"/>
            <a:ext cx="4063680" cy="4397040"/>
          </a:xfrm>
          <a:prstGeom prst="rect">
            <a:avLst/>
          </a:prstGeom>
          <a:noFill/>
          <a:ln w="0">
            <a:noFill/>
          </a:ln>
        </p:spPr>
      </p:pic>
      <p:pic>
        <p:nvPicPr>
          <p:cNvPr id="183" name="Picture 21" descr=""/>
          <p:cNvPicPr/>
          <p:nvPr/>
        </p:nvPicPr>
        <p:blipFill>
          <a:blip r:embed="rId2"/>
          <a:stretch/>
        </p:blipFill>
        <p:spPr>
          <a:xfrm>
            <a:off x="4500720" y="1511280"/>
            <a:ext cx="4063680" cy="4397040"/>
          </a:xfrm>
          <a:prstGeom prst="rect">
            <a:avLst/>
          </a:prstGeom>
          <a:noFill/>
          <a:ln w="0">
            <a:noFill/>
          </a:ln>
        </p:spPr>
      </p:pic>
      <p:pic>
        <p:nvPicPr>
          <p:cNvPr id="184" name="Picture 22" descr=""/>
          <p:cNvPicPr/>
          <p:nvPr/>
        </p:nvPicPr>
        <p:blipFill>
          <a:blip r:embed="rId3"/>
          <a:stretch/>
        </p:blipFill>
        <p:spPr>
          <a:xfrm>
            <a:off x="4500720" y="1511280"/>
            <a:ext cx="4063680" cy="4397040"/>
          </a:xfrm>
          <a:prstGeom prst="rect">
            <a:avLst/>
          </a:prstGeom>
          <a:noFill/>
          <a:ln w="0">
            <a:noFill/>
          </a:ln>
        </p:spPr>
      </p:pic>
      <p:pic>
        <p:nvPicPr>
          <p:cNvPr id="185" name="Picture 23" descr=""/>
          <p:cNvPicPr/>
          <p:nvPr/>
        </p:nvPicPr>
        <p:blipFill>
          <a:blip r:embed="rId4"/>
          <a:stretch/>
        </p:blipFill>
        <p:spPr>
          <a:xfrm>
            <a:off x="4500720" y="1511280"/>
            <a:ext cx="4063680" cy="4397040"/>
          </a:xfrm>
          <a:prstGeom prst="rect">
            <a:avLst/>
          </a:prstGeom>
          <a:noFill/>
          <a:ln w="0">
            <a:noFill/>
          </a:ln>
        </p:spPr>
      </p:pic>
      <p:pic>
        <p:nvPicPr>
          <p:cNvPr id="186" name="Picture 24" descr=""/>
          <p:cNvPicPr/>
          <p:nvPr/>
        </p:nvPicPr>
        <p:blipFill>
          <a:blip r:embed="rId5"/>
          <a:stretch/>
        </p:blipFill>
        <p:spPr>
          <a:xfrm>
            <a:off x="4500720" y="1511280"/>
            <a:ext cx="4063680" cy="4397040"/>
          </a:xfrm>
          <a:prstGeom prst="rect">
            <a:avLst/>
          </a:prstGeom>
          <a:noFill/>
          <a:ln w="0">
            <a:noFill/>
          </a:ln>
        </p:spPr>
      </p:pic>
      <p:pic>
        <p:nvPicPr>
          <p:cNvPr id="187" name="Picture 25" descr=""/>
          <p:cNvPicPr/>
          <p:nvPr/>
        </p:nvPicPr>
        <p:blipFill>
          <a:blip r:embed="rId6"/>
          <a:stretch/>
        </p:blipFill>
        <p:spPr>
          <a:xfrm>
            <a:off x="4500720" y="1511280"/>
            <a:ext cx="4063680" cy="4397040"/>
          </a:xfrm>
          <a:prstGeom prst="rect">
            <a:avLst/>
          </a:prstGeom>
          <a:noFill/>
          <a:ln w="0">
            <a:noFill/>
          </a:ln>
        </p:spPr>
      </p:pic>
      <p:pic>
        <p:nvPicPr>
          <p:cNvPr id="188" name="Picture 26" descr=""/>
          <p:cNvPicPr/>
          <p:nvPr/>
        </p:nvPicPr>
        <p:blipFill>
          <a:blip r:embed="rId7"/>
          <a:stretch/>
        </p:blipFill>
        <p:spPr>
          <a:xfrm>
            <a:off x="4500720" y="1511280"/>
            <a:ext cx="4063680" cy="4397040"/>
          </a:xfrm>
          <a:prstGeom prst="rect">
            <a:avLst/>
          </a:prstGeom>
          <a:noFill/>
          <a:ln w="0">
            <a:noFill/>
          </a:ln>
        </p:spPr>
      </p:pic>
      <p:pic>
        <p:nvPicPr>
          <p:cNvPr id="189" name="Picture 27" descr=""/>
          <p:cNvPicPr/>
          <p:nvPr/>
        </p:nvPicPr>
        <p:blipFill>
          <a:blip r:embed="rId8"/>
          <a:stretch/>
        </p:blipFill>
        <p:spPr>
          <a:xfrm>
            <a:off x="4500720" y="1511280"/>
            <a:ext cx="4063680" cy="4397040"/>
          </a:xfrm>
          <a:prstGeom prst="rect">
            <a:avLst/>
          </a:prstGeom>
          <a:noFill/>
          <a:ln w="0">
            <a:noFill/>
          </a:ln>
        </p:spPr>
      </p:pic>
      <p:pic>
        <p:nvPicPr>
          <p:cNvPr id="190" name="Picture 28" descr=""/>
          <p:cNvPicPr/>
          <p:nvPr/>
        </p:nvPicPr>
        <p:blipFill>
          <a:blip r:embed="rId9"/>
          <a:stretch/>
        </p:blipFill>
        <p:spPr>
          <a:xfrm>
            <a:off x="4500720" y="1511280"/>
            <a:ext cx="4063680" cy="4397040"/>
          </a:xfrm>
          <a:prstGeom prst="rect">
            <a:avLst/>
          </a:prstGeom>
          <a:noFill/>
          <a:ln w="0">
            <a:noFill/>
          </a:ln>
        </p:spPr>
      </p:pic>
      <p:pic>
        <p:nvPicPr>
          <p:cNvPr id="191" name="Picture 29" descr=""/>
          <p:cNvPicPr/>
          <p:nvPr/>
        </p:nvPicPr>
        <p:blipFill>
          <a:blip r:embed="rId10"/>
          <a:stretch/>
        </p:blipFill>
        <p:spPr>
          <a:xfrm>
            <a:off x="4500720" y="1511280"/>
            <a:ext cx="4063680" cy="4397040"/>
          </a:xfrm>
          <a:prstGeom prst="rect">
            <a:avLst/>
          </a:prstGeom>
          <a:noFill/>
          <a:ln w="0">
            <a:noFill/>
          </a:ln>
        </p:spPr>
      </p:pic>
      <p:pic>
        <p:nvPicPr>
          <p:cNvPr id="192" name="Picture 30" descr=""/>
          <p:cNvPicPr/>
          <p:nvPr/>
        </p:nvPicPr>
        <p:blipFill>
          <a:blip r:embed="rId11"/>
          <a:stretch/>
        </p:blipFill>
        <p:spPr>
          <a:xfrm>
            <a:off x="4500720" y="1511280"/>
            <a:ext cx="4063680" cy="4397040"/>
          </a:xfrm>
          <a:prstGeom prst="rect">
            <a:avLst/>
          </a:prstGeom>
          <a:noFill/>
          <a:ln w="0">
            <a:noFill/>
          </a:ln>
        </p:spPr>
      </p:pic>
      <p:pic>
        <p:nvPicPr>
          <p:cNvPr id="193" name="Picture 31" descr=""/>
          <p:cNvPicPr/>
          <p:nvPr/>
        </p:nvPicPr>
        <p:blipFill>
          <a:blip r:embed="rId12"/>
          <a:stretch/>
        </p:blipFill>
        <p:spPr>
          <a:xfrm>
            <a:off x="4500720" y="1511280"/>
            <a:ext cx="4063680" cy="4397040"/>
          </a:xfrm>
          <a:prstGeom prst="rect">
            <a:avLst/>
          </a:prstGeom>
          <a:noFill/>
          <a:ln w="0">
            <a:noFill/>
          </a:ln>
        </p:spPr>
      </p:pic>
      <p:pic>
        <p:nvPicPr>
          <p:cNvPr id="194" name="Picture 32" descr=""/>
          <p:cNvPicPr/>
          <p:nvPr/>
        </p:nvPicPr>
        <p:blipFill>
          <a:blip r:embed="rId13"/>
          <a:stretch/>
        </p:blipFill>
        <p:spPr>
          <a:xfrm>
            <a:off x="4500720" y="1511280"/>
            <a:ext cx="4063680" cy="4397040"/>
          </a:xfrm>
          <a:prstGeom prst="rect">
            <a:avLst/>
          </a:prstGeom>
          <a:noFill/>
          <a:ln w="0">
            <a:noFill/>
          </a:ln>
        </p:spPr>
      </p:pic>
      <p:pic>
        <p:nvPicPr>
          <p:cNvPr id="195" name="Picture 33" descr=""/>
          <p:cNvPicPr/>
          <p:nvPr/>
        </p:nvPicPr>
        <p:blipFill>
          <a:blip r:embed="rId14"/>
          <a:stretch/>
        </p:blipFill>
        <p:spPr>
          <a:xfrm>
            <a:off x="4500720" y="1511280"/>
            <a:ext cx="4063680" cy="4397040"/>
          </a:xfrm>
          <a:prstGeom prst="rect">
            <a:avLst/>
          </a:prstGeom>
          <a:noFill/>
          <a:ln w="0">
            <a:noFill/>
          </a:ln>
        </p:spPr>
      </p:pic>
      <p:pic>
        <p:nvPicPr>
          <p:cNvPr id="196" name="Picture 36" descr=""/>
          <p:cNvPicPr/>
          <p:nvPr/>
        </p:nvPicPr>
        <p:blipFill>
          <a:blip r:embed="rId15"/>
          <a:stretch/>
        </p:blipFill>
        <p:spPr>
          <a:xfrm>
            <a:off x="4500720" y="1511280"/>
            <a:ext cx="4063680" cy="4397040"/>
          </a:xfrm>
          <a:prstGeom prst="rect">
            <a:avLst/>
          </a:prstGeom>
          <a:noFill/>
          <a:ln w="0">
            <a:noFill/>
          </a:ln>
        </p:spPr>
      </p:pic>
    </p:spTree>
  </p:cSld>
  <p:transition spd="slow">
    <p:wipe dir="r"/>
  </p:transition>
  <p:timing>
    <p:tnLst>
      <p:par>
        <p:cTn id="532" dur="indefinite" restart="never" nodeType="tmRoot">
          <p:childTnLst>
            <p:seq>
              <p:cTn id="533" dur="indefinite" nodeType="mainSeq">
                <p:childTnLst>
                  <p:par>
                    <p:cTn id="534" nodeType="clickEffect" fill="hold">
                      <p:stCondLst>
                        <p:cond delay="0"/>
                      </p:stCondLst>
                      <p:childTnLst>
                        <p:par>
                          <p:cTn id="535" nodeType="withEffect" fill="hold">
                            <p:stCondLst>
                              <p:cond delay="0"/>
                            </p:stCondLst>
                            <p:childTnLst>
                              <p:par>
                                <p:cTn id="536" nodeType="withEffect" fill="hold" presetClass="entr" presetID="10">
                                  <p:stCondLst>
                                    <p:cond delay="0"/>
                                  </p:stCondLst>
                                  <p:childTnLst>
                                    <p:set>
                                      <p:cBhvr>
                                        <p:cTn id="537" dur="1" fill="hold">
                                          <p:stCondLst>
                                            <p:cond delay="0"/>
                                          </p:stCondLst>
                                        </p:cTn>
                                        <p:tgtEl>
                                          <p:spTgt spid="195"/>
                                        </p:tgtEl>
                                        <p:attrNameLst>
                                          <p:attrName>style.visibility</p:attrName>
                                        </p:attrNameLst>
                                      </p:cBhvr>
                                      <p:to>
                                        <p:strVal val="visible"/>
                                      </p:to>
                                    </p:set>
                                    <p:animEffect filter="fade" transition="in">
                                      <p:cBhvr additive="repl">
                                        <p:cTn id="538" dur="500"/>
                                        <p:tgtEl>
                                          <p:spTgt spid="195"/>
                                        </p:tgtEl>
                                      </p:cBhvr>
                                    </p:animEffect>
                                  </p:childTnLst>
                                </p:cTn>
                              </p:par>
                            </p:childTnLst>
                          </p:cTn>
                        </p:par>
                      </p:childTnLst>
                    </p:cTn>
                  </p:par>
                  <p:par>
                    <p:cTn id="539" nodeType="clickEffect" fill="hold">
                      <p:stCondLst>
                        <p:cond delay="indefinite"/>
                      </p:stCondLst>
                      <p:childTnLst>
                        <p:par>
                          <p:cTn id="540" nodeType="withEffect" fill="hold">
                            <p:stCondLst>
                              <p:cond delay="0"/>
                            </p:stCondLst>
                            <p:childTnLst>
                              <p:par>
                                <p:cTn id="541" nodeType="clickEffect" fill="hold" presetClass="entr" presetID="22" presetSubtype="8">
                                  <p:stCondLst>
                                    <p:cond delay="0"/>
                                  </p:stCondLst>
                                  <p:childTnLst>
                                    <p:set>
                                      <p:cBhvr>
                                        <p:cTn id="542" dur="1" fill="hold">
                                          <p:stCondLst>
                                            <p:cond delay="0"/>
                                          </p:stCondLst>
                                        </p:cTn>
                                        <p:tgtEl>
                                          <p:spTgt spid="181">
                                            <p:txEl>
                                              <p:pRg st="1" end="1"/>
                                            </p:txEl>
                                          </p:spTgt>
                                        </p:tgtEl>
                                        <p:attrNameLst>
                                          <p:attrName>style.visibility</p:attrName>
                                        </p:attrNameLst>
                                      </p:cBhvr>
                                      <p:to>
                                        <p:strVal val="visible"/>
                                      </p:to>
                                    </p:set>
                                    <p:animEffect filter="wipe(left)" transition="in">
                                      <p:cBhvr additive="repl">
                                        <p:cTn id="543" dur="500"/>
                                        <p:tgtEl>
                                          <p:spTgt spid="181">
                                            <p:txEl>
                                              <p:pRg st="1" end="1"/>
                                            </p:txEl>
                                          </p:spTgt>
                                        </p:tgtEl>
                                      </p:cBhvr>
                                    </p:animEffect>
                                  </p:childTnLst>
                                </p:cTn>
                              </p:par>
                              <p:par>
                                <p:cTn id="544" nodeType="withEffect" fill="hold" presetClass="entr" presetID="10">
                                  <p:stCondLst>
                                    <p:cond delay="0"/>
                                  </p:stCondLst>
                                  <p:childTnLst>
                                    <p:set>
                                      <p:cBhvr>
                                        <p:cTn id="545" dur="1" fill="hold">
                                          <p:stCondLst>
                                            <p:cond delay="0"/>
                                          </p:stCondLst>
                                        </p:cTn>
                                        <p:tgtEl>
                                          <p:spTgt spid="196"/>
                                        </p:tgtEl>
                                        <p:attrNameLst>
                                          <p:attrName>style.visibility</p:attrName>
                                        </p:attrNameLst>
                                      </p:cBhvr>
                                      <p:to>
                                        <p:strVal val="visible"/>
                                      </p:to>
                                    </p:set>
                                    <p:animEffect filter="fade" transition="in">
                                      <p:cBhvr additive="repl">
                                        <p:cTn id="546" dur="500"/>
                                        <p:tgtEl>
                                          <p:spTgt spid="1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16.2  SINGLE-PRICE MONOPOLY</a:t>
            </a:r>
            <a:endParaRPr b="0" lang="en-CA" sz="2600" strike="noStrike" u="none">
              <a:solidFill>
                <a:schemeClr val="dk1"/>
              </a:solidFill>
              <a:effectLst/>
              <a:uFillTx/>
              <a:latin typeface="Arial"/>
            </a:endParaRPr>
          </a:p>
        </p:txBody>
      </p:sp>
      <p:sp>
        <p:nvSpPr>
          <p:cNvPr id="198" name="PlaceHolder 2"/>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Figure 16.3(b) shows the same information about marginal revenue as steps running along the total revenue curve.</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Over the range from zero to 5 haircuts an hour, marginal revenue is positive and total revenue increases as output increases.</a:t>
            </a:r>
            <a:endParaRPr b="1" lang="en-CA" sz="2400" strike="noStrike" u="none">
              <a:solidFill>
                <a:srgbClr val="00468f"/>
              </a:solidFill>
              <a:effectLst/>
              <a:uFillTx/>
              <a:latin typeface="Arial"/>
            </a:endParaRPr>
          </a:p>
        </p:txBody>
      </p:sp>
      <p:pic>
        <p:nvPicPr>
          <p:cNvPr id="199" name="Picture 6" descr=""/>
          <p:cNvPicPr/>
          <p:nvPr/>
        </p:nvPicPr>
        <p:blipFill>
          <a:blip r:embed="rId1"/>
          <a:stretch/>
        </p:blipFill>
        <p:spPr>
          <a:xfrm>
            <a:off x="4500720" y="1511280"/>
            <a:ext cx="4063680" cy="4397040"/>
          </a:xfrm>
          <a:prstGeom prst="rect">
            <a:avLst/>
          </a:prstGeom>
          <a:noFill/>
          <a:ln w="0">
            <a:noFill/>
          </a:ln>
        </p:spPr>
      </p:pic>
      <p:pic>
        <p:nvPicPr>
          <p:cNvPr id="200" name="Picture 7" descr=""/>
          <p:cNvPicPr/>
          <p:nvPr/>
        </p:nvPicPr>
        <p:blipFill>
          <a:blip r:embed="rId2"/>
          <a:stretch/>
        </p:blipFill>
        <p:spPr>
          <a:xfrm>
            <a:off x="4500720" y="1511280"/>
            <a:ext cx="4063680" cy="4397040"/>
          </a:xfrm>
          <a:prstGeom prst="rect">
            <a:avLst/>
          </a:prstGeom>
          <a:noFill/>
          <a:ln w="0">
            <a:noFill/>
          </a:ln>
        </p:spPr>
      </p:pic>
      <p:pic>
        <p:nvPicPr>
          <p:cNvPr id="201" name="Picture 8" descr=""/>
          <p:cNvPicPr/>
          <p:nvPr/>
        </p:nvPicPr>
        <p:blipFill>
          <a:blip r:embed="rId3"/>
          <a:stretch/>
        </p:blipFill>
        <p:spPr>
          <a:xfrm>
            <a:off x="4500720" y="1511280"/>
            <a:ext cx="4063680" cy="4397040"/>
          </a:xfrm>
          <a:prstGeom prst="rect">
            <a:avLst/>
          </a:prstGeom>
          <a:noFill/>
          <a:ln w="0">
            <a:noFill/>
          </a:ln>
        </p:spPr>
      </p:pic>
      <p:pic>
        <p:nvPicPr>
          <p:cNvPr id="202" name="Picture 9" descr=""/>
          <p:cNvPicPr/>
          <p:nvPr/>
        </p:nvPicPr>
        <p:blipFill>
          <a:blip r:embed="rId4"/>
          <a:stretch/>
        </p:blipFill>
        <p:spPr>
          <a:xfrm>
            <a:off x="4500720" y="1511280"/>
            <a:ext cx="4063680" cy="4397040"/>
          </a:xfrm>
          <a:prstGeom prst="rect">
            <a:avLst/>
          </a:prstGeom>
          <a:noFill/>
          <a:ln w="0">
            <a:noFill/>
          </a:ln>
        </p:spPr>
      </p:pic>
      <p:pic>
        <p:nvPicPr>
          <p:cNvPr id="203" name="Picture 10" descr=""/>
          <p:cNvPicPr/>
          <p:nvPr/>
        </p:nvPicPr>
        <p:blipFill>
          <a:blip r:embed="rId5"/>
          <a:stretch/>
        </p:blipFill>
        <p:spPr>
          <a:xfrm>
            <a:off x="4500720" y="1511280"/>
            <a:ext cx="4063680" cy="4397040"/>
          </a:xfrm>
          <a:prstGeom prst="rect">
            <a:avLst/>
          </a:prstGeom>
          <a:noFill/>
          <a:ln w="0">
            <a:noFill/>
          </a:ln>
        </p:spPr>
      </p:pic>
      <p:pic>
        <p:nvPicPr>
          <p:cNvPr id="204" name="Picture 11" descr=""/>
          <p:cNvPicPr/>
          <p:nvPr/>
        </p:nvPicPr>
        <p:blipFill>
          <a:blip r:embed="rId6"/>
          <a:stretch/>
        </p:blipFill>
        <p:spPr>
          <a:xfrm>
            <a:off x="4500720" y="1511280"/>
            <a:ext cx="4063680" cy="4397040"/>
          </a:xfrm>
          <a:prstGeom prst="rect">
            <a:avLst/>
          </a:prstGeom>
          <a:noFill/>
          <a:ln w="0">
            <a:noFill/>
          </a:ln>
        </p:spPr>
      </p:pic>
    </p:spTree>
  </p:cSld>
  <p:transition spd="slow">
    <p:wipe dir="r"/>
  </p:transition>
  <p:timing>
    <p:tnLst>
      <p:par>
        <p:cTn id="547" dur="indefinite" restart="never" nodeType="tmRoot">
          <p:childTnLst>
            <p:seq>
              <p:cTn id="548" dur="indefinite" nodeType="mainSeq">
                <p:childTnLst>
                  <p:par>
                    <p:cTn id="549" nodeType="clickEffect" fill="hold">
                      <p:stCondLst>
                        <p:cond delay="indefinite"/>
                      </p:stCondLst>
                      <p:childTnLst>
                        <p:par>
                          <p:cTn id="550" nodeType="withEffect" fill="hold">
                            <p:stCondLst>
                              <p:cond delay="0"/>
                            </p:stCondLst>
                            <p:childTnLst>
                              <p:par>
                                <p:cTn id="551" nodeType="clickEffect" fill="hold" presetClass="entr" presetID="22" presetSubtype="8">
                                  <p:stCondLst>
                                    <p:cond delay="0"/>
                                  </p:stCondLst>
                                  <p:childTnLst>
                                    <p:set>
                                      <p:cBhvr>
                                        <p:cTn id="552" dur="1" fill="hold">
                                          <p:stCondLst>
                                            <p:cond delay="0"/>
                                          </p:stCondLst>
                                        </p:cTn>
                                        <p:tgtEl>
                                          <p:spTgt spid="198">
                                            <p:txEl>
                                              <p:pRg st="1" end="1"/>
                                            </p:txEl>
                                          </p:spTgt>
                                        </p:tgtEl>
                                        <p:attrNameLst>
                                          <p:attrName>style.visibility</p:attrName>
                                        </p:attrNameLst>
                                      </p:cBhvr>
                                      <p:to>
                                        <p:strVal val="visible"/>
                                      </p:to>
                                    </p:set>
                                    <p:animEffect filter="wipe(left)" transition="in">
                                      <p:cBhvr additive="repl">
                                        <p:cTn id="553" dur="500"/>
                                        <p:tgtEl>
                                          <p:spTgt spid="198">
                                            <p:txEl>
                                              <p:pRg st="1" end="1"/>
                                            </p:txEl>
                                          </p:spTgt>
                                        </p:tgtEl>
                                      </p:cBhvr>
                                    </p:animEffect>
                                  </p:childTnLst>
                                </p:cTn>
                              </p:par>
                              <p:par>
                                <p:cTn id="554" nodeType="withEffect" fill="hold" presetClass="entr" presetID="22" presetSubtype="4">
                                  <p:stCondLst>
                                    <p:cond delay="0"/>
                                  </p:stCondLst>
                                  <p:childTnLst>
                                    <p:set>
                                      <p:cBhvr>
                                        <p:cTn id="555" dur="1" fill="hold">
                                          <p:stCondLst>
                                            <p:cond delay="0"/>
                                          </p:stCondLst>
                                        </p:cTn>
                                        <p:tgtEl>
                                          <p:spTgt spid="200"/>
                                        </p:tgtEl>
                                        <p:attrNameLst>
                                          <p:attrName>style.visibility</p:attrName>
                                        </p:attrNameLst>
                                      </p:cBhvr>
                                      <p:to>
                                        <p:strVal val="visible"/>
                                      </p:to>
                                    </p:set>
                                    <p:animEffect filter="wipe(down)" transition="in">
                                      <p:cBhvr additive="repl">
                                        <p:cTn id="556" dur="500"/>
                                        <p:tgtEl>
                                          <p:spTgt spid="200"/>
                                        </p:tgtEl>
                                      </p:cBhvr>
                                    </p:animEffect>
                                  </p:childTnLst>
                                </p:cTn>
                              </p:par>
                            </p:childTnLst>
                          </p:cTn>
                        </p:par>
                        <p:par>
                          <p:cTn id="557" nodeType="afterEffect" fill="hold">
                            <p:stCondLst>
                              <p:cond delay="500"/>
                            </p:stCondLst>
                            <p:childTnLst>
                              <p:par>
                                <p:cTn id="558" nodeType="afterEffect" fill="hold" presetClass="entr" presetID="22" presetSubtype="4">
                                  <p:stCondLst>
                                    <p:cond delay="0"/>
                                  </p:stCondLst>
                                  <p:childTnLst>
                                    <p:set>
                                      <p:cBhvr>
                                        <p:cTn id="559" dur="1" fill="hold">
                                          <p:stCondLst>
                                            <p:cond delay="0"/>
                                          </p:stCondLst>
                                        </p:cTn>
                                        <p:tgtEl>
                                          <p:spTgt spid="201"/>
                                        </p:tgtEl>
                                        <p:attrNameLst>
                                          <p:attrName>style.visibility</p:attrName>
                                        </p:attrNameLst>
                                      </p:cBhvr>
                                      <p:to>
                                        <p:strVal val="visible"/>
                                      </p:to>
                                    </p:set>
                                    <p:animEffect filter="wipe(down)" transition="in">
                                      <p:cBhvr additive="repl">
                                        <p:cTn id="560" dur="500"/>
                                        <p:tgtEl>
                                          <p:spTgt spid="201"/>
                                        </p:tgtEl>
                                      </p:cBhvr>
                                    </p:animEffect>
                                  </p:childTnLst>
                                </p:cTn>
                              </p:par>
                            </p:childTnLst>
                          </p:cTn>
                        </p:par>
                        <p:par>
                          <p:cTn id="561" nodeType="afterEffect" fill="hold">
                            <p:stCondLst>
                              <p:cond delay="1000"/>
                            </p:stCondLst>
                            <p:childTnLst>
                              <p:par>
                                <p:cTn id="562" nodeType="afterEffect" fill="hold" presetClass="entr" presetID="22" presetSubtype="4">
                                  <p:stCondLst>
                                    <p:cond delay="0"/>
                                  </p:stCondLst>
                                  <p:childTnLst>
                                    <p:set>
                                      <p:cBhvr>
                                        <p:cTn id="563" dur="1" fill="hold">
                                          <p:stCondLst>
                                            <p:cond delay="0"/>
                                          </p:stCondLst>
                                        </p:cTn>
                                        <p:tgtEl>
                                          <p:spTgt spid="202"/>
                                        </p:tgtEl>
                                        <p:attrNameLst>
                                          <p:attrName>style.visibility</p:attrName>
                                        </p:attrNameLst>
                                      </p:cBhvr>
                                      <p:to>
                                        <p:strVal val="visible"/>
                                      </p:to>
                                    </p:set>
                                    <p:animEffect filter="wipe(down)" transition="in">
                                      <p:cBhvr additive="repl">
                                        <p:cTn id="564" dur="500"/>
                                        <p:tgtEl>
                                          <p:spTgt spid="202"/>
                                        </p:tgtEl>
                                      </p:cBhvr>
                                    </p:animEffect>
                                  </p:childTnLst>
                                </p:cTn>
                              </p:par>
                            </p:childTnLst>
                          </p:cTn>
                        </p:par>
                        <p:par>
                          <p:cTn id="565" nodeType="afterEffect" fill="hold">
                            <p:stCondLst>
                              <p:cond delay="1500"/>
                            </p:stCondLst>
                            <p:childTnLst>
                              <p:par>
                                <p:cTn id="566" nodeType="afterEffect" fill="hold" presetClass="entr" presetID="22" presetSubtype="4">
                                  <p:stCondLst>
                                    <p:cond delay="0"/>
                                  </p:stCondLst>
                                  <p:childTnLst>
                                    <p:set>
                                      <p:cBhvr>
                                        <p:cTn id="567" dur="1" fill="hold">
                                          <p:stCondLst>
                                            <p:cond delay="0"/>
                                          </p:stCondLst>
                                        </p:cTn>
                                        <p:tgtEl>
                                          <p:spTgt spid="203"/>
                                        </p:tgtEl>
                                        <p:attrNameLst>
                                          <p:attrName>style.visibility</p:attrName>
                                        </p:attrNameLst>
                                      </p:cBhvr>
                                      <p:to>
                                        <p:strVal val="visible"/>
                                      </p:to>
                                    </p:set>
                                    <p:animEffect filter="wipe(down)" transition="in">
                                      <p:cBhvr additive="repl">
                                        <p:cTn id="568" dur="500"/>
                                        <p:tgtEl>
                                          <p:spTgt spid="203"/>
                                        </p:tgtEl>
                                      </p:cBhvr>
                                    </p:animEffect>
                                  </p:childTnLst>
                                </p:cTn>
                              </p:par>
                            </p:childTnLst>
                          </p:cTn>
                        </p:par>
                        <p:par>
                          <p:cTn id="569" nodeType="afterEffect" fill="hold">
                            <p:stCondLst>
                              <p:cond delay="2000"/>
                            </p:stCondLst>
                            <p:childTnLst>
                              <p:par>
                                <p:cTn id="570" nodeType="afterEffect" fill="hold" presetClass="entr" presetID="22" presetSubtype="4">
                                  <p:stCondLst>
                                    <p:cond delay="0"/>
                                  </p:stCondLst>
                                  <p:childTnLst>
                                    <p:set>
                                      <p:cBhvr>
                                        <p:cTn id="571" dur="1" fill="hold">
                                          <p:stCondLst>
                                            <p:cond delay="0"/>
                                          </p:stCondLst>
                                        </p:cTn>
                                        <p:tgtEl>
                                          <p:spTgt spid="204"/>
                                        </p:tgtEl>
                                        <p:attrNameLst>
                                          <p:attrName>style.visibility</p:attrName>
                                        </p:attrNameLst>
                                      </p:cBhvr>
                                      <p:to>
                                        <p:strVal val="visible"/>
                                      </p:to>
                                    </p:set>
                                    <p:animEffect filter="wipe(down)" transition="in">
                                      <p:cBhvr additive="repl">
                                        <p:cTn id="572" dur="500"/>
                                        <p:tgtEl>
                                          <p:spTgt spid="2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205" name="Picture 6" descr=""/>
          <p:cNvPicPr/>
          <p:nvPr/>
        </p:nvPicPr>
        <p:blipFill>
          <a:blip r:embed="rId1"/>
          <a:stretch/>
        </p:blipFill>
        <p:spPr>
          <a:xfrm>
            <a:off x="1979640" y="792000"/>
            <a:ext cx="4781160" cy="5171760"/>
          </a:xfrm>
          <a:prstGeom prst="rect">
            <a:avLst/>
          </a:prstGeom>
          <a:noFill/>
          <a:ln w="0">
            <a:noFill/>
          </a:ln>
        </p:spPr>
      </p:pic>
      <p:pic>
        <p:nvPicPr>
          <p:cNvPr id="206" name="Picture 11" descr=""/>
          <p:cNvPicPr/>
          <p:nvPr/>
        </p:nvPicPr>
        <p:blipFill>
          <a:blip r:embed="rId2"/>
          <a:stretch/>
        </p:blipFill>
        <p:spPr>
          <a:xfrm>
            <a:off x="1979640" y="792000"/>
            <a:ext cx="4781160" cy="5171760"/>
          </a:xfrm>
          <a:prstGeom prst="rect">
            <a:avLst/>
          </a:prstGeom>
          <a:noFill/>
          <a:ln w="0">
            <a:noFill/>
          </a:ln>
        </p:spPr>
      </p:pic>
      <p:pic>
        <p:nvPicPr>
          <p:cNvPr id="207" name="Picture 12" descr=""/>
          <p:cNvPicPr/>
          <p:nvPr/>
        </p:nvPicPr>
        <p:blipFill>
          <a:blip r:embed="rId3"/>
          <a:stretch/>
        </p:blipFill>
        <p:spPr>
          <a:xfrm>
            <a:off x="1979640" y="792000"/>
            <a:ext cx="4781160" cy="5171760"/>
          </a:xfrm>
          <a:prstGeom prst="rect">
            <a:avLst/>
          </a:prstGeom>
          <a:noFill/>
          <a:ln w="0">
            <a:noFill/>
          </a:ln>
        </p:spPr>
      </p:pic>
      <p:pic>
        <p:nvPicPr>
          <p:cNvPr id="208" name="Picture 13" descr=""/>
          <p:cNvPicPr/>
          <p:nvPr/>
        </p:nvPicPr>
        <p:blipFill>
          <a:blip r:embed="rId4"/>
          <a:stretch/>
        </p:blipFill>
        <p:spPr>
          <a:xfrm>
            <a:off x="1979640" y="792000"/>
            <a:ext cx="4781160" cy="5171760"/>
          </a:xfrm>
          <a:prstGeom prst="rect">
            <a:avLst/>
          </a:prstGeom>
          <a:noFill/>
          <a:ln w="0">
            <a:noFill/>
          </a:ln>
        </p:spPr>
      </p:pic>
      <p:pic>
        <p:nvPicPr>
          <p:cNvPr id="209" name="Picture 14" descr=""/>
          <p:cNvPicPr/>
          <p:nvPr/>
        </p:nvPicPr>
        <p:blipFill>
          <a:blip r:embed="rId5"/>
          <a:stretch/>
        </p:blipFill>
        <p:spPr>
          <a:xfrm>
            <a:off x="1979640" y="792000"/>
            <a:ext cx="4781160" cy="5171760"/>
          </a:xfrm>
          <a:prstGeom prst="rect">
            <a:avLst/>
          </a:prstGeom>
          <a:noFill/>
          <a:ln w="0">
            <a:noFill/>
          </a:ln>
        </p:spPr>
      </p:pic>
      <p:pic>
        <p:nvPicPr>
          <p:cNvPr id="210" name="Picture 15" descr=""/>
          <p:cNvPicPr/>
          <p:nvPr/>
        </p:nvPicPr>
        <p:blipFill>
          <a:blip r:embed="rId6"/>
          <a:stretch/>
        </p:blipFill>
        <p:spPr>
          <a:xfrm>
            <a:off x="1979640" y="792000"/>
            <a:ext cx="4781160" cy="5171760"/>
          </a:xfrm>
          <a:prstGeom prst="rect">
            <a:avLst/>
          </a:prstGeom>
          <a:noFill/>
          <a:ln w="0">
            <a:noFill/>
          </a:ln>
        </p:spPr>
      </p:pic>
      <p:pic>
        <p:nvPicPr>
          <p:cNvPr id="211" name="Picture 16" descr=""/>
          <p:cNvPicPr/>
          <p:nvPr/>
        </p:nvPicPr>
        <p:blipFill>
          <a:blip r:embed="rId7"/>
          <a:stretch/>
        </p:blipFill>
        <p:spPr>
          <a:xfrm>
            <a:off x="1979640" y="792000"/>
            <a:ext cx="4781160" cy="5171760"/>
          </a:xfrm>
          <a:prstGeom prst="rect">
            <a:avLst/>
          </a:prstGeom>
          <a:noFill/>
          <a:ln w="0">
            <a:noFill/>
          </a:ln>
        </p:spPr>
      </p:pic>
      <p:pic>
        <p:nvPicPr>
          <p:cNvPr id="212" name="Picture 17" descr=""/>
          <p:cNvPicPr/>
          <p:nvPr/>
        </p:nvPicPr>
        <p:blipFill>
          <a:blip r:embed="rId8"/>
          <a:stretch/>
        </p:blipFill>
        <p:spPr>
          <a:xfrm>
            <a:off x="1979640" y="792000"/>
            <a:ext cx="4781160" cy="5171760"/>
          </a:xfrm>
          <a:prstGeom prst="rect">
            <a:avLst/>
          </a:prstGeom>
          <a:noFill/>
          <a:ln w="0">
            <a:noFill/>
          </a:ln>
        </p:spPr>
      </p:pic>
      <p:pic>
        <p:nvPicPr>
          <p:cNvPr id="213" name="Picture 18" descr=""/>
          <p:cNvPicPr/>
          <p:nvPr/>
        </p:nvPicPr>
        <p:blipFill>
          <a:blip r:embed="rId9"/>
          <a:stretch/>
        </p:blipFill>
        <p:spPr>
          <a:xfrm>
            <a:off x="1979640" y="792000"/>
            <a:ext cx="4781160" cy="5171760"/>
          </a:xfrm>
          <a:prstGeom prst="rect">
            <a:avLst/>
          </a:prstGeom>
          <a:noFill/>
          <a:ln w="0">
            <a:noFill/>
          </a:ln>
        </p:spPr>
      </p:pic>
      <p:pic>
        <p:nvPicPr>
          <p:cNvPr id="214" name="Picture 19" descr=""/>
          <p:cNvPicPr/>
          <p:nvPr/>
        </p:nvPicPr>
        <p:blipFill>
          <a:blip r:embed="rId10"/>
          <a:stretch/>
        </p:blipFill>
        <p:spPr>
          <a:xfrm>
            <a:off x="1979640" y="792000"/>
            <a:ext cx="4781160" cy="5171760"/>
          </a:xfrm>
          <a:prstGeom prst="rect">
            <a:avLst/>
          </a:prstGeom>
          <a:noFill/>
          <a:ln w="0">
            <a:noFill/>
          </a:ln>
        </p:spPr>
      </p:pic>
      <p:pic>
        <p:nvPicPr>
          <p:cNvPr id="215" name="Picture 20" descr=""/>
          <p:cNvPicPr/>
          <p:nvPr/>
        </p:nvPicPr>
        <p:blipFill>
          <a:blip r:embed="rId11"/>
          <a:stretch/>
        </p:blipFill>
        <p:spPr>
          <a:xfrm>
            <a:off x="1979640" y="792000"/>
            <a:ext cx="4781160" cy="5171760"/>
          </a:xfrm>
          <a:prstGeom prst="rect">
            <a:avLst/>
          </a:prstGeom>
          <a:noFill/>
          <a:ln w="0">
            <a:noFill/>
          </a:ln>
        </p:spPr>
      </p:pic>
      <p:pic>
        <p:nvPicPr>
          <p:cNvPr id="216" name="Picture 21" descr=""/>
          <p:cNvPicPr/>
          <p:nvPr/>
        </p:nvPicPr>
        <p:blipFill>
          <a:blip r:embed="rId12"/>
          <a:stretch/>
        </p:blipFill>
        <p:spPr>
          <a:xfrm>
            <a:off x="1979640" y="792000"/>
            <a:ext cx="4781160" cy="5171760"/>
          </a:xfrm>
          <a:prstGeom prst="rect">
            <a:avLst/>
          </a:prstGeom>
          <a:noFill/>
          <a:ln w="0">
            <a:noFill/>
          </a:ln>
        </p:spPr>
      </p:pic>
      <p:pic>
        <p:nvPicPr>
          <p:cNvPr id="217" name="Picture 22" descr=""/>
          <p:cNvPicPr/>
          <p:nvPr/>
        </p:nvPicPr>
        <p:blipFill>
          <a:blip r:embed="rId13"/>
          <a:stretch/>
        </p:blipFill>
        <p:spPr>
          <a:xfrm>
            <a:off x="1979640" y="792000"/>
            <a:ext cx="4781160" cy="5171760"/>
          </a:xfrm>
          <a:prstGeom prst="rect">
            <a:avLst/>
          </a:prstGeom>
          <a:noFill/>
          <a:ln w="0">
            <a:noFill/>
          </a:ln>
        </p:spPr>
      </p:pic>
    </p:spTree>
  </p:cSld>
  <p:transition spd="slow">
    <p:wipe dir="r"/>
  </p:transition>
  <p:timing>
    <p:tnLst>
      <p:par>
        <p:cTn id="573" dur="indefinite" restart="never" nodeType="tmRoot">
          <p:childTnLst>
            <p:seq>
              <p:cTn id="574" dur="indefinite" nodeType="mainSeq">
                <p:childTnLst>
                  <p:par>
                    <p:cTn id="575" nodeType="clickEffect" fill="hold">
                      <p:stCondLst>
                        <p:cond delay="indefinite"/>
                      </p:stCondLst>
                      <p:childTnLst>
                        <p:par>
                          <p:cTn id="576" nodeType="withEffect" fill="hold">
                            <p:stCondLst>
                              <p:cond delay="0"/>
                            </p:stCondLst>
                            <p:childTnLst>
                              <p:par>
                                <p:cTn id="577" nodeType="clickEffect" fill="hold" presetClass="entr" presetID="22" presetSubtype="4">
                                  <p:stCondLst>
                                    <p:cond delay="0"/>
                                  </p:stCondLst>
                                  <p:childTnLst>
                                    <p:set>
                                      <p:cBhvr>
                                        <p:cTn id="578" dur="1" fill="hold">
                                          <p:stCondLst>
                                            <p:cond delay="0"/>
                                          </p:stCondLst>
                                        </p:cTn>
                                        <p:tgtEl>
                                          <p:spTgt spid="206"/>
                                        </p:tgtEl>
                                        <p:attrNameLst>
                                          <p:attrName>style.visibility</p:attrName>
                                        </p:attrNameLst>
                                      </p:cBhvr>
                                      <p:to>
                                        <p:strVal val="visible"/>
                                      </p:to>
                                    </p:set>
                                    <p:animEffect filter="wipe(down)" transition="in">
                                      <p:cBhvr additive="repl">
                                        <p:cTn id="579" dur="500"/>
                                        <p:tgtEl>
                                          <p:spTgt spid="206"/>
                                        </p:tgtEl>
                                      </p:cBhvr>
                                    </p:animEffect>
                                  </p:childTnLst>
                                </p:cTn>
                              </p:par>
                            </p:childTnLst>
                          </p:cTn>
                        </p:par>
                        <p:par>
                          <p:cTn id="580" nodeType="afterEffect" fill="hold">
                            <p:stCondLst>
                              <p:cond delay="500"/>
                            </p:stCondLst>
                            <p:childTnLst>
                              <p:par>
                                <p:cTn id="581" nodeType="afterEffect" fill="hold" presetClass="entr" presetID="22" presetSubtype="4">
                                  <p:stCondLst>
                                    <p:cond delay="0"/>
                                  </p:stCondLst>
                                  <p:childTnLst>
                                    <p:set>
                                      <p:cBhvr>
                                        <p:cTn id="582" dur="1" fill="hold">
                                          <p:stCondLst>
                                            <p:cond delay="0"/>
                                          </p:stCondLst>
                                        </p:cTn>
                                        <p:tgtEl>
                                          <p:spTgt spid="207"/>
                                        </p:tgtEl>
                                        <p:attrNameLst>
                                          <p:attrName>style.visibility</p:attrName>
                                        </p:attrNameLst>
                                      </p:cBhvr>
                                      <p:to>
                                        <p:strVal val="visible"/>
                                      </p:to>
                                    </p:set>
                                    <p:animEffect filter="wipe(down)" transition="in">
                                      <p:cBhvr additive="repl">
                                        <p:cTn id="583" dur="500"/>
                                        <p:tgtEl>
                                          <p:spTgt spid="207"/>
                                        </p:tgtEl>
                                      </p:cBhvr>
                                    </p:animEffect>
                                  </p:childTnLst>
                                </p:cTn>
                              </p:par>
                            </p:childTnLst>
                          </p:cTn>
                        </p:par>
                        <p:par>
                          <p:cTn id="584" nodeType="afterEffect" fill="hold">
                            <p:stCondLst>
                              <p:cond delay="1000"/>
                            </p:stCondLst>
                            <p:childTnLst>
                              <p:par>
                                <p:cTn id="585" nodeType="afterEffect" fill="hold" presetClass="entr" presetID="22" presetSubtype="4">
                                  <p:stCondLst>
                                    <p:cond delay="0"/>
                                  </p:stCondLst>
                                  <p:childTnLst>
                                    <p:set>
                                      <p:cBhvr>
                                        <p:cTn id="586" dur="1" fill="hold">
                                          <p:stCondLst>
                                            <p:cond delay="0"/>
                                          </p:stCondLst>
                                        </p:cTn>
                                        <p:tgtEl>
                                          <p:spTgt spid="208"/>
                                        </p:tgtEl>
                                        <p:attrNameLst>
                                          <p:attrName>style.visibility</p:attrName>
                                        </p:attrNameLst>
                                      </p:cBhvr>
                                      <p:to>
                                        <p:strVal val="visible"/>
                                      </p:to>
                                    </p:set>
                                    <p:animEffect filter="wipe(down)" transition="in">
                                      <p:cBhvr additive="repl">
                                        <p:cTn id="587" dur="500"/>
                                        <p:tgtEl>
                                          <p:spTgt spid="208"/>
                                        </p:tgtEl>
                                      </p:cBhvr>
                                    </p:animEffect>
                                  </p:childTnLst>
                                </p:cTn>
                              </p:par>
                            </p:childTnLst>
                          </p:cTn>
                        </p:par>
                        <p:par>
                          <p:cTn id="588" nodeType="afterEffect" fill="hold">
                            <p:stCondLst>
                              <p:cond delay="1500"/>
                            </p:stCondLst>
                            <p:childTnLst>
                              <p:par>
                                <p:cTn id="589" nodeType="afterEffect" fill="hold" presetClass="entr" presetID="22" presetSubtype="4">
                                  <p:stCondLst>
                                    <p:cond delay="0"/>
                                  </p:stCondLst>
                                  <p:childTnLst>
                                    <p:set>
                                      <p:cBhvr>
                                        <p:cTn id="590" dur="1" fill="hold">
                                          <p:stCondLst>
                                            <p:cond delay="0"/>
                                          </p:stCondLst>
                                        </p:cTn>
                                        <p:tgtEl>
                                          <p:spTgt spid="209"/>
                                        </p:tgtEl>
                                        <p:attrNameLst>
                                          <p:attrName>style.visibility</p:attrName>
                                        </p:attrNameLst>
                                      </p:cBhvr>
                                      <p:to>
                                        <p:strVal val="visible"/>
                                      </p:to>
                                    </p:set>
                                    <p:animEffect filter="wipe(down)" transition="in">
                                      <p:cBhvr additive="repl">
                                        <p:cTn id="591" dur="500"/>
                                        <p:tgtEl>
                                          <p:spTgt spid="209"/>
                                        </p:tgtEl>
                                      </p:cBhvr>
                                    </p:animEffect>
                                  </p:childTnLst>
                                </p:cTn>
                              </p:par>
                            </p:childTnLst>
                          </p:cTn>
                        </p:par>
                        <p:par>
                          <p:cTn id="592" nodeType="afterEffect" fill="hold">
                            <p:stCondLst>
                              <p:cond delay="2000"/>
                            </p:stCondLst>
                            <p:childTnLst>
                              <p:par>
                                <p:cTn id="593" nodeType="afterEffect" fill="hold" presetClass="entr" presetID="22" presetSubtype="4">
                                  <p:stCondLst>
                                    <p:cond delay="0"/>
                                  </p:stCondLst>
                                  <p:childTnLst>
                                    <p:set>
                                      <p:cBhvr>
                                        <p:cTn id="594" dur="1" fill="hold">
                                          <p:stCondLst>
                                            <p:cond delay="0"/>
                                          </p:stCondLst>
                                        </p:cTn>
                                        <p:tgtEl>
                                          <p:spTgt spid="210"/>
                                        </p:tgtEl>
                                        <p:attrNameLst>
                                          <p:attrName>style.visibility</p:attrName>
                                        </p:attrNameLst>
                                      </p:cBhvr>
                                      <p:to>
                                        <p:strVal val="visible"/>
                                      </p:to>
                                    </p:set>
                                    <p:animEffect filter="wipe(down)" transition="in">
                                      <p:cBhvr additive="repl">
                                        <p:cTn id="595" dur="500"/>
                                        <p:tgtEl>
                                          <p:spTgt spid="210"/>
                                        </p:tgtEl>
                                      </p:cBhvr>
                                    </p:animEffect>
                                  </p:childTnLst>
                                </p:cTn>
                              </p:par>
                            </p:childTnLst>
                          </p:cTn>
                        </p:par>
                      </p:childTnLst>
                    </p:cTn>
                  </p:par>
                  <p:par>
                    <p:cTn id="596" nodeType="clickEffect" fill="hold">
                      <p:stCondLst>
                        <p:cond delay="indefinite"/>
                      </p:stCondLst>
                      <p:childTnLst>
                        <p:par>
                          <p:cTn id="597" nodeType="withEffect" fill="hold">
                            <p:stCondLst>
                              <p:cond delay="0"/>
                            </p:stCondLst>
                            <p:childTnLst>
                              <p:par>
                                <p:cTn id="598" nodeType="clickEffect" fill="hold" presetClass="entr" presetID="22" presetSubtype="8">
                                  <p:stCondLst>
                                    <p:cond delay="0"/>
                                  </p:stCondLst>
                                  <p:childTnLst>
                                    <p:set>
                                      <p:cBhvr>
                                        <p:cTn id="599" dur="1" fill="hold">
                                          <p:stCondLst>
                                            <p:cond delay="0"/>
                                          </p:stCondLst>
                                        </p:cTn>
                                        <p:tgtEl>
                                          <p:spTgt spid="211"/>
                                        </p:tgtEl>
                                        <p:attrNameLst>
                                          <p:attrName>style.visibility</p:attrName>
                                        </p:attrNameLst>
                                      </p:cBhvr>
                                      <p:to>
                                        <p:strVal val="visible"/>
                                      </p:to>
                                    </p:set>
                                    <p:animEffect filter="wipe(left)" transition="in">
                                      <p:cBhvr additive="repl">
                                        <p:cTn id="600" dur="500"/>
                                        <p:tgtEl>
                                          <p:spTgt spid="211"/>
                                        </p:tgtEl>
                                      </p:cBhvr>
                                    </p:animEffect>
                                  </p:childTnLst>
                                </p:cTn>
                              </p:par>
                            </p:childTnLst>
                          </p:cTn>
                        </p:par>
                        <p:par>
                          <p:cTn id="601" nodeType="afterEffect" fill="hold">
                            <p:stCondLst>
                              <p:cond delay="500"/>
                            </p:stCondLst>
                            <p:childTnLst>
                              <p:par>
                                <p:cTn id="602" nodeType="afterEffect" fill="hold" presetClass="entr" presetID="22" presetSubtype="1">
                                  <p:stCondLst>
                                    <p:cond delay="0"/>
                                  </p:stCondLst>
                                  <p:childTnLst>
                                    <p:set>
                                      <p:cBhvr>
                                        <p:cTn id="603" dur="1" fill="hold">
                                          <p:stCondLst>
                                            <p:cond delay="0"/>
                                          </p:stCondLst>
                                        </p:cTn>
                                        <p:tgtEl>
                                          <p:spTgt spid="212"/>
                                        </p:tgtEl>
                                        <p:attrNameLst>
                                          <p:attrName>style.visibility</p:attrName>
                                        </p:attrNameLst>
                                      </p:cBhvr>
                                      <p:to>
                                        <p:strVal val="visible"/>
                                      </p:to>
                                    </p:set>
                                    <p:animEffect filter="wipe(up)" transition="in">
                                      <p:cBhvr additive="repl">
                                        <p:cTn id="604" dur="500"/>
                                        <p:tgtEl>
                                          <p:spTgt spid="212"/>
                                        </p:tgtEl>
                                      </p:cBhvr>
                                    </p:animEffect>
                                  </p:childTnLst>
                                </p:cTn>
                              </p:par>
                            </p:childTnLst>
                          </p:cTn>
                        </p:par>
                        <p:par>
                          <p:cTn id="605" nodeType="afterEffect" fill="hold">
                            <p:stCondLst>
                              <p:cond delay="1000"/>
                            </p:stCondLst>
                            <p:childTnLst>
                              <p:par>
                                <p:cTn id="606" nodeType="afterEffect" fill="hold" presetClass="entr" presetID="22" presetSubtype="1">
                                  <p:stCondLst>
                                    <p:cond delay="0"/>
                                  </p:stCondLst>
                                  <p:childTnLst>
                                    <p:set>
                                      <p:cBhvr>
                                        <p:cTn id="607" dur="1" fill="hold">
                                          <p:stCondLst>
                                            <p:cond delay="0"/>
                                          </p:stCondLst>
                                        </p:cTn>
                                        <p:tgtEl>
                                          <p:spTgt spid="213"/>
                                        </p:tgtEl>
                                        <p:attrNameLst>
                                          <p:attrName>style.visibility</p:attrName>
                                        </p:attrNameLst>
                                      </p:cBhvr>
                                      <p:to>
                                        <p:strVal val="visible"/>
                                      </p:to>
                                    </p:set>
                                    <p:animEffect filter="wipe(up)" transition="in">
                                      <p:cBhvr additive="repl">
                                        <p:cTn id="608" dur="500"/>
                                        <p:tgtEl>
                                          <p:spTgt spid="213"/>
                                        </p:tgtEl>
                                      </p:cBhvr>
                                    </p:animEffect>
                                  </p:childTnLst>
                                </p:cTn>
                              </p:par>
                            </p:childTnLst>
                          </p:cTn>
                        </p:par>
                        <p:par>
                          <p:cTn id="609" nodeType="afterEffect" fill="hold">
                            <p:stCondLst>
                              <p:cond delay="1500"/>
                            </p:stCondLst>
                            <p:childTnLst>
                              <p:par>
                                <p:cTn id="610" nodeType="afterEffect" fill="hold" presetClass="entr" presetID="22" presetSubtype="1">
                                  <p:stCondLst>
                                    <p:cond delay="0"/>
                                  </p:stCondLst>
                                  <p:childTnLst>
                                    <p:set>
                                      <p:cBhvr>
                                        <p:cTn id="611" dur="1" fill="hold">
                                          <p:stCondLst>
                                            <p:cond delay="0"/>
                                          </p:stCondLst>
                                        </p:cTn>
                                        <p:tgtEl>
                                          <p:spTgt spid="214"/>
                                        </p:tgtEl>
                                        <p:attrNameLst>
                                          <p:attrName>style.visibility</p:attrName>
                                        </p:attrNameLst>
                                      </p:cBhvr>
                                      <p:to>
                                        <p:strVal val="visible"/>
                                      </p:to>
                                    </p:set>
                                    <p:animEffect filter="wipe(up)" transition="in">
                                      <p:cBhvr additive="repl">
                                        <p:cTn id="612" dur="500"/>
                                        <p:tgtEl>
                                          <p:spTgt spid="214"/>
                                        </p:tgtEl>
                                      </p:cBhvr>
                                    </p:animEffect>
                                  </p:childTnLst>
                                </p:cTn>
                              </p:par>
                            </p:childTnLst>
                          </p:cTn>
                        </p:par>
                        <p:par>
                          <p:cTn id="613" nodeType="afterEffect" fill="hold">
                            <p:stCondLst>
                              <p:cond delay="2000"/>
                            </p:stCondLst>
                            <p:childTnLst>
                              <p:par>
                                <p:cTn id="614" nodeType="afterEffect" fill="hold" presetClass="entr" presetID="22" presetSubtype="1">
                                  <p:stCondLst>
                                    <p:cond delay="0"/>
                                  </p:stCondLst>
                                  <p:childTnLst>
                                    <p:set>
                                      <p:cBhvr>
                                        <p:cTn id="615" dur="1" fill="hold">
                                          <p:stCondLst>
                                            <p:cond delay="0"/>
                                          </p:stCondLst>
                                        </p:cTn>
                                        <p:tgtEl>
                                          <p:spTgt spid="215"/>
                                        </p:tgtEl>
                                        <p:attrNameLst>
                                          <p:attrName>style.visibility</p:attrName>
                                        </p:attrNameLst>
                                      </p:cBhvr>
                                      <p:to>
                                        <p:strVal val="visible"/>
                                      </p:to>
                                    </p:set>
                                    <p:animEffect filter="wipe(up)" transition="in">
                                      <p:cBhvr additive="repl">
                                        <p:cTn id="616" dur="500"/>
                                        <p:tgtEl>
                                          <p:spTgt spid="215"/>
                                        </p:tgtEl>
                                      </p:cBhvr>
                                    </p:animEffect>
                                  </p:childTnLst>
                                </p:cTn>
                              </p:par>
                            </p:childTnLst>
                          </p:cTn>
                        </p:par>
                      </p:childTnLst>
                    </p:cTn>
                  </p:par>
                  <p:par>
                    <p:cTn id="617" nodeType="clickEffect" fill="hold">
                      <p:stCondLst>
                        <p:cond delay="indefinite"/>
                      </p:stCondLst>
                      <p:childTnLst>
                        <p:par>
                          <p:cTn id="618" nodeType="withEffect" fill="hold">
                            <p:stCondLst>
                              <p:cond delay="0"/>
                            </p:stCondLst>
                            <p:childTnLst>
                              <p:par>
                                <p:cTn id="619" nodeType="clickEffect" fill="hold" presetClass="entr" presetID="22" presetSubtype="8">
                                  <p:stCondLst>
                                    <p:cond delay="0"/>
                                  </p:stCondLst>
                                  <p:childTnLst>
                                    <p:set>
                                      <p:cBhvr>
                                        <p:cTn id="620" dur="1" fill="hold">
                                          <p:stCondLst>
                                            <p:cond delay="0"/>
                                          </p:stCondLst>
                                        </p:cTn>
                                        <p:tgtEl>
                                          <p:spTgt spid="216"/>
                                        </p:tgtEl>
                                        <p:attrNameLst>
                                          <p:attrName>style.visibility</p:attrName>
                                        </p:attrNameLst>
                                      </p:cBhvr>
                                      <p:to>
                                        <p:strVal val="visible"/>
                                      </p:to>
                                    </p:set>
                                    <p:animEffect filter="wipe(left)" transition="in">
                                      <p:cBhvr additive="repl">
                                        <p:cTn id="621" dur="1000"/>
                                        <p:tgtEl>
                                          <p:spTgt spid="216"/>
                                        </p:tgtEl>
                                      </p:cBhvr>
                                    </p:animEffect>
                                  </p:childTnLst>
                                </p:cTn>
                              </p:par>
                            </p:childTnLst>
                          </p:cTn>
                        </p:par>
                      </p:childTnLst>
                    </p:cTn>
                  </p:par>
                  <p:par>
                    <p:cTn id="622" nodeType="clickEffect" fill="hold">
                      <p:stCondLst>
                        <p:cond delay="indefinite"/>
                      </p:stCondLst>
                      <p:childTnLst>
                        <p:par>
                          <p:cTn id="623" nodeType="withEffect" fill="hold">
                            <p:stCondLst>
                              <p:cond delay="0"/>
                            </p:stCondLst>
                            <p:childTnLst>
                              <p:par>
                                <p:cTn id="624" nodeType="clickEffect" fill="hold" presetClass="entr" presetID="10">
                                  <p:stCondLst>
                                    <p:cond delay="0"/>
                                  </p:stCondLst>
                                  <p:childTnLst>
                                    <p:set>
                                      <p:cBhvr>
                                        <p:cTn id="625" dur="1" fill="hold">
                                          <p:stCondLst>
                                            <p:cond delay="0"/>
                                          </p:stCondLst>
                                        </p:cTn>
                                        <p:tgtEl>
                                          <p:spTgt spid="217"/>
                                        </p:tgtEl>
                                        <p:attrNameLst>
                                          <p:attrName>style.visibility</p:attrName>
                                        </p:attrNameLst>
                                      </p:cBhvr>
                                      <p:to>
                                        <p:strVal val="visible"/>
                                      </p:to>
                                    </p:set>
                                    <p:animEffect filter="fade" transition="in">
                                      <p:cBhvr additive="repl">
                                        <p:cTn id="626" dur="500"/>
                                        <p:tgtEl>
                                          <p:spTgt spid="2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16.2  SINGLE-PRICE MONOPOLY</a:t>
            </a:r>
            <a:endParaRPr b="0" lang="en-CA" sz="2600" strike="noStrike" u="none">
              <a:solidFill>
                <a:schemeClr val="dk1"/>
              </a:solidFill>
              <a:effectLst/>
              <a:uFillTx/>
              <a:latin typeface="Arial"/>
            </a:endParaRPr>
          </a:p>
        </p:txBody>
      </p:sp>
      <p:sp>
        <p:nvSpPr>
          <p:cNvPr id="219" name="PlaceHolder 2"/>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Over the range from 5 to 10 haircuts an hour, marginal revenue is negative and total revenue decreases as output increases.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blue line is the total revenue curve.</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Total revenue is maximized at 5 haircuts an hour.</a:t>
            </a:r>
            <a:endParaRPr b="1" lang="en-CA" sz="2400" strike="noStrike" u="none">
              <a:solidFill>
                <a:srgbClr val="00468f"/>
              </a:solidFill>
              <a:effectLst/>
              <a:uFillTx/>
              <a:latin typeface="Arial"/>
            </a:endParaRPr>
          </a:p>
        </p:txBody>
      </p:sp>
      <p:pic>
        <p:nvPicPr>
          <p:cNvPr id="220" name="Picture 9" descr=""/>
          <p:cNvPicPr/>
          <p:nvPr/>
        </p:nvPicPr>
        <p:blipFill>
          <a:blip r:embed="rId1"/>
          <a:stretch/>
        </p:blipFill>
        <p:spPr>
          <a:xfrm>
            <a:off x="4500720" y="1511280"/>
            <a:ext cx="4063680" cy="4397040"/>
          </a:xfrm>
          <a:prstGeom prst="rect">
            <a:avLst/>
          </a:prstGeom>
          <a:noFill/>
          <a:ln w="0">
            <a:noFill/>
          </a:ln>
        </p:spPr>
      </p:pic>
      <p:pic>
        <p:nvPicPr>
          <p:cNvPr id="221" name="Picture 10" descr=""/>
          <p:cNvPicPr/>
          <p:nvPr/>
        </p:nvPicPr>
        <p:blipFill>
          <a:blip r:embed="rId2"/>
          <a:stretch/>
        </p:blipFill>
        <p:spPr>
          <a:xfrm>
            <a:off x="4500720" y="1511280"/>
            <a:ext cx="4063680" cy="4397040"/>
          </a:xfrm>
          <a:prstGeom prst="rect">
            <a:avLst/>
          </a:prstGeom>
          <a:noFill/>
          <a:ln w="0">
            <a:noFill/>
          </a:ln>
        </p:spPr>
      </p:pic>
      <p:pic>
        <p:nvPicPr>
          <p:cNvPr id="222" name="Picture 11" descr=""/>
          <p:cNvPicPr/>
          <p:nvPr/>
        </p:nvPicPr>
        <p:blipFill>
          <a:blip r:embed="rId3"/>
          <a:stretch/>
        </p:blipFill>
        <p:spPr>
          <a:xfrm>
            <a:off x="4500720" y="1511280"/>
            <a:ext cx="4063680" cy="4397040"/>
          </a:xfrm>
          <a:prstGeom prst="rect">
            <a:avLst/>
          </a:prstGeom>
          <a:noFill/>
          <a:ln w="0">
            <a:noFill/>
          </a:ln>
        </p:spPr>
      </p:pic>
      <p:pic>
        <p:nvPicPr>
          <p:cNvPr id="223" name="Picture 12" descr=""/>
          <p:cNvPicPr/>
          <p:nvPr/>
        </p:nvPicPr>
        <p:blipFill>
          <a:blip r:embed="rId4"/>
          <a:stretch/>
        </p:blipFill>
        <p:spPr>
          <a:xfrm>
            <a:off x="4500720" y="1511280"/>
            <a:ext cx="4063680" cy="4397040"/>
          </a:xfrm>
          <a:prstGeom prst="rect">
            <a:avLst/>
          </a:prstGeom>
          <a:noFill/>
          <a:ln w="0">
            <a:noFill/>
          </a:ln>
        </p:spPr>
      </p:pic>
      <p:pic>
        <p:nvPicPr>
          <p:cNvPr id="224" name="Picture 15" descr=""/>
          <p:cNvPicPr/>
          <p:nvPr/>
        </p:nvPicPr>
        <p:blipFill>
          <a:blip r:embed="rId5"/>
          <a:stretch/>
        </p:blipFill>
        <p:spPr>
          <a:xfrm>
            <a:off x="4500720" y="1511280"/>
            <a:ext cx="4063680" cy="4397040"/>
          </a:xfrm>
          <a:prstGeom prst="rect">
            <a:avLst/>
          </a:prstGeom>
          <a:noFill/>
          <a:ln w="0">
            <a:noFill/>
          </a:ln>
        </p:spPr>
      </p:pic>
      <p:pic>
        <p:nvPicPr>
          <p:cNvPr id="225" name="Picture 16" descr=""/>
          <p:cNvPicPr/>
          <p:nvPr/>
        </p:nvPicPr>
        <p:blipFill>
          <a:blip r:embed="rId6"/>
          <a:stretch/>
        </p:blipFill>
        <p:spPr>
          <a:xfrm>
            <a:off x="4500720" y="1511280"/>
            <a:ext cx="4063680" cy="4397040"/>
          </a:xfrm>
          <a:prstGeom prst="rect">
            <a:avLst/>
          </a:prstGeom>
          <a:noFill/>
          <a:ln w="0">
            <a:noFill/>
          </a:ln>
        </p:spPr>
      </p:pic>
      <p:pic>
        <p:nvPicPr>
          <p:cNvPr id="226" name="Picture 17" descr=""/>
          <p:cNvPicPr/>
          <p:nvPr/>
        </p:nvPicPr>
        <p:blipFill>
          <a:blip r:embed="rId7"/>
          <a:stretch/>
        </p:blipFill>
        <p:spPr>
          <a:xfrm>
            <a:off x="4500720" y="1511280"/>
            <a:ext cx="4063680" cy="4397040"/>
          </a:xfrm>
          <a:prstGeom prst="rect">
            <a:avLst/>
          </a:prstGeom>
          <a:noFill/>
          <a:ln w="0">
            <a:noFill/>
          </a:ln>
        </p:spPr>
      </p:pic>
      <p:pic>
        <p:nvPicPr>
          <p:cNvPr id="227" name="Picture 18" descr=""/>
          <p:cNvPicPr/>
          <p:nvPr/>
        </p:nvPicPr>
        <p:blipFill>
          <a:blip r:embed="rId8"/>
          <a:stretch/>
        </p:blipFill>
        <p:spPr>
          <a:xfrm>
            <a:off x="4500720" y="1511280"/>
            <a:ext cx="4063680" cy="4397040"/>
          </a:xfrm>
          <a:prstGeom prst="rect">
            <a:avLst/>
          </a:prstGeom>
          <a:noFill/>
          <a:ln w="0">
            <a:noFill/>
          </a:ln>
        </p:spPr>
      </p:pic>
      <p:pic>
        <p:nvPicPr>
          <p:cNvPr id="228" name="Picture 19" descr=""/>
          <p:cNvPicPr/>
          <p:nvPr/>
        </p:nvPicPr>
        <p:blipFill>
          <a:blip r:embed="rId9"/>
          <a:stretch/>
        </p:blipFill>
        <p:spPr>
          <a:xfrm>
            <a:off x="4500720" y="1511280"/>
            <a:ext cx="4063680" cy="4397040"/>
          </a:xfrm>
          <a:prstGeom prst="rect">
            <a:avLst/>
          </a:prstGeom>
          <a:noFill/>
          <a:ln w="0">
            <a:noFill/>
          </a:ln>
        </p:spPr>
      </p:pic>
      <p:pic>
        <p:nvPicPr>
          <p:cNvPr id="229" name="Picture 20" descr=""/>
          <p:cNvPicPr/>
          <p:nvPr/>
        </p:nvPicPr>
        <p:blipFill>
          <a:blip r:embed="rId10"/>
          <a:stretch/>
        </p:blipFill>
        <p:spPr>
          <a:xfrm>
            <a:off x="4500720" y="1511280"/>
            <a:ext cx="4063680" cy="4397040"/>
          </a:xfrm>
          <a:prstGeom prst="rect">
            <a:avLst/>
          </a:prstGeom>
          <a:noFill/>
          <a:ln w="0">
            <a:noFill/>
          </a:ln>
        </p:spPr>
      </p:pic>
      <p:pic>
        <p:nvPicPr>
          <p:cNvPr id="230" name="Picture 21" descr=""/>
          <p:cNvPicPr/>
          <p:nvPr/>
        </p:nvPicPr>
        <p:blipFill>
          <a:blip r:embed="rId11"/>
          <a:stretch/>
        </p:blipFill>
        <p:spPr>
          <a:xfrm>
            <a:off x="4500720" y="1511280"/>
            <a:ext cx="4063680" cy="4397040"/>
          </a:xfrm>
          <a:prstGeom prst="rect">
            <a:avLst/>
          </a:prstGeom>
          <a:noFill/>
          <a:ln w="0">
            <a:noFill/>
          </a:ln>
        </p:spPr>
      </p:pic>
      <p:pic>
        <p:nvPicPr>
          <p:cNvPr id="231" name="Picture 22" descr=""/>
          <p:cNvPicPr/>
          <p:nvPr/>
        </p:nvPicPr>
        <p:blipFill>
          <a:blip r:embed="rId12"/>
          <a:stretch/>
        </p:blipFill>
        <p:spPr>
          <a:xfrm>
            <a:off x="4500720" y="1511280"/>
            <a:ext cx="4063680" cy="4397040"/>
          </a:xfrm>
          <a:prstGeom prst="rect">
            <a:avLst/>
          </a:prstGeom>
          <a:noFill/>
          <a:ln w="0">
            <a:noFill/>
          </a:ln>
        </p:spPr>
      </p:pic>
    </p:spTree>
  </p:cSld>
  <p:transition spd="slow">
    <p:wipe dir="r"/>
  </p:transition>
  <p:timing>
    <p:tnLst>
      <p:par>
        <p:cTn id="627" dur="indefinite" restart="never" nodeType="tmRoot">
          <p:childTnLst>
            <p:seq>
              <p:cTn id="628" dur="indefinite" nodeType="mainSeq">
                <p:childTnLst>
                  <p:par>
                    <p:cTn id="629" nodeType="clickEffect" fill="hold">
                      <p:stCondLst>
                        <p:cond delay="0"/>
                      </p:stCondLst>
                      <p:childTnLst>
                        <p:par>
                          <p:cTn id="630" nodeType="withEffect" fill="hold">
                            <p:stCondLst>
                              <p:cond delay="0"/>
                            </p:stCondLst>
                            <p:childTnLst>
                              <p:par>
                                <p:cTn id="631" nodeType="withEffect" fill="hold" presetClass="entr" presetID="22" presetSubtype="8">
                                  <p:stCondLst>
                                    <p:cond delay="0"/>
                                  </p:stCondLst>
                                  <p:childTnLst>
                                    <p:set>
                                      <p:cBhvr>
                                        <p:cTn id="632" dur="1" fill="hold">
                                          <p:stCondLst>
                                            <p:cond delay="0"/>
                                          </p:stCondLst>
                                        </p:cTn>
                                        <p:tgtEl>
                                          <p:spTgt spid="226"/>
                                        </p:tgtEl>
                                        <p:attrNameLst>
                                          <p:attrName>style.visibility</p:attrName>
                                        </p:attrNameLst>
                                      </p:cBhvr>
                                      <p:to>
                                        <p:strVal val="visible"/>
                                      </p:to>
                                    </p:set>
                                    <p:animEffect filter="wipe(left)" transition="in">
                                      <p:cBhvr additive="repl">
                                        <p:cTn id="633" dur="500"/>
                                        <p:tgtEl>
                                          <p:spTgt spid="226"/>
                                        </p:tgtEl>
                                      </p:cBhvr>
                                    </p:animEffect>
                                  </p:childTnLst>
                                </p:cTn>
                              </p:par>
                            </p:childTnLst>
                          </p:cTn>
                        </p:par>
                        <p:par>
                          <p:cTn id="634" nodeType="afterEffect" fill="hold">
                            <p:stCondLst>
                              <p:cond delay="500"/>
                            </p:stCondLst>
                            <p:childTnLst>
                              <p:par>
                                <p:cTn id="635" nodeType="afterEffect" fill="hold" presetClass="entr" presetID="22" presetSubtype="1">
                                  <p:stCondLst>
                                    <p:cond delay="0"/>
                                  </p:stCondLst>
                                  <p:childTnLst>
                                    <p:set>
                                      <p:cBhvr>
                                        <p:cTn id="636" dur="1" fill="hold">
                                          <p:stCondLst>
                                            <p:cond delay="0"/>
                                          </p:stCondLst>
                                        </p:cTn>
                                        <p:tgtEl>
                                          <p:spTgt spid="227"/>
                                        </p:tgtEl>
                                        <p:attrNameLst>
                                          <p:attrName>style.visibility</p:attrName>
                                        </p:attrNameLst>
                                      </p:cBhvr>
                                      <p:to>
                                        <p:strVal val="visible"/>
                                      </p:to>
                                    </p:set>
                                    <p:animEffect filter="wipe(up)" transition="in">
                                      <p:cBhvr additive="repl">
                                        <p:cTn id="637" dur="500"/>
                                        <p:tgtEl>
                                          <p:spTgt spid="227"/>
                                        </p:tgtEl>
                                      </p:cBhvr>
                                    </p:animEffect>
                                  </p:childTnLst>
                                </p:cTn>
                              </p:par>
                            </p:childTnLst>
                          </p:cTn>
                        </p:par>
                        <p:par>
                          <p:cTn id="638" nodeType="afterEffect" fill="hold">
                            <p:stCondLst>
                              <p:cond delay="1000"/>
                            </p:stCondLst>
                            <p:childTnLst>
                              <p:par>
                                <p:cTn id="639" nodeType="afterEffect" fill="hold" presetClass="entr" presetID="22" presetSubtype="1">
                                  <p:stCondLst>
                                    <p:cond delay="0"/>
                                  </p:stCondLst>
                                  <p:childTnLst>
                                    <p:set>
                                      <p:cBhvr>
                                        <p:cTn id="640" dur="1" fill="hold">
                                          <p:stCondLst>
                                            <p:cond delay="0"/>
                                          </p:stCondLst>
                                        </p:cTn>
                                        <p:tgtEl>
                                          <p:spTgt spid="228"/>
                                        </p:tgtEl>
                                        <p:attrNameLst>
                                          <p:attrName>style.visibility</p:attrName>
                                        </p:attrNameLst>
                                      </p:cBhvr>
                                      <p:to>
                                        <p:strVal val="visible"/>
                                      </p:to>
                                    </p:set>
                                    <p:animEffect filter="wipe(up)" transition="in">
                                      <p:cBhvr additive="repl">
                                        <p:cTn id="641" dur="500"/>
                                        <p:tgtEl>
                                          <p:spTgt spid="228"/>
                                        </p:tgtEl>
                                      </p:cBhvr>
                                    </p:animEffect>
                                  </p:childTnLst>
                                </p:cTn>
                              </p:par>
                            </p:childTnLst>
                          </p:cTn>
                        </p:par>
                        <p:par>
                          <p:cTn id="642" nodeType="afterEffect" fill="hold">
                            <p:stCondLst>
                              <p:cond delay="1500"/>
                            </p:stCondLst>
                            <p:childTnLst>
                              <p:par>
                                <p:cTn id="643" nodeType="afterEffect" fill="hold" presetClass="entr" presetID="22" presetSubtype="1">
                                  <p:stCondLst>
                                    <p:cond delay="0"/>
                                  </p:stCondLst>
                                  <p:childTnLst>
                                    <p:set>
                                      <p:cBhvr>
                                        <p:cTn id="644" dur="1" fill="hold">
                                          <p:stCondLst>
                                            <p:cond delay="0"/>
                                          </p:stCondLst>
                                        </p:cTn>
                                        <p:tgtEl>
                                          <p:spTgt spid="229"/>
                                        </p:tgtEl>
                                        <p:attrNameLst>
                                          <p:attrName>style.visibility</p:attrName>
                                        </p:attrNameLst>
                                      </p:cBhvr>
                                      <p:to>
                                        <p:strVal val="visible"/>
                                      </p:to>
                                    </p:set>
                                    <p:animEffect filter="wipe(up)" transition="in">
                                      <p:cBhvr additive="repl">
                                        <p:cTn id="645" dur="500"/>
                                        <p:tgtEl>
                                          <p:spTgt spid="229"/>
                                        </p:tgtEl>
                                      </p:cBhvr>
                                    </p:animEffect>
                                  </p:childTnLst>
                                </p:cTn>
                              </p:par>
                            </p:childTnLst>
                          </p:cTn>
                        </p:par>
                        <p:par>
                          <p:cTn id="646" nodeType="afterEffect" fill="hold">
                            <p:stCondLst>
                              <p:cond delay="2000"/>
                            </p:stCondLst>
                            <p:childTnLst>
                              <p:par>
                                <p:cTn id="647" nodeType="afterEffect" fill="hold" presetClass="entr" presetID="22" presetSubtype="1">
                                  <p:stCondLst>
                                    <p:cond delay="0"/>
                                  </p:stCondLst>
                                  <p:childTnLst>
                                    <p:set>
                                      <p:cBhvr>
                                        <p:cTn id="648" dur="1" fill="hold">
                                          <p:stCondLst>
                                            <p:cond delay="0"/>
                                          </p:stCondLst>
                                        </p:cTn>
                                        <p:tgtEl>
                                          <p:spTgt spid="230"/>
                                        </p:tgtEl>
                                        <p:attrNameLst>
                                          <p:attrName>style.visibility</p:attrName>
                                        </p:attrNameLst>
                                      </p:cBhvr>
                                      <p:to>
                                        <p:strVal val="visible"/>
                                      </p:to>
                                    </p:set>
                                    <p:animEffect filter="wipe(up)" transition="in">
                                      <p:cBhvr additive="repl">
                                        <p:cTn id="649" dur="500"/>
                                        <p:tgtEl>
                                          <p:spTgt spid="230"/>
                                        </p:tgtEl>
                                      </p:cBhvr>
                                    </p:animEffect>
                                  </p:childTnLst>
                                </p:cTn>
                              </p:par>
                            </p:childTnLst>
                          </p:cTn>
                        </p:par>
                      </p:childTnLst>
                    </p:cTn>
                  </p:par>
                  <p:par>
                    <p:cTn id="650" nodeType="clickEffect" fill="hold">
                      <p:stCondLst>
                        <p:cond delay="indefinite"/>
                      </p:stCondLst>
                      <p:childTnLst>
                        <p:par>
                          <p:cTn id="651" nodeType="withEffect" fill="hold">
                            <p:stCondLst>
                              <p:cond delay="0"/>
                            </p:stCondLst>
                            <p:childTnLst>
                              <p:par>
                                <p:cTn id="652" nodeType="clickEffect" fill="hold" presetClass="entr" presetID="22" presetSubtype="8">
                                  <p:stCondLst>
                                    <p:cond delay="0"/>
                                  </p:stCondLst>
                                  <p:childTnLst>
                                    <p:set>
                                      <p:cBhvr>
                                        <p:cTn id="653" dur="1" fill="hold">
                                          <p:stCondLst>
                                            <p:cond delay="0"/>
                                          </p:stCondLst>
                                        </p:cTn>
                                        <p:tgtEl>
                                          <p:spTgt spid="219">
                                            <p:txEl>
                                              <p:pRg st="1" end="1"/>
                                            </p:txEl>
                                          </p:spTgt>
                                        </p:tgtEl>
                                        <p:attrNameLst>
                                          <p:attrName>style.visibility</p:attrName>
                                        </p:attrNameLst>
                                      </p:cBhvr>
                                      <p:to>
                                        <p:strVal val="visible"/>
                                      </p:to>
                                    </p:set>
                                    <p:animEffect filter="wipe(left)" transition="in">
                                      <p:cBhvr additive="repl">
                                        <p:cTn id="654" dur="500"/>
                                        <p:tgtEl>
                                          <p:spTgt spid="219">
                                            <p:txEl>
                                              <p:pRg st="1" end="1"/>
                                            </p:txEl>
                                          </p:spTgt>
                                        </p:tgtEl>
                                      </p:cBhvr>
                                    </p:animEffect>
                                  </p:childTnLst>
                                </p:cTn>
                              </p:par>
                              <p:par>
                                <p:cTn id="655" nodeType="withEffect" fill="hold" presetClass="entr" presetID="22" presetSubtype="8">
                                  <p:stCondLst>
                                    <p:cond delay="0"/>
                                  </p:stCondLst>
                                  <p:childTnLst>
                                    <p:set>
                                      <p:cBhvr>
                                        <p:cTn id="656" dur="1" fill="hold">
                                          <p:stCondLst>
                                            <p:cond delay="0"/>
                                          </p:stCondLst>
                                        </p:cTn>
                                        <p:tgtEl>
                                          <p:spTgt spid="231"/>
                                        </p:tgtEl>
                                        <p:attrNameLst>
                                          <p:attrName>style.visibility</p:attrName>
                                        </p:attrNameLst>
                                      </p:cBhvr>
                                      <p:to>
                                        <p:strVal val="visible"/>
                                      </p:to>
                                    </p:set>
                                    <p:animEffect filter="wipe(left)" transition="in">
                                      <p:cBhvr additive="repl">
                                        <p:cTn id="657" dur="1000"/>
                                        <p:tgtEl>
                                          <p:spTgt spid="231"/>
                                        </p:tgtEl>
                                      </p:cBhvr>
                                    </p:animEffect>
                                  </p:childTnLst>
                                </p:cTn>
                              </p:par>
                            </p:childTnLst>
                          </p:cTn>
                        </p:par>
                      </p:childTnLst>
                    </p:cTn>
                  </p:par>
                  <p:par>
                    <p:cTn id="658" nodeType="clickEffect" fill="hold">
                      <p:stCondLst>
                        <p:cond delay="indefinite"/>
                      </p:stCondLst>
                      <p:childTnLst>
                        <p:par>
                          <p:cTn id="659" nodeType="withEffect" fill="hold">
                            <p:stCondLst>
                              <p:cond delay="0"/>
                            </p:stCondLst>
                            <p:childTnLst>
                              <p:par>
                                <p:cTn id="660" nodeType="clickEffect" fill="hold" presetClass="entr" presetID="22" presetSubtype="8">
                                  <p:stCondLst>
                                    <p:cond delay="0"/>
                                  </p:stCondLst>
                                  <p:childTnLst>
                                    <p:set>
                                      <p:cBhvr>
                                        <p:cTn id="661" dur="1" fill="hold">
                                          <p:stCondLst>
                                            <p:cond delay="0"/>
                                          </p:stCondLst>
                                        </p:cTn>
                                        <p:tgtEl>
                                          <p:spTgt spid="219">
                                            <p:txEl>
                                              <p:pRg st="2" end="2"/>
                                            </p:txEl>
                                          </p:spTgt>
                                        </p:tgtEl>
                                        <p:attrNameLst>
                                          <p:attrName>style.visibility</p:attrName>
                                        </p:attrNameLst>
                                      </p:cBhvr>
                                      <p:to>
                                        <p:strVal val="visible"/>
                                      </p:to>
                                    </p:set>
                                    <p:animEffect filter="wipe(left)" transition="in">
                                      <p:cBhvr additive="repl">
                                        <p:cTn id="662" dur="500"/>
                                        <p:tgtEl>
                                          <p:spTgt spid="219">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16.2  SINGLE-PRICE MONOPOLY</a:t>
            </a:r>
            <a:endParaRPr b="0" lang="en-CA" sz="2600" strike="noStrike" u="none">
              <a:solidFill>
                <a:schemeClr val="dk1"/>
              </a:solidFill>
              <a:effectLst/>
              <a:uFillTx/>
              <a:latin typeface="Arial"/>
            </a:endParaRPr>
          </a:p>
        </p:txBody>
      </p:sp>
      <p:sp>
        <p:nvSpPr>
          <p:cNvPr id="233" name="PlaceHolder 2"/>
          <p:cNvSpPr>
            <a:spLocks noGrp="1"/>
          </p:cNvSpPr>
          <p:nvPr>
            <p:ph/>
          </p:nvPr>
        </p:nvSpPr>
        <p:spPr>
          <a:xfrm>
            <a:off x="360360" y="1440000"/>
            <a:ext cx="390348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Flipping back to Figure 16.3(a), </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startAt="4"/>
              <a:tabLst>
                <a:tab algn="l" pos="0"/>
              </a:tabLst>
            </a:pPr>
            <a:r>
              <a:rPr b="0" lang="en-US" sz="2400" strike="noStrike" u="none">
                <a:solidFill>
                  <a:srgbClr val="000000"/>
                </a:solidFill>
                <a:effectLst/>
                <a:uFillTx/>
                <a:latin typeface="Arial"/>
                <a:ea typeface="ＭＳ Ｐゴシック"/>
              </a:rPr>
              <a:t>Total revenue is maximized at 5 haircuts an hour, where marginal revenue is zero and demand is unit elastic.</a:t>
            </a:r>
            <a:endParaRPr b="1" lang="en-CA" sz="2400" strike="noStrike" u="none">
              <a:solidFill>
                <a:srgbClr val="00468f"/>
              </a:solidFill>
              <a:effectLst/>
              <a:uFillTx/>
              <a:latin typeface="Arial"/>
            </a:endParaRPr>
          </a:p>
        </p:txBody>
      </p:sp>
      <p:pic>
        <p:nvPicPr>
          <p:cNvPr id="234" name="Picture 38" descr=""/>
          <p:cNvPicPr/>
          <p:nvPr/>
        </p:nvPicPr>
        <p:blipFill>
          <a:blip r:embed="rId1"/>
          <a:stretch/>
        </p:blipFill>
        <p:spPr>
          <a:xfrm>
            <a:off x="4500720" y="1511280"/>
            <a:ext cx="4063680" cy="4397040"/>
          </a:xfrm>
          <a:prstGeom prst="rect">
            <a:avLst/>
          </a:prstGeom>
          <a:noFill/>
          <a:ln w="0">
            <a:noFill/>
          </a:ln>
        </p:spPr>
      </p:pic>
      <p:pic>
        <p:nvPicPr>
          <p:cNvPr id="235" name="Picture 39" descr=""/>
          <p:cNvPicPr/>
          <p:nvPr/>
        </p:nvPicPr>
        <p:blipFill>
          <a:blip r:embed="rId2"/>
          <a:stretch/>
        </p:blipFill>
        <p:spPr>
          <a:xfrm>
            <a:off x="4500720" y="1511280"/>
            <a:ext cx="4063680" cy="4397040"/>
          </a:xfrm>
          <a:prstGeom prst="rect">
            <a:avLst/>
          </a:prstGeom>
          <a:noFill/>
          <a:ln w="0">
            <a:noFill/>
          </a:ln>
        </p:spPr>
      </p:pic>
      <p:pic>
        <p:nvPicPr>
          <p:cNvPr id="236" name="Picture 40" descr=""/>
          <p:cNvPicPr/>
          <p:nvPr/>
        </p:nvPicPr>
        <p:blipFill>
          <a:blip r:embed="rId3"/>
          <a:stretch/>
        </p:blipFill>
        <p:spPr>
          <a:xfrm>
            <a:off x="4500720" y="1511280"/>
            <a:ext cx="4063680" cy="4397040"/>
          </a:xfrm>
          <a:prstGeom prst="rect">
            <a:avLst/>
          </a:prstGeom>
          <a:noFill/>
          <a:ln w="0">
            <a:noFill/>
          </a:ln>
        </p:spPr>
      </p:pic>
      <p:pic>
        <p:nvPicPr>
          <p:cNvPr id="237" name="Picture 41" descr=""/>
          <p:cNvPicPr/>
          <p:nvPr/>
        </p:nvPicPr>
        <p:blipFill>
          <a:blip r:embed="rId4"/>
          <a:stretch/>
        </p:blipFill>
        <p:spPr>
          <a:xfrm>
            <a:off x="4500720" y="1511280"/>
            <a:ext cx="4063680" cy="4397040"/>
          </a:xfrm>
          <a:prstGeom prst="rect">
            <a:avLst/>
          </a:prstGeom>
          <a:noFill/>
          <a:ln w="0">
            <a:noFill/>
          </a:ln>
        </p:spPr>
      </p:pic>
      <p:pic>
        <p:nvPicPr>
          <p:cNvPr id="238" name="Picture 42" descr=""/>
          <p:cNvPicPr/>
          <p:nvPr/>
        </p:nvPicPr>
        <p:blipFill>
          <a:blip r:embed="rId5"/>
          <a:stretch/>
        </p:blipFill>
        <p:spPr>
          <a:xfrm>
            <a:off x="4500720" y="1511280"/>
            <a:ext cx="4063680" cy="4397040"/>
          </a:xfrm>
          <a:prstGeom prst="rect">
            <a:avLst/>
          </a:prstGeom>
          <a:noFill/>
          <a:ln w="0">
            <a:noFill/>
          </a:ln>
        </p:spPr>
      </p:pic>
      <p:pic>
        <p:nvPicPr>
          <p:cNvPr id="239" name="Picture 43" descr=""/>
          <p:cNvPicPr/>
          <p:nvPr/>
        </p:nvPicPr>
        <p:blipFill>
          <a:blip r:embed="rId6"/>
          <a:stretch/>
        </p:blipFill>
        <p:spPr>
          <a:xfrm>
            <a:off x="4500720" y="1511280"/>
            <a:ext cx="4063680" cy="4397040"/>
          </a:xfrm>
          <a:prstGeom prst="rect">
            <a:avLst/>
          </a:prstGeom>
          <a:noFill/>
          <a:ln w="0">
            <a:noFill/>
          </a:ln>
        </p:spPr>
      </p:pic>
      <p:pic>
        <p:nvPicPr>
          <p:cNvPr id="240" name="Picture 44" descr=""/>
          <p:cNvPicPr/>
          <p:nvPr/>
        </p:nvPicPr>
        <p:blipFill>
          <a:blip r:embed="rId7"/>
          <a:stretch/>
        </p:blipFill>
        <p:spPr>
          <a:xfrm>
            <a:off x="4500720" y="1511280"/>
            <a:ext cx="4063680" cy="4397040"/>
          </a:xfrm>
          <a:prstGeom prst="rect">
            <a:avLst/>
          </a:prstGeom>
          <a:noFill/>
          <a:ln w="0">
            <a:noFill/>
          </a:ln>
        </p:spPr>
      </p:pic>
      <p:pic>
        <p:nvPicPr>
          <p:cNvPr id="241" name="Picture 45" descr=""/>
          <p:cNvPicPr/>
          <p:nvPr/>
        </p:nvPicPr>
        <p:blipFill>
          <a:blip r:embed="rId8"/>
          <a:stretch/>
        </p:blipFill>
        <p:spPr>
          <a:xfrm>
            <a:off x="4500720" y="1511280"/>
            <a:ext cx="4063680" cy="4397040"/>
          </a:xfrm>
          <a:prstGeom prst="rect">
            <a:avLst/>
          </a:prstGeom>
          <a:noFill/>
          <a:ln w="0">
            <a:noFill/>
          </a:ln>
        </p:spPr>
      </p:pic>
      <p:pic>
        <p:nvPicPr>
          <p:cNvPr id="242" name="Picture 46" descr=""/>
          <p:cNvPicPr/>
          <p:nvPr/>
        </p:nvPicPr>
        <p:blipFill>
          <a:blip r:embed="rId9"/>
          <a:stretch/>
        </p:blipFill>
        <p:spPr>
          <a:xfrm>
            <a:off x="4500720" y="1511280"/>
            <a:ext cx="4063680" cy="4397040"/>
          </a:xfrm>
          <a:prstGeom prst="rect">
            <a:avLst/>
          </a:prstGeom>
          <a:noFill/>
          <a:ln w="0">
            <a:noFill/>
          </a:ln>
        </p:spPr>
      </p:pic>
      <p:pic>
        <p:nvPicPr>
          <p:cNvPr id="243" name="Picture 47" descr=""/>
          <p:cNvPicPr/>
          <p:nvPr/>
        </p:nvPicPr>
        <p:blipFill>
          <a:blip r:embed="rId10"/>
          <a:stretch/>
        </p:blipFill>
        <p:spPr>
          <a:xfrm>
            <a:off x="4500720" y="1511280"/>
            <a:ext cx="4063680" cy="4397040"/>
          </a:xfrm>
          <a:prstGeom prst="rect">
            <a:avLst/>
          </a:prstGeom>
          <a:noFill/>
          <a:ln w="0">
            <a:noFill/>
          </a:ln>
        </p:spPr>
      </p:pic>
      <p:pic>
        <p:nvPicPr>
          <p:cNvPr id="244" name="Picture 48" descr=""/>
          <p:cNvPicPr/>
          <p:nvPr/>
        </p:nvPicPr>
        <p:blipFill>
          <a:blip r:embed="rId11"/>
          <a:stretch/>
        </p:blipFill>
        <p:spPr>
          <a:xfrm>
            <a:off x="4500720" y="1511280"/>
            <a:ext cx="4063680" cy="4397040"/>
          </a:xfrm>
          <a:prstGeom prst="rect">
            <a:avLst/>
          </a:prstGeom>
          <a:noFill/>
          <a:ln w="0">
            <a:noFill/>
          </a:ln>
        </p:spPr>
      </p:pic>
      <p:pic>
        <p:nvPicPr>
          <p:cNvPr id="245" name="Picture 49" descr=""/>
          <p:cNvPicPr/>
          <p:nvPr/>
        </p:nvPicPr>
        <p:blipFill>
          <a:blip r:embed="rId12"/>
          <a:stretch/>
        </p:blipFill>
        <p:spPr>
          <a:xfrm>
            <a:off x="4500720" y="1511280"/>
            <a:ext cx="4063680" cy="4397040"/>
          </a:xfrm>
          <a:prstGeom prst="rect">
            <a:avLst/>
          </a:prstGeom>
          <a:noFill/>
          <a:ln w="0">
            <a:noFill/>
          </a:ln>
        </p:spPr>
      </p:pic>
      <p:pic>
        <p:nvPicPr>
          <p:cNvPr id="246" name="Picture 50" descr=""/>
          <p:cNvPicPr/>
          <p:nvPr/>
        </p:nvPicPr>
        <p:blipFill>
          <a:blip r:embed="rId13"/>
          <a:stretch/>
        </p:blipFill>
        <p:spPr>
          <a:xfrm>
            <a:off x="4500720" y="1511280"/>
            <a:ext cx="4063680" cy="4397040"/>
          </a:xfrm>
          <a:prstGeom prst="rect">
            <a:avLst/>
          </a:prstGeom>
          <a:noFill/>
          <a:ln w="0">
            <a:noFill/>
          </a:ln>
        </p:spPr>
      </p:pic>
      <p:pic>
        <p:nvPicPr>
          <p:cNvPr id="247" name="Picture 51" descr=""/>
          <p:cNvPicPr/>
          <p:nvPr/>
        </p:nvPicPr>
        <p:blipFill>
          <a:blip r:embed="rId14"/>
          <a:stretch/>
        </p:blipFill>
        <p:spPr>
          <a:xfrm>
            <a:off x="4500720" y="1511280"/>
            <a:ext cx="4063680" cy="4397040"/>
          </a:xfrm>
          <a:prstGeom prst="rect">
            <a:avLst/>
          </a:prstGeom>
          <a:noFill/>
          <a:ln w="0">
            <a:noFill/>
          </a:ln>
        </p:spPr>
      </p:pic>
      <p:pic>
        <p:nvPicPr>
          <p:cNvPr id="248" name="Picture 52" descr=""/>
          <p:cNvPicPr/>
          <p:nvPr/>
        </p:nvPicPr>
        <p:blipFill>
          <a:blip r:embed="rId15"/>
          <a:stretch/>
        </p:blipFill>
        <p:spPr>
          <a:xfrm>
            <a:off x="4500720" y="1511280"/>
            <a:ext cx="4063680" cy="4397040"/>
          </a:xfrm>
          <a:prstGeom prst="rect">
            <a:avLst/>
          </a:prstGeom>
          <a:noFill/>
          <a:ln w="0">
            <a:noFill/>
          </a:ln>
        </p:spPr>
      </p:pic>
      <p:pic>
        <p:nvPicPr>
          <p:cNvPr id="249" name="Picture 53" descr=""/>
          <p:cNvPicPr/>
          <p:nvPr/>
        </p:nvPicPr>
        <p:blipFill>
          <a:blip r:embed="rId16"/>
          <a:stretch/>
        </p:blipFill>
        <p:spPr>
          <a:xfrm>
            <a:off x="4500720" y="1511280"/>
            <a:ext cx="4063680" cy="4397040"/>
          </a:xfrm>
          <a:prstGeom prst="rect">
            <a:avLst/>
          </a:prstGeom>
          <a:noFill/>
          <a:ln w="0">
            <a:noFill/>
          </a:ln>
        </p:spPr>
      </p:pic>
    </p:spTree>
  </p:cSld>
  <p:transition spd="slow">
    <p:wipe dir="r"/>
  </p:transition>
  <p:timing>
    <p:tnLst>
      <p:par>
        <p:cTn id="663" dur="indefinite" restart="never" nodeType="tmRoot">
          <p:childTnLst>
            <p:seq>
              <p:cTn id="664" dur="indefinite" nodeType="mainSeq">
                <p:childTnLst>
                  <p:par>
                    <p:cTn id="665" nodeType="clickEffect" fill="hold">
                      <p:stCondLst>
                        <p:cond delay="indefinite"/>
                      </p:stCondLst>
                      <p:childTnLst>
                        <p:par>
                          <p:cTn id="666" nodeType="withEffect" fill="hold">
                            <p:stCondLst>
                              <p:cond delay="0"/>
                            </p:stCondLst>
                            <p:childTnLst>
                              <p:par>
                                <p:cTn id="667" nodeType="clickEffect" fill="hold" presetClass="entr" presetID="22" presetSubtype="8">
                                  <p:stCondLst>
                                    <p:cond delay="0"/>
                                  </p:stCondLst>
                                  <p:childTnLst>
                                    <p:set>
                                      <p:cBhvr>
                                        <p:cTn id="668" dur="1" fill="hold">
                                          <p:stCondLst>
                                            <p:cond delay="0"/>
                                          </p:stCondLst>
                                        </p:cTn>
                                        <p:tgtEl>
                                          <p:spTgt spid="233">
                                            <p:txEl>
                                              <p:pRg st="1" end="1"/>
                                            </p:txEl>
                                          </p:spTgt>
                                        </p:tgtEl>
                                        <p:attrNameLst>
                                          <p:attrName>style.visibility</p:attrName>
                                        </p:attrNameLst>
                                      </p:cBhvr>
                                      <p:to>
                                        <p:strVal val="visible"/>
                                      </p:to>
                                    </p:set>
                                    <p:animEffect filter="wipe(left)" transition="in">
                                      <p:cBhvr additive="repl">
                                        <p:cTn id="669" dur="500"/>
                                        <p:tgtEl>
                                          <p:spTgt spid="233">
                                            <p:txEl>
                                              <p:pRg st="1" end="1"/>
                                            </p:txEl>
                                          </p:spTgt>
                                        </p:tgtEl>
                                      </p:cBhvr>
                                    </p:animEffect>
                                  </p:childTnLst>
                                </p:cTn>
                              </p:par>
                              <p:par>
                                <p:cTn id="670" nodeType="withEffect" fill="hold" presetClass="entr" presetID="10">
                                  <p:stCondLst>
                                    <p:cond delay="0"/>
                                  </p:stCondLst>
                                  <p:childTnLst>
                                    <p:set>
                                      <p:cBhvr>
                                        <p:cTn id="671" dur="1" fill="hold">
                                          <p:stCondLst>
                                            <p:cond delay="0"/>
                                          </p:stCondLst>
                                        </p:cTn>
                                        <p:tgtEl>
                                          <p:spTgt spid="249"/>
                                        </p:tgtEl>
                                        <p:attrNameLst>
                                          <p:attrName>style.visibility</p:attrName>
                                        </p:attrNameLst>
                                      </p:cBhvr>
                                      <p:to>
                                        <p:strVal val="visible"/>
                                      </p:to>
                                    </p:set>
                                    <p:animEffect filter="fade" transition="in">
                                      <p:cBhvr additive="repl">
                                        <p:cTn id="672" dur="500"/>
                                        <p:tgtEl>
                                          <p:spTgt spid="2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16.2  SINGLE-PRICE MONOPOLY</a:t>
            </a:r>
            <a:endParaRPr b="0" lang="en-CA" sz="2600" strike="noStrike" u="none">
              <a:solidFill>
                <a:schemeClr val="dk1"/>
              </a:solidFill>
              <a:effectLst/>
              <a:uFillTx/>
              <a:latin typeface="Arial"/>
            </a:endParaRPr>
          </a:p>
        </p:txBody>
      </p:sp>
      <p:sp>
        <p:nvSpPr>
          <p:cNvPr id="251" name="PlaceHolder 2"/>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In Figure 16.3(b), </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startAt="5"/>
              <a:tabLst>
                <a:tab algn="l" pos="0"/>
              </a:tabLst>
            </a:pPr>
            <a:r>
              <a:rPr b="0" lang="en-US" sz="2400" strike="noStrike" u="none">
                <a:solidFill>
                  <a:srgbClr val="000000"/>
                </a:solidFill>
                <a:effectLst/>
                <a:uFillTx/>
                <a:latin typeface="Arial"/>
                <a:ea typeface="ＭＳ Ｐゴシック"/>
              </a:rPr>
              <a:t>Marginal revenue is zero at maximum total revenue.</a:t>
            </a:r>
            <a:endParaRPr b="1" lang="en-CA" sz="2400" strike="noStrike" u="none">
              <a:solidFill>
                <a:srgbClr val="00468f"/>
              </a:solidFill>
              <a:effectLst/>
              <a:uFillTx/>
              <a:latin typeface="Arial"/>
            </a:endParaRPr>
          </a:p>
        </p:txBody>
      </p:sp>
      <p:pic>
        <p:nvPicPr>
          <p:cNvPr id="252" name="Picture 9" descr=""/>
          <p:cNvPicPr/>
          <p:nvPr/>
        </p:nvPicPr>
        <p:blipFill>
          <a:blip r:embed="rId1"/>
          <a:stretch/>
        </p:blipFill>
        <p:spPr>
          <a:xfrm>
            <a:off x="4500720" y="1511280"/>
            <a:ext cx="4063680" cy="4397040"/>
          </a:xfrm>
          <a:prstGeom prst="rect">
            <a:avLst/>
          </a:prstGeom>
          <a:noFill/>
          <a:ln w="0">
            <a:noFill/>
          </a:ln>
        </p:spPr>
      </p:pic>
      <p:pic>
        <p:nvPicPr>
          <p:cNvPr id="253" name="Picture 10" descr=""/>
          <p:cNvPicPr/>
          <p:nvPr/>
        </p:nvPicPr>
        <p:blipFill>
          <a:blip r:embed="rId2"/>
          <a:stretch/>
        </p:blipFill>
        <p:spPr>
          <a:xfrm>
            <a:off x="4500720" y="1511280"/>
            <a:ext cx="4063680" cy="4397040"/>
          </a:xfrm>
          <a:prstGeom prst="rect">
            <a:avLst/>
          </a:prstGeom>
          <a:noFill/>
          <a:ln w="0">
            <a:noFill/>
          </a:ln>
        </p:spPr>
      </p:pic>
      <p:pic>
        <p:nvPicPr>
          <p:cNvPr id="254" name="Picture 11" descr=""/>
          <p:cNvPicPr/>
          <p:nvPr/>
        </p:nvPicPr>
        <p:blipFill>
          <a:blip r:embed="rId3"/>
          <a:stretch/>
        </p:blipFill>
        <p:spPr>
          <a:xfrm>
            <a:off x="4500720" y="1511280"/>
            <a:ext cx="4063680" cy="4397040"/>
          </a:xfrm>
          <a:prstGeom prst="rect">
            <a:avLst/>
          </a:prstGeom>
          <a:noFill/>
          <a:ln w="0">
            <a:noFill/>
          </a:ln>
        </p:spPr>
      </p:pic>
      <p:pic>
        <p:nvPicPr>
          <p:cNvPr id="255" name="Picture 12" descr=""/>
          <p:cNvPicPr/>
          <p:nvPr/>
        </p:nvPicPr>
        <p:blipFill>
          <a:blip r:embed="rId4"/>
          <a:stretch/>
        </p:blipFill>
        <p:spPr>
          <a:xfrm>
            <a:off x="4500720" y="1511280"/>
            <a:ext cx="4063680" cy="4397040"/>
          </a:xfrm>
          <a:prstGeom prst="rect">
            <a:avLst/>
          </a:prstGeom>
          <a:noFill/>
          <a:ln w="0">
            <a:noFill/>
          </a:ln>
        </p:spPr>
      </p:pic>
      <p:pic>
        <p:nvPicPr>
          <p:cNvPr id="256" name="Picture 13" descr=""/>
          <p:cNvPicPr/>
          <p:nvPr/>
        </p:nvPicPr>
        <p:blipFill>
          <a:blip r:embed="rId5"/>
          <a:stretch/>
        </p:blipFill>
        <p:spPr>
          <a:xfrm>
            <a:off x="4500720" y="1511280"/>
            <a:ext cx="4063680" cy="4397040"/>
          </a:xfrm>
          <a:prstGeom prst="rect">
            <a:avLst/>
          </a:prstGeom>
          <a:noFill/>
          <a:ln w="0">
            <a:noFill/>
          </a:ln>
        </p:spPr>
      </p:pic>
      <p:pic>
        <p:nvPicPr>
          <p:cNvPr id="257" name="Picture 14" descr=""/>
          <p:cNvPicPr/>
          <p:nvPr/>
        </p:nvPicPr>
        <p:blipFill>
          <a:blip r:embed="rId6"/>
          <a:stretch/>
        </p:blipFill>
        <p:spPr>
          <a:xfrm>
            <a:off x="4500720" y="1511280"/>
            <a:ext cx="4063680" cy="4397040"/>
          </a:xfrm>
          <a:prstGeom prst="rect">
            <a:avLst/>
          </a:prstGeom>
          <a:noFill/>
          <a:ln w="0">
            <a:noFill/>
          </a:ln>
        </p:spPr>
      </p:pic>
      <p:pic>
        <p:nvPicPr>
          <p:cNvPr id="258" name="Picture 16" descr=""/>
          <p:cNvPicPr/>
          <p:nvPr/>
        </p:nvPicPr>
        <p:blipFill>
          <a:blip r:embed="rId7"/>
          <a:stretch/>
        </p:blipFill>
        <p:spPr>
          <a:xfrm>
            <a:off x="4500720" y="1511280"/>
            <a:ext cx="4063680" cy="4397040"/>
          </a:xfrm>
          <a:prstGeom prst="rect">
            <a:avLst/>
          </a:prstGeom>
          <a:noFill/>
          <a:ln w="0">
            <a:noFill/>
          </a:ln>
        </p:spPr>
      </p:pic>
      <p:pic>
        <p:nvPicPr>
          <p:cNvPr id="259" name="Picture 17" descr=""/>
          <p:cNvPicPr/>
          <p:nvPr/>
        </p:nvPicPr>
        <p:blipFill>
          <a:blip r:embed="rId8"/>
          <a:stretch/>
        </p:blipFill>
        <p:spPr>
          <a:xfrm>
            <a:off x="4500720" y="1511280"/>
            <a:ext cx="4063680" cy="4397040"/>
          </a:xfrm>
          <a:prstGeom prst="rect">
            <a:avLst/>
          </a:prstGeom>
          <a:noFill/>
          <a:ln w="0">
            <a:noFill/>
          </a:ln>
        </p:spPr>
      </p:pic>
      <p:pic>
        <p:nvPicPr>
          <p:cNvPr id="260" name="Picture 18" descr=""/>
          <p:cNvPicPr/>
          <p:nvPr/>
        </p:nvPicPr>
        <p:blipFill>
          <a:blip r:embed="rId9"/>
          <a:stretch/>
        </p:blipFill>
        <p:spPr>
          <a:xfrm>
            <a:off x="4500720" y="1511280"/>
            <a:ext cx="4063680" cy="4397040"/>
          </a:xfrm>
          <a:prstGeom prst="rect">
            <a:avLst/>
          </a:prstGeom>
          <a:noFill/>
          <a:ln w="0">
            <a:noFill/>
          </a:ln>
        </p:spPr>
      </p:pic>
      <p:pic>
        <p:nvPicPr>
          <p:cNvPr id="261" name="Picture 19" descr=""/>
          <p:cNvPicPr/>
          <p:nvPr/>
        </p:nvPicPr>
        <p:blipFill>
          <a:blip r:embed="rId10"/>
          <a:stretch/>
        </p:blipFill>
        <p:spPr>
          <a:xfrm>
            <a:off x="4500720" y="1511280"/>
            <a:ext cx="4063680" cy="4397040"/>
          </a:xfrm>
          <a:prstGeom prst="rect">
            <a:avLst/>
          </a:prstGeom>
          <a:noFill/>
          <a:ln w="0">
            <a:noFill/>
          </a:ln>
        </p:spPr>
      </p:pic>
      <p:pic>
        <p:nvPicPr>
          <p:cNvPr id="262" name="Picture 20" descr=""/>
          <p:cNvPicPr/>
          <p:nvPr/>
        </p:nvPicPr>
        <p:blipFill>
          <a:blip r:embed="rId11"/>
          <a:stretch/>
        </p:blipFill>
        <p:spPr>
          <a:xfrm>
            <a:off x="4500720" y="1511280"/>
            <a:ext cx="4063680" cy="4397040"/>
          </a:xfrm>
          <a:prstGeom prst="rect">
            <a:avLst/>
          </a:prstGeom>
          <a:noFill/>
          <a:ln w="0">
            <a:noFill/>
          </a:ln>
        </p:spPr>
      </p:pic>
      <p:pic>
        <p:nvPicPr>
          <p:cNvPr id="263" name="Picture 21" descr=""/>
          <p:cNvPicPr/>
          <p:nvPr/>
        </p:nvPicPr>
        <p:blipFill>
          <a:blip r:embed="rId12"/>
          <a:stretch/>
        </p:blipFill>
        <p:spPr>
          <a:xfrm>
            <a:off x="4500720" y="1511280"/>
            <a:ext cx="4063680" cy="4397040"/>
          </a:xfrm>
          <a:prstGeom prst="rect">
            <a:avLst/>
          </a:prstGeom>
          <a:noFill/>
          <a:ln w="0">
            <a:noFill/>
          </a:ln>
        </p:spPr>
      </p:pic>
      <p:pic>
        <p:nvPicPr>
          <p:cNvPr id="264" name="Picture 22" descr=""/>
          <p:cNvPicPr/>
          <p:nvPr/>
        </p:nvPicPr>
        <p:blipFill>
          <a:blip r:embed="rId13"/>
          <a:stretch/>
        </p:blipFill>
        <p:spPr>
          <a:xfrm>
            <a:off x="4500720" y="1511280"/>
            <a:ext cx="4063680" cy="4397040"/>
          </a:xfrm>
          <a:prstGeom prst="rect">
            <a:avLst/>
          </a:prstGeom>
          <a:noFill/>
          <a:ln w="0">
            <a:noFill/>
          </a:ln>
        </p:spPr>
      </p:pic>
    </p:spTree>
  </p:cSld>
  <p:transition spd="slow">
    <p:wipe dir="r"/>
  </p:transition>
  <p:timing>
    <p:tnLst>
      <p:par>
        <p:cTn id="673" dur="indefinite" restart="never" nodeType="tmRoot">
          <p:childTnLst>
            <p:seq>
              <p:cTn id="674" dur="indefinite" nodeType="mainSeq">
                <p:childTnLst>
                  <p:par>
                    <p:cTn id="675" nodeType="clickEffect" fill="hold">
                      <p:stCondLst>
                        <p:cond delay="indefinite"/>
                      </p:stCondLst>
                      <p:childTnLst>
                        <p:par>
                          <p:cTn id="676" nodeType="withEffect" fill="hold">
                            <p:stCondLst>
                              <p:cond delay="0"/>
                            </p:stCondLst>
                            <p:childTnLst>
                              <p:par>
                                <p:cTn id="677" nodeType="clickEffect" fill="hold" presetClass="entr" presetID="22" presetSubtype="8">
                                  <p:stCondLst>
                                    <p:cond delay="0"/>
                                  </p:stCondLst>
                                  <p:childTnLst>
                                    <p:set>
                                      <p:cBhvr>
                                        <p:cTn id="678" dur="1" fill="hold">
                                          <p:stCondLst>
                                            <p:cond delay="0"/>
                                          </p:stCondLst>
                                        </p:cTn>
                                        <p:tgtEl>
                                          <p:spTgt spid="251">
                                            <p:txEl>
                                              <p:pRg st="1" end="1"/>
                                            </p:txEl>
                                          </p:spTgt>
                                        </p:tgtEl>
                                        <p:attrNameLst>
                                          <p:attrName>style.visibility</p:attrName>
                                        </p:attrNameLst>
                                      </p:cBhvr>
                                      <p:to>
                                        <p:strVal val="visible"/>
                                      </p:to>
                                    </p:set>
                                    <p:animEffect filter="wipe(left)" transition="in">
                                      <p:cBhvr additive="repl">
                                        <p:cTn id="679" dur="500"/>
                                        <p:tgtEl>
                                          <p:spTgt spid="251">
                                            <p:txEl>
                                              <p:pRg st="1" end="1"/>
                                            </p:txEl>
                                          </p:spTgt>
                                        </p:tgtEl>
                                      </p:cBhvr>
                                    </p:animEffect>
                                  </p:childTnLst>
                                </p:cTn>
                              </p:par>
                              <p:par>
                                <p:cTn id="680" nodeType="withEffect" fill="hold" presetClass="entr" presetID="10">
                                  <p:stCondLst>
                                    <p:cond delay="0"/>
                                  </p:stCondLst>
                                  <p:childTnLst>
                                    <p:set>
                                      <p:cBhvr>
                                        <p:cTn id="681" dur="1" fill="hold">
                                          <p:stCondLst>
                                            <p:cond delay="0"/>
                                          </p:stCondLst>
                                        </p:cTn>
                                        <p:tgtEl>
                                          <p:spTgt spid="264"/>
                                        </p:tgtEl>
                                        <p:attrNameLst>
                                          <p:attrName>style.visibility</p:attrName>
                                        </p:attrNameLst>
                                      </p:cBhvr>
                                      <p:to>
                                        <p:strVal val="visible"/>
                                      </p:to>
                                    </p:set>
                                    <p:animEffect filter="fade" transition="in">
                                      <p:cBhvr additive="repl">
                                        <p:cTn id="682" dur="500"/>
                                        <p:tgtEl>
                                          <p:spTgt spid="2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16.2  SINGLE-PRICE MONOPOLY</a:t>
            </a:r>
            <a:endParaRPr b="0" lang="en-CA" sz="2600" strike="noStrike" u="none">
              <a:solidFill>
                <a:schemeClr val="dk1"/>
              </a:solidFill>
              <a:effectLst/>
              <a:uFillTx/>
              <a:latin typeface="Arial"/>
            </a:endParaRPr>
          </a:p>
        </p:txBody>
      </p:sp>
      <p:sp>
        <p:nvSpPr>
          <p:cNvPr id="266"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relationship between marginal revenue and elasticity implies that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 monopoly never profitably produces an output in the inelastic range of its demand curve.</a:t>
            </a:r>
            <a:endParaRPr b="1" lang="en-CA" sz="2400" strike="noStrike" u="none">
              <a:solidFill>
                <a:srgbClr val="00468f"/>
              </a:solidFill>
              <a:effectLst/>
              <a:uFillTx/>
              <a:latin typeface="Arial"/>
            </a:endParaRPr>
          </a:p>
        </p:txBody>
      </p:sp>
    </p:spTree>
  </p:cSld>
  <p:transition spd="slow">
    <p:wipe dir="r"/>
  </p:transition>
  <p:timing>
    <p:tnLst>
      <p:par>
        <p:cTn id="683" dur="indefinite" restart="never" nodeType="tmRoot">
          <p:childTnLst>
            <p:seq>
              <p:cTn id="684" dur="indefinite" nodeType="mainSeq">
                <p:childTnLst>
                  <p:par>
                    <p:cTn id="685" nodeType="clickEffect" fill="hold">
                      <p:stCondLst>
                        <p:cond delay="indefinite"/>
                      </p:stCondLst>
                      <p:childTnLst>
                        <p:par>
                          <p:cTn id="686" nodeType="withEffect" fill="hold">
                            <p:stCondLst>
                              <p:cond delay="0"/>
                            </p:stCondLst>
                            <p:childTnLst>
                              <p:par>
                                <p:cTn id="687" nodeType="clickEffect" fill="hold" presetClass="entr" presetID="22" presetSubtype="8">
                                  <p:stCondLst>
                                    <p:cond delay="0"/>
                                  </p:stCondLst>
                                  <p:childTnLst>
                                    <p:set>
                                      <p:cBhvr>
                                        <p:cTn id="688" dur="1" fill="hold">
                                          <p:stCondLst>
                                            <p:cond delay="0"/>
                                          </p:stCondLst>
                                        </p:cTn>
                                        <p:tgtEl>
                                          <p:spTgt spid="266">
                                            <p:txEl>
                                              <p:pRg st="1" end="1"/>
                                            </p:txEl>
                                          </p:spTgt>
                                        </p:tgtEl>
                                        <p:attrNameLst>
                                          <p:attrName>style.visibility</p:attrName>
                                        </p:attrNameLst>
                                      </p:cBhvr>
                                      <p:to>
                                        <p:strVal val="visible"/>
                                      </p:to>
                                    </p:set>
                                    <p:animEffect filter="wipe(left)" transition="in">
                                      <p:cBhvr additive="repl">
                                        <p:cTn id="689" dur="500"/>
                                        <p:tgtEl>
                                          <p:spTgt spid="266">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16.2  SINGLE-PRICE MONOPOLY</a:t>
            </a:r>
            <a:endParaRPr b="0" lang="en-CA" sz="2600" strike="noStrike" u="none">
              <a:solidFill>
                <a:schemeClr val="dk1"/>
              </a:solidFill>
              <a:effectLst/>
              <a:uFillTx/>
              <a:latin typeface="Arial"/>
            </a:endParaRPr>
          </a:p>
        </p:txBody>
      </p:sp>
      <p:sp>
        <p:nvSpPr>
          <p:cNvPr id="268"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Output and Price Decision</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To determine the output level and price that maximize a monopoly’s profit, we study the behavior of both revenue and costs as output varies.</a:t>
            </a:r>
            <a:endParaRPr b="1" lang="en-CA" sz="2400" strike="noStrike" u="none">
              <a:solidFill>
                <a:srgbClr val="00468f"/>
              </a:solidFill>
              <a:effectLst/>
              <a:uFillTx/>
              <a:latin typeface="Arial"/>
            </a:endParaRPr>
          </a:p>
        </p:txBody>
      </p:sp>
    </p:spTree>
  </p:cSld>
  <p:transition spd="slow">
    <p:wipe dir="r"/>
  </p:transition>
  <p:timing>
    <p:tnLst>
      <p:par>
        <p:cTn id="690" dur="indefinite" restart="never" nodeType="tmRoot">
          <p:childTnLst>
            <p:seq>
              <p:cTn id="691" dur="indefinite" nodeType="mainSeq">
                <p:childTnLst>
                  <p:par>
                    <p:cTn id="692" nodeType="clickEffect" fill="hold">
                      <p:stCondLst>
                        <p:cond delay="indefinite"/>
                      </p:stCondLst>
                      <p:childTnLst>
                        <p:par>
                          <p:cTn id="693" nodeType="withEffect" fill="hold">
                            <p:stCondLst>
                              <p:cond delay="0"/>
                            </p:stCondLst>
                            <p:childTnLst>
                              <p:par>
                                <p:cTn id="694" nodeType="clickEffect" fill="hold" presetClass="entr" presetID="22" presetSubtype="8">
                                  <p:stCondLst>
                                    <p:cond delay="0"/>
                                  </p:stCondLst>
                                  <p:childTnLst>
                                    <p:set>
                                      <p:cBhvr>
                                        <p:cTn id="695" dur="1" fill="hold">
                                          <p:stCondLst>
                                            <p:cond delay="0"/>
                                          </p:stCondLst>
                                        </p:cTn>
                                        <p:tgtEl>
                                          <p:spTgt spid="268">
                                            <p:txEl>
                                              <p:pRg st="1" end="1"/>
                                            </p:txEl>
                                          </p:spTgt>
                                        </p:tgtEl>
                                        <p:attrNameLst>
                                          <p:attrName>style.visibility</p:attrName>
                                        </p:attrNameLst>
                                      </p:cBhvr>
                                      <p:to>
                                        <p:strVal val="visible"/>
                                      </p:to>
                                    </p:set>
                                    <p:animEffect filter="wipe(left)" transition="in">
                                      <p:cBhvr additive="repl">
                                        <p:cTn id="696" dur="500"/>
                                        <p:tgtEl>
                                          <p:spTgt spid="268">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16.2  SINGLE-PRICE MONOPOLY</a:t>
            </a:r>
            <a:endParaRPr b="0" lang="en-CA" sz="2600" strike="noStrike" u="none">
              <a:solidFill>
                <a:schemeClr val="dk1"/>
              </a:solidFill>
              <a:effectLst/>
              <a:uFillTx/>
              <a:latin typeface="Arial"/>
            </a:endParaRPr>
          </a:p>
        </p:txBody>
      </p:sp>
      <p:sp>
        <p:nvSpPr>
          <p:cNvPr id="270"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Table 16.1 summarizes the monopoly’s output and price decision that maximizes profit.</a:t>
            </a:r>
            <a:endParaRPr b="1" lang="en-CA" sz="2400" strike="noStrike" u="none">
              <a:solidFill>
                <a:srgbClr val="00468f"/>
              </a:solidFill>
              <a:effectLst/>
              <a:uFillTx/>
              <a:latin typeface="Arial"/>
            </a:endParaRPr>
          </a:p>
        </p:txBody>
      </p:sp>
      <p:sp>
        <p:nvSpPr>
          <p:cNvPr id="271" name="Rectangle 11"/>
          <p:cNvSpPr/>
          <p:nvPr/>
        </p:nvSpPr>
        <p:spPr>
          <a:xfrm>
            <a:off x="461880" y="2516040"/>
            <a:ext cx="1612440" cy="269640"/>
          </a:xfrm>
          <a:prstGeom prst="rect">
            <a:avLst/>
          </a:prstGeom>
          <a:solidFill>
            <a:schemeClr val="bg1"/>
          </a:solidFill>
          <a:ln w="0">
            <a:noFill/>
          </a:ln>
        </p:spPr>
        <p:style>
          <a:lnRef idx="0"/>
          <a:fillRef idx="0"/>
          <a:effectRef idx="0"/>
          <a:fontRef idx="minor"/>
        </p:style>
        <p:txBody>
          <a:bodyPr wrap="none" lIns="90000" rIns="90000" tIns="45000" bIns="45000" anchor="ctr">
            <a:noAutofit/>
          </a:bodyPr>
          <a:p>
            <a:pPr>
              <a:lnSpc>
                <a:spcPct val="100000"/>
              </a:lnSpc>
            </a:pPr>
            <a:endParaRPr b="0" lang="en-US" sz="2400" strike="noStrike" u="none">
              <a:solidFill>
                <a:schemeClr val="dk1"/>
              </a:solidFill>
              <a:effectLst/>
              <a:uFillTx/>
              <a:latin typeface="Arial"/>
              <a:ea typeface="ＭＳ Ｐゴシック"/>
            </a:endParaRPr>
          </a:p>
        </p:txBody>
      </p:sp>
      <p:pic>
        <p:nvPicPr>
          <p:cNvPr id="272" name="Picture 1" descr=""/>
          <p:cNvPicPr/>
          <p:nvPr/>
        </p:nvPicPr>
        <p:blipFill>
          <a:blip r:embed="rId1"/>
          <a:stretch/>
        </p:blipFill>
        <p:spPr>
          <a:xfrm>
            <a:off x="1038240" y="2766960"/>
            <a:ext cx="7094160" cy="2944440"/>
          </a:xfrm>
          <a:prstGeom prst="rect">
            <a:avLst/>
          </a:prstGeom>
          <a:noFill/>
          <a:ln w="0">
            <a:noFill/>
          </a:ln>
        </p:spPr>
      </p:pic>
      <p:pic>
        <p:nvPicPr>
          <p:cNvPr id="273" name="Picture 2" descr=""/>
          <p:cNvPicPr/>
          <p:nvPr/>
        </p:nvPicPr>
        <p:blipFill>
          <a:blip r:embed="rId2"/>
          <a:stretch/>
        </p:blipFill>
        <p:spPr>
          <a:xfrm>
            <a:off x="1038240" y="2766960"/>
            <a:ext cx="7094160" cy="2944440"/>
          </a:xfrm>
          <a:prstGeom prst="rect">
            <a:avLst/>
          </a:prstGeom>
          <a:noFill/>
          <a:ln w="0">
            <a:noFill/>
          </a:ln>
        </p:spPr>
      </p:pic>
    </p:spTree>
  </p:cSld>
  <p:transition spd="slow">
    <p:wipe dir="r"/>
  </p:transition>
  <p:timing>
    <p:tnLst>
      <p:par>
        <p:cTn id="697" dur="indefinite" restart="never" nodeType="tmRoot">
          <p:childTnLst>
            <p:seq>
              <p:cTn id="698" dur="indefinite" nodeType="mainSeq">
                <p:childTnLst>
                  <p:par>
                    <p:cTn id="699" nodeType="clickEffect" fill="hold">
                      <p:stCondLst>
                        <p:cond delay="indefinite"/>
                      </p:stCondLst>
                      <p:childTnLst>
                        <p:par>
                          <p:cTn id="700" nodeType="withEffect" fill="hold">
                            <p:stCondLst>
                              <p:cond delay="0"/>
                            </p:stCondLst>
                            <p:childTnLst>
                              <p:par>
                                <p:cTn id="701" nodeType="clickEffect" fill="hold" presetClass="entr" presetID="22" presetSubtype="8">
                                  <p:stCondLst>
                                    <p:cond delay="0"/>
                                  </p:stCondLst>
                                  <p:childTnLst>
                                    <p:set>
                                      <p:cBhvr>
                                        <p:cTn id="702" dur="1" fill="hold">
                                          <p:stCondLst>
                                            <p:cond delay="0"/>
                                          </p:stCondLst>
                                        </p:cTn>
                                        <p:tgtEl>
                                          <p:spTgt spid="273"/>
                                        </p:tgtEl>
                                        <p:attrNameLst>
                                          <p:attrName>style.visibility</p:attrName>
                                        </p:attrNameLst>
                                      </p:cBhvr>
                                      <p:to>
                                        <p:strVal val="visible"/>
                                      </p:to>
                                    </p:set>
                                    <p:animEffect filter="wipe(left)" transition="in">
                                      <p:cBhvr additive="repl">
                                        <p:cTn id="703" dur="1000"/>
                                        <p:tgtEl>
                                          <p:spTgt spid="2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16.2  SINGLE-PRICE MONOPOLY</a:t>
            </a:r>
            <a:endParaRPr b="0" lang="en-CA" sz="2600" strike="noStrike" u="none">
              <a:solidFill>
                <a:schemeClr val="dk1"/>
              </a:solidFill>
              <a:effectLst/>
              <a:uFillTx/>
              <a:latin typeface="Arial"/>
            </a:endParaRPr>
          </a:p>
        </p:txBody>
      </p:sp>
      <p:sp>
        <p:nvSpPr>
          <p:cNvPr id="275" name="PlaceHolder 2"/>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Figure 16.4 shows a monopoly’s profit-maximizing output and price.</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total cost curve is </a:t>
            </a:r>
            <a:r>
              <a:rPr b="0" i="1" lang="en-US" sz="2400" strike="noStrike" u="none">
                <a:solidFill>
                  <a:srgbClr val="000000"/>
                </a:solidFill>
                <a:effectLst/>
                <a:uFillTx/>
                <a:latin typeface="Arial"/>
                <a:ea typeface="ＭＳ Ｐゴシック"/>
              </a:rPr>
              <a:t>TC</a:t>
            </a:r>
            <a:r>
              <a:rPr b="0" lang="en-US" sz="2400" strike="noStrike" u="none">
                <a:solidFill>
                  <a:srgbClr val="000000"/>
                </a:solidFill>
                <a:effectLst/>
                <a:uFillTx/>
                <a:latin typeface="Arial"/>
                <a:ea typeface="ＭＳ Ｐゴシック"/>
              </a:rPr>
              <a:t>.</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total revenue curve is </a:t>
            </a:r>
            <a:r>
              <a:rPr b="0" i="1" lang="en-US" sz="2400" strike="noStrike" u="none">
                <a:solidFill>
                  <a:srgbClr val="000000"/>
                </a:solidFill>
                <a:effectLst/>
                <a:uFillTx/>
                <a:latin typeface="Arial"/>
                <a:ea typeface="ＭＳ Ｐゴシック"/>
              </a:rPr>
              <a:t>TR</a:t>
            </a:r>
            <a:r>
              <a:rPr b="0" lang="en-US" sz="2400" strike="noStrike" u="none">
                <a:solidFill>
                  <a:srgbClr val="000000"/>
                </a:solidFill>
                <a:effectLst/>
                <a:uFillTx/>
                <a:latin typeface="Arial"/>
                <a:ea typeface="ＭＳ Ｐゴシック"/>
              </a:rPr>
              <a:t>.</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Economic profit is the vertical distance between the total revenue curve and the total cost curve.</a:t>
            </a:r>
            <a:endParaRPr b="1" lang="en-CA" sz="2400" strike="noStrike" u="none">
              <a:solidFill>
                <a:srgbClr val="00468f"/>
              </a:solidFill>
              <a:effectLst/>
              <a:uFillTx/>
              <a:latin typeface="Arial"/>
            </a:endParaRPr>
          </a:p>
        </p:txBody>
      </p:sp>
      <p:pic>
        <p:nvPicPr>
          <p:cNvPr id="276" name="Picture 1" descr=""/>
          <p:cNvPicPr/>
          <p:nvPr/>
        </p:nvPicPr>
        <p:blipFill>
          <a:blip r:embed="rId1"/>
          <a:stretch/>
        </p:blipFill>
        <p:spPr>
          <a:xfrm>
            <a:off x="4427640" y="1511280"/>
            <a:ext cx="4177800" cy="4485960"/>
          </a:xfrm>
          <a:prstGeom prst="rect">
            <a:avLst/>
          </a:prstGeom>
          <a:noFill/>
          <a:ln w="0">
            <a:noFill/>
          </a:ln>
        </p:spPr>
      </p:pic>
      <p:pic>
        <p:nvPicPr>
          <p:cNvPr id="277" name="Picture 8" descr=""/>
          <p:cNvPicPr/>
          <p:nvPr/>
        </p:nvPicPr>
        <p:blipFill>
          <a:blip r:embed="rId2"/>
          <a:stretch/>
        </p:blipFill>
        <p:spPr>
          <a:xfrm>
            <a:off x="4427640" y="1511280"/>
            <a:ext cx="4177800" cy="4485960"/>
          </a:xfrm>
          <a:prstGeom prst="rect">
            <a:avLst/>
          </a:prstGeom>
          <a:noFill/>
          <a:ln w="0">
            <a:noFill/>
          </a:ln>
        </p:spPr>
      </p:pic>
      <p:pic>
        <p:nvPicPr>
          <p:cNvPr id="278" name="Picture 9" descr=""/>
          <p:cNvPicPr/>
          <p:nvPr/>
        </p:nvPicPr>
        <p:blipFill>
          <a:blip r:embed="rId3"/>
          <a:stretch/>
        </p:blipFill>
        <p:spPr>
          <a:xfrm>
            <a:off x="4427640" y="1511280"/>
            <a:ext cx="4177800" cy="4485960"/>
          </a:xfrm>
          <a:prstGeom prst="rect">
            <a:avLst/>
          </a:prstGeom>
          <a:noFill/>
          <a:ln w="0">
            <a:noFill/>
          </a:ln>
        </p:spPr>
      </p:pic>
      <p:pic>
        <p:nvPicPr>
          <p:cNvPr id="279" name="Picture 10" descr=""/>
          <p:cNvPicPr/>
          <p:nvPr/>
        </p:nvPicPr>
        <p:blipFill>
          <a:blip r:embed="rId4"/>
          <a:stretch/>
        </p:blipFill>
        <p:spPr>
          <a:xfrm>
            <a:off x="4427640" y="1511280"/>
            <a:ext cx="4177800" cy="4485960"/>
          </a:xfrm>
          <a:prstGeom prst="rect">
            <a:avLst/>
          </a:prstGeom>
          <a:noFill/>
          <a:ln w="0">
            <a:noFill/>
          </a:ln>
        </p:spPr>
      </p:pic>
    </p:spTree>
  </p:cSld>
  <p:transition spd="slow">
    <p:wipe dir="r"/>
  </p:transition>
  <p:timing>
    <p:tnLst>
      <p:par>
        <p:cTn id="704" dur="indefinite" restart="never" nodeType="tmRoot">
          <p:childTnLst>
            <p:seq>
              <p:cTn id="705" dur="indefinite" nodeType="mainSeq">
                <p:childTnLst>
                  <p:par>
                    <p:cTn id="706" nodeType="clickEffect" fill="hold">
                      <p:stCondLst>
                        <p:cond delay="indefinite"/>
                      </p:stCondLst>
                      <p:childTnLst>
                        <p:par>
                          <p:cTn id="707" nodeType="withEffect" fill="hold">
                            <p:stCondLst>
                              <p:cond delay="0"/>
                            </p:stCondLst>
                            <p:childTnLst>
                              <p:par>
                                <p:cTn id="708" nodeType="clickEffect" fill="hold" presetClass="entr" presetID="22" presetSubtype="8">
                                  <p:stCondLst>
                                    <p:cond delay="0"/>
                                  </p:stCondLst>
                                  <p:childTnLst>
                                    <p:set>
                                      <p:cBhvr>
                                        <p:cTn id="709" dur="1" fill="hold">
                                          <p:stCondLst>
                                            <p:cond delay="0"/>
                                          </p:stCondLst>
                                        </p:cTn>
                                        <p:tgtEl>
                                          <p:spTgt spid="275">
                                            <p:txEl>
                                              <p:pRg st="1" end="1"/>
                                            </p:txEl>
                                          </p:spTgt>
                                        </p:tgtEl>
                                        <p:attrNameLst>
                                          <p:attrName>style.visibility</p:attrName>
                                        </p:attrNameLst>
                                      </p:cBhvr>
                                      <p:to>
                                        <p:strVal val="visible"/>
                                      </p:to>
                                    </p:set>
                                    <p:animEffect filter="wipe(left)" transition="in">
                                      <p:cBhvr additive="repl">
                                        <p:cTn id="710" dur="500"/>
                                        <p:tgtEl>
                                          <p:spTgt spid="275">
                                            <p:txEl>
                                              <p:pRg st="1" end="1"/>
                                            </p:txEl>
                                          </p:spTgt>
                                        </p:tgtEl>
                                      </p:cBhvr>
                                    </p:animEffect>
                                  </p:childTnLst>
                                </p:cTn>
                              </p:par>
                              <p:par>
                                <p:cTn id="711" nodeType="withEffect" fill="hold" presetClass="entr" presetID="22" presetSubtype="8">
                                  <p:stCondLst>
                                    <p:cond delay="0"/>
                                  </p:stCondLst>
                                  <p:childTnLst>
                                    <p:set>
                                      <p:cBhvr>
                                        <p:cTn id="712" dur="1" fill="hold">
                                          <p:stCondLst>
                                            <p:cond delay="0"/>
                                          </p:stCondLst>
                                        </p:cTn>
                                        <p:tgtEl>
                                          <p:spTgt spid="277"/>
                                        </p:tgtEl>
                                        <p:attrNameLst>
                                          <p:attrName>style.visibility</p:attrName>
                                        </p:attrNameLst>
                                      </p:cBhvr>
                                      <p:to>
                                        <p:strVal val="visible"/>
                                      </p:to>
                                    </p:set>
                                    <p:animEffect filter="wipe(left)" transition="in">
                                      <p:cBhvr additive="repl">
                                        <p:cTn id="713" dur="1000"/>
                                        <p:tgtEl>
                                          <p:spTgt spid="277"/>
                                        </p:tgtEl>
                                      </p:cBhvr>
                                    </p:animEffect>
                                  </p:childTnLst>
                                </p:cTn>
                              </p:par>
                            </p:childTnLst>
                          </p:cTn>
                        </p:par>
                      </p:childTnLst>
                    </p:cTn>
                  </p:par>
                  <p:par>
                    <p:cTn id="714" nodeType="clickEffect" fill="hold">
                      <p:stCondLst>
                        <p:cond delay="indefinite"/>
                      </p:stCondLst>
                      <p:childTnLst>
                        <p:par>
                          <p:cTn id="715" nodeType="withEffect" fill="hold">
                            <p:stCondLst>
                              <p:cond delay="0"/>
                            </p:stCondLst>
                            <p:childTnLst>
                              <p:par>
                                <p:cTn id="716" nodeType="clickEffect" fill="hold" presetClass="entr" presetID="22" presetSubtype="8">
                                  <p:stCondLst>
                                    <p:cond delay="0"/>
                                  </p:stCondLst>
                                  <p:childTnLst>
                                    <p:set>
                                      <p:cBhvr>
                                        <p:cTn id="717" dur="1" fill="hold">
                                          <p:stCondLst>
                                            <p:cond delay="0"/>
                                          </p:stCondLst>
                                        </p:cTn>
                                        <p:tgtEl>
                                          <p:spTgt spid="275">
                                            <p:txEl>
                                              <p:pRg st="2" end="2"/>
                                            </p:txEl>
                                          </p:spTgt>
                                        </p:tgtEl>
                                        <p:attrNameLst>
                                          <p:attrName>style.visibility</p:attrName>
                                        </p:attrNameLst>
                                      </p:cBhvr>
                                      <p:to>
                                        <p:strVal val="visible"/>
                                      </p:to>
                                    </p:set>
                                    <p:animEffect filter="wipe(left)" transition="in">
                                      <p:cBhvr additive="repl">
                                        <p:cTn id="718" dur="500"/>
                                        <p:tgtEl>
                                          <p:spTgt spid="275">
                                            <p:txEl>
                                              <p:pRg st="2" end="2"/>
                                            </p:txEl>
                                          </p:spTgt>
                                        </p:tgtEl>
                                      </p:cBhvr>
                                    </p:animEffect>
                                  </p:childTnLst>
                                </p:cTn>
                              </p:par>
                              <p:par>
                                <p:cTn id="719" nodeType="withEffect" fill="hold" presetClass="entr" presetID="22" presetSubtype="8">
                                  <p:stCondLst>
                                    <p:cond delay="0"/>
                                  </p:stCondLst>
                                  <p:childTnLst>
                                    <p:set>
                                      <p:cBhvr>
                                        <p:cTn id="720" dur="1" fill="hold">
                                          <p:stCondLst>
                                            <p:cond delay="0"/>
                                          </p:stCondLst>
                                        </p:cTn>
                                        <p:tgtEl>
                                          <p:spTgt spid="278"/>
                                        </p:tgtEl>
                                        <p:attrNameLst>
                                          <p:attrName>style.visibility</p:attrName>
                                        </p:attrNameLst>
                                      </p:cBhvr>
                                      <p:to>
                                        <p:strVal val="visible"/>
                                      </p:to>
                                    </p:set>
                                    <p:animEffect filter="wipe(left)" transition="in">
                                      <p:cBhvr additive="repl">
                                        <p:cTn id="721" dur="1000"/>
                                        <p:tgtEl>
                                          <p:spTgt spid="278"/>
                                        </p:tgtEl>
                                      </p:cBhvr>
                                    </p:animEffect>
                                  </p:childTnLst>
                                </p:cTn>
                              </p:par>
                            </p:childTnLst>
                          </p:cTn>
                        </p:par>
                      </p:childTnLst>
                    </p:cTn>
                  </p:par>
                  <p:par>
                    <p:cTn id="722" nodeType="clickEffect" fill="hold">
                      <p:stCondLst>
                        <p:cond delay="indefinite"/>
                      </p:stCondLst>
                      <p:childTnLst>
                        <p:par>
                          <p:cTn id="723" nodeType="withEffect" fill="hold">
                            <p:stCondLst>
                              <p:cond delay="0"/>
                            </p:stCondLst>
                            <p:childTnLst>
                              <p:par>
                                <p:cTn id="724" nodeType="clickEffect" fill="hold" presetClass="entr" presetID="22" presetSubtype="8">
                                  <p:stCondLst>
                                    <p:cond delay="0"/>
                                  </p:stCondLst>
                                  <p:childTnLst>
                                    <p:set>
                                      <p:cBhvr>
                                        <p:cTn id="725" dur="1" fill="hold">
                                          <p:stCondLst>
                                            <p:cond delay="0"/>
                                          </p:stCondLst>
                                        </p:cTn>
                                        <p:tgtEl>
                                          <p:spTgt spid="275">
                                            <p:txEl>
                                              <p:pRg st="3" end="3"/>
                                            </p:txEl>
                                          </p:spTgt>
                                        </p:tgtEl>
                                        <p:attrNameLst>
                                          <p:attrName>style.visibility</p:attrName>
                                        </p:attrNameLst>
                                      </p:cBhvr>
                                      <p:to>
                                        <p:strVal val="visible"/>
                                      </p:to>
                                    </p:set>
                                    <p:animEffect filter="wipe(left)" transition="in">
                                      <p:cBhvr additive="repl">
                                        <p:cTn id="726" dur="500"/>
                                        <p:tgtEl>
                                          <p:spTgt spid="275">
                                            <p:txEl>
                                              <p:pRg st="3" end="3"/>
                                            </p:txEl>
                                          </p:spTgt>
                                        </p:tgtEl>
                                      </p:cBhvr>
                                    </p:animEffect>
                                  </p:childTnLst>
                                </p:cTn>
                              </p:par>
                              <p:par>
                                <p:cTn id="727" nodeType="withEffect" fill="hold" presetClass="entr" presetID="22" presetSubtype="4">
                                  <p:stCondLst>
                                    <p:cond delay="0"/>
                                  </p:stCondLst>
                                  <p:childTnLst>
                                    <p:set>
                                      <p:cBhvr>
                                        <p:cTn id="728" dur="1" fill="hold">
                                          <p:stCondLst>
                                            <p:cond delay="0"/>
                                          </p:stCondLst>
                                        </p:cTn>
                                        <p:tgtEl>
                                          <p:spTgt spid="279"/>
                                        </p:tgtEl>
                                        <p:attrNameLst>
                                          <p:attrName>style.visibility</p:attrName>
                                        </p:attrNameLst>
                                      </p:cBhvr>
                                      <p:to>
                                        <p:strVal val="visible"/>
                                      </p:to>
                                    </p:set>
                                    <p:animEffect filter="wipe(down)" transition="in">
                                      <p:cBhvr additive="repl">
                                        <p:cTn id="729" dur="500"/>
                                        <p:tgtEl>
                                          <p:spTgt spid="2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16.2  SINGLE-PRICE MONOPOLY</a:t>
            </a:r>
            <a:endParaRPr b="0" lang="en-CA" sz="2600" strike="noStrike" u="none">
              <a:solidFill>
                <a:schemeClr val="dk1"/>
              </a:solidFill>
              <a:effectLst/>
              <a:uFillTx/>
              <a:latin typeface="Arial"/>
            </a:endParaRPr>
          </a:p>
        </p:txBody>
      </p:sp>
      <p:sp>
        <p:nvSpPr>
          <p:cNvPr id="281" name="PlaceHolder 2"/>
          <p:cNvSpPr>
            <a:spLocks noGrp="1"/>
          </p:cNvSpPr>
          <p:nvPr>
            <p:ph/>
          </p:nvPr>
        </p:nvSpPr>
        <p:spPr>
          <a:xfrm>
            <a:off x="360360" y="1440000"/>
            <a:ext cx="3943080" cy="4647960"/>
          </a:xfrm>
          <a:prstGeom prst="rect">
            <a:avLst/>
          </a:prstGeom>
          <a:noFill/>
          <a:ln w="0">
            <a:noFill/>
          </a:ln>
        </p:spPr>
        <p:txBody>
          <a:bodyPr numCol="1" spcCol="0" lIns="91440" rIns="91440" tIns="45720" bIns="45720" anchor="t">
            <a:noAutofit/>
          </a:bodyPr>
          <a:p>
            <a:pPr marL="817200" indent="-457200">
              <a:lnSpc>
                <a:spcPct val="100000"/>
              </a:lnSpc>
              <a:spcBef>
                <a:spcPts val="601"/>
              </a:spcBef>
              <a:spcAft>
                <a:spcPts val="601"/>
              </a:spcAft>
              <a:buClr>
                <a:srgbClr val="000000"/>
              </a:buClr>
              <a:buFont typeface="Arial"/>
              <a:buAutoNum type="arabicPeriod"/>
            </a:pPr>
            <a:r>
              <a:rPr b="0" lang="en-US" sz="2400" strike="noStrike" u="none">
                <a:solidFill>
                  <a:srgbClr val="000000"/>
                </a:solidFill>
                <a:effectLst/>
                <a:uFillTx/>
                <a:latin typeface="Arial"/>
                <a:ea typeface="ＭＳ Ｐゴシック"/>
              </a:rPr>
              <a:t>Maximum profit is $12 an hour at 3 haircuts an hour.</a:t>
            </a:r>
            <a:endParaRPr b="1" lang="en-CA" sz="2400" strike="noStrike" u="none">
              <a:solidFill>
                <a:srgbClr val="00468f"/>
              </a:solidFill>
              <a:effectLst/>
              <a:uFillTx/>
              <a:latin typeface="Arial"/>
            </a:endParaRPr>
          </a:p>
        </p:txBody>
      </p:sp>
      <p:pic>
        <p:nvPicPr>
          <p:cNvPr id="282" name="Picture 1" descr=""/>
          <p:cNvPicPr/>
          <p:nvPr/>
        </p:nvPicPr>
        <p:blipFill>
          <a:blip r:embed="rId1"/>
          <a:stretch/>
        </p:blipFill>
        <p:spPr>
          <a:xfrm>
            <a:off x="4427640" y="1511280"/>
            <a:ext cx="4177800" cy="4485960"/>
          </a:xfrm>
          <a:prstGeom prst="rect">
            <a:avLst/>
          </a:prstGeom>
          <a:noFill/>
          <a:ln w="0">
            <a:noFill/>
          </a:ln>
        </p:spPr>
      </p:pic>
      <p:pic>
        <p:nvPicPr>
          <p:cNvPr id="283" name="Picture 11" descr=""/>
          <p:cNvPicPr/>
          <p:nvPr/>
        </p:nvPicPr>
        <p:blipFill>
          <a:blip r:embed="rId2"/>
          <a:stretch/>
        </p:blipFill>
        <p:spPr>
          <a:xfrm>
            <a:off x="4427640" y="1511280"/>
            <a:ext cx="4177800" cy="4485960"/>
          </a:xfrm>
          <a:prstGeom prst="rect">
            <a:avLst/>
          </a:prstGeom>
          <a:noFill/>
          <a:ln w="0">
            <a:noFill/>
          </a:ln>
        </p:spPr>
      </p:pic>
      <p:pic>
        <p:nvPicPr>
          <p:cNvPr id="284" name="Picture 12" descr=""/>
          <p:cNvPicPr/>
          <p:nvPr/>
        </p:nvPicPr>
        <p:blipFill>
          <a:blip r:embed="rId3"/>
          <a:stretch/>
        </p:blipFill>
        <p:spPr>
          <a:xfrm>
            <a:off x="4427640" y="1511280"/>
            <a:ext cx="4177800" cy="4485960"/>
          </a:xfrm>
          <a:prstGeom prst="rect">
            <a:avLst/>
          </a:prstGeom>
          <a:noFill/>
          <a:ln w="0">
            <a:noFill/>
          </a:ln>
        </p:spPr>
      </p:pic>
      <p:pic>
        <p:nvPicPr>
          <p:cNvPr id="285" name="Picture 13" descr=""/>
          <p:cNvPicPr/>
          <p:nvPr/>
        </p:nvPicPr>
        <p:blipFill>
          <a:blip r:embed="rId4"/>
          <a:stretch/>
        </p:blipFill>
        <p:spPr>
          <a:xfrm>
            <a:off x="4427640" y="1511280"/>
            <a:ext cx="4177800" cy="4485960"/>
          </a:xfrm>
          <a:prstGeom prst="rect">
            <a:avLst/>
          </a:prstGeom>
          <a:noFill/>
          <a:ln w="0">
            <a:noFill/>
          </a:ln>
        </p:spPr>
      </p:pic>
      <p:pic>
        <p:nvPicPr>
          <p:cNvPr id="286" name="Picture 14" descr=""/>
          <p:cNvPicPr/>
          <p:nvPr/>
        </p:nvPicPr>
        <p:blipFill>
          <a:blip r:embed="rId5"/>
          <a:stretch/>
        </p:blipFill>
        <p:spPr>
          <a:xfrm>
            <a:off x="4427640" y="1511280"/>
            <a:ext cx="4177800" cy="4485960"/>
          </a:xfrm>
          <a:prstGeom prst="rect">
            <a:avLst/>
          </a:prstGeom>
          <a:noFill/>
          <a:ln w="0">
            <a:noFill/>
          </a:ln>
        </p:spPr>
      </p:pic>
    </p:spTree>
  </p:cSld>
  <p:transition spd="slow">
    <p:wipe dir="r"/>
  </p:transition>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287" name="Picture 1" descr=""/>
          <p:cNvPicPr/>
          <p:nvPr/>
        </p:nvPicPr>
        <p:blipFill>
          <a:blip r:embed="rId1"/>
          <a:stretch/>
        </p:blipFill>
        <p:spPr>
          <a:xfrm>
            <a:off x="1979640" y="792000"/>
            <a:ext cx="4914720" cy="5276520"/>
          </a:xfrm>
          <a:prstGeom prst="rect">
            <a:avLst/>
          </a:prstGeom>
          <a:noFill/>
          <a:ln w="0">
            <a:noFill/>
          </a:ln>
        </p:spPr>
      </p:pic>
      <p:pic>
        <p:nvPicPr>
          <p:cNvPr id="288" name="Picture 12" descr=""/>
          <p:cNvPicPr/>
          <p:nvPr/>
        </p:nvPicPr>
        <p:blipFill>
          <a:blip r:embed="rId2"/>
          <a:stretch/>
        </p:blipFill>
        <p:spPr>
          <a:xfrm>
            <a:off x="1979640" y="792000"/>
            <a:ext cx="4914720" cy="5276520"/>
          </a:xfrm>
          <a:prstGeom prst="rect">
            <a:avLst/>
          </a:prstGeom>
          <a:noFill/>
          <a:ln w="0">
            <a:noFill/>
          </a:ln>
        </p:spPr>
      </p:pic>
      <p:pic>
        <p:nvPicPr>
          <p:cNvPr id="289" name="Picture 13" descr=""/>
          <p:cNvPicPr/>
          <p:nvPr/>
        </p:nvPicPr>
        <p:blipFill>
          <a:blip r:embed="rId3"/>
          <a:stretch/>
        </p:blipFill>
        <p:spPr>
          <a:xfrm>
            <a:off x="1979640" y="792000"/>
            <a:ext cx="4914720" cy="5276520"/>
          </a:xfrm>
          <a:prstGeom prst="rect">
            <a:avLst/>
          </a:prstGeom>
          <a:noFill/>
          <a:ln w="0">
            <a:noFill/>
          </a:ln>
        </p:spPr>
      </p:pic>
      <p:pic>
        <p:nvPicPr>
          <p:cNvPr id="290" name="Picture 14" descr=""/>
          <p:cNvPicPr/>
          <p:nvPr/>
        </p:nvPicPr>
        <p:blipFill>
          <a:blip r:embed="rId4"/>
          <a:stretch/>
        </p:blipFill>
        <p:spPr>
          <a:xfrm>
            <a:off x="1979640" y="792000"/>
            <a:ext cx="4914720" cy="5276520"/>
          </a:xfrm>
          <a:prstGeom prst="rect">
            <a:avLst/>
          </a:prstGeom>
          <a:noFill/>
          <a:ln w="0">
            <a:noFill/>
          </a:ln>
        </p:spPr>
      </p:pic>
      <p:pic>
        <p:nvPicPr>
          <p:cNvPr id="291" name="Picture 15" descr=""/>
          <p:cNvPicPr/>
          <p:nvPr/>
        </p:nvPicPr>
        <p:blipFill>
          <a:blip r:embed="rId5"/>
          <a:stretch/>
        </p:blipFill>
        <p:spPr>
          <a:xfrm>
            <a:off x="1979640" y="792000"/>
            <a:ext cx="4914720" cy="5276520"/>
          </a:xfrm>
          <a:prstGeom prst="rect">
            <a:avLst/>
          </a:prstGeom>
          <a:noFill/>
          <a:ln w="0">
            <a:noFill/>
          </a:ln>
        </p:spPr>
      </p:pic>
    </p:spTree>
  </p:cSld>
  <p:transition spd="slow">
    <p:wipe dir="r"/>
  </p:transition>
  <p:timing>
    <p:tnLst>
      <p:par>
        <p:cTn id="730" dur="indefinite" restart="never" nodeType="tmRoot">
          <p:childTnLst>
            <p:seq>
              <p:cTn id="731" dur="indefinite" nodeType="mainSeq">
                <p:childTnLst>
                  <p:par>
                    <p:cTn id="732" nodeType="clickEffect" fill="hold">
                      <p:stCondLst>
                        <p:cond delay="indefinite"/>
                      </p:stCondLst>
                      <p:childTnLst>
                        <p:par>
                          <p:cTn id="733" nodeType="withEffect" fill="hold">
                            <p:stCondLst>
                              <p:cond delay="0"/>
                            </p:stCondLst>
                            <p:childTnLst>
                              <p:par>
                                <p:cTn id="734" nodeType="clickEffect" fill="hold" presetClass="entr" presetID="22" presetSubtype="8">
                                  <p:stCondLst>
                                    <p:cond delay="0"/>
                                  </p:stCondLst>
                                  <p:childTnLst>
                                    <p:set>
                                      <p:cBhvr>
                                        <p:cTn id="735" dur="1" fill="hold">
                                          <p:stCondLst>
                                            <p:cond delay="0"/>
                                          </p:stCondLst>
                                        </p:cTn>
                                        <p:tgtEl>
                                          <p:spTgt spid="288"/>
                                        </p:tgtEl>
                                        <p:attrNameLst>
                                          <p:attrName>style.visibility</p:attrName>
                                        </p:attrNameLst>
                                      </p:cBhvr>
                                      <p:to>
                                        <p:strVal val="visible"/>
                                      </p:to>
                                    </p:set>
                                    <p:animEffect filter="wipe(left)" transition="in">
                                      <p:cBhvr additive="repl">
                                        <p:cTn id="736" dur="1000"/>
                                        <p:tgtEl>
                                          <p:spTgt spid="288"/>
                                        </p:tgtEl>
                                      </p:cBhvr>
                                    </p:animEffect>
                                  </p:childTnLst>
                                </p:cTn>
                              </p:par>
                            </p:childTnLst>
                          </p:cTn>
                        </p:par>
                      </p:childTnLst>
                    </p:cTn>
                  </p:par>
                  <p:par>
                    <p:cTn id="737" nodeType="clickEffect" fill="hold">
                      <p:stCondLst>
                        <p:cond delay="indefinite"/>
                      </p:stCondLst>
                      <p:childTnLst>
                        <p:par>
                          <p:cTn id="738" nodeType="withEffect" fill="hold">
                            <p:stCondLst>
                              <p:cond delay="0"/>
                            </p:stCondLst>
                            <p:childTnLst>
                              <p:par>
                                <p:cTn id="739" nodeType="clickEffect" fill="hold" presetClass="entr" presetID="22" presetSubtype="8">
                                  <p:stCondLst>
                                    <p:cond delay="0"/>
                                  </p:stCondLst>
                                  <p:childTnLst>
                                    <p:set>
                                      <p:cBhvr>
                                        <p:cTn id="740" dur="1" fill="hold">
                                          <p:stCondLst>
                                            <p:cond delay="0"/>
                                          </p:stCondLst>
                                        </p:cTn>
                                        <p:tgtEl>
                                          <p:spTgt spid="289"/>
                                        </p:tgtEl>
                                        <p:attrNameLst>
                                          <p:attrName>style.visibility</p:attrName>
                                        </p:attrNameLst>
                                      </p:cBhvr>
                                      <p:to>
                                        <p:strVal val="visible"/>
                                      </p:to>
                                    </p:set>
                                    <p:animEffect filter="wipe(left)" transition="in">
                                      <p:cBhvr additive="repl">
                                        <p:cTn id="741" dur="1000"/>
                                        <p:tgtEl>
                                          <p:spTgt spid="289"/>
                                        </p:tgtEl>
                                      </p:cBhvr>
                                    </p:animEffect>
                                  </p:childTnLst>
                                </p:cTn>
                              </p:par>
                            </p:childTnLst>
                          </p:cTn>
                        </p:par>
                      </p:childTnLst>
                    </p:cTn>
                  </p:par>
                  <p:par>
                    <p:cTn id="742" nodeType="clickEffect" fill="hold">
                      <p:stCondLst>
                        <p:cond delay="indefinite"/>
                      </p:stCondLst>
                      <p:childTnLst>
                        <p:par>
                          <p:cTn id="743" nodeType="withEffect" fill="hold">
                            <p:stCondLst>
                              <p:cond delay="0"/>
                            </p:stCondLst>
                            <p:childTnLst>
                              <p:par>
                                <p:cTn id="744" nodeType="clickEffect" fill="hold" presetClass="entr" presetID="22" presetSubtype="4">
                                  <p:stCondLst>
                                    <p:cond delay="0"/>
                                  </p:stCondLst>
                                  <p:childTnLst>
                                    <p:set>
                                      <p:cBhvr>
                                        <p:cTn id="745" dur="1" fill="hold">
                                          <p:stCondLst>
                                            <p:cond delay="0"/>
                                          </p:stCondLst>
                                        </p:cTn>
                                        <p:tgtEl>
                                          <p:spTgt spid="290"/>
                                        </p:tgtEl>
                                        <p:attrNameLst>
                                          <p:attrName>style.visibility</p:attrName>
                                        </p:attrNameLst>
                                      </p:cBhvr>
                                      <p:to>
                                        <p:strVal val="visible"/>
                                      </p:to>
                                    </p:set>
                                    <p:animEffect filter="wipe(down)" transition="in">
                                      <p:cBhvr additive="repl">
                                        <p:cTn id="746" dur="500"/>
                                        <p:tgtEl>
                                          <p:spTgt spid="290"/>
                                        </p:tgtEl>
                                      </p:cBhvr>
                                    </p:animEffect>
                                  </p:childTnLst>
                                </p:cTn>
                              </p:par>
                            </p:childTnLst>
                          </p:cTn>
                        </p:par>
                      </p:childTnLst>
                    </p:cTn>
                  </p:par>
                  <p:par>
                    <p:cTn id="747" nodeType="clickEffect" fill="hold">
                      <p:stCondLst>
                        <p:cond delay="indefinite"/>
                      </p:stCondLst>
                      <p:childTnLst>
                        <p:par>
                          <p:cTn id="748" nodeType="withEffect" fill="hold">
                            <p:stCondLst>
                              <p:cond delay="0"/>
                            </p:stCondLst>
                            <p:childTnLst>
                              <p:par>
                                <p:cTn id="749" nodeType="clickEffect" fill="hold" presetClass="entr" presetID="22" presetSubtype="4">
                                  <p:stCondLst>
                                    <p:cond delay="0"/>
                                  </p:stCondLst>
                                  <p:childTnLst>
                                    <p:set>
                                      <p:cBhvr>
                                        <p:cTn id="750" dur="1" fill="hold">
                                          <p:stCondLst>
                                            <p:cond delay="0"/>
                                          </p:stCondLst>
                                        </p:cTn>
                                        <p:tgtEl>
                                          <p:spTgt spid="291"/>
                                        </p:tgtEl>
                                        <p:attrNameLst>
                                          <p:attrName>style.visibility</p:attrName>
                                        </p:attrNameLst>
                                      </p:cBhvr>
                                      <p:to>
                                        <p:strVal val="visible"/>
                                      </p:to>
                                    </p:set>
                                    <p:animEffect filter="wipe(down)" transition="in">
                                      <p:cBhvr additive="repl">
                                        <p:cTn id="751" dur="500"/>
                                        <p:tgtEl>
                                          <p:spTgt spid="2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16.2  SINGLE-PRICE MONOPOLY</a:t>
            </a:r>
            <a:endParaRPr b="0" lang="en-CA" sz="2600" strike="noStrike" u="none">
              <a:solidFill>
                <a:schemeClr val="dk1"/>
              </a:solidFill>
              <a:effectLst/>
              <a:uFillTx/>
              <a:latin typeface="Arial"/>
            </a:endParaRPr>
          </a:p>
        </p:txBody>
      </p:sp>
      <p:sp>
        <p:nvSpPr>
          <p:cNvPr id="293" name="PlaceHolder 2"/>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Figure 16.4(b) shows the firm’s profit-maximizing output and price decision.</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average total cost curve is </a:t>
            </a:r>
            <a:r>
              <a:rPr b="0" i="1" lang="en-US" sz="2400" strike="noStrike" u="none">
                <a:solidFill>
                  <a:srgbClr val="000000"/>
                </a:solidFill>
                <a:effectLst/>
                <a:uFillTx/>
                <a:latin typeface="Arial"/>
                <a:ea typeface="ＭＳ Ｐゴシック"/>
              </a:rPr>
              <a:t>ATC</a:t>
            </a:r>
            <a:r>
              <a:rPr b="0" lang="en-US" sz="2400" strike="noStrike" u="none">
                <a:solidFill>
                  <a:srgbClr val="000000"/>
                </a:solidFill>
                <a:effectLst/>
                <a:uFillTx/>
                <a:latin typeface="Arial"/>
                <a:ea typeface="ＭＳ Ｐゴシック"/>
              </a:rPr>
              <a:t>.</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marginal cost curve is </a:t>
            </a:r>
            <a:r>
              <a:rPr b="0" i="1" lang="en-US" sz="2400" strike="noStrike" u="none">
                <a:solidFill>
                  <a:srgbClr val="000000"/>
                </a:solidFill>
                <a:effectLst/>
                <a:uFillTx/>
                <a:latin typeface="Arial"/>
                <a:ea typeface="ＭＳ Ｐゴシック"/>
              </a:rPr>
              <a:t>MC</a:t>
            </a:r>
            <a:r>
              <a:rPr b="0" lang="en-US" sz="2400" strike="noStrike" u="none">
                <a:solidFill>
                  <a:srgbClr val="000000"/>
                </a:solidFill>
                <a:effectLst/>
                <a:uFillTx/>
                <a:latin typeface="Arial"/>
                <a:ea typeface="ＭＳ Ｐゴシック"/>
              </a:rPr>
              <a:t>.</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demand curve is </a:t>
            </a:r>
            <a:r>
              <a:rPr b="0" i="1" lang="en-US" sz="2400" strike="noStrike" u="none">
                <a:solidFill>
                  <a:srgbClr val="000000"/>
                </a:solidFill>
                <a:effectLst/>
                <a:uFillTx/>
                <a:latin typeface="Arial"/>
                <a:ea typeface="ＭＳ Ｐゴシック"/>
              </a:rPr>
              <a:t>D</a:t>
            </a:r>
            <a:r>
              <a:rPr b="0" lang="en-US" sz="2400" strike="noStrike" u="none">
                <a:solidFill>
                  <a:srgbClr val="000000"/>
                </a:solidFill>
                <a:effectLst/>
                <a:uFillTx/>
                <a:latin typeface="Arial"/>
                <a:ea typeface="ＭＳ Ｐゴシック"/>
              </a:rPr>
              <a:t>.</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marginal revenue curve is </a:t>
            </a:r>
            <a:r>
              <a:rPr b="0" i="1" lang="en-US" sz="2400" strike="noStrike" u="none">
                <a:solidFill>
                  <a:srgbClr val="000000"/>
                </a:solidFill>
                <a:effectLst/>
                <a:uFillTx/>
                <a:latin typeface="Arial"/>
                <a:ea typeface="ＭＳ Ｐゴシック"/>
              </a:rPr>
              <a:t>MR</a:t>
            </a:r>
            <a:r>
              <a:rPr b="0" lang="en-US" sz="2400" strike="noStrike" u="none">
                <a:solidFill>
                  <a:srgbClr val="000000"/>
                </a:solidFill>
                <a:effectLst/>
                <a:uFillTx/>
                <a:latin typeface="Arial"/>
                <a:ea typeface="ＭＳ Ｐゴシック"/>
              </a:rPr>
              <a:t>.</a:t>
            </a:r>
            <a:endParaRPr b="1" lang="en-CA" sz="2400" strike="noStrike" u="none">
              <a:solidFill>
                <a:srgbClr val="00468f"/>
              </a:solidFill>
              <a:effectLst/>
              <a:uFillTx/>
              <a:latin typeface="Arial"/>
            </a:endParaRPr>
          </a:p>
        </p:txBody>
      </p:sp>
      <p:pic>
        <p:nvPicPr>
          <p:cNvPr id="294" name="Picture 1" descr=""/>
          <p:cNvPicPr/>
          <p:nvPr/>
        </p:nvPicPr>
        <p:blipFill>
          <a:blip r:embed="rId1"/>
          <a:stretch/>
        </p:blipFill>
        <p:spPr>
          <a:xfrm>
            <a:off x="4427640" y="1511280"/>
            <a:ext cx="4177800" cy="4485960"/>
          </a:xfrm>
          <a:prstGeom prst="rect">
            <a:avLst/>
          </a:prstGeom>
          <a:noFill/>
          <a:ln w="0">
            <a:noFill/>
          </a:ln>
        </p:spPr>
      </p:pic>
      <p:pic>
        <p:nvPicPr>
          <p:cNvPr id="295" name="Picture 12" descr=""/>
          <p:cNvPicPr/>
          <p:nvPr/>
        </p:nvPicPr>
        <p:blipFill>
          <a:blip r:embed="rId2"/>
          <a:stretch/>
        </p:blipFill>
        <p:spPr>
          <a:xfrm>
            <a:off x="4427640" y="1511280"/>
            <a:ext cx="4177800" cy="4485960"/>
          </a:xfrm>
          <a:prstGeom prst="rect">
            <a:avLst/>
          </a:prstGeom>
          <a:noFill/>
          <a:ln w="0">
            <a:noFill/>
          </a:ln>
        </p:spPr>
      </p:pic>
      <p:pic>
        <p:nvPicPr>
          <p:cNvPr id="296" name="Picture 16" descr=""/>
          <p:cNvPicPr/>
          <p:nvPr/>
        </p:nvPicPr>
        <p:blipFill>
          <a:blip r:embed="rId3"/>
          <a:stretch/>
        </p:blipFill>
        <p:spPr>
          <a:xfrm>
            <a:off x="4427640" y="1511280"/>
            <a:ext cx="4177800" cy="4485960"/>
          </a:xfrm>
          <a:prstGeom prst="rect">
            <a:avLst/>
          </a:prstGeom>
          <a:noFill/>
          <a:ln w="0">
            <a:noFill/>
          </a:ln>
        </p:spPr>
      </p:pic>
      <p:pic>
        <p:nvPicPr>
          <p:cNvPr id="297" name="Picture 17" descr=""/>
          <p:cNvPicPr/>
          <p:nvPr/>
        </p:nvPicPr>
        <p:blipFill>
          <a:blip r:embed="rId4"/>
          <a:stretch/>
        </p:blipFill>
        <p:spPr>
          <a:xfrm>
            <a:off x="4427640" y="1511280"/>
            <a:ext cx="4177800" cy="4485960"/>
          </a:xfrm>
          <a:prstGeom prst="rect">
            <a:avLst/>
          </a:prstGeom>
          <a:noFill/>
          <a:ln w="0">
            <a:noFill/>
          </a:ln>
        </p:spPr>
      </p:pic>
      <p:pic>
        <p:nvPicPr>
          <p:cNvPr id="298" name="Picture 18" descr=""/>
          <p:cNvPicPr/>
          <p:nvPr/>
        </p:nvPicPr>
        <p:blipFill>
          <a:blip r:embed="rId5"/>
          <a:stretch/>
        </p:blipFill>
        <p:spPr>
          <a:xfrm>
            <a:off x="4427640" y="1511280"/>
            <a:ext cx="4177800" cy="4485960"/>
          </a:xfrm>
          <a:prstGeom prst="rect">
            <a:avLst/>
          </a:prstGeom>
          <a:noFill/>
          <a:ln w="0">
            <a:noFill/>
          </a:ln>
        </p:spPr>
      </p:pic>
    </p:spTree>
  </p:cSld>
  <p:transition spd="slow">
    <p:wipe dir="r"/>
  </p:transition>
  <p:timing>
    <p:tnLst>
      <p:par>
        <p:cTn id="752" dur="indefinite" restart="never" nodeType="tmRoot">
          <p:childTnLst>
            <p:seq>
              <p:cTn id="753" dur="indefinite" nodeType="mainSeq">
                <p:childTnLst>
                  <p:par>
                    <p:cTn id="754" nodeType="clickEffect" fill="hold">
                      <p:stCondLst>
                        <p:cond delay="indefinite"/>
                      </p:stCondLst>
                      <p:childTnLst>
                        <p:par>
                          <p:cTn id="755" nodeType="withEffect" fill="hold">
                            <p:stCondLst>
                              <p:cond delay="0"/>
                            </p:stCondLst>
                            <p:childTnLst>
                              <p:par>
                                <p:cTn id="756" nodeType="clickEffect" fill="hold" presetClass="entr" presetID="22" presetSubtype="8">
                                  <p:stCondLst>
                                    <p:cond delay="0"/>
                                  </p:stCondLst>
                                  <p:childTnLst>
                                    <p:set>
                                      <p:cBhvr>
                                        <p:cTn id="757" dur="1" fill="hold">
                                          <p:stCondLst>
                                            <p:cond delay="0"/>
                                          </p:stCondLst>
                                        </p:cTn>
                                        <p:tgtEl>
                                          <p:spTgt spid="293">
                                            <p:txEl>
                                              <p:pRg st="1" end="1"/>
                                            </p:txEl>
                                          </p:spTgt>
                                        </p:tgtEl>
                                        <p:attrNameLst>
                                          <p:attrName>style.visibility</p:attrName>
                                        </p:attrNameLst>
                                      </p:cBhvr>
                                      <p:to>
                                        <p:strVal val="visible"/>
                                      </p:to>
                                    </p:set>
                                    <p:animEffect filter="wipe(left)" transition="in">
                                      <p:cBhvr additive="repl">
                                        <p:cTn id="758" dur="500"/>
                                        <p:tgtEl>
                                          <p:spTgt spid="293">
                                            <p:txEl>
                                              <p:pRg st="1" end="1"/>
                                            </p:txEl>
                                          </p:spTgt>
                                        </p:tgtEl>
                                      </p:cBhvr>
                                    </p:animEffect>
                                  </p:childTnLst>
                                </p:cTn>
                              </p:par>
                              <p:par>
                                <p:cTn id="759" nodeType="withEffect" fill="hold" presetClass="entr" presetID="22" presetSubtype="8">
                                  <p:stCondLst>
                                    <p:cond delay="0"/>
                                  </p:stCondLst>
                                  <p:childTnLst>
                                    <p:set>
                                      <p:cBhvr>
                                        <p:cTn id="760" dur="1" fill="hold">
                                          <p:stCondLst>
                                            <p:cond delay="0"/>
                                          </p:stCondLst>
                                        </p:cTn>
                                        <p:tgtEl>
                                          <p:spTgt spid="295"/>
                                        </p:tgtEl>
                                        <p:attrNameLst>
                                          <p:attrName>style.visibility</p:attrName>
                                        </p:attrNameLst>
                                      </p:cBhvr>
                                      <p:to>
                                        <p:strVal val="visible"/>
                                      </p:to>
                                    </p:set>
                                    <p:animEffect filter="wipe(left)" transition="in">
                                      <p:cBhvr additive="repl">
                                        <p:cTn id="761" dur="1000"/>
                                        <p:tgtEl>
                                          <p:spTgt spid="295"/>
                                        </p:tgtEl>
                                      </p:cBhvr>
                                    </p:animEffect>
                                  </p:childTnLst>
                                </p:cTn>
                              </p:par>
                            </p:childTnLst>
                          </p:cTn>
                        </p:par>
                      </p:childTnLst>
                    </p:cTn>
                  </p:par>
                  <p:par>
                    <p:cTn id="762" nodeType="clickEffect" fill="hold">
                      <p:stCondLst>
                        <p:cond delay="indefinite"/>
                      </p:stCondLst>
                      <p:childTnLst>
                        <p:par>
                          <p:cTn id="763" nodeType="withEffect" fill="hold">
                            <p:stCondLst>
                              <p:cond delay="0"/>
                            </p:stCondLst>
                            <p:childTnLst>
                              <p:par>
                                <p:cTn id="764" nodeType="clickEffect" fill="hold" presetClass="entr" presetID="22" presetSubtype="8">
                                  <p:stCondLst>
                                    <p:cond delay="0"/>
                                  </p:stCondLst>
                                  <p:childTnLst>
                                    <p:set>
                                      <p:cBhvr>
                                        <p:cTn id="765" dur="1" fill="hold">
                                          <p:stCondLst>
                                            <p:cond delay="0"/>
                                          </p:stCondLst>
                                        </p:cTn>
                                        <p:tgtEl>
                                          <p:spTgt spid="293">
                                            <p:txEl>
                                              <p:pRg st="2" end="2"/>
                                            </p:txEl>
                                          </p:spTgt>
                                        </p:tgtEl>
                                        <p:attrNameLst>
                                          <p:attrName>style.visibility</p:attrName>
                                        </p:attrNameLst>
                                      </p:cBhvr>
                                      <p:to>
                                        <p:strVal val="visible"/>
                                      </p:to>
                                    </p:set>
                                    <p:animEffect filter="wipe(left)" transition="in">
                                      <p:cBhvr additive="repl">
                                        <p:cTn id="766" dur="500"/>
                                        <p:tgtEl>
                                          <p:spTgt spid="293">
                                            <p:txEl>
                                              <p:pRg st="2" end="2"/>
                                            </p:txEl>
                                          </p:spTgt>
                                        </p:tgtEl>
                                      </p:cBhvr>
                                    </p:animEffect>
                                  </p:childTnLst>
                                </p:cTn>
                              </p:par>
                              <p:par>
                                <p:cTn id="767" nodeType="withEffect" fill="hold" presetClass="entr" presetID="22" presetSubtype="4">
                                  <p:stCondLst>
                                    <p:cond delay="0"/>
                                  </p:stCondLst>
                                  <p:childTnLst>
                                    <p:set>
                                      <p:cBhvr>
                                        <p:cTn id="768" dur="1" fill="hold">
                                          <p:stCondLst>
                                            <p:cond delay="0"/>
                                          </p:stCondLst>
                                        </p:cTn>
                                        <p:tgtEl>
                                          <p:spTgt spid="296"/>
                                        </p:tgtEl>
                                        <p:attrNameLst>
                                          <p:attrName>style.visibility</p:attrName>
                                        </p:attrNameLst>
                                      </p:cBhvr>
                                      <p:to>
                                        <p:strVal val="visible"/>
                                      </p:to>
                                    </p:set>
                                    <p:animEffect filter="wipe(down)" transition="in">
                                      <p:cBhvr additive="repl">
                                        <p:cTn id="769" dur="1000"/>
                                        <p:tgtEl>
                                          <p:spTgt spid="296"/>
                                        </p:tgtEl>
                                      </p:cBhvr>
                                    </p:animEffect>
                                  </p:childTnLst>
                                </p:cTn>
                              </p:par>
                            </p:childTnLst>
                          </p:cTn>
                        </p:par>
                      </p:childTnLst>
                    </p:cTn>
                  </p:par>
                  <p:par>
                    <p:cTn id="770" nodeType="clickEffect" fill="hold">
                      <p:stCondLst>
                        <p:cond delay="indefinite"/>
                      </p:stCondLst>
                      <p:childTnLst>
                        <p:par>
                          <p:cTn id="771" nodeType="withEffect" fill="hold">
                            <p:stCondLst>
                              <p:cond delay="0"/>
                            </p:stCondLst>
                            <p:childTnLst>
                              <p:par>
                                <p:cTn id="772" nodeType="clickEffect" fill="hold" presetClass="entr" presetID="22" presetSubtype="8">
                                  <p:stCondLst>
                                    <p:cond delay="0"/>
                                  </p:stCondLst>
                                  <p:childTnLst>
                                    <p:set>
                                      <p:cBhvr>
                                        <p:cTn id="773" dur="1" fill="hold">
                                          <p:stCondLst>
                                            <p:cond delay="0"/>
                                          </p:stCondLst>
                                        </p:cTn>
                                        <p:tgtEl>
                                          <p:spTgt spid="293">
                                            <p:txEl>
                                              <p:pRg st="3" end="3"/>
                                            </p:txEl>
                                          </p:spTgt>
                                        </p:tgtEl>
                                        <p:attrNameLst>
                                          <p:attrName>style.visibility</p:attrName>
                                        </p:attrNameLst>
                                      </p:cBhvr>
                                      <p:to>
                                        <p:strVal val="visible"/>
                                      </p:to>
                                    </p:set>
                                    <p:animEffect filter="wipe(left)" transition="in">
                                      <p:cBhvr additive="repl">
                                        <p:cTn id="774" dur="500"/>
                                        <p:tgtEl>
                                          <p:spTgt spid="293">
                                            <p:txEl>
                                              <p:pRg st="3" end="3"/>
                                            </p:txEl>
                                          </p:spTgt>
                                        </p:tgtEl>
                                      </p:cBhvr>
                                    </p:animEffect>
                                  </p:childTnLst>
                                </p:cTn>
                              </p:par>
                              <p:par>
                                <p:cTn id="775" nodeType="withEffect" fill="hold" presetClass="entr" presetID="22" presetSubtype="8">
                                  <p:stCondLst>
                                    <p:cond delay="0"/>
                                  </p:stCondLst>
                                  <p:childTnLst>
                                    <p:set>
                                      <p:cBhvr>
                                        <p:cTn id="776" dur="1" fill="hold">
                                          <p:stCondLst>
                                            <p:cond delay="0"/>
                                          </p:stCondLst>
                                        </p:cTn>
                                        <p:tgtEl>
                                          <p:spTgt spid="297"/>
                                        </p:tgtEl>
                                        <p:attrNameLst>
                                          <p:attrName>style.visibility</p:attrName>
                                        </p:attrNameLst>
                                      </p:cBhvr>
                                      <p:to>
                                        <p:strVal val="visible"/>
                                      </p:to>
                                    </p:set>
                                    <p:animEffect filter="wipe(left)" transition="in">
                                      <p:cBhvr additive="repl">
                                        <p:cTn id="777" dur="1000"/>
                                        <p:tgtEl>
                                          <p:spTgt spid="297"/>
                                        </p:tgtEl>
                                      </p:cBhvr>
                                    </p:animEffect>
                                  </p:childTnLst>
                                </p:cTn>
                              </p:par>
                            </p:childTnLst>
                          </p:cTn>
                        </p:par>
                      </p:childTnLst>
                    </p:cTn>
                  </p:par>
                  <p:par>
                    <p:cTn id="778" nodeType="clickEffect" fill="hold">
                      <p:stCondLst>
                        <p:cond delay="indefinite"/>
                      </p:stCondLst>
                      <p:childTnLst>
                        <p:par>
                          <p:cTn id="779" nodeType="withEffect" fill="hold">
                            <p:stCondLst>
                              <p:cond delay="0"/>
                            </p:stCondLst>
                            <p:childTnLst>
                              <p:par>
                                <p:cTn id="780" nodeType="clickEffect" fill="hold" presetClass="entr" presetID="22" presetSubtype="8">
                                  <p:stCondLst>
                                    <p:cond delay="0"/>
                                  </p:stCondLst>
                                  <p:childTnLst>
                                    <p:set>
                                      <p:cBhvr>
                                        <p:cTn id="781" dur="1" fill="hold">
                                          <p:stCondLst>
                                            <p:cond delay="0"/>
                                          </p:stCondLst>
                                        </p:cTn>
                                        <p:tgtEl>
                                          <p:spTgt spid="293">
                                            <p:txEl>
                                              <p:pRg st="4" end="4"/>
                                            </p:txEl>
                                          </p:spTgt>
                                        </p:tgtEl>
                                        <p:attrNameLst>
                                          <p:attrName>style.visibility</p:attrName>
                                        </p:attrNameLst>
                                      </p:cBhvr>
                                      <p:to>
                                        <p:strVal val="visible"/>
                                      </p:to>
                                    </p:set>
                                    <p:animEffect filter="wipe(left)" transition="in">
                                      <p:cBhvr additive="repl">
                                        <p:cTn id="782" dur="500"/>
                                        <p:tgtEl>
                                          <p:spTgt spid="293">
                                            <p:txEl>
                                              <p:pRg st="4" end="4"/>
                                            </p:txEl>
                                          </p:spTgt>
                                        </p:tgtEl>
                                      </p:cBhvr>
                                    </p:animEffect>
                                  </p:childTnLst>
                                </p:cTn>
                              </p:par>
                              <p:par>
                                <p:cTn id="783" nodeType="withEffect" fill="hold" presetClass="entr" presetID="22" presetSubtype="8">
                                  <p:stCondLst>
                                    <p:cond delay="0"/>
                                  </p:stCondLst>
                                  <p:childTnLst>
                                    <p:set>
                                      <p:cBhvr>
                                        <p:cTn id="784" dur="1" fill="hold">
                                          <p:stCondLst>
                                            <p:cond delay="0"/>
                                          </p:stCondLst>
                                        </p:cTn>
                                        <p:tgtEl>
                                          <p:spTgt spid="298"/>
                                        </p:tgtEl>
                                        <p:attrNameLst>
                                          <p:attrName>style.visibility</p:attrName>
                                        </p:attrNameLst>
                                      </p:cBhvr>
                                      <p:to>
                                        <p:strVal val="visible"/>
                                      </p:to>
                                    </p:set>
                                    <p:animEffect filter="wipe(left)" transition="in">
                                      <p:cBhvr additive="repl">
                                        <p:cTn id="785" dur="1000"/>
                                        <p:tgtEl>
                                          <p:spTgt spid="2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299" name="Picture 1" descr=""/>
          <p:cNvPicPr/>
          <p:nvPr/>
        </p:nvPicPr>
        <p:blipFill>
          <a:blip r:embed="rId1"/>
          <a:stretch/>
        </p:blipFill>
        <p:spPr>
          <a:xfrm>
            <a:off x="1979640" y="792000"/>
            <a:ext cx="4914720" cy="5276520"/>
          </a:xfrm>
          <a:prstGeom prst="rect">
            <a:avLst/>
          </a:prstGeom>
          <a:noFill/>
          <a:ln w="0">
            <a:noFill/>
          </a:ln>
        </p:spPr>
      </p:pic>
      <p:pic>
        <p:nvPicPr>
          <p:cNvPr id="300" name="Picture 10" descr=""/>
          <p:cNvPicPr/>
          <p:nvPr/>
        </p:nvPicPr>
        <p:blipFill>
          <a:blip r:embed="rId2"/>
          <a:stretch/>
        </p:blipFill>
        <p:spPr>
          <a:xfrm>
            <a:off x="1979640" y="792000"/>
            <a:ext cx="4914720" cy="5276520"/>
          </a:xfrm>
          <a:prstGeom prst="rect">
            <a:avLst/>
          </a:prstGeom>
          <a:noFill/>
          <a:ln w="0">
            <a:noFill/>
          </a:ln>
        </p:spPr>
      </p:pic>
      <p:pic>
        <p:nvPicPr>
          <p:cNvPr id="301" name="Picture 11" descr=""/>
          <p:cNvPicPr/>
          <p:nvPr/>
        </p:nvPicPr>
        <p:blipFill>
          <a:blip r:embed="rId3"/>
          <a:stretch/>
        </p:blipFill>
        <p:spPr>
          <a:xfrm>
            <a:off x="1979640" y="792000"/>
            <a:ext cx="4914720" cy="5276520"/>
          </a:xfrm>
          <a:prstGeom prst="rect">
            <a:avLst/>
          </a:prstGeom>
          <a:noFill/>
          <a:ln w="0">
            <a:noFill/>
          </a:ln>
        </p:spPr>
      </p:pic>
      <p:pic>
        <p:nvPicPr>
          <p:cNvPr id="302" name="Picture 12" descr=""/>
          <p:cNvPicPr/>
          <p:nvPr/>
        </p:nvPicPr>
        <p:blipFill>
          <a:blip r:embed="rId4"/>
          <a:stretch/>
        </p:blipFill>
        <p:spPr>
          <a:xfrm>
            <a:off x="1979640" y="792000"/>
            <a:ext cx="4914720" cy="5276520"/>
          </a:xfrm>
          <a:prstGeom prst="rect">
            <a:avLst/>
          </a:prstGeom>
          <a:noFill/>
          <a:ln w="0">
            <a:noFill/>
          </a:ln>
        </p:spPr>
      </p:pic>
      <p:pic>
        <p:nvPicPr>
          <p:cNvPr id="303" name="Picture 13" descr=""/>
          <p:cNvPicPr/>
          <p:nvPr/>
        </p:nvPicPr>
        <p:blipFill>
          <a:blip r:embed="rId5"/>
          <a:stretch/>
        </p:blipFill>
        <p:spPr>
          <a:xfrm>
            <a:off x="1979640" y="792000"/>
            <a:ext cx="4914720" cy="5276520"/>
          </a:xfrm>
          <a:prstGeom prst="rect">
            <a:avLst/>
          </a:prstGeom>
          <a:noFill/>
          <a:ln w="0">
            <a:noFill/>
          </a:ln>
        </p:spPr>
      </p:pic>
      <p:pic>
        <p:nvPicPr>
          <p:cNvPr id="304" name="Picture 14" descr=""/>
          <p:cNvPicPr/>
          <p:nvPr/>
        </p:nvPicPr>
        <p:blipFill>
          <a:blip r:embed="rId6"/>
          <a:stretch/>
        </p:blipFill>
        <p:spPr>
          <a:xfrm>
            <a:off x="1979640" y="792000"/>
            <a:ext cx="4914720" cy="5276520"/>
          </a:xfrm>
          <a:prstGeom prst="rect">
            <a:avLst/>
          </a:prstGeom>
          <a:noFill/>
          <a:ln w="0">
            <a:noFill/>
          </a:ln>
        </p:spPr>
      </p:pic>
      <p:pic>
        <p:nvPicPr>
          <p:cNvPr id="305" name="Picture 15" descr=""/>
          <p:cNvPicPr/>
          <p:nvPr/>
        </p:nvPicPr>
        <p:blipFill>
          <a:blip r:embed="rId7"/>
          <a:stretch/>
        </p:blipFill>
        <p:spPr>
          <a:xfrm>
            <a:off x="1979640" y="792000"/>
            <a:ext cx="4914720" cy="5276520"/>
          </a:xfrm>
          <a:prstGeom prst="rect">
            <a:avLst/>
          </a:prstGeom>
          <a:noFill/>
          <a:ln w="0">
            <a:noFill/>
          </a:ln>
        </p:spPr>
      </p:pic>
      <p:pic>
        <p:nvPicPr>
          <p:cNvPr id="306" name="Picture 16" descr=""/>
          <p:cNvPicPr/>
          <p:nvPr/>
        </p:nvPicPr>
        <p:blipFill>
          <a:blip r:embed="rId8"/>
          <a:stretch/>
        </p:blipFill>
        <p:spPr>
          <a:xfrm>
            <a:off x="1979640" y="792000"/>
            <a:ext cx="4914720" cy="5276520"/>
          </a:xfrm>
          <a:prstGeom prst="rect">
            <a:avLst/>
          </a:prstGeom>
          <a:noFill/>
          <a:ln w="0">
            <a:noFill/>
          </a:ln>
        </p:spPr>
      </p:pic>
      <p:pic>
        <p:nvPicPr>
          <p:cNvPr id="307" name="Picture 17" descr=""/>
          <p:cNvPicPr/>
          <p:nvPr/>
        </p:nvPicPr>
        <p:blipFill>
          <a:blip r:embed="rId9"/>
          <a:stretch/>
        </p:blipFill>
        <p:spPr>
          <a:xfrm>
            <a:off x="1979640" y="792000"/>
            <a:ext cx="4914720" cy="5276520"/>
          </a:xfrm>
          <a:prstGeom prst="rect">
            <a:avLst/>
          </a:prstGeom>
          <a:noFill/>
          <a:ln w="0">
            <a:noFill/>
          </a:ln>
        </p:spPr>
      </p:pic>
    </p:spTree>
  </p:cSld>
  <p:transition spd="slow">
    <p:wipe dir="r"/>
  </p:transition>
  <p:timing>
    <p:tnLst>
      <p:par>
        <p:cTn id="786" dur="indefinite" restart="never" nodeType="tmRoot">
          <p:childTnLst>
            <p:seq>
              <p:cTn id="787" dur="indefinite" nodeType="mainSeq">
                <p:childTnLst>
                  <p:par>
                    <p:cTn id="788" nodeType="clickEffect" fill="hold">
                      <p:stCondLst>
                        <p:cond delay="indefinite"/>
                      </p:stCondLst>
                      <p:childTnLst>
                        <p:par>
                          <p:cTn id="789" nodeType="withEffect" fill="hold">
                            <p:stCondLst>
                              <p:cond delay="0"/>
                            </p:stCondLst>
                            <p:childTnLst>
                              <p:par>
                                <p:cTn id="790" nodeType="clickEffect" fill="hold" presetClass="entr" presetID="22" presetSubtype="8">
                                  <p:stCondLst>
                                    <p:cond delay="0"/>
                                  </p:stCondLst>
                                  <p:childTnLst>
                                    <p:set>
                                      <p:cBhvr>
                                        <p:cTn id="791" dur="1" fill="hold">
                                          <p:stCondLst>
                                            <p:cond delay="0"/>
                                          </p:stCondLst>
                                        </p:cTn>
                                        <p:tgtEl>
                                          <p:spTgt spid="300"/>
                                        </p:tgtEl>
                                        <p:attrNameLst>
                                          <p:attrName>style.visibility</p:attrName>
                                        </p:attrNameLst>
                                      </p:cBhvr>
                                      <p:to>
                                        <p:strVal val="visible"/>
                                      </p:to>
                                    </p:set>
                                    <p:animEffect filter="wipe(left)" transition="in">
                                      <p:cBhvr additive="repl">
                                        <p:cTn id="792" dur="1000"/>
                                        <p:tgtEl>
                                          <p:spTgt spid="300"/>
                                        </p:tgtEl>
                                      </p:cBhvr>
                                    </p:animEffect>
                                  </p:childTnLst>
                                </p:cTn>
                              </p:par>
                            </p:childTnLst>
                          </p:cTn>
                        </p:par>
                      </p:childTnLst>
                    </p:cTn>
                  </p:par>
                  <p:par>
                    <p:cTn id="793" nodeType="clickEffect" fill="hold">
                      <p:stCondLst>
                        <p:cond delay="indefinite"/>
                      </p:stCondLst>
                      <p:childTnLst>
                        <p:par>
                          <p:cTn id="794" nodeType="withEffect" fill="hold">
                            <p:stCondLst>
                              <p:cond delay="0"/>
                            </p:stCondLst>
                            <p:childTnLst>
                              <p:par>
                                <p:cTn id="795" nodeType="clickEffect" fill="hold" presetClass="entr" presetID="22" presetSubtype="4">
                                  <p:stCondLst>
                                    <p:cond delay="0"/>
                                  </p:stCondLst>
                                  <p:childTnLst>
                                    <p:set>
                                      <p:cBhvr>
                                        <p:cTn id="796" dur="1" fill="hold">
                                          <p:stCondLst>
                                            <p:cond delay="0"/>
                                          </p:stCondLst>
                                        </p:cTn>
                                        <p:tgtEl>
                                          <p:spTgt spid="301"/>
                                        </p:tgtEl>
                                        <p:attrNameLst>
                                          <p:attrName>style.visibility</p:attrName>
                                        </p:attrNameLst>
                                      </p:cBhvr>
                                      <p:to>
                                        <p:strVal val="visible"/>
                                      </p:to>
                                    </p:set>
                                    <p:animEffect filter="wipe(down)" transition="in">
                                      <p:cBhvr additive="repl">
                                        <p:cTn id="797" dur="1000"/>
                                        <p:tgtEl>
                                          <p:spTgt spid="301"/>
                                        </p:tgtEl>
                                      </p:cBhvr>
                                    </p:animEffect>
                                  </p:childTnLst>
                                </p:cTn>
                              </p:par>
                            </p:childTnLst>
                          </p:cTn>
                        </p:par>
                      </p:childTnLst>
                    </p:cTn>
                  </p:par>
                  <p:par>
                    <p:cTn id="798" nodeType="clickEffect" fill="hold">
                      <p:stCondLst>
                        <p:cond delay="indefinite"/>
                      </p:stCondLst>
                      <p:childTnLst>
                        <p:par>
                          <p:cTn id="799" nodeType="withEffect" fill="hold">
                            <p:stCondLst>
                              <p:cond delay="0"/>
                            </p:stCondLst>
                            <p:childTnLst>
                              <p:par>
                                <p:cTn id="800" nodeType="clickEffect" fill="hold" presetClass="entr" presetID="22" presetSubtype="8">
                                  <p:stCondLst>
                                    <p:cond delay="0"/>
                                  </p:stCondLst>
                                  <p:childTnLst>
                                    <p:set>
                                      <p:cBhvr>
                                        <p:cTn id="801" dur="1" fill="hold">
                                          <p:stCondLst>
                                            <p:cond delay="0"/>
                                          </p:stCondLst>
                                        </p:cTn>
                                        <p:tgtEl>
                                          <p:spTgt spid="302"/>
                                        </p:tgtEl>
                                        <p:attrNameLst>
                                          <p:attrName>style.visibility</p:attrName>
                                        </p:attrNameLst>
                                      </p:cBhvr>
                                      <p:to>
                                        <p:strVal val="visible"/>
                                      </p:to>
                                    </p:set>
                                    <p:animEffect filter="wipe(left)" transition="in">
                                      <p:cBhvr additive="repl">
                                        <p:cTn id="802" dur="1000"/>
                                        <p:tgtEl>
                                          <p:spTgt spid="302"/>
                                        </p:tgtEl>
                                      </p:cBhvr>
                                    </p:animEffect>
                                  </p:childTnLst>
                                </p:cTn>
                              </p:par>
                            </p:childTnLst>
                          </p:cTn>
                        </p:par>
                      </p:childTnLst>
                    </p:cTn>
                  </p:par>
                  <p:par>
                    <p:cTn id="803" nodeType="clickEffect" fill="hold">
                      <p:stCondLst>
                        <p:cond delay="indefinite"/>
                      </p:stCondLst>
                      <p:childTnLst>
                        <p:par>
                          <p:cTn id="804" nodeType="withEffect" fill="hold">
                            <p:stCondLst>
                              <p:cond delay="0"/>
                            </p:stCondLst>
                            <p:childTnLst>
                              <p:par>
                                <p:cTn id="805" nodeType="clickEffect" fill="hold" presetClass="entr" presetID="22" presetSubtype="8">
                                  <p:stCondLst>
                                    <p:cond delay="0"/>
                                  </p:stCondLst>
                                  <p:childTnLst>
                                    <p:set>
                                      <p:cBhvr>
                                        <p:cTn id="806" dur="1" fill="hold">
                                          <p:stCondLst>
                                            <p:cond delay="0"/>
                                          </p:stCondLst>
                                        </p:cTn>
                                        <p:tgtEl>
                                          <p:spTgt spid="303"/>
                                        </p:tgtEl>
                                        <p:attrNameLst>
                                          <p:attrName>style.visibility</p:attrName>
                                        </p:attrNameLst>
                                      </p:cBhvr>
                                      <p:to>
                                        <p:strVal val="visible"/>
                                      </p:to>
                                    </p:set>
                                    <p:animEffect filter="wipe(left)" transition="in">
                                      <p:cBhvr additive="repl">
                                        <p:cTn id="807" dur="1000"/>
                                        <p:tgtEl>
                                          <p:spTgt spid="303"/>
                                        </p:tgtEl>
                                      </p:cBhvr>
                                    </p:animEffect>
                                  </p:childTnLst>
                                </p:cTn>
                              </p:par>
                            </p:childTnLst>
                          </p:cTn>
                        </p:par>
                      </p:childTnLst>
                    </p:cTn>
                  </p:par>
                  <p:par>
                    <p:cTn id="808" nodeType="clickEffect" fill="hold">
                      <p:stCondLst>
                        <p:cond delay="indefinite"/>
                      </p:stCondLst>
                      <p:childTnLst>
                        <p:par>
                          <p:cTn id="809" nodeType="withEffect" fill="hold">
                            <p:stCondLst>
                              <p:cond delay="0"/>
                            </p:stCondLst>
                            <p:childTnLst>
                              <p:par>
                                <p:cTn id="810" nodeType="clickEffect" fill="hold" presetClass="entr" presetID="10">
                                  <p:stCondLst>
                                    <p:cond delay="0"/>
                                  </p:stCondLst>
                                  <p:childTnLst>
                                    <p:set>
                                      <p:cBhvr>
                                        <p:cTn id="811" dur="1" fill="hold">
                                          <p:stCondLst>
                                            <p:cond delay="0"/>
                                          </p:stCondLst>
                                        </p:cTn>
                                        <p:tgtEl>
                                          <p:spTgt spid="304"/>
                                        </p:tgtEl>
                                        <p:attrNameLst>
                                          <p:attrName>style.visibility</p:attrName>
                                        </p:attrNameLst>
                                      </p:cBhvr>
                                      <p:to>
                                        <p:strVal val="visible"/>
                                      </p:to>
                                    </p:set>
                                    <p:animEffect filter="fade" transition="in">
                                      <p:cBhvr additive="repl">
                                        <p:cTn id="812" dur="500"/>
                                        <p:tgtEl>
                                          <p:spTgt spid="304"/>
                                        </p:tgtEl>
                                      </p:cBhvr>
                                    </p:animEffect>
                                  </p:childTnLst>
                                </p:cTn>
                              </p:par>
                            </p:childTnLst>
                          </p:cTn>
                        </p:par>
                      </p:childTnLst>
                    </p:cTn>
                  </p:par>
                  <p:par>
                    <p:cTn id="813" nodeType="clickEffect" fill="hold">
                      <p:stCondLst>
                        <p:cond delay="indefinite"/>
                      </p:stCondLst>
                      <p:childTnLst>
                        <p:par>
                          <p:cTn id="814" nodeType="withEffect" fill="hold">
                            <p:stCondLst>
                              <p:cond delay="0"/>
                            </p:stCondLst>
                            <p:childTnLst>
                              <p:par>
                                <p:cTn id="815" nodeType="clickEffect" fill="hold" presetClass="entr" presetID="10">
                                  <p:stCondLst>
                                    <p:cond delay="0"/>
                                  </p:stCondLst>
                                  <p:childTnLst>
                                    <p:set>
                                      <p:cBhvr>
                                        <p:cTn id="816" dur="1" fill="hold">
                                          <p:stCondLst>
                                            <p:cond delay="0"/>
                                          </p:stCondLst>
                                        </p:cTn>
                                        <p:tgtEl>
                                          <p:spTgt spid="305"/>
                                        </p:tgtEl>
                                        <p:attrNameLst>
                                          <p:attrName>style.visibility</p:attrName>
                                        </p:attrNameLst>
                                      </p:cBhvr>
                                      <p:to>
                                        <p:strVal val="visible"/>
                                      </p:to>
                                    </p:set>
                                    <p:animEffect filter="fade" transition="in">
                                      <p:cBhvr additive="repl">
                                        <p:cTn id="817" dur="500"/>
                                        <p:tgtEl>
                                          <p:spTgt spid="305"/>
                                        </p:tgtEl>
                                      </p:cBhvr>
                                    </p:animEffect>
                                  </p:childTnLst>
                                </p:cTn>
                              </p:par>
                            </p:childTnLst>
                          </p:cTn>
                        </p:par>
                      </p:childTnLst>
                    </p:cTn>
                  </p:par>
                  <p:par>
                    <p:cTn id="818" nodeType="clickEffect" fill="hold">
                      <p:stCondLst>
                        <p:cond delay="indefinite"/>
                      </p:stCondLst>
                      <p:childTnLst>
                        <p:par>
                          <p:cTn id="819" nodeType="withEffect" fill="hold">
                            <p:stCondLst>
                              <p:cond delay="0"/>
                            </p:stCondLst>
                            <p:childTnLst>
                              <p:par>
                                <p:cTn id="820" nodeType="clickEffect" fill="hold" presetClass="entr" presetID="10">
                                  <p:stCondLst>
                                    <p:cond delay="0"/>
                                  </p:stCondLst>
                                  <p:childTnLst>
                                    <p:set>
                                      <p:cBhvr>
                                        <p:cTn id="821" dur="1" fill="hold">
                                          <p:stCondLst>
                                            <p:cond delay="0"/>
                                          </p:stCondLst>
                                        </p:cTn>
                                        <p:tgtEl>
                                          <p:spTgt spid="306"/>
                                        </p:tgtEl>
                                        <p:attrNameLst>
                                          <p:attrName>style.visibility</p:attrName>
                                        </p:attrNameLst>
                                      </p:cBhvr>
                                      <p:to>
                                        <p:strVal val="visible"/>
                                      </p:to>
                                    </p:set>
                                    <p:animEffect filter="fade" transition="in">
                                      <p:cBhvr additive="repl">
                                        <p:cTn id="822" dur="500"/>
                                        <p:tgtEl>
                                          <p:spTgt spid="306"/>
                                        </p:tgtEl>
                                      </p:cBhvr>
                                    </p:animEffect>
                                  </p:childTnLst>
                                </p:cTn>
                              </p:par>
                            </p:childTnLst>
                          </p:cTn>
                        </p:par>
                      </p:childTnLst>
                    </p:cTn>
                  </p:par>
                  <p:par>
                    <p:cTn id="823" nodeType="clickEffect" fill="hold">
                      <p:stCondLst>
                        <p:cond delay="indefinite"/>
                      </p:stCondLst>
                      <p:childTnLst>
                        <p:par>
                          <p:cTn id="824" nodeType="withEffect" fill="hold">
                            <p:stCondLst>
                              <p:cond delay="0"/>
                            </p:stCondLst>
                            <p:childTnLst>
                              <p:par>
                                <p:cTn id="825" nodeType="clickEffect" fill="hold" presetClass="entr" presetID="10">
                                  <p:stCondLst>
                                    <p:cond delay="0"/>
                                  </p:stCondLst>
                                  <p:childTnLst>
                                    <p:set>
                                      <p:cBhvr>
                                        <p:cTn id="826" dur="1" fill="hold">
                                          <p:stCondLst>
                                            <p:cond delay="0"/>
                                          </p:stCondLst>
                                        </p:cTn>
                                        <p:tgtEl>
                                          <p:spTgt spid="307"/>
                                        </p:tgtEl>
                                        <p:attrNameLst>
                                          <p:attrName>style.visibility</p:attrName>
                                        </p:attrNameLst>
                                      </p:cBhvr>
                                      <p:to>
                                        <p:strVal val="visible"/>
                                      </p:to>
                                    </p:set>
                                    <p:animEffect filter="fade" transition="in">
                                      <p:cBhvr additive="repl">
                                        <p:cTn id="827" dur="500"/>
                                        <p:tgtEl>
                                          <p:spTgt spid="3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16.2  SINGLE-PRICE MONOPOLY</a:t>
            </a:r>
            <a:endParaRPr b="0" lang="en-CA" sz="2600" strike="noStrike" u="none">
              <a:solidFill>
                <a:schemeClr val="dk1"/>
              </a:solidFill>
              <a:effectLst/>
              <a:uFillTx/>
              <a:latin typeface="Arial"/>
            </a:endParaRPr>
          </a:p>
        </p:txBody>
      </p:sp>
      <p:sp>
        <p:nvSpPr>
          <p:cNvPr id="309" name="PlaceHolder 2"/>
          <p:cNvSpPr>
            <a:spLocks noGrp="1"/>
          </p:cNvSpPr>
          <p:nvPr>
            <p:ph/>
          </p:nvPr>
        </p:nvSpPr>
        <p:spPr>
          <a:xfrm>
            <a:off x="360360" y="1440000"/>
            <a:ext cx="444132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Economic profit is maximized when marginal cost (</a:t>
            </a:r>
            <a:r>
              <a:rPr b="0" i="1" lang="en-US" sz="2400" strike="noStrike" u="none">
                <a:solidFill>
                  <a:srgbClr val="000000"/>
                </a:solidFill>
                <a:effectLst/>
                <a:uFillTx/>
                <a:latin typeface="Arial"/>
                <a:ea typeface="ＭＳ Ｐゴシック"/>
              </a:rPr>
              <a:t>MC</a:t>
            </a:r>
            <a:r>
              <a:rPr b="0" lang="en-US" sz="2400" strike="noStrike" u="none">
                <a:solidFill>
                  <a:srgbClr val="000000"/>
                </a:solidFill>
                <a:effectLst/>
                <a:uFillTx/>
                <a:latin typeface="Arial"/>
                <a:ea typeface="ＭＳ Ｐゴシック"/>
              </a:rPr>
              <a:t>) equals marginal revenue (</a:t>
            </a:r>
            <a:r>
              <a:rPr b="0" i="1" lang="en-US" sz="2400" strike="noStrike" u="none">
                <a:solidFill>
                  <a:srgbClr val="000000"/>
                </a:solidFill>
                <a:effectLst/>
                <a:uFillTx/>
                <a:latin typeface="Arial"/>
                <a:ea typeface="ＭＳ Ｐゴシック"/>
              </a:rPr>
              <a:t>MR</a:t>
            </a:r>
            <a:r>
              <a:rPr b="0" lang="en-US" sz="2400" strike="noStrike" u="none">
                <a:solidFill>
                  <a:srgbClr val="000000"/>
                </a:solidFill>
                <a:effectLst/>
                <a:uFillTx/>
                <a:latin typeface="Arial"/>
                <a:ea typeface="ＭＳ Ｐゴシック"/>
              </a:rPr>
              <a:t>).</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profit-maximizing quantity is 3 haircuts an hour.</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profit-maximizing price is determined by the demand curve (</a:t>
            </a:r>
            <a:r>
              <a:rPr b="0" i="1" lang="en-US" sz="2400" strike="noStrike" u="none">
                <a:solidFill>
                  <a:srgbClr val="000000"/>
                </a:solidFill>
                <a:effectLst/>
                <a:uFillTx/>
                <a:latin typeface="Arial"/>
                <a:ea typeface="ＭＳ Ｐゴシック"/>
              </a:rPr>
              <a:t>D</a:t>
            </a:r>
            <a:r>
              <a:rPr b="0" lang="en-US" sz="2400" strike="noStrike" u="none">
                <a:solidFill>
                  <a:srgbClr val="000000"/>
                </a:solidFill>
                <a:effectLst/>
                <a:uFillTx/>
                <a:latin typeface="Arial"/>
                <a:ea typeface="ＭＳ Ｐゴシック"/>
              </a:rPr>
              <a:t>) and is $14.</a:t>
            </a:r>
            <a:endParaRPr b="1" lang="en-CA" sz="2400" strike="noStrike" u="none">
              <a:solidFill>
                <a:srgbClr val="00468f"/>
              </a:solidFill>
              <a:effectLst/>
              <a:uFillTx/>
              <a:latin typeface="Arial"/>
            </a:endParaRPr>
          </a:p>
        </p:txBody>
      </p:sp>
      <p:pic>
        <p:nvPicPr>
          <p:cNvPr id="310" name="Picture 1" descr=""/>
          <p:cNvPicPr/>
          <p:nvPr/>
        </p:nvPicPr>
        <p:blipFill>
          <a:blip r:embed="rId1"/>
          <a:stretch/>
        </p:blipFill>
        <p:spPr>
          <a:xfrm>
            <a:off x="4427640" y="1511280"/>
            <a:ext cx="4177800" cy="4485960"/>
          </a:xfrm>
          <a:prstGeom prst="rect">
            <a:avLst/>
          </a:prstGeom>
          <a:noFill/>
          <a:ln w="0">
            <a:noFill/>
          </a:ln>
        </p:spPr>
      </p:pic>
      <p:pic>
        <p:nvPicPr>
          <p:cNvPr id="311" name="Picture 13" descr=""/>
          <p:cNvPicPr/>
          <p:nvPr/>
        </p:nvPicPr>
        <p:blipFill>
          <a:blip r:embed="rId2"/>
          <a:stretch/>
        </p:blipFill>
        <p:spPr>
          <a:xfrm>
            <a:off x="4427640" y="1511280"/>
            <a:ext cx="4177800" cy="4485960"/>
          </a:xfrm>
          <a:prstGeom prst="rect">
            <a:avLst/>
          </a:prstGeom>
          <a:noFill/>
          <a:ln w="0">
            <a:noFill/>
          </a:ln>
        </p:spPr>
      </p:pic>
      <p:pic>
        <p:nvPicPr>
          <p:cNvPr id="312" name="Picture 14" descr=""/>
          <p:cNvPicPr/>
          <p:nvPr/>
        </p:nvPicPr>
        <p:blipFill>
          <a:blip r:embed="rId3"/>
          <a:stretch/>
        </p:blipFill>
        <p:spPr>
          <a:xfrm>
            <a:off x="4427640" y="1511280"/>
            <a:ext cx="4177800" cy="4485960"/>
          </a:xfrm>
          <a:prstGeom prst="rect">
            <a:avLst/>
          </a:prstGeom>
          <a:noFill/>
          <a:ln w="0">
            <a:noFill/>
          </a:ln>
        </p:spPr>
      </p:pic>
      <p:pic>
        <p:nvPicPr>
          <p:cNvPr id="313" name="Picture 15" descr=""/>
          <p:cNvPicPr/>
          <p:nvPr/>
        </p:nvPicPr>
        <p:blipFill>
          <a:blip r:embed="rId4"/>
          <a:stretch/>
        </p:blipFill>
        <p:spPr>
          <a:xfrm>
            <a:off x="4427640" y="1511280"/>
            <a:ext cx="4177800" cy="4485960"/>
          </a:xfrm>
          <a:prstGeom prst="rect">
            <a:avLst/>
          </a:prstGeom>
          <a:noFill/>
          <a:ln w="0">
            <a:noFill/>
          </a:ln>
        </p:spPr>
      </p:pic>
      <p:pic>
        <p:nvPicPr>
          <p:cNvPr id="314" name="Picture 19" descr=""/>
          <p:cNvPicPr/>
          <p:nvPr/>
        </p:nvPicPr>
        <p:blipFill>
          <a:blip r:embed="rId5"/>
          <a:stretch/>
        </p:blipFill>
        <p:spPr>
          <a:xfrm>
            <a:off x="4427640" y="1511280"/>
            <a:ext cx="4177800" cy="4485960"/>
          </a:xfrm>
          <a:prstGeom prst="rect">
            <a:avLst/>
          </a:prstGeom>
          <a:noFill/>
          <a:ln w="0">
            <a:noFill/>
          </a:ln>
        </p:spPr>
      </p:pic>
      <p:pic>
        <p:nvPicPr>
          <p:cNvPr id="315" name="Picture 20" descr=""/>
          <p:cNvPicPr/>
          <p:nvPr/>
        </p:nvPicPr>
        <p:blipFill>
          <a:blip r:embed="rId6"/>
          <a:stretch/>
        </p:blipFill>
        <p:spPr>
          <a:xfrm>
            <a:off x="4427640" y="1511280"/>
            <a:ext cx="4177800" cy="4485960"/>
          </a:xfrm>
          <a:prstGeom prst="rect">
            <a:avLst/>
          </a:prstGeom>
          <a:noFill/>
          <a:ln w="0">
            <a:noFill/>
          </a:ln>
        </p:spPr>
      </p:pic>
      <p:pic>
        <p:nvPicPr>
          <p:cNvPr id="316" name="Picture 21" descr=""/>
          <p:cNvPicPr/>
          <p:nvPr/>
        </p:nvPicPr>
        <p:blipFill>
          <a:blip r:embed="rId7"/>
          <a:stretch/>
        </p:blipFill>
        <p:spPr>
          <a:xfrm>
            <a:off x="4427640" y="1511280"/>
            <a:ext cx="4177800" cy="4485960"/>
          </a:xfrm>
          <a:prstGeom prst="rect">
            <a:avLst/>
          </a:prstGeom>
          <a:noFill/>
          <a:ln w="0">
            <a:noFill/>
          </a:ln>
        </p:spPr>
      </p:pic>
    </p:spTree>
  </p:cSld>
  <p:transition spd="slow">
    <p:wipe dir="r"/>
  </p:transition>
  <p:timing>
    <p:tnLst>
      <p:par>
        <p:cTn id="828" dur="indefinite" restart="never" nodeType="tmRoot">
          <p:childTnLst>
            <p:seq>
              <p:cTn id="829" dur="indefinite" nodeType="mainSeq">
                <p:childTnLst>
                  <p:par>
                    <p:cTn id="830" nodeType="clickEffect" fill="hold">
                      <p:stCondLst>
                        <p:cond delay="0"/>
                      </p:stCondLst>
                      <p:childTnLst>
                        <p:par>
                          <p:cTn id="831" nodeType="withEffect" fill="hold">
                            <p:stCondLst>
                              <p:cond delay="0"/>
                            </p:stCondLst>
                            <p:childTnLst>
                              <p:par>
                                <p:cTn id="832" nodeType="withEffect" fill="hold" presetClass="entr" presetID="10">
                                  <p:stCondLst>
                                    <p:cond delay="0"/>
                                  </p:stCondLst>
                                  <p:childTnLst>
                                    <p:set>
                                      <p:cBhvr>
                                        <p:cTn id="833" dur="1" fill="hold">
                                          <p:stCondLst>
                                            <p:cond delay="0"/>
                                          </p:stCondLst>
                                        </p:cTn>
                                        <p:tgtEl>
                                          <p:spTgt spid="315"/>
                                        </p:tgtEl>
                                        <p:attrNameLst>
                                          <p:attrName>style.visibility</p:attrName>
                                        </p:attrNameLst>
                                      </p:cBhvr>
                                      <p:to>
                                        <p:strVal val="visible"/>
                                      </p:to>
                                    </p:set>
                                    <p:animEffect filter="fade" transition="in">
                                      <p:cBhvr additive="repl">
                                        <p:cTn id="834" dur="500"/>
                                        <p:tgtEl>
                                          <p:spTgt spid="315"/>
                                        </p:tgtEl>
                                      </p:cBhvr>
                                    </p:animEffect>
                                  </p:childTnLst>
                                </p:cTn>
                              </p:par>
                            </p:childTnLst>
                          </p:cTn>
                        </p:par>
                      </p:childTnLst>
                    </p:cTn>
                  </p:par>
                  <p:par>
                    <p:cTn id="835" nodeType="clickEffect" fill="hold">
                      <p:stCondLst>
                        <p:cond delay="indefinite"/>
                      </p:stCondLst>
                      <p:childTnLst>
                        <p:par>
                          <p:cTn id="836" nodeType="withEffect" fill="hold">
                            <p:stCondLst>
                              <p:cond delay="0"/>
                            </p:stCondLst>
                            <p:childTnLst>
                              <p:par>
                                <p:cTn id="837" nodeType="clickEffect" fill="hold" presetClass="entr" presetID="22" presetSubtype="8">
                                  <p:stCondLst>
                                    <p:cond delay="0"/>
                                  </p:stCondLst>
                                  <p:childTnLst>
                                    <p:set>
                                      <p:cBhvr>
                                        <p:cTn id="838" dur="1" fill="hold">
                                          <p:stCondLst>
                                            <p:cond delay="0"/>
                                          </p:stCondLst>
                                        </p:cTn>
                                        <p:tgtEl>
                                          <p:spTgt spid="309">
                                            <p:txEl>
                                              <p:pRg st="1" end="1"/>
                                            </p:txEl>
                                          </p:spTgt>
                                        </p:tgtEl>
                                        <p:attrNameLst>
                                          <p:attrName>style.visibility</p:attrName>
                                        </p:attrNameLst>
                                      </p:cBhvr>
                                      <p:to>
                                        <p:strVal val="visible"/>
                                      </p:to>
                                    </p:set>
                                    <p:animEffect filter="wipe(left)" transition="in">
                                      <p:cBhvr additive="repl">
                                        <p:cTn id="839" dur="500"/>
                                        <p:tgtEl>
                                          <p:spTgt spid="309">
                                            <p:txEl>
                                              <p:pRg st="1" end="1"/>
                                            </p:txEl>
                                          </p:spTgt>
                                        </p:tgtEl>
                                      </p:cBhvr>
                                    </p:animEffect>
                                  </p:childTnLst>
                                </p:cTn>
                              </p:par>
                            </p:childTnLst>
                          </p:cTn>
                        </p:par>
                      </p:childTnLst>
                    </p:cTn>
                  </p:par>
                  <p:par>
                    <p:cTn id="840" nodeType="clickEffect" fill="hold">
                      <p:stCondLst>
                        <p:cond delay="indefinite"/>
                      </p:stCondLst>
                      <p:childTnLst>
                        <p:par>
                          <p:cTn id="841" nodeType="withEffect" fill="hold">
                            <p:stCondLst>
                              <p:cond delay="0"/>
                            </p:stCondLst>
                            <p:childTnLst>
                              <p:par>
                                <p:cTn id="842" nodeType="clickEffect" fill="hold" presetClass="entr" presetID="22" presetSubtype="8">
                                  <p:stCondLst>
                                    <p:cond delay="0"/>
                                  </p:stCondLst>
                                  <p:childTnLst>
                                    <p:set>
                                      <p:cBhvr>
                                        <p:cTn id="843" dur="1" fill="hold">
                                          <p:stCondLst>
                                            <p:cond delay="0"/>
                                          </p:stCondLst>
                                        </p:cTn>
                                        <p:tgtEl>
                                          <p:spTgt spid="309">
                                            <p:txEl>
                                              <p:pRg st="2" end="2"/>
                                            </p:txEl>
                                          </p:spTgt>
                                        </p:tgtEl>
                                        <p:attrNameLst>
                                          <p:attrName>style.visibility</p:attrName>
                                        </p:attrNameLst>
                                      </p:cBhvr>
                                      <p:to>
                                        <p:strVal val="visible"/>
                                      </p:to>
                                    </p:set>
                                    <p:animEffect filter="wipe(left)" transition="in">
                                      <p:cBhvr additive="repl">
                                        <p:cTn id="844" dur="500"/>
                                        <p:tgtEl>
                                          <p:spTgt spid="309">
                                            <p:txEl>
                                              <p:pRg st="2" end="2"/>
                                            </p:txEl>
                                          </p:spTgt>
                                        </p:tgtEl>
                                      </p:cBhvr>
                                    </p:animEffect>
                                  </p:childTnLst>
                                </p:cTn>
                              </p:par>
                              <p:par>
                                <p:cTn id="845" nodeType="withEffect" fill="hold" presetClass="entr" presetID="10">
                                  <p:stCondLst>
                                    <p:cond delay="0"/>
                                  </p:stCondLst>
                                  <p:childTnLst>
                                    <p:set>
                                      <p:cBhvr>
                                        <p:cTn id="846" dur="1" fill="hold">
                                          <p:stCondLst>
                                            <p:cond delay="0"/>
                                          </p:stCondLst>
                                        </p:cTn>
                                        <p:tgtEl>
                                          <p:spTgt spid="316"/>
                                        </p:tgtEl>
                                        <p:attrNameLst>
                                          <p:attrName>style.visibility</p:attrName>
                                        </p:attrNameLst>
                                      </p:cBhvr>
                                      <p:to>
                                        <p:strVal val="visible"/>
                                      </p:to>
                                    </p:set>
                                    <p:animEffect filter="fade" transition="in">
                                      <p:cBhvr additive="repl">
                                        <p:cTn id="847" dur="500"/>
                                        <p:tgtEl>
                                          <p:spTgt spid="3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16.2  SINGLE-PRICE MONOPOLY</a:t>
            </a:r>
            <a:endParaRPr b="0" lang="en-CA" sz="2600" strike="noStrike" u="none">
              <a:solidFill>
                <a:schemeClr val="dk1"/>
              </a:solidFill>
              <a:effectLst/>
              <a:uFillTx/>
              <a:latin typeface="Arial"/>
            </a:endParaRPr>
          </a:p>
        </p:txBody>
      </p:sp>
      <p:sp>
        <p:nvSpPr>
          <p:cNvPr id="318" name="PlaceHolder 2"/>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Average total cost is determined by the </a:t>
            </a:r>
            <a:r>
              <a:rPr b="0" i="1" lang="en-US" sz="2400" strike="noStrike" u="none">
                <a:solidFill>
                  <a:srgbClr val="000000"/>
                </a:solidFill>
                <a:effectLst/>
                <a:uFillTx/>
                <a:latin typeface="Arial"/>
                <a:ea typeface="ＭＳ Ｐゴシック"/>
              </a:rPr>
              <a:t>ATC</a:t>
            </a:r>
            <a:r>
              <a:rPr b="0" lang="en-US" sz="2400" strike="noStrike" u="none">
                <a:solidFill>
                  <a:srgbClr val="000000"/>
                </a:solidFill>
                <a:effectLst/>
                <a:uFillTx/>
                <a:latin typeface="Arial"/>
                <a:ea typeface="ＭＳ Ｐゴシック"/>
              </a:rPr>
              <a:t> curve and is $10.</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startAt="2"/>
              <a:tabLst>
                <a:tab algn="l" pos="0"/>
              </a:tabLst>
            </a:pPr>
            <a:r>
              <a:rPr b="0" lang="en-US" sz="2400" strike="noStrike" u="none">
                <a:solidFill>
                  <a:srgbClr val="000000"/>
                </a:solidFill>
                <a:effectLst/>
                <a:uFillTx/>
                <a:latin typeface="Arial"/>
                <a:ea typeface="ＭＳ Ｐゴシック"/>
              </a:rPr>
              <a:t>Economic profit, the blue rectangle, is $12—the profit per haircut ($4) multiplied by 3 haircuts.</a:t>
            </a:r>
            <a:endParaRPr b="1" lang="en-CA" sz="2400" strike="noStrike" u="none">
              <a:solidFill>
                <a:srgbClr val="00468f"/>
              </a:solidFill>
              <a:effectLst/>
              <a:uFillTx/>
              <a:latin typeface="Arial"/>
            </a:endParaRPr>
          </a:p>
        </p:txBody>
      </p:sp>
      <p:pic>
        <p:nvPicPr>
          <p:cNvPr id="319" name="Picture 1" descr=""/>
          <p:cNvPicPr/>
          <p:nvPr/>
        </p:nvPicPr>
        <p:blipFill>
          <a:blip r:embed="rId1"/>
          <a:stretch/>
        </p:blipFill>
        <p:spPr>
          <a:xfrm>
            <a:off x="4427640" y="1511280"/>
            <a:ext cx="4177800" cy="4485960"/>
          </a:xfrm>
          <a:prstGeom prst="rect">
            <a:avLst/>
          </a:prstGeom>
          <a:noFill/>
          <a:ln w="0">
            <a:noFill/>
          </a:ln>
        </p:spPr>
      </p:pic>
      <p:pic>
        <p:nvPicPr>
          <p:cNvPr id="320" name="Picture 13" descr=""/>
          <p:cNvPicPr/>
          <p:nvPr/>
        </p:nvPicPr>
        <p:blipFill>
          <a:blip r:embed="rId2"/>
          <a:stretch/>
        </p:blipFill>
        <p:spPr>
          <a:xfrm>
            <a:off x="4427640" y="1511280"/>
            <a:ext cx="4177800" cy="4485960"/>
          </a:xfrm>
          <a:prstGeom prst="rect">
            <a:avLst/>
          </a:prstGeom>
          <a:noFill/>
          <a:ln w="0">
            <a:noFill/>
          </a:ln>
        </p:spPr>
      </p:pic>
      <p:pic>
        <p:nvPicPr>
          <p:cNvPr id="321" name="Picture 14" descr=""/>
          <p:cNvPicPr/>
          <p:nvPr/>
        </p:nvPicPr>
        <p:blipFill>
          <a:blip r:embed="rId3"/>
          <a:stretch/>
        </p:blipFill>
        <p:spPr>
          <a:xfrm>
            <a:off x="4427640" y="1511280"/>
            <a:ext cx="4177800" cy="4485960"/>
          </a:xfrm>
          <a:prstGeom prst="rect">
            <a:avLst/>
          </a:prstGeom>
          <a:noFill/>
          <a:ln w="0">
            <a:noFill/>
          </a:ln>
        </p:spPr>
      </p:pic>
      <p:pic>
        <p:nvPicPr>
          <p:cNvPr id="322" name="Picture 15" descr=""/>
          <p:cNvPicPr/>
          <p:nvPr/>
        </p:nvPicPr>
        <p:blipFill>
          <a:blip r:embed="rId4"/>
          <a:stretch/>
        </p:blipFill>
        <p:spPr>
          <a:xfrm>
            <a:off x="4427640" y="1511280"/>
            <a:ext cx="4177800" cy="4485960"/>
          </a:xfrm>
          <a:prstGeom prst="rect">
            <a:avLst/>
          </a:prstGeom>
          <a:noFill/>
          <a:ln w="0">
            <a:noFill/>
          </a:ln>
        </p:spPr>
      </p:pic>
      <p:pic>
        <p:nvPicPr>
          <p:cNvPr id="323" name="Picture 16" descr=""/>
          <p:cNvPicPr/>
          <p:nvPr/>
        </p:nvPicPr>
        <p:blipFill>
          <a:blip r:embed="rId5"/>
          <a:stretch/>
        </p:blipFill>
        <p:spPr>
          <a:xfrm>
            <a:off x="4427640" y="1511280"/>
            <a:ext cx="4177800" cy="4485960"/>
          </a:xfrm>
          <a:prstGeom prst="rect">
            <a:avLst/>
          </a:prstGeom>
          <a:noFill/>
          <a:ln w="0">
            <a:noFill/>
          </a:ln>
        </p:spPr>
      </p:pic>
      <p:pic>
        <p:nvPicPr>
          <p:cNvPr id="324" name="Picture 17" descr=""/>
          <p:cNvPicPr/>
          <p:nvPr/>
        </p:nvPicPr>
        <p:blipFill>
          <a:blip r:embed="rId6"/>
          <a:stretch/>
        </p:blipFill>
        <p:spPr>
          <a:xfrm>
            <a:off x="4427640" y="1511280"/>
            <a:ext cx="4177800" cy="4485960"/>
          </a:xfrm>
          <a:prstGeom prst="rect">
            <a:avLst/>
          </a:prstGeom>
          <a:noFill/>
          <a:ln w="0">
            <a:noFill/>
          </a:ln>
        </p:spPr>
      </p:pic>
      <p:pic>
        <p:nvPicPr>
          <p:cNvPr id="325" name="Picture 18" descr=""/>
          <p:cNvPicPr/>
          <p:nvPr/>
        </p:nvPicPr>
        <p:blipFill>
          <a:blip r:embed="rId7"/>
          <a:stretch/>
        </p:blipFill>
        <p:spPr>
          <a:xfrm>
            <a:off x="4427640" y="1511280"/>
            <a:ext cx="4177800" cy="4485960"/>
          </a:xfrm>
          <a:prstGeom prst="rect">
            <a:avLst/>
          </a:prstGeom>
          <a:noFill/>
          <a:ln w="0">
            <a:noFill/>
          </a:ln>
        </p:spPr>
      </p:pic>
      <p:pic>
        <p:nvPicPr>
          <p:cNvPr id="326" name="Picture 20" descr=""/>
          <p:cNvPicPr/>
          <p:nvPr/>
        </p:nvPicPr>
        <p:blipFill>
          <a:blip r:embed="rId8"/>
          <a:stretch/>
        </p:blipFill>
        <p:spPr>
          <a:xfrm>
            <a:off x="4427640" y="1511280"/>
            <a:ext cx="4177800" cy="4485960"/>
          </a:xfrm>
          <a:prstGeom prst="rect">
            <a:avLst/>
          </a:prstGeom>
          <a:noFill/>
          <a:ln w="0">
            <a:noFill/>
          </a:ln>
        </p:spPr>
      </p:pic>
      <p:pic>
        <p:nvPicPr>
          <p:cNvPr id="327" name="Picture 21" descr=""/>
          <p:cNvPicPr/>
          <p:nvPr/>
        </p:nvPicPr>
        <p:blipFill>
          <a:blip r:embed="rId9"/>
          <a:stretch/>
        </p:blipFill>
        <p:spPr>
          <a:xfrm>
            <a:off x="4427640" y="1511280"/>
            <a:ext cx="4177800" cy="4485960"/>
          </a:xfrm>
          <a:prstGeom prst="rect">
            <a:avLst/>
          </a:prstGeom>
          <a:noFill/>
          <a:ln w="0">
            <a:noFill/>
          </a:ln>
        </p:spPr>
      </p:pic>
    </p:spTree>
  </p:cSld>
  <p:transition spd="slow">
    <p:wipe dir="r"/>
  </p:transition>
  <p:timing>
    <p:tnLst>
      <p:par>
        <p:cTn id="848" dur="indefinite" restart="never" nodeType="tmRoot">
          <p:childTnLst>
            <p:seq>
              <p:cTn id="849" dur="indefinite" nodeType="mainSeq">
                <p:childTnLst>
                  <p:par>
                    <p:cTn id="850" nodeType="clickEffect" fill="hold">
                      <p:stCondLst>
                        <p:cond delay="0"/>
                      </p:stCondLst>
                      <p:childTnLst>
                        <p:par>
                          <p:cTn id="851" nodeType="withEffect" fill="hold">
                            <p:stCondLst>
                              <p:cond delay="0"/>
                            </p:stCondLst>
                            <p:childTnLst>
                              <p:par>
                                <p:cTn id="852" nodeType="withEffect" fill="hold" presetClass="entr" presetID="10">
                                  <p:stCondLst>
                                    <p:cond delay="0"/>
                                  </p:stCondLst>
                                  <p:childTnLst>
                                    <p:set>
                                      <p:cBhvr>
                                        <p:cTn id="853" dur="1" fill="hold">
                                          <p:stCondLst>
                                            <p:cond delay="0"/>
                                          </p:stCondLst>
                                        </p:cTn>
                                        <p:tgtEl>
                                          <p:spTgt spid="326"/>
                                        </p:tgtEl>
                                        <p:attrNameLst>
                                          <p:attrName>style.visibility</p:attrName>
                                        </p:attrNameLst>
                                      </p:cBhvr>
                                      <p:to>
                                        <p:strVal val="visible"/>
                                      </p:to>
                                    </p:set>
                                    <p:animEffect filter="fade" transition="in">
                                      <p:cBhvr additive="repl">
                                        <p:cTn id="854" dur="500"/>
                                        <p:tgtEl>
                                          <p:spTgt spid="326"/>
                                        </p:tgtEl>
                                      </p:cBhvr>
                                    </p:animEffect>
                                  </p:childTnLst>
                                </p:cTn>
                              </p:par>
                            </p:childTnLst>
                          </p:cTn>
                        </p:par>
                      </p:childTnLst>
                    </p:cTn>
                  </p:par>
                  <p:par>
                    <p:cTn id="855" nodeType="clickEffect" fill="hold">
                      <p:stCondLst>
                        <p:cond delay="indefinite"/>
                      </p:stCondLst>
                      <p:childTnLst>
                        <p:par>
                          <p:cTn id="856" nodeType="withEffect" fill="hold">
                            <p:stCondLst>
                              <p:cond delay="0"/>
                            </p:stCondLst>
                            <p:childTnLst>
                              <p:par>
                                <p:cTn id="857" nodeType="clickEffect" fill="hold" presetClass="entr" presetID="22" presetSubtype="8">
                                  <p:stCondLst>
                                    <p:cond delay="0"/>
                                  </p:stCondLst>
                                  <p:childTnLst>
                                    <p:set>
                                      <p:cBhvr>
                                        <p:cTn id="858" dur="1" fill="hold">
                                          <p:stCondLst>
                                            <p:cond delay="0"/>
                                          </p:stCondLst>
                                        </p:cTn>
                                        <p:tgtEl>
                                          <p:spTgt spid="318">
                                            <p:txEl>
                                              <p:pRg st="1" end="1"/>
                                            </p:txEl>
                                          </p:spTgt>
                                        </p:tgtEl>
                                        <p:attrNameLst>
                                          <p:attrName>style.visibility</p:attrName>
                                        </p:attrNameLst>
                                      </p:cBhvr>
                                      <p:to>
                                        <p:strVal val="visible"/>
                                      </p:to>
                                    </p:set>
                                    <p:animEffect filter="wipe(left)" transition="in">
                                      <p:cBhvr additive="repl">
                                        <p:cTn id="859" dur="500"/>
                                        <p:tgtEl>
                                          <p:spTgt spid="318">
                                            <p:txEl>
                                              <p:pRg st="1" end="1"/>
                                            </p:txEl>
                                          </p:spTgt>
                                        </p:tgtEl>
                                      </p:cBhvr>
                                    </p:animEffect>
                                  </p:childTnLst>
                                </p:cTn>
                              </p:par>
                              <p:par>
                                <p:cTn id="860" nodeType="withEffect" fill="hold" presetClass="entr" presetID="10">
                                  <p:stCondLst>
                                    <p:cond delay="0"/>
                                  </p:stCondLst>
                                  <p:childTnLst>
                                    <p:set>
                                      <p:cBhvr>
                                        <p:cTn id="861" dur="1" fill="hold">
                                          <p:stCondLst>
                                            <p:cond delay="0"/>
                                          </p:stCondLst>
                                        </p:cTn>
                                        <p:tgtEl>
                                          <p:spTgt spid="327"/>
                                        </p:tgtEl>
                                        <p:attrNameLst>
                                          <p:attrName>style.visibility</p:attrName>
                                        </p:attrNameLst>
                                      </p:cBhvr>
                                      <p:to>
                                        <p:strVal val="visible"/>
                                      </p:to>
                                    </p:set>
                                    <p:animEffect filter="fade" transition="in">
                                      <p:cBhvr additive="repl">
                                        <p:cTn id="862" dur="500"/>
                                        <p:tgtEl>
                                          <p:spTgt spid="3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16.3  MONOPOLY AND COMPETITION COMPARED</a:t>
            </a:r>
            <a:endParaRPr b="0" lang="en-CA" sz="2600" strike="noStrike" u="none">
              <a:solidFill>
                <a:schemeClr val="dk1"/>
              </a:solidFill>
              <a:effectLst/>
              <a:uFillTx/>
              <a:latin typeface="Arial"/>
            </a:endParaRPr>
          </a:p>
        </p:txBody>
      </p:sp>
      <p:sp>
        <p:nvSpPr>
          <p:cNvPr id="329"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Output and Price</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Compared to a firm in perfect competition, a single-price monopoly produces a smaller output and charges a higher price.</a:t>
            </a:r>
            <a:endParaRPr b="1" lang="en-CA" sz="2400" strike="noStrike" u="none">
              <a:solidFill>
                <a:srgbClr val="00468f"/>
              </a:solidFill>
              <a:effectLst/>
              <a:uFillTx/>
              <a:latin typeface="Arial"/>
            </a:endParaRPr>
          </a:p>
        </p:txBody>
      </p:sp>
    </p:spTree>
  </p:cSld>
  <p:transition spd="slow">
    <p:wipe dir="r"/>
  </p:transition>
  <p:timing>
    <p:tnLst>
      <p:par>
        <p:cTn id="863" dur="indefinite" restart="never" nodeType="tmRoot">
          <p:childTnLst>
            <p:seq>
              <p:cTn id="864" dur="indefinite" nodeType="mainSeq">
                <p:childTnLst>
                  <p:par>
                    <p:cTn id="865" nodeType="clickEffect" fill="hold">
                      <p:stCondLst>
                        <p:cond delay="indefinite"/>
                      </p:stCondLst>
                      <p:childTnLst>
                        <p:par>
                          <p:cTn id="866" nodeType="withEffect" fill="hold">
                            <p:stCondLst>
                              <p:cond delay="0"/>
                            </p:stCondLst>
                            <p:childTnLst>
                              <p:par>
                                <p:cTn id="867" nodeType="clickEffect" fill="hold" presetClass="entr" presetID="22" presetSubtype="8">
                                  <p:stCondLst>
                                    <p:cond delay="0"/>
                                  </p:stCondLst>
                                  <p:childTnLst>
                                    <p:set>
                                      <p:cBhvr>
                                        <p:cTn id="868" dur="1" fill="hold">
                                          <p:stCondLst>
                                            <p:cond delay="0"/>
                                          </p:stCondLst>
                                        </p:cTn>
                                        <p:tgtEl>
                                          <p:spTgt spid="329">
                                            <p:txEl>
                                              <p:pRg st="1" end="1"/>
                                            </p:txEl>
                                          </p:spTgt>
                                        </p:tgtEl>
                                        <p:attrNameLst>
                                          <p:attrName>style.visibility</p:attrName>
                                        </p:attrNameLst>
                                      </p:cBhvr>
                                      <p:to>
                                        <p:strVal val="visible"/>
                                      </p:to>
                                    </p:set>
                                    <p:animEffect filter="wipe(left)" transition="in">
                                      <p:cBhvr additive="repl">
                                        <p:cTn id="869" dur="500"/>
                                        <p:tgtEl>
                                          <p:spTgt spid="329">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0" name="Picture 1" descr=""/>
          <p:cNvPicPr/>
          <p:nvPr/>
        </p:nvPicPr>
        <p:blipFill>
          <a:blip r:embed="rId1"/>
          <a:stretch/>
        </p:blipFill>
        <p:spPr>
          <a:xfrm>
            <a:off x="4427640" y="1547640"/>
            <a:ext cx="4073040" cy="4103280"/>
          </a:xfrm>
          <a:prstGeom prst="rect">
            <a:avLst/>
          </a:prstGeom>
          <a:noFill/>
          <a:ln w="0">
            <a:noFill/>
          </a:ln>
        </p:spPr>
      </p:pic>
      <p:pic>
        <p:nvPicPr>
          <p:cNvPr id="331" name="Picture 12" descr=""/>
          <p:cNvPicPr/>
          <p:nvPr/>
        </p:nvPicPr>
        <p:blipFill>
          <a:blip r:embed="rId2"/>
          <a:stretch/>
        </p:blipFill>
        <p:spPr>
          <a:xfrm>
            <a:off x="4427640" y="1547640"/>
            <a:ext cx="4073040" cy="4103280"/>
          </a:xfrm>
          <a:prstGeom prst="rect">
            <a:avLst/>
          </a:prstGeom>
          <a:noFill/>
          <a:ln w="0">
            <a:noFill/>
          </a:ln>
        </p:spPr>
      </p:pic>
      <p:pic>
        <p:nvPicPr>
          <p:cNvPr id="332" name="Picture 15" descr=""/>
          <p:cNvPicPr/>
          <p:nvPr/>
        </p:nvPicPr>
        <p:blipFill>
          <a:blip r:embed="rId3"/>
          <a:stretch/>
        </p:blipFill>
        <p:spPr>
          <a:xfrm>
            <a:off x="4427640" y="1547640"/>
            <a:ext cx="4073040" cy="4103280"/>
          </a:xfrm>
          <a:prstGeom prst="rect">
            <a:avLst/>
          </a:prstGeom>
          <a:noFill/>
          <a:ln w="0">
            <a:noFill/>
          </a:ln>
        </p:spPr>
      </p:pic>
      <p:pic>
        <p:nvPicPr>
          <p:cNvPr id="333" name="Picture 16" descr=""/>
          <p:cNvPicPr/>
          <p:nvPr/>
        </p:nvPicPr>
        <p:blipFill>
          <a:blip r:embed="rId4"/>
          <a:stretch/>
        </p:blipFill>
        <p:spPr>
          <a:xfrm>
            <a:off x="4427640" y="1547640"/>
            <a:ext cx="4073040" cy="4103280"/>
          </a:xfrm>
          <a:prstGeom prst="rect">
            <a:avLst/>
          </a:prstGeom>
          <a:noFill/>
          <a:ln w="0">
            <a:noFill/>
          </a:ln>
        </p:spPr>
      </p:pic>
      <p:sp>
        <p:nvSpPr>
          <p:cNvPr id="33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16.3  MONOPOLY AND COMPETITION COMPARED</a:t>
            </a:r>
            <a:endParaRPr b="0" lang="en-CA" sz="2600" strike="noStrike" u="none">
              <a:solidFill>
                <a:schemeClr val="dk1"/>
              </a:solidFill>
              <a:effectLst/>
              <a:uFillTx/>
              <a:latin typeface="Arial"/>
            </a:endParaRPr>
          </a:p>
        </p:txBody>
      </p:sp>
      <p:sp>
        <p:nvSpPr>
          <p:cNvPr id="335" name="PlaceHolder 2"/>
          <p:cNvSpPr>
            <a:spLocks noGrp="1"/>
          </p:cNvSpPr>
          <p:nvPr>
            <p:ph/>
          </p:nvPr>
        </p:nvSpPr>
        <p:spPr>
          <a:xfrm>
            <a:off x="360360" y="1440000"/>
            <a:ext cx="421128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Figure 16.5 illustrates this outcome.</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In perfect competition, the market demand curve is </a:t>
            </a:r>
            <a:r>
              <a:rPr b="0" i="1" lang="en-US" sz="2400" strike="noStrike" u="none">
                <a:solidFill>
                  <a:srgbClr val="000000"/>
                </a:solidFill>
                <a:effectLst/>
                <a:uFillTx/>
                <a:latin typeface="Arial"/>
                <a:ea typeface="ＭＳ Ｐゴシック"/>
              </a:rPr>
              <a:t>D</a:t>
            </a:r>
            <a:r>
              <a:rPr b="0" lang="en-US" sz="2400" strike="noStrike" u="none">
                <a:solidFill>
                  <a:srgbClr val="000000"/>
                </a:solidFill>
                <a:effectLst/>
                <a:uFillTx/>
                <a:latin typeface="Arial"/>
                <a:ea typeface="ＭＳ Ｐゴシック"/>
              </a:rPr>
              <a:t>.</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market supply curve  is </a:t>
            </a:r>
            <a:r>
              <a:rPr b="0" i="1" lang="en-US" sz="2400" strike="noStrike" u="none">
                <a:solidFill>
                  <a:srgbClr val="000000"/>
                </a:solidFill>
                <a:effectLst/>
                <a:uFillTx/>
                <a:latin typeface="Arial"/>
                <a:ea typeface="ＭＳ Ｐゴシック"/>
              </a:rPr>
              <a:t>S</a:t>
            </a:r>
            <a:r>
              <a:rPr b="0" lang="en-US" sz="2400" strike="noStrike" u="none">
                <a:solidFill>
                  <a:srgbClr val="000000"/>
                </a:solidFill>
                <a:effectLst/>
                <a:uFillTx/>
                <a:latin typeface="Arial"/>
                <a:ea typeface="ＭＳ Ｐゴシック"/>
              </a:rPr>
              <a:t>.</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a:tabLst>
                <a:tab algn="l" pos="0"/>
              </a:tabLst>
            </a:pPr>
            <a:r>
              <a:rPr b="0" lang="en-US" sz="2400" strike="noStrike" u="none">
                <a:solidFill>
                  <a:srgbClr val="000000"/>
                </a:solidFill>
                <a:effectLst/>
                <a:uFillTx/>
                <a:latin typeface="Arial"/>
                <a:ea typeface="ＭＳ Ｐゴシック"/>
              </a:rPr>
              <a:t>The competitive industry produces the quantity </a:t>
            </a:r>
            <a:r>
              <a:rPr b="0" i="1" lang="en-US" sz="2400" strike="noStrike" u="none">
                <a:solidFill>
                  <a:srgbClr val="000000"/>
                </a:solidFill>
                <a:effectLst/>
                <a:uFillTx/>
                <a:latin typeface="Arial"/>
                <a:ea typeface="ＭＳ Ｐゴシック"/>
              </a:rPr>
              <a:t>Q</a:t>
            </a:r>
            <a:r>
              <a:rPr b="0" i="1" lang="en-US" sz="2400" strike="noStrike" u="none" baseline="-25000">
                <a:solidFill>
                  <a:srgbClr val="000000"/>
                </a:solidFill>
                <a:effectLst/>
                <a:uFillTx/>
                <a:latin typeface="Arial"/>
                <a:ea typeface="ＭＳ Ｐゴシック"/>
              </a:rPr>
              <a:t>C</a:t>
            </a:r>
            <a:r>
              <a:rPr b="0" lang="en-US" sz="2400" strike="noStrike" u="none">
                <a:solidFill>
                  <a:srgbClr val="000000"/>
                </a:solidFill>
                <a:effectLst/>
                <a:uFillTx/>
                <a:latin typeface="Arial"/>
                <a:ea typeface="ＭＳ Ｐゴシック"/>
              </a:rPr>
              <a:t> at price </a:t>
            </a:r>
            <a:r>
              <a:rPr b="0" i="1" lang="en-US" sz="2400" strike="noStrike" u="none">
                <a:solidFill>
                  <a:srgbClr val="000000"/>
                </a:solidFill>
                <a:effectLst/>
                <a:uFillTx/>
                <a:latin typeface="Arial"/>
                <a:ea typeface="ＭＳ Ｐゴシック"/>
              </a:rPr>
              <a:t>P</a:t>
            </a:r>
            <a:r>
              <a:rPr b="0" i="1" lang="en-US" sz="2400" strike="noStrike" u="none" baseline="-25000">
                <a:solidFill>
                  <a:srgbClr val="000000"/>
                </a:solidFill>
                <a:effectLst/>
                <a:uFillTx/>
                <a:latin typeface="Arial"/>
                <a:ea typeface="ＭＳ Ｐゴシック"/>
              </a:rPr>
              <a:t>C</a:t>
            </a:r>
            <a:r>
              <a:rPr b="0" lang="en-US" sz="2400" strike="noStrike" u="none">
                <a:solidFill>
                  <a:srgbClr val="000000"/>
                </a:solidFill>
                <a:effectLst/>
                <a:uFillTx/>
                <a:latin typeface="Arial"/>
                <a:ea typeface="ＭＳ Ｐゴシック"/>
              </a:rPr>
              <a:t>.</a:t>
            </a:r>
            <a:endParaRPr b="1" lang="en-CA" sz="2400" strike="noStrike" u="none">
              <a:solidFill>
                <a:srgbClr val="00468f"/>
              </a:solidFill>
              <a:effectLst/>
              <a:uFillTx/>
              <a:latin typeface="Arial"/>
            </a:endParaRPr>
          </a:p>
        </p:txBody>
      </p:sp>
    </p:spTree>
  </p:cSld>
  <p:transition spd="slow">
    <p:wipe dir="r"/>
  </p:transition>
  <p:timing>
    <p:tnLst>
      <p:par>
        <p:cTn id="870" dur="indefinite" restart="never" nodeType="tmRoot">
          <p:childTnLst>
            <p:seq>
              <p:cTn id="871" dur="indefinite" nodeType="mainSeq">
                <p:childTnLst>
                  <p:par>
                    <p:cTn id="872" nodeType="clickEffect" fill="hold">
                      <p:stCondLst>
                        <p:cond delay="indefinite"/>
                      </p:stCondLst>
                      <p:childTnLst>
                        <p:par>
                          <p:cTn id="873" nodeType="withEffect" fill="hold">
                            <p:stCondLst>
                              <p:cond delay="0"/>
                            </p:stCondLst>
                            <p:childTnLst>
                              <p:par>
                                <p:cTn id="874" nodeType="clickEffect" fill="hold" presetClass="entr" presetID="22" presetSubtype="8">
                                  <p:stCondLst>
                                    <p:cond delay="0"/>
                                  </p:stCondLst>
                                  <p:childTnLst>
                                    <p:set>
                                      <p:cBhvr>
                                        <p:cTn id="875" dur="1" fill="hold">
                                          <p:stCondLst>
                                            <p:cond delay="0"/>
                                          </p:stCondLst>
                                        </p:cTn>
                                        <p:tgtEl>
                                          <p:spTgt spid="335">
                                            <p:txEl>
                                              <p:pRg st="1" end="1"/>
                                            </p:txEl>
                                          </p:spTgt>
                                        </p:tgtEl>
                                        <p:attrNameLst>
                                          <p:attrName>style.visibility</p:attrName>
                                        </p:attrNameLst>
                                      </p:cBhvr>
                                      <p:to>
                                        <p:strVal val="visible"/>
                                      </p:to>
                                    </p:set>
                                    <p:animEffect filter="wipe(left)" transition="in">
                                      <p:cBhvr additive="repl">
                                        <p:cTn id="876" dur="500"/>
                                        <p:tgtEl>
                                          <p:spTgt spid="335">
                                            <p:txEl>
                                              <p:pRg st="1" end="1"/>
                                            </p:txEl>
                                          </p:spTgt>
                                        </p:tgtEl>
                                      </p:cBhvr>
                                    </p:animEffect>
                                  </p:childTnLst>
                                </p:cTn>
                              </p:par>
                              <p:par>
                                <p:cTn id="877" nodeType="withEffect" fill="hold" presetClass="entr" presetID="22" presetSubtype="8">
                                  <p:stCondLst>
                                    <p:cond delay="0"/>
                                  </p:stCondLst>
                                  <p:childTnLst>
                                    <p:set>
                                      <p:cBhvr>
                                        <p:cTn id="878" dur="1" fill="hold">
                                          <p:stCondLst>
                                            <p:cond delay="0"/>
                                          </p:stCondLst>
                                        </p:cTn>
                                        <p:tgtEl>
                                          <p:spTgt spid="331"/>
                                        </p:tgtEl>
                                        <p:attrNameLst>
                                          <p:attrName>style.visibility</p:attrName>
                                        </p:attrNameLst>
                                      </p:cBhvr>
                                      <p:to>
                                        <p:strVal val="visible"/>
                                      </p:to>
                                    </p:set>
                                    <p:animEffect filter="wipe(left)" transition="in">
                                      <p:cBhvr additive="repl">
                                        <p:cTn id="879" dur="1000"/>
                                        <p:tgtEl>
                                          <p:spTgt spid="331"/>
                                        </p:tgtEl>
                                      </p:cBhvr>
                                    </p:animEffect>
                                  </p:childTnLst>
                                </p:cTn>
                              </p:par>
                            </p:childTnLst>
                          </p:cTn>
                        </p:par>
                      </p:childTnLst>
                    </p:cTn>
                  </p:par>
                  <p:par>
                    <p:cTn id="880" nodeType="clickEffect" fill="hold">
                      <p:stCondLst>
                        <p:cond delay="indefinite"/>
                      </p:stCondLst>
                      <p:childTnLst>
                        <p:par>
                          <p:cTn id="881" nodeType="withEffect" fill="hold">
                            <p:stCondLst>
                              <p:cond delay="0"/>
                            </p:stCondLst>
                            <p:childTnLst>
                              <p:par>
                                <p:cTn id="882" nodeType="clickEffect" fill="hold" presetClass="entr" presetID="22" presetSubtype="8">
                                  <p:stCondLst>
                                    <p:cond delay="0"/>
                                  </p:stCondLst>
                                  <p:childTnLst>
                                    <p:set>
                                      <p:cBhvr>
                                        <p:cTn id="883" dur="1" fill="hold">
                                          <p:stCondLst>
                                            <p:cond delay="0"/>
                                          </p:stCondLst>
                                        </p:cTn>
                                        <p:tgtEl>
                                          <p:spTgt spid="335">
                                            <p:txEl>
                                              <p:pRg st="2" end="2"/>
                                            </p:txEl>
                                          </p:spTgt>
                                        </p:tgtEl>
                                        <p:attrNameLst>
                                          <p:attrName>style.visibility</p:attrName>
                                        </p:attrNameLst>
                                      </p:cBhvr>
                                      <p:to>
                                        <p:strVal val="visible"/>
                                      </p:to>
                                    </p:set>
                                    <p:animEffect filter="wipe(left)" transition="in">
                                      <p:cBhvr additive="repl">
                                        <p:cTn id="884" dur="500"/>
                                        <p:tgtEl>
                                          <p:spTgt spid="335">
                                            <p:txEl>
                                              <p:pRg st="2" end="2"/>
                                            </p:txEl>
                                          </p:spTgt>
                                        </p:tgtEl>
                                      </p:cBhvr>
                                    </p:animEffect>
                                  </p:childTnLst>
                                </p:cTn>
                              </p:par>
                              <p:par>
                                <p:cTn id="885" nodeType="withEffect" fill="hold" presetClass="entr" presetID="22" presetSubtype="8">
                                  <p:stCondLst>
                                    <p:cond delay="0"/>
                                  </p:stCondLst>
                                  <p:childTnLst>
                                    <p:set>
                                      <p:cBhvr>
                                        <p:cTn id="886" dur="1" fill="hold">
                                          <p:stCondLst>
                                            <p:cond delay="0"/>
                                          </p:stCondLst>
                                        </p:cTn>
                                        <p:tgtEl>
                                          <p:spTgt spid="332"/>
                                        </p:tgtEl>
                                        <p:attrNameLst>
                                          <p:attrName>style.visibility</p:attrName>
                                        </p:attrNameLst>
                                      </p:cBhvr>
                                      <p:to>
                                        <p:strVal val="visible"/>
                                      </p:to>
                                    </p:set>
                                    <p:animEffect filter="wipe(left)" transition="in">
                                      <p:cBhvr additive="repl">
                                        <p:cTn id="887" dur="1000"/>
                                        <p:tgtEl>
                                          <p:spTgt spid="332"/>
                                        </p:tgtEl>
                                      </p:cBhvr>
                                    </p:animEffect>
                                  </p:childTnLst>
                                </p:cTn>
                              </p:par>
                            </p:childTnLst>
                          </p:cTn>
                        </p:par>
                      </p:childTnLst>
                    </p:cTn>
                  </p:par>
                  <p:par>
                    <p:cTn id="888" nodeType="clickEffect" fill="hold">
                      <p:stCondLst>
                        <p:cond delay="indefinite"/>
                      </p:stCondLst>
                      <p:childTnLst>
                        <p:par>
                          <p:cTn id="889" nodeType="withEffect" fill="hold">
                            <p:stCondLst>
                              <p:cond delay="0"/>
                            </p:stCondLst>
                            <p:childTnLst>
                              <p:par>
                                <p:cTn id="890" nodeType="clickEffect" fill="hold" presetClass="entr" presetID="22" presetSubtype="8">
                                  <p:stCondLst>
                                    <p:cond delay="0"/>
                                  </p:stCondLst>
                                  <p:childTnLst>
                                    <p:set>
                                      <p:cBhvr>
                                        <p:cTn id="891" dur="1" fill="hold">
                                          <p:stCondLst>
                                            <p:cond delay="0"/>
                                          </p:stCondLst>
                                        </p:cTn>
                                        <p:tgtEl>
                                          <p:spTgt spid="335">
                                            <p:txEl>
                                              <p:pRg st="3" end="3"/>
                                            </p:txEl>
                                          </p:spTgt>
                                        </p:tgtEl>
                                        <p:attrNameLst>
                                          <p:attrName>style.visibility</p:attrName>
                                        </p:attrNameLst>
                                      </p:cBhvr>
                                      <p:to>
                                        <p:strVal val="visible"/>
                                      </p:to>
                                    </p:set>
                                    <p:animEffect filter="wipe(left)" transition="in">
                                      <p:cBhvr additive="repl">
                                        <p:cTn id="892" dur="500"/>
                                        <p:tgtEl>
                                          <p:spTgt spid="335">
                                            <p:txEl>
                                              <p:pRg st="3" end="3"/>
                                            </p:txEl>
                                          </p:spTgt>
                                        </p:tgtEl>
                                      </p:cBhvr>
                                    </p:animEffect>
                                  </p:childTnLst>
                                </p:cTn>
                              </p:par>
                              <p:par>
                                <p:cTn id="893" nodeType="withEffect" fill="hold" presetClass="entr" presetID="10">
                                  <p:stCondLst>
                                    <p:cond delay="0"/>
                                  </p:stCondLst>
                                  <p:childTnLst>
                                    <p:set>
                                      <p:cBhvr>
                                        <p:cTn id="894" dur="1" fill="hold">
                                          <p:stCondLst>
                                            <p:cond delay="0"/>
                                          </p:stCondLst>
                                        </p:cTn>
                                        <p:tgtEl>
                                          <p:spTgt spid="333"/>
                                        </p:tgtEl>
                                        <p:attrNameLst>
                                          <p:attrName>style.visibility</p:attrName>
                                        </p:attrNameLst>
                                      </p:cBhvr>
                                      <p:to>
                                        <p:strVal val="visible"/>
                                      </p:to>
                                    </p:set>
                                    <p:animEffect filter="fade" transition="in">
                                      <p:cBhvr additive="repl">
                                        <p:cTn id="895" dur="500"/>
                                        <p:tgtEl>
                                          <p:spTgt spid="3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336" name="Picture 1" descr=""/>
          <p:cNvPicPr/>
          <p:nvPr/>
        </p:nvPicPr>
        <p:blipFill>
          <a:blip r:embed="rId1"/>
          <a:stretch/>
        </p:blipFill>
        <p:spPr>
          <a:xfrm>
            <a:off x="2052720" y="792000"/>
            <a:ext cx="4790880" cy="4828680"/>
          </a:xfrm>
          <a:prstGeom prst="rect">
            <a:avLst/>
          </a:prstGeom>
          <a:noFill/>
          <a:ln w="0">
            <a:noFill/>
          </a:ln>
        </p:spPr>
      </p:pic>
      <p:pic>
        <p:nvPicPr>
          <p:cNvPr id="337" name="Picture 9" descr=""/>
          <p:cNvPicPr/>
          <p:nvPr/>
        </p:nvPicPr>
        <p:blipFill>
          <a:blip r:embed="rId2"/>
          <a:stretch/>
        </p:blipFill>
        <p:spPr>
          <a:xfrm>
            <a:off x="2052720" y="792000"/>
            <a:ext cx="4790880" cy="4828680"/>
          </a:xfrm>
          <a:prstGeom prst="rect">
            <a:avLst/>
          </a:prstGeom>
          <a:noFill/>
          <a:ln w="0">
            <a:noFill/>
          </a:ln>
        </p:spPr>
      </p:pic>
      <p:pic>
        <p:nvPicPr>
          <p:cNvPr id="338" name="Picture 10" descr=""/>
          <p:cNvPicPr/>
          <p:nvPr/>
        </p:nvPicPr>
        <p:blipFill>
          <a:blip r:embed="rId3"/>
          <a:stretch/>
        </p:blipFill>
        <p:spPr>
          <a:xfrm>
            <a:off x="2052720" y="792000"/>
            <a:ext cx="4790880" cy="4828680"/>
          </a:xfrm>
          <a:prstGeom prst="rect">
            <a:avLst/>
          </a:prstGeom>
          <a:noFill/>
          <a:ln w="0">
            <a:noFill/>
          </a:ln>
        </p:spPr>
      </p:pic>
      <p:pic>
        <p:nvPicPr>
          <p:cNvPr id="339" name="Picture 11" descr=""/>
          <p:cNvPicPr/>
          <p:nvPr/>
        </p:nvPicPr>
        <p:blipFill>
          <a:blip r:embed="rId4"/>
          <a:stretch/>
        </p:blipFill>
        <p:spPr>
          <a:xfrm>
            <a:off x="2052720" y="792000"/>
            <a:ext cx="4790880" cy="4828680"/>
          </a:xfrm>
          <a:prstGeom prst="rect">
            <a:avLst/>
          </a:prstGeom>
          <a:noFill/>
          <a:ln w="0">
            <a:noFill/>
          </a:ln>
        </p:spPr>
      </p:pic>
      <p:pic>
        <p:nvPicPr>
          <p:cNvPr id="340" name="Picture 12" descr=""/>
          <p:cNvPicPr/>
          <p:nvPr/>
        </p:nvPicPr>
        <p:blipFill>
          <a:blip r:embed="rId5"/>
          <a:stretch/>
        </p:blipFill>
        <p:spPr>
          <a:xfrm>
            <a:off x="2052720" y="792000"/>
            <a:ext cx="4790880" cy="4828680"/>
          </a:xfrm>
          <a:prstGeom prst="rect">
            <a:avLst/>
          </a:prstGeom>
          <a:noFill/>
          <a:ln w="0">
            <a:noFill/>
          </a:ln>
        </p:spPr>
      </p:pic>
      <p:pic>
        <p:nvPicPr>
          <p:cNvPr id="341" name="Picture 19" descr=""/>
          <p:cNvPicPr/>
          <p:nvPr/>
        </p:nvPicPr>
        <p:blipFill>
          <a:blip r:embed="rId6"/>
          <a:stretch/>
        </p:blipFill>
        <p:spPr>
          <a:xfrm>
            <a:off x="2052720" y="792000"/>
            <a:ext cx="4790880" cy="4828680"/>
          </a:xfrm>
          <a:prstGeom prst="rect">
            <a:avLst/>
          </a:prstGeom>
          <a:noFill/>
          <a:ln w="0">
            <a:noFill/>
          </a:ln>
        </p:spPr>
      </p:pic>
      <p:pic>
        <p:nvPicPr>
          <p:cNvPr id="342" name="Picture 20" descr=""/>
          <p:cNvPicPr/>
          <p:nvPr/>
        </p:nvPicPr>
        <p:blipFill>
          <a:blip r:embed="rId7"/>
          <a:stretch/>
        </p:blipFill>
        <p:spPr>
          <a:xfrm>
            <a:off x="2052720" y="792000"/>
            <a:ext cx="4790880" cy="4828680"/>
          </a:xfrm>
          <a:prstGeom prst="rect">
            <a:avLst/>
          </a:prstGeom>
          <a:noFill/>
          <a:ln w="0">
            <a:noFill/>
          </a:ln>
        </p:spPr>
      </p:pic>
    </p:spTree>
  </p:cSld>
  <p:transition spd="slow">
    <p:wipe dir="r"/>
  </p:transition>
  <p:timing>
    <p:tnLst>
      <p:par>
        <p:cTn id="896" dur="indefinite" restart="never" nodeType="tmRoot">
          <p:childTnLst>
            <p:seq>
              <p:cTn id="897" dur="indefinite" nodeType="mainSeq">
                <p:childTnLst>
                  <p:par>
                    <p:cTn id="898" nodeType="clickEffect" fill="hold">
                      <p:stCondLst>
                        <p:cond delay="indefinite"/>
                      </p:stCondLst>
                      <p:childTnLst>
                        <p:par>
                          <p:cTn id="899" nodeType="withEffect" fill="hold">
                            <p:stCondLst>
                              <p:cond delay="0"/>
                            </p:stCondLst>
                            <p:childTnLst>
                              <p:par>
                                <p:cTn id="900" nodeType="clickEffect" fill="hold" presetClass="entr" presetID="22" presetSubtype="8">
                                  <p:stCondLst>
                                    <p:cond delay="0"/>
                                  </p:stCondLst>
                                  <p:childTnLst>
                                    <p:set>
                                      <p:cBhvr>
                                        <p:cTn id="901" dur="1" fill="hold">
                                          <p:stCondLst>
                                            <p:cond delay="0"/>
                                          </p:stCondLst>
                                        </p:cTn>
                                        <p:tgtEl>
                                          <p:spTgt spid="337"/>
                                        </p:tgtEl>
                                        <p:attrNameLst>
                                          <p:attrName>style.visibility</p:attrName>
                                        </p:attrNameLst>
                                      </p:cBhvr>
                                      <p:to>
                                        <p:strVal val="visible"/>
                                      </p:to>
                                    </p:set>
                                    <p:animEffect filter="wipe(left)" transition="in">
                                      <p:cBhvr additive="repl">
                                        <p:cTn id="902" dur="1000"/>
                                        <p:tgtEl>
                                          <p:spTgt spid="337"/>
                                        </p:tgtEl>
                                      </p:cBhvr>
                                    </p:animEffect>
                                  </p:childTnLst>
                                </p:cTn>
                              </p:par>
                            </p:childTnLst>
                          </p:cTn>
                        </p:par>
                      </p:childTnLst>
                    </p:cTn>
                  </p:par>
                  <p:par>
                    <p:cTn id="903" nodeType="clickEffect" fill="hold">
                      <p:stCondLst>
                        <p:cond delay="indefinite"/>
                      </p:stCondLst>
                      <p:childTnLst>
                        <p:par>
                          <p:cTn id="904" nodeType="withEffect" fill="hold">
                            <p:stCondLst>
                              <p:cond delay="0"/>
                            </p:stCondLst>
                            <p:childTnLst>
                              <p:par>
                                <p:cTn id="905" nodeType="clickEffect" fill="hold" presetClass="entr" presetID="22" presetSubtype="8">
                                  <p:stCondLst>
                                    <p:cond delay="0"/>
                                  </p:stCondLst>
                                  <p:childTnLst>
                                    <p:set>
                                      <p:cBhvr>
                                        <p:cTn id="906" dur="1" fill="hold">
                                          <p:stCondLst>
                                            <p:cond delay="0"/>
                                          </p:stCondLst>
                                        </p:cTn>
                                        <p:tgtEl>
                                          <p:spTgt spid="338"/>
                                        </p:tgtEl>
                                        <p:attrNameLst>
                                          <p:attrName>style.visibility</p:attrName>
                                        </p:attrNameLst>
                                      </p:cBhvr>
                                      <p:to>
                                        <p:strVal val="visible"/>
                                      </p:to>
                                    </p:set>
                                    <p:animEffect filter="wipe(left)" transition="in">
                                      <p:cBhvr additive="repl">
                                        <p:cTn id="907" dur="1000"/>
                                        <p:tgtEl>
                                          <p:spTgt spid="338"/>
                                        </p:tgtEl>
                                      </p:cBhvr>
                                    </p:animEffect>
                                  </p:childTnLst>
                                </p:cTn>
                              </p:par>
                            </p:childTnLst>
                          </p:cTn>
                        </p:par>
                      </p:childTnLst>
                    </p:cTn>
                  </p:par>
                  <p:par>
                    <p:cTn id="908" nodeType="clickEffect" fill="hold">
                      <p:stCondLst>
                        <p:cond delay="indefinite"/>
                      </p:stCondLst>
                      <p:childTnLst>
                        <p:par>
                          <p:cTn id="909" nodeType="withEffect" fill="hold">
                            <p:stCondLst>
                              <p:cond delay="0"/>
                            </p:stCondLst>
                            <p:childTnLst>
                              <p:par>
                                <p:cTn id="910" nodeType="clickEffect" fill="hold" presetClass="entr" presetID="10">
                                  <p:stCondLst>
                                    <p:cond delay="0"/>
                                  </p:stCondLst>
                                  <p:childTnLst>
                                    <p:set>
                                      <p:cBhvr>
                                        <p:cTn id="911" dur="1" fill="hold">
                                          <p:stCondLst>
                                            <p:cond delay="0"/>
                                          </p:stCondLst>
                                        </p:cTn>
                                        <p:tgtEl>
                                          <p:spTgt spid="339"/>
                                        </p:tgtEl>
                                        <p:attrNameLst>
                                          <p:attrName>style.visibility</p:attrName>
                                        </p:attrNameLst>
                                      </p:cBhvr>
                                      <p:to>
                                        <p:strVal val="visible"/>
                                      </p:to>
                                    </p:set>
                                    <p:animEffect filter="fade" transition="in">
                                      <p:cBhvr additive="repl">
                                        <p:cTn id="912" dur="500"/>
                                        <p:tgtEl>
                                          <p:spTgt spid="339"/>
                                        </p:tgtEl>
                                      </p:cBhvr>
                                    </p:animEffect>
                                  </p:childTnLst>
                                </p:cTn>
                              </p:par>
                            </p:childTnLst>
                          </p:cTn>
                        </p:par>
                      </p:childTnLst>
                    </p:cTn>
                  </p:par>
                  <p:par>
                    <p:cTn id="913" nodeType="clickEffect" fill="hold">
                      <p:stCondLst>
                        <p:cond delay="indefinite"/>
                      </p:stCondLst>
                      <p:childTnLst>
                        <p:par>
                          <p:cTn id="914" nodeType="withEffect" fill="hold">
                            <p:stCondLst>
                              <p:cond delay="0"/>
                            </p:stCondLst>
                            <p:childTnLst>
                              <p:par>
                                <p:cTn id="915" nodeType="clickEffect" fill="hold" presetClass="entr" presetID="22" presetSubtype="8">
                                  <p:stCondLst>
                                    <p:cond delay="0"/>
                                  </p:stCondLst>
                                  <p:childTnLst>
                                    <p:set>
                                      <p:cBhvr>
                                        <p:cTn id="916" dur="1" fill="hold">
                                          <p:stCondLst>
                                            <p:cond delay="0"/>
                                          </p:stCondLst>
                                        </p:cTn>
                                        <p:tgtEl>
                                          <p:spTgt spid="340"/>
                                        </p:tgtEl>
                                        <p:attrNameLst>
                                          <p:attrName>style.visibility</p:attrName>
                                        </p:attrNameLst>
                                      </p:cBhvr>
                                      <p:to>
                                        <p:strVal val="visible"/>
                                      </p:to>
                                    </p:set>
                                    <p:animEffect filter="wipe(left)" transition="in">
                                      <p:cBhvr additive="repl">
                                        <p:cTn id="917" dur="1000"/>
                                        <p:tgtEl>
                                          <p:spTgt spid="340"/>
                                        </p:tgtEl>
                                      </p:cBhvr>
                                    </p:animEffect>
                                  </p:childTnLst>
                                </p:cTn>
                              </p:par>
                            </p:childTnLst>
                          </p:cTn>
                        </p:par>
                      </p:childTnLst>
                    </p:cTn>
                  </p:par>
                  <p:par>
                    <p:cTn id="918" nodeType="clickEffect" fill="hold">
                      <p:stCondLst>
                        <p:cond delay="indefinite"/>
                      </p:stCondLst>
                      <p:childTnLst>
                        <p:par>
                          <p:cTn id="919" nodeType="withEffect" fill="hold">
                            <p:stCondLst>
                              <p:cond delay="0"/>
                            </p:stCondLst>
                            <p:childTnLst>
                              <p:par>
                                <p:cTn id="920" nodeType="clickEffect" fill="hold" presetClass="entr" presetID="10">
                                  <p:stCondLst>
                                    <p:cond delay="0"/>
                                  </p:stCondLst>
                                  <p:childTnLst>
                                    <p:set>
                                      <p:cBhvr>
                                        <p:cTn id="921" dur="1" fill="hold">
                                          <p:stCondLst>
                                            <p:cond delay="0"/>
                                          </p:stCondLst>
                                        </p:cTn>
                                        <p:tgtEl>
                                          <p:spTgt spid="341"/>
                                        </p:tgtEl>
                                        <p:attrNameLst>
                                          <p:attrName>style.visibility</p:attrName>
                                        </p:attrNameLst>
                                      </p:cBhvr>
                                      <p:to>
                                        <p:strVal val="visible"/>
                                      </p:to>
                                    </p:set>
                                    <p:animEffect filter="fade" transition="in">
                                      <p:cBhvr additive="repl">
                                        <p:cTn id="922" dur="500"/>
                                        <p:tgtEl>
                                          <p:spTgt spid="341"/>
                                        </p:tgtEl>
                                      </p:cBhvr>
                                    </p:animEffect>
                                  </p:childTnLst>
                                </p:cTn>
                              </p:par>
                            </p:childTnLst>
                          </p:cTn>
                        </p:par>
                      </p:childTnLst>
                    </p:cTn>
                  </p:par>
                  <p:par>
                    <p:cTn id="923" nodeType="clickEffect" fill="hold">
                      <p:stCondLst>
                        <p:cond delay="indefinite"/>
                      </p:stCondLst>
                      <p:childTnLst>
                        <p:par>
                          <p:cTn id="924" nodeType="withEffect" fill="hold">
                            <p:stCondLst>
                              <p:cond delay="0"/>
                            </p:stCondLst>
                            <p:childTnLst>
                              <p:par>
                                <p:cTn id="925" nodeType="clickEffect" fill="hold" presetClass="entr" presetID="10">
                                  <p:stCondLst>
                                    <p:cond delay="0"/>
                                  </p:stCondLst>
                                  <p:childTnLst>
                                    <p:set>
                                      <p:cBhvr>
                                        <p:cTn id="926" dur="1" fill="hold">
                                          <p:stCondLst>
                                            <p:cond delay="0"/>
                                          </p:stCondLst>
                                        </p:cTn>
                                        <p:tgtEl>
                                          <p:spTgt spid="342"/>
                                        </p:tgtEl>
                                        <p:attrNameLst>
                                          <p:attrName>style.visibility</p:attrName>
                                        </p:attrNameLst>
                                      </p:cBhvr>
                                      <p:to>
                                        <p:strVal val="visible"/>
                                      </p:to>
                                    </p:set>
                                    <p:animEffect filter="fade" transition="in">
                                      <p:cBhvr additive="repl">
                                        <p:cTn id="927" dur="500"/>
                                        <p:tgtEl>
                                          <p:spTgt spid="3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16.3  MONOPOLY AND COMPETITION COMPARED</a:t>
            </a:r>
            <a:endParaRPr b="0" lang="en-CA" sz="2600" strike="noStrike" u="none">
              <a:solidFill>
                <a:schemeClr val="dk1"/>
              </a:solidFill>
              <a:effectLst/>
              <a:uFillTx/>
              <a:latin typeface="Arial"/>
            </a:endParaRPr>
          </a:p>
        </p:txBody>
      </p:sp>
      <p:sp>
        <p:nvSpPr>
          <p:cNvPr id="344" name="PlaceHolder 2"/>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market demand curve, </a:t>
            </a:r>
            <a:r>
              <a:rPr b="0" i="1" lang="en-US" sz="2400" strike="noStrike" u="none">
                <a:solidFill>
                  <a:schemeClr val="dk1"/>
                </a:solidFill>
                <a:effectLst/>
                <a:uFillTx/>
                <a:latin typeface="Arial"/>
                <a:ea typeface="ＭＳ Ｐゴシック"/>
              </a:rPr>
              <a:t>D</a:t>
            </a:r>
            <a:r>
              <a:rPr b="0" lang="en-US" sz="2400" strike="noStrike" u="none">
                <a:solidFill>
                  <a:schemeClr val="dk1"/>
                </a:solidFill>
                <a:effectLst/>
                <a:uFillTx/>
                <a:latin typeface="Arial"/>
                <a:ea typeface="ＭＳ Ｐゴシック"/>
              </a:rPr>
              <a:t>, is the demand for the monopoly’s output.</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competitive market’s supply curve, </a:t>
            </a:r>
            <a:r>
              <a:rPr b="0" i="1" lang="en-US" sz="2400" strike="noStrike" u="none">
                <a:solidFill>
                  <a:srgbClr val="000000"/>
                </a:solidFill>
                <a:effectLst/>
                <a:uFillTx/>
                <a:latin typeface="Arial"/>
                <a:ea typeface="ＭＳ Ｐゴシック"/>
              </a:rPr>
              <a:t>S</a:t>
            </a:r>
            <a:r>
              <a:rPr b="0" lang="en-US" sz="2400" strike="noStrike" u="none">
                <a:solidFill>
                  <a:srgbClr val="000000"/>
                </a:solidFill>
                <a:effectLst/>
                <a:uFillTx/>
                <a:latin typeface="Arial"/>
                <a:ea typeface="ＭＳ Ｐゴシック"/>
              </a:rPr>
              <a:t>, is the monopoly’s marginal cost curve, </a:t>
            </a:r>
            <a:r>
              <a:rPr b="0" i="1" lang="en-US" sz="2400" strike="noStrike" u="none">
                <a:solidFill>
                  <a:srgbClr val="000000"/>
                </a:solidFill>
                <a:effectLst/>
                <a:uFillTx/>
                <a:latin typeface="Arial"/>
                <a:ea typeface="ＭＳ Ｐゴシック"/>
              </a:rPr>
              <a:t>MC</a:t>
            </a:r>
            <a:r>
              <a:rPr b="0" lang="en-US" sz="2400" strike="noStrike" u="none">
                <a:solidFill>
                  <a:srgbClr val="000000"/>
                </a:solidFill>
                <a:effectLst/>
                <a:uFillTx/>
                <a:latin typeface="Arial"/>
                <a:ea typeface="ＭＳ Ｐゴシック"/>
              </a:rPr>
              <a:t>.</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monopoly’s marginal revenue curve is </a:t>
            </a:r>
            <a:r>
              <a:rPr b="0" i="1" lang="en-US" sz="2400" strike="noStrike" u="none">
                <a:solidFill>
                  <a:srgbClr val="000000"/>
                </a:solidFill>
                <a:effectLst/>
                <a:uFillTx/>
                <a:latin typeface="Arial"/>
                <a:ea typeface="ＭＳ Ｐゴシック"/>
              </a:rPr>
              <a:t>MR</a:t>
            </a:r>
            <a:r>
              <a:rPr b="0" lang="en-US" sz="2400" strike="noStrike" u="none">
                <a:solidFill>
                  <a:srgbClr val="000000"/>
                </a:solidFill>
                <a:effectLst/>
                <a:uFillTx/>
                <a:latin typeface="Arial"/>
                <a:ea typeface="ＭＳ Ｐゴシック"/>
              </a:rPr>
              <a:t>.</a:t>
            </a:r>
            <a:endParaRPr b="1" lang="en-CA" sz="2400" strike="noStrike" u="none">
              <a:solidFill>
                <a:srgbClr val="00468f"/>
              </a:solidFill>
              <a:effectLst/>
              <a:uFillTx/>
              <a:latin typeface="Arial"/>
            </a:endParaRPr>
          </a:p>
        </p:txBody>
      </p:sp>
      <p:pic>
        <p:nvPicPr>
          <p:cNvPr id="345" name="Picture 1" descr=""/>
          <p:cNvPicPr/>
          <p:nvPr/>
        </p:nvPicPr>
        <p:blipFill>
          <a:blip r:embed="rId1"/>
          <a:stretch/>
        </p:blipFill>
        <p:spPr>
          <a:xfrm>
            <a:off x="4427640" y="1547640"/>
            <a:ext cx="4073040" cy="4103280"/>
          </a:xfrm>
          <a:prstGeom prst="rect">
            <a:avLst/>
          </a:prstGeom>
          <a:noFill/>
          <a:ln w="0">
            <a:noFill/>
          </a:ln>
        </p:spPr>
      </p:pic>
      <p:pic>
        <p:nvPicPr>
          <p:cNvPr id="346" name="Picture 11" descr=""/>
          <p:cNvPicPr/>
          <p:nvPr/>
        </p:nvPicPr>
        <p:blipFill>
          <a:blip r:embed="rId2"/>
          <a:stretch/>
        </p:blipFill>
        <p:spPr>
          <a:xfrm>
            <a:off x="4427640" y="1547640"/>
            <a:ext cx="4073040" cy="4103280"/>
          </a:xfrm>
          <a:prstGeom prst="rect">
            <a:avLst/>
          </a:prstGeom>
          <a:noFill/>
          <a:ln w="0">
            <a:noFill/>
          </a:ln>
        </p:spPr>
      </p:pic>
      <p:pic>
        <p:nvPicPr>
          <p:cNvPr id="347" name="Picture 12" descr=""/>
          <p:cNvPicPr/>
          <p:nvPr/>
        </p:nvPicPr>
        <p:blipFill>
          <a:blip r:embed="rId3"/>
          <a:stretch/>
        </p:blipFill>
        <p:spPr>
          <a:xfrm>
            <a:off x="4427640" y="1547640"/>
            <a:ext cx="4073040" cy="4103280"/>
          </a:xfrm>
          <a:prstGeom prst="rect">
            <a:avLst/>
          </a:prstGeom>
          <a:noFill/>
          <a:ln w="0">
            <a:noFill/>
          </a:ln>
        </p:spPr>
      </p:pic>
      <p:pic>
        <p:nvPicPr>
          <p:cNvPr id="348" name="Picture 13" descr=""/>
          <p:cNvPicPr/>
          <p:nvPr/>
        </p:nvPicPr>
        <p:blipFill>
          <a:blip r:embed="rId4"/>
          <a:stretch/>
        </p:blipFill>
        <p:spPr>
          <a:xfrm>
            <a:off x="4427640" y="1547640"/>
            <a:ext cx="4073040" cy="4103280"/>
          </a:xfrm>
          <a:prstGeom prst="rect">
            <a:avLst/>
          </a:prstGeom>
          <a:noFill/>
          <a:ln w="0">
            <a:noFill/>
          </a:ln>
        </p:spPr>
      </p:pic>
      <p:pic>
        <p:nvPicPr>
          <p:cNvPr id="349" name="Picture 14" descr=""/>
          <p:cNvPicPr/>
          <p:nvPr/>
        </p:nvPicPr>
        <p:blipFill>
          <a:blip r:embed="rId5"/>
          <a:stretch/>
        </p:blipFill>
        <p:spPr>
          <a:xfrm>
            <a:off x="4427640" y="1547640"/>
            <a:ext cx="4073040" cy="4103280"/>
          </a:xfrm>
          <a:prstGeom prst="rect">
            <a:avLst/>
          </a:prstGeom>
          <a:noFill/>
          <a:ln w="0">
            <a:noFill/>
          </a:ln>
        </p:spPr>
      </p:pic>
    </p:spTree>
  </p:cSld>
  <p:transition spd="slow">
    <p:wipe dir="r"/>
  </p:transition>
  <p:timing>
    <p:tnLst>
      <p:par>
        <p:cTn id="928" dur="indefinite" restart="never" nodeType="tmRoot">
          <p:childTnLst>
            <p:seq>
              <p:cTn id="929" dur="indefinite" nodeType="mainSeq">
                <p:childTnLst>
                  <p:par>
                    <p:cTn id="930" nodeType="clickEffect" fill="hold">
                      <p:stCondLst>
                        <p:cond delay="indefinite"/>
                      </p:stCondLst>
                      <p:childTnLst>
                        <p:par>
                          <p:cTn id="931" nodeType="withEffect" fill="hold">
                            <p:stCondLst>
                              <p:cond delay="0"/>
                            </p:stCondLst>
                            <p:childTnLst>
                              <p:par>
                                <p:cTn id="932" nodeType="clickEffect" fill="hold" presetClass="entr" presetID="22" presetSubtype="8">
                                  <p:stCondLst>
                                    <p:cond delay="0"/>
                                  </p:stCondLst>
                                  <p:childTnLst>
                                    <p:set>
                                      <p:cBhvr>
                                        <p:cTn id="933" dur="1" fill="hold">
                                          <p:stCondLst>
                                            <p:cond delay="0"/>
                                          </p:stCondLst>
                                        </p:cTn>
                                        <p:tgtEl>
                                          <p:spTgt spid="344">
                                            <p:txEl>
                                              <p:pRg st="0" end="0"/>
                                            </p:txEl>
                                          </p:spTgt>
                                        </p:tgtEl>
                                        <p:attrNameLst>
                                          <p:attrName>style.visibility</p:attrName>
                                        </p:attrNameLst>
                                      </p:cBhvr>
                                      <p:to>
                                        <p:strVal val="visible"/>
                                      </p:to>
                                    </p:set>
                                    <p:animEffect filter="wipe(left)" transition="in">
                                      <p:cBhvr additive="repl">
                                        <p:cTn id="934" dur="500"/>
                                        <p:tgtEl>
                                          <p:spTgt spid="344">
                                            <p:txEl>
                                              <p:pRg st="0" end="0"/>
                                            </p:txEl>
                                          </p:spTgt>
                                        </p:tgtEl>
                                      </p:cBhvr>
                                    </p:animEffect>
                                  </p:childTnLst>
                                </p:cTn>
                              </p:par>
                            </p:childTnLst>
                          </p:cTn>
                        </p:par>
                      </p:childTnLst>
                    </p:cTn>
                  </p:par>
                  <p:par>
                    <p:cTn id="935" nodeType="clickEffect" fill="hold">
                      <p:stCondLst>
                        <p:cond delay="indefinite"/>
                      </p:stCondLst>
                      <p:childTnLst>
                        <p:par>
                          <p:cTn id="936" nodeType="withEffect" fill="hold">
                            <p:stCondLst>
                              <p:cond delay="0"/>
                            </p:stCondLst>
                            <p:childTnLst>
                              <p:par>
                                <p:cTn id="937" nodeType="clickEffect" fill="hold" presetClass="entr" presetID="22" presetSubtype="8">
                                  <p:stCondLst>
                                    <p:cond delay="0"/>
                                  </p:stCondLst>
                                  <p:childTnLst>
                                    <p:set>
                                      <p:cBhvr>
                                        <p:cTn id="938" dur="1" fill="hold">
                                          <p:stCondLst>
                                            <p:cond delay="0"/>
                                          </p:stCondLst>
                                        </p:cTn>
                                        <p:tgtEl>
                                          <p:spTgt spid="344">
                                            <p:txEl>
                                              <p:pRg st="1" end="1"/>
                                            </p:txEl>
                                          </p:spTgt>
                                        </p:tgtEl>
                                        <p:attrNameLst>
                                          <p:attrName>style.visibility</p:attrName>
                                        </p:attrNameLst>
                                      </p:cBhvr>
                                      <p:to>
                                        <p:strVal val="visible"/>
                                      </p:to>
                                    </p:set>
                                    <p:animEffect filter="wipe(left)" transition="in">
                                      <p:cBhvr additive="repl">
                                        <p:cTn id="939" dur="500"/>
                                        <p:tgtEl>
                                          <p:spTgt spid="344">
                                            <p:txEl>
                                              <p:pRg st="1" end="1"/>
                                            </p:txEl>
                                          </p:spTgt>
                                        </p:tgtEl>
                                      </p:cBhvr>
                                    </p:animEffect>
                                  </p:childTnLst>
                                </p:cTn>
                              </p:par>
                            </p:childTnLst>
                          </p:cTn>
                        </p:par>
                      </p:childTnLst>
                    </p:cTn>
                  </p:par>
                  <p:par>
                    <p:cTn id="940" nodeType="clickEffect" fill="hold">
                      <p:stCondLst>
                        <p:cond delay="indefinite"/>
                      </p:stCondLst>
                      <p:childTnLst>
                        <p:par>
                          <p:cTn id="941" nodeType="withEffect" fill="hold">
                            <p:stCondLst>
                              <p:cond delay="0"/>
                            </p:stCondLst>
                            <p:childTnLst>
                              <p:par>
                                <p:cTn id="942" nodeType="clickEffect" fill="hold" presetClass="entr" presetID="22" presetSubtype="8">
                                  <p:stCondLst>
                                    <p:cond delay="0"/>
                                  </p:stCondLst>
                                  <p:childTnLst>
                                    <p:set>
                                      <p:cBhvr>
                                        <p:cTn id="943" dur="1" fill="hold">
                                          <p:stCondLst>
                                            <p:cond delay="0"/>
                                          </p:stCondLst>
                                        </p:cTn>
                                        <p:tgtEl>
                                          <p:spTgt spid="344">
                                            <p:txEl>
                                              <p:pRg st="2" end="2"/>
                                            </p:txEl>
                                          </p:spTgt>
                                        </p:tgtEl>
                                        <p:attrNameLst>
                                          <p:attrName>style.visibility</p:attrName>
                                        </p:attrNameLst>
                                      </p:cBhvr>
                                      <p:to>
                                        <p:strVal val="visible"/>
                                      </p:to>
                                    </p:set>
                                    <p:animEffect filter="wipe(left)" transition="in">
                                      <p:cBhvr additive="repl">
                                        <p:cTn id="944" dur="500"/>
                                        <p:tgtEl>
                                          <p:spTgt spid="344">
                                            <p:txEl>
                                              <p:pRg st="2" end="2"/>
                                            </p:txEl>
                                          </p:spTgt>
                                        </p:tgtEl>
                                      </p:cBhvr>
                                    </p:animEffect>
                                  </p:childTnLst>
                                </p:cTn>
                              </p:par>
                              <p:par>
                                <p:cTn id="945" nodeType="withEffect" fill="hold" presetClass="entr" presetID="22" presetSubtype="8">
                                  <p:stCondLst>
                                    <p:cond delay="0"/>
                                  </p:stCondLst>
                                  <p:childTnLst>
                                    <p:set>
                                      <p:cBhvr>
                                        <p:cTn id="946" dur="1" fill="hold">
                                          <p:stCondLst>
                                            <p:cond delay="0"/>
                                          </p:stCondLst>
                                        </p:cTn>
                                        <p:tgtEl>
                                          <p:spTgt spid="349"/>
                                        </p:tgtEl>
                                        <p:attrNameLst>
                                          <p:attrName>style.visibility</p:attrName>
                                        </p:attrNameLst>
                                      </p:cBhvr>
                                      <p:to>
                                        <p:strVal val="visible"/>
                                      </p:to>
                                    </p:set>
                                    <p:animEffect filter="wipe(left)" transition="in">
                                      <p:cBhvr additive="repl">
                                        <p:cTn id="947" dur="1000"/>
                                        <p:tgtEl>
                                          <p:spTgt spid="3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16.3  MONOPOLY AND COMPETITION COMPARED</a:t>
            </a:r>
            <a:endParaRPr b="0" lang="en-CA" sz="2600" strike="noStrike" u="none">
              <a:solidFill>
                <a:schemeClr val="dk1"/>
              </a:solidFill>
              <a:effectLst/>
              <a:uFillTx/>
              <a:latin typeface="Arial"/>
            </a:endParaRPr>
          </a:p>
        </p:txBody>
      </p:sp>
      <p:sp>
        <p:nvSpPr>
          <p:cNvPr id="351" name="PlaceHolder 2"/>
          <p:cNvSpPr>
            <a:spLocks noGrp="1"/>
          </p:cNvSpPr>
          <p:nvPr>
            <p:ph/>
          </p:nvPr>
        </p:nvSpPr>
        <p:spPr>
          <a:xfrm>
            <a:off x="360360" y="1440000"/>
            <a:ext cx="4066920" cy="4647960"/>
          </a:xfrm>
          <a:prstGeom prst="rect">
            <a:avLst/>
          </a:prstGeom>
          <a:noFill/>
          <a:ln w="0">
            <a:noFill/>
          </a:ln>
        </p:spPr>
        <p:txBody>
          <a:bodyPr numCol="1" spcCol="0" lIns="91440" rIns="91440" tIns="45720" bIns="45720" anchor="t">
            <a:noAutofit/>
          </a:bodyPr>
          <a:p>
            <a:pPr marL="817200" indent="-457200">
              <a:lnSpc>
                <a:spcPct val="100000"/>
              </a:lnSpc>
              <a:spcBef>
                <a:spcPts val="601"/>
              </a:spcBef>
              <a:spcAft>
                <a:spcPts val="601"/>
              </a:spcAft>
              <a:buClr>
                <a:srgbClr val="000000"/>
              </a:buClr>
              <a:buFont typeface="Arial"/>
              <a:buAutoNum type="arabicPeriod" startAt="2"/>
            </a:pPr>
            <a:r>
              <a:rPr b="0" lang="en-US" sz="2400" strike="noStrike" u="none">
                <a:solidFill>
                  <a:srgbClr val="000000"/>
                </a:solidFill>
                <a:effectLst/>
                <a:uFillTx/>
                <a:latin typeface="Arial"/>
                <a:ea typeface="ＭＳ Ｐゴシック"/>
              </a:rPr>
              <a:t>A single-price monopoly produces the quantity </a:t>
            </a:r>
            <a:r>
              <a:rPr b="0" i="1" lang="en-US" sz="2400" strike="noStrike" u="none">
                <a:solidFill>
                  <a:srgbClr val="000000"/>
                </a:solidFill>
                <a:effectLst/>
                <a:uFillTx/>
                <a:latin typeface="Arial"/>
                <a:ea typeface="ＭＳ Ｐゴシック"/>
              </a:rPr>
              <a:t>Q</a:t>
            </a:r>
            <a:r>
              <a:rPr b="0" i="1" lang="en-US" sz="2400" strike="noStrike" u="none" baseline="-25000">
                <a:solidFill>
                  <a:srgbClr val="000000"/>
                </a:solidFill>
                <a:effectLst/>
                <a:uFillTx/>
                <a:latin typeface="Arial"/>
                <a:ea typeface="ＭＳ Ｐゴシック"/>
              </a:rPr>
              <a:t>M</a:t>
            </a:r>
            <a:r>
              <a:rPr b="0" lang="en-US" sz="2400" strike="noStrike" u="none">
                <a:solidFill>
                  <a:srgbClr val="000000"/>
                </a:solidFill>
                <a:effectLst/>
                <a:uFillTx/>
                <a:latin typeface="Arial"/>
                <a:ea typeface="ＭＳ Ｐゴシック"/>
              </a:rPr>
              <a:t> at which marginal revenue equals marginal cost and sells that quantity for the price </a:t>
            </a:r>
            <a:r>
              <a:rPr b="0" i="1" lang="en-US" sz="2400" strike="noStrike" u="none">
                <a:solidFill>
                  <a:srgbClr val="000000"/>
                </a:solidFill>
                <a:effectLst/>
                <a:uFillTx/>
                <a:latin typeface="Arial"/>
                <a:ea typeface="ＭＳ Ｐゴシック"/>
              </a:rPr>
              <a:t>P</a:t>
            </a:r>
            <a:r>
              <a:rPr b="0" i="1" lang="en-US" sz="2400" strike="noStrike" u="none" baseline="-25000">
                <a:solidFill>
                  <a:srgbClr val="000000"/>
                </a:solidFill>
                <a:effectLst/>
                <a:uFillTx/>
                <a:latin typeface="Arial"/>
                <a:ea typeface="ＭＳ Ｐゴシック"/>
              </a:rPr>
              <a:t>M</a:t>
            </a:r>
            <a:r>
              <a:rPr b="0" lang="en-US" sz="2400" strike="noStrike" u="none">
                <a:solidFill>
                  <a:srgbClr val="000000"/>
                </a:solidFill>
                <a:effectLst/>
                <a:uFillTx/>
                <a:latin typeface="Arial"/>
                <a:ea typeface="ＭＳ Ｐゴシック"/>
              </a:rPr>
              <a:t>. </a:t>
            </a:r>
            <a:endParaRPr b="1" lang="en-CA" sz="2400" strike="noStrike" u="none">
              <a:solidFill>
                <a:srgbClr val="00468f"/>
              </a:solidFill>
              <a:effectLst/>
              <a:uFillTx/>
              <a:latin typeface="Arial"/>
            </a:endParaRPr>
          </a:p>
        </p:txBody>
      </p:sp>
      <p:pic>
        <p:nvPicPr>
          <p:cNvPr id="352" name="Picture 1" descr=""/>
          <p:cNvPicPr/>
          <p:nvPr/>
        </p:nvPicPr>
        <p:blipFill>
          <a:blip r:embed="rId1"/>
          <a:stretch/>
        </p:blipFill>
        <p:spPr>
          <a:xfrm>
            <a:off x="4427640" y="1547640"/>
            <a:ext cx="4073040" cy="4103280"/>
          </a:xfrm>
          <a:prstGeom prst="rect">
            <a:avLst/>
          </a:prstGeom>
          <a:noFill/>
          <a:ln w="0">
            <a:noFill/>
          </a:ln>
        </p:spPr>
      </p:pic>
      <p:pic>
        <p:nvPicPr>
          <p:cNvPr id="353" name="Picture 12" descr=""/>
          <p:cNvPicPr/>
          <p:nvPr/>
        </p:nvPicPr>
        <p:blipFill>
          <a:blip r:embed="rId2"/>
          <a:stretch/>
        </p:blipFill>
        <p:spPr>
          <a:xfrm>
            <a:off x="4427640" y="1547640"/>
            <a:ext cx="4073040" cy="4103280"/>
          </a:xfrm>
          <a:prstGeom prst="rect">
            <a:avLst/>
          </a:prstGeom>
          <a:noFill/>
          <a:ln w="0">
            <a:noFill/>
          </a:ln>
        </p:spPr>
      </p:pic>
      <p:pic>
        <p:nvPicPr>
          <p:cNvPr id="354" name="Picture 13" descr=""/>
          <p:cNvPicPr/>
          <p:nvPr/>
        </p:nvPicPr>
        <p:blipFill>
          <a:blip r:embed="rId3"/>
          <a:stretch/>
        </p:blipFill>
        <p:spPr>
          <a:xfrm>
            <a:off x="4427640" y="1547640"/>
            <a:ext cx="4073040" cy="4103280"/>
          </a:xfrm>
          <a:prstGeom prst="rect">
            <a:avLst/>
          </a:prstGeom>
          <a:noFill/>
          <a:ln w="0">
            <a:noFill/>
          </a:ln>
        </p:spPr>
      </p:pic>
      <p:pic>
        <p:nvPicPr>
          <p:cNvPr id="355" name="Picture 14" descr=""/>
          <p:cNvPicPr/>
          <p:nvPr/>
        </p:nvPicPr>
        <p:blipFill>
          <a:blip r:embed="rId4"/>
          <a:stretch/>
        </p:blipFill>
        <p:spPr>
          <a:xfrm>
            <a:off x="4427640" y="1547640"/>
            <a:ext cx="4073040" cy="4103280"/>
          </a:xfrm>
          <a:prstGeom prst="rect">
            <a:avLst/>
          </a:prstGeom>
          <a:noFill/>
          <a:ln w="0">
            <a:noFill/>
          </a:ln>
        </p:spPr>
      </p:pic>
      <p:pic>
        <p:nvPicPr>
          <p:cNvPr id="356" name="Picture 15" descr=""/>
          <p:cNvPicPr/>
          <p:nvPr/>
        </p:nvPicPr>
        <p:blipFill>
          <a:blip r:embed="rId5"/>
          <a:stretch/>
        </p:blipFill>
        <p:spPr>
          <a:xfrm>
            <a:off x="4427640" y="1547640"/>
            <a:ext cx="4073040" cy="4103280"/>
          </a:xfrm>
          <a:prstGeom prst="rect">
            <a:avLst/>
          </a:prstGeom>
          <a:noFill/>
          <a:ln w="0">
            <a:noFill/>
          </a:ln>
        </p:spPr>
      </p:pic>
      <p:pic>
        <p:nvPicPr>
          <p:cNvPr id="357" name="Picture 18" descr=""/>
          <p:cNvPicPr/>
          <p:nvPr/>
        </p:nvPicPr>
        <p:blipFill>
          <a:blip r:embed="rId6"/>
          <a:stretch/>
        </p:blipFill>
        <p:spPr>
          <a:xfrm>
            <a:off x="4427640" y="1547640"/>
            <a:ext cx="4073040" cy="4103280"/>
          </a:xfrm>
          <a:prstGeom prst="rect">
            <a:avLst/>
          </a:prstGeom>
          <a:noFill/>
          <a:ln w="0">
            <a:noFill/>
          </a:ln>
        </p:spPr>
      </p:pic>
      <p:pic>
        <p:nvPicPr>
          <p:cNvPr id="358" name="Picture 19" descr=""/>
          <p:cNvPicPr/>
          <p:nvPr/>
        </p:nvPicPr>
        <p:blipFill>
          <a:blip r:embed="rId7"/>
          <a:stretch/>
        </p:blipFill>
        <p:spPr>
          <a:xfrm>
            <a:off x="4427640" y="1547640"/>
            <a:ext cx="4073040" cy="4103280"/>
          </a:xfrm>
          <a:prstGeom prst="rect">
            <a:avLst/>
          </a:prstGeom>
          <a:noFill/>
          <a:ln w="0">
            <a:noFill/>
          </a:ln>
        </p:spPr>
      </p:pic>
    </p:spTree>
  </p:cSld>
  <p:transition spd="slow">
    <p:wipe dir="r"/>
  </p:transition>
  <p:timing>
    <p:tnLst>
      <p:par>
        <p:cTn id="948" dur="indefinite" restart="never" nodeType="tmRoot">
          <p:childTnLst>
            <p:seq>
              <p:cTn id="949" dur="indefinite" nodeType="mainSeq">
                <p:childTnLst>
                  <p:par>
                    <p:cTn id="950" nodeType="clickEffect" fill="hold">
                      <p:stCondLst>
                        <p:cond delay="0"/>
                      </p:stCondLst>
                      <p:childTnLst>
                        <p:par>
                          <p:cTn id="951" nodeType="withEffect" fill="hold">
                            <p:stCondLst>
                              <p:cond delay="0"/>
                            </p:stCondLst>
                            <p:childTnLst>
                              <p:par>
                                <p:cTn id="952" nodeType="withEffect" fill="hold" presetClass="entr" presetID="10">
                                  <p:stCondLst>
                                    <p:cond delay="0"/>
                                  </p:stCondLst>
                                  <p:childTnLst>
                                    <p:set>
                                      <p:cBhvr>
                                        <p:cTn id="953" dur="1" fill="hold">
                                          <p:stCondLst>
                                            <p:cond delay="0"/>
                                          </p:stCondLst>
                                        </p:cTn>
                                        <p:tgtEl>
                                          <p:spTgt spid="358"/>
                                        </p:tgtEl>
                                        <p:attrNameLst>
                                          <p:attrName>style.visibility</p:attrName>
                                        </p:attrNameLst>
                                      </p:cBhvr>
                                      <p:to>
                                        <p:strVal val="visible"/>
                                      </p:to>
                                    </p:set>
                                    <p:animEffect filter="fade" transition="in">
                                      <p:cBhvr additive="repl">
                                        <p:cTn id="954" dur="500"/>
                                        <p:tgtEl>
                                          <p:spTgt spid="3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16.3  MONOPOLY AND COMPETITION COMPARED</a:t>
            </a:r>
            <a:endParaRPr b="0" lang="en-CA" sz="2600" strike="noStrike" u="none">
              <a:solidFill>
                <a:schemeClr val="dk1"/>
              </a:solidFill>
              <a:effectLst/>
              <a:uFillTx/>
              <a:latin typeface="Arial"/>
            </a:endParaRPr>
          </a:p>
        </p:txBody>
      </p:sp>
      <p:sp>
        <p:nvSpPr>
          <p:cNvPr id="360"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Is Monopoly Efficient?</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Resources are used efficiently when marginal benefit equals marginal cost.</a:t>
            </a:r>
            <a:endParaRPr b="1" lang="en-CA" sz="2400" strike="noStrike" u="none">
              <a:solidFill>
                <a:srgbClr val="00468f"/>
              </a:solidFill>
              <a:effectLst/>
              <a:uFillTx/>
              <a:latin typeface="Arial"/>
            </a:endParaRPr>
          </a:p>
        </p:txBody>
      </p:sp>
    </p:spTree>
  </p:cSld>
  <p:transition spd="slow">
    <p:wipe dir="r"/>
  </p:transition>
  <p:timing>
    <p:tnLst>
      <p:par>
        <p:cTn id="955" dur="indefinite" restart="never" nodeType="tmRoot">
          <p:childTnLst>
            <p:seq>
              <p:cTn id="956" dur="indefinite" nodeType="mainSeq">
                <p:childTnLst>
                  <p:par>
                    <p:cTn id="957" nodeType="clickEffect" fill="hold">
                      <p:stCondLst>
                        <p:cond delay="indefinite"/>
                      </p:stCondLst>
                      <p:childTnLst>
                        <p:par>
                          <p:cTn id="958" nodeType="withEffect" fill="hold">
                            <p:stCondLst>
                              <p:cond delay="0"/>
                            </p:stCondLst>
                            <p:childTnLst>
                              <p:par>
                                <p:cTn id="959" nodeType="clickEffect" fill="hold" presetClass="entr" presetID="22" presetSubtype="8">
                                  <p:stCondLst>
                                    <p:cond delay="0"/>
                                  </p:stCondLst>
                                  <p:childTnLst>
                                    <p:set>
                                      <p:cBhvr>
                                        <p:cTn id="960" dur="1" fill="hold">
                                          <p:stCondLst>
                                            <p:cond delay="0"/>
                                          </p:stCondLst>
                                        </p:cTn>
                                        <p:tgtEl>
                                          <p:spTgt spid="360">
                                            <p:txEl>
                                              <p:pRg st="1" end="1"/>
                                            </p:txEl>
                                          </p:spTgt>
                                        </p:tgtEl>
                                        <p:attrNameLst>
                                          <p:attrName>style.visibility</p:attrName>
                                        </p:attrNameLst>
                                      </p:cBhvr>
                                      <p:to>
                                        <p:strVal val="visible"/>
                                      </p:to>
                                    </p:set>
                                    <p:animEffect filter="wipe(left)" transition="in">
                                      <p:cBhvr additive="repl">
                                        <p:cTn id="961" dur="500"/>
                                        <p:tgtEl>
                                          <p:spTgt spid="360">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16.3  MONOPOLY AND COMPETITION COMPARED</a:t>
            </a:r>
            <a:endParaRPr b="0" lang="en-CA" sz="2600" strike="noStrike" u="none">
              <a:solidFill>
                <a:schemeClr val="dk1"/>
              </a:solidFill>
              <a:effectLst/>
              <a:uFillTx/>
              <a:latin typeface="Arial"/>
            </a:endParaRPr>
          </a:p>
        </p:txBody>
      </p:sp>
      <p:sp>
        <p:nvSpPr>
          <p:cNvPr id="362" name="PlaceHolder 2"/>
          <p:cNvSpPr>
            <a:spLocks noGrp="1"/>
          </p:cNvSpPr>
          <p:nvPr>
            <p:ph/>
          </p:nvPr>
        </p:nvSpPr>
        <p:spPr>
          <a:xfrm>
            <a:off x="360360" y="1440000"/>
            <a:ext cx="442728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Figure 16.6 shows the inefficiency of monopoly.</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a:tabLst>
                <a:tab algn="l" pos="0"/>
              </a:tabLst>
            </a:pPr>
            <a:r>
              <a:rPr b="0" lang="en-US" sz="2400" strike="noStrike" u="none">
                <a:solidFill>
                  <a:srgbClr val="000000"/>
                </a:solidFill>
                <a:effectLst/>
                <a:uFillTx/>
                <a:latin typeface="Arial"/>
                <a:ea typeface="ＭＳ Ｐゴシック"/>
              </a:rPr>
              <a:t>In perfect competition, the quantity, </a:t>
            </a:r>
            <a:r>
              <a:rPr b="0" i="1" lang="en-US" sz="2400" strike="noStrike" u="none">
                <a:solidFill>
                  <a:srgbClr val="000000"/>
                </a:solidFill>
                <a:effectLst/>
                <a:uFillTx/>
                <a:latin typeface="Arial"/>
                <a:ea typeface="ＭＳ Ｐゴシック"/>
              </a:rPr>
              <a:t>Q</a:t>
            </a:r>
            <a:r>
              <a:rPr b="0" i="1" lang="en-US" sz="2400" strike="noStrike" u="none" baseline="-25000">
                <a:solidFill>
                  <a:srgbClr val="000000"/>
                </a:solidFill>
                <a:effectLst/>
                <a:uFillTx/>
                <a:latin typeface="Arial"/>
                <a:ea typeface="ＭＳ Ｐゴシック"/>
              </a:rPr>
              <a:t>C</a:t>
            </a:r>
            <a:r>
              <a:rPr b="0" lang="en-US" sz="2400" strike="noStrike" u="none">
                <a:solidFill>
                  <a:srgbClr val="000000"/>
                </a:solidFill>
                <a:effectLst/>
                <a:uFillTx/>
                <a:latin typeface="Arial"/>
                <a:ea typeface="ＭＳ Ｐゴシック"/>
              </a:rPr>
              <a:t>, is the efficient quantity because at that quantity, marginal benefit and marginal cost equal the price </a:t>
            </a:r>
            <a:r>
              <a:rPr b="0" i="1" lang="en-US" sz="2400" strike="noStrike" u="none">
                <a:solidFill>
                  <a:srgbClr val="000000"/>
                </a:solidFill>
                <a:effectLst/>
                <a:uFillTx/>
                <a:latin typeface="Arial"/>
                <a:ea typeface="ＭＳ Ｐゴシック"/>
              </a:rPr>
              <a:t>P</a:t>
            </a:r>
            <a:r>
              <a:rPr b="0" i="1" lang="en-US" sz="2400" strike="noStrike" u="none" baseline="-25000">
                <a:solidFill>
                  <a:srgbClr val="000000"/>
                </a:solidFill>
                <a:effectLst/>
                <a:uFillTx/>
                <a:latin typeface="Arial"/>
                <a:ea typeface="ＭＳ Ｐゴシック"/>
              </a:rPr>
              <a:t>C</a:t>
            </a:r>
            <a:r>
              <a:rPr b="0" lang="en-US" sz="2400" strike="noStrike" u="none">
                <a:solidFill>
                  <a:srgbClr val="000000"/>
                </a:solidFill>
                <a:effectLst/>
                <a:uFillTx/>
                <a:latin typeface="Arial"/>
                <a:ea typeface="ＭＳ Ｐゴシック"/>
              </a:rPr>
              <a:t>.</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sum of 2. consumer surplus and 3. producer surplus is maximized.</a:t>
            </a:r>
            <a:endParaRPr b="1" lang="en-CA" sz="2400" strike="noStrike" u="none">
              <a:solidFill>
                <a:srgbClr val="00468f"/>
              </a:solidFill>
              <a:effectLst/>
              <a:uFillTx/>
              <a:latin typeface="Arial"/>
            </a:endParaRPr>
          </a:p>
        </p:txBody>
      </p:sp>
      <p:pic>
        <p:nvPicPr>
          <p:cNvPr id="363" name="Picture 1" descr=""/>
          <p:cNvPicPr/>
          <p:nvPr/>
        </p:nvPicPr>
        <p:blipFill>
          <a:blip r:embed="rId1"/>
          <a:stretch/>
        </p:blipFill>
        <p:spPr>
          <a:xfrm>
            <a:off x="4788000" y="1476360"/>
            <a:ext cx="3723840" cy="4257360"/>
          </a:xfrm>
          <a:prstGeom prst="rect">
            <a:avLst/>
          </a:prstGeom>
          <a:noFill/>
          <a:ln w="0">
            <a:noFill/>
          </a:ln>
        </p:spPr>
      </p:pic>
      <p:pic>
        <p:nvPicPr>
          <p:cNvPr id="364" name="Picture 12" descr=""/>
          <p:cNvPicPr/>
          <p:nvPr/>
        </p:nvPicPr>
        <p:blipFill>
          <a:blip r:embed="rId2"/>
          <a:stretch/>
        </p:blipFill>
        <p:spPr>
          <a:xfrm>
            <a:off x="4788000" y="1476360"/>
            <a:ext cx="3723840" cy="4257360"/>
          </a:xfrm>
          <a:prstGeom prst="rect">
            <a:avLst/>
          </a:prstGeom>
          <a:noFill/>
          <a:ln w="0">
            <a:noFill/>
          </a:ln>
        </p:spPr>
      </p:pic>
      <p:pic>
        <p:nvPicPr>
          <p:cNvPr id="365" name="Picture 13" descr=""/>
          <p:cNvPicPr/>
          <p:nvPr/>
        </p:nvPicPr>
        <p:blipFill>
          <a:blip r:embed="rId3"/>
          <a:stretch/>
        </p:blipFill>
        <p:spPr>
          <a:xfrm>
            <a:off x="4788000" y="1476360"/>
            <a:ext cx="3723840" cy="4257360"/>
          </a:xfrm>
          <a:prstGeom prst="rect">
            <a:avLst/>
          </a:prstGeom>
          <a:noFill/>
          <a:ln w="0">
            <a:noFill/>
          </a:ln>
        </p:spPr>
      </p:pic>
      <p:pic>
        <p:nvPicPr>
          <p:cNvPr id="366" name="Picture 14" descr=""/>
          <p:cNvPicPr/>
          <p:nvPr/>
        </p:nvPicPr>
        <p:blipFill>
          <a:blip r:embed="rId4"/>
          <a:stretch/>
        </p:blipFill>
        <p:spPr>
          <a:xfrm>
            <a:off x="4788000" y="1476360"/>
            <a:ext cx="3723840" cy="4257360"/>
          </a:xfrm>
          <a:prstGeom prst="rect">
            <a:avLst/>
          </a:prstGeom>
          <a:noFill/>
          <a:ln w="0">
            <a:noFill/>
          </a:ln>
        </p:spPr>
      </p:pic>
    </p:spTree>
  </p:cSld>
  <p:transition spd="slow">
    <p:wipe dir="r"/>
  </p:transition>
  <p:timing>
    <p:tnLst>
      <p:par>
        <p:cTn id="962" dur="indefinite" restart="never" nodeType="tmRoot">
          <p:childTnLst>
            <p:seq>
              <p:cTn id="963" dur="indefinite" nodeType="mainSeq">
                <p:childTnLst>
                  <p:par>
                    <p:cTn id="964" nodeType="clickEffect" fill="hold">
                      <p:stCondLst>
                        <p:cond delay="indefinite"/>
                      </p:stCondLst>
                      <p:childTnLst>
                        <p:par>
                          <p:cTn id="965" nodeType="withEffect" fill="hold">
                            <p:stCondLst>
                              <p:cond delay="0"/>
                            </p:stCondLst>
                            <p:childTnLst>
                              <p:par>
                                <p:cTn id="966" nodeType="clickEffect" fill="hold" presetClass="entr" presetID="22" presetSubtype="8">
                                  <p:stCondLst>
                                    <p:cond delay="0"/>
                                  </p:stCondLst>
                                  <p:childTnLst>
                                    <p:set>
                                      <p:cBhvr>
                                        <p:cTn id="967" dur="1" fill="hold">
                                          <p:stCondLst>
                                            <p:cond delay="0"/>
                                          </p:stCondLst>
                                        </p:cTn>
                                        <p:tgtEl>
                                          <p:spTgt spid="362">
                                            <p:txEl>
                                              <p:pRg st="1" end="1"/>
                                            </p:txEl>
                                          </p:spTgt>
                                        </p:tgtEl>
                                        <p:attrNameLst>
                                          <p:attrName>style.visibility</p:attrName>
                                        </p:attrNameLst>
                                      </p:cBhvr>
                                      <p:to>
                                        <p:strVal val="visible"/>
                                      </p:to>
                                    </p:set>
                                    <p:animEffect filter="wipe(left)" transition="in">
                                      <p:cBhvr additive="repl">
                                        <p:cTn id="968" dur="500"/>
                                        <p:tgtEl>
                                          <p:spTgt spid="362">
                                            <p:txEl>
                                              <p:pRg st="1" end="1"/>
                                            </p:txEl>
                                          </p:spTgt>
                                        </p:tgtEl>
                                      </p:cBhvr>
                                    </p:animEffect>
                                  </p:childTnLst>
                                </p:cTn>
                              </p:par>
                            </p:childTnLst>
                          </p:cTn>
                        </p:par>
                      </p:childTnLst>
                    </p:cTn>
                  </p:par>
                  <p:par>
                    <p:cTn id="969" nodeType="clickEffect" fill="hold">
                      <p:stCondLst>
                        <p:cond delay="indefinite"/>
                      </p:stCondLst>
                      <p:childTnLst>
                        <p:par>
                          <p:cTn id="970" nodeType="withEffect" fill="hold">
                            <p:stCondLst>
                              <p:cond delay="0"/>
                            </p:stCondLst>
                            <p:childTnLst>
                              <p:par>
                                <p:cTn id="971" nodeType="clickEffect" fill="hold" presetClass="entr" presetID="10">
                                  <p:stCondLst>
                                    <p:cond delay="0"/>
                                  </p:stCondLst>
                                  <p:childTnLst>
                                    <p:set>
                                      <p:cBhvr>
                                        <p:cTn id="972" dur="1" fill="hold">
                                          <p:stCondLst>
                                            <p:cond delay="0"/>
                                          </p:stCondLst>
                                        </p:cTn>
                                        <p:tgtEl>
                                          <p:spTgt spid="364"/>
                                        </p:tgtEl>
                                        <p:attrNameLst>
                                          <p:attrName>style.visibility</p:attrName>
                                        </p:attrNameLst>
                                      </p:cBhvr>
                                      <p:to>
                                        <p:strVal val="visible"/>
                                      </p:to>
                                    </p:set>
                                    <p:animEffect filter="fade" transition="in">
                                      <p:cBhvr additive="repl">
                                        <p:cTn id="973" dur="500"/>
                                        <p:tgtEl>
                                          <p:spTgt spid="364"/>
                                        </p:tgtEl>
                                      </p:cBhvr>
                                    </p:animEffect>
                                  </p:childTnLst>
                                </p:cTn>
                              </p:par>
                            </p:childTnLst>
                          </p:cTn>
                        </p:par>
                      </p:childTnLst>
                    </p:cTn>
                  </p:par>
                  <p:par>
                    <p:cTn id="974" nodeType="clickEffect" fill="hold">
                      <p:stCondLst>
                        <p:cond delay="indefinite"/>
                      </p:stCondLst>
                      <p:childTnLst>
                        <p:par>
                          <p:cTn id="975" nodeType="withEffect" fill="hold">
                            <p:stCondLst>
                              <p:cond delay="0"/>
                            </p:stCondLst>
                            <p:childTnLst>
                              <p:par>
                                <p:cTn id="976" nodeType="clickEffect" fill="hold" presetClass="entr" presetID="22" presetSubtype="8">
                                  <p:stCondLst>
                                    <p:cond delay="0"/>
                                  </p:stCondLst>
                                  <p:childTnLst>
                                    <p:set>
                                      <p:cBhvr>
                                        <p:cTn id="977" dur="1" fill="hold">
                                          <p:stCondLst>
                                            <p:cond delay="0"/>
                                          </p:stCondLst>
                                        </p:cTn>
                                        <p:tgtEl>
                                          <p:spTgt spid="362">
                                            <p:txEl>
                                              <p:pRg st="2" end="2"/>
                                            </p:txEl>
                                          </p:spTgt>
                                        </p:tgtEl>
                                        <p:attrNameLst>
                                          <p:attrName>style.visibility</p:attrName>
                                        </p:attrNameLst>
                                      </p:cBhvr>
                                      <p:to>
                                        <p:strVal val="visible"/>
                                      </p:to>
                                    </p:set>
                                    <p:animEffect filter="wipe(left)" transition="in">
                                      <p:cBhvr additive="repl">
                                        <p:cTn id="978" dur="500"/>
                                        <p:tgtEl>
                                          <p:spTgt spid="362">
                                            <p:txEl>
                                              <p:pRg st="2" end="2"/>
                                            </p:txEl>
                                          </p:spTgt>
                                        </p:tgtEl>
                                      </p:cBhvr>
                                    </p:animEffect>
                                  </p:childTnLst>
                                </p:cTn>
                              </p:par>
                            </p:childTnLst>
                          </p:cTn>
                        </p:par>
                      </p:childTnLst>
                    </p:cTn>
                  </p:par>
                  <p:par>
                    <p:cTn id="979" nodeType="clickEffect" fill="hold">
                      <p:stCondLst>
                        <p:cond delay="indefinite"/>
                      </p:stCondLst>
                      <p:childTnLst>
                        <p:par>
                          <p:cTn id="980" nodeType="withEffect" fill="hold">
                            <p:stCondLst>
                              <p:cond delay="0"/>
                            </p:stCondLst>
                            <p:childTnLst>
                              <p:par>
                                <p:cTn id="981" nodeType="clickEffect" fill="hold" presetClass="entr" presetID="10">
                                  <p:stCondLst>
                                    <p:cond delay="0"/>
                                  </p:stCondLst>
                                  <p:childTnLst>
                                    <p:set>
                                      <p:cBhvr>
                                        <p:cTn id="982" dur="1" fill="hold">
                                          <p:stCondLst>
                                            <p:cond delay="0"/>
                                          </p:stCondLst>
                                        </p:cTn>
                                        <p:tgtEl>
                                          <p:spTgt spid="365"/>
                                        </p:tgtEl>
                                        <p:attrNameLst>
                                          <p:attrName>style.visibility</p:attrName>
                                        </p:attrNameLst>
                                      </p:cBhvr>
                                      <p:to>
                                        <p:strVal val="visible"/>
                                      </p:to>
                                    </p:set>
                                    <p:animEffect filter="fade" transition="in">
                                      <p:cBhvr additive="repl">
                                        <p:cTn id="983" dur="500"/>
                                        <p:tgtEl>
                                          <p:spTgt spid="365"/>
                                        </p:tgtEl>
                                      </p:cBhvr>
                                    </p:animEffect>
                                  </p:childTnLst>
                                </p:cTn>
                              </p:par>
                            </p:childTnLst>
                          </p:cTn>
                        </p:par>
                      </p:childTnLst>
                    </p:cTn>
                  </p:par>
                  <p:par>
                    <p:cTn id="984" nodeType="clickEffect" fill="hold">
                      <p:stCondLst>
                        <p:cond delay="indefinite"/>
                      </p:stCondLst>
                      <p:childTnLst>
                        <p:par>
                          <p:cTn id="985" nodeType="withEffect" fill="hold">
                            <p:stCondLst>
                              <p:cond delay="0"/>
                            </p:stCondLst>
                            <p:childTnLst>
                              <p:par>
                                <p:cTn id="986" nodeType="clickEffect" fill="hold" presetClass="entr" presetID="10">
                                  <p:stCondLst>
                                    <p:cond delay="800"/>
                                  </p:stCondLst>
                                  <p:childTnLst>
                                    <p:set>
                                      <p:cBhvr>
                                        <p:cTn id="987" dur="1" fill="hold">
                                          <p:stCondLst>
                                            <p:cond delay="0"/>
                                          </p:stCondLst>
                                        </p:cTn>
                                        <p:tgtEl>
                                          <p:spTgt spid="366"/>
                                        </p:tgtEl>
                                        <p:attrNameLst>
                                          <p:attrName>style.visibility</p:attrName>
                                        </p:attrNameLst>
                                      </p:cBhvr>
                                      <p:to>
                                        <p:strVal val="visible"/>
                                      </p:to>
                                    </p:set>
                                    <p:animEffect filter="fade" transition="in">
                                      <p:cBhvr additive="repl">
                                        <p:cTn id="988" dur="500"/>
                                        <p:tgtEl>
                                          <p:spTgt spid="3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367" name="Picture 1" descr=""/>
          <p:cNvPicPr/>
          <p:nvPr/>
        </p:nvPicPr>
        <p:blipFill>
          <a:blip r:embed="rId1"/>
          <a:stretch/>
        </p:blipFill>
        <p:spPr>
          <a:xfrm>
            <a:off x="2232000" y="792000"/>
            <a:ext cx="4381200" cy="5009760"/>
          </a:xfrm>
          <a:prstGeom prst="rect">
            <a:avLst/>
          </a:prstGeom>
          <a:noFill/>
          <a:ln w="0">
            <a:noFill/>
          </a:ln>
        </p:spPr>
      </p:pic>
      <p:pic>
        <p:nvPicPr>
          <p:cNvPr id="368" name="Picture 14" descr=""/>
          <p:cNvPicPr/>
          <p:nvPr/>
        </p:nvPicPr>
        <p:blipFill>
          <a:blip r:embed="rId2"/>
          <a:stretch/>
        </p:blipFill>
        <p:spPr>
          <a:xfrm>
            <a:off x="2232000" y="792000"/>
            <a:ext cx="4381200" cy="5009760"/>
          </a:xfrm>
          <a:prstGeom prst="rect">
            <a:avLst/>
          </a:prstGeom>
          <a:noFill/>
          <a:ln w="0">
            <a:noFill/>
          </a:ln>
        </p:spPr>
      </p:pic>
      <p:pic>
        <p:nvPicPr>
          <p:cNvPr id="369" name="Picture 15" descr=""/>
          <p:cNvPicPr/>
          <p:nvPr/>
        </p:nvPicPr>
        <p:blipFill>
          <a:blip r:embed="rId3"/>
          <a:stretch/>
        </p:blipFill>
        <p:spPr>
          <a:xfrm>
            <a:off x="2232000" y="792000"/>
            <a:ext cx="4381200" cy="5009760"/>
          </a:xfrm>
          <a:prstGeom prst="rect">
            <a:avLst/>
          </a:prstGeom>
          <a:noFill/>
          <a:ln w="0">
            <a:noFill/>
          </a:ln>
        </p:spPr>
      </p:pic>
      <p:pic>
        <p:nvPicPr>
          <p:cNvPr id="370" name="Picture 16" descr=""/>
          <p:cNvPicPr/>
          <p:nvPr/>
        </p:nvPicPr>
        <p:blipFill>
          <a:blip r:embed="rId4"/>
          <a:stretch/>
        </p:blipFill>
        <p:spPr>
          <a:xfrm>
            <a:off x="2232000" y="792000"/>
            <a:ext cx="4381200" cy="5009760"/>
          </a:xfrm>
          <a:prstGeom prst="rect">
            <a:avLst/>
          </a:prstGeom>
          <a:noFill/>
          <a:ln w="0">
            <a:noFill/>
          </a:ln>
        </p:spPr>
      </p:pic>
    </p:spTree>
  </p:cSld>
  <p:transition spd="slow">
    <p:wipe dir="r"/>
  </p:transition>
  <p:timing>
    <p:tnLst>
      <p:par>
        <p:cTn id="989" dur="indefinite" restart="never" nodeType="tmRoot">
          <p:childTnLst>
            <p:seq>
              <p:cTn id="990" dur="indefinite" nodeType="mainSeq">
                <p:childTnLst>
                  <p:par>
                    <p:cTn id="991" nodeType="clickEffect" fill="hold">
                      <p:stCondLst>
                        <p:cond delay="indefinite"/>
                      </p:stCondLst>
                      <p:childTnLst>
                        <p:par>
                          <p:cTn id="992" nodeType="withEffect" fill="hold">
                            <p:stCondLst>
                              <p:cond delay="0"/>
                            </p:stCondLst>
                            <p:childTnLst>
                              <p:par>
                                <p:cTn id="993" nodeType="clickEffect" fill="hold" presetClass="entr" presetID="10">
                                  <p:stCondLst>
                                    <p:cond delay="0"/>
                                  </p:stCondLst>
                                  <p:childTnLst>
                                    <p:set>
                                      <p:cBhvr>
                                        <p:cTn id="994" dur="1" fill="hold">
                                          <p:stCondLst>
                                            <p:cond delay="0"/>
                                          </p:stCondLst>
                                        </p:cTn>
                                        <p:tgtEl>
                                          <p:spTgt spid="368"/>
                                        </p:tgtEl>
                                        <p:attrNameLst>
                                          <p:attrName>style.visibility</p:attrName>
                                        </p:attrNameLst>
                                      </p:cBhvr>
                                      <p:to>
                                        <p:strVal val="visible"/>
                                      </p:to>
                                    </p:set>
                                    <p:animEffect filter="fade" transition="in">
                                      <p:cBhvr additive="repl">
                                        <p:cTn id="995" dur="500"/>
                                        <p:tgtEl>
                                          <p:spTgt spid="368"/>
                                        </p:tgtEl>
                                      </p:cBhvr>
                                    </p:animEffect>
                                  </p:childTnLst>
                                </p:cTn>
                              </p:par>
                            </p:childTnLst>
                          </p:cTn>
                        </p:par>
                      </p:childTnLst>
                    </p:cTn>
                  </p:par>
                  <p:par>
                    <p:cTn id="996" nodeType="clickEffect" fill="hold">
                      <p:stCondLst>
                        <p:cond delay="indefinite"/>
                      </p:stCondLst>
                      <p:childTnLst>
                        <p:par>
                          <p:cTn id="997" nodeType="withEffect" fill="hold">
                            <p:stCondLst>
                              <p:cond delay="0"/>
                            </p:stCondLst>
                            <p:childTnLst>
                              <p:par>
                                <p:cTn id="998" nodeType="clickEffect" fill="hold" presetClass="entr" presetID="10">
                                  <p:stCondLst>
                                    <p:cond delay="0"/>
                                  </p:stCondLst>
                                  <p:childTnLst>
                                    <p:set>
                                      <p:cBhvr>
                                        <p:cTn id="999" dur="1" fill="hold">
                                          <p:stCondLst>
                                            <p:cond delay="0"/>
                                          </p:stCondLst>
                                        </p:cTn>
                                        <p:tgtEl>
                                          <p:spTgt spid="369"/>
                                        </p:tgtEl>
                                        <p:attrNameLst>
                                          <p:attrName>style.visibility</p:attrName>
                                        </p:attrNameLst>
                                      </p:cBhvr>
                                      <p:to>
                                        <p:strVal val="visible"/>
                                      </p:to>
                                    </p:set>
                                    <p:animEffect filter="fade" transition="in">
                                      <p:cBhvr additive="repl">
                                        <p:cTn id="1000" dur="500"/>
                                        <p:tgtEl>
                                          <p:spTgt spid="369"/>
                                        </p:tgtEl>
                                      </p:cBhvr>
                                    </p:animEffect>
                                  </p:childTnLst>
                                </p:cTn>
                              </p:par>
                            </p:childTnLst>
                          </p:cTn>
                        </p:par>
                      </p:childTnLst>
                    </p:cTn>
                  </p:par>
                  <p:par>
                    <p:cTn id="1001" nodeType="clickEffect" fill="hold">
                      <p:stCondLst>
                        <p:cond delay="indefinite"/>
                      </p:stCondLst>
                      <p:childTnLst>
                        <p:par>
                          <p:cTn id="1002" nodeType="withEffect" fill="hold">
                            <p:stCondLst>
                              <p:cond delay="0"/>
                            </p:stCondLst>
                            <p:childTnLst>
                              <p:par>
                                <p:cTn id="1003" nodeType="clickEffect" fill="hold" presetClass="entr" presetID="10">
                                  <p:stCondLst>
                                    <p:cond delay="0"/>
                                  </p:stCondLst>
                                  <p:childTnLst>
                                    <p:set>
                                      <p:cBhvr>
                                        <p:cTn id="1004" dur="1" fill="hold">
                                          <p:stCondLst>
                                            <p:cond delay="0"/>
                                          </p:stCondLst>
                                        </p:cTn>
                                        <p:tgtEl>
                                          <p:spTgt spid="370"/>
                                        </p:tgtEl>
                                        <p:attrNameLst>
                                          <p:attrName>style.visibility</p:attrName>
                                        </p:attrNameLst>
                                      </p:cBhvr>
                                      <p:to>
                                        <p:strVal val="visible"/>
                                      </p:to>
                                    </p:set>
                                    <p:animEffect filter="fade" transition="in">
                                      <p:cBhvr additive="repl">
                                        <p:cTn id="1005" dur="500"/>
                                        <p:tgtEl>
                                          <p:spTgt spid="3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16.3  MONOPOLY AND COMPETITION COMPARED</a:t>
            </a:r>
            <a:endParaRPr b="0" lang="en-CA" sz="2600" strike="noStrike" u="none">
              <a:solidFill>
                <a:schemeClr val="dk1"/>
              </a:solidFill>
              <a:effectLst/>
              <a:uFillTx/>
              <a:latin typeface="Arial"/>
            </a:endParaRPr>
          </a:p>
        </p:txBody>
      </p:sp>
      <p:sp>
        <p:nvSpPr>
          <p:cNvPr id="372" name="PlaceHolder 2"/>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In a single-price monopoly, the equilibrium quantity, </a:t>
            </a:r>
            <a:r>
              <a:rPr b="0" i="1" lang="en-US" sz="2400" strike="noStrike" u="none">
                <a:solidFill>
                  <a:srgbClr val="000000"/>
                </a:solidFill>
                <a:effectLst/>
                <a:uFillTx/>
                <a:latin typeface="Arial"/>
                <a:ea typeface="ＭＳ Ｐゴシック"/>
              </a:rPr>
              <a:t>Q</a:t>
            </a:r>
            <a:r>
              <a:rPr b="0" i="1" lang="en-US" sz="2400" strike="noStrike" u="none" baseline="-25000">
                <a:solidFill>
                  <a:srgbClr val="000000"/>
                </a:solidFill>
                <a:effectLst/>
                <a:uFillTx/>
                <a:latin typeface="Arial"/>
                <a:ea typeface="ＭＳ Ｐゴシック"/>
              </a:rPr>
              <a:t>M</a:t>
            </a:r>
            <a:r>
              <a:rPr b="0" lang="en-US" sz="2400" strike="noStrike" u="none">
                <a:solidFill>
                  <a:srgbClr val="000000"/>
                </a:solidFill>
                <a:effectLst/>
                <a:uFillTx/>
                <a:latin typeface="Arial"/>
                <a:ea typeface="ＭＳ Ｐゴシック"/>
              </a:rPr>
              <a:t>, is inefficient because the price, </a:t>
            </a:r>
            <a:r>
              <a:rPr b="0" i="1" lang="en-US" sz="2400" strike="noStrike" u="none">
                <a:solidFill>
                  <a:srgbClr val="000000"/>
                </a:solidFill>
                <a:effectLst/>
                <a:uFillTx/>
                <a:latin typeface="Arial"/>
                <a:ea typeface="ＭＳ Ｐゴシック"/>
              </a:rPr>
              <a:t>P</a:t>
            </a:r>
            <a:r>
              <a:rPr b="0" i="1" lang="en-US" sz="2400" strike="noStrike" u="none" baseline="-25000">
                <a:solidFill>
                  <a:srgbClr val="000000"/>
                </a:solidFill>
                <a:effectLst/>
                <a:uFillTx/>
                <a:latin typeface="Arial"/>
                <a:ea typeface="ＭＳ Ｐゴシック"/>
              </a:rPr>
              <a:t>M</a:t>
            </a:r>
            <a:r>
              <a:rPr b="0" lang="en-US" sz="2400" strike="noStrike" u="none">
                <a:solidFill>
                  <a:srgbClr val="000000"/>
                </a:solidFill>
                <a:effectLst/>
                <a:uFillTx/>
                <a:latin typeface="Arial"/>
                <a:ea typeface="ＭＳ Ｐゴシック"/>
              </a:rPr>
              <a:t>, which equals marginal benefit, exceeds marginal cost. </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startAt="4"/>
              <a:tabLst>
                <a:tab algn="l" pos="395280"/>
              </a:tabLst>
            </a:pPr>
            <a:r>
              <a:rPr b="0" lang="en-US" sz="2400" strike="noStrike" u="none">
                <a:solidFill>
                  <a:srgbClr val="000000"/>
                </a:solidFill>
                <a:effectLst/>
                <a:uFillTx/>
                <a:latin typeface="Arial"/>
                <a:ea typeface="ＭＳ Ｐゴシック"/>
              </a:rPr>
              <a:t>Underproduction creates a deadweight loss.</a:t>
            </a:r>
            <a:endParaRPr b="1" lang="en-CA" sz="2400" strike="noStrike" u="none">
              <a:solidFill>
                <a:srgbClr val="00468f"/>
              </a:solidFill>
              <a:effectLst/>
              <a:uFillTx/>
              <a:latin typeface="Arial"/>
            </a:endParaRPr>
          </a:p>
        </p:txBody>
      </p:sp>
      <p:pic>
        <p:nvPicPr>
          <p:cNvPr id="373" name="Picture 1" descr=""/>
          <p:cNvPicPr/>
          <p:nvPr/>
        </p:nvPicPr>
        <p:blipFill>
          <a:blip r:embed="rId1"/>
          <a:stretch/>
        </p:blipFill>
        <p:spPr>
          <a:xfrm>
            <a:off x="4788000" y="1476360"/>
            <a:ext cx="3723840" cy="4257360"/>
          </a:xfrm>
          <a:prstGeom prst="rect">
            <a:avLst/>
          </a:prstGeom>
          <a:noFill/>
          <a:ln w="0">
            <a:noFill/>
          </a:ln>
        </p:spPr>
      </p:pic>
      <p:pic>
        <p:nvPicPr>
          <p:cNvPr id="374" name="Picture 15" descr=""/>
          <p:cNvPicPr/>
          <p:nvPr/>
        </p:nvPicPr>
        <p:blipFill>
          <a:blip r:embed="rId2"/>
          <a:stretch/>
        </p:blipFill>
        <p:spPr>
          <a:xfrm>
            <a:off x="4788000" y="1476360"/>
            <a:ext cx="3723840" cy="4257360"/>
          </a:xfrm>
          <a:prstGeom prst="rect">
            <a:avLst/>
          </a:prstGeom>
          <a:noFill/>
          <a:ln w="0">
            <a:noFill/>
          </a:ln>
        </p:spPr>
      </p:pic>
      <p:pic>
        <p:nvPicPr>
          <p:cNvPr id="375" name="Picture 16" descr=""/>
          <p:cNvPicPr/>
          <p:nvPr/>
        </p:nvPicPr>
        <p:blipFill>
          <a:blip r:embed="rId3"/>
          <a:stretch/>
        </p:blipFill>
        <p:spPr>
          <a:xfrm>
            <a:off x="4788000" y="1476360"/>
            <a:ext cx="3723840" cy="4257360"/>
          </a:xfrm>
          <a:prstGeom prst="rect">
            <a:avLst/>
          </a:prstGeom>
          <a:noFill/>
          <a:ln w="0">
            <a:noFill/>
          </a:ln>
        </p:spPr>
      </p:pic>
      <p:pic>
        <p:nvPicPr>
          <p:cNvPr id="376" name="Picture 17" descr=""/>
          <p:cNvPicPr/>
          <p:nvPr/>
        </p:nvPicPr>
        <p:blipFill>
          <a:blip r:embed="rId4"/>
          <a:stretch/>
        </p:blipFill>
        <p:spPr>
          <a:xfrm>
            <a:off x="4788000" y="1476360"/>
            <a:ext cx="3723840" cy="4257360"/>
          </a:xfrm>
          <a:prstGeom prst="rect">
            <a:avLst/>
          </a:prstGeom>
          <a:noFill/>
          <a:ln w="0">
            <a:noFill/>
          </a:ln>
        </p:spPr>
      </p:pic>
    </p:spTree>
  </p:cSld>
  <p:transition spd="slow">
    <p:wipe dir="r"/>
  </p:transition>
  <p:timing>
    <p:tnLst>
      <p:par>
        <p:cTn id="1006" dur="indefinite" restart="never" nodeType="tmRoot">
          <p:childTnLst>
            <p:seq>
              <p:cTn id="1007" dur="indefinite" nodeType="mainSeq">
                <p:childTnLst>
                  <p:par>
                    <p:cTn id="1008" nodeType="clickEffect" fill="hold">
                      <p:stCondLst>
                        <p:cond delay="0"/>
                      </p:stCondLst>
                      <p:childTnLst>
                        <p:par>
                          <p:cTn id="1009" nodeType="withEffect" fill="hold">
                            <p:stCondLst>
                              <p:cond delay="0"/>
                            </p:stCondLst>
                            <p:childTnLst>
                              <p:par>
                                <p:cTn id="1010" nodeType="withEffect" fill="hold" presetClass="entr" presetID="22" presetSubtype="8">
                                  <p:stCondLst>
                                    <p:cond delay="0"/>
                                  </p:stCondLst>
                                  <p:childTnLst>
                                    <p:set>
                                      <p:cBhvr>
                                        <p:cTn id="1011" dur="1" fill="hold">
                                          <p:stCondLst>
                                            <p:cond delay="0"/>
                                          </p:stCondLst>
                                        </p:cTn>
                                        <p:tgtEl>
                                          <p:spTgt spid="374"/>
                                        </p:tgtEl>
                                        <p:attrNameLst>
                                          <p:attrName>style.visibility</p:attrName>
                                        </p:attrNameLst>
                                      </p:cBhvr>
                                      <p:to>
                                        <p:strVal val="visible"/>
                                      </p:to>
                                    </p:set>
                                    <p:animEffect filter="wipe(left)" transition="in">
                                      <p:cBhvr additive="repl">
                                        <p:cTn id="1012" dur="1000"/>
                                        <p:tgtEl>
                                          <p:spTgt spid="374"/>
                                        </p:tgtEl>
                                      </p:cBhvr>
                                    </p:animEffect>
                                  </p:childTnLst>
                                </p:cTn>
                              </p:par>
                              <p:par>
                                <p:cTn id="1013" nodeType="withEffect" fill="hold" presetClass="entr" presetID="10">
                                  <p:stCondLst>
                                    <p:cond delay="1600"/>
                                  </p:stCondLst>
                                  <p:childTnLst>
                                    <p:set>
                                      <p:cBhvr>
                                        <p:cTn id="1014" dur="1" fill="hold">
                                          <p:stCondLst>
                                            <p:cond delay="0"/>
                                          </p:stCondLst>
                                        </p:cTn>
                                        <p:tgtEl>
                                          <p:spTgt spid="375"/>
                                        </p:tgtEl>
                                        <p:attrNameLst>
                                          <p:attrName>style.visibility</p:attrName>
                                        </p:attrNameLst>
                                      </p:cBhvr>
                                      <p:to>
                                        <p:strVal val="visible"/>
                                      </p:to>
                                    </p:set>
                                    <p:animEffect filter="fade" transition="in">
                                      <p:cBhvr additive="repl">
                                        <p:cTn id="1015" dur="500"/>
                                        <p:tgtEl>
                                          <p:spTgt spid="375"/>
                                        </p:tgtEl>
                                      </p:cBhvr>
                                    </p:animEffect>
                                  </p:childTnLst>
                                </p:cTn>
                              </p:par>
                            </p:childTnLst>
                          </p:cTn>
                        </p:par>
                      </p:childTnLst>
                    </p:cTn>
                  </p:par>
                  <p:par>
                    <p:cTn id="1016" nodeType="clickEffect" fill="hold">
                      <p:stCondLst>
                        <p:cond delay="indefinite"/>
                      </p:stCondLst>
                      <p:childTnLst>
                        <p:par>
                          <p:cTn id="1017" nodeType="withEffect" fill="hold">
                            <p:stCondLst>
                              <p:cond delay="0"/>
                            </p:stCondLst>
                            <p:childTnLst>
                              <p:par>
                                <p:cTn id="1018" nodeType="clickEffect" fill="hold" presetClass="entr" presetID="22" presetSubtype="8">
                                  <p:stCondLst>
                                    <p:cond delay="0"/>
                                  </p:stCondLst>
                                  <p:childTnLst>
                                    <p:set>
                                      <p:cBhvr>
                                        <p:cTn id="1019" dur="1" fill="hold">
                                          <p:stCondLst>
                                            <p:cond delay="0"/>
                                          </p:stCondLst>
                                        </p:cTn>
                                        <p:tgtEl>
                                          <p:spTgt spid="372">
                                            <p:txEl>
                                              <p:pRg st="1" end="1"/>
                                            </p:txEl>
                                          </p:spTgt>
                                        </p:tgtEl>
                                        <p:attrNameLst>
                                          <p:attrName>style.visibility</p:attrName>
                                        </p:attrNameLst>
                                      </p:cBhvr>
                                      <p:to>
                                        <p:strVal val="visible"/>
                                      </p:to>
                                    </p:set>
                                    <p:animEffect filter="wipe(left)" transition="in">
                                      <p:cBhvr additive="repl">
                                        <p:cTn id="1020" dur="500"/>
                                        <p:tgtEl>
                                          <p:spTgt spid="372">
                                            <p:txEl>
                                              <p:pRg st="1" end="1"/>
                                            </p:txEl>
                                          </p:spTgt>
                                        </p:tgtEl>
                                      </p:cBhvr>
                                    </p:animEffect>
                                  </p:childTnLst>
                                </p:cTn>
                              </p:par>
                              <p:par>
                                <p:cTn id="1021" nodeType="withEffect" fill="hold" presetClass="entr" presetID="10">
                                  <p:stCondLst>
                                    <p:cond delay="0"/>
                                  </p:stCondLst>
                                  <p:childTnLst>
                                    <p:set>
                                      <p:cBhvr>
                                        <p:cTn id="1022" dur="1" fill="hold">
                                          <p:stCondLst>
                                            <p:cond delay="0"/>
                                          </p:stCondLst>
                                        </p:cTn>
                                        <p:tgtEl>
                                          <p:spTgt spid="376"/>
                                        </p:tgtEl>
                                        <p:attrNameLst>
                                          <p:attrName>style.visibility</p:attrName>
                                        </p:attrNameLst>
                                      </p:cBhvr>
                                      <p:to>
                                        <p:strVal val="visible"/>
                                      </p:to>
                                    </p:set>
                                    <p:animEffect filter="fade" transition="in">
                                      <p:cBhvr additive="repl">
                                        <p:cTn id="1023" dur="500"/>
                                        <p:tgtEl>
                                          <p:spTgt spid="3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377" name="Picture 1" descr=""/>
          <p:cNvPicPr/>
          <p:nvPr/>
        </p:nvPicPr>
        <p:blipFill>
          <a:blip r:embed="rId1"/>
          <a:stretch/>
        </p:blipFill>
        <p:spPr>
          <a:xfrm>
            <a:off x="2232000" y="792000"/>
            <a:ext cx="4381200" cy="5009760"/>
          </a:xfrm>
          <a:prstGeom prst="rect">
            <a:avLst/>
          </a:prstGeom>
          <a:noFill/>
          <a:ln w="0">
            <a:noFill/>
          </a:ln>
        </p:spPr>
      </p:pic>
      <p:pic>
        <p:nvPicPr>
          <p:cNvPr id="378" name="Picture 6" descr=""/>
          <p:cNvPicPr/>
          <p:nvPr/>
        </p:nvPicPr>
        <p:blipFill>
          <a:blip r:embed="rId2"/>
          <a:stretch/>
        </p:blipFill>
        <p:spPr>
          <a:xfrm>
            <a:off x="2232000" y="792000"/>
            <a:ext cx="4381200" cy="5009760"/>
          </a:xfrm>
          <a:prstGeom prst="rect">
            <a:avLst/>
          </a:prstGeom>
          <a:noFill/>
          <a:ln w="0">
            <a:noFill/>
          </a:ln>
        </p:spPr>
      </p:pic>
      <p:pic>
        <p:nvPicPr>
          <p:cNvPr id="379" name="Picture 7" descr=""/>
          <p:cNvPicPr/>
          <p:nvPr/>
        </p:nvPicPr>
        <p:blipFill>
          <a:blip r:embed="rId3"/>
          <a:stretch/>
        </p:blipFill>
        <p:spPr>
          <a:xfrm>
            <a:off x="2232000" y="792000"/>
            <a:ext cx="4381200" cy="5009760"/>
          </a:xfrm>
          <a:prstGeom prst="rect">
            <a:avLst/>
          </a:prstGeom>
          <a:noFill/>
          <a:ln w="0">
            <a:noFill/>
          </a:ln>
        </p:spPr>
      </p:pic>
      <p:pic>
        <p:nvPicPr>
          <p:cNvPr id="380" name="Picture 8" descr=""/>
          <p:cNvPicPr/>
          <p:nvPr/>
        </p:nvPicPr>
        <p:blipFill>
          <a:blip r:embed="rId4"/>
          <a:stretch/>
        </p:blipFill>
        <p:spPr>
          <a:xfrm>
            <a:off x="2232000" y="792000"/>
            <a:ext cx="4381200" cy="5009760"/>
          </a:xfrm>
          <a:prstGeom prst="rect">
            <a:avLst/>
          </a:prstGeom>
          <a:noFill/>
          <a:ln w="0">
            <a:noFill/>
          </a:ln>
        </p:spPr>
      </p:pic>
      <p:pic>
        <p:nvPicPr>
          <p:cNvPr id="381" name="Picture 9" descr=""/>
          <p:cNvPicPr/>
          <p:nvPr/>
        </p:nvPicPr>
        <p:blipFill>
          <a:blip r:embed="rId5"/>
          <a:stretch/>
        </p:blipFill>
        <p:spPr>
          <a:xfrm>
            <a:off x="2232000" y="792000"/>
            <a:ext cx="4381200" cy="5009760"/>
          </a:xfrm>
          <a:prstGeom prst="rect">
            <a:avLst/>
          </a:prstGeom>
          <a:noFill/>
          <a:ln w="0">
            <a:noFill/>
          </a:ln>
        </p:spPr>
      </p:pic>
      <p:pic>
        <p:nvPicPr>
          <p:cNvPr id="382" name="Picture 10" descr=""/>
          <p:cNvPicPr/>
          <p:nvPr/>
        </p:nvPicPr>
        <p:blipFill>
          <a:blip r:embed="rId6"/>
          <a:stretch/>
        </p:blipFill>
        <p:spPr>
          <a:xfrm>
            <a:off x="2232000" y="792000"/>
            <a:ext cx="4381200" cy="5009760"/>
          </a:xfrm>
          <a:prstGeom prst="rect">
            <a:avLst/>
          </a:prstGeom>
          <a:noFill/>
          <a:ln w="0">
            <a:noFill/>
          </a:ln>
        </p:spPr>
      </p:pic>
      <p:pic>
        <p:nvPicPr>
          <p:cNvPr id="383" name="Picture 11" descr=""/>
          <p:cNvPicPr/>
          <p:nvPr/>
        </p:nvPicPr>
        <p:blipFill>
          <a:blip r:embed="rId7"/>
          <a:stretch/>
        </p:blipFill>
        <p:spPr>
          <a:xfrm>
            <a:off x="2232000" y="792000"/>
            <a:ext cx="4381200" cy="5009760"/>
          </a:xfrm>
          <a:prstGeom prst="rect">
            <a:avLst/>
          </a:prstGeom>
          <a:noFill/>
          <a:ln w="0">
            <a:noFill/>
          </a:ln>
        </p:spPr>
      </p:pic>
    </p:spTree>
  </p:cSld>
  <p:transition spd="slow">
    <p:wipe dir="r"/>
  </p:transition>
  <p:timing>
    <p:tnLst>
      <p:par>
        <p:cTn id="1024" dur="indefinite" restart="never" nodeType="tmRoot">
          <p:childTnLst>
            <p:seq>
              <p:cTn id="1025" dur="indefinite" nodeType="mainSeq">
                <p:childTnLst>
                  <p:par>
                    <p:cTn id="1026" nodeType="clickEffect" fill="hold">
                      <p:stCondLst>
                        <p:cond delay="indefinite"/>
                      </p:stCondLst>
                      <p:childTnLst>
                        <p:par>
                          <p:cTn id="1027" nodeType="withEffect" fill="hold">
                            <p:stCondLst>
                              <p:cond delay="0"/>
                            </p:stCondLst>
                            <p:childTnLst>
                              <p:par>
                                <p:cTn id="1028" nodeType="clickEffect" fill="hold" presetClass="entr" presetID="22" presetSubtype="8">
                                  <p:stCondLst>
                                    <p:cond delay="0"/>
                                  </p:stCondLst>
                                  <p:childTnLst>
                                    <p:set>
                                      <p:cBhvr>
                                        <p:cTn id="1029" dur="1" fill="hold">
                                          <p:stCondLst>
                                            <p:cond delay="0"/>
                                          </p:stCondLst>
                                        </p:cTn>
                                        <p:tgtEl>
                                          <p:spTgt spid="378"/>
                                        </p:tgtEl>
                                        <p:attrNameLst>
                                          <p:attrName>style.visibility</p:attrName>
                                        </p:attrNameLst>
                                      </p:cBhvr>
                                      <p:to>
                                        <p:strVal val="visible"/>
                                      </p:to>
                                    </p:set>
                                    <p:animEffect filter="wipe(left)" transition="in">
                                      <p:cBhvr additive="repl">
                                        <p:cTn id="1030" dur="1000"/>
                                        <p:tgtEl>
                                          <p:spTgt spid="378"/>
                                        </p:tgtEl>
                                      </p:cBhvr>
                                    </p:animEffect>
                                  </p:childTnLst>
                                </p:cTn>
                              </p:par>
                            </p:childTnLst>
                          </p:cTn>
                        </p:par>
                      </p:childTnLst>
                    </p:cTn>
                  </p:par>
                  <p:par>
                    <p:cTn id="1031" nodeType="clickEffect" fill="hold">
                      <p:stCondLst>
                        <p:cond delay="indefinite"/>
                      </p:stCondLst>
                      <p:childTnLst>
                        <p:par>
                          <p:cTn id="1032" nodeType="withEffect" fill="hold">
                            <p:stCondLst>
                              <p:cond delay="0"/>
                            </p:stCondLst>
                            <p:childTnLst>
                              <p:par>
                                <p:cTn id="1033" nodeType="clickEffect" fill="hold" presetClass="entr" presetID="10">
                                  <p:stCondLst>
                                    <p:cond delay="0"/>
                                  </p:stCondLst>
                                  <p:childTnLst>
                                    <p:set>
                                      <p:cBhvr>
                                        <p:cTn id="1034" dur="1" fill="hold">
                                          <p:stCondLst>
                                            <p:cond delay="0"/>
                                          </p:stCondLst>
                                        </p:cTn>
                                        <p:tgtEl>
                                          <p:spTgt spid="379"/>
                                        </p:tgtEl>
                                        <p:attrNameLst>
                                          <p:attrName>style.visibility</p:attrName>
                                        </p:attrNameLst>
                                      </p:cBhvr>
                                      <p:to>
                                        <p:strVal val="visible"/>
                                      </p:to>
                                    </p:set>
                                    <p:animEffect filter="fade" transition="in">
                                      <p:cBhvr additive="repl">
                                        <p:cTn id="1035" dur="500"/>
                                        <p:tgtEl>
                                          <p:spTgt spid="379"/>
                                        </p:tgtEl>
                                      </p:cBhvr>
                                    </p:animEffect>
                                  </p:childTnLst>
                                </p:cTn>
                              </p:par>
                            </p:childTnLst>
                          </p:cTn>
                        </p:par>
                      </p:childTnLst>
                    </p:cTn>
                  </p:par>
                  <p:par>
                    <p:cTn id="1036" nodeType="clickEffect" fill="hold">
                      <p:stCondLst>
                        <p:cond delay="indefinite"/>
                      </p:stCondLst>
                      <p:childTnLst>
                        <p:par>
                          <p:cTn id="1037" nodeType="withEffect" fill="hold">
                            <p:stCondLst>
                              <p:cond delay="0"/>
                            </p:stCondLst>
                            <p:childTnLst>
                              <p:par>
                                <p:cTn id="1038" nodeType="clickEffect" fill="hold" presetClass="entr" presetID="10">
                                  <p:stCondLst>
                                    <p:cond delay="0"/>
                                  </p:stCondLst>
                                  <p:childTnLst>
                                    <p:set>
                                      <p:cBhvr>
                                        <p:cTn id="1039" dur="1" fill="hold">
                                          <p:stCondLst>
                                            <p:cond delay="0"/>
                                          </p:stCondLst>
                                        </p:cTn>
                                        <p:tgtEl>
                                          <p:spTgt spid="380"/>
                                        </p:tgtEl>
                                        <p:attrNameLst>
                                          <p:attrName>style.visibility</p:attrName>
                                        </p:attrNameLst>
                                      </p:cBhvr>
                                      <p:to>
                                        <p:strVal val="visible"/>
                                      </p:to>
                                    </p:set>
                                    <p:animEffect filter="fade" transition="in">
                                      <p:cBhvr additive="repl">
                                        <p:cTn id="1040" dur="500"/>
                                        <p:tgtEl>
                                          <p:spTgt spid="380"/>
                                        </p:tgtEl>
                                      </p:cBhvr>
                                    </p:animEffect>
                                  </p:childTnLst>
                                </p:cTn>
                              </p:par>
                            </p:childTnLst>
                          </p:cTn>
                        </p:par>
                      </p:childTnLst>
                    </p:cTn>
                  </p:par>
                  <p:par>
                    <p:cTn id="1041" nodeType="clickEffect" fill="hold">
                      <p:stCondLst>
                        <p:cond delay="indefinite"/>
                      </p:stCondLst>
                      <p:childTnLst>
                        <p:par>
                          <p:cTn id="1042" nodeType="withEffect" fill="hold">
                            <p:stCondLst>
                              <p:cond delay="0"/>
                            </p:stCondLst>
                            <p:childTnLst>
                              <p:par>
                                <p:cTn id="1043" nodeType="clickEffect" fill="hold" presetClass="entr" presetID="10">
                                  <p:stCondLst>
                                    <p:cond delay="0"/>
                                  </p:stCondLst>
                                  <p:childTnLst>
                                    <p:set>
                                      <p:cBhvr>
                                        <p:cTn id="1044" dur="1" fill="hold">
                                          <p:stCondLst>
                                            <p:cond delay="0"/>
                                          </p:stCondLst>
                                        </p:cTn>
                                        <p:tgtEl>
                                          <p:spTgt spid="381"/>
                                        </p:tgtEl>
                                        <p:attrNameLst>
                                          <p:attrName>style.visibility</p:attrName>
                                        </p:attrNameLst>
                                      </p:cBhvr>
                                      <p:to>
                                        <p:strVal val="visible"/>
                                      </p:to>
                                    </p:set>
                                    <p:animEffect filter="fade" transition="in">
                                      <p:cBhvr additive="repl">
                                        <p:cTn id="1045" dur="500"/>
                                        <p:tgtEl>
                                          <p:spTgt spid="381"/>
                                        </p:tgtEl>
                                      </p:cBhvr>
                                    </p:animEffect>
                                  </p:childTnLst>
                                </p:cTn>
                              </p:par>
                            </p:childTnLst>
                          </p:cTn>
                        </p:par>
                      </p:childTnLst>
                    </p:cTn>
                  </p:par>
                  <p:par>
                    <p:cTn id="1046" nodeType="clickEffect" fill="hold">
                      <p:stCondLst>
                        <p:cond delay="indefinite"/>
                      </p:stCondLst>
                      <p:childTnLst>
                        <p:par>
                          <p:cTn id="1047" nodeType="withEffect" fill="hold">
                            <p:stCondLst>
                              <p:cond delay="0"/>
                            </p:stCondLst>
                            <p:childTnLst>
                              <p:par>
                                <p:cTn id="1048" nodeType="clickEffect" fill="hold" presetClass="entr" presetID="10">
                                  <p:stCondLst>
                                    <p:cond delay="0"/>
                                  </p:stCondLst>
                                  <p:childTnLst>
                                    <p:set>
                                      <p:cBhvr>
                                        <p:cTn id="1049" dur="1" fill="hold">
                                          <p:stCondLst>
                                            <p:cond delay="0"/>
                                          </p:stCondLst>
                                        </p:cTn>
                                        <p:tgtEl>
                                          <p:spTgt spid="382"/>
                                        </p:tgtEl>
                                        <p:attrNameLst>
                                          <p:attrName>style.visibility</p:attrName>
                                        </p:attrNameLst>
                                      </p:cBhvr>
                                      <p:to>
                                        <p:strVal val="visible"/>
                                      </p:to>
                                    </p:set>
                                    <p:animEffect filter="fade" transition="in">
                                      <p:cBhvr additive="repl">
                                        <p:cTn id="1050" dur="500"/>
                                        <p:tgtEl>
                                          <p:spTgt spid="382"/>
                                        </p:tgtEl>
                                      </p:cBhvr>
                                    </p:animEffect>
                                  </p:childTnLst>
                                </p:cTn>
                              </p:par>
                            </p:childTnLst>
                          </p:cTn>
                        </p:par>
                      </p:childTnLst>
                    </p:cTn>
                  </p:par>
                  <p:par>
                    <p:cTn id="1051" nodeType="clickEffect" fill="hold">
                      <p:stCondLst>
                        <p:cond delay="indefinite"/>
                      </p:stCondLst>
                      <p:childTnLst>
                        <p:par>
                          <p:cTn id="1052" nodeType="withEffect" fill="hold">
                            <p:stCondLst>
                              <p:cond delay="0"/>
                            </p:stCondLst>
                            <p:childTnLst>
                              <p:par>
                                <p:cTn id="1053" nodeType="clickEffect" fill="hold" presetClass="entr" presetID="10">
                                  <p:stCondLst>
                                    <p:cond delay="0"/>
                                  </p:stCondLst>
                                  <p:childTnLst>
                                    <p:set>
                                      <p:cBhvr>
                                        <p:cTn id="1054" dur="1" fill="hold">
                                          <p:stCondLst>
                                            <p:cond delay="0"/>
                                          </p:stCondLst>
                                        </p:cTn>
                                        <p:tgtEl>
                                          <p:spTgt spid="383"/>
                                        </p:tgtEl>
                                        <p:attrNameLst>
                                          <p:attrName>style.visibility</p:attrName>
                                        </p:attrNameLst>
                                      </p:cBhvr>
                                      <p:to>
                                        <p:strVal val="visible"/>
                                      </p:to>
                                    </p:set>
                                    <p:animEffect filter="fade" transition="in">
                                      <p:cBhvr additive="repl">
                                        <p:cTn id="1055" dur="500"/>
                                        <p:tgtEl>
                                          <p:spTgt spid="3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16.3  MONOPOLY AND COMPETITION COMPARED</a:t>
            </a:r>
            <a:endParaRPr b="0" lang="en-CA" sz="2600" strike="noStrike" u="none">
              <a:solidFill>
                <a:schemeClr val="dk1"/>
              </a:solidFill>
              <a:effectLst/>
              <a:uFillTx/>
              <a:latin typeface="Arial"/>
            </a:endParaRPr>
          </a:p>
        </p:txBody>
      </p:sp>
      <p:sp>
        <p:nvSpPr>
          <p:cNvPr id="385" name="PlaceHolder 2"/>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817200" indent="-457200">
              <a:lnSpc>
                <a:spcPct val="100000"/>
              </a:lnSpc>
              <a:spcBef>
                <a:spcPts val="601"/>
              </a:spcBef>
              <a:spcAft>
                <a:spcPts val="601"/>
              </a:spcAft>
              <a:buClr>
                <a:srgbClr val="000000"/>
              </a:buClr>
              <a:buFont typeface="Arial"/>
              <a:buAutoNum type="arabicPeriod" startAt="5"/>
            </a:pPr>
            <a:r>
              <a:rPr b="0" lang="en-US" sz="2400" strike="noStrike" u="none">
                <a:solidFill>
                  <a:srgbClr val="000000"/>
                </a:solidFill>
                <a:effectLst/>
                <a:uFillTx/>
                <a:latin typeface="Arial"/>
                <a:ea typeface="ＭＳ Ｐゴシック"/>
              </a:rPr>
              <a:t>Consumer surplus shrinks.</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startAt="5"/>
            </a:pPr>
            <a:r>
              <a:rPr b="0" lang="en-US" sz="2400" strike="noStrike" u="none">
                <a:solidFill>
                  <a:srgbClr val="000000"/>
                </a:solidFill>
                <a:effectLst/>
                <a:uFillTx/>
                <a:latin typeface="Arial"/>
                <a:ea typeface="ＭＳ Ｐゴシック"/>
              </a:rPr>
              <a:t>Part of the producer surplus is lost but the</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startAt="5"/>
            </a:pPr>
            <a:r>
              <a:rPr b="0" lang="en-US" sz="2400" strike="noStrike" u="none">
                <a:solidFill>
                  <a:srgbClr val="000000"/>
                </a:solidFill>
                <a:effectLst/>
                <a:uFillTx/>
                <a:latin typeface="Arial"/>
                <a:ea typeface="ＭＳ Ｐゴシック"/>
              </a:rPr>
              <a:t>Producer surplus  expands.</a:t>
            </a:r>
            <a:endParaRPr b="1" lang="en-CA" sz="2400" strike="noStrike" u="none">
              <a:solidFill>
                <a:srgbClr val="00468f"/>
              </a:solidFill>
              <a:effectLst/>
              <a:uFillTx/>
              <a:latin typeface="Arial"/>
            </a:endParaRPr>
          </a:p>
        </p:txBody>
      </p:sp>
      <p:pic>
        <p:nvPicPr>
          <p:cNvPr id="386" name="Picture 1" descr=""/>
          <p:cNvPicPr/>
          <p:nvPr/>
        </p:nvPicPr>
        <p:blipFill>
          <a:blip r:embed="rId1"/>
          <a:stretch/>
        </p:blipFill>
        <p:spPr>
          <a:xfrm>
            <a:off x="4788000" y="1476360"/>
            <a:ext cx="3723840" cy="4257360"/>
          </a:xfrm>
          <a:prstGeom prst="rect">
            <a:avLst/>
          </a:prstGeom>
          <a:noFill/>
          <a:ln w="0">
            <a:noFill/>
          </a:ln>
        </p:spPr>
      </p:pic>
      <p:pic>
        <p:nvPicPr>
          <p:cNvPr id="387" name="Picture 19" descr=""/>
          <p:cNvPicPr/>
          <p:nvPr/>
        </p:nvPicPr>
        <p:blipFill>
          <a:blip r:embed="rId2"/>
          <a:stretch/>
        </p:blipFill>
        <p:spPr>
          <a:xfrm>
            <a:off x="4788000" y="1476360"/>
            <a:ext cx="3723840" cy="4257360"/>
          </a:xfrm>
          <a:prstGeom prst="rect">
            <a:avLst/>
          </a:prstGeom>
          <a:noFill/>
          <a:ln w="0">
            <a:noFill/>
          </a:ln>
        </p:spPr>
      </p:pic>
      <p:pic>
        <p:nvPicPr>
          <p:cNvPr id="388" name="Picture 20" descr=""/>
          <p:cNvPicPr/>
          <p:nvPr/>
        </p:nvPicPr>
        <p:blipFill>
          <a:blip r:embed="rId3"/>
          <a:stretch/>
        </p:blipFill>
        <p:spPr>
          <a:xfrm>
            <a:off x="4788000" y="1476360"/>
            <a:ext cx="3723840" cy="4257360"/>
          </a:xfrm>
          <a:prstGeom prst="rect">
            <a:avLst/>
          </a:prstGeom>
          <a:noFill/>
          <a:ln w="0">
            <a:noFill/>
          </a:ln>
        </p:spPr>
      </p:pic>
      <p:pic>
        <p:nvPicPr>
          <p:cNvPr id="389" name="Picture 24" descr=""/>
          <p:cNvPicPr/>
          <p:nvPr/>
        </p:nvPicPr>
        <p:blipFill>
          <a:blip r:embed="rId4"/>
          <a:stretch/>
        </p:blipFill>
        <p:spPr>
          <a:xfrm>
            <a:off x="4788000" y="1476360"/>
            <a:ext cx="3723840" cy="4257360"/>
          </a:xfrm>
          <a:prstGeom prst="rect">
            <a:avLst/>
          </a:prstGeom>
          <a:noFill/>
          <a:ln w="0">
            <a:noFill/>
          </a:ln>
        </p:spPr>
      </p:pic>
      <p:pic>
        <p:nvPicPr>
          <p:cNvPr id="390" name="Picture 25" descr=""/>
          <p:cNvPicPr/>
          <p:nvPr/>
        </p:nvPicPr>
        <p:blipFill>
          <a:blip r:embed="rId5"/>
          <a:stretch/>
        </p:blipFill>
        <p:spPr>
          <a:xfrm>
            <a:off x="4788000" y="1476360"/>
            <a:ext cx="3723840" cy="4257360"/>
          </a:xfrm>
          <a:prstGeom prst="rect">
            <a:avLst/>
          </a:prstGeom>
          <a:noFill/>
          <a:ln w="0">
            <a:noFill/>
          </a:ln>
        </p:spPr>
      </p:pic>
      <p:pic>
        <p:nvPicPr>
          <p:cNvPr id="391" name="Picture 26" descr=""/>
          <p:cNvPicPr/>
          <p:nvPr/>
        </p:nvPicPr>
        <p:blipFill>
          <a:blip r:embed="rId6"/>
          <a:stretch/>
        </p:blipFill>
        <p:spPr>
          <a:xfrm>
            <a:off x="4788000" y="1476360"/>
            <a:ext cx="3723840" cy="4257360"/>
          </a:xfrm>
          <a:prstGeom prst="rect">
            <a:avLst/>
          </a:prstGeom>
          <a:noFill/>
          <a:ln w="0">
            <a:noFill/>
          </a:ln>
        </p:spPr>
      </p:pic>
      <p:pic>
        <p:nvPicPr>
          <p:cNvPr id="392" name="Picture 27" descr=""/>
          <p:cNvPicPr/>
          <p:nvPr/>
        </p:nvPicPr>
        <p:blipFill>
          <a:blip r:embed="rId7"/>
          <a:stretch/>
        </p:blipFill>
        <p:spPr>
          <a:xfrm>
            <a:off x="4788000" y="1476360"/>
            <a:ext cx="3723840" cy="4257360"/>
          </a:xfrm>
          <a:prstGeom prst="rect">
            <a:avLst/>
          </a:prstGeom>
          <a:noFill/>
          <a:ln w="0">
            <a:noFill/>
          </a:ln>
        </p:spPr>
      </p:pic>
    </p:spTree>
  </p:cSld>
  <p:transition spd="slow">
    <p:wipe dir="r"/>
  </p:transition>
  <p:timing>
    <p:tnLst>
      <p:par>
        <p:cTn id="1056" dur="indefinite" restart="never" nodeType="tmRoot">
          <p:childTnLst>
            <p:seq>
              <p:cTn id="1057" dur="indefinite" nodeType="mainSeq">
                <p:childTnLst>
                  <p:par>
                    <p:cTn id="1058" nodeType="clickEffect" fill="hold">
                      <p:stCondLst>
                        <p:cond delay="0"/>
                      </p:stCondLst>
                      <p:childTnLst>
                        <p:par>
                          <p:cTn id="1059" nodeType="withEffect" fill="hold">
                            <p:stCondLst>
                              <p:cond delay="0"/>
                            </p:stCondLst>
                            <p:childTnLst>
                              <p:par>
                                <p:cTn id="1060" nodeType="withEffect" fill="hold" presetClass="entr" presetID="10">
                                  <p:stCondLst>
                                    <p:cond delay="0"/>
                                  </p:stCondLst>
                                  <p:childTnLst>
                                    <p:set>
                                      <p:cBhvr>
                                        <p:cTn id="1061" dur="1" fill="hold">
                                          <p:stCondLst>
                                            <p:cond delay="0"/>
                                          </p:stCondLst>
                                        </p:cTn>
                                        <p:tgtEl>
                                          <p:spTgt spid="390"/>
                                        </p:tgtEl>
                                        <p:attrNameLst>
                                          <p:attrName>style.visibility</p:attrName>
                                        </p:attrNameLst>
                                      </p:cBhvr>
                                      <p:to>
                                        <p:strVal val="visible"/>
                                      </p:to>
                                    </p:set>
                                    <p:animEffect filter="fade" transition="in">
                                      <p:cBhvr additive="repl">
                                        <p:cTn id="1062" dur="500"/>
                                        <p:tgtEl>
                                          <p:spTgt spid="390"/>
                                        </p:tgtEl>
                                      </p:cBhvr>
                                    </p:animEffect>
                                  </p:childTnLst>
                                </p:cTn>
                              </p:par>
                            </p:childTnLst>
                          </p:cTn>
                        </p:par>
                      </p:childTnLst>
                    </p:cTn>
                  </p:par>
                  <p:par>
                    <p:cTn id="1063" nodeType="clickEffect" fill="hold">
                      <p:stCondLst>
                        <p:cond delay="indefinite"/>
                      </p:stCondLst>
                      <p:childTnLst>
                        <p:par>
                          <p:cTn id="1064" nodeType="withEffect" fill="hold">
                            <p:stCondLst>
                              <p:cond delay="0"/>
                            </p:stCondLst>
                            <p:childTnLst>
                              <p:par>
                                <p:cTn id="1065" nodeType="clickEffect" fill="hold" presetClass="entr" presetID="22" presetSubtype="8">
                                  <p:stCondLst>
                                    <p:cond delay="0"/>
                                  </p:stCondLst>
                                  <p:childTnLst>
                                    <p:set>
                                      <p:cBhvr>
                                        <p:cTn id="1066" dur="1" fill="hold">
                                          <p:stCondLst>
                                            <p:cond delay="0"/>
                                          </p:stCondLst>
                                        </p:cTn>
                                        <p:tgtEl>
                                          <p:spTgt spid="385">
                                            <p:txEl>
                                              <p:pRg st="1" end="1"/>
                                            </p:txEl>
                                          </p:spTgt>
                                        </p:tgtEl>
                                        <p:attrNameLst>
                                          <p:attrName>style.visibility</p:attrName>
                                        </p:attrNameLst>
                                      </p:cBhvr>
                                      <p:to>
                                        <p:strVal val="visible"/>
                                      </p:to>
                                    </p:set>
                                    <p:animEffect filter="wipe(left)" transition="in">
                                      <p:cBhvr additive="repl">
                                        <p:cTn id="1067" dur="500"/>
                                        <p:tgtEl>
                                          <p:spTgt spid="385">
                                            <p:txEl>
                                              <p:pRg st="1" end="1"/>
                                            </p:txEl>
                                          </p:spTgt>
                                        </p:tgtEl>
                                      </p:cBhvr>
                                    </p:animEffect>
                                  </p:childTnLst>
                                </p:cTn>
                              </p:par>
                              <p:par>
                                <p:cTn id="1068" nodeType="withEffect" fill="hold" presetClass="entr" presetID="10">
                                  <p:stCondLst>
                                    <p:cond delay="0"/>
                                  </p:stCondLst>
                                  <p:childTnLst>
                                    <p:set>
                                      <p:cBhvr>
                                        <p:cTn id="1069" dur="1" fill="hold">
                                          <p:stCondLst>
                                            <p:cond delay="0"/>
                                          </p:stCondLst>
                                        </p:cTn>
                                        <p:tgtEl>
                                          <p:spTgt spid="391"/>
                                        </p:tgtEl>
                                        <p:attrNameLst>
                                          <p:attrName>style.visibility</p:attrName>
                                        </p:attrNameLst>
                                      </p:cBhvr>
                                      <p:to>
                                        <p:strVal val="visible"/>
                                      </p:to>
                                    </p:set>
                                    <p:animEffect filter="fade" transition="in">
                                      <p:cBhvr additive="repl">
                                        <p:cTn id="1070" dur="500"/>
                                        <p:tgtEl>
                                          <p:spTgt spid="391"/>
                                        </p:tgtEl>
                                      </p:cBhvr>
                                    </p:animEffect>
                                  </p:childTnLst>
                                </p:cTn>
                              </p:par>
                            </p:childTnLst>
                          </p:cTn>
                        </p:par>
                      </p:childTnLst>
                    </p:cTn>
                  </p:par>
                  <p:par>
                    <p:cTn id="1071" nodeType="clickEffect" fill="hold">
                      <p:stCondLst>
                        <p:cond delay="indefinite"/>
                      </p:stCondLst>
                      <p:childTnLst>
                        <p:par>
                          <p:cTn id="1072" nodeType="withEffect" fill="hold">
                            <p:stCondLst>
                              <p:cond delay="0"/>
                            </p:stCondLst>
                            <p:childTnLst>
                              <p:par>
                                <p:cTn id="1073" nodeType="clickEffect" fill="hold" presetClass="entr" presetID="22" presetSubtype="8">
                                  <p:stCondLst>
                                    <p:cond delay="0"/>
                                  </p:stCondLst>
                                  <p:childTnLst>
                                    <p:set>
                                      <p:cBhvr>
                                        <p:cTn id="1074" dur="1" fill="hold">
                                          <p:stCondLst>
                                            <p:cond delay="0"/>
                                          </p:stCondLst>
                                        </p:cTn>
                                        <p:tgtEl>
                                          <p:spTgt spid="385">
                                            <p:txEl>
                                              <p:pRg st="2" end="2"/>
                                            </p:txEl>
                                          </p:spTgt>
                                        </p:tgtEl>
                                        <p:attrNameLst>
                                          <p:attrName>style.visibility</p:attrName>
                                        </p:attrNameLst>
                                      </p:cBhvr>
                                      <p:to>
                                        <p:strVal val="visible"/>
                                      </p:to>
                                    </p:set>
                                    <p:animEffect filter="wipe(left)" transition="in">
                                      <p:cBhvr additive="repl">
                                        <p:cTn id="1075" dur="500"/>
                                        <p:tgtEl>
                                          <p:spTgt spid="385">
                                            <p:txEl>
                                              <p:pRg st="2" end="2"/>
                                            </p:txEl>
                                          </p:spTgt>
                                        </p:tgtEl>
                                      </p:cBhvr>
                                    </p:animEffect>
                                  </p:childTnLst>
                                </p:cTn>
                              </p:par>
                              <p:par>
                                <p:cTn id="1076" nodeType="withEffect" fill="hold" presetClass="entr" presetID="10">
                                  <p:stCondLst>
                                    <p:cond delay="0"/>
                                  </p:stCondLst>
                                  <p:childTnLst>
                                    <p:set>
                                      <p:cBhvr>
                                        <p:cTn id="1077" dur="1" fill="hold">
                                          <p:stCondLst>
                                            <p:cond delay="0"/>
                                          </p:stCondLst>
                                        </p:cTn>
                                        <p:tgtEl>
                                          <p:spTgt spid="392"/>
                                        </p:tgtEl>
                                        <p:attrNameLst>
                                          <p:attrName>style.visibility</p:attrName>
                                        </p:attrNameLst>
                                      </p:cBhvr>
                                      <p:to>
                                        <p:strVal val="visible"/>
                                      </p:to>
                                    </p:set>
                                    <p:animEffect filter="fade" transition="in">
                                      <p:cBhvr additive="repl">
                                        <p:cTn id="1078" dur="500"/>
                                        <p:tgtEl>
                                          <p:spTgt spid="3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16.3  MONOPOLY AND COMPETITION COMPARED</a:t>
            </a:r>
            <a:endParaRPr b="0" lang="en-CA" sz="2600" strike="noStrike" u="none">
              <a:solidFill>
                <a:schemeClr val="dk1"/>
              </a:solidFill>
              <a:effectLst/>
              <a:uFillTx/>
              <a:latin typeface="Arial"/>
            </a:endParaRPr>
          </a:p>
        </p:txBody>
      </p:sp>
      <p:sp>
        <p:nvSpPr>
          <p:cNvPr id="394"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Is Monopoly Fair?</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Monopoly is inefficient because it creates a deadweight loss.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But monopoly also redistributes consumer surplus.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producer gains, and the consumers lose.</a:t>
            </a:r>
            <a:endParaRPr b="1" lang="en-CA" sz="2400" strike="noStrike" u="none">
              <a:solidFill>
                <a:srgbClr val="00468f"/>
              </a:solidFill>
              <a:effectLst/>
              <a:uFillTx/>
              <a:latin typeface="Arial"/>
            </a:endParaRPr>
          </a:p>
        </p:txBody>
      </p:sp>
    </p:spTree>
  </p:cSld>
  <p:transition spd="slow">
    <p:wipe dir="r"/>
  </p:transition>
  <p:timing>
    <p:tnLst>
      <p:par>
        <p:cTn id="1079" dur="indefinite" restart="never" nodeType="tmRoot">
          <p:childTnLst>
            <p:seq>
              <p:cTn id="1080" dur="indefinite" nodeType="mainSeq">
                <p:childTnLst>
                  <p:par>
                    <p:cTn id="1081" nodeType="clickEffect" fill="hold">
                      <p:stCondLst>
                        <p:cond delay="indefinite"/>
                      </p:stCondLst>
                      <p:childTnLst>
                        <p:par>
                          <p:cTn id="1082" nodeType="withEffect" fill="hold">
                            <p:stCondLst>
                              <p:cond delay="0"/>
                            </p:stCondLst>
                            <p:childTnLst>
                              <p:par>
                                <p:cTn id="1083" nodeType="clickEffect" fill="hold" presetClass="entr" presetID="22" presetSubtype="8">
                                  <p:stCondLst>
                                    <p:cond delay="0"/>
                                  </p:stCondLst>
                                  <p:childTnLst>
                                    <p:set>
                                      <p:cBhvr>
                                        <p:cTn id="1084" dur="1" fill="hold">
                                          <p:stCondLst>
                                            <p:cond delay="0"/>
                                          </p:stCondLst>
                                        </p:cTn>
                                        <p:tgtEl>
                                          <p:spTgt spid="394">
                                            <p:txEl>
                                              <p:pRg st="1" end="1"/>
                                            </p:txEl>
                                          </p:spTgt>
                                        </p:tgtEl>
                                        <p:attrNameLst>
                                          <p:attrName>style.visibility</p:attrName>
                                        </p:attrNameLst>
                                      </p:cBhvr>
                                      <p:to>
                                        <p:strVal val="visible"/>
                                      </p:to>
                                    </p:set>
                                    <p:animEffect filter="wipe(left)" transition="in">
                                      <p:cBhvr additive="repl">
                                        <p:cTn id="1085" dur="500"/>
                                        <p:tgtEl>
                                          <p:spTgt spid="394">
                                            <p:txEl>
                                              <p:pRg st="1" end="1"/>
                                            </p:txEl>
                                          </p:spTgt>
                                        </p:tgtEl>
                                      </p:cBhvr>
                                    </p:animEffect>
                                  </p:childTnLst>
                                </p:cTn>
                              </p:par>
                            </p:childTnLst>
                          </p:cTn>
                        </p:par>
                      </p:childTnLst>
                    </p:cTn>
                  </p:par>
                  <p:par>
                    <p:cTn id="1086" nodeType="clickEffect" fill="hold">
                      <p:stCondLst>
                        <p:cond delay="indefinite"/>
                      </p:stCondLst>
                      <p:childTnLst>
                        <p:par>
                          <p:cTn id="1087" nodeType="withEffect" fill="hold">
                            <p:stCondLst>
                              <p:cond delay="0"/>
                            </p:stCondLst>
                            <p:childTnLst>
                              <p:par>
                                <p:cTn id="1088" nodeType="clickEffect" fill="hold" presetClass="entr" presetID="22" presetSubtype="8">
                                  <p:stCondLst>
                                    <p:cond delay="0"/>
                                  </p:stCondLst>
                                  <p:childTnLst>
                                    <p:set>
                                      <p:cBhvr>
                                        <p:cTn id="1089" dur="1" fill="hold">
                                          <p:stCondLst>
                                            <p:cond delay="0"/>
                                          </p:stCondLst>
                                        </p:cTn>
                                        <p:tgtEl>
                                          <p:spTgt spid="394">
                                            <p:txEl>
                                              <p:pRg st="2" end="2"/>
                                            </p:txEl>
                                          </p:spTgt>
                                        </p:tgtEl>
                                        <p:attrNameLst>
                                          <p:attrName>style.visibility</p:attrName>
                                        </p:attrNameLst>
                                      </p:cBhvr>
                                      <p:to>
                                        <p:strVal val="visible"/>
                                      </p:to>
                                    </p:set>
                                    <p:animEffect filter="wipe(left)" transition="in">
                                      <p:cBhvr additive="repl">
                                        <p:cTn id="1090" dur="500"/>
                                        <p:tgtEl>
                                          <p:spTgt spid="394">
                                            <p:txEl>
                                              <p:pRg st="2" end="2"/>
                                            </p:txEl>
                                          </p:spTgt>
                                        </p:tgtEl>
                                      </p:cBhvr>
                                    </p:animEffect>
                                  </p:childTnLst>
                                </p:cTn>
                              </p:par>
                            </p:childTnLst>
                          </p:cTn>
                        </p:par>
                      </p:childTnLst>
                    </p:cTn>
                  </p:par>
                  <p:par>
                    <p:cTn id="1091" nodeType="clickEffect" fill="hold">
                      <p:stCondLst>
                        <p:cond delay="indefinite"/>
                      </p:stCondLst>
                      <p:childTnLst>
                        <p:par>
                          <p:cTn id="1092" nodeType="withEffect" fill="hold">
                            <p:stCondLst>
                              <p:cond delay="0"/>
                            </p:stCondLst>
                            <p:childTnLst>
                              <p:par>
                                <p:cTn id="1093" nodeType="clickEffect" fill="hold" presetClass="entr" presetID="22" presetSubtype="8">
                                  <p:stCondLst>
                                    <p:cond delay="0"/>
                                  </p:stCondLst>
                                  <p:childTnLst>
                                    <p:set>
                                      <p:cBhvr>
                                        <p:cTn id="1094" dur="1" fill="hold">
                                          <p:stCondLst>
                                            <p:cond delay="0"/>
                                          </p:stCondLst>
                                        </p:cTn>
                                        <p:tgtEl>
                                          <p:spTgt spid="394">
                                            <p:txEl>
                                              <p:pRg st="3" end="3"/>
                                            </p:txEl>
                                          </p:spTgt>
                                        </p:tgtEl>
                                        <p:attrNameLst>
                                          <p:attrName>style.visibility</p:attrName>
                                        </p:attrNameLst>
                                      </p:cBhvr>
                                      <p:to>
                                        <p:strVal val="visible"/>
                                      </p:to>
                                    </p:set>
                                    <p:animEffect filter="wipe(left)" transition="in">
                                      <p:cBhvr additive="repl">
                                        <p:cTn id="1095" dur="500"/>
                                        <p:tgtEl>
                                          <p:spTgt spid="394">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16.3  MONOPOLY AND COMPETITION COMPARED</a:t>
            </a:r>
            <a:endParaRPr b="0" lang="en-CA" sz="2600" strike="noStrike" u="none">
              <a:solidFill>
                <a:schemeClr val="dk1"/>
              </a:solidFill>
              <a:effectLst/>
              <a:uFillTx/>
              <a:latin typeface="Arial"/>
            </a:endParaRPr>
          </a:p>
        </p:txBody>
      </p:sp>
      <p:sp>
        <p:nvSpPr>
          <p:cNvPr id="396"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Rent Seeking</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1" lang="en-US" sz="2400" strike="noStrike" u="none">
                <a:solidFill>
                  <a:srgbClr val="ff0000"/>
                </a:solidFill>
                <a:effectLst/>
                <a:uFillTx/>
                <a:latin typeface="Arial"/>
                <a:ea typeface="ＭＳ Ｐゴシック"/>
              </a:rPr>
              <a:t>Rent seeking</a:t>
            </a:r>
            <a:r>
              <a:rPr b="0" lang="en-US" sz="2400" strike="noStrike" u="none">
                <a:solidFill>
                  <a:srgbClr val="000000"/>
                </a:solidFill>
                <a:effectLst/>
                <a:uFillTx/>
                <a:latin typeface="Arial"/>
                <a:ea typeface="ＭＳ Ｐゴシック"/>
              </a:rPr>
              <a:t> is the act of obtaining special treatment by the government to create economic profit or to divert consumer surplus or producer surplus away from others.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Rent seeking does not always create a monopoly, but it always restricts competition and often creates a monopoly.</a:t>
            </a:r>
            <a:endParaRPr b="1" lang="en-CA" sz="2400" strike="noStrike" u="none">
              <a:solidFill>
                <a:srgbClr val="00468f"/>
              </a:solidFill>
              <a:effectLst/>
              <a:uFillTx/>
              <a:latin typeface="Arial"/>
            </a:endParaRPr>
          </a:p>
        </p:txBody>
      </p:sp>
    </p:spTree>
  </p:cSld>
  <p:transition spd="slow">
    <p:wipe dir="r"/>
  </p:transition>
  <p:timing>
    <p:tnLst>
      <p:par>
        <p:cTn id="1096" dur="indefinite" restart="never" nodeType="tmRoot">
          <p:childTnLst>
            <p:seq>
              <p:cTn id="1097" dur="indefinite" nodeType="mainSeq">
                <p:childTnLst>
                  <p:par>
                    <p:cTn id="1098" nodeType="clickEffect" fill="hold">
                      <p:stCondLst>
                        <p:cond delay="indefinite"/>
                      </p:stCondLst>
                      <p:childTnLst>
                        <p:par>
                          <p:cTn id="1099" nodeType="withEffect" fill="hold">
                            <p:stCondLst>
                              <p:cond delay="0"/>
                            </p:stCondLst>
                            <p:childTnLst>
                              <p:par>
                                <p:cTn id="1100" nodeType="clickEffect" fill="hold" presetClass="entr" presetID="22" presetSubtype="8">
                                  <p:stCondLst>
                                    <p:cond delay="0"/>
                                  </p:stCondLst>
                                  <p:childTnLst>
                                    <p:set>
                                      <p:cBhvr>
                                        <p:cTn id="1101" dur="1" fill="hold">
                                          <p:stCondLst>
                                            <p:cond delay="0"/>
                                          </p:stCondLst>
                                        </p:cTn>
                                        <p:tgtEl>
                                          <p:spTgt spid="396">
                                            <p:txEl>
                                              <p:pRg st="1" end="1"/>
                                            </p:txEl>
                                          </p:spTgt>
                                        </p:tgtEl>
                                        <p:attrNameLst>
                                          <p:attrName>style.visibility</p:attrName>
                                        </p:attrNameLst>
                                      </p:cBhvr>
                                      <p:to>
                                        <p:strVal val="visible"/>
                                      </p:to>
                                    </p:set>
                                    <p:animEffect filter="wipe(left)" transition="in">
                                      <p:cBhvr additive="repl">
                                        <p:cTn id="1102" dur="500"/>
                                        <p:tgtEl>
                                          <p:spTgt spid="396">
                                            <p:txEl>
                                              <p:pRg st="1" end="1"/>
                                            </p:txEl>
                                          </p:spTgt>
                                        </p:tgtEl>
                                      </p:cBhvr>
                                    </p:animEffect>
                                  </p:childTnLst>
                                </p:cTn>
                              </p:par>
                            </p:childTnLst>
                          </p:cTn>
                        </p:par>
                      </p:childTnLst>
                    </p:cTn>
                  </p:par>
                  <p:par>
                    <p:cTn id="1103" nodeType="clickEffect" fill="hold">
                      <p:stCondLst>
                        <p:cond delay="indefinite"/>
                      </p:stCondLst>
                      <p:childTnLst>
                        <p:par>
                          <p:cTn id="1104" nodeType="withEffect" fill="hold">
                            <p:stCondLst>
                              <p:cond delay="0"/>
                            </p:stCondLst>
                            <p:childTnLst>
                              <p:par>
                                <p:cTn id="1105" nodeType="clickEffect" fill="hold" presetClass="entr" presetID="22" presetSubtype="8">
                                  <p:stCondLst>
                                    <p:cond delay="0"/>
                                  </p:stCondLst>
                                  <p:childTnLst>
                                    <p:set>
                                      <p:cBhvr>
                                        <p:cTn id="1106" dur="1" fill="hold">
                                          <p:stCondLst>
                                            <p:cond delay="0"/>
                                          </p:stCondLst>
                                        </p:cTn>
                                        <p:tgtEl>
                                          <p:spTgt spid="396">
                                            <p:txEl>
                                              <p:pRg st="2" end="2"/>
                                            </p:txEl>
                                          </p:spTgt>
                                        </p:tgtEl>
                                        <p:attrNameLst>
                                          <p:attrName>style.visibility</p:attrName>
                                        </p:attrNameLst>
                                      </p:cBhvr>
                                      <p:to>
                                        <p:strVal val="visible"/>
                                      </p:to>
                                    </p:set>
                                    <p:animEffect filter="wipe(left)" transition="in">
                                      <p:cBhvr additive="repl">
                                        <p:cTn id="1107" dur="500"/>
                                        <p:tgtEl>
                                          <p:spTgt spid="396">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16.3  MONOPOLY AND COMPETITION COMPARED</a:t>
            </a:r>
            <a:endParaRPr b="0" lang="en-CA" sz="2600" strike="noStrike" u="none">
              <a:solidFill>
                <a:schemeClr val="dk1"/>
              </a:solidFill>
              <a:effectLst/>
              <a:uFillTx/>
              <a:latin typeface="Arial"/>
            </a:endParaRPr>
          </a:p>
        </p:txBody>
      </p:sp>
      <p:sp>
        <p:nvSpPr>
          <p:cNvPr id="398"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To see why rent seeking occurs, think about the two ways that a person might become the owner of a monopoly:</a:t>
            </a:r>
            <a:endParaRPr b="1" lang="en-CA" sz="24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rgbClr val="000000"/>
                </a:solidFill>
                <a:effectLst/>
                <a:uFillTx/>
                <a:latin typeface="Arial"/>
                <a:ea typeface="ＭＳ Ｐゴシック"/>
              </a:rPr>
              <a:t>Buy a monopoly</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rgbClr val="000000"/>
                </a:solidFill>
                <a:effectLst/>
                <a:uFillTx/>
                <a:latin typeface="Arial"/>
                <a:ea typeface="ＭＳ Ｐゴシック"/>
              </a:rPr>
              <a:t>Create a monopoly by rent seeking</a:t>
            </a:r>
            <a:endParaRPr b="0" lang="en-CA" sz="2400" strike="noStrike" u="none">
              <a:solidFill>
                <a:schemeClr val="dk1"/>
              </a:solidFill>
              <a:effectLst/>
              <a:uFillTx/>
              <a:latin typeface="Arial"/>
            </a:endParaRPr>
          </a:p>
        </p:txBody>
      </p:sp>
    </p:spTree>
  </p:cSld>
  <p:transition spd="slow">
    <p:wipe dir="r"/>
  </p:transition>
  <p:timing>
    <p:tnLst>
      <p:par>
        <p:cTn id="1108" dur="indefinite" restart="never" nodeType="tmRoot">
          <p:childTnLst>
            <p:seq>
              <p:cTn id="1109" dur="indefinite" nodeType="mainSeq">
                <p:childTnLst>
                  <p:par>
                    <p:cTn id="1110" nodeType="clickEffect" fill="hold">
                      <p:stCondLst>
                        <p:cond delay="indefinite"/>
                      </p:stCondLst>
                      <p:childTnLst>
                        <p:par>
                          <p:cTn id="1111" nodeType="withEffect" fill="hold">
                            <p:stCondLst>
                              <p:cond delay="0"/>
                            </p:stCondLst>
                            <p:childTnLst>
                              <p:par>
                                <p:cTn id="1112" nodeType="clickEffect" fill="hold" presetClass="entr" presetID="22" presetSubtype="8">
                                  <p:stCondLst>
                                    <p:cond delay="0"/>
                                  </p:stCondLst>
                                  <p:childTnLst>
                                    <p:set>
                                      <p:cBhvr>
                                        <p:cTn id="1113" dur="1" fill="hold">
                                          <p:stCondLst>
                                            <p:cond delay="0"/>
                                          </p:stCondLst>
                                        </p:cTn>
                                        <p:tgtEl>
                                          <p:spTgt spid="398">
                                            <p:txEl>
                                              <p:pRg st="1" end="1"/>
                                            </p:txEl>
                                          </p:spTgt>
                                        </p:tgtEl>
                                        <p:attrNameLst>
                                          <p:attrName>style.visibility</p:attrName>
                                        </p:attrNameLst>
                                      </p:cBhvr>
                                      <p:to>
                                        <p:strVal val="visible"/>
                                      </p:to>
                                    </p:set>
                                    <p:animEffect filter="wipe(left)" transition="in">
                                      <p:cBhvr additive="repl">
                                        <p:cTn id="1114" dur="500"/>
                                        <p:tgtEl>
                                          <p:spTgt spid="398">
                                            <p:txEl>
                                              <p:pRg st="1" end="1"/>
                                            </p:txEl>
                                          </p:spTgt>
                                        </p:tgtEl>
                                      </p:cBhvr>
                                    </p:animEffect>
                                  </p:childTnLst>
                                </p:cTn>
                              </p:par>
                            </p:childTnLst>
                          </p:cTn>
                        </p:par>
                      </p:childTnLst>
                    </p:cTn>
                  </p:par>
                  <p:par>
                    <p:cTn id="1115" nodeType="clickEffect" fill="hold">
                      <p:stCondLst>
                        <p:cond delay="indefinite"/>
                      </p:stCondLst>
                      <p:childTnLst>
                        <p:par>
                          <p:cTn id="1116" nodeType="withEffect" fill="hold">
                            <p:stCondLst>
                              <p:cond delay="0"/>
                            </p:stCondLst>
                            <p:childTnLst>
                              <p:par>
                                <p:cTn id="1117" nodeType="clickEffect" fill="hold" presetClass="entr" presetID="22" presetSubtype="8">
                                  <p:stCondLst>
                                    <p:cond delay="0"/>
                                  </p:stCondLst>
                                  <p:childTnLst>
                                    <p:set>
                                      <p:cBhvr>
                                        <p:cTn id="1118" dur="1" fill="hold">
                                          <p:stCondLst>
                                            <p:cond delay="0"/>
                                          </p:stCondLst>
                                        </p:cTn>
                                        <p:tgtEl>
                                          <p:spTgt spid="398">
                                            <p:txEl>
                                              <p:pRg st="2" end="2"/>
                                            </p:txEl>
                                          </p:spTgt>
                                        </p:tgtEl>
                                        <p:attrNameLst>
                                          <p:attrName>style.visibility</p:attrName>
                                        </p:attrNameLst>
                                      </p:cBhvr>
                                      <p:to>
                                        <p:strVal val="visible"/>
                                      </p:to>
                                    </p:set>
                                    <p:animEffect filter="wipe(left)" transition="in">
                                      <p:cBhvr additive="repl">
                                        <p:cTn id="1119" dur="500"/>
                                        <p:tgtEl>
                                          <p:spTgt spid="398">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16.3  MONOPOLY AND COMPETITION COMPARED</a:t>
            </a:r>
            <a:endParaRPr b="0" lang="en-CA" sz="2600" strike="noStrike" u="none">
              <a:solidFill>
                <a:schemeClr val="dk1"/>
              </a:solidFill>
              <a:effectLst/>
              <a:uFillTx/>
              <a:latin typeface="Arial"/>
            </a:endParaRPr>
          </a:p>
        </p:txBody>
      </p:sp>
      <p:sp>
        <p:nvSpPr>
          <p:cNvPr id="400"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Buy a Monopoly</a:t>
            </a:r>
            <a:endParaRPr b="1" lang="en-CA" sz="26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Buying a firm (or a right) that is protected by a barrier to entry.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Buying a taxicab medallion in New York.</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Create a Monopoly by Rent Seeking</a:t>
            </a:r>
            <a:endParaRPr b="1" lang="en-CA" sz="26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Rent seeking is a political activity.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It takes the form of lobbying and trying to influence the political process to get laws that create legal barriers to entry.</a:t>
            </a:r>
            <a:endParaRPr b="1" lang="en-CA" sz="2400" strike="noStrike" u="none">
              <a:solidFill>
                <a:srgbClr val="00468f"/>
              </a:solidFill>
              <a:effectLst/>
              <a:uFillTx/>
              <a:latin typeface="Arial"/>
            </a:endParaRPr>
          </a:p>
        </p:txBody>
      </p:sp>
    </p:spTree>
  </p:cSld>
  <p:transition spd="slow">
    <p:wipe dir="r"/>
  </p:transition>
  <p:timing>
    <p:tnLst>
      <p:par>
        <p:cTn id="1120" dur="indefinite" restart="never" nodeType="tmRoot">
          <p:childTnLst>
            <p:seq>
              <p:cTn id="1121" dur="indefinite" nodeType="mainSeq">
                <p:childTnLst>
                  <p:par>
                    <p:cTn id="1122" nodeType="clickEffect" fill="hold">
                      <p:stCondLst>
                        <p:cond delay="indefinite"/>
                      </p:stCondLst>
                      <p:childTnLst>
                        <p:par>
                          <p:cTn id="1123" nodeType="withEffect" fill="hold">
                            <p:stCondLst>
                              <p:cond delay="0"/>
                            </p:stCondLst>
                            <p:childTnLst>
                              <p:par>
                                <p:cTn id="1124" nodeType="clickEffect" fill="hold" presetClass="entr" presetID="22" presetSubtype="8">
                                  <p:stCondLst>
                                    <p:cond delay="0"/>
                                  </p:stCondLst>
                                  <p:childTnLst>
                                    <p:set>
                                      <p:cBhvr>
                                        <p:cTn id="1125" dur="1" fill="hold">
                                          <p:stCondLst>
                                            <p:cond delay="0"/>
                                          </p:stCondLst>
                                        </p:cTn>
                                        <p:tgtEl>
                                          <p:spTgt spid="400">
                                            <p:txEl>
                                              <p:pRg st="1" end="1"/>
                                            </p:txEl>
                                          </p:spTgt>
                                        </p:tgtEl>
                                        <p:attrNameLst>
                                          <p:attrName>style.visibility</p:attrName>
                                        </p:attrNameLst>
                                      </p:cBhvr>
                                      <p:to>
                                        <p:strVal val="visible"/>
                                      </p:to>
                                    </p:set>
                                    <p:animEffect filter="wipe(left)" transition="in">
                                      <p:cBhvr additive="repl">
                                        <p:cTn id="1126" dur="500"/>
                                        <p:tgtEl>
                                          <p:spTgt spid="400">
                                            <p:txEl>
                                              <p:pRg st="1" end="1"/>
                                            </p:txEl>
                                          </p:spTgt>
                                        </p:tgtEl>
                                      </p:cBhvr>
                                    </p:animEffect>
                                  </p:childTnLst>
                                </p:cTn>
                              </p:par>
                            </p:childTnLst>
                          </p:cTn>
                        </p:par>
                      </p:childTnLst>
                    </p:cTn>
                  </p:par>
                  <p:par>
                    <p:cTn id="1127" nodeType="clickEffect" fill="hold">
                      <p:stCondLst>
                        <p:cond delay="indefinite"/>
                      </p:stCondLst>
                      <p:childTnLst>
                        <p:par>
                          <p:cTn id="1128" nodeType="withEffect" fill="hold">
                            <p:stCondLst>
                              <p:cond delay="0"/>
                            </p:stCondLst>
                            <p:childTnLst>
                              <p:par>
                                <p:cTn id="1129" nodeType="clickEffect" fill="hold" presetClass="entr" presetID="22" presetSubtype="8">
                                  <p:stCondLst>
                                    <p:cond delay="0"/>
                                  </p:stCondLst>
                                  <p:childTnLst>
                                    <p:set>
                                      <p:cBhvr>
                                        <p:cTn id="1130" dur="1" fill="hold">
                                          <p:stCondLst>
                                            <p:cond delay="0"/>
                                          </p:stCondLst>
                                        </p:cTn>
                                        <p:tgtEl>
                                          <p:spTgt spid="400">
                                            <p:txEl>
                                              <p:pRg st="2" end="2"/>
                                            </p:txEl>
                                          </p:spTgt>
                                        </p:tgtEl>
                                        <p:attrNameLst>
                                          <p:attrName>style.visibility</p:attrName>
                                        </p:attrNameLst>
                                      </p:cBhvr>
                                      <p:to>
                                        <p:strVal val="visible"/>
                                      </p:to>
                                    </p:set>
                                    <p:animEffect filter="wipe(left)" transition="in">
                                      <p:cBhvr additive="repl">
                                        <p:cTn id="1131" dur="500"/>
                                        <p:tgtEl>
                                          <p:spTgt spid="400">
                                            <p:txEl>
                                              <p:pRg st="2" end="2"/>
                                            </p:txEl>
                                          </p:spTgt>
                                        </p:tgtEl>
                                      </p:cBhvr>
                                    </p:animEffect>
                                  </p:childTnLst>
                                </p:cTn>
                              </p:par>
                            </p:childTnLst>
                          </p:cTn>
                        </p:par>
                      </p:childTnLst>
                    </p:cTn>
                  </p:par>
                  <p:par>
                    <p:cTn id="1132" nodeType="clickEffect" fill="hold">
                      <p:stCondLst>
                        <p:cond delay="indefinite"/>
                      </p:stCondLst>
                      <p:childTnLst>
                        <p:par>
                          <p:cTn id="1133" nodeType="withEffect" fill="hold">
                            <p:stCondLst>
                              <p:cond delay="0"/>
                            </p:stCondLst>
                            <p:childTnLst>
                              <p:par>
                                <p:cTn id="1134" nodeType="clickEffect" fill="hold" presetClass="entr" presetID="22" presetSubtype="8">
                                  <p:stCondLst>
                                    <p:cond delay="0"/>
                                  </p:stCondLst>
                                  <p:childTnLst>
                                    <p:set>
                                      <p:cBhvr>
                                        <p:cTn id="1135" dur="1" fill="hold">
                                          <p:stCondLst>
                                            <p:cond delay="0"/>
                                          </p:stCondLst>
                                        </p:cTn>
                                        <p:tgtEl>
                                          <p:spTgt spid="400">
                                            <p:txEl>
                                              <p:pRg st="3" end="3"/>
                                            </p:txEl>
                                          </p:spTgt>
                                        </p:tgtEl>
                                        <p:attrNameLst>
                                          <p:attrName>style.visibility</p:attrName>
                                        </p:attrNameLst>
                                      </p:cBhvr>
                                      <p:to>
                                        <p:strVal val="visible"/>
                                      </p:to>
                                    </p:set>
                                    <p:animEffect filter="wipe(left)" transition="in">
                                      <p:cBhvr additive="repl">
                                        <p:cTn id="1136" dur="500"/>
                                        <p:tgtEl>
                                          <p:spTgt spid="400">
                                            <p:txEl>
                                              <p:pRg st="3" end="3"/>
                                            </p:txEl>
                                          </p:spTgt>
                                        </p:tgtEl>
                                      </p:cBhvr>
                                    </p:animEffect>
                                  </p:childTnLst>
                                </p:cTn>
                              </p:par>
                            </p:childTnLst>
                          </p:cTn>
                        </p:par>
                      </p:childTnLst>
                    </p:cTn>
                  </p:par>
                  <p:par>
                    <p:cTn id="1137" nodeType="clickEffect" fill="hold">
                      <p:stCondLst>
                        <p:cond delay="indefinite"/>
                      </p:stCondLst>
                      <p:childTnLst>
                        <p:par>
                          <p:cTn id="1138" nodeType="withEffect" fill="hold">
                            <p:stCondLst>
                              <p:cond delay="0"/>
                            </p:stCondLst>
                            <p:childTnLst>
                              <p:par>
                                <p:cTn id="1139" nodeType="clickEffect" fill="hold" presetClass="entr" presetID="22" presetSubtype="8">
                                  <p:stCondLst>
                                    <p:cond delay="0"/>
                                  </p:stCondLst>
                                  <p:childTnLst>
                                    <p:set>
                                      <p:cBhvr>
                                        <p:cTn id="1140" dur="1" fill="hold">
                                          <p:stCondLst>
                                            <p:cond delay="0"/>
                                          </p:stCondLst>
                                        </p:cTn>
                                        <p:tgtEl>
                                          <p:spTgt spid="400">
                                            <p:txEl>
                                              <p:pRg st="4" end="4"/>
                                            </p:txEl>
                                          </p:spTgt>
                                        </p:tgtEl>
                                        <p:attrNameLst>
                                          <p:attrName>style.visibility</p:attrName>
                                        </p:attrNameLst>
                                      </p:cBhvr>
                                      <p:to>
                                        <p:strVal val="visible"/>
                                      </p:to>
                                    </p:set>
                                    <p:animEffect filter="wipe(left)" transition="in">
                                      <p:cBhvr additive="repl">
                                        <p:cTn id="1141" dur="500"/>
                                        <p:tgtEl>
                                          <p:spTgt spid="400">
                                            <p:txEl>
                                              <p:pRg st="4" end="4"/>
                                            </p:txEl>
                                          </p:spTgt>
                                        </p:tgtEl>
                                      </p:cBhvr>
                                    </p:animEffect>
                                  </p:childTnLst>
                                </p:cTn>
                              </p:par>
                            </p:childTnLst>
                          </p:cTn>
                        </p:par>
                      </p:childTnLst>
                    </p:cTn>
                  </p:par>
                  <p:par>
                    <p:cTn id="1142" nodeType="clickEffect" fill="hold">
                      <p:stCondLst>
                        <p:cond delay="indefinite"/>
                      </p:stCondLst>
                      <p:childTnLst>
                        <p:par>
                          <p:cTn id="1143" nodeType="withEffect" fill="hold">
                            <p:stCondLst>
                              <p:cond delay="0"/>
                            </p:stCondLst>
                            <p:childTnLst>
                              <p:par>
                                <p:cTn id="1144" nodeType="clickEffect" fill="hold" presetClass="entr" presetID="22" presetSubtype="8">
                                  <p:stCondLst>
                                    <p:cond delay="0"/>
                                  </p:stCondLst>
                                  <p:childTnLst>
                                    <p:set>
                                      <p:cBhvr>
                                        <p:cTn id="1145" dur="1" fill="hold">
                                          <p:stCondLst>
                                            <p:cond delay="0"/>
                                          </p:stCondLst>
                                        </p:cTn>
                                        <p:tgtEl>
                                          <p:spTgt spid="400">
                                            <p:txEl>
                                              <p:pRg st="5" end="5"/>
                                            </p:txEl>
                                          </p:spTgt>
                                        </p:tgtEl>
                                        <p:attrNameLst>
                                          <p:attrName>style.visibility</p:attrName>
                                        </p:attrNameLst>
                                      </p:cBhvr>
                                      <p:to>
                                        <p:strVal val="visible"/>
                                      </p:to>
                                    </p:set>
                                    <p:animEffect filter="wipe(left)" transition="in">
                                      <p:cBhvr additive="repl">
                                        <p:cTn id="1146" dur="500"/>
                                        <p:tgtEl>
                                          <p:spTgt spid="400">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16.3  MONOPOLY AND COMPETITION COMPARED</a:t>
            </a:r>
            <a:endParaRPr b="0" lang="en-CA" sz="2600" strike="noStrike" u="none">
              <a:solidFill>
                <a:schemeClr val="dk1"/>
              </a:solidFill>
              <a:effectLst/>
              <a:uFillTx/>
              <a:latin typeface="Arial"/>
            </a:endParaRPr>
          </a:p>
        </p:txBody>
      </p:sp>
      <p:sp>
        <p:nvSpPr>
          <p:cNvPr id="402"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Rent-Seeking Equilibrium</a:t>
            </a:r>
            <a:endParaRPr b="1" lang="en-CA" sz="26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If an economic profit is available, a rent seeker will try to get some of it.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Competition among rent seekers pushes up the cost of rent seeking until it leaves the monopoly earning only a normal profit after paying the rent-seeking costs.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Figure 16.7 on the next slide illustrates rent-seeking equilibrium.</a:t>
            </a:r>
            <a:endParaRPr b="1" lang="en-CA" sz="2400" strike="noStrike" u="none">
              <a:solidFill>
                <a:srgbClr val="00468f"/>
              </a:solidFill>
              <a:effectLst/>
              <a:uFillTx/>
              <a:latin typeface="Arial"/>
            </a:endParaRPr>
          </a:p>
        </p:txBody>
      </p:sp>
    </p:spTree>
  </p:cSld>
  <p:transition spd="slow">
    <p:wipe dir="r"/>
  </p:transition>
  <p:timing>
    <p:tnLst>
      <p:par>
        <p:cTn id="1147" dur="indefinite" restart="never" nodeType="tmRoot">
          <p:childTnLst>
            <p:seq>
              <p:cTn id="1148" dur="indefinite" nodeType="mainSeq">
                <p:childTnLst>
                  <p:par>
                    <p:cTn id="1149" nodeType="clickEffect" fill="hold">
                      <p:stCondLst>
                        <p:cond delay="indefinite"/>
                      </p:stCondLst>
                      <p:childTnLst>
                        <p:par>
                          <p:cTn id="1150" nodeType="withEffect" fill="hold">
                            <p:stCondLst>
                              <p:cond delay="0"/>
                            </p:stCondLst>
                            <p:childTnLst>
                              <p:par>
                                <p:cTn id="1151" nodeType="clickEffect" fill="hold" presetClass="entr" presetID="22" presetSubtype="8">
                                  <p:stCondLst>
                                    <p:cond delay="0"/>
                                  </p:stCondLst>
                                  <p:childTnLst>
                                    <p:set>
                                      <p:cBhvr>
                                        <p:cTn id="1152" dur="1" fill="hold">
                                          <p:stCondLst>
                                            <p:cond delay="0"/>
                                          </p:stCondLst>
                                        </p:cTn>
                                        <p:tgtEl>
                                          <p:spTgt spid="402">
                                            <p:txEl>
                                              <p:pRg st="1" end="1"/>
                                            </p:txEl>
                                          </p:spTgt>
                                        </p:tgtEl>
                                        <p:attrNameLst>
                                          <p:attrName>style.visibility</p:attrName>
                                        </p:attrNameLst>
                                      </p:cBhvr>
                                      <p:to>
                                        <p:strVal val="visible"/>
                                      </p:to>
                                    </p:set>
                                    <p:animEffect filter="wipe(left)" transition="in">
                                      <p:cBhvr additive="repl">
                                        <p:cTn id="1153" dur="500"/>
                                        <p:tgtEl>
                                          <p:spTgt spid="402">
                                            <p:txEl>
                                              <p:pRg st="1" end="1"/>
                                            </p:txEl>
                                          </p:spTgt>
                                        </p:tgtEl>
                                      </p:cBhvr>
                                    </p:animEffect>
                                  </p:childTnLst>
                                </p:cTn>
                              </p:par>
                            </p:childTnLst>
                          </p:cTn>
                        </p:par>
                      </p:childTnLst>
                    </p:cTn>
                  </p:par>
                  <p:par>
                    <p:cTn id="1154" nodeType="clickEffect" fill="hold">
                      <p:stCondLst>
                        <p:cond delay="indefinite"/>
                      </p:stCondLst>
                      <p:childTnLst>
                        <p:par>
                          <p:cTn id="1155" nodeType="withEffect" fill="hold">
                            <p:stCondLst>
                              <p:cond delay="0"/>
                            </p:stCondLst>
                            <p:childTnLst>
                              <p:par>
                                <p:cTn id="1156" nodeType="clickEffect" fill="hold" presetClass="entr" presetID="22" presetSubtype="8">
                                  <p:stCondLst>
                                    <p:cond delay="0"/>
                                  </p:stCondLst>
                                  <p:childTnLst>
                                    <p:set>
                                      <p:cBhvr>
                                        <p:cTn id="1157" dur="1" fill="hold">
                                          <p:stCondLst>
                                            <p:cond delay="0"/>
                                          </p:stCondLst>
                                        </p:cTn>
                                        <p:tgtEl>
                                          <p:spTgt spid="402">
                                            <p:txEl>
                                              <p:pRg st="2" end="2"/>
                                            </p:txEl>
                                          </p:spTgt>
                                        </p:tgtEl>
                                        <p:attrNameLst>
                                          <p:attrName>style.visibility</p:attrName>
                                        </p:attrNameLst>
                                      </p:cBhvr>
                                      <p:to>
                                        <p:strVal val="visible"/>
                                      </p:to>
                                    </p:set>
                                    <p:animEffect filter="wipe(left)" transition="in">
                                      <p:cBhvr additive="repl">
                                        <p:cTn id="1158" dur="500"/>
                                        <p:tgtEl>
                                          <p:spTgt spid="402">
                                            <p:txEl>
                                              <p:pRg st="2" end="2"/>
                                            </p:txEl>
                                          </p:spTgt>
                                        </p:tgtEl>
                                      </p:cBhvr>
                                    </p:animEffect>
                                  </p:childTnLst>
                                </p:cTn>
                              </p:par>
                            </p:childTnLst>
                          </p:cTn>
                        </p:par>
                      </p:childTnLst>
                    </p:cTn>
                  </p:par>
                  <p:par>
                    <p:cTn id="1159" nodeType="clickEffect" fill="hold">
                      <p:stCondLst>
                        <p:cond delay="indefinite"/>
                      </p:stCondLst>
                      <p:childTnLst>
                        <p:par>
                          <p:cTn id="1160" nodeType="withEffect" fill="hold">
                            <p:stCondLst>
                              <p:cond delay="0"/>
                            </p:stCondLst>
                            <p:childTnLst>
                              <p:par>
                                <p:cTn id="1161" nodeType="clickEffect" fill="hold" presetClass="entr" presetID="22" presetSubtype="8">
                                  <p:stCondLst>
                                    <p:cond delay="0"/>
                                  </p:stCondLst>
                                  <p:childTnLst>
                                    <p:set>
                                      <p:cBhvr>
                                        <p:cTn id="1162" dur="1" fill="hold">
                                          <p:stCondLst>
                                            <p:cond delay="0"/>
                                          </p:stCondLst>
                                        </p:cTn>
                                        <p:tgtEl>
                                          <p:spTgt spid="402">
                                            <p:txEl>
                                              <p:pRg st="3" end="3"/>
                                            </p:txEl>
                                          </p:spTgt>
                                        </p:tgtEl>
                                        <p:attrNameLst>
                                          <p:attrName>style.visibility</p:attrName>
                                        </p:attrNameLst>
                                      </p:cBhvr>
                                      <p:to>
                                        <p:strVal val="visible"/>
                                      </p:to>
                                    </p:set>
                                    <p:animEffect filter="wipe(left)" transition="in">
                                      <p:cBhvr additive="repl">
                                        <p:cTn id="1163" dur="500"/>
                                        <p:tgtEl>
                                          <p:spTgt spid="402">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3"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16.3  MONOPOLY AND COMPETITION COMPARED</a:t>
            </a:r>
            <a:endParaRPr b="0" lang="en-CA" sz="2600" strike="noStrike" u="none">
              <a:solidFill>
                <a:schemeClr val="dk1"/>
              </a:solidFill>
              <a:effectLst/>
              <a:uFillTx/>
              <a:latin typeface="Arial"/>
            </a:endParaRPr>
          </a:p>
        </p:txBody>
      </p:sp>
      <p:sp>
        <p:nvSpPr>
          <p:cNvPr id="404" name="PlaceHolder 2"/>
          <p:cNvSpPr>
            <a:spLocks noGrp="1"/>
          </p:cNvSpPr>
          <p:nvPr>
            <p:ph/>
          </p:nvPr>
        </p:nvSpPr>
        <p:spPr>
          <a:xfrm>
            <a:off x="360360" y="1440000"/>
            <a:ext cx="421128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 firm’s rent-seeking costs are fixed costs.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They add to total fixed cost and to average total cost.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a:t>
            </a:r>
            <a:r>
              <a:rPr b="0" i="1" lang="en-US" sz="2400" strike="noStrike" u="none">
                <a:solidFill>
                  <a:srgbClr val="000000"/>
                </a:solidFill>
                <a:effectLst/>
                <a:uFillTx/>
                <a:latin typeface="Arial"/>
                <a:ea typeface="ＭＳ Ｐゴシック"/>
              </a:rPr>
              <a:t>ATC</a:t>
            </a:r>
            <a:r>
              <a:rPr b="0" lang="en-US" sz="2400" strike="noStrike" u="none">
                <a:solidFill>
                  <a:srgbClr val="000000"/>
                </a:solidFill>
                <a:effectLst/>
                <a:uFillTx/>
                <a:latin typeface="Arial"/>
                <a:ea typeface="ＭＳ Ｐゴシック"/>
              </a:rPr>
              <a:t> curve shifts upward until, at the profit-maximizing price, the firm breaks even.</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a:tabLst>
                <a:tab algn="l" pos="457200"/>
              </a:tabLst>
            </a:pPr>
            <a:r>
              <a:rPr b="0" lang="en-US" sz="2400" strike="noStrike" u="none">
                <a:solidFill>
                  <a:srgbClr val="000000"/>
                </a:solidFill>
                <a:effectLst/>
                <a:uFillTx/>
                <a:latin typeface="Arial"/>
                <a:ea typeface="ＭＳ Ｐゴシック"/>
              </a:rPr>
              <a:t>Rent seeking costs exhaust economic profit.</a:t>
            </a:r>
            <a:endParaRPr b="1" lang="en-CA" sz="2400" strike="noStrike" u="none">
              <a:solidFill>
                <a:srgbClr val="00468f"/>
              </a:solidFill>
              <a:effectLst/>
              <a:uFillTx/>
              <a:latin typeface="Arial"/>
            </a:endParaRPr>
          </a:p>
        </p:txBody>
      </p:sp>
      <p:pic>
        <p:nvPicPr>
          <p:cNvPr id="405" name="Picture 1" descr=""/>
          <p:cNvPicPr/>
          <p:nvPr/>
        </p:nvPicPr>
        <p:blipFill>
          <a:blip r:embed="rId1"/>
          <a:stretch/>
        </p:blipFill>
        <p:spPr>
          <a:xfrm>
            <a:off x="4608360" y="1511280"/>
            <a:ext cx="4063680" cy="4105080"/>
          </a:xfrm>
          <a:prstGeom prst="rect">
            <a:avLst/>
          </a:prstGeom>
          <a:noFill/>
          <a:ln w="0">
            <a:noFill/>
          </a:ln>
        </p:spPr>
      </p:pic>
      <p:pic>
        <p:nvPicPr>
          <p:cNvPr id="406" name="Picture 9" descr=""/>
          <p:cNvPicPr/>
          <p:nvPr/>
        </p:nvPicPr>
        <p:blipFill>
          <a:blip r:embed="rId2"/>
          <a:stretch/>
        </p:blipFill>
        <p:spPr>
          <a:xfrm>
            <a:off x="4608360" y="1511280"/>
            <a:ext cx="4063680" cy="4105080"/>
          </a:xfrm>
          <a:prstGeom prst="rect">
            <a:avLst/>
          </a:prstGeom>
          <a:noFill/>
          <a:ln w="0">
            <a:noFill/>
          </a:ln>
        </p:spPr>
      </p:pic>
    </p:spTree>
  </p:cSld>
  <p:transition spd="slow">
    <p:wipe dir="r"/>
  </p:transition>
  <p:timing>
    <p:tnLst>
      <p:par>
        <p:cTn id="1164" dur="indefinite" restart="never" nodeType="tmRoot">
          <p:childTnLst>
            <p:seq>
              <p:cTn id="1165" dur="indefinite" nodeType="mainSeq">
                <p:childTnLst>
                  <p:par>
                    <p:cTn id="1166" nodeType="clickEffect" fill="hold">
                      <p:stCondLst>
                        <p:cond delay="indefinite"/>
                      </p:stCondLst>
                      <p:childTnLst>
                        <p:par>
                          <p:cTn id="1167" nodeType="withEffect" fill="hold">
                            <p:stCondLst>
                              <p:cond delay="0"/>
                            </p:stCondLst>
                            <p:childTnLst>
                              <p:par>
                                <p:cTn id="1168" nodeType="clickEffect" fill="hold" presetClass="entr" presetID="22" presetSubtype="8">
                                  <p:stCondLst>
                                    <p:cond delay="0"/>
                                  </p:stCondLst>
                                  <p:childTnLst>
                                    <p:set>
                                      <p:cBhvr>
                                        <p:cTn id="1169" dur="1" fill="hold">
                                          <p:stCondLst>
                                            <p:cond delay="0"/>
                                          </p:stCondLst>
                                        </p:cTn>
                                        <p:tgtEl>
                                          <p:spTgt spid="404">
                                            <p:txEl>
                                              <p:pRg st="1" end="1"/>
                                            </p:txEl>
                                          </p:spTgt>
                                        </p:tgtEl>
                                        <p:attrNameLst>
                                          <p:attrName>style.visibility</p:attrName>
                                        </p:attrNameLst>
                                      </p:cBhvr>
                                      <p:to>
                                        <p:strVal val="visible"/>
                                      </p:to>
                                    </p:set>
                                    <p:animEffect filter="wipe(left)" transition="in">
                                      <p:cBhvr additive="repl">
                                        <p:cTn id="1170" dur="500"/>
                                        <p:tgtEl>
                                          <p:spTgt spid="404">
                                            <p:txEl>
                                              <p:pRg st="1" end="1"/>
                                            </p:txEl>
                                          </p:spTgt>
                                        </p:tgtEl>
                                      </p:cBhvr>
                                    </p:animEffect>
                                  </p:childTnLst>
                                </p:cTn>
                              </p:par>
                            </p:childTnLst>
                          </p:cTn>
                        </p:par>
                      </p:childTnLst>
                    </p:cTn>
                  </p:par>
                  <p:par>
                    <p:cTn id="1171" nodeType="clickEffect" fill="hold">
                      <p:stCondLst>
                        <p:cond delay="indefinite"/>
                      </p:stCondLst>
                      <p:childTnLst>
                        <p:par>
                          <p:cTn id="1172" nodeType="withEffect" fill="hold">
                            <p:stCondLst>
                              <p:cond delay="0"/>
                            </p:stCondLst>
                            <p:childTnLst>
                              <p:par>
                                <p:cTn id="1173" nodeType="clickEffect" fill="hold" presetClass="entr" presetID="22" presetSubtype="8">
                                  <p:stCondLst>
                                    <p:cond delay="0"/>
                                  </p:stCondLst>
                                  <p:childTnLst>
                                    <p:set>
                                      <p:cBhvr>
                                        <p:cTn id="1174" dur="1" fill="hold">
                                          <p:stCondLst>
                                            <p:cond delay="0"/>
                                          </p:stCondLst>
                                        </p:cTn>
                                        <p:tgtEl>
                                          <p:spTgt spid="404">
                                            <p:txEl>
                                              <p:pRg st="2" end="2"/>
                                            </p:txEl>
                                          </p:spTgt>
                                        </p:tgtEl>
                                        <p:attrNameLst>
                                          <p:attrName>style.visibility</p:attrName>
                                        </p:attrNameLst>
                                      </p:cBhvr>
                                      <p:to>
                                        <p:strVal val="visible"/>
                                      </p:to>
                                    </p:set>
                                    <p:animEffect filter="wipe(left)" transition="in">
                                      <p:cBhvr additive="repl">
                                        <p:cTn id="1175" dur="500"/>
                                        <p:tgtEl>
                                          <p:spTgt spid="404">
                                            <p:txEl>
                                              <p:pRg st="2" end="2"/>
                                            </p:txEl>
                                          </p:spTgt>
                                        </p:tgtEl>
                                      </p:cBhvr>
                                    </p:animEffect>
                                  </p:childTnLst>
                                </p:cTn>
                              </p:par>
                              <p:par>
                                <p:cTn id="1176" nodeType="withEffect" fill="hold" presetClass="entr" presetID="22" presetSubtype="8">
                                  <p:stCondLst>
                                    <p:cond delay="0"/>
                                  </p:stCondLst>
                                  <p:childTnLst>
                                    <p:set>
                                      <p:cBhvr>
                                        <p:cTn id="1177" dur="1" fill="hold">
                                          <p:stCondLst>
                                            <p:cond delay="0"/>
                                          </p:stCondLst>
                                        </p:cTn>
                                        <p:tgtEl>
                                          <p:spTgt spid="406"/>
                                        </p:tgtEl>
                                        <p:attrNameLst>
                                          <p:attrName>style.visibility</p:attrName>
                                        </p:attrNameLst>
                                      </p:cBhvr>
                                      <p:to>
                                        <p:strVal val="visible"/>
                                      </p:to>
                                    </p:set>
                                    <p:animEffect filter="wipe(left)" transition="in">
                                      <p:cBhvr additive="repl">
                                        <p:cTn id="1178" dur="1000"/>
                                        <p:tgtEl>
                                          <p:spTgt spid="406"/>
                                        </p:tgtEl>
                                      </p:cBhvr>
                                    </p:animEffect>
                                  </p:childTnLst>
                                </p:cTn>
                              </p:par>
                              <p:par>
                                <p:cTn id="1179" nodeType="withEffect" fill="hold" presetClass="entr" presetID="22" presetSubtype="8">
                                  <p:stCondLst>
                                    <p:cond delay="1300"/>
                                  </p:stCondLst>
                                  <p:childTnLst>
                                    <p:set>
                                      <p:cBhvr>
                                        <p:cTn id="1180" dur="1" fill="hold">
                                          <p:stCondLst>
                                            <p:cond delay="0"/>
                                          </p:stCondLst>
                                        </p:cTn>
                                        <p:tgtEl>
                                          <p:spTgt spid="404">
                                            <p:txEl>
                                              <p:pRg st="3" end="3"/>
                                            </p:txEl>
                                          </p:spTgt>
                                        </p:tgtEl>
                                        <p:attrNameLst>
                                          <p:attrName>style.visibility</p:attrName>
                                        </p:attrNameLst>
                                      </p:cBhvr>
                                      <p:to>
                                        <p:strVal val="visible"/>
                                      </p:to>
                                    </p:set>
                                    <p:animEffect filter="wipe(left)" transition="in">
                                      <p:cBhvr additive="repl">
                                        <p:cTn id="1181" dur="500"/>
                                        <p:tgtEl>
                                          <p:spTgt spid="404">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407" name="Picture 1" descr=""/>
          <p:cNvPicPr/>
          <p:nvPr/>
        </p:nvPicPr>
        <p:blipFill>
          <a:blip r:embed="rId1"/>
          <a:stretch/>
        </p:blipFill>
        <p:spPr>
          <a:xfrm>
            <a:off x="1979640" y="792000"/>
            <a:ext cx="4781160" cy="4828680"/>
          </a:xfrm>
          <a:prstGeom prst="rect">
            <a:avLst/>
          </a:prstGeom>
          <a:noFill/>
          <a:ln w="0">
            <a:noFill/>
          </a:ln>
        </p:spPr>
      </p:pic>
      <p:pic>
        <p:nvPicPr>
          <p:cNvPr id="408" name="Picture 11" descr=""/>
          <p:cNvPicPr/>
          <p:nvPr/>
        </p:nvPicPr>
        <p:blipFill>
          <a:blip r:embed="rId2"/>
          <a:stretch/>
        </p:blipFill>
        <p:spPr>
          <a:xfrm>
            <a:off x="1979640" y="792000"/>
            <a:ext cx="4781160" cy="4828680"/>
          </a:xfrm>
          <a:prstGeom prst="rect">
            <a:avLst/>
          </a:prstGeom>
          <a:noFill/>
          <a:ln w="0">
            <a:noFill/>
          </a:ln>
        </p:spPr>
      </p:pic>
      <p:pic>
        <p:nvPicPr>
          <p:cNvPr id="409" name="Picture 12" descr=""/>
          <p:cNvPicPr/>
          <p:nvPr/>
        </p:nvPicPr>
        <p:blipFill>
          <a:blip r:embed="rId3"/>
          <a:stretch/>
        </p:blipFill>
        <p:spPr>
          <a:xfrm>
            <a:off x="1979640" y="792000"/>
            <a:ext cx="4781160" cy="4828680"/>
          </a:xfrm>
          <a:prstGeom prst="rect">
            <a:avLst/>
          </a:prstGeom>
          <a:noFill/>
          <a:ln w="0">
            <a:noFill/>
          </a:ln>
        </p:spPr>
      </p:pic>
      <p:pic>
        <p:nvPicPr>
          <p:cNvPr id="410" name="Picture 13" descr=""/>
          <p:cNvPicPr/>
          <p:nvPr/>
        </p:nvPicPr>
        <p:blipFill>
          <a:blip r:embed="rId4"/>
          <a:stretch/>
        </p:blipFill>
        <p:spPr>
          <a:xfrm>
            <a:off x="1979640" y="792000"/>
            <a:ext cx="4781160" cy="4828680"/>
          </a:xfrm>
          <a:prstGeom prst="rect">
            <a:avLst/>
          </a:prstGeom>
          <a:noFill/>
          <a:ln w="0">
            <a:noFill/>
          </a:ln>
        </p:spPr>
      </p:pic>
    </p:spTree>
  </p:cSld>
  <p:transition spd="slow">
    <p:wipe dir="r"/>
  </p:transition>
  <p:timing>
    <p:tnLst>
      <p:par>
        <p:cTn id="1182" dur="indefinite" restart="never" nodeType="tmRoot">
          <p:childTnLst>
            <p:seq>
              <p:cTn id="1183" dur="indefinite" nodeType="mainSeq">
                <p:childTnLst>
                  <p:par>
                    <p:cTn id="1184" nodeType="clickEffect" fill="hold">
                      <p:stCondLst>
                        <p:cond delay="indefinite"/>
                      </p:stCondLst>
                      <p:childTnLst>
                        <p:par>
                          <p:cTn id="1185" nodeType="withEffect" fill="hold">
                            <p:stCondLst>
                              <p:cond delay="0"/>
                            </p:stCondLst>
                            <p:childTnLst>
                              <p:par>
                                <p:cTn id="1186" nodeType="clickEffect" fill="hold" presetClass="entr" presetID="22" presetSubtype="8">
                                  <p:stCondLst>
                                    <p:cond delay="0"/>
                                  </p:stCondLst>
                                  <p:childTnLst>
                                    <p:set>
                                      <p:cBhvr>
                                        <p:cTn id="1187" dur="1" fill="hold">
                                          <p:stCondLst>
                                            <p:cond delay="0"/>
                                          </p:stCondLst>
                                        </p:cTn>
                                        <p:tgtEl>
                                          <p:spTgt spid="408"/>
                                        </p:tgtEl>
                                        <p:attrNameLst>
                                          <p:attrName>style.visibility</p:attrName>
                                        </p:attrNameLst>
                                      </p:cBhvr>
                                      <p:to>
                                        <p:strVal val="visible"/>
                                      </p:to>
                                    </p:set>
                                    <p:animEffect filter="wipe(left)" transition="in">
                                      <p:cBhvr additive="repl">
                                        <p:cTn id="1188" dur="1000"/>
                                        <p:tgtEl>
                                          <p:spTgt spid="408"/>
                                        </p:tgtEl>
                                      </p:cBhvr>
                                    </p:animEffect>
                                  </p:childTnLst>
                                </p:cTn>
                              </p:par>
                            </p:childTnLst>
                          </p:cTn>
                        </p:par>
                      </p:childTnLst>
                    </p:cTn>
                  </p:par>
                  <p:par>
                    <p:cTn id="1189" nodeType="clickEffect" fill="hold">
                      <p:stCondLst>
                        <p:cond delay="indefinite"/>
                      </p:stCondLst>
                      <p:childTnLst>
                        <p:par>
                          <p:cTn id="1190" nodeType="withEffect" fill="hold">
                            <p:stCondLst>
                              <p:cond delay="0"/>
                            </p:stCondLst>
                            <p:childTnLst>
                              <p:par>
                                <p:cTn id="1191" nodeType="clickEffect" fill="hold" presetClass="entr" presetID="10">
                                  <p:stCondLst>
                                    <p:cond delay="0"/>
                                  </p:stCondLst>
                                  <p:childTnLst>
                                    <p:set>
                                      <p:cBhvr>
                                        <p:cTn id="1192" dur="1" fill="hold">
                                          <p:stCondLst>
                                            <p:cond delay="0"/>
                                          </p:stCondLst>
                                        </p:cTn>
                                        <p:tgtEl>
                                          <p:spTgt spid="409"/>
                                        </p:tgtEl>
                                        <p:attrNameLst>
                                          <p:attrName>style.visibility</p:attrName>
                                        </p:attrNameLst>
                                      </p:cBhvr>
                                      <p:to>
                                        <p:strVal val="visible"/>
                                      </p:to>
                                    </p:set>
                                    <p:animEffect filter="fade" transition="in">
                                      <p:cBhvr additive="repl">
                                        <p:cTn id="1193" dur="500"/>
                                        <p:tgtEl>
                                          <p:spTgt spid="409"/>
                                        </p:tgtEl>
                                      </p:cBhvr>
                                    </p:animEffect>
                                  </p:childTnLst>
                                </p:cTn>
                              </p:par>
                            </p:childTnLst>
                          </p:cTn>
                        </p:par>
                      </p:childTnLst>
                    </p:cTn>
                  </p:par>
                  <p:par>
                    <p:cTn id="1194" nodeType="clickEffect" fill="hold">
                      <p:stCondLst>
                        <p:cond delay="indefinite"/>
                      </p:stCondLst>
                      <p:childTnLst>
                        <p:par>
                          <p:cTn id="1195" nodeType="withEffect" fill="hold">
                            <p:stCondLst>
                              <p:cond delay="0"/>
                            </p:stCondLst>
                            <p:childTnLst>
                              <p:par>
                                <p:cTn id="1196" nodeType="clickEffect" fill="hold" presetClass="entr" presetID="10">
                                  <p:stCondLst>
                                    <p:cond delay="0"/>
                                  </p:stCondLst>
                                  <p:childTnLst>
                                    <p:set>
                                      <p:cBhvr>
                                        <p:cTn id="1197" dur="1" fill="hold">
                                          <p:stCondLst>
                                            <p:cond delay="0"/>
                                          </p:stCondLst>
                                        </p:cTn>
                                        <p:tgtEl>
                                          <p:spTgt spid="410"/>
                                        </p:tgtEl>
                                        <p:attrNameLst>
                                          <p:attrName>style.visibility</p:attrName>
                                        </p:attrNameLst>
                                      </p:cBhvr>
                                      <p:to>
                                        <p:strVal val="visible"/>
                                      </p:to>
                                    </p:set>
                                    <p:animEffect filter="fade" transition="in">
                                      <p:cBhvr additive="repl">
                                        <p:cTn id="1198" dur="500"/>
                                        <p:tgtEl>
                                          <p:spTgt spid="4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16.3  MONOPOLY AND COMPETITION COMPARED</a:t>
            </a:r>
            <a:endParaRPr b="0" lang="en-CA" sz="2600" strike="noStrike" u="none">
              <a:solidFill>
                <a:schemeClr val="dk1"/>
              </a:solidFill>
              <a:effectLst/>
              <a:uFillTx/>
              <a:latin typeface="Arial"/>
            </a:endParaRPr>
          </a:p>
        </p:txBody>
      </p:sp>
      <p:sp>
        <p:nvSpPr>
          <p:cNvPr id="412" name="PlaceHolder 2"/>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817200" indent="-457200">
              <a:lnSpc>
                <a:spcPct val="100000"/>
              </a:lnSpc>
              <a:spcBef>
                <a:spcPts val="601"/>
              </a:spcBef>
              <a:spcAft>
                <a:spcPts val="601"/>
              </a:spcAft>
              <a:buClr>
                <a:srgbClr val="000000"/>
              </a:buClr>
              <a:buFont typeface="Arial"/>
              <a:buAutoNum type="arabicPeriod" startAt="2"/>
            </a:pPr>
            <a:r>
              <a:rPr b="0" lang="en-US" sz="2400" strike="noStrike" u="none">
                <a:solidFill>
                  <a:srgbClr val="000000"/>
                </a:solidFill>
                <a:effectLst/>
                <a:uFillTx/>
                <a:latin typeface="Arial"/>
                <a:ea typeface="ＭＳ Ｐゴシック"/>
              </a:rPr>
              <a:t>Consumer surplus shrinks.</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startAt="2"/>
              <a:tabLst>
                <a:tab algn="l" pos="515880"/>
              </a:tabLst>
            </a:pPr>
            <a:r>
              <a:rPr b="0" lang="en-US" sz="2400" strike="noStrike" u="none">
                <a:solidFill>
                  <a:srgbClr val="000000"/>
                </a:solidFill>
                <a:effectLst/>
                <a:uFillTx/>
                <a:latin typeface="Arial"/>
                <a:ea typeface="ＭＳ Ｐゴシック"/>
              </a:rPr>
              <a:t>The deadweight loss increases and now includes the original deadweight loss plus the economic profit consumed by rent seeking.</a:t>
            </a:r>
            <a:endParaRPr b="1" lang="en-CA" sz="2400" strike="noStrike" u="none">
              <a:solidFill>
                <a:srgbClr val="00468f"/>
              </a:solidFill>
              <a:effectLst/>
              <a:uFillTx/>
              <a:latin typeface="Arial"/>
            </a:endParaRPr>
          </a:p>
        </p:txBody>
      </p:sp>
      <p:pic>
        <p:nvPicPr>
          <p:cNvPr id="413" name="Picture 1" descr=""/>
          <p:cNvPicPr/>
          <p:nvPr/>
        </p:nvPicPr>
        <p:blipFill>
          <a:blip r:embed="rId1"/>
          <a:stretch/>
        </p:blipFill>
        <p:spPr>
          <a:xfrm>
            <a:off x="4608360" y="1511280"/>
            <a:ext cx="4063680" cy="4105080"/>
          </a:xfrm>
          <a:prstGeom prst="rect">
            <a:avLst/>
          </a:prstGeom>
          <a:noFill/>
          <a:ln w="0">
            <a:noFill/>
          </a:ln>
        </p:spPr>
      </p:pic>
      <p:pic>
        <p:nvPicPr>
          <p:cNvPr id="414" name="Picture 10" descr=""/>
          <p:cNvPicPr/>
          <p:nvPr/>
        </p:nvPicPr>
        <p:blipFill>
          <a:blip r:embed="rId2"/>
          <a:stretch/>
        </p:blipFill>
        <p:spPr>
          <a:xfrm>
            <a:off x="4608360" y="1511280"/>
            <a:ext cx="4063680" cy="4105080"/>
          </a:xfrm>
          <a:prstGeom prst="rect">
            <a:avLst/>
          </a:prstGeom>
          <a:noFill/>
          <a:ln w="0">
            <a:noFill/>
          </a:ln>
        </p:spPr>
      </p:pic>
      <p:pic>
        <p:nvPicPr>
          <p:cNvPr id="415" name="Picture 11" descr=""/>
          <p:cNvPicPr/>
          <p:nvPr/>
        </p:nvPicPr>
        <p:blipFill>
          <a:blip r:embed="rId3"/>
          <a:stretch/>
        </p:blipFill>
        <p:spPr>
          <a:xfrm>
            <a:off x="4608360" y="1511280"/>
            <a:ext cx="4063680" cy="4105080"/>
          </a:xfrm>
          <a:prstGeom prst="rect">
            <a:avLst/>
          </a:prstGeom>
          <a:noFill/>
          <a:ln w="0">
            <a:noFill/>
          </a:ln>
        </p:spPr>
      </p:pic>
      <p:pic>
        <p:nvPicPr>
          <p:cNvPr id="416" name="Picture 12" descr=""/>
          <p:cNvPicPr/>
          <p:nvPr/>
        </p:nvPicPr>
        <p:blipFill>
          <a:blip r:embed="rId4"/>
          <a:stretch/>
        </p:blipFill>
        <p:spPr>
          <a:xfrm>
            <a:off x="4608360" y="1511280"/>
            <a:ext cx="4063680" cy="4105080"/>
          </a:xfrm>
          <a:prstGeom prst="rect">
            <a:avLst/>
          </a:prstGeom>
          <a:noFill/>
          <a:ln w="0">
            <a:noFill/>
          </a:ln>
        </p:spPr>
      </p:pic>
    </p:spTree>
  </p:cSld>
  <p:transition spd="slow">
    <p:wipe dir="r"/>
  </p:transition>
  <p:timing>
    <p:tnLst>
      <p:par>
        <p:cTn id="1199" dur="indefinite" restart="never" nodeType="tmRoot">
          <p:childTnLst>
            <p:seq>
              <p:cTn id="1200" dur="indefinite" nodeType="mainSeq">
                <p:childTnLst>
                  <p:par>
                    <p:cTn id="1201" nodeType="clickEffect" fill="hold">
                      <p:stCondLst>
                        <p:cond delay="0"/>
                      </p:stCondLst>
                      <p:childTnLst>
                        <p:par>
                          <p:cTn id="1202" nodeType="withEffect" fill="hold">
                            <p:stCondLst>
                              <p:cond delay="0"/>
                            </p:stCondLst>
                            <p:childTnLst>
                              <p:par>
                                <p:cTn id="1203" nodeType="withEffect" fill="hold" presetClass="entr" presetID="10">
                                  <p:stCondLst>
                                    <p:cond delay="0"/>
                                  </p:stCondLst>
                                  <p:childTnLst>
                                    <p:set>
                                      <p:cBhvr>
                                        <p:cTn id="1204" dur="1" fill="hold">
                                          <p:stCondLst>
                                            <p:cond delay="0"/>
                                          </p:stCondLst>
                                        </p:cTn>
                                        <p:tgtEl>
                                          <p:spTgt spid="415"/>
                                        </p:tgtEl>
                                        <p:attrNameLst>
                                          <p:attrName>style.visibility</p:attrName>
                                        </p:attrNameLst>
                                      </p:cBhvr>
                                      <p:to>
                                        <p:strVal val="visible"/>
                                      </p:to>
                                    </p:set>
                                    <p:animEffect filter="fade" transition="in">
                                      <p:cBhvr additive="repl">
                                        <p:cTn id="1205" dur="500"/>
                                        <p:tgtEl>
                                          <p:spTgt spid="415"/>
                                        </p:tgtEl>
                                      </p:cBhvr>
                                    </p:animEffect>
                                  </p:childTnLst>
                                </p:cTn>
                              </p:par>
                            </p:childTnLst>
                          </p:cTn>
                        </p:par>
                      </p:childTnLst>
                    </p:cTn>
                  </p:par>
                  <p:par>
                    <p:cTn id="1206" nodeType="clickEffect" fill="hold">
                      <p:stCondLst>
                        <p:cond delay="indefinite"/>
                      </p:stCondLst>
                      <p:childTnLst>
                        <p:par>
                          <p:cTn id="1207" nodeType="withEffect" fill="hold">
                            <p:stCondLst>
                              <p:cond delay="0"/>
                            </p:stCondLst>
                            <p:childTnLst>
                              <p:par>
                                <p:cTn id="1208" nodeType="clickEffect" fill="hold" presetClass="entr" presetID="22" presetSubtype="8">
                                  <p:stCondLst>
                                    <p:cond delay="0"/>
                                  </p:stCondLst>
                                  <p:childTnLst>
                                    <p:set>
                                      <p:cBhvr>
                                        <p:cTn id="1209" dur="1" fill="hold">
                                          <p:stCondLst>
                                            <p:cond delay="0"/>
                                          </p:stCondLst>
                                        </p:cTn>
                                        <p:tgtEl>
                                          <p:spTgt spid="412">
                                            <p:txEl>
                                              <p:pRg st="1" end="1"/>
                                            </p:txEl>
                                          </p:spTgt>
                                        </p:tgtEl>
                                        <p:attrNameLst>
                                          <p:attrName>style.visibility</p:attrName>
                                        </p:attrNameLst>
                                      </p:cBhvr>
                                      <p:to>
                                        <p:strVal val="visible"/>
                                      </p:to>
                                    </p:set>
                                    <p:animEffect filter="wipe(left)" transition="in">
                                      <p:cBhvr additive="repl">
                                        <p:cTn id="1210" dur="500"/>
                                        <p:tgtEl>
                                          <p:spTgt spid="412">
                                            <p:txEl>
                                              <p:pRg st="1" end="1"/>
                                            </p:txEl>
                                          </p:spTgt>
                                        </p:tgtEl>
                                      </p:cBhvr>
                                    </p:animEffect>
                                  </p:childTnLst>
                                </p:cTn>
                              </p:par>
                              <p:par>
                                <p:cTn id="1211" nodeType="withEffect" fill="hold" presetClass="entr" presetID="10">
                                  <p:stCondLst>
                                    <p:cond delay="0"/>
                                  </p:stCondLst>
                                  <p:childTnLst>
                                    <p:set>
                                      <p:cBhvr>
                                        <p:cTn id="1212" dur="1" fill="hold">
                                          <p:stCondLst>
                                            <p:cond delay="0"/>
                                          </p:stCondLst>
                                        </p:cTn>
                                        <p:tgtEl>
                                          <p:spTgt spid="416"/>
                                        </p:tgtEl>
                                        <p:attrNameLst>
                                          <p:attrName>style.visibility</p:attrName>
                                        </p:attrNameLst>
                                      </p:cBhvr>
                                      <p:to>
                                        <p:strVal val="visible"/>
                                      </p:to>
                                    </p:set>
                                    <p:animEffect filter="fade" transition="in">
                                      <p:cBhvr additive="repl">
                                        <p:cTn id="1213" dur="500"/>
                                        <p:tgtEl>
                                          <p:spTgt spid="4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16.4  PRICE DISCRIMINATION</a:t>
            </a:r>
            <a:endParaRPr b="0" lang="en-CA" sz="2600" strike="noStrike" u="none">
              <a:solidFill>
                <a:schemeClr val="dk1"/>
              </a:solidFill>
              <a:effectLst/>
              <a:uFillTx/>
              <a:latin typeface="Arial"/>
            </a:endParaRPr>
          </a:p>
        </p:txBody>
      </p:sp>
      <p:sp>
        <p:nvSpPr>
          <p:cNvPr id="418"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Price discrimination</a:t>
            </a:r>
            <a:r>
              <a:rPr b="0" lang="en-US" sz="2400" strike="noStrike" u="none">
                <a:solidFill>
                  <a:schemeClr val="dk1"/>
                </a:solidFill>
                <a:effectLst/>
                <a:uFillTx/>
                <a:latin typeface="Arial"/>
                <a:ea typeface="ＭＳ Ｐゴシック"/>
              </a:rPr>
              <a:t>—</a:t>
            </a:r>
            <a:r>
              <a:rPr b="0" lang="en-US" sz="2400" strike="noStrike" u="none">
                <a:solidFill>
                  <a:schemeClr val="dk1"/>
                </a:solidFill>
                <a:effectLst/>
                <a:uFillTx/>
                <a:latin typeface="Arial"/>
                <a:ea typeface="ＭＳ Ｐゴシック"/>
              </a:rPr>
              <a:t>selling a good or service at a number of different prices</a:t>
            </a:r>
            <a:r>
              <a:rPr b="0" lang="en-US" sz="2400" strike="noStrike" u="none">
                <a:solidFill>
                  <a:schemeClr val="dk1"/>
                </a:solidFill>
                <a:effectLst/>
                <a:uFillTx/>
                <a:latin typeface="Arial"/>
                <a:ea typeface="ＭＳ Ｐゴシック"/>
              </a:rPr>
              <a:t>—</a:t>
            </a:r>
            <a:r>
              <a:rPr b="0" lang="en-US" sz="2400" strike="noStrike" u="none">
                <a:solidFill>
                  <a:schemeClr val="dk1"/>
                </a:solidFill>
                <a:effectLst/>
                <a:uFillTx/>
                <a:latin typeface="Arial"/>
                <a:ea typeface="ＭＳ Ｐゴシック"/>
              </a:rPr>
              <a:t>is widespread.</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To be able to price discriminate, a firm must</a:t>
            </a:r>
            <a:endParaRPr b="1" lang="en-CA" sz="24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Identify and separate different types of buyers.</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Sell a product that cannot be resold.</a:t>
            </a:r>
            <a:endParaRPr b="0" lang="en-CA" sz="2400" strike="noStrike" u="none">
              <a:solidFill>
                <a:schemeClr val="dk1"/>
              </a:solidFill>
              <a:effectLst/>
              <a:uFillTx/>
              <a:latin typeface="Arial"/>
            </a:endParaRPr>
          </a:p>
        </p:txBody>
      </p:sp>
    </p:spTree>
  </p:cSld>
  <p:transition spd="slow">
    <p:wipe dir="r"/>
  </p:transition>
  <p:timing>
    <p:tnLst>
      <p:par>
        <p:cTn id="1214" dur="indefinite" restart="never" nodeType="tmRoot">
          <p:childTnLst>
            <p:seq>
              <p:cTn id="1215" dur="indefinite" nodeType="mainSeq">
                <p:childTnLst>
                  <p:par>
                    <p:cTn id="1216" nodeType="clickEffect" fill="hold">
                      <p:stCondLst>
                        <p:cond delay="indefinite"/>
                      </p:stCondLst>
                      <p:childTnLst>
                        <p:par>
                          <p:cTn id="1217" nodeType="withEffect" fill="hold">
                            <p:stCondLst>
                              <p:cond delay="0"/>
                            </p:stCondLst>
                            <p:childTnLst>
                              <p:par>
                                <p:cTn id="1218" nodeType="clickEffect" fill="hold" presetClass="entr" presetID="22" presetSubtype="8">
                                  <p:stCondLst>
                                    <p:cond delay="0"/>
                                  </p:stCondLst>
                                  <p:childTnLst>
                                    <p:set>
                                      <p:cBhvr>
                                        <p:cTn id="1219" dur="1" fill="hold">
                                          <p:stCondLst>
                                            <p:cond delay="0"/>
                                          </p:stCondLst>
                                        </p:cTn>
                                        <p:tgtEl>
                                          <p:spTgt spid="418">
                                            <p:txEl>
                                              <p:pRg st="1" end="1"/>
                                            </p:txEl>
                                          </p:spTgt>
                                        </p:tgtEl>
                                        <p:attrNameLst>
                                          <p:attrName>style.visibility</p:attrName>
                                        </p:attrNameLst>
                                      </p:cBhvr>
                                      <p:to>
                                        <p:strVal val="visible"/>
                                      </p:to>
                                    </p:set>
                                    <p:animEffect filter="wipe(left)" transition="in">
                                      <p:cBhvr additive="repl">
                                        <p:cTn id="1220" dur="500"/>
                                        <p:tgtEl>
                                          <p:spTgt spid="418">
                                            <p:txEl>
                                              <p:pRg st="1" end="1"/>
                                            </p:txEl>
                                          </p:spTgt>
                                        </p:tgtEl>
                                      </p:cBhvr>
                                    </p:animEffect>
                                  </p:childTnLst>
                                </p:cTn>
                              </p:par>
                            </p:childTnLst>
                          </p:cTn>
                        </p:par>
                      </p:childTnLst>
                    </p:cTn>
                  </p:par>
                  <p:par>
                    <p:cTn id="1221" nodeType="clickEffect" fill="hold">
                      <p:stCondLst>
                        <p:cond delay="indefinite"/>
                      </p:stCondLst>
                      <p:childTnLst>
                        <p:par>
                          <p:cTn id="1222" nodeType="withEffect" fill="hold">
                            <p:stCondLst>
                              <p:cond delay="0"/>
                            </p:stCondLst>
                            <p:childTnLst>
                              <p:par>
                                <p:cTn id="1223" nodeType="clickEffect" fill="hold" presetClass="entr" presetID="22" presetSubtype="8">
                                  <p:stCondLst>
                                    <p:cond delay="0"/>
                                  </p:stCondLst>
                                  <p:childTnLst>
                                    <p:set>
                                      <p:cBhvr>
                                        <p:cTn id="1224" dur="1" fill="hold">
                                          <p:stCondLst>
                                            <p:cond delay="0"/>
                                          </p:stCondLst>
                                        </p:cTn>
                                        <p:tgtEl>
                                          <p:spTgt spid="418">
                                            <p:txEl>
                                              <p:pRg st="2" end="2"/>
                                            </p:txEl>
                                          </p:spTgt>
                                        </p:tgtEl>
                                        <p:attrNameLst>
                                          <p:attrName>style.visibility</p:attrName>
                                        </p:attrNameLst>
                                      </p:cBhvr>
                                      <p:to>
                                        <p:strVal val="visible"/>
                                      </p:to>
                                    </p:set>
                                    <p:animEffect filter="wipe(left)" transition="in">
                                      <p:cBhvr additive="repl">
                                        <p:cTn id="1225" dur="500"/>
                                        <p:tgtEl>
                                          <p:spTgt spid="418">
                                            <p:txEl>
                                              <p:pRg st="2" end="2"/>
                                            </p:txEl>
                                          </p:spTgt>
                                        </p:tgtEl>
                                      </p:cBhvr>
                                    </p:animEffect>
                                  </p:childTnLst>
                                </p:cTn>
                              </p:par>
                            </p:childTnLst>
                          </p:cTn>
                        </p:par>
                      </p:childTnLst>
                    </p:cTn>
                  </p:par>
                  <p:par>
                    <p:cTn id="1226" nodeType="clickEffect" fill="hold">
                      <p:stCondLst>
                        <p:cond delay="indefinite"/>
                      </p:stCondLst>
                      <p:childTnLst>
                        <p:par>
                          <p:cTn id="1227" nodeType="withEffect" fill="hold">
                            <p:stCondLst>
                              <p:cond delay="0"/>
                            </p:stCondLst>
                            <p:childTnLst>
                              <p:par>
                                <p:cTn id="1228" nodeType="clickEffect" fill="hold" presetClass="entr" presetID="22" presetSubtype="8">
                                  <p:stCondLst>
                                    <p:cond delay="0"/>
                                  </p:stCondLst>
                                  <p:childTnLst>
                                    <p:set>
                                      <p:cBhvr>
                                        <p:cTn id="1229" dur="1" fill="hold">
                                          <p:stCondLst>
                                            <p:cond delay="0"/>
                                          </p:stCondLst>
                                        </p:cTn>
                                        <p:tgtEl>
                                          <p:spTgt spid="418">
                                            <p:txEl>
                                              <p:pRg st="3" end="3"/>
                                            </p:txEl>
                                          </p:spTgt>
                                        </p:tgtEl>
                                        <p:attrNameLst>
                                          <p:attrName>style.visibility</p:attrName>
                                        </p:attrNameLst>
                                      </p:cBhvr>
                                      <p:to>
                                        <p:strVal val="visible"/>
                                      </p:to>
                                    </p:set>
                                    <p:animEffect filter="wipe(left)" transition="in">
                                      <p:cBhvr additive="repl">
                                        <p:cTn id="1230" dur="500"/>
                                        <p:tgtEl>
                                          <p:spTgt spid="418">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16.4  PRICE DISCRIMINATION</a:t>
            </a:r>
            <a:endParaRPr b="0" lang="en-CA" sz="2600" strike="noStrike" u="none">
              <a:solidFill>
                <a:schemeClr val="dk1"/>
              </a:solidFill>
              <a:effectLst/>
              <a:uFillTx/>
              <a:latin typeface="Arial"/>
            </a:endParaRPr>
          </a:p>
        </p:txBody>
      </p:sp>
      <p:sp>
        <p:nvSpPr>
          <p:cNvPr id="420"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Price Discrimination and Consumer Surplus</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key idea behind price discrimination is to convert consumer surplus into economic profit.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To extract every dollar of consumer surplus from every buyer, the monopoly would have to offer each individual customer a separate price schedule based on that customer’s own willingness to pay.</a:t>
            </a:r>
            <a:endParaRPr b="1" lang="en-CA" sz="2400" strike="noStrike" u="none">
              <a:solidFill>
                <a:srgbClr val="00468f"/>
              </a:solidFill>
              <a:effectLst/>
              <a:uFillTx/>
              <a:latin typeface="Arial"/>
            </a:endParaRPr>
          </a:p>
        </p:txBody>
      </p:sp>
    </p:spTree>
  </p:cSld>
  <p:transition spd="slow">
    <p:wipe dir="r"/>
  </p:transition>
  <p:timing>
    <p:tnLst>
      <p:par>
        <p:cTn id="1231" dur="indefinite" restart="never" nodeType="tmRoot">
          <p:childTnLst>
            <p:seq>
              <p:cTn id="1232" dur="indefinite" nodeType="mainSeq">
                <p:childTnLst>
                  <p:par>
                    <p:cTn id="1233" nodeType="clickEffect" fill="hold">
                      <p:stCondLst>
                        <p:cond delay="indefinite"/>
                      </p:stCondLst>
                      <p:childTnLst>
                        <p:par>
                          <p:cTn id="1234" nodeType="withEffect" fill="hold">
                            <p:stCondLst>
                              <p:cond delay="0"/>
                            </p:stCondLst>
                            <p:childTnLst>
                              <p:par>
                                <p:cTn id="1235" nodeType="clickEffect" fill="hold" presetClass="entr" presetID="22" presetSubtype="8">
                                  <p:stCondLst>
                                    <p:cond delay="0"/>
                                  </p:stCondLst>
                                  <p:childTnLst>
                                    <p:set>
                                      <p:cBhvr>
                                        <p:cTn id="1236" dur="1" fill="hold">
                                          <p:stCondLst>
                                            <p:cond delay="0"/>
                                          </p:stCondLst>
                                        </p:cTn>
                                        <p:tgtEl>
                                          <p:spTgt spid="420">
                                            <p:txEl>
                                              <p:pRg st="1" end="1"/>
                                            </p:txEl>
                                          </p:spTgt>
                                        </p:tgtEl>
                                        <p:attrNameLst>
                                          <p:attrName>style.visibility</p:attrName>
                                        </p:attrNameLst>
                                      </p:cBhvr>
                                      <p:to>
                                        <p:strVal val="visible"/>
                                      </p:to>
                                    </p:set>
                                    <p:animEffect filter="wipe(left)" transition="in">
                                      <p:cBhvr additive="repl">
                                        <p:cTn id="1237" dur="500"/>
                                        <p:tgtEl>
                                          <p:spTgt spid="420">
                                            <p:txEl>
                                              <p:pRg st="1" end="1"/>
                                            </p:txEl>
                                          </p:spTgt>
                                        </p:tgtEl>
                                      </p:cBhvr>
                                    </p:animEffect>
                                  </p:childTnLst>
                                </p:cTn>
                              </p:par>
                            </p:childTnLst>
                          </p:cTn>
                        </p:par>
                      </p:childTnLst>
                    </p:cTn>
                  </p:par>
                  <p:par>
                    <p:cTn id="1238" nodeType="clickEffect" fill="hold">
                      <p:stCondLst>
                        <p:cond delay="indefinite"/>
                      </p:stCondLst>
                      <p:childTnLst>
                        <p:par>
                          <p:cTn id="1239" nodeType="withEffect" fill="hold">
                            <p:stCondLst>
                              <p:cond delay="0"/>
                            </p:stCondLst>
                            <p:childTnLst>
                              <p:par>
                                <p:cTn id="1240" nodeType="clickEffect" fill="hold" presetClass="entr" presetID="22" presetSubtype="8">
                                  <p:stCondLst>
                                    <p:cond delay="0"/>
                                  </p:stCondLst>
                                  <p:childTnLst>
                                    <p:set>
                                      <p:cBhvr>
                                        <p:cTn id="1241" dur="1" fill="hold">
                                          <p:stCondLst>
                                            <p:cond delay="0"/>
                                          </p:stCondLst>
                                        </p:cTn>
                                        <p:tgtEl>
                                          <p:spTgt spid="420">
                                            <p:txEl>
                                              <p:pRg st="2" end="2"/>
                                            </p:txEl>
                                          </p:spTgt>
                                        </p:tgtEl>
                                        <p:attrNameLst>
                                          <p:attrName>style.visibility</p:attrName>
                                        </p:attrNameLst>
                                      </p:cBhvr>
                                      <p:to>
                                        <p:strVal val="visible"/>
                                      </p:to>
                                    </p:set>
                                    <p:animEffect filter="wipe(left)" transition="in">
                                      <p:cBhvr additive="repl">
                                        <p:cTn id="1242" dur="500"/>
                                        <p:tgtEl>
                                          <p:spTgt spid="420">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16.4  PRICE DISCRIMINATION</a:t>
            </a:r>
            <a:endParaRPr b="0" lang="en-CA" sz="2600" strike="noStrike" u="none">
              <a:solidFill>
                <a:schemeClr val="dk1"/>
              </a:solidFill>
              <a:effectLst/>
              <a:uFillTx/>
              <a:latin typeface="Arial"/>
            </a:endParaRPr>
          </a:p>
        </p:txBody>
      </p:sp>
      <p:sp>
        <p:nvSpPr>
          <p:cNvPr id="422"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Discriminating Among Groups of Buyers</a:t>
            </a:r>
            <a:endParaRPr b="1" lang="en-CA" sz="26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The firm offers different prices to different types of buyers, based on things like age, employment status, or some other easily distinguished characteristic.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This type of price discrimination works when each group has a different average willingness to pay for the good or service.</a:t>
            </a:r>
            <a:endParaRPr b="1" lang="en-CA" sz="2400" strike="noStrike" u="none">
              <a:solidFill>
                <a:srgbClr val="00468f"/>
              </a:solidFill>
              <a:effectLst/>
              <a:uFillTx/>
              <a:latin typeface="Arial"/>
            </a:endParaRPr>
          </a:p>
        </p:txBody>
      </p:sp>
    </p:spTree>
  </p:cSld>
  <p:transition spd="slow">
    <p:wipe dir="r"/>
  </p:transition>
  <p:timing>
    <p:tnLst>
      <p:par>
        <p:cTn id="1243" dur="indefinite" restart="never" nodeType="tmRoot">
          <p:childTnLst>
            <p:seq>
              <p:cTn id="1244" dur="indefinite" nodeType="mainSeq">
                <p:childTnLst>
                  <p:par>
                    <p:cTn id="1245" nodeType="clickEffect" fill="hold">
                      <p:stCondLst>
                        <p:cond delay="indefinite"/>
                      </p:stCondLst>
                      <p:childTnLst>
                        <p:par>
                          <p:cTn id="1246" nodeType="withEffect" fill="hold">
                            <p:stCondLst>
                              <p:cond delay="0"/>
                            </p:stCondLst>
                            <p:childTnLst>
                              <p:par>
                                <p:cTn id="1247" nodeType="clickEffect" fill="hold" presetClass="entr" presetID="22" presetSubtype="8">
                                  <p:stCondLst>
                                    <p:cond delay="0"/>
                                  </p:stCondLst>
                                  <p:childTnLst>
                                    <p:set>
                                      <p:cBhvr>
                                        <p:cTn id="1248" dur="1" fill="hold">
                                          <p:stCondLst>
                                            <p:cond delay="0"/>
                                          </p:stCondLst>
                                        </p:cTn>
                                        <p:tgtEl>
                                          <p:spTgt spid="422">
                                            <p:txEl>
                                              <p:pRg st="1" end="1"/>
                                            </p:txEl>
                                          </p:spTgt>
                                        </p:tgtEl>
                                        <p:attrNameLst>
                                          <p:attrName>style.visibility</p:attrName>
                                        </p:attrNameLst>
                                      </p:cBhvr>
                                      <p:to>
                                        <p:strVal val="visible"/>
                                      </p:to>
                                    </p:set>
                                    <p:animEffect filter="wipe(left)" transition="in">
                                      <p:cBhvr additive="repl">
                                        <p:cTn id="1249" dur="500"/>
                                        <p:tgtEl>
                                          <p:spTgt spid="422">
                                            <p:txEl>
                                              <p:pRg st="1" end="1"/>
                                            </p:txEl>
                                          </p:spTgt>
                                        </p:tgtEl>
                                      </p:cBhvr>
                                    </p:animEffect>
                                  </p:childTnLst>
                                </p:cTn>
                              </p:par>
                            </p:childTnLst>
                          </p:cTn>
                        </p:par>
                      </p:childTnLst>
                    </p:cTn>
                  </p:par>
                  <p:par>
                    <p:cTn id="1250" nodeType="clickEffect" fill="hold">
                      <p:stCondLst>
                        <p:cond delay="indefinite"/>
                      </p:stCondLst>
                      <p:childTnLst>
                        <p:par>
                          <p:cTn id="1251" nodeType="withEffect" fill="hold">
                            <p:stCondLst>
                              <p:cond delay="0"/>
                            </p:stCondLst>
                            <p:childTnLst>
                              <p:par>
                                <p:cTn id="1252" nodeType="clickEffect" fill="hold" presetClass="entr" presetID="22" presetSubtype="8">
                                  <p:stCondLst>
                                    <p:cond delay="0"/>
                                  </p:stCondLst>
                                  <p:childTnLst>
                                    <p:set>
                                      <p:cBhvr>
                                        <p:cTn id="1253" dur="1" fill="hold">
                                          <p:stCondLst>
                                            <p:cond delay="0"/>
                                          </p:stCondLst>
                                        </p:cTn>
                                        <p:tgtEl>
                                          <p:spTgt spid="422">
                                            <p:txEl>
                                              <p:pRg st="2" end="2"/>
                                            </p:txEl>
                                          </p:spTgt>
                                        </p:tgtEl>
                                        <p:attrNameLst>
                                          <p:attrName>style.visibility</p:attrName>
                                        </p:attrNameLst>
                                      </p:cBhvr>
                                      <p:to>
                                        <p:strVal val="visible"/>
                                      </p:to>
                                    </p:set>
                                    <p:animEffect filter="wipe(left)" transition="in">
                                      <p:cBhvr additive="repl">
                                        <p:cTn id="1254" dur="500"/>
                                        <p:tgtEl>
                                          <p:spTgt spid="422">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3"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16.4  PRICE DISCRIMINATION</a:t>
            </a:r>
            <a:endParaRPr b="0" lang="en-CA" sz="2600" strike="noStrike" u="none">
              <a:solidFill>
                <a:schemeClr val="dk1"/>
              </a:solidFill>
              <a:effectLst/>
              <a:uFillTx/>
              <a:latin typeface="Arial"/>
            </a:endParaRPr>
          </a:p>
        </p:txBody>
      </p:sp>
      <p:sp>
        <p:nvSpPr>
          <p:cNvPr id="424"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Discriminating Among Units of a Good</a:t>
            </a:r>
            <a:endParaRPr b="1" lang="en-CA" sz="26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firm charges the same prices to all its customers but offers a lower price per unit for a larger number of units bought.</a:t>
            </a:r>
            <a:endParaRPr b="1" lang="en-CA" sz="2400" strike="noStrike" u="none">
              <a:solidFill>
                <a:srgbClr val="00468f"/>
              </a:solidFill>
              <a:effectLst/>
              <a:uFillTx/>
              <a:latin typeface="Arial"/>
            </a:endParaRPr>
          </a:p>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Profiting by Price Discriminating</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Global Air has a monopoly on an exotic route.</a:t>
            </a:r>
            <a:endParaRPr b="1" lang="en-CA" sz="2400" strike="noStrike" u="none">
              <a:solidFill>
                <a:srgbClr val="00468f"/>
              </a:solidFill>
              <a:effectLst/>
              <a:uFillTx/>
              <a:latin typeface="Arial"/>
            </a:endParaRPr>
          </a:p>
        </p:txBody>
      </p:sp>
    </p:spTree>
  </p:cSld>
  <p:transition spd="slow">
    <p:wipe dir="r"/>
  </p:transition>
  <p:timing>
    <p:tnLst>
      <p:par>
        <p:cTn id="1255" dur="indefinite" restart="never" nodeType="tmRoot">
          <p:childTnLst>
            <p:seq>
              <p:cTn id="1256" dur="indefinite" nodeType="mainSeq">
                <p:childTnLst>
                  <p:par>
                    <p:cTn id="1257" nodeType="clickEffect" fill="hold">
                      <p:stCondLst>
                        <p:cond delay="indefinite"/>
                      </p:stCondLst>
                      <p:childTnLst>
                        <p:par>
                          <p:cTn id="1258" nodeType="withEffect" fill="hold">
                            <p:stCondLst>
                              <p:cond delay="0"/>
                            </p:stCondLst>
                            <p:childTnLst>
                              <p:par>
                                <p:cTn id="1259" nodeType="clickEffect" fill="hold" presetClass="entr" presetID="22" presetSubtype="8">
                                  <p:stCondLst>
                                    <p:cond delay="0"/>
                                  </p:stCondLst>
                                  <p:childTnLst>
                                    <p:set>
                                      <p:cBhvr>
                                        <p:cTn id="1260" dur="1" fill="hold">
                                          <p:stCondLst>
                                            <p:cond delay="0"/>
                                          </p:stCondLst>
                                        </p:cTn>
                                        <p:tgtEl>
                                          <p:spTgt spid="424">
                                            <p:txEl>
                                              <p:pRg st="1" end="1"/>
                                            </p:txEl>
                                          </p:spTgt>
                                        </p:tgtEl>
                                        <p:attrNameLst>
                                          <p:attrName>style.visibility</p:attrName>
                                        </p:attrNameLst>
                                      </p:cBhvr>
                                      <p:to>
                                        <p:strVal val="visible"/>
                                      </p:to>
                                    </p:set>
                                    <p:animEffect filter="wipe(left)" transition="in">
                                      <p:cBhvr additive="repl">
                                        <p:cTn id="1261" dur="500"/>
                                        <p:tgtEl>
                                          <p:spTgt spid="424">
                                            <p:txEl>
                                              <p:pRg st="1" end="1"/>
                                            </p:txEl>
                                          </p:spTgt>
                                        </p:tgtEl>
                                      </p:cBhvr>
                                    </p:animEffect>
                                  </p:childTnLst>
                                </p:cTn>
                              </p:par>
                            </p:childTnLst>
                          </p:cTn>
                        </p:par>
                      </p:childTnLst>
                    </p:cTn>
                  </p:par>
                  <p:par>
                    <p:cTn id="1262" nodeType="clickEffect" fill="hold">
                      <p:stCondLst>
                        <p:cond delay="indefinite"/>
                      </p:stCondLst>
                      <p:childTnLst>
                        <p:par>
                          <p:cTn id="1263" nodeType="withEffect" fill="hold">
                            <p:stCondLst>
                              <p:cond delay="0"/>
                            </p:stCondLst>
                            <p:childTnLst>
                              <p:par>
                                <p:cTn id="1264" nodeType="clickEffect" fill="hold" presetClass="entr" presetID="22" presetSubtype="8">
                                  <p:stCondLst>
                                    <p:cond delay="0"/>
                                  </p:stCondLst>
                                  <p:childTnLst>
                                    <p:set>
                                      <p:cBhvr>
                                        <p:cTn id="1265" dur="1" fill="hold">
                                          <p:stCondLst>
                                            <p:cond delay="0"/>
                                          </p:stCondLst>
                                        </p:cTn>
                                        <p:tgtEl>
                                          <p:spTgt spid="424">
                                            <p:txEl>
                                              <p:pRg st="2" end="2"/>
                                            </p:txEl>
                                          </p:spTgt>
                                        </p:tgtEl>
                                        <p:attrNameLst>
                                          <p:attrName>style.visibility</p:attrName>
                                        </p:attrNameLst>
                                      </p:cBhvr>
                                      <p:to>
                                        <p:strVal val="visible"/>
                                      </p:to>
                                    </p:set>
                                    <p:animEffect filter="wipe(left)" transition="in">
                                      <p:cBhvr additive="repl">
                                        <p:cTn id="1266" dur="500"/>
                                        <p:tgtEl>
                                          <p:spTgt spid="424">
                                            <p:txEl>
                                              <p:pRg st="2" end="2"/>
                                            </p:txEl>
                                          </p:spTgt>
                                        </p:tgtEl>
                                      </p:cBhvr>
                                    </p:animEffect>
                                  </p:childTnLst>
                                </p:cTn>
                              </p:par>
                            </p:childTnLst>
                          </p:cTn>
                        </p:par>
                      </p:childTnLst>
                    </p:cTn>
                  </p:par>
                  <p:par>
                    <p:cTn id="1267" nodeType="clickEffect" fill="hold">
                      <p:stCondLst>
                        <p:cond delay="indefinite"/>
                      </p:stCondLst>
                      <p:childTnLst>
                        <p:par>
                          <p:cTn id="1268" nodeType="withEffect" fill="hold">
                            <p:stCondLst>
                              <p:cond delay="0"/>
                            </p:stCondLst>
                            <p:childTnLst>
                              <p:par>
                                <p:cTn id="1269" nodeType="clickEffect" fill="hold" presetClass="entr" presetID="22" presetSubtype="8">
                                  <p:stCondLst>
                                    <p:cond delay="0"/>
                                  </p:stCondLst>
                                  <p:childTnLst>
                                    <p:set>
                                      <p:cBhvr>
                                        <p:cTn id="1270" dur="1" fill="hold">
                                          <p:stCondLst>
                                            <p:cond delay="0"/>
                                          </p:stCondLst>
                                        </p:cTn>
                                        <p:tgtEl>
                                          <p:spTgt spid="424">
                                            <p:txEl>
                                              <p:pRg st="3" end="3"/>
                                            </p:txEl>
                                          </p:spTgt>
                                        </p:tgtEl>
                                        <p:attrNameLst>
                                          <p:attrName>style.visibility</p:attrName>
                                        </p:attrNameLst>
                                      </p:cBhvr>
                                      <p:to>
                                        <p:strVal val="visible"/>
                                      </p:to>
                                    </p:set>
                                    <p:animEffect filter="wipe(left)" transition="in">
                                      <p:cBhvr additive="repl">
                                        <p:cTn id="1271" dur="500"/>
                                        <p:tgtEl>
                                          <p:spTgt spid="424">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16.4  PRICE DISCRIMINATION</a:t>
            </a:r>
            <a:endParaRPr b="0" lang="en-CA" sz="2600" strike="noStrike" u="none">
              <a:solidFill>
                <a:schemeClr val="dk1"/>
              </a:solidFill>
              <a:effectLst/>
              <a:uFillTx/>
              <a:latin typeface="Arial"/>
            </a:endParaRPr>
          </a:p>
        </p:txBody>
      </p:sp>
      <p:pic>
        <p:nvPicPr>
          <p:cNvPr id="426" name="Picture 1" descr=""/>
          <p:cNvPicPr/>
          <p:nvPr/>
        </p:nvPicPr>
        <p:blipFill>
          <a:blip r:embed="rId1"/>
          <a:stretch/>
        </p:blipFill>
        <p:spPr>
          <a:xfrm>
            <a:off x="4643280" y="1511280"/>
            <a:ext cx="4055760" cy="4080960"/>
          </a:xfrm>
          <a:prstGeom prst="rect">
            <a:avLst/>
          </a:prstGeom>
          <a:noFill/>
          <a:ln w="0">
            <a:noFill/>
          </a:ln>
        </p:spPr>
      </p:pic>
      <p:pic>
        <p:nvPicPr>
          <p:cNvPr id="427" name="Picture 12" descr=""/>
          <p:cNvPicPr/>
          <p:nvPr/>
        </p:nvPicPr>
        <p:blipFill>
          <a:blip r:embed="rId2"/>
          <a:stretch/>
        </p:blipFill>
        <p:spPr>
          <a:xfrm>
            <a:off x="4643280" y="1511280"/>
            <a:ext cx="4055760" cy="4080960"/>
          </a:xfrm>
          <a:prstGeom prst="rect">
            <a:avLst/>
          </a:prstGeom>
          <a:noFill/>
          <a:ln w="0">
            <a:noFill/>
          </a:ln>
        </p:spPr>
      </p:pic>
      <p:pic>
        <p:nvPicPr>
          <p:cNvPr id="428" name="Picture 13" descr=""/>
          <p:cNvPicPr/>
          <p:nvPr/>
        </p:nvPicPr>
        <p:blipFill>
          <a:blip r:embed="rId3"/>
          <a:stretch/>
        </p:blipFill>
        <p:spPr>
          <a:xfrm>
            <a:off x="4643280" y="1511280"/>
            <a:ext cx="4055760" cy="4080960"/>
          </a:xfrm>
          <a:prstGeom prst="rect">
            <a:avLst/>
          </a:prstGeom>
          <a:noFill/>
          <a:ln w="0">
            <a:noFill/>
          </a:ln>
        </p:spPr>
      </p:pic>
      <p:pic>
        <p:nvPicPr>
          <p:cNvPr id="429" name="Picture 14" descr=""/>
          <p:cNvPicPr/>
          <p:nvPr/>
        </p:nvPicPr>
        <p:blipFill>
          <a:blip r:embed="rId4"/>
          <a:stretch/>
        </p:blipFill>
        <p:spPr>
          <a:xfrm>
            <a:off x="4643280" y="1511280"/>
            <a:ext cx="4055760" cy="4080960"/>
          </a:xfrm>
          <a:prstGeom prst="rect">
            <a:avLst/>
          </a:prstGeom>
          <a:noFill/>
          <a:ln w="0">
            <a:noFill/>
          </a:ln>
        </p:spPr>
      </p:pic>
      <p:pic>
        <p:nvPicPr>
          <p:cNvPr id="430" name="Picture 15" descr=""/>
          <p:cNvPicPr/>
          <p:nvPr/>
        </p:nvPicPr>
        <p:blipFill>
          <a:blip r:embed="rId5"/>
          <a:stretch/>
        </p:blipFill>
        <p:spPr>
          <a:xfrm>
            <a:off x="4643280" y="1511280"/>
            <a:ext cx="4055760" cy="4080960"/>
          </a:xfrm>
          <a:prstGeom prst="rect">
            <a:avLst/>
          </a:prstGeom>
          <a:noFill/>
          <a:ln w="0">
            <a:noFill/>
          </a:ln>
        </p:spPr>
      </p:pic>
      <p:sp>
        <p:nvSpPr>
          <p:cNvPr id="431" name="PlaceHolder 2"/>
          <p:cNvSpPr>
            <a:spLocks noGrp="1"/>
          </p:cNvSpPr>
          <p:nvPr>
            <p:ph/>
          </p:nvPr>
        </p:nvSpPr>
        <p:spPr>
          <a:xfrm>
            <a:off x="360360" y="1440000"/>
            <a:ext cx="444132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Figure 16.8 shows a single price of air travel.</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As a single-price monopoly, Global maximizes profit by selling 8,000 trips a year at $1,200 a trip.</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a:tabLst>
                <a:tab algn="l" pos="0"/>
              </a:tabLst>
            </a:pPr>
            <a:r>
              <a:rPr b="0" lang="en-US" sz="2400" strike="noStrike" u="none">
                <a:solidFill>
                  <a:srgbClr val="000000"/>
                </a:solidFill>
                <a:effectLst/>
                <a:uFillTx/>
                <a:latin typeface="Arial"/>
                <a:ea typeface="ＭＳ Ｐゴシック"/>
              </a:rPr>
              <a:t>Global’s customers enjoy a consumer surplus—the green triangle—and</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a:tabLst>
                <a:tab algn="l" pos="0"/>
              </a:tabLst>
            </a:pPr>
            <a:r>
              <a:rPr b="0" lang="en-US" sz="2400" strike="noStrike" u="none">
                <a:solidFill>
                  <a:srgbClr val="000000"/>
                </a:solidFill>
                <a:effectLst/>
                <a:uFillTx/>
                <a:latin typeface="Arial"/>
                <a:ea typeface="ＭＳ Ｐゴシック"/>
              </a:rPr>
              <a:t>Global’s economic profit is $4.8 million a year—the blue rectangle.</a:t>
            </a:r>
            <a:endParaRPr b="1" lang="en-CA" sz="2400" strike="noStrike" u="none">
              <a:solidFill>
                <a:srgbClr val="00468f"/>
              </a:solidFill>
              <a:effectLst/>
              <a:uFillTx/>
              <a:latin typeface="Arial"/>
            </a:endParaRPr>
          </a:p>
        </p:txBody>
      </p:sp>
    </p:spTree>
  </p:cSld>
  <p:transition spd="slow">
    <p:wipe dir="r"/>
  </p:transition>
  <p:timing>
    <p:tnLst>
      <p:par>
        <p:cTn id="1272" dur="indefinite" restart="never" nodeType="tmRoot">
          <p:childTnLst>
            <p:seq>
              <p:cTn id="1273" dur="indefinite" nodeType="mainSeq">
                <p:childTnLst>
                  <p:par>
                    <p:cTn id="1274" nodeType="clickEffect" fill="hold">
                      <p:stCondLst>
                        <p:cond delay="indefinite"/>
                      </p:stCondLst>
                      <p:childTnLst>
                        <p:par>
                          <p:cTn id="1275" nodeType="withEffect" fill="hold">
                            <p:stCondLst>
                              <p:cond delay="0"/>
                            </p:stCondLst>
                            <p:childTnLst>
                              <p:par>
                                <p:cTn id="1276" nodeType="clickEffect" fill="hold" presetClass="entr" presetID="22" presetSubtype="8">
                                  <p:stCondLst>
                                    <p:cond delay="0"/>
                                  </p:stCondLst>
                                  <p:childTnLst>
                                    <p:set>
                                      <p:cBhvr>
                                        <p:cTn id="1277" dur="1" fill="hold">
                                          <p:stCondLst>
                                            <p:cond delay="0"/>
                                          </p:stCondLst>
                                        </p:cTn>
                                        <p:tgtEl>
                                          <p:spTgt spid="431">
                                            <p:txEl>
                                              <p:pRg st="1" end="1"/>
                                            </p:txEl>
                                          </p:spTgt>
                                        </p:tgtEl>
                                        <p:attrNameLst>
                                          <p:attrName>style.visibility</p:attrName>
                                        </p:attrNameLst>
                                      </p:cBhvr>
                                      <p:to>
                                        <p:strVal val="visible"/>
                                      </p:to>
                                    </p:set>
                                    <p:animEffect filter="wipe(left)" transition="in">
                                      <p:cBhvr additive="repl">
                                        <p:cTn id="1278" dur="500"/>
                                        <p:tgtEl>
                                          <p:spTgt spid="431">
                                            <p:txEl>
                                              <p:pRg st="1" end="1"/>
                                            </p:txEl>
                                          </p:spTgt>
                                        </p:tgtEl>
                                      </p:cBhvr>
                                    </p:animEffect>
                                  </p:childTnLst>
                                </p:cTn>
                              </p:par>
                            </p:childTnLst>
                          </p:cTn>
                        </p:par>
                      </p:childTnLst>
                    </p:cTn>
                  </p:par>
                  <p:par>
                    <p:cTn id="1279" nodeType="clickEffect" fill="hold">
                      <p:stCondLst>
                        <p:cond delay="indefinite"/>
                      </p:stCondLst>
                      <p:childTnLst>
                        <p:par>
                          <p:cTn id="1280" nodeType="withEffect" fill="hold">
                            <p:stCondLst>
                              <p:cond delay="0"/>
                            </p:stCondLst>
                            <p:childTnLst>
                              <p:par>
                                <p:cTn id="1281" nodeType="clickEffect" fill="hold" presetClass="entr" presetID="10">
                                  <p:stCondLst>
                                    <p:cond delay="0"/>
                                  </p:stCondLst>
                                  <p:childTnLst>
                                    <p:set>
                                      <p:cBhvr>
                                        <p:cTn id="1282" dur="1" fill="hold">
                                          <p:stCondLst>
                                            <p:cond delay="0"/>
                                          </p:stCondLst>
                                        </p:cTn>
                                        <p:tgtEl>
                                          <p:spTgt spid="427"/>
                                        </p:tgtEl>
                                        <p:attrNameLst>
                                          <p:attrName>style.visibility</p:attrName>
                                        </p:attrNameLst>
                                      </p:cBhvr>
                                      <p:to>
                                        <p:strVal val="visible"/>
                                      </p:to>
                                    </p:set>
                                    <p:animEffect filter="fade" transition="in">
                                      <p:cBhvr additive="repl">
                                        <p:cTn id="1283" dur="500"/>
                                        <p:tgtEl>
                                          <p:spTgt spid="427"/>
                                        </p:tgtEl>
                                      </p:cBhvr>
                                    </p:animEffect>
                                  </p:childTnLst>
                                </p:cTn>
                              </p:par>
                            </p:childTnLst>
                          </p:cTn>
                        </p:par>
                      </p:childTnLst>
                    </p:cTn>
                  </p:par>
                  <p:par>
                    <p:cTn id="1284" nodeType="clickEffect" fill="hold">
                      <p:stCondLst>
                        <p:cond delay="indefinite"/>
                      </p:stCondLst>
                      <p:childTnLst>
                        <p:par>
                          <p:cTn id="1285" nodeType="withEffect" fill="hold">
                            <p:stCondLst>
                              <p:cond delay="0"/>
                            </p:stCondLst>
                            <p:childTnLst>
                              <p:par>
                                <p:cTn id="1286" nodeType="clickEffect" fill="hold" presetClass="entr" presetID="22" presetSubtype="8">
                                  <p:stCondLst>
                                    <p:cond delay="0"/>
                                  </p:stCondLst>
                                  <p:childTnLst>
                                    <p:set>
                                      <p:cBhvr>
                                        <p:cTn id="1287" dur="1" fill="hold">
                                          <p:stCondLst>
                                            <p:cond delay="0"/>
                                          </p:stCondLst>
                                        </p:cTn>
                                        <p:tgtEl>
                                          <p:spTgt spid="431">
                                            <p:txEl>
                                              <p:pRg st="2" end="2"/>
                                            </p:txEl>
                                          </p:spTgt>
                                        </p:tgtEl>
                                        <p:attrNameLst>
                                          <p:attrName>style.visibility</p:attrName>
                                        </p:attrNameLst>
                                      </p:cBhvr>
                                      <p:to>
                                        <p:strVal val="visible"/>
                                      </p:to>
                                    </p:set>
                                    <p:animEffect filter="wipe(left)" transition="in">
                                      <p:cBhvr additive="repl">
                                        <p:cTn id="1288" dur="500"/>
                                        <p:tgtEl>
                                          <p:spTgt spid="431">
                                            <p:txEl>
                                              <p:pRg st="2" end="2"/>
                                            </p:txEl>
                                          </p:spTgt>
                                        </p:tgtEl>
                                      </p:cBhvr>
                                    </p:animEffect>
                                  </p:childTnLst>
                                </p:cTn>
                              </p:par>
                            </p:childTnLst>
                          </p:cTn>
                        </p:par>
                      </p:childTnLst>
                    </p:cTn>
                  </p:par>
                  <p:par>
                    <p:cTn id="1289" nodeType="clickEffect" fill="hold">
                      <p:stCondLst>
                        <p:cond delay="indefinite"/>
                      </p:stCondLst>
                      <p:childTnLst>
                        <p:par>
                          <p:cTn id="1290" nodeType="withEffect" fill="hold">
                            <p:stCondLst>
                              <p:cond delay="0"/>
                            </p:stCondLst>
                            <p:childTnLst>
                              <p:par>
                                <p:cTn id="1291" nodeType="clickEffect" fill="hold" presetClass="entr" presetID="10">
                                  <p:stCondLst>
                                    <p:cond delay="0"/>
                                  </p:stCondLst>
                                  <p:childTnLst>
                                    <p:set>
                                      <p:cBhvr>
                                        <p:cTn id="1292" dur="1" fill="hold">
                                          <p:stCondLst>
                                            <p:cond delay="0"/>
                                          </p:stCondLst>
                                        </p:cTn>
                                        <p:tgtEl>
                                          <p:spTgt spid="428"/>
                                        </p:tgtEl>
                                        <p:attrNameLst>
                                          <p:attrName>style.visibility</p:attrName>
                                        </p:attrNameLst>
                                      </p:cBhvr>
                                      <p:to>
                                        <p:strVal val="visible"/>
                                      </p:to>
                                    </p:set>
                                    <p:animEffect filter="fade" transition="in">
                                      <p:cBhvr additive="repl">
                                        <p:cTn id="1293" dur="500"/>
                                        <p:tgtEl>
                                          <p:spTgt spid="428"/>
                                        </p:tgtEl>
                                      </p:cBhvr>
                                    </p:animEffect>
                                  </p:childTnLst>
                                </p:cTn>
                              </p:par>
                            </p:childTnLst>
                          </p:cTn>
                        </p:par>
                      </p:childTnLst>
                    </p:cTn>
                  </p:par>
                  <p:par>
                    <p:cTn id="1294" nodeType="clickEffect" fill="hold">
                      <p:stCondLst>
                        <p:cond delay="indefinite"/>
                      </p:stCondLst>
                      <p:childTnLst>
                        <p:par>
                          <p:cTn id="1295" nodeType="withEffect" fill="hold">
                            <p:stCondLst>
                              <p:cond delay="0"/>
                            </p:stCondLst>
                            <p:childTnLst>
                              <p:par>
                                <p:cTn id="1296" nodeType="clickEffect" fill="hold" presetClass="entr" presetID="22" presetSubtype="8">
                                  <p:stCondLst>
                                    <p:cond delay="0"/>
                                  </p:stCondLst>
                                  <p:childTnLst>
                                    <p:set>
                                      <p:cBhvr>
                                        <p:cTn id="1297" dur="1" fill="hold">
                                          <p:stCondLst>
                                            <p:cond delay="0"/>
                                          </p:stCondLst>
                                        </p:cTn>
                                        <p:tgtEl>
                                          <p:spTgt spid="431">
                                            <p:txEl>
                                              <p:pRg st="3" end="3"/>
                                            </p:txEl>
                                          </p:spTgt>
                                        </p:tgtEl>
                                        <p:attrNameLst>
                                          <p:attrName>style.visibility</p:attrName>
                                        </p:attrNameLst>
                                      </p:cBhvr>
                                      <p:to>
                                        <p:strVal val="visible"/>
                                      </p:to>
                                    </p:set>
                                    <p:animEffect filter="wipe(left)" transition="in">
                                      <p:cBhvr additive="repl">
                                        <p:cTn id="1298" dur="500"/>
                                        <p:tgtEl>
                                          <p:spTgt spid="431">
                                            <p:txEl>
                                              <p:pRg st="3" end="3"/>
                                            </p:txEl>
                                          </p:spTgt>
                                        </p:tgtEl>
                                      </p:cBhvr>
                                    </p:animEffect>
                                  </p:childTnLst>
                                </p:cTn>
                              </p:par>
                            </p:childTnLst>
                          </p:cTn>
                        </p:par>
                      </p:childTnLst>
                    </p:cTn>
                  </p:par>
                  <p:par>
                    <p:cTn id="1299" nodeType="clickEffect" fill="hold">
                      <p:stCondLst>
                        <p:cond delay="indefinite"/>
                      </p:stCondLst>
                      <p:childTnLst>
                        <p:par>
                          <p:cTn id="1300" nodeType="withEffect" fill="hold">
                            <p:stCondLst>
                              <p:cond delay="0"/>
                            </p:stCondLst>
                            <p:childTnLst>
                              <p:par>
                                <p:cTn id="1301" nodeType="clickEffect" fill="hold" presetClass="entr" presetID="10">
                                  <p:stCondLst>
                                    <p:cond delay="0"/>
                                  </p:stCondLst>
                                  <p:childTnLst>
                                    <p:set>
                                      <p:cBhvr>
                                        <p:cTn id="1302" dur="1" fill="hold">
                                          <p:stCondLst>
                                            <p:cond delay="0"/>
                                          </p:stCondLst>
                                        </p:cTn>
                                        <p:tgtEl>
                                          <p:spTgt spid="429"/>
                                        </p:tgtEl>
                                        <p:attrNameLst>
                                          <p:attrName>style.visibility</p:attrName>
                                        </p:attrNameLst>
                                      </p:cBhvr>
                                      <p:to>
                                        <p:strVal val="visible"/>
                                      </p:to>
                                    </p:set>
                                    <p:animEffect filter="fade" transition="in">
                                      <p:cBhvr additive="repl">
                                        <p:cTn id="1303" dur="500"/>
                                        <p:tgtEl>
                                          <p:spTgt spid="429"/>
                                        </p:tgtEl>
                                      </p:cBhvr>
                                    </p:animEffect>
                                  </p:childTnLst>
                                </p:cTn>
                              </p:par>
                            </p:childTnLst>
                          </p:cTn>
                        </p:par>
                      </p:childTnLst>
                    </p:cTn>
                  </p:par>
                  <p:par>
                    <p:cTn id="1304" nodeType="clickEffect" fill="hold">
                      <p:stCondLst>
                        <p:cond delay="indefinite"/>
                      </p:stCondLst>
                      <p:childTnLst>
                        <p:par>
                          <p:cTn id="1305" nodeType="withEffect" fill="hold">
                            <p:stCondLst>
                              <p:cond delay="0"/>
                            </p:stCondLst>
                            <p:childTnLst>
                              <p:par>
                                <p:cTn id="1306" nodeType="clickEffect" fill="hold" presetClass="entr" presetID="10">
                                  <p:stCondLst>
                                    <p:cond delay="200"/>
                                  </p:stCondLst>
                                  <p:childTnLst>
                                    <p:set>
                                      <p:cBhvr>
                                        <p:cTn id="1307" dur="1" fill="hold">
                                          <p:stCondLst>
                                            <p:cond delay="0"/>
                                          </p:stCondLst>
                                        </p:cTn>
                                        <p:tgtEl>
                                          <p:spTgt spid="430"/>
                                        </p:tgtEl>
                                        <p:attrNameLst>
                                          <p:attrName>style.visibility</p:attrName>
                                        </p:attrNameLst>
                                      </p:cBhvr>
                                      <p:to>
                                        <p:strVal val="visible"/>
                                      </p:to>
                                    </p:set>
                                    <p:animEffect filter="fade" transition="in">
                                      <p:cBhvr additive="repl">
                                        <p:cTn id="1308" dur="500"/>
                                        <p:tgtEl>
                                          <p:spTgt spid="4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432" name="Picture 1" descr=""/>
          <p:cNvPicPr/>
          <p:nvPr/>
        </p:nvPicPr>
        <p:blipFill>
          <a:blip r:embed="rId1"/>
          <a:stretch/>
        </p:blipFill>
        <p:spPr>
          <a:xfrm>
            <a:off x="2016000" y="792000"/>
            <a:ext cx="4771800" cy="4800240"/>
          </a:xfrm>
          <a:prstGeom prst="rect">
            <a:avLst/>
          </a:prstGeom>
          <a:noFill/>
          <a:ln w="0">
            <a:noFill/>
          </a:ln>
        </p:spPr>
      </p:pic>
      <p:pic>
        <p:nvPicPr>
          <p:cNvPr id="433" name="Picture 7" descr=""/>
          <p:cNvPicPr/>
          <p:nvPr/>
        </p:nvPicPr>
        <p:blipFill>
          <a:blip r:embed="rId2"/>
          <a:stretch/>
        </p:blipFill>
        <p:spPr>
          <a:xfrm>
            <a:off x="2016000" y="792000"/>
            <a:ext cx="4771800" cy="4800240"/>
          </a:xfrm>
          <a:prstGeom prst="rect">
            <a:avLst/>
          </a:prstGeom>
          <a:noFill/>
          <a:ln w="0">
            <a:noFill/>
          </a:ln>
        </p:spPr>
      </p:pic>
      <p:pic>
        <p:nvPicPr>
          <p:cNvPr id="434" name="Picture 8" descr=""/>
          <p:cNvPicPr/>
          <p:nvPr/>
        </p:nvPicPr>
        <p:blipFill>
          <a:blip r:embed="rId3"/>
          <a:stretch/>
        </p:blipFill>
        <p:spPr>
          <a:xfrm>
            <a:off x="2016000" y="792000"/>
            <a:ext cx="4771800" cy="4800240"/>
          </a:xfrm>
          <a:prstGeom prst="rect">
            <a:avLst/>
          </a:prstGeom>
          <a:noFill/>
          <a:ln w="0">
            <a:noFill/>
          </a:ln>
        </p:spPr>
      </p:pic>
      <p:pic>
        <p:nvPicPr>
          <p:cNvPr id="435" name="Picture 9" descr=""/>
          <p:cNvPicPr/>
          <p:nvPr/>
        </p:nvPicPr>
        <p:blipFill>
          <a:blip r:embed="rId4"/>
          <a:stretch/>
        </p:blipFill>
        <p:spPr>
          <a:xfrm>
            <a:off x="2016000" y="792000"/>
            <a:ext cx="4771800" cy="4800240"/>
          </a:xfrm>
          <a:prstGeom prst="rect">
            <a:avLst/>
          </a:prstGeom>
          <a:noFill/>
          <a:ln w="0">
            <a:noFill/>
          </a:ln>
        </p:spPr>
      </p:pic>
      <p:pic>
        <p:nvPicPr>
          <p:cNvPr id="436" name="Picture 14" descr=""/>
          <p:cNvPicPr/>
          <p:nvPr/>
        </p:nvPicPr>
        <p:blipFill>
          <a:blip r:embed="rId5"/>
          <a:stretch/>
        </p:blipFill>
        <p:spPr>
          <a:xfrm>
            <a:off x="2016000" y="792000"/>
            <a:ext cx="4771800" cy="4800240"/>
          </a:xfrm>
          <a:prstGeom prst="rect">
            <a:avLst/>
          </a:prstGeom>
          <a:noFill/>
          <a:ln w="0">
            <a:noFill/>
          </a:ln>
        </p:spPr>
      </p:pic>
    </p:spTree>
  </p:cSld>
  <p:transition spd="slow">
    <p:wipe dir="r"/>
  </p:transition>
  <p:timing>
    <p:tnLst>
      <p:par>
        <p:cTn id="1309" dur="indefinite" restart="never" nodeType="tmRoot">
          <p:childTnLst>
            <p:seq>
              <p:cTn id="1310" dur="indefinite" nodeType="mainSeq">
                <p:childTnLst>
                  <p:par>
                    <p:cTn id="1311" nodeType="clickEffect" fill="hold">
                      <p:stCondLst>
                        <p:cond delay="indefinite"/>
                      </p:stCondLst>
                      <p:childTnLst>
                        <p:par>
                          <p:cTn id="1312" nodeType="withEffect" fill="hold">
                            <p:stCondLst>
                              <p:cond delay="0"/>
                            </p:stCondLst>
                            <p:childTnLst>
                              <p:par>
                                <p:cTn id="1313" nodeType="clickEffect" fill="hold" presetClass="entr" presetID="10">
                                  <p:stCondLst>
                                    <p:cond delay="0"/>
                                  </p:stCondLst>
                                  <p:childTnLst>
                                    <p:set>
                                      <p:cBhvr>
                                        <p:cTn id="1314" dur="1" fill="hold">
                                          <p:stCondLst>
                                            <p:cond delay="0"/>
                                          </p:stCondLst>
                                        </p:cTn>
                                        <p:tgtEl>
                                          <p:spTgt spid="433"/>
                                        </p:tgtEl>
                                        <p:attrNameLst>
                                          <p:attrName>style.visibility</p:attrName>
                                        </p:attrNameLst>
                                      </p:cBhvr>
                                      <p:to>
                                        <p:strVal val="visible"/>
                                      </p:to>
                                    </p:set>
                                    <p:animEffect filter="fade" transition="in">
                                      <p:cBhvr additive="repl">
                                        <p:cTn id="1315" dur="500"/>
                                        <p:tgtEl>
                                          <p:spTgt spid="433"/>
                                        </p:tgtEl>
                                      </p:cBhvr>
                                    </p:animEffect>
                                  </p:childTnLst>
                                </p:cTn>
                              </p:par>
                            </p:childTnLst>
                          </p:cTn>
                        </p:par>
                      </p:childTnLst>
                    </p:cTn>
                  </p:par>
                  <p:par>
                    <p:cTn id="1316" nodeType="clickEffect" fill="hold">
                      <p:stCondLst>
                        <p:cond delay="indefinite"/>
                      </p:stCondLst>
                      <p:childTnLst>
                        <p:par>
                          <p:cTn id="1317" nodeType="withEffect" fill="hold">
                            <p:stCondLst>
                              <p:cond delay="0"/>
                            </p:stCondLst>
                            <p:childTnLst>
                              <p:par>
                                <p:cTn id="1318" nodeType="clickEffect" fill="hold" presetClass="entr" presetID="10">
                                  <p:stCondLst>
                                    <p:cond delay="0"/>
                                  </p:stCondLst>
                                  <p:childTnLst>
                                    <p:set>
                                      <p:cBhvr>
                                        <p:cTn id="1319" dur="1" fill="hold">
                                          <p:stCondLst>
                                            <p:cond delay="0"/>
                                          </p:stCondLst>
                                        </p:cTn>
                                        <p:tgtEl>
                                          <p:spTgt spid="434"/>
                                        </p:tgtEl>
                                        <p:attrNameLst>
                                          <p:attrName>style.visibility</p:attrName>
                                        </p:attrNameLst>
                                      </p:cBhvr>
                                      <p:to>
                                        <p:strVal val="visible"/>
                                      </p:to>
                                    </p:set>
                                    <p:animEffect filter="fade" transition="in">
                                      <p:cBhvr additive="repl">
                                        <p:cTn id="1320" dur="500"/>
                                        <p:tgtEl>
                                          <p:spTgt spid="434"/>
                                        </p:tgtEl>
                                      </p:cBhvr>
                                    </p:animEffect>
                                  </p:childTnLst>
                                </p:cTn>
                              </p:par>
                            </p:childTnLst>
                          </p:cTn>
                        </p:par>
                      </p:childTnLst>
                    </p:cTn>
                  </p:par>
                  <p:par>
                    <p:cTn id="1321" nodeType="clickEffect" fill="hold">
                      <p:stCondLst>
                        <p:cond delay="indefinite"/>
                      </p:stCondLst>
                      <p:childTnLst>
                        <p:par>
                          <p:cTn id="1322" nodeType="withEffect" fill="hold">
                            <p:stCondLst>
                              <p:cond delay="0"/>
                            </p:stCondLst>
                            <p:childTnLst>
                              <p:par>
                                <p:cTn id="1323" nodeType="clickEffect" fill="hold" presetClass="entr" presetID="10">
                                  <p:stCondLst>
                                    <p:cond delay="0"/>
                                  </p:stCondLst>
                                  <p:childTnLst>
                                    <p:set>
                                      <p:cBhvr>
                                        <p:cTn id="1324" dur="1" fill="hold">
                                          <p:stCondLst>
                                            <p:cond delay="0"/>
                                          </p:stCondLst>
                                        </p:cTn>
                                        <p:tgtEl>
                                          <p:spTgt spid="435"/>
                                        </p:tgtEl>
                                        <p:attrNameLst>
                                          <p:attrName>style.visibility</p:attrName>
                                        </p:attrNameLst>
                                      </p:cBhvr>
                                      <p:to>
                                        <p:strVal val="visible"/>
                                      </p:to>
                                    </p:set>
                                    <p:animEffect filter="fade" transition="in">
                                      <p:cBhvr additive="repl">
                                        <p:cTn id="1325" dur="500"/>
                                        <p:tgtEl>
                                          <p:spTgt spid="435"/>
                                        </p:tgtEl>
                                      </p:cBhvr>
                                    </p:animEffect>
                                  </p:childTnLst>
                                </p:cTn>
                              </p:par>
                            </p:childTnLst>
                          </p:cTn>
                        </p:par>
                      </p:childTnLst>
                    </p:cTn>
                  </p:par>
                  <p:par>
                    <p:cTn id="1326" nodeType="clickEffect" fill="hold">
                      <p:stCondLst>
                        <p:cond delay="indefinite"/>
                      </p:stCondLst>
                      <p:childTnLst>
                        <p:par>
                          <p:cTn id="1327" nodeType="withEffect" fill="hold">
                            <p:stCondLst>
                              <p:cond delay="0"/>
                            </p:stCondLst>
                            <p:childTnLst>
                              <p:par>
                                <p:cTn id="1328" nodeType="clickEffect" fill="hold" presetClass="entr" presetID="10">
                                  <p:stCondLst>
                                    <p:cond delay="0"/>
                                  </p:stCondLst>
                                  <p:childTnLst>
                                    <p:set>
                                      <p:cBhvr>
                                        <p:cTn id="1329" dur="1" fill="hold">
                                          <p:stCondLst>
                                            <p:cond delay="0"/>
                                          </p:stCondLst>
                                        </p:cTn>
                                        <p:tgtEl>
                                          <p:spTgt spid="436"/>
                                        </p:tgtEl>
                                        <p:attrNameLst>
                                          <p:attrName>style.visibility</p:attrName>
                                        </p:attrNameLst>
                                      </p:cBhvr>
                                      <p:to>
                                        <p:strVal val="visible"/>
                                      </p:to>
                                    </p:set>
                                    <p:animEffect filter="fade" transition="in">
                                      <p:cBhvr additive="repl">
                                        <p:cTn id="1330" dur="500"/>
                                        <p:tgtEl>
                                          <p:spTgt spid="4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37" name="Picture 1" descr=""/>
          <p:cNvPicPr/>
          <p:nvPr/>
        </p:nvPicPr>
        <p:blipFill>
          <a:blip r:embed="rId1"/>
          <a:stretch/>
        </p:blipFill>
        <p:spPr>
          <a:xfrm>
            <a:off x="4643280" y="1511280"/>
            <a:ext cx="4055760" cy="4080960"/>
          </a:xfrm>
          <a:prstGeom prst="rect">
            <a:avLst/>
          </a:prstGeom>
          <a:noFill/>
          <a:ln w="0">
            <a:noFill/>
          </a:ln>
        </p:spPr>
      </p:pic>
      <p:pic>
        <p:nvPicPr>
          <p:cNvPr id="438" name="Picture 10" descr=""/>
          <p:cNvPicPr/>
          <p:nvPr/>
        </p:nvPicPr>
        <p:blipFill>
          <a:blip r:embed="rId2"/>
          <a:stretch/>
        </p:blipFill>
        <p:spPr>
          <a:xfrm>
            <a:off x="4643280" y="1511280"/>
            <a:ext cx="4055760" cy="4080960"/>
          </a:xfrm>
          <a:prstGeom prst="rect">
            <a:avLst/>
          </a:prstGeom>
          <a:noFill/>
          <a:ln w="0">
            <a:noFill/>
          </a:ln>
        </p:spPr>
      </p:pic>
      <p:pic>
        <p:nvPicPr>
          <p:cNvPr id="439" name="Picture 11" descr=""/>
          <p:cNvPicPr/>
          <p:nvPr/>
        </p:nvPicPr>
        <p:blipFill>
          <a:blip r:embed="rId3"/>
          <a:stretch/>
        </p:blipFill>
        <p:spPr>
          <a:xfrm>
            <a:off x="4643280" y="1511280"/>
            <a:ext cx="4055760" cy="4080960"/>
          </a:xfrm>
          <a:prstGeom prst="rect">
            <a:avLst/>
          </a:prstGeom>
          <a:noFill/>
          <a:ln w="0">
            <a:noFill/>
          </a:ln>
        </p:spPr>
      </p:pic>
      <p:sp>
        <p:nvSpPr>
          <p:cNvPr id="44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16.4  PRICE DISCRIMINATION</a:t>
            </a:r>
            <a:endParaRPr b="0" lang="en-CA" sz="2600" strike="noStrike" u="none">
              <a:solidFill>
                <a:schemeClr val="dk1"/>
              </a:solidFill>
              <a:effectLst/>
              <a:uFillTx/>
              <a:latin typeface="Arial"/>
            </a:endParaRPr>
          </a:p>
        </p:txBody>
      </p:sp>
      <p:sp>
        <p:nvSpPr>
          <p:cNvPr id="441" name="PlaceHolder 2"/>
          <p:cNvSpPr>
            <a:spLocks noGrp="1"/>
          </p:cNvSpPr>
          <p:nvPr>
            <p:ph/>
          </p:nvPr>
        </p:nvSpPr>
        <p:spPr>
          <a:xfrm>
            <a:off x="360360" y="1440000"/>
            <a:ext cx="436536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Figure 16.9 shows how Global can profit from price discrimination.</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$1,200 fare is available only with a 14-day advance purchase and a stay 7 days.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price of other 14-day advance purchase flexible tickets is $1,400.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price of a 7-day advance purchase ticket is $1,600. </a:t>
            </a:r>
            <a:endParaRPr b="1" lang="en-CA" sz="2400" strike="noStrike" u="none">
              <a:solidFill>
                <a:srgbClr val="00468f"/>
              </a:solidFill>
              <a:effectLst/>
              <a:uFillTx/>
              <a:latin typeface="Arial"/>
            </a:endParaRPr>
          </a:p>
        </p:txBody>
      </p:sp>
    </p:spTree>
  </p:cSld>
  <p:transition spd="slow">
    <p:wipe dir="r"/>
  </p:transition>
  <p:timing>
    <p:tnLst>
      <p:par>
        <p:cTn id="1331" dur="indefinite" restart="never" nodeType="tmRoot">
          <p:childTnLst>
            <p:seq>
              <p:cTn id="1332" dur="indefinite" nodeType="mainSeq">
                <p:childTnLst>
                  <p:par>
                    <p:cTn id="1333" nodeType="clickEffect" fill="hold">
                      <p:stCondLst>
                        <p:cond delay="indefinite"/>
                      </p:stCondLst>
                      <p:childTnLst>
                        <p:par>
                          <p:cTn id="1334" nodeType="withEffect" fill="hold">
                            <p:stCondLst>
                              <p:cond delay="0"/>
                            </p:stCondLst>
                            <p:childTnLst>
                              <p:par>
                                <p:cTn id="1335" nodeType="clickEffect" fill="hold" presetClass="entr" presetID="22" presetSubtype="8">
                                  <p:stCondLst>
                                    <p:cond delay="0"/>
                                  </p:stCondLst>
                                  <p:childTnLst>
                                    <p:set>
                                      <p:cBhvr>
                                        <p:cTn id="1336" dur="1" fill="hold">
                                          <p:stCondLst>
                                            <p:cond delay="0"/>
                                          </p:stCondLst>
                                        </p:cTn>
                                        <p:tgtEl>
                                          <p:spTgt spid="441">
                                            <p:txEl>
                                              <p:pRg st="1" end="1"/>
                                            </p:txEl>
                                          </p:spTgt>
                                        </p:tgtEl>
                                        <p:attrNameLst>
                                          <p:attrName>style.visibility</p:attrName>
                                        </p:attrNameLst>
                                      </p:cBhvr>
                                      <p:to>
                                        <p:strVal val="visible"/>
                                      </p:to>
                                    </p:set>
                                    <p:animEffect filter="wipe(left)" transition="in">
                                      <p:cBhvr additive="repl">
                                        <p:cTn id="1337" dur="500"/>
                                        <p:tgtEl>
                                          <p:spTgt spid="441">
                                            <p:txEl>
                                              <p:pRg st="1" end="1"/>
                                            </p:txEl>
                                          </p:spTgt>
                                        </p:tgtEl>
                                      </p:cBhvr>
                                    </p:animEffect>
                                  </p:childTnLst>
                                </p:cTn>
                              </p:par>
                            </p:childTnLst>
                          </p:cTn>
                        </p:par>
                      </p:childTnLst>
                    </p:cTn>
                  </p:par>
                  <p:par>
                    <p:cTn id="1338" nodeType="clickEffect" fill="hold">
                      <p:stCondLst>
                        <p:cond delay="indefinite"/>
                      </p:stCondLst>
                      <p:childTnLst>
                        <p:par>
                          <p:cTn id="1339" nodeType="withEffect" fill="hold">
                            <p:stCondLst>
                              <p:cond delay="0"/>
                            </p:stCondLst>
                            <p:childTnLst>
                              <p:par>
                                <p:cTn id="1340" nodeType="clickEffect" fill="hold" presetClass="entr" presetID="22" presetSubtype="8">
                                  <p:stCondLst>
                                    <p:cond delay="0"/>
                                  </p:stCondLst>
                                  <p:childTnLst>
                                    <p:set>
                                      <p:cBhvr>
                                        <p:cTn id="1341" dur="1" fill="hold">
                                          <p:stCondLst>
                                            <p:cond delay="0"/>
                                          </p:stCondLst>
                                        </p:cTn>
                                        <p:tgtEl>
                                          <p:spTgt spid="441">
                                            <p:txEl>
                                              <p:pRg st="2" end="2"/>
                                            </p:txEl>
                                          </p:spTgt>
                                        </p:tgtEl>
                                        <p:attrNameLst>
                                          <p:attrName>style.visibility</p:attrName>
                                        </p:attrNameLst>
                                      </p:cBhvr>
                                      <p:to>
                                        <p:strVal val="visible"/>
                                      </p:to>
                                    </p:set>
                                    <p:animEffect filter="wipe(left)" transition="in">
                                      <p:cBhvr additive="repl">
                                        <p:cTn id="1342" dur="500"/>
                                        <p:tgtEl>
                                          <p:spTgt spid="441">
                                            <p:txEl>
                                              <p:pRg st="2" end="2"/>
                                            </p:txEl>
                                          </p:spTgt>
                                        </p:tgtEl>
                                      </p:cBhvr>
                                    </p:animEffect>
                                  </p:childTnLst>
                                </p:cTn>
                              </p:par>
                              <p:par>
                                <p:cTn id="1343" nodeType="withEffect" fill="hold" presetClass="entr" presetID="10">
                                  <p:stCondLst>
                                    <p:cond delay="0"/>
                                  </p:stCondLst>
                                  <p:childTnLst>
                                    <p:set>
                                      <p:cBhvr>
                                        <p:cTn id="1344" dur="1" fill="hold">
                                          <p:stCondLst>
                                            <p:cond delay="0"/>
                                          </p:stCondLst>
                                        </p:cTn>
                                        <p:tgtEl>
                                          <p:spTgt spid="438"/>
                                        </p:tgtEl>
                                        <p:attrNameLst>
                                          <p:attrName>style.visibility</p:attrName>
                                        </p:attrNameLst>
                                      </p:cBhvr>
                                      <p:to>
                                        <p:strVal val="visible"/>
                                      </p:to>
                                    </p:set>
                                    <p:animEffect filter="fade" transition="in">
                                      <p:cBhvr additive="repl">
                                        <p:cTn id="1345" dur="500"/>
                                        <p:tgtEl>
                                          <p:spTgt spid="438"/>
                                        </p:tgtEl>
                                      </p:cBhvr>
                                    </p:animEffect>
                                  </p:childTnLst>
                                </p:cTn>
                              </p:par>
                            </p:childTnLst>
                          </p:cTn>
                        </p:par>
                      </p:childTnLst>
                    </p:cTn>
                  </p:par>
                  <p:par>
                    <p:cTn id="1346" nodeType="clickEffect" fill="hold">
                      <p:stCondLst>
                        <p:cond delay="indefinite"/>
                      </p:stCondLst>
                      <p:childTnLst>
                        <p:par>
                          <p:cTn id="1347" nodeType="withEffect" fill="hold">
                            <p:stCondLst>
                              <p:cond delay="0"/>
                            </p:stCondLst>
                            <p:childTnLst>
                              <p:par>
                                <p:cTn id="1348" nodeType="clickEffect" fill="hold" presetClass="entr" presetID="22" presetSubtype="8">
                                  <p:stCondLst>
                                    <p:cond delay="0"/>
                                  </p:stCondLst>
                                  <p:childTnLst>
                                    <p:set>
                                      <p:cBhvr>
                                        <p:cTn id="1349" dur="1" fill="hold">
                                          <p:stCondLst>
                                            <p:cond delay="0"/>
                                          </p:stCondLst>
                                        </p:cTn>
                                        <p:tgtEl>
                                          <p:spTgt spid="441">
                                            <p:txEl>
                                              <p:pRg st="3" end="3"/>
                                            </p:txEl>
                                          </p:spTgt>
                                        </p:tgtEl>
                                        <p:attrNameLst>
                                          <p:attrName>style.visibility</p:attrName>
                                        </p:attrNameLst>
                                      </p:cBhvr>
                                      <p:to>
                                        <p:strVal val="visible"/>
                                      </p:to>
                                    </p:set>
                                    <p:animEffect filter="wipe(left)" transition="in">
                                      <p:cBhvr additive="repl">
                                        <p:cTn id="1350" dur="500"/>
                                        <p:tgtEl>
                                          <p:spTgt spid="441">
                                            <p:txEl>
                                              <p:pRg st="3" end="3"/>
                                            </p:txEl>
                                          </p:spTgt>
                                        </p:tgtEl>
                                      </p:cBhvr>
                                    </p:animEffect>
                                  </p:childTnLst>
                                </p:cTn>
                              </p:par>
                              <p:par>
                                <p:cTn id="1351" nodeType="withEffect" fill="hold" presetClass="entr" presetID="10">
                                  <p:stCondLst>
                                    <p:cond delay="0"/>
                                  </p:stCondLst>
                                  <p:childTnLst>
                                    <p:set>
                                      <p:cBhvr>
                                        <p:cTn id="1352" dur="1" fill="hold">
                                          <p:stCondLst>
                                            <p:cond delay="0"/>
                                          </p:stCondLst>
                                        </p:cTn>
                                        <p:tgtEl>
                                          <p:spTgt spid="439"/>
                                        </p:tgtEl>
                                        <p:attrNameLst>
                                          <p:attrName>style.visibility</p:attrName>
                                        </p:attrNameLst>
                                      </p:cBhvr>
                                      <p:to>
                                        <p:strVal val="visible"/>
                                      </p:to>
                                    </p:set>
                                    <p:animEffect filter="fade" transition="in">
                                      <p:cBhvr additive="repl">
                                        <p:cTn id="1353" dur="500"/>
                                        <p:tgtEl>
                                          <p:spTgt spid="4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442" name="Picture 1" descr=""/>
          <p:cNvPicPr/>
          <p:nvPr/>
        </p:nvPicPr>
        <p:blipFill>
          <a:blip r:embed="rId1"/>
          <a:stretch/>
        </p:blipFill>
        <p:spPr>
          <a:xfrm>
            <a:off x="2190600" y="779400"/>
            <a:ext cx="4771800" cy="4800240"/>
          </a:xfrm>
          <a:prstGeom prst="rect">
            <a:avLst/>
          </a:prstGeom>
          <a:noFill/>
          <a:ln w="0">
            <a:noFill/>
          </a:ln>
        </p:spPr>
      </p:pic>
      <p:pic>
        <p:nvPicPr>
          <p:cNvPr id="443" name="Picture 7" descr=""/>
          <p:cNvPicPr/>
          <p:nvPr/>
        </p:nvPicPr>
        <p:blipFill>
          <a:blip r:embed="rId2"/>
          <a:stretch/>
        </p:blipFill>
        <p:spPr>
          <a:xfrm>
            <a:off x="2190600" y="779400"/>
            <a:ext cx="4771800" cy="4800240"/>
          </a:xfrm>
          <a:prstGeom prst="rect">
            <a:avLst/>
          </a:prstGeom>
          <a:noFill/>
          <a:ln w="0">
            <a:noFill/>
          </a:ln>
        </p:spPr>
      </p:pic>
      <p:pic>
        <p:nvPicPr>
          <p:cNvPr id="444" name="Picture 8" descr=""/>
          <p:cNvPicPr/>
          <p:nvPr/>
        </p:nvPicPr>
        <p:blipFill>
          <a:blip r:embed="rId3"/>
          <a:stretch/>
        </p:blipFill>
        <p:spPr>
          <a:xfrm>
            <a:off x="2190600" y="779400"/>
            <a:ext cx="4771800" cy="4800240"/>
          </a:xfrm>
          <a:prstGeom prst="rect">
            <a:avLst/>
          </a:prstGeom>
          <a:noFill/>
          <a:ln w="0">
            <a:noFill/>
          </a:ln>
        </p:spPr>
      </p:pic>
      <p:pic>
        <p:nvPicPr>
          <p:cNvPr id="445" name="Picture 9" descr=""/>
          <p:cNvPicPr/>
          <p:nvPr/>
        </p:nvPicPr>
        <p:blipFill>
          <a:blip r:embed="rId4"/>
          <a:stretch/>
        </p:blipFill>
        <p:spPr>
          <a:xfrm>
            <a:off x="2190600" y="779400"/>
            <a:ext cx="4771800" cy="4800240"/>
          </a:xfrm>
          <a:prstGeom prst="rect">
            <a:avLst/>
          </a:prstGeom>
          <a:noFill/>
          <a:ln w="0">
            <a:noFill/>
          </a:ln>
        </p:spPr>
      </p:pic>
      <p:pic>
        <p:nvPicPr>
          <p:cNvPr id="446" name="Picture 14" descr=""/>
          <p:cNvPicPr/>
          <p:nvPr/>
        </p:nvPicPr>
        <p:blipFill>
          <a:blip r:embed="rId5"/>
          <a:stretch/>
        </p:blipFill>
        <p:spPr>
          <a:xfrm>
            <a:off x="2190600" y="779400"/>
            <a:ext cx="4771800" cy="4800240"/>
          </a:xfrm>
          <a:prstGeom prst="rect">
            <a:avLst/>
          </a:prstGeom>
          <a:noFill/>
          <a:ln w="0">
            <a:noFill/>
          </a:ln>
        </p:spPr>
      </p:pic>
    </p:spTree>
  </p:cSld>
  <p:transition spd="slow">
    <p:wipe dir="r"/>
  </p:transition>
  <p:timing>
    <p:tnLst>
      <p:par>
        <p:cTn id="1354" dur="indefinite" restart="never" nodeType="tmRoot">
          <p:childTnLst>
            <p:seq>
              <p:cTn id="1355" dur="indefinite" nodeType="mainSeq">
                <p:childTnLst>
                  <p:par>
                    <p:cTn id="1356" nodeType="clickEffect" fill="hold">
                      <p:stCondLst>
                        <p:cond delay="indefinite"/>
                      </p:stCondLst>
                      <p:childTnLst>
                        <p:par>
                          <p:cTn id="1357" nodeType="withEffect" fill="hold">
                            <p:stCondLst>
                              <p:cond delay="0"/>
                            </p:stCondLst>
                            <p:childTnLst>
                              <p:par>
                                <p:cTn id="1358" nodeType="clickEffect" fill="hold" presetClass="entr" presetID="10">
                                  <p:stCondLst>
                                    <p:cond delay="0"/>
                                  </p:stCondLst>
                                  <p:childTnLst>
                                    <p:set>
                                      <p:cBhvr>
                                        <p:cTn id="1359" dur="1" fill="hold">
                                          <p:stCondLst>
                                            <p:cond delay="0"/>
                                          </p:stCondLst>
                                        </p:cTn>
                                        <p:tgtEl>
                                          <p:spTgt spid="443"/>
                                        </p:tgtEl>
                                        <p:attrNameLst>
                                          <p:attrName>style.visibility</p:attrName>
                                        </p:attrNameLst>
                                      </p:cBhvr>
                                      <p:to>
                                        <p:strVal val="visible"/>
                                      </p:to>
                                    </p:set>
                                    <p:animEffect filter="fade" transition="in">
                                      <p:cBhvr additive="repl">
                                        <p:cTn id="1360" dur="500"/>
                                        <p:tgtEl>
                                          <p:spTgt spid="443"/>
                                        </p:tgtEl>
                                      </p:cBhvr>
                                    </p:animEffect>
                                  </p:childTnLst>
                                </p:cTn>
                              </p:par>
                            </p:childTnLst>
                          </p:cTn>
                        </p:par>
                      </p:childTnLst>
                    </p:cTn>
                  </p:par>
                  <p:par>
                    <p:cTn id="1361" nodeType="clickEffect" fill="hold">
                      <p:stCondLst>
                        <p:cond delay="indefinite"/>
                      </p:stCondLst>
                      <p:childTnLst>
                        <p:par>
                          <p:cTn id="1362" nodeType="withEffect" fill="hold">
                            <p:stCondLst>
                              <p:cond delay="0"/>
                            </p:stCondLst>
                            <p:childTnLst>
                              <p:par>
                                <p:cTn id="1363" nodeType="clickEffect" fill="hold" presetClass="entr" presetID="10">
                                  <p:stCondLst>
                                    <p:cond delay="0"/>
                                  </p:stCondLst>
                                  <p:childTnLst>
                                    <p:set>
                                      <p:cBhvr>
                                        <p:cTn id="1364" dur="1" fill="hold">
                                          <p:stCondLst>
                                            <p:cond delay="0"/>
                                          </p:stCondLst>
                                        </p:cTn>
                                        <p:tgtEl>
                                          <p:spTgt spid="444"/>
                                        </p:tgtEl>
                                        <p:attrNameLst>
                                          <p:attrName>style.visibility</p:attrName>
                                        </p:attrNameLst>
                                      </p:cBhvr>
                                      <p:to>
                                        <p:strVal val="visible"/>
                                      </p:to>
                                    </p:set>
                                    <p:animEffect filter="fade" transition="in">
                                      <p:cBhvr additive="repl">
                                        <p:cTn id="1365" dur="500"/>
                                        <p:tgtEl>
                                          <p:spTgt spid="444"/>
                                        </p:tgtEl>
                                      </p:cBhvr>
                                    </p:animEffect>
                                  </p:childTnLst>
                                </p:cTn>
                              </p:par>
                            </p:childTnLst>
                          </p:cTn>
                        </p:par>
                      </p:childTnLst>
                    </p:cTn>
                  </p:par>
                  <p:par>
                    <p:cTn id="1366" nodeType="clickEffect" fill="hold">
                      <p:stCondLst>
                        <p:cond delay="indefinite"/>
                      </p:stCondLst>
                      <p:childTnLst>
                        <p:par>
                          <p:cTn id="1367" nodeType="withEffect" fill="hold">
                            <p:stCondLst>
                              <p:cond delay="0"/>
                            </p:stCondLst>
                            <p:childTnLst>
                              <p:par>
                                <p:cTn id="1368" nodeType="clickEffect" fill="hold" presetClass="entr" presetID="10">
                                  <p:stCondLst>
                                    <p:cond delay="0"/>
                                  </p:stCondLst>
                                  <p:childTnLst>
                                    <p:set>
                                      <p:cBhvr>
                                        <p:cTn id="1369" dur="1" fill="hold">
                                          <p:stCondLst>
                                            <p:cond delay="0"/>
                                          </p:stCondLst>
                                        </p:cTn>
                                        <p:tgtEl>
                                          <p:spTgt spid="445"/>
                                        </p:tgtEl>
                                        <p:attrNameLst>
                                          <p:attrName>style.visibility</p:attrName>
                                        </p:attrNameLst>
                                      </p:cBhvr>
                                      <p:to>
                                        <p:strVal val="visible"/>
                                      </p:to>
                                    </p:set>
                                    <p:animEffect filter="fade" transition="in">
                                      <p:cBhvr additive="repl">
                                        <p:cTn id="1370" dur="500"/>
                                        <p:tgtEl>
                                          <p:spTgt spid="445"/>
                                        </p:tgtEl>
                                      </p:cBhvr>
                                    </p:animEffect>
                                  </p:childTnLst>
                                </p:cTn>
                              </p:par>
                            </p:childTnLst>
                          </p:cTn>
                        </p:par>
                      </p:childTnLst>
                    </p:cTn>
                  </p:par>
                  <p:par>
                    <p:cTn id="1371" nodeType="clickEffect" fill="hold">
                      <p:stCondLst>
                        <p:cond delay="indefinite"/>
                      </p:stCondLst>
                      <p:childTnLst>
                        <p:par>
                          <p:cTn id="1372" nodeType="withEffect" fill="hold">
                            <p:stCondLst>
                              <p:cond delay="0"/>
                            </p:stCondLst>
                            <p:childTnLst>
                              <p:par>
                                <p:cTn id="1373" nodeType="clickEffect" fill="hold" presetClass="entr" presetID="10">
                                  <p:stCondLst>
                                    <p:cond delay="0"/>
                                  </p:stCondLst>
                                  <p:childTnLst>
                                    <p:set>
                                      <p:cBhvr>
                                        <p:cTn id="1374" dur="1" fill="hold">
                                          <p:stCondLst>
                                            <p:cond delay="0"/>
                                          </p:stCondLst>
                                        </p:cTn>
                                        <p:tgtEl>
                                          <p:spTgt spid="446"/>
                                        </p:tgtEl>
                                        <p:attrNameLst>
                                          <p:attrName>style.visibility</p:attrName>
                                        </p:attrNameLst>
                                      </p:cBhvr>
                                      <p:to>
                                        <p:strVal val="visible"/>
                                      </p:to>
                                    </p:set>
                                    <p:animEffect filter="fade" transition="in">
                                      <p:cBhvr additive="repl">
                                        <p:cTn id="1375" dur="500"/>
                                        <p:tgtEl>
                                          <p:spTgt spid="4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16.4  PRICE DISCRIMINATION</a:t>
            </a:r>
            <a:endParaRPr b="0" lang="en-CA" sz="2600" strike="noStrike" u="none">
              <a:solidFill>
                <a:schemeClr val="dk1"/>
              </a:solidFill>
              <a:effectLst/>
              <a:uFillTx/>
              <a:latin typeface="Arial"/>
            </a:endParaRPr>
          </a:p>
        </p:txBody>
      </p:sp>
      <p:sp>
        <p:nvSpPr>
          <p:cNvPr id="448" name="PlaceHolder 2"/>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 ticket with no restrictions costs $1,800.</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Global sells 2,000 units at each of its four new fares.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Economic profit increases by $2.4 million to $7.2 million a year, shown by the original blue rectangle plus the blue steps.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Consumer surplus shrinks to the sum of the green triangles.</a:t>
            </a:r>
            <a:endParaRPr b="1" lang="en-CA" sz="2400" strike="noStrike" u="none">
              <a:solidFill>
                <a:srgbClr val="00468f"/>
              </a:solidFill>
              <a:effectLst/>
              <a:uFillTx/>
              <a:latin typeface="Arial"/>
            </a:endParaRPr>
          </a:p>
        </p:txBody>
      </p:sp>
      <p:pic>
        <p:nvPicPr>
          <p:cNvPr id="449" name="Picture 1" descr=""/>
          <p:cNvPicPr/>
          <p:nvPr/>
        </p:nvPicPr>
        <p:blipFill>
          <a:blip r:embed="rId1"/>
          <a:stretch/>
        </p:blipFill>
        <p:spPr>
          <a:xfrm>
            <a:off x="4643280" y="1511280"/>
            <a:ext cx="4055760" cy="4080960"/>
          </a:xfrm>
          <a:prstGeom prst="rect">
            <a:avLst/>
          </a:prstGeom>
          <a:noFill/>
          <a:ln w="0">
            <a:noFill/>
          </a:ln>
        </p:spPr>
      </p:pic>
      <p:pic>
        <p:nvPicPr>
          <p:cNvPr id="450" name="Picture 12" descr=""/>
          <p:cNvPicPr/>
          <p:nvPr/>
        </p:nvPicPr>
        <p:blipFill>
          <a:blip r:embed="rId2"/>
          <a:stretch/>
        </p:blipFill>
        <p:spPr>
          <a:xfrm>
            <a:off x="4643280" y="1511280"/>
            <a:ext cx="4055760" cy="4080960"/>
          </a:xfrm>
          <a:prstGeom prst="rect">
            <a:avLst/>
          </a:prstGeom>
          <a:noFill/>
          <a:ln w="0">
            <a:noFill/>
          </a:ln>
        </p:spPr>
      </p:pic>
      <p:pic>
        <p:nvPicPr>
          <p:cNvPr id="451" name="Picture 13" descr=""/>
          <p:cNvPicPr/>
          <p:nvPr/>
        </p:nvPicPr>
        <p:blipFill>
          <a:blip r:embed="rId3"/>
          <a:stretch/>
        </p:blipFill>
        <p:spPr>
          <a:xfrm>
            <a:off x="4643280" y="1511280"/>
            <a:ext cx="4055760" cy="4080960"/>
          </a:xfrm>
          <a:prstGeom prst="rect">
            <a:avLst/>
          </a:prstGeom>
          <a:noFill/>
          <a:ln w="0">
            <a:noFill/>
          </a:ln>
        </p:spPr>
      </p:pic>
      <p:pic>
        <p:nvPicPr>
          <p:cNvPr id="452" name="Picture 14" descr=""/>
          <p:cNvPicPr/>
          <p:nvPr/>
        </p:nvPicPr>
        <p:blipFill>
          <a:blip r:embed="rId4"/>
          <a:stretch/>
        </p:blipFill>
        <p:spPr>
          <a:xfrm>
            <a:off x="4643280" y="1511280"/>
            <a:ext cx="4055760" cy="4080960"/>
          </a:xfrm>
          <a:prstGeom prst="rect">
            <a:avLst/>
          </a:prstGeom>
          <a:noFill/>
          <a:ln w="0">
            <a:noFill/>
          </a:ln>
        </p:spPr>
      </p:pic>
      <p:pic>
        <p:nvPicPr>
          <p:cNvPr id="453" name="Picture 15" descr=""/>
          <p:cNvPicPr/>
          <p:nvPr/>
        </p:nvPicPr>
        <p:blipFill>
          <a:blip r:embed="rId5"/>
          <a:stretch/>
        </p:blipFill>
        <p:spPr>
          <a:xfrm>
            <a:off x="4643280" y="1511280"/>
            <a:ext cx="4055760" cy="4080960"/>
          </a:xfrm>
          <a:prstGeom prst="rect">
            <a:avLst/>
          </a:prstGeom>
          <a:noFill/>
          <a:ln w="0">
            <a:noFill/>
          </a:ln>
        </p:spPr>
      </p:pic>
    </p:spTree>
  </p:cSld>
  <p:transition spd="slow">
    <p:wipe dir="r"/>
  </p:transition>
  <p:timing>
    <p:tnLst>
      <p:par>
        <p:cTn id="1376" dur="indefinite" restart="never" nodeType="tmRoot">
          <p:childTnLst>
            <p:seq>
              <p:cTn id="1377" dur="indefinite" nodeType="mainSeq">
                <p:childTnLst>
                  <p:par>
                    <p:cTn id="1378" nodeType="clickEffect" fill="hold">
                      <p:stCondLst>
                        <p:cond delay="0"/>
                      </p:stCondLst>
                      <p:childTnLst>
                        <p:par>
                          <p:cTn id="1379" nodeType="withEffect" fill="hold">
                            <p:stCondLst>
                              <p:cond delay="0"/>
                            </p:stCondLst>
                            <p:childTnLst>
                              <p:par>
                                <p:cTn id="1380" nodeType="withEffect" fill="hold" presetClass="entr" presetID="10">
                                  <p:stCondLst>
                                    <p:cond delay="0"/>
                                  </p:stCondLst>
                                  <p:childTnLst>
                                    <p:set>
                                      <p:cBhvr>
                                        <p:cTn id="1381" dur="1" fill="hold">
                                          <p:stCondLst>
                                            <p:cond delay="0"/>
                                          </p:stCondLst>
                                        </p:cTn>
                                        <p:tgtEl>
                                          <p:spTgt spid="452"/>
                                        </p:tgtEl>
                                        <p:attrNameLst>
                                          <p:attrName>style.visibility</p:attrName>
                                        </p:attrNameLst>
                                      </p:cBhvr>
                                      <p:to>
                                        <p:strVal val="visible"/>
                                      </p:to>
                                    </p:set>
                                    <p:animEffect filter="fade" transition="in">
                                      <p:cBhvr additive="repl">
                                        <p:cTn id="1382" dur="500"/>
                                        <p:tgtEl>
                                          <p:spTgt spid="452"/>
                                        </p:tgtEl>
                                      </p:cBhvr>
                                    </p:animEffect>
                                  </p:childTnLst>
                                </p:cTn>
                              </p:par>
                            </p:childTnLst>
                          </p:cTn>
                        </p:par>
                      </p:childTnLst>
                    </p:cTn>
                  </p:par>
                  <p:par>
                    <p:cTn id="1383" nodeType="clickEffect" fill="hold">
                      <p:stCondLst>
                        <p:cond delay="indefinite"/>
                      </p:stCondLst>
                      <p:childTnLst>
                        <p:par>
                          <p:cTn id="1384" nodeType="withEffect" fill="hold">
                            <p:stCondLst>
                              <p:cond delay="0"/>
                            </p:stCondLst>
                            <p:childTnLst>
                              <p:par>
                                <p:cTn id="1385" nodeType="clickEffect" fill="hold" presetClass="entr" presetID="22" presetSubtype="8">
                                  <p:stCondLst>
                                    <p:cond delay="0"/>
                                  </p:stCondLst>
                                  <p:childTnLst>
                                    <p:set>
                                      <p:cBhvr>
                                        <p:cTn id="1386" dur="1" fill="hold">
                                          <p:stCondLst>
                                            <p:cond delay="0"/>
                                          </p:stCondLst>
                                        </p:cTn>
                                        <p:tgtEl>
                                          <p:spTgt spid="448">
                                            <p:txEl>
                                              <p:pRg st="1" end="1"/>
                                            </p:txEl>
                                          </p:spTgt>
                                        </p:tgtEl>
                                        <p:attrNameLst>
                                          <p:attrName>style.visibility</p:attrName>
                                        </p:attrNameLst>
                                      </p:cBhvr>
                                      <p:to>
                                        <p:strVal val="visible"/>
                                      </p:to>
                                    </p:set>
                                    <p:animEffect filter="wipe(left)" transition="in">
                                      <p:cBhvr additive="repl">
                                        <p:cTn id="1387" dur="500"/>
                                        <p:tgtEl>
                                          <p:spTgt spid="448">
                                            <p:txEl>
                                              <p:pRg st="1" end="1"/>
                                            </p:txEl>
                                          </p:spTgt>
                                        </p:tgtEl>
                                      </p:cBhvr>
                                    </p:animEffect>
                                  </p:childTnLst>
                                </p:cTn>
                              </p:par>
                            </p:childTnLst>
                          </p:cTn>
                        </p:par>
                      </p:childTnLst>
                    </p:cTn>
                  </p:par>
                  <p:par>
                    <p:cTn id="1388" nodeType="clickEffect" fill="hold">
                      <p:stCondLst>
                        <p:cond delay="indefinite"/>
                      </p:stCondLst>
                      <p:childTnLst>
                        <p:par>
                          <p:cTn id="1389" nodeType="withEffect" fill="hold">
                            <p:stCondLst>
                              <p:cond delay="0"/>
                            </p:stCondLst>
                            <p:childTnLst>
                              <p:par>
                                <p:cTn id="1390" nodeType="clickEffect" fill="hold" presetClass="entr" presetID="22" presetSubtype="8">
                                  <p:stCondLst>
                                    <p:cond delay="0"/>
                                  </p:stCondLst>
                                  <p:childTnLst>
                                    <p:set>
                                      <p:cBhvr>
                                        <p:cTn id="1391" dur="1" fill="hold">
                                          <p:stCondLst>
                                            <p:cond delay="0"/>
                                          </p:stCondLst>
                                        </p:cTn>
                                        <p:tgtEl>
                                          <p:spTgt spid="448">
                                            <p:txEl>
                                              <p:pRg st="2" end="2"/>
                                            </p:txEl>
                                          </p:spTgt>
                                        </p:tgtEl>
                                        <p:attrNameLst>
                                          <p:attrName>style.visibility</p:attrName>
                                        </p:attrNameLst>
                                      </p:cBhvr>
                                      <p:to>
                                        <p:strVal val="visible"/>
                                      </p:to>
                                    </p:set>
                                    <p:animEffect filter="wipe(left)" transition="in">
                                      <p:cBhvr additive="repl">
                                        <p:cTn id="1392" dur="500"/>
                                        <p:tgtEl>
                                          <p:spTgt spid="448">
                                            <p:txEl>
                                              <p:pRg st="2" end="2"/>
                                            </p:txEl>
                                          </p:spTgt>
                                        </p:tgtEl>
                                      </p:cBhvr>
                                    </p:animEffect>
                                  </p:childTnLst>
                                </p:cTn>
                              </p:par>
                              <p:par>
                                <p:cTn id="1393" nodeType="withEffect" fill="hold" presetClass="entr" presetID="10">
                                  <p:stCondLst>
                                    <p:cond delay="0"/>
                                  </p:stCondLst>
                                  <p:childTnLst>
                                    <p:set>
                                      <p:cBhvr>
                                        <p:cTn id="1394" dur="1" fill="hold">
                                          <p:stCondLst>
                                            <p:cond delay="0"/>
                                          </p:stCondLst>
                                        </p:cTn>
                                        <p:tgtEl>
                                          <p:spTgt spid="453"/>
                                        </p:tgtEl>
                                        <p:attrNameLst>
                                          <p:attrName>style.visibility</p:attrName>
                                        </p:attrNameLst>
                                      </p:cBhvr>
                                      <p:to>
                                        <p:strVal val="visible"/>
                                      </p:to>
                                    </p:set>
                                    <p:animEffect filter="fade" transition="in">
                                      <p:cBhvr additive="repl">
                                        <p:cTn id="1395" dur="500"/>
                                        <p:tgtEl>
                                          <p:spTgt spid="453"/>
                                        </p:tgtEl>
                                      </p:cBhvr>
                                    </p:animEffect>
                                  </p:childTnLst>
                                </p:cTn>
                              </p:par>
                            </p:childTnLst>
                          </p:cTn>
                        </p:par>
                      </p:childTnLst>
                    </p:cTn>
                  </p:par>
                  <p:par>
                    <p:cTn id="1396" nodeType="clickEffect" fill="hold">
                      <p:stCondLst>
                        <p:cond delay="indefinite"/>
                      </p:stCondLst>
                      <p:childTnLst>
                        <p:par>
                          <p:cTn id="1397" nodeType="withEffect" fill="hold">
                            <p:stCondLst>
                              <p:cond delay="0"/>
                            </p:stCondLst>
                            <p:childTnLst>
                              <p:par>
                                <p:cTn id="1398" nodeType="clickEffect" fill="hold" presetClass="entr" presetID="22" presetSubtype="8">
                                  <p:stCondLst>
                                    <p:cond delay="0"/>
                                  </p:stCondLst>
                                  <p:childTnLst>
                                    <p:set>
                                      <p:cBhvr>
                                        <p:cTn id="1399" dur="1" fill="hold">
                                          <p:stCondLst>
                                            <p:cond delay="0"/>
                                          </p:stCondLst>
                                        </p:cTn>
                                        <p:tgtEl>
                                          <p:spTgt spid="448">
                                            <p:txEl>
                                              <p:pRg st="3" end="3"/>
                                            </p:txEl>
                                          </p:spTgt>
                                        </p:tgtEl>
                                        <p:attrNameLst>
                                          <p:attrName>style.visibility</p:attrName>
                                        </p:attrNameLst>
                                      </p:cBhvr>
                                      <p:to>
                                        <p:strVal val="visible"/>
                                      </p:to>
                                    </p:set>
                                    <p:animEffect filter="wipe(left)" transition="in">
                                      <p:cBhvr additive="repl">
                                        <p:cTn id="1400" dur="500"/>
                                        <p:tgtEl>
                                          <p:spTgt spid="448">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16.4  PRICE DISCRIMINATION</a:t>
            </a:r>
            <a:endParaRPr b="0" lang="en-CA" sz="2600" strike="noStrike" u="none">
              <a:solidFill>
                <a:schemeClr val="dk1"/>
              </a:solidFill>
              <a:effectLst/>
              <a:uFillTx/>
              <a:latin typeface="Arial"/>
            </a:endParaRPr>
          </a:p>
        </p:txBody>
      </p:sp>
      <p:sp>
        <p:nvSpPr>
          <p:cNvPr id="455"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Perfect Price Discrimination</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1" lang="en-US" sz="2400" strike="noStrike" u="none">
                <a:solidFill>
                  <a:srgbClr val="e50030"/>
                </a:solidFill>
                <a:effectLst/>
                <a:uFillTx/>
                <a:latin typeface="Arial"/>
                <a:ea typeface="ＭＳ Ｐゴシック"/>
              </a:rPr>
              <a:t>Perfect price discrimination</a:t>
            </a:r>
            <a:r>
              <a:rPr b="0" lang="en-US" sz="2400" strike="noStrike" u="none">
                <a:solidFill>
                  <a:srgbClr val="000000"/>
                </a:solidFill>
                <a:effectLst/>
                <a:uFillTx/>
                <a:latin typeface="Arial"/>
                <a:ea typeface="ＭＳ Ｐゴシック"/>
              </a:rPr>
              <a:t> extracts the entire consumer surplus by charging the highest price that consumers are willing to pay for each unit.</a:t>
            </a:r>
            <a:endParaRPr b="1" lang="en-CA" sz="2400" strike="noStrike" u="none">
              <a:solidFill>
                <a:srgbClr val="00468f"/>
              </a:solidFill>
              <a:effectLst/>
              <a:uFillTx/>
              <a:latin typeface="Arial"/>
            </a:endParaRPr>
          </a:p>
        </p:txBody>
      </p:sp>
    </p:spTree>
  </p:cSld>
  <p:transition spd="slow">
    <p:wipe dir="r"/>
  </p:transition>
  <p:timing>
    <p:tnLst>
      <p:par>
        <p:cTn id="1401" dur="indefinite" restart="never" nodeType="tmRoot">
          <p:childTnLst>
            <p:seq>
              <p:cTn id="1402" dur="indefinite" nodeType="mainSeq">
                <p:childTnLst>
                  <p:par>
                    <p:cTn id="1403" nodeType="clickEffect" fill="hold">
                      <p:stCondLst>
                        <p:cond delay="indefinite"/>
                      </p:stCondLst>
                      <p:childTnLst>
                        <p:par>
                          <p:cTn id="1404" nodeType="withEffect" fill="hold">
                            <p:stCondLst>
                              <p:cond delay="0"/>
                            </p:stCondLst>
                            <p:childTnLst>
                              <p:par>
                                <p:cTn id="1405" nodeType="clickEffect" fill="hold" presetClass="entr" presetID="22" presetSubtype="8">
                                  <p:stCondLst>
                                    <p:cond delay="0"/>
                                  </p:stCondLst>
                                  <p:childTnLst>
                                    <p:set>
                                      <p:cBhvr>
                                        <p:cTn id="1406" dur="1" fill="hold">
                                          <p:stCondLst>
                                            <p:cond delay="0"/>
                                          </p:stCondLst>
                                        </p:cTn>
                                        <p:tgtEl>
                                          <p:spTgt spid="455">
                                            <p:txEl>
                                              <p:pRg st="1" end="1"/>
                                            </p:txEl>
                                          </p:spTgt>
                                        </p:tgtEl>
                                        <p:attrNameLst>
                                          <p:attrName>style.visibility</p:attrName>
                                        </p:attrNameLst>
                                      </p:cBhvr>
                                      <p:to>
                                        <p:strVal val="visible"/>
                                      </p:to>
                                    </p:set>
                                    <p:animEffect filter="wipe(left)" transition="in">
                                      <p:cBhvr additive="repl">
                                        <p:cTn id="1407" dur="500"/>
                                        <p:tgtEl>
                                          <p:spTgt spid="455">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56" name="Picture 1" descr=""/>
          <p:cNvPicPr/>
          <p:nvPr/>
        </p:nvPicPr>
        <p:blipFill>
          <a:blip r:embed="rId1"/>
          <a:stretch/>
        </p:blipFill>
        <p:spPr>
          <a:xfrm>
            <a:off x="4680000" y="1444680"/>
            <a:ext cx="4055760" cy="4079520"/>
          </a:xfrm>
          <a:prstGeom prst="rect">
            <a:avLst/>
          </a:prstGeom>
          <a:noFill/>
          <a:ln w="0">
            <a:noFill/>
          </a:ln>
        </p:spPr>
      </p:pic>
      <p:pic>
        <p:nvPicPr>
          <p:cNvPr id="457" name="Picture 10" descr=""/>
          <p:cNvPicPr/>
          <p:nvPr/>
        </p:nvPicPr>
        <p:blipFill>
          <a:blip r:embed="rId2"/>
          <a:stretch/>
        </p:blipFill>
        <p:spPr>
          <a:xfrm>
            <a:off x="4680000" y="1444680"/>
            <a:ext cx="4055760" cy="4079520"/>
          </a:xfrm>
          <a:prstGeom prst="rect">
            <a:avLst/>
          </a:prstGeom>
          <a:noFill/>
          <a:ln w="0">
            <a:noFill/>
          </a:ln>
        </p:spPr>
      </p:pic>
      <p:pic>
        <p:nvPicPr>
          <p:cNvPr id="458" name="Picture 11" descr=""/>
          <p:cNvPicPr/>
          <p:nvPr/>
        </p:nvPicPr>
        <p:blipFill>
          <a:blip r:embed="rId3"/>
          <a:stretch/>
        </p:blipFill>
        <p:spPr>
          <a:xfrm>
            <a:off x="4680000" y="1444680"/>
            <a:ext cx="4055760" cy="4079520"/>
          </a:xfrm>
          <a:prstGeom prst="rect">
            <a:avLst/>
          </a:prstGeom>
          <a:noFill/>
          <a:ln w="0">
            <a:noFill/>
          </a:ln>
        </p:spPr>
      </p:pic>
      <p:sp>
        <p:nvSpPr>
          <p:cNvPr id="45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16.4  PRICE DISCRIMINATION</a:t>
            </a:r>
            <a:endParaRPr b="0" lang="en-CA" sz="2600" strike="noStrike" u="none">
              <a:solidFill>
                <a:schemeClr val="dk1"/>
              </a:solidFill>
              <a:effectLst/>
              <a:uFillTx/>
              <a:latin typeface="Arial"/>
            </a:endParaRPr>
          </a:p>
        </p:txBody>
      </p:sp>
      <p:sp>
        <p:nvSpPr>
          <p:cNvPr id="460" name="PlaceHolder 2"/>
          <p:cNvSpPr>
            <a:spLocks noGrp="1"/>
          </p:cNvSpPr>
          <p:nvPr>
            <p:ph/>
          </p:nvPr>
        </p:nvSpPr>
        <p:spPr>
          <a:xfrm>
            <a:off x="360360" y="1440000"/>
            <a:ext cx="451908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Figure 16.10 illustrates perfect price discrimination.</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With perfect price discrimination, the demand curve becomes the marginal revenue curve.</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a:tabLst>
                <a:tab algn="ctr" pos="857160"/>
                <a:tab algn="ctr" pos="2111400"/>
              </a:tabLst>
            </a:pPr>
            <a:r>
              <a:rPr b="0" lang="en-US" sz="2400" strike="noStrike" u="none">
                <a:solidFill>
                  <a:srgbClr val="000000"/>
                </a:solidFill>
                <a:effectLst/>
                <a:uFillTx/>
                <a:latin typeface="Arial"/>
                <a:ea typeface="ＭＳ Ｐゴシック"/>
              </a:rPr>
              <a:t>Output increases to 11,000 trips a year, and ...</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a:tabLst>
                <a:tab algn="ctr" pos="857160"/>
                <a:tab algn="ctr" pos="2111400"/>
              </a:tabLst>
            </a:pPr>
            <a:r>
              <a:rPr b="0" lang="en-US" sz="2400" strike="noStrike" u="none">
                <a:solidFill>
                  <a:srgbClr val="000000"/>
                </a:solidFill>
                <a:effectLst/>
                <a:uFillTx/>
                <a:latin typeface="Arial"/>
                <a:ea typeface="ＭＳ Ｐゴシック"/>
              </a:rPr>
              <a:t>Global’s economic profit increases to $9.35 million a year.</a:t>
            </a:r>
            <a:endParaRPr b="1" lang="en-CA" sz="2400" strike="noStrike" u="none">
              <a:solidFill>
                <a:srgbClr val="00468f"/>
              </a:solidFill>
              <a:effectLst/>
              <a:uFillTx/>
              <a:latin typeface="Arial"/>
            </a:endParaRPr>
          </a:p>
        </p:txBody>
      </p:sp>
    </p:spTree>
  </p:cSld>
  <p:transition spd="slow">
    <p:wipe dir="r"/>
  </p:transition>
  <p:timing>
    <p:tnLst>
      <p:par>
        <p:cTn id="1408" dur="indefinite" restart="never" nodeType="tmRoot">
          <p:childTnLst>
            <p:seq>
              <p:cTn id="1409" dur="indefinite" nodeType="mainSeq">
                <p:childTnLst>
                  <p:par>
                    <p:cTn id="1410" nodeType="clickEffect" fill="hold">
                      <p:stCondLst>
                        <p:cond delay="indefinite"/>
                      </p:stCondLst>
                      <p:childTnLst>
                        <p:par>
                          <p:cTn id="1411" nodeType="withEffect" fill="hold">
                            <p:stCondLst>
                              <p:cond delay="0"/>
                            </p:stCondLst>
                            <p:childTnLst>
                              <p:par>
                                <p:cTn id="1412" nodeType="clickEffect" fill="hold" presetClass="entr" presetID="22" presetSubtype="8">
                                  <p:stCondLst>
                                    <p:cond delay="0"/>
                                  </p:stCondLst>
                                  <p:childTnLst>
                                    <p:set>
                                      <p:cBhvr>
                                        <p:cTn id="1413" dur="1" fill="hold">
                                          <p:stCondLst>
                                            <p:cond delay="0"/>
                                          </p:stCondLst>
                                        </p:cTn>
                                        <p:tgtEl>
                                          <p:spTgt spid="460">
                                            <p:txEl>
                                              <p:pRg st="1" end="1"/>
                                            </p:txEl>
                                          </p:spTgt>
                                        </p:tgtEl>
                                        <p:attrNameLst>
                                          <p:attrName>style.visibility</p:attrName>
                                        </p:attrNameLst>
                                      </p:cBhvr>
                                      <p:to>
                                        <p:strVal val="visible"/>
                                      </p:to>
                                    </p:set>
                                    <p:animEffect filter="wipe(left)" transition="in">
                                      <p:cBhvr additive="repl">
                                        <p:cTn id="1414" dur="500"/>
                                        <p:tgtEl>
                                          <p:spTgt spid="460">
                                            <p:txEl>
                                              <p:pRg st="1" end="1"/>
                                            </p:txEl>
                                          </p:spTgt>
                                        </p:tgtEl>
                                      </p:cBhvr>
                                    </p:animEffect>
                                  </p:childTnLst>
                                </p:cTn>
                              </p:par>
                            </p:childTnLst>
                          </p:cTn>
                        </p:par>
                      </p:childTnLst>
                    </p:cTn>
                  </p:par>
                  <p:par>
                    <p:cTn id="1415" nodeType="clickEffect" fill="hold">
                      <p:stCondLst>
                        <p:cond delay="indefinite"/>
                      </p:stCondLst>
                      <p:childTnLst>
                        <p:par>
                          <p:cTn id="1416" nodeType="withEffect" fill="hold">
                            <p:stCondLst>
                              <p:cond delay="0"/>
                            </p:stCondLst>
                            <p:childTnLst>
                              <p:par>
                                <p:cTn id="1417" nodeType="clickEffect" fill="hold" presetClass="entr" presetID="22" presetSubtype="8">
                                  <p:stCondLst>
                                    <p:cond delay="0"/>
                                  </p:stCondLst>
                                  <p:childTnLst>
                                    <p:set>
                                      <p:cBhvr>
                                        <p:cTn id="1418" dur="1" fill="hold">
                                          <p:stCondLst>
                                            <p:cond delay="0"/>
                                          </p:stCondLst>
                                        </p:cTn>
                                        <p:tgtEl>
                                          <p:spTgt spid="460">
                                            <p:txEl>
                                              <p:pRg st="2" end="2"/>
                                            </p:txEl>
                                          </p:spTgt>
                                        </p:tgtEl>
                                        <p:attrNameLst>
                                          <p:attrName>style.visibility</p:attrName>
                                        </p:attrNameLst>
                                      </p:cBhvr>
                                      <p:to>
                                        <p:strVal val="visible"/>
                                      </p:to>
                                    </p:set>
                                    <p:animEffect filter="wipe(left)" transition="in">
                                      <p:cBhvr additive="repl">
                                        <p:cTn id="1419" dur="500"/>
                                        <p:tgtEl>
                                          <p:spTgt spid="460">
                                            <p:txEl>
                                              <p:pRg st="2" end="2"/>
                                            </p:txEl>
                                          </p:spTgt>
                                        </p:tgtEl>
                                      </p:cBhvr>
                                    </p:animEffect>
                                  </p:childTnLst>
                                </p:cTn>
                              </p:par>
                              <p:par>
                                <p:cTn id="1420" nodeType="withEffect" fill="hold" presetClass="entr" presetID="22" presetSubtype="8">
                                  <p:stCondLst>
                                    <p:cond delay="0"/>
                                  </p:stCondLst>
                                  <p:childTnLst>
                                    <p:set>
                                      <p:cBhvr>
                                        <p:cTn id="1421" dur="1" fill="hold">
                                          <p:stCondLst>
                                            <p:cond delay="0"/>
                                          </p:stCondLst>
                                        </p:cTn>
                                        <p:tgtEl>
                                          <p:spTgt spid="457"/>
                                        </p:tgtEl>
                                        <p:attrNameLst>
                                          <p:attrName>style.visibility</p:attrName>
                                        </p:attrNameLst>
                                      </p:cBhvr>
                                      <p:to>
                                        <p:strVal val="visible"/>
                                      </p:to>
                                    </p:set>
                                    <p:animEffect filter="wipe(left)" transition="in">
                                      <p:cBhvr additive="repl">
                                        <p:cTn id="1422" dur="1000"/>
                                        <p:tgtEl>
                                          <p:spTgt spid="457"/>
                                        </p:tgtEl>
                                      </p:cBhvr>
                                    </p:animEffect>
                                  </p:childTnLst>
                                </p:cTn>
                              </p:par>
                            </p:childTnLst>
                          </p:cTn>
                        </p:par>
                      </p:childTnLst>
                    </p:cTn>
                  </p:par>
                  <p:par>
                    <p:cTn id="1423" nodeType="clickEffect" fill="hold">
                      <p:stCondLst>
                        <p:cond delay="indefinite"/>
                      </p:stCondLst>
                      <p:childTnLst>
                        <p:par>
                          <p:cTn id="1424" nodeType="withEffect" fill="hold">
                            <p:stCondLst>
                              <p:cond delay="0"/>
                            </p:stCondLst>
                            <p:childTnLst>
                              <p:par>
                                <p:cTn id="1425" nodeType="clickEffect" fill="hold" presetClass="entr" presetID="22" presetSubtype="8">
                                  <p:stCondLst>
                                    <p:cond delay="0"/>
                                  </p:stCondLst>
                                  <p:childTnLst>
                                    <p:set>
                                      <p:cBhvr>
                                        <p:cTn id="1426" dur="1" fill="hold">
                                          <p:stCondLst>
                                            <p:cond delay="0"/>
                                          </p:stCondLst>
                                        </p:cTn>
                                        <p:tgtEl>
                                          <p:spTgt spid="460">
                                            <p:txEl>
                                              <p:pRg st="3" end="3"/>
                                            </p:txEl>
                                          </p:spTgt>
                                        </p:tgtEl>
                                        <p:attrNameLst>
                                          <p:attrName>style.visibility</p:attrName>
                                        </p:attrNameLst>
                                      </p:cBhvr>
                                      <p:to>
                                        <p:strVal val="visible"/>
                                      </p:to>
                                    </p:set>
                                    <p:animEffect filter="wipe(left)" transition="in">
                                      <p:cBhvr additive="repl">
                                        <p:cTn id="1427" dur="500"/>
                                        <p:tgtEl>
                                          <p:spTgt spid="460">
                                            <p:txEl>
                                              <p:pRg st="3" end="3"/>
                                            </p:txEl>
                                          </p:spTgt>
                                        </p:tgtEl>
                                      </p:cBhvr>
                                    </p:animEffect>
                                  </p:childTnLst>
                                </p:cTn>
                              </p:par>
                              <p:par>
                                <p:cTn id="1428" nodeType="withEffect" fill="hold" presetClass="entr" presetID="10">
                                  <p:stCondLst>
                                    <p:cond delay="0"/>
                                  </p:stCondLst>
                                  <p:childTnLst>
                                    <p:set>
                                      <p:cBhvr>
                                        <p:cTn id="1429" dur="1" fill="hold">
                                          <p:stCondLst>
                                            <p:cond delay="0"/>
                                          </p:stCondLst>
                                        </p:cTn>
                                        <p:tgtEl>
                                          <p:spTgt spid="458"/>
                                        </p:tgtEl>
                                        <p:attrNameLst>
                                          <p:attrName>style.visibility</p:attrName>
                                        </p:attrNameLst>
                                      </p:cBhvr>
                                      <p:to>
                                        <p:strVal val="visible"/>
                                      </p:to>
                                    </p:set>
                                    <p:animEffect filter="fade" transition="in">
                                      <p:cBhvr additive="repl">
                                        <p:cTn id="1430" dur="500"/>
                                        <p:tgtEl>
                                          <p:spTgt spid="4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461" name="Picture 1" descr=""/>
          <p:cNvPicPr/>
          <p:nvPr/>
        </p:nvPicPr>
        <p:blipFill>
          <a:blip r:embed="rId1"/>
          <a:stretch/>
        </p:blipFill>
        <p:spPr>
          <a:xfrm>
            <a:off x="2016000" y="792000"/>
            <a:ext cx="4771800" cy="4800240"/>
          </a:xfrm>
          <a:prstGeom prst="rect">
            <a:avLst/>
          </a:prstGeom>
          <a:noFill/>
          <a:ln w="0">
            <a:noFill/>
          </a:ln>
        </p:spPr>
      </p:pic>
      <p:pic>
        <p:nvPicPr>
          <p:cNvPr id="462" name="Picture 5" descr=""/>
          <p:cNvPicPr/>
          <p:nvPr/>
        </p:nvPicPr>
        <p:blipFill>
          <a:blip r:embed="rId2"/>
          <a:stretch/>
        </p:blipFill>
        <p:spPr>
          <a:xfrm>
            <a:off x="2016000" y="792000"/>
            <a:ext cx="4771800" cy="4800240"/>
          </a:xfrm>
          <a:prstGeom prst="rect">
            <a:avLst/>
          </a:prstGeom>
          <a:noFill/>
          <a:ln w="0">
            <a:noFill/>
          </a:ln>
        </p:spPr>
      </p:pic>
      <p:pic>
        <p:nvPicPr>
          <p:cNvPr id="463" name="Picture 6" descr=""/>
          <p:cNvPicPr/>
          <p:nvPr/>
        </p:nvPicPr>
        <p:blipFill>
          <a:blip r:embed="rId3"/>
          <a:stretch/>
        </p:blipFill>
        <p:spPr>
          <a:xfrm>
            <a:off x="2016000" y="792000"/>
            <a:ext cx="4771800" cy="4800240"/>
          </a:xfrm>
          <a:prstGeom prst="rect">
            <a:avLst/>
          </a:prstGeom>
          <a:noFill/>
          <a:ln w="0">
            <a:noFill/>
          </a:ln>
        </p:spPr>
      </p:pic>
    </p:spTree>
  </p:cSld>
  <p:transition spd="slow">
    <p:wipe dir="r"/>
  </p:transition>
  <p:timing>
    <p:tnLst>
      <p:par>
        <p:cTn id="1431" dur="indefinite" restart="never" nodeType="tmRoot">
          <p:childTnLst>
            <p:seq>
              <p:cTn id="1432" dur="indefinite" nodeType="mainSeq">
                <p:childTnLst>
                  <p:par>
                    <p:cTn id="1433" nodeType="clickEffect" fill="hold">
                      <p:stCondLst>
                        <p:cond delay="indefinite"/>
                      </p:stCondLst>
                      <p:childTnLst>
                        <p:par>
                          <p:cTn id="1434" nodeType="withEffect" fill="hold">
                            <p:stCondLst>
                              <p:cond delay="0"/>
                            </p:stCondLst>
                            <p:childTnLst>
                              <p:par>
                                <p:cTn id="1435" nodeType="clickEffect" fill="hold" presetClass="entr" presetID="22" presetSubtype="8">
                                  <p:stCondLst>
                                    <p:cond delay="0"/>
                                  </p:stCondLst>
                                  <p:childTnLst>
                                    <p:set>
                                      <p:cBhvr>
                                        <p:cTn id="1436" dur="1" fill="hold">
                                          <p:stCondLst>
                                            <p:cond delay="0"/>
                                          </p:stCondLst>
                                        </p:cTn>
                                        <p:tgtEl>
                                          <p:spTgt spid="462"/>
                                        </p:tgtEl>
                                        <p:attrNameLst>
                                          <p:attrName>style.visibility</p:attrName>
                                        </p:attrNameLst>
                                      </p:cBhvr>
                                      <p:to>
                                        <p:strVal val="visible"/>
                                      </p:to>
                                    </p:set>
                                    <p:animEffect filter="wipe(left)" transition="in">
                                      <p:cBhvr additive="repl">
                                        <p:cTn id="1437" dur="1000"/>
                                        <p:tgtEl>
                                          <p:spTgt spid="462"/>
                                        </p:tgtEl>
                                      </p:cBhvr>
                                    </p:animEffect>
                                  </p:childTnLst>
                                </p:cTn>
                              </p:par>
                            </p:childTnLst>
                          </p:cTn>
                        </p:par>
                      </p:childTnLst>
                    </p:cTn>
                  </p:par>
                  <p:par>
                    <p:cTn id="1438" nodeType="clickEffect" fill="hold">
                      <p:stCondLst>
                        <p:cond delay="indefinite"/>
                      </p:stCondLst>
                      <p:childTnLst>
                        <p:par>
                          <p:cTn id="1439" nodeType="withEffect" fill="hold">
                            <p:stCondLst>
                              <p:cond delay="0"/>
                            </p:stCondLst>
                            <p:childTnLst>
                              <p:par>
                                <p:cTn id="1440" nodeType="clickEffect" fill="hold" presetClass="entr" presetID="10">
                                  <p:stCondLst>
                                    <p:cond delay="0"/>
                                  </p:stCondLst>
                                  <p:childTnLst>
                                    <p:set>
                                      <p:cBhvr>
                                        <p:cTn id="1441" dur="1" fill="hold">
                                          <p:stCondLst>
                                            <p:cond delay="0"/>
                                          </p:stCondLst>
                                        </p:cTn>
                                        <p:tgtEl>
                                          <p:spTgt spid="463"/>
                                        </p:tgtEl>
                                        <p:attrNameLst>
                                          <p:attrName>style.visibility</p:attrName>
                                        </p:attrNameLst>
                                      </p:cBhvr>
                                      <p:to>
                                        <p:strVal val="visible"/>
                                      </p:to>
                                    </p:set>
                                    <p:animEffect filter="fade" transition="in">
                                      <p:cBhvr additive="repl">
                                        <p:cTn id="1442" dur="500"/>
                                        <p:tgtEl>
                                          <p:spTgt spid="4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16.4  PRICE DISCRIMINATION</a:t>
            </a:r>
            <a:endParaRPr b="0" lang="en-CA" sz="2600" strike="noStrike" u="none">
              <a:solidFill>
                <a:schemeClr val="dk1"/>
              </a:solidFill>
              <a:effectLst/>
              <a:uFillTx/>
              <a:latin typeface="Arial"/>
            </a:endParaRPr>
          </a:p>
        </p:txBody>
      </p:sp>
      <p:sp>
        <p:nvSpPr>
          <p:cNvPr id="465"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Price Discrimination and Efficiency</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With perfect price discrimination, price equals marginal cost, so deadweight loss is zero.</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Perfect price discrimination redistributes the consumer surplus to the producer. Consumer surplus is zero.</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Rent seeking becomes profitable.</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With free entry into rent seeking, the long-run equilibrium outcome is that rent seekers use up the entire producer surplus.</a:t>
            </a:r>
            <a:endParaRPr b="1" lang="en-CA" sz="2400" strike="noStrike" u="none">
              <a:solidFill>
                <a:srgbClr val="00468f"/>
              </a:solidFill>
              <a:effectLst/>
              <a:uFillTx/>
              <a:latin typeface="Arial"/>
            </a:endParaRPr>
          </a:p>
        </p:txBody>
      </p:sp>
    </p:spTree>
  </p:cSld>
  <p:transition spd="slow">
    <p:wipe dir="r"/>
  </p:transition>
  <p:timing>
    <p:tnLst>
      <p:par>
        <p:cTn id="1443" dur="indefinite" restart="never" nodeType="tmRoot">
          <p:childTnLst>
            <p:seq>
              <p:cTn id="1444" dur="indefinite" nodeType="mainSeq">
                <p:childTnLst>
                  <p:par>
                    <p:cTn id="1445" nodeType="clickEffect" fill="hold">
                      <p:stCondLst>
                        <p:cond delay="indefinite"/>
                      </p:stCondLst>
                      <p:childTnLst>
                        <p:par>
                          <p:cTn id="1446" nodeType="withEffect" fill="hold">
                            <p:stCondLst>
                              <p:cond delay="0"/>
                            </p:stCondLst>
                            <p:childTnLst>
                              <p:par>
                                <p:cTn id="1447" nodeType="clickEffect" fill="hold" presetClass="entr" presetID="22" presetSubtype="8">
                                  <p:stCondLst>
                                    <p:cond delay="0"/>
                                  </p:stCondLst>
                                  <p:childTnLst>
                                    <p:set>
                                      <p:cBhvr>
                                        <p:cTn id="1448" dur="1" fill="hold">
                                          <p:stCondLst>
                                            <p:cond delay="0"/>
                                          </p:stCondLst>
                                        </p:cTn>
                                        <p:tgtEl>
                                          <p:spTgt spid="465">
                                            <p:txEl>
                                              <p:pRg st="1" end="1"/>
                                            </p:txEl>
                                          </p:spTgt>
                                        </p:tgtEl>
                                        <p:attrNameLst>
                                          <p:attrName>style.visibility</p:attrName>
                                        </p:attrNameLst>
                                      </p:cBhvr>
                                      <p:to>
                                        <p:strVal val="visible"/>
                                      </p:to>
                                    </p:set>
                                    <p:animEffect filter="wipe(left)" transition="in">
                                      <p:cBhvr additive="repl">
                                        <p:cTn id="1449" dur="500"/>
                                        <p:tgtEl>
                                          <p:spTgt spid="465">
                                            <p:txEl>
                                              <p:pRg st="1" end="1"/>
                                            </p:txEl>
                                          </p:spTgt>
                                        </p:tgtEl>
                                      </p:cBhvr>
                                    </p:animEffect>
                                  </p:childTnLst>
                                </p:cTn>
                              </p:par>
                            </p:childTnLst>
                          </p:cTn>
                        </p:par>
                      </p:childTnLst>
                    </p:cTn>
                  </p:par>
                  <p:par>
                    <p:cTn id="1450" nodeType="clickEffect" fill="hold">
                      <p:stCondLst>
                        <p:cond delay="indefinite"/>
                      </p:stCondLst>
                      <p:childTnLst>
                        <p:par>
                          <p:cTn id="1451" nodeType="withEffect" fill="hold">
                            <p:stCondLst>
                              <p:cond delay="0"/>
                            </p:stCondLst>
                            <p:childTnLst>
                              <p:par>
                                <p:cTn id="1452" nodeType="clickEffect" fill="hold" presetClass="entr" presetID="22" presetSubtype="8">
                                  <p:stCondLst>
                                    <p:cond delay="0"/>
                                  </p:stCondLst>
                                  <p:childTnLst>
                                    <p:set>
                                      <p:cBhvr>
                                        <p:cTn id="1453" dur="1" fill="hold">
                                          <p:stCondLst>
                                            <p:cond delay="0"/>
                                          </p:stCondLst>
                                        </p:cTn>
                                        <p:tgtEl>
                                          <p:spTgt spid="465">
                                            <p:txEl>
                                              <p:pRg st="2" end="2"/>
                                            </p:txEl>
                                          </p:spTgt>
                                        </p:tgtEl>
                                        <p:attrNameLst>
                                          <p:attrName>style.visibility</p:attrName>
                                        </p:attrNameLst>
                                      </p:cBhvr>
                                      <p:to>
                                        <p:strVal val="visible"/>
                                      </p:to>
                                    </p:set>
                                    <p:animEffect filter="wipe(left)" transition="in">
                                      <p:cBhvr additive="repl">
                                        <p:cTn id="1454" dur="500"/>
                                        <p:tgtEl>
                                          <p:spTgt spid="465">
                                            <p:txEl>
                                              <p:pRg st="2" end="2"/>
                                            </p:txEl>
                                          </p:spTgt>
                                        </p:tgtEl>
                                      </p:cBhvr>
                                    </p:animEffect>
                                  </p:childTnLst>
                                </p:cTn>
                              </p:par>
                            </p:childTnLst>
                          </p:cTn>
                        </p:par>
                      </p:childTnLst>
                    </p:cTn>
                  </p:par>
                  <p:par>
                    <p:cTn id="1455" nodeType="clickEffect" fill="hold">
                      <p:stCondLst>
                        <p:cond delay="indefinite"/>
                      </p:stCondLst>
                      <p:childTnLst>
                        <p:par>
                          <p:cTn id="1456" nodeType="withEffect" fill="hold">
                            <p:stCondLst>
                              <p:cond delay="0"/>
                            </p:stCondLst>
                            <p:childTnLst>
                              <p:par>
                                <p:cTn id="1457" nodeType="clickEffect" fill="hold" presetClass="entr" presetID="22" presetSubtype="8">
                                  <p:stCondLst>
                                    <p:cond delay="0"/>
                                  </p:stCondLst>
                                  <p:childTnLst>
                                    <p:set>
                                      <p:cBhvr>
                                        <p:cTn id="1458" dur="1" fill="hold">
                                          <p:stCondLst>
                                            <p:cond delay="0"/>
                                          </p:stCondLst>
                                        </p:cTn>
                                        <p:tgtEl>
                                          <p:spTgt spid="465">
                                            <p:txEl>
                                              <p:pRg st="3" end="3"/>
                                            </p:txEl>
                                          </p:spTgt>
                                        </p:tgtEl>
                                        <p:attrNameLst>
                                          <p:attrName>style.visibility</p:attrName>
                                        </p:attrNameLst>
                                      </p:cBhvr>
                                      <p:to>
                                        <p:strVal val="visible"/>
                                      </p:to>
                                    </p:set>
                                    <p:animEffect filter="wipe(left)" transition="in">
                                      <p:cBhvr additive="repl">
                                        <p:cTn id="1459" dur="500"/>
                                        <p:tgtEl>
                                          <p:spTgt spid="465">
                                            <p:txEl>
                                              <p:pRg st="3" end="3"/>
                                            </p:txEl>
                                          </p:spTgt>
                                        </p:tgtEl>
                                      </p:cBhvr>
                                    </p:animEffect>
                                  </p:childTnLst>
                                </p:cTn>
                              </p:par>
                            </p:childTnLst>
                          </p:cTn>
                        </p:par>
                      </p:childTnLst>
                    </p:cTn>
                  </p:par>
                  <p:par>
                    <p:cTn id="1460" nodeType="clickEffect" fill="hold">
                      <p:stCondLst>
                        <p:cond delay="indefinite"/>
                      </p:stCondLst>
                      <p:childTnLst>
                        <p:par>
                          <p:cTn id="1461" nodeType="withEffect" fill="hold">
                            <p:stCondLst>
                              <p:cond delay="0"/>
                            </p:stCondLst>
                            <p:childTnLst>
                              <p:par>
                                <p:cTn id="1462" nodeType="clickEffect" fill="hold" presetClass="entr" presetID="22" presetSubtype="8">
                                  <p:stCondLst>
                                    <p:cond delay="0"/>
                                  </p:stCondLst>
                                  <p:childTnLst>
                                    <p:set>
                                      <p:cBhvr>
                                        <p:cTn id="1463" dur="1" fill="hold">
                                          <p:stCondLst>
                                            <p:cond delay="0"/>
                                          </p:stCondLst>
                                        </p:cTn>
                                        <p:tgtEl>
                                          <p:spTgt spid="465">
                                            <p:txEl>
                                              <p:pRg st="4" end="4"/>
                                            </p:txEl>
                                          </p:spTgt>
                                        </p:tgtEl>
                                        <p:attrNameLst>
                                          <p:attrName>style.visibility</p:attrName>
                                        </p:attrNameLst>
                                      </p:cBhvr>
                                      <p:to>
                                        <p:strVal val="visible"/>
                                      </p:to>
                                    </p:set>
                                    <p:animEffect filter="wipe(left)" transition="in">
                                      <p:cBhvr additive="repl">
                                        <p:cTn id="1464" dur="500"/>
                                        <p:tgtEl>
                                          <p:spTgt spid="465">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6"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16.5  MONOPOLY REGULATION</a:t>
            </a:r>
            <a:endParaRPr b="0" lang="en-CA" sz="2600" strike="noStrike" u="none">
              <a:solidFill>
                <a:schemeClr val="dk1"/>
              </a:solidFill>
              <a:effectLst/>
              <a:uFillTx/>
              <a:latin typeface="Arial"/>
            </a:endParaRPr>
          </a:p>
        </p:txBody>
      </p:sp>
      <p:sp>
        <p:nvSpPr>
          <p:cNvPr id="467"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1" lang="en-US" sz="2400" strike="noStrike" u="none">
                <a:solidFill>
                  <a:srgbClr val="ff0000"/>
                </a:solidFill>
                <a:effectLst/>
                <a:uFillTx/>
                <a:latin typeface="Arial"/>
                <a:ea typeface="ＭＳ Ｐゴシック"/>
              </a:rPr>
              <a:t>Regulation </a:t>
            </a:r>
            <a:r>
              <a:rPr b="0" lang="en-US" sz="2400" strike="noStrike" u="none">
                <a:solidFill>
                  <a:schemeClr val="dk1"/>
                </a:solidFill>
                <a:effectLst/>
                <a:uFillTx/>
                <a:latin typeface="Arial"/>
                <a:ea typeface="ＭＳ Ｐゴシック"/>
              </a:rPr>
              <a:t>is the set of rules administered by a government agency to influence prices, quantities, entry, and other aspects of economic activity in a firm or industry.</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1" lang="en-US" sz="2400" strike="noStrike" u="none">
                <a:solidFill>
                  <a:srgbClr val="ff0000"/>
                </a:solidFill>
                <a:effectLst/>
                <a:uFillTx/>
                <a:latin typeface="Arial"/>
                <a:ea typeface="ＭＳ Ｐゴシック"/>
              </a:rPr>
              <a:t>Deregulation</a:t>
            </a:r>
            <a:r>
              <a:rPr b="0" lang="en-US" sz="2400" strike="noStrike" u="none">
                <a:solidFill>
                  <a:schemeClr val="dk1"/>
                </a:solidFill>
                <a:effectLst/>
                <a:uFillTx/>
                <a:latin typeface="Arial"/>
                <a:ea typeface="ＭＳ Ｐゴシック"/>
              </a:rPr>
              <a:t> is the process of removing regulation on prices, quantities, entry, and other aspects of economic activity in a firm or industry.</a:t>
            </a:r>
            <a:endParaRPr b="1" lang="en-CA" sz="2400" strike="noStrike" u="none">
              <a:solidFill>
                <a:srgbClr val="00468f"/>
              </a:solidFill>
              <a:effectLst/>
              <a:uFillTx/>
              <a:latin typeface="Arial"/>
            </a:endParaRPr>
          </a:p>
        </p:txBody>
      </p:sp>
    </p:spTree>
  </p:cSld>
  <p:transition spd="slow">
    <p:wipe dir="r"/>
  </p:transition>
  <p:timing>
    <p:tnLst>
      <p:par>
        <p:cTn id="1465" dur="indefinite" restart="never" nodeType="tmRoot">
          <p:childTnLst>
            <p:seq>
              <p:cTn id="1466" dur="indefinite" nodeType="mainSeq">
                <p:childTnLst>
                  <p:par>
                    <p:cTn id="1467" nodeType="clickEffect" fill="hold">
                      <p:stCondLst>
                        <p:cond delay="indefinite"/>
                      </p:stCondLst>
                      <p:childTnLst>
                        <p:par>
                          <p:cTn id="1468" nodeType="withEffect" fill="hold">
                            <p:stCondLst>
                              <p:cond delay="0"/>
                            </p:stCondLst>
                            <p:childTnLst>
                              <p:par>
                                <p:cTn id="1469" nodeType="clickEffect" fill="hold" presetClass="entr" presetID="22" presetSubtype="8">
                                  <p:stCondLst>
                                    <p:cond delay="0"/>
                                  </p:stCondLst>
                                  <p:childTnLst>
                                    <p:set>
                                      <p:cBhvr>
                                        <p:cTn id="1470" dur="1" fill="hold">
                                          <p:stCondLst>
                                            <p:cond delay="0"/>
                                          </p:stCondLst>
                                        </p:cTn>
                                        <p:tgtEl>
                                          <p:spTgt spid="467">
                                            <p:txEl>
                                              <p:pRg st="1" end="1"/>
                                            </p:txEl>
                                          </p:spTgt>
                                        </p:tgtEl>
                                        <p:attrNameLst>
                                          <p:attrName>style.visibility</p:attrName>
                                        </p:attrNameLst>
                                      </p:cBhvr>
                                      <p:to>
                                        <p:strVal val="visible"/>
                                      </p:to>
                                    </p:set>
                                    <p:animEffect filter="wipe(left)" transition="in">
                                      <p:cBhvr additive="repl">
                                        <p:cTn id="1471" dur="500"/>
                                        <p:tgtEl>
                                          <p:spTgt spid="467">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16.5  MONOPOLY REGULATION</a:t>
            </a:r>
            <a:endParaRPr b="0" lang="en-CA" sz="2600" strike="noStrike" u="none">
              <a:solidFill>
                <a:schemeClr val="dk1"/>
              </a:solidFill>
              <a:effectLst/>
              <a:uFillTx/>
              <a:latin typeface="Arial"/>
            </a:endParaRPr>
          </a:p>
        </p:txBody>
      </p:sp>
      <p:sp>
        <p:nvSpPr>
          <p:cNvPr id="469"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0" lang="en-CA" sz="2400" strike="noStrike" u="none">
                <a:solidFill>
                  <a:schemeClr val="dk1"/>
                </a:solidFill>
                <a:effectLst/>
                <a:uFillTx/>
                <a:latin typeface="Arial"/>
                <a:ea typeface="MS Mincho"/>
              </a:rPr>
              <a:t>Two theories of </a:t>
            </a:r>
            <a:r>
              <a:rPr b="0" lang="en-US" sz="2400" strike="noStrike" u="none">
                <a:solidFill>
                  <a:schemeClr val="dk1"/>
                </a:solidFill>
                <a:effectLst/>
                <a:uFillTx/>
                <a:latin typeface="Arial"/>
                <a:ea typeface="MS Mincho"/>
              </a:rPr>
              <a:t>how regulation actually works are</a:t>
            </a:r>
            <a:endParaRPr b="1" lang="en-CA" sz="24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MS Mincho"/>
              </a:rPr>
              <a:t>Social interest theory</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MS Mincho"/>
              </a:rPr>
              <a:t>Capture theory </a:t>
            </a:r>
            <a:endParaRPr b="0" lang="en-CA" sz="2400" strike="noStrike" u="none">
              <a:solidFill>
                <a:schemeClr val="dk1"/>
              </a:solidFill>
              <a:effectLst/>
              <a:uFillTx/>
              <a:latin typeface="Arial"/>
            </a:endParaRPr>
          </a:p>
          <a:p>
            <a:pPr marL="360000" indent="0">
              <a:lnSpc>
                <a:spcPct val="100000"/>
              </a:lnSpc>
              <a:spcBef>
                <a:spcPts val="601"/>
              </a:spcBef>
              <a:spcAft>
                <a:spcPts val="601"/>
              </a:spcAft>
              <a:buNone/>
            </a:pPr>
            <a:r>
              <a:rPr b="1" lang="en-US" sz="2400" strike="noStrike" u="none">
                <a:solidFill>
                  <a:srgbClr val="ff0000"/>
                </a:solidFill>
                <a:effectLst/>
                <a:uFillTx/>
                <a:latin typeface="Arial"/>
                <a:ea typeface="MS Mincho"/>
              </a:rPr>
              <a:t>Social interest theory</a:t>
            </a:r>
            <a:r>
              <a:rPr b="0" lang="en-US" sz="2400" strike="noStrike" u="none">
                <a:solidFill>
                  <a:schemeClr val="dk1"/>
                </a:solidFill>
                <a:effectLst/>
                <a:uFillTx/>
                <a:latin typeface="Arial"/>
                <a:ea typeface="MS Mincho"/>
              </a:rPr>
              <a:t> is that regulation achieves an efficient allocation of resources.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1" lang="en-US" sz="2400" strike="noStrike" u="none">
                <a:solidFill>
                  <a:srgbClr val="ff0000"/>
                </a:solidFill>
                <a:effectLst/>
                <a:uFillTx/>
                <a:latin typeface="Arial"/>
                <a:ea typeface="MS Mincho"/>
              </a:rPr>
              <a:t>Capture theory</a:t>
            </a:r>
            <a:r>
              <a:rPr b="0" lang="en-US" sz="2400" strike="noStrike" u="none">
                <a:solidFill>
                  <a:schemeClr val="dk1"/>
                </a:solidFill>
                <a:effectLst/>
                <a:uFillTx/>
                <a:latin typeface="Arial"/>
                <a:ea typeface="MS Mincho"/>
              </a:rPr>
              <a:t> is that regulation serves the self-interest of the producer and results in maximum profit, underproduction, and deadweight loss.</a:t>
            </a:r>
            <a:endParaRPr b="1" lang="en-CA" sz="2400" strike="noStrike" u="none">
              <a:solidFill>
                <a:srgbClr val="00468f"/>
              </a:solidFill>
              <a:effectLst/>
              <a:uFillTx/>
              <a:latin typeface="Arial"/>
            </a:endParaRPr>
          </a:p>
        </p:txBody>
      </p:sp>
    </p:spTree>
  </p:cSld>
  <p:transition spd="slow">
    <p:wipe dir="r"/>
  </p:transition>
  <p:timing>
    <p:tnLst>
      <p:par>
        <p:cTn id="1472" dur="indefinite" restart="never" nodeType="tmRoot">
          <p:childTnLst>
            <p:seq>
              <p:cTn id="1473" dur="indefinite" nodeType="mainSeq">
                <p:childTnLst>
                  <p:par>
                    <p:cTn id="1474" nodeType="clickEffect" fill="hold">
                      <p:stCondLst>
                        <p:cond delay="indefinite"/>
                      </p:stCondLst>
                      <p:childTnLst>
                        <p:par>
                          <p:cTn id="1475" nodeType="withEffect" fill="hold">
                            <p:stCondLst>
                              <p:cond delay="0"/>
                            </p:stCondLst>
                            <p:childTnLst>
                              <p:par>
                                <p:cTn id="1476" nodeType="clickEffect" fill="hold" presetClass="entr" presetID="22" presetSubtype="8">
                                  <p:stCondLst>
                                    <p:cond delay="0"/>
                                  </p:stCondLst>
                                  <p:childTnLst>
                                    <p:set>
                                      <p:cBhvr>
                                        <p:cTn id="1477" dur="1" fill="hold">
                                          <p:stCondLst>
                                            <p:cond delay="0"/>
                                          </p:stCondLst>
                                        </p:cTn>
                                        <p:tgtEl>
                                          <p:spTgt spid="469">
                                            <p:txEl>
                                              <p:pRg st="1" end="1"/>
                                            </p:txEl>
                                          </p:spTgt>
                                        </p:tgtEl>
                                        <p:attrNameLst>
                                          <p:attrName>style.visibility</p:attrName>
                                        </p:attrNameLst>
                                      </p:cBhvr>
                                      <p:to>
                                        <p:strVal val="visible"/>
                                      </p:to>
                                    </p:set>
                                    <p:animEffect filter="wipe(left)" transition="in">
                                      <p:cBhvr additive="repl">
                                        <p:cTn id="1478" dur="500"/>
                                        <p:tgtEl>
                                          <p:spTgt spid="469">
                                            <p:txEl>
                                              <p:pRg st="1" end="1"/>
                                            </p:txEl>
                                          </p:spTgt>
                                        </p:tgtEl>
                                      </p:cBhvr>
                                    </p:animEffect>
                                  </p:childTnLst>
                                </p:cTn>
                              </p:par>
                            </p:childTnLst>
                          </p:cTn>
                        </p:par>
                      </p:childTnLst>
                    </p:cTn>
                  </p:par>
                  <p:par>
                    <p:cTn id="1479" nodeType="clickEffect" fill="hold">
                      <p:stCondLst>
                        <p:cond delay="indefinite"/>
                      </p:stCondLst>
                      <p:childTnLst>
                        <p:par>
                          <p:cTn id="1480" nodeType="withEffect" fill="hold">
                            <p:stCondLst>
                              <p:cond delay="0"/>
                            </p:stCondLst>
                            <p:childTnLst>
                              <p:par>
                                <p:cTn id="1481" nodeType="clickEffect" fill="hold" presetClass="entr" presetID="22" presetSubtype="8">
                                  <p:stCondLst>
                                    <p:cond delay="0"/>
                                  </p:stCondLst>
                                  <p:childTnLst>
                                    <p:set>
                                      <p:cBhvr>
                                        <p:cTn id="1482" dur="1" fill="hold">
                                          <p:stCondLst>
                                            <p:cond delay="0"/>
                                          </p:stCondLst>
                                        </p:cTn>
                                        <p:tgtEl>
                                          <p:spTgt spid="469">
                                            <p:txEl>
                                              <p:pRg st="2" end="2"/>
                                            </p:txEl>
                                          </p:spTgt>
                                        </p:tgtEl>
                                        <p:attrNameLst>
                                          <p:attrName>style.visibility</p:attrName>
                                        </p:attrNameLst>
                                      </p:cBhvr>
                                      <p:to>
                                        <p:strVal val="visible"/>
                                      </p:to>
                                    </p:set>
                                    <p:animEffect filter="wipe(left)" transition="in">
                                      <p:cBhvr additive="repl">
                                        <p:cTn id="1483" dur="500"/>
                                        <p:tgtEl>
                                          <p:spTgt spid="469">
                                            <p:txEl>
                                              <p:pRg st="2" end="2"/>
                                            </p:txEl>
                                          </p:spTgt>
                                        </p:tgtEl>
                                      </p:cBhvr>
                                    </p:animEffect>
                                  </p:childTnLst>
                                </p:cTn>
                              </p:par>
                            </p:childTnLst>
                          </p:cTn>
                        </p:par>
                      </p:childTnLst>
                    </p:cTn>
                  </p:par>
                  <p:par>
                    <p:cTn id="1484" nodeType="clickEffect" fill="hold">
                      <p:stCondLst>
                        <p:cond delay="indefinite"/>
                      </p:stCondLst>
                      <p:childTnLst>
                        <p:par>
                          <p:cTn id="1485" nodeType="withEffect" fill="hold">
                            <p:stCondLst>
                              <p:cond delay="0"/>
                            </p:stCondLst>
                            <p:childTnLst>
                              <p:par>
                                <p:cTn id="1486" nodeType="clickEffect" fill="hold" presetClass="entr" presetID="22" presetSubtype="8">
                                  <p:stCondLst>
                                    <p:cond delay="0"/>
                                  </p:stCondLst>
                                  <p:childTnLst>
                                    <p:set>
                                      <p:cBhvr>
                                        <p:cTn id="1487" dur="1" fill="hold">
                                          <p:stCondLst>
                                            <p:cond delay="0"/>
                                          </p:stCondLst>
                                        </p:cTn>
                                        <p:tgtEl>
                                          <p:spTgt spid="469">
                                            <p:txEl>
                                              <p:pRg st="3" end="3"/>
                                            </p:txEl>
                                          </p:spTgt>
                                        </p:tgtEl>
                                        <p:attrNameLst>
                                          <p:attrName>style.visibility</p:attrName>
                                        </p:attrNameLst>
                                      </p:cBhvr>
                                      <p:to>
                                        <p:strVal val="visible"/>
                                      </p:to>
                                    </p:set>
                                    <p:animEffect filter="wipe(left)" transition="in">
                                      <p:cBhvr additive="repl">
                                        <p:cTn id="1488" dur="500"/>
                                        <p:tgtEl>
                                          <p:spTgt spid="469">
                                            <p:txEl>
                                              <p:pRg st="3" end="3"/>
                                            </p:txEl>
                                          </p:spTgt>
                                        </p:tgtEl>
                                      </p:cBhvr>
                                    </p:animEffect>
                                  </p:childTnLst>
                                </p:cTn>
                              </p:par>
                            </p:childTnLst>
                          </p:cTn>
                        </p:par>
                      </p:childTnLst>
                    </p:cTn>
                  </p:par>
                  <p:par>
                    <p:cTn id="1489" nodeType="clickEffect" fill="hold">
                      <p:stCondLst>
                        <p:cond delay="indefinite"/>
                      </p:stCondLst>
                      <p:childTnLst>
                        <p:par>
                          <p:cTn id="1490" nodeType="withEffect" fill="hold">
                            <p:stCondLst>
                              <p:cond delay="0"/>
                            </p:stCondLst>
                            <p:childTnLst>
                              <p:par>
                                <p:cTn id="1491" nodeType="clickEffect" fill="hold" presetClass="entr" presetID="22" presetSubtype="8">
                                  <p:stCondLst>
                                    <p:cond delay="0"/>
                                  </p:stCondLst>
                                  <p:childTnLst>
                                    <p:set>
                                      <p:cBhvr>
                                        <p:cTn id="1492" dur="1" fill="hold">
                                          <p:stCondLst>
                                            <p:cond delay="0"/>
                                          </p:stCondLst>
                                        </p:cTn>
                                        <p:tgtEl>
                                          <p:spTgt spid="469">
                                            <p:txEl>
                                              <p:pRg st="4" end="4"/>
                                            </p:txEl>
                                          </p:spTgt>
                                        </p:tgtEl>
                                        <p:attrNameLst>
                                          <p:attrName>style.visibility</p:attrName>
                                        </p:attrNameLst>
                                      </p:cBhvr>
                                      <p:to>
                                        <p:strVal val="visible"/>
                                      </p:to>
                                    </p:set>
                                    <p:animEffect filter="wipe(left)" transition="in">
                                      <p:cBhvr additive="repl">
                                        <p:cTn id="1493" dur="500"/>
                                        <p:tgtEl>
                                          <p:spTgt spid="469">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16.5  MONOPOLY REGULATION</a:t>
            </a:r>
            <a:endParaRPr b="0" lang="en-CA" sz="2600" strike="noStrike" u="none">
              <a:solidFill>
                <a:schemeClr val="dk1"/>
              </a:solidFill>
              <a:effectLst/>
              <a:uFillTx/>
              <a:latin typeface="Arial"/>
            </a:endParaRPr>
          </a:p>
        </p:txBody>
      </p:sp>
      <p:sp>
        <p:nvSpPr>
          <p:cNvPr id="471"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39840" indent="-33984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MS Mincho"/>
              </a:rPr>
              <a:t>Efficient Regulation of a Natural Monopoly</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MS Mincho"/>
              </a:rPr>
              <a:t>A </a:t>
            </a:r>
            <a:r>
              <a:rPr b="0" i="1" lang="en-US" sz="2400" strike="noStrike" u="none">
                <a:solidFill>
                  <a:schemeClr val="dk1"/>
                </a:solidFill>
                <a:effectLst/>
                <a:uFillTx/>
                <a:latin typeface="Arial"/>
                <a:ea typeface="MS Mincho"/>
              </a:rPr>
              <a:t>natural monopoly</a:t>
            </a:r>
            <a:r>
              <a:rPr b="0" lang="en-US" sz="2400" strike="noStrike" u="none">
                <a:solidFill>
                  <a:schemeClr val="dk1"/>
                </a:solidFill>
                <a:effectLst/>
                <a:uFillTx/>
                <a:latin typeface="Arial"/>
                <a:ea typeface="MS Mincho"/>
              </a:rPr>
              <a:t> is an industry in which one firm can supply the entire market at a lower price than can two or more firms.</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MS Mincho"/>
              </a:rPr>
              <a:t>Regulation achieves an efficient allocation of resources if marginal cost equals marginal benefit (and price).</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1" lang="en-US" sz="2400" strike="noStrike" u="none">
                <a:solidFill>
                  <a:srgbClr val="ff0000"/>
                </a:solidFill>
                <a:effectLst/>
                <a:uFillTx/>
                <a:latin typeface="Arial"/>
                <a:ea typeface="MS Mincho"/>
              </a:rPr>
              <a:t>Marginal cost pricing rule</a:t>
            </a:r>
            <a:r>
              <a:rPr b="0" lang="en-US" sz="2400" strike="noStrike" u="none">
                <a:solidFill>
                  <a:srgbClr val="ff0000"/>
                </a:solidFill>
                <a:effectLst/>
                <a:uFillTx/>
                <a:latin typeface="Arial"/>
                <a:ea typeface="MS Mincho"/>
              </a:rPr>
              <a:t> </a:t>
            </a:r>
            <a:r>
              <a:rPr b="0" lang="en-US" sz="2400" strike="noStrike" u="none">
                <a:solidFill>
                  <a:schemeClr val="dk1"/>
                </a:solidFill>
                <a:effectLst/>
                <a:uFillTx/>
                <a:latin typeface="Arial"/>
                <a:ea typeface="MS Mincho"/>
              </a:rPr>
              <a:t>is a rule that sets price equal to marginal cost to achieve an efficient output.</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MS Mincho"/>
              </a:rPr>
              <a:t>Figure 16.11 on the next slide </a:t>
            </a:r>
            <a:r>
              <a:rPr b="0" lang="en-US" sz="2400" strike="noStrike" u="none">
                <a:solidFill>
                  <a:schemeClr val="dk1"/>
                </a:solidFill>
                <a:effectLst/>
                <a:uFillTx/>
                <a:latin typeface="Arial"/>
                <a:ea typeface="ＭＳ Ｐゴシック"/>
              </a:rPr>
              <a:t>shows a natural monopoly that is regulated by </a:t>
            </a:r>
            <a:r>
              <a:rPr b="0" lang="en-US" sz="2400" strike="noStrike" u="none">
                <a:solidFill>
                  <a:schemeClr val="dk1"/>
                </a:solidFill>
                <a:effectLst/>
                <a:uFillTx/>
                <a:latin typeface="Arial"/>
                <a:ea typeface="MS Mincho"/>
              </a:rPr>
              <a:t>marginal cost pricing rule.</a:t>
            </a:r>
            <a:endParaRPr b="1" lang="en-CA" sz="2400" strike="noStrike" u="none">
              <a:solidFill>
                <a:srgbClr val="00468f"/>
              </a:solidFill>
              <a:effectLst/>
              <a:uFillTx/>
              <a:latin typeface="Arial"/>
            </a:endParaRPr>
          </a:p>
        </p:txBody>
      </p:sp>
    </p:spTree>
  </p:cSld>
  <p:transition spd="slow">
    <p:wipe dir="r"/>
  </p:transition>
  <p:timing>
    <p:tnLst>
      <p:par>
        <p:cTn id="1494" dur="indefinite" restart="never" nodeType="tmRoot">
          <p:childTnLst>
            <p:seq>
              <p:cTn id="1495" dur="indefinite" nodeType="mainSeq">
                <p:childTnLst>
                  <p:par>
                    <p:cTn id="1496" nodeType="clickEffect" fill="hold">
                      <p:stCondLst>
                        <p:cond delay="indefinite"/>
                      </p:stCondLst>
                      <p:childTnLst>
                        <p:par>
                          <p:cTn id="1497" nodeType="withEffect" fill="hold">
                            <p:stCondLst>
                              <p:cond delay="0"/>
                            </p:stCondLst>
                            <p:childTnLst>
                              <p:par>
                                <p:cTn id="1498" nodeType="clickEffect" fill="hold" presetClass="entr" presetID="22" presetSubtype="8">
                                  <p:stCondLst>
                                    <p:cond delay="0"/>
                                  </p:stCondLst>
                                  <p:childTnLst>
                                    <p:set>
                                      <p:cBhvr>
                                        <p:cTn id="1499" dur="1" fill="hold">
                                          <p:stCondLst>
                                            <p:cond delay="0"/>
                                          </p:stCondLst>
                                        </p:cTn>
                                        <p:tgtEl>
                                          <p:spTgt spid="471">
                                            <p:txEl>
                                              <p:pRg st="1" end="1"/>
                                            </p:txEl>
                                          </p:spTgt>
                                        </p:tgtEl>
                                        <p:attrNameLst>
                                          <p:attrName>style.visibility</p:attrName>
                                        </p:attrNameLst>
                                      </p:cBhvr>
                                      <p:to>
                                        <p:strVal val="visible"/>
                                      </p:to>
                                    </p:set>
                                    <p:animEffect filter="wipe(left)" transition="in">
                                      <p:cBhvr additive="repl">
                                        <p:cTn id="1500" dur="500"/>
                                        <p:tgtEl>
                                          <p:spTgt spid="471">
                                            <p:txEl>
                                              <p:pRg st="1" end="1"/>
                                            </p:txEl>
                                          </p:spTgt>
                                        </p:tgtEl>
                                      </p:cBhvr>
                                    </p:animEffect>
                                  </p:childTnLst>
                                </p:cTn>
                              </p:par>
                            </p:childTnLst>
                          </p:cTn>
                        </p:par>
                      </p:childTnLst>
                    </p:cTn>
                  </p:par>
                  <p:par>
                    <p:cTn id="1501" nodeType="clickEffect" fill="hold">
                      <p:stCondLst>
                        <p:cond delay="indefinite"/>
                      </p:stCondLst>
                      <p:childTnLst>
                        <p:par>
                          <p:cTn id="1502" nodeType="withEffect" fill="hold">
                            <p:stCondLst>
                              <p:cond delay="0"/>
                            </p:stCondLst>
                            <p:childTnLst>
                              <p:par>
                                <p:cTn id="1503" nodeType="clickEffect" fill="hold" presetClass="entr" presetID="22" presetSubtype="8">
                                  <p:stCondLst>
                                    <p:cond delay="0"/>
                                  </p:stCondLst>
                                  <p:childTnLst>
                                    <p:set>
                                      <p:cBhvr>
                                        <p:cTn id="1504" dur="1" fill="hold">
                                          <p:stCondLst>
                                            <p:cond delay="0"/>
                                          </p:stCondLst>
                                        </p:cTn>
                                        <p:tgtEl>
                                          <p:spTgt spid="471">
                                            <p:txEl>
                                              <p:pRg st="2" end="2"/>
                                            </p:txEl>
                                          </p:spTgt>
                                        </p:tgtEl>
                                        <p:attrNameLst>
                                          <p:attrName>style.visibility</p:attrName>
                                        </p:attrNameLst>
                                      </p:cBhvr>
                                      <p:to>
                                        <p:strVal val="visible"/>
                                      </p:to>
                                    </p:set>
                                    <p:animEffect filter="wipe(left)" transition="in">
                                      <p:cBhvr additive="repl">
                                        <p:cTn id="1505" dur="500"/>
                                        <p:tgtEl>
                                          <p:spTgt spid="471">
                                            <p:txEl>
                                              <p:pRg st="2" end="2"/>
                                            </p:txEl>
                                          </p:spTgt>
                                        </p:tgtEl>
                                      </p:cBhvr>
                                    </p:animEffect>
                                  </p:childTnLst>
                                </p:cTn>
                              </p:par>
                            </p:childTnLst>
                          </p:cTn>
                        </p:par>
                      </p:childTnLst>
                    </p:cTn>
                  </p:par>
                  <p:par>
                    <p:cTn id="1506" nodeType="clickEffect" fill="hold">
                      <p:stCondLst>
                        <p:cond delay="indefinite"/>
                      </p:stCondLst>
                      <p:childTnLst>
                        <p:par>
                          <p:cTn id="1507" nodeType="withEffect" fill="hold">
                            <p:stCondLst>
                              <p:cond delay="0"/>
                            </p:stCondLst>
                            <p:childTnLst>
                              <p:par>
                                <p:cTn id="1508" nodeType="clickEffect" fill="hold" presetClass="entr" presetID="22" presetSubtype="8">
                                  <p:stCondLst>
                                    <p:cond delay="0"/>
                                  </p:stCondLst>
                                  <p:childTnLst>
                                    <p:set>
                                      <p:cBhvr>
                                        <p:cTn id="1509" dur="1" fill="hold">
                                          <p:stCondLst>
                                            <p:cond delay="0"/>
                                          </p:stCondLst>
                                        </p:cTn>
                                        <p:tgtEl>
                                          <p:spTgt spid="471">
                                            <p:txEl>
                                              <p:pRg st="3" end="3"/>
                                            </p:txEl>
                                          </p:spTgt>
                                        </p:tgtEl>
                                        <p:attrNameLst>
                                          <p:attrName>style.visibility</p:attrName>
                                        </p:attrNameLst>
                                      </p:cBhvr>
                                      <p:to>
                                        <p:strVal val="visible"/>
                                      </p:to>
                                    </p:set>
                                    <p:animEffect filter="wipe(left)" transition="in">
                                      <p:cBhvr additive="repl">
                                        <p:cTn id="1510" dur="500"/>
                                        <p:tgtEl>
                                          <p:spTgt spid="471">
                                            <p:txEl>
                                              <p:pRg st="3" end="3"/>
                                            </p:txEl>
                                          </p:spTgt>
                                        </p:tgtEl>
                                      </p:cBhvr>
                                    </p:animEffect>
                                  </p:childTnLst>
                                </p:cTn>
                              </p:par>
                            </p:childTnLst>
                          </p:cTn>
                        </p:par>
                      </p:childTnLst>
                    </p:cTn>
                  </p:par>
                  <p:par>
                    <p:cTn id="1511" nodeType="clickEffect" fill="hold">
                      <p:stCondLst>
                        <p:cond delay="indefinite"/>
                      </p:stCondLst>
                      <p:childTnLst>
                        <p:par>
                          <p:cTn id="1512" nodeType="withEffect" fill="hold">
                            <p:stCondLst>
                              <p:cond delay="0"/>
                            </p:stCondLst>
                            <p:childTnLst>
                              <p:par>
                                <p:cTn id="1513" nodeType="clickEffect" fill="hold" presetClass="entr" presetID="22" presetSubtype="8">
                                  <p:stCondLst>
                                    <p:cond delay="0"/>
                                  </p:stCondLst>
                                  <p:childTnLst>
                                    <p:set>
                                      <p:cBhvr>
                                        <p:cTn id="1514" dur="1" fill="hold">
                                          <p:stCondLst>
                                            <p:cond delay="0"/>
                                          </p:stCondLst>
                                        </p:cTn>
                                        <p:tgtEl>
                                          <p:spTgt spid="471">
                                            <p:txEl>
                                              <p:pRg st="4" end="4"/>
                                            </p:txEl>
                                          </p:spTgt>
                                        </p:tgtEl>
                                        <p:attrNameLst>
                                          <p:attrName>style.visibility</p:attrName>
                                        </p:attrNameLst>
                                      </p:cBhvr>
                                      <p:to>
                                        <p:strVal val="visible"/>
                                      </p:to>
                                    </p:set>
                                    <p:animEffect filter="wipe(left)" transition="in">
                                      <p:cBhvr additive="repl">
                                        <p:cTn id="1515" dur="500"/>
                                        <p:tgtEl>
                                          <p:spTgt spid="471">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16.5  MONOPOLY REGULATION</a:t>
            </a:r>
            <a:endParaRPr b="0" lang="en-CA" sz="2600" strike="noStrike" u="none">
              <a:solidFill>
                <a:schemeClr val="dk1"/>
              </a:solidFill>
              <a:effectLst/>
              <a:uFillTx/>
              <a:latin typeface="Arial"/>
            </a:endParaRPr>
          </a:p>
        </p:txBody>
      </p:sp>
      <p:sp>
        <p:nvSpPr>
          <p:cNvPr id="473" name="PlaceHolder 2"/>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817200" indent="-457200">
              <a:lnSpc>
                <a:spcPct val="100000"/>
              </a:lnSpc>
              <a:spcBef>
                <a:spcPts val="601"/>
              </a:spcBef>
              <a:spcAft>
                <a:spcPts val="601"/>
              </a:spcAft>
              <a:buClr>
                <a:srgbClr val="000000"/>
              </a:buClr>
              <a:buFont typeface="Arial"/>
              <a:buAutoNum type="arabicPeriod"/>
            </a:pPr>
            <a:r>
              <a:rPr b="0" lang="en-US" sz="2400" strike="noStrike" u="none">
                <a:solidFill>
                  <a:srgbClr val="000000"/>
                </a:solidFill>
                <a:effectLst/>
                <a:uFillTx/>
                <a:latin typeface="Arial"/>
                <a:ea typeface="ＭＳ Ｐゴシック"/>
              </a:rPr>
              <a:t>Price is set equal to marginal cost of $10 a month.</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a:pPr>
            <a:r>
              <a:rPr b="0" lang="en-US" sz="2400" strike="noStrike" u="none">
                <a:solidFill>
                  <a:srgbClr val="000000"/>
                </a:solidFill>
                <a:effectLst/>
                <a:uFillTx/>
                <a:latin typeface="Arial"/>
                <a:ea typeface="ＭＳ Ｐゴシック"/>
              </a:rPr>
              <a:t>At this price, the efficient quantity (8 million households) is served.</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a:pPr>
            <a:r>
              <a:rPr b="0" lang="en-US" sz="2400" strike="noStrike" u="none">
                <a:solidFill>
                  <a:srgbClr val="000000"/>
                </a:solidFill>
                <a:effectLst/>
                <a:uFillTx/>
                <a:latin typeface="Arial"/>
                <a:ea typeface="ＭＳ Ｐゴシック"/>
              </a:rPr>
              <a:t>Consumer surplus is maximized. </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a:tabLst>
                <a:tab algn="l" pos="515880"/>
              </a:tabLst>
            </a:pPr>
            <a:r>
              <a:rPr b="0" lang="en-US" sz="2400" strike="noStrike" u="none">
                <a:solidFill>
                  <a:srgbClr val="000000"/>
                </a:solidFill>
                <a:effectLst/>
                <a:uFillTx/>
                <a:latin typeface="Arial"/>
                <a:ea typeface="ＭＳ Ｐゴシック"/>
              </a:rPr>
              <a:t>The firm incurs a loss on each household served.</a:t>
            </a:r>
            <a:endParaRPr b="1" lang="en-CA" sz="2400" strike="noStrike" u="none">
              <a:solidFill>
                <a:srgbClr val="00468f"/>
              </a:solidFill>
              <a:effectLst/>
              <a:uFillTx/>
              <a:latin typeface="Arial"/>
            </a:endParaRPr>
          </a:p>
        </p:txBody>
      </p:sp>
      <p:pic>
        <p:nvPicPr>
          <p:cNvPr id="474" name="Picture 1" descr=""/>
          <p:cNvPicPr/>
          <p:nvPr/>
        </p:nvPicPr>
        <p:blipFill>
          <a:blip r:embed="rId1"/>
          <a:stretch/>
        </p:blipFill>
        <p:spPr>
          <a:xfrm>
            <a:off x="4643280" y="1511280"/>
            <a:ext cx="3822480" cy="3919320"/>
          </a:xfrm>
          <a:prstGeom prst="rect">
            <a:avLst/>
          </a:prstGeom>
          <a:noFill/>
          <a:ln w="0">
            <a:noFill/>
          </a:ln>
        </p:spPr>
      </p:pic>
      <p:pic>
        <p:nvPicPr>
          <p:cNvPr id="475" name="Picture 17" descr=""/>
          <p:cNvPicPr/>
          <p:nvPr/>
        </p:nvPicPr>
        <p:blipFill>
          <a:blip r:embed="rId2"/>
          <a:stretch/>
        </p:blipFill>
        <p:spPr>
          <a:xfrm>
            <a:off x="4643280" y="1511280"/>
            <a:ext cx="3822480" cy="3919320"/>
          </a:xfrm>
          <a:prstGeom prst="rect">
            <a:avLst/>
          </a:prstGeom>
          <a:noFill/>
          <a:ln w="0">
            <a:noFill/>
          </a:ln>
        </p:spPr>
      </p:pic>
      <p:pic>
        <p:nvPicPr>
          <p:cNvPr id="476" name="Picture 18" descr=""/>
          <p:cNvPicPr/>
          <p:nvPr/>
        </p:nvPicPr>
        <p:blipFill>
          <a:blip r:embed="rId3"/>
          <a:stretch/>
        </p:blipFill>
        <p:spPr>
          <a:xfrm>
            <a:off x="4643280" y="1511280"/>
            <a:ext cx="3822480" cy="3919320"/>
          </a:xfrm>
          <a:prstGeom prst="rect">
            <a:avLst/>
          </a:prstGeom>
          <a:noFill/>
          <a:ln w="0">
            <a:noFill/>
          </a:ln>
        </p:spPr>
      </p:pic>
      <p:pic>
        <p:nvPicPr>
          <p:cNvPr id="477" name="Picture 19" descr=""/>
          <p:cNvPicPr/>
          <p:nvPr/>
        </p:nvPicPr>
        <p:blipFill>
          <a:blip r:embed="rId4"/>
          <a:stretch/>
        </p:blipFill>
        <p:spPr>
          <a:xfrm>
            <a:off x="4643280" y="1511280"/>
            <a:ext cx="3822480" cy="3919320"/>
          </a:xfrm>
          <a:prstGeom prst="rect">
            <a:avLst/>
          </a:prstGeom>
          <a:noFill/>
          <a:ln w="0">
            <a:noFill/>
          </a:ln>
        </p:spPr>
      </p:pic>
      <p:pic>
        <p:nvPicPr>
          <p:cNvPr id="478" name="Picture 20" descr=""/>
          <p:cNvPicPr/>
          <p:nvPr/>
        </p:nvPicPr>
        <p:blipFill>
          <a:blip r:embed="rId5"/>
          <a:stretch/>
        </p:blipFill>
        <p:spPr>
          <a:xfrm>
            <a:off x="4643280" y="1511280"/>
            <a:ext cx="3822480" cy="3919320"/>
          </a:xfrm>
          <a:prstGeom prst="rect">
            <a:avLst/>
          </a:prstGeom>
          <a:noFill/>
          <a:ln w="0">
            <a:noFill/>
          </a:ln>
        </p:spPr>
      </p:pic>
    </p:spTree>
  </p:cSld>
  <p:transition spd="slow">
    <p:wipe dir="r"/>
  </p:transition>
  <p:timing>
    <p:tnLst>
      <p:par>
        <p:cTn id="1516" dur="indefinite" restart="never" nodeType="tmRoot">
          <p:childTnLst>
            <p:seq>
              <p:cTn id="1517" dur="indefinite" nodeType="mainSeq">
                <p:childTnLst>
                  <p:par>
                    <p:cTn id="1518" nodeType="clickEffect" fill="hold">
                      <p:stCondLst>
                        <p:cond delay="0"/>
                      </p:stCondLst>
                      <p:childTnLst>
                        <p:par>
                          <p:cTn id="1519" nodeType="withEffect" fill="hold">
                            <p:stCondLst>
                              <p:cond delay="0"/>
                            </p:stCondLst>
                            <p:childTnLst>
                              <p:par>
                                <p:cTn id="1520" nodeType="withEffect" fill="hold" presetClass="entr" presetID="10">
                                  <p:stCondLst>
                                    <p:cond delay="0"/>
                                  </p:stCondLst>
                                  <p:childTnLst>
                                    <p:set>
                                      <p:cBhvr>
                                        <p:cTn id="1521" dur="1" fill="hold">
                                          <p:stCondLst>
                                            <p:cond delay="0"/>
                                          </p:stCondLst>
                                        </p:cTn>
                                        <p:tgtEl>
                                          <p:spTgt spid="475"/>
                                        </p:tgtEl>
                                        <p:attrNameLst>
                                          <p:attrName>style.visibility</p:attrName>
                                        </p:attrNameLst>
                                      </p:cBhvr>
                                      <p:to>
                                        <p:strVal val="visible"/>
                                      </p:to>
                                    </p:set>
                                    <p:animEffect filter="fade" transition="in">
                                      <p:cBhvr additive="repl">
                                        <p:cTn id="1522" dur="500"/>
                                        <p:tgtEl>
                                          <p:spTgt spid="475"/>
                                        </p:tgtEl>
                                      </p:cBhvr>
                                    </p:animEffect>
                                  </p:childTnLst>
                                </p:cTn>
                              </p:par>
                            </p:childTnLst>
                          </p:cTn>
                        </p:par>
                      </p:childTnLst>
                    </p:cTn>
                  </p:par>
                  <p:par>
                    <p:cTn id="1523" nodeType="clickEffect" fill="hold">
                      <p:stCondLst>
                        <p:cond delay="indefinite"/>
                      </p:stCondLst>
                      <p:childTnLst>
                        <p:par>
                          <p:cTn id="1524" nodeType="withEffect" fill="hold">
                            <p:stCondLst>
                              <p:cond delay="0"/>
                            </p:stCondLst>
                            <p:childTnLst>
                              <p:par>
                                <p:cTn id="1525" nodeType="clickEffect" fill="hold" presetClass="entr" presetID="22" presetSubtype="8">
                                  <p:stCondLst>
                                    <p:cond delay="0"/>
                                  </p:stCondLst>
                                  <p:childTnLst>
                                    <p:set>
                                      <p:cBhvr>
                                        <p:cTn id="1526" dur="1" fill="hold">
                                          <p:stCondLst>
                                            <p:cond delay="0"/>
                                          </p:stCondLst>
                                        </p:cTn>
                                        <p:tgtEl>
                                          <p:spTgt spid="473">
                                            <p:txEl>
                                              <p:pRg st="1" end="1"/>
                                            </p:txEl>
                                          </p:spTgt>
                                        </p:tgtEl>
                                        <p:attrNameLst>
                                          <p:attrName>style.visibility</p:attrName>
                                        </p:attrNameLst>
                                      </p:cBhvr>
                                      <p:to>
                                        <p:strVal val="visible"/>
                                      </p:to>
                                    </p:set>
                                    <p:animEffect filter="wipe(left)" transition="in">
                                      <p:cBhvr additive="repl">
                                        <p:cTn id="1527" dur="500"/>
                                        <p:tgtEl>
                                          <p:spTgt spid="473">
                                            <p:txEl>
                                              <p:pRg st="1" end="1"/>
                                            </p:txEl>
                                          </p:spTgt>
                                        </p:tgtEl>
                                      </p:cBhvr>
                                    </p:animEffect>
                                  </p:childTnLst>
                                </p:cTn>
                              </p:par>
                              <p:par>
                                <p:cTn id="1528" nodeType="withEffect" fill="hold" presetClass="entr" presetID="10">
                                  <p:stCondLst>
                                    <p:cond delay="0"/>
                                  </p:stCondLst>
                                  <p:childTnLst>
                                    <p:set>
                                      <p:cBhvr>
                                        <p:cTn id="1529" dur="1" fill="hold">
                                          <p:stCondLst>
                                            <p:cond delay="0"/>
                                          </p:stCondLst>
                                        </p:cTn>
                                        <p:tgtEl>
                                          <p:spTgt spid="476"/>
                                        </p:tgtEl>
                                        <p:attrNameLst>
                                          <p:attrName>style.visibility</p:attrName>
                                        </p:attrNameLst>
                                      </p:cBhvr>
                                      <p:to>
                                        <p:strVal val="visible"/>
                                      </p:to>
                                    </p:set>
                                    <p:animEffect filter="fade" transition="in">
                                      <p:cBhvr additive="repl">
                                        <p:cTn id="1530" dur="500"/>
                                        <p:tgtEl>
                                          <p:spTgt spid="476"/>
                                        </p:tgtEl>
                                      </p:cBhvr>
                                    </p:animEffect>
                                  </p:childTnLst>
                                </p:cTn>
                              </p:par>
                            </p:childTnLst>
                          </p:cTn>
                        </p:par>
                      </p:childTnLst>
                    </p:cTn>
                  </p:par>
                  <p:par>
                    <p:cTn id="1531" nodeType="clickEffect" fill="hold">
                      <p:stCondLst>
                        <p:cond delay="indefinite"/>
                      </p:stCondLst>
                      <p:childTnLst>
                        <p:par>
                          <p:cTn id="1532" nodeType="withEffect" fill="hold">
                            <p:stCondLst>
                              <p:cond delay="0"/>
                            </p:stCondLst>
                            <p:childTnLst>
                              <p:par>
                                <p:cTn id="1533" nodeType="clickEffect" fill="hold" presetClass="entr" presetID="22" presetSubtype="8">
                                  <p:stCondLst>
                                    <p:cond delay="0"/>
                                  </p:stCondLst>
                                  <p:childTnLst>
                                    <p:set>
                                      <p:cBhvr>
                                        <p:cTn id="1534" dur="1" fill="hold">
                                          <p:stCondLst>
                                            <p:cond delay="0"/>
                                          </p:stCondLst>
                                        </p:cTn>
                                        <p:tgtEl>
                                          <p:spTgt spid="473">
                                            <p:txEl>
                                              <p:pRg st="2" end="2"/>
                                            </p:txEl>
                                          </p:spTgt>
                                        </p:tgtEl>
                                        <p:attrNameLst>
                                          <p:attrName>style.visibility</p:attrName>
                                        </p:attrNameLst>
                                      </p:cBhvr>
                                      <p:to>
                                        <p:strVal val="visible"/>
                                      </p:to>
                                    </p:set>
                                    <p:animEffect filter="wipe(left)" transition="in">
                                      <p:cBhvr additive="repl">
                                        <p:cTn id="1535" dur="500"/>
                                        <p:tgtEl>
                                          <p:spTgt spid="473">
                                            <p:txEl>
                                              <p:pRg st="2" end="2"/>
                                            </p:txEl>
                                          </p:spTgt>
                                        </p:tgtEl>
                                      </p:cBhvr>
                                    </p:animEffect>
                                  </p:childTnLst>
                                </p:cTn>
                              </p:par>
                              <p:par>
                                <p:cTn id="1536" nodeType="withEffect" fill="hold" presetClass="entr" presetID="10">
                                  <p:stCondLst>
                                    <p:cond delay="0"/>
                                  </p:stCondLst>
                                  <p:childTnLst>
                                    <p:set>
                                      <p:cBhvr>
                                        <p:cTn id="1537" dur="1" fill="hold">
                                          <p:stCondLst>
                                            <p:cond delay="0"/>
                                          </p:stCondLst>
                                        </p:cTn>
                                        <p:tgtEl>
                                          <p:spTgt spid="477"/>
                                        </p:tgtEl>
                                        <p:attrNameLst>
                                          <p:attrName>style.visibility</p:attrName>
                                        </p:attrNameLst>
                                      </p:cBhvr>
                                      <p:to>
                                        <p:strVal val="visible"/>
                                      </p:to>
                                    </p:set>
                                    <p:animEffect filter="fade" transition="in">
                                      <p:cBhvr additive="repl">
                                        <p:cTn id="1538" dur="500"/>
                                        <p:tgtEl>
                                          <p:spTgt spid="477"/>
                                        </p:tgtEl>
                                      </p:cBhvr>
                                    </p:animEffect>
                                  </p:childTnLst>
                                </p:cTn>
                              </p:par>
                            </p:childTnLst>
                          </p:cTn>
                        </p:par>
                      </p:childTnLst>
                    </p:cTn>
                  </p:par>
                  <p:par>
                    <p:cTn id="1539" nodeType="clickEffect" fill="hold">
                      <p:stCondLst>
                        <p:cond delay="indefinite"/>
                      </p:stCondLst>
                      <p:childTnLst>
                        <p:par>
                          <p:cTn id="1540" nodeType="withEffect" fill="hold">
                            <p:stCondLst>
                              <p:cond delay="0"/>
                            </p:stCondLst>
                            <p:childTnLst>
                              <p:par>
                                <p:cTn id="1541" nodeType="clickEffect" fill="hold" presetClass="entr" presetID="22" presetSubtype="8">
                                  <p:stCondLst>
                                    <p:cond delay="0"/>
                                  </p:stCondLst>
                                  <p:childTnLst>
                                    <p:set>
                                      <p:cBhvr>
                                        <p:cTn id="1542" dur="1" fill="hold">
                                          <p:stCondLst>
                                            <p:cond delay="0"/>
                                          </p:stCondLst>
                                        </p:cTn>
                                        <p:tgtEl>
                                          <p:spTgt spid="473">
                                            <p:txEl>
                                              <p:pRg st="3" end="3"/>
                                            </p:txEl>
                                          </p:spTgt>
                                        </p:tgtEl>
                                        <p:attrNameLst>
                                          <p:attrName>style.visibility</p:attrName>
                                        </p:attrNameLst>
                                      </p:cBhvr>
                                      <p:to>
                                        <p:strVal val="visible"/>
                                      </p:to>
                                    </p:set>
                                    <p:animEffect filter="wipe(left)" transition="in">
                                      <p:cBhvr additive="repl">
                                        <p:cTn id="1543" dur="500"/>
                                        <p:tgtEl>
                                          <p:spTgt spid="473">
                                            <p:txEl>
                                              <p:pRg st="3" end="3"/>
                                            </p:txEl>
                                          </p:spTgt>
                                        </p:tgtEl>
                                      </p:cBhvr>
                                    </p:animEffect>
                                  </p:childTnLst>
                                </p:cTn>
                              </p:par>
                              <p:par>
                                <p:cTn id="1544" nodeType="withEffect" fill="hold" presetClass="entr" presetID="22" presetSubtype="4">
                                  <p:stCondLst>
                                    <p:cond delay="0"/>
                                  </p:stCondLst>
                                  <p:childTnLst>
                                    <p:set>
                                      <p:cBhvr>
                                        <p:cTn id="1545" dur="1" fill="hold">
                                          <p:stCondLst>
                                            <p:cond delay="0"/>
                                          </p:stCondLst>
                                        </p:cTn>
                                        <p:tgtEl>
                                          <p:spTgt spid="478"/>
                                        </p:tgtEl>
                                        <p:attrNameLst>
                                          <p:attrName>style.visibility</p:attrName>
                                        </p:attrNameLst>
                                      </p:cBhvr>
                                      <p:to>
                                        <p:strVal val="visible"/>
                                      </p:to>
                                    </p:set>
                                    <p:animEffect filter="wipe(down)" transition="in">
                                      <p:cBhvr additive="repl">
                                        <p:cTn id="1546" dur="1000"/>
                                        <p:tgtEl>
                                          <p:spTgt spid="4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479" name="Picture 1" descr=""/>
          <p:cNvPicPr/>
          <p:nvPr/>
        </p:nvPicPr>
        <p:blipFill>
          <a:blip r:embed="rId1"/>
          <a:stretch/>
        </p:blipFill>
        <p:spPr>
          <a:xfrm>
            <a:off x="2124000" y="792000"/>
            <a:ext cx="4495320" cy="4609800"/>
          </a:xfrm>
          <a:prstGeom prst="rect">
            <a:avLst/>
          </a:prstGeom>
          <a:noFill/>
          <a:ln w="0">
            <a:noFill/>
          </a:ln>
        </p:spPr>
      </p:pic>
      <p:pic>
        <p:nvPicPr>
          <p:cNvPr id="480" name="Picture 11" descr=""/>
          <p:cNvPicPr/>
          <p:nvPr/>
        </p:nvPicPr>
        <p:blipFill>
          <a:blip r:embed="rId2"/>
          <a:stretch/>
        </p:blipFill>
        <p:spPr>
          <a:xfrm>
            <a:off x="2124000" y="792000"/>
            <a:ext cx="4495320" cy="4609800"/>
          </a:xfrm>
          <a:prstGeom prst="rect">
            <a:avLst/>
          </a:prstGeom>
          <a:noFill/>
          <a:ln w="0">
            <a:noFill/>
          </a:ln>
        </p:spPr>
      </p:pic>
      <p:pic>
        <p:nvPicPr>
          <p:cNvPr id="481" name="Picture 12" descr=""/>
          <p:cNvPicPr/>
          <p:nvPr/>
        </p:nvPicPr>
        <p:blipFill>
          <a:blip r:embed="rId3"/>
          <a:stretch/>
        </p:blipFill>
        <p:spPr>
          <a:xfrm>
            <a:off x="2124000" y="792000"/>
            <a:ext cx="4495320" cy="4609800"/>
          </a:xfrm>
          <a:prstGeom prst="rect">
            <a:avLst/>
          </a:prstGeom>
          <a:noFill/>
          <a:ln w="0">
            <a:noFill/>
          </a:ln>
        </p:spPr>
      </p:pic>
      <p:pic>
        <p:nvPicPr>
          <p:cNvPr id="482" name="Picture 13" descr=""/>
          <p:cNvPicPr/>
          <p:nvPr/>
        </p:nvPicPr>
        <p:blipFill>
          <a:blip r:embed="rId4"/>
          <a:stretch/>
        </p:blipFill>
        <p:spPr>
          <a:xfrm>
            <a:off x="2124000" y="792000"/>
            <a:ext cx="4495320" cy="4609800"/>
          </a:xfrm>
          <a:prstGeom prst="rect">
            <a:avLst/>
          </a:prstGeom>
          <a:noFill/>
          <a:ln w="0">
            <a:noFill/>
          </a:ln>
        </p:spPr>
      </p:pic>
      <p:pic>
        <p:nvPicPr>
          <p:cNvPr id="483" name="Picture 14" descr=""/>
          <p:cNvPicPr/>
          <p:nvPr/>
        </p:nvPicPr>
        <p:blipFill>
          <a:blip r:embed="rId5"/>
          <a:stretch/>
        </p:blipFill>
        <p:spPr>
          <a:xfrm>
            <a:off x="2124000" y="792000"/>
            <a:ext cx="4495320" cy="4609800"/>
          </a:xfrm>
          <a:prstGeom prst="rect">
            <a:avLst/>
          </a:prstGeom>
          <a:noFill/>
          <a:ln w="0">
            <a:noFill/>
          </a:ln>
        </p:spPr>
      </p:pic>
    </p:spTree>
  </p:cSld>
  <p:transition spd="slow">
    <p:wipe dir="r"/>
  </p:transition>
  <p:timing>
    <p:tnLst>
      <p:par>
        <p:cTn id="1547" dur="indefinite" restart="never" nodeType="tmRoot">
          <p:childTnLst>
            <p:seq>
              <p:cTn id="1548" dur="indefinite" nodeType="mainSeq">
                <p:childTnLst>
                  <p:par>
                    <p:cTn id="1549" nodeType="clickEffect" fill="hold">
                      <p:stCondLst>
                        <p:cond delay="indefinite"/>
                      </p:stCondLst>
                      <p:childTnLst>
                        <p:par>
                          <p:cTn id="1550" nodeType="withEffect" fill="hold">
                            <p:stCondLst>
                              <p:cond delay="0"/>
                            </p:stCondLst>
                            <p:childTnLst>
                              <p:par>
                                <p:cTn id="1551" nodeType="clickEffect" fill="hold" presetClass="entr" presetID="10">
                                  <p:stCondLst>
                                    <p:cond delay="0"/>
                                  </p:stCondLst>
                                  <p:childTnLst>
                                    <p:set>
                                      <p:cBhvr>
                                        <p:cTn id="1552" dur="1" fill="hold">
                                          <p:stCondLst>
                                            <p:cond delay="0"/>
                                          </p:stCondLst>
                                        </p:cTn>
                                        <p:tgtEl>
                                          <p:spTgt spid="480"/>
                                        </p:tgtEl>
                                        <p:attrNameLst>
                                          <p:attrName>style.visibility</p:attrName>
                                        </p:attrNameLst>
                                      </p:cBhvr>
                                      <p:to>
                                        <p:strVal val="visible"/>
                                      </p:to>
                                    </p:set>
                                    <p:animEffect filter="fade" transition="in">
                                      <p:cBhvr additive="repl">
                                        <p:cTn id="1553" dur="500"/>
                                        <p:tgtEl>
                                          <p:spTgt spid="480"/>
                                        </p:tgtEl>
                                      </p:cBhvr>
                                    </p:animEffect>
                                  </p:childTnLst>
                                </p:cTn>
                              </p:par>
                            </p:childTnLst>
                          </p:cTn>
                        </p:par>
                      </p:childTnLst>
                    </p:cTn>
                  </p:par>
                  <p:par>
                    <p:cTn id="1554" nodeType="clickEffect" fill="hold">
                      <p:stCondLst>
                        <p:cond delay="indefinite"/>
                      </p:stCondLst>
                      <p:childTnLst>
                        <p:par>
                          <p:cTn id="1555" nodeType="withEffect" fill="hold">
                            <p:stCondLst>
                              <p:cond delay="0"/>
                            </p:stCondLst>
                            <p:childTnLst>
                              <p:par>
                                <p:cTn id="1556" nodeType="clickEffect" fill="hold" presetClass="entr" presetID="10">
                                  <p:stCondLst>
                                    <p:cond delay="0"/>
                                  </p:stCondLst>
                                  <p:childTnLst>
                                    <p:set>
                                      <p:cBhvr>
                                        <p:cTn id="1557" dur="1" fill="hold">
                                          <p:stCondLst>
                                            <p:cond delay="0"/>
                                          </p:stCondLst>
                                        </p:cTn>
                                        <p:tgtEl>
                                          <p:spTgt spid="481"/>
                                        </p:tgtEl>
                                        <p:attrNameLst>
                                          <p:attrName>style.visibility</p:attrName>
                                        </p:attrNameLst>
                                      </p:cBhvr>
                                      <p:to>
                                        <p:strVal val="visible"/>
                                      </p:to>
                                    </p:set>
                                    <p:animEffect filter="fade" transition="in">
                                      <p:cBhvr additive="repl">
                                        <p:cTn id="1558" dur="500"/>
                                        <p:tgtEl>
                                          <p:spTgt spid="481"/>
                                        </p:tgtEl>
                                      </p:cBhvr>
                                    </p:animEffect>
                                  </p:childTnLst>
                                </p:cTn>
                              </p:par>
                            </p:childTnLst>
                          </p:cTn>
                        </p:par>
                      </p:childTnLst>
                    </p:cTn>
                  </p:par>
                  <p:par>
                    <p:cTn id="1559" nodeType="clickEffect" fill="hold">
                      <p:stCondLst>
                        <p:cond delay="indefinite"/>
                      </p:stCondLst>
                      <p:childTnLst>
                        <p:par>
                          <p:cTn id="1560" nodeType="withEffect" fill="hold">
                            <p:stCondLst>
                              <p:cond delay="0"/>
                            </p:stCondLst>
                            <p:childTnLst>
                              <p:par>
                                <p:cTn id="1561" nodeType="clickEffect" fill="hold" presetClass="entr" presetID="10">
                                  <p:stCondLst>
                                    <p:cond delay="0"/>
                                  </p:stCondLst>
                                  <p:childTnLst>
                                    <p:set>
                                      <p:cBhvr>
                                        <p:cTn id="1562" dur="1" fill="hold">
                                          <p:stCondLst>
                                            <p:cond delay="0"/>
                                          </p:stCondLst>
                                        </p:cTn>
                                        <p:tgtEl>
                                          <p:spTgt spid="482"/>
                                        </p:tgtEl>
                                        <p:attrNameLst>
                                          <p:attrName>style.visibility</p:attrName>
                                        </p:attrNameLst>
                                      </p:cBhvr>
                                      <p:to>
                                        <p:strVal val="visible"/>
                                      </p:to>
                                    </p:set>
                                    <p:animEffect filter="fade" transition="in">
                                      <p:cBhvr additive="repl">
                                        <p:cTn id="1563" dur="500"/>
                                        <p:tgtEl>
                                          <p:spTgt spid="482"/>
                                        </p:tgtEl>
                                      </p:cBhvr>
                                    </p:animEffect>
                                  </p:childTnLst>
                                </p:cTn>
                              </p:par>
                            </p:childTnLst>
                          </p:cTn>
                        </p:par>
                      </p:childTnLst>
                    </p:cTn>
                  </p:par>
                  <p:par>
                    <p:cTn id="1564" nodeType="clickEffect" fill="hold">
                      <p:stCondLst>
                        <p:cond delay="indefinite"/>
                      </p:stCondLst>
                      <p:childTnLst>
                        <p:par>
                          <p:cTn id="1565" nodeType="withEffect" fill="hold">
                            <p:stCondLst>
                              <p:cond delay="0"/>
                            </p:stCondLst>
                            <p:childTnLst>
                              <p:par>
                                <p:cTn id="1566" nodeType="clickEffect" fill="hold" presetClass="entr" presetID="22" presetSubtype="4">
                                  <p:stCondLst>
                                    <p:cond delay="0"/>
                                  </p:stCondLst>
                                  <p:childTnLst>
                                    <p:set>
                                      <p:cBhvr>
                                        <p:cTn id="1567" dur="1" fill="hold">
                                          <p:stCondLst>
                                            <p:cond delay="0"/>
                                          </p:stCondLst>
                                        </p:cTn>
                                        <p:tgtEl>
                                          <p:spTgt spid="483"/>
                                        </p:tgtEl>
                                        <p:attrNameLst>
                                          <p:attrName>style.visibility</p:attrName>
                                        </p:attrNameLst>
                                      </p:cBhvr>
                                      <p:to>
                                        <p:strVal val="visible"/>
                                      </p:to>
                                    </p:set>
                                    <p:animEffect filter="wipe(down)" transition="in">
                                      <p:cBhvr additive="repl">
                                        <p:cTn id="1568" dur="1000"/>
                                        <p:tgtEl>
                                          <p:spTgt spid="4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16.5  MONOPOLY REGULATION</a:t>
            </a:r>
            <a:endParaRPr b="0" lang="en-CA" sz="2600" strike="noStrike" u="none">
              <a:solidFill>
                <a:schemeClr val="dk1"/>
              </a:solidFill>
              <a:effectLst/>
              <a:uFillTx/>
              <a:latin typeface="Arial"/>
            </a:endParaRPr>
          </a:p>
        </p:txBody>
      </p:sp>
      <p:sp>
        <p:nvSpPr>
          <p:cNvPr id="485" name="PlaceHolder 2"/>
          <p:cNvSpPr>
            <a:spLocks noGrp="1"/>
          </p:cNvSpPr>
          <p:nvPr>
            <p:ph/>
          </p:nvPr>
        </p:nvSpPr>
        <p:spPr>
          <a:xfrm>
            <a:off x="360360" y="1440000"/>
            <a:ext cx="862776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MS Mincho"/>
              </a:rPr>
              <a:t>Second-Best Regulation of a Natural Monopoly</a:t>
            </a:r>
            <a:endParaRPr b="1" lang="en-CA" sz="28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MS Mincho"/>
              </a:rPr>
              <a:t>Two possible ways of enabling a regulated monopoly to avoid an economic loss are</a:t>
            </a:r>
            <a:endParaRPr b="1" lang="en-CA" sz="24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MS Mincho"/>
              </a:rPr>
              <a:t>Average cost pricing</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MS Mincho"/>
              </a:rPr>
              <a:t>Government subsidy</a:t>
            </a:r>
            <a:endParaRPr b="0" lang="en-CA" sz="2400" strike="noStrike" u="none">
              <a:solidFill>
                <a:schemeClr val="dk1"/>
              </a:solidFill>
              <a:effectLst/>
              <a:uFillTx/>
              <a:latin typeface="Arial"/>
            </a:endParaRPr>
          </a:p>
        </p:txBody>
      </p:sp>
    </p:spTree>
  </p:cSld>
  <p:transition spd="slow">
    <p:wipe dir="r"/>
  </p:transition>
  <p:timing>
    <p:tnLst>
      <p:par>
        <p:cTn id="1569" dur="indefinite" restart="never" nodeType="tmRoot">
          <p:childTnLst>
            <p:seq>
              <p:cTn id="1570" dur="indefinite" nodeType="mainSeq">
                <p:childTnLst>
                  <p:par>
                    <p:cTn id="1571" nodeType="clickEffect" fill="hold">
                      <p:stCondLst>
                        <p:cond delay="indefinite"/>
                      </p:stCondLst>
                      <p:childTnLst>
                        <p:par>
                          <p:cTn id="1572" nodeType="withEffect" fill="hold">
                            <p:stCondLst>
                              <p:cond delay="0"/>
                            </p:stCondLst>
                            <p:childTnLst>
                              <p:par>
                                <p:cTn id="1573" nodeType="clickEffect" fill="hold" presetClass="entr" presetID="22" presetSubtype="8">
                                  <p:stCondLst>
                                    <p:cond delay="0"/>
                                  </p:stCondLst>
                                  <p:childTnLst>
                                    <p:set>
                                      <p:cBhvr>
                                        <p:cTn id="1574" dur="1" fill="hold">
                                          <p:stCondLst>
                                            <p:cond delay="0"/>
                                          </p:stCondLst>
                                        </p:cTn>
                                        <p:tgtEl>
                                          <p:spTgt spid="485">
                                            <p:txEl>
                                              <p:pRg st="1" end="1"/>
                                            </p:txEl>
                                          </p:spTgt>
                                        </p:tgtEl>
                                        <p:attrNameLst>
                                          <p:attrName>style.visibility</p:attrName>
                                        </p:attrNameLst>
                                      </p:cBhvr>
                                      <p:to>
                                        <p:strVal val="visible"/>
                                      </p:to>
                                    </p:set>
                                    <p:animEffect filter="wipe(left)" transition="in">
                                      <p:cBhvr additive="repl">
                                        <p:cTn id="1575" dur="500"/>
                                        <p:tgtEl>
                                          <p:spTgt spid="485">
                                            <p:txEl>
                                              <p:pRg st="1" end="1"/>
                                            </p:txEl>
                                          </p:spTgt>
                                        </p:tgtEl>
                                      </p:cBhvr>
                                    </p:animEffect>
                                  </p:childTnLst>
                                </p:cTn>
                              </p:par>
                            </p:childTnLst>
                          </p:cTn>
                        </p:par>
                      </p:childTnLst>
                    </p:cTn>
                  </p:par>
                  <p:par>
                    <p:cTn id="1576" nodeType="clickEffect" fill="hold">
                      <p:stCondLst>
                        <p:cond delay="indefinite"/>
                      </p:stCondLst>
                      <p:childTnLst>
                        <p:par>
                          <p:cTn id="1577" nodeType="withEffect" fill="hold">
                            <p:stCondLst>
                              <p:cond delay="0"/>
                            </p:stCondLst>
                            <p:childTnLst>
                              <p:par>
                                <p:cTn id="1578" nodeType="clickEffect" fill="hold" presetClass="entr" presetID="22" presetSubtype="8">
                                  <p:stCondLst>
                                    <p:cond delay="0"/>
                                  </p:stCondLst>
                                  <p:childTnLst>
                                    <p:set>
                                      <p:cBhvr>
                                        <p:cTn id="1579" dur="1" fill="hold">
                                          <p:stCondLst>
                                            <p:cond delay="0"/>
                                          </p:stCondLst>
                                        </p:cTn>
                                        <p:tgtEl>
                                          <p:spTgt spid="485">
                                            <p:txEl>
                                              <p:pRg st="2" end="2"/>
                                            </p:txEl>
                                          </p:spTgt>
                                        </p:tgtEl>
                                        <p:attrNameLst>
                                          <p:attrName>style.visibility</p:attrName>
                                        </p:attrNameLst>
                                      </p:cBhvr>
                                      <p:to>
                                        <p:strVal val="visible"/>
                                      </p:to>
                                    </p:set>
                                    <p:animEffect filter="wipe(left)" transition="in">
                                      <p:cBhvr additive="repl">
                                        <p:cTn id="1580" dur="500"/>
                                        <p:tgtEl>
                                          <p:spTgt spid="485">
                                            <p:txEl>
                                              <p:pRg st="2" end="2"/>
                                            </p:txEl>
                                          </p:spTgt>
                                        </p:tgtEl>
                                      </p:cBhvr>
                                    </p:animEffect>
                                  </p:childTnLst>
                                </p:cTn>
                              </p:par>
                            </p:childTnLst>
                          </p:cTn>
                        </p:par>
                      </p:childTnLst>
                    </p:cTn>
                  </p:par>
                  <p:par>
                    <p:cTn id="1581" nodeType="clickEffect" fill="hold">
                      <p:stCondLst>
                        <p:cond delay="indefinite"/>
                      </p:stCondLst>
                      <p:childTnLst>
                        <p:par>
                          <p:cTn id="1582" nodeType="withEffect" fill="hold">
                            <p:stCondLst>
                              <p:cond delay="0"/>
                            </p:stCondLst>
                            <p:childTnLst>
                              <p:par>
                                <p:cTn id="1583" nodeType="clickEffect" fill="hold" presetClass="entr" presetID="22" presetSubtype="8">
                                  <p:stCondLst>
                                    <p:cond delay="0"/>
                                  </p:stCondLst>
                                  <p:childTnLst>
                                    <p:set>
                                      <p:cBhvr>
                                        <p:cTn id="1584" dur="1" fill="hold">
                                          <p:stCondLst>
                                            <p:cond delay="0"/>
                                          </p:stCondLst>
                                        </p:cTn>
                                        <p:tgtEl>
                                          <p:spTgt spid="485">
                                            <p:txEl>
                                              <p:pRg st="3" end="3"/>
                                            </p:txEl>
                                          </p:spTgt>
                                        </p:tgtEl>
                                        <p:attrNameLst>
                                          <p:attrName>style.visibility</p:attrName>
                                        </p:attrNameLst>
                                      </p:cBhvr>
                                      <p:to>
                                        <p:strVal val="visible"/>
                                      </p:to>
                                    </p:set>
                                    <p:animEffect filter="wipe(left)" transition="in">
                                      <p:cBhvr additive="repl">
                                        <p:cTn id="1585" dur="500"/>
                                        <p:tgtEl>
                                          <p:spTgt spid="485">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6"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16.5  MONOPOLY REGULATION</a:t>
            </a:r>
            <a:endParaRPr b="0" lang="en-CA" sz="2600" strike="noStrike" u="none">
              <a:solidFill>
                <a:schemeClr val="dk1"/>
              </a:solidFill>
              <a:effectLst/>
              <a:uFillTx/>
              <a:latin typeface="Arial"/>
            </a:endParaRPr>
          </a:p>
        </p:txBody>
      </p:sp>
      <p:sp>
        <p:nvSpPr>
          <p:cNvPr id="487"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1" lang="en-US" sz="2600" strike="noStrike" u="none">
                <a:solidFill>
                  <a:srgbClr val="00468f"/>
                </a:solidFill>
                <a:effectLst/>
                <a:uFillTx/>
                <a:latin typeface="Arial"/>
                <a:ea typeface="MS Mincho"/>
              </a:rPr>
              <a:t>Average Cost Pricing</a:t>
            </a:r>
            <a:endParaRPr b="1" lang="en-CA" sz="2600" strike="noStrike" u="none">
              <a:solidFill>
                <a:srgbClr val="00468f"/>
              </a:solidFill>
              <a:effectLst/>
              <a:uFillTx/>
              <a:latin typeface="Arial"/>
            </a:endParaRPr>
          </a:p>
          <a:p>
            <a:pPr marL="358920" indent="0">
              <a:lnSpc>
                <a:spcPct val="100000"/>
              </a:lnSpc>
              <a:spcBef>
                <a:spcPts val="601"/>
              </a:spcBef>
              <a:spcAft>
                <a:spcPts val="601"/>
              </a:spcAft>
              <a:buNone/>
            </a:pPr>
            <a:r>
              <a:rPr b="1" lang="en-US" sz="2400" strike="noStrike" u="none">
                <a:solidFill>
                  <a:srgbClr val="ff0000"/>
                </a:solidFill>
                <a:effectLst/>
                <a:uFillTx/>
                <a:latin typeface="Arial"/>
                <a:ea typeface="MS Mincho"/>
              </a:rPr>
              <a:t>Average cost pricing rule</a:t>
            </a:r>
            <a:r>
              <a:rPr b="0" lang="en-US" sz="2400" strike="noStrike" u="none">
                <a:solidFill>
                  <a:srgbClr val="ff0000"/>
                </a:solidFill>
                <a:effectLst/>
                <a:uFillTx/>
                <a:latin typeface="Arial"/>
                <a:ea typeface="MS Mincho"/>
              </a:rPr>
              <a:t> </a:t>
            </a:r>
            <a:r>
              <a:rPr b="0" lang="en-US" sz="2400" strike="noStrike" u="none">
                <a:solidFill>
                  <a:schemeClr val="dk1"/>
                </a:solidFill>
                <a:effectLst/>
                <a:uFillTx/>
                <a:latin typeface="Arial"/>
                <a:ea typeface="MS Mincho"/>
              </a:rPr>
              <a:t>is a rule that sets price equal to average total cost.</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MS Mincho"/>
              </a:rPr>
              <a:t>Figure 16.12 on the next slide illustrates the average cost pricing rule.</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1" lang="en-US" sz="2600" strike="noStrike" u="none">
                <a:solidFill>
                  <a:srgbClr val="00468f"/>
                </a:solidFill>
                <a:effectLst/>
                <a:uFillTx/>
                <a:latin typeface="Arial"/>
                <a:ea typeface="MS Mincho"/>
              </a:rPr>
              <a:t>Government Subsidy</a:t>
            </a:r>
            <a:endParaRPr b="1" lang="en-CA" sz="26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MS Mincho"/>
              </a:rPr>
              <a:t>A government subsidy is a direct payment to the firm, but the government must raise the subsidy by taxing some other activity, which will create a deadweight loss.</a:t>
            </a:r>
            <a:endParaRPr b="1" lang="en-CA" sz="2400" strike="noStrike" u="none">
              <a:solidFill>
                <a:srgbClr val="00468f"/>
              </a:solidFill>
              <a:effectLst/>
              <a:uFillTx/>
              <a:latin typeface="Arial"/>
            </a:endParaRPr>
          </a:p>
        </p:txBody>
      </p:sp>
    </p:spTree>
  </p:cSld>
  <p:transition spd="slow">
    <p:wipe dir="r"/>
  </p:transition>
  <p:timing>
    <p:tnLst>
      <p:par>
        <p:cTn id="1586" dur="indefinite" restart="never" nodeType="tmRoot">
          <p:childTnLst>
            <p:seq>
              <p:cTn id="1587" dur="indefinite" nodeType="mainSeq">
                <p:childTnLst>
                  <p:par>
                    <p:cTn id="1588" nodeType="clickEffect" fill="hold">
                      <p:stCondLst>
                        <p:cond delay="indefinite"/>
                      </p:stCondLst>
                      <p:childTnLst>
                        <p:par>
                          <p:cTn id="1589" nodeType="withEffect" fill="hold">
                            <p:stCondLst>
                              <p:cond delay="0"/>
                            </p:stCondLst>
                            <p:childTnLst>
                              <p:par>
                                <p:cTn id="1590" nodeType="clickEffect" fill="hold" presetClass="entr" presetID="22" presetSubtype="8">
                                  <p:stCondLst>
                                    <p:cond delay="0"/>
                                  </p:stCondLst>
                                  <p:childTnLst>
                                    <p:set>
                                      <p:cBhvr>
                                        <p:cTn id="1591" dur="1" fill="hold">
                                          <p:stCondLst>
                                            <p:cond delay="0"/>
                                          </p:stCondLst>
                                        </p:cTn>
                                        <p:tgtEl>
                                          <p:spTgt spid="487">
                                            <p:txEl>
                                              <p:pRg st="1" end="1"/>
                                            </p:txEl>
                                          </p:spTgt>
                                        </p:tgtEl>
                                        <p:attrNameLst>
                                          <p:attrName>style.visibility</p:attrName>
                                        </p:attrNameLst>
                                      </p:cBhvr>
                                      <p:to>
                                        <p:strVal val="visible"/>
                                      </p:to>
                                    </p:set>
                                    <p:animEffect filter="wipe(left)" transition="in">
                                      <p:cBhvr additive="repl">
                                        <p:cTn id="1592" dur="500"/>
                                        <p:tgtEl>
                                          <p:spTgt spid="487">
                                            <p:txEl>
                                              <p:pRg st="1" end="1"/>
                                            </p:txEl>
                                          </p:spTgt>
                                        </p:tgtEl>
                                      </p:cBhvr>
                                    </p:animEffect>
                                  </p:childTnLst>
                                </p:cTn>
                              </p:par>
                            </p:childTnLst>
                          </p:cTn>
                        </p:par>
                      </p:childTnLst>
                    </p:cTn>
                  </p:par>
                  <p:par>
                    <p:cTn id="1593" nodeType="clickEffect" fill="hold">
                      <p:stCondLst>
                        <p:cond delay="indefinite"/>
                      </p:stCondLst>
                      <p:childTnLst>
                        <p:par>
                          <p:cTn id="1594" nodeType="withEffect" fill="hold">
                            <p:stCondLst>
                              <p:cond delay="0"/>
                            </p:stCondLst>
                            <p:childTnLst>
                              <p:par>
                                <p:cTn id="1595" nodeType="clickEffect" fill="hold" presetClass="entr" presetID="22" presetSubtype="8">
                                  <p:stCondLst>
                                    <p:cond delay="0"/>
                                  </p:stCondLst>
                                  <p:childTnLst>
                                    <p:set>
                                      <p:cBhvr>
                                        <p:cTn id="1596" dur="1" fill="hold">
                                          <p:stCondLst>
                                            <p:cond delay="0"/>
                                          </p:stCondLst>
                                        </p:cTn>
                                        <p:tgtEl>
                                          <p:spTgt spid="487">
                                            <p:txEl>
                                              <p:pRg st="2" end="2"/>
                                            </p:txEl>
                                          </p:spTgt>
                                        </p:tgtEl>
                                        <p:attrNameLst>
                                          <p:attrName>style.visibility</p:attrName>
                                        </p:attrNameLst>
                                      </p:cBhvr>
                                      <p:to>
                                        <p:strVal val="visible"/>
                                      </p:to>
                                    </p:set>
                                    <p:animEffect filter="wipe(left)" transition="in">
                                      <p:cBhvr additive="repl">
                                        <p:cTn id="1597" dur="500"/>
                                        <p:tgtEl>
                                          <p:spTgt spid="487">
                                            <p:txEl>
                                              <p:pRg st="2" end="2"/>
                                            </p:txEl>
                                          </p:spTgt>
                                        </p:tgtEl>
                                      </p:cBhvr>
                                    </p:animEffect>
                                  </p:childTnLst>
                                </p:cTn>
                              </p:par>
                            </p:childTnLst>
                          </p:cTn>
                        </p:par>
                      </p:childTnLst>
                    </p:cTn>
                  </p:par>
                  <p:par>
                    <p:cTn id="1598" nodeType="clickEffect" fill="hold">
                      <p:stCondLst>
                        <p:cond delay="indefinite"/>
                      </p:stCondLst>
                      <p:childTnLst>
                        <p:par>
                          <p:cTn id="1599" nodeType="withEffect" fill="hold">
                            <p:stCondLst>
                              <p:cond delay="0"/>
                            </p:stCondLst>
                            <p:childTnLst>
                              <p:par>
                                <p:cTn id="1600" nodeType="clickEffect" fill="hold" presetClass="entr" presetID="22" presetSubtype="8">
                                  <p:stCondLst>
                                    <p:cond delay="0"/>
                                  </p:stCondLst>
                                  <p:childTnLst>
                                    <p:set>
                                      <p:cBhvr>
                                        <p:cTn id="1601" dur="1" fill="hold">
                                          <p:stCondLst>
                                            <p:cond delay="0"/>
                                          </p:stCondLst>
                                        </p:cTn>
                                        <p:tgtEl>
                                          <p:spTgt spid="487">
                                            <p:txEl>
                                              <p:pRg st="3" end="3"/>
                                            </p:txEl>
                                          </p:spTgt>
                                        </p:tgtEl>
                                        <p:attrNameLst>
                                          <p:attrName>style.visibility</p:attrName>
                                        </p:attrNameLst>
                                      </p:cBhvr>
                                      <p:to>
                                        <p:strVal val="visible"/>
                                      </p:to>
                                    </p:set>
                                    <p:animEffect filter="wipe(left)" transition="in">
                                      <p:cBhvr additive="repl">
                                        <p:cTn id="1602" dur="500"/>
                                        <p:tgtEl>
                                          <p:spTgt spid="487">
                                            <p:txEl>
                                              <p:pRg st="3" end="3"/>
                                            </p:txEl>
                                          </p:spTgt>
                                        </p:tgtEl>
                                      </p:cBhvr>
                                    </p:animEffect>
                                  </p:childTnLst>
                                </p:cTn>
                              </p:par>
                            </p:childTnLst>
                          </p:cTn>
                        </p:par>
                      </p:childTnLst>
                    </p:cTn>
                  </p:par>
                  <p:par>
                    <p:cTn id="1603" nodeType="clickEffect" fill="hold">
                      <p:stCondLst>
                        <p:cond delay="indefinite"/>
                      </p:stCondLst>
                      <p:childTnLst>
                        <p:par>
                          <p:cTn id="1604" nodeType="withEffect" fill="hold">
                            <p:stCondLst>
                              <p:cond delay="0"/>
                            </p:stCondLst>
                            <p:childTnLst>
                              <p:par>
                                <p:cTn id="1605" nodeType="clickEffect" fill="hold" presetClass="entr" presetID="22" presetSubtype="8">
                                  <p:stCondLst>
                                    <p:cond delay="0"/>
                                  </p:stCondLst>
                                  <p:childTnLst>
                                    <p:set>
                                      <p:cBhvr>
                                        <p:cTn id="1606" dur="1" fill="hold">
                                          <p:stCondLst>
                                            <p:cond delay="0"/>
                                          </p:stCondLst>
                                        </p:cTn>
                                        <p:tgtEl>
                                          <p:spTgt spid="487">
                                            <p:txEl>
                                              <p:pRg st="4" end="4"/>
                                            </p:txEl>
                                          </p:spTgt>
                                        </p:tgtEl>
                                        <p:attrNameLst>
                                          <p:attrName>style.visibility</p:attrName>
                                        </p:attrNameLst>
                                      </p:cBhvr>
                                      <p:to>
                                        <p:strVal val="visible"/>
                                      </p:to>
                                    </p:set>
                                    <p:animEffect filter="wipe(left)" transition="in">
                                      <p:cBhvr additive="repl">
                                        <p:cTn id="1607" dur="500"/>
                                        <p:tgtEl>
                                          <p:spTgt spid="487">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16.5  MONOPOLY REGULATION</a:t>
            </a:r>
            <a:endParaRPr b="0" lang="en-CA" sz="2600" strike="noStrike" u="none">
              <a:solidFill>
                <a:schemeClr val="dk1"/>
              </a:solidFill>
              <a:effectLst/>
              <a:uFillTx/>
              <a:latin typeface="Arial"/>
            </a:endParaRPr>
          </a:p>
        </p:txBody>
      </p:sp>
      <p:sp>
        <p:nvSpPr>
          <p:cNvPr id="489" name="PlaceHolder 2"/>
          <p:cNvSpPr>
            <a:spLocks noGrp="1"/>
          </p:cNvSpPr>
          <p:nvPr>
            <p:ph/>
          </p:nvPr>
        </p:nvSpPr>
        <p:spPr>
          <a:xfrm>
            <a:off x="360360" y="1440000"/>
            <a:ext cx="444132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efficient quantity is </a:t>
            </a:r>
            <a:br>
              <a:rPr sz="2400"/>
            </a:br>
            <a:r>
              <a:rPr b="0" lang="en-US" sz="2400" strike="noStrike" u="none">
                <a:solidFill>
                  <a:srgbClr val="000000"/>
                </a:solidFill>
                <a:effectLst/>
                <a:uFillTx/>
                <a:latin typeface="Arial"/>
                <a:ea typeface="ＭＳ Ｐゴシック"/>
              </a:rPr>
              <a:t>8 million households.</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a:tabLst>
                <a:tab algn="l" pos="457200"/>
              </a:tabLst>
            </a:pPr>
            <a:r>
              <a:rPr b="0" lang="en-US" sz="2400" strike="noStrike" u="none">
                <a:solidFill>
                  <a:srgbClr val="000000"/>
                </a:solidFill>
                <a:effectLst/>
                <a:uFillTx/>
                <a:latin typeface="Arial"/>
                <a:ea typeface="ＭＳ Ｐゴシック"/>
              </a:rPr>
              <a:t>Price is set equal to average total cost of </a:t>
            </a:r>
            <a:br>
              <a:rPr sz="2400"/>
            </a:br>
            <a:r>
              <a:rPr b="0" lang="en-US" sz="2400" strike="noStrike" u="none">
                <a:solidFill>
                  <a:srgbClr val="000000"/>
                </a:solidFill>
                <a:effectLst/>
                <a:uFillTx/>
                <a:latin typeface="Arial"/>
                <a:ea typeface="ＭＳ Ｐゴシック"/>
              </a:rPr>
              <a:t>$15 a month.</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a:tabLst>
                <a:tab algn="l" pos="457200"/>
              </a:tabLst>
            </a:pPr>
            <a:r>
              <a:rPr b="0" lang="en-US" sz="2400" strike="noStrike" u="none">
                <a:solidFill>
                  <a:srgbClr val="000000"/>
                </a:solidFill>
                <a:effectLst/>
                <a:uFillTx/>
                <a:latin typeface="Arial"/>
                <a:ea typeface="ＭＳ Ｐゴシック"/>
              </a:rPr>
              <a:t>At this price, the quantity served (6 million households) is less than the efficient quantity.</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a:tabLst>
                <a:tab algn="l" pos="457200"/>
              </a:tabLst>
            </a:pPr>
            <a:r>
              <a:rPr b="0" lang="en-US" sz="2400" strike="noStrike" u="none">
                <a:solidFill>
                  <a:srgbClr val="000000"/>
                </a:solidFill>
                <a:effectLst/>
                <a:uFillTx/>
                <a:latin typeface="Arial"/>
                <a:ea typeface="ＭＳ Ｐゴシック"/>
              </a:rPr>
              <a:t>Consumer surplus shrinks to the smaller green triangle.</a:t>
            </a:r>
            <a:endParaRPr b="1" lang="en-CA" sz="2400" strike="noStrike" u="none">
              <a:solidFill>
                <a:srgbClr val="00468f"/>
              </a:solidFill>
              <a:effectLst/>
              <a:uFillTx/>
              <a:latin typeface="Arial"/>
            </a:endParaRPr>
          </a:p>
        </p:txBody>
      </p:sp>
      <p:pic>
        <p:nvPicPr>
          <p:cNvPr id="490" name="Picture 1" descr=""/>
          <p:cNvPicPr/>
          <p:nvPr/>
        </p:nvPicPr>
        <p:blipFill>
          <a:blip r:embed="rId1"/>
          <a:stretch/>
        </p:blipFill>
        <p:spPr>
          <a:xfrm>
            <a:off x="4680000" y="1511280"/>
            <a:ext cx="3820680" cy="3919320"/>
          </a:xfrm>
          <a:prstGeom prst="rect">
            <a:avLst/>
          </a:prstGeom>
          <a:noFill/>
          <a:ln w="0">
            <a:noFill/>
          </a:ln>
        </p:spPr>
      </p:pic>
      <p:pic>
        <p:nvPicPr>
          <p:cNvPr id="491" name="Picture 11" descr=""/>
          <p:cNvPicPr/>
          <p:nvPr/>
        </p:nvPicPr>
        <p:blipFill>
          <a:blip r:embed="rId2"/>
          <a:stretch/>
        </p:blipFill>
        <p:spPr>
          <a:xfrm>
            <a:off x="4680000" y="1511280"/>
            <a:ext cx="3820680" cy="3919320"/>
          </a:xfrm>
          <a:prstGeom prst="rect">
            <a:avLst/>
          </a:prstGeom>
          <a:noFill/>
          <a:ln w="0">
            <a:noFill/>
          </a:ln>
        </p:spPr>
      </p:pic>
      <p:pic>
        <p:nvPicPr>
          <p:cNvPr id="492" name="Picture 12" descr=""/>
          <p:cNvPicPr/>
          <p:nvPr/>
        </p:nvPicPr>
        <p:blipFill>
          <a:blip r:embed="rId3"/>
          <a:stretch/>
        </p:blipFill>
        <p:spPr>
          <a:xfrm>
            <a:off x="4680000" y="1511280"/>
            <a:ext cx="3820680" cy="3919320"/>
          </a:xfrm>
          <a:prstGeom prst="rect">
            <a:avLst/>
          </a:prstGeom>
          <a:noFill/>
          <a:ln w="0">
            <a:noFill/>
          </a:ln>
        </p:spPr>
      </p:pic>
      <p:pic>
        <p:nvPicPr>
          <p:cNvPr id="493" name="Picture 13" descr=""/>
          <p:cNvPicPr/>
          <p:nvPr/>
        </p:nvPicPr>
        <p:blipFill>
          <a:blip r:embed="rId4"/>
          <a:stretch/>
        </p:blipFill>
        <p:spPr>
          <a:xfrm>
            <a:off x="4680000" y="1511280"/>
            <a:ext cx="3820680" cy="3919320"/>
          </a:xfrm>
          <a:prstGeom prst="rect">
            <a:avLst/>
          </a:prstGeom>
          <a:noFill/>
          <a:ln w="0">
            <a:noFill/>
          </a:ln>
        </p:spPr>
      </p:pic>
    </p:spTree>
  </p:cSld>
  <p:transition spd="slow">
    <p:wipe dir="r"/>
  </p:transition>
  <p:timing>
    <p:tnLst>
      <p:par>
        <p:cTn id="1608" dur="indefinite" restart="never" nodeType="tmRoot">
          <p:childTnLst>
            <p:seq>
              <p:cTn id="1609" dur="indefinite" nodeType="mainSeq">
                <p:childTnLst>
                  <p:par>
                    <p:cTn id="1610" nodeType="clickEffect" fill="hold">
                      <p:stCondLst>
                        <p:cond delay="indefinite"/>
                      </p:stCondLst>
                      <p:childTnLst>
                        <p:par>
                          <p:cTn id="1611" nodeType="withEffect" fill="hold">
                            <p:stCondLst>
                              <p:cond delay="0"/>
                            </p:stCondLst>
                            <p:childTnLst>
                              <p:par>
                                <p:cTn id="1612" nodeType="clickEffect" fill="hold" presetClass="entr" presetID="22" presetSubtype="8">
                                  <p:stCondLst>
                                    <p:cond delay="0"/>
                                  </p:stCondLst>
                                  <p:childTnLst>
                                    <p:set>
                                      <p:cBhvr>
                                        <p:cTn id="1613" dur="1" fill="hold">
                                          <p:stCondLst>
                                            <p:cond delay="0"/>
                                          </p:stCondLst>
                                        </p:cTn>
                                        <p:tgtEl>
                                          <p:spTgt spid="489">
                                            <p:txEl>
                                              <p:pRg st="1" end="1"/>
                                            </p:txEl>
                                          </p:spTgt>
                                        </p:tgtEl>
                                        <p:attrNameLst>
                                          <p:attrName>style.visibility</p:attrName>
                                        </p:attrNameLst>
                                      </p:cBhvr>
                                      <p:to>
                                        <p:strVal val="visible"/>
                                      </p:to>
                                    </p:set>
                                    <p:animEffect filter="wipe(left)" transition="in">
                                      <p:cBhvr additive="repl">
                                        <p:cTn id="1614" dur="500"/>
                                        <p:tgtEl>
                                          <p:spTgt spid="489">
                                            <p:txEl>
                                              <p:pRg st="1" end="1"/>
                                            </p:txEl>
                                          </p:spTgt>
                                        </p:tgtEl>
                                      </p:cBhvr>
                                    </p:animEffect>
                                  </p:childTnLst>
                                </p:cTn>
                              </p:par>
                              <p:par>
                                <p:cTn id="1615" nodeType="withEffect" fill="hold" presetClass="entr" presetID="10">
                                  <p:stCondLst>
                                    <p:cond delay="0"/>
                                  </p:stCondLst>
                                  <p:childTnLst>
                                    <p:set>
                                      <p:cBhvr>
                                        <p:cTn id="1616" dur="1" fill="hold">
                                          <p:stCondLst>
                                            <p:cond delay="0"/>
                                          </p:stCondLst>
                                        </p:cTn>
                                        <p:tgtEl>
                                          <p:spTgt spid="491"/>
                                        </p:tgtEl>
                                        <p:attrNameLst>
                                          <p:attrName>style.visibility</p:attrName>
                                        </p:attrNameLst>
                                      </p:cBhvr>
                                      <p:to>
                                        <p:strVal val="visible"/>
                                      </p:to>
                                    </p:set>
                                    <p:animEffect filter="fade" transition="in">
                                      <p:cBhvr additive="repl">
                                        <p:cTn id="1617" dur="500"/>
                                        <p:tgtEl>
                                          <p:spTgt spid="491"/>
                                        </p:tgtEl>
                                      </p:cBhvr>
                                    </p:animEffect>
                                  </p:childTnLst>
                                </p:cTn>
                              </p:par>
                            </p:childTnLst>
                          </p:cTn>
                        </p:par>
                      </p:childTnLst>
                    </p:cTn>
                  </p:par>
                  <p:par>
                    <p:cTn id="1618" nodeType="clickEffect" fill="hold">
                      <p:stCondLst>
                        <p:cond delay="indefinite"/>
                      </p:stCondLst>
                      <p:childTnLst>
                        <p:par>
                          <p:cTn id="1619" nodeType="withEffect" fill="hold">
                            <p:stCondLst>
                              <p:cond delay="0"/>
                            </p:stCondLst>
                            <p:childTnLst>
                              <p:par>
                                <p:cTn id="1620" nodeType="clickEffect" fill="hold" presetClass="entr" presetID="22" presetSubtype="8">
                                  <p:stCondLst>
                                    <p:cond delay="0"/>
                                  </p:stCondLst>
                                  <p:childTnLst>
                                    <p:set>
                                      <p:cBhvr>
                                        <p:cTn id="1621" dur="1" fill="hold">
                                          <p:stCondLst>
                                            <p:cond delay="0"/>
                                          </p:stCondLst>
                                        </p:cTn>
                                        <p:tgtEl>
                                          <p:spTgt spid="489">
                                            <p:txEl>
                                              <p:pRg st="2" end="2"/>
                                            </p:txEl>
                                          </p:spTgt>
                                        </p:tgtEl>
                                        <p:attrNameLst>
                                          <p:attrName>style.visibility</p:attrName>
                                        </p:attrNameLst>
                                      </p:cBhvr>
                                      <p:to>
                                        <p:strVal val="visible"/>
                                      </p:to>
                                    </p:set>
                                    <p:animEffect filter="wipe(left)" transition="in">
                                      <p:cBhvr additive="repl">
                                        <p:cTn id="1622" dur="500"/>
                                        <p:tgtEl>
                                          <p:spTgt spid="489">
                                            <p:txEl>
                                              <p:pRg st="2" end="2"/>
                                            </p:txEl>
                                          </p:spTgt>
                                        </p:tgtEl>
                                      </p:cBhvr>
                                    </p:animEffect>
                                  </p:childTnLst>
                                </p:cTn>
                              </p:par>
                              <p:par>
                                <p:cTn id="1623" nodeType="withEffect" fill="hold" presetClass="entr" presetID="10">
                                  <p:stCondLst>
                                    <p:cond delay="0"/>
                                  </p:stCondLst>
                                  <p:childTnLst>
                                    <p:set>
                                      <p:cBhvr>
                                        <p:cTn id="1624" dur="1" fill="hold">
                                          <p:stCondLst>
                                            <p:cond delay="0"/>
                                          </p:stCondLst>
                                        </p:cTn>
                                        <p:tgtEl>
                                          <p:spTgt spid="492"/>
                                        </p:tgtEl>
                                        <p:attrNameLst>
                                          <p:attrName>style.visibility</p:attrName>
                                        </p:attrNameLst>
                                      </p:cBhvr>
                                      <p:to>
                                        <p:strVal val="visible"/>
                                      </p:to>
                                    </p:set>
                                    <p:animEffect filter="fade" transition="in">
                                      <p:cBhvr additive="repl">
                                        <p:cTn id="1625" dur="500"/>
                                        <p:tgtEl>
                                          <p:spTgt spid="492"/>
                                        </p:tgtEl>
                                      </p:cBhvr>
                                    </p:animEffect>
                                  </p:childTnLst>
                                </p:cTn>
                              </p:par>
                            </p:childTnLst>
                          </p:cTn>
                        </p:par>
                      </p:childTnLst>
                    </p:cTn>
                  </p:par>
                  <p:par>
                    <p:cTn id="1626" nodeType="clickEffect" fill="hold">
                      <p:stCondLst>
                        <p:cond delay="indefinite"/>
                      </p:stCondLst>
                      <p:childTnLst>
                        <p:par>
                          <p:cTn id="1627" nodeType="withEffect" fill="hold">
                            <p:stCondLst>
                              <p:cond delay="0"/>
                            </p:stCondLst>
                            <p:childTnLst>
                              <p:par>
                                <p:cTn id="1628" nodeType="clickEffect" fill="hold" presetClass="entr" presetID="22" presetSubtype="8">
                                  <p:stCondLst>
                                    <p:cond delay="0"/>
                                  </p:stCondLst>
                                  <p:childTnLst>
                                    <p:set>
                                      <p:cBhvr>
                                        <p:cTn id="1629" dur="1" fill="hold">
                                          <p:stCondLst>
                                            <p:cond delay="0"/>
                                          </p:stCondLst>
                                        </p:cTn>
                                        <p:tgtEl>
                                          <p:spTgt spid="489">
                                            <p:txEl>
                                              <p:pRg st="3" end="3"/>
                                            </p:txEl>
                                          </p:spTgt>
                                        </p:tgtEl>
                                        <p:attrNameLst>
                                          <p:attrName>style.visibility</p:attrName>
                                        </p:attrNameLst>
                                      </p:cBhvr>
                                      <p:to>
                                        <p:strVal val="visible"/>
                                      </p:to>
                                    </p:set>
                                    <p:animEffect filter="wipe(left)" transition="in">
                                      <p:cBhvr additive="repl">
                                        <p:cTn id="1630" dur="500"/>
                                        <p:tgtEl>
                                          <p:spTgt spid="489">
                                            <p:txEl>
                                              <p:pRg st="3" end="3"/>
                                            </p:txEl>
                                          </p:spTgt>
                                        </p:tgtEl>
                                      </p:cBhvr>
                                    </p:animEffect>
                                  </p:childTnLst>
                                </p:cTn>
                              </p:par>
                              <p:par>
                                <p:cTn id="1631" nodeType="withEffect" fill="hold" presetClass="entr" presetID="10">
                                  <p:stCondLst>
                                    <p:cond delay="0"/>
                                  </p:stCondLst>
                                  <p:childTnLst>
                                    <p:set>
                                      <p:cBhvr>
                                        <p:cTn id="1632" dur="1" fill="hold">
                                          <p:stCondLst>
                                            <p:cond delay="0"/>
                                          </p:stCondLst>
                                        </p:cTn>
                                        <p:tgtEl>
                                          <p:spTgt spid="493"/>
                                        </p:tgtEl>
                                        <p:attrNameLst>
                                          <p:attrName>style.visibility</p:attrName>
                                        </p:attrNameLst>
                                      </p:cBhvr>
                                      <p:to>
                                        <p:strVal val="visible"/>
                                      </p:to>
                                    </p:set>
                                    <p:animEffect filter="fade" transition="in">
                                      <p:cBhvr additive="repl">
                                        <p:cTn id="1633" dur="500"/>
                                        <p:tgtEl>
                                          <p:spTgt spid="4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494" name="Picture 1" descr=""/>
          <p:cNvPicPr/>
          <p:nvPr/>
        </p:nvPicPr>
        <p:blipFill>
          <a:blip r:embed="rId1"/>
          <a:stretch/>
        </p:blipFill>
        <p:spPr>
          <a:xfrm>
            <a:off x="2124000" y="792000"/>
            <a:ext cx="4495320" cy="4609800"/>
          </a:xfrm>
          <a:prstGeom prst="rect">
            <a:avLst/>
          </a:prstGeom>
          <a:noFill/>
          <a:ln w="0">
            <a:noFill/>
          </a:ln>
        </p:spPr>
      </p:pic>
      <p:pic>
        <p:nvPicPr>
          <p:cNvPr id="495" name="Picture 13" descr=""/>
          <p:cNvPicPr/>
          <p:nvPr/>
        </p:nvPicPr>
        <p:blipFill>
          <a:blip r:embed="rId2"/>
          <a:stretch/>
        </p:blipFill>
        <p:spPr>
          <a:xfrm>
            <a:off x="2124000" y="792000"/>
            <a:ext cx="4495320" cy="4609800"/>
          </a:xfrm>
          <a:prstGeom prst="rect">
            <a:avLst/>
          </a:prstGeom>
          <a:noFill/>
          <a:ln w="0">
            <a:noFill/>
          </a:ln>
        </p:spPr>
      </p:pic>
      <p:pic>
        <p:nvPicPr>
          <p:cNvPr id="496" name="Picture 14" descr=""/>
          <p:cNvPicPr/>
          <p:nvPr/>
        </p:nvPicPr>
        <p:blipFill>
          <a:blip r:embed="rId3"/>
          <a:stretch/>
        </p:blipFill>
        <p:spPr>
          <a:xfrm>
            <a:off x="2124000" y="792000"/>
            <a:ext cx="4495320" cy="4609800"/>
          </a:xfrm>
          <a:prstGeom prst="rect">
            <a:avLst/>
          </a:prstGeom>
          <a:noFill/>
          <a:ln w="0">
            <a:noFill/>
          </a:ln>
        </p:spPr>
      </p:pic>
      <p:pic>
        <p:nvPicPr>
          <p:cNvPr id="497" name="Picture 15" descr=""/>
          <p:cNvPicPr/>
          <p:nvPr/>
        </p:nvPicPr>
        <p:blipFill>
          <a:blip r:embed="rId4"/>
          <a:stretch/>
        </p:blipFill>
        <p:spPr>
          <a:xfrm>
            <a:off x="2124000" y="792000"/>
            <a:ext cx="4495320" cy="4609800"/>
          </a:xfrm>
          <a:prstGeom prst="rect">
            <a:avLst/>
          </a:prstGeom>
          <a:noFill/>
          <a:ln w="0">
            <a:noFill/>
          </a:ln>
        </p:spPr>
      </p:pic>
      <p:pic>
        <p:nvPicPr>
          <p:cNvPr id="498" name="Picture 16" descr=""/>
          <p:cNvPicPr/>
          <p:nvPr/>
        </p:nvPicPr>
        <p:blipFill>
          <a:blip r:embed="rId5"/>
          <a:stretch/>
        </p:blipFill>
        <p:spPr>
          <a:xfrm>
            <a:off x="2124000" y="792000"/>
            <a:ext cx="4495320" cy="4609800"/>
          </a:xfrm>
          <a:prstGeom prst="rect">
            <a:avLst/>
          </a:prstGeom>
          <a:noFill/>
          <a:ln w="0">
            <a:noFill/>
          </a:ln>
        </p:spPr>
      </p:pic>
      <p:pic>
        <p:nvPicPr>
          <p:cNvPr id="499" name="Picture 17" descr=""/>
          <p:cNvPicPr/>
          <p:nvPr/>
        </p:nvPicPr>
        <p:blipFill>
          <a:blip r:embed="rId6"/>
          <a:stretch/>
        </p:blipFill>
        <p:spPr>
          <a:xfrm>
            <a:off x="2124000" y="792000"/>
            <a:ext cx="4495320" cy="4609800"/>
          </a:xfrm>
          <a:prstGeom prst="rect">
            <a:avLst/>
          </a:prstGeom>
          <a:noFill/>
          <a:ln w="0">
            <a:noFill/>
          </a:ln>
        </p:spPr>
      </p:pic>
    </p:spTree>
  </p:cSld>
  <p:transition spd="slow">
    <p:wipe dir="r"/>
  </p:transition>
  <p:timing>
    <p:tnLst>
      <p:par>
        <p:cTn id="1634" dur="indefinite" restart="never" nodeType="tmRoot">
          <p:childTnLst>
            <p:seq>
              <p:cTn id="1635" dur="indefinite" nodeType="mainSeq">
                <p:childTnLst>
                  <p:par>
                    <p:cTn id="1636" nodeType="clickEffect" fill="hold">
                      <p:stCondLst>
                        <p:cond delay="indefinite"/>
                      </p:stCondLst>
                      <p:childTnLst>
                        <p:par>
                          <p:cTn id="1637" nodeType="withEffect" fill="hold">
                            <p:stCondLst>
                              <p:cond delay="0"/>
                            </p:stCondLst>
                            <p:childTnLst>
                              <p:par>
                                <p:cTn id="1638" nodeType="clickEffect" fill="hold" presetClass="entr" presetID="10">
                                  <p:stCondLst>
                                    <p:cond delay="0"/>
                                  </p:stCondLst>
                                  <p:childTnLst>
                                    <p:set>
                                      <p:cBhvr>
                                        <p:cTn id="1639" dur="1" fill="hold">
                                          <p:stCondLst>
                                            <p:cond delay="0"/>
                                          </p:stCondLst>
                                        </p:cTn>
                                        <p:tgtEl>
                                          <p:spTgt spid="495"/>
                                        </p:tgtEl>
                                        <p:attrNameLst>
                                          <p:attrName>style.visibility</p:attrName>
                                        </p:attrNameLst>
                                      </p:cBhvr>
                                      <p:to>
                                        <p:strVal val="visible"/>
                                      </p:to>
                                    </p:set>
                                    <p:animEffect filter="fade" transition="in">
                                      <p:cBhvr additive="repl">
                                        <p:cTn id="1640" dur="500"/>
                                        <p:tgtEl>
                                          <p:spTgt spid="495"/>
                                        </p:tgtEl>
                                      </p:cBhvr>
                                    </p:animEffect>
                                  </p:childTnLst>
                                </p:cTn>
                              </p:par>
                            </p:childTnLst>
                          </p:cTn>
                        </p:par>
                      </p:childTnLst>
                    </p:cTn>
                  </p:par>
                  <p:par>
                    <p:cTn id="1641" nodeType="clickEffect" fill="hold">
                      <p:stCondLst>
                        <p:cond delay="indefinite"/>
                      </p:stCondLst>
                      <p:childTnLst>
                        <p:par>
                          <p:cTn id="1642" nodeType="withEffect" fill="hold">
                            <p:stCondLst>
                              <p:cond delay="0"/>
                            </p:stCondLst>
                            <p:childTnLst>
                              <p:par>
                                <p:cTn id="1643" nodeType="clickEffect" fill="hold" presetClass="entr" presetID="10">
                                  <p:stCondLst>
                                    <p:cond delay="0"/>
                                  </p:stCondLst>
                                  <p:childTnLst>
                                    <p:set>
                                      <p:cBhvr>
                                        <p:cTn id="1644" dur="1" fill="hold">
                                          <p:stCondLst>
                                            <p:cond delay="0"/>
                                          </p:stCondLst>
                                        </p:cTn>
                                        <p:tgtEl>
                                          <p:spTgt spid="496"/>
                                        </p:tgtEl>
                                        <p:attrNameLst>
                                          <p:attrName>style.visibility</p:attrName>
                                        </p:attrNameLst>
                                      </p:cBhvr>
                                      <p:to>
                                        <p:strVal val="visible"/>
                                      </p:to>
                                    </p:set>
                                    <p:animEffect filter="fade" transition="in">
                                      <p:cBhvr additive="repl">
                                        <p:cTn id="1645" dur="500"/>
                                        <p:tgtEl>
                                          <p:spTgt spid="496"/>
                                        </p:tgtEl>
                                      </p:cBhvr>
                                    </p:animEffect>
                                  </p:childTnLst>
                                </p:cTn>
                              </p:par>
                            </p:childTnLst>
                          </p:cTn>
                        </p:par>
                      </p:childTnLst>
                    </p:cTn>
                  </p:par>
                  <p:par>
                    <p:cTn id="1646" nodeType="clickEffect" fill="hold">
                      <p:stCondLst>
                        <p:cond delay="indefinite"/>
                      </p:stCondLst>
                      <p:childTnLst>
                        <p:par>
                          <p:cTn id="1647" nodeType="withEffect" fill="hold">
                            <p:stCondLst>
                              <p:cond delay="0"/>
                            </p:stCondLst>
                            <p:childTnLst>
                              <p:par>
                                <p:cTn id="1648" nodeType="clickEffect" fill="hold" presetClass="entr" presetID="10">
                                  <p:stCondLst>
                                    <p:cond delay="0"/>
                                  </p:stCondLst>
                                  <p:childTnLst>
                                    <p:set>
                                      <p:cBhvr>
                                        <p:cTn id="1649" dur="1" fill="hold">
                                          <p:stCondLst>
                                            <p:cond delay="0"/>
                                          </p:stCondLst>
                                        </p:cTn>
                                        <p:tgtEl>
                                          <p:spTgt spid="497"/>
                                        </p:tgtEl>
                                        <p:attrNameLst>
                                          <p:attrName>style.visibility</p:attrName>
                                        </p:attrNameLst>
                                      </p:cBhvr>
                                      <p:to>
                                        <p:strVal val="visible"/>
                                      </p:to>
                                    </p:set>
                                    <p:animEffect filter="fade" transition="in">
                                      <p:cBhvr additive="repl">
                                        <p:cTn id="1650" dur="500"/>
                                        <p:tgtEl>
                                          <p:spTgt spid="497"/>
                                        </p:tgtEl>
                                      </p:cBhvr>
                                    </p:animEffect>
                                  </p:childTnLst>
                                </p:cTn>
                              </p:par>
                            </p:childTnLst>
                          </p:cTn>
                        </p:par>
                      </p:childTnLst>
                    </p:cTn>
                  </p:par>
                  <p:par>
                    <p:cTn id="1651" nodeType="clickEffect" fill="hold">
                      <p:stCondLst>
                        <p:cond delay="indefinite"/>
                      </p:stCondLst>
                      <p:childTnLst>
                        <p:par>
                          <p:cTn id="1652" nodeType="withEffect" fill="hold">
                            <p:stCondLst>
                              <p:cond delay="0"/>
                            </p:stCondLst>
                            <p:childTnLst>
                              <p:par>
                                <p:cTn id="1653" nodeType="clickEffect" fill="hold" presetClass="entr" presetID="10">
                                  <p:stCondLst>
                                    <p:cond delay="0"/>
                                  </p:stCondLst>
                                  <p:childTnLst>
                                    <p:set>
                                      <p:cBhvr>
                                        <p:cTn id="1654" dur="1" fill="hold">
                                          <p:stCondLst>
                                            <p:cond delay="0"/>
                                          </p:stCondLst>
                                        </p:cTn>
                                        <p:tgtEl>
                                          <p:spTgt spid="498"/>
                                        </p:tgtEl>
                                        <p:attrNameLst>
                                          <p:attrName>style.visibility</p:attrName>
                                        </p:attrNameLst>
                                      </p:cBhvr>
                                      <p:to>
                                        <p:strVal val="visible"/>
                                      </p:to>
                                    </p:set>
                                    <p:animEffect filter="fade" transition="in">
                                      <p:cBhvr additive="repl">
                                        <p:cTn id="1655" dur="500"/>
                                        <p:tgtEl>
                                          <p:spTgt spid="498"/>
                                        </p:tgtEl>
                                      </p:cBhvr>
                                    </p:animEffect>
                                  </p:childTnLst>
                                </p:cTn>
                              </p:par>
                            </p:childTnLst>
                          </p:cTn>
                        </p:par>
                      </p:childTnLst>
                    </p:cTn>
                  </p:par>
                  <p:par>
                    <p:cTn id="1656" nodeType="clickEffect" fill="hold">
                      <p:stCondLst>
                        <p:cond delay="indefinite"/>
                      </p:stCondLst>
                      <p:childTnLst>
                        <p:par>
                          <p:cTn id="1657" nodeType="withEffect" fill="hold">
                            <p:stCondLst>
                              <p:cond delay="0"/>
                            </p:stCondLst>
                            <p:childTnLst>
                              <p:par>
                                <p:cTn id="1658" nodeType="clickEffect" fill="hold" presetClass="entr" presetID="10">
                                  <p:stCondLst>
                                    <p:cond delay="0"/>
                                  </p:stCondLst>
                                  <p:childTnLst>
                                    <p:set>
                                      <p:cBhvr>
                                        <p:cTn id="1659" dur="1" fill="hold">
                                          <p:stCondLst>
                                            <p:cond delay="0"/>
                                          </p:stCondLst>
                                        </p:cTn>
                                        <p:tgtEl>
                                          <p:spTgt spid="499"/>
                                        </p:tgtEl>
                                        <p:attrNameLst>
                                          <p:attrName>style.visibility</p:attrName>
                                        </p:attrNameLst>
                                      </p:cBhvr>
                                      <p:to>
                                        <p:strVal val="visible"/>
                                      </p:to>
                                    </p:set>
                                    <p:animEffect filter="fade" transition="in">
                                      <p:cBhvr additive="repl">
                                        <p:cTn id="1660" dur="500"/>
                                        <p:tgtEl>
                                          <p:spTgt spid="4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16.5  MONOPOLY REGULATION</a:t>
            </a:r>
            <a:endParaRPr b="0" lang="en-CA" sz="2600" strike="noStrike" u="none">
              <a:solidFill>
                <a:schemeClr val="dk1"/>
              </a:solidFill>
              <a:effectLst/>
              <a:uFillTx/>
              <a:latin typeface="Arial"/>
            </a:endParaRPr>
          </a:p>
        </p:txBody>
      </p:sp>
      <p:sp>
        <p:nvSpPr>
          <p:cNvPr id="501" name="PlaceHolder 2"/>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817200" indent="-457200">
              <a:lnSpc>
                <a:spcPct val="100000"/>
              </a:lnSpc>
              <a:spcBef>
                <a:spcPts val="601"/>
              </a:spcBef>
              <a:spcAft>
                <a:spcPts val="601"/>
              </a:spcAft>
              <a:buClr>
                <a:srgbClr val="000000"/>
              </a:buClr>
              <a:buFont typeface="Arial"/>
              <a:buAutoNum type="arabicPeriod" startAt="4"/>
              <a:tabLst>
                <a:tab algn="l" pos="457200"/>
              </a:tabLst>
            </a:pPr>
            <a:r>
              <a:rPr b="0" lang="en-US" sz="2400" strike="noStrike" u="none">
                <a:solidFill>
                  <a:schemeClr val="dk1"/>
                </a:solidFill>
                <a:effectLst/>
                <a:uFillTx/>
                <a:latin typeface="Arial"/>
                <a:ea typeface="ＭＳ Ｐゴシック"/>
              </a:rPr>
              <a:t>A producer surplus enables the firm to pay its fixed cost and break even.</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startAt="4"/>
              <a:tabLst>
                <a:tab algn="l" pos="457200"/>
              </a:tabLst>
            </a:pPr>
            <a:r>
              <a:rPr b="0" lang="en-US" sz="2400" strike="noStrike" u="none">
                <a:solidFill>
                  <a:srgbClr val="000000"/>
                </a:solidFill>
                <a:effectLst/>
                <a:uFillTx/>
                <a:latin typeface="Arial"/>
                <a:ea typeface="ＭＳ Ｐゴシック"/>
              </a:rPr>
              <a:t>A deadweight loss arises.</a:t>
            </a:r>
            <a:endParaRPr b="1" lang="en-CA" sz="2400" strike="noStrike" u="none">
              <a:solidFill>
                <a:srgbClr val="00468f"/>
              </a:solidFill>
              <a:effectLst/>
              <a:uFillTx/>
              <a:latin typeface="Arial"/>
            </a:endParaRPr>
          </a:p>
        </p:txBody>
      </p:sp>
      <p:pic>
        <p:nvPicPr>
          <p:cNvPr id="502" name="Picture 1" descr=""/>
          <p:cNvPicPr/>
          <p:nvPr/>
        </p:nvPicPr>
        <p:blipFill>
          <a:blip r:embed="rId1"/>
          <a:stretch/>
        </p:blipFill>
        <p:spPr>
          <a:xfrm>
            <a:off x="4680000" y="1511280"/>
            <a:ext cx="3820680" cy="3919320"/>
          </a:xfrm>
          <a:prstGeom prst="rect">
            <a:avLst/>
          </a:prstGeom>
          <a:noFill/>
          <a:ln w="0">
            <a:noFill/>
          </a:ln>
        </p:spPr>
      </p:pic>
      <p:pic>
        <p:nvPicPr>
          <p:cNvPr id="503" name="Picture 11" descr=""/>
          <p:cNvPicPr/>
          <p:nvPr/>
        </p:nvPicPr>
        <p:blipFill>
          <a:blip r:embed="rId2"/>
          <a:stretch/>
        </p:blipFill>
        <p:spPr>
          <a:xfrm>
            <a:off x="4680000" y="1511280"/>
            <a:ext cx="3820680" cy="3919320"/>
          </a:xfrm>
          <a:prstGeom prst="rect">
            <a:avLst/>
          </a:prstGeom>
          <a:noFill/>
          <a:ln w="0">
            <a:noFill/>
          </a:ln>
        </p:spPr>
      </p:pic>
      <p:pic>
        <p:nvPicPr>
          <p:cNvPr id="504" name="Picture 12" descr=""/>
          <p:cNvPicPr/>
          <p:nvPr/>
        </p:nvPicPr>
        <p:blipFill>
          <a:blip r:embed="rId3"/>
          <a:stretch/>
        </p:blipFill>
        <p:spPr>
          <a:xfrm>
            <a:off x="4680000" y="1511280"/>
            <a:ext cx="3820680" cy="3919320"/>
          </a:xfrm>
          <a:prstGeom prst="rect">
            <a:avLst/>
          </a:prstGeom>
          <a:noFill/>
          <a:ln w="0">
            <a:noFill/>
          </a:ln>
        </p:spPr>
      </p:pic>
      <p:pic>
        <p:nvPicPr>
          <p:cNvPr id="505" name="Picture 13" descr=""/>
          <p:cNvPicPr/>
          <p:nvPr/>
        </p:nvPicPr>
        <p:blipFill>
          <a:blip r:embed="rId4"/>
          <a:stretch/>
        </p:blipFill>
        <p:spPr>
          <a:xfrm>
            <a:off x="4680000" y="1511280"/>
            <a:ext cx="3820680" cy="3919320"/>
          </a:xfrm>
          <a:prstGeom prst="rect">
            <a:avLst/>
          </a:prstGeom>
          <a:noFill/>
          <a:ln w="0">
            <a:noFill/>
          </a:ln>
        </p:spPr>
      </p:pic>
      <p:pic>
        <p:nvPicPr>
          <p:cNvPr id="506" name="Picture 14" descr=""/>
          <p:cNvPicPr/>
          <p:nvPr/>
        </p:nvPicPr>
        <p:blipFill>
          <a:blip r:embed="rId5"/>
          <a:stretch/>
        </p:blipFill>
        <p:spPr>
          <a:xfrm>
            <a:off x="4680000" y="1511280"/>
            <a:ext cx="3820680" cy="3919320"/>
          </a:xfrm>
          <a:prstGeom prst="rect">
            <a:avLst/>
          </a:prstGeom>
          <a:noFill/>
          <a:ln w="0">
            <a:noFill/>
          </a:ln>
        </p:spPr>
      </p:pic>
      <p:pic>
        <p:nvPicPr>
          <p:cNvPr id="507" name="Picture 15" descr=""/>
          <p:cNvPicPr/>
          <p:nvPr/>
        </p:nvPicPr>
        <p:blipFill>
          <a:blip r:embed="rId6"/>
          <a:stretch/>
        </p:blipFill>
        <p:spPr>
          <a:xfrm>
            <a:off x="4680000" y="1511280"/>
            <a:ext cx="3820680" cy="3919320"/>
          </a:xfrm>
          <a:prstGeom prst="rect">
            <a:avLst/>
          </a:prstGeom>
          <a:noFill/>
          <a:ln w="0">
            <a:noFill/>
          </a:ln>
        </p:spPr>
      </p:pic>
    </p:spTree>
  </p:cSld>
  <p:transition spd="slow">
    <p:wipe dir="r"/>
  </p:transition>
  <p:timing>
    <p:tnLst>
      <p:par>
        <p:cTn id="1661" dur="indefinite" restart="never" nodeType="tmRoot">
          <p:childTnLst>
            <p:seq>
              <p:cTn id="1662" dur="indefinite" nodeType="mainSeq">
                <p:childTnLst>
                  <p:par>
                    <p:cTn id="1663" nodeType="clickEffect" fill="hold">
                      <p:stCondLst>
                        <p:cond delay="0"/>
                      </p:stCondLst>
                      <p:childTnLst>
                        <p:par>
                          <p:cTn id="1664" nodeType="withEffect" fill="hold">
                            <p:stCondLst>
                              <p:cond delay="0"/>
                            </p:stCondLst>
                            <p:childTnLst>
                              <p:par>
                                <p:cTn id="1665" nodeType="withEffect" fill="hold" presetClass="entr" presetID="10">
                                  <p:stCondLst>
                                    <p:cond delay="0"/>
                                  </p:stCondLst>
                                  <p:childTnLst>
                                    <p:set>
                                      <p:cBhvr>
                                        <p:cTn id="1666" dur="1" fill="hold">
                                          <p:stCondLst>
                                            <p:cond delay="0"/>
                                          </p:stCondLst>
                                        </p:cTn>
                                        <p:tgtEl>
                                          <p:spTgt spid="506"/>
                                        </p:tgtEl>
                                        <p:attrNameLst>
                                          <p:attrName>style.visibility</p:attrName>
                                        </p:attrNameLst>
                                      </p:cBhvr>
                                      <p:to>
                                        <p:strVal val="visible"/>
                                      </p:to>
                                    </p:set>
                                    <p:animEffect filter="fade" transition="in">
                                      <p:cBhvr additive="repl">
                                        <p:cTn id="1667" dur="500"/>
                                        <p:tgtEl>
                                          <p:spTgt spid="506"/>
                                        </p:tgtEl>
                                      </p:cBhvr>
                                    </p:animEffect>
                                  </p:childTnLst>
                                </p:cTn>
                              </p:par>
                            </p:childTnLst>
                          </p:cTn>
                        </p:par>
                      </p:childTnLst>
                    </p:cTn>
                  </p:par>
                  <p:par>
                    <p:cTn id="1668" nodeType="clickEffect" fill="hold">
                      <p:stCondLst>
                        <p:cond delay="indefinite"/>
                      </p:stCondLst>
                      <p:childTnLst>
                        <p:par>
                          <p:cTn id="1669" nodeType="withEffect" fill="hold">
                            <p:stCondLst>
                              <p:cond delay="0"/>
                            </p:stCondLst>
                            <p:childTnLst>
                              <p:par>
                                <p:cTn id="1670" nodeType="clickEffect" fill="hold" presetClass="entr" presetID="22" presetSubtype="8">
                                  <p:stCondLst>
                                    <p:cond delay="0"/>
                                  </p:stCondLst>
                                  <p:childTnLst>
                                    <p:set>
                                      <p:cBhvr>
                                        <p:cTn id="1671" dur="1" fill="hold">
                                          <p:stCondLst>
                                            <p:cond delay="0"/>
                                          </p:stCondLst>
                                        </p:cTn>
                                        <p:tgtEl>
                                          <p:spTgt spid="501">
                                            <p:txEl>
                                              <p:pRg st="1" end="1"/>
                                            </p:txEl>
                                          </p:spTgt>
                                        </p:tgtEl>
                                        <p:attrNameLst>
                                          <p:attrName>style.visibility</p:attrName>
                                        </p:attrNameLst>
                                      </p:cBhvr>
                                      <p:to>
                                        <p:strVal val="visible"/>
                                      </p:to>
                                    </p:set>
                                    <p:animEffect filter="wipe(left)" transition="in">
                                      <p:cBhvr additive="repl">
                                        <p:cTn id="1672" dur="500"/>
                                        <p:tgtEl>
                                          <p:spTgt spid="501">
                                            <p:txEl>
                                              <p:pRg st="1" end="1"/>
                                            </p:txEl>
                                          </p:spTgt>
                                        </p:tgtEl>
                                      </p:cBhvr>
                                    </p:animEffect>
                                  </p:childTnLst>
                                </p:cTn>
                              </p:par>
                              <p:par>
                                <p:cTn id="1673" nodeType="withEffect" fill="hold" presetClass="entr" presetID="10">
                                  <p:stCondLst>
                                    <p:cond delay="0"/>
                                  </p:stCondLst>
                                  <p:childTnLst>
                                    <p:set>
                                      <p:cBhvr>
                                        <p:cTn id="1674" dur="1" fill="hold">
                                          <p:stCondLst>
                                            <p:cond delay="0"/>
                                          </p:stCondLst>
                                        </p:cTn>
                                        <p:tgtEl>
                                          <p:spTgt spid="507"/>
                                        </p:tgtEl>
                                        <p:attrNameLst>
                                          <p:attrName>style.visibility</p:attrName>
                                        </p:attrNameLst>
                                      </p:cBhvr>
                                      <p:to>
                                        <p:strVal val="visible"/>
                                      </p:to>
                                    </p:set>
                                    <p:animEffect filter="fade" transition="in">
                                      <p:cBhvr additive="repl">
                                        <p:cTn id="1675" dur="500"/>
                                        <p:tgtEl>
                                          <p:spTgt spid="5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16.5  MONOPOLY REGULATION</a:t>
            </a:r>
            <a:endParaRPr b="0" lang="en-CA" sz="2600" strike="noStrike" u="none">
              <a:solidFill>
                <a:schemeClr val="dk1"/>
              </a:solidFill>
              <a:effectLst/>
              <a:uFillTx/>
              <a:latin typeface="Arial"/>
            </a:endParaRPr>
          </a:p>
        </p:txBody>
      </p:sp>
      <p:sp>
        <p:nvSpPr>
          <p:cNvPr id="509"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0" lang="en-US" sz="2400" strike="noStrike" u="none">
                <a:solidFill>
                  <a:schemeClr val="dk1"/>
                </a:solidFill>
                <a:effectLst/>
                <a:uFillTx/>
                <a:latin typeface="Arial"/>
                <a:ea typeface="MS Mincho"/>
              </a:rPr>
              <a:t>It is not possible to know for sure what the firm’s costs are, so regulators use one of two methods:</a:t>
            </a:r>
            <a:endParaRPr b="1" lang="en-CA" sz="24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MS Mincho"/>
              </a:rPr>
              <a:t>Rate of return regulation</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MS Mincho"/>
              </a:rPr>
              <a:t>Price cap regulation</a:t>
            </a:r>
            <a:endParaRPr b="0" lang="en-CA" sz="2400" strike="noStrike" u="none">
              <a:solidFill>
                <a:schemeClr val="dk1"/>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MS Mincho"/>
              </a:rPr>
              <a:t>Under </a:t>
            </a:r>
            <a:r>
              <a:rPr b="1" lang="en-US" sz="2400" strike="noStrike" u="none">
                <a:solidFill>
                  <a:srgbClr val="ff0000"/>
                </a:solidFill>
                <a:effectLst/>
                <a:uFillTx/>
                <a:latin typeface="Arial"/>
                <a:ea typeface="MS Mincho"/>
              </a:rPr>
              <a:t>rate of return regulation</a:t>
            </a:r>
            <a:r>
              <a:rPr b="0" lang="en-US" sz="2400" strike="noStrike" u="none">
                <a:solidFill>
                  <a:schemeClr val="dk1"/>
                </a:solidFill>
                <a:effectLst/>
                <a:uFillTx/>
                <a:latin typeface="Arial"/>
                <a:ea typeface="MS Mincho"/>
              </a:rPr>
              <a:t>, a regulated firm must set its price at a level that enables it to earn a specified target percent return on its capital.</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If the regulator could observe the firm’s true costs and be sure that the firm was minimizing cost, this type of regulation would be like average cost pricing.</a:t>
            </a:r>
            <a:endParaRPr b="1" lang="en-CA" sz="2400" strike="noStrike" u="none">
              <a:solidFill>
                <a:srgbClr val="00468f"/>
              </a:solidFill>
              <a:effectLst/>
              <a:uFillTx/>
              <a:latin typeface="Arial"/>
            </a:endParaRPr>
          </a:p>
        </p:txBody>
      </p:sp>
    </p:spTree>
  </p:cSld>
  <p:transition spd="slow">
    <p:wipe dir="r"/>
  </p:transition>
  <p:timing>
    <p:tnLst>
      <p:par>
        <p:cTn id="1676" dur="indefinite" restart="never" nodeType="tmRoot">
          <p:childTnLst>
            <p:seq>
              <p:cTn id="1677" dur="indefinite" nodeType="mainSeq">
                <p:childTnLst>
                  <p:par>
                    <p:cTn id="1678" nodeType="clickEffect" fill="hold">
                      <p:stCondLst>
                        <p:cond delay="indefinite"/>
                      </p:stCondLst>
                      <p:childTnLst>
                        <p:par>
                          <p:cTn id="1679" nodeType="withEffect" fill="hold">
                            <p:stCondLst>
                              <p:cond delay="0"/>
                            </p:stCondLst>
                            <p:childTnLst>
                              <p:par>
                                <p:cTn id="1680" nodeType="clickEffect" fill="hold" presetClass="entr" presetID="22" presetSubtype="8">
                                  <p:stCondLst>
                                    <p:cond delay="0"/>
                                  </p:stCondLst>
                                  <p:childTnLst>
                                    <p:set>
                                      <p:cBhvr>
                                        <p:cTn id="1681" dur="1" fill="hold">
                                          <p:stCondLst>
                                            <p:cond delay="0"/>
                                          </p:stCondLst>
                                        </p:cTn>
                                        <p:tgtEl>
                                          <p:spTgt spid="509">
                                            <p:txEl>
                                              <p:pRg st="1" end="1"/>
                                            </p:txEl>
                                          </p:spTgt>
                                        </p:tgtEl>
                                        <p:attrNameLst>
                                          <p:attrName>style.visibility</p:attrName>
                                        </p:attrNameLst>
                                      </p:cBhvr>
                                      <p:to>
                                        <p:strVal val="visible"/>
                                      </p:to>
                                    </p:set>
                                    <p:animEffect filter="wipe(left)" transition="in">
                                      <p:cBhvr additive="repl">
                                        <p:cTn id="1682" dur="500"/>
                                        <p:tgtEl>
                                          <p:spTgt spid="509">
                                            <p:txEl>
                                              <p:pRg st="1" end="1"/>
                                            </p:txEl>
                                          </p:spTgt>
                                        </p:tgtEl>
                                      </p:cBhvr>
                                    </p:animEffect>
                                  </p:childTnLst>
                                </p:cTn>
                              </p:par>
                            </p:childTnLst>
                          </p:cTn>
                        </p:par>
                      </p:childTnLst>
                    </p:cTn>
                  </p:par>
                  <p:par>
                    <p:cTn id="1683" nodeType="clickEffect" fill="hold">
                      <p:stCondLst>
                        <p:cond delay="indefinite"/>
                      </p:stCondLst>
                      <p:childTnLst>
                        <p:par>
                          <p:cTn id="1684" nodeType="withEffect" fill="hold">
                            <p:stCondLst>
                              <p:cond delay="0"/>
                            </p:stCondLst>
                            <p:childTnLst>
                              <p:par>
                                <p:cTn id="1685" nodeType="clickEffect" fill="hold" presetClass="entr" presetID="22" presetSubtype="8">
                                  <p:stCondLst>
                                    <p:cond delay="0"/>
                                  </p:stCondLst>
                                  <p:childTnLst>
                                    <p:set>
                                      <p:cBhvr>
                                        <p:cTn id="1686" dur="1" fill="hold">
                                          <p:stCondLst>
                                            <p:cond delay="0"/>
                                          </p:stCondLst>
                                        </p:cTn>
                                        <p:tgtEl>
                                          <p:spTgt spid="509">
                                            <p:txEl>
                                              <p:pRg st="2" end="2"/>
                                            </p:txEl>
                                          </p:spTgt>
                                        </p:tgtEl>
                                        <p:attrNameLst>
                                          <p:attrName>style.visibility</p:attrName>
                                        </p:attrNameLst>
                                      </p:cBhvr>
                                      <p:to>
                                        <p:strVal val="visible"/>
                                      </p:to>
                                    </p:set>
                                    <p:animEffect filter="wipe(left)" transition="in">
                                      <p:cBhvr additive="repl">
                                        <p:cTn id="1687" dur="500"/>
                                        <p:tgtEl>
                                          <p:spTgt spid="509">
                                            <p:txEl>
                                              <p:pRg st="2" end="2"/>
                                            </p:txEl>
                                          </p:spTgt>
                                        </p:tgtEl>
                                      </p:cBhvr>
                                    </p:animEffect>
                                  </p:childTnLst>
                                </p:cTn>
                              </p:par>
                            </p:childTnLst>
                          </p:cTn>
                        </p:par>
                      </p:childTnLst>
                    </p:cTn>
                  </p:par>
                  <p:par>
                    <p:cTn id="1688" nodeType="clickEffect" fill="hold">
                      <p:stCondLst>
                        <p:cond delay="indefinite"/>
                      </p:stCondLst>
                      <p:childTnLst>
                        <p:par>
                          <p:cTn id="1689" nodeType="withEffect" fill="hold">
                            <p:stCondLst>
                              <p:cond delay="0"/>
                            </p:stCondLst>
                            <p:childTnLst>
                              <p:par>
                                <p:cTn id="1690" nodeType="clickEffect" fill="hold" presetClass="entr" presetID="22" presetSubtype="8">
                                  <p:stCondLst>
                                    <p:cond delay="0"/>
                                  </p:stCondLst>
                                  <p:childTnLst>
                                    <p:set>
                                      <p:cBhvr>
                                        <p:cTn id="1691" dur="1" fill="hold">
                                          <p:stCondLst>
                                            <p:cond delay="0"/>
                                          </p:stCondLst>
                                        </p:cTn>
                                        <p:tgtEl>
                                          <p:spTgt spid="509">
                                            <p:txEl>
                                              <p:pRg st="3" end="3"/>
                                            </p:txEl>
                                          </p:spTgt>
                                        </p:tgtEl>
                                        <p:attrNameLst>
                                          <p:attrName>style.visibility</p:attrName>
                                        </p:attrNameLst>
                                      </p:cBhvr>
                                      <p:to>
                                        <p:strVal val="visible"/>
                                      </p:to>
                                    </p:set>
                                    <p:animEffect filter="wipe(left)" transition="in">
                                      <p:cBhvr additive="repl">
                                        <p:cTn id="1692" dur="500"/>
                                        <p:tgtEl>
                                          <p:spTgt spid="509">
                                            <p:txEl>
                                              <p:pRg st="3" end="3"/>
                                            </p:txEl>
                                          </p:spTgt>
                                        </p:tgtEl>
                                      </p:cBhvr>
                                    </p:animEffect>
                                  </p:childTnLst>
                                </p:cTn>
                              </p:par>
                            </p:childTnLst>
                          </p:cTn>
                        </p:par>
                      </p:childTnLst>
                    </p:cTn>
                  </p:par>
                  <p:par>
                    <p:cTn id="1693" nodeType="clickEffect" fill="hold">
                      <p:stCondLst>
                        <p:cond delay="indefinite"/>
                      </p:stCondLst>
                      <p:childTnLst>
                        <p:par>
                          <p:cTn id="1694" nodeType="withEffect" fill="hold">
                            <p:stCondLst>
                              <p:cond delay="0"/>
                            </p:stCondLst>
                            <p:childTnLst>
                              <p:par>
                                <p:cTn id="1695" nodeType="clickEffect" fill="hold" presetClass="entr" presetID="22" presetSubtype="8">
                                  <p:stCondLst>
                                    <p:cond delay="0"/>
                                  </p:stCondLst>
                                  <p:childTnLst>
                                    <p:set>
                                      <p:cBhvr>
                                        <p:cTn id="1696" dur="1" fill="hold">
                                          <p:stCondLst>
                                            <p:cond delay="0"/>
                                          </p:stCondLst>
                                        </p:cTn>
                                        <p:tgtEl>
                                          <p:spTgt spid="509">
                                            <p:txEl>
                                              <p:pRg st="4" end="4"/>
                                            </p:txEl>
                                          </p:spTgt>
                                        </p:tgtEl>
                                        <p:attrNameLst>
                                          <p:attrName>style.visibility</p:attrName>
                                        </p:attrNameLst>
                                      </p:cBhvr>
                                      <p:to>
                                        <p:strVal val="visible"/>
                                      </p:to>
                                    </p:set>
                                    <p:animEffect filter="wipe(left)" transition="in">
                                      <p:cBhvr additive="repl">
                                        <p:cTn id="1697" dur="500"/>
                                        <p:tgtEl>
                                          <p:spTgt spid="509">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16.5  MONOPOLY REGULATION</a:t>
            </a:r>
            <a:endParaRPr b="0" lang="en-CA" sz="2600" strike="noStrike" u="none">
              <a:solidFill>
                <a:schemeClr val="dk1"/>
              </a:solidFill>
              <a:effectLst/>
              <a:uFillTx/>
              <a:latin typeface="Arial"/>
            </a:endParaRPr>
          </a:p>
        </p:txBody>
      </p:sp>
      <p:sp>
        <p:nvSpPr>
          <p:cNvPr id="511"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1" lang="en-US" sz="2600" strike="noStrike" u="none">
                <a:solidFill>
                  <a:srgbClr val="00468f"/>
                </a:solidFill>
                <a:effectLst/>
                <a:uFillTx/>
                <a:latin typeface="Arial"/>
                <a:ea typeface="MS Mincho"/>
              </a:rPr>
              <a:t>Price Cap Regulation</a:t>
            </a:r>
            <a:endParaRPr b="1" lang="en-CA" sz="26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MS Mincho"/>
              </a:rPr>
              <a:t>A </a:t>
            </a:r>
            <a:r>
              <a:rPr b="1" lang="en-US" sz="2400" strike="noStrike" u="none">
                <a:solidFill>
                  <a:srgbClr val="ff0000"/>
                </a:solidFill>
                <a:effectLst/>
                <a:uFillTx/>
                <a:latin typeface="Arial"/>
                <a:ea typeface="MS Mincho"/>
              </a:rPr>
              <a:t>price cap regulation</a:t>
            </a:r>
            <a:r>
              <a:rPr b="0" lang="en-US" sz="2400" strike="noStrike" u="none">
                <a:solidFill>
                  <a:schemeClr val="dk1"/>
                </a:solidFill>
                <a:effectLst/>
                <a:uFillTx/>
                <a:latin typeface="Arial"/>
                <a:ea typeface="MS Mincho"/>
              </a:rPr>
              <a:t> is a price ceiling—a rule that specifies the highest price the firm is permitted to charge.</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 price cap regulation can be combined with </a:t>
            </a:r>
            <a:r>
              <a:rPr b="0" i="1" lang="en-US" sz="2400" strike="noStrike" u="none">
                <a:solidFill>
                  <a:schemeClr val="dk1"/>
                </a:solidFill>
                <a:effectLst/>
                <a:uFillTx/>
                <a:latin typeface="Arial"/>
                <a:ea typeface="ＭＳ Ｐゴシック"/>
              </a:rPr>
              <a:t>earnings sharing regulation</a:t>
            </a:r>
            <a:r>
              <a:rPr b="0" lang="en-US" sz="2400" strike="noStrike" u="none">
                <a:solidFill>
                  <a:schemeClr val="dk1"/>
                </a:solidFill>
                <a:effectLst/>
                <a:uFillTx/>
                <a:latin typeface="Arial"/>
                <a:ea typeface="ＭＳ Ｐゴシック"/>
              </a:rPr>
              <a:t>—a regulation that requires a firm to make refunds to customers if its profit rises above a target rate.</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Figure 16.13 shows how price cap regulation works.</a:t>
            </a:r>
            <a:endParaRPr b="1" lang="en-CA" sz="2400" strike="noStrike" u="none">
              <a:solidFill>
                <a:srgbClr val="00468f"/>
              </a:solidFill>
              <a:effectLst/>
              <a:uFillTx/>
              <a:latin typeface="Arial"/>
            </a:endParaRPr>
          </a:p>
        </p:txBody>
      </p:sp>
    </p:spTree>
  </p:cSld>
  <p:transition spd="slow">
    <p:wipe dir="r"/>
  </p:transition>
  <p:timing>
    <p:tnLst>
      <p:par>
        <p:cTn id="1698" dur="indefinite" restart="never" nodeType="tmRoot">
          <p:childTnLst>
            <p:seq>
              <p:cTn id="1699" dur="indefinite" nodeType="mainSeq">
                <p:childTnLst>
                  <p:par>
                    <p:cTn id="1700" nodeType="clickEffect" fill="hold">
                      <p:stCondLst>
                        <p:cond delay="indefinite"/>
                      </p:stCondLst>
                      <p:childTnLst>
                        <p:par>
                          <p:cTn id="1701" nodeType="withEffect" fill="hold">
                            <p:stCondLst>
                              <p:cond delay="0"/>
                            </p:stCondLst>
                            <p:childTnLst>
                              <p:par>
                                <p:cTn id="1702" nodeType="clickEffect" fill="hold" presetClass="entr" presetID="22" presetSubtype="8">
                                  <p:stCondLst>
                                    <p:cond delay="0"/>
                                  </p:stCondLst>
                                  <p:childTnLst>
                                    <p:set>
                                      <p:cBhvr>
                                        <p:cTn id="1703" dur="1" fill="hold">
                                          <p:stCondLst>
                                            <p:cond delay="0"/>
                                          </p:stCondLst>
                                        </p:cTn>
                                        <p:tgtEl>
                                          <p:spTgt spid="511">
                                            <p:txEl>
                                              <p:pRg st="1" end="1"/>
                                            </p:txEl>
                                          </p:spTgt>
                                        </p:tgtEl>
                                        <p:attrNameLst>
                                          <p:attrName>style.visibility</p:attrName>
                                        </p:attrNameLst>
                                      </p:cBhvr>
                                      <p:to>
                                        <p:strVal val="visible"/>
                                      </p:to>
                                    </p:set>
                                    <p:animEffect filter="wipe(left)" transition="in">
                                      <p:cBhvr additive="repl">
                                        <p:cTn id="1704" dur="500"/>
                                        <p:tgtEl>
                                          <p:spTgt spid="511">
                                            <p:txEl>
                                              <p:pRg st="1" end="1"/>
                                            </p:txEl>
                                          </p:spTgt>
                                        </p:tgtEl>
                                      </p:cBhvr>
                                    </p:animEffect>
                                  </p:childTnLst>
                                </p:cTn>
                              </p:par>
                            </p:childTnLst>
                          </p:cTn>
                        </p:par>
                      </p:childTnLst>
                    </p:cTn>
                  </p:par>
                  <p:par>
                    <p:cTn id="1705" nodeType="clickEffect" fill="hold">
                      <p:stCondLst>
                        <p:cond delay="indefinite"/>
                      </p:stCondLst>
                      <p:childTnLst>
                        <p:par>
                          <p:cTn id="1706" nodeType="withEffect" fill="hold">
                            <p:stCondLst>
                              <p:cond delay="0"/>
                            </p:stCondLst>
                            <p:childTnLst>
                              <p:par>
                                <p:cTn id="1707" nodeType="clickEffect" fill="hold" presetClass="entr" presetID="22" presetSubtype="8">
                                  <p:stCondLst>
                                    <p:cond delay="0"/>
                                  </p:stCondLst>
                                  <p:childTnLst>
                                    <p:set>
                                      <p:cBhvr>
                                        <p:cTn id="1708" dur="1" fill="hold">
                                          <p:stCondLst>
                                            <p:cond delay="0"/>
                                          </p:stCondLst>
                                        </p:cTn>
                                        <p:tgtEl>
                                          <p:spTgt spid="511">
                                            <p:txEl>
                                              <p:pRg st="2" end="2"/>
                                            </p:txEl>
                                          </p:spTgt>
                                        </p:tgtEl>
                                        <p:attrNameLst>
                                          <p:attrName>style.visibility</p:attrName>
                                        </p:attrNameLst>
                                      </p:cBhvr>
                                      <p:to>
                                        <p:strVal val="visible"/>
                                      </p:to>
                                    </p:set>
                                    <p:animEffect filter="wipe(left)" transition="in">
                                      <p:cBhvr additive="repl">
                                        <p:cTn id="1709" dur="500"/>
                                        <p:tgtEl>
                                          <p:spTgt spid="511">
                                            <p:txEl>
                                              <p:pRg st="2" end="2"/>
                                            </p:txEl>
                                          </p:spTgt>
                                        </p:tgtEl>
                                      </p:cBhvr>
                                    </p:animEffect>
                                  </p:childTnLst>
                                </p:cTn>
                              </p:par>
                            </p:childTnLst>
                          </p:cTn>
                        </p:par>
                      </p:childTnLst>
                    </p:cTn>
                  </p:par>
                  <p:par>
                    <p:cTn id="1710" nodeType="clickEffect" fill="hold">
                      <p:stCondLst>
                        <p:cond delay="indefinite"/>
                      </p:stCondLst>
                      <p:childTnLst>
                        <p:par>
                          <p:cTn id="1711" nodeType="withEffect" fill="hold">
                            <p:stCondLst>
                              <p:cond delay="0"/>
                            </p:stCondLst>
                            <p:childTnLst>
                              <p:par>
                                <p:cTn id="1712" nodeType="clickEffect" fill="hold" presetClass="entr" presetID="22" presetSubtype="8">
                                  <p:stCondLst>
                                    <p:cond delay="0"/>
                                  </p:stCondLst>
                                  <p:childTnLst>
                                    <p:set>
                                      <p:cBhvr>
                                        <p:cTn id="1713" dur="1" fill="hold">
                                          <p:stCondLst>
                                            <p:cond delay="0"/>
                                          </p:stCondLst>
                                        </p:cTn>
                                        <p:tgtEl>
                                          <p:spTgt spid="511">
                                            <p:txEl>
                                              <p:pRg st="3" end="3"/>
                                            </p:txEl>
                                          </p:spTgt>
                                        </p:tgtEl>
                                        <p:attrNameLst>
                                          <p:attrName>style.visibility</p:attrName>
                                        </p:attrNameLst>
                                      </p:cBhvr>
                                      <p:to>
                                        <p:strVal val="visible"/>
                                      </p:to>
                                    </p:set>
                                    <p:animEffect filter="wipe(left)" transition="in">
                                      <p:cBhvr additive="repl">
                                        <p:cTn id="1714" dur="500"/>
                                        <p:tgtEl>
                                          <p:spTgt spid="511">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16.5  MONOPOLY REGULATION</a:t>
            </a:r>
            <a:endParaRPr b="0" lang="en-CA" sz="2600" strike="noStrike" u="none">
              <a:solidFill>
                <a:schemeClr val="dk1"/>
              </a:solidFill>
              <a:effectLst/>
              <a:uFillTx/>
              <a:latin typeface="Arial"/>
            </a:endParaRPr>
          </a:p>
        </p:txBody>
      </p:sp>
      <p:sp>
        <p:nvSpPr>
          <p:cNvPr id="513" name="PlaceHolder 2"/>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817200" indent="-457200">
              <a:lnSpc>
                <a:spcPct val="100000"/>
              </a:lnSpc>
              <a:spcBef>
                <a:spcPts val="601"/>
              </a:spcBef>
              <a:spcAft>
                <a:spcPts val="601"/>
              </a:spcAft>
              <a:buClr>
                <a:srgbClr val="000000"/>
              </a:buClr>
              <a:buFont typeface="Arial"/>
              <a:buAutoNum type="arabicPeriod"/>
            </a:pPr>
            <a:r>
              <a:rPr b="0" lang="en-US" sz="2400" strike="noStrike" u="none">
                <a:solidFill>
                  <a:srgbClr val="000000"/>
                </a:solidFill>
                <a:effectLst/>
                <a:uFillTx/>
                <a:latin typeface="Arial"/>
                <a:ea typeface="ＭＳ Ｐゴシック"/>
              </a:rPr>
              <a:t>With no regulation, the firm maximizes profit by producing the quantity at which </a:t>
            </a:r>
            <a:r>
              <a:rPr b="0" i="1" lang="en-US" sz="2400" strike="noStrike" u="none">
                <a:solidFill>
                  <a:srgbClr val="000000"/>
                </a:solidFill>
                <a:effectLst/>
                <a:uFillTx/>
                <a:latin typeface="Arial"/>
                <a:ea typeface="ＭＳ Ｐゴシック"/>
              </a:rPr>
              <a:t>MC</a:t>
            </a:r>
            <a:r>
              <a:rPr b="0" lang="en-US" sz="2400" strike="noStrike" u="none">
                <a:solidFill>
                  <a:srgbClr val="000000"/>
                </a:solidFill>
                <a:effectLst/>
                <a:uFillTx/>
                <a:latin typeface="Arial"/>
                <a:ea typeface="ＭＳ Ｐゴシック"/>
              </a:rPr>
              <a:t> = </a:t>
            </a:r>
            <a:r>
              <a:rPr b="0" i="1" lang="en-US" sz="2400" strike="noStrike" u="none">
                <a:solidFill>
                  <a:srgbClr val="000000"/>
                </a:solidFill>
                <a:effectLst/>
                <a:uFillTx/>
                <a:latin typeface="Arial"/>
                <a:ea typeface="ＭＳ Ｐゴシック"/>
              </a:rPr>
              <a:t>MR</a:t>
            </a:r>
            <a:r>
              <a:rPr b="0" lang="en-US" sz="2400" strike="noStrike" u="none">
                <a:solidFill>
                  <a:srgbClr val="000000"/>
                </a:solidFill>
                <a:effectLst/>
                <a:uFillTx/>
                <a:latin typeface="Arial"/>
                <a:ea typeface="ＭＳ Ｐゴシック"/>
              </a:rPr>
              <a:t>.</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a:pPr>
            <a:r>
              <a:rPr b="0" lang="en-US" sz="2400" strike="noStrike" u="none">
                <a:solidFill>
                  <a:srgbClr val="000000"/>
                </a:solidFill>
                <a:effectLst/>
                <a:uFillTx/>
                <a:latin typeface="Arial"/>
                <a:ea typeface="ＭＳ Ｐゴシック"/>
              </a:rPr>
              <a:t>A price cap set at $15.</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a:pPr>
            <a:r>
              <a:rPr b="0" lang="en-US" sz="2400" strike="noStrike" u="none">
                <a:solidFill>
                  <a:srgbClr val="000000"/>
                </a:solidFill>
                <a:effectLst/>
                <a:uFillTx/>
                <a:latin typeface="Arial"/>
                <a:ea typeface="ＭＳ Ｐゴシック"/>
              </a:rPr>
              <a:t>The price cap outcome is at the intersection of the demand curve and the price cap.</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a:pPr>
            <a:r>
              <a:rPr b="0" lang="en-US" sz="2400" strike="noStrike" u="none">
                <a:solidFill>
                  <a:srgbClr val="000000"/>
                </a:solidFill>
                <a:effectLst/>
                <a:uFillTx/>
                <a:latin typeface="Arial"/>
                <a:ea typeface="ＭＳ Ｐゴシック"/>
              </a:rPr>
              <a:t>The price falls and output increases.</a:t>
            </a:r>
            <a:endParaRPr b="1" lang="en-CA" sz="2400" strike="noStrike" u="none">
              <a:solidFill>
                <a:srgbClr val="00468f"/>
              </a:solidFill>
              <a:effectLst/>
              <a:uFillTx/>
              <a:latin typeface="Arial"/>
            </a:endParaRPr>
          </a:p>
        </p:txBody>
      </p:sp>
      <p:pic>
        <p:nvPicPr>
          <p:cNvPr id="514" name="Picture 1" descr=""/>
          <p:cNvPicPr/>
          <p:nvPr/>
        </p:nvPicPr>
        <p:blipFill>
          <a:blip r:embed="rId1"/>
          <a:stretch/>
        </p:blipFill>
        <p:spPr>
          <a:xfrm>
            <a:off x="4572000" y="1511280"/>
            <a:ext cx="3812760" cy="3919320"/>
          </a:xfrm>
          <a:prstGeom prst="rect">
            <a:avLst/>
          </a:prstGeom>
          <a:noFill/>
          <a:ln w="0">
            <a:noFill/>
          </a:ln>
        </p:spPr>
      </p:pic>
      <p:pic>
        <p:nvPicPr>
          <p:cNvPr id="515" name="Picture 21" descr=""/>
          <p:cNvPicPr/>
          <p:nvPr/>
        </p:nvPicPr>
        <p:blipFill>
          <a:blip r:embed="rId2"/>
          <a:stretch/>
        </p:blipFill>
        <p:spPr>
          <a:xfrm>
            <a:off x="4572000" y="1511280"/>
            <a:ext cx="3812760" cy="3919320"/>
          </a:xfrm>
          <a:prstGeom prst="rect">
            <a:avLst/>
          </a:prstGeom>
          <a:noFill/>
          <a:ln w="0">
            <a:noFill/>
          </a:ln>
        </p:spPr>
      </p:pic>
      <p:pic>
        <p:nvPicPr>
          <p:cNvPr id="516" name="Picture 22" descr=""/>
          <p:cNvPicPr/>
          <p:nvPr/>
        </p:nvPicPr>
        <p:blipFill>
          <a:blip r:embed="rId3"/>
          <a:stretch/>
        </p:blipFill>
        <p:spPr>
          <a:xfrm>
            <a:off x="4572000" y="1511280"/>
            <a:ext cx="3812760" cy="3919320"/>
          </a:xfrm>
          <a:prstGeom prst="rect">
            <a:avLst/>
          </a:prstGeom>
          <a:noFill/>
          <a:ln w="0">
            <a:noFill/>
          </a:ln>
        </p:spPr>
      </p:pic>
      <p:pic>
        <p:nvPicPr>
          <p:cNvPr id="517" name="Picture 23" descr=""/>
          <p:cNvPicPr/>
          <p:nvPr/>
        </p:nvPicPr>
        <p:blipFill>
          <a:blip r:embed="rId4"/>
          <a:stretch/>
        </p:blipFill>
        <p:spPr>
          <a:xfrm>
            <a:off x="4572000" y="1511280"/>
            <a:ext cx="3812760" cy="3919320"/>
          </a:xfrm>
          <a:prstGeom prst="rect">
            <a:avLst/>
          </a:prstGeom>
          <a:noFill/>
          <a:ln w="0">
            <a:noFill/>
          </a:ln>
        </p:spPr>
      </p:pic>
      <p:pic>
        <p:nvPicPr>
          <p:cNvPr id="518" name="Picture 24" descr=""/>
          <p:cNvPicPr/>
          <p:nvPr/>
        </p:nvPicPr>
        <p:blipFill>
          <a:blip r:embed="rId5"/>
          <a:stretch/>
        </p:blipFill>
        <p:spPr>
          <a:xfrm>
            <a:off x="4572000" y="1511280"/>
            <a:ext cx="3812760" cy="3919320"/>
          </a:xfrm>
          <a:prstGeom prst="rect">
            <a:avLst/>
          </a:prstGeom>
          <a:noFill/>
          <a:ln w="0">
            <a:noFill/>
          </a:ln>
        </p:spPr>
      </p:pic>
      <p:pic>
        <p:nvPicPr>
          <p:cNvPr id="519" name="Picture 25" descr=""/>
          <p:cNvPicPr/>
          <p:nvPr/>
        </p:nvPicPr>
        <p:blipFill>
          <a:blip r:embed="rId6"/>
          <a:stretch/>
        </p:blipFill>
        <p:spPr>
          <a:xfrm>
            <a:off x="4572000" y="1511280"/>
            <a:ext cx="3812760" cy="3919320"/>
          </a:xfrm>
          <a:prstGeom prst="rect">
            <a:avLst/>
          </a:prstGeom>
          <a:noFill/>
          <a:ln w="0">
            <a:noFill/>
          </a:ln>
        </p:spPr>
      </p:pic>
      <p:pic>
        <p:nvPicPr>
          <p:cNvPr id="520" name="Picture 26" descr=""/>
          <p:cNvPicPr/>
          <p:nvPr/>
        </p:nvPicPr>
        <p:blipFill>
          <a:blip r:embed="rId7"/>
          <a:stretch/>
        </p:blipFill>
        <p:spPr>
          <a:xfrm>
            <a:off x="4572000" y="1511280"/>
            <a:ext cx="3812760" cy="3919320"/>
          </a:xfrm>
          <a:prstGeom prst="rect">
            <a:avLst/>
          </a:prstGeom>
          <a:noFill/>
          <a:ln w="0">
            <a:noFill/>
          </a:ln>
        </p:spPr>
      </p:pic>
    </p:spTree>
  </p:cSld>
  <p:transition spd="slow">
    <p:wipe dir="r"/>
  </p:transition>
  <p:timing>
    <p:tnLst>
      <p:par>
        <p:cTn id="1715" dur="indefinite" restart="never" nodeType="tmRoot">
          <p:childTnLst>
            <p:seq>
              <p:cTn id="1716" dur="indefinite" nodeType="mainSeq">
                <p:childTnLst>
                  <p:par>
                    <p:cTn id="1717" nodeType="clickEffect" fill="hold">
                      <p:stCondLst>
                        <p:cond delay="0"/>
                      </p:stCondLst>
                      <p:childTnLst>
                        <p:par>
                          <p:cTn id="1718" nodeType="withEffect" fill="hold">
                            <p:stCondLst>
                              <p:cond delay="0"/>
                            </p:stCondLst>
                            <p:childTnLst>
                              <p:par>
                                <p:cTn id="1719" nodeType="withEffect" fill="hold" presetClass="entr" presetID="10">
                                  <p:stCondLst>
                                    <p:cond delay="0"/>
                                  </p:stCondLst>
                                  <p:childTnLst>
                                    <p:set>
                                      <p:cBhvr>
                                        <p:cTn id="1720" dur="1" fill="hold">
                                          <p:stCondLst>
                                            <p:cond delay="0"/>
                                          </p:stCondLst>
                                        </p:cTn>
                                        <p:tgtEl>
                                          <p:spTgt spid="516"/>
                                        </p:tgtEl>
                                        <p:attrNameLst>
                                          <p:attrName>style.visibility</p:attrName>
                                        </p:attrNameLst>
                                      </p:cBhvr>
                                      <p:to>
                                        <p:strVal val="visible"/>
                                      </p:to>
                                    </p:set>
                                    <p:animEffect filter="fade" transition="in">
                                      <p:cBhvr additive="repl">
                                        <p:cTn id="1721" dur="500"/>
                                        <p:tgtEl>
                                          <p:spTgt spid="516"/>
                                        </p:tgtEl>
                                      </p:cBhvr>
                                    </p:animEffect>
                                  </p:childTnLst>
                                </p:cTn>
                              </p:par>
                            </p:childTnLst>
                          </p:cTn>
                        </p:par>
                      </p:childTnLst>
                    </p:cTn>
                  </p:par>
                  <p:par>
                    <p:cTn id="1722" nodeType="clickEffect" fill="hold">
                      <p:stCondLst>
                        <p:cond delay="indefinite"/>
                      </p:stCondLst>
                      <p:childTnLst>
                        <p:par>
                          <p:cTn id="1723" nodeType="withEffect" fill="hold">
                            <p:stCondLst>
                              <p:cond delay="0"/>
                            </p:stCondLst>
                            <p:childTnLst>
                              <p:par>
                                <p:cTn id="1724" nodeType="clickEffect" fill="hold" presetClass="entr" presetID="22" presetSubtype="8">
                                  <p:stCondLst>
                                    <p:cond delay="0"/>
                                  </p:stCondLst>
                                  <p:childTnLst>
                                    <p:set>
                                      <p:cBhvr>
                                        <p:cTn id="1725" dur="1" fill="hold">
                                          <p:stCondLst>
                                            <p:cond delay="0"/>
                                          </p:stCondLst>
                                        </p:cTn>
                                        <p:tgtEl>
                                          <p:spTgt spid="513">
                                            <p:txEl>
                                              <p:pRg st="1" end="1"/>
                                            </p:txEl>
                                          </p:spTgt>
                                        </p:tgtEl>
                                        <p:attrNameLst>
                                          <p:attrName>style.visibility</p:attrName>
                                        </p:attrNameLst>
                                      </p:cBhvr>
                                      <p:to>
                                        <p:strVal val="visible"/>
                                      </p:to>
                                    </p:set>
                                    <p:animEffect filter="wipe(left)" transition="in">
                                      <p:cBhvr additive="repl">
                                        <p:cTn id="1726" dur="500"/>
                                        <p:tgtEl>
                                          <p:spTgt spid="513">
                                            <p:txEl>
                                              <p:pRg st="1" end="1"/>
                                            </p:txEl>
                                          </p:spTgt>
                                        </p:tgtEl>
                                      </p:cBhvr>
                                    </p:animEffect>
                                  </p:childTnLst>
                                </p:cTn>
                              </p:par>
                              <p:par>
                                <p:cTn id="1727" nodeType="withEffect" fill="hold" presetClass="entr" presetID="22" presetSubtype="8">
                                  <p:stCondLst>
                                    <p:cond delay="0"/>
                                  </p:stCondLst>
                                  <p:childTnLst>
                                    <p:set>
                                      <p:cBhvr>
                                        <p:cTn id="1728" dur="1" fill="hold">
                                          <p:stCondLst>
                                            <p:cond delay="0"/>
                                          </p:stCondLst>
                                        </p:cTn>
                                        <p:tgtEl>
                                          <p:spTgt spid="517"/>
                                        </p:tgtEl>
                                        <p:attrNameLst>
                                          <p:attrName>style.visibility</p:attrName>
                                        </p:attrNameLst>
                                      </p:cBhvr>
                                      <p:to>
                                        <p:strVal val="visible"/>
                                      </p:to>
                                    </p:set>
                                    <p:animEffect filter="wipe(left)" transition="in">
                                      <p:cBhvr additive="repl">
                                        <p:cTn id="1729" dur="1000"/>
                                        <p:tgtEl>
                                          <p:spTgt spid="517"/>
                                        </p:tgtEl>
                                      </p:cBhvr>
                                    </p:animEffect>
                                  </p:childTnLst>
                                </p:cTn>
                              </p:par>
                            </p:childTnLst>
                          </p:cTn>
                        </p:par>
                      </p:childTnLst>
                    </p:cTn>
                  </p:par>
                  <p:par>
                    <p:cTn id="1730" nodeType="clickEffect" fill="hold">
                      <p:stCondLst>
                        <p:cond delay="indefinite"/>
                      </p:stCondLst>
                      <p:childTnLst>
                        <p:par>
                          <p:cTn id="1731" nodeType="withEffect" fill="hold">
                            <p:stCondLst>
                              <p:cond delay="0"/>
                            </p:stCondLst>
                            <p:childTnLst>
                              <p:par>
                                <p:cTn id="1732" nodeType="clickEffect" fill="hold" presetClass="entr" presetID="22" presetSubtype="8">
                                  <p:stCondLst>
                                    <p:cond delay="0"/>
                                  </p:stCondLst>
                                  <p:childTnLst>
                                    <p:set>
                                      <p:cBhvr>
                                        <p:cTn id="1733" dur="1" fill="hold">
                                          <p:stCondLst>
                                            <p:cond delay="0"/>
                                          </p:stCondLst>
                                        </p:cTn>
                                        <p:tgtEl>
                                          <p:spTgt spid="513">
                                            <p:txEl>
                                              <p:pRg st="2" end="2"/>
                                            </p:txEl>
                                          </p:spTgt>
                                        </p:tgtEl>
                                        <p:attrNameLst>
                                          <p:attrName>style.visibility</p:attrName>
                                        </p:attrNameLst>
                                      </p:cBhvr>
                                      <p:to>
                                        <p:strVal val="visible"/>
                                      </p:to>
                                    </p:set>
                                    <p:animEffect filter="wipe(left)" transition="in">
                                      <p:cBhvr additive="repl">
                                        <p:cTn id="1734" dur="500"/>
                                        <p:tgtEl>
                                          <p:spTgt spid="513">
                                            <p:txEl>
                                              <p:pRg st="2" end="2"/>
                                            </p:txEl>
                                          </p:spTgt>
                                        </p:tgtEl>
                                      </p:cBhvr>
                                    </p:animEffect>
                                  </p:childTnLst>
                                </p:cTn>
                              </p:par>
                              <p:par>
                                <p:cTn id="1735" nodeType="withEffect" fill="hold" presetClass="entr" presetID="10">
                                  <p:stCondLst>
                                    <p:cond delay="0"/>
                                  </p:stCondLst>
                                  <p:childTnLst>
                                    <p:set>
                                      <p:cBhvr>
                                        <p:cTn id="1736" dur="1" fill="hold">
                                          <p:stCondLst>
                                            <p:cond delay="0"/>
                                          </p:stCondLst>
                                        </p:cTn>
                                        <p:tgtEl>
                                          <p:spTgt spid="518"/>
                                        </p:tgtEl>
                                        <p:attrNameLst>
                                          <p:attrName>style.visibility</p:attrName>
                                        </p:attrNameLst>
                                      </p:cBhvr>
                                      <p:to>
                                        <p:strVal val="visible"/>
                                      </p:to>
                                    </p:set>
                                    <p:animEffect filter="fade" transition="in">
                                      <p:cBhvr additive="repl">
                                        <p:cTn id="1737" dur="500"/>
                                        <p:tgtEl>
                                          <p:spTgt spid="518"/>
                                        </p:tgtEl>
                                      </p:cBhvr>
                                    </p:animEffect>
                                  </p:childTnLst>
                                </p:cTn>
                              </p:par>
                            </p:childTnLst>
                          </p:cTn>
                        </p:par>
                      </p:childTnLst>
                    </p:cTn>
                  </p:par>
                  <p:par>
                    <p:cTn id="1738" nodeType="clickEffect" fill="hold">
                      <p:stCondLst>
                        <p:cond delay="indefinite"/>
                      </p:stCondLst>
                      <p:childTnLst>
                        <p:par>
                          <p:cTn id="1739" nodeType="withEffect" fill="hold">
                            <p:stCondLst>
                              <p:cond delay="0"/>
                            </p:stCondLst>
                            <p:childTnLst>
                              <p:par>
                                <p:cTn id="1740" nodeType="clickEffect" fill="hold" presetClass="entr" presetID="22" presetSubtype="8">
                                  <p:stCondLst>
                                    <p:cond delay="0"/>
                                  </p:stCondLst>
                                  <p:childTnLst>
                                    <p:set>
                                      <p:cBhvr>
                                        <p:cTn id="1741" dur="1" fill="hold">
                                          <p:stCondLst>
                                            <p:cond delay="0"/>
                                          </p:stCondLst>
                                        </p:cTn>
                                        <p:tgtEl>
                                          <p:spTgt spid="513">
                                            <p:txEl>
                                              <p:pRg st="3" end="3"/>
                                            </p:txEl>
                                          </p:spTgt>
                                        </p:tgtEl>
                                        <p:attrNameLst>
                                          <p:attrName>style.visibility</p:attrName>
                                        </p:attrNameLst>
                                      </p:cBhvr>
                                      <p:to>
                                        <p:strVal val="visible"/>
                                      </p:to>
                                    </p:set>
                                    <p:animEffect filter="wipe(left)" transition="in">
                                      <p:cBhvr additive="repl">
                                        <p:cTn id="1742" dur="500"/>
                                        <p:tgtEl>
                                          <p:spTgt spid="513">
                                            <p:txEl>
                                              <p:pRg st="3" end="3"/>
                                            </p:txEl>
                                          </p:spTgt>
                                        </p:tgtEl>
                                      </p:cBhvr>
                                    </p:animEffect>
                                  </p:childTnLst>
                                </p:cTn>
                              </p:par>
                              <p:par>
                                <p:cTn id="1743" nodeType="withEffect" fill="hold" presetClass="entr" presetID="22" presetSubtype="1">
                                  <p:stCondLst>
                                    <p:cond delay="0"/>
                                  </p:stCondLst>
                                  <p:childTnLst>
                                    <p:set>
                                      <p:cBhvr>
                                        <p:cTn id="1744" dur="1" fill="hold">
                                          <p:stCondLst>
                                            <p:cond delay="0"/>
                                          </p:stCondLst>
                                        </p:cTn>
                                        <p:tgtEl>
                                          <p:spTgt spid="519"/>
                                        </p:tgtEl>
                                        <p:attrNameLst>
                                          <p:attrName>style.visibility</p:attrName>
                                        </p:attrNameLst>
                                      </p:cBhvr>
                                      <p:to>
                                        <p:strVal val="visible"/>
                                      </p:to>
                                    </p:set>
                                    <p:animEffect filter="wipe(up)" transition="in">
                                      <p:cBhvr additive="repl">
                                        <p:cTn id="1745" dur="1000"/>
                                        <p:tgtEl>
                                          <p:spTgt spid="519"/>
                                        </p:tgtEl>
                                      </p:cBhvr>
                                    </p:animEffect>
                                  </p:childTnLst>
                                </p:cTn>
                              </p:par>
                              <p:par>
                                <p:cTn id="1746" nodeType="withEffect" fill="hold" presetClass="entr" presetID="22" presetSubtype="8">
                                  <p:stCondLst>
                                    <p:cond delay="600"/>
                                  </p:stCondLst>
                                  <p:childTnLst>
                                    <p:set>
                                      <p:cBhvr>
                                        <p:cTn id="1747" dur="1" fill="hold">
                                          <p:stCondLst>
                                            <p:cond delay="0"/>
                                          </p:stCondLst>
                                        </p:cTn>
                                        <p:tgtEl>
                                          <p:spTgt spid="520"/>
                                        </p:tgtEl>
                                        <p:attrNameLst>
                                          <p:attrName>style.visibility</p:attrName>
                                        </p:attrNameLst>
                                      </p:cBhvr>
                                      <p:to>
                                        <p:strVal val="visible"/>
                                      </p:to>
                                    </p:set>
                                    <p:animEffect filter="wipe(left)" transition="in">
                                      <p:cBhvr additive="repl">
                                        <p:cTn id="1748" dur="1000"/>
                                        <p:tgtEl>
                                          <p:spTgt spid="5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521" name="Picture 1" descr=""/>
          <p:cNvPicPr/>
          <p:nvPr/>
        </p:nvPicPr>
        <p:blipFill>
          <a:blip r:embed="rId1"/>
          <a:stretch/>
        </p:blipFill>
        <p:spPr>
          <a:xfrm>
            <a:off x="2124000" y="792000"/>
            <a:ext cx="4485960" cy="4609800"/>
          </a:xfrm>
          <a:prstGeom prst="rect">
            <a:avLst/>
          </a:prstGeom>
          <a:noFill/>
          <a:ln w="0">
            <a:noFill/>
          </a:ln>
        </p:spPr>
      </p:pic>
      <p:pic>
        <p:nvPicPr>
          <p:cNvPr id="522" name="Picture 15" descr=""/>
          <p:cNvPicPr/>
          <p:nvPr/>
        </p:nvPicPr>
        <p:blipFill>
          <a:blip r:embed="rId2"/>
          <a:stretch/>
        </p:blipFill>
        <p:spPr>
          <a:xfrm>
            <a:off x="2124000" y="792000"/>
            <a:ext cx="4485960" cy="4609800"/>
          </a:xfrm>
          <a:prstGeom prst="rect">
            <a:avLst/>
          </a:prstGeom>
          <a:noFill/>
          <a:ln w="0">
            <a:noFill/>
          </a:ln>
        </p:spPr>
      </p:pic>
      <p:pic>
        <p:nvPicPr>
          <p:cNvPr id="523" name="Picture 16" descr=""/>
          <p:cNvPicPr/>
          <p:nvPr/>
        </p:nvPicPr>
        <p:blipFill>
          <a:blip r:embed="rId3"/>
          <a:stretch/>
        </p:blipFill>
        <p:spPr>
          <a:xfrm>
            <a:off x="2124000" y="792000"/>
            <a:ext cx="4485960" cy="4609800"/>
          </a:xfrm>
          <a:prstGeom prst="rect">
            <a:avLst/>
          </a:prstGeom>
          <a:noFill/>
          <a:ln w="0">
            <a:noFill/>
          </a:ln>
        </p:spPr>
      </p:pic>
      <p:pic>
        <p:nvPicPr>
          <p:cNvPr id="524" name="Picture 17" descr=""/>
          <p:cNvPicPr/>
          <p:nvPr/>
        </p:nvPicPr>
        <p:blipFill>
          <a:blip r:embed="rId4"/>
          <a:stretch/>
        </p:blipFill>
        <p:spPr>
          <a:xfrm>
            <a:off x="2124000" y="792000"/>
            <a:ext cx="4485960" cy="4609800"/>
          </a:xfrm>
          <a:prstGeom prst="rect">
            <a:avLst/>
          </a:prstGeom>
          <a:noFill/>
          <a:ln w="0">
            <a:noFill/>
          </a:ln>
        </p:spPr>
      </p:pic>
      <p:pic>
        <p:nvPicPr>
          <p:cNvPr id="525" name="Picture 18" descr=""/>
          <p:cNvPicPr/>
          <p:nvPr/>
        </p:nvPicPr>
        <p:blipFill>
          <a:blip r:embed="rId5"/>
          <a:stretch/>
        </p:blipFill>
        <p:spPr>
          <a:xfrm>
            <a:off x="2124000" y="792000"/>
            <a:ext cx="4485960" cy="4609800"/>
          </a:xfrm>
          <a:prstGeom prst="rect">
            <a:avLst/>
          </a:prstGeom>
          <a:noFill/>
          <a:ln w="0">
            <a:noFill/>
          </a:ln>
        </p:spPr>
      </p:pic>
      <p:pic>
        <p:nvPicPr>
          <p:cNvPr id="526" name="Picture 19" descr=""/>
          <p:cNvPicPr/>
          <p:nvPr/>
        </p:nvPicPr>
        <p:blipFill>
          <a:blip r:embed="rId6"/>
          <a:stretch/>
        </p:blipFill>
        <p:spPr>
          <a:xfrm>
            <a:off x="2124000" y="792000"/>
            <a:ext cx="4485960" cy="4609800"/>
          </a:xfrm>
          <a:prstGeom prst="rect">
            <a:avLst/>
          </a:prstGeom>
          <a:noFill/>
          <a:ln w="0">
            <a:noFill/>
          </a:ln>
        </p:spPr>
      </p:pic>
      <p:pic>
        <p:nvPicPr>
          <p:cNvPr id="527" name="Picture 20" descr=""/>
          <p:cNvPicPr/>
          <p:nvPr/>
        </p:nvPicPr>
        <p:blipFill>
          <a:blip r:embed="rId7"/>
          <a:stretch/>
        </p:blipFill>
        <p:spPr>
          <a:xfrm>
            <a:off x="2124000" y="792000"/>
            <a:ext cx="4485960" cy="4609800"/>
          </a:xfrm>
          <a:prstGeom prst="rect">
            <a:avLst/>
          </a:prstGeom>
          <a:noFill/>
          <a:ln w="0">
            <a:noFill/>
          </a:ln>
        </p:spPr>
      </p:pic>
    </p:spTree>
  </p:cSld>
  <p:transition spd="slow">
    <p:wipe dir="r"/>
  </p:transition>
  <p:timing>
    <p:tnLst>
      <p:par>
        <p:cTn id="1749" dur="indefinite" restart="never" nodeType="tmRoot">
          <p:childTnLst>
            <p:seq>
              <p:cTn id="1750" dur="indefinite" nodeType="mainSeq">
                <p:childTnLst>
                  <p:par>
                    <p:cTn id="1751" nodeType="clickEffect" fill="hold">
                      <p:stCondLst>
                        <p:cond delay="indefinite"/>
                      </p:stCondLst>
                      <p:childTnLst>
                        <p:par>
                          <p:cTn id="1752" nodeType="withEffect" fill="hold">
                            <p:stCondLst>
                              <p:cond delay="0"/>
                            </p:stCondLst>
                            <p:childTnLst>
                              <p:par>
                                <p:cTn id="1753" nodeType="clickEffect" fill="hold" presetClass="entr" presetID="22" presetSubtype="8">
                                  <p:stCondLst>
                                    <p:cond delay="0"/>
                                  </p:stCondLst>
                                  <p:childTnLst>
                                    <p:set>
                                      <p:cBhvr>
                                        <p:cTn id="1754" dur="1" fill="hold">
                                          <p:stCondLst>
                                            <p:cond delay="0"/>
                                          </p:stCondLst>
                                        </p:cTn>
                                        <p:tgtEl>
                                          <p:spTgt spid="522"/>
                                        </p:tgtEl>
                                        <p:attrNameLst>
                                          <p:attrName>style.visibility</p:attrName>
                                        </p:attrNameLst>
                                      </p:cBhvr>
                                      <p:to>
                                        <p:strVal val="visible"/>
                                      </p:to>
                                    </p:set>
                                    <p:animEffect filter="wipe(left)" transition="in">
                                      <p:cBhvr additive="repl">
                                        <p:cTn id="1755" dur="1000"/>
                                        <p:tgtEl>
                                          <p:spTgt spid="522"/>
                                        </p:tgtEl>
                                      </p:cBhvr>
                                    </p:animEffect>
                                  </p:childTnLst>
                                </p:cTn>
                              </p:par>
                            </p:childTnLst>
                          </p:cTn>
                        </p:par>
                      </p:childTnLst>
                    </p:cTn>
                  </p:par>
                  <p:par>
                    <p:cTn id="1756" nodeType="clickEffect" fill="hold">
                      <p:stCondLst>
                        <p:cond delay="indefinite"/>
                      </p:stCondLst>
                      <p:childTnLst>
                        <p:par>
                          <p:cTn id="1757" nodeType="withEffect" fill="hold">
                            <p:stCondLst>
                              <p:cond delay="0"/>
                            </p:stCondLst>
                            <p:childTnLst>
                              <p:par>
                                <p:cTn id="1758" nodeType="clickEffect" fill="hold" presetClass="entr" presetID="10">
                                  <p:stCondLst>
                                    <p:cond delay="0"/>
                                  </p:stCondLst>
                                  <p:childTnLst>
                                    <p:set>
                                      <p:cBhvr>
                                        <p:cTn id="1759" dur="1" fill="hold">
                                          <p:stCondLst>
                                            <p:cond delay="0"/>
                                          </p:stCondLst>
                                        </p:cTn>
                                        <p:tgtEl>
                                          <p:spTgt spid="523"/>
                                        </p:tgtEl>
                                        <p:attrNameLst>
                                          <p:attrName>style.visibility</p:attrName>
                                        </p:attrNameLst>
                                      </p:cBhvr>
                                      <p:to>
                                        <p:strVal val="visible"/>
                                      </p:to>
                                    </p:set>
                                    <p:animEffect filter="fade" transition="in">
                                      <p:cBhvr additive="repl">
                                        <p:cTn id="1760" dur="500"/>
                                        <p:tgtEl>
                                          <p:spTgt spid="523"/>
                                        </p:tgtEl>
                                      </p:cBhvr>
                                    </p:animEffect>
                                  </p:childTnLst>
                                </p:cTn>
                              </p:par>
                            </p:childTnLst>
                          </p:cTn>
                        </p:par>
                      </p:childTnLst>
                    </p:cTn>
                  </p:par>
                  <p:par>
                    <p:cTn id="1761" nodeType="clickEffect" fill="hold">
                      <p:stCondLst>
                        <p:cond delay="indefinite"/>
                      </p:stCondLst>
                      <p:childTnLst>
                        <p:par>
                          <p:cTn id="1762" nodeType="withEffect" fill="hold">
                            <p:stCondLst>
                              <p:cond delay="0"/>
                            </p:stCondLst>
                            <p:childTnLst>
                              <p:par>
                                <p:cTn id="1763" nodeType="clickEffect" fill="hold" presetClass="entr" presetID="22" presetSubtype="8">
                                  <p:stCondLst>
                                    <p:cond delay="0"/>
                                  </p:stCondLst>
                                  <p:childTnLst>
                                    <p:set>
                                      <p:cBhvr>
                                        <p:cTn id="1764" dur="1" fill="hold">
                                          <p:stCondLst>
                                            <p:cond delay="0"/>
                                          </p:stCondLst>
                                        </p:cTn>
                                        <p:tgtEl>
                                          <p:spTgt spid="524"/>
                                        </p:tgtEl>
                                        <p:attrNameLst>
                                          <p:attrName>style.visibility</p:attrName>
                                        </p:attrNameLst>
                                      </p:cBhvr>
                                      <p:to>
                                        <p:strVal val="visible"/>
                                      </p:to>
                                    </p:set>
                                    <p:animEffect filter="wipe(left)" transition="in">
                                      <p:cBhvr additive="repl">
                                        <p:cTn id="1765" dur="1000"/>
                                        <p:tgtEl>
                                          <p:spTgt spid="524"/>
                                        </p:tgtEl>
                                      </p:cBhvr>
                                    </p:animEffect>
                                  </p:childTnLst>
                                </p:cTn>
                              </p:par>
                            </p:childTnLst>
                          </p:cTn>
                        </p:par>
                      </p:childTnLst>
                    </p:cTn>
                  </p:par>
                  <p:par>
                    <p:cTn id="1766" nodeType="clickEffect" fill="hold">
                      <p:stCondLst>
                        <p:cond delay="indefinite"/>
                      </p:stCondLst>
                      <p:childTnLst>
                        <p:par>
                          <p:cTn id="1767" nodeType="withEffect" fill="hold">
                            <p:stCondLst>
                              <p:cond delay="0"/>
                            </p:stCondLst>
                            <p:childTnLst>
                              <p:par>
                                <p:cTn id="1768" nodeType="clickEffect" fill="hold" presetClass="entr" presetID="10">
                                  <p:stCondLst>
                                    <p:cond delay="0"/>
                                  </p:stCondLst>
                                  <p:childTnLst>
                                    <p:set>
                                      <p:cBhvr>
                                        <p:cTn id="1769" dur="1" fill="hold">
                                          <p:stCondLst>
                                            <p:cond delay="0"/>
                                          </p:stCondLst>
                                        </p:cTn>
                                        <p:tgtEl>
                                          <p:spTgt spid="525"/>
                                        </p:tgtEl>
                                        <p:attrNameLst>
                                          <p:attrName>style.visibility</p:attrName>
                                        </p:attrNameLst>
                                      </p:cBhvr>
                                      <p:to>
                                        <p:strVal val="visible"/>
                                      </p:to>
                                    </p:set>
                                    <p:animEffect filter="fade" transition="in">
                                      <p:cBhvr additive="repl">
                                        <p:cTn id="1770" dur="500"/>
                                        <p:tgtEl>
                                          <p:spTgt spid="525"/>
                                        </p:tgtEl>
                                      </p:cBhvr>
                                    </p:animEffect>
                                  </p:childTnLst>
                                </p:cTn>
                              </p:par>
                            </p:childTnLst>
                          </p:cTn>
                        </p:par>
                      </p:childTnLst>
                    </p:cTn>
                  </p:par>
                  <p:par>
                    <p:cTn id="1771" nodeType="clickEffect" fill="hold">
                      <p:stCondLst>
                        <p:cond delay="indefinite"/>
                      </p:stCondLst>
                      <p:childTnLst>
                        <p:par>
                          <p:cTn id="1772" nodeType="withEffect" fill="hold">
                            <p:stCondLst>
                              <p:cond delay="0"/>
                            </p:stCondLst>
                            <p:childTnLst>
                              <p:par>
                                <p:cTn id="1773" nodeType="clickEffect" fill="hold" presetClass="entr" presetID="22" presetSubtype="1">
                                  <p:stCondLst>
                                    <p:cond delay="0"/>
                                  </p:stCondLst>
                                  <p:childTnLst>
                                    <p:set>
                                      <p:cBhvr>
                                        <p:cTn id="1774" dur="1" fill="hold">
                                          <p:stCondLst>
                                            <p:cond delay="0"/>
                                          </p:stCondLst>
                                        </p:cTn>
                                        <p:tgtEl>
                                          <p:spTgt spid="526"/>
                                        </p:tgtEl>
                                        <p:attrNameLst>
                                          <p:attrName>style.visibility</p:attrName>
                                        </p:attrNameLst>
                                      </p:cBhvr>
                                      <p:to>
                                        <p:strVal val="visible"/>
                                      </p:to>
                                    </p:set>
                                    <p:animEffect filter="wipe(up)" transition="in">
                                      <p:cBhvr additive="repl">
                                        <p:cTn id="1775" dur="1000"/>
                                        <p:tgtEl>
                                          <p:spTgt spid="526"/>
                                        </p:tgtEl>
                                      </p:cBhvr>
                                    </p:animEffect>
                                  </p:childTnLst>
                                </p:cTn>
                              </p:par>
                            </p:childTnLst>
                          </p:cTn>
                        </p:par>
                      </p:childTnLst>
                    </p:cTn>
                  </p:par>
                  <p:par>
                    <p:cTn id="1776" nodeType="clickEffect" fill="hold">
                      <p:stCondLst>
                        <p:cond delay="indefinite"/>
                      </p:stCondLst>
                      <p:childTnLst>
                        <p:par>
                          <p:cTn id="1777" nodeType="withEffect" fill="hold">
                            <p:stCondLst>
                              <p:cond delay="0"/>
                            </p:stCondLst>
                            <p:childTnLst>
                              <p:par>
                                <p:cTn id="1778" nodeType="clickEffect" fill="hold" presetClass="entr" presetID="22" presetSubtype="8">
                                  <p:stCondLst>
                                    <p:cond delay="0"/>
                                  </p:stCondLst>
                                  <p:childTnLst>
                                    <p:set>
                                      <p:cBhvr>
                                        <p:cTn id="1779" dur="1" fill="hold">
                                          <p:stCondLst>
                                            <p:cond delay="0"/>
                                          </p:stCondLst>
                                        </p:cTn>
                                        <p:tgtEl>
                                          <p:spTgt spid="527"/>
                                        </p:tgtEl>
                                        <p:attrNameLst>
                                          <p:attrName>style.visibility</p:attrName>
                                        </p:attrNameLst>
                                      </p:cBhvr>
                                      <p:to>
                                        <p:strVal val="visible"/>
                                      </p:to>
                                    </p:set>
                                    <p:animEffect filter="wipe(left)" transition="in">
                                      <p:cBhvr additive="repl">
                                        <p:cTn id="1780" dur="1000"/>
                                        <p:tgtEl>
                                          <p:spTgt spid="5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28" name="Picture 12" descr=""/>
          <p:cNvPicPr/>
          <p:nvPr/>
        </p:nvPicPr>
        <p:blipFill>
          <a:blip r:embed="rId1"/>
          <a:stretch/>
        </p:blipFill>
        <p:spPr>
          <a:xfrm>
            <a:off x="4319640" y="1511280"/>
            <a:ext cx="4543200" cy="3928680"/>
          </a:xfrm>
          <a:prstGeom prst="rect">
            <a:avLst/>
          </a:prstGeom>
          <a:noFill/>
          <a:ln w="0">
            <a:noFill/>
          </a:ln>
        </p:spPr>
      </p:pic>
      <p:pic>
        <p:nvPicPr>
          <p:cNvPr id="529" name="Picture 13" descr=""/>
          <p:cNvPicPr/>
          <p:nvPr/>
        </p:nvPicPr>
        <p:blipFill>
          <a:blip r:embed="rId2"/>
          <a:stretch/>
        </p:blipFill>
        <p:spPr>
          <a:xfrm>
            <a:off x="4319640" y="1511280"/>
            <a:ext cx="4543200" cy="3928680"/>
          </a:xfrm>
          <a:prstGeom prst="rect">
            <a:avLst/>
          </a:prstGeom>
          <a:noFill/>
          <a:ln w="0">
            <a:noFill/>
          </a:ln>
        </p:spPr>
      </p:pic>
      <p:pic>
        <p:nvPicPr>
          <p:cNvPr id="530" name="Picture 14" descr=""/>
          <p:cNvPicPr/>
          <p:nvPr/>
        </p:nvPicPr>
        <p:blipFill>
          <a:blip r:embed="rId3"/>
          <a:stretch/>
        </p:blipFill>
        <p:spPr>
          <a:xfrm>
            <a:off x="4319640" y="1511280"/>
            <a:ext cx="4543200" cy="3928680"/>
          </a:xfrm>
          <a:prstGeom prst="rect">
            <a:avLst/>
          </a:prstGeom>
          <a:noFill/>
          <a:ln w="0">
            <a:noFill/>
          </a:ln>
        </p:spPr>
      </p:pic>
      <p:pic>
        <p:nvPicPr>
          <p:cNvPr id="531" name="Picture 15" descr=""/>
          <p:cNvPicPr/>
          <p:nvPr/>
        </p:nvPicPr>
        <p:blipFill>
          <a:blip r:embed="rId4"/>
          <a:stretch/>
        </p:blipFill>
        <p:spPr>
          <a:xfrm>
            <a:off x="4319640" y="1511280"/>
            <a:ext cx="4543200" cy="3928680"/>
          </a:xfrm>
          <a:prstGeom prst="rect">
            <a:avLst/>
          </a:prstGeom>
          <a:noFill/>
          <a:ln w="0">
            <a:noFill/>
          </a:ln>
        </p:spPr>
      </p:pic>
      <p:pic>
        <p:nvPicPr>
          <p:cNvPr id="532" name="Picture 16" descr=""/>
          <p:cNvPicPr/>
          <p:nvPr/>
        </p:nvPicPr>
        <p:blipFill>
          <a:blip r:embed="rId5"/>
          <a:stretch/>
        </p:blipFill>
        <p:spPr>
          <a:xfrm>
            <a:off x="4319640" y="1511280"/>
            <a:ext cx="4543200" cy="3928680"/>
          </a:xfrm>
          <a:prstGeom prst="rect">
            <a:avLst/>
          </a:prstGeom>
          <a:noFill/>
          <a:ln w="0">
            <a:noFill/>
          </a:ln>
        </p:spPr>
      </p:pic>
      <p:pic>
        <p:nvPicPr>
          <p:cNvPr id="533" name="Picture 17" descr=""/>
          <p:cNvPicPr/>
          <p:nvPr/>
        </p:nvPicPr>
        <p:blipFill>
          <a:blip r:embed="rId6"/>
          <a:stretch/>
        </p:blipFill>
        <p:spPr>
          <a:xfrm>
            <a:off x="4319640" y="1511280"/>
            <a:ext cx="4543200" cy="3928680"/>
          </a:xfrm>
          <a:prstGeom prst="rect">
            <a:avLst/>
          </a:prstGeom>
          <a:noFill/>
          <a:ln w="0">
            <a:noFill/>
          </a:ln>
        </p:spPr>
      </p:pic>
      <p:sp>
        <p:nvSpPr>
          <p:cNvPr id="534" name="Rectangle 5"/>
          <p:cNvSpPr/>
          <p:nvPr/>
        </p:nvSpPr>
        <p:spPr>
          <a:xfrm>
            <a:off x="360360" y="1511280"/>
            <a:ext cx="4211280" cy="5194080"/>
          </a:xfrm>
          <a:prstGeom prst="rect">
            <a:avLst/>
          </a:prstGeom>
          <a:noFill/>
          <a:ln w="0">
            <a:noFill/>
          </a:ln>
        </p:spPr>
        <p:style>
          <a:lnRef idx="0"/>
          <a:fillRef idx="0"/>
          <a:effectRef idx="0"/>
          <a:fontRef idx="minor"/>
        </p:style>
        <p:txBody>
          <a:bodyPr lIns="90000" rIns="90000" tIns="45000" bIns="45000" anchor="t">
            <a:noAutofit/>
          </a:bodyPr>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Microsoft’s prices are high in the sense that they exceed marginal cost and result in fewer copies than the efficient quantities.</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1" lang="en-AU" sz="2400" strike="noStrike" u="none">
                <a:solidFill>
                  <a:srgbClr val="009dae"/>
                </a:solidFill>
                <a:effectLst/>
                <a:uFillTx/>
                <a:latin typeface="Arial"/>
                <a:ea typeface="ＭＳ Ｐゴシック"/>
              </a:rPr>
              <a:t>Profit Maximization</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Microsoft maximizes profit by producing 4 million copies a month.</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The price is $300 per copy.</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The blue rectangle shows Microsoft’s producer surplus.</a:t>
            </a:r>
            <a:endParaRPr b="0" lang="en-US" sz="2400" strike="noStrike" u="none">
              <a:solidFill>
                <a:srgbClr val="000000"/>
              </a:solidFill>
              <a:effectLst/>
              <a:uFillTx/>
              <a:latin typeface="Arial"/>
            </a:endParaRPr>
          </a:p>
        </p:txBody>
      </p:sp>
      <p:pic>
        <p:nvPicPr>
          <p:cNvPr id="535" name="Picture 1" descr=""/>
          <p:cNvPicPr/>
          <p:nvPr/>
        </p:nvPicPr>
        <p:blipFill>
          <a:blip r:embed="rId7"/>
          <a:stretch/>
        </p:blipFill>
        <p:spPr>
          <a:xfrm>
            <a:off x="0" y="0"/>
            <a:ext cx="4860720" cy="1240920"/>
          </a:xfrm>
          <a:prstGeom prst="rect">
            <a:avLst/>
          </a:prstGeom>
          <a:noFill/>
          <a:ln w="0">
            <a:noFill/>
          </a:ln>
        </p:spPr>
      </p:pic>
    </p:spTree>
  </p:cSld>
  <p:transition spd="slow">
    <p:wipe dir="r"/>
  </p:transition>
  <p:timing>
    <p:tnLst>
      <p:par>
        <p:cTn id="1781" dur="indefinite" restart="never" nodeType="tmRoot">
          <p:childTnLst>
            <p:seq>
              <p:cTn id="1782" dur="indefinite" nodeType="mainSeq">
                <p:childTnLst>
                  <p:par>
                    <p:cTn id="1783" nodeType="clickEffect" fill="hold">
                      <p:stCondLst>
                        <p:cond delay="indefinite"/>
                      </p:stCondLst>
                      <p:childTnLst>
                        <p:par>
                          <p:cTn id="1784" nodeType="withEffect" fill="hold">
                            <p:stCondLst>
                              <p:cond delay="0"/>
                            </p:stCondLst>
                            <p:childTnLst>
                              <p:par>
                                <p:cTn id="1785" nodeType="clickEffect" fill="hold" presetClass="entr" presetID="22" presetSubtype="8">
                                  <p:stCondLst>
                                    <p:cond delay="0"/>
                                  </p:stCondLst>
                                  <p:childTnLst>
                                    <p:set>
                                      <p:cBhvr>
                                        <p:cTn id="1786" dur="1" fill="hold">
                                          <p:stCondLst>
                                            <p:cond delay="0"/>
                                          </p:stCondLst>
                                        </p:cTn>
                                        <p:tgtEl>
                                          <p:spTgt spid="534">
                                            <p:txEl>
                                              <p:pRg st="0" end="0"/>
                                            </p:txEl>
                                          </p:spTgt>
                                        </p:tgtEl>
                                        <p:attrNameLst>
                                          <p:attrName>style.visibility</p:attrName>
                                        </p:attrNameLst>
                                      </p:cBhvr>
                                      <p:to>
                                        <p:strVal val="visible"/>
                                      </p:to>
                                    </p:set>
                                    <p:animEffect filter="wipe(left)" transition="in">
                                      <p:cBhvr additive="repl">
                                        <p:cTn id="1787" dur="500"/>
                                        <p:tgtEl>
                                          <p:spTgt spid="534">
                                            <p:txEl>
                                              <p:pRg st="0" end="0"/>
                                            </p:txEl>
                                          </p:spTgt>
                                        </p:tgtEl>
                                      </p:cBhvr>
                                    </p:animEffect>
                                  </p:childTnLst>
                                </p:cTn>
                              </p:par>
                            </p:childTnLst>
                          </p:cTn>
                        </p:par>
                      </p:childTnLst>
                    </p:cTn>
                  </p:par>
                  <p:par>
                    <p:cTn id="1788" nodeType="clickEffect" fill="hold">
                      <p:stCondLst>
                        <p:cond delay="indefinite"/>
                      </p:stCondLst>
                      <p:childTnLst>
                        <p:par>
                          <p:cTn id="1789" nodeType="withEffect" fill="hold">
                            <p:stCondLst>
                              <p:cond delay="0"/>
                            </p:stCondLst>
                            <p:childTnLst>
                              <p:par>
                                <p:cTn id="1790" nodeType="clickEffect" fill="hold" presetClass="entr" presetID="22" presetSubtype="8">
                                  <p:stCondLst>
                                    <p:cond delay="0"/>
                                  </p:stCondLst>
                                  <p:childTnLst>
                                    <p:set>
                                      <p:cBhvr>
                                        <p:cTn id="1791" dur="1" fill="hold">
                                          <p:stCondLst>
                                            <p:cond delay="0"/>
                                          </p:stCondLst>
                                        </p:cTn>
                                        <p:tgtEl>
                                          <p:spTgt spid="534">
                                            <p:txEl>
                                              <p:pRg st="1" end="1"/>
                                            </p:txEl>
                                          </p:spTgt>
                                        </p:tgtEl>
                                        <p:attrNameLst>
                                          <p:attrName>style.visibility</p:attrName>
                                        </p:attrNameLst>
                                      </p:cBhvr>
                                      <p:to>
                                        <p:strVal val="visible"/>
                                      </p:to>
                                    </p:set>
                                    <p:animEffect filter="wipe(left)" transition="in">
                                      <p:cBhvr additive="repl">
                                        <p:cTn id="1792" dur="500"/>
                                        <p:tgtEl>
                                          <p:spTgt spid="534">
                                            <p:txEl>
                                              <p:pRg st="1" end="1"/>
                                            </p:txEl>
                                          </p:spTgt>
                                        </p:tgtEl>
                                      </p:cBhvr>
                                    </p:animEffect>
                                  </p:childTnLst>
                                </p:cTn>
                              </p:par>
                            </p:childTnLst>
                          </p:cTn>
                        </p:par>
                      </p:childTnLst>
                    </p:cTn>
                  </p:par>
                  <p:par>
                    <p:cTn id="1793" nodeType="clickEffect" fill="hold">
                      <p:stCondLst>
                        <p:cond delay="indefinite"/>
                      </p:stCondLst>
                      <p:childTnLst>
                        <p:par>
                          <p:cTn id="1794" nodeType="withEffect" fill="hold">
                            <p:stCondLst>
                              <p:cond delay="0"/>
                            </p:stCondLst>
                            <p:childTnLst>
                              <p:par>
                                <p:cTn id="1795" nodeType="clickEffect" fill="hold" presetClass="entr" presetID="22" presetSubtype="8">
                                  <p:stCondLst>
                                    <p:cond delay="0"/>
                                  </p:stCondLst>
                                  <p:childTnLst>
                                    <p:set>
                                      <p:cBhvr>
                                        <p:cTn id="1796" dur="1" fill="hold">
                                          <p:stCondLst>
                                            <p:cond delay="0"/>
                                          </p:stCondLst>
                                        </p:cTn>
                                        <p:tgtEl>
                                          <p:spTgt spid="534">
                                            <p:txEl>
                                              <p:pRg st="2" end="2"/>
                                            </p:txEl>
                                          </p:spTgt>
                                        </p:tgtEl>
                                        <p:attrNameLst>
                                          <p:attrName>style.visibility</p:attrName>
                                        </p:attrNameLst>
                                      </p:cBhvr>
                                      <p:to>
                                        <p:strVal val="visible"/>
                                      </p:to>
                                    </p:set>
                                    <p:animEffect filter="wipe(left)" transition="in">
                                      <p:cBhvr additive="repl">
                                        <p:cTn id="1797" dur="500"/>
                                        <p:tgtEl>
                                          <p:spTgt spid="534">
                                            <p:txEl>
                                              <p:pRg st="2" end="2"/>
                                            </p:txEl>
                                          </p:spTgt>
                                        </p:tgtEl>
                                      </p:cBhvr>
                                    </p:animEffect>
                                  </p:childTnLst>
                                </p:cTn>
                              </p:par>
                              <p:par>
                                <p:cTn id="1798" nodeType="withEffect" fill="hold" presetClass="entr" presetID="22" presetSubtype="8">
                                  <p:stCondLst>
                                    <p:cond delay="0"/>
                                  </p:stCondLst>
                                  <p:childTnLst>
                                    <p:set>
                                      <p:cBhvr>
                                        <p:cTn id="1799" dur="1" fill="hold">
                                          <p:stCondLst>
                                            <p:cond delay="0"/>
                                          </p:stCondLst>
                                        </p:cTn>
                                        <p:tgtEl>
                                          <p:spTgt spid="529"/>
                                        </p:tgtEl>
                                        <p:attrNameLst>
                                          <p:attrName>style.visibility</p:attrName>
                                        </p:attrNameLst>
                                      </p:cBhvr>
                                      <p:to>
                                        <p:strVal val="visible"/>
                                      </p:to>
                                    </p:set>
                                    <p:animEffect filter="wipe(left)" transition="in">
                                      <p:cBhvr additive="repl">
                                        <p:cTn id="1800" dur="1000"/>
                                        <p:tgtEl>
                                          <p:spTgt spid="529"/>
                                        </p:tgtEl>
                                      </p:cBhvr>
                                    </p:animEffect>
                                  </p:childTnLst>
                                </p:cTn>
                              </p:par>
                              <p:par>
                                <p:cTn id="1801" nodeType="withEffect" fill="hold" presetClass="entr" presetID="22" presetSubtype="8">
                                  <p:stCondLst>
                                    <p:cond delay="600"/>
                                  </p:stCondLst>
                                  <p:childTnLst>
                                    <p:set>
                                      <p:cBhvr>
                                        <p:cTn id="1802" dur="1" fill="hold">
                                          <p:stCondLst>
                                            <p:cond delay="0"/>
                                          </p:stCondLst>
                                        </p:cTn>
                                        <p:tgtEl>
                                          <p:spTgt spid="530"/>
                                        </p:tgtEl>
                                        <p:attrNameLst>
                                          <p:attrName>style.visibility</p:attrName>
                                        </p:attrNameLst>
                                      </p:cBhvr>
                                      <p:to>
                                        <p:strVal val="visible"/>
                                      </p:to>
                                    </p:set>
                                    <p:animEffect filter="wipe(left)" transition="in">
                                      <p:cBhvr additive="repl">
                                        <p:cTn id="1803" dur="1000"/>
                                        <p:tgtEl>
                                          <p:spTgt spid="530"/>
                                        </p:tgtEl>
                                      </p:cBhvr>
                                    </p:animEffect>
                                  </p:childTnLst>
                                </p:cTn>
                              </p:par>
                              <p:par>
                                <p:cTn id="1804" nodeType="withEffect" fill="hold" presetClass="entr" presetID="22" presetSubtype="8">
                                  <p:stCondLst>
                                    <p:cond delay="1100"/>
                                  </p:stCondLst>
                                  <p:childTnLst>
                                    <p:set>
                                      <p:cBhvr>
                                        <p:cTn id="1805" dur="1" fill="hold">
                                          <p:stCondLst>
                                            <p:cond delay="0"/>
                                          </p:stCondLst>
                                        </p:cTn>
                                        <p:tgtEl>
                                          <p:spTgt spid="531"/>
                                        </p:tgtEl>
                                        <p:attrNameLst>
                                          <p:attrName>style.visibility</p:attrName>
                                        </p:attrNameLst>
                                      </p:cBhvr>
                                      <p:to>
                                        <p:strVal val="visible"/>
                                      </p:to>
                                    </p:set>
                                    <p:animEffect filter="wipe(left)" transition="in">
                                      <p:cBhvr additive="repl">
                                        <p:cTn id="1806" dur="1000"/>
                                        <p:tgtEl>
                                          <p:spTgt spid="531"/>
                                        </p:tgtEl>
                                      </p:cBhvr>
                                    </p:animEffect>
                                  </p:childTnLst>
                                </p:cTn>
                              </p:par>
                            </p:childTnLst>
                          </p:cTn>
                        </p:par>
                      </p:childTnLst>
                    </p:cTn>
                  </p:par>
                  <p:par>
                    <p:cTn id="1807" nodeType="clickEffect" fill="hold">
                      <p:stCondLst>
                        <p:cond delay="indefinite"/>
                      </p:stCondLst>
                      <p:childTnLst>
                        <p:par>
                          <p:cTn id="1808" nodeType="withEffect" fill="hold">
                            <p:stCondLst>
                              <p:cond delay="0"/>
                            </p:stCondLst>
                            <p:childTnLst>
                              <p:par>
                                <p:cTn id="1809" nodeType="clickEffect" fill="hold" presetClass="entr" presetID="22" presetSubtype="8">
                                  <p:stCondLst>
                                    <p:cond delay="0"/>
                                  </p:stCondLst>
                                  <p:childTnLst>
                                    <p:set>
                                      <p:cBhvr>
                                        <p:cTn id="1810" dur="1" fill="hold">
                                          <p:stCondLst>
                                            <p:cond delay="0"/>
                                          </p:stCondLst>
                                        </p:cTn>
                                        <p:tgtEl>
                                          <p:spTgt spid="534">
                                            <p:txEl>
                                              <p:pRg st="3" end="3"/>
                                            </p:txEl>
                                          </p:spTgt>
                                        </p:tgtEl>
                                        <p:attrNameLst>
                                          <p:attrName>style.visibility</p:attrName>
                                        </p:attrNameLst>
                                      </p:cBhvr>
                                      <p:to>
                                        <p:strVal val="visible"/>
                                      </p:to>
                                    </p:set>
                                    <p:animEffect filter="wipe(left)" transition="in">
                                      <p:cBhvr additive="repl">
                                        <p:cTn id="1811" dur="500"/>
                                        <p:tgtEl>
                                          <p:spTgt spid="534">
                                            <p:txEl>
                                              <p:pRg st="3" end="3"/>
                                            </p:txEl>
                                          </p:spTgt>
                                        </p:tgtEl>
                                      </p:cBhvr>
                                    </p:animEffect>
                                  </p:childTnLst>
                                </p:cTn>
                              </p:par>
                              <p:par>
                                <p:cTn id="1812" nodeType="withEffect" fill="hold" presetClass="entr" presetID="10">
                                  <p:stCondLst>
                                    <p:cond delay="0"/>
                                  </p:stCondLst>
                                  <p:childTnLst>
                                    <p:set>
                                      <p:cBhvr>
                                        <p:cTn id="1813" dur="1" fill="hold">
                                          <p:stCondLst>
                                            <p:cond delay="0"/>
                                          </p:stCondLst>
                                        </p:cTn>
                                        <p:tgtEl>
                                          <p:spTgt spid="532"/>
                                        </p:tgtEl>
                                        <p:attrNameLst>
                                          <p:attrName>style.visibility</p:attrName>
                                        </p:attrNameLst>
                                      </p:cBhvr>
                                      <p:to>
                                        <p:strVal val="visible"/>
                                      </p:to>
                                    </p:set>
                                    <p:animEffect filter="fade" transition="in">
                                      <p:cBhvr additive="repl">
                                        <p:cTn id="1814" dur="500"/>
                                        <p:tgtEl>
                                          <p:spTgt spid="532"/>
                                        </p:tgtEl>
                                      </p:cBhvr>
                                    </p:animEffect>
                                  </p:childTnLst>
                                </p:cTn>
                              </p:par>
                            </p:childTnLst>
                          </p:cTn>
                        </p:par>
                      </p:childTnLst>
                    </p:cTn>
                  </p:par>
                  <p:par>
                    <p:cTn id="1815" nodeType="clickEffect" fill="hold">
                      <p:stCondLst>
                        <p:cond delay="indefinite"/>
                      </p:stCondLst>
                      <p:childTnLst>
                        <p:par>
                          <p:cTn id="1816" nodeType="withEffect" fill="hold">
                            <p:stCondLst>
                              <p:cond delay="0"/>
                            </p:stCondLst>
                            <p:childTnLst>
                              <p:par>
                                <p:cTn id="1817" nodeType="clickEffect" fill="hold" presetClass="entr" presetID="22" presetSubtype="8">
                                  <p:stCondLst>
                                    <p:cond delay="0"/>
                                  </p:stCondLst>
                                  <p:childTnLst>
                                    <p:set>
                                      <p:cBhvr>
                                        <p:cTn id="1818" dur="1" fill="hold">
                                          <p:stCondLst>
                                            <p:cond delay="0"/>
                                          </p:stCondLst>
                                        </p:cTn>
                                        <p:tgtEl>
                                          <p:spTgt spid="534">
                                            <p:txEl>
                                              <p:pRg st="4" end="4"/>
                                            </p:txEl>
                                          </p:spTgt>
                                        </p:tgtEl>
                                        <p:attrNameLst>
                                          <p:attrName>style.visibility</p:attrName>
                                        </p:attrNameLst>
                                      </p:cBhvr>
                                      <p:to>
                                        <p:strVal val="visible"/>
                                      </p:to>
                                    </p:set>
                                    <p:animEffect filter="wipe(left)" transition="in">
                                      <p:cBhvr additive="repl">
                                        <p:cTn id="1819" dur="500"/>
                                        <p:tgtEl>
                                          <p:spTgt spid="534">
                                            <p:txEl>
                                              <p:pRg st="4" end="4"/>
                                            </p:txEl>
                                          </p:spTgt>
                                        </p:tgtEl>
                                      </p:cBhvr>
                                    </p:animEffect>
                                  </p:childTnLst>
                                </p:cTn>
                              </p:par>
                              <p:par>
                                <p:cTn id="1820" nodeType="withEffect" fill="hold" presetClass="entr" presetID="10">
                                  <p:stCondLst>
                                    <p:cond delay="0"/>
                                  </p:stCondLst>
                                  <p:childTnLst>
                                    <p:set>
                                      <p:cBhvr>
                                        <p:cTn id="1821" dur="1" fill="hold">
                                          <p:stCondLst>
                                            <p:cond delay="0"/>
                                          </p:stCondLst>
                                        </p:cTn>
                                        <p:tgtEl>
                                          <p:spTgt spid="533"/>
                                        </p:tgtEl>
                                        <p:attrNameLst>
                                          <p:attrName>style.visibility</p:attrName>
                                        </p:attrNameLst>
                                      </p:cBhvr>
                                      <p:to>
                                        <p:strVal val="visible"/>
                                      </p:to>
                                    </p:set>
                                    <p:animEffect filter="fade" transition="in">
                                      <p:cBhvr additive="repl">
                                        <p:cTn id="1822" dur="500"/>
                                        <p:tgtEl>
                                          <p:spTgt spid="5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6" name="Rectangle 5"/>
          <p:cNvSpPr/>
          <p:nvPr/>
        </p:nvSpPr>
        <p:spPr>
          <a:xfrm>
            <a:off x="360360" y="1511280"/>
            <a:ext cx="3885840" cy="5028840"/>
          </a:xfrm>
          <a:prstGeom prst="rect">
            <a:avLst/>
          </a:prstGeom>
          <a:noFill/>
          <a:ln w="0">
            <a:noFill/>
          </a:ln>
        </p:spPr>
        <p:style>
          <a:lnRef idx="0"/>
          <a:fillRef idx="0"/>
          <a:effectRef idx="0"/>
          <a:fontRef idx="minor"/>
        </p:style>
        <p:txBody>
          <a:bodyPr lIns="90000" rIns="90000" tIns="45000" bIns="45000" anchor="t">
            <a:noAutofit/>
          </a:bodyPr>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The green triangle shows the consumer surplus.</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1" lang="en-AU" sz="2400" strike="noStrike" u="none">
                <a:solidFill>
                  <a:srgbClr val="009dae"/>
                </a:solidFill>
                <a:effectLst/>
                <a:uFillTx/>
                <a:latin typeface="Arial"/>
                <a:ea typeface="ＭＳ Ｐゴシック"/>
              </a:rPr>
              <a:t>Inefficiency</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The efficient quantity is </a:t>
            </a:r>
            <a:br>
              <a:rPr sz="2400"/>
            </a:br>
            <a:r>
              <a:rPr b="0" lang="en-US" sz="2400" strike="noStrike" u="none">
                <a:solidFill>
                  <a:srgbClr val="000000"/>
                </a:solidFill>
                <a:effectLst/>
                <a:uFillTx/>
                <a:latin typeface="Arial"/>
                <a:ea typeface="ＭＳ Ｐゴシック"/>
              </a:rPr>
              <a:t>8 million copies a month where marginal benefit equals marginal cost.</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The actual quantity is less than the efficient quantity, and a deadweight loss (gray triangle) arises.</a:t>
            </a:r>
            <a:endParaRPr b="0" lang="en-US" sz="2400" strike="noStrike" u="none">
              <a:solidFill>
                <a:srgbClr val="000000"/>
              </a:solidFill>
              <a:effectLst/>
              <a:uFillTx/>
              <a:latin typeface="Arial"/>
            </a:endParaRPr>
          </a:p>
        </p:txBody>
      </p:sp>
      <p:pic>
        <p:nvPicPr>
          <p:cNvPr id="537" name="Picture 21" descr=""/>
          <p:cNvPicPr/>
          <p:nvPr/>
        </p:nvPicPr>
        <p:blipFill>
          <a:blip r:embed="rId1"/>
          <a:stretch/>
        </p:blipFill>
        <p:spPr>
          <a:xfrm>
            <a:off x="4319640" y="1511280"/>
            <a:ext cx="4543200" cy="3928680"/>
          </a:xfrm>
          <a:prstGeom prst="rect">
            <a:avLst/>
          </a:prstGeom>
          <a:noFill/>
          <a:ln w="0">
            <a:noFill/>
          </a:ln>
        </p:spPr>
      </p:pic>
      <p:pic>
        <p:nvPicPr>
          <p:cNvPr id="538" name="Picture 22" descr=""/>
          <p:cNvPicPr/>
          <p:nvPr/>
        </p:nvPicPr>
        <p:blipFill>
          <a:blip r:embed="rId2"/>
          <a:stretch/>
        </p:blipFill>
        <p:spPr>
          <a:xfrm>
            <a:off x="4319640" y="1511280"/>
            <a:ext cx="4543200" cy="3928680"/>
          </a:xfrm>
          <a:prstGeom prst="rect">
            <a:avLst/>
          </a:prstGeom>
          <a:noFill/>
          <a:ln w="0">
            <a:noFill/>
          </a:ln>
        </p:spPr>
      </p:pic>
      <p:pic>
        <p:nvPicPr>
          <p:cNvPr id="539" name="Picture 23" descr=""/>
          <p:cNvPicPr/>
          <p:nvPr/>
        </p:nvPicPr>
        <p:blipFill>
          <a:blip r:embed="rId3"/>
          <a:stretch/>
        </p:blipFill>
        <p:spPr>
          <a:xfrm>
            <a:off x="4319640" y="1511280"/>
            <a:ext cx="4543200" cy="3928680"/>
          </a:xfrm>
          <a:prstGeom prst="rect">
            <a:avLst/>
          </a:prstGeom>
          <a:noFill/>
          <a:ln w="0">
            <a:noFill/>
          </a:ln>
        </p:spPr>
      </p:pic>
      <p:pic>
        <p:nvPicPr>
          <p:cNvPr id="540" name="Picture 24" descr=""/>
          <p:cNvPicPr/>
          <p:nvPr/>
        </p:nvPicPr>
        <p:blipFill>
          <a:blip r:embed="rId4"/>
          <a:stretch/>
        </p:blipFill>
        <p:spPr>
          <a:xfrm>
            <a:off x="4319640" y="1511280"/>
            <a:ext cx="4543200" cy="3928680"/>
          </a:xfrm>
          <a:prstGeom prst="rect">
            <a:avLst/>
          </a:prstGeom>
          <a:noFill/>
          <a:ln w="0">
            <a:noFill/>
          </a:ln>
        </p:spPr>
      </p:pic>
      <p:pic>
        <p:nvPicPr>
          <p:cNvPr id="541" name="Picture 25" descr=""/>
          <p:cNvPicPr/>
          <p:nvPr/>
        </p:nvPicPr>
        <p:blipFill>
          <a:blip r:embed="rId5"/>
          <a:stretch/>
        </p:blipFill>
        <p:spPr>
          <a:xfrm>
            <a:off x="4319640" y="1511280"/>
            <a:ext cx="4543200" cy="3928680"/>
          </a:xfrm>
          <a:prstGeom prst="rect">
            <a:avLst/>
          </a:prstGeom>
          <a:noFill/>
          <a:ln w="0">
            <a:noFill/>
          </a:ln>
        </p:spPr>
      </p:pic>
      <p:pic>
        <p:nvPicPr>
          <p:cNvPr id="542" name="Picture 26" descr=""/>
          <p:cNvPicPr/>
          <p:nvPr/>
        </p:nvPicPr>
        <p:blipFill>
          <a:blip r:embed="rId6"/>
          <a:stretch/>
        </p:blipFill>
        <p:spPr>
          <a:xfrm>
            <a:off x="4319640" y="1511280"/>
            <a:ext cx="4543200" cy="3928680"/>
          </a:xfrm>
          <a:prstGeom prst="rect">
            <a:avLst/>
          </a:prstGeom>
          <a:noFill/>
          <a:ln w="0">
            <a:noFill/>
          </a:ln>
        </p:spPr>
      </p:pic>
      <p:pic>
        <p:nvPicPr>
          <p:cNvPr id="543" name="Picture 27" descr=""/>
          <p:cNvPicPr/>
          <p:nvPr/>
        </p:nvPicPr>
        <p:blipFill>
          <a:blip r:embed="rId7"/>
          <a:stretch/>
        </p:blipFill>
        <p:spPr>
          <a:xfrm>
            <a:off x="4319640" y="1511280"/>
            <a:ext cx="4543200" cy="3928680"/>
          </a:xfrm>
          <a:prstGeom prst="rect">
            <a:avLst/>
          </a:prstGeom>
          <a:noFill/>
          <a:ln w="0">
            <a:noFill/>
          </a:ln>
        </p:spPr>
      </p:pic>
      <p:pic>
        <p:nvPicPr>
          <p:cNvPr id="544" name="Picture 28" descr=""/>
          <p:cNvPicPr/>
          <p:nvPr/>
        </p:nvPicPr>
        <p:blipFill>
          <a:blip r:embed="rId8"/>
          <a:stretch/>
        </p:blipFill>
        <p:spPr>
          <a:xfrm>
            <a:off x="4319640" y="1511280"/>
            <a:ext cx="4543200" cy="3928680"/>
          </a:xfrm>
          <a:prstGeom prst="rect">
            <a:avLst/>
          </a:prstGeom>
          <a:noFill/>
          <a:ln w="0">
            <a:noFill/>
          </a:ln>
        </p:spPr>
      </p:pic>
      <p:pic>
        <p:nvPicPr>
          <p:cNvPr id="545" name="Picture 11" descr=""/>
          <p:cNvPicPr/>
          <p:nvPr/>
        </p:nvPicPr>
        <p:blipFill>
          <a:blip r:embed="rId9"/>
          <a:stretch/>
        </p:blipFill>
        <p:spPr>
          <a:xfrm>
            <a:off x="0" y="0"/>
            <a:ext cx="4860720" cy="1240920"/>
          </a:xfrm>
          <a:prstGeom prst="rect">
            <a:avLst/>
          </a:prstGeom>
          <a:noFill/>
          <a:ln w="0">
            <a:noFill/>
          </a:ln>
        </p:spPr>
      </p:pic>
    </p:spTree>
  </p:cSld>
  <p:transition spd="slow">
    <p:wipe dir="r"/>
  </p:transition>
  <p:timing>
    <p:tnLst>
      <p:par>
        <p:cTn id="1823" dur="indefinite" restart="never" nodeType="tmRoot">
          <p:childTnLst>
            <p:seq>
              <p:cTn id="1824" dur="indefinite" nodeType="mainSeq">
                <p:childTnLst>
                  <p:par>
                    <p:cTn id="1825" nodeType="clickEffect" fill="hold">
                      <p:stCondLst>
                        <p:cond delay="0"/>
                      </p:stCondLst>
                      <p:childTnLst>
                        <p:par>
                          <p:cTn id="1826" nodeType="withEffect" fill="hold">
                            <p:stCondLst>
                              <p:cond delay="0"/>
                            </p:stCondLst>
                            <p:childTnLst>
                              <p:par>
                                <p:cTn id="1827" nodeType="withEffect" fill="hold" presetClass="entr" presetID="10">
                                  <p:stCondLst>
                                    <p:cond delay="0"/>
                                  </p:stCondLst>
                                  <p:childTnLst>
                                    <p:set>
                                      <p:cBhvr>
                                        <p:cTn id="1828" dur="1" fill="hold">
                                          <p:stCondLst>
                                            <p:cond delay="0"/>
                                          </p:stCondLst>
                                        </p:cTn>
                                        <p:tgtEl>
                                          <p:spTgt spid="543"/>
                                        </p:tgtEl>
                                        <p:attrNameLst>
                                          <p:attrName>style.visibility</p:attrName>
                                        </p:attrNameLst>
                                      </p:cBhvr>
                                      <p:to>
                                        <p:strVal val="visible"/>
                                      </p:to>
                                    </p:set>
                                    <p:animEffect filter="fade" transition="in">
                                      <p:cBhvr additive="repl">
                                        <p:cTn id="1829" dur="500"/>
                                        <p:tgtEl>
                                          <p:spTgt spid="543"/>
                                        </p:tgtEl>
                                      </p:cBhvr>
                                    </p:animEffect>
                                  </p:childTnLst>
                                </p:cTn>
                              </p:par>
                            </p:childTnLst>
                          </p:cTn>
                        </p:par>
                      </p:childTnLst>
                    </p:cTn>
                  </p:par>
                  <p:par>
                    <p:cTn id="1830" nodeType="clickEffect" fill="hold">
                      <p:stCondLst>
                        <p:cond delay="indefinite"/>
                      </p:stCondLst>
                      <p:childTnLst>
                        <p:par>
                          <p:cTn id="1831" nodeType="withEffect" fill="hold">
                            <p:stCondLst>
                              <p:cond delay="0"/>
                            </p:stCondLst>
                            <p:childTnLst>
                              <p:par>
                                <p:cTn id="1832" nodeType="clickEffect" fill="hold" presetClass="entr" presetID="22" presetSubtype="8">
                                  <p:stCondLst>
                                    <p:cond delay="0"/>
                                  </p:stCondLst>
                                  <p:childTnLst>
                                    <p:set>
                                      <p:cBhvr>
                                        <p:cTn id="1833" dur="1" fill="hold">
                                          <p:stCondLst>
                                            <p:cond delay="0"/>
                                          </p:stCondLst>
                                        </p:cTn>
                                        <p:tgtEl>
                                          <p:spTgt spid="536">
                                            <p:txEl>
                                              <p:pRg st="1" end="1"/>
                                            </p:txEl>
                                          </p:spTgt>
                                        </p:tgtEl>
                                        <p:attrNameLst>
                                          <p:attrName>style.visibility</p:attrName>
                                        </p:attrNameLst>
                                      </p:cBhvr>
                                      <p:to>
                                        <p:strVal val="visible"/>
                                      </p:to>
                                    </p:set>
                                    <p:animEffect filter="wipe(left)" transition="in">
                                      <p:cBhvr additive="repl">
                                        <p:cTn id="1834" dur="500"/>
                                        <p:tgtEl>
                                          <p:spTgt spid="536">
                                            <p:txEl>
                                              <p:pRg st="1" end="1"/>
                                            </p:txEl>
                                          </p:spTgt>
                                        </p:tgtEl>
                                      </p:cBhvr>
                                    </p:animEffect>
                                  </p:childTnLst>
                                </p:cTn>
                              </p:par>
                            </p:childTnLst>
                          </p:cTn>
                        </p:par>
                      </p:childTnLst>
                    </p:cTn>
                  </p:par>
                  <p:par>
                    <p:cTn id="1835" nodeType="clickEffect" fill="hold">
                      <p:stCondLst>
                        <p:cond delay="indefinite"/>
                      </p:stCondLst>
                      <p:childTnLst>
                        <p:par>
                          <p:cTn id="1836" nodeType="withEffect" fill="hold">
                            <p:stCondLst>
                              <p:cond delay="0"/>
                            </p:stCondLst>
                            <p:childTnLst>
                              <p:par>
                                <p:cTn id="1837" nodeType="clickEffect" fill="hold" presetClass="entr" presetID="22" presetSubtype="8">
                                  <p:stCondLst>
                                    <p:cond delay="0"/>
                                  </p:stCondLst>
                                  <p:childTnLst>
                                    <p:set>
                                      <p:cBhvr>
                                        <p:cTn id="1838" dur="1" fill="hold">
                                          <p:stCondLst>
                                            <p:cond delay="0"/>
                                          </p:stCondLst>
                                        </p:cTn>
                                        <p:tgtEl>
                                          <p:spTgt spid="536">
                                            <p:txEl>
                                              <p:pRg st="2" end="2"/>
                                            </p:txEl>
                                          </p:spTgt>
                                        </p:tgtEl>
                                        <p:attrNameLst>
                                          <p:attrName>style.visibility</p:attrName>
                                        </p:attrNameLst>
                                      </p:cBhvr>
                                      <p:to>
                                        <p:strVal val="visible"/>
                                      </p:to>
                                    </p:set>
                                    <p:animEffect filter="wipe(left)" transition="in">
                                      <p:cBhvr additive="repl">
                                        <p:cTn id="1839" dur="500"/>
                                        <p:tgtEl>
                                          <p:spTgt spid="536">
                                            <p:txEl>
                                              <p:pRg st="2" end="2"/>
                                            </p:txEl>
                                          </p:spTgt>
                                        </p:tgtEl>
                                      </p:cBhvr>
                                    </p:animEffect>
                                  </p:childTnLst>
                                </p:cTn>
                              </p:par>
                            </p:childTnLst>
                          </p:cTn>
                        </p:par>
                      </p:childTnLst>
                    </p:cTn>
                  </p:par>
                  <p:par>
                    <p:cTn id="1840" nodeType="clickEffect" fill="hold">
                      <p:stCondLst>
                        <p:cond delay="indefinite"/>
                      </p:stCondLst>
                      <p:childTnLst>
                        <p:par>
                          <p:cTn id="1841" nodeType="withEffect" fill="hold">
                            <p:stCondLst>
                              <p:cond delay="0"/>
                            </p:stCondLst>
                            <p:childTnLst>
                              <p:par>
                                <p:cTn id="1842" nodeType="clickEffect" fill="hold" presetClass="entr" presetID="22" presetSubtype="8">
                                  <p:stCondLst>
                                    <p:cond delay="0"/>
                                  </p:stCondLst>
                                  <p:childTnLst>
                                    <p:set>
                                      <p:cBhvr>
                                        <p:cTn id="1843" dur="1" fill="hold">
                                          <p:stCondLst>
                                            <p:cond delay="0"/>
                                          </p:stCondLst>
                                        </p:cTn>
                                        <p:tgtEl>
                                          <p:spTgt spid="536">
                                            <p:txEl>
                                              <p:pRg st="3" end="3"/>
                                            </p:txEl>
                                          </p:spTgt>
                                        </p:tgtEl>
                                        <p:attrNameLst>
                                          <p:attrName>style.visibility</p:attrName>
                                        </p:attrNameLst>
                                      </p:cBhvr>
                                      <p:to>
                                        <p:strVal val="visible"/>
                                      </p:to>
                                    </p:set>
                                    <p:animEffect filter="wipe(left)" transition="in">
                                      <p:cBhvr additive="repl">
                                        <p:cTn id="1844" dur="500"/>
                                        <p:tgtEl>
                                          <p:spTgt spid="536">
                                            <p:txEl>
                                              <p:pRg st="3" end="3"/>
                                            </p:txEl>
                                          </p:spTgt>
                                        </p:tgtEl>
                                      </p:cBhvr>
                                    </p:animEffect>
                                  </p:childTnLst>
                                </p:cTn>
                              </p:par>
                              <p:par>
                                <p:cTn id="1845" nodeType="withEffect" fill="hold" presetClass="entr" presetID="10">
                                  <p:stCondLst>
                                    <p:cond delay="0"/>
                                  </p:stCondLst>
                                  <p:childTnLst>
                                    <p:set>
                                      <p:cBhvr>
                                        <p:cTn id="1846" dur="1" fill="hold">
                                          <p:stCondLst>
                                            <p:cond delay="0"/>
                                          </p:stCondLst>
                                        </p:cTn>
                                        <p:tgtEl>
                                          <p:spTgt spid="544"/>
                                        </p:tgtEl>
                                        <p:attrNameLst>
                                          <p:attrName>style.visibility</p:attrName>
                                        </p:attrNameLst>
                                      </p:cBhvr>
                                      <p:to>
                                        <p:strVal val="visible"/>
                                      </p:to>
                                    </p:set>
                                    <p:animEffect filter="fade" transition="in">
                                      <p:cBhvr additive="repl">
                                        <p:cTn id="1847" dur="500"/>
                                        <p:tgtEl>
                                          <p:spTgt spid="5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6" name="Rectangle 5"/>
          <p:cNvSpPr/>
          <p:nvPr/>
        </p:nvSpPr>
        <p:spPr>
          <a:xfrm>
            <a:off x="360360" y="1511280"/>
            <a:ext cx="8305560" cy="5028840"/>
          </a:xfrm>
          <a:prstGeom prst="rect">
            <a:avLst/>
          </a:prstGeom>
          <a:noFill/>
          <a:ln w="0">
            <a:noFill/>
          </a:ln>
        </p:spPr>
        <p:style>
          <a:lnRef idx="0"/>
          <a:fillRef idx="0"/>
          <a:effectRef idx="0"/>
          <a:fontRef idx="minor"/>
        </p:style>
        <p:txBody>
          <a:bodyPr lIns="90000" rIns="90000" tIns="45000" bIns="45000" anchor="t">
            <a:noAutofit/>
          </a:bodyPr>
          <a:p>
            <a:pPr marL="108000">
              <a:lnSpc>
                <a:spcPct val="100000"/>
              </a:lnSpc>
              <a:spcBef>
                <a:spcPts val="601"/>
              </a:spcBef>
              <a:spcAft>
                <a:spcPts val="601"/>
              </a:spcAft>
            </a:pPr>
            <a:r>
              <a:rPr b="1" lang="en-AU" sz="2400" strike="noStrike" u="none">
                <a:solidFill>
                  <a:srgbClr val="009dae"/>
                </a:solidFill>
                <a:effectLst/>
                <a:uFillTx/>
                <a:latin typeface="Arial"/>
                <a:ea typeface="ＭＳ Ｐゴシック"/>
              </a:rPr>
              <a:t>Fixed Cost</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The marginal cost of a copy of Windows might be close to zero, but the fixed cost of developing the software is large.</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Microsoft must earn at least enough revenue to pay these fixed costs.</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Earning enough to pay the firm’s fixed costs does not inevitably lead to inefficiency. </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Some firms with zero marginal cost and the market power to charge a high price choose to provide the efficient quantity of their services at a zero price.</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Google is one such firm.</a:t>
            </a:r>
            <a:endParaRPr b="0" lang="en-US" sz="2400" strike="noStrike" u="none">
              <a:solidFill>
                <a:srgbClr val="000000"/>
              </a:solidFill>
              <a:effectLst/>
              <a:uFillTx/>
              <a:latin typeface="Arial"/>
            </a:endParaRPr>
          </a:p>
        </p:txBody>
      </p:sp>
      <p:pic>
        <p:nvPicPr>
          <p:cNvPr id="547" name="Picture 3" descr=""/>
          <p:cNvPicPr/>
          <p:nvPr/>
        </p:nvPicPr>
        <p:blipFill>
          <a:blip r:embed="rId1"/>
          <a:stretch/>
        </p:blipFill>
        <p:spPr>
          <a:xfrm>
            <a:off x="0" y="0"/>
            <a:ext cx="4860720" cy="1240920"/>
          </a:xfrm>
          <a:prstGeom prst="rect">
            <a:avLst/>
          </a:prstGeom>
          <a:noFill/>
          <a:ln w="0">
            <a:noFill/>
          </a:ln>
        </p:spPr>
      </p:pic>
    </p:spTree>
  </p:cSld>
  <p:transition spd="slow">
    <p:wipe dir="r"/>
  </p:transition>
  <p:timing>
    <p:tnLst>
      <p:par>
        <p:cTn id="1848" dur="indefinite" restart="never" nodeType="tmRoot">
          <p:childTnLst>
            <p:seq>
              <p:cTn id="1849" dur="indefinite" nodeType="mainSeq">
                <p:childTnLst>
                  <p:par>
                    <p:cTn id="1850" nodeType="clickEffect" fill="hold">
                      <p:stCondLst>
                        <p:cond delay="indefinite"/>
                      </p:stCondLst>
                      <p:childTnLst>
                        <p:par>
                          <p:cTn id="1851" nodeType="withEffect" fill="hold">
                            <p:stCondLst>
                              <p:cond delay="0"/>
                            </p:stCondLst>
                            <p:childTnLst>
                              <p:par>
                                <p:cTn id="1852" nodeType="clickEffect" fill="hold" presetClass="entr" presetID="22" presetSubtype="8">
                                  <p:stCondLst>
                                    <p:cond delay="0"/>
                                  </p:stCondLst>
                                  <p:childTnLst>
                                    <p:set>
                                      <p:cBhvr>
                                        <p:cTn id="1853" dur="1" fill="hold">
                                          <p:stCondLst>
                                            <p:cond delay="0"/>
                                          </p:stCondLst>
                                        </p:cTn>
                                        <p:tgtEl>
                                          <p:spTgt spid="546">
                                            <p:txEl>
                                              <p:pRg st="1" end="1"/>
                                            </p:txEl>
                                          </p:spTgt>
                                        </p:tgtEl>
                                        <p:attrNameLst>
                                          <p:attrName>style.visibility</p:attrName>
                                        </p:attrNameLst>
                                      </p:cBhvr>
                                      <p:to>
                                        <p:strVal val="visible"/>
                                      </p:to>
                                    </p:set>
                                    <p:animEffect filter="wipe(left)" transition="in">
                                      <p:cBhvr additive="repl">
                                        <p:cTn id="1854" dur="500"/>
                                        <p:tgtEl>
                                          <p:spTgt spid="546">
                                            <p:txEl>
                                              <p:pRg st="1" end="1"/>
                                            </p:txEl>
                                          </p:spTgt>
                                        </p:tgtEl>
                                      </p:cBhvr>
                                    </p:animEffect>
                                  </p:childTnLst>
                                </p:cTn>
                              </p:par>
                            </p:childTnLst>
                          </p:cTn>
                        </p:par>
                      </p:childTnLst>
                    </p:cTn>
                  </p:par>
                  <p:par>
                    <p:cTn id="1855" nodeType="clickEffect" fill="hold">
                      <p:stCondLst>
                        <p:cond delay="indefinite"/>
                      </p:stCondLst>
                      <p:childTnLst>
                        <p:par>
                          <p:cTn id="1856" nodeType="withEffect" fill="hold">
                            <p:stCondLst>
                              <p:cond delay="0"/>
                            </p:stCondLst>
                            <p:childTnLst>
                              <p:par>
                                <p:cTn id="1857" nodeType="clickEffect" fill="hold" presetClass="entr" presetID="22" presetSubtype="8">
                                  <p:stCondLst>
                                    <p:cond delay="0"/>
                                  </p:stCondLst>
                                  <p:childTnLst>
                                    <p:set>
                                      <p:cBhvr>
                                        <p:cTn id="1858" dur="1" fill="hold">
                                          <p:stCondLst>
                                            <p:cond delay="0"/>
                                          </p:stCondLst>
                                        </p:cTn>
                                        <p:tgtEl>
                                          <p:spTgt spid="546">
                                            <p:txEl>
                                              <p:pRg st="2" end="2"/>
                                            </p:txEl>
                                          </p:spTgt>
                                        </p:tgtEl>
                                        <p:attrNameLst>
                                          <p:attrName>style.visibility</p:attrName>
                                        </p:attrNameLst>
                                      </p:cBhvr>
                                      <p:to>
                                        <p:strVal val="visible"/>
                                      </p:to>
                                    </p:set>
                                    <p:animEffect filter="wipe(left)" transition="in">
                                      <p:cBhvr additive="repl">
                                        <p:cTn id="1859" dur="500"/>
                                        <p:tgtEl>
                                          <p:spTgt spid="546">
                                            <p:txEl>
                                              <p:pRg st="2" end="2"/>
                                            </p:txEl>
                                          </p:spTgt>
                                        </p:tgtEl>
                                      </p:cBhvr>
                                    </p:animEffect>
                                  </p:childTnLst>
                                </p:cTn>
                              </p:par>
                            </p:childTnLst>
                          </p:cTn>
                        </p:par>
                      </p:childTnLst>
                    </p:cTn>
                  </p:par>
                  <p:par>
                    <p:cTn id="1860" nodeType="clickEffect" fill="hold">
                      <p:stCondLst>
                        <p:cond delay="indefinite"/>
                      </p:stCondLst>
                      <p:childTnLst>
                        <p:par>
                          <p:cTn id="1861" nodeType="withEffect" fill="hold">
                            <p:stCondLst>
                              <p:cond delay="0"/>
                            </p:stCondLst>
                            <p:childTnLst>
                              <p:par>
                                <p:cTn id="1862" nodeType="clickEffect" fill="hold" presetClass="entr" presetID="22" presetSubtype="8">
                                  <p:stCondLst>
                                    <p:cond delay="0"/>
                                  </p:stCondLst>
                                  <p:childTnLst>
                                    <p:set>
                                      <p:cBhvr>
                                        <p:cTn id="1863" dur="1" fill="hold">
                                          <p:stCondLst>
                                            <p:cond delay="0"/>
                                          </p:stCondLst>
                                        </p:cTn>
                                        <p:tgtEl>
                                          <p:spTgt spid="546">
                                            <p:txEl>
                                              <p:pRg st="3" end="3"/>
                                            </p:txEl>
                                          </p:spTgt>
                                        </p:tgtEl>
                                        <p:attrNameLst>
                                          <p:attrName>style.visibility</p:attrName>
                                        </p:attrNameLst>
                                      </p:cBhvr>
                                      <p:to>
                                        <p:strVal val="visible"/>
                                      </p:to>
                                    </p:set>
                                    <p:animEffect filter="wipe(left)" transition="in">
                                      <p:cBhvr additive="repl">
                                        <p:cTn id="1864" dur="500"/>
                                        <p:tgtEl>
                                          <p:spTgt spid="546">
                                            <p:txEl>
                                              <p:pRg st="3" end="3"/>
                                            </p:txEl>
                                          </p:spTgt>
                                        </p:tgtEl>
                                      </p:cBhvr>
                                    </p:animEffect>
                                  </p:childTnLst>
                                </p:cTn>
                              </p:par>
                            </p:childTnLst>
                          </p:cTn>
                        </p:par>
                      </p:childTnLst>
                    </p:cTn>
                  </p:par>
                  <p:par>
                    <p:cTn id="1865" nodeType="clickEffect" fill="hold">
                      <p:stCondLst>
                        <p:cond delay="indefinite"/>
                      </p:stCondLst>
                      <p:childTnLst>
                        <p:par>
                          <p:cTn id="1866" nodeType="withEffect" fill="hold">
                            <p:stCondLst>
                              <p:cond delay="0"/>
                            </p:stCondLst>
                            <p:childTnLst>
                              <p:par>
                                <p:cTn id="1867" nodeType="clickEffect" fill="hold" presetClass="entr" presetID="22" presetSubtype="8">
                                  <p:stCondLst>
                                    <p:cond delay="0"/>
                                  </p:stCondLst>
                                  <p:childTnLst>
                                    <p:set>
                                      <p:cBhvr>
                                        <p:cTn id="1868" dur="1" fill="hold">
                                          <p:stCondLst>
                                            <p:cond delay="0"/>
                                          </p:stCondLst>
                                        </p:cTn>
                                        <p:tgtEl>
                                          <p:spTgt spid="546">
                                            <p:txEl>
                                              <p:pRg st="4" end="4"/>
                                            </p:txEl>
                                          </p:spTgt>
                                        </p:tgtEl>
                                        <p:attrNameLst>
                                          <p:attrName>style.visibility</p:attrName>
                                        </p:attrNameLst>
                                      </p:cBhvr>
                                      <p:to>
                                        <p:strVal val="visible"/>
                                      </p:to>
                                    </p:set>
                                    <p:animEffect filter="wipe(left)" transition="in">
                                      <p:cBhvr additive="repl">
                                        <p:cTn id="1869" dur="500"/>
                                        <p:tgtEl>
                                          <p:spTgt spid="546">
                                            <p:txEl>
                                              <p:pRg st="4" end="4"/>
                                            </p:txEl>
                                          </p:spTgt>
                                        </p:tgtEl>
                                      </p:cBhvr>
                                    </p:animEffect>
                                  </p:childTnLst>
                                </p:cTn>
                              </p:par>
                            </p:childTnLst>
                          </p:cTn>
                        </p:par>
                      </p:childTnLst>
                    </p:cTn>
                  </p:par>
                  <p:par>
                    <p:cTn id="1870" nodeType="clickEffect" fill="hold">
                      <p:stCondLst>
                        <p:cond delay="indefinite"/>
                      </p:stCondLst>
                      <p:childTnLst>
                        <p:par>
                          <p:cTn id="1871" nodeType="withEffect" fill="hold">
                            <p:stCondLst>
                              <p:cond delay="0"/>
                            </p:stCondLst>
                            <p:childTnLst>
                              <p:par>
                                <p:cTn id="1872" nodeType="clickEffect" fill="hold" presetClass="entr" presetID="22" presetSubtype="8">
                                  <p:stCondLst>
                                    <p:cond delay="0"/>
                                  </p:stCondLst>
                                  <p:childTnLst>
                                    <p:set>
                                      <p:cBhvr>
                                        <p:cTn id="1873" dur="1" fill="hold">
                                          <p:stCondLst>
                                            <p:cond delay="0"/>
                                          </p:stCondLst>
                                        </p:cTn>
                                        <p:tgtEl>
                                          <p:spTgt spid="546">
                                            <p:txEl>
                                              <p:pRg st="5" end="5"/>
                                            </p:txEl>
                                          </p:spTgt>
                                        </p:tgtEl>
                                        <p:attrNameLst>
                                          <p:attrName>style.visibility</p:attrName>
                                        </p:attrNameLst>
                                      </p:cBhvr>
                                      <p:to>
                                        <p:strVal val="visible"/>
                                      </p:to>
                                    </p:set>
                                    <p:animEffect filter="wipe(left)" transition="in">
                                      <p:cBhvr additive="repl">
                                        <p:cTn id="1874" dur="500"/>
                                        <p:tgtEl>
                                          <p:spTgt spid="546">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8" name="Rectangle 5"/>
          <p:cNvSpPr/>
          <p:nvPr/>
        </p:nvSpPr>
        <p:spPr>
          <a:xfrm>
            <a:off x="360360" y="1511280"/>
            <a:ext cx="8554680" cy="4952520"/>
          </a:xfrm>
          <a:prstGeom prst="rect">
            <a:avLst/>
          </a:prstGeom>
          <a:noFill/>
          <a:ln w="0">
            <a:noFill/>
          </a:ln>
        </p:spPr>
        <p:style>
          <a:lnRef idx="0"/>
          <a:fillRef idx="0"/>
          <a:effectRef idx="0"/>
          <a:fontRef idx="minor"/>
        </p:style>
        <p:txBody>
          <a:bodyPr lIns="90000" rIns="90000" tIns="45000" bIns="45000" anchor="t">
            <a:noAutofit/>
          </a:bodyPr>
          <a:p>
            <a:pPr marL="108000">
              <a:lnSpc>
                <a:spcPct val="100000"/>
              </a:lnSpc>
              <a:spcBef>
                <a:spcPts val="601"/>
              </a:spcBef>
              <a:spcAft>
                <a:spcPts val="601"/>
              </a:spcAft>
            </a:pPr>
            <a:r>
              <a:rPr b="1" lang="en-AU" sz="2400" strike="noStrike" u="none">
                <a:solidFill>
                  <a:srgbClr val="009dae"/>
                </a:solidFill>
                <a:effectLst/>
                <a:uFillTx/>
                <a:latin typeface="Arial"/>
                <a:ea typeface="ＭＳ Ｐゴシック"/>
              </a:rPr>
              <a:t>The Google Solution</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The price of an Internet search on Google is zero.</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The quantity of searches is that at which the marginal benefit of a search equals the zero marginal cost.</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So the quantity of searches is the efficient quantity.</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Google earns revenue, and a very large revenue, by selling advertising that more than pays its fixed operating costs.</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Google’s solution is not entirely efficient.</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It gets the efficient quantity of the zero marginal cost activity.</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Does it get the efficient quantity of advertising?</a:t>
            </a:r>
            <a:endParaRPr b="0" lang="en-US" sz="2400" strike="noStrike" u="none">
              <a:solidFill>
                <a:srgbClr val="000000"/>
              </a:solidFill>
              <a:effectLst/>
              <a:uFillTx/>
              <a:latin typeface="Arial"/>
            </a:endParaRPr>
          </a:p>
        </p:txBody>
      </p:sp>
      <p:pic>
        <p:nvPicPr>
          <p:cNvPr id="549" name="Picture 3" descr=""/>
          <p:cNvPicPr/>
          <p:nvPr/>
        </p:nvPicPr>
        <p:blipFill>
          <a:blip r:embed="rId1"/>
          <a:stretch/>
        </p:blipFill>
        <p:spPr>
          <a:xfrm>
            <a:off x="0" y="0"/>
            <a:ext cx="4860720" cy="1240920"/>
          </a:xfrm>
          <a:prstGeom prst="rect">
            <a:avLst/>
          </a:prstGeom>
          <a:noFill/>
          <a:ln w="0">
            <a:noFill/>
          </a:ln>
        </p:spPr>
      </p:pic>
    </p:spTree>
  </p:cSld>
  <p:transition spd="slow">
    <p:wipe dir="r"/>
  </p:transition>
  <p:timing>
    <p:tnLst>
      <p:par>
        <p:cTn id="1875" dur="indefinite" restart="never" nodeType="tmRoot">
          <p:childTnLst>
            <p:seq>
              <p:cTn id="1876" dur="indefinite" nodeType="mainSeq">
                <p:childTnLst>
                  <p:par>
                    <p:cTn id="1877" nodeType="clickEffect" fill="hold">
                      <p:stCondLst>
                        <p:cond delay="indefinite"/>
                      </p:stCondLst>
                      <p:childTnLst>
                        <p:par>
                          <p:cTn id="1878" nodeType="withEffect" fill="hold">
                            <p:stCondLst>
                              <p:cond delay="0"/>
                            </p:stCondLst>
                            <p:childTnLst>
                              <p:par>
                                <p:cTn id="1879" nodeType="clickEffect" fill="hold" presetClass="entr" presetID="22" presetSubtype="8">
                                  <p:stCondLst>
                                    <p:cond delay="0"/>
                                  </p:stCondLst>
                                  <p:childTnLst>
                                    <p:set>
                                      <p:cBhvr>
                                        <p:cTn id="1880" dur="1" fill="hold">
                                          <p:stCondLst>
                                            <p:cond delay="0"/>
                                          </p:stCondLst>
                                        </p:cTn>
                                        <p:tgtEl>
                                          <p:spTgt spid="548">
                                            <p:txEl>
                                              <p:pRg st="1" end="1"/>
                                            </p:txEl>
                                          </p:spTgt>
                                        </p:tgtEl>
                                        <p:attrNameLst>
                                          <p:attrName>style.visibility</p:attrName>
                                        </p:attrNameLst>
                                      </p:cBhvr>
                                      <p:to>
                                        <p:strVal val="visible"/>
                                      </p:to>
                                    </p:set>
                                    <p:animEffect filter="wipe(left)" transition="in">
                                      <p:cBhvr additive="repl">
                                        <p:cTn id="1881" dur="500"/>
                                        <p:tgtEl>
                                          <p:spTgt spid="548">
                                            <p:txEl>
                                              <p:pRg st="1" end="1"/>
                                            </p:txEl>
                                          </p:spTgt>
                                        </p:tgtEl>
                                      </p:cBhvr>
                                    </p:animEffect>
                                  </p:childTnLst>
                                </p:cTn>
                              </p:par>
                            </p:childTnLst>
                          </p:cTn>
                        </p:par>
                      </p:childTnLst>
                    </p:cTn>
                  </p:par>
                  <p:par>
                    <p:cTn id="1882" nodeType="clickEffect" fill="hold">
                      <p:stCondLst>
                        <p:cond delay="indefinite"/>
                      </p:stCondLst>
                      <p:childTnLst>
                        <p:par>
                          <p:cTn id="1883" nodeType="withEffect" fill="hold">
                            <p:stCondLst>
                              <p:cond delay="0"/>
                            </p:stCondLst>
                            <p:childTnLst>
                              <p:par>
                                <p:cTn id="1884" nodeType="clickEffect" fill="hold" presetClass="entr" presetID="22" presetSubtype="8">
                                  <p:stCondLst>
                                    <p:cond delay="0"/>
                                  </p:stCondLst>
                                  <p:childTnLst>
                                    <p:set>
                                      <p:cBhvr>
                                        <p:cTn id="1885" dur="1" fill="hold">
                                          <p:stCondLst>
                                            <p:cond delay="0"/>
                                          </p:stCondLst>
                                        </p:cTn>
                                        <p:tgtEl>
                                          <p:spTgt spid="548">
                                            <p:txEl>
                                              <p:pRg st="2" end="2"/>
                                            </p:txEl>
                                          </p:spTgt>
                                        </p:tgtEl>
                                        <p:attrNameLst>
                                          <p:attrName>style.visibility</p:attrName>
                                        </p:attrNameLst>
                                      </p:cBhvr>
                                      <p:to>
                                        <p:strVal val="visible"/>
                                      </p:to>
                                    </p:set>
                                    <p:animEffect filter="wipe(left)" transition="in">
                                      <p:cBhvr additive="repl">
                                        <p:cTn id="1886" dur="500"/>
                                        <p:tgtEl>
                                          <p:spTgt spid="548">
                                            <p:txEl>
                                              <p:pRg st="2" end="2"/>
                                            </p:txEl>
                                          </p:spTgt>
                                        </p:tgtEl>
                                      </p:cBhvr>
                                    </p:animEffect>
                                  </p:childTnLst>
                                </p:cTn>
                              </p:par>
                            </p:childTnLst>
                          </p:cTn>
                        </p:par>
                      </p:childTnLst>
                    </p:cTn>
                  </p:par>
                  <p:par>
                    <p:cTn id="1887" nodeType="clickEffect" fill="hold">
                      <p:stCondLst>
                        <p:cond delay="indefinite"/>
                      </p:stCondLst>
                      <p:childTnLst>
                        <p:par>
                          <p:cTn id="1888" nodeType="withEffect" fill="hold">
                            <p:stCondLst>
                              <p:cond delay="0"/>
                            </p:stCondLst>
                            <p:childTnLst>
                              <p:par>
                                <p:cTn id="1889" nodeType="clickEffect" fill="hold" presetClass="entr" presetID="22" presetSubtype="8">
                                  <p:stCondLst>
                                    <p:cond delay="0"/>
                                  </p:stCondLst>
                                  <p:childTnLst>
                                    <p:set>
                                      <p:cBhvr>
                                        <p:cTn id="1890" dur="1" fill="hold">
                                          <p:stCondLst>
                                            <p:cond delay="0"/>
                                          </p:stCondLst>
                                        </p:cTn>
                                        <p:tgtEl>
                                          <p:spTgt spid="548">
                                            <p:txEl>
                                              <p:pRg st="3" end="3"/>
                                            </p:txEl>
                                          </p:spTgt>
                                        </p:tgtEl>
                                        <p:attrNameLst>
                                          <p:attrName>style.visibility</p:attrName>
                                        </p:attrNameLst>
                                      </p:cBhvr>
                                      <p:to>
                                        <p:strVal val="visible"/>
                                      </p:to>
                                    </p:set>
                                    <p:animEffect filter="wipe(left)" transition="in">
                                      <p:cBhvr additive="repl">
                                        <p:cTn id="1891" dur="500"/>
                                        <p:tgtEl>
                                          <p:spTgt spid="548">
                                            <p:txEl>
                                              <p:pRg st="3" end="3"/>
                                            </p:txEl>
                                          </p:spTgt>
                                        </p:tgtEl>
                                      </p:cBhvr>
                                    </p:animEffect>
                                  </p:childTnLst>
                                </p:cTn>
                              </p:par>
                            </p:childTnLst>
                          </p:cTn>
                        </p:par>
                      </p:childTnLst>
                    </p:cTn>
                  </p:par>
                  <p:par>
                    <p:cTn id="1892" nodeType="clickEffect" fill="hold">
                      <p:stCondLst>
                        <p:cond delay="indefinite"/>
                      </p:stCondLst>
                      <p:childTnLst>
                        <p:par>
                          <p:cTn id="1893" nodeType="withEffect" fill="hold">
                            <p:stCondLst>
                              <p:cond delay="0"/>
                            </p:stCondLst>
                            <p:childTnLst>
                              <p:par>
                                <p:cTn id="1894" nodeType="clickEffect" fill="hold" presetClass="entr" presetID="22" presetSubtype="8">
                                  <p:stCondLst>
                                    <p:cond delay="0"/>
                                  </p:stCondLst>
                                  <p:childTnLst>
                                    <p:set>
                                      <p:cBhvr>
                                        <p:cTn id="1895" dur="1" fill="hold">
                                          <p:stCondLst>
                                            <p:cond delay="0"/>
                                          </p:stCondLst>
                                        </p:cTn>
                                        <p:tgtEl>
                                          <p:spTgt spid="548">
                                            <p:txEl>
                                              <p:pRg st="4" end="4"/>
                                            </p:txEl>
                                          </p:spTgt>
                                        </p:tgtEl>
                                        <p:attrNameLst>
                                          <p:attrName>style.visibility</p:attrName>
                                        </p:attrNameLst>
                                      </p:cBhvr>
                                      <p:to>
                                        <p:strVal val="visible"/>
                                      </p:to>
                                    </p:set>
                                    <p:animEffect filter="wipe(left)" transition="in">
                                      <p:cBhvr additive="repl">
                                        <p:cTn id="1896" dur="500"/>
                                        <p:tgtEl>
                                          <p:spTgt spid="548">
                                            <p:txEl>
                                              <p:pRg st="4" end="4"/>
                                            </p:txEl>
                                          </p:spTgt>
                                        </p:tgtEl>
                                      </p:cBhvr>
                                    </p:animEffect>
                                  </p:childTnLst>
                                </p:cTn>
                              </p:par>
                            </p:childTnLst>
                          </p:cTn>
                        </p:par>
                      </p:childTnLst>
                    </p:cTn>
                  </p:par>
                  <p:par>
                    <p:cTn id="1897" nodeType="clickEffect" fill="hold">
                      <p:stCondLst>
                        <p:cond delay="indefinite"/>
                      </p:stCondLst>
                      <p:childTnLst>
                        <p:par>
                          <p:cTn id="1898" nodeType="withEffect" fill="hold">
                            <p:stCondLst>
                              <p:cond delay="0"/>
                            </p:stCondLst>
                            <p:childTnLst>
                              <p:par>
                                <p:cTn id="1899" nodeType="clickEffect" fill="hold" presetClass="entr" presetID="22" presetSubtype="8">
                                  <p:stCondLst>
                                    <p:cond delay="0"/>
                                  </p:stCondLst>
                                  <p:childTnLst>
                                    <p:set>
                                      <p:cBhvr>
                                        <p:cTn id="1900" dur="1" fill="hold">
                                          <p:stCondLst>
                                            <p:cond delay="0"/>
                                          </p:stCondLst>
                                        </p:cTn>
                                        <p:tgtEl>
                                          <p:spTgt spid="548">
                                            <p:txEl>
                                              <p:pRg st="5" end="5"/>
                                            </p:txEl>
                                          </p:spTgt>
                                        </p:tgtEl>
                                        <p:attrNameLst>
                                          <p:attrName>style.visibility</p:attrName>
                                        </p:attrNameLst>
                                      </p:cBhvr>
                                      <p:to>
                                        <p:strVal val="visible"/>
                                      </p:to>
                                    </p:set>
                                    <p:animEffect filter="wipe(left)" transition="in">
                                      <p:cBhvr additive="repl">
                                        <p:cTn id="1901" dur="500"/>
                                        <p:tgtEl>
                                          <p:spTgt spid="548">
                                            <p:txEl>
                                              <p:pRg st="5" end="5"/>
                                            </p:txEl>
                                          </p:spTgt>
                                        </p:tgtEl>
                                      </p:cBhvr>
                                    </p:animEffect>
                                  </p:childTnLst>
                                </p:cTn>
                              </p:par>
                            </p:childTnLst>
                          </p:cTn>
                        </p:par>
                      </p:childTnLst>
                    </p:cTn>
                  </p:par>
                  <p:par>
                    <p:cTn id="1902" nodeType="clickEffect" fill="hold">
                      <p:stCondLst>
                        <p:cond delay="indefinite"/>
                      </p:stCondLst>
                      <p:childTnLst>
                        <p:par>
                          <p:cTn id="1903" nodeType="withEffect" fill="hold">
                            <p:stCondLst>
                              <p:cond delay="0"/>
                            </p:stCondLst>
                            <p:childTnLst>
                              <p:par>
                                <p:cTn id="1904" nodeType="clickEffect" fill="hold" presetClass="entr" presetID="22" presetSubtype="8">
                                  <p:stCondLst>
                                    <p:cond delay="0"/>
                                  </p:stCondLst>
                                  <p:childTnLst>
                                    <p:set>
                                      <p:cBhvr>
                                        <p:cTn id="1905" dur="1" fill="hold">
                                          <p:stCondLst>
                                            <p:cond delay="0"/>
                                          </p:stCondLst>
                                        </p:cTn>
                                        <p:tgtEl>
                                          <p:spTgt spid="548">
                                            <p:txEl>
                                              <p:pRg st="6" end="6"/>
                                            </p:txEl>
                                          </p:spTgt>
                                        </p:tgtEl>
                                        <p:attrNameLst>
                                          <p:attrName>style.visibility</p:attrName>
                                        </p:attrNameLst>
                                      </p:cBhvr>
                                      <p:to>
                                        <p:strVal val="visible"/>
                                      </p:to>
                                    </p:set>
                                    <p:animEffect filter="wipe(left)" transition="in">
                                      <p:cBhvr additive="repl">
                                        <p:cTn id="1906" dur="500"/>
                                        <p:tgtEl>
                                          <p:spTgt spid="548">
                                            <p:txEl>
                                              <p:pRg st="6" end="6"/>
                                            </p:txEl>
                                          </p:spTgt>
                                        </p:tgtEl>
                                      </p:cBhvr>
                                    </p:animEffect>
                                  </p:childTnLst>
                                </p:cTn>
                              </p:par>
                            </p:childTnLst>
                          </p:cTn>
                        </p:par>
                      </p:childTnLst>
                    </p:cTn>
                  </p:par>
                  <p:par>
                    <p:cTn id="1907" nodeType="clickEffect" fill="hold">
                      <p:stCondLst>
                        <p:cond delay="indefinite"/>
                      </p:stCondLst>
                      <p:childTnLst>
                        <p:par>
                          <p:cTn id="1908" nodeType="withEffect" fill="hold">
                            <p:stCondLst>
                              <p:cond delay="0"/>
                            </p:stCondLst>
                            <p:childTnLst>
                              <p:par>
                                <p:cTn id="1909" nodeType="clickEffect" fill="hold" presetClass="entr" presetID="22" presetSubtype="8">
                                  <p:stCondLst>
                                    <p:cond delay="0"/>
                                  </p:stCondLst>
                                  <p:childTnLst>
                                    <p:set>
                                      <p:cBhvr>
                                        <p:cTn id="1910" dur="1" fill="hold">
                                          <p:stCondLst>
                                            <p:cond delay="0"/>
                                          </p:stCondLst>
                                        </p:cTn>
                                        <p:tgtEl>
                                          <p:spTgt spid="548">
                                            <p:txEl>
                                              <p:pRg st="7" end="7"/>
                                            </p:txEl>
                                          </p:spTgt>
                                        </p:tgtEl>
                                        <p:attrNameLst>
                                          <p:attrName>style.visibility</p:attrName>
                                        </p:attrNameLst>
                                      </p:cBhvr>
                                      <p:to>
                                        <p:strVal val="visible"/>
                                      </p:to>
                                    </p:set>
                                    <p:animEffect filter="wipe(left)" transition="in">
                                      <p:cBhvr additive="repl">
                                        <p:cTn id="1911" dur="500"/>
                                        <p:tgtEl>
                                          <p:spTgt spid="548">
                                            <p:txEl>
                                              <p:pRg st="7" end="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6_Custom Design">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9_newdesign">
  <a:themeElements>
    <a:clrScheme name="1_new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new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10_newdesign">
  <a:themeElements>
    <a:clrScheme name="3_new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new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11_newdesign">
  <a:themeElements>
    <a:clrScheme name="3_new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new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5_Custom Design">
  <a:themeElements>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Custom 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7_foundations">
  <a:themeElements>
    <a:clrScheme name="7_foundations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7_foundations">
      <a:majorFont>
        <a:latin typeface="Arial" pitchFamily="0" charset="1"/>
        <a:ea typeface="ＭＳ Ｐゴシック" pitchFamily="0" charset="1"/>
        <a:cs typeface=""/>
      </a:majorFont>
      <a:minorFont>
        <a:latin typeface="Arial" pitchFamily="0" charset="1"/>
        <a:ea typeface="ＭＳ Ｐゴシック" pitchFamily="0" charset="1"/>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Foundations 2e</Template>
  <TotalTime>12713</TotalTime>
  <Application>LibreOffice/25.2.3.2$MacOSX_AARCH64 LibreOffice_project/bbb074479178df812d175f709636b368952c2ce3</Application>
  <AppVersion>15.0000</AppVersion>
  <Words>4690</Words>
  <Paragraphs>438</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2000-11-24T17:02:06Z</dcterms:created>
  <dc:creator>Robin Bade and Michael Parkin</dc:creator>
  <dc:description/>
  <dc:language>en-US</dc:language>
  <cp:lastModifiedBy/>
  <dcterms:modified xsi:type="dcterms:W3CDTF">2025-07-29T07:41:05Z</dcterms:modified>
  <cp:revision>234</cp:revision>
  <dc:subject/>
  <dc:title>Chapter15</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16</vt:i4>
  </property>
  <property fmtid="{D5CDD505-2E9C-101B-9397-08002B2CF9AE}" pid="3" name="Notes">
    <vt:i4>93</vt:i4>
  </property>
  <property fmtid="{D5CDD505-2E9C-101B-9397-08002B2CF9AE}" pid="4" name="PresentationFormat">
    <vt:lpwstr>On-screen Show (4:3)</vt:lpwstr>
  </property>
  <property fmtid="{D5CDD505-2E9C-101B-9397-08002B2CF9AE}" pid="5" name="Slides">
    <vt:i4>93</vt:i4>
  </property>
</Properties>
</file>