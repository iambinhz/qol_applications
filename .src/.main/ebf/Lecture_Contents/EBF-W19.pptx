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 id="2147483660" r:id="rId2"/>
    <p:sldMasterId id="2147483655" r:id="rId3"/>
    <p:sldMasterId id="2147483657" r:id="rId4"/>
    <p:sldMasterId id="2147483658" r:id="rId5"/>
    <p:sldMasterId id="2147483659" r:id="rId6"/>
    <p:sldMasterId id="2147483729" r:id="rId7"/>
  </p:sldMasterIdLst>
  <p:notesMasterIdLst>
    <p:notesMasterId r:id="rId70"/>
  </p:notesMasterIdLst>
  <p:handoutMasterIdLst>
    <p:handoutMasterId r:id="rId71"/>
  </p:handoutMasterIdLst>
  <p:sldIdLst>
    <p:sldId id="304" r:id="rId8"/>
    <p:sldId id="578" r:id="rId9"/>
    <p:sldId id="573" r:id="rId10"/>
    <p:sldId id="547" r:id="rId11"/>
    <p:sldId id="548" r:id="rId12"/>
    <p:sldId id="484" r:id="rId13"/>
    <p:sldId id="525" r:id="rId14"/>
    <p:sldId id="485" r:id="rId15"/>
    <p:sldId id="526" r:id="rId16"/>
    <p:sldId id="448" r:id="rId17"/>
    <p:sldId id="486" r:id="rId18"/>
    <p:sldId id="569" r:id="rId19"/>
    <p:sldId id="505" r:id="rId20"/>
    <p:sldId id="451" r:id="rId21"/>
    <p:sldId id="487" r:id="rId22"/>
    <p:sldId id="303" r:id="rId23"/>
    <p:sldId id="529" r:id="rId24"/>
    <p:sldId id="488" r:id="rId25"/>
    <p:sldId id="570" r:id="rId26"/>
    <p:sldId id="509" r:id="rId27"/>
    <p:sldId id="455" r:id="rId28"/>
    <p:sldId id="508" r:id="rId29"/>
    <p:sldId id="549" r:id="rId30"/>
    <p:sldId id="489" r:id="rId31"/>
    <p:sldId id="532" r:id="rId32"/>
    <p:sldId id="456" r:id="rId33"/>
    <p:sldId id="490" r:id="rId34"/>
    <p:sldId id="533" r:id="rId35"/>
    <p:sldId id="550" r:id="rId36"/>
    <p:sldId id="491" r:id="rId37"/>
    <p:sldId id="574" r:id="rId38"/>
    <p:sldId id="510" r:id="rId39"/>
    <p:sldId id="462" r:id="rId40"/>
    <p:sldId id="492" r:id="rId41"/>
    <p:sldId id="536" r:id="rId42"/>
    <p:sldId id="511" r:id="rId43"/>
    <p:sldId id="571" r:id="rId44"/>
    <p:sldId id="512" r:id="rId45"/>
    <p:sldId id="464" r:id="rId46"/>
    <p:sldId id="552" r:id="rId47"/>
    <p:sldId id="308" r:id="rId48"/>
    <p:sldId id="309" r:id="rId49"/>
    <p:sldId id="310" r:id="rId50"/>
    <p:sldId id="311" r:id="rId51"/>
    <p:sldId id="312" r:id="rId52"/>
    <p:sldId id="313" r:id="rId53"/>
    <p:sldId id="314" r:id="rId54"/>
    <p:sldId id="315" r:id="rId55"/>
    <p:sldId id="316" r:id="rId56"/>
    <p:sldId id="317" r:id="rId57"/>
    <p:sldId id="318" r:id="rId58"/>
    <p:sldId id="551" r:id="rId59"/>
    <p:sldId id="553" r:id="rId60"/>
    <p:sldId id="554" r:id="rId61"/>
    <p:sldId id="555" r:id="rId62"/>
    <p:sldId id="557" r:id="rId63"/>
    <p:sldId id="572" r:id="rId64"/>
    <p:sldId id="556" r:id="rId65"/>
    <p:sldId id="558" r:id="rId66"/>
    <p:sldId id="559" r:id="rId67"/>
    <p:sldId id="579" r:id="rId68"/>
    <p:sldId id="580" r:id="rId69"/>
  </p:sldIdLst>
  <p:sldSz cx="9144000" cy="6858000" type="screen4x3"/>
  <p:notesSz cx="6858000" cy="9144000"/>
  <p:defaultTextStyle>
    <a:defPPr>
      <a:defRPr lang="en-CA"/>
    </a:defPPr>
    <a:lvl1pPr algn="l" rtl="0" fontAlgn="base">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1pPr>
    <a:lvl2pPr marL="457200" algn="l" rtl="0" fontAlgn="base">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2pPr>
    <a:lvl3pPr marL="914400" algn="l" rtl="0" fontAlgn="base">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3pPr>
    <a:lvl4pPr marL="1371600" algn="l" rtl="0" fontAlgn="base">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4pPr>
    <a:lvl5pPr marL="1828800" algn="l" rtl="0" fontAlgn="base">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AF7EA8-9E9E-EF41-BBA6-00C99BDB8625}" v="3" dt="2026-03-23T15:36:49.2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5646"/>
  </p:normalViewPr>
  <p:slideViewPr>
    <p:cSldViewPr>
      <p:cViewPr varScale="1">
        <p:scale>
          <a:sx n="95" d="100"/>
          <a:sy n="95" d="100"/>
        </p:scale>
        <p:origin x="2664"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536"/>
    </p:cViewPr>
  </p:sorterViewPr>
  <p:notesViewPr>
    <p:cSldViewPr>
      <p:cViewPr varScale="1">
        <p:scale>
          <a:sx n="81" d="100"/>
          <a:sy n="81" d="100"/>
        </p:scale>
        <p:origin x="-3120"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slide" Target="slides/slide61.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slide" Target="slides/slide59.xml"/><Relationship Id="rId74" Type="http://schemas.openxmlformats.org/officeDocument/2006/relationships/theme" Target="theme/theme1.xml"/><Relationship Id="rId5" Type="http://schemas.openxmlformats.org/officeDocument/2006/relationships/slideMaster" Target="slideMasters/slideMaster5.xml"/><Relationship Id="rId61" Type="http://schemas.openxmlformats.org/officeDocument/2006/relationships/slide" Target="slides/slide54.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slide" Target="slides/slide62.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microsoft.com/office/2015/10/relationships/revisionInfo" Target="revisionInfo.xml"/><Relationship Id="rId7" Type="http://schemas.openxmlformats.org/officeDocument/2006/relationships/slideMaster" Target="slideMasters/slideMaster7.xml"/><Relationship Id="rId7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86795FEF-ABB7-FAE0-F9F1-9D37FBCF2CEC}"/>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Tahoma" panose="020B0604030504040204" pitchFamily="34" charset="0"/>
              </a:defRPr>
            </a:lvl1pPr>
          </a:lstStyle>
          <a:p>
            <a:endParaRPr lang="en-CA" altLang="en-US"/>
          </a:p>
        </p:txBody>
      </p:sp>
      <p:sp>
        <p:nvSpPr>
          <p:cNvPr id="60419" name="Rectangle 3">
            <a:extLst>
              <a:ext uri="{FF2B5EF4-FFF2-40B4-BE49-F238E27FC236}">
                <a16:creationId xmlns:a16="http://schemas.microsoft.com/office/drawing/2014/main" id="{E7AA2CC6-8A42-F6B4-C17D-BA33B95E9111}"/>
              </a:ext>
            </a:extLst>
          </p:cNvPr>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ahoma" panose="020B0604030504040204" pitchFamily="34" charset="0"/>
              </a:defRPr>
            </a:lvl1pPr>
          </a:lstStyle>
          <a:p>
            <a:endParaRPr lang="en-CA" altLang="en-US"/>
          </a:p>
        </p:txBody>
      </p:sp>
      <p:sp>
        <p:nvSpPr>
          <p:cNvPr id="60420" name="Rectangle 4">
            <a:extLst>
              <a:ext uri="{FF2B5EF4-FFF2-40B4-BE49-F238E27FC236}">
                <a16:creationId xmlns:a16="http://schemas.microsoft.com/office/drawing/2014/main" id="{FDC213A9-737C-4473-2F3D-69E341E46D65}"/>
              </a:ext>
            </a:extLst>
          </p:cNvPr>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Tahoma" panose="020B0604030504040204" pitchFamily="34" charset="0"/>
              </a:defRPr>
            </a:lvl1pPr>
          </a:lstStyle>
          <a:p>
            <a:endParaRPr lang="en-CA" altLang="en-US"/>
          </a:p>
        </p:txBody>
      </p:sp>
      <p:sp>
        <p:nvSpPr>
          <p:cNvPr id="60421" name="Rectangle 5">
            <a:extLst>
              <a:ext uri="{FF2B5EF4-FFF2-40B4-BE49-F238E27FC236}">
                <a16:creationId xmlns:a16="http://schemas.microsoft.com/office/drawing/2014/main" id="{6FCF4EA6-794D-CF2D-523B-74C6935CD9DD}"/>
              </a:ext>
            </a:extLst>
          </p:cNvPr>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Tahoma" panose="020B0604030504040204" pitchFamily="34" charset="0"/>
              </a:defRPr>
            </a:lvl1pPr>
          </a:lstStyle>
          <a:p>
            <a:fld id="{42629051-524C-DA4D-B196-60E34441FE18}" type="slidenum">
              <a:rPr lang="en-CA" altLang="en-TW"/>
              <a:pPr/>
              <a:t>‹#›</a:t>
            </a:fld>
            <a:endParaRPr lang="en-CA" altLang="en-TW"/>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0D4FA261-84DC-F4E4-F633-0F81778ABBDA}"/>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Tahoma" panose="020B0604030504040204" pitchFamily="34" charset="0"/>
              </a:defRPr>
            </a:lvl1pPr>
          </a:lstStyle>
          <a:p>
            <a:endParaRPr lang="en-CA" altLang="en-US"/>
          </a:p>
        </p:txBody>
      </p:sp>
      <p:sp>
        <p:nvSpPr>
          <p:cNvPr id="61443" name="Rectangle 3">
            <a:extLst>
              <a:ext uri="{FF2B5EF4-FFF2-40B4-BE49-F238E27FC236}">
                <a16:creationId xmlns:a16="http://schemas.microsoft.com/office/drawing/2014/main" id="{9443E783-9EF0-80A0-CE2E-2917E7EFE08C}"/>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ahoma" panose="020B0604030504040204" pitchFamily="34" charset="0"/>
              </a:defRPr>
            </a:lvl1pPr>
          </a:lstStyle>
          <a:p>
            <a:endParaRPr lang="en-CA" altLang="en-US"/>
          </a:p>
        </p:txBody>
      </p:sp>
      <p:sp>
        <p:nvSpPr>
          <p:cNvPr id="82948" name="Rectangle 4">
            <a:extLst>
              <a:ext uri="{FF2B5EF4-FFF2-40B4-BE49-F238E27FC236}">
                <a16:creationId xmlns:a16="http://schemas.microsoft.com/office/drawing/2014/main" id="{E6CBF40B-7A7C-953A-C8EC-0D13FD884D7D}"/>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 uri="{FAA26D3D-D897-4be2-8F04-BA451C77F1D7}">
              <ma14:placeholderFlag xmlns:ma14="http://schemas.microsoft.com/office/mac/drawingml/2011/main" xmlns="" val="1"/>
            </a:ext>
          </a:extLst>
        </p:spPr>
      </p:sp>
      <p:sp>
        <p:nvSpPr>
          <p:cNvPr id="61445" name="Rectangle 5">
            <a:extLst>
              <a:ext uri="{FF2B5EF4-FFF2-40B4-BE49-F238E27FC236}">
                <a16:creationId xmlns:a16="http://schemas.microsoft.com/office/drawing/2014/main" id="{FCA0BEA0-035E-B841-C6A4-5FB25F1B0CA2}"/>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CA" altLang="en-US" noProof="0"/>
              <a:t>Click to edit Master text styles</a:t>
            </a:r>
          </a:p>
          <a:p>
            <a:pPr lvl="1"/>
            <a:r>
              <a:rPr lang="en-CA" altLang="en-US" noProof="0"/>
              <a:t>Second level</a:t>
            </a:r>
          </a:p>
          <a:p>
            <a:pPr lvl="2"/>
            <a:r>
              <a:rPr lang="en-CA" altLang="en-US" noProof="0"/>
              <a:t>Third level</a:t>
            </a:r>
          </a:p>
          <a:p>
            <a:pPr lvl="3"/>
            <a:r>
              <a:rPr lang="en-CA" altLang="en-US" noProof="0"/>
              <a:t>Fourth level</a:t>
            </a:r>
          </a:p>
          <a:p>
            <a:pPr lvl="4"/>
            <a:r>
              <a:rPr lang="en-CA" altLang="en-US" noProof="0"/>
              <a:t>Fifth level</a:t>
            </a:r>
          </a:p>
        </p:txBody>
      </p:sp>
      <p:sp>
        <p:nvSpPr>
          <p:cNvPr id="61446" name="Rectangle 6">
            <a:extLst>
              <a:ext uri="{FF2B5EF4-FFF2-40B4-BE49-F238E27FC236}">
                <a16:creationId xmlns:a16="http://schemas.microsoft.com/office/drawing/2014/main" id="{0EC4B53F-7FDA-275F-861C-57C85A1D99DD}"/>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Tahoma" panose="020B0604030504040204" pitchFamily="34" charset="0"/>
              </a:defRPr>
            </a:lvl1pPr>
          </a:lstStyle>
          <a:p>
            <a:endParaRPr lang="en-CA" altLang="en-US"/>
          </a:p>
        </p:txBody>
      </p:sp>
      <p:sp>
        <p:nvSpPr>
          <p:cNvPr id="61447" name="Rectangle 7">
            <a:extLst>
              <a:ext uri="{FF2B5EF4-FFF2-40B4-BE49-F238E27FC236}">
                <a16:creationId xmlns:a16="http://schemas.microsoft.com/office/drawing/2014/main" id="{BF4434F3-9C15-137D-8542-2E2E58B75391}"/>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Tahoma" panose="020B0604030504040204" pitchFamily="34" charset="0"/>
              </a:defRPr>
            </a:lvl1pPr>
          </a:lstStyle>
          <a:p>
            <a:fld id="{C1DC47FC-107A-3942-9E84-7298B5BB8C1F}" type="slidenum">
              <a:rPr lang="en-CA" altLang="en-TW"/>
              <a:pPr/>
              <a:t>‹#›</a:t>
            </a:fld>
            <a:endParaRPr lang="en-CA" altLang="en-TW"/>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ern="1200">
        <a:solidFill>
          <a:schemeClr val="tx1"/>
        </a:solidFill>
        <a:latin typeface="Times New Roman" pitchFamily="18" charset="0"/>
        <a:ea typeface="ＭＳ Ｐゴシック" charset="0"/>
        <a:cs typeface="+mn-cs"/>
      </a:defRPr>
    </a:lvl1pPr>
    <a:lvl2pPr marL="457200" algn="l" rtl="0" eaLnBrk="0" fontAlgn="base" hangingPunct="0">
      <a:spcBef>
        <a:spcPct val="30000"/>
      </a:spcBef>
      <a:spcAft>
        <a:spcPct val="0"/>
      </a:spcAft>
      <a:defRPr sz="1600" kern="1200">
        <a:solidFill>
          <a:schemeClr val="tx1"/>
        </a:solidFill>
        <a:latin typeface="Times New Roman" pitchFamily="18"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TextEdit="1"/>
          </p:cNvSpPr>
          <p:nvPr>
            <p:ph type="sldImg"/>
          </p:nvPr>
        </p:nvSpPr>
        <p:spPr>
          <a:xfrm>
            <a:off x="1143000" y="685800"/>
            <a:ext cx="4573588" cy="3429000"/>
          </a:xfrm>
          <a:ln/>
        </p:spPr>
      </p:sp>
      <p:sp>
        <p:nvSpPr>
          <p:cNvPr id="61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latin typeface="Times New Roman" panose="02020603050405020304" pitchFamily="18" charset="0"/>
            </a:endParaRPr>
          </a:p>
        </p:txBody>
      </p:sp>
      <p:sp>
        <p:nvSpPr>
          <p:cNvPr id="6148" name="Slide Number Placeholder 3"/>
          <p:cNvSpPr>
            <a:spLocks noGrp="1"/>
          </p:cNvSpPr>
          <p:nvPr>
            <p:ph type="sldNum" sz="quarter" idx="5"/>
          </p:nvPr>
        </p:nvSpPr>
        <p:spPr>
          <a:xfrm>
            <a:off x="0" y="0"/>
            <a:ext cx="0" cy="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76D3EE1-26EB-4098-B0C0-27B5598D974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mn-cs"/>
            </a:endParaRPr>
          </a:p>
        </p:txBody>
      </p:sp>
    </p:spTree>
    <p:extLst>
      <p:ext uri="{BB962C8B-B14F-4D97-AF65-F5344CB8AC3E}">
        <p14:creationId xmlns:p14="http://schemas.microsoft.com/office/powerpoint/2010/main" val="16200923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611DF02F-580D-E63D-DE86-4ED717CD12D6}"/>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AFF6DCCD-DECC-6942-B2CE-641B328D89AA}" type="slidenum">
              <a:rPr lang="en-CA" altLang="en-TW" sz="1200">
                <a:latin typeface="Tahoma" panose="020B0604030504040204" pitchFamily="34" charset="0"/>
              </a:rPr>
              <a:pPr eaLnBrk="1" hangingPunct="1"/>
              <a:t>3</a:t>
            </a:fld>
            <a:endParaRPr lang="en-CA" altLang="en-TW" sz="1200">
              <a:latin typeface="Tahoma" panose="020B0604030504040204" pitchFamily="34" charset="0"/>
            </a:endParaRPr>
          </a:p>
        </p:txBody>
      </p:sp>
      <p:sp>
        <p:nvSpPr>
          <p:cNvPr id="83971" name="Rectangle 2">
            <a:extLst>
              <a:ext uri="{FF2B5EF4-FFF2-40B4-BE49-F238E27FC236}">
                <a16:creationId xmlns:a16="http://schemas.microsoft.com/office/drawing/2014/main" id="{17E45FB4-42DA-DC00-2AE4-EAD7D8112900}"/>
              </a:ext>
            </a:extLst>
          </p:cNvPr>
          <p:cNvSpPr>
            <a:spLocks noGrp="1" noRot="1" noChangeAspect="1" noChangeArrowheads="1" noTextEdit="1"/>
          </p:cNvSpPr>
          <p:nvPr>
            <p:ph type="sldImg"/>
          </p:nvPr>
        </p:nvSpPr>
        <p:spPr>
          <a:ln/>
        </p:spPr>
      </p:sp>
      <p:sp>
        <p:nvSpPr>
          <p:cNvPr id="83972" name="Rectangle 3">
            <a:extLst>
              <a:ext uri="{FF2B5EF4-FFF2-40B4-BE49-F238E27FC236}">
                <a16:creationId xmlns:a16="http://schemas.microsoft.com/office/drawing/2014/main" id="{6E1407DD-93E0-46B2-6E34-514C02034EC0}"/>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r>
              <a:rPr lang="en-CA" altLang="en-TW" sz="2000">
                <a:ea typeface="ＭＳ Ｐゴシック" panose="020B0600070205080204" pitchFamily="34" charset="-128"/>
              </a:rPr>
              <a:t>Notes and teaching tips:</a:t>
            </a:r>
            <a:r>
              <a:rPr lang="en-GB" altLang="en-TW" sz="2000">
                <a:ea typeface="ＭＳ Ｐゴシック" panose="020B0600070205080204" pitchFamily="34" charset="-128"/>
              </a:rPr>
              <a:t> 5, 8, 9, 25, and 26.</a:t>
            </a:r>
          </a:p>
          <a:p>
            <a:pPr eaLnBrk="1" hangingPunct="1"/>
            <a:r>
              <a:rPr lang="en-CA" altLang="en-TW" sz="2000">
                <a:ea typeface="ＭＳ Ｐゴシック" panose="020B0600070205080204" pitchFamily="34" charset="-128"/>
              </a:rPr>
              <a:t>To view a full-screen figure during a class, click the red </a:t>
            </a:r>
            <a:r>
              <a:rPr lang="ja-JP" altLang="en-CA" sz="2000">
                <a:ea typeface="ＭＳ Ｐゴシック" panose="020B0600070205080204" pitchFamily="34" charset="-128"/>
              </a:rPr>
              <a:t>“</a:t>
            </a:r>
            <a:r>
              <a:rPr lang="en-CA" altLang="ja-JP" sz="2000">
                <a:ea typeface="ＭＳ Ｐゴシック" panose="020B0600070205080204" pitchFamily="34" charset="-128"/>
              </a:rPr>
              <a:t>expand</a:t>
            </a:r>
            <a:r>
              <a:rPr lang="ja-JP" altLang="en-CA" sz="2000">
                <a:ea typeface="ＭＳ Ｐゴシック" panose="020B0600070205080204" pitchFamily="34" charset="-128"/>
              </a:rPr>
              <a:t>”</a:t>
            </a:r>
            <a:r>
              <a:rPr lang="en-CA" altLang="ja-JP" sz="2000">
                <a:ea typeface="ＭＳ Ｐゴシック" panose="020B0600070205080204" pitchFamily="34" charset="-128"/>
              </a:rPr>
              <a:t> button.</a:t>
            </a:r>
          </a:p>
          <a:p>
            <a:pPr eaLnBrk="1" hangingPunct="1"/>
            <a:r>
              <a:rPr lang="en-CA" altLang="en-TW" sz="2000">
                <a:ea typeface="ＭＳ Ｐゴシック" panose="020B0600070205080204" pitchFamily="34" charset="-128"/>
              </a:rPr>
              <a:t>To return to the previous slide, click the red </a:t>
            </a:r>
            <a:r>
              <a:rPr lang="ja-JP" altLang="en-CA" sz="2000">
                <a:ea typeface="ＭＳ Ｐゴシック" panose="020B0600070205080204" pitchFamily="34" charset="-128"/>
              </a:rPr>
              <a:t>“</a:t>
            </a:r>
            <a:r>
              <a:rPr lang="en-CA" altLang="ja-JP" sz="2000">
                <a:ea typeface="ＭＳ Ｐゴシック" panose="020B0600070205080204" pitchFamily="34" charset="-128"/>
              </a:rPr>
              <a:t>shrink</a:t>
            </a:r>
            <a:r>
              <a:rPr lang="ja-JP" altLang="en-CA" sz="2000">
                <a:ea typeface="ＭＳ Ｐゴシック" panose="020B0600070205080204" pitchFamily="34" charset="-128"/>
              </a:rPr>
              <a:t>”</a:t>
            </a:r>
            <a:r>
              <a:rPr lang="en-CA" altLang="ja-JP" sz="2000">
                <a:ea typeface="ＭＳ Ｐゴシック" panose="020B0600070205080204" pitchFamily="34" charset="-128"/>
              </a:rPr>
              <a:t> button.</a:t>
            </a:r>
          </a:p>
          <a:p>
            <a:pPr eaLnBrk="1" hangingPunct="1"/>
            <a:r>
              <a:rPr lang="en-CA" altLang="en-TW" sz="2000">
                <a:ea typeface="ＭＳ Ｐゴシック" panose="020B0600070205080204" pitchFamily="34" charset="-128"/>
              </a:rPr>
              <a:t>To advance to the next slide, click anywhere on the full screen figure.</a:t>
            </a:r>
          </a:p>
          <a:p>
            <a:pPr eaLnBrk="1" hangingPunct="1"/>
            <a:r>
              <a:rPr lang="en-CA" altLang="en-TW" sz="2000">
                <a:ea typeface="ＭＳ Ｐゴシック" panose="020B0600070205080204" pitchFamily="34" charset="-128"/>
              </a:rPr>
              <a:t>To enhance your lecture, check out the Lecture Launchers, Land Mines, and Class Activities in the Instructor</a:t>
            </a:r>
            <a:r>
              <a:rPr lang="ja-JP" altLang="en-CA" sz="2000">
                <a:ea typeface="ＭＳ Ｐゴシック" panose="020B0600070205080204" pitchFamily="34" charset="-128"/>
              </a:rPr>
              <a:t>’</a:t>
            </a:r>
            <a:r>
              <a:rPr lang="en-CA" altLang="ja-JP" sz="2000">
                <a:ea typeface="ＭＳ Ｐゴシック" panose="020B0600070205080204" pitchFamily="34" charset="-128"/>
              </a:rPr>
              <a:t>s Manual.</a:t>
            </a:r>
          </a:p>
          <a:p>
            <a:pPr eaLnBrk="1" hangingPunct="1"/>
            <a:endParaRPr lang="en-US" altLang="en-TW" sz="2000">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F9193538-20BE-F6FA-989F-C5EC228AA36C}"/>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0A000D45-B218-584F-BBE2-8F09B1C1E509}" type="slidenum">
              <a:rPr lang="en-CA" altLang="en-TW" sz="1200">
                <a:latin typeface="Tahoma" panose="020B0604030504040204" pitchFamily="34" charset="0"/>
              </a:rPr>
              <a:pPr eaLnBrk="1" hangingPunct="1"/>
              <a:t>4</a:t>
            </a:fld>
            <a:endParaRPr lang="en-CA" altLang="en-TW" sz="1200">
              <a:latin typeface="Tahoma" panose="020B0604030504040204" pitchFamily="34" charset="0"/>
            </a:endParaRPr>
          </a:p>
        </p:txBody>
      </p:sp>
      <p:sp>
        <p:nvSpPr>
          <p:cNvPr id="84995" name="Rectangle 2">
            <a:extLst>
              <a:ext uri="{FF2B5EF4-FFF2-40B4-BE49-F238E27FC236}">
                <a16:creationId xmlns:a16="http://schemas.microsoft.com/office/drawing/2014/main" id="{C32803FA-1DCE-F254-7A52-6F95F5E1B265}"/>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281C17DD-EBF0-78C0-7424-52A46D1E7A88}"/>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endParaRPr lang="en-GB" altLang="en-TW">
              <a:ea typeface="ＭＳ Ｐゴシック"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16E6E748-E569-9ECE-8595-F5AD86B993C2}"/>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F5A4E69B-CFD3-8C46-8045-039AA9D7F8BE}" type="slidenum">
              <a:rPr lang="en-CA" altLang="en-TW" sz="1200">
                <a:latin typeface="Tahoma" panose="020B0604030504040204" pitchFamily="34" charset="0"/>
              </a:rPr>
              <a:pPr eaLnBrk="1" hangingPunct="1"/>
              <a:t>5</a:t>
            </a:fld>
            <a:endParaRPr lang="en-CA" altLang="en-TW" sz="1200">
              <a:latin typeface="Tahoma" panose="020B0604030504040204" pitchFamily="34" charset="0"/>
            </a:endParaRPr>
          </a:p>
        </p:txBody>
      </p:sp>
      <p:sp>
        <p:nvSpPr>
          <p:cNvPr id="86019" name="Rectangle 2">
            <a:extLst>
              <a:ext uri="{FF2B5EF4-FFF2-40B4-BE49-F238E27FC236}">
                <a16:creationId xmlns:a16="http://schemas.microsoft.com/office/drawing/2014/main" id="{E0B93B5C-B8EC-D7DE-3F8E-E80CDDA7D427}"/>
              </a:ext>
            </a:extLst>
          </p:cNvPr>
          <p:cNvSpPr>
            <a:spLocks noGrp="1" noRot="1" noChangeAspect="1" noChangeArrowheads="1" noTextEdit="1"/>
          </p:cNvSpPr>
          <p:nvPr>
            <p:ph type="sldImg"/>
          </p:nvPr>
        </p:nvSpPr>
        <p:spPr>
          <a:ln/>
        </p:spPr>
      </p:sp>
      <p:sp>
        <p:nvSpPr>
          <p:cNvPr id="86020" name="Rectangle 3">
            <a:extLst>
              <a:ext uri="{FF2B5EF4-FFF2-40B4-BE49-F238E27FC236}">
                <a16:creationId xmlns:a16="http://schemas.microsoft.com/office/drawing/2014/main" id="{FFD0CD83-7C49-F09D-07C3-124132E07D9D}"/>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lnSpc>
                <a:spcPct val="90000"/>
              </a:lnSpc>
            </a:pPr>
            <a:r>
              <a:rPr lang="en-GB" altLang="en-TW" sz="1400">
                <a:ea typeface="ＭＳ Ｐゴシック" panose="020B0600070205080204" pitchFamily="34" charset="-128"/>
              </a:rPr>
              <a:t>Ask the students if they saw the article in the day</a:t>
            </a:r>
            <a:r>
              <a:rPr lang="en-GB" altLang="en-US" sz="1400">
                <a:ea typeface="ＭＳ Ｐゴシック" panose="020B0600070205080204" pitchFamily="34" charset="-128"/>
              </a:rPr>
              <a:t>’</a:t>
            </a:r>
            <a:r>
              <a:rPr lang="en-GB" altLang="en-TW" sz="1400">
                <a:ea typeface="ＭＳ Ｐゴシック" panose="020B0600070205080204" pitchFamily="34" charset="-128"/>
              </a:rPr>
              <a:t>s local paper that the local government plans to place a $200 limit on rents that landlords could charge for apartments near campus. (Of course this story wasn</a:t>
            </a:r>
            <a:r>
              <a:rPr lang="en-GB" altLang="en-US" sz="1400">
                <a:ea typeface="ＭＳ Ｐゴシック" panose="020B0600070205080204" pitchFamily="34" charset="-128"/>
              </a:rPr>
              <a:t>’</a:t>
            </a:r>
            <a:r>
              <a:rPr lang="en-GB" altLang="en-TW" sz="1400">
                <a:ea typeface="ＭＳ Ｐゴシック" panose="020B0600070205080204" pitchFamily="34" charset="-128"/>
              </a:rPr>
              <a:t>t in the paper, but students are more likely to pay attention if they think you</a:t>
            </a:r>
            <a:r>
              <a:rPr lang="en-GB" altLang="en-US" sz="1400">
                <a:ea typeface="ＭＳ Ｐゴシック" panose="020B0600070205080204" pitchFamily="34" charset="-128"/>
              </a:rPr>
              <a:t>’</a:t>
            </a:r>
            <a:r>
              <a:rPr lang="en-GB" altLang="en-TW" sz="1400">
                <a:ea typeface="ＭＳ Ｐゴシック" panose="020B0600070205080204" pitchFamily="34" charset="-128"/>
              </a:rPr>
              <a:t>re serious! Don</a:t>
            </a:r>
            <a:r>
              <a:rPr lang="en-GB" altLang="en-US" sz="1400">
                <a:ea typeface="ＭＳ Ｐゴシック" panose="020B0600070205080204" pitchFamily="34" charset="-128"/>
              </a:rPr>
              <a:t>’</a:t>
            </a:r>
            <a:r>
              <a:rPr lang="en-GB" altLang="en-TW" sz="1400">
                <a:ea typeface="ＭＳ Ｐゴシック" panose="020B0600070205080204" pitchFamily="34" charset="-128"/>
              </a:rPr>
              <a:t>t tell them this yet though.) Ask them to participate in an informal vote by raising a hand in response to </a:t>
            </a:r>
            <a:r>
              <a:rPr lang="en-GB" altLang="en-US" sz="1400">
                <a:ea typeface="ＭＳ Ｐゴシック" panose="020B0600070205080204" pitchFamily="34" charset="-128"/>
              </a:rPr>
              <a:t>“</a:t>
            </a:r>
            <a:r>
              <a:rPr lang="en-GB" altLang="en-TW" sz="1400">
                <a:ea typeface="ＭＳ Ｐゴシック" panose="020B0600070205080204" pitchFamily="34" charset="-128"/>
              </a:rPr>
              <a:t>Who thinks this is a good idea?</a:t>
            </a:r>
            <a:r>
              <a:rPr lang="en-GB" altLang="en-US" sz="1400">
                <a:ea typeface="ＭＳ Ｐゴシック" panose="020B0600070205080204" pitchFamily="34" charset="-128"/>
              </a:rPr>
              <a:t>”</a:t>
            </a:r>
            <a:r>
              <a:rPr lang="en-GB" altLang="en-TW" sz="1400">
                <a:ea typeface="ＭＳ Ｐゴシック" panose="020B0600070205080204" pitchFamily="34" charset="-128"/>
              </a:rPr>
              <a:t>, </a:t>
            </a:r>
            <a:r>
              <a:rPr lang="en-GB" altLang="en-US" sz="1400">
                <a:ea typeface="ＭＳ Ｐゴシック" panose="020B0600070205080204" pitchFamily="34" charset="-128"/>
              </a:rPr>
              <a:t>“</a:t>
            </a:r>
            <a:r>
              <a:rPr lang="en-GB" altLang="en-TW" sz="1400">
                <a:ea typeface="ＭＳ Ｐゴシック" panose="020B0600070205080204" pitchFamily="34" charset="-128"/>
              </a:rPr>
              <a:t>Who thinks this is a bad idea?</a:t>
            </a:r>
            <a:r>
              <a:rPr lang="en-GB" altLang="en-US" sz="1400">
                <a:ea typeface="ＭＳ Ｐゴシック" panose="020B0600070205080204" pitchFamily="34" charset="-128"/>
              </a:rPr>
              <a:t>”</a:t>
            </a:r>
            <a:r>
              <a:rPr lang="en-GB" altLang="en-TW" sz="1400">
                <a:ea typeface="ＭＳ Ｐゴシック" panose="020B0600070205080204" pitchFamily="34" charset="-128"/>
              </a:rPr>
              <a:t>, and </a:t>
            </a:r>
            <a:r>
              <a:rPr lang="en-GB" altLang="en-US" sz="1400">
                <a:ea typeface="ＭＳ Ｐゴシック" panose="020B0600070205080204" pitchFamily="34" charset="-128"/>
              </a:rPr>
              <a:t>“</a:t>
            </a:r>
            <a:r>
              <a:rPr lang="en-GB" altLang="en-TW" sz="1400">
                <a:ea typeface="ＭＳ Ｐゴシック" panose="020B0600070205080204" pitchFamily="34" charset="-128"/>
              </a:rPr>
              <a:t>Who doesn</a:t>
            </a:r>
            <a:r>
              <a:rPr lang="en-GB" altLang="en-US" sz="1400">
                <a:ea typeface="ＭＳ Ｐゴシック" panose="020B0600070205080204" pitchFamily="34" charset="-128"/>
              </a:rPr>
              <a:t>’</a:t>
            </a:r>
            <a:r>
              <a:rPr lang="en-GB" altLang="en-TW" sz="1400">
                <a:ea typeface="ＭＳ Ｐゴシック" panose="020B0600070205080204" pitchFamily="34" charset="-128"/>
              </a:rPr>
              <a:t>t care?</a:t>
            </a:r>
            <a:r>
              <a:rPr lang="en-GB" altLang="en-US" sz="1400">
                <a:ea typeface="ＭＳ Ｐゴシック" panose="020B0600070205080204" pitchFamily="34" charset="-128"/>
              </a:rPr>
              <a:t>”</a:t>
            </a:r>
            <a:r>
              <a:rPr lang="en-GB" altLang="en-TW" sz="1400">
                <a:ea typeface="ＭＳ Ｐゴシック" panose="020B0600070205080204" pitchFamily="34" charset="-128"/>
              </a:rPr>
              <a:t> (This last one always catches a few honest students who like to chuckle as they raise their hands!) </a:t>
            </a:r>
            <a:endParaRPr lang="en-AU" altLang="en-TW" sz="1400">
              <a:ea typeface="ＭＳ Ｐゴシック" panose="020B0600070205080204" pitchFamily="34" charset="-128"/>
            </a:endParaRPr>
          </a:p>
          <a:p>
            <a:pPr eaLnBrk="1" hangingPunct="1">
              <a:lnSpc>
                <a:spcPct val="90000"/>
              </a:lnSpc>
            </a:pPr>
            <a:r>
              <a:rPr lang="en-AU" altLang="en-TW" sz="1400">
                <a:ea typeface="ＭＳ Ｐゴシック" panose="020B0600070205080204" pitchFamily="34" charset="-128"/>
              </a:rPr>
              <a:t>Then explain to the students that this limit is called a </a:t>
            </a:r>
            <a:r>
              <a:rPr lang="en-AU" altLang="en-US" sz="1400">
                <a:ea typeface="ＭＳ Ｐゴシック" panose="020B0600070205080204" pitchFamily="34" charset="-128"/>
              </a:rPr>
              <a:t>“</a:t>
            </a:r>
            <a:r>
              <a:rPr lang="en-AU" altLang="en-TW" sz="1400">
                <a:ea typeface="ＭＳ Ｐゴシック" panose="020B0600070205080204" pitchFamily="34" charset="-128"/>
              </a:rPr>
              <a:t>rent ceiling</a:t>
            </a:r>
            <a:r>
              <a:rPr lang="en-AU" altLang="en-US" sz="1400">
                <a:ea typeface="ＭＳ Ｐゴシック" panose="020B0600070205080204" pitchFamily="34" charset="-128"/>
              </a:rPr>
              <a:t>”</a:t>
            </a:r>
            <a:r>
              <a:rPr lang="en-AU" altLang="en-TW" sz="1400">
                <a:ea typeface="ＭＳ Ｐゴシック" panose="020B0600070205080204" pitchFamily="34" charset="-128"/>
              </a:rPr>
              <a:t> and cities across the country have them…so they must be good, right? However, further explain that in this lecture, they</a:t>
            </a:r>
            <a:r>
              <a:rPr lang="en-AU" altLang="en-US" sz="1400">
                <a:ea typeface="ＭＳ Ｐゴシック" panose="020B0600070205080204" pitchFamily="34" charset="-128"/>
              </a:rPr>
              <a:t>’</a:t>
            </a:r>
            <a:r>
              <a:rPr lang="en-AU" altLang="en-TW" sz="1400">
                <a:ea typeface="ＭＳ Ｐゴシック" panose="020B0600070205080204" pitchFamily="34" charset="-128"/>
              </a:rPr>
              <a:t>ll find out several ways that the government intervenes in markets and that while the ideas might </a:t>
            </a:r>
            <a:r>
              <a:rPr lang="en-AU" altLang="en-TW" sz="1400" i="1">
                <a:ea typeface="ＭＳ Ｐゴシック" panose="020B0600070205080204" pitchFamily="34" charset="-128"/>
              </a:rPr>
              <a:t>sound </a:t>
            </a:r>
            <a:r>
              <a:rPr lang="en-AU" altLang="en-TW" sz="1400">
                <a:ea typeface="ＭＳ Ｐゴシック" panose="020B0600070205080204" pitchFamily="34" charset="-128"/>
              </a:rPr>
              <a:t>good, economically they create problems. At the end of the lecture, remark how astute the students were that voted against the price ceilings and definitely be sure to tell the students that the local government isn</a:t>
            </a:r>
            <a:r>
              <a:rPr lang="en-AU" altLang="en-US" sz="1400">
                <a:ea typeface="ＭＳ Ｐゴシック" panose="020B0600070205080204" pitchFamily="34" charset="-128"/>
              </a:rPr>
              <a:t>’</a:t>
            </a:r>
            <a:r>
              <a:rPr lang="en-AU" altLang="en-TW" sz="1400">
                <a:ea typeface="ＭＳ Ｐゴシック" panose="020B0600070205080204" pitchFamily="34" charset="-128"/>
              </a:rPr>
              <a:t>t really going to impose the rent ceiling.</a:t>
            </a:r>
            <a:r>
              <a:rPr lang="en-GB" altLang="en-TW" sz="1400">
                <a:ea typeface="ＭＳ Ｐゴシック" panose="020B0600070205080204" pitchFamily="34" charset="-128"/>
              </a:rPr>
              <a:t>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8FC90D9E-E22A-CF6E-86D4-B610ADD2856A}"/>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6372941C-E9DE-9649-8891-C3DD65AEEB34}" type="slidenum">
              <a:rPr lang="en-CA" altLang="en-TW" sz="1200">
                <a:latin typeface="Tahoma" panose="020B0604030504040204" pitchFamily="34" charset="0"/>
              </a:rPr>
              <a:pPr eaLnBrk="1" hangingPunct="1"/>
              <a:t>6</a:t>
            </a:fld>
            <a:endParaRPr lang="en-CA" altLang="en-TW" sz="1200">
              <a:latin typeface="Tahoma" panose="020B0604030504040204" pitchFamily="34" charset="0"/>
            </a:endParaRPr>
          </a:p>
        </p:txBody>
      </p:sp>
      <p:sp>
        <p:nvSpPr>
          <p:cNvPr id="87043" name="Rectangle 2">
            <a:extLst>
              <a:ext uri="{FF2B5EF4-FFF2-40B4-BE49-F238E27FC236}">
                <a16:creationId xmlns:a16="http://schemas.microsoft.com/office/drawing/2014/main" id="{002EEC0C-C2B6-14AD-31FE-BEABEA4D80F9}"/>
              </a:ext>
            </a:extLst>
          </p:cNvPr>
          <p:cNvSpPr>
            <a:spLocks noGrp="1" noRot="1" noChangeAspect="1" noChangeArrowheads="1" noTextEdit="1"/>
          </p:cNvSpPr>
          <p:nvPr>
            <p:ph type="sldImg"/>
          </p:nvPr>
        </p:nvSpPr>
        <p:spPr>
          <a:xfrm>
            <a:off x="465138" y="204788"/>
            <a:ext cx="5929312" cy="4446587"/>
          </a:xfrm>
          <a:ln/>
        </p:spPr>
      </p:sp>
      <p:sp>
        <p:nvSpPr>
          <p:cNvPr id="87044" name="Rectangle 3">
            <a:extLst>
              <a:ext uri="{FF2B5EF4-FFF2-40B4-BE49-F238E27FC236}">
                <a16:creationId xmlns:a16="http://schemas.microsoft.com/office/drawing/2014/main" id="{2157E3E8-6098-D1B6-13B9-D4DF2F7CACF1}"/>
              </a:ext>
            </a:extLst>
          </p:cNvPr>
          <p:cNvSpPr>
            <a:spLocks noGrp="1" noChangeArrowheads="1"/>
          </p:cNvSpPr>
          <p:nvPr>
            <p:ph type="body" idx="1"/>
          </p:nvPr>
        </p:nvSpPr>
        <p:spPr>
          <a:xfrm>
            <a:off x="220663" y="4838700"/>
            <a:ext cx="6416675" cy="3481388"/>
          </a:xfrm>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84527" tIns="42264" rIns="84527" bIns="42264"/>
          <a:lstStyle/>
          <a:p>
            <a:pPr eaLnBrk="1" hangingPunct="1"/>
            <a:endParaRPr lang="en-TW" altLang="en-TW" sz="2400" noProof="1">
              <a:latin typeface="GillSans" panose="020B0A02020104020203" pitchFamily="34" charset="77"/>
              <a:ea typeface="ＭＳ Ｐゴシック" panose="020B0600070205080204"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87D4A294-6BB9-8EEE-6331-FCF012B5E052}"/>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B4F9F161-F95F-F543-8479-5A68CAE6343A}" type="slidenum">
              <a:rPr lang="en-CA" altLang="en-TW" sz="1200">
                <a:latin typeface="Tahoma" panose="020B0604030504040204" pitchFamily="34" charset="0"/>
              </a:rPr>
              <a:pPr eaLnBrk="1" hangingPunct="1"/>
              <a:t>7</a:t>
            </a:fld>
            <a:endParaRPr lang="en-CA" altLang="en-TW" sz="1200">
              <a:latin typeface="Tahoma" panose="020B0604030504040204" pitchFamily="34" charset="0"/>
            </a:endParaRPr>
          </a:p>
        </p:txBody>
      </p:sp>
      <p:sp>
        <p:nvSpPr>
          <p:cNvPr id="88067" name="Rectangle 2">
            <a:extLst>
              <a:ext uri="{FF2B5EF4-FFF2-40B4-BE49-F238E27FC236}">
                <a16:creationId xmlns:a16="http://schemas.microsoft.com/office/drawing/2014/main" id="{391166F0-C477-CBB0-1427-7E0DA1D8B9CC}"/>
              </a:ext>
            </a:extLst>
          </p:cNvPr>
          <p:cNvSpPr>
            <a:spLocks noGrp="1" noRot="1" noChangeAspect="1" noChangeArrowheads="1" noTextEdit="1"/>
          </p:cNvSpPr>
          <p:nvPr>
            <p:ph type="sldImg"/>
          </p:nvPr>
        </p:nvSpPr>
        <p:spPr>
          <a:ln/>
        </p:spPr>
      </p:sp>
      <p:sp>
        <p:nvSpPr>
          <p:cNvPr id="88068" name="Rectangle 3">
            <a:extLst>
              <a:ext uri="{FF2B5EF4-FFF2-40B4-BE49-F238E27FC236}">
                <a16:creationId xmlns:a16="http://schemas.microsoft.com/office/drawing/2014/main" id="{6AB2E4BD-C0A7-C8D5-AE9C-B503E859D491}"/>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endParaRPr lang="en-GB" altLang="en-TW">
              <a:ea typeface="ＭＳ Ｐゴシック" panose="020B0600070205080204"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1FB6C431-0FDF-119F-6BD1-EBC3B0BBCAD8}"/>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FA446BEB-D0C4-0F41-8408-824C1E201FA1}" type="slidenum">
              <a:rPr lang="en-CA" altLang="en-TW" sz="1200">
                <a:latin typeface="Tahoma" panose="020B0604030504040204" pitchFamily="34" charset="0"/>
              </a:rPr>
              <a:pPr eaLnBrk="1" hangingPunct="1"/>
              <a:t>8</a:t>
            </a:fld>
            <a:endParaRPr lang="en-CA" altLang="en-TW" sz="1200">
              <a:latin typeface="Tahoma" panose="020B0604030504040204" pitchFamily="34" charset="0"/>
            </a:endParaRPr>
          </a:p>
        </p:txBody>
      </p:sp>
      <p:sp>
        <p:nvSpPr>
          <p:cNvPr id="89091" name="Rectangle 2">
            <a:extLst>
              <a:ext uri="{FF2B5EF4-FFF2-40B4-BE49-F238E27FC236}">
                <a16:creationId xmlns:a16="http://schemas.microsoft.com/office/drawing/2014/main" id="{CFCD41E0-7F0C-6C97-977B-D9DA308C16C7}"/>
              </a:ext>
            </a:extLst>
          </p:cNvPr>
          <p:cNvSpPr>
            <a:spLocks noGrp="1" noRot="1" noChangeAspect="1" noChangeArrowheads="1" noTextEdit="1"/>
          </p:cNvSpPr>
          <p:nvPr>
            <p:ph type="sldImg"/>
          </p:nvPr>
        </p:nvSpPr>
        <p:spPr>
          <a:xfrm>
            <a:off x="465138" y="204788"/>
            <a:ext cx="5929312" cy="4446587"/>
          </a:xfrm>
          <a:ln/>
        </p:spPr>
      </p:sp>
      <p:sp>
        <p:nvSpPr>
          <p:cNvPr id="89092" name="Rectangle 3">
            <a:extLst>
              <a:ext uri="{FF2B5EF4-FFF2-40B4-BE49-F238E27FC236}">
                <a16:creationId xmlns:a16="http://schemas.microsoft.com/office/drawing/2014/main" id="{95A601EF-5B98-7214-C181-B2679A3E8EE3}"/>
              </a:ext>
            </a:extLst>
          </p:cNvPr>
          <p:cNvSpPr>
            <a:spLocks noGrp="1" noChangeArrowheads="1"/>
          </p:cNvSpPr>
          <p:nvPr>
            <p:ph type="body" idx="1"/>
          </p:nvPr>
        </p:nvSpPr>
        <p:spPr>
          <a:xfrm>
            <a:off x="220663" y="4838700"/>
            <a:ext cx="6416675" cy="3481388"/>
          </a:xfrm>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84527" tIns="42264" rIns="84527" bIns="42264"/>
          <a:lstStyle/>
          <a:p>
            <a:pPr eaLnBrk="1" hangingPunct="1">
              <a:lnSpc>
                <a:spcPct val="90000"/>
              </a:lnSpc>
            </a:pPr>
            <a:r>
              <a:rPr lang="en-AU" altLang="en-TW">
                <a:ea typeface="ＭＳ Ｐゴシック" panose="020B0600070205080204" pitchFamily="34" charset="-128"/>
              </a:rPr>
              <a:t>When you use a demand-supply graph to show the effects of a price ceiling or price floor, be sure to label all the prices, quantities, </a:t>
            </a:r>
            <a:r>
              <a:rPr lang="en-AU" altLang="en-TW" i="1">
                <a:ea typeface="ＭＳ Ｐゴシック" panose="020B0600070205080204" pitchFamily="34" charset="-128"/>
              </a:rPr>
              <a:t>and </a:t>
            </a:r>
            <a:r>
              <a:rPr lang="en-AU" altLang="en-TW">
                <a:ea typeface="ＭＳ Ｐゴシック" panose="020B0600070205080204" pitchFamily="34" charset="-128"/>
              </a:rPr>
              <a:t>the ceiling or floor. In the case of the price ceiling, clearly label and emphasize the shortage created. In the case of the price floor, clearly label and emphasize the surplus created. As you add more lines to the demand-supply graph, there is always the chance for confusion. Many times the students leave the labels off, and when they go back to study, they can</a:t>
            </a:r>
            <a:r>
              <a:rPr lang="en-AU" altLang="en-US">
                <a:ea typeface="ＭＳ Ｐゴシック" panose="020B0600070205080204" pitchFamily="34" charset="-128"/>
              </a:rPr>
              <a:t>’</a:t>
            </a:r>
            <a:r>
              <a:rPr lang="en-AU" altLang="en-TW">
                <a:ea typeface="ＭＳ Ｐゴシック" panose="020B0600070205080204" pitchFamily="34" charset="-128"/>
              </a:rPr>
              <a:t>t remember what that extra line is. So, be sure that you label the lines and stress to your class that they should be doing the same. Use price ceilings and floors to remind students that any surplus or shortage is a horizontal distance. Some students want to look at vertical distances or areas of triangles as the measure of the surplus or shortage.</a:t>
            </a:r>
            <a:r>
              <a:rPr lang="en-GB" altLang="en-TW">
                <a:ea typeface="ＭＳ Ｐゴシック" panose="020B0600070205080204" pitchFamily="34" charset="-128"/>
              </a:rPr>
              <a:t> </a:t>
            </a:r>
            <a:endParaRPr lang="en-GB" altLang="en-TW" noProof="1">
              <a:ea typeface="ＭＳ Ｐゴシック" panose="020B0600070205080204"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C1E48627-A73A-814F-336A-74518E4B6D89}"/>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30FEF597-1CB0-0B40-9BF0-F4BA7D1AD9CE}" type="slidenum">
              <a:rPr lang="en-CA" altLang="en-TW" sz="1200">
                <a:latin typeface="Tahoma" panose="020B0604030504040204" pitchFamily="34" charset="0"/>
              </a:rPr>
              <a:pPr eaLnBrk="1" hangingPunct="1"/>
              <a:t>9</a:t>
            </a:fld>
            <a:endParaRPr lang="en-CA" altLang="en-TW" sz="1200">
              <a:latin typeface="Tahoma" panose="020B0604030504040204" pitchFamily="34" charset="0"/>
            </a:endParaRPr>
          </a:p>
        </p:txBody>
      </p:sp>
      <p:sp>
        <p:nvSpPr>
          <p:cNvPr id="90115" name="Rectangle 2">
            <a:extLst>
              <a:ext uri="{FF2B5EF4-FFF2-40B4-BE49-F238E27FC236}">
                <a16:creationId xmlns:a16="http://schemas.microsoft.com/office/drawing/2014/main" id="{CB2F41F2-7EA9-AFC2-FA34-BA8EC350A66A}"/>
              </a:ext>
            </a:extLst>
          </p:cNvPr>
          <p:cNvSpPr>
            <a:spLocks noGrp="1" noRot="1" noChangeAspect="1" noChangeArrowheads="1" noTextEdit="1"/>
          </p:cNvSpPr>
          <p:nvPr>
            <p:ph type="sldImg"/>
          </p:nvPr>
        </p:nvSpPr>
        <p:spPr>
          <a:ln/>
        </p:spPr>
      </p:sp>
      <p:sp>
        <p:nvSpPr>
          <p:cNvPr id="90116" name="Rectangle 3">
            <a:extLst>
              <a:ext uri="{FF2B5EF4-FFF2-40B4-BE49-F238E27FC236}">
                <a16:creationId xmlns:a16="http://schemas.microsoft.com/office/drawing/2014/main" id="{812D6E66-7B18-0066-8154-49EFB507EEC9}"/>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r>
              <a:rPr lang="en-GB">
                <a:latin typeface="Times New Roman" charset="0"/>
              </a:rPr>
              <a:t>Emphasize that the shaded illegal region is out of bounds.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BBC0E868-397B-6DD8-8528-695213F32473}"/>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5F4931EB-1AC0-A342-A543-7358D60EFEAC}" type="slidenum">
              <a:rPr lang="en-CA" altLang="en-TW" sz="1200">
                <a:latin typeface="Tahoma" panose="020B0604030504040204" pitchFamily="34" charset="0"/>
              </a:rPr>
              <a:pPr eaLnBrk="1" hangingPunct="1"/>
              <a:t>10</a:t>
            </a:fld>
            <a:endParaRPr lang="en-CA" altLang="en-TW" sz="1200">
              <a:latin typeface="Tahoma" panose="020B0604030504040204" pitchFamily="34" charset="0"/>
            </a:endParaRPr>
          </a:p>
        </p:txBody>
      </p:sp>
      <p:sp>
        <p:nvSpPr>
          <p:cNvPr id="91139" name="Rectangle 2">
            <a:extLst>
              <a:ext uri="{FF2B5EF4-FFF2-40B4-BE49-F238E27FC236}">
                <a16:creationId xmlns:a16="http://schemas.microsoft.com/office/drawing/2014/main" id="{6CB54519-AE99-2483-0E4E-C64C442BD500}"/>
              </a:ext>
            </a:extLst>
          </p:cNvPr>
          <p:cNvSpPr>
            <a:spLocks noGrp="1" noRot="1" noChangeAspect="1" noChangeArrowheads="1" noTextEdit="1"/>
          </p:cNvSpPr>
          <p:nvPr>
            <p:ph type="sldImg"/>
          </p:nvPr>
        </p:nvSpPr>
        <p:spPr>
          <a:ln/>
        </p:spPr>
      </p:sp>
      <p:sp>
        <p:nvSpPr>
          <p:cNvPr id="91140" name="Rectangle 3">
            <a:extLst>
              <a:ext uri="{FF2B5EF4-FFF2-40B4-BE49-F238E27FC236}">
                <a16:creationId xmlns:a16="http://schemas.microsoft.com/office/drawing/2014/main" id="{68254296-DF4B-FE62-F3EC-0F056D85D654}"/>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endParaRPr lang="en-GB" altLang="en-TW">
              <a:ea typeface="ＭＳ Ｐゴシック" panose="020B0600070205080204"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40F434D2-B357-599F-679B-E4F62E7B48EA}"/>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A021CE48-B284-914C-8F40-2198A820348F}" type="slidenum">
              <a:rPr lang="en-CA" altLang="en-TW" sz="1200">
                <a:latin typeface="Tahoma" panose="020B0604030504040204" pitchFamily="34" charset="0"/>
              </a:rPr>
              <a:pPr eaLnBrk="1" hangingPunct="1"/>
              <a:t>11</a:t>
            </a:fld>
            <a:endParaRPr lang="en-CA" altLang="en-TW" sz="1200">
              <a:latin typeface="Tahoma" panose="020B0604030504040204" pitchFamily="34" charset="0"/>
            </a:endParaRPr>
          </a:p>
        </p:txBody>
      </p:sp>
      <p:sp>
        <p:nvSpPr>
          <p:cNvPr id="92163" name="Rectangle 2">
            <a:extLst>
              <a:ext uri="{FF2B5EF4-FFF2-40B4-BE49-F238E27FC236}">
                <a16:creationId xmlns:a16="http://schemas.microsoft.com/office/drawing/2014/main" id="{39E248D2-5517-F68A-0AE0-E5C30A59BC5B}"/>
              </a:ext>
            </a:extLst>
          </p:cNvPr>
          <p:cNvSpPr>
            <a:spLocks noGrp="1" noRot="1" noChangeAspect="1" noChangeArrowheads="1" noTextEdit="1"/>
          </p:cNvSpPr>
          <p:nvPr>
            <p:ph type="sldImg"/>
          </p:nvPr>
        </p:nvSpPr>
        <p:spPr>
          <a:xfrm>
            <a:off x="465138" y="204788"/>
            <a:ext cx="5929312" cy="4446587"/>
          </a:xfrm>
          <a:ln/>
        </p:spPr>
      </p:sp>
      <p:sp>
        <p:nvSpPr>
          <p:cNvPr id="92164" name="Rectangle 3">
            <a:extLst>
              <a:ext uri="{FF2B5EF4-FFF2-40B4-BE49-F238E27FC236}">
                <a16:creationId xmlns:a16="http://schemas.microsoft.com/office/drawing/2014/main" id="{763717DF-75E1-8795-C4D4-2E1CA3B0E531}"/>
              </a:ext>
            </a:extLst>
          </p:cNvPr>
          <p:cNvSpPr>
            <a:spLocks noGrp="1" noChangeArrowheads="1"/>
          </p:cNvSpPr>
          <p:nvPr>
            <p:ph type="body" idx="1"/>
          </p:nvPr>
        </p:nvSpPr>
        <p:spPr>
          <a:xfrm>
            <a:off x="220663" y="4838700"/>
            <a:ext cx="6416675" cy="3481388"/>
          </a:xfrm>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84527" tIns="42264" rIns="84527" bIns="42264"/>
          <a:lstStyle/>
          <a:p>
            <a:pPr eaLnBrk="1" hangingPunct="1"/>
            <a:endParaRPr lang="en-TW" altLang="en-TW" sz="2400" noProof="1">
              <a:latin typeface="GillSans" panose="020B0A02020104020203" pitchFamily="34" charset="77"/>
              <a:ea typeface="ＭＳ Ｐゴシック" panose="020B0600070205080204" pitchFamily="3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5F0CE959-22DA-3DC4-F222-CF2179C77396}"/>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2A1391E9-8BEE-D149-BFBA-554BCC00B97F}" type="slidenum">
              <a:rPr lang="en-CA" altLang="en-TW" sz="1200">
                <a:latin typeface="Tahoma" panose="020B0604030504040204" pitchFamily="34" charset="0"/>
              </a:rPr>
              <a:pPr eaLnBrk="1" hangingPunct="1"/>
              <a:t>12</a:t>
            </a:fld>
            <a:endParaRPr lang="en-CA" altLang="en-TW" sz="1200">
              <a:latin typeface="Tahoma" panose="020B0604030504040204" pitchFamily="34" charset="0"/>
            </a:endParaRPr>
          </a:p>
        </p:txBody>
      </p:sp>
      <p:sp>
        <p:nvSpPr>
          <p:cNvPr id="93187" name="Rectangle 2">
            <a:extLst>
              <a:ext uri="{FF2B5EF4-FFF2-40B4-BE49-F238E27FC236}">
                <a16:creationId xmlns:a16="http://schemas.microsoft.com/office/drawing/2014/main" id="{E5BF580E-596F-DDC3-1B26-F45EDA6A8C73}"/>
              </a:ext>
            </a:extLst>
          </p:cNvPr>
          <p:cNvSpPr>
            <a:spLocks noGrp="1" noRot="1" noChangeAspect="1" noChangeArrowheads="1" noTextEdit="1"/>
          </p:cNvSpPr>
          <p:nvPr>
            <p:ph type="sldImg"/>
          </p:nvPr>
        </p:nvSpPr>
        <p:spPr>
          <a:ln/>
        </p:spPr>
      </p:sp>
      <p:sp>
        <p:nvSpPr>
          <p:cNvPr id="93188" name="Rectangle 3">
            <a:extLst>
              <a:ext uri="{FF2B5EF4-FFF2-40B4-BE49-F238E27FC236}">
                <a16:creationId xmlns:a16="http://schemas.microsoft.com/office/drawing/2014/main" id="{3AF34C57-5596-1246-B0AA-D75BACB72E22}"/>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endParaRPr lang="en-GB" altLang="en-TW">
              <a:ea typeface="ＭＳ Ｐゴシック" panose="020B0600070205080204" pitchFamily="3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7C350F97-8159-B1D9-3951-62C45F51C37B}"/>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A0B2744D-EE0C-124D-A2B5-9D2C439487B3}" type="slidenum">
              <a:rPr lang="en-CA" altLang="en-TW" sz="1200">
                <a:latin typeface="Tahoma" panose="020B0604030504040204" pitchFamily="34" charset="0"/>
              </a:rPr>
              <a:pPr eaLnBrk="1" hangingPunct="1"/>
              <a:t>13</a:t>
            </a:fld>
            <a:endParaRPr lang="en-CA" altLang="en-TW" sz="1200">
              <a:latin typeface="Tahoma" panose="020B0604030504040204" pitchFamily="34" charset="0"/>
            </a:endParaRPr>
          </a:p>
        </p:txBody>
      </p:sp>
      <p:sp>
        <p:nvSpPr>
          <p:cNvPr id="94211" name="Rectangle 2">
            <a:extLst>
              <a:ext uri="{FF2B5EF4-FFF2-40B4-BE49-F238E27FC236}">
                <a16:creationId xmlns:a16="http://schemas.microsoft.com/office/drawing/2014/main" id="{37BFBC72-2BFB-BAE1-B58A-3A148635C169}"/>
              </a:ext>
            </a:extLst>
          </p:cNvPr>
          <p:cNvSpPr>
            <a:spLocks noGrp="1" noRot="1" noChangeAspect="1" noChangeArrowheads="1" noTextEdit="1"/>
          </p:cNvSpPr>
          <p:nvPr>
            <p:ph type="sldImg"/>
          </p:nvPr>
        </p:nvSpPr>
        <p:spPr>
          <a:xfrm>
            <a:off x="465138" y="204788"/>
            <a:ext cx="5929312" cy="4446587"/>
          </a:xfrm>
          <a:ln/>
        </p:spPr>
      </p:sp>
      <p:sp>
        <p:nvSpPr>
          <p:cNvPr id="94212" name="Rectangle 3">
            <a:extLst>
              <a:ext uri="{FF2B5EF4-FFF2-40B4-BE49-F238E27FC236}">
                <a16:creationId xmlns:a16="http://schemas.microsoft.com/office/drawing/2014/main" id="{6BE78B38-DCF5-164B-DA1E-C7392E2993A2}"/>
              </a:ext>
            </a:extLst>
          </p:cNvPr>
          <p:cNvSpPr>
            <a:spLocks noGrp="1" noChangeArrowheads="1"/>
          </p:cNvSpPr>
          <p:nvPr>
            <p:ph type="body" idx="1"/>
          </p:nvPr>
        </p:nvSpPr>
        <p:spPr>
          <a:xfrm>
            <a:off x="220663" y="4838700"/>
            <a:ext cx="6416675" cy="3481388"/>
          </a:xfrm>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84527" tIns="42264" rIns="84527" bIns="42264"/>
          <a:lstStyle/>
          <a:p>
            <a:pPr eaLnBrk="1" hangingPunct="1"/>
            <a:endParaRPr lang="en-TW" altLang="en-TW" sz="2400" noProof="1">
              <a:latin typeface="GillSans" panose="020B0A02020104020203" pitchFamily="34" charset="77"/>
              <a:ea typeface="ＭＳ Ｐゴシック" panose="020B0600070205080204" pitchFamily="3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BF4B943A-00BB-3411-1751-A906F601D1E6}"/>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E6D6C7B7-65B8-CF40-8B46-7F27551114A9}" type="slidenum">
              <a:rPr lang="en-CA" altLang="en-TW" sz="1200">
                <a:latin typeface="Tahoma" panose="020B0604030504040204" pitchFamily="34" charset="0"/>
              </a:rPr>
              <a:pPr eaLnBrk="1" hangingPunct="1"/>
              <a:t>14</a:t>
            </a:fld>
            <a:endParaRPr lang="en-CA" altLang="en-TW" sz="1200">
              <a:latin typeface="Tahoma" panose="020B0604030504040204" pitchFamily="34" charset="0"/>
            </a:endParaRPr>
          </a:p>
        </p:txBody>
      </p:sp>
      <p:sp>
        <p:nvSpPr>
          <p:cNvPr id="95235" name="Rectangle 2">
            <a:extLst>
              <a:ext uri="{FF2B5EF4-FFF2-40B4-BE49-F238E27FC236}">
                <a16:creationId xmlns:a16="http://schemas.microsoft.com/office/drawing/2014/main" id="{85E3B8EE-17C0-415E-13F0-0430F6E8435C}"/>
              </a:ext>
            </a:extLst>
          </p:cNvPr>
          <p:cNvSpPr>
            <a:spLocks noGrp="1" noRot="1" noChangeAspect="1" noChangeArrowheads="1" noTextEdit="1"/>
          </p:cNvSpPr>
          <p:nvPr>
            <p:ph type="sldImg"/>
          </p:nvPr>
        </p:nvSpPr>
        <p:spPr>
          <a:ln/>
        </p:spPr>
      </p:sp>
      <p:sp>
        <p:nvSpPr>
          <p:cNvPr id="95236" name="Rectangle 3">
            <a:extLst>
              <a:ext uri="{FF2B5EF4-FFF2-40B4-BE49-F238E27FC236}">
                <a16:creationId xmlns:a16="http://schemas.microsoft.com/office/drawing/2014/main" id="{C88DC5A6-87E3-2CDD-B4B0-BD35061D3D9D}"/>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endParaRPr lang="en-GB" altLang="en-TW">
              <a:ea typeface="ＭＳ Ｐゴシック" panose="020B0600070205080204" pitchFamily="3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89850784-1DC1-65F1-0F35-55FC783E9D74}"/>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86CB2AED-290E-8246-9613-D352528E1C75}" type="slidenum">
              <a:rPr lang="en-CA" altLang="en-TW" sz="1200">
                <a:latin typeface="Tahoma" panose="020B0604030504040204" pitchFamily="34" charset="0"/>
              </a:rPr>
              <a:pPr eaLnBrk="1" hangingPunct="1"/>
              <a:t>15</a:t>
            </a:fld>
            <a:endParaRPr lang="en-CA" altLang="en-TW" sz="1200">
              <a:latin typeface="Tahoma" panose="020B0604030504040204" pitchFamily="34" charset="0"/>
            </a:endParaRPr>
          </a:p>
        </p:txBody>
      </p:sp>
      <p:sp>
        <p:nvSpPr>
          <p:cNvPr id="96259" name="Rectangle 2">
            <a:extLst>
              <a:ext uri="{FF2B5EF4-FFF2-40B4-BE49-F238E27FC236}">
                <a16:creationId xmlns:a16="http://schemas.microsoft.com/office/drawing/2014/main" id="{93E81F1C-344F-408F-39CB-B82CAFD80653}"/>
              </a:ext>
            </a:extLst>
          </p:cNvPr>
          <p:cNvSpPr>
            <a:spLocks noGrp="1" noRot="1" noChangeAspect="1" noChangeArrowheads="1" noTextEdit="1"/>
          </p:cNvSpPr>
          <p:nvPr>
            <p:ph type="sldImg"/>
          </p:nvPr>
        </p:nvSpPr>
        <p:spPr>
          <a:xfrm>
            <a:off x="465138" y="204788"/>
            <a:ext cx="5929312" cy="4446587"/>
          </a:xfrm>
          <a:ln/>
        </p:spPr>
      </p:sp>
      <p:sp>
        <p:nvSpPr>
          <p:cNvPr id="96260" name="Rectangle 3">
            <a:extLst>
              <a:ext uri="{FF2B5EF4-FFF2-40B4-BE49-F238E27FC236}">
                <a16:creationId xmlns:a16="http://schemas.microsoft.com/office/drawing/2014/main" id="{C13A5428-AA5E-306B-4096-71EA553A87FB}"/>
              </a:ext>
            </a:extLst>
          </p:cNvPr>
          <p:cNvSpPr>
            <a:spLocks noGrp="1" noChangeArrowheads="1"/>
          </p:cNvSpPr>
          <p:nvPr>
            <p:ph type="body" idx="1"/>
          </p:nvPr>
        </p:nvSpPr>
        <p:spPr>
          <a:xfrm>
            <a:off x="220663" y="4838700"/>
            <a:ext cx="6416675" cy="3481388"/>
          </a:xfrm>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84527" tIns="42264" rIns="84527" bIns="42264"/>
          <a:lstStyle/>
          <a:p>
            <a:pPr eaLnBrk="1" hangingPunct="1"/>
            <a:endParaRPr lang="en-TW" altLang="en-TW" sz="2400" noProof="1">
              <a:latin typeface="GillSans" panose="020B0A02020104020203" pitchFamily="34" charset="77"/>
              <a:ea typeface="ＭＳ Ｐゴシック" panose="020B0600070205080204" pitchFamily="3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C6BE848C-F696-448F-6C12-E5BE93DA4613}"/>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DC5507E0-7DB8-EB44-8F9B-58F0C8D446C4}" type="slidenum">
              <a:rPr lang="en-CA" altLang="en-TW" sz="1200">
                <a:latin typeface="Tahoma" panose="020B0604030504040204" pitchFamily="34" charset="0"/>
              </a:rPr>
              <a:pPr eaLnBrk="1" hangingPunct="1"/>
              <a:t>17</a:t>
            </a:fld>
            <a:endParaRPr lang="en-CA" altLang="en-TW" sz="1200">
              <a:latin typeface="Tahoma" panose="020B0604030504040204" pitchFamily="34" charset="0"/>
            </a:endParaRPr>
          </a:p>
        </p:txBody>
      </p:sp>
      <p:sp>
        <p:nvSpPr>
          <p:cNvPr id="97283" name="Rectangle 2">
            <a:extLst>
              <a:ext uri="{FF2B5EF4-FFF2-40B4-BE49-F238E27FC236}">
                <a16:creationId xmlns:a16="http://schemas.microsoft.com/office/drawing/2014/main" id="{C56701AB-D407-3ECB-FDC2-37DAA50A09C4}"/>
              </a:ext>
            </a:extLst>
          </p:cNvPr>
          <p:cNvSpPr>
            <a:spLocks noGrp="1" noRot="1" noChangeAspect="1" noChangeArrowheads="1" noTextEdit="1"/>
          </p:cNvSpPr>
          <p:nvPr>
            <p:ph type="sldImg"/>
          </p:nvPr>
        </p:nvSpPr>
        <p:spPr>
          <a:ln/>
        </p:spPr>
      </p:sp>
      <p:sp>
        <p:nvSpPr>
          <p:cNvPr id="97284" name="Rectangle 3">
            <a:extLst>
              <a:ext uri="{FF2B5EF4-FFF2-40B4-BE49-F238E27FC236}">
                <a16:creationId xmlns:a16="http://schemas.microsoft.com/office/drawing/2014/main" id="{6210D4C4-3205-91C4-83BF-AEDC5E8A330E}"/>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endParaRPr lang="en-GB" altLang="en-TW">
              <a:ea typeface="ＭＳ Ｐゴシック" panose="020B0600070205080204" pitchFamily="3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DA761DCC-3268-578A-7770-0E046998AC97}"/>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9B3D7043-49FE-D241-816B-1A966ED43A77}" type="slidenum">
              <a:rPr lang="en-CA" altLang="en-TW" sz="1200">
                <a:latin typeface="Tahoma" panose="020B0604030504040204" pitchFamily="34" charset="0"/>
              </a:rPr>
              <a:pPr eaLnBrk="1" hangingPunct="1"/>
              <a:t>18</a:t>
            </a:fld>
            <a:endParaRPr lang="en-CA" altLang="en-TW" sz="1200">
              <a:latin typeface="Tahoma" panose="020B0604030504040204" pitchFamily="34" charset="0"/>
            </a:endParaRPr>
          </a:p>
        </p:txBody>
      </p:sp>
      <p:sp>
        <p:nvSpPr>
          <p:cNvPr id="98307" name="Rectangle 2">
            <a:extLst>
              <a:ext uri="{FF2B5EF4-FFF2-40B4-BE49-F238E27FC236}">
                <a16:creationId xmlns:a16="http://schemas.microsoft.com/office/drawing/2014/main" id="{4271B502-6671-C8D3-FC77-CFFBCC0632A1}"/>
              </a:ext>
            </a:extLst>
          </p:cNvPr>
          <p:cNvSpPr>
            <a:spLocks noGrp="1" noRot="1" noChangeAspect="1" noChangeArrowheads="1" noTextEdit="1"/>
          </p:cNvSpPr>
          <p:nvPr>
            <p:ph type="sldImg"/>
          </p:nvPr>
        </p:nvSpPr>
        <p:spPr>
          <a:xfrm>
            <a:off x="465138" y="204788"/>
            <a:ext cx="5929312" cy="4446587"/>
          </a:xfrm>
          <a:ln/>
        </p:spPr>
      </p:sp>
      <p:sp>
        <p:nvSpPr>
          <p:cNvPr id="98308" name="Rectangle 3">
            <a:extLst>
              <a:ext uri="{FF2B5EF4-FFF2-40B4-BE49-F238E27FC236}">
                <a16:creationId xmlns:a16="http://schemas.microsoft.com/office/drawing/2014/main" id="{DB764145-F8CF-2577-086C-272F2284B54A}"/>
              </a:ext>
            </a:extLst>
          </p:cNvPr>
          <p:cNvSpPr>
            <a:spLocks noGrp="1" noChangeArrowheads="1"/>
          </p:cNvSpPr>
          <p:nvPr>
            <p:ph type="body" idx="1"/>
          </p:nvPr>
        </p:nvSpPr>
        <p:spPr>
          <a:xfrm>
            <a:off x="220663" y="4838700"/>
            <a:ext cx="6416675" cy="3481388"/>
          </a:xfrm>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84527" tIns="42264" rIns="84527" bIns="42264"/>
          <a:lstStyle/>
          <a:p>
            <a:pPr eaLnBrk="1" hangingPunct="1"/>
            <a:endParaRPr lang="en-TW" altLang="en-TW" sz="2400" noProof="1">
              <a:latin typeface="GillSans" panose="020B0A02020104020203" pitchFamily="34" charset="77"/>
              <a:ea typeface="ＭＳ Ｐゴシック" panose="020B0600070205080204" pitchFamily="34"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ECBCE25D-F049-3FB8-23E4-696FFDFCE6FE}"/>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E543C034-A584-6F4A-80F9-25562E85F46B}" type="slidenum">
              <a:rPr lang="en-CA" altLang="en-TW" sz="1200">
                <a:latin typeface="Tahoma" panose="020B0604030504040204" pitchFamily="34" charset="0"/>
              </a:rPr>
              <a:pPr eaLnBrk="1" hangingPunct="1"/>
              <a:t>19</a:t>
            </a:fld>
            <a:endParaRPr lang="en-CA" altLang="en-TW" sz="1200">
              <a:latin typeface="Tahoma" panose="020B0604030504040204" pitchFamily="34" charset="0"/>
            </a:endParaRPr>
          </a:p>
        </p:txBody>
      </p:sp>
      <p:sp>
        <p:nvSpPr>
          <p:cNvPr id="99331" name="Rectangle 2">
            <a:extLst>
              <a:ext uri="{FF2B5EF4-FFF2-40B4-BE49-F238E27FC236}">
                <a16:creationId xmlns:a16="http://schemas.microsoft.com/office/drawing/2014/main" id="{58B85239-75AB-1069-0951-4E52226D729C}"/>
              </a:ext>
            </a:extLst>
          </p:cNvPr>
          <p:cNvSpPr>
            <a:spLocks noGrp="1" noRot="1" noChangeAspect="1" noChangeArrowheads="1" noTextEdit="1"/>
          </p:cNvSpPr>
          <p:nvPr>
            <p:ph type="sldImg"/>
          </p:nvPr>
        </p:nvSpPr>
        <p:spPr>
          <a:ln/>
        </p:spPr>
      </p:sp>
      <p:sp>
        <p:nvSpPr>
          <p:cNvPr id="99332" name="Rectangle 3">
            <a:extLst>
              <a:ext uri="{FF2B5EF4-FFF2-40B4-BE49-F238E27FC236}">
                <a16:creationId xmlns:a16="http://schemas.microsoft.com/office/drawing/2014/main" id="{F87E5C50-7184-BF82-F789-67B0ADD3DA56}"/>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endParaRPr lang="en-GB" altLang="en-TW">
              <a:ea typeface="ＭＳ Ｐゴシック" panose="020B0600070205080204" pitchFamily="34"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a:extLst>
              <a:ext uri="{FF2B5EF4-FFF2-40B4-BE49-F238E27FC236}">
                <a16:creationId xmlns:a16="http://schemas.microsoft.com/office/drawing/2014/main" id="{460ACCF6-6C93-AE70-972A-189646F13BCE}"/>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ACAC1B5B-6E0C-4448-BFA2-58775654D361}" type="slidenum">
              <a:rPr lang="en-CA" altLang="en-TW" sz="1200">
                <a:latin typeface="Tahoma" panose="020B0604030504040204" pitchFamily="34" charset="0"/>
              </a:rPr>
              <a:pPr eaLnBrk="1" hangingPunct="1"/>
              <a:t>20</a:t>
            </a:fld>
            <a:endParaRPr lang="en-CA" altLang="en-TW" sz="1200">
              <a:latin typeface="Tahoma" panose="020B0604030504040204" pitchFamily="34" charset="0"/>
            </a:endParaRPr>
          </a:p>
        </p:txBody>
      </p:sp>
      <p:sp>
        <p:nvSpPr>
          <p:cNvPr id="100355" name="Rectangle 2">
            <a:extLst>
              <a:ext uri="{FF2B5EF4-FFF2-40B4-BE49-F238E27FC236}">
                <a16:creationId xmlns:a16="http://schemas.microsoft.com/office/drawing/2014/main" id="{7D907F66-640C-F06D-2C47-892BA80DD0C7}"/>
              </a:ext>
            </a:extLst>
          </p:cNvPr>
          <p:cNvSpPr>
            <a:spLocks noGrp="1" noRot="1" noChangeAspect="1" noChangeArrowheads="1" noTextEdit="1"/>
          </p:cNvSpPr>
          <p:nvPr>
            <p:ph type="sldImg"/>
          </p:nvPr>
        </p:nvSpPr>
        <p:spPr>
          <a:xfrm>
            <a:off x="465138" y="204788"/>
            <a:ext cx="5929312" cy="4446587"/>
          </a:xfrm>
          <a:ln/>
        </p:spPr>
      </p:sp>
      <p:sp>
        <p:nvSpPr>
          <p:cNvPr id="100356" name="Rectangle 3">
            <a:extLst>
              <a:ext uri="{FF2B5EF4-FFF2-40B4-BE49-F238E27FC236}">
                <a16:creationId xmlns:a16="http://schemas.microsoft.com/office/drawing/2014/main" id="{93A654B7-9CA0-A72F-F003-C22D94E2EA72}"/>
              </a:ext>
            </a:extLst>
          </p:cNvPr>
          <p:cNvSpPr>
            <a:spLocks noGrp="1" noChangeArrowheads="1"/>
          </p:cNvSpPr>
          <p:nvPr>
            <p:ph type="body" idx="1"/>
          </p:nvPr>
        </p:nvSpPr>
        <p:spPr>
          <a:xfrm>
            <a:off x="220663" y="4838700"/>
            <a:ext cx="6416675" cy="3481388"/>
          </a:xfrm>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84527" tIns="42264" rIns="84527" bIns="42264"/>
          <a:lstStyle/>
          <a:p>
            <a:pPr eaLnBrk="1" hangingPunct="1"/>
            <a:endParaRPr lang="en-TW" altLang="en-TW" sz="2400" noProof="1">
              <a:latin typeface="GillSans" panose="020B0A02020104020203" pitchFamily="34" charset="77"/>
              <a:ea typeface="ＭＳ Ｐゴシック" panose="020B0600070205080204" pitchFamily="34"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A75EE4DD-60B6-C4F5-F076-2833D1A31737}"/>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488F48EC-9E43-1A45-8053-0FF0BF407D7E}" type="slidenum">
              <a:rPr lang="en-CA" altLang="en-TW" sz="1200">
                <a:latin typeface="Tahoma" panose="020B0604030504040204" pitchFamily="34" charset="0"/>
              </a:rPr>
              <a:pPr eaLnBrk="1" hangingPunct="1"/>
              <a:t>21</a:t>
            </a:fld>
            <a:endParaRPr lang="en-CA" altLang="en-TW" sz="1200">
              <a:latin typeface="Tahoma" panose="020B0604030504040204" pitchFamily="34" charset="0"/>
            </a:endParaRPr>
          </a:p>
        </p:txBody>
      </p:sp>
      <p:sp>
        <p:nvSpPr>
          <p:cNvPr id="101379" name="Rectangle 2">
            <a:extLst>
              <a:ext uri="{FF2B5EF4-FFF2-40B4-BE49-F238E27FC236}">
                <a16:creationId xmlns:a16="http://schemas.microsoft.com/office/drawing/2014/main" id="{61D506CC-3EBE-29AB-41E4-88E149FBABA0}"/>
              </a:ext>
            </a:extLst>
          </p:cNvPr>
          <p:cNvSpPr>
            <a:spLocks noGrp="1" noRot="1" noChangeAspect="1" noChangeArrowheads="1" noTextEdit="1"/>
          </p:cNvSpPr>
          <p:nvPr>
            <p:ph type="sldImg"/>
          </p:nvPr>
        </p:nvSpPr>
        <p:spPr>
          <a:ln/>
        </p:spPr>
      </p:sp>
      <p:sp>
        <p:nvSpPr>
          <p:cNvPr id="101380" name="Rectangle 3">
            <a:extLst>
              <a:ext uri="{FF2B5EF4-FFF2-40B4-BE49-F238E27FC236}">
                <a16:creationId xmlns:a16="http://schemas.microsoft.com/office/drawing/2014/main" id="{2B9D4AED-4F4E-C977-15FF-E25EC2BAAFF5}"/>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endParaRPr lang="en-GB" altLang="en-TW">
              <a:ea typeface="ＭＳ Ｐゴシック" panose="020B0600070205080204" pitchFamily="34"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a:extLst>
              <a:ext uri="{FF2B5EF4-FFF2-40B4-BE49-F238E27FC236}">
                <a16:creationId xmlns:a16="http://schemas.microsoft.com/office/drawing/2014/main" id="{B2692F5A-679A-3A86-8BEB-C733CD441BB5}"/>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77308485-8D2B-DC49-9590-EF8D568DCC06}" type="slidenum">
              <a:rPr lang="en-CA" altLang="en-TW" sz="1200">
                <a:latin typeface="Tahoma" panose="020B0604030504040204" pitchFamily="34" charset="0"/>
              </a:rPr>
              <a:pPr eaLnBrk="1" hangingPunct="1"/>
              <a:t>22</a:t>
            </a:fld>
            <a:endParaRPr lang="en-CA" altLang="en-TW" sz="1200">
              <a:latin typeface="Tahoma" panose="020B0604030504040204" pitchFamily="34" charset="0"/>
            </a:endParaRPr>
          </a:p>
        </p:txBody>
      </p:sp>
      <p:sp>
        <p:nvSpPr>
          <p:cNvPr id="102403" name="Rectangle 2">
            <a:extLst>
              <a:ext uri="{FF2B5EF4-FFF2-40B4-BE49-F238E27FC236}">
                <a16:creationId xmlns:a16="http://schemas.microsoft.com/office/drawing/2014/main" id="{F2D69851-71AB-9AE1-2E85-260517CC0D00}"/>
              </a:ext>
            </a:extLst>
          </p:cNvPr>
          <p:cNvSpPr>
            <a:spLocks noGrp="1" noRot="1" noChangeAspect="1" noChangeArrowheads="1" noTextEdit="1"/>
          </p:cNvSpPr>
          <p:nvPr>
            <p:ph type="sldImg"/>
          </p:nvPr>
        </p:nvSpPr>
        <p:spPr>
          <a:ln/>
        </p:spPr>
      </p:sp>
      <p:sp>
        <p:nvSpPr>
          <p:cNvPr id="102404" name="Rectangle 3">
            <a:extLst>
              <a:ext uri="{FF2B5EF4-FFF2-40B4-BE49-F238E27FC236}">
                <a16:creationId xmlns:a16="http://schemas.microsoft.com/office/drawing/2014/main" id="{218E7729-07DE-E861-BA1F-B462FF4EB625}"/>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endParaRPr lang="en-GB" altLang="en-TW">
              <a:ea typeface="ＭＳ Ｐゴシック" panose="020B0600070205080204" pitchFamily="34"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F1E9687D-0617-BA2F-ACF0-D91E0D0A0121}"/>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6BDE38E7-A5FA-F749-84BE-F3F47AD8F72D}" type="slidenum">
              <a:rPr lang="en-CA" altLang="en-TW" sz="1200">
                <a:latin typeface="Tahoma" panose="020B0604030504040204" pitchFamily="34" charset="0"/>
              </a:rPr>
              <a:pPr eaLnBrk="1" hangingPunct="1"/>
              <a:t>23</a:t>
            </a:fld>
            <a:endParaRPr lang="en-CA" altLang="en-TW" sz="1200">
              <a:latin typeface="Tahoma" panose="020B0604030504040204" pitchFamily="34" charset="0"/>
            </a:endParaRPr>
          </a:p>
        </p:txBody>
      </p:sp>
      <p:sp>
        <p:nvSpPr>
          <p:cNvPr id="103427" name="Rectangle 2">
            <a:extLst>
              <a:ext uri="{FF2B5EF4-FFF2-40B4-BE49-F238E27FC236}">
                <a16:creationId xmlns:a16="http://schemas.microsoft.com/office/drawing/2014/main" id="{435AE76E-313C-AB05-B159-FB1290606B09}"/>
              </a:ext>
            </a:extLst>
          </p:cNvPr>
          <p:cNvSpPr>
            <a:spLocks noGrp="1" noRot="1" noChangeAspect="1" noChangeArrowheads="1" noTextEdit="1"/>
          </p:cNvSpPr>
          <p:nvPr>
            <p:ph type="sldImg"/>
          </p:nvPr>
        </p:nvSpPr>
        <p:spPr>
          <a:ln/>
        </p:spPr>
      </p:sp>
      <p:sp>
        <p:nvSpPr>
          <p:cNvPr id="103428" name="Rectangle 3">
            <a:extLst>
              <a:ext uri="{FF2B5EF4-FFF2-40B4-BE49-F238E27FC236}">
                <a16:creationId xmlns:a16="http://schemas.microsoft.com/office/drawing/2014/main" id="{18CDD11C-1F76-73BA-F794-DCC3FB61C2BD}"/>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endParaRPr lang="en-GB" altLang="en-TW">
              <a:ea typeface="ＭＳ Ｐゴシック" panose="020B0600070205080204" pitchFamily="34" charset="-128"/>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a:extLst>
              <a:ext uri="{FF2B5EF4-FFF2-40B4-BE49-F238E27FC236}">
                <a16:creationId xmlns:a16="http://schemas.microsoft.com/office/drawing/2014/main" id="{B5A085A8-4831-49C2-976D-01666A82F528}"/>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3C4AA947-C8F2-574D-84E4-5282337D76CC}" type="slidenum">
              <a:rPr lang="en-CA" altLang="en-TW" sz="1200">
                <a:latin typeface="Tahoma" panose="020B0604030504040204" pitchFamily="34" charset="0"/>
              </a:rPr>
              <a:pPr eaLnBrk="1" hangingPunct="1"/>
              <a:t>24</a:t>
            </a:fld>
            <a:endParaRPr lang="en-CA" altLang="en-TW" sz="1200">
              <a:latin typeface="Tahoma" panose="020B0604030504040204" pitchFamily="34" charset="0"/>
            </a:endParaRPr>
          </a:p>
        </p:txBody>
      </p:sp>
      <p:sp>
        <p:nvSpPr>
          <p:cNvPr id="104451" name="Rectangle 2">
            <a:extLst>
              <a:ext uri="{FF2B5EF4-FFF2-40B4-BE49-F238E27FC236}">
                <a16:creationId xmlns:a16="http://schemas.microsoft.com/office/drawing/2014/main" id="{7FE38141-591E-BEC9-F5AE-6FB6EF14C131}"/>
              </a:ext>
            </a:extLst>
          </p:cNvPr>
          <p:cNvSpPr>
            <a:spLocks noGrp="1" noRot="1" noChangeAspect="1" noChangeArrowheads="1" noTextEdit="1"/>
          </p:cNvSpPr>
          <p:nvPr>
            <p:ph type="sldImg"/>
          </p:nvPr>
        </p:nvSpPr>
        <p:spPr>
          <a:xfrm>
            <a:off x="465138" y="204788"/>
            <a:ext cx="5929312" cy="4446587"/>
          </a:xfrm>
          <a:ln/>
        </p:spPr>
      </p:sp>
      <p:sp>
        <p:nvSpPr>
          <p:cNvPr id="104452" name="Rectangle 3">
            <a:extLst>
              <a:ext uri="{FF2B5EF4-FFF2-40B4-BE49-F238E27FC236}">
                <a16:creationId xmlns:a16="http://schemas.microsoft.com/office/drawing/2014/main" id="{DF672612-C872-0AA4-8A53-0EBDFD60FFE5}"/>
              </a:ext>
            </a:extLst>
          </p:cNvPr>
          <p:cNvSpPr>
            <a:spLocks noGrp="1" noChangeArrowheads="1"/>
          </p:cNvSpPr>
          <p:nvPr>
            <p:ph type="body" idx="1"/>
          </p:nvPr>
        </p:nvSpPr>
        <p:spPr>
          <a:xfrm>
            <a:off x="220663" y="4838700"/>
            <a:ext cx="6416675" cy="3481388"/>
          </a:xfrm>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84527" tIns="42264" rIns="84527" bIns="42264"/>
          <a:lstStyle/>
          <a:p>
            <a:pPr eaLnBrk="1" hangingPunct="1"/>
            <a:endParaRPr lang="en-TW" altLang="en-TW" sz="2400" noProof="1">
              <a:latin typeface="GillSans" panose="020B0A02020104020203" pitchFamily="34" charset="77"/>
              <a:ea typeface="ＭＳ Ｐゴシック" panose="020B0600070205080204" pitchFamily="34" charset="-128"/>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a:extLst>
              <a:ext uri="{FF2B5EF4-FFF2-40B4-BE49-F238E27FC236}">
                <a16:creationId xmlns:a16="http://schemas.microsoft.com/office/drawing/2014/main" id="{D98595DD-0A82-FA96-0D67-962656136579}"/>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122C1845-2BD3-0D4F-A0EC-6787A3A08EB1}" type="slidenum">
              <a:rPr lang="en-CA" altLang="en-TW" sz="1200">
                <a:latin typeface="Tahoma" panose="020B0604030504040204" pitchFamily="34" charset="0"/>
              </a:rPr>
              <a:pPr eaLnBrk="1" hangingPunct="1"/>
              <a:t>25</a:t>
            </a:fld>
            <a:endParaRPr lang="en-CA" altLang="en-TW" sz="1200">
              <a:latin typeface="Tahoma" panose="020B0604030504040204" pitchFamily="34" charset="0"/>
            </a:endParaRPr>
          </a:p>
        </p:txBody>
      </p:sp>
      <p:sp>
        <p:nvSpPr>
          <p:cNvPr id="105475" name="Rectangle 2">
            <a:extLst>
              <a:ext uri="{FF2B5EF4-FFF2-40B4-BE49-F238E27FC236}">
                <a16:creationId xmlns:a16="http://schemas.microsoft.com/office/drawing/2014/main" id="{2D3B6B52-B70C-F481-9CAF-1C0F45D471C9}"/>
              </a:ext>
            </a:extLst>
          </p:cNvPr>
          <p:cNvSpPr>
            <a:spLocks noGrp="1" noRot="1" noChangeAspect="1" noChangeArrowheads="1" noTextEdit="1"/>
          </p:cNvSpPr>
          <p:nvPr>
            <p:ph type="sldImg"/>
          </p:nvPr>
        </p:nvSpPr>
        <p:spPr>
          <a:ln/>
        </p:spPr>
      </p:sp>
      <p:sp>
        <p:nvSpPr>
          <p:cNvPr id="105476" name="Rectangle 3">
            <a:extLst>
              <a:ext uri="{FF2B5EF4-FFF2-40B4-BE49-F238E27FC236}">
                <a16:creationId xmlns:a16="http://schemas.microsoft.com/office/drawing/2014/main" id="{986DF3E7-0EB8-70E8-B20A-2818FEBC1548}"/>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endParaRPr lang="en-GB" altLang="en-TW">
              <a:ea typeface="ＭＳ Ｐゴシック" panose="020B0600070205080204" pitchFamily="34" charset="-128"/>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a:extLst>
              <a:ext uri="{FF2B5EF4-FFF2-40B4-BE49-F238E27FC236}">
                <a16:creationId xmlns:a16="http://schemas.microsoft.com/office/drawing/2014/main" id="{6ABB3F1A-1681-97EA-BEDA-1741636A0431}"/>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0712294E-5CF6-1F4D-9544-02A0609215BD}" type="slidenum">
              <a:rPr lang="en-CA" altLang="en-TW" sz="1200">
                <a:latin typeface="Tahoma" panose="020B0604030504040204" pitchFamily="34" charset="0"/>
              </a:rPr>
              <a:pPr eaLnBrk="1" hangingPunct="1"/>
              <a:t>26</a:t>
            </a:fld>
            <a:endParaRPr lang="en-CA" altLang="en-TW" sz="1200">
              <a:latin typeface="Tahoma" panose="020B0604030504040204" pitchFamily="34" charset="0"/>
            </a:endParaRPr>
          </a:p>
        </p:txBody>
      </p:sp>
      <p:sp>
        <p:nvSpPr>
          <p:cNvPr id="106499" name="Rectangle 2">
            <a:extLst>
              <a:ext uri="{FF2B5EF4-FFF2-40B4-BE49-F238E27FC236}">
                <a16:creationId xmlns:a16="http://schemas.microsoft.com/office/drawing/2014/main" id="{4A1422EA-6110-086A-670C-A1DE2BF46AA8}"/>
              </a:ext>
            </a:extLst>
          </p:cNvPr>
          <p:cNvSpPr>
            <a:spLocks noGrp="1" noRot="1" noChangeAspect="1" noChangeArrowheads="1" noTextEdit="1"/>
          </p:cNvSpPr>
          <p:nvPr>
            <p:ph type="sldImg"/>
          </p:nvPr>
        </p:nvSpPr>
        <p:spPr>
          <a:ln/>
        </p:spPr>
      </p:sp>
      <p:sp>
        <p:nvSpPr>
          <p:cNvPr id="106500" name="Rectangle 3">
            <a:extLst>
              <a:ext uri="{FF2B5EF4-FFF2-40B4-BE49-F238E27FC236}">
                <a16:creationId xmlns:a16="http://schemas.microsoft.com/office/drawing/2014/main" id="{E0227D17-D4ED-248B-886A-06A4E84485DE}"/>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r>
              <a:rPr lang="en-AU" altLang="en-TW">
                <a:ea typeface="ＭＳ Ｐゴシック" panose="020B0600070205080204" pitchFamily="34" charset="-128"/>
              </a:rPr>
              <a:t>To launch your lecture on the minimum wage, ask the students about jobs around town. Sound them out to see if there are a lot of jobs that pay the minimum wage. (Do not ask a particular student his or her wage, because he or she may be embarrassed if the wage is the minimum wage!) Then, ask the students if they think jobs would be easier or harder to find without the minimum wage. You can easily segue from the students</a:t>
            </a:r>
            <a:r>
              <a:rPr lang="en-AU" altLang="en-US">
                <a:ea typeface="ＭＳ Ｐゴシック" panose="020B0600070205080204" pitchFamily="34" charset="-128"/>
              </a:rPr>
              <a:t>’</a:t>
            </a:r>
            <a:r>
              <a:rPr lang="en-AU" altLang="en-TW">
                <a:ea typeface="ＭＳ Ｐゴシック" panose="020B0600070205080204" pitchFamily="34" charset="-128"/>
              </a:rPr>
              <a:t> answers to your lecture on the minimum wage and you also can easily interweave their answers into your lecture.</a:t>
            </a:r>
            <a:r>
              <a:rPr lang="en-GB" altLang="en-TW">
                <a:ea typeface="ＭＳ Ｐゴシック" panose="020B0600070205080204" pitchFamily="34" charset="-128"/>
              </a:rPr>
              <a:t> </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a:extLst>
              <a:ext uri="{FF2B5EF4-FFF2-40B4-BE49-F238E27FC236}">
                <a16:creationId xmlns:a16="http://schemas.microsoft.com/office/drawing/2014/main" id="{4694140F-C11D-4B36-3229-3D8D2E181AB0}"/>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4550024A-5609-E244-BD04-2AC1D191E914}" type="slidenum">
              <a:rPr lang="en-CA" altLang="en-TW" sz="1200">
                <a:latin typeface="Tahoma" panose="020B0604030504040204" pitchFamily="34" charset="0"/>
              </a:rPr>
              <a:pPr eaLnBrk="1" hangingPunct="1"/>
              <a:t>27</a:t>
            </a:fld>
            <a:endParaRPr lang="en-CA" altLang="en-TW" sz="1200">
              <a:latin typeface="Tahoma" panose="020B0604030504040204" pitchFamily="34" charset="0"/>
            </a:endParaRPr>
          </a:p>
        </p:txBody>
      </p:sp>
      <p:sp>
        <p:nvSpPr>
          <p:cNvPr id="107523" name="Rectangle 2">
            <a:extLst>
              <a:ext uri="{FF2B5EF4-FFF2-40B4-BE49-F238E27FC236}">
                <a16:creationId xmlns:a16="http://schemas.microsoft.com/office/drawing/2014/main" id="{3EB7ACFB-1F28-9D6C-A18E-BA04F06BFE76}"/>
              </a:ext>
            </a:extLst>
          </p:cNvPr>
          <p:cNvSpPr>
            <a:spLocks noGrp="1" noRot="1" noChangeAspect="1" noChangeArrowheads="1" noTextEdit="1"/>
          </p:cNvSpPr>
          <p:nvPr>
            <p:ph type="sldImg"/>
          </p:nvPr>
        </p:nvSpPr>
        <p:spPr>
          <a:xfrm>
            <a:off x="465138" y="204788"/>
            <a:ext cx="5929312" cy="4446587"/>
          </a:xfrm>
          <a:ln/>
        </p:spPr>
      </p:sp>
      <p:sp>
        <p:nvSpPr>
          <p:cNvPr id="107524" name="Rectangle 3">
            <a:extLst>
              <a:ext uri="{FF2B5EF4-FFF2-40B4-BE49-F238E27FC236}">
                <a16:creationId xmlns:a16="http://schemas.microsoft.com/office/drawing/2014/main" id="{7F042C5B-8A49-B5EB-4CB7-ABD54FE77ACF}"/>
              </a:ext>
            </a:extLst>
          </p:cNvPr>
          <p:cNvSpPr>
            <a:spLocks noGrp="1" noChangeArrowheads="1"/>
          </p:cNvSpPr>
          <p:nvPr>
            <p:ph type="body" idx="1"/>
          </p:nvPr>
        </p:nvSpPr>
        <p:spPr>
          <a:xfrm>
            <a:off x="220663" y="4838700"/>
            <a:ext cx="6416675" cy="3481388"/>
          </a:xfrm>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84527" tIns="42264" rIns="84527" bIns="42264"/>
          <a:lstStyle/>
          <a:p>
            <a:pPr eaLnBrk="1" hangingPunct="1"/>
            <a:r>
              <a:rPr lang="en-GB" altLang="en-TW">
                <a:ea typeface="ＭＳ Ｐゴシック" panose="020B0600070205080204" pitchFamily="34" charset="-128"/>
              </a:rPr>
              <a:t>Again, emphasize that the shaded illegal region is out of bounds.</a:t>
            </a:r>
            <a:endParaRPr lang="en-GB" altLang="en-TW" sz="2400" noProof="1">
              <a:latin typeface="GillSans" panose="020B0A02020104020203" pitchFamily="34" charset="77"/>
              <a:ea typeface="ＭＳ Ｐゴシック" panose="020B0600070205080204" pitchFamily="34" charset="-128"/>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a:extLst>
              <a:ext uri="{FF2B5EF4-FFF2-40B4-BE49-F238E27FC236}">
                <a16:creationId xmlns:a16="http://schemas.microsoft.com/office/drawing/2014/main" id="{1DBD9B60-12B0-33E9-3563-4BAB523B08A0}"/>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715CDE75-C693-C44C-B4E1-32BE5D113668}" type="slidenum">
              <a:rPr lang="en-CA" altLang="en-TW" sz="1200">
                <a:latin typeface="Tahoma" panose="020B0604030504040204" pitchFamily="34" charset="0"/>
              </a:rPr>
              <a:pPr eaLnBrk="1" hangingPunct="1"/>
              <a:t>28</a:t>
            </a:fld>
            <a:endParaRPr lang="en-CA" altLang="en-TW" sz="1200">
              <a:latin typeface="Tahoma" panose="020B0604030504040204" pitchFamily="34" charset="0"/>
            </a:endParaRPr>
          </a:p>
        </p:txBody>
      </p:sp>
      <p:sp>
        <p:nvSpPr>
          <p:cNvPr id="108547" name="Rectangle 2">
            <a:extLst>
              <a:ext uri="{FF2B5EF4-FFF2-40B4-BE49-F238E27FC236}">
                <a16:creationId xmlns:a16="http://schemas.microsoft.com/office/drawing/2014/main" id="{96FF769C-4570-A274-BF2A-CC1EAE6415A5}"/>
              </a:ext>
            </a:extLst>
          </p:cNvPr>
          <p:cNvSpPr>
            <a:spLocks noGrp="1" noRot="1" noChangeAspect="1" noChangeArrowheads="1" noTextEdit="1"/>
          </p:cNvSpPr>
          <p:nvPr>
            <p:ph type="sldImg"/>
          </p:nvPr>
        </p:nvSpPr>
        <p:spPr>
          <a:ln/>
        </p:spPr>
      </p:sp>
      <p:sp>
        <p:nvSpPr>
          <p:cNvPr id="108548" name="Rectangle 3">
            <a:extLst>
              <a:ext uri="{FF2B5EF4-FFF2-40B4-BE49-F238E27FC236}">
                <a16:creationId xmlns:a16="http://schemas.microsoft.com/office/drawing/2014/main" id="{EC66DA13-2B8A-C16E-78F6-467BE2EA992F}"/>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endParaRPr lang="en-GB" altLang="en-TW">
              <a:ea typeface="ＭＳ Ｐゴシック" panose="020B0600070205080204" pitchFamily="34" charset="-128"/>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a:extLst>
              <a:ext uri="{FF2B5EF4-FFF2-40B4-BE49-F238E27FC236}">
                <a16:creationId xmlns:a16="http://schemas.microsoft.com/office/drawing/2014/main" id="{3583A5EC-D9F1-A735-58E8-FABFEFE3B604}"/>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BC696F60-C632-2E46-8FC0-5EA9FFB5F096}" type="slidenum">
              <a:rPr lang="en-CA" altLang="en-TW" sz="1200">
                <a:latin typeface="Tahoma" panose="020B0604030504040204" pitchFamily="34" charset="0"/>
              </a:rPr>
              <a:pPr eaLnBrk="1" hangingPunct="1"/>
              <a:t>29</a:t>
            </a:fld>
            <a:endParaRPr lang="en-CA" altLang="en-TW" sz="1200">
              <a:latin typeface="Tahoma" panose="020B0604030504040204" pitchFamily="34" charset="0"/>
            </a:endParaRPr>
          </a:p>
        </p:txBody>
      </p:sp>
      <p:sp>
        <p:nvSpPr>
          <p:cNvPr id="109571" name="Rectangle 2">
            <a:extLst>
              <a:ext uri="{FF2B5EF4-FFF2-40B4-BE49-F238E27FC236}">
                <a16:creationId xmlns:a16="http://schemas.microsoft.com/office/drawing/2014/main" id="{57A1B1D2-C9B2-6BDA-BD18-A82A44C5447F}"/>
              </a:ext>
            </a:extLst>
          </p:cNvPr>
          <p:cNvSpPr>
            <a:spLocks noGrp="1" noRot="1" noChangeAspect="1" noChangeArrowheads="1" noTextEdit="1"/>
          </p:cNvSpPr>
          <p:nvPr>
            <p:ph type="sldImg"/>
          </p:nvPr>
        </p:nvSpPr>
        <p:spPr>
          <a:ln/>
        </p:spPr>
      </p:sp>
      <p:sp>
        <p:nvSpPr>
          <p:cNvPr id="109572" name="Rectangle 3">
            <a:extLst>
              <a:ext uri="{FF2B5EF4-FFF2-40B4-BE49-F238E27FC236}">
                <a16:creationId xmlns:a16="http://schemas.microsoft.com/office/drawing/2014/main" id="{409BE28F-5E52-6389-7D44-59A8511EFBFE}"/>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endParaRPr lang="en-GB" altLang="en-TW">
              <a:ea typeface="ＭＳ Ｐゴシック" panose="020B0600070205080204" pitchFamily="34" charset="-128"/>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a:extLst>
              <a:ext uri="{FF2B5EF4-FFF2-40B4-BE49-F238E27FC236}">
                <a16:creationId xmlns:a16="http://schemas.microsoft.com/office/drawing/2014/main" id="{E4FE7119-9684-A912-5E74-B2AAF0F29D47}"/>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9709B628-A5EA-BA43-A869-C75945E9C035}" type="slidenum">
              <a:rPr lang="en-CA" altLang="en-TW" sz="1200">
                <a:latin typeface="Tahoma" panose="020B0604030504040204" pitchFamily="34" charset="0"/>
              </a:rPr>
              <a:pPr eaLnBrk="1" hangingPunct="1"/>
              <a:t>30</a:t>
            </a:fld>
            <a:endParaRPr lang="en-CA" altLang="en-TW" sz="1200">
              <a:latin typeface="Tahoma" panose="020B0604030504040204" pitchFamily="34" charset="0"/>
            </a:endParaRPr>
          </a:p>
        </p:txBody>
      </p:sp>
      <p:sp>
        <p:nvSpPr>
          <p:cNvPr id="110595" name="Rectangle 2">
            <a:extLst>
              <a:ext uri="{FF2B5EF4-FFF2-40B4-BE49-F238E27FC236}">
                <a16:creationId xmlns:a16="http://schemas.microsoft.com/office/drawing/2014/main" id="{2DB1627E-3CF7-7AB8-A2F7-AEC3886FA604}"/>
              </a:ext>
            </a:extLst>
          </p:cNvPr>
          <p:cNvSpPr>
            <a:spLocks noGrp="1" noRot="1" noChangeAspect="1" noChangeArrowheads="1" noTextEdit="1"/>
          </p:cNvSpPr>
          <p:nvPr>
            <p:ph type="sldImg"/>
          </p:nvPr>
        </p:nvSpPr>
        <p:spPr>
          <a:xfrm>
            <a:off x="465138" y="204788"/>
            <a:ext cx="5929312" cy="4446587"/>
          </a:xfrm>
          <a:ln/>
        </p:spPr>
      </p:sp>
      <p:sp>
        <p:nvSpPr>
          <p:cNvPr id="110596" name="Rectangle 3">
            <a:extLst>
              <a:ext uri="{FF2B5EF4-FFF2-40B4-BE49-F238E27FC236}">
                <a16:creationId xmlns:a16="http://schemas.microsoft.com/office/drawing/2014/main" id="{441C8F02-A8B1-B82D-EB7E-89AE04301D43}"/>
              </a:ext>
            </a:extLst>
          </p:cNvPr>
          <p:cNvSpPr>
            <a:spLocks noGrp="1" noChangeArrowheads="1"/>
          </p:cNvSpPr>
          <p:nvPr>
            <p:ph type="body" idx="1"/>
          </p:nvPr>
        </p:nvSpPr>
        <p:spPr>
          <a:xfrm>
            <a:off x="220663" y="4838700"/>
            <a:ext cx="6416675" cy="3481388"/>
          </a:xfrm>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84527" tIns="42264" rIns="84527" bIns="42264"/>
          <a:lstStyle/>
          <a:p>
            <a:pPr eaLnBrk="1" hangingPunct="1"/>
            <a:endParaRPr lang="en-TW" altLang="en-TW" sz="2400" noProof="1">
              <a:latin typeface="GillSans" panose="020B0A02020104020203" pitchFamily="34" charset="77"/>
              <a:ea typeface="ＭＳ Ｐゴシック" panose="020B0600070205080204" pitchFamily="34" charset="-128"/>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a:extLst>
              <a:ext uri="{FF2B5EF4-FFF2-40B4-BE49-F238E27FC236}">
                <a16:creationId xmlns:a16="http://schemas.microsoft.com/office/drawing/2014/main" id="{6E7325FE-BB13-ABC4-7BEB-350408FD1256}"/>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D27457D5-D08F-8E42-9C61-D145ED35D928}" type="slidenum">
              <a:rPr lang="en-CA" altLang="en-TW" sz="1200">
                <a:latin typeface="Tahoma" panose="020B0604030504040204" pitchFamily="34" charset="0"/>
              </a:rPr>
              <a:pPr eaLnBrk="1" hangingPunct="1"/>
              <a:t>31</a:t>
            </a:fld>
            <a:endParaRPr lang="en-CA" altLang="en-TW" sz="1200">
              <a:latin typeface="Tahoma" panose="020B0604030504040204" pitchFamily="34" charset="0"/>
            </a:endParaRPr>
          </a:p>
        </p:txBody>
      </p:sp>
      <p:sp>
        <p:nvSpPr>
          <p:cNvPr id="111619" name="Rectangle 2">
            <a:extLst>
              <a:ext uri="{FF2B5EF4-FFF2-40B4-BE49-F238E27FC236}">
                <a16:creationId xmlns:a16="http://schemas.microsoft.com/office/drawing/2014/main" id="{63D82929-C1FA-DB69-C0BC-06A4A0656AAA}"/>
              </a:ext>
            </a:extLst>
          </p:cNvPr>
          <p:cNvSpPr>
            <a:spLocks noGrp="1" noRot="1" noChangeAspect="1" noChangeArrowheads="1" noTextEdit="1"/>
          </p:cNvSpPr>
          <p:nvPr>
            <p:ph type="sldImg"/>
          </p:nvPr>
        </p:nvSpPr>
        <p:spPr>
          <a:ln/>
        </p:spPr>
      </p:sp>
      <p:sp>
        <p:nvSpPr>
          <p:cNvPr id="111620" name="Rectangle 3">
            <a:extLst>
              <a:ext uri="{FF2B5EF4-FFF2-40B4-BE49-F238E27FC236}">
                <a16:creationId xmlns:a16="http://schemas.microsoft.com/office/drawing/2014/main" id="{48AA9490-7AF0-215A-6D2E-52CEF8EC254C}"/>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endParaRPr lang="en-GB" altLang="en-TW">
              <a:ea typeface="ＭＳ Ｐゴシック" panose="020B0600070205080204" pitchFamily="34" charset="-128"/>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a:extLst>
              <a:ext uri="{FF2B5EF4-FFF2-40B4-BE49-F238E27FC236}">
                <a16:creationId xmlns:a16="http://schemas.microsoft.com/office/drawing/2014/main" id="{7D90E4B2-53A9-FCFD-2B1B-B63E561DBF77}"/>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4C030C57-6496-AF4E-AE67-92925DF4B0F4}" type="slidenum">
              <a:rPr lang="en-CA" altLang="en-TW" sz="1200">
                <a:latin typeface="Tahoma" panose="020B0604030504040204" pitchFamily="34" charset="0"/>
              </a:rPr>
              <a:pPr eaLnBrk="1" hangingPunct="1"/>
              <a:t>32</a:t>
            </a:fld>
            <a:endParaRPr lang="en-CA" altLang="en-TW" sz="1200">
              <a:latin typeface="Tahoma" panose="020B0604030504040204" pitchFamily="34" charset="0"/>
            </a:endParaRPr>
          </a:p>
        </p:txBody>
      </p:sp>
      <p:sp>
        <p:nvSpPr>
          <p:cNvPr id="112643" name="Rectangle 2">
            <a:extLst>
              <a:ext uri="{FF2B5EF4-FFF2-40B4-BE49-F238E27FC236}">
                <a16:creationId xmlns:a16="http://schemas.microsoft.com/office/drawing/2014/main" id="{8ACA0D2C-6EBF-C93C-2E6B-5A1F6B5AB135}"/>
              </a:ext>
            </a:extLst>
          </p:cNvPr>
          <p:cNvSpPr>
            <a:spLocks noGrp="1" noRot="1" noChangeAspect="1" noChangeArrowheads="1" noTextEdit="1"/>
          </p:cNvSpPr>
          <p:nvPr>
            <p:ph type="sldImg"/>
          </p:nvPr>
        </p:nvSpPr>
        <p:spPr>
          <a:xfrm>
            <a:off x="465138" y="204788"/>
            <a:ext cx="5929312" cy="4446587"/>
          </a:xfrm>
          <a:ln/>
        </p:spPr>
      </p:sp>
      <p:sp>
        <p:nvSpPr>
          <p:cNvPr id="112644" name="Rectangle 3">
            <a:extLst>
              <a:ext uri="{FF2B5EF4-FFF2-40B4-BE49-F238E27FC236}">
                <a16:creationId xmlns:a16="http://schemas.microsoft.com/office/drawing/2014/main" id="{498657E9-CC16-683D-705F-B3CE700C461B}"/>
              </a:ext>
            </a:extLst>
          </p:cNvPr>
          <p:cNvSpPr>
            <a:spLocks noGrp="1" noChangeArrowheads="1"/>
          </p:cNvSpPr>
          <p:nvPr>
            <p:ph type="body" idx="1"/>
          </p:nvPr>
        </p:nvSpPr>
        <p:spPr>
          <a:xfrm>
            <a:off x="220663" y="4838700"/>
            <a:ext cx="6416675" cy="3481388"/>
          </a:xfrm>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84527" tIns="42264" rIns="84527" bIns="42264"/>
          <a:lstStyle/>
          <a:p>
            <a:pPr eaLnBrk="1" hangingPunct="1"/>
            <a:endParaRPr lang="en-TW" altLang="en-TW" sz="2400" noProof="1">
              <a:latin typeface="GillSans" panose="020B0A02020104020203" pitchFamily="34" charset="77"/>
              <a:ea typeface="ＭＳ Ｐゴシック" panose="020B0600070205080204" pitchFamily="34" charset="-128"/>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a:extLst>
              <a:ext uri="{FF2B5EF4-FFF2-40B4-BE49-F238E27FC236}">
                <a16:creationId xmlns:a16="http://schemas.microsoft.com/office/drawing/2014/main" id="{0E0BA988-1C74-0857-BBDA-859D6F82173A}"/>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FE842434-ADEF-F34E-9198-CED5F703378C}" type="slidenum">
              <a:rPr lang="en-CA" altLang="en-TW" sz="1200">
                <a:latin typeface="Tahoma" panose="020B0604030504040204" pitchFamily="34" charset="0"/>
              </a:rPr>
              <a:pPr eaLnBrk="1" hangingPunct="1"/>
              <a:t>33</a:t>
            </a:fld>
            <a:endParaRPr lang="en-CA" altLang="en-TW" sz="1200">
              <a:latin typeface="Tahoma" panose="020B0604030504040204" pitchFamily="34" charset="0"/>
            </a:endParaRPr>
          </a:p>
        </p:txBody>
      </p:sp>
      <p:sp>
        <p:nvSpPr>
          <p:cNvPr id="113667" name="Rectangle 2">
            <a:extLst>
              <a:ext uri="{FF2B5EF4-FFF2-40B4-BE49-F238E27FC236}">
                <a16:creationId xmlns:a16="http://schemas.microsoft.com/office/drawing/2014/main" id="{732A7C33-3465-9E34-9A8E-FD316102D6EF}"/>
              </a:ext>
            </a:extLst>
          </p:cNvPr>
          <p:cNvSpPr>
            <a:spLocks noGrp="1" noRot="1" noChangeAspect="1" noChangeArrowheads="1" noTextEdit="1"/>
          </p:cNvSpPr>
          <p:nvPr>
            <p:ph type="sldImg"/>
          </p:nvPr>
        </p:nvSpPr>
        <p:spPr>
          <a:ln/>
        </p:spPr>
      </p:sp>
      <p:sp>
        <p:nvSpPr>
          <p:cNvPr id="113668" name="Rectangle 3">
            <a:extLst>
              <a:ext uri="{FF2B5EF4-FFF2-40B4-BE49-F238E27FC236}">
                <a16:creationId xmlns:a16="http://schemas.microsoft.com/office/drawing/2014/main" id="{E7A7FB5B-FC5C-1A32-FFFD-51CBAC2091F1}"/>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endParaRPr lang="en-GB" altLang="en-TW">
              <a:ea typeface="ＭＳ Ｐゴシック" panose="020B0600070205080204" pitchFamily="34" charset="-128"/>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a:extLst>
              <a:ext uri="{FF2B5EF4-FFF2-40B4-BE49-F238E27FC236}">
                <a16:creationId xmlns:a16="http://schemas.microsoft.com/office/drawing/2014/main" id="{E599D7A4-7B00-27A6-11F8-8C8901561AE4}"/>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4B7E0C1F-A578-B94A-BC63-1262D901379E}" type="slidenum">
              <a:rPr lang="en-CA" altLang="en-TW" sz="1200">
                <a:latin typeface="Tahoma" panose="020B0604030504040204" pitchFamily="34" charset="0"/>
              </a:rPr>
              <a:pPr eaLnBrk="1" hangingPunct="1"/>
              <a:t>34</a:t>
            </a:fld>
            <a:endParaRPr lang="en-CA" altLang="en-TW" sz="1200">
              <a:latin typeface="Tahoma" panose="020B0604030504040204" pitchFamily="34" charset="0"/>
            </a:endParaRPr>
          </a:p>
        </p:txBody>
      </p:sp>
      <p:sp>
        <p:nvSpPr>
          <p:cNvPr id="114691" name="Rectangle 2">
            <a:extLst>
              <a:ext uri="{FF2B5EF4-FFF2-40B4-BE49-F238E27FC236}">
                <a16:creationId xmlns:a16="http://schemas.microsoft.com/office/drawing/2014/main" id="{BB547686-B015-535F-FB85-DF26A80D1F9D}"/>
              </a:ext>
            </a:extLst>
          </p:cNvPr>
          <p:cNvSpPr>
            <a:spLocks noGrp="1" noRot="1" noChangeAspect="1" noChangeArrowheads="1" noTextEdit="1"/>
          </p:cNvSpPr>
          <p:nvPr>
            <p:ph type="sldImg"/>
          </p:nvPr>
        </p:nvSpPr>
        <p:spPr>
          <a:xfrm>
            <a:off x="465138" y="204788"/>
            <a:ext cx="5929312" cy="4446587"/>
          </a:xfrm>
          <a:ln/>
        </p:spPr>
      </p:sp>
      <p:sp>
        <p:nvSpPr>
          <p:cNvPr id="114692" name="Rectangle 3">
            <a:extLst>
              <a:ext uri="{FF2B5EF4-FFF2-40B4-BE49-F238E27FC236}">
                <a16:creationId xmlns:a16="http://schemas.microsoft.com/office/drawing/2014/main" id="{4112E26F-29AA-B9A8-6ADB-8EA41C4EC4B1}"/>
              </a:ext>
            </a:extLst>
          </p:cNvPr>
          <p:cNvSpPr>
            <a:spLocks noGrp="1" noChangeArrowheads="1"/>
          </p:cNvSpPr>
          <p:nvPr>
            <p:ph type="body" idx="1"/>
          </p:nvPr>
        </p:nvSpPr>
        <p:spPr>
          <a:xfrm>
            <a:off x="220663" y="4838700"/>
            <a:ext cx="6416675" cy="3481388"/>
          </a:xfrm>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84527" tIns="42264" rIns="84527" bIns="42264"/>
          <a:lstStyle/>
          <a:p>
            <a:pPr eaLnBrk="1" hangingPunct="1"/>
            <a:endParaRPr lang="en-TW" altLang="en-TW" sz="2400" noProof="1">
              <a:latin typeface="GillSans" panose="020B0A02020104020203" pitchFamily="34" charset="77"/>
              <a:ea typeface="ＭＳ Ｐゴシック" panose="020B0600070205080204" pitchFamily="34" charset="-128"/>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a:extLst>
              <a:ext uri="{FF2B5EF4-FFF2-40B4-BE49-F238E27FC236}">
                <a16:creationId xmlns:a16="http://schemas.microsoft.com/office/drawing/2014/main" id="{630950F3-5EEF-1D16-7D68-37C5ADD2F5E6}"/>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4228029C-67F8-7540-B8C9-BF9532BA7255}" type="slidenum">
              <a:rPr lang="en-CA" altLang="en-TW" sz="1200">
                <a:latin typeface="Tahoma" panose="020B0604030504040204" pitchFamily="34" charset="0"/>
              </a:rPr>
              <a:pPr eaLnBrk="1" hangingPunct="1"/>
              <a:t>35</a:t>
            </a:fld>
            <a:endParaRPr lang="en-CA" altLang="en-TW" sz="1200">
              <a:latin typeface="Tahoma" panose="020B0604030504040204" pitchFamily="34" charset="0"/>
            </a:endParaRPr>
          </a:p>
        </p:txBody>
      </p:sp>
      <p:sp>
        <p:nvSpPr>
          <p:cNvPr id="115715" name="Rectangle 2">
            <a:extLst>
              <a:ext uri="{FF2B5EF4-FFF2-40B4-BE49-F238E27FC236}">
                <a16:creationId xmlns:a16="http://schemas.microsoft.com/office/drawing/2014/main" id="{BF570D98-0D97-5009-8428-CA47423E9767}"/>
              </a:ext>
            </a:extLst>
          </p:cNvPr>
          <p:cNvSpPr>
            <a:spLocks noGrp="1" noRot="1" noChangeAspect="1" noChangeArrowheads="1" noTextEdit="1"/>
          </p:cNvSpPr>
          <p:nvPr>
            <p:ph type="sldImg"/>
          </p:nvPr>
        </p:nvSpPr>
        <p:spPr>
          <a:ln/>
        </p:spPr>
      </p:sp>
      <p:sp>
        <p:nvSpPr>
          <p:cNvPr id="115716" name="Rectangle 3">
            <a:extLst>
              <a:ext uri="{FF2B5EF4-FFF2-40B4-BE49-F238E27FC236}">
                <a16:creationId xmlns:a16="http://schemas.microsoft.com/office/drawing/2014/main" id="{F0F79172-5227-4B46-8DE2-AC7FEFB78DAC}"/>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endParaRPr lang="en-GB" altLang="en-TW">
              <a:ea typeface="ＭＳ Ｐゴシック" panose="020B0600070205080204" pitchFamily="34" charset="-128"/>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a:extLst>
              <a:ext uri="{FF2B5EF4-FFF2-40B4-BE49-F238E27FC236}">
                <a16:creationId xmlns:a16="http://schemas.microsoft.com/office/drawing/2014/main" id="{B1C00A1B-382E-AAB5-E4CB-C69B9CB856C7}"/>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0604672B-C46C-2840-A0D5-A139B79B337A}" type="slidenum">
              <a:rPr lang="en-CA" altLang="en-TW" sz="1200">
                <a:latin typeface="Tahoma" panose="020B0604030504040204" pitchFamily="34" charset="0"/>
              </a:rPr>
              <a:pPr eaLnBrk="1" hangingPunct="1"/>
              <a:t>36</a:t>
            </a:fld>
            <a:endParaRPr lang="en-CA" altLang="en-TW" sz="1200">
              <a:latin typeface="Tahoma" panose="020B0604030504040204" pitchFamily="34" charset="0"/>
            </a:endParaRPr>
          </a:p>
        </p:txBody>
      </p:sp>
      <p:sp>
        <p:nvSpPr>
          <p:cNvPr id="116739" name="Rectangle 2">
            <a:extLst>
              <a:ext uri="{FF2B5EF4-FFF2-40B4-BE49-F238E27FC236}">
                <a16:creationId xmlns:a16="http://schemas.microsoft.com/office/drawing/2014/main" id="{E56C9C18-107B-692B-DCB5-FD25C8D3A39A}"/>
              </a:ext>
            </a:extLst>
          </p:cNvPr>
          <p:cNvSpPr>
            <a:spLocks noGrp="1" noRot="1" noChangeAspect="1" noChangeArrowheads="1" noTextEdit="1"/>
          </p:cNvSpPr>
          <p:nvPr>
            <p:ph type="sldImg"/>
          </p:nvPr>
        </p:nvSpPr>
        <p:spPr>
          <a:xfrm>
            <a:off x="465138" y="204788"/>
            <a:ext cx="5929312" cy="4446587"/>
          </a:xfrm>
          <a:ln/>
        </p:spPr>
      </p:sp>
      <p:sp>
        <p:nvSpPr>
          <p:cNvPr id="116740" name="Rectangle 3">
            <a:extLst>
              <a:ext uri="{FF2B5EF4-FFF2-40B4-BE49-F238E27FC236}">
                <a16:creationId xmlns:a16="http://schemas.microsoft.com/office/drawing/2014/main" id="{AA6FA109-468D-D4F4-699D-75FB5748D723}"/>
              </a:ext>
            </a:extLst>
          </p:cNvPr>
          <p:cNvSpPr>
            <a:spLocks noGrp="1" noChangeArrowheads="1"/>
          </p:cNvSpPr>
          <p:nvPr>
            <p:ph type="body" idx="1"/>
          </p:nvPr>
        </p:nvSpPr>
        <p:spPr>
          <a:xfrm>
            <a:off x="220663" y="4838700"/>
            <a:ext cx="6416675" cy="3481388"/>
          </a:xfrm>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84527" tIns="42264" rIns="84527" bIns="42264"/>
          <a:lstStyle/>
          <a:p>
            <a:pPr eaLnBrk="1" hangingPunct="1"/>
            <a:endParaRPr lang="en-TW" altLang="en-TW" sz="2400" noProof="1">
              <a:latin typeface="GillSans" panose="020B0A02020104020203" pitchFamily="34" charset="77"/>
              <a:ea typeface="ＭＳ Ｐゴシック" panose="020B0600070205080204" pitchFamily="34" charset="-128"/>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a:extLst>
              <a:ext uri="{FF2B5EF4-FFF2-40B4-BE49-F238E27FC236}">
                <a16:creationId xmlns:a16="http://schemas.microsoft.com/office/drawing/2014/main" id="{A0D8C9A5-11A0-A027-008F-A43D42BA20DE}"/>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3CA073BF-C5F5-A74E-9739-710D7569EC18}" type="slidenum">
              <a:rPr lang="en-CA" altLang="en-TW" sz="1200">
                <a:latin typeface="Tahoma" panose="020B0604030504040204" pitchFamily="34" charset="0"/>
              </a:rPr>
              <a:pPr eaLnBrk="1" hangingPunct="1"/>
              <a:t>37</a:t>
            </a:fld>
            <a:endParaRPr lang="en-CA" altLang="en-TW" sz="1200">
              <a:latin typeface="Tahoma" panose="020B0604030504040204" pitchFamily="34" charset="0"/>
            </a:endParaRPr>
          </a:p>
        </p:txBody>
      </p:sp>
      <p:sp>
        <p:nvSpPr>
          <p:cNvPr id="117763" name="Rectangle 2">
            <a:extLst>
              <a:ext uri="{FF2B5EF4-FFF2-40B4-BE49-F238E27FC236}">
                <a16:creationId xmlns:a16="http://schemas.microsoft.com/office/drawing/2014/main" id="{FF99D563-A84A-1337-96F1-4F081BCDB951}"/>
              </a:ext>
            </a:extLst>
          </p:cNvPr>
          <p:cNvSpPr>
            <a:spLocks noGrp="1" noRot="1" noChangeAspect="1" noChangeArrowheads="1" noTextEdit="1"/>
          </p:cNvSpPr>
          <p:nvPr>
            <p:ph type="sldImg"/>
          </p:nvPr>
        </p:nvSpPr>
        <p:spPr>
          <a:ln/>
        </p:spPr>
      </p:sp>
      <p:sp>
        <p:nvSpPr>
          <p:cNvPr id="117764" name="Rectangle 3">
            <a:extLst>
              <a:ext uri="{FF2B5EF4-FFF2-40B4-BE49-F238E27FC236}">
                <a16:creationId xmlns:a16="http://schemas.microsoft.com/office/drawing/2014/main" id="{86D4B3F0-7568-42FE-DD35-5C296FBF2119}"/>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endParaRPr lang="en-GB" altLang="en-TW">
              <a:ea typeface="ＭＳ Ｐゴシック" panose="020B0600070205080204" pitchFamily="34" charset="-128"/>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a:extLst>
              <a:ext uri="{FF2B5EF4-FFF2-40B4-BE49-F238E27FC236}">
                <a16:creationId xmlns:a16="http://schemas.microsoft.com/office/drawing/2014/main" id="{611DCCC9-5A05-BD14-36B4-DDA12AB48F3F}"/>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FEC2E9A8-F22B-C748-931A-11D343DC64DE}" type="slidenum">
              <a:rPr lang="en-CA" altLang="en-TW" sz="1200">
                <a:latin typeface="Tahoma" panose="020B0604030504040204" pitchFamily="34" charset="0"/>
              </a:rPr>
              <a:pPr eaLnBrk="1" hangingPunct="1"/>
              <a:t>38</a:t>
            </a:fld>
            <a:endParaRPr lang="en-CA" altLang="en-TW" sz="1200">
              <a:latin typeface="Tahoma" panose="020B0604030504040204" pitchFamily="34" charset="0"/>
            </a:endParaRPr>
          </a:p>
        </p:txBody>
      </p:sp>
      <p:sp>
        <p:nvSpPr>
          <p:cNvPr id="118787" name="Rectangle 2">
            <a:extLst>
              <a:ext uri="{FF2B5EF4-FFF2-40B4-BE49-F238E27FC236}">
                <a16:creationId xmlns:a16="http://schemas.microsoft.com/office/drawing/2014/main" id="{34D3038F-07A1-870F-15BD-5A5FB81856AC}"/>
              </a:ext>
            </a:extLst>
          </p:cNvPr>
          <p:cNvSpPr>
            <a:spLocks noGrp="1" noRot="1" noChangeAspect="1" noChangeArrowheads="1" noTextEdit="1"/>
          </p:cNvSpPr>
          <p:nvPr>
            <p:ph type="sldImg"/>
          </p:nvPr>
        </p:nvSpPr>
        <p:spPr>
          <a:xfrm>
            <a:off x="465138" y="204788"/>
            <a:ext cx="5929312" cy="4446587"/>
          </a:xfrm>
          <a:ln/>
        </p:spPr>
      </p:sp>
      <p:sp>
        <p:nvSpPr>
          <p:cNvPr id="118788" name="Rectangle 3">
            <a:extLst>
              <a:ext uri="{FF2B5EF4-FFF2-40B4-BE49-F238E27FC236}">
                <a16:creationId xmlns:a16="http://schemas.microsoft.com/office/drawing/2014/main" id="{7CEA40F0-BF56-AEDC-EEDD-BAB5362AB64B}"/>
              </a:ext>
            </a:extLst>
          </p:cNvPr>
          <p:cNvSpPr>
            <a:spLocks noGrp="1" noChangeArrowheads="1"/>
          </p:cNvSpPr>
          <p:nvPr>
            <p:ph type="body" idx="1"/>
          </p:nvPr>
        </p:nvSpPr>
        <p:spPr>
          <a:xfrm>
            <a:off x="220663" y="4838700"/>
            <a:ext cx="6416675" cy="3481388"/>
          </a:xfrm>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84527" tIns="42264" rIns="84527" bIns="42264"/>
          <a:lstStyle/>
          <a:p>
            <a:pPr eaLnBrk="1" hangingPunct="1"/>
            <a:endParaRPr lang="en-TW" altLang="en-TW" sz="2400" noProof="1">
              <a:latin typeface="GillSans" panose="020B0A02020104020203" pitchFamily="34" charset="77"/>
              <a:ea typeface="ＭＳ Ｐゴシック" panose="020B0600070205080204" pitchFamily="34" charset="-128"/>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a:extLst>
              <a:ext uri="{FF2B5EF4-FFF2-40B4-BE49-F238E27FC236}">
                <a16:creationId xmlns:a16="http://schemas.microsoft.com/office/drawing/2014/main" id="{27FC2739-7DE7-A8EB-3B49-E81F07AD2198}"/>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2C2560A5-1375-F14B-BC71-E5F2AEC95BEA}" type="slidenum">
              <a:rPr lang="en-CA" altLang="en-TW" sz="1200">
                <a:latin typeface="Tahoma" panose="020B0604030504040204" pitchFamily="34" charset="0"/>
              </a:rPr>
              <a:pPr eaLnBrk="1" hangingPunct="1"/>
              <a:t>39</a:t>
            </a:fld>
            <a:endParaRPr lang="en-CA" altLang="en-TW" sz="1200">
              <a:latin typeface="Tahoma" panose="020B0604030504040204" pitchFamily="34" charset="0"/>
            </a:endParaRPr>
          </a:p>
        </p:txBody>
      </p:sp>
      <p:sp>
        <p:nvSpPr>
          <p:cNvPr id="119811" name="Rectangle 2">
            <a:extLst>
              <a:ext uri="{FF2B5EF4-FFF2-40B4-BE49-F238E27FC236}">
                <a16:creationId xmlns:a16="http://schemas.microsoft.com/office/drawing/2014/main" id="{0B932C5C-E973-D21E-FB79-F3F73867BCAA}"/>
              </a:ext>
            </a:extLst>
          </p:cNvPr>
          <p:cNvSpPr>
            <a:spLocks noGrp="1" noRot="1" noChangeAspect="1" noChangeArrowheads="1" noTextEdit="1"/>
          </p:cNvSpPr>
          <p:nvPr>
            <p:ph type="sldImg"/>
          </p:nvPr>
        </p:nvSpPr>
        <p:spPr>
          <a:ln/>
        </p:spPr>
      </p:sp>
      <p:sp>
        <p:nvSpPr>
          <p:cNvPr id="119812" name="Rectangle 3">
            <a:extLst>
              <a:ext uri="{FF2B5EF4-FFF2-40B4-BE49-F238E27FC236}">
                <a16:creationId xmlns:a16="http://schemas.microsoft.com/office/drawing/2014/main" id="{AD25DF97-B03B-B435-ED6F-8F6F7AA7075A}"/>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endParaRPr lang="en-GB" altLang="en-TW">
              <a:ea typeface="ＭＳ Ｐゴシック" panose="020B0600070205080204" pitchFamily="34" charset="-128"/>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a:extLst>
              <a:ext uri="{FF2B5EF4-FFF2-40B4-BE49-F238E27FC236}">
                <a16:creationId xmlns:a16="http://schemas.microsoft.com/office/drawing/2014/main" id="{85BD832E-ACB7-F3E0-B0D4-0A79ABE19F7C}"/>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FCD6A1C5-C795-CD44-A415-248534E43EA2}" type="slidenum">
              <a:rPr lang="en-CA" altLang="en-TW" sz="1200">
                <a:latin typeface="Tahoma" panose="020B0604030504040204" pitchFamily="34" charset="0"/>
              </a:rPr>
              <a:pPr eaLnBrk="1" hangingPunct="1"/>
              <a:t>40</a:t>
            </a:fld>
            <a:endParaRPr lang="en-CA" altLang="en-TW" sz="1200">
              <a:latin typeface="Tahoma" panose="020B0604030504040204" pitchFamily="34" charset="0"/>
            </a:endParaRPr>
          </a:p>
        </p:txBody>
      </p:sp>
      <p:sp>
        <p:nvSpPr>
          <p:cNvPr id="120835" name="Rectangle 2">
            <a:extLst>
              <a:ext uri="{FF2B5EF4-FFF2-40B4-BE49-F238E27FC236}">
                <a16:creationId xmlns:a16="http://schemas.microsoft.com/office/drawing/2014/main" id="{FEB515F7-55F2-36A1-F7DF-6AA3EA380C9E}"/>
              </a:ext>
            </a:extLst>
          </p:cNvPr>
          <p:cNvSpPr>
            <a:spLocks noGrp="1" noRot="1" noChangeAspect="1" noChangeArrowheads="1" noTextEdit="1"/>
          </p:cNvSpPr>
          <p:nvPr>
            <p:ph type="sldImg"/>
          </p:nvPr>
        </p:nvSpPr>
        <p:spPr>
          <a:ln/>
        </p:spPr>
      </p:sp>
      <p:sp>
        <p:nvSpPr>
          <p:cNvPr id="120836" name="Rectangle 3">
            <a:extLst>
              <a:ext uri="{FF2B5EF4-FFF2-40B4-BE49-F238E27FC236}">
                <a16:creationId xmlns:a16="http://schemas.microsoft.com/office/drawing/2014/main" id="{A43BBEB6-A101-CEA9-26DC-6169E0573B95}"/>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r>
              <a:rPr lang="en-US" dirty="0"/>
              <a:t>Minimum wage is close to equilibrium wage</a:t>
            </a:r>
          </a:p>
          <a:p>
            <a:r>
              <a:rPr lang="en-US" b="1" dirty="0"/>
              <a:t>Labor demand is inelastic</a:t>
            </a:r>
          </a:p>
          <a:p>
            <a:pPr>
              <a:buFont typeface="Arial" panose="020B0604020202020204" pitchFamily="34" charset="0"/>
              <a:buChar char="•"/>
            </a:pPr>
            <a:r>
              <a:rPr lang="en-US" dirty="0"/>
              <a:t>If firms </a:t>
            </a:r>
            <a:r>
              <a:rPr lang="en-US" b="1" dirty="0"/>
              <a:t>cannot easily substitute labor</a:t>
            </a:r>
            <a:r>
              <a:rPr lang="en-US" dirty="0"/>
              <a:t> (e.g., service jobs, caregiving):</a:t>
            </a:r>
            <a:br>
              <a:rPr lang="en-US" dirty="0"/>
            </a:br>
            <a:r>
              <a:rPr lang="en-US" dirty="0"/>
              <a:t>→ they keep hiring even when wage increases</a:t>
            </a:r>
          </a:p>
          <a:p>
            <a:r>
              <a:rPr lang="en-US" b="1" dirty="0"/>
              <a:t>Productivity / efficiency wage effects</a:t>
            </a:r>
          </a:p>
          <a:p>
            <a:pPr>
              <a:buFont typeface="Arial" panose="020B0604020202020204" pitchFamily="34" charset="0"/>
              <a:buChar char="•"/>
            </a:pPr>
            <a:r>
              <a:rPr lang="en-US" dirty="0"/>
              <a:t>Higher wage → workers: </a:t>
            </a:r>
          </a:p>
          <a:p>
            <a:pPr marL="742950" lvl="1" indent="-285750">
              <a:buFont typeface="Arial" panose="020B0604020202020204" pitchFamily="34" charset="0"/>
              <a:buChar char="•"/>
            </a:pPr>
            <a:r>
              <a:rPr lang="en-US" dirty="0"/>
              <a:t>work harder </a:t>
            </a:r>
          </a:p>
          <a:p>
            <a:pPr marL="742950" lvl="1" indent="-285750">
              <a:buFont typeface="Arial" panose="020B0604020202020204" pitchFamily="34" charset="0"/>
              <a:buChar char="•"/>
            </a:pPr>
            <a:r>
              <a:rPr lang="en-US" dirty="0"/>
              <a:t>quit less </a:t>
            </a:r>
          </a:p>
          <a:p>
            <a:pPr marL="742950" lvl="1" indent="-285750">
              <a:buFont typeface="Arial" panose="020B0604020202020204" pitchFamily="34" charset="0"/>
              <a:buChar char="•"/>
            </a:pPr>
            <a:r>
              <a:rPr lang="en-US" dirty="0"/>
              <a:t>are more productive </a:t>
            </a:r>
          </a:p>
          <a:p>
            <a:r>
              <a:rPr lang="en-US" dirty="0"/>
              <a:t>→ Firms may accept higher wages without cutting jobs</a:t>
            </a:r>
          </a:p>
          <a:p>
            <a:r>
              <a:rPr lang="en-US" b="1" dirty="0"/>
              <a:t>Firms adjust elsewhere</a:t>
            </a:r>
          </a:p>
          <a:p>
            <a:r>
              <a:rPr lang="en-US" dirty="0"/>
              <a:t>Instead of firing workers, firms:</a:t>
            </a:r>
          </a:p>
          <a:p>
            <a:pPr>
              <a:buFont typeface="Arial" panose="020B0604020202020204" pitchFamily="34" charset="0"/>
              <a:buChar char="•"/>
            </a:pPr>
            <a:r>
              <a:rPr lang="en-US" dirty="0"/>
              <a:t>raise prices </a:t>
            </a:r>
          </a:p>
          <a:p>
            <a:pPr>
              <a:buFont typeface="Arial" panose="020B0604020202020204" pitchFamily="34" charset="0"/>
              <a:buChar char="•"/>
            </a:pPr>
            <a:r>
              <a:rPr lang="en-US" dirty="0"/>
              <a:t>reduce profits </a:t>
            </a:r>
          </a:p>
          <a:p>
            <a:pPr>
              <a:buFont typeface="Arial" panose="020B0604020202020204" pitchFamily="34" charset="0"/>
              <a:buChar char="•"/>
            </a:pPr>
            <a:r>
              <a:rPr lang="en-US" dirty="0"/>
              <a:t>cut non-wage costs </a:t>
            </a:r>
          </a:p>
          <a:p>
            <a:r>
              <a:rPr lang="en-US" b="1" dirty="0"/>
              <a:t>Why would labor unions lobby for a minimum wage?</a:t>
            </a:r>
          </a:p>
          <a:p>
            <a:r>
              <a:rPr lang="en-US" dirty="0"/>
              <a:t>This is a </a:t>
            </a:r>
            <a:r>
              <a:rPr lang="en-US" b="1" dirty="0"/>
              <a:t>strategic reason</a:t>
            </a:r>
            <a:r>
              <a:rPr lang="en-US" dirty="0"/>
              <a:t>, not altruism.</a:t>
            </a:r>
          </a:p>
          <a:p>
            <a:r>
              <a:rPr lang="en-US" b="1" dirty="0"/>
              <a:t>(1) Reduce competition from non-union workers</a:t>
            </a:r>
          </a:p>
          <a:p>
            <a:pPr>
              <a:buFont typeface="Arial" panose="020B0604020202020204" pitchFamily="34" charset="0"/>
              <a:buChar char="•"/>
            </a:pPr>
            <a:r>
              <a:rPr lang="en-US" dirty="0"/>
              <a:t>Union workers already earn </a:t>
            </a:r>
            <a:r>
              <a:rPr lang="en-US" b="1" dirty="0"/>
              <a:t>high wages</a:t>
            </a:r>
            <a:r>
              <a:rPr lang="en-US" dirty="0"/>
              <a:t> </a:t>
            </a:r>
          </a:p>
          <a:p>
            <a:pPr>
              <a:buFont typeface="Arial" panose="020B0604020202020204" pitchFamily="34" charset="0"/>
              <a:buChar char="•"/>
            </a:pPr>
            <a:r>
              <a:rPr lang="en-US" dirty="0"/>
              <a:t>Non-union workers accept </a:t>
            </a:r>
            <a:r>
              <a:rPr lang="en-US" b="1" dirty="0"/>
              <a:t>lower wages</a:t>
            </a:r>
            <a:r>
              <a:rPr lang="en-US" dirty="0"/>
              <a:t> </a:t>
            </a:r>
          </a:p>
          <a:p>
            <a:r>
              <a:rPr lang="en-TW" dirty="0"/>
              <a:t>👉 </a:t>
            </a:r>
            <a:r>
              <a:rPr lang="en-US" dirty="0"/>
              <a:t>Minimum wage forces:</a:t>
            </a:r>
          </a:p>
          <a:p>
            <a:pPr>
              <a:buFont typeface="Arial" panose="020B0604020202020204" pitchFamily="34" charset="0"/>
              <a:buChar char="•"/>
            </a:pPr>
            <a:r>
              <a:rPr lang="en-US" dirty="0"/>
              <a:t>all workers → higher wage floor </a:t>
            </a:r>
          </a:p>
          <a:p>
            <a:r>
              <a:rPr lang="en-US" dirty="0"/>
              <a:t>→ reduces advantage of non-union labor</a:t>
            </a:r>
          </a:p>
          <a:p>
            <a:r>
              <a:rPr lang="en-US" b="1" dirty="0"/>
              <a:t>(2) Protect union wage premium</a:t>
            </a:r>
          </a:p>
          <a:p>
            <a:pPr>
              <a:buFont typeface="Arial" panose="020B0604020202020204" pitchFamily="34" charset="0"/>
              <a:buChar char="•"/>
            </a:pPr>
            <a:r>
              <a:rPr lang="en-US" dirty="0"/>
              <a:t>If low-wage workers are pushed up:</a:t>
            </a:r>
            <a:br>
              <a:rPr lang="en-US" dirty="0"/>
            </a:br>
            <a:r>
              <a:rPr lang="en-US" dirty="0"/>
              <a:t>→ gap between union and non-union shrinks</a:t>
            </a:r>
            <a:br>
              <a:rPr lang="en-US" dirty="0"/>
            </a:br>
            <a:r>
              <a:rPr lang="en-US" dirty="0"/>
              <a:t>→ employers less likely to replace union workers</a:t>
            </a:r>
          </a:p>
          <a:p>
            <a:endParaRPr lang="en-US" dirty="0"/>
          </a:p>
          <a:p>
            <a:pPr eaLnBrk="1" hangingPunct="1"/>
            <a:endParaRPr lang="en-GB" altLang="en-TW" dirty="0">
              <a:ea typeface="ＭＳ Ｐゴシック" panose="020B0600070205080204" pitchFamily="34" charset="-128"/>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a:extLst>
              <a:ext uri="{FF2B5EF4-FFF2-40B4-BE49-F238E27FC236}">
                <a16:creationId xmlns:a16="http://schemas.microsoft.com/office/drawing/2014/main" id="{EF9BDDCB-9EA9-17FF-EFC7-1AFE1AC58DC2}"/>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EBE1946F-128C-8049-A3FC-E35A07092E05}" type="slidenum">
              <a:rPr lang="en-CA" altLang="en-TW" sz="1200">
                <a:latin typeface="Tahoma" panose="020B0604030504040204" pitchFamily="34" charset="0"/>
              </a:rPr>
              <a:pPr eaLnBrk="1" hangingPunct="1"/>
              <a:t>52</a:t>
            </a:fld>
            <a:endParaRPr lang="en-CA" altLang="en-TW" sz="1200">
              <a:latin typeface="Tahoma" panose="020B0604030504040204" pitchFamily="34" charset="0"/>
            </a:endParaRPr>
          </a:p>
        </p:txBody>
      </p:sp>
      <p:sp>
        <p:nvSpPr>
          <p:cNvPr id="121859" name="Rectangle 2">
            <a:extLst>
              <a:ext uri="{FF2B5EF4-FFF2-40B4-BE49-F238E27FC236}">
                <a16:creationId xmlns:a16="http://schemas.microsoft.com/office/drawing/2014/main" id="{06656CEC-AD68-BEF1-B222-15FF0B231D47}"/>
              </a:ext>
            </a:extLst>
          </p:cNvPr>
          <p:cNvSpPr>
            <a:spLocks noGrp="1" noRot="1" noChangeAspect="1" noChangeArrowheads="1" noTextEdit="1"/>
          </p:cNvSpPr>
          <p:nvPr>
            <p:ph type="sldImg"/>
          </p:nvPr>
        </p:nvSpPr>
        <p:spPr>
          <a:ln/>
        </p:spPr>
      </p:sp>
      <p:sp>
        <p:nvSpPr>
          <p:cNvPr id="121860" name="Rectangle 3">
            <a:extLst>
              <a:ext uri="{FF2B5EF4-FFF2-40B4-BE49-F238E27FC236}">
                <a16:creationId xmlns:a16="http://schemas.microsoft.com/office/drawing/2014/main" id="{1E177DBD-8403-B5C6-C21B-3ADE1CA78063}"/>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endParaRPr lang="en-GB" altLang="en-TW">
              <a:ea typeface="ＭＳ Ｐゴシック" panose="020B0600070205080204" pitchFamily="34" charset="-128"/>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a:extLst>
              <a:ext uri="{FF2B5EF4-FFF2-40B4-BE49-F238E27FC236}">
                <a16:creationId xmlns:a16="http://schemas.microsoft.com/office/drawing/2014/main" id="{D7AE2276-F916-E38C-A2DB-06BAF80D1287}"/>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561522E-020C-1348-823A-C36BEF5F2507}" type="slidenum">
              <a:rPr lang="en-CA" altLang="en-TW" sz="1200">
                <a:latin typeface="Tahoma" panose="020B0604030504040204" pitchFamily="34" charset="0"/>
              </a:rPr>
              <a:pPr eaLnBrk="1" hangingPunct="1"/>
              <a:t>53</a:t>
            </a:fld>
            <a:endParaRPr lang="en-CA" altLang="en-TW" sz="1200">
              <a:latin typeface="Tahoma" panose="020B0604030504040204" pitchFamily="34" charset="0"/>
            </a:endParaRPr>
          </a:p>
        </p:txBody>
      </p:sp>
      <p:sp>
        <p:nvSpPr>
          <p:cNvPr id="122883" name="Rectangle 2">
            <a:extLst>
              <a:ext uri="{FF2B5EF4-FFF2-40B4-BE49-F238E27FC236}">
                <a16:creationId xmlns:a16="http://schemas.microsoft.com/office/drawing/2014/main" id="{F5FEF82F-18DD-1036-480E-ADC50827FCF1}"/>
              </a:ext>
            </a:extLst>
          </p:cNvPr>
          <p:cNvSpPr>
            <a:spLocks noGrp="1" noRot="1" noChangeAspect="1" noChangeArrowheads="1" noTextEdit="1"/>
          </p:cNvSpPr>
          <p:nvPr>
            <p:ph type="sldImg"/>
          </p:nvPr>
        </p:nvSpPr>
        <p:spPr>
          <a:ln/>
        </p:spPr>
      </p:sp>
      <p:sp>
        <p:nvSpPr>
          <p:cNvPr id="122884" name="Rectangle 3">
            <a:extLst>
              <a:ext uri="{FF2B5EF4-FFF2-40B4-BE49-F238E27FC236}">
                <a16:creationId xmlns:a16="http://schemas.microsoft.com/office/drawing/2014/main" id="{F3FB0338-EA38-F1AC-CAD3-BD224AEB1008}"/>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endParaRPr lang="en-GB" altLang="en-TW">
              <a:ea typeface="ＭＳ Ｐゴシック" panose="020B0600070205080204" pitchFamily="34" charset="-128"/>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a:extLst>
              <a:ext uri="{FF2B5EF4-FFF2-40B4-BE49-F238E27FC236}">
                <a16:creationId xmlns:a16="http://schemas.microsoft.com/office/drawing/2014/main" id="{AE19E8C3-525D-AEF4-83FD-CF9D2149C30B}"/>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FC444E1E-E1AB-0B48-943A-CB46B217AAD3}" type="slidenum">
              <a:rPr lang="en-CA" altLang="en-TW" sz="1200">
                <a:latin typeface="Tahoma" panose="020B0604030504040204" pitchFamily="34" charset="0"/>
              </a:rPr>
              <a:pPr eaLnBrk="1" hangingPunct="1"/>
              <a:t>54</a:t>
            </a:fld>
            <a:endParaRPr lang="en-CA" altLang="en-TW" sz="1200">
              <a:latin typeface="Tahoma" panose="020B0604030504040204" pitchFamily="34" charset="0"/>
            </a:endParaRPr>
          </a:p>
        </p:txBody>
      </p:sp>
      <p:sp>
        <p:nvSpPr>
          <p:cNvPr id="123907" name="Rectangle 2">
            <a:extLst>
              <a:ext uri="{FF2B5EF4-FFF2-40B4-BE49-F238E27FC236}">
                <a16:creationId xmlns:a16="http://schemas.microsoft.com/office/drawing/2014/main" id="{5932E3BA-8E86-299F-1B89-34AE107DF586}"/>
              </a:ext>
            </a:extLst>
          </p:cNvPr>
          <p:cNvSpPr>
            <a:spLocks noGrp="1" noRot="1" noChangeAspect="1" noChangeArrowheads="1" noTextEdit="1"/>
          </p:cNvSpPr>
          <p:nvPr>
            <p:ph type="sldImg"/>
          </p:nvPr>
        </p:nvSpPr>
        <p:spPr>
          <a:ln/>
        </p:spPr>
      </p:sp>
      <p:sp>
        <p:nvSpPr>
          <p:cNvPr id="123908" name="Rectangle 3">
            <a:extLst>
              <a:ext uri="{FF2B5EF4-FFF2-40B4-BE49-F238E27FC236}">
                <a16:creationId xmlns:a16="http://schemas.microsoft.com/office/drawing/2014/main" id="{A3742D04-0BF2-1225-9DCE-CDAA7E3D0169}"/>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endParaRPr lang="en-GB" altLang="en-TW">
              <a:ea typeface="ＭＳ Ｐゴシック" panose="020B0600070205080204" pitchFamily="34" charset="-128"/>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a:extLst>
              <a:ext uri="{FF2B5EF4-FFF2-40B4-BE49-F238E27FC236}">
                <a16:creationId xmlns:a16="http://schemas.microsoft.com/office/drawing/2014/main" id="{9DA5FE83-214F-744E-B0EA-7F153BB23C8B}"/>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A70F0271-A5E3-FD40-8AA5-CFD03E536397}" type="slidenum">
              <a:rPr lang="en-CA" altLang="en-TW" sz="1200">
                <a:latin typeface="Tahoma" panose="020B0604030504040204" pitchFamily="34" charset="0"/>
              </a:rPr>
              <a:pPr eaLnBrk="1" hangingPunct="1"/>
              <a:t>55</a:t>
            </a:fld>
            <a:endParaRPr lang="en-CA" altLang="en-TW" sz="1200">
              <a:latin typeface="Tahoma" panose="020B0604030504040204" pitchFamily="34" charset="0"/>
            </a:endParaRPr>
          </a:p>
        </p:txBody>
      </p:sp>
      <p:sp>
        <p:nvSpPr>
          <p:cNvPr id="124931" name="Rectangle 2">
            <a:extLst>
              <a:ext uri="{FF2B5EF4-FFF2-40B4-BE49-F238E27FC236}">
                <a16:creationId xmlns:a16="http://schemas.microsoft.com/office/drawing/2014/main" id="{D867AB22-C47C-FBC2-E889-C3BB3EB79D40}"/>
              </a:ext>
            </a:extLst>
          </p:cNvPr>
          <p:cNvSpPr>
            <a:spLocks noGrp="1" noRot="1" noChangeAspect="1" noChangeArrowheads="1" noTextEdit="1"/>
          </p:cNvSpPr>
          <p:nvPr>
            <p:ph type="sldImg"/>
          </p:nvPr>
        </p:nvSpPr>
        <p:spPr>
          <a:ln/>
        </p:spPr>
      </p:sp>
      <p:sp>
        <p:nvSpPr>
          <p:cNvPr id="124932" name="Rectangle 3">
            <a:extLst>
              <a:ext uri="{FF2B5EF4-FFF2-40B4-BE49-F238E27FC236}">
                <a16:creationId xmlns:a16="http://schemas.microsoft.com/office/drawing/2014/main" id="{155146CC-B007-8671-9BB8-0533D92B39E8}"/>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endParaRPr lang="en-GB" altLang="en-TW">
              <a:ea typeface="ＭＳ Ｐゴシック" panose="020B0600070205080204" pitchFamily="34" charset="-128"/>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a:extLst>
              <a:ext uri="{FF2B5EF4-FFF2-40B4-BE49-F238E27FC236}">
                <a16:creationId xmlns:a16="http://schemas.microsoft.com/office/drawing/2014/main" id="{7387F0F4-1850-8B3A-A33D-45C3454E31B1}"/>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9BBB870E-6FAD-2748-B80D-29BCB3D2ECB8}" type="slidenum">
              <a:rPr lang="en-CA" altLang="en-TW" sz="1200">
                <a:latin typeface="Tahoma" panose="020B0604030504040204" pitchFamily="34" charset="0"/>
              </a:rPr>
              <a:pPr eaLnBrk="1" hangingPunct="1"/>
              <a:t>56</a:t>
            </a:fld>
            <a:endParaRPr lang="en-CA" altLang="en-TW" sz="1200">
              <a:latin typeface="Tahoma" panose="020B0604030504040204" pitchFamily="34" charset="0"/>
            </a:endParaRPr>
          </a:p>
        </p:txBody>
      </p:sp>
      <p:sp>
        <p:nvSpPr>
          <p:cNvPr id="125955" name="Rectangle 2">
            <a:extLst>
              <a:ext uri="{FF2B5EF4-FFF2-40B4-BE49-F238E27FC236}">
                <a16:creationId xmlns:a16="http://schemas.microsoft.com/office/drawing/2014/main" id="{55C304DF-9F56-8610-232B-080C9C97F90A}"/>
              </a:ext>
            </a:extLst>
          </p:cNvPr>
          <p:cNvSpPr>
            <a:spLocks noGrp="1" noRot="1" noChangeAspect="1" noChangeArrowheads="1" noTextEdit="1"/>
          </p:cNvSpPr>
          <p:nvPr>
            <p:ph type="sldImg"/>
          </p:nvPr>
        </p:nvSpPr>
        <p:spPr>
          <a:xfrm>
            <a:off x="465138" y="204788"/>
            <a:ext cx="5929312" cy="4446587"/>
          </a:xfrm>
          <a:ln/>
        </p:spPr>
      </p:sp>
      <p:sp>
        <p:nvSpPr>
          <p:cNvPr id="125956" name="Rectangle 3">
            <a:extLst>
              <a:ext uri="{FF2B5EF4-FFF2-40B4-BE49-F238E27FC236}">
                <a16:creationId xmlns:a16="http://schemas.microsoft.com/office/drawing/2014/main" id="{086256CB-DBE1-DA81-55CA-B5DCD29D20DF}"/>
              </a:ext>
            </a:extLst>
          </p:cNvPr>
          <p:cNvSpPr>
            <a:spLocks noGrp="1" noChangeArrowheads="1"/>
          </p:cNvSpPr>
          <p:nvPr>
            <p:ph type="body" idx="1"/>
          </p:nvPr>
        </p:nvSpPr>
        <p:spPr>
          <a:xfrm>
            <a:off x="220663" y="4838700"/>
            <a:ext cx="6416675" cy="3481388"/>
          </a:xfrm>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84527" tIns="42264" rIns="84527" bIns="42264"/>
          <a:lstStyle/>
          <a:p>
            <a:pPr eaLnBrk="1" hangingPunct="1"/>
            <a:endParaRPr lang="en-TW" altLang="en-TW" sz="2400" noProof="1">
              <a:latin typeface="GillSans" panose="020B0A02020104020203" pitchFamily="34" charset="77"/>
              <a:ea typeface="ＭＳ Ｐゴシック" panose="020B0600070205080204" pitchFamily="34" charset="-128"/>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a:extLst>
              <a:ext uri="{FF2B5EF4-FFF2-40B4-BE49-F238E27FC236}">
                <a16:creationId xmlns:a16="http://schemas.microsoft.com/office/drawing/2014/main" id="{3A2D49C1-D30C-7722-DBE5-7B0038558F6B}"/>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E2AD3D18-BB01-0848-B805-346EB49063A6}" type="slidenum">
              <a:rPr lang="en-CA" altLang="en-TW" sz="1200">
                <a:latin typeface="Tahoma" panose="020B0604030504040204" pitchFamily="34" charset="0"/>
              </a:rPr>
              <a:pPr eaLnBrk="1" hangingPunct="1"/>
              <a:t>57</a:t>
            </a:fld>
            <a:endParaRPr lang="en-CA" altLang="en-TW" sz="1200">
              <a:latin typeface="Tahoma" panose="020B0604030504040204" pitchFamily="34" charset="0"/>
            </a:endParaRPr>
          </a:p>
        </p:txBody>
      </p:sp>
      <p:sp>
        <p:nvSpPr>
          <p:cNvPr id="126979" name="Rectangle 2">
            <a:extLst>
              <a:ext uri="{FF2B5EF4-FFF2-40B4-BE49-F238E27FC236}">
                <a16:creationId xmlns:a16="http://schemas.microsoft.com/office/drawing/2014/main" id="{43CA5E2C-5DE1-0552-6379-4002FFBF56AB}"/>
              </a:ext>
            </a:extLst>
          </p:cNvPr>
          <p:cNvSpPr>
            <a:spLocks noGrp="1" noRot="1" noChangeAspect="1" noChangeArrowheads="1" noTextEdit="1"/>
          </p:cNvSpPr>
          <p:nvPr>
            <p:ph type="sldImg"/>
          </p:nvPr>
        </p:nvSpPr>
        <p:spPr>
          <a:ln/>
        </p:spPr>
      </p:sp>
      <p:sp>
        <p:nvSpPr>
          <p:cNvPr id="126980" name="Rectangle 3">
            <a:extLst>
              <a:ext uri="{FF2B5EF4-FFF2-40B4-BE49-F238E27FC236}">
                <a16:creationId xmlns:a16="http://schemas.microsoft.com/office/drawing/2014/main" id="{CBAD72FE-6221-8E4D-884D-BAD796C55749}"/>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endParaRPr lang="en-GB" altLang="en-TW">
              <a:ea typeface="ＭＳ Ｐゴシック" panose="020B0600070205080204" pitchFamily="34" charset="-128"/>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a:extLst>
              <a:ext uri="{FF2B5EF4-FFF2-40B4-BE49-F238E27FC236}">
                <a16:creationId xmlns:a16="http://schemas.microsoft.com/office/drawing/2014/main" id="{A1AE71C5-A03D-3314-E670-12F8124FEF86}"/>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3EC7B2AE-D2C9-4B43-A251-6EBAC9841861}" type="slidenum">
              <a:rPr lang="en-CA" altLang="en-TW" sz="1200">
                <a:latin typeface="Tahoma" panose="020B0604030504040204" pitchFamily="34" charset="0"/>
              </a:rPr>
              <a:pPr eaLnBrk="1" hangingPunct="1"/>
              <a:t>58</a:t>
            </a:fld>
            <a:endParaRPr lang="en-CA" altLang="en-TW" sz="1200">
              <a:latin typeface="Tahoma" panose="020B0604030504040204" pitchFamily="34" charset="0"/>
            </a:endParaRPr>
          </a:p>
        </p:txBody>
      </p:sp>
      <p:sp>
        <p:nvSpPr>
          <p:cNvPr id="128003" name="Rectangle 2">
            <a:extLst>
              <a:ext uri="{FF2B5EF4-FFF2-40B4-BE49-F238E27FC236}">
                <a16:creationId xmlns:a16="http://schemas.microsoft.com/office/drawing/2014/main" id="{240E2477-25A7-D218-16D7-571062F3194B}"/>
              </a:ext>
            </a:extLst>
          </p:cNvPr>
          <p:cNvSpPr>
            <a:spLocks noGrp="1" noRot="1" noChangeAspect="1" noChangeArrowheads="1" noTextEdit="1"/>
          </p:cNvSpPr>
          <p:nvPr>
            <p:ph type="sldImg"/>
          </p:nvPr>
        </p:nvSpPr>
        <p:spPr>
          <a:xfrm>
            <a:off x="465138" y="204788"/>
            <a:ext cx="5929312" cy="4446587"/>
          </a:xfrm>
          <a:ln/>
        </p:spPr>
      </p:sp>
      <p:sp>
        <p:nvSpPr>
          <p:cNvPr id="128004" name="Rectangle 3">
            <a:extLst>
              <a:ext uri="{FF2B5EF4-FFF2-40B4-BE49-F238E27FC236}">
                <a16:creationId xmlns:a16="http://schemas.microsoft.com/office/drawing/2014/main" id="{D85C619D-13F2-7089-ED47-90E94CF46632}"/>
              </a:ext>
            </a:extLst>
          </p:cNvPr>
          <p:cNvSpPr>
            <a:spLocks noGrp="1" noChangeArrowheads="1"/>
          </p:cNvSpPr>
          <p:nvPr>
            <p:ph type="body" idx="1"/>
          </p:nvPr>
        </p:nvSpPr>
        <p:spPr>
          <a:xfrm>
            <a:off x="220663" y="4838700"/>
            <a:ext cx="6416675" cy="3481388"/>
          </a:xfrm>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84527" tIns="42264" rIns="84527" bIns="42264"/>
          <a:lstStyle/>
          <a:p>
            <a:pPr eaLnBrk="1" hangingPunct="1"/>
            <a:endParaRPr lang="en-TW" altLang="en-TW" sz="2400" noProof="1">
              <a:latin typeface="GillSans" panose="020B0A02020104020203" pitchFamily="34" charset="77"/>
              <a:ea typeface="ＭＳ Ｐゴシック" panose="020B0600070205080204" pitchFamily="34" charset="-128"/>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a:extLst>
              <a:ext uri="{FF2B5EF4-FFF2-40B4-BE49-F238E27FC236}">
                <a16:creationId xmlns:a16="http://schemas.microsoft.com/office/drawing/2014/main" id="{A13F3921-F5BF-4DBF-FF14-89572575A4C9}"/>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42BC0CDB-DBBF-1F4C-BA2B-833F012BD950}" type="slidenum">
              <a:rPr lang="en-CA" altLang="en-TW" sz="1200">
                <a:latin typeface="Tahoma" panose="020B0604030504040204" pitchFamily="34" charset="0"/>
              </a:rPr>
              <a:pPr eaLnBrk="1" hangingPunct="1"/>
              <a:t>59</a:t>
            </a:fld>
            <a:endParaRPr lang="en-CA" altLang="en-TW" sz="1200">
              <a:latin typeface="Tahoma" panose="020B0604030504040204" pitchFamily="34" charset="0"/>
            </a:endParaRPr>
          </a:p>
        </p:txBody>
      </p:sp>
      <p:sp>
        <p:nvSpPr>
          <p:cNvPr id="129027" name="Rectangle 2">
            <a:extLst>
              <a:ext uri="{FF2B5EF4-FFF2-40B4-BE49-F238E27FC236}">
                <a16:creationId xmlns:a16="http://schemas.microsoft.com/office/drawing/2014/main" id="{F3787233-F3AE-D87F-3481-E6D98BBA22F9}"/>
              </a:ext>
            </a:extLst>
          </p:cNvPr>
          <p:cNvSpPr>
            <a:spLocks noGrp="1" noRot="1" noChangeAspect="1" noChangeArrowheads="1" noTextEdit="1"/>
          </p:cNvSpPr>
          <p:nvPr>
            <p:ph type="sldImg"/>
          </p:nvPr>
        </p:nvSpPr>
        <p:spPr>
          <a:ln/>
        </p:spPr>
      </p:sp>
      <p:sp>
        <p:nvSpPr>
          <p:cNvPr id="129028" name="Rectangle 3">
            <a:extLst>
              <a:ext uri="{FF2B5EF4-FFF2-40B4-BE49-F238E27FC236}">
                <a16:creationId xmlns:a16="http://schemas.microsoft.com/office/drawing/2014/main" id="{074ED893-083C-22E8-0657-7F5E512B210D}"/>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endParaRPr lang="en-GB" altLang="en-TW">
              <a:ea typeface="ＭＳ Ｐゴシック" panose="020B0600070205080204" pitchFamily="34" charset="-128"/>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a:extLst>
              <a:ext uri="{FF2B5EF4-FFF2-40B4-BE49-F238E27FC236}">
                <a16:creationId xmlns:a16="http://schemas.microsoft.com/office/drawing/2014/main" id="{D16499AD-6A0A-C736-BD96-5BAEE2B62EDD}"/>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4D173CCD-D5BE-494A-B689-ED90758D2440}" type="slidenum">
              <a:rPr lang="en-CA" altLang="en-TW" sz="1200">
                <a:latin typeface="Tahoma" panose="020B0604030504040204" pitchFamily="34" charset="0"/>
              </a:rPr>
              <a:pPr eaLnBrk="1" hangingPunct="1"/>
              <a:t>60</a:t>
            </a:fld>
            <a:endParaRPr lang="en-CA" altLang="en-TW" sz="1200">
              <a:latin typeface="Tahoma" panose="020B0604030504040204" pitchFamily="34" charset="0"/>
            </a:endParaRPr>
          </a:p>
        </p:txBody>
      </p:sp>
      <p:sp>
        <p:nvSpPr>
          <p:cNvPr id="130051" name="Rectangle 2">
            <a:extLst>
              <a:ext uri="{FF2B5EF4-FFF2-40B4-BE49-F238E27FC236}">
                <a16:creationId xmlns:a16="http://schemas.microsoft.com/office/drawing/2014/main" id="{651529B9-5854-C916-DBCF-6A81ADB598BF}"/>
              </a:ext>
            </a:extLst>
          </p:cNvPr>
          <p:cNvSpPr>
            <a:spLocks noGrp="1" noRot="1" noChangeAspect="1" noChangeArrowheads="1" noTextEdit="1"/>
          </p:cNvSpPr>
          <p:nvPr>
            <p:ph type="sldImg"/>
          </p:nvPr>
        </p:nvSpPr>
        <p:spPr>
          <a:ln/>
        </p:spPr>
      </p:sp>
      <p:sp>
        <p:nvSpPr>
          <p:cNvPr id="130052" name="Rectangle 3">
            <a:extLst>
              <a:ext uri="{FF2B5EF4-FFF2-40B4-BE49-F238E27FC236}">
                <a16:creationId xmlns:a16="http://schemas.microsoft.com/office/drawing/2014/main" id="{B073B735-C85E-BB63-466C-612F8570D698}"/>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endParaRPr lang="en-GB" altLang="en-TW">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2186067214"/>
      </p:ext>
    </p:extLst>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02839943"/>
      </p:ext>
    </p:extLst>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897514384"/>
      </p:ext>
    </p:extLst>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51422978"/>
      </p:ext>
    </p:extLst>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73412516"/>
      </p:ext>
    </p:extLst>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416367755"/>
      </p:ext>
    </p:extLst>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78493347"/>
      </p:ext>
    </p:extLst>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916839584"/>
      </p:ext>
    </p:extLst>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480620911"/>
      </p:ext>
    </p:extLst>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85692498"/>
      </p:ext>
    </p:extLst>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89929880"/>
      </p:ext>
    </p:extLst>
  </p:cSld>
  <p:clrMapOvr>
    <a:masterClrMapping/>
  </p:clrMapOvr>
  <p:transition spd="med">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4151321353"/>
      </p:ext>
    </p:extLst>
  </p:cSld>
  <p:clrMapOvr>
    <a:masterClrMapping/>
  </p:clrMapOvr>
  <p:transition spd="med">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28577805"/>
      </p:ext>
    </p:extLst>
  </p:cSld>
  <p:clrMapOvr>
    <a:masterClrMapping/>
  </p:clrMapOvr>
  <p:transition spd="med">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851125183"/>
      </p:ext>
    </p:extLst>
  </p:cSld>
  <p:clrMapOvr>
    <a:masterClrMapping/>
  </p:clrMapOvr>
  <p:transition spd="med">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90791977"/>
      </p:ext>
    </p:extLst>
  </p:cSld>
  <p:clrMapOvr>
    <a:masterClrMapping/>
  </p:clrMapOvr>
  <p:transition spd="med">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00910226"/>
      </p:ext>
    </p:extLst>
  </p:cSld>
  <p:clrMapOvr>
    <a:masterClrMapping/>
  </p:clrMapOvr>
  <p:transition spd="med">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3452614108"/>
      </p:ext>
    </p:extLst>
  </p:cSld>
  <p:clrMapOvr>
    <a:masterClrMapping/>
  </p:clrMapOvr>
  <p:transition spd="med">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3510190"/>
      </p:ext>
    </p:extLst>
  </p:cSld>
  <p:clrMapOvr>
    <a:masterClrMapping/>
  </p:clrMapOvr>
  <p:transition spd="med">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629346271"/>
      </p:ext>
    </p:extLst>
  </p:cSld>
  <p:clrMapOvr>
    <a:masterClrMapping/>
  </p:clrMapOvr>
  <p:transition spd="med">
    <p:wipe dir="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898830912"/>
      </p:ext>
    </p:extLst>
  </p:cSld>
  <p:clrMapOvr>
    <a:masterClrMapping/>
  </p:clrMapOvr>
  <p:transition spd="med">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35578379"/>
      </p:ext>
    </p:extLst>
  </p:cSld>
  <p:clrMapOvr>
    <a:masterClrMapping/>
  </p:clrMapOvr>
  <p:transition spd="med">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1416493"/>
      </p:ext>
    </p:extLst>
  </p:cSld>
  <p:clrMapOvr>
    <a:masterClrMapping/>
  </p:clrMapOvr>
  <p:transition spd="med">
    <p:wipe dir="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3364683848"/>
      </p:ext>
    </p:extLst>
  </p:cSld>
  <p:clrMapOvr>
    <a:masterClrMapping/>
  </p:clrMapOvr>
  <p:transition spd="med">
    <p:wipe dir="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21129223"/>
      </p:ext>
    </p:extLst>
  </p:cSld>
  <p:clrMapOvr>
    <a:masterClrMapping/>
  </p:clrMapOvr>
  <p:transition spd="med">
    <p:wipe dir="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837642561"/>
      </p:ext>
    </p:extLst>
  </p:cSld>
  <p:clrMapOvr>
    <a:masterClrMapping/>
  </p:clrMapOvr>
  <p:transition spd="med">
    <p:wipe dir="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81000" y="1905000"/>
            <a:ext cx="4038600" cy="42894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72000" y="1905000"/>
            <a:ext cx="4038600" cy="42894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55792701"/>
      </p:ext>
    </p:extLst>
  </p:cSld>
  <p:clrMapOvr>
    <a:masterClrMapping/>
  </p:clrMapOvr>
  <p:transition spd="med">
    <p:wipe dir="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50632941"/>
      </p:ext>
    </p:extLst>
  </p:cSld>
  <p:clrMapOvr>
    <a:masterClrMapping/>
  </p:clrMapOvr>
  <p:transition spd="med">
    <p:wipe dir="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233687"/>
      </p:ext>
    </p:extLst>
  </p:cSld>
  <p:clrMapOvr>
    <a:masterClrMapping/>
  </p:clrMapOvr>
  <p:transition spd="med">
    <p:wipe dir="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6603739"/>
      </p:ext>
    </p:extLst>
  </p:cSld>
  <p:clrMapOvr>
    <a:masterClrMapping/>
  </p:clrMapOvr>
  <p:transition spd="med">
    <p:wipe dir="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206067383"/>
      </p:ext>
    </p:extLst>
  </p:cSld>
  <p:clrMapOvr>
    <a:masterClrMapping/>
  </p:clrMapOvr>
  <p:transition spd="med">
    <p:wipe dir="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401204549"/>
      </p:ext>
    </p:extLst>
  </p:cSld>
  <p:clrMapOvr>
    <a:masterClrMapping/>
  </p:clrMapOvr>
  <p:transition spd="med">
    <p:wipe dir="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55226157"/>
      </p:ext>
    </p:extLst>
  </p:cSld>
  <p:clrMapOvr>
    <a:masterClrMapping/>
  </p:clrMapOvr>
  <p:transition spd="med">
    <p:wipe dir="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990600"/>
            <a:ext cx="2057400" cy="52038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1000" y="990600"/>
            <a:ext cx="6019800" cy="52038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0943111"/>
      </p:ext>
    </p:extLst>
  </p:cSld>
  <p:clrMapOvr>
    <a:masterClrMapping/>
  </p:clrMapOvr>
  <p:transition spd="med">
    <p:wipe dir="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2339890750"/>
      </p:ext>
    </p:extLst>
  </p:cSld>
  <p:clrMapOvr>
    <a:masterClrMapping/>
  </p:clrMapOvr>
  <p:transition spd="med">
    <p:wipe dir="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66042774"/>
      </p:ext>
    </p:extLst>
  </p:cSld>
  <p:clrMapOvr>
    <a:masterClrMapping/>
  </p:clrMapOvr>
  <p:transition spd="med">
    <p:wipe dir="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491094471"/>
      </p:ext>
    </p:extLst>
  </p:cSld>
  <p:clrMapOvr>
    <a:masterClrMapping/>
  </p:clrMapOvr>
  <p:transition spd="med">
    <p:wipe dir="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81000" y="1905000"/>
            <a:ext cx="19812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514600" y="1905000"/>
            <a:ext cx="19812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5410372"/>
      </p:ext>
    </p:extLst>
  </p:cSld>
  <p:clrMapOvr>
    <a:masterClrMapping/>
  </p:clrMapOvr>
  <p:transition spd="med">
    <p:wipe dir="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79361436"/>
      </p:ext>
    </p:extLst>
  </p:cSld>
  <p:clrMapOvr>
    <a:masterClrMapping/>
  </p:clrMapOvr>
  <p:transition spd="med">
    <p:wipe dir="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01274301"/>
      </p:ext>
    </p:extLst>
  </p:cSld>
  <p:clrMapOvr>
    <a:masterClrMapping/>
  </p:clrMapOvr>
  <p:transition spd="med">
    <p:wipe dir="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1913521"/>
      </p:ext>
    </p:extLst>
  </p:cSld>
  <p:clrMapOvr>
    <a:masterClrMapping/>
  </p:clrMapOvr>
  <p:transition spd="med">
    <p:wipe dir="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25969999"/>
      </p:ext>
    </p:extLst>
  </p:cSld>
  <p:clrMapOvr>
    <a:masterClrMapping/>
  </p:clrMapOvr>
  <p:transition spd="med">
    <p:wipe dir="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604834568"/>
      </p:ext>
    </p:extLst>
  </p:cSld>
  <p:clrMapOvr>
    <a:masterClrMapping/>
  </p:clrMapOvr>
  <p:transition spd="med">
    <p:wipe dir="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34249631"/>
      </p:ext>
    </p:extLst>
  </p:cSld>
  <p:clrMapOvr>
    <a:masterClrMapping/>
  </p:clrMapOvr>
  <p:transition spd="med">
    <p:wipe dir="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96050" y="990600"/>
            <a:ext cx="2038350" cy="5562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1000" y="990600"/>
            <a:ext cx="5962650" cy="5562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84040989"/>
      </p:ext>
    </p:extLst>
  </p:cSld>
  <p:clrMapOvr>
    <a:masterClrMapping/>
  </p:clrMapOvr>
  <p:transition spd="med">
    <p:wipe dir="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3660984216"/>
      </p:ext>
    </p:extLst>
  </p:cSld>
  <p:clrMapOvr>
    <a:masterClrMapping/>
  </p:clrMapOvr>
  <p:transition spd="med">
    <p:wipe dir="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47589052"/>
      </p:ext>
    </p:extLst>
  </p:cSld>
  <p:clrMapOvr>
    <a:masterClrMapping/>
  </p:clrMapOvr>
  <p:transition spd="med">
    <p:wipe dir="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562294473"/>
      </p:ext>
    </p:extLst>
  </p:cSld>
  <p:clrMapOvr>
    <a:masterClrMapping/>
  </p:clrMapOvr>
  <p:transition spd="med">
    <p:wipe dir="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81000" y="1905000"/>
            <a:ext cx="19812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514600" y="1905000"/>
            <a:ext cx="19812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95127642"/>
      </p:ext>
    </p:extLst>
  </p:cSld>
  <p:clrMapOvr>
    <a:masterClrMapping/>
  </p:clrMapOvr>
  <p:transition spd="med">
    <p:wipe dir="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90237127"/>
      </p:ext>
    </p:extLst>
  </p:cSld>
  <p:clrMapOvr>
    <a:masterClrMapping/>
  </p:clrMapOvr>
  <p:transition spd="med">
    <p:wipe dir="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26492259"/>
      </p:ext>
    </p:extLst>
  </p:cSld>
  <p:clrMapOvr>
    <a:masterClrMapping/>
  </p:clrMapOvr>
  <p:transition spd="med">
    <p:wipe dir="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4073533"/>
      </p:ext>
    </p:extLst>
  </p:cSld>
  <p:clrMapOvr>
    <a:masterClrMapping/>
  </p:clrMapOvr>
  <p:transition spd="med">
    <p:wipe dir="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971678865"/>
      </p:ext>
    </p:extLst>
  </p:cSld>
  <p:clrMapOvr>
    <a:masterClrMapping/>
  </p:clrMapOvr>
  <p:transition spd="med">
    <p:wipe dir="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184350535"/>
      </p:ext>
    </p:extLst>
  </p:cSld>
  <p:clrMapOvr>
    <a:masterClrMapping/>
  </p:clrMapOvr>
  <p:transition spd="med">
    <p:wipe dir="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20032149"/>
      </p:ext>
    </p:extLst>
  </p:cSld>
  <p:clrMapOvr>
    <a:masterClrMapping/>
  </p:clrMapOvr>
  <p:transition spd="med">
    <p:wipe dir="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96050" y="990600"/>
            <a:ext cx="2038350" cy="5562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1000" y="990600"/>
            <a:ext cx="5962650" cy="5562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5755625"/>
      </p:ext>
    </p:extLst>
  </p:cSld>
  <p:clrMapOvr>
    <a:masterClrMapping/>
  </p:clrMapOvr>
  <p:transition spd="med">
    <p:wipe dir="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3632818079"/>
      </p:ext>
    </p:extLst>
  </p:cSld>
  <p:clrMapOvr>
    <a:masterClrMapping/>
  </p:clrMapOvr>
  <p:transition spd="med">
    <p:wipe dir="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18161960"/>
      </p:ext>
    </p:extLst>
  </p:cSld>
  <p:clrMapOvr>
    <a:masterClrMapping/>
  </p:clrMapOvr>
  <p:transition spd="med">
    <p:wipe dir="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099714949"/>
      </p:ext>
    </p:extLst>
  </p:cSld>
  <p:clrMapOvr>
    <a:masterClrMapping/>
  </p:clrMapOvr>
  <p:transition spd="med">
    <p:wipe dir="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98030655"/>
      </p:ext>
    </p:extLst>
  </p:cSld>
  <p:clrMapOvr>
    <a:masterClrMapping/>
  </p:clrMapOvr>
  <p:transition spd="med">
    <p:wipe dir="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97421147"/>
      </p:ext>
    </p:extLst>
  </p:cSld>
  <p:clrMapOvr>
    <a:masterClrMapping/>
  </p:clrMapOvr>
  <p:transition spd="med">
    <p:wipe dir="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4059505154"/>
      </p:ext>
    </p:extLst>
  </p:cSld>
  <p:clrMapOvr>
    <a:masterClrMapping/>
  </p:clrMapOvr>
  <p:transition spd="med">
    <p:wipe dir="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7161745"/>
      </p:ext>
    </p:extLst>
  </p:cSld>
  <p:clrMapOvr>
    <a:masterClrMapping/>
  </p:clrMapOvr>
  <p:transition spd="med">
    <p:wipe dir="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605094514"/>
      </p:ext>
    </p:extLst>
  </p:cSld>
  <p:clrMapOvr>
    <a:masterClrMapping/>
  </p:clrMapOvr>
  <p:transition spd="med">
    <p:wipe dir="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883011251"/>
      </p:ext>
    </p:extLst>
  </p:cSld>
  <p:clrMapOvr>
    <a:masterClrMapping/>
  </p:clrMapOvr>
  <p:transition spd="med">
    <p:wipe dir="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88340363"/>
      </p:ext>
    </p:extLst>
  </p:cSld>
  <p:clrMapOvr>
    <a:masterClrMapping/>
  </p:clrMapOvr>
  <p:transition spd="med">
    <p:wipe dir="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18260569"/>
      </p:ext>
    </p:extLst>
  </p:cSld>
  <p:clrMapOvr>
    <a:masterClrMapping/>
  </p:clrMapOvr>
  <p:transition spd="med">
    <p:wipe dir="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CA"/>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17A57E0D-A8B5-89A7-CA06-986C78454251}"/>
              </a:ext>
            </a:extLst>
          </p:cNvPr>
          <p:cNvSpPr>
            <a:spLocks noGrp="1"/>
          </p:cNvSpPr>
          <p:nvPr>
            <p:ph type="dt" sz="half" idx="10"/>
          </p:nvPr>
        </p:nvSpPr>
        <p:spPr/>
        <p:txBody>
          <a:bodyPr/>
          <a:lstStyle>
            <a:lvl1pPr>
              <a:defRPr>
                <a:latin typeface="Arial" panose="020B0604020202020204" pitchFamily="34" charset="0"/>
              </a:defRPr>
            </a:lvl1pPr>
          </a:lstStyle>
          <a:p>
            <a:fld id="{96B7A0E7-11DD-F04C-B593-D6417EE2DB45}" type="datetimeFigureOut">
              <a:rPr lang="en-CA" altLang="en-TW"/>
              <a:pPr/>
              <a:t>2026-03-23</a:t>
            </a:fld>
            <a:endParaRPr lang="en-CA" altLang="en-TW"/>
          </a:p>
        </p:txBody>
      </p:sp>
      <p:sp>
        <p:nvSpPr>
          <p:cNvPr id="5" name="Footer Placeholder 4">
            <a:extLst>
              <a:ext uri="{FF2B5EF4-FFF2-40B4-BE49-F238E27FC236}">
                <a16:creationId xmlns:a16="http://schemas.microsoft.com/office/drawing/2014/main" id="{D07EF366-7FE1-9BA7-A64A-C74B2F20F030}"/>
              </a:ext>
            </a:extLst>
          </p:cNvPr>
          <p:cNvSpPr>
            <a:spLocks noGrp="1"/>
          </p:cNvSpPr>
          <p:nvPr>
            <p:ph type="ftr" sz="quarter" idx="11"/>
          </p:nvPr>
        </p:nvSpPr>
        <p:spPr/>
        <p:txBody>
          <a:bodyPr/>
          <a:lstStyle>
            <a:lvl1pPr fontAlgn="base">
              <a:spcBef>
                <a:spcPct val="0"/>
              </a:spcBef>
              <a:spcAft>
                <a:spcPct val="0"/>
              </a:spcAft>
              <a:defRPr>
                <a:latin typeface="Arial" pitchFamily="34" charset="0"/>
              </a:defRPr>
            </a:lvl1pPr>
          </a:lstStyle>
          <a:p>
            <a:pPr>
              <a:defRPr/>
            </a:pPr>
            <a:endParaRPr lang="en-CA"/>
          </a:p>
        </p:txBody>
      </p:sp>
      <p:sp>
        <p:nvSpPr>
          <p:cNvPr id="6" name="Slide Number Placeholder 5">
            <a:extLst>
              <a:ext uri="{FF2B5EF4-FFF2-40B4-BE49-F238E27FC236}">
                <a16:creationId xmlns:a16="http://schemas.microsoft.com/office/drawing/2014/main" id="{9DE90818-A840-754B-F199-9F523AC6E50E}"/>
              </a:ext>
            </a:extLst>
          </p:cNvPr>
          <p:cNvSpPr>
            <a:spLocks noGrp="1"/>
          </p:cNvSpPr>
          <p:nvPr>
            <p:ph type="sldNum" sz="quarter" idx="12"/>
          </p:nvPr>
        </p:nvSpPr>
        <p:spPr/>
        <p:txBody>
          <a:bodyPr/>
          <a:lstStyle>
            <a:lvl1pPr>
              <a:defRPr>
                <a:latin typeface="Arial" panose="020B0604020202020204" pitchFamily="34" charset="0"/>
              </a:defRPr>
            </a:lvl1pPr>
          </a:lstStyle>
          <a:p>
            <a:fld id="{517D6E1F-6B67-D448-A2DF-5325BAC9C098}" type="slidenum">
              <a:rPr lang="en-CA" altLang="en-TW"/>
              <a:pPr/>
              <a:t>‹#›</a:t>
            </a:fld>
            <a:endParaRPr lang="en-CA" altLang="en-TW"/>
          </a:p>
        </p:txBody>
      </p:sp>
    </p:spTree>
    <p:extLst>
      <p:ext uri="{BB962C8B-B14F-4D97-AF65-F5344CB8AC3E}">
        <p14:creationId xmlns:p14="http://schemas.microsoft.com/office/powerpoint/2010/main" val="85437163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8E68BA0A-7696-D527-4813-3208EC804793}"/>
              </a:ext>
            </a:extLst>
          </p:cNvPr>
          <p:cNvSpPr>
            <a:spLocks noGrp="1"/>
          </p:cNvSpPr>
          <p:nvPr>
            <p:ph type="dt" sz="half" idx="10"/>
          </p:nvPr>
        </p:nvSpPr>
        <p:spPr/>
        <p:txBody>
          <a:bodyPr/>
          <a:lstStyle>
            <a:lvl1pPr>
              <a:defRPr>
                <a:latin typeface="Arial" panose="020B0604020202020204" pitchFamily="34" charset="0"/>
              </a:defRPr>
            </a:lvl1pPr>
          </a:lstStyle>
          <a:p>
            <a:fld id="{A7404653-A580-084F-9577-B0ADF1055923}" type="datetimeFigureOut">
              <a:rPr lang="en-CA" altLang="en-TW"/>
              <a:pPr/>
              <a:t>2026-03-23</a:t>
            </a:fld>
            <a:endParaRPr lang="en-CA" altLang="en-TW"/>
          </a:p>
        </p:txBody>
      </p:sp>
      <p:sp>
        <p:nvSpPr>
          <p:cNvPr id="5" name="Footer Placeholder 4">
            <a:extLst>
              <a:ext uri="{FF2B5EF4-FFF2-40B4-BE49-F238E27FC236}">
                <a16:creationId xmlns:a16="http://schemas.microsoft.com/office/drawing/2014/main" id="{EE4F44A5-68CB-66D8-BBB6-FFBD874542B9}"/>
              </a:ext>
            </a:extLst>
          </p:cNvPr>
          <p:cNvSpPr>
            <a:spLocks noGrp="1"/>
          </p:cNvSpPr>
          <p:nvPr>
            <p:ph type="ftr" sz="quarter" idx="11"/>
          </p:nvPr>
        </p:nvSpPr>
        <p:spPr/>
        <p:txBody>
          <a:bodyPr/>
          <a:lstStyle>
            <a:lvl1pPr fontAlgn="base">
              <a:spcBef>
                <a:spcPct val="0"/>
              </a:spcBef>
              <a:spcAft>
                <a:spcPct val="0"/>
              </a:spcAft>
              <a:defRPr>
                <a:latin typeface="Arial" pitchFamily="34" charset="0"/>
              </a:defRPr>
            </a:lvl1pPr>
          </a:lstStyle>
          <a:p>
            <a:pPr>
              <a:defRPr/>
            </a:pPr>
            <a:endParaRPr lang="en-CA"/>
          </a:p>
        </p:txBody>
      </p:sp>
      <p:sp>
        <p:nvSpPr>
          <p:cNvPr id="6" name="Slide Number Placeholder 5">
            <a:extLst>
              <a:ext uri="{FF2B5EF4-FFF2-40B4-BE49-F238E27FC236}">
                <a16:creationId xmlns:a16="http://schemas.microsoft.com/office/drawing/2014/main" id="{C22B1AF2-C889-7F20-7B64-0832FC0DC968}"/>
              </a:ext>
            </a:extLst>
          </p:cNvPr>
          <p:cNvSpPr>
            <a:spLocks noGrp="1"/>
          </p:cNvSpPr>
          <p:nvPr>
            <p:ph type="sldNum" sz="quarter" idx="12"/>
          </p:nvPr>
        </p:nvSpPr>
        <p:spPr/>
        <p:txBody>
          <a:bodyPr/>
          <a:lstStyle>
            <a:lvl1pPr>
              <a:defRPr>
                <a:latin typeface="Arial" panose="020B0604020202020204" pitchFamily="34" charset="0"/>
              </a:defRPr>
            </a:lvl1pPr>
          </a:lstStyle>
          <a:p>
            <a:fld id="{E0B9082C-AE7B-CB40-8293-BB676733076D}" type="slidenum">
              <a:rPr lang="en-CA" altLang="en-TW"/>
              <a:pPr/>
              <a:t>‹#›</a:t>
            </a:fld>
            <a:endParaRPr lang="en-CA" altLang="en-TW"/>
          </a:p>
        </p:txBody>
      </p:sp>
    </p:spTree>
    <p:extLst>
      <p:ext uri="{BB962C8B-B14F-4D97-AF65-F5344CB8AC3E}">
        <p14:creationId xmlns:p14="http://schemas.microsoft.com/office/powerpoint/2010/main" val="361193123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C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7F4C5D7-A06A-9564-3CA6-311921006D71}"/>
              </a:ext>
            </a:extLst>
          </p:cNvPr>
          <p:cNvSpPr>
            <a:spLocks noGrp="1"/>
          </p:cNvSpPr>
          <p:nvPr>
            <p:ph type="dt" sz="half" idx="10"/>
          </p:nvPr>
        </p:nvSpPr>
        <p:spPr/>
        <p:txBody>
          <a:bodyPr/>
          <a:lstStyle>
            <a:lvl1pPr>
              <a:defRPr>
                <a:latin typeface="Arial" panose="020B0604020202020204" pitchFamily="34" charset="0"/>
              </a:defRPr>
            </a:lvl1pPr>
          </a:lstStyle>
          <a:p>
            <a:fld id="{4E673641-3000-6940-9B3F-FC6958E201D4}" type="datetimeFigureOut">
              <a:rPr lang="en-CA" altLang="en-TW"/>
              <a:pPr/>
              <a:t>2026-03-23</a:t>
            </a:fld>
            <a:endParaRPr lang="en-CA" altLang="en-TW"/>
          </a:p>
        </p:txBody>
      </p:sp>
      <p:sp>
        <p:nvSpPr>
          <p:cNvPr id="5" name="Footer Placeholder 4">
            <a:extLst>
              <a:ext uri="{FF2B5EF4-FFF2-40B4-BE49-F238E27FC236}">
                <a16:creationId xmlns:a16="http://schemas.microsoft.com/office/drawing/2014/main" id="{80B59E38-E046-FEEB-2EF9-95465640B76B}"/>
              </a:ext>
            </a:extLst>
          </p:cNvPr>
          <p:cNvSpPr>
            <a:spLocks noGrp="1"/>
          </p:cNvSpPr>
          <p:nvPr>
            <p:ph type="ftr" sz="quarter" idx="11"/>
          </p:nvPr>
        </p:nvSpPr>
        <p:spPr/>
        <p:txBody>
          <a:bodyPr/>
          <a:lstStyle>
            <a:lvl1pPr fontAlgn="base">
              <a:spcBef>
                <a:spcPct val="0"/>
              </a:spcBef>
              <a:spcAft>
                <a:spcPct val="0"/>
              </a:spcAft>
              <a:defRPr>
                <a:latin typeface="Arial" pitchFamily="34" charset="0"/>
              </a:defRPr>
            </a:lvl1pPr>
          </a:lstStyle>
          <a:p>
            <a:pPr>
              <a:defRPr/>
            </a:pPr>
            <a:endParaRPr lang="en-CA"/>
          </a:p>
        </p:txBody>
      </p:sp>
      <p:sp>
        <p:nvSpPr>
          <p:cNvPr id="6" name="Slide Number Placeholder 5">
            <a:extLst>
              <a:ext uri="{FF2B5EF4-FFF2-40B4-BE49-F238E27FC236}">
                <a16:creationId xmlns:a16="http://schemas.microsoft.com/office/drawing/2014/main" id="{B50135E8-56A3-60B2-4482-80FD5E072D95}"/>
              </a:ext>
            </a:extLst>
          </p:cNvPr>
          <p:cNvSpPr>
            <a:spLocks noGrp="1"/>
          </p:cNvSpPr>
          <p:nvPr>
            <p:ph type="sldNum" sz="quarter" idx="12"/>
          </p:nvPr>
        </p:nvSpPr>
        <p:spPr/>
        <p:txBody>
          <a:bodyPr/>
          <a:lstStyle>
            <a:lvl1pPr>
              <a:defRPr>
                <a:latin typeface="Arial" panose="020B0604020202020204" pitchFamily="34" charset="0"/>
              </a:defRPr>
            </a:lvl1pPr>
          </a:lstStyle>
          <a:p>
            <a:fld id="{FBAC3EDF-5B94-3B43-8152-32F86E894B7E}" type="slidenum">
              <a:rPr lang="en-CA" altLang="en-TW"/>
              <a:pPr/>
              <a:t>‹#›</a:t>
            </a:fld>
            <a:endParaRPr lang="en-CA" altLang="en-TW"/>
          </a:p>
        </p:txBody>
      </p:sp>
    </p:spTree>
    <p:extLst>
      <p:ext uri="{BB962C8B-B14F-4D97-AF65-F5344CB8AC3E}">
        <p14:creationId xmlns:p14="http://schemas.microsoft.com/office/powerpoint/2010/main" val="265790021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5FBB34CF-36FC-9E19-9FAB-91138D950571}"/>
              </a:ext>
            </a:extLst>
          </p:cNvPr>
          <p:cNvSpPr>
            <a:spLocks noGrp="1"/>
          </p:cNvSpPr>
          <p:nvPr>
            <p:ph type="dt" sz="half" idx="10"/>
          </p:nvPr>
        </p:nvSpPr>
        <p:spPr/>
        <p:txBody>
          <a:bodyPr/>
          <a:lstStyle>
            <a:lvl1pPr>
              <a:defRPr>
                <a:latin typeface="Arial" panose="020B0604020202020204" pitchFamily="34" charset="0"/>
              </a:defRPr>
            </a:lvl1pPr>
          </a:lstStyle>
          <a:p>
            <a:fld id="{3EA4BAB3-F628-8D45-B31A-5B790D6E41D8}" type="datetimeFigureOut">
              <a:rPr lang="en-CA" altLang="en-TW"/>
              <a:pPr/>
              <a:t>2026-03-23</a:t>
            </a:fld>
            <a:endParaRPr lang="en-CA" altLang="en-TW"/>
          </a:p>
        </p:txBody>
      </p:sp>
      <p:sp>
        <p:nvSpPr>
          <p:cNvPr id="6" name="Footer Placeholder 5">
            <a:extLst>
              <a:ext uri="{FF2B5EF4-FFF2-40B4-BE49-F238E27FC236}">
                <a16:creationId xmlns:a16="http://schemas.microsoft.com/office/drawing/2014/main" id="{38BC53DA-9940-E7D5-0FDD-C9133E2FAC4D}"/>
              </a:ext>
            </a:extLst>
          </p:cNvPr>
          <p:cNvSpPr>
            <a:spLocks noGrp="1"/>
          </p:cNvSpPr>
          <p:nvPr>
            <p:ph type="ftr" sz="quarter" idx="11"/>
          </p:nvPr>
        </p:nvSpPr>
        <p:spPr/>
        <p:txBody>
          <a:bodyPr/>
          <a:lstStyle>
            <a:lvl1pPr fontAlgn="base">
              <a:spcBef>
                <a:spcPct val="0"/>
              </a:spcBef>
              <a:spcAft>
                <a:spcPct val="0"/>
              </a:spcAft>
              <a:defRPr>
                <a:latin typeface="Arial" pitchFamily="34" charset="0"/>
              </a:defRPr>
            </a:lvl1pPr>
          </a:lstStyle>
          <a:p>
            <a:pPr>
              <a:defRPr/>
            </a:pPr>
            <a:endParaRPr lang="en-CA"/>
          </a:p>
        </p:txBody>
      </p:sp>
      <p:sp>
        <p:nvSpPr>
          <p:cNvPr id="7" name="Slide Number Placeholder 6">
            <a:extLst>
              <a:ext uri="{FF2B5EF4-FFF2-40B4-BE49-F238E27FC236}">
                <a16:creationId xmlns:a16="http://schemas.microsoft.com/office/drawing/2014/main" id="{9A96F57D-70D2-76F6-7CC0-74B9BC884D46}"/>
              </a:ext>
            </a:extLst>
          </p:cNvPr>
          <p:cNvSpPr>
            <a:spLocks noGrp="1"/>
          </p:cNvSpPr>
          <p:nvPr>
            <p:ph type="sldNum" sz="quarter" idx="12"/>
          </p:nvPr>
        </p:nvSpPr>
        <p:spPr/>
        <p:txBody>
          <a:bodyPr/>
          <a:lstStyle>
            <a:lvl1pPr>
              <a:defRPr>
                <a:latin typeface="Arial" panose="020B0604020202020204" pitchFamily="34" charset="0"/>
              </a:defRPr>
            </a:lvl1pPr>
          </a:lstStyle>
          <a:p>
            <a:fld id="{9A59E38D-4CB5-7445-8BE0-F35BE111C939}" type="slidenum">
              <a:rPr lang="en-CA" altLang="en-TW"/>
              <a:pPr/>
              <a:t>‹#›</a:t>
            </a:fld>
            <a:endParaRPr lang="en-CA" altLang="en-TW"/>
          </a:p>
        </p:txBody>
      </p:sp>
    </p:spTree>
    <p:extLst>
      <p:ext uri="{BB962C8B-B14F-4D97-AF65-F5344CB8AC3E}">
        <p14:creationId xmlns:p14="http://schemas.microsoft.com/office/powerpoint/2010/main" val="196119382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91064DEB-5C66-6BEB-8532-F0AA593C88C1}"/>
              </a:ext>
            </a:extLst>
          </p:cNvPr>
          <p:cNvSpPr>
            <a:spLocks noGrp="1"/>
          </p:cNvSpPr>
          <p:nvPr>
            <p:ph type="dt" sz="half" idx="10"/>
          </p:nvPr>
        </p:nvSpPr>
        <p:spPr/>
        <p:txBody>
          <a:bodyPr/>
          <a:lstStyle>
            <a:lvl1pPr>
              <a:defRPr>
                <a:latin typeface="Arial" panose="020B0604020202020204" pitchFamily="34" charset="0"/>
              </a:defRPr>
            </a:lvl1pPr>
          </a:lstStyle>
          <a:p>
            <a:fld id="{76A13E5A-C5CF-2B4A-98FC-29C5EFAAF961}" type="datetimeFigureOut">
              <a:rPr lang="en-CA" altLang="en-TW"/>
              <a:pPr/>
              <a:t>2026-03-23</a:t>
            </a:fld>
            <a:endParaRPr lang="en-CA" altLang="en-TW"/>
          </a:p>
        </p:txBody>
      </p:sp>
      <p:sp>
        <p:nvSpPr>
          <p:cNvPr id="8" name="Footer Placeholder 7">
            <a:extLst>
              <a:ext uri="{FF2B5EF4-FFF2-40B4-BE49-F238E27FC236}">
                <a16:creationId xmlns:a16="http://schemas.microsoft.com/office/drawing/2014/main" id="{F00E91A0-86CA-AB6D-B246-C7228B3381D3}"/>
              </a:ext>
            </a:extLst>
          </p:cNvPr>
          <p:cNvSpPr>
            <a:spLocks noGrp="1"/>
          </p:cNvSpPr>
          <p:nvPr>
            <p:ph type="ftr" sz="quarter" idx="11"/>
          </p:nvPr>
        </p:nvSpPr>
        <p:spPr/>
        <p:txBody>
          <a:bodyPr/>
          <a:lstStyle>
            <a:lvl1pPr fontAlgn="base">
              <a:spcBef>
                <a:spcPct val="0"/>
              </a:spcBef>
              <a:spcAft>
                <a:spcPct val="0"/>
              </a:spcAft>
              <a:defRPr>
                <a:latin typeface="Arial" pitchFamily="34" charset="0"/>
              </a:defRPr>
            </a:lvl1pPr>
          </a:lstStyle>
          <a:p>
            <a:pPr>
              <a:defRPr/>
            </a:pPr>
            <a:endParaRPr lang="en-CA"/>
          </a:p>
        </p:txBody>
      </p:sp>
      <p:sp>
        <p:nvSpPr>
          <p:cNvPr id="9" name="Slide Number Placeholder 8">
            <a:extLst>
              <a:ext uri="{FF2B5EF4-FFF2-40B4-BE49-F238E27FC236}">
                <a16:creationId xmlns:a16="http://schemas.microsoft.com/office/drawing/2014/main" id="{C7AFE032-06BA-41D4-DD1C-E3E3960FFC96}"/>
              </a:ext>
            </a:extLst>
          </p:cNvPr>
          <p:cNvSpPr>
            <a:spLocks noGrp="1"/>
          </p:cNvSpPr>
          <p:nvPr>
            <p:ph type="sldNum" sz="quarter" idx="12"/>
          </p:nvPr>
        </p:nvSpPr>
        <p:spPr/>
        <p:txBody>
          <a:bodyPr/>
          <a:lstStyle>
            <a:lvl1pPr>
              <a:defRPr>
                <a:latin typeface="Arial" panose="020B0604020202020204" pitchFamily="34" charset="0"/>
              </a:defRPr>
            </a:lvl1pPr>
          </a:lstStyle>
          <a:p>
            <a:fld id="{28EF73D2-F2F7-5D4F-B43B-1DCB4F440AE5}" type="slidenum">
              <a:rPr lang="en-CA" altLang="en-TW"/>
              <a:pPr/>
              <a:t>‹#›</a:t>
            </a:fld>
            <a:endParaRPr lang="en-CA" altLang="en-TW"/>
          </a:p>
        </p:txBody>
      </p:sp>
    </p:spTree>
    <p:extLst>
      <p:ext uri="{BB962C8B-B14F-4D97-AF65-F5344CB8AC3E}">
        <p14:creationId xmlns:p14="http://schemas.microsoft.com/office/powerpoint/2010/main" val="286477294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D260B896-9FD8-D6F0-914C-EE0F0E5C1E3F}"/>
              </a:ext>
            </a:extLst>
          </p:cNvPr>
          <p:cNvSpPr>
            <a:spLocks noGrp="1"/>
          </p:cNvSpPr>
          <p:nvPr>
            <p:ph type="dt" sz="half" idx="10"/>
          </p:nvPr>
        </p:nvSpPr>
        <p:spPr/>
        <p:txBody>
          <a:bodyPr/>
          <a:lstStyle>
            <a:lvl1pPr>
              <a:defRPr>
                <a:latin typeface="Arial" panose="020B0604020202020204" pitchFamily="34" charset="0"/>
              </a:defRPr>
            </a:lvl1pPr>
          </a:lstStyle>
          <a:p>
            <a:fld id="{C2006A61-9B7C-314B-A47A-D4A037D2F31B}" type="datetimeFigureOut">
              <a:rPr lang="en-CA" altLang="en-TW"/>
              <a:pPr/>
              <a:t>2026-03-23</a:t>
            </a:fld>
            <a:endParaRPr lang="en-CA" altLang="en-TW"/>
          </a:p>
        </p:txBody>
      </p:sp>
      <p:sp>
        <p:nvSpPr>
          <p:cNvPr id="4" name="Footer Placeholder 3">
            <a:extLst>
              <a:ext uri="{FF2B5EF4-FFF2-40B4-BE49-F238E27FC236}">
                <a16:creationId xmlns:a16="http://schemas.microsoft.com/office/drawing/2014/main" id="{8B9EE779-6B98-67D7-3A9C-CF3A52EEF374}"/>
              </a:ext>
            </a:extLst>
          </p:cNvPr>
          <p:cNvSpPr>
            <a:spLocks noGrp="1"/>
          </p:cNvSpPr>
          <p:nvPr>
            <p:ph type="ftr" sz="quarter" idx="11"/>
          </p:nvPr>
        </p:nvSpPr>
        <p:spPr/>
        <p:txBody>
          <a:bodyPr/>
          <a:lstStyle>
            <a:lvl1pPr fontAlgn="base">
              <a:spcBef>
                <a:spcPct val="0"/>
              </a:spcBef>
              <a:spcAft>
                <a:spcPct val="0"/>
              </a:spcAft>
              <a:defRPr>
                <a:latin typeface="Arial" pitchFamily="34" charset="0"/>
              </a:defRPr>
            </a:lvl1pPr>
          </a:lstStyle>
          <a:p>
            <a:pPr>
              <a:defRPr/>
            </a:pPr>
            <a:endParaRPr lang="en-CA"/>
          </a:p>
        </p:txBody>
      </p:sp>
      <p:sp>
        <p:nvSpPr>
          <p:cNvPr id="5" name="Slide Number Placeholder 4">
            <a:extLst>
              <a:ext uri="{FF2B5EF4-FFF2-40B4-BE49-F238E27FC236}">
                <a16:creationId xmlns:a16="http://schemas.microsoft.com/office/drawing/2014/main" id="{4C466AF1-A459-9FED-A60D-FDE9AEDF6132}"/>
              </a:ext>
            </a:extLst>
          </p:cNvPr>
          <p:cNvSpPr>
            <a:spLocks noGrp="1"/>
          </p:cNvSpPr>
          <p:nvPr>
            <p:ph type="sldNum" sz="quarter" idx="12"/>
          </p:nvPr>
        </p:nvSpPr>
        <p:spPr/>
        <p:txBody>
          <a:bodyPr/>
          <a:lstStyle>
            <a:lvl1pPr>
              <a:defRPr>
                <a:latin typeface="Arial" panose="020B0604020202020204" pitchFamily="34" charset="0"/>
              </a:defRPr>
            </a:lvl1pPr>
          </a:lstStyle>
          <a:p>
            <a:fld id="{B8F8523C-5C6B-6646-8F99-4894671E1175}" type="slidenum">
              <a:rPr lang="en-CA" altLang="en-TW"/>
              <a:pPr/>
              <a:t>‹#›</a:t>
            </a:fld>
            <a:endParaRPr lang="en-CA" altLang="en-TW"/>
          </a:p>
        </p:txBody>
      </p:sp>
    </p:spTree>
    <p:extLst>
      <p:ext uri="{BB962C8B-B14F-4D97-AF65-F5344CB8AC3E}">
        <p14:creationId xmlns:p14="http://schemas.microsoft.com/office/powerpoint/2010/main" val="92505146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B12969-02B7-C8DC-191B-1183B4CC3748}"/>
              </a:ext>
            </a:extLst>
          </p:cNvPr>
          <p:cNvSpPr>
            <a:spLocks noGrp="1"/>
          </p:cNvSpPr>
          <p:nvPr>
            <p:ph type="dt" sz="half" idx="10"/>
          </p:nvPr>
        </p:nvSpPr>
        <p:spPr/>
        <p:txBody>
          <a:bodyPr/>
          <a:lstStyle>
            <a:lvl1pPr>
              <a:defRPr>
                <a:latin typeface="Arial" panose="020B0604020202020204" pitchFamily="34" charset="0"/>
              </a:defRPr>
            </a:lvl1pPr>
          </a:lstStyle>
          <a:p>
            <a:fld id="{D2F1C717-95CF-854B-AA5D-FAB193C7B002}" type="datetimeFigureOut">
              <a:rPr lang="en-CA" altLang="en-TW"/>
              <a:pPr/>
              <a:t>2026-03-23</a:t>
            </a:fld>
            <a:endParaRPr lang="en-CA" altLang="en-TW"/>
          </a:p>
        </p:txBody>
      </p:sp>
      <p:sp>
        <p:nvSpPr>
          <p:cNvPr id="3" name="Footer Placeholder 2">
            <a:extLst>
              <a:ext uri="{FF2B5EF4-FFF2-40B4-BE49-F238E27FC236}">
                <a16:creationId xmlns:a16="http://schemas.microsoft.com/office/drawing/2014/main" id="{533B5C93-B14A-FDFE-010D-599899256B5E}"/>
              </a:ext>
            </a:extLst>
          </p:cNvPr>
          <p:cNvSpPr>
            <a:spLocks noGrp="1"/>
          </p:cNvSpPr>
          <p:nvPr>
            <p:ph type="ftr" sz="quarter" idx="11"/>
          </p:nvPr>
        </p:nvSpPr>
        <p:spPr/>
        <p:txBody>
          <a:bodyPr/>
          <a:lstStyle>
            <a:lvl1pPr fontAlgn="base">
              <a:spcBef>
                <a:spcPct val="0"/>
              </a:spcBef>
              <a:spcAft>
                <a:spcPct val="0"/>
              </a:spcAft>
              <a:defRPr>
                <a:latin typeface="Arial" pitchFamily="34" charset="0"/>
              </a:defRPr>
            </a:lvl1pPr>
          </a:lstStyle>
          <a:p>
            <a:pPr>
              <a:defRPr/>
            </a:pPr>
            <a:endParaRPr lang="en-CA"/>
          </a:p>
        </p:txBody>
      </p:sp>
      <p:sp>
        <p:nvSpPr>
          <p:cNvPr id="4" name="Slide Number Placeholder 3">
            <a:extLst>
              <a:ext uri="{FF2B5EF4-FFF2-40B4-BE49-F238E27FC236}">
                <a16:creationId xmlns:a16="http://schemas.microsoft.com/office/drawing/2014/main" id="{525213E2-F6D6-4360-B3E6-B801D43C6BE4}"/>
              </a:ext>
            </a:extLst>
          </p:cNvPr>
          <p:cNvSpPr>
            <a:spLocks noGrp="1"/>
          </p:cNvSpPr>
          <p:nvPr>
            <p:ph type="sldNum" sz="quarter" idx="12"/>
          </p:nvPr>
        </p:nvSpPr>
        <p:spPr/>
        <p:txBody>
          <a:bodyPr/>
          <a:lstStyle>
            <a:lvl1pPr>
              <a:defRPr>
                <a:latin typeface="Arial" panose="020B0604020202020204" pitchFamily="34" charset="0"/>
              </a:defRPr>
            </a:lvl1pPr>
          </a:lstStyle>
          <a:p>
            <a:fld id="{7725887B-63AE-454D-963F-8E596388EFF2}" type="slidenum">
              <a:rPr lang="en-CA" altLang="en-TW"/>
              <a:pPr/>
              <a:t>‹#›</a:t>
            </a:fld>
            <a:endParaRPr lang="en-CA" altLang="en-TW"/>
          </a:p>
        </p:txBody>
      </p:sp>
    </p:spTree>
    <p:extLst>
      <p:ext uri="{BB962C8B-B14F-4D97-AF65-F5344CB8AC3E}">
        <p14:creationId xmlns:p14="http://schemas.microsoft.com/office/powerpoint/2010/main" val="48453015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C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09A0E7A1-5EC3-1A7D-9589-9A35DF2992F7}"/>
              </a:ext>
            </a:extLst>
          </p:cNvPr>
          <p:cNvSpPr>
            <a:spLocks noGrp="1"/>
          </p:cNvSpPr>
          <p:nvPr>
            <p:ph type="dt" sz="half" idx="10"/>
          </p:nvPr>
        </p:nvSpPr>
        <p:spPr/>
        <p:txBody>
          <a:bodyPr/>
          <a:lstStyle>
            <a:lvl1pPr>
              <a:defRPr>
                <a:latin typeface="Arial" panose="020B0604020202020204" pitchFamily="34" charset="0"/>
              </a:defRPr>
            </a:lvl1pPr>
          </a:lstStyle>
          <a:p>
            <a:fld id="{C2FF2FEA-F95B-FF4C-972B-C45DDED7A59F}" type="datetimeFigureOut">
              <a:rPr lang="en-CA" altLang="en-TW"/>
              <a:pPr/>
              <a:t>2026-03-23</a:t>
            </a:fld>
            <a:endParaRPr lang="en-CA" altLang="en-TW"/>
          </a:p>
        </p:txBody>
      </p:sp>
      <p:sp>
        <p:nvSpPr>
          <p:cNvPr id="6" name="Footer Placeholder 5">
            <a:extLst>
              <a:ext uri="{FF2B5EF4-FFF2-40B4-BE49-F238E27FC236}">
                <a16:creationId xmlns:a16="http://schemas.microsoft.com/office/drawing/2014/main" id="{92B6DEFB-6DE9-858C-A253-1503DD26414C}"/>
              </a:ext>
            </a:extLst>
          </p:cNvPr>
          <p:cNvSpPr>
            <a:spLocks noGrp="1"/>
          </p:cNvSpPr>
          <p:nvPr>
            <p:ph type="ftr" sz="quarter" idx="11"/>
          </p:nvPr>
        </p:nvSpPr>
        <p:spPr/>
        <p:txBody>
          <a:bodyPr/>
          <a:lstStyle>
            <a:lvl1pPr fontAlgn="base">
              <a:spcBef>
                <a:spcPct val="0"/>
              </a:spcBef>
              <a:spcAft>
                <a:spcPct val="0"/>
              </a:spcAft>
              <a:defRPr>
                <a:latin typeface="Arial" pitchFamily="34" charset="0"/>
              </a:defRPr>
            </a:lvl1pPr>
          </a:lstStyle>
          <a:p>
            <a:pPr>
              <a:defRPr/>
            </a:pPr>
            <a:endParaRPr lang="en-CA"/>
          </a:p>
        </p:txBody>
      </p:sp>
      <p:sp>
        <p:nvSpPr>
          <p:cNvPr id="7" name="Slide Number Placeholder 6">
            <a:extLst>
              <a:ext uri="{FF2B5EF4-FFF2-40B4-BE49-F238E27FC236}">
                <a16:creationId xmlns:a16="http://schemas.microsoft.com/office/drawing/2014/main" id="{7EF17EE3-5BD8-D602-FBA9-018FFD6907F8}"/>
              </a:ext>
            </a:extLst>
          </p:cNvPr>
          <p:cNvSpPr>
            <a:spLocks noGrp="1"/>
          </p:cNvSpPr>
          <p:nvPr>
            <p:ph type="sldNum" sz="quarter" idx="12"/>
          </p:nvPr>
        </p:nvSpPr>
        <p:spPr/>
        <p:txBody>
          <a:bodyPr/>
          <a:lstStyle>
            <a:lvl1pPr>
              <a:defRPr>
                <a:latin typeface="Arial" panose="020B0604020202020204" pitchFamily="34" charset="0"/>
              </a:defRPr>
            </a:lvl1pPr>
          </a:lstStyle>
          <a:p>
            <a:fld id="{C0D56F18-E6E0-B544-8D02-C01E08993E52}" type="slidenum">
              <a:rPr lang="en-CA" altLang="en-TW"/>
              <a:pPr/>
              <a:t>‹#›</a:t>
            </a:fld>
            <a:endParaRPr lang="en-CA" altLang="en-TW"/>
          </a:p>
        </p:txBody>
      </p:sp>
    </p:spTree>
    <p:extLst>
      <p:ext uri="{BB962C8B-B14F-4D97-AF65-F5344CB8AC3E}">
        <p14:creationId xmlns:p14="http://schemas.microsoft.com/office/powerpoint/2010/main" val="107836251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CA"/>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0EAF78A6-F97B-AFE4-7098-45FC4223248D}"/>
              </a:ext>
            </a:extLst>
          </p:cNvPr>
          <p:cNvSpPr>
            <a:spLocks noGrp="1"/>
          </p:cNvSpPr>
          <p:nvPr>
            <p:ph type="dt" sz="half" idx="10"/>
          </p:nvPr>
        </p:nvSpPr>
        <p:spPr/>
        <p:txBody>
          <a:bodyPr/>
          <a:lstStyle>
            <a:lvl1pPr>
              <a:defRPr>
                <a:latin typeface="Arial" panose="020B0604020202020204" pitchFamily="34" charset="0"/>
              </a:defRPr>
            </a:lvl1pPr>
          </a:lstStyle>
          <a:p>
            <a:fld id="{6FA78EB0-402C-CA48-AD2D-FE1521323D03}" type="datetimeFigureOut">
              <a:rPr lang="en-CA" altLang="en-TW"/>
              <a:pPr/>
              <a:t>2026-03-23</a:t>
            </a:fld>
            <a:endParaRPr lang="en-CA" altLang="en-TW"/>
          </a:p>
        </p:txBody>
      </p:sp>
      <p:sp>
        <p:nvSpPr>
          <p:cNvPr id="6" name="Footer Placeholder 5">
            <a:extLst>
              <a:ext uri="{FF2B5EF4-FFF2-40B4-BE49-F238E27FC236}">
                <a16:creationId xmlns:a16="http://schemas.microsoft.com/office/drawing/2014/main" id="{4E5581C5-2C87-006C-C544-D992BD762B76}"/>
              </a:ext>
            </a:extLst>
          </p:cNvPr>
          <p:cNvSpPr>
            <a:spLocks noGrp="1"/>
          </p:cNvSpPr>
          <p:nvPr>
            <p:ph type="ftr" sz="quarter" idx="11"/>
          </p:nvPr>
        </p:nvSpPr>
        <p:spPr/>
        <p:txBody>
          <a:bodyPr/>
          <a:lstStyle>
            <a:lvl1pPr fontAlgn="base">
              <a:spcBef>
                <a:spcPct val="0"/>
              </a:spcBef>
              <a:spcAft>
                <a:spcPct val="0"/>
              </a:spcAft>
              <a:defRPr>
                <a:latin typeface="Arial" pitchFamily="34" charset="0"/>
              </a:defRPr>
            </a:lvl1pPr>
          </a:lstStyle>
          <a:p>
            <a:pPr>
              <a:defRPr/>
            </a:pPr>
            <a:endParaRPr lang="en-CA"/>
          </a:p>
        </p:txBody>
      </p:sp>
      <p:sp>
        <p:nvSpPr>
          <p:cNvPr id="7" name="Slide Number Placeholder 6">
            <a:extLst>
              <a:ext uri="{FF2B5EF4-FFF2-40B4-BE49-F238E27FC236}">
                <a16:creationId xmlns:a16="http://schemas.microsoft.com/office/drawing/2014/main" id="{03919110-E30F-8A8B-ED57-3DE7E230947C}"/>
              </a:ext>
            </a:extLst>
          </p:cNvPr>
          <p:cNvSpPr>
            <a:spLocks noGrp="1"/>
          </p:cNvSpPr>
          <p:nvPr>
            <p:ph type="sldNum" sz="quarter" idx="12"/>
          </p:nvPr>
        </p:nvSpPr>
        <p:spPr/>
        <p:txBody>
          <a:bodyPr/>
          <a:lstStyle>
            <a:lvl1pPr>
              <a:defRPr>
                <a:latin typeface="Arial" panose="020B0604020202020204" pitchFamily="34" charset="0"/>
              </a:defRPr>
            </a:lvl1pPr>
          </a:lstStyle>
          <a:p>
            <a:fld id="{936EB5BE-4443-1C43-9950-37C9EC01DB8D}" type="slidenum">
              <a:rPr lang="en-CA" altLang="en-TW"/>
              <a:pPr/>
              <a:t>‹#›</a:t>
            </a:fld>
            <a:endParaRPr lang="en-CA" altLang="en-TW"/>
          </a:p>
        </p:txBody>
      </p:sp>
    </p:spTree>
    <p:extLst>
      <p:ext uri="{BB962C8B-B14F-4D97-AF65-F5344CB8AC3E}">
        <p14:creationId xmlns:p14="http://schemas.microsoft.com/office/powerpoint/2010/main" val="302848633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C5C54BC-EC2E-C9AC-CFE5-D31B8528070D}"/>
              </a:ext>
            </a:extLst>
          </p:cNvPr>
          <p:cNvSpPr>
            <a:spLocks noGrp="1"/>
          </p:cNvSpPr>
          <p:nvPr>
            <p:ph type="dt" sz="half" idx="10"/>
          </p:nvPr>
        </p:nvSpPr>
        <p:spPr/>
        <p:txBody>
          <a:bodyPr/>
          <a:lstStyle>
            <a:lvl1pPr>
              <a:defRPr>
                <a:latin typeface="Arial" panose="020B0604020202020204" pitchFamily="34" charset="0"/>
              </a:defRPr>
            </a:lvl1pPr>
          </a:lstStyle>
          <a:p>
            <a:fld id="{64AB8E4F-8080-0F4C-8864-FB5281E1A7F7}" type="datetimeFigureOut">
              <a:rPr lang="en-CA" altLang="en-TW"/>
              <a:pPr/>
              <a:t>2026-03-23</a:t>
            </a:fld>
            <a:endParaRPr lang="en-CA" altLang="en-TW"/>
          </a:p>
        </p:txBody>
      </p:sp>
      <p:sp>
        <p:nvSpPr>
          <p:cNvPr id="5" name="Footer Placeholder 4">
            <a:extLst>
              <a:ext uri="{FF2B5EF4-FFF2-40B4-BE49-F238E27FC236}">
                <a16:creationId xmlns:a16="http://schemas.microsoft.com/office/drawing/2014/main" id="{B5E99DE1-B18C-60F1-097B-15F67D224AC1}"/>
              </a:ext>
            </a:extLst>
          </p:cNvPr>
          <p:cNvSpPr>
            <a:spLocks noGrp="1"/>
          </p:cNvSpPr>
          <p:nvPr>
            <p:ph type="ftr" sz="quarter" idx="11"/>
          </p:nvPr>
        </p:nvSpPr>
        <p:spPr/>
        <p:txBody>
          <a:bodyPr/>
          <a:lstStyle>
            <a:lvl1pPr fontAlgn="base">
              <a:spcBef>
                <a:spcPct val="0"/>
              </a:spcBef>
              <a:spcAft>
                <a:spcPct val="0"/>
              </a:spcAft>
              <a:defRPr>
                <a:latin typeface="Arial" pitchFamily="34" charset="0"/>
              </a:defRPr>
            </a:lvl1pPr>
          </a:lstStyle>
          <a:p>
            <a:pPr>
              <a:defRPr/>
            </a:pPr>
            <a:endParaRPr lang="en-CA"/>
          </a:p>
        </p:txBody>
      </p:sp>
      <p:sp>
        <p:nvSpPr>
          <p:cNvPr id="6" name="Slide Number Placeholder 5">
            <a:extLst>
              <a:ext uri="{FF2B5EF4-FFF2-40B4-BE49-F238E27FC236}">
                <a16:creationId xmlns:a16="http://schemas.microsoft.com/office/drawing/2014/main" id="{27BF7BA0-4949-AF2E-CFBC-A4345EC74206}"/>
              </a:ext>
            </a:extLst>
          </p:cNvPr>
          <p:cNvSpPr>
            <a:spLocks noGrp="1"/>
          </p:cNvSpPr>
          <p:nvPr>
            <p:ph type="sldNum" sz="quarter" idx="12"/>
          </p:nvPr>
        </p:nvSpPr>
        <p:spPr/>
        <p:txBody>
          <a:bodyPr/>
          <a:lstStyle>
            <a:lvl1pPr>
              <a:defRPr>
                <a:latin typeface="Arial" panose="020B0604020202020204" pitchFamily="34" charset="0"/>
              </a:defRPr>
            </a:lvl1pPr>
          </a:lstStyle>
          <a:p>
            <a:fld id="{4A582125-FB71-C344-91F1-FD71586B5BA5}" type="slidenum">
              <a:rPr lang="en-CA" altLang="en-TW"/>
              <a:pPr/>
              <a:t>‹#›</a:t>
            </a:fld>
            <a:endParaRPr lang="en-CA" altLang="en-TW"/>
          </a:p>
        </p:txBody>
      </p:sp>
    </p:spTree>
    <p:extLst>
      <p:ext uri="{BB962C8B-B14F-4D97-AF65-F5344CB8AC3E}">
        <p14:creationId xmlns:p14="http://schemas.microsoft.com/office/powerpoint/2010/main" val="330267187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FD5999FC-6797-4F51-3141-2BB3F50856C2}"/>
              </a:ext>
            </a:extLst>
          </p:cNvPr>
          <p:cNvSpPr>
            <a:spLocks noGrp="1"/>
          </p:cNvSpPr>
          <p:nvPr>
            <p:ph type="dt" sz="half" idx="10"/>
          </p:nvPr>
        </p:nvSpPr>
        <p:spPr/>
        <p:txBody>
          <a:bodyPr/>
          <a:lstStyle>
            <a:lvl1pPr>
              <a:defRPr>
                <a:latin typeface="Arial" panose="020B0604020202020204" pitchFamily="34" charset="0"/>
              </a:defRPr>
            </a:lvl1pPr>
          </a:lstStyle>
          <a:p>
            <a:fld id="{5398B467-6727-544D-AD76-91A1272D48EF}" type="datetimeFigureOut">
              <a:rPr lang="en-CA" altLang="en-TW"/>
              <a:pPr/>
              <a:t>2026-03-23</a:t>
            </a:fld>
            <a:endParaRPr lang="en-CA" altLang="en-TW"/>
          </a:p>
        </p:txBody>
      </p:sp>
      <p:sp>
        <p:nvSpPr>
          <p:cNvPr id="5" name="Footer Placeholder 4">
            <a:extLst>
              <a:ext uri="{FF2B5EF4-FFF2-40B4-BE49-F238E27FC236}">
                <a16:creationId xmlns:a16="http://schemas.microsoft.com/office/drawing/2014/main" id="{D10292EB-81ED-2551-F7FD-2312D0FE5D9D}"/>
              </a:ext>
            </a:extLst>
          </p:cNvPr>
          <p:cNvSpPr>
            <a:spLocks noGrp="1"/>
          </p:cNvSpPr>
          <p:nvPr>
            <p:ph type="ftr" sz="quarter" idx="11"/>
          </p:nvPr>
        </p:nvSpPr>
        <p:spPr/>
        <p:txBody>
          <a:bodyPr/>
          <a:lstStyle>
            <a:lvl1pPr fontAlgn="base">
              <a:spcBef>
                <a:spcPct val="0"/>
              </a:spcBef>
              <a:spcAft>
                <a:spcPct val="0"/>
              </a:spcAft>
              <a:defRPr>
                <a:latin typeface="Arial" pitchFamily="34" charset="0"/>
              </a:defRPr>
            </a:lvl1pPr>
          </a:lstStyle>
          <a:p>
            <a:pPr>
              <a:defRPr/>
            </a:pPr>
            <a:endParaRPr lang="en-CA"/>
          </a:p>
        </p:txBody>
      </p:sp>
      <p:sp>
        <p:nvSpPr>
          <p:cNvPr id="6" name="Slide Number Placeholder 5">
            <a:extLst>
              <a:ext uri="{FF2B5EF4-FFF2-40B4-BE49-F238E27FC236}">
                <a16:creationId xmlns:a16="http://schemas.microsoft.com/office/drawing/2014/main" id="{9FEF229E-23DC-158F-F124-DFC8C1F085FE}"/>
              </a:ext>
            </a:extLst>
          </p:cNvPr>
          <p:cNvSpPr>
            <a:spLocks noGrp="1"/>
          </p:cNvSpPr>
          <p:nvPr>
            <p:ph type="sldNum" sz="quarter" idx="12"/>
          </p:nvPr>
        </p:nvSpPr>
        <p:spPr/>
        <p:txBody>
          <a:bodyPr/>
          <a:lstStyle>
            <a:lvl1pPr>
              <a:defRPr>
                <a:latin typeface="Arial" panose="020B0604020202020204" pitchFamily="34" charset="0"/>
              </a:defRPr>
            </a:lvl1pPr>
          </a:lstStyle>
          <a:p>
            <a:fld id="{D3E6E986-83C6-4545-903E-DAB955A55248}" type="slidenum">
              <a:rPr lang="en-CA" altLang="en-TW"/>
              <a:pPr/>
              <a:t>‹#›</a:t>
            </a:fld>
            <a:endParaRPr lang="en-CA" altLang="en-TW"/>
          </a:p>
        </p:txBody>
      </p:sp>
    </p:spTree>
    <p:extLst>
      <p:ext uri="{BB962C8B-B14F-4D97-AF65-F5344CB8AC3E}">
        <p14:creationId xmlns:p14="http://schemas.microsoft.com/office/powerpoint/2010/main" val="1971141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image" Target="../media/image1.png"/><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13" Type="http://schemas.openxmlformats.org/officeDocument/2006/relationships/image" Target="../media/image2.png"/><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35234" name="Rectangle 2">
            <a:extLst>
              <a:ext uri="{FF2B5EF4-FFF2-40B4-BE49-F238E27FC236}">
                <a16:creationId xmlns:a16="http://schemas.microsoft.com/office/drawing/2014/main" id="{5E1DE4E9-3748-A30E-11A4-D71F214025EF}"/>
              </a:ext>
            </a:extLst>
          </p:cNvPr>
          <p:cNvSpPr>
            <a:spLocks noChangeArrowheads="1"/>
          </p:cNvSpPr>
          <p:nvPr/>
        </p:nvSpPr>
        <p:spPr bwMode="auto">
          <a:xfrm>
            <a:off x="3276600" y="914400"/>
            <a:ext cx="4114800" cy="5492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indent="-342900">
              <a:spcBef>
                <a:spcPct val="20000"/>
              </a:spcBef>
              <a:buClr>
                <a:srgbClr val="00468F"/>
              </a:buClr>
              <a:buFont typeface="Webdings" charset="0"/>
              <a:buChar char="&lt;"/>
              <a:defRPr/>
            </a:pPr>
            <a:endParaRPr lang="en-CA" sz="2800" b="1">
              <a:solidFill>
                <a:srgbClr val="00468F"/>
              </a:solidFill>
              <a:latin typeface="Arial" charset="0"/>
              <a:ea typeface="ＭＳ Ｐゴシック" charset="0"/>
            </a:endParaRPr>
          </a:p>
        </p:txBody>
      </p:sp>
      <p:sp>
        <p:nvSpPr>
          <p:cNvPr id="1027" name="Text Box 3">
            <a:extLst>
              <a:ext uri="{FF2B5EF4-FFF2-40B4-BE49-F238E27FC236}">
                <a16:creationId xmlns:a16="http://schemas.microsoft.com/office/drawing/2014/main" id="{EAACF0C3-226A-B7D9-A22F-3824EB22D8ED}"/>
              </a:ext>
            </a:extLst>
          </p:cNvPr>
          <p:cNvSpPr txBox="1">
            <a:spLocks noChangeArrowheads="1"/>
          </p:cNvSpPr>
          <p:nvPr userDrawn="1"/>
        </p:nvSpPr>
        <p:spPr bwMode="auto">
          <a:xfrm>
            <a:off x="431800" y="6643688"/>
            <a:ext cx="1692275"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US" altLang="en-TW" sz="800"/>
              <a:t>© 2013 Pearson</a:t>
            </a:r>
          </a:p>
        </p:txBody>
      </p:sp>
    </p:spTree>
  </p:cSld>
  <p:clrMap bg1="lt1" tx1="dk1" bg2="lt2" tx2="dk2" accent1="accent1" accent2="accent2" accent3="accent3" accent4="accent4" accent5="accent5" accent6="accent6" hlink="hlink" folHlink="folHlink"/>
  <p:sldLayoutIdLst>
    <p:sldLayoutId id="2147483863" r:id="rId1"/>
    <p:sldLayoutId id="2147483864" r:id="rId2"/>
    <p:sldLayoutId id="2147483865" r:id="rId3"/>
    <p:sldLayoutId id="2147483866" r:id="rId4"/>
    <p:sldLayoutId id="2147483867" r:id="rId5"/>
    <p:sldLayoutId id="2147483868" r:id="rId6"/>
    <p:sldLayoutId id="2147483869" r:id="rId7"/>
    <p:sldLayoutId id="2147483870" r:id="rId8"/>
    <p:sldLayoutId id="2147483871" r:id="rId9"/>
    <p:sldLayoutId id="2147483872" r:id="rId10"/>
    <p:sldLayoutId id="2147483873" r:id="rId11"/>
  </p:sldLayoutIdLst>
  <p:transition spd="med">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nodePh="1">
                                  <p:stCondLst>
                                    <p:cond delay="0"/>
                                  </p:stCondLst>
                                  <p:endCondLst>
                                    <p:cond evt="begin" delay="0">
                                      <p:tn val="5"/>
                                    </p:cond>
                                  </p:endCondLst>
                                  <p:childTnLst>
                                    <p:set>
                                      <p:cBhvr>
                                        <p:cTn id="6" dur="1" fill="hold">
                                          <p:stCondLst>
                                            <p:cond delay="0"/>
                                          </p:stCondLst>
                                        </p:cTn>
                                        <p:tgtEl>
                                          <p:spTgt spid="735234">
                                            <p:txEl>
                                              <p:pRg st="0" end="0"/>
                                            </p:txEl>
                                          </p:spTgt>
                                        </p:tgtEl>
                                        <p:attrNameLst>
                                          <p:attrName>style.visibility</p:attrName>
                                        </p:attrNameLst>
                                      </p:cBhvr>
                                      <p:to>
                                        <p:strVal val="visible"/>
                                      </p:to>
                                    </p:set>
                                    <p:animEffect transition="in" filter="wipe(left)">
                                      <p:cBhvr>
                                        <p:cTn id="7" dur="500"/>
                                        <p:tgtEl>
                                          <p:spTgt spid="73523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5234" grpId="0" build="p" bldLvl="3" autoUpdateAnimBg="0">
        <p:tmplLst>
          <p:tmpl lvl="1">
            <p:tnLst>
              <p:par>
                <p:cTn presetID="22" presetClass="entr" presetSubtype="8" fill="hold" nodeType="clickEffect">
                  <p:stCondLst>
                    <p:cond delay="0"/>
                  </p:stCondLst>
                  <p:childTnLst>
                    <p:set>
                      <p:cBhvr>
                        <p:cTn dur="1" fill="hold">
                          <p:stCondLst>
                            <p:cond delay="0"/>
                          </p:stCondLst>
                        </p:cTn>
                        <p:tgtEl>
                          <p:spTgt spid="735234"/>
                        </p:tgtEl>
                        <p:attrNameLst>
                          <p:attrName>style.visibility</p:attrName>
                        </p:attrNameLst>
                      </p:cBhvr>
                      <p:to>
                        <p:strVal val="visible"/>
                      </p:to>
                    </p:set>
                    <p:animEffect transition="in" filter="wipe(left)">
                      <p:cBhvr>
                        <p:cTn dur="500"/>
                        <p:tgtEl>
                          <p:spTgt spid="735234"/>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735234"/>
                        </p:tgtEl>
                        <p:attrNameLst>
                          <p:attrName>style.visibility</p:attrName>
                        </p:attrNameLst>
                      </p:cBhvr>
                      <p:to>
                        <p:strVal val="visible"/>
                      </p:to>
                    </p:set>
                    <p:animEffect transition="in" filter="wipe(left)">
                      <p:cBhvr>
                        <p:cTn dur="500"/>
                        <p:tgtEl>
                          <p:spTgt spid="735234"/>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735234"/>
                        </p:tgtEl>
                        <p:attrNameLst>
                          <p:attrName>style.visibility</p:attrName>
                        </p:attrNameLst>
                      </p:cBhvr>
                      <p:to>
                        <p:strVal val="visible"/>
                      </p:to>
                    </p:set>
                    <p:animEffect transition="in" filter="wipe(left)">
                      <p:cBhvr>
                        <p:cTn dur="500"/>
                        <p:tgtEl>
                          <p:spTgt spid="735234"/>
                        </p:tgtEl>
                      </p:cBhvr>
                    </p:animEffect>
                  </p:childTnLst>
                </p:cTn>
              </p:par>
            </p:tnLst>
          </p:tmpl>
        </p:tmplLst>
      </p:bldP>
    </p:bldLst>
  </p:timing>
  <p:txStyles>
    <p:titleStyle>
      <a:lvl1pPr algn="l" rtl="0" eaLnBrk="0" fontAlgn="base" hangingPunct="0">
        <a:spcBef>
          <a:spcPct val="0"/>
        </a:spcBef>
        <a:spcAft>
          <a:spcPct val="0"/>
        </a:spcAft>
        <a:defRPr sz="2600" b="1">
          <a:solidFill>
            <a:schemeClr val="bg1"/>
          </a:solidFill>
          <a:latin typeface="+mj-lt"/>
          <a:ea typeface="ＭＳ Ｐゴシック" charset="0"/>
          <a:cs typeface="+mj-cs"/>
        </a:defRPr>
      </a:lvl1pPr>
      <a:lvl2pPr algn="l" rtl="0" eaLnBrk="0" fontAlgn="base" hangingPunct="0">
        <a:spcBef>
          <a:spcPct val="0"/>
        </a:spcBef>
        <a:spcAft>
          <a:spcPct val="0"/>
        </a:spcAft>
        <a:defRPr sz="2600" b="1">
          <a:solidFill>
            <a:schemeClr val="bg1"/>
          </a:solidFill>
          <a:latin typeface="Arial" charset="0"/>
          <a:ea typeface="ＭＳ Ｐゴシック" charset="0"/>
        </a:defRPr>
      </a:lvl2pPr>
      <a:lvl3pPr algn="l" rtl="0" eaLnBrk="0" fontAlgn="base" hangingPunct="0">
        <a:spcBef>
          <a:spcPct val="0"/>
        </a:spcBef>
        <a:spcAft>
          <a:spcPct val="0"/>
        </a:spcAft>
        <a:defRPr sz="2600" b="1">
          <a:solidFill>
            <a:schemeClr val="bg1"/>
          </a:solidFill>
          <a:latin typeface="Arial" charset="0"/>
          <a:ea typeface="ＭＳ Ｐゴシック" charset="0"/>
        </a:defRPr>
      </a:lvl3pPr>
      <a:lvl4pPr algn="l" rtl="0" eaLnBrk="0" fontAlgn="base" hangingPunct="0">
        <a:spcBef>
          <a:spcPct val="0"/>
        </a:spcBef>
        <a:spcAft>
          <a:spcPct val="0"/>
        </a:spcAft>
        <a:defRPr sz="2600" b="1">
          <a:solidFill>
            <a:schemeClr val="bg1"/>
          </a:solidFill>
          <a:latin typeface="Arial" charset="0"/>
          <a:ea typeface="ＭＳ Ｐゴシック" charset="0"/>
        </a:defRPr>
      </a:lvl4pPr>
      <a:lvl5pPr algn="l" rtl="0" eaLnBrk="0" fontAlgn="base" hangingPunct="0">
        <a:spcBef>
          <a:spcPct val="0"/>
        </a:spcBef>
        <a:spcAft>
          <a:spcPct val="0"/>
        </a:spcAft>
        <a:defRPr sz="2600" b="1">
          <a:solidFill>
            <a:schemeClr val="bg1"/>
          </a:solidFill>
          <a:latin typeface="Arial" charset="0"/>
          <a:ea typeface="ＭＳ Ｐゴシック" charset="0"/>
        </a:defRPr>
      </a:lvl5pPr>
      <a:lvl6pPr marL="457200" algn="l" rtl="0" fontAlgn="base">
        <a:spcBef>
          <a:spcPct val="0"/>
        </a:spcBef>
        <a:spcAft>
          <a:spcPct val="0"/>
        </a:spcAft>
        <a:defRPr sz="2600" b="1">
          <a:solidFill>
            <a:schemeClr val="bg1"/>
          </a:solidFill>
          <a:latin typeface="Arial" charset="0"/>
        </a:defRPr>
      </a:lvl6pPr>
      <a:lvl7pPr marL="914400" algn="l" rtl="0" fontAlgn="base">
        <a:spcBef>
          <a:spcPct val="0"/>
        </a:spcBef>
        <a:spcAft>
          <a:spcPct val="0"/>
        </a:spcAft>
        <a:defRPr sz="2600" b="1">
          <a:solidFill>
            <a:schemeClr val="bg1"/>
          </a:solidFill>
          <a:latin typeface="Arial" charset="0"/>
        </a:defRPr>
      </a:lvl7pPr>
      <a:lvl8pPr marL="1371600" algn="l" rtl="0" fontAlgn="base">
        <a:spcBef>
          <a:spcPct val="0"/>
        </a:spcBef>
        <a:spcAft>
          <a:spcPct val="0"/>
        </a:spcAft>
        <a:defRPr sz="2600" b="1">
          <a:solidFill>
            <a:schemeClr val="bg1"/>
          </a:solidFill>
          <a:latin typeface="Arial" charset="0"/>
        </a:defRPr>
      </a:lvl8pPr>
      <a:lvl9pPr marL="1828800" algn="l" rtl="0" fontAlgn="base">
        <a:spcBef>
          <a:spcPct val="0"/>
        </a:spcBef>
        <a:spcAft>
          <a:spcPct val="0"/>
        </a:spcAft>
        <a:defRPr sz="2600" b="1">
          <a:solidFill>
            <a:schemeClr val="bg1"/>
          </a:solidFill>
          <a:latin typeface="Arial" charset="0"/>
        </a:defRPr>
      </a:lvl9pPr>
    </p:titleStyle>
    <p:bodyStyle>
      <a:lvl1pPr marL="342900" indent="-342900" algn="l" rtl="0" eaLnBrk="0" fontAlgn="base" hangingPunct="0">
        <a:spcBef>
          <a:spcPct val="20000"/>
        </a:spcBef>
        <a:spcAft>
          <a:spcPct val="0"/>
        </a:spcAft>
        <a:buClr>
          <a:srgbClr val="00468F"/>
        </a:buClr>
        <a:buFont typeface="Webdings" pitchFamily="2" charset="2"/>
        <a:buChar char="&lt;"/>
        <a:defRPr sz="2800" b="1">
          <a:solidFill>
            <a:srgbClr val="00468F"/>
          </a:solidFill>
          <a:latin typeface="+mn-lt"/>
          <a:ea typeface="ＭＳ Ｐゴシック" charset="0"/>
          <a:cs typeface="+mn-cs"/>
        </a:defRPr>
      </a:lvl1pPr>
      <a:lvl2pPr marL="457200" algn="l" rtl="0" eaLnBrk="0" fontAlgn="base" hangingPunct="0">
        <a:lnSpc>
          <a:spcPct val="105000"/>
        </a:lnSpc>
        <a:spcBef>
          <a:spcPct val="50000"/>
        </a:spcBef>
        <a:spcAft>
          <a:spcPct val="0"/>
        </a:spcAft>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lr>
          <a:srgbClr val="00468F"/>
        </a:buClr>
        <a:buChar char="•"/>
        <a:defRPr sz="24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15778" name="Rectangle 2">
            <a:extLst>
              <a:ext uri="{FF2B5EF4-FFF2-40B4-BE49-F238E27FC236}">
                <a16:creationId xmlns:a16="http://schemas.microsoft.com/office/drawing/2014/main" id="{1B41F5A8-469C-868B-5F64-D5BE3EB9A428}"/>
              </a:ext>
            </a:extLst>
          </p:cNvPr>
          <p:cNvSpPr>
            <a:spLocks noChangeArrowheads="1"/>
          </p:cNvSpPr>
          <p:nvPr/>
        </p:nvSpPr>
        <p:spPr bwMode="auto">
          <a:xfrm>
            <a:off x="3276600" y="914400"/>
            <a:ext cx="4114800" cy="5492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indent="-342900">
              <a:spcBef>
                <a:spcPct val="20000"/>
              </a:spcBef>
              <a:buClr>
                <a:srgbClr val="00468F"/>
              </a:buClr>
              <a:buFont typeface="Webdings" charset="0"/>
              <a:buChar char="&lt;"/>
              <a:defRPr/>
            </a:pPr>
            <a:endParaRPr lang="en-CA" sz="2800" b="1">
              <a:solidFill>
                <a:srgbClr val="00468F"/>
              </a:solidFill>
              <a:latin typeface="Arial" charset="0"/>
              <a:ea typeface="ＭＳ Ｐゴシック" charset="0"/>
            </a:endParaRPr>
          </a:p>
        </p:txBody>
      </p:sp>
      <p:sp>
        <p:nvSpPr>
          <p:cNvPr id="2051" name="Text Box 3">
            <a:extLst>
              <a:ext uri="{FF2B5EF4-FFF2-40B4-BE49-F238E27FC236}">
                <a16:creationId xmlns:a16="http://schemas.microsoft.com/office/drawing/2014/main" id="{565707A9-CF16-5D10-D5FA-F34F82F962C1}"/>
              </a:ext>
            </a:extLst>
          </p:cNvPr>
          <p:cNvSpPr txBox="1">
            <a:spLocks noChangeArrowheads="1"/>
          </p:cNvSpPr>
          <p:nvPr userDrawn="1"/>
        </p:nvSpPr>
        <p:spPr bwMode="auto">
          <a:xfrm>
            <a:off x="431800" y="6643688"/>
            <a:ext cx="1692275"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US" altLang="en-TW" sz="800"/>
              <a:t>© 2013 Pearson</a:t>
            </a:r>
          </a:p>
        </p:txBody>
      </p:sp>
    </p:spTree>
  </p:cSld>
  <p:clrMap bg1="lt1" tx1="dk1" bg2="lt2" tx2="dk2" accent1="accent1" accent2="accent2" accent3="accent3" accent4="accent4" accent5="accent5" accent6="accent6" hlink="hlink" folHlink="folHlink"/>
  <p:sldLayoutIdLst>
    <p:sldLayoutId id="2147483874" r:id="rId1"/>
    <p:sldLayoutId id="2147483875" r:id="rId2"/>
    <p:sldLayoutId id="2147483876" r:id="rId3"/>
    <p:sldLayoutId id="2147483877" r:id="rId4"/>
    <p:sldLayoutId id="2147483878" r:id="rId5"/>
    <p:sldLayoutId id="2147483879" r:id="rId6"/>
    <p:sldLayoutId id="2147483880" r:id="rId7"/>
    <p:sldLayoutId id="2147483881" r:id="rId8"/>
    <p:sldLayoutId id="2147483882" r:id="rId9"/>
    <p:sldLayoutId id="2147483883" r:id="rId10"/>
    <p:sldLayoutId id="2147483884" r:id="rId11"/>
  </p:sldLayoutIdLst>
  <p:transition spd="med">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nodePh="1">
                                  <p:stCondLst>
                                    <p:cond delay="0"/>
                                  </p:stCondLst>
                                  <p:endCondLst>
                                    <p:cond evt="begin" delay="0">
                                      <p:tn val="5"/>
                                    </p:cond>
                                  </p:endCondLst>
                                  <p:childTnLst>
                                    <p:set>
                                      <p:cBhvr>
                                        <p:cTn id="6" dur="1" fill="hold">
                                          <p:stCondLst>
                                            <p:cond delay="0"/>
                                          </p:stCondLst>
                                        </p:cTn>
                                        <p:tgtEl>
                                          <p:spTgt spid="715778">
                                            <p:txEl>
                                              <p:pRg st="0" end="0"/>
                                            </p:txEl>
                                          </p:spTgt>
                                        </p:tgtEl>
                                        <p:attrNameLst>
                                          <p:attrName>style.visibility</p:attrName>
                                        </p:attrNameLst>
                                      </p:cBhvr>
                                      <p:to>
                                        <p:strVal val="visible"/>
                                      </p:to>
                                    </p:set>
                                    <p:animEffect transition="in" filter="wipe(left)">
                                      <p:cBhvr>
                                        <p:cTn id="7" dur="500"/>
                                        <p:tgtEl>
                                          <p:spTgt spid="71577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5778" grpId="0" build="p" bldLvl="3" autoUpdateAnimBg="0">
        <p:tmplLst>
          <p:tmpl lvl="1">
            <p:tnLst>
              <p:par>
                <p:cTn presetID="22" presetClass="entr" presetSubtype="8" fill="hold" nodeType="clickEffect">
                  <p:stCondLst>
                    <p:cond delay="0"/>
                  </p:stCondLst>
                  <p:childTnLst>
                    <p:set>
                      <p:cBhvr>
                        <p:cTn dur="1" fill="hold">
                          <p:stCondLst>
                            <p:cond delay="0"/>
                          </p:stCondLst>
                        </p:cTn>
                        <p:tgtEl>
                          <p:spTgt spid="715778"/>
                        </p:tgtEl>
                        <p:attrNameLst>
                          <p:attrName>style.visibility</p:attrName>
                        </p:attrNameLst>
                      </p:cBhvr>
                      <p:to>
                        <p:strVal val="visible"/>
                      </p:to>
                    </p:set>
                    <p:animEffect transition="in" filter="wipe(left)">
                      <p:cBhvr>
                        <p:cTn dur="500"/>
                        <p:tgtEl>
                          <p:spTgt spid="715778"/>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715778"/>
                        </p:tgtEl>
                        <p:attrNameLst>
                          <p:attrName>style.visibility</p:attrName>
                        </p:attrNameLst>
                      </p:cBhvr>
                      <p:to>
                        <p:strVal val="visible"/>
                      </p:to>
                    </p:set>
                    <p:animEffect transition="in" filter="wipe(left)">
                      <p:cBhvr>
                        <p:cTn dur="500"/>
                        <p:tgtEl>
                          <p:spTgt spid="715778"/>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715778"/>
                        </p:tgtEl>
                        <p:attrNameLst>
                          <p:attrName>style.visibility</p:attrName>
                        </p:attrNameLst>
                      </p:cBhvr>
                      <p:to>
                        <p:strVal val="visible"/>
                      </p:to>
                    </p:set>
                    <p:animEffect transition="in" filter="wipe(left)">
                      <p:cBhvr>
                        <p:cTn dur="500"/>
                        <p:tgtEl>
                          <p:spTgt spid="715778"/>
                        </p:tgtEl>
                      </p:cBhvr>
                    </p:animEffect>
                  </p:childTnLst>
                </p:cTn>
              </p:par>
            </p:tnLst>
          </p:tmpl>
        </p:tmplLst>
      </p:bldP>
    </p:bldLst>
  </p:timing>
  <p:txStyles>
    <p:titleStyle>
      <a:lvl1pPr algn="l" rtl="0" eaLnBrk="0" fontAlgn="base" hangingPunct="0">
        <a:spcBef>
          <a:spcPct val="0"/>
        </a:spcBef>
        <a:spcAft>
          <a:spcPct val="0"/>
        </a:spcAft>
        <a:defRPr sz="2600" b="1">
          <a:solidFill>
            <a:schemeClr val="bg1"/>
          </a:solidFill>
          <a:latin typeface="+mj-lt"/>
          <a:ea typeface="ＭＳ Ｐゴシック" charset="0"/>
          <a:cs typeface="+mj-cs"/>
        </a:defRPr>
      </a:lvl1pPr>
      <a:lvl2pPr algn="l" rtl="0" eaLnBrk="0" fontAlgn="base" hangingPunct="0">
        <a:spcBef>
          <a:spcPct val="0"/>
        </a:spcBef>
        <a:spcAft>
          <a:spcPct val="0"/>
        </a:spcAft>
        <a:defRPr sz="2600" b="1">
          <a:solidFill>
            <a:schemeClr val="bg1"/>
          </a:solidFill>
          <a:latin typeface="Arial" charset="0"/>
          <a:ea typeface="ＭＳ Ｐゴシック" charset="0"/>
        </a:defRPr>
      </a:lvl2pPr>
      <a:lvl3pPr algn="l" rtl="0" eaLnBrk="0" fontAlgn="base" hangingPunct="0">
        <a:spcBef>
          <a:spcPct val="0"/>
        </a:spcBef>
        <a:spcAft>
          <a:spcPct val="0"/>
        </a:spcAft>
        <a:defRPr sz="2600" b="1">
          <a:solidFill>
            <a:schemeClr val="bg1"/>
          </a:solidFill>
          <a:latin typeface="Arial" charset="0"/>
          <a:ea typeface="ＭＳ Ｐゴシック" charset="0"/>
        </a:defRPr>
      </a:lvl3pPr>
      <a:lvl4pPr algn="l" rtl="0" eaLnBrk="0" fontAlgn="base" hangingPunct="0">
        <a:spcBef>
          <a:spcPct val="0"/>
        </a:spcBef>
        <a:spcAft>
          <a:spcPct val="0"/>
        </a:spcAft>
        <a:defRPr sz="2600" b="1">
          <a:solidFill>
            <a:schemeClr val="bg1"/>
          </a:solidFill>
          <a:latin typeface="Arial" charset="0"/>
          <a:ea typeface="ＭＳ Ｐゴシック" charset="0"/>
        </a:defRPr>
      </a:lvl4pPr>
      <a:lvl5pPr algn="l" rtl="0" eaLnBrk="0" fontAlgn="base" hangingPunct="0">
        <a:spcBef>
          <a:spcPct val="0"/>
        </a:spcBef>
        <a:spcAft>
          <a:spcPct val="0"/>
        </a:spcAft>
        <a:defRPr sz="2600" b="1">
          <a:solidFill>
            <a:schemeClr val="bg1"/>
          </a:solidFill>
          <a:latin typeface="Arial" charset="0"/>
          <a:ea typeface="ＭＳ Ｐゴシック" charset="0"/>
        </a:defRPr>
      </a:lvl5pPr>
      <a:lvl6pPr marL="457200" algn="l" rtl="0" fontAlgn="base">
        <a:spcBef>
          <a:spcPct val="0"/>
        </a:spcBef>
        <a:spcAft>
          <a:spcPct val="0"/>
        </a:spcAft>
        <a:defRPr sz="2600" b="1">
          <a:solidFill>
            <a:schemeClr val="bg1"/>
          </a:solidFill>
          <a:latin typeface="Arial" charset="0"/>
        </a:defRPr>
      </a:lvl6pPr>
      <a:lvl7pPr marL="914400" algn="l" rtl="0" fontAlgn="base">
        <a:spcBef>
          <a:spcPct val="0"/>
        </a:spcBef>
        <a:spcAft>
          <a:spcPct val="0"/>
        </a:spcAft>
        <a:defRPr sz="2600" b="1">
          <a:solidFill>
            <a:schemeClr val="bg1"/>
          </a:solidFill>
          <a:latin typeface="Arial" charset="0"/>
        </a:defRPr>
      </a:lvl7pPr>
      <a:lvl8pPr marL="1371600" algn="l" rtl="0" fontAlgn="base">
        <a:spcBef>
          <a:spcPct val="0"/>
        </a:spcBef>
        <a:spcAft>
          <a:spcPct val="0"/>
        </a:spcAft>
        <a:defRPr sz="2600" b="1">
          <a:solidFill>
            <a:schemeClr val="bg1"/>
          </a:solidFill>
          <a:latin typeface="Arial" charset="0"/>
        </a:defRPr>
      </a:lvl8pPr>
      <a:lvl9pPr marL="1828800" algn="l" rtl="0" fontAlgn="base">
        <a:spcBef>
          <a:spcPct val="0"/>
        </a:spcBef>
        <a:spcAft>
          <a:spcPct val="0"/>
        </a:spcAft>
        <a:defRPr sz="2600" b="1">
          <a:solidFill>
            <a:schemeClr val="bg1"/>
          </a:solidFill>
          <a:latin typeface="Arial" charset="0"/>
        </a:defRPr>
      </a:lvl9pPr>
    </p:titleStyle>
    <p:bodyStyle>
      <a:lvl1pPr marL="342900" indent="-342900" algn="l" rtl="0" eaLnBrk="0" fontAlgn="base" hangingPunct="0">
        <a:spcBef>
          <a:spcPct val="20000"/>
        </a:spcBef>
        <a:spcAft>
          <a:spcPct val="0"/>
        </a:spcAft>
        <a:buClr>
          <a:srgbClr val="00468F"/>
        </a:buClr>
        <a:buFont typeface="Webdings" pitchFamily="2" charset="2"/>
        <a:buChar char="&lt;"/>
        <a:defRPr sz="2800" b="1">
          <a:solidFill>
            <a:srgbClr val="00468F"/>
          </a:solidFill>
          <a:latin typeface="+mn-lt"/>
          <a:ea typeface="ＭＳ Ｐゴシック" charset="0"/>
          <a:cs typeface="+mn-cs"/>
        </a:defRPr>
      </a:lvl1pPr>
      <a:lvl2pPr marL="457200" algn="l" rtl="0" eaLnBrk="0" fontAlgn="base" hangingPunct="0">
        <a:lnSpc>
          <a:spcPct val="105000"/>
        </a:lnSpc>
        <a:spcBef>
          <a:spcPct val="50000"/>
        </a:spcBef>
        <a:spcAft>
          <a:spcPct val="0"/>
        </a:spcAft>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lr>
          <a:srgbClr val="00468F"/>
        </a:buClr>
        <a:buChar char="•"/>
        <a:defRPr sz="24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48866" name="Rectangle 2">
            <a:extLst>
              <a:ext uri="{FF2B5EF4-FFF2-40B4-BE49-F238E27FC236}">
                <a16:creationId xmlns:a16="http://schemas.microsoft.com/office/drawing/2014/main" id="{38CA3207-1189-4701-A932-5B1106343BBB}"/>
              </a:ext>
            </a:extLst>
          </p:cNvPr>
          <p:cNvSpPr>
            <a:spLocks noGrp="1" noChangeArrowheads="1"/>
          </p:cNvSpPr>
          <p:nvPr>
            <p:ph type="body" idx="1"/>
          </p:nvPr>
        </p:nvSpPr>
        <p:spPr bwMode="auto">
          <a:xfrm>
            <a:off x="381000" y="1905000"/>
            <a:ext cx="8229600" cy="42894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CA" altLang="en-TW"/>
              <a:t>Click to edit Master text styles</a:t>
            </a:r>
          </a:p>
          <a:p>
            <a:pPr lvl="1"/>
            <a:r>
              <a:rPr lang="en-CA" altLang="en-TW"/>
              <a:t>Second level</a:t>
            </a:r>
            <a:r>
              <a:rPr lang="en-US" altLang="en-TW"/>
              <a:t> when second level runs longer than one line we want no hanging indent</a:t>
            </a:r>
          </a:p>
          <a:p>
            <a:pPr lvl="1"/>
            <a:r>
              <a:rPr lang="en-US" altLang="en-TW"/>
              <a:t>I</a:t>
            </a:r>
            <a:r>
              <a:rPr lang="en-US" altLang="en-US"/>
              <a:t>’</a:t>
            </a:r>
            <a:r>
              <a:rPr lang="en-US" altLang="en-TW"/>
              <a:t>ve also set the gap between points at 0.5 lines.</a:t>
            </a:r>
            <a:endParaRPr lang="en-CA" altLang="en-TW"/>
          </a:p>
          <a:p>
            <a:pPr lvl="2"/>
            <a:r>
              <a:rPr lang="en-CA" altLang="en-TW"/>
              <a:t>Third level</a:t>
            </a:r>
          </a:p>
        </p:txBody>
      </p:sp>
      <p:sp>
        <p:nvSpPr>
          <p:cNvPr id="3075" name="Rectangle 3">
            <a:extLst>
              <a:ext uri="{FF2B5EF4-FFF2-40B4-BE49-F238E27FC236}">
                <a16:creationId xmlns:a16="http://schemas.microsoft.com/office/drawing/2014/main" id="{0B1CB217-5A48-1E28-E0A8-F740F2057E48}"/>
              </a:ext>
            </a:extLst>
          </p:cNvPr>
          <p:cNvSpPr>
            <a:spLocks noGrp="1" noChangeArrowheads="1"/>
          </p:cNvSpPr>
          <p:nvPr>
            <p:ph type="title"/>
          </p:nvPr>
        </p:nvSpPr>
        <p:spPr bwMode="auto">
          <a:xfrm>
            <a:off x="381000" y="990600"/>
            <a:ext cx="8153400" cy="533400"/>
          </a:xfrm>
          <a:prstGeom prst="rect">
            <a:avLst/>
          </a:prstGeom>
          <a:gradFill rotWithShape="0">
            <a:gsLst>
              <a:gs pos="0">
                <a:srgbClr val="00468F"/>
              </a:gs>
              <a:gs pos="100000">
                <a:srgbClr val="648FBB"/>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a:t>CLICK</a:t>
            </a:r>
            <a:endParaRPr lang="en-CA"/>
          </a:p>
        </p:txBody>
      </p:sp>
      <p:sp>
        <p:nvSpPr>
          <p:cNvPr id="3076" name="Text Box 3">
            <a:extLst>
              <a:ext uri="{FF2B5EF4-FFF2-40B4-BE49-F238E27FC236}">
                <a16:creationId xmlns:a16="http://schemas.microsoft.com/office/drawing/2014/main" id="{695AD452-B5CC-153D-C9D3-39B2F5B0A03B}"/>
              </a:ext>
            </a:extLst>
          </p:cNvPr>
          <p:cNvSpPr txBox="1">
            <a:spLocks noChangeArrowheads="1"/>
          </p:cNvSpPr>
          <p:nvPr userDrawn="1"/>
        </p:nvSpPr>
        <p:spPr bwMode="auto">
          <a:xfrm>
            <a:off x="431800" y="6643688"/>
            <a:ext cx="1692275"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US" altLang="en-TW" sz="800"/>
              <a:t>© 2013 Pearson</a:t>
            </a:r>
          </a:p>
        </p:txBody>
      </p:sp>
    </p:spTree>
  </p:cSld>
  <p:clrMap bg1="lt1" tx1="dk1" bg2="lt2" tx2="dk2" accent1="accent1" accent2="accent2" accent3="accent3" accent4="accent4" accent5="accent5" accent6="accent6" hlink="hlink" folHlink="folHlink"/>
  <p:sldLayoutIdLst>
    <p:sldLayoutId id="2147483885" r:id="rId1"/>
    <p:sldLayoutId id="2147483886" r:id="rId2"/>
    <p:sldLayoutId id="2147483887" r:id="rId3"/>
    <p:sldLayoutId id="2147483888" r:id="rId4"/>
    <p:sldLayoutId id="2147483889" r:id="rId5"/>
    <p:sldLayoutId id="2147483890" r:id="rId6"/>
    <p:sldLayoutId id="2147483891" r:id="rId7"/>
    <p:sldLayoutId id="2147483892" r:id="rId8"/>
    <p:sldLayoutId id="2147483893" r:id="rId9"/>
    <p:sldLayoutId id="2147483894" r:id="rId10"/>
    <p:sldLayoutId id="2147483895" r:id="rId11"/>
  </p:sldLayoutIdLst>
  <p:transition spd="med">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48866">
                                            <p:txEl>
                                              <p:pRg st="0" end="0"/>
                                            </p:txEl>
                                          </p:spTgt>
                                        </p:tgtEl>
                                        <p:attrNameLst>
                                          <p:attrName>style.visibility</p:attrName>
                                        </p:attrNameLst>
                                      </p:cBhvr>
                                      <p:to>
                                        <p:strVal val="visible"/>
                                      </p:to>
                                    </p:set>
                                    <p:animEffect transition="in" filter="wipe(left)">
                                      <p:cBhvr>
                                        <p:cTn id="7" dur="500"/>
                                        <p:tgtEl>
                                          <p:spTgt spid="54886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48866">
                                            <p:txEl>
                                              <p:pRg st="1" end="1"/>
                                            </p:txEl>
                                          </p:spTgt>
                                        </p:tgtEl>
                                        <p:attrNameLst>
                                          <p:attrName>style.visibility</p:attrName>
                                        </p:attrNameLst>
                                      </p:cBhvr>
                                      <p:to>
                                        <p:strVal val="visible"/>
                                      </p:to>
                                    </p:set>
                                    <p:animEffect transition="in" filter="wipe(left)">
                                      <p:cBhvr>
                                        <p:cTn id="12" dur="500"/>
                                        <p:tgtEl>
                                          <p:spTgt spid="54886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48866">
                                            <p:txEl>
                                              <p:pRg st="2" end="2"/>
                                            </p:txEl>
                                          </p:spTgt>
                                        </p:tgtEl>
                                        <p:attrNameLst>
                                          <p:attrName>style.visibility</p:attrName>
                                        </p:attrNameLst>
                                      </p:cBhvr>
                                      <p:to>
                                        <p:strVal val="visible"/>
                                      </p:to>
                                    </p:set>
                                    <p:animEffect transition="in" filter="wipe(left)">
                                      <p:cBhvr>
                                        <p:cTn id="17" dur="500"/>
                                        <p:tgtEl>
                                          <p:spTgt spid="548866">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48866">
                                            <p:txEl>
                                              <p:pRg st="3" end="3"/>
                                            </p:txEl>
                                          </p:spTgt>
                                        </p:tgtEl>
                                        <p:attrNameLst>
                                          <p:attrName>style.visibility</p:attrName>
                                        </p:attrNameLst>
                                      </p:cBhvr>
                                      <p:to>
                                        <p:strVal val="visible"/>
                                      </p:to>
                                    </p:set>
                                    <p:animEffect transition="in" filter="wipe(left)">
                                      <p:cBhvr>
                                        <p:cTn id="22" dur="500"/>
                                        <p:tgtEl>
                                          <p:spTgt spid="54886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8866" grpId="0" build="p" bldLvl="3" autoUpdateAnimBg="0">
        <p:tmplLst>
          <p:tmpl lvl="1">
            <p:tnLst>
              <p:par>
                <p:cTn presetID="22" presetClass="entr" presetSubtype="8" fill="hold" nodeType="clickEffect">
                  <p:stCondLst>
                    <p:cond delay="0"/>
                  </p:stCondLst>
                  <p:childTnLst>
                    <p:set>
                      <p:cBhvr>
                        <p:cTn dur="1" fill="hold">
                          <p:stCondLst>
                            <p:cond delay="0"/>
                          </p:stCondLst>
                        </p:cTn>
                        <p:tgtEl>
                          <p:spTgt spid="548866"/>
                        </p:tgtEl>
                        <p:attrNameLst>
                          <p:attrName>style.visibility</p:attrName>
                        </p:attrNameLst>
                      </p:cBhvr>
                      <p:to>
                        <p:strVal val="visible"/>
                      </p:to>
                    </p:set>
                    <p:animEffect transition="in" filter="wipe(left)">
                      <p:cBhvr>
                        <p:cTn dur="500"/>
                        <p:tgtEl>
                          <p:spTgt spid="548866"/>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548866"/>
                        </p:tgtEl>
                        <p:attrNameLst>
                          <p:attrName>style.visibility</p:attrName>
                        </p:attrNameLst>
                      </p:cBhvr>
                      <p:to>
                        <p:strVal val="visible"/>
                      </p:to>
                    </p:set>
                    <p:animEffect transition="in" filter="wipe(left)">
                      <p:cBhvr>
                        <p:cTn dur="500"/>
                        <p:tgtEl>
                          <p:spTgt spid="548866"/>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548866"/>
                        </p:tgtEl>
                        <p:attrNameLst>
                          <p:attrName>style.visibility</p:attrName>
                        </p:attrNameLst>
                      </p:cBhvr>
                      <p:to>
                        <p:strVal val="visible"/>
                      </p:to>
                    </p:set>
                    <p:animEffect transition="in" filter="wipe(left)">
                      <p:cBhvr>
                        <p:cTn dur="500"/>
                        <p:tgtEl>
                          <p:spTgt spid="548866"/>
                        </p:tgtEl>
                      </p:cBhvr>
                    </p:animEffect>
                  </p:childTnLst>
                </p:cTn>
              </p:par>
            </p:tnLst>
          </p:tmpl>
        </p:tmplLst>
      </p:bldP>
    </p:bldLst>
  </p:timing>
  <p:txStyles>
    <p:titleStyle>
      <a:lvl1pPr algn="l" rtl="0" eaLnBrk="0" fontAlgn="base" hangingPunct="0">
        <a:spcBef>
          <a:spcPct val="0"/>
        </a:spcBef>
        <a:spcAft>
          <a:spcPct val="0"/>
        </a:spcAft>
        <a:defRPr sz="2600" b="1">
          <a:solidFill>
            <a:schemeClr val="bg1"/>
          </a:solidFill>
          <a:latin typeface="+mj-lt"/>
          <a:ea typeface="ＭＳ Ｐゴシック" charset="0"/>
          <a:cs typeface="+mj-cs"/>
        </a:defRPr>
      </a:lvl1pPr>
      <a:lvl2pPr algn="l" rtl="0" eaLnBrk="0" fontAlgn="base" hangingPunct="0">
        <a:spcBef>
          <a:spcPct val="0"/>
        </a:spcBef>
        <a:spcAft>
          <a:spcPct val="0"/>
        </a:spcAft>
        <a:defRPr sz="2600" b="1">
          <a:solidFill>
            <a:schemeClr val="bg1"/>
          </a:solidFill>
          <a:latin typeface="Arial" charset="0"/>
          <a:ea typeface="ＭＳ Ｐゴシック" charset="0"/>
        </a:defRPr>
      </a:lvl2pPr>
      <a:lvl3pPr algn="l" rtl="0" eaLnBrk="0" fontAlgn="base" hangingPunct="0">
        <a:spcBef>
          <a:spcPct val="0"/>
        </a:spcBef>
        <a:spcAft>
          <a:spcPct val="0"/>
        </a:spcAft>
        <a:defRPr sz="2600" b="1">
          <a:solidFill>
            <a:schemeClr val="bg1"/>
          </a:solidFill>
          <a:latin typeface="Arial" charset="0"/>
          <a:ea typeface="ＭＳ Ｐゴシック" charset="0"/>
        </a:defRPr>
      </a:lvl3pPr>
      <a:lvl4pPr algn="l" rtl="0" eaLnBrk="0" fontAlgn="base" hangingPunct="0">
        <a:spcBef>
          <a:spcPct val="0"/>
        </a:spcBef>
        <a:spcAft>
          <a:spcPct val="0"/>
        </a:spcAft>
        <a:defRPr sz="2600" b="1">
          <a:solidFill>
            <a:schemeClr val="bg1"/>
          </a:solidFill>
          <a:latin typeface="Arial" charset="0"/>
          <a:ea typeface="ＭＳ Ｐゴシック" charset="0"/>
        </a:defRPr>
      </a:lvl4pPr>
      <a:lvl5pPr algn="l" rtl="0" eaLnBrk="0" fontAlgn="base" hangingPunct="0">
        <a:spcBef>
          <a:spcPct val="0"/>
        </a:spcBef>
        <a:spcAft>
          <a:spcPct val="0"/>
        </a:spcAft>
        <a:defRPr sz="2600" b="1">
          <a:solidFill>
            <a:schemeClr val="bg1"/>
          </a:solidFill>
          <a:latin typeface="Arial" charset="0"/>
          <a:ea typeface="ＭＳ Ｐゴシック" charset="0"/>
        </a:defRPr>
      </a:lvl5pPr>
      <a:lvl6pPr marL="457200" algn="l" rtl="0" fontAlgn="base">
        <a:spcBef>
          <a:spcPct val="0"/>
        </a:spcBef>
        <a:spcAft>
          <a:spcPct val="0"/>
        </a:spcAft>
        <a:defRPr sz="2600" b="1">
          <a:solidFill>
            <a:schemeClr val="bg1"/>
          </a:solidFill>
          <a:latin typeface="Arial" charset="0"/>
        </a:defRPr>
      </a:lvl6pPr>
      <a:lvl7pPr marL="914400" algn="l" rtl="0" fontAlgn="base">
        <a:spcBef>
          <a:spcPct val="0"/>
        </a:spcBef>
        <a:spcAft>
          <a:spcPct val="0"/>
        </a:spcAft>
        <a:defRPr sz="2600" b="1">
          <a:solidFill>
            <a:schemeClr val="bg1"/>
          </a:solidFill>
          <a:latin typeface="Arial" charset="0"/>
        </a:defRPr>
      </a:lvl7pPr>
      <a:lvl8pPr marL="1371600" algn="l" rtl="0" fontAlgn="base">
        <a:spcBef>
          <a:spcPct val="0"/>
        </a:spcBef>
        <a:spcAft>
          <a:spcPct val="0"/>
        </a:spcAft>
        <a:defRPr sz="2600" b="1">
          <a:solidFill>
            <a:schemeClr val="bg1"/>
          </a:solidFill>
          <a:latin typeface="Arial" charset="0"/>
        </a:defRPr>
      </a:lvl8pPr>
      <a:lvl9pPr marL="1828800" algn="l" rtl="0" fontAlgn="base">
        <a:spcBef>
          <a:spcPct val="0"/>
        </a:spcBef>
        <a:spcAft>
          <a:spcPct val="0"/>
        </a:spcAft>
        <a:defRPr sz="2600" b="1">
          <a:solidFill>
            <a:schemeClr val="bg1"/>
          </a:solidFill>
          <a:latin typeface="Arial" charset="0"/>
        </a:defRPr>
      </a:lvl9pPr>
    </p:titleStyle>
    <p:bodyStyle>
      <a:lvl1pPr marL="342900" indent="-342900" algn="l" rtl="0" eaLnBrk="0" fontAlgn="base" hangingPunct="0">
        <a:spcBef>
          <a:spcPct val="20000"/>
        </a:spcBef>
        <a:spcAft>
          <a:spcPct val="0"/>
        </a:spcAft>
        <a:buClr>
          <a:srgbClr val="00468F"/>
        </a:buClr>
        <a:buFont typeface="Webdings" pitchFamily="2" charset="2"/>
        <a:buChar char="&lt;"/>
        <a:defRPr sz="2800" b="1">
          <a:solidFill>
            <a:srgbClr val="00468F"/>
          </a:solidFill>
          <a:latin typeface="+mn-lt"/>
          <a:ea typeface="ＭＳ Ｐゴシック" charset="0"/>
          <a:cs typeface="+mn-cs"/>
        </a:defRPr>
      </a:lvl1pPr>
      <a:lvl2pPr marL="457200" algn="l" rtl="0" eaLnBrk="0" fontAlgn="base" hangingPunct="0">
        <a:spcBef>
          <a:spcPct val="20000"/>
        </a:spcBef>
        <a:spcAft>
          <a:spcPct val="50000"/>
        </a:spcAft>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lr>
          <a:srgbClr val="00468F"/>
        </a:buClr>
        <a:buChar char="•"/>
        <a:defRPr sz="24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51938" name="Rectangle 2">
            <a:extLst>
              <a:ext uri="{FF2B5EF4-FFF2-40B4-BE49-F238E27FC236}">
                <a16:creationId xmlns:a16="http://schemas.microsoft.com/office/drawing/2014/main" id="{6EC60803-9899-AFD6-24A9-9BD3A9D7DC12}"/>
              </a:ext>
            </a:extLst>
          </p:cNvPr>
          <p:cNvSpPr>
            <a:spLocks noGrp="1" noChangeArrowheads="1"/>
          </p:cNvSpPr>
          <p:nvPr>
            <p:ph type="body" idx="1"/>
          </p:nvPr>
        </p:nvSpPr>
        <p:spPr bwMode="auto">
          <a:xfrm>
            <a:off x="381000" y="1905000"/>
            <a:ext cx="4114800" cy="4648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CA" altLang="en-TW"/>
              <a:t>Click to edit Master text styles</a:t>
            </a:r>
          </a:p>
          <a:p>
            <a:pPr lvl="1"/>
            <a:r>
              <a:rPr lang="en-CA" altLang="en-TW"/>
              <a:t>Second level</a:t>
            </a:r>
            <a:r>
              <a:rPr lang="en-US" altLang="en-TW"/>
              <a:t> when second level runs longer than one line we want no hanging indent</a:t>
            </a:r>
          </a:p>
          <a:p>
            <a:pPr lvl="1"/>
            <a:r>
              <a:rPr lang="en-US" altLang="en-TW"/>
              <a:t>I</a:t>
            </a:r>
            <a:r>
              <a:rPr lang="en-US" altLang="en-US"/>
              <a:t>’</a:t>
            </a:r>
            <a:r>
              <a:rPr lang="en-US" altLang="en-TW"/>
              <a:t>ve also set the gap between points at 0.5 lines.</a:t>
            </a:r>
            <a:endParaRPr lang="en-CA" altLang="en-TW"/>
          </a:p>
          <a:p>
            <a:pPr lvl="2"/>
            <a:r>
              <a:rPr lang="en-CA" altLang="en-TW"/>
              <a:t>Third level</a:t>
            </a:r>
          </a:p>
        </p:txBody>
      </p:sp>
      <p:sp>
        <p:nvSpPr>
          <p:cNvPr id="551941" name="Rectangle 5">
            <a:extLst>
              <a:ext uri="{FF2B5EF4-FFF2-40B4-BE49-F238E27FC236}">
                <a16:creationId xmlns:a16="http://schemas.microsoft.com/office/drawing/2014/main" id="{20724AD0-DE8D-D5F4-0DD6-B3FAD5195276}"/>
              </a:ext>
            </a:extLst>
          </p:cNvPr>
          <p:cNvSpPr>
            <a:spLocks noChangeArrowheads="1"/>
          </p:cNvSpPr>
          <p:nvPr/>
        </p:nvSpPr>
        <p:spPr bwMode="auto">
          <a:xfrm>
            <a:off x="4610100" y="1892300"/>
            <a:ext cx="4114800" cy="4648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indent="-342900">
              <a:spcBef>
                <a:spcPct val="20000"/>
              </a:spcBef>
              <a:buClr>
                <a:srgbClr val="00468F"/>
              </a:buClr>
              <a:buFont typeface="Webdings" charset="0"/>
              <a:buChar char="&lt;"/>
              <a:defRPr/>
            </a:pPr>
            <a:endParaRPr lang="en-CA" sz="2800" b="1">
              <a:solidFill>
                <a:srgbClr val="00468F"/>
              </a:solidFill>
              <a:latin typeface="Arial" charset="0"/>
              <a:ea typeface="ＭＳ Ｐゴシック" charset="0"/>
            </a:endParaRPr>
          </a:p>
        </p:txBody>
      </p:sp>
      <p:sp>
        <p:nvSpPr>
          <p:cNvPr id="4100" name="Rectangle 7">
            <a:extLst>
              <a:ext uri="{FF2B5EF4-FFF2-40B4-BE49-F238E27FC236}">
                <a16:creationId xmlns:a16="http://schemas.microsoft.com/office/drawing/2014/main" id="{C90F5E2D-BB32-118F-6FD7-CDBF281D5765}"/>
              </a:ext>
            </a:extLst>
          </p:cNvPr>
          <p:cNvSpPr>
            <a:spLocks noGrp="1" noChangeArrowheads="1"/>
          </p:cNvSpPr>
          <p:nvPr>
            <p:ph type="title"/>
          </p:nvPr>
        </p:nvSpPr>
        <p:spPr bwMode="auto">
          <a:xfrm>
            <a:off x="381000" y="990600"/>
            <a:ext cx="8153400" cy="533400"/>
          </a:xfrm>
          <a:prstGeom prst="rect">
            <a:avLst/>
          </a:prstGeom>
          <a:gradFill rotWithShape="0">
            <a:gsLst>
              <a:gs pos="0">
                <a:srgbClr val="00468F"/>
              </a:gs>
              <a:gs pos="100000">
                <a:srgbClr val="648FBB"/>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a:t>CLICK</a:t>
            </a:r>
            <a:endParaRPr lang="en-CA"/>
          </a:p>
        </p:txBody>
      </p:sp>
      <p:sp>
        <p:nvSpPr>
          <p:cNvPr id="4101" name="Text Box 3">
            <a:extLst>
              <a:ext uri="{FF2B5EF4-FFF2-40B4-BE49-F238E27FC236}">
                <a16:creationId xmlns:a16="http://schemas.microsoft.com/office/drawing/2014/main" id="{3122ECC7-B457-BD21-7514-829AD7D347F8}"/>
              </a:ext>
            </a:extLst>
          </p:cNvPr>
          <p:cNvSpPr txBox="1">
            <a:spLocks noChangeArrowheads="1"/>
          </p:cNvSpPr>
          <p:nvPr userDrawn="1"/>
        </p:nvSpPr>
        <p:spPr bwMode="auto">
          <a:xfrm>
            <a:off x="431800" y="6643688"/>
            <a:ext cx="1692275"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US" altLang="en-TW" sz="800"/>
              <a:t>© 2013 Pearson</a:t>
            </a:r>
          </a:p>
        </p:txBody>
      </p:sp>
    </p:spTree>
  </p:cSld>
  <p:clrMap bg1="lt1" tx1="dk1" bg2="lt2" tx2="dk2" accent1="accent1" accent2="accent2" accent3="accent3" accent4="accent4" accent5="accent5" accent6="accent6" hlink="hlink" folHlink="folHlink"/>
  <p:sldLayoutIdLst>
    <p:sldLayoutId id="2147483896" r:id="rId1"/>
    <p:sldLayoutId id="2147483897" r:id="rId2"/>
    <p:sldLayoutId id="2147483898" r:id="rId3"/>
    <p:sldLayoutId id="2147483899" r:id="rId4"/>
    <p:sldLayoutId id="2147483900" r:id="rId5"/>
    <p:sldLayoutId id="2147483901" r:id="rId6"/>
    <p:sldLayoutId id="2147483902" r:id="rId7"/>
    <p:sldLayoutId id="2147483903" r:id="rId8"/>
    <p:sldLayoutId id="2147483904" r:id="rId9"/>
    <p:sldLayoutId id="2147483905" r:id="rId10"/>
    <p:sldLayoutId id="2147483906" r:id="rId11"/>
  </p:sldLayoutIdLst>
  <p:transition spd="med">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51938">
                                            <p:txEl>
                                              <p:pRg st="0" end="0"/>
                                            </p:txEl>
                                          </p:spTgt>
                                        </p:tgtEl>
                                        <p:attrNameLst>
                                          <p:attrName>style.visibility</p:attrName>
                                        </p:attrNameLst>
                                      </p:cBhvr>
                                      <p:to>
                                        <p:strVal val="visible"/>
                                      </p:to>
                                    </p:set>
                                    <p:animEffect transition="in" filter="wipe(left)">
                                      <p:cBhvr>
                                        <p:cTn id="7" dur="500"/>
                                        <p:tgtEl>
                                          <p:spTgt spid="55193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51938">
                                            <p:txEl>
                                              <p:pRg st="1" end="1"/>
                                            </p:txEl>
                                          </p:spTgt>
                                        </p:tgtEl>
                                        <p:attrNameLst>
                                          <p:attrName>style.visibility</p:attrName>
                                        </p:attrNameLst>
                                      </p:cBhvr>
                                      <p:to>
                                        <p:strVal val="visible"/>
                                      </p:to>
                                    </p:set>
                                    <p:animEffect transition="in" filter="wipe(left)">
                                      <p:cBhvr>
                                        <p:cTn id="12" dur="500"/>
                                        <p:tgtEl>
                                          <p:spTgt spid="55193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51938">
                                            <p:txEl>
                                              <p:pRg st="2" end="2"/>
                                            </p:txEl>
                                          </p:spTgt>
                                        </p:tgtEl>
                                        <p:attrNameLst>
                                          <p:attrName>style.visibility</p:attrName>
                                        </p:attrNameLst>
                                      </p:cBhvr>
                                      <p:to>
                                        <p:strVal val="visible"/>
                                      </p:to>
                                    </p:set>
                                    <p:animEffect transition="in" filter="wipe(left)">
                                      <p:cBhvr>
                                        <p:cTn id="17" dur="500"/>
                                        <p:tgtEl>
                                          <p:spTgt spid="551938">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51938">
                                            <p:txEl>
                                              <p:pRg st="3" end="3"/>
                                            </p:txEl>
                                          </p:spTgt>
                                        </p:tgtEl>
                                        <p:attrNameLst>
                                          <p:attrName>style.visibility</p:attrName>
                                        </p:attrNameLst>
                                      </p:cBhvr>
                                      <p:to>
                                        <p:strVal val="visible"/>
                                      </p:to>
                                    </p:set>
                                    <p:animEffect transition="in" filter="wipe(left)">
                                      <p:cBhvr>
                                        <p:cTn id="22" dur="500"/>
                                        <p:tgtEl>
                                          <p:spTgt spid="551938">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nodePh="1">
                                  <p:stCondLst>
                                    <p:cond delay="0"/>
                                  </p:stCondLst>
                                  <p:endCondLst>
                                    <p:cond evt="begin" delay="0">
                                      <p:tn val="25"/>
                                    </p:cond>
                                  </p:endCondLst>
                                  <p:childTnLst>
                                    <p:set>
                                      <p:cBhvr>
                                        <p:cTn id="26" dur="1" fill="hold">
                                          <p:stCondLst>
                                            <p:cond delay="0"/>
                                          </p:stCondLst>
                                        </p:cTn>
                                        <p:tgtEl>
                                          <p:spTgt spid="551941">
                                            <p:txEl>
                                              <p:pRg st="0" end="0"/>
                                            </p:txEl>
                                          </p:spTgt>
                                        </p:tgtEl>
                                        <p:attrNameLst>
                                          <p:attrName>style.visibility</p:attrName>
                                        </p:attrNameLst>
                                      </p:cBhvr>
                                      <p:to>
                                        <p:strVal val="visible"/>
                                      </p:to>
                                    </p:set>
                                    <p:animEffect transition="in" filter="wipe(left)">
                                      <p:cBhvr>
                                        <p:cTn id="27" dur="500"/>
                                        <p:tgtEl>
                                          <p:spTgt spid="55194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1938" grpId="0" build="p" bldLvl="3" autoUpdateAnimBg="0">
        <p:tmplLst>
          <p:tmpl lvl="1">
            <p:tnLst>
              <p:par>
                <p:cTn presetID="22" presetClass="entr" presetSubtype="8" fill="hold" nodeType="clickEffect">
                  <p:stCondLst>
                    <p:cond delay="0"/>
                  </p:stCondLst>
                  <p:childTnLst>
                    <p:set>
                      <p:cBhvr>
                        <p:cTn dur="1" fill="hold">
                          <p:stCondLst>
                            <p:cond delay="0"/>
                          </p:stCondLst>
                        </p:cTn>
                        <p:tgtEl>
                          <p:spTgt spid="551938"/>
                        </p:tgtEl>
                        <p:attrNameLst>
                          <p:attrName>style.visibility</p:attrName>
                        </p:attrNameLst>
                      </p:cBhvr>
                      <p:to>
                        <p:strVal val="visible"/>
                      </p:to>
                    </p:set>
                    <p:animEffect transition="in" filter="wipe(left)">
                      <p:cBhvr>
                        <p:cTn dur="500"/>
                        <p:tgtEl>
                          <p:spTgt spid="551938"/>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551938"/>
                        </p:tgtEl>
                        <p:attrNameLst>
                          <p:attrName>style.visibility</p:attrName>
                        </p:attrNameLst>
                      </p:cBhvr>
                      <p:to>
                        <p:strVal val="visible"/>
                      </p:to>
                    </p:set>
                    <p:animEffect transition="in" filter="wipe(left)">
                      <p:cBhvr>
                        <p:cTn dur="500"/>
                        <p:tgtEl>
                          <p:spTgt spid="551938"/>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551938"/>
                        </p:tgtEl>
                        <p:attrNameLst>
                          <p:attrName>style.visibility</p:attrName>
                        </p:attrNameLst>
                      </p:cBhvr>
                      <p:to>
                        <p:strVal val="visible"/>
                      </p:to>
                    </p:set>
                    <p:animEffect transition="in" filter="wipe(left)">
                      <p:cBhvr>
                        <p:cTn dur="500"/>
                        <p:tgtEl>
                          <p:spTgt spid="551938"/>
                        </p:tgtEl>
                      </p:cBhvr>
                    </p:animEffect>
                  </p:childTnLst>
                </p:cTn>
              </p:par>
            </p:tnLst>
          </p:tmpl>
        </p:tmplLst>
      </p:bldP>
      <p:bldP spid="551941" grpId="0" build="p" bldLvl="3" autoUpdateAnimBg="0">
        <p:tmplLst>
          <p:tmpl lvl="1">
            <p:tnLst>
              <p:par>
                <p:cTn presetID="22" presetClass="entr" presetSubtype="8" fill="hold" nodeType="clickEffect">
                  <p:stCondLst>
                    <p:cond delay="0"/>
                  </p:stCondLst>
                  <p:childTnLst>
                    <p:set>
                      <p:cBhvr>
                        <p:cTn dur="1" fill="hold">
                          <p:stCondLst>
                            <p:cond delay="0"/>
                          </p:stCondLst>
                        </p:cTn>
                        <p:tgtEl>
                          <p:spTgt spid="551941"/>
                        </p:tgtEl>
                        <p:attrNameLst>
                          <p:attrName>style.visibility</p:attrName>
                        </p:attrNameLst>
                      </p:cBhvr>
                      <p:to>
                        <p:strVal val="visible"/>
                      </p:to>
                    </p:set>
                    <p:animEffect transition="in" filter="wipe(left)">
                      <p:cBhvr>
                        <p:cTn dur="500"/>
                        <p:tgtEl>
                          <p:spTgt spid="551941"/>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551941"/>
                        </p:tgtEl>
                        <p:attrNameLst>
                          <p:attrName>style.visibility</p:attrName>
                        </p:attrNameLst>
                      </p:cBhvr>
                      <p:to>
                        <p:strVal val="visible"/>
                      </p:to>
                    </p:set>
                    <p:animEffect transition="in" filter="wipe(left)">
                      <p:cBhvr>
                        <p:cTn dur="500"/>
                        <p:tgtEl>
                          <p:spTgt spid="551941"/>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551941"/>
                        </p:tgtEl>
                        <p:attrNameLst>
                          <p:attrName>style.visibility</p:attrName>
                        </p:attrNameLst>
                      </p:cBhvr>
                      <p:to>
                        <p:strVal val="visible"/>
                      </p:to>
                    </p:set>
                    <p:animEffect transition="in" filter="wipe(left)">
                      <p:cBhvr>
                        <p:cTn dur="500"/>
                        <p:tgtEl>
                          <p:spTgt spid="551941"/>
                        </p:tgtEl>
                      </p:cBhvr>
                    </p:animEffect>
                  </p:childTnLst>
                </p:cTn>
              </p:par>
            </p:tnLst>
          </p:tmpl>
        </p:tmplLst>
      </p:bldP>
    </p:bldLst>
  </p:timing>
  <p:txStyles>
    <p:titleStyle>
      <a:lvl1pPr algn="l" rtl="0" eaLnBrk="0" fontAlgn="base" hangingPunct="0">
        <a:spcBef>
          <a:spcPct val="0"/>
        </a:spcBef>
        <a:spcAft>
          <a:spcPct val="0"/>
        </a:spcAft>
        <a:defRPr sz="2600" b="1">
          <a:solidFill>
            <a:schemeClr val="bg1"/>
          </a:solidFill>
          <a:latin typeface="+mj-lt"/>
          <a:ea typeface="ＭＳ Ｐゴシック" charset="0"/>
          <a:cs typeface="+mj-cs"/>
        </a:defRPr>
      </a:lvl1pPr>
      <a:lvl2pPr algn="l" rtl="0" eaLnBrk="0" fontAlgn="base" hangingPunct="0">
        <a:spcBef>
          <a:spcPct val="0"/>
        </a:spcBef>
        <a:spcAft>
          <a:spcPct val="0"/>
        </a:spcAft>
        <a:defRPr sz="2600" b="1">
          <a:solidFill>
            <a:schemeClr val="bg1"/>
          </a:solidFill>
          <a:latin typeface="Arial" charset="0"/>
          <a:ea typeface="ＭＳ Ｐゴシック" charset="0"/>
        </a:defRPr>
      </a:lvl2pPr>
      <a:lvl3pPr algn="l" rtl="0" eaLnBrk="0" fontAlgn="base" hangingPunct="0">
        <a:spcBef>
          <a:spcPct val="0"/>
        </a:spcBef>
        <a:spcAft>
          <a:spcPct val="0"/>
        </a:spcAft>
        <a:defRPr sz="2600" b="1">
          <a:solidFill>
            <a:schemeClr val="bg1"/>
          </a:solidFill>
          <a:latin typeface="Arial" charset="0"/>
          <a:ea typeface="ＭＳ Ｐゴシック" charset="0"/>
        </a:defRPr>
      </a:lvl3pPr>
      <a:lvl4pPr algn="l" rtl="0" eaLnBrk="0" fontAlgn="base" hangingPunct="0">
        <a:spcBef>
          <a:spcPct val="0"/>
        </a:spcBef>
        <a:spcAft>
          <a:spcPct val="0"/>
        </a:spcAft>
        <a:defRPr sz="2600" b="1">
          <a:solidFill>
            <a:schemeClr val="bg1"/>
          </a:solidFill>
          <a:latin typeface="Arial" charset="0"/>
          <a:ea typeface="ＭＳ Ｐゴシック" charset="0"/>
        </a:defRPr>
      </a:lvl4pPr>
      <a:lvl5pPr algn="l" rtl="0" eaLnBrk="0" fontAlgn="base" hangingPunct="0">
        <a:spcBef>
          <a:spcPct val="0"/>
        </a:spcBef>
        <a:spcAft>
          <a:spcPct val="0"/>
        </a:spcAft>
        <a:defRPr sz="2600" b="1">
          <a:solidFill>
            <a:schemeClr val="bg1"/>
          </a:solidFill>
          <a:latin typeface="Arial" charset="0"/>
          <a:ea typeface="ＭＳ Ｐゴシック" charset="0"/>
        </a:defRPr>
      </a:lvl5pPr>
      <a:lvl6pPr marL="457200" algn="l" rtl="0" fontAlgn="base">
        <a:spcBef>
          <a:spcPct val="0"/>
        </a:spcBef>
        <a:spcAft>
          <a:spcPct val="0"/>
        </a:spcAft>
        <a:defRPr sz="2600" b="1">
          <a:solidFill>
            <a:schemeClr val="bg1"/>
          </a:solidFill>
          <a:latin typeface="Arial" charset="0"/>
        </a:defRPr>
      </a:lvl6pPr>
      <a:lvl7pPr marL="914400" algn="l" rtl="0" fontAlgn="base">
        <a:spcBef>
          <a:spcPct val="0"/>
        </a:spcBef>
        <a:spcAft>
          <a:spcPct val="0"/>
        </a:spcAft>
        <a:defRPr sz="2600" b="1">
          <a:solidFill>
            <a:schemeClr val="bg1"/>
          </a:solidFill>
          <a:latin typeface="Arial" charset="0"/>
        </a:defRPr>
      </a:lvl7pPr>
      <a:lvl8pPr marL="1371600" algn="l" rtl="0" fontAlgn="base">
        <a:spcBef>
          <a:spcPct val="0"/>
        </a:spcBef>
        <a:spcAft>
          <a:spcPct val="0"/>
        </a:spcAft>
        <a:defRPr sz="2600" b="1">
          <a:solidFill>
            <a:schemeClr val="bg1"/>
          </a:solidFill>
          <a:latin typeface="Arial" charset="0"/>
        </a:defRPr>
      </a:lvl8pPr>
      <a:lvl9pPr marL="1828800" algn="l" rtl="0" fontAlgn="base">
        <a:spcBef>
          <a:spcPct val="0"/>
        </a:spcBef>
        <a:spcAft>
          <a:spcPct val="0"/>
        </a:spcAft>
        <a:defRPr sz="2600" b="1">
          <a:solidFill>
            <a:schemeClr val="bg1"/>
          </a:solidFill>
          <a:latin typeface="Arial" charset="0"/>
        </a:defRPr>
      </a:lvl9pPr>
    </p:titleStyle>
    <p:bodyStyle>
      <a:lvl1pPr marL="342900" indent="-342900" algn="l" rtl="0" eaLnBrk="0" fontAlgn="base" hangingPunct="0">
        <a:spcBef>
          <a:spcPct val="20000"/>
        </a:spcBef>
        <a:spcAft>
          <a:spcPct val="0"/>
        </a:spcAft>
        <a:buClr>
          <a:srgbClr val="00468F"/>
        </a:buClr>
        <a:buFont typeface="Webdings" pitchFamily="2" charset="2"/>
        <a:buChar char="&lt;"/>
        <a:defRPr sz="2800" b="1">
          <a:solidFill>
            <a:srgbClr val="00468F"/>
          </a:solidFill>
          <a:latin typeface="+mn-lt"/>
          <a:ea typeface="ＭＳ Ｐゴシック" charset="0"/>
          <a:cs typeface="+mn-cs"/>
        </a:defRPr>
      </a:lvl1pPr>
      <a:lvl2pPr marL="457200" algn="l" rtl="0" eaLnBrk="0" fontAlgn="base" hangingPunct="0">
        <a:lnSpc>
          <a:spcPct val="105000"/>
        </a:lnSpc>
        <a:spcBef>
          <a:spcPct val="50000"/>
        </a:spcBef>
        <a:spcAft>
          <a:spcPct val="0"/>
        </a:spcAft>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lr>
          <a:srgbClr val="00468F"/>
        </a:buClr>
        <a:buChar char="•"/>
        <a:defRPr sz="24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52962" name="Rectangle 2">
            <a:extLst>
              <a:ext uri="{FF2B5EF4-FFF2-40B4-BE49-F238E27FC236}">
                <a16:creationId xmlns:a16="http://schemas.microsoft.com/office/drawing/2014/main" id="{D6DD84CB-BE0B-F8B9-E694-B54C5BAF8874}"/>
              </a:ext>
            </a:extLst>
          </p:cNvPr>
          <p:cNvSpPr>
            <a:spLocks noGrp="1" noChangeArrowheads="1"/>
          </p:cNvSpPr>
          <p:nvPr>
            <p:ph type="body" idx="1"/>
          </p:nvPr>
        </p:nvSpPr>
        <p:spPr bwMode="auto">
          <a:xfrm>
            <a:off x="381000" y="1905000"/>
            <a:ext cx="4114800" cy="4648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CA" altLang="en-TW"/>
              <a:t>Click to edit Master text styles</a:t>
            </a:r>
          </a:p>
          <a:p>
            <a:pPr lvl="1"/>
            <a:r>
              <a:rPr lang="en-CA" altLang="en-TW"/>
              <a:t>Second level</a:t>
            </a:r>
            <a:r>
              <a:rPr lang="en-US" altLang="en-TW"/>
              <a:t> when second level runs longer than one line we want no hanging indent</a:t>
            </a:r>
          </a:p>
          <a:p>
            <a:pPr lvl="1"/>
            <a:r>
              <a:rPr lang="en-US" altLang="en-TW"/>
              <a:t>I</a:t>
            </a:r>
            <a:r>
              <a:rPr lang="en-US" altLang="en-US"/>
              <a:t>’</a:t>
            </a:r>
            <a:r>
              <a:rPr lang="en-US" altLang="en-TW"/>
              <a:t>ve also set the gap between points at 0.5 lines.</a:t>
            </a:r>
            <a:endParaRPr lang="en-CA" altLang="en-TW"/>
          </a:p>
          <a:p>
            <a:pPr lvl="2"/>
            <a:r>
              <a:rPr lang="en-CA" altLang="en-TW"/>
              <a:t>Third level</a:t>
            </a:r>
          </a:p>
        </p:txBody>
      </p:sp>
      <p:pic>
        <p:nvPicPr>
          <p:cNvPr id="552965" name="Picture 5" descr="but2">
            <a:hlinkClick r:id="" action="ppaction://hlinkshowjump?jump=nextslide" tooltip="Expand figure"/>
            <a:extLst>
              <a:ext uri="{FF2B5EF4-FFF2-40B4-BE49-F238E27FC236}">
                <a16:creationId xmlns:a16="http://schemas.microsoft.com/office/drawing/2014/main" id="{257B60D2-1A1F-A53C-19C2-1472064060F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566150" y="971550"/>
            <a:ext cx="58102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4" name="Rectangle 7">
            <a:extLst>
              <a:ext uri="{FF2B5EF4-FFF2-40B4-BE49-F238E27FC236}">
                <a16:creationId xmlns:a16="http://schemas.microsoft.com/office/drawing/2014/main" id="{FA7B6CA2-3284-5EDF-C4EA-32E8FBDB57AD}"/>
              </a:ext>
            </a:extLst>
          </p:cNvPr>
          <p:cNvSpPr>
            <a:spLocks noGrp="1" noChangeArrowheads="1"/>
          </p:cNvSpPr>
          <p:nvPr>
            <p:ph type="title"/>
          </p:nvPr>
        </p:nvSpPr>
        <p:spPr bwMode="auto">
          <a:xfrm>
            <a:off x="381000" y="990600"/>
            <a:ext cx="8153400" cy="533400"/>
          </a:xfrm>
          <a:prstGeom prst="rect">
            <a:avLst/>
          </a:prstGeom>
          <a:gradFill rotWithShape="0">
            <a:gsLst>
              <a:gs pos="0">
                <a:srgbClr val="00468F"/>
              </a:gs>
              <a:gs pos="100000">
                <a:srgbClr val="648FBB"/>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a:t>CLICK</a:t>
            </a:r>
            <a:endParaRPr lang="en-CA"/>
          </a:p>
        </p:txBody>
      </p:sp>
      <p:sp>
        <p:nvSpPr>
          <p:cNvPr id="5125" name="Text Box 3">
            <a:extLst>
              <a:ext uri="{FF2B5EF4-FFF2-40B4-BE49-F238E27FC236}">
                <a16:creationId xmlns:a16="http://schemas.microsoft.com/office/drawing/2014/main" id="{AF3BBBEA-10C8-A529-DE07-30900E160EEE}"/>
              </a:ext>
            </a:extLst>
          </p:cNvPr>
          <p:cNvSpPr txBox="1">
            <a:spLocks noChangeArrowheads="1"/>
          </p:cNvSpPr>
          <p:nvPr userDrawn="1"/>
        </p:nvSpPr>
        <p:spPr bwMode="auto">
          <a:xfrm>
            <a:off x="431800" y="6643688"/>
            <a:ext cx="1692275"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US" altLang="en-TW" sz="800"/>
              <a:t>© 2013 Pearson</a:t>
            </a:r>
          </a:p>
        </p:txBody>
      </p:sp>
    </p:spTree>
  </p:cSld>
  <p:clrMap bg1="lt1" tx1="dk1" bg2="lt2" tx2="dk2" accent1="accent1" accent2="accent2" accent3="accent3" accent4="accent4" accent5="accent5" accent6="accent6" hlink="hlink" folHlink="folHlink"/>
  <p:sldLayoutIdLst>
    <p:sldLayoutId id="2147483907" r:id="rId1"/>
    <p:sldLayoutId id="2147483908" r:id="rId2"/>
    <p:sldLayoutId id="2147483909" r:id="rId3"/>
    <p:sldLayoutId id="2147483910" r:id="rId4"/>
    <p:sldLayoutId id="2147483911" r:id="rId5"/>
    <p:sldLayoutId id="2147483912" r:id="rId6"/>
    <p:sldLayoutId id="2147483913" r:id="rId7"/>
    <p:sldLayoutId id="2147483914" r:id="rId8"/>
    <p:sldLayoutId id="2147483915" r:id="rId9"/>
    <p:sldLayoutId id="2147483916" r:id="rId10"/>
    <p:sldLayoutId id="2147483917" r:id="rId11"/>
  </p:sldLayoutIdLst>
  <p:transition spd="med">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52962">
                                            <p:txEl>
                                              <p:pRg st="0" end="0"/>
                                            </p:txEl>
                                          </p:spTgt>
                                        </p:tgtEl>
                                        <p:attrNameLst>
                                          <p:attrName>style.visibility</p:attrName>
                                        </p:attrNameLst>
                                      </p:cBhvr>
                                      <p:to>
                                        <p:strVal val="visible"/>
                                      </p:to>
                                    </p:set>
                                    <p:animEffect transition="in" filter="wipe(left)">
                                      <p:cBhvr>
                                        <p:cTn id="7" dur="500"/>
                                        <p:tgtEl>
                                          <p:spTgt spid="55296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52962">
                                            <p:txEl>
                                              <p:pRg st="1" end="1"/>
                                            </p:txEl>
                                          </p:spTgt>
                                        </p:tgtEl>
                                        <p:attrNameLst>
                                          <p:attrName>style.visibility</p:attrName>
                                        </p:attrNameLst>
                                      </p:cBhvr>
                                      <p:to>
                                        <p:strVal val="visible"/>
                                      </p:to>
                                    </p:set>
                                    <p:animEffect transition="in" filter="wipe(left)">
                                      <p:cBhvr>
                                        <p:cTn id="12" dur="500"/>
                                        <p:tgtEl>
                                          <p:spTgt spid="55296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52962">
                                            <p:txEl>
                                              <p:pRg st="2" end="2"/>
                                            </p:txEl>
                                          </p:spTgt>
                                        </p:tgtEl>
                                        <p:attrNameLst>
                                          <p:attrName>style.visibility</p:attrName>
                                        </p:attrNameLst>
                                      </p:cBhvr>
                                      <p:to>
                                        <p:strVal val="visible"/>
                                      </p:to>
                                    </p:set>
                                    <p:animEffect transition="in" filter="wipe(left)">
                                      <p:cBhvr>
                                        <p:cTn id="17" dur="500"/>
                                        <p:tgtEl>
                                          <p:spTgt spid="552962">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52962">
                                            <p:txEl>
                                              <p:pRg st="3" end="3"/>
                                            </p:txEl>
                                          </p:spTgt>
                                        </p:tgtEl>
                                        <p:attrNameLst>
                                          <p:attrName>style.visibility</p:attrName>
                                        </p:attrNameLst>
                                      </p:cBhvr>
                                      <p:to>
                                        <p:strVal val="visible"/>
                                      </p:to>
                                    </p:set>
                                    <p:animEffect transition="in" filter="wipe(left)">
                                      <p:cBhvr>
                                        <p:cTn id="22" dur="500"/>
                                        <p:tgtEl>
                                          <p:spTgt spid="552962">
                                            <p:txEl>
                                              <p:pRg st="3" end="3"/>
                                            </p:txEl>
                                          </p:spTgt>
                                        </p:tgtEl>
                                      </p:cBhvr>
                                    </p:animEffect>
                                  </p:childTnLst>
                                </p:cTn>
                              </p:par>
                            </p:childTnLst>
                          </p:cTn>
                        </p:par>
                        <p:par>
                          <p:cTn id="23" fill="hold" nodeType="afterGroup">
                            <p:stCondLst>
                              <p:cond delay="500"/>
                            </p:stCondLst>
                            <p:childTnLst>
                              <p:par>
                                <p:cTn id="24" presetID="1" presetClass="entr" presetSubtype="0" fill="hold" nodeType="afterEffect">
                                  <p:stCondLst>
                                    <p:cond delay="0"/>
                                  </p:stCondLst>
                                  <p:childTnLst>
                                    <p:set>
                                      <p:cBhvr>
                                        <p:cTn id="25" dur="1" fill="hold">
                                          <p:stCondLst>
                                            <p:cond delay="0"/>
                                          </p:stCondLst>
                                        </p:cTn>
                                        <p:tgtEl>
                                          <p:spTgt spid="5529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62" grpId="0" build="p" bldLvl="3" autoUpdateAnimBg="0">
        <p:tmplLst>
          <p:tmpl lvl="1">
            <p:tnLst>
              <p:par>
                <p:cTn presetID="22" presetClass="entr" presetSubtype="8" fill="hold" nodeType="clickEffect">
                  <p:stCondLst>
                    <p:cond delay="0"/>
                  </p:stCondLst>
                  <p:childTnLst>
                    <p:set>
                      <p:cBhvr>
                        <p:cTn dur="1" fill="hold">
                          <p:stCondLst>
                            <p:cond delay="0"/>
                          </p:stCondLst>
                        </p:cTn>
                        <p:tgtEl>
                          <p:spTgt spid="552962"/>
                        </p:tgtEl>
                        <p:attrNameLst>
                          <p:attrName>style.visibility</p:attrName>
                        </p:attrNameLst>
                      </p:cBhvr>
                      <p:to>
                        <p:strVal val="visible"/>
                      </p:to>
                    </p:set>
                    <p:animEffect transition="in" filter="wipe(left)">
                      <p:cBhvr>
                        <p:cTn dur="500"/>
                        <p:tgtEl>
                          <p:spTgt spid="552962"/>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552962"/>
                        </p:tgtEl>
                        <p:attrNameLst>
                          <p:attrName>style.visibility</p:attrName>
                        </p:attrNameLst>
                      </p:cBhvr>
                      <p:to>
                        <p:strVal val="visible"/>
                      </p:to>
                    </p:set>
                    <p:animEffect transition="in" filter="wipe(left)">
                      <p:cBhvr>
                        <p:cTn dur="500"/>
                        <p:tgtEl>
                          <p:spTgt spid="552962"/>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552962"/>
                        </p:tgtEl>
                        <p:attrNameLst>
                          <p:attrName>style.visibility</p:attrName>
                        </p:attrNameLst>
                      </p:cBhvr>
                      <p:to>
                        <p:strVal val="visible"/>
                      </p:to>
                    </p:set>
                    <p:animEffect transition="in" filter="wipe(left)">
                      <p:cBhvr>
                        <p:cTn dur="500"/>
                        <p:tgtEl>
                          <p:spTgt spid="552962"/>
                        </p:tgtEl>
                      </p:cBhvr>
                    </p:animEffect>
                  </p:childTnLst>
                </p:cTn>
              </p:par>
            </p:tnLst>
          </p:tmpl>
        </p:tmplLst>
      </p:bldP>
    </p:bldLst>
  </p:timing>
  <p:txStyles>
    <p:titleStyle>
      <a:lvl1pPr algn="l" rtl="0" eaLnBrk="0" fontAlgn="base" hangingPunct="0">
        <a:spcBef>
          <a:spcPct val="0"/>
        </a:spcBef>
        <a:spcAft>
          <a:spcPct val="0"/>
        </a:spcAft>
        <a:defRPr sz="2600" b="1">
          <a:solidFill>
            <a:schemeClr val="bg1"/>
          </a:solidFill>
          <a:latin typeface="+mj-lt"/>
          <a:ea typeface="ＭＳ Ｐゴシック" charset="0"/>
          <a:cs typeface="+mj-cs"/>
        </a:defRPr>
      </a:lvl1pPr>
      <a:lvl2pPr algn="l" rtl="0" eaLnBrk="0" fontAlgn="base" hangingPunct="0">
        <a:spcBef>
          <a:spcPct val="0"/>
        </a:spcBef>
        <a:spcAft>
          <a:spcPct val="0"/>
        </a:spcAft>
        <a:defRPr sz="2600" b="1">
          <a:solidFill>
            <a:schemeClr val="bg1"/>
          </a:solidFill>
          <a:latin typeface="Arial" charset="0"/>
          <a:ea typeface="ＭＳ Ｐゴシック" charset="0"/>
        </a:defRPr>
      </a:lvl2pPr>
      <a:lvl3pPr algn="l" rtl="0" eaLnBrk="0" fontAlgn="base" hangingPunct="0">
        <a:spcBef>
          <a:spcPct val="0"/>
        </a:spcBef>
        <a:spcAft>
          <a:spcPct val="0"/>
        </a:spcAft>
        <a:defRPr sz="2600" b="1">
          <a:solidFill>
            <a:schemeClr val="bg1"/>
          </a:solidFill>
          <a:latin typeface="Arial" charset="0"/>
          <a:ea typeface="ＭＳ Ｐゴシック" charset="0"/>
        </a:defRPr>
      </a:lvl3pPr>
      <a:lvl4pPr algn="l" rtl="0" eaLnBrk="0" fontAlgn="base" hangingPunct="0">
        <a:spcBef>
          <a:spcPct val="0"/>
        </a:spcBef>
        <a:spcAft>
          <a:spcPct val="0"/>
        </a:spcAft>
        <a:defRPr sz="2600" b="1">
          <a:solidFill>
            <a:schemeClr val="bg1"/>
          </a:solidFill>
          <a:latin typeface="Arial" charset="0"/>
          <a:ea typeface="ＭＳ Ｐゴシック" charset="0"/>
        </a:defRPr>
      </a:lvl4pPr>
      <a:lvl5pPr algn="l" rtl="0" eaLnBrk="0" fontAlgn="base" hangingPunct="0">
        <a:spcBef>
          <a:spcPct val="0"/>
        </a:spcBef>
        <a:spcAft>
          <a:spcPct val="0"/>
        </a:spcAft>
        <a:defRPr sz="2600" b="1">
          <a:solidFill>
            <a:schemeClr val="bg1"/>
          </a:solidFill>
          <a:latin typeface="Arial" charset="0"/>
          <a:ea typeface="ＭＳ Ｐゴシック" charset="0"/>
        </a:defRPr>
      </a:lvl5pPr>
      <a:lvl6pPr marL="457200" algn="l" rtl="0" fontAlgn="base">
        <a:spcBef>
          <a:spcPct val="0"/>
        </a:spcBef>
        <a:spcAft>
          <a:spcPct val="0"/>
        </a:spcAft>
        <a:defRPr sz="2600" b="1">
          <a:solidFill>
            <a:schemeClr val="bg1"/>
          </a:solidFill>
          <a:latin typeface="Arial" charset="0"/>
        </a:defRPr>
      </a:lvl6pPr>
      <a:lvl7pPr marL="914400" algn="l" rtl="0" fontAlgn="base">
        <a:spcBef>
          <a:spcPct val="0"/>
        </a:spcBef>
        <a:spcAft>
          <a:spcPct val="0"/>
        </a:spcAft>
        <a:defRPr sz="2600" b="1">
          <a:solidFill>
            <a:schemeClr val="bg1"/>
          </a:solidFill>
          <a:latin typeface="Arial" charset="0"/>
        </a:defRPr>
      </a:lvl7pPr>
      <a:lvl8pPr marL="1371600" algn="l" rtl="0" fontAlgn="base">
        <a:spcBef>
          <a:spcPct val="0"/>
        </a:spcBef>
        <a:spcAft>
          <a:spcPct val="0"/>
        </a:spcAft>
        <a:defRPr sz="2600" b="1">
          <a:solidFill>
            <a:schemeClr val="bg1"/>
          </a:solidFill>
          <a:latin typeface="Arial" charset="0"/>
        </a:defRPr>
      </a:lvl8pPr>
      <a:lvl9pPr marL="1828800" algn="l" rtl="0" fontAlgn="base">
        <a:spcBef>
          <a:spcPct val="0"/>
        </a:spcBef>
        <a:spcAft>
          <a:spcPct val="0"/>
        </a:spcAft>
        <a:defRPr sz="2600" b="1">
          <a:solidFill>
            <a:schemeClr val="bg1"/>
          </a:solidFill>
          <a:latin typeface="Arial" charset="0"/>
        </a:defRPr>
      </a:lvl9pPr>
    </p:titleStyle>
    <p:bodyStyle>
      <a:lvl1pPr marL="342900" indent="-342900" algn="l" rtl="0" eaLnBrk="0" fontAlgn="base" hangingPunct="0">
        <a:spcBef>
          <a:spcPct val="20000"/>
        </a:spcBef>
        <a:spcAft>
          <a:spcPct val="0"/>
        </a:spcAft>
        <a:buClr>
          <a:srgbClr val="00468F"/>
        </a:buClr>
        <a:buFont typeface="Webdings" pitchFamily="2" charset="2"/>
        <a:buChar char="&lt;"/>
        <a:defRPr sz="2800" b="1">
          <a:solidFill>
            <a:srgbClr val="00468F"/>
          </a:solidFill>
          <a:latin typeface="+mn-lt"/>
          <a:ea typeface="ＭＳ Ｐゴシック" charset="0"/>
          <a:cs typeface="+mn-cs"/>
        </a:defRPr>
      </a:lvl1pPr>
      <a:lvl2pPr marL="457200" algn="l" rtl="0" eaLnBrk="0" fontAlgn="base" hangingPunct="0">
        <a:lnSpc>
          <a:spcPct val="105000"/>
        </a:lnSpc>
        <a:spcBef>
          <a:spcPct val="50000"/>
        </a:spcBef>
        <a:spcAft>
          <a:spcPct val="0"/>
        </a:spcAft>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lr>
          <a:srgbClr val="00468F"/>
        </a:buClr>
        <a:buChar char="•"/>
        <a:defRPr sz="24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146" name="Picture 2" descr="but1">
            <a:hlinkClick r:id="" action="ppaction://hlinkshowjump?jump=previousslide" tooltip="Back to previous slide"/>
            <a:extLst>
              <a:ext uri="{FF2B5EF4-FFF2-40B4-BE49-F238E27FC236}">
                <a16:creationId xmlns:a16="http://schemas.microsoft.com/office/drawing/2014/main" id="{C0CFAAF4-7375-C57A-ADFE-C4E64090304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524875" y="935038"/>
            <a:ext cx="617538" cy="61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7" name="Text Box 3">
            <a:extLst>
              <a:ext uri="{FF2B5EF4-FFF2-40B4-BE49-F238E27FC236}">
                <a16:creationId xmlns:a16="http://schemas.microsoft.com/office/drawing/2014/main" id="{A4FCD989-425B-C084-9152-5027D5B66972}"/>
              </a:ext>
            </a:extLst>
          </p:cNvPr>
          <p:cNvSpPr txBox="1">
            <a:spLocks noChangeArrowheads="1"/>
          </p:cNvSpPr>
          <p:nvPr userDrawn="1"/>
        </p:nvSpPr>
        <p:spPr bwMode="auto">
          <a:xfrm>
            <a:off x="431800" y="6643688"/>
            <a:ext cx="1692275"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US" altLang="en-TW" sz="800"/>
              <a:t>© 2013 Pearson</a:t>
            </a:r>
          </a:p>
        </p:txBody>
      </p:sp>
    </p:spTree>
  </p:cSld>
  <p:clrMap bg1="lt1" tx1="dk1" bg2="lt2" tx2="dk2" accent1="accent1" accent2="accent2" accent3="accent3" accent4="accent4" accent5="accent5" accent6="accent6" hlink="hlink" folHlink="folHlink"/>
  <p:sldLayoutIdLst>
    <p:sldLayoutId id="2147483918" r:id="rId1"/>
    <p:sldLayoutId id="2147483919" r:id="rId2"/>
    <p:sldLayoutId id="2147483920" r:id="rId3"/>
    <p:sldLayoutId id="2147483921" r:id="rId4"/>
    <p:sldLayoutId id="2147483922" r:id="rId5"/>
    <p:sldLayoutId id="2147483923" r:id="rId6"/>
    <p:sldLayoutId id="2147483924" r:id="rId7"/>
    <p:sldLayoutId id="2147483925" r:id="rId8"/>
    <p:sldLayoutId id="2147483926" r:id="rId9"/>
    <p:sldLayoutId id="2147483927" r:id="rId10"/>
    <p:sldLayoutId id="2147483928" r:id="rId11"/>
  </p:sldLayoutIdLst>
  <p:transition spd="med">
    <p:wipe dir="r"/>
  </p:transition>
  <p:txStyles>
    <p:titleStyle>
      <a:lvl1pPr algn="ctr" rtl="0" eaLnBrk="0" fontAlgn="base" hangingPunct="0">
        <a:spcBef>
          <a:spcPct val="0"/>
        </a:spcBef>
        <a:spcAft>
          <a:spcPct val="0"/>
        </a:spcAft>
        <a:defRPr sz="4400">
          <a:solidFill>
            <a:schemeClr val="tx2"/>
          </a:solidFill>
          <a:latin typeface="+mj-lt"/>
          <a:ea typeface="ＭＳ Ｐゴシック" charset="0"/>
          <a:cs typeface="+mj-cs"/>
        </a:defRPr>
      </a:lvl1pPr>
      <a:lvl2pPr algn="ctr" rtl="0" eaLnBrk="0" fontAlgn="base" hangingPunct="0">
        <a:spcBef>
          <a:spcPct val="0"/>
        </a:spcBef>
        <a:spcAft>
          <a:spcPct val="0"/>
        </a:spcAft>
        <a:defRPr sz="4400">
          <a:solidFill>
            <a:schemeClr val="tx2"/>
          </a:solidFill>
          <a:latin typeface="Arial" charset="0"/>
          <a:ea typeface="ＭＳ Ｐゴシック" charset="0"/>
        </a:defRPr>
      </a:lvl2pPr>
      <a:lvl3pPr algn="ctr" rtl="0" eaLnBrk="0" fontAlgn="base" hangingPunct="0">
        <a:spcBef>
          <a:spcPct val="0"/>
        </a:spcBef>
        <a:spcAft>
          <a:spcPct val="0"/>
        </a:spcAft>
        <a:defRPr sz="4400">
          <a:solidFill>
            <a:schemeClr val="tx2"/>
          </a:solidFill>
          <a:latin typeface="Arial" charset="0"/>
          <a:ea typeface="ＭＳ Ｐゴシック" charset="0"/>
        </a:defRPr>
      </a:lvl3pPr>
      <a:lvl4pPr algn="ctr" rtl="0" eaLnBrk="0" fontAlgn="base" hangingPunct="0">
        <a:spcBef>
          <a:spcPct val="0"/>
        </a:spcBef>
        <a:spcAft>
          <a:spcPct val="0"/>
        </a:spcAft>
        <a:defRPr sz="4400">
          <a:solidFill>
            <a:schemeClr val="tx2"/>
          </a:solidFill>
          <a:latin typeface="Arial" charset="0"/>
          <a:ea typeface="ＭＳ Ｐゴシック" charset="0"/>
        </a:defRPr>
      </a:lvl4pPr>
      <a:lvl5pPr algn="ctr" rtl="0" eaLnBrk="0" fontAlgn="base" hangingPunct="0">
        <a:spcBef>
          <a:spcPct val="0"/>
        </a:spcBef>
        <a:spcAft>
          <a:spcPct val="0"/>
        </a:spcAft>
        <a:defRPr sz="4400">
          <a:solidFill>
            <a:schemeClr val="tx2"/>
          </a:solidFill>
          <a:latin typeface="Arial" charset="0"/>
          <a:ea typeface="ＭＳ Ｐゴシック"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ＭＳ Ｐゴシック" charset="0"/>
          <a:cs typeface="+mn-cs"/>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Title Placeholder 1">
            <a:extLst>
              <a:ext uri="{FF2B5EF4-FFF2-40B4-BE49-F238E27FC236}">
                <a16:creationId xmlns:a16="http://schemas.microsoft.com/office/drawing/2014/main" id="{27A3939E-6A41-AE6C-96B2-E8B2749C9C8E}"/>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TW"/>
              <a:t>Click to edit Master title style</a:t>
            </a:r>
            <a:endParaRPr lang="en-CA" altLang="en-TW"/>
          </a:p>
        </p:txBody>
      </p:sp>
      <p:sp>
        <p:nvSpPr>
          <p:cNvPr id="7171" name="Text Placeholder 2">
            <a:extLst>
              <a:ext uri="{FF2B5EF4-FFF2-40B4-BE49-F238E27FC236}">
                <a16:creationId xmlns:a16="http://schemas.microsoft.com/office/drawing/2014/main" id="{9155A536-8CCA-55C7-2619-D5B95137B5B6}"/>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TW"/>
              <a:t>Click to edit Master text styles</a:t>
            </a:r>
          </a:p>
          <a:p>
            <a:pPr lvl="1"/>
            <a:r>
              <a:rPr lang="en-US" altLang="en-TW"/>
              <a:t>Second level</a:t>
            </a:r>
          </a:p>
          <a:p>
            <a:pPr lvl="2"/>
            <a:r>
              <a:rPr lang="en-US" altLang="en-TW"/>
              <a:t>Third level</a:t>
            </a:r>
          </a:p>
          <a:p>
            <a:pPr lvl="3"/>
            <a:r>
              <a:rPr lang="en-US" altLang="en-TW"/>
              <a:t>Fourth level</a:t>
            </a:r>
          </a:p>
          <a:p>
            <a:pPr lvl="4"/>
            <a:r>
              <a:rPr lang="en-US" altLang="en-TW"/>
              <a:t>Fifth level</a:t>
            </a:r>
            <a:endParaRPr lang="en-CA" altLang="en-TW"/>
          </a:p>
        </p:txBody>
      </p:sp>
      <p:sp>
        <p:nvSpPr>
          <p:cNvPr id="4" name="Date Placeholder 3">
            <a:extLst>
              <a:ext uri="{FF2B5EF4-FFF2-40B4-BE49-F238E27FC236}">
                <a16:creationId xmlns:a16="http://schemas.microsoft.com/office/drawing/2014/main" id="{585CEC03-25EC-80B7-85DF-144E9EED171D}"/>
              </a:ext>
            </a:extLst>
          </p:cNvPr>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Calibri" panose="020F0502020204030204" pitchFamily="34" charset="0"/>
              </a:defRPr>
            </a:lvl1pPr>
          </a:lstStyle>
          <a:p>
            <a:fld id="{009998DB-F767-CE43-BD4A-307320D081F4}" type="datetimeFigureOut">
              <a:rPr lang="en-CA" altLang="en-TW"/>
              <a:pPr/>
              <a:t>2026-03-23</a:t>
            </a:fld>
            <a:endParaRPr lang="en-CA" altLang="en-TW"/>
          </a:p>
        </p:txBody>
      </p:sp>
      <p:sp>
        <p:nvSpPr>
          <p:cNvPr id="5" name="Footer Placeholder 4">
            <a:extLst>
              <a:ext uri="{FF2B5EF4-FFF2-40B4-BE49-F238E27FC236}">
                <a16:creationId xmlns:a16="http://schemas.microsoft.com/office/drawing/2014/main" id="{3C7A5F4F-29C2-DED6-3898-67A6D612AC00}"/>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prstClr val="black">
                    <a:tint val="75000"/>
                  </a:prstClr>
                </a:solidFill>
                <a:latin typeface="Calibri"/>
                <a:ea typeface="+mn-ea"/>
              </a:defRPr>
            </a:lvl1pPr>
          </a:lstStyle>
          <a:p>
            <a:pPr>
              <a:defRPr/>
            </a:pPr>
            <a:endParaRPr lang="en-CA"/>
          </a:p>
        </p:txBody>
      </p:sp>
      <p:sp>
        <p:nvSpPr>
          <p:cNvPr id="6" name="Slide Number Placeholder 5">
            <a:extLst>
              <a:ext uri="{FF2B5EF4-FFF2-40B4-BE49-F238E27FC236}">
                <a16:creationId xmlns:a16="http://schemas.microsoft.com/office/drawing/2014/main" id="{64757A3F-1414-4A25-E232-5C7188D5D3D1}"/>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2A5D530C-1C65-AB49-8C54-F024F4B776FE}" type="slidenum">
              <a:rPr lang="en-CA" altLang="en-TW"/>
              <a:pPr/>
              <a:t>‹#›</a:t>
            </a:fld>
            <a:endParaRPr lang="en-CA" altLang="en-TW"/>
          </a:p>
        </p:txBody>
      </p:sp>
    </p:spTree>
  </p:cSld>
  <p:clrMap bg1="lt1" tx1="dk1" bg2="lt2" tx2="dk2" accent1="accent1" accent2="accent2" accent3="accent3" accent4="accent4" accent5="accent5" accent6="accent6" hlink="hlink" folHlink="folHlink"/>
  <p:sldLayoutIdLst>
    <p:sldLayoutId id="2147483929" r:id="rId1"/>
    <p:sldLayoutId id="2147483930" r:id="rId2"/>
    <p:sldLayoutId id="2147483931" r:id="rId3"/>
    <p:sldLayoutId id="2147483932" r:id="rId4"/>
    <p:sldLayoutId id="2147483933" r:id="rId5"/>
    <p:sldLayoutId id="2147483934" r:id="rId6"/>
    <p:sldLayoutId id="2147483935" r:id="rId7"/>
    <p:sldLayoutId id="2147483936" r:id="rId8"/>
    <p:sldLayoutId id="2147483937" r:id="rId9"/>
    <p:sldLayoutId id="2147483938" r:id="rId10"/>
    <p:sldLayoutId id="2147483939" r:id="rId11"/>
  </p:sldLayoutIdLst>
  <p:txStyles>
    <p:titleStyle>
      <a:lvl1pPr algn="ctr" rtl="0" eaLnBrk="0" fontAlgn="base" hangingPunct="0">
        <a:spcBef>
          <a:spcPct val="0"/>
        </a:spcBef>
        <a:spcAft>
          <a:spcPct val="0"/>
        </a:spcAft>
        <a:defRPr sz="4400" kern="1200">
          <a:solidFill>
            <a:schemeClr val="tx1"/>
          </a:solidFill>
          <a:latin typeface="+mj-lt"/>
          <a:ea typeface="ＭＳ Ｐゴシック" charset="0"/>
          <a:cs typeface="+mj-cs"/>
        </a:defRPr>
      </a:lvl1pPr>
      <a:lvl2pPr algn="ctr" rtl="0" eaLnBrk="0" fontAlgn="base" hangingPunct="0">
        <a:spcBef>
          <a:spcPct val="0"/>
        </a:spcBef>
        <a:spcAft>
          <a:spcPct val="0"/>
        </a:spcAft>
        <a:defRPr sz="4400">
          <a:solidFill>
            <a:schemeClr val="tx1"/>
          </a:solidFill>
          <a:latin typeface="Calibri" charset="0"/>
          <a:ea typeface="ＭＳ Ｐゴシック" charset="0"/>
        </a:defRPr>
      </a:lvl2pPr>
      <a:lvl3pPr algn="ctr" rtl="0" eaLnBrk="0" fontAlgn="base" hangingPunct="0">
        <a:spcBef>
          <a:spcPct val="0"/>
        </a:spcBef>
        <a:spcAft>
          <a:spcPct val="0"/>
        </a:spcAft>
        <a:defRPr sz="4400">
          <a:solidFill>
            <a:schemeClr val="tx1"/>
          </a:solidFill>
          <a:latin typeface="Calibri" charset="0"/>
          <a:ea typeface="ＭＳ Ｐゴシック" charset="0"/>
        </a:defRPr>
      </a:lvl3pPr>
      <a:lvl4pPr algn="ctr" rtl="0" eaLnBrk="0" fontAlgn="base" hangingPunct="0">
        <a:spcBef>
          <a:spcPct val="0"/>
        </a:spcBef>
        <a:spcAft>
          <a:spcPct val="0"/>
        </a:spcAft>
        <a:defRPr sz="4400">
          <a:solidFill>
            <a:schemeClr val="tx1"/>
          </a:solidFill>
          <a:latin typeface="Calibri" charset="0"/>
          <a:ea typeface="ＭＳ Ｐゴシック" charset="0"/>
        </a:defRPr>
      </a:lvl4pPr>
      <a:lvl5pPr algn="ctr" rtl="0" eaLnBrk="0" fontAlgn="base" hangingPunct="0">
        <a:spcBef>
          <a:spcPct val="0"/>
        </a:spcBef>
        <a:spcAft>
          <a:spcPct val="0"/>
        </a:spcAft>
        <a:defRPr sz="4400">
          <a:solidFill>
            <a:schemeClr val="tx1"/>
          </a:solidFill>
          <a:latin typeface="Calibri" charset="0"/>
          <a:ea typeface="ＭＳ Ｐゴシック" charset="0"/>
        </a:defRPr>
      </a:lvl5pPr>
      <a:lvl6pPr marL="457200" algn="ctr" rtl="0" fontAlgn="base">
        <a:spcBef>
          <a:spcPct val="0"/>
        </a:spcBef>
        <a:spcAft>
          <a:spcPct val="0"/>
        </a:spcAft>
        <a:defRPr sz="4400">
          <a:solidFill>
            <a:schemeClr val="tx1"/>
          </a:solidFill>
          <a:latin typeface="Calibri" charset="0"/>
          <a:ea typeface="ＭＳ Ｐゴシック" charset="0"/>
        </a:defRPr>
      </a:lvl6pPr>
      <a:lvl7pPr marL="914400" algn="ctr" rtl="0" fontAlgn="base">
        <a:spcBef>
          <a:spcPct val="0"/>
        </a:spcBef>
        <a:spcAft>
          <a:spcPct val="0"/>
        </a:spcAft>
        <a:defRPr sz="4400">
          <a:solidFill>
            <a:schemeClr val="tx1"/>
          </a:solidFill>
          <a:latin typeface="Calibri" charset="0"/>
          <a:ea typeface="ＭＳ Ｐゴシック" charset="0"/>
        </a:defRPr>
      </a:lvl7pPr>
      <a:lvl8pPr marL="1371600" algn="ctr" rtl="0" fontAlgn="base">
        <a:spcBef>
          <a:spcPct val="0"/>
        </a:spcBef>
        <a:spcAft>
          <a:spcPct val="0"/>
        </a:spcAft>
        <a:defRPr sz="4400">
          <a:solidFill>
            <a:schemeClr val="tx1"/>
          </a:solidFill>
          <a:latin typeface="Calibri" charset="0"/>
          <a:ea typeface="ＭＳ Ｐゴシック" charset="0"/>
        </a:defRPr>
      </a:lvl8pPr>
      <a:lvl9pPr marL="1828800" algn="ctr" rtl="0" fontAlgn="base">
        <a:spcBef>
          <a:spcPct val="0"/>
        </a:spcBef>
        <a:spcAft>
          <a:spcPct val="0"/>
        </a:spcAft>
        <a:defRPr sz="4400">
          <a:solidFill>
            <a:schemeClr val="tx1"/>
          </a:solidFill>
          <a:latin typeface="Calibri" charset="0"/>
          <a:ea typeface="ＭＳ Ｐゴシック"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ＭＳ Ｐゴシック" charset="0"/>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ＭＳ Ｐゴシック" charset="0"/>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ＭＳ Ｐゴシック" charset="0"/>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ＭＳ Ｐゴシック" charset="0"/>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ＭＳ Ｐゴシック" charset="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4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5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46.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5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46.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46.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35.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46.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2" Type="http://schemas.openxmlformats.org/officeDocument/2006/relationships/image" Target="../media/image26.gif"/><Relationship Id="rId1" Type="http://schemas.openxmlformats.org/officeDocument/2006/relationships/slideLayout" Target="../slideLayouts/slideLayout51.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5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46.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5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 Id="rId9" Type="http://schemas.openxmlformats.org/officeDocument/2006/relationships/image" Target="../media/image33.png"/></Relationships>
</file>

<file path=ppt/slides/_rels/slide20.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35.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 Id="rId9" Type="http://schemas.openxmlformats.org/officeDocument/2006/relationships/image" Target="../media/image3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46.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57.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25.xml"/><Relationship Id="rId1" Type="http://schemas.openxmlformats.org/officeDocument/2006/relationships/slideLayout" Target="../slideLayouts/slideLayout46.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8.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26.xml"/><Relationship Id="rId1" Type="http://schemas.openxmlformats.org/officeDocument/2006/relationships/slideLayout" Target="../slideLayouts/slideLayout57.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5.xml"/></Relationships>
</file>

<file path=ppt/slides/_rels/slide30.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28.xml"/><Relationship Id="rId1" Type="http://schemas.openxmlformats.org/officeDocument/2006/relationships/slideLayout" Target="../slideLayouts/slideLayout46.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3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29.xml"/><Relationship Id="rId1" Type="http://schemas.openxmlformats.org/officeDocument/2006/relationships/slideLayout" Target="../slideLayouts/slideLayout57.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32.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30.xml"/><Relationship Id="rId1" Type="http://schemas.openxmlformats.org/officeDocument/2006/relationships/slideLayout" Target="../slideLayouts/slideLayout35.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2.xml"/><Relationship Id="rId1" Type="http://schemas.openxmlformats.org/officeDocument/2006/relationships/slideLayout" Target="../slideLayouts/slideLayout46.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3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3.xml"/><Relationship Id="rId1" Type="http://schemas.openxmlformats.org/officeDocument/2006/relationships/slideLayout" Target="../slideLayouts/slideLayout57.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36.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notesSlide" Target="../notesSlides/notesSlide34.xml"/><Relationship Id="rId1" Type="http://schemas.openxmlformats.org/officeDocument/2006/relationships/slideLayout" Target="../slideLayouts/slideLayout46.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37.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notesSlide" Target="../notesSlides/notesSlide35.xml"/><Relationship Id="rId1" Type="http://schemas.openxmlformats.org/officeDocument/2006/relationships/slideLayout" Target="../slideLayouts/slideLayout46.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 Id="rId9" Type="http://schemas.openxmlformats.org/officeDocument/2006/relationships/image" Target="../media/image60.png"/></Relationships>
</file>

<file path=ppt/slides/_rels/slide38.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notesSlide" Target="../notesSlides/notesSlide36.xml"/><Relationship Id="rId1" Type="http://schemas.openxmlformats.org/officeDocument/2006/relationships/slideLayout" Target="../slideLayouts/slideLayout35.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 Id="rId9" Type="http://schemas.openxmlformats.org/officeDocument/2006/relationships/image" Target="../media/image60.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4.xml"/></Relationships>
</file>

<file path=ppt/slides/_rels/slide41.xml.rels><?xml version="1.0" encoding="UTF-8" standalone="yes"?>
<Relationships xmlns="http://schemas.openxmlformats.org/package/2006/relationships"><Relationship Id="rId2" Type="http://schemas.openxmlformats.org/officeDocument/2006/relationships/image" Target="../media/image61.gif"/><Relationship Id="rId1" Type="http://schemas.openxmlformats.org/officeDocument/2006/relationships/slideLayout" Target="../slideLayouts/slideLayout29.xml"/></Relationships>
</file>

<file path=ppt/slides/_rels/slide42.xml.rels><?xml version="1.0" encoding="UTF-8" standalone="yes"?>
<Relationships xmlns="http://schemas.openxmlformats.org/package/2006/relationships"><Relationship Id="rId2" Type="http://schemas.openxmlformats.org/officeDocument/2006/relationships/image" Target="../media/image62.gif"/><Relationship Id="rId1" Type="http://schemas.openxmlformats.org/officeDocument/2006/relationships/slideLayout" Target="../slideLayouts/slideLayout29.xml"/></Relationships>
</file>

<file path=ppt/slides/_rels/slide43.xml.rels><?xml version="1.0" encoding="UTF-8" standalone="yes"?>
<Relationships xmlns="http://schemas.openxmlformats.org/package/2006/relationships"><Relationship Id="rId2" Type="http://schemas.openxmlformats.org/officeDocument/2006/relationships/image" Target="../media/image63.gif"/><Relationship Id="rId1" Type="http://schemas.openxmlformats.org/officeDocument/2006/relationships/slideLayout" Target="../slideLayouts/slideLayout29.xml"/></Relationships>
</file>

<file path=ppt/slides/_rels/slide44.xml.rels><?xml version="1.0" encoding="UTF-8" standalone="yes"?>
<Relationships xmlns="http://schemas.openxmlformats.org/package/2006/relationships"><Relationship Id="rId2" Type="http://schemas.openxmlformats.org/officeDocument/2006/relationships/image" Target="../media/image64.gif"/><Relationship Id="rId1" Type="http://schemas.openxmlformats.org/officeDocument/2006/relationships/slideLayout" Target="../slideLayouts/slideLayout29.xml"/></Relationships>
</file>

<file path=ppt/slides/_rels/slide45.xml.rels><?xml version="1.0" encoding="UTF-8" standalone="yes"?>
<Relationships xmlns="http://schemas.openxmlformats.org/package/2006/relationships"><Relationship Id="rId2" Type="http://schemas.openxmlformats.org/officeDocument/2006/relationships/image" Target="../media/image65.gif"/><Relationship Id="rId1" Type="http://schemas.openxmlformats.org/officeDocument/2006/relationships/slideLayout" Target="../slideLayouts/slideLayout29.xml"/></Relationships>
</file>

<file path=ppt/slides/_rels/slide46.xml.rels><?xml version="1.0" encoding="UTF-8" standalone="yes"?>
<Relationships xmlns="http://schemas.openxmlformats.org/package/2006/relationships"><Relationship Id="rId2" Type="http://schemas.openxmlformats.org/officeDocument/2006/relationships/image" Target="../media/image66.gif"/><Relationship Id="rId1" Type="http://schemas.openxmlformats.org/officeDocument/2006/relationships/slideLayout" Target="../slideLayouts/slideLayout29.xml"/></Relationships>
</file>

<file path=ppt/slides/_rels/slide47.xml.rels><?xml version="1.0" encoding="UTF-8" standalone="yes"?>
<Relationships xmlns="http://schemas.openxmlformats.org/package/2006/relationships"><Relationship Id="rId2" Type="http://schemas.openxmlformats.org/officeDocument/2006/relationships/image" Target="../media/image67.gif"/><Relationship Id="rId1" Type="http://schemas.openxmlformats.org/officeDocument/2006/relationships/slideLayout" Target="../slideLayouts/slideLayout29.xml"/></Relationships>
</file>

<file path=ppt/slides/_rels/slide48.xml.rels><?xml version="1.0" encoding="UTF-8" standalone="yes"?>
<Relationships xmlns="http://schemas.openxmlformats.org/package/2006/relationships"><Relationship Id="rId2" Type="http://schemas.openxmlformats.org/officeDocument/2006/relationships/image" Target="../media/image68.gif"/><Relationship Id="rId1" Type="http://schemas.openxmlformats.org/officeDocument/2006/relationships/slideLayout" Target="../slideLayouts/slideLayout29.xml"/></Relationships>
</file>

<file path=ppt/slides/_rels/slide49.xml.rels><?xml version="1.0" encoding="UTF-8" standalone="yes"?>
<Relationships xmlns="http://schemas.openxmlformats.org/package/2006/relationships"><Relationship Id="rId2" Type="http://schemas.openxmlformats.org/officeDocument/2006/relationships/image" Target="../media/image69.gif"/><Relationship Id="rId1" Type="http://schemas.openxmlformats.org/officeDocument/2006/relationships/slideLayout" Target="../slideLayouts/slideLayout29.xml"/></Relationships>
</file>

<file path=ppt/slides/_rels/slide50.xml.rels><?xml version="1.0" encoding="UTF-8" standalone="yes"?>
<Relationships xmlns="http://schemas.openxmlformats.org/package/2006/relationships"><Relationship Id="rId2" Type="http://schemas.openxmlformats.org/officeDocument/2006/relationships/image" Target="../media/image70.gif"/><Relationship Id="rId1" Type="http://schemas.openxmlformats.org/officeDocument/2006/relationships/slideLayout" Target="../slideLayouts/slideLayout29.xml"/></Relationships>
</file>

<file path=ppt/slides/_rels/slide51.xml.rels><?xml version="1.0" encoding="UTF-8" standalone="yes"?>
<Relationships xmlns="http://schemas.openxmlformats.org/package/2006/relationships"><Relationship Id="rId2" Type="http://schemas.openxmlformats.org/officeDocument/2006/relationships/image" Target="../media/image71.gif"/><Relationship Id="rId1" Type="http://schemas.openxmlformats.org/officeDocument/2006/relationships/slideLayout" Target="../slideLayouts/slideLayout29.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4.xml"/></Relationships>
</file>

<file path=ppt/slides/_rels/slide5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3.xml"/><Relationship Id="rId1" Type="http://schemas.openxmlformats.org/officeDocument/2006/relationships/slideLayout" Target="../slideLayouts/slideLayout46.xml"/><Relationship Id="rId4" Type="http://schemas.openxmlformats.org/officeDocument/2006/relationships/image" Target="../media/image73.png"/></Relationships>
</file>

<file path=ppt/slides/_rels/slide57.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2.png"/><Relationship Id="rId7" Type="http://schemas.openxmlformats.org/officeDocument/2006/relationships/image" Target="../media/image76.png"/><Relationship Id="rId2" Type="http://schemas.openxmlformats.org/officeDocument/2006/relationships/notesSlide" Target="../notesSlides/notesSlide44.xml"/><Relationship Id="rId1" Type="http://schemas.openxmlformats.org/officeDocument/2006/relationships/slideLayout" Target="../slideLayouts/slideLayout46.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 Id="rId9" Type="http://schemas.openxmlformats.org/officeDocument/2006/relationships/image" Target="../media/image78.png"/></Relationships>
</file>

<file path=ppt/slides/_rels/slide58.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2.png"/><Relationship Id="rId7" Type="http://schemas.openxmlformats.org/officeDocument/2006/relationships/image" Target="../media/image76.png"/><Relationship Id="rId2" Type="http://schemas.openxmlformats.org/officeDocument/2006/relationships/notesSlide" Target="../notesSlides/notesSlide45.xml"/><Relationship Id="rId1" Type="http://schemas.openxmlformats.org/officeDocument/2006/relationships/slideLayout" Target="../slideLayouts/slideLayout35.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 Id="rId9" Type="http://schemas.openxmlformats.org/officeDocument/2006/relationships/image" Target="../media/image78.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4.xml"/></Relationships>
</file>

<file path=ppt/slides/_rels/slide61.xml.rels><?xml version="1.0" encoding="UTF-8" standalone="yes"?>
<Relationships xmlns="http://schemas.openxmlformats.org/package/2006/relationships"><Relationship Id="rId2" Type="http://schemas.openxmlformats.org/officeDocument/2006/relationships/image" Target="../media/image79.jpeg"/><Relationship Id="rId1" Type="http://schemas.openxmlformats.org/officeDocument/2006/relationships/slideLayout" Target="../slideLayouts/slideLayout23.xml"/></Relationships>
</file>

<file path=ppt/slides/_rels/slide62.xml.rels><?xml version="1.0" encoding="UTF-8" standalone="yes"?>
<Relationships xmlns="http://schemas.openxmlformats.org/package/2006/relationships"><Relationship Id="rId2" Type="http://schemas.openxmlformats.org/officeDocument/2006/relationships/image" Target="../media/image79.jpeg"/><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4"/>
          <p:cNvSpPr txBox="1">
            <a:spLocks/>
          </p:cNvSpPr>
          <p:nvPr/>
        </p:nvSpPr>
        <p:spPr bwMode="auto">
          <a:xfrm>
            <a:off x="4859412" y="3502025"/>
            <a:ext cx="3817044"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342900" marR="0" lvl="0" indent="-342900" algn="l" defTabSz="914400" rtl="0" eaLnBrk="0" fontAlgn="base" latinLnBrk="0" hangingPunct="0">
              <a:lnSpc>
                <a:spcPct val="100000"/>
              </a:lnSpc>
              <a:spcBef>
                <a:spcPts val="1200"/>
              </a:spcBef>
              <a:spcAft>
                <a:spcPct val="0"/>
              </a:spcAft>
              <a:buClrTx/>
              <a:buSzTx/>
              <a:buFontTx/>
              <a:buNone/>
              <a:tabLst/>
              <a:defRPr/>
            </a:pPr>
            <a:r>
              <a:rPr kumimoji="0" lang="en-US" sz="3000" b="0" i="0" u="none" strike="noStrike" kern="0" cap="none" spc="0" normalizeH="0" baseline="0" noProof="0" dirty="0">
                <a:ln>
                  <a:noFill/>
                </a:ln>
                <a:solidFill>
                  <a:srgbClr val="000000"/>
                </a:solidFill>
                <a:effectLst/>
                <a:uLnTx/>
                <a:uFillTx/>
                <a:latin typeface="Arial"/>
                <a:ea typeface="+mn-ea"/>
                <a:cs typeface="+mn-cs"/>
              </a:rPr>
              <a:t>Chapter </a:t>
            </a:r>
            <a:r>
              <a:rPr lang="en-US" sz="3000" kern="0" dirty="0">
                <a:solidFill>
                  <a:srgbClr val="000000"/>
                </a:solidFill>
                <a:latin typeface="Arial"/>
              </a:rPr>
              <a:t>6</a:t>
            </a:r>
            <a:endParaRPr kumimoji="0" lang="en-US" sz="3000" b="0" i="0" u="none" strike="noStrike" kern="0" cap="none" spc="0" normalizeH="0" baseline="0" noProof="0" dirty="0">
              <a:ln>
                <a:noFill/>
              </a:ln>
              <a:solidFill>
                <a:srgbClr val="000000"/>
              </a:solidFill>
              <a:effectLst/>
              <a:uLnTx/>
              <a:uFillTx/>
              <a:latin typeface="Arial"/>
              <a:ea typeface="+mn-ea"/>
              <a:cs typeface="+mn-cs"/>
            </a:endParaRPr>
          </a:p>
          <a:p>
            <a:pPr marL="0" lvl="0" indent="0">
              <a:spcBef>
                <a:spcPts val="1200"/>
              </a:spcBef>
              <a:buNone/>
              <a:defRPr/>
            </a:pPr>
            <a:r>
              <a:rPr lang="en-US" sz="2200" kern="0" dirty="0">
                <a:solidFill>
                  <a:srgbClr val="000000"/>
                </a:solidFill>
              </a:rPr>
              <a:t>Government actions in markets</a:t>
            </a:r>
            <a:endParaRPr kumimoji="0" lang="en-US" sz="2200" b="0" i="0" u="none" strike="noStrike" kern="0" cap="none" spc="0" normalizeH="0" baseline="0" noProof="0" dirty="0">
              <a:ln>
                <a:noFill/>
              </a:ln>
              <a:solidFill>
                <a:srgbClr val="000000"/>
              </a:solidFill>
              <a:effectLst/>
              <a:uLnTx/>
              <a:uFillTx/>
              <a:latin typeface="Arial"/>
              <a:ea typeface="+mn-ea"/>
              <a:cs typeface="+mn-cs"/>
            </a:endParaRPr>
          </a:p>
        </p:txBody>
      </p:sp>
      <p:sp>
        <p:nvSpPr>
          <p:cNvPr id="5" name="Title 1"/>
          <p:cNvSpPr txBox="1">
            <a:spLocks/>
          </p:cNvSpPr>
          <p:nvPr/>
        </p:nvSpPr>
        <p:spPr>
          <a:xfrm>
            <a:off x="407988" y="238125"/>
            <a:ext cx="8051800" cy="1531938"/>
          </a:xfrm>
          <a:prstGeom prst="rect">
            <a:avLst/>
          </a:prstGeom>
        </p:spPr>
        <p:txBody>
          <a:bodyPr/>
          <a:lstStyle>
            <a:lvl1pPr algn="ctr" rtl="0" eaLnBrk="0" fontAlgn="base" hangingPunct="0">
              <a:spcBef>
                <a:spcPct val="0"/>
              </a:spcBef>
              <a:spcAft>
                <a:spcPct val="0"/>
              </a:spcAft>
              <a:defRPr sz="3600" b="1">
                <a:solidFill>
                  <a:srgbClr val="007FA3"/>
                </a:solidFill>
                <a:latin typeface="+mj-lt"/>
                <a:ea typeface="+mj-ea"/>
                <a:cs typeface="+mj-cs"/>
              </a:defRPr>
            </a:lvl1pPr>
            <a:lvl2pPr algn="ctr" rtl="0" eaLnBrk="0" fontAlgn="base" hangingPunct="0">
              <a:spcBef>
                <a:spcPct val="0"/>
              </a:spcBef>
              <a:spcAft>
                <a:spcPct val="0"/>
              </a:spcAft>
              <a:defRPr sz="3600" b="1">
                <a:solidFill>
                  <a:srgbClr val="007FA3"/>
                </a:solidFill>
                <a:latin typeface="Arial" pitchFamily="34" charset="0"/>
              </a:defRPr>
            </a:lvl2pPr>
            <a:lvl3pPr algn="ctr" rtl="0" eaLnBrk="0" fontAlgn="base" hangingPunct="0">
              <a:spcBef>
                <a:spcPct val="0"/>
              </a:spcBef>
              <a:spcAft>
                <a:spcPct val="0"/>
              </a:spcAft>
              <a:defRPr sz="3600" b="1">
                <a:solidFill>
                  <a:srgbClr val="007FA3"/>
                </a:solidFill>
                <a:latin typeface="Arial" pitchFamily="34" charset="0"/>
              </a:defRPr>
            </a:lvl3pPr>
            <a:lvl4pPr algn="ctr" rtl="0" eaLnBrk="0" fontAlgn="base" hangingPunct="0">
              <a:spcBef>
                <a:spcPct val="0"/>
              </a:spcBef>
              <a:spcAft>
                <a:spcPct val="0"/>
              </a:spcAft>
              <a:defRPr sz="3600" b="1">
                <a:solidFill>
                  <a:srgbClr val="007FA3"/>
                </a:solidFill>
                <a:latin typeface="Arial" pitchFamily="34" charset="0"/>
              </a:defRPr>
            </a:lvl4pPr>
            <a:lvl5pPr algn="ctr" rtl="0" eaLnBrk="0" fontAlgn="base" hangingPunct="0">
              <a:spcBef>
                <a:spcPct val="0"/>
              </a:spcBef>
              <a:spcAft>
                <a:spcPct val="0"/>
              </a:spcAft>
              <a:defRPr sz="3600" b="1">
                <a:solidFill>
                  <a:srgbClr val="007FA3"/>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a:lstStyle>
          <a:p>
            <a:pPr lvl="0" algn="l">
              <a:spcBef>
                <a:spcPts val="600"/>
              </a:spcBef>
              <a:defRPr/>
            </a:pPr>
            <a:r>
              <a:rPr lang="en-US" kern="0" dirty="0"/>
              <a:t>Economics</a:t>
            </a:r>
          </a:p>
          <a:p>
            <a:pPr lvl="0" algn="l">
              <a:spcBef>
                <a:spcPts val="600"/>
              </a:spcBef>
              <a:defRPr/>
            </a:pPr>
            <a:r>
              <a:rPr kumimoji="0" lang="en-US" sz="2400" b="0" i="0" u="none" strike="noStrike" kern="0" cap="none" spc="0" normalizeH="0" baseline="0" noProof="0" dirty="0">
                <a:ln>
                  <a:noFill/>
                </a:ln>
                <a:solidFill>
                  <a:srgbClr val="007FA3"/>
                </a:solidFill>
                <a:effectLst/>
                <a:uLnTx/>
                <a:uFillTx/>
                <a:latin typeface="Arial"/>
                <a:ea typeface="+mj-ea"/>
                <a:cs typeface="+mj-cs"/>
              </a:rPr>
              <a:t>Eleventh European Edition</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9551" y="1312948"/>
            <a:ext cx="3600401" cy="4922808"/>
          </a:xfrm>
          <a:prstGeom prst="rect">
            <a:avLst/>
          </a:prstGeom>
          <a:noFill/>
          <a:effectLst>
            <a:outerShdw blurRad="50800" dist="38100" dir="2700000" algn="tl" rotWithShape="0">
              <a:prstClr val="black">
                <a:alpha val="40000"/>
              </a:prstClr>
            </a:outerShdw>
          </a:effectLst>
        </p:spPr>
      </p:pic>
      <p:sp>
        <p:nvSpPr>
          <p:cNvPr id="8" name="Text Placeholder 4"/>
          <p:cNvSpPr txBox="1">
            <a:spLocks/>
          </p:cNvSpPr>
          <p:nvPr/>
        </p:nvSpPr>
        <p:spPr bwMode="auto">
          <a:xfrm>
            <a:off x="4859412" y="1962150"/>
            <a:ext cx="3529012" cy="1046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342900" marR="0" lvl="0" indent="-342900" algn="l" defTabSz="914400" rtl="0" eaLnBrk="0" fontAlgn="base" latinLnBrk="0" hangingPunct="0">
              <a:lnSpc>
                <a:spcPct val="100000"/>
              </a:lnSpc>
              <a:spcBef>
                <a:spcPts val="1200"/>
              </a:spcBef>
              <a:spcAft>
                <a:spcPct val="0"/>
              </a:spcAft>
              <a:buClrTx/>
              <a:buSzTx/>
              <a:buFontTx/>
              <a:buNone/>
              <a:tabLst/>
              <a:defRPr/>
            </a:pPr>
            <a:r>
              <a:rPr kumimoji="0" lang="en-US" sz="3000" b="0" i="0" u="none" strike="noStrike" kern="0" cap="none" spc="0" normalizeH="0" baseline="0" noProof="0" dirty="0">
                <a:ln>
                  <a:noFill/>
                </a:ln>
                <a:solidFill>
                  <a:srgbClr val="000000"/>
                </a:solidFill>
                <a:effectLst/>
                <a:uLnTx/>
                <a:uFillTx/>
                <a:latin typeface="Arial"/>
                <a:ea typeface="+mn-ea"/>
                <a:cs typeface="+mn-cs"/>
              </a:rPr>
              <a:t>Part </a:t>
            </a:r>
            <a:r>
              <a:rPr lang="en-US" sz="3000" kern="0" dirty="0">
                <a:solidFill>
                  <a:srgbClr val="000000"/>
                </a:solidFill>
                <a:latin typeface="Arial"/>
              </a:rPr>
              <a:t>2</a:t>
            </a:r>
            <a:endParaRPr kumimoji="0" lang="en-US" sz="3000" b="0" i="0" u="none" strike="noStrike" kern="0" cap="none" spc="0" normalizeH="0" baseline="0" noProof="0" dirty="0">
              <a:ln>
                <a:noFill/>
              </a:ln>
              <a:solidFill>
                <a:srgbClr val="000000"/>
              </a:solidFill>
              <a:effectLst/>
              <a:uLnTx/>
              <a:uFillTx/>
              <a:latin typeface="Arial"/>
              <a:ea typeface="+mn-ea"/>
              <a:cs typeface="+mn-cs"/>
            </a:endParaRPr>
          </a:p>
          <a:p>
            <a:pPr marL="0" lvl="0" indent="0">
              <a:spcBef>
                <a:spcPts val="1200"/>
              </a:spcBef>
              <a:buNone/>
              <a:defRPr/>
            </a:pPr>
            <a:r>
              <a:rPr lang="en-US" sz="2200" kern="0" dirty="0">
                <a:solidFill>
                  <a:srgbClr val="000000"/>
                </a:solidFill>
              </a:rPr>
              <a:t>How markets work</a:t>
            </a:r>
            <a:endParaRPr kumimoji="0" lang="en-US" sz="2200" b="0" i="0" u="none" strike="noStrike" kern="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607155024"/>
      </p:ext>
    </p:extLst>
  </p:cSld>
  <p:clrMapOvr>
    <a:masterClrMapping/>
  </p:clrMapOvr>
  <p:transition spd="med">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29" name="Picture 4" descr="ch07openerNew.jpg">
            <a:extLst>
              <a:ext uri="{FF2B5EF4-FFF2-40B4-BE49-F238E27FC236}">
                <a16:creationId xmlns:a16="http://schemas.microsoft.com/office/drawing/2014/main" id="{762D3538-04B3-28FE-F8B9-9B14C9B0C2D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588"/>
            <a:ext cx="9144000" cy="685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0" name="Rectangle 3">
            <a:extLst>
              <a:ext uri="{FF2B5EF4-FFF2-40B4-BE49-F238E27FC236}">
                <a16:creationId xmlns:a16="http://schemas.microsoft.com/office/drawing/2014/main" id="{3E05DEE9-91A1-AFC0-FC83-70388A8B537A}"/>
              </a:ext>
            </a:extLst>
          </p:cNvPr>
          <p:cNvSpPr txBox="1">
            <a:spLocks noChangeArrowheads="1"/>
          </p:cNvSpPr>
          <p:nvPr/>
        </p:nvSpPr>
        <p:spPr bwMode="auto">
          <a:xfrm>
            <a:off x="838200" y="5516563"/>
            <a:ext cx="7620000"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Arial" panose="020B0604020202020204" pitchFamily="34" charset="0"/>
                <a:ea typeface="ＭＳ Ｐゴシック" panose="020B0600070205080204" pitchFamily="34" charset="-128"/>
              </a:defRPr>
            </a:lvl1pPr>
            <a:lvl2pPr marL="11430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lvl="1" eaLnBrk="1" hangingPunct="1">
              <a:lnSpc>
                <a:spcPts val="1500"/>
              </a:lnSpc>
              <a:spcBef>
                <a:spcPct val="20000"/>
              </a:spcBef>
              <a:spcAft>
                <a:spcPct val="50000"/>
              </a:spcAft>
            </a:pPr>
            <a:r>
              <a:rPr lang="en-CA" altLang="en-TW" b="1">
                <a:solidFill>
                  <a:srgbClr val="487A84"/>
                </a:solidFill>
                <a:latin typeface="Calibri" panose="020F0502020204030204" pitchFamily="34" charset="0"/>
              </a:rPr>
              <a:t>Can the President repeal the laws</a:t>
            </a:r>
          </a:p>
          <a:p>
            <a:pPr lvl="1" eaLnBrk="1" hangingPunct="1">
              <a:lnSpc>
                <a:spcPts val="1500"/>
              </a:lnSpc>
              <a:spcBef>
                <a:spcPct val="20000"/>
              </a:spcBef>
              <a:spcAft>
                <a:spcPct val="50000"/>
              </a:spcAft>
            </a:pPr>
            <a:r>
              <a:rPr lang="en-CA" altLang="en-TW" b="1">
                <a:solidFill>
                  <a:srgbClr val="487A84"/>
                </a:solidFill>
                <a:latin typeface="Calibri" panose="020F0502020204030204" pitchFamily="34" charset="0"/>
              </a:rPr>
              <a:t>of supply and demand?</a:t>
            </a:r>
            <a:endParaRPr lang="en-US" altLang="en-TW" b="1">
              <a:solidFill>
                <a:srgbClr val="487A84"/>
              </a:solidFill>
              <a:latin typeface="Calibri" panose="020F0502020204030204" pitchFamily="34" charset="0"/>
            </a:endParaRPr>
          </a:p>
        </p:txBody>
      </p:sp>
    </p:spTree>
  </p:cSld>
  <p:clrMapOvr>
    <a:masterClrMapping/>
  </p:clrMapOvr>
  <p:transition spd="slow">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3" name="Picture 7">
            <a:extLst>
              <a:ext uri="{FF2B5EF4-FFF2-40B4-BE49-F238E27FC236}">
                <a16:creationId xmlns:a16="http://schemas.microsoft.com/office/drawing/2014/main" id="{07086D55-2CD3-9854-3313-401C49D448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381000"/>
            <a:ext cx="8683625"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4" name="Text Box 5">
            <a:extLst>
              <a:ext uri="{FF2B5EF4-FFF2-40B4-BE49-F238E27FC236}">
                <a16:creationId xmlns:a16="http://schemas.microsoft.com/office/drawing/2014/main" id="{CA0B6556-3E23-F592-5F2C-08446CB5A44C}"/>
              </a:ext>
            </a:extLst>
          </p:cNvPr>
          <p:cNvSpPr txBox="1">
            <a:spLocks noChangeArrowheads="1"/>
          </p:cNvSpPr>
          <p:nvPr/>
        </p:nvSpPr>
        <p:spPr bwMode="auto">
          <a:xfrm>
            <a:off x="6172200" y="701675"/>
            <a:ext cx="1157288"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TW" sz="7200" b="1">
                <a:solidFill>
                  <a:schemeClr val="bg1"/>
                </a:solidFill>
              </a:rPr>
              <a:t>7</a:t>
            </a:r>
          </a:p>
        </p:txBody>
      </p:sp>
      <p:sp>
        <p:nvSpPr>
          <p:cNvPr id="733189" name="TextBox 6">
            <a:extLst>
              <a:ext uri="{FF2B5EF4-FFF2-40B4-BE49-F238E27FC236}">
                <a16:creationId xmlns:a16="http://schemas.microsoft.com/office/drawing/2014/main" id="{71BAE457-9051-975F-D74F-293AB56BBB51}"/>
              </a:ext>
            </a:extLst>
          </p:cNvPr>
          <p:cNvSpPr txBox="1">
            <a:spLocks noChangeArrowheads="1"/>
          </p:cNvSpPr>
          <p:nvPr/>
        </p:nvSpPr>
        <p:spPr bwMode="auto">
          <a:xfrm>
            <a:off x="225425" y="2362200"/>
            <a:ext cx="60991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CA" altLang="en-TW" b="1"/>
              <a:t>When you have completed your </a:t>
            </a:r>
            <a:br>
              <a:rPr lang="en-CA" altLang="en-TW" b="1"/>
            </a:br>
            <a:r>
              <a:rPr lang="en-CA" altLang="en-TW" b="1"/>
              <a:t>study of this chapter, you will be able to</a:t>
            </a:r>
          </a:p>
        </p:txBody>
      </p:sp>
      <p:sp>
        <p:nvSpPr>
          <p:cNvPr id="8" name="TextBox 7">
            <a:extLst>
              <a:ext uri="{FF2B5EF4-FFF2-40B4-BE49-F238E27FC236}">
                <a16:creationId xmlns:a16="http://schemas.microsoft.com/office/drawing/2014/main" id="{276A80E1-8F8A-6DDA-8DFD-9BC5DEDF5A06}"/>
              </a:ext>
            </a:extLst>
          </p:cNvPr>
          <p:cNvSpPr txBox="1">
            <a:spLocks noChangeArrowheads="1"/>
          </p:cNvSpPr>
          <p:nvPr/>
        </p:nvSpPr>
        <p:spPr bwMode="auto">
          <a:xfrm>
            <a:off x="225425" y="3489325"/>
            <a:ext cx="8686800" cy="315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defTabSz="114300" eaLnBrk="0" hangingPunct="0">
              <a:tabLst>
                <a:tab pos="400050" algn="l"/>
              </a:tabLst>
              <a:defRPr sz="2400">
                <a:solidFill>
                  <a:schemeClr val="tx1"/>
                </a:solidFill>
                <a:latin typeface="Arial" panose="020B0604020202020204" pitchFamily="34" charset="0"/>
                <a:ea typeface="ＭＳ Ｐゴシック" panose="020B0600070205080204" pitchFamily="34" charset="-128"/>
              </a:defRPr>
            </a:lvl1pPr>
            <a:lvl2pPr marL="114300" defTabSz="114300" eaLnBrk="0" hangingPunct="0">
              <a:tabLst>
                <a:tab pos="400050" algn="l"/>
              </a:tabLst>
              <a:defRPr sz="2400">
                <a:solidFill>
                  <a:schemeClr val="tx1"/>
                </a:solidFill>
                <a:latin typeface="Arial" panose="020B0604020202020204" pitchFamily="34" charset="0"/>
                <a:ea typeface="ＭＳ Ｐゴシック" panose="020B0600070205080204" pitchFamily="34" charset="-128"/>
              </a:defRPr>
            </a:lvl2pPr>
            <a:lvl3pPr marL="1143000" indent="-228600" defTabSz="114300" eaLnBrk="0" hangingPunct="0">
              <a:tabLst>
                <a:tab pos="400050" algn="l"/>
              </a:tabLst>
              <a:defRPr sz="2400">
                <a:solidFill>
                  <a:schemeClr val="tx1"/>
                </a:solidFill>
                <a:latin typeface="Arial" panose="020B0604020202020204" pitchFamily="34" charset="0"/>
                <a:ea typeface="ＭＳ Ｐゴシック" panose="020B0600070205080204" pitchFamily="34" charset="-128"/>
              </a:defRPr>
            </a:lvl3pPr>
            <a:lvl4pPr marL="1600200" indent="-228600" defTabSz="114300" eaLnBrk="0" hangingPunct="0">
              <a:tabLst>
                <a:tab pos="400050" algn="l"/>
              </a:tabLst>
              <a:defRPr sz="2400">
                <a:solidFill>
                  <a:schemeClr val="tx1"/>
                </a:solidFill>
                <a:latin typeface="Arial" panose="020B0604020202020204" pitchFamily="34" charset="0"/>
                <a:ea typeface="ＭＳ Ｐゴシック" panose="020B0600070205080204" pitchFamily="34" charset="-128"/>
              </a:defRPr>
            </a:lvl4pPr>
            <a:lvl5pPr marL="2057400" indent="-228600" defTabSz="114300" eaLnBrk="0" hangingPunct="0">
              <a:tabLst>
                <a:tab pos="400050" algn="l"/>
              </a:tabLst>
              <a:defRPr sz="2400">
                <a:solidFill>
                  <a:schemeClr val="tx1"/>
                </a:solidFill>
                <a:latin typeface="Arial" panose="020B0604020202020204" pitchFamily="34" charset="0"/>
                <a:ea typeface="ＭＳ Ｐゴシック" panose="020B0600070205080204" pitchFamily="34" charset="-128"/>
              </a:defRPr>
            </a:lvl5pPr>
            <a:lvl6pPr marL="2514600" indent="-228600" defTabSz="114300" eaLnBrk="0" fontAlgn="base" hangingPunct="0">
              <a:spcBef>
                <a:spcPct val="0"/>
              </a:spcBef>
              <a:spcAft>
                <a:spcPct val="0"/>
              </a:spcAft>
              <a:tabLst>
                <a:tab pos="400050" algn="l"/>
              </a:tabLst>
              <a:defRPr sz="2400">
                <a:solidFill>
                  <a:schemeClr val="tx1"/>
                </a:solidFill>
                <a:latin typeface="Arial" panose="020B0604020202020204" pitchFamily="34" charset="0"/>
                <a:ea typeface="ＭＳ Ｐゴシック" panose="020B0600070205080204" pitchFamily="34" charset="-128"/>
              </a:defRPr>
            </a:lvl6pPr>
            <a:lvl7pPr marL="2971800" indent="-228600" defTabSz="114300" eaLnBrk="0" fontAlgn="base" hangingPunct="0">
              <a:spcBef>
                <a:spcPct val="0"/>
              </a:spcBef>
              <a:spcAft>
                <a:spcPct val="0"/>
              </a:spcAft>
              <a:tabLst>
                <a:tab pos="400050" algn="l"/>
              </a:tabLst>
              <a:defRPr sz="2400">
                <a:solidFill>
                  <a:schemeClr val="tx1"/>
                </a:solidFill>
                <a:latin typeface="Arial" panose="020B0604020202020204" pitchFamily="34" charset="0"/>
                <a:ea typeface="ＭＳ Ｐゴシック" panose="020B0600070205080204" pitchFamily="34" charset="-128"/>
              </a:defRPr>
            </a:lvl7pPr>
            <a:lvl8pPr marL="3429000" indent="-228600" defTabSz="114300" eaLnBrk="0" fontAlgn="base" hangingPunct="0">
              <a:spcBef>
                <a:spcPct val="0"/>
              </a:spcBef>
              <a:spcAft>
                <a:spcPct val="0"/>
              </a:spcAft>
              <a:tabLst>
                <a:tab pos="400050" algn="l"/>
              </a:tabLst>
              <a:defRPr sz="2400">
                <a:solidFill>
                  <a:schemeClr val="tx1"/>
                </a:solidFill>
                <a:latin typeface="Arial" panose="020B0604020202020204" pitchFamily="34" charset="0"/>
                <a:ea typeface="ＭＳ Ｐゴシック" panose="020B0600070205080204" pitchFamily="34" charset="-128"/>
              </a:defRPr>
            </a:lvl8pPr>
            <a:lvl9pPr marL="3886200" indent="-228600" defTabSz="114300" eaLnBrk="0" fontAlgn="base" hangingPunct="0">
              <a:spcBef>
                <a:spcPct val="0"/>
              </a:spcBef>
              <a:spcAft>
                <a:spcPct val="0"/>
              </a:spcAft>
              <a:tabLst>
                <a:tab pos="400050" algn="l"/>
              </a:tabLst>
              <a:defRPr sz="2400">
                <a:solidFill>
                  <a:schemeClr val="tx1"/>
                </a:solidFill>
                <a:latin typeface="Arial" panose="020B0604020202020204" pitchFamily="34" charset="0"/>
                <a:ea typeface="ＭＳ Ｐゴシック" panose="020B0600070205080204" pitchFamily="34" charset="-128"/>
              </a:defRPr>
            </a:lvl9pPr>
          </a:lstStyle>
          <a:p>
            <a:pPr lvl="1" eaLnBrk="1" hangingPunct="1">
              <a:spcBef>
                <a:spcPct val="20000"/>
              </a:spcBef>
              <a:spcAft>
                <a:spcPct val="50000"/>
              </a:spcAft>
            </a:pPr>
            <a:r>
              <a:rPr lang="en-US" altLang="en-TW" b="1">
                <a:solidFill>
                  <a:srgbClr val="FF0000"/>
                </a:solidFill>
              </a:rPr>
              <a:t>1</a:t>
            </a:r>
            <a:r>
              <a:rPr lang="en-US" altLang="en-TW" b="1"/>
              <a:t> </a:t>
            </a:r>
            <a:r>
              <a:rPr lang="en-US" altLang="en-TW"/>
              <a:t>Explain how a price ceiling works and show how a rent 	ceiling creates a housing shortage, inefficiency, and 	unfairness.</a:t>
            </a:r>
          </a:p>
          <a:p>
            <a:pPr lvl="1" eaLnBrk="1" hangingPunct="1">
              <a:spcBef>
                <a:spcPct val="20000"/>
              </a:spcBef>
              <a:spcAft>
                <a:spcPct val="50000"/>
              </a:spcAft>
            </a:pPr>
            <a:r>
              <a:rPr lang="en-US" altLang="en-TW" b="1">
                <a:solidFill>
                  <a:srgbClr val="FF0000"/>
                </a:solidFill>
              </a:rPr>
              <a:t>2 </a:t>
            </a:r>
            <a:r>
              <a:rPr lang="en-US" altLang="en-TW"/>
              <a:t>Explain how a price floor works and show how the minimum 	wage creates unemployment, inefficiency, and unfairness.</a:t>
            </a:r>
          </a:p>
          <a:p>
            <a:pPr lvl="1" eaLnBrk="1" hangingPunct="1">
              <a:spcBef>
                <a:spcPct val="20000"/>
              </a:spcBef>
              <a:spcAft>
                <a:spcPct val="50000"/>
              </a:spcAft>
            </a:pPr>
            <a:r>
              <a:rPr lang="en-US" altLang="en-TW" b="1">
                <a:solidFill>
                  <a:srgbClr val="FF0000"/>
                </a:solidFill>
              </a:rPr>
              <a:t>3 </a:t>
            </a:r>
            <a:r>
              <a:rPr lang="en-US" altLang="en-TW"/>
              <a:t>Explain how a price support in the market for an agricultural 	product creates a surplus, inefficiency, and unfairness.</a:t>
            </a:r>
          </a:p>
        </p:txBody>
      </p:sp>
      <p:sp>
        <p:nvSpPr>
          <p:cNvPr id="23557" name="TextBox 9">
            <a:extLst>
              <a:ext uri="{FF2B5EF4-FFF2-40B4-BE49-F238E27FC236}">
                <a16:creationId xmlns:a16="http://schemas.microsoft.com/office/drawing/2014/main" id="{4A88545B-57A7-59A7-9306-113E4993B82C}"/>
              </a:ext>
            </a:extLst>
          </p:cNvPr>
          <p:cNvSpPr txBox="1">
            <a:spLocks noChangeArrowheads="1"/>
          </p:cNvSpPr>
          <p:nvPr/>
        </p:nvSpPr>
        <p:spPr bwMode="auto">
          <a:xfrm>
            <a:off x="5843588" y="2192338"/>
            <a:ext cx="2971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CA" altLang="en-TW" sz="1600">
                <a:solidFill>
                  <a:schemeClr val="bg1"/>
                </a:solidFill>
              </a:rPr>
              <a:t>CHAPTER CHECKLIST</a:t>
            </a:r>
          </a:p>
        </p:txBody>
      </p:sp>
      <p:sp>
        <p:nvSpPr>
          <p:cNvPr id="23558" name="Rectangle 1">
            <a:extLst>
              <a:ext uri="{FF2B5EF4-FFF2-40B4-BE49-F238E27FC236}">
                <a16:creationId xmlns:a16="http://schemas.microsoft.com/office/drawing/2014/main" id="{516F6B3D-000E-5038-382E-1817FF69A18A}"/>
              </a:ext>
            </a:extLst>
          </p:cNvPr>
          <p:cNvSpPr>
            <a:spLocks noChangeArrowheads="1"/>
          </p:cNvSpPr>
          <p:nvPr/>
        </p:nvSpPr>
        <p:spPr bwMode="auto">
          <a:xfrm>
            <a:off x="284163" y="1143000"/>
            <a:ext cx="370205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CA" altLang="en-TW" sz="2800" b="1"/>
              <a:t>Government Actions </a:t>
            </a:r>
            <a:br>
              <a:rPr lang="en-CA" altLang="en-TW" sz="2800" b="1"/>
            </a:br>
            <a:r>
              <a:rPr lang="en-CA" altLang="en-TW" sz="2800" b="1"/>
              <a:t>in Markets</a:t>
            </a:r>
            <a:endParaRPr lang="en-CA" altLang="en-TW" sz="2800">
              <a:solidFill>
                <a:srgbClr val="000000"/>
              </a:solidFill>
              <a:cs typeface="Arial" panose="020B0604020202020204" pitchFamily="34" charset="0"/>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33189"/>
                                        </p:tgtEl>
                                        <p:attrNameLst>
                                          <p:attrName>style.visibility</p:attrName>
                                        </p:attrNameLst>
                                      </p:cBhvr>
                                      <p:to>
                                        <p:strVal val="visible"/>
                                      </p:to>
                                    </p:set>
                                    <p:animEffect transition="in" filter="wipe(left)">
                                      <p:cBhvr>
                                        <p:cTn id="7" dur="500"/>
                                        <p:tgtEl>
                                          <p:spTgt spid="73318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wipe(left)">
                                      <p:cBhvr>
                                        <p:cTn id="12" dur="1000"/>
                                        <p:tgtEl>
                                          <p:spTgt spid="8">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wipe(left)">
                                      <p:cBhvr>
                                        <p:cTn id="17" dur="1000"/>
                                        <p:tgtEl>
                                          <p:spTgt spid="8">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8">
                                            <p:txEl>
                                              <p:pRg st="2" end="2"/>
                                            </p:txEl>
                                          </p:spTgt>
                                        </p:tgtEl>
                                        <p:attrNameLst>
                                          <p:attrName>style.visibility</p:attrName>
                                        </p:attrNameLst>
                                      </p:cBhvr>
                                      <p:to>
                                        <p:strVal val="visible"/>
                                      </p:to>
                                    </p:set>
                                    <p:animEffect transition="in" filter="wipe(left)">
                                      <p:cBhvr>
                                        <p:cTn id="22" dur="10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3189" grpId="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3379" name="Rectangle 3">
            <a:extLst>
              <a:ext uri="{FF2B5EF4-FFF2-40B4-BE49-F238E27FC236}">
                <a16:creationId xmlns:a16="http://schemas.microsoft.com/office/drawing/2014/main" id="{EC4EFC70-83E4-A55E-DBD0-876A680F4463}"/>
              </a:ext>
            </a:extLst>
          </p:cNvPr>
          <p:cNvSpPr>
            <a:spLocks noGrp="1" noChangeArrowheads="1"/>
          </p:cNvSpPr>
          <p:nvPr>
            <p:ph type="body" idx="1"/>
          </p:nvPr>
        </p:nvSpPr>
        <p:spPr>
          <a:xfrm>
            <a:off x="304800" y="2057400"/>
            <a:ext cx="8229600" cy="4267200"/>
          </a:xfrm>
        </p:spPr>
        <p:txBody>
          <a:bodyPr/>
          <a:lstStyle/>
          <a:p>
            <a:pPr marL="174625" lvl="1" eaLnBrk="1" hangingPunct="1">
              <a:defRPr/>
            </a:pPr>
            <a:r>
              <a:rPr lang="en-US">
                <a:solidFill>
                  <a:srgbClr val="000000"/>
                </a:solidFill>
              </a:rPr>
              <a:t>A</a:t>
            </a:r>
            <a:r>
              <a:rPr lang="en-US" sz="2600" b="1">
                <a:solidFill>
                  <a:srgbClr val="FF0000"/>
                </a:solidFill>
              </a:rPr>
              <a:t> price ceiling or price cap</a:t>
            </a:r>
            <a:r>
              <a:rPr lang="en-US" sz="2600">
                <a:solidFill>
                  <a:srgbClr val="FF0000"/>
                </a:solidFill>
              </a:rPr>
              <a:t> </a:t>
            </a:r>
            <a:r>
              <a:rPr lang="en-US">
                <a:solidFill>
                  <a:srgbClr val="000000"/>
                </a:solidFill>
              </a:rPr>
              <a:t>is a government regulation that places an </a:t>
            </a:r>
            <a:r>
              <a:rPr lang="en-US" i="1">
                <a:solidFill>
                  <a:srgbClr val="000000"/>
                </a:solidFill>
              </a:rPr>
              <a:t>upper</a:t>
            </a:r>
            <a:r>
              <a:rPr lang="en-US">
                <a:solidFill>
                  <a:srgbClr val="000000"/>
                </a:solidFill>
              </a:rPr>
              <a:t> limit on the price at which a particular good, service, or factor of production may be traded.</a:t>
            </a:r>
          </a:p>
          <a:p>
            <a:pPr marL="174625" lvl="1" eaLnBrk="1" hangingPunct="1">
              <a:defRPr/>
            </a:pPr>
            <a:r>
              <a:rPr lang="en-US">
                <a:solidFill>
                  <a:srgbClr val="000000"/>
                </a:solidFill>
              </a:rPr>
              <a:t>An example is a price ceiling on housing rents. </a:t>
            </a:r>
          </a:p>
          <a:p>
            <a:pPr marL="174625" lvl="1" eaLnBrk="1" hangingPunct="1">
              <a:defRPr/>
            </a:pPr>
            <a:r>
              <a:rPr lang="en-US">
                <a:solidFill>
                  <a:srgbClr val="000000"/>
                </a:solidFill>
              </a:rPr>
              <a:t>Trading </a:t>
            </a:r>
            <a:r>
              <a:rPr lang="en-US" i="1">
                <a:solidFill>
                  <a:srgbClr val="000000"/>
                </a:solidFill>
              </a:rPr>
              <a:t>above</a:t>
            </a:r>
            <a:r>
              <a:rPr lang="en-US">
                <a:solidFill>
                  <a:srgbClr val="000000"/>
                </a:solidFill>
              </a:rPr>
              <a:t> the price ceiling is </a:t>
            </a:r>
            <a:r>
              <a:rPr lang="en-US" i="1">
                <a:solidFill>
                  <a:srgbClr val="000000"/>
                </a:solidFill>
              </a:rPr>
              <a:t>illegal</a:t>
            </a:r>
            <a:r>
              <a:rPr lang="en-US">
                <a:solidFill>
                  <a:srgbClr val="000000"/>
                </a:solidFill>
              </a:rPr>
              <a:t>.</a:t>
            </a:r>
          </a:p>
        </p:txBody>
      </p:sp>
      <p:sp>
        <p:nvSpPr>
          <p:cNvPr id="34819" name="Rectangle 6">
            <a:extLst>
              <a:ext uri="{FF2B5EF4-FFF2-40B4-BE49-F238E27FC236}">
                <a16:creationId xmlns:a16="http://schemas.microsoft.com/office/drawing/2014/main" id="{6280926A-973A-A6AE-60CD-1B1DEC513276}"/>
              </a:ext>
            </a:extLst>
          </p:cNvPr>
          <p:cNvSpPr>
            <a:spLocks noGrp="1" noChangeArrowheads="1"/>
          </p:cNvSpPr>
          <p:nvPr>
            <p:ph type="title"/>
          </p:nvPr>
        </p:nvSpPr>
        <p:spPr>
          <a:xfrm>
            <a:off x="381000" y="990600"/>
            <a:ext cx="8229600" cy="533400"/>
          </a:xfrm>
        </p:spPr>
        <p:txBody>
          <a:bodyPr/>
          <a:lstStyle/>
          <a:p>
            <a:pPr eaLnBrk="1" hangingPunct="1">
              <a:defRPr/>
            </a:pPr>
            <a:r>
              <a:rPr lang="en-US"/>
              <a:t>7.1  PRICE CEILINGS</a:t>
            </a:r>
            <a:endParaRPr lang="en-CA"/>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3379">
                                            <p:txEl>
                                              <p:pRg st="0" end="0"/>
                                            </p:txEl>
                                          </p:spTgt>
                                        </p:tgtEl>
                                        <p:attrNameLst>
                                          <p:attrName>style.visibility</p:attrName>
                                        </p:attrNameLst>
                                      </p:cBhvr>
                                      <p:to>
                                        <p:strVal val="visible"/>
                                      </p:to>
                                    </p:set>
                                    <p:animEffect transition="in" filter="wipe(left)">
                                      <p:cBhvr>
                                        <p:cTn id="7" dur="500"/>
                                        <p:tgtEl>
                                          <p:spTgt spid="6133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13379">
                                            <p:txEl>
                                              <p:pRg st="1" end="1"/>
                                            </p:txEl>
                                          </p:spTgt>
                                        </p:tgtEl>
                                        <p:attrNameLst>
                                          <p:attrName>style.visibility</p:attrName>
                                        </p:attrNameLst>
                                      </p:cBhvr>
                                      <p:to>
                                        <p:strVal val="visible"/>
                                      </p:to>
                                    </p:set>
                                    <p:animEffect transition="in" filter="wipe(left)">
                                      <p:cBhvr>
                                        <p:cTn id="12" dur="500"/>
                                        <p:tgtEl>
                                          <p:spTgt spid="61337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13379">
                                            <p:txEl>
                                              <p:pRg st="2" end="2"/>
                                            </p:txEl>
                                          </p:spTgt>
                                        </p:tgtEl>
                                        <p:attrNameLst>
                                          <p:attrName>style.visibility</p:attrName>
                                        </p:attrNameLst>
                                      </p:cBhvr>
                                      <p:to>
                                        <p:strVal val="visible"/>
                                      </p:to>
                                    </p:set>
                                    <p:animEffect transition="in" filter="wipe(left)">
                                      <p:cBhvr>
                                        <p:cTn id="17" dur="500"/>
                                        <p:tgtEl>
                                          <p:spTgt spid="61337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3379" grpId="0" build="p" bldLvl="3"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038B5183-E433-E027-B8BC-E4375BCA709E}"/>
              </a:ext>
            </a:extLst>
          </p:cNvPr>
          <p:cNvSpPr>
            <a:spLocks noGrp="1" noChangeArrowheads="1"/>
          </p:cNvSpPr>
          <p:nvPr>
            <p:ph type="title"/>
          </p:nvPr>
        </p:nvSpPr>
        <p:spPr>
          <a:xfrm>
            <a:off x="381000" y="990600"/>
            <a:ext cx="8229600" cy="533400"/>
          </a:xfrm>
        </p:spPr>
        <p:txBody>
          <a:bodyPr/>
          <a:lstStyle/>
          <a:p>
            <a:pPr eaLnBrk="1" hangingPunct="1">
              <a:defRPr/>
            </a:pPr>
            <a:r>
              <a:rPr lang="en-US"/>
              <a:t>7.1  PRICE CEILINGS</a:t>
            </a:r>
            <a:endParaRPr lang="en-CA"/>
          </a:p>
        </p:txBody>
      </p:sp>
      <p:sp>
        <p:nvSpPr>
          <p:cNvPr id="614403" name="Rectangle 3">
            <a:extLst>
              <a:ext uri="{FF2B5EF4-FFF2-40B4-BE49-F238E27FC236}">
                <a16:creationId xmlns:a16="http://schemas.microsoft.com/office/drawing/2014/main" id="{20F6BB75-2D79-6432-63B8-88B3AFA3D267}"/>
              </a:ext>
            </a:extLst>
          </p:cNvPr>
          <p:cNvSpPr>
            <a:spLocks noGrp="1" noChangeArrowheads="1"/>
          </p:cNvSpPr>
          <p:nvPr>
            <p:ph type="body" idx="1"/>
          </p:nvPr>
        </p:nvSpPr>
        <p:spPr>
          <a:xfrm>
            <a:off x="304800" y="2514600"/>
            <a:ext cx="8229600" cy="3810000"/>
          </a:xfrm>
        </p:spPr>
        <p:txBody>
          <a:bodyPr/>
          <a:lstStyle/>
          <a:p>
            <a:pPr lvl="1" eaLnBrk="1" hangingPunct="1">
              <a:defRPr/>
            </a:pPr>
            <a:r>
              <a:rPr lang="en-US">
                <a:solidFill>
                  <a:srgbClr val="000000"/>
                </a:solidFill>
              </a:rPr>
              <a:t>A</a:t>
            </a:r>
            <a:r>
              <a:rPr lang="en-US" sz="2600" b="1">
                <a:solidFill>
                  <a:srgbClr val="FF0000"/>
                </a:solidFill>
              </a:rPr>
              <a:t> rent ceiling </a:t>
            </a:r>
            <a:r>
              <a:rPr lang="en-US"/>
              <a:t>is a regulation that makes it illegal to charge more than a specified rent for housing.</a:t>
            </a:r>
          </a:p>
          <a:p>
            <a:pPr lvl="1" eaLnBrk="1" hangingPunct="1">
              <a:defRPr/>
            </a:pPr>
            <a:r>
              <a:rPr lang="en-US"/>
              <a:t>The effect of a rent ceiling depends on whether it is imposed at a level above or below the market equilibrium rent.</a:t>
            </a:r>
          </a:p>
        </p:txBody>
      </p:sp>
      <p:sp>
        <p:nvSpPr>
          <p:cNvPr id="614404" name="Rectangle 4">
            <a:extLst>
              <a:ext uri="{FF2B5EF4-FFF2-40B4-BE49-F238E27FC236}">
                <a16:creationId xmlns:a16="http://schemas.microsoft.com/office/drawing/2014/main" id="{4D325155-D428-9DA3-FE00-B46D777C44C7}"/>
              </a:ext>
            </a:extLst>
          </p:cNvPr>
          <p:cNvSpPr>
            <a:spLocks noChangeArrowheads="1"/>
          </p:cNvSpPr>
          <p:nvPr/>
        </p:nvSpPr>
        <p:spPr bwMode="auto">
          <a:xfrm>
            <a:off x="381000" y="1828800"/>
            <a:ext cx="8229600"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indent="-342900">
              <a:spcBef>
                <a:spcPct val="20000"/>
              </a:spcBef>
              <a:buClr>
                <a:srgbClr val="00468F"/>
              </a:buClr>
              <a:buFont typeface="Webdings" charset="0"/>
              <a:buChar char="&lt;"/>
              <a:defRPr/>
            </a:pPr>
            <a:r>
              <a:rPr lang="en-US" sz="2800" b="1">
                <a:solidFill>
                  <a:srgbClr val="00468F"/>
                </a:solidFill>
                <a:latin typeface="Arial" charset="0"/>
                <a:ea typeface="ＭＳ Ｐゴシック" charset="0"/>
              </a:rPr>
              <a:t>A Rent Ceiling</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14404"/>
                                        </p:tgtEl>
                                        <p:attrNameLst>
                                          <p:attrName>style.visibility</p:attrName>
                                        </p:attrNameLst>
                                      </p:cBhvr>
                                      <p:to>
                                        <p:strVal val="visible"/>
                                      </p:to>
                                    </p:set>
                                    <p:animEffect transition="in" filter="wipe(left)">
                                      <p:cBhvr>
                                        <p:cTn id="7" dur="500"/>
                                        <p:tgtEl>
                                          <p:spTgt spid="61440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14403">
                                            <p:txEl>
                                              <p:pRg st="0" end="0"/>
                                            </p:txEl>
                                          </p:spTgt>
                                        </p:tgtEl>
                                        <p:attrNameLst>
                                          <p:attrName>style.visibility</p:attrName>
                                        </p:attrNameLst>
                                      </p:cBhvr>
                                      <p:to>
                                        <p:strVal val="visible"/>
                                      </p:to>
                                    </p:set>
                                    <p:animEffect transition="in" filter="wipe(left)">
                                      <p:cBhvr>
                                        <p:cTn id="12" dur="500"/>
                                        <p:tgtEl>
                                          <p:spTgt spid="61440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14403">
                                            <p:txEl>
                                              <p:pRg st="1" end="1"/>
                                            </p:txEl>
                                          </p:spTgt>
                                        </p:tgtEl>
                                        <p:attrNameLst>
                                          <p:attrName>style.visibility</p:attrName>
                                        </p:attrNameLst>
                                      </p:cBhvr>
                                      <p:to>
                                        <p:strVal val="visible"/>
                                      </p:to>
                                    </p:set>
                                    <p:animEffect transition="in" filter="wipe(left)">
                                      <p:cBhvr>
                                        <p:cTn id="17" dur="500"/>
                                        <p:tgtEl>
                                          <p:spTgt spid="61440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03" grpId="0" build="p" bldLvl="3" autoUpdateAnimBg="0"/>
      <p:bldP spid="614404"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6" name="Rectangle 13">
            <a:extLst>
              <a:ext uri="{FF2B5EF4-FFF2-40B4-BE49-F238E27FC236}">
                <a16:creationId xmlns:a16="http://schemas.microsoft.com/office/drawing/2014/main" id="{B835D3B4-173D-E887-8674-4A4182A2B4D3}"/>
              </a:ext>
            </a:extLst>
          </p:cNvPr>
          <p:cNvSpPr>
            <a:spLocks noGrp="1" noChangeArrowheads="1"/>
          </p:cNvSpPr>
          <p:nvPr>
            <p:ph type="title"/>
          </p:nvPr>
        </p:nvSpPr>
        <p:spPr>
          <a:xfrm>
            <a:off x="381000" y="990600"/>
            <a:ext cx="8229600" cy="533400"/>
          </a:xfrm>
        </p:spPr>
        <p:txBody>
          <a:bodyPr/>
          <a:lstStyle/>
          <a:p>
            <a:pPr eaLnBrk="1" hangingPunct="1">
              <a:defRPr/>
            </a:pPr>
            <a:r>
              <a:rPr lang="en-US"/>
              <a:t>7.1  PRICE CEILINGS</a:t>
            </a:r>
            <a:endParaRPr lang="en-CA"/>
          </a:p>
        </p:txBody>
      </p:sp>
      <p:sp>
        <p:nvSpPr>
          <p:cNvPr id="36867" name="Rectangle 14">
            <a:extLst>
              <a:ext uri="{FF2B5EF4-FFF2-40B4-BE49-F238E27FC236}">
                <a16:creationId xmlns:a16="http://schemas.microsoft.com/office/drawing/2014/main" id="{228180CD-6036-00EC-1635-C7190DF825F8}"/>
              </a:ext>
            </a:extLst>
          </p:cNvPr>
          <p:cNvSpPr>
            <a:spLocks noGrp="1" noChangeArrowheads="1"/>
          </p:cNvSpPr>
          <p:nvPr>
            <p:ph type="body" idx="1"/>
          </p:nvPr>
        </p:nvSpPr>
        <p:spPr>
          <a:xfrm>
            <a:off x="228600" y="1905000"/>
            <a:ext cx="3810000" cy="838200"/>
          </a:xfrm>
        </p:spPr>
        <p:txBody>
          <a:bodyPr/>
          <a:lstStyle/>
          <a:p>
            <a:pPr marL="0" indent="0" eaLnBrk="1" hangingPunct="1">
              <a:lnSpc>
                <a:spcPct val="110000"/>
              </a:lnSpc>
              <a:spcBef>
                <a:spcPct val="100000"/>
              </a:spcBef>
              <a:buClrTx/>
              <a:buFontTx/>
              <a:buNone/>
              <a:defRPr/>
            </a:pPr>
            <a:r>
              <a:rPr lang="en-US" sz="2400" b="0">
                <a:solidFill>
                  <a:schemeClr val="tx1"/>
                </a:solidFill>
              </a:rPr>
              <a:t>Figure 7.1 shows a housing market.</a:t>
            </a:r>
          </a:p>
        </p:txBody>
      </p:sp>
      <p:sp>
        <p:nvSpPr>
          <p:cNvPr id="459791" name="Rectangle 15">
            <a:extLst>
              <a:ext uri="{FF2B5EF4-FFF2-40B4-BE49-F238E27FC236}">
                <a16:creationId xmlns:a16="http://schemas.microsoft.com/office/drawing/2014/main" id="{F1C898CB-9241-EE5B-B550-A68CE50E10F9}"/>
              </a:ext>
            </a:extLst>
          </p:cNvPr>
          <p:cNvSpPr>
            <a:spLocks noChangeArrowheads="1"/>
          </p:cNvSpPr>
          <p:nvPr/>
        </p:nvSpPr>
        <p:spPr bwMode="auto">
          <a:xfrm>
            <a:off x="152400" y="2819400"/>
            <a:ext cx="4191000"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457200" indent="-457200">
              <a:lnSpc>
                <a:spcPct val="110000"/>
              </a:lnSpc>
              <a:spcBef>
                <a:spcPct val="100000"/>
              </a:spcBef>
              <a:defRPr/>
            </a:pPr>
            <a:r>
              <a:rPr lang="en-US" b="1">
                <a:latin typeface="Arial" charset="0"/>
                <a:ea typeface="ＭＳ Ｐゴシック" charset="0"/>
              </a:rPr>
              <a:t>1.</a:t>
            </a:r>
            <a:r>
              <a:rPr lang="en-US">
                <a:latin typeface="Arial" charset="0"/>
                <a:ea typeface="ＭＳ Ｐゴシック" charset="0"/>
              </a:rPr>
              <a:t> At the market equilibrium</a:t>
            </a:r>
          </a:p>
        </p:txBody>
      </p:sp>
      <p:sp>
        <p:nvSpPr>
          <p:cNvPr id="459796" name="Rectangle 20">
            <a:extLst>
              <a:ext uri="{FF2B5EF4-FFF2-40B4-BE49-F238E27FC236}">
                <a16:creationId xmlns:a16="http://schemas.microsoft.com/office/drawing/2014/main" id="{EC7D85BF-63CA-431B-12C3-3773E6D0193C}"/>
              </a:ext>
            </a:extLst>
          </p:cNvPr>
          <p:cNvSpPr>
            <a:spLocks noChangeArrowheads="1"/>
          </p:cNvSpPr>
          <p:nvPr/>
        </p:nvSpPr>
        <p:spPr bwMode="auto">
          <a:xfrm>
            <a:off x="381000" y="5410200"/>
            <a:ext cx="3962400" cy="1295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lnSpc>
                <a:spcPct val="110000"/>
              </a:lnSpc>
              <a:spcBef>
                <a:spcPct val="100000"/>
              </a:spcBef>
              <a:defRPr/>
            </a:pPr>
            <a:r>
              <a:rPr lang="en-US">
                <a:latin typeface="Arial" charset="0"/>
                <a:ea typeface="ＭＳ Ｐゴシック" charset="0"/>
              </a:rPr>
              <a:t>If a rent ceiling is set above $550 a month, nothing will change.</a:t>
            </a:r>
            <a:endParaRPr lang="en-CA" sz="2800" b="1">
              <a:solidFill>
                <a:srgbClr val="00468F"/>
              </a:solidFill>
              <a:latin typeface="Arial" charset="0"/>
              <a:ea typeface="ＭＳ Ｐゴシック" charset="0"/>
            </a:endParaRPr>
          </a:p>
        </p:txBody>
      </p:sp>
      <p:sp>
        <p:nvSpPr>
          <p:cNvPr id="459798" name="Rectangle 22">
            <a:extLst>
              <a:ext uri="{FF2B5EF4-FFF2-40B4-BE49-F238E27FC236}">
                <a16:creationId xmlns:a16="http://schemas.microsoft.com/office/drawing/2014/main" id="{93C720A7-EE0C-DA52-7140-74AA000B3C64}"/>
              </a:ext>
            </a:extLst>
          </p:cNvPr>
          <p:cNvSpPr>
            <a:spLocks noChangeArrowheads="1"/>
          </p:cNvSpPr>
          <p:nvPr/>
        </p:nvSpPr>
        <p:spPr bwMode="auto">
          <a:xfrm>
            <a:off x="0" y="3429000"/>
            <a:ext cx="3962400" cy="990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457200" indent="-457200">
              <a:lnSpc>
                <a:spcPct val="110000"/>
              </a:lnSpc>
              <a:spcBef>
                <a:spcPct val="100000"/>
              </a:spcBef>
              <a:defRPr/>
            </a:pPr>
            <a:r>
              <a:rPr lang="en-US" b="1">
                <a:latin typeface="Arial" charset="0"/>
                <a:ea typeface="ＭＳ Ｐゴシック" charset="0"/>
              </a:rPr>
              <a:t> 2. </a:t>
            </a:r>
            <a:r>
              <a:rPr lang="en-US">
                <a:latin typeface="Arial" charset="0"/>
                <a:ea typeface="ＭＳ Ｐゴシック" charset="0"/>
              </a:rPr>
              <a:t>The equilibrium rent is $550 a month and</a:t>
            </a:r>
          </a:p>
        </p:txBody>
      </p:sp>
      <p:sp>
        <p:nvSpPr>
          <p:cNvPr id="459799" name="Rectangle 23">
            <a:extLst>
              <a:ext uri="{FF2B5EF4-FFF2-40B4-BE49-F238E27FC236}">
                <a16:creationId xmlns:a16="http://schemas.microsoft.com/office/drawing/2014/main" id="{95C068A6-A4F0-00A6-92CF-514F6E184F00}"/>
              </a:ext>
            </a:extLst>
          </p:cNvPr>
          <p:cNvSpPr>
            <a:spLocks noChangeArrowheads="1"/>
          </p:cNvSpPr>
          <p:nvPr/>
        </p:nvSpPr>
        <p:spPr bwMode="auto">
          <a:xfrm>
            <a:off x="76200" y="4343400"/>
            <a:ext cx="4267200" cy="990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98463" indent="-398463">
              <a:lnSpc>
                <a:spcPct val="110000"/>
              </a:lnSpc>
              <a:spcBef>
                <a:spcPct val="100000"/>
              </a:spcBef>
              <a:defRPr/>
            </a:pPr>
            <a:r>
              <a:rPr lang="en-US" b="1">
                <a:latin typeface="Arial" charset="0"/>
                <a:ea typeface="ＭＳ Ｐゴシック" charset="0"/>
              </a:rPr>
              <a:t>3.</a:t>
            </a:r>
            <a:r>
              <a:rPr lang="en-US">
                <a:latin typeface="Arial" charset="0"/>
                <a:ea typeface="ＭＳ Ｐゴシック" charset="0"/>
              </a:rPr>
              <a:t> The equilibrium quantity is 4,000 units of housing.</a:t>
            </a:r>
            <a:endParaRPr lang="en-CA" sz="2800" b="1">
              <a:solidFill>
                <a:srgbClr val="00468F"/>
              </a:solidFill>
              <a:latin typeface="Arial" charset="0"/>
              <a:ea typeface="ＭＳ Ｐゴシック" charset="0"/>
            </a:endParaRPr>
          </a:p>
        </p:txBody>
      </p:sp>
      <p:pic>
        <p:nvPicPr>
          <p:cNvPr id="29703" name="Picture 5" descr="fig0701a.gif">
            <a:extLst>
              <a:ext uri="{FF2B5EF4-FFF2-40B4-BE49-F238E27FC236}">
                <a16:creationId xmlns:a16="http://schemas.microsoft.com/office/drawing/2014/main" id="{7A9EC996-8F8F-C8A2-404D-607BECF3ADF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343400" y="1828800"/>
            <a:ext cx="4602163"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descr="fig0701b.gif">
            <a:extLst>
              <a:ext uri="{FF2B5EF4-FFF2-40B4-BE49-F238E27FC236}">
                <a16:creationId xmlns:a16="http://schemas.microsoft.com/office/drawing/2014/main" id="{D0B55663-E2F6-8E5D-464C-46D63BC0FD2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343400" y="1828800"/>
            <a:ext cx="4602163"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descr="fig0701c.gif">
            <a:extLst>
              <a:ext uri="{FF2B5EF4-FFF2-40B4-BE49-F238E27FC236}">
                <a16:creationId xmlns:a16="http://schemas.microsoft.com/office/drawing/2014/main" id="{620FC289-4288-6CE5-BEAB-B3A69385FCBD}"/>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343400" y="1828800"/>
            <a:ext cx="4602163"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descr="fig0701d.gif">
            <a:extLst>
              <a:ext uri="{FF2B5EF4-FFF2-40B4-BE49-F238E27FC236}">
                <a16:creationId xmlns:a16="http://schemas.microsoft.com/office/drawing/2014/main" id="{E4992189-21B0-2F83-D379-104C59688020}"/>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343400" y="1828800"/>
            <a:ext cx="4602163"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59791"/>
                                        </p:tgtEl>
                                        <p:attrNameLst>
                                          <p:attrName>style.visibility</p:attrName>
                                        </p:attrNameLst>
                                      </p:cBhvr>
                                      <p:to>
                                        <p:strVal val="visible"/>
                                      </p:to>
                                    </p:set>
                                    <p:animEffect transition="in" filter="wipe(left)">
                                      <p:cBhvr>
                                        <p:cTn id="7" dur="500"/>
                                        <p:tgtEl>
                                          <p:spTgt spid="459791"/>
                                        </p:tgtEl>
                                      </p:cBhvr>
                                    </p:animEffect>
                                  </p:childTnLst>
                                </p:cTn>
                              </p:par>
                            </p:childTnLst>
                          </p:cTn>
                        </p:par>
                        <p:par>
                          <p:cTn id="8" fill="hold" nodeType="afterGroup">
                            <p:stCondLst>
                              <p:cond delay="500"/>
                            </p:stCondLst>
                            <p:childTnLst>
                              <p:par>
                                <p:cTn id="9" presetID="10"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459798"/>
                                        </p:tgtEl>
                                        <p:attrNameLst>
                                          <p:attrName>style.visibility</p:attrName>
                                        </p:attrNameLst>
                                      </p:cBhvr>
                                      <p:to>
                                        <p:strVal val="visible"/>
                                      </p:to>
                                    </p:set>
                                    <p:animEffect transition="in" filter="wipe(left)">
                                      <p:cBhvr>
                                        <p:cTn id="16" dur="500"/>
                                        <p:tgtEl>
                                          <p:spTgt spid="459798"/>
                                        </p:tgtEl>
                                      </p:cBhvr>
                                    </p:animEffect>
                                  </p:childTnLst>
                                </p:cTn>
                              </p:par>
                            </p:childTnLst>
                          </p:cTn>
                        </p:par>
                        <p:par>
                          <p:cTn id="17" fill="hold" nodeType="afterGroup">
                            <p:stCondLst>
                              <p:cond delay="500"/>
                            </p:stCondLst>
                            <p:childTnLst>
                              <p:par>
                                <p:cTn id="18" presetID="10" presetClass="entr" presetSubtype="0" fill="hold"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459799"/>
                                        </p:tgtEl>
                                        <p:attrNameLst>
                                          <p:attrName>style.visibility</p:attrName>
                                        </p:attrNameLst>
                                      </p:cBhvr>
                                      <p:to>
                                        <p:strVal val="visible"/>
                                      </p:to>
                                    </p:set>
                                    <p:animEffect transition="in" filter="wipe(left)">
                                      <p:cBhvr>
                                        <p:cTn id="25" dur="500"/>
                                        <p:tgtEl>
                                          <p:spTgt spid="459799"/>
                                        </p:tgtEl>
                                      </p:cBhvr>
                                    </p:animEffect>
                                  </p:childTnLst>
                                </p:cTn>
                              </p:par>
                            </p:childTnLst>
                          </p:cTn>
                        </p:par>
                        <p:par>
                          <p:cTn id="26" fill="hold" nodeType="afterGroup">
                            <p:stCondLst>
                              <p:cond delay="500"/>
                            </p:stCondLst>
                            <p:childTnLst>
                              <p:par>
                                <p:cTn id="27" presetID="10" presetClass="entr" presetSubtype="0" fill="hold" nodeType="after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459796"/>
                                        </p:tgtEl>
                                        <p:attrNameLst>
                                          <p:attrName>style.visibility</p:attrName>
                                        </p:attrNameLst>
                                      </p:cBhvr>
                                      <p:to>
                                        <p:strVal val="visible"/>
                                      </p:to>
                                    </p:set>
                                    <p:animEffect transition="in" filter="wipe(left)">
                                      <p:cBhvr>
                                        <p:cTn id="34" dur="500"/>
                                        <p:tgtEl>
                                          <p:spTgt spid="4597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9791" grpId="0" autoUpdateAnimBg="0"/>
      <p:bldP spid="459796" grpId="0" autoUpdateAnimBg="0"/>
      <p:bldP spid="459798" grpId="0" autoUpdateAnimBg="0"/>
      <p:bldP spid="459799"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1745" name="Picture 5" descr="fig0701a.gif">
            <a:extLst>
              <a:ext uri="{FF2B5EF4-FFF2-40B4-BE49-F238E27FC236}">
                <a16:creationId xmlns:a16="http://schemas.microsoft.com/office/drawing/2014/main" id="{6023261F-EFAE-31F5-E11E-8BD706C317E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533400"/>
            <a:ext cx="5648325" cy="576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descr="fig0701b.gif">
            <a:extLst>
              <a:ext uri="{FF2B5EF4-FFF2-40B4-BE49-F238E27FC236}">
                <a16:creationId xmlns:a16="http://schemas.microsoft.com/office/drawing/2014/main" id="{91AA74BD-1592-2865-8F38-A0794751F0C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533400"/>
            <a:ext cx="5648325" cy="576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descr="fig0701c.gif">
            <a:extLst>
              <a:ext uri="{FF2B5EF4-FFF2-40B4-BE49-F238E27FC236}">
                <a16:creationId xmlns:a16="http://schemas.microsoft.com/office/drawing/2014/main" id="{B8716597-E7A2-4E03-12D0-E1CDE8A67EFB}"/>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905000" y="533400"/>
            <a:ext cx="5648325" cy="576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descr="fig0701d.gif">
            <a:extLst>
              <a:ext uri="{FF2B5EF4-FFF2-40B4-BE49-F238E27FC236}">
                <a16:creationId xmlns:a16="http://schemas.microsoft.com/office/drawing/2014/main" id="{D15294DB-395B-E787-E8DC-BA81078F8F9D}"/>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905000" y="533400"/>
            <a:ext cx="5648325" cy="576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1835" name="Text Box 11">
            <a:extLst>
              <a:ext uri="{FF2B5EF4-FFF2-40B4-BE49-F238E27FC236}">
                <a16:creationId xmlns:a16="http://schemas.microsoft.com/office/drawing/2014/main" id="{4820A3E1-747D-9D8A-822A-BE104EB7CF3D}"/>
              </a:ext>
            </a:extLst>
          </p:cNvPr>
          <p:cNvSpPr txBox="1">
            <a:spLocks noChangeArrowheads="1"/>
          </p:cNvSpPr>
          <p:nvPr/>
        </p:nvSpPr>
        <p:spPr bwMode="auto">
          <a:xfrm>
            <a:off x="136525" y="2590800"/>
            <a:ext cx="4435475" cy="11874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sz="2400">
                <a:solidFill>
                  <a:schemeClr val="tx1"/>
                </a:solidFill>
                <a:latin typeface="Arial" charset="0"/>
                <a:ea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defRPr/>
            </a:pPr>
            <a:r>
              <a:rPr lang="en-US">
                <a:solidFill>
                  <a:srgbClr val="000000"/>
                </a:solidFill>
              </a:rPr>
              <a:t>A rent ceiling is imposed at $400 a month, which is</a:t>
            </a:r>
            <a:r>
              <a:rPr lang="en-US"/>
              <a:t> </a:t>
            </a:r>
            <a:r>
              <a:rPr lang="en-US">
                <a:solidFill>
                  <a:srgbClr val="000000"/>
                </a:solidFill>
              </a:rPr>
              <a:t>below the market equilibrium rent.</a:t>
            </a:r>
          </a:p>
        </p:txBody>
      </p:sp>
      <p:sp>
        <p:nvSpPr>
          <p:cNvPr id="461836" name="Text Box 12">
            <a:extLst>
              <a:ext uri="{FF2B5EF4-FFF2-40B4-BE49-F238E27FC236}">
                <a16:creationId xmlns:a16="http://schemas.microsoft.com/office/drawing/2014/main" id="{358CDF74-9A3A-134C-FEFF-F9F4FC5FA2F4}"/>
              </a:ext>
            </a:extLst>
          </p:cNvPr>
          <p:cNvSpPr txBox="1">
            <a:spLocks noChangeArrowheads="1"/>
          </p:cNvSpPr>
          <p:nvPr/>
        </p:nvSpPr>
        <p:spPr bwMode="auto">
          <a:xfrm>
            <a:off x="136525" y="3810000"/>
            <a:ext cx="4283075" cy="11874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342900" indent="-342900" eaLnBrk="0" hangingPunct="0">
              <a:tabLst>
                <a:tab pos="282575" algn="l"/>
              </a:tabLst>
              <a:defRPr sz="2400">
                <a:solidFill>
                  <a:schemeClr val="tx1"/>
                </a:solidFill>
                <a:latin typeface="Arial" charset="0"/>
                <a:ea typeface="ＭＳ Ｐゴシック" charset="0"/>
              </a:defRPr>
            </a:lvl1pPr>
            <a:lvl2pPr marL="742950" indent="-285750" eaLnBrk="0" hangingPunct="0">
              <a:tabLst>
                <a:tab pos="282575" algn="l"/>
              </a:tabLst>
              <a:defRPr sz="2400">
                <a:solidFill>
                  <a:schemeClr val="tx1"/>
                </a:solidFill>
                <a:latin typeface="Arial" charset="0"/>
                <a:ea typeface="ＭＳ Ｐゴシック" charset="0"/>
              </a:defRPr>
            </a:lvl2pPr>
            <a:lvl3pPr marL="1143000" indent="-228600" eaLnBrk="0" hangingPunct="0">
              <a:tabLst>
                <a:tab pos="282575" algn="l"/>
              </a:tabLst>
              <a:defRPr sz="2400">
                <a:solidFill>
                  <a:schemeClr val="tx1"/>
                </a:solidFill>
                <a:latin typeface="Arial" charset="0"/>
                <a:ea typeface="ＭＳ Ｐゴシック" charset="0"/>
              </a:defRPr>
            </a:lvl3pPr>
            <a:lvl4pPr marL="1600200" indent="-228600" eaLnBrk="0" hangingPunct="0">
              <a:tabLst>
                <a:tab pos="282575" algn="l"/>
              </a:tabLst>
              <a:defRPr sz="2400">
                <a:solidFill>
                  <a:schemeClr val="tx1"/>
                </a:solidFill>
                <a:latin typeface="Arial" charset="0"/>
                <a:ea typeface="ＭＳ Ｐゴシック" charset="0"/>
              </a:defRPr>
            </a:lvl4pPr>
            <a:lvl5pPr marL="2057400" indent="-228600" eaLnBrk="0" hangingPunct="0">
              <a:tabLst>
                <a:tab pos="282575" algn="l"/>
              </a:tabLst>
              <a:defRPr sz="2400">
                <a:solidFill>
                  <a:schemeClr val="tx1"/>
                </a:solidFill>
                <a:latin typeface="Arial" charset="0"/>
                <a:ea typeface="ＭＳ Ｐゴシック" charset="0"/>
              </a:defRPr>
            </a:lvl5pPr>
            <a:lvl6pPr marL="2514600" indent="-228600" eaLnBrk="0" fontAlgn="base" hangingPunct="0">
              <a:spcBef>
                <a:spcPct val="0"/>
              </a:spcBef>
              <a:spcAft>
                <a:spcPct val="0"/>
              </a:spcAft>
              <a:tabLst>
                <a:tab pos="282575" algn="l"/>
              </a:tabLst>
              <a:defRPr sz="2400">
                <a:solidFill>
                  <a:schemeClr val="tx1"/>
                </a:solidFill>
                <a:latin typeface="Arial" charset="0"/>
                <a:ea typeface="ＭＳ Ｐゴシック" charset="0"/>
              </a:defRPr>
            </a:lvl6pPr>
            <a:lvl7pPr marL="2971800" indent="-228600" eaLnBrk="0" fontAlgn="base" hangingPunct="0">
              <a:spcBef>
                <a:spcPct val="0"/>
              </a:spcBef>
              <a:spcAft>
                <a:spcPct val="0"/>
              </a:spcAft>
              <a:tabLst>
                <a:tab pos="282575" algn="l"/>
              </a:tabLst>
              <a:defRPr sz="2400">
                <a:solidFill>
                  <a:schemeClr val="tx1"/>
                </a:solidFill>
                <a:latin typeface="Arial" charset="0"/>
                <a:ea typeface="ＭＳ Ｐゴシック" charset="0"/>
              </a:defRPr>
            </a:lvl7pPr>
            <a:lvl8pPr marL="3429000" indent="-228600" eaLnBrk="0" fontAlgn="base" hangingPunct="0">
              <a:spcBef>
                <a:spcPct val="0"/>
              </a:spcBef>
              <a:spcAft>
                <a:spcPct val="0"/>
              </a:spcAft>
              <a:tabLst>
                <a:tab pos="282575" algn="l"/>
              </a:tabLst>
              <a:defRPr sz="2400">
                <a:solidFill>
                  <a:schemeClr val="tx1"/>
                </a:solidFill>
                <a:latin typeface="Arial" charset="0"/>
                <a:ea typeface="ＭＳ Ｐゴシック" charset="0"/>
              </a:defRPr>
            </a:lvl8pPr>
            <a:lvl9pPr marL="3886200" indent="-228600" eaLnBrk="0" fontAlgn="base" hangingPunct="0">
              <a:spcBef>
                <a:spcPct val="0"/>
              </a:spcBef>
              <a:spcAft>
                <a:spcPct val="0"/>
              </a:spcAft>
              <a:tabLst>
                <a:tab pos="282575" algn="l"/>
              </a:tabLst>
              <a:defRPr sz="2400">
                <a:solidFill>
                  <a:schemeClr val="tx1"/>
                </a:solidFill>
                <a:latin typeface="Arial" charset="0"/>
                <a:ea typeface="ＭＳ Ｐゴシック" charset="0"/>
              </a:defRPr>
            </a:lvl9pPr>
          </a:lstStyle>
          <a:p>
            <a:pPr eaLnBrk="1" hangingPunct="1">
              <a:defRPr/>
            </a:pPr>
            <a:r>
              <a:rPr lang="en-US" b="1"/>
              <a:t>1.</a:t>
            </a:r>
            <a:r>
              <a:rPr lang="en-US"/>
              <a:t> </a:t>
            </a:r>
            <a:r>
              <a:rPr lang="en-US">
                <a:solidFill>
                  <a:srgbClr val="000000"/>
                </a:solidFill>
              </a:rPr>
              <a:t>The quantity of housing supplied decreases to 3,000 units.</a:t>
            </a:r>
          </a:p>
        </p:txBody>
      </p:sp>
      <p:sp>
        <p:nvSpPr>
          <p:cNvPr id="461837" name="Text Box 13">
            <a:extLst>
              <a:ext uri="{FF2B5EF4-FFF2-40B4-BE49-F238E27FC236}">
                <a16:creationId xmlns:a16="http://schemas.microsoft.com/office/drawing/2014/main" id="{B3BC6C4D-5999-63D5-2105-00FC483BCBBE}"/>
              </a:ext>
            </a:extLst>
          </p:cNvPr>
          <p:cNvSpPr txBox="1">
            <a:spLocks noChangeArrowheads="1"/>
          </p:cNvSpPr>
          <p:nvPr/>
        </p:nvSpPr>
        <p:spPr bwMode="auto">
          <a:xfrm>
            <a:off x="136525" y="4953000"/>
            <a:ext cx="4435475" cy="11874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342900" indent="-342900" eaLnBrk="0" hangingPunct="0">
              <a:defRPr sz="2400">
                <a:solidFill>
                  <a:schemeClr val="tx1"/>
                </a:solidFill>
                <a:latin typeface="Arial" charset="0"/>
                <a:ea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defRPr/>
            </a:pPr>
            <a:r>
              <a:rPr lang="en-US" b="1"/>
              <a:t>2.</a:t>
            </a:r>
            <a:r>
              <a:rPr lang="en-US"/>
              <a:t> </a:t>
            </a:r>
            <a:r>
              <a:rPr lang="en-US">
                <a:solidFill>
                  <a:srgbClr val="000000"/>
                </a:solidFill>
              </a:rPr>
              <a:t>The quantity of housing demanded increases to 6,000 units.</a:t>
            </a:r>
          </a:p>
        </p:txBody>
      </p:sp>
      <p:sp>
        <p:nvSpPr>
          <p:cNvPr id="461838" name="Text Box 14">
            <a:extLst>
              <a:ext uri="{FF2B5EF4-FFF2-40B4-BE49-F238E27FC236}">
                <a16:creationId xmlns:a16="http://schemas.microsoft.com/office/drawing/2014/main" id="{ADA97E85-E916-BB0B-62B1-2208276B95E2}"/>
              </a:ext>
            </a:extLst>
          </p:cNvPr>
          <p:cNvSpPr txBox="1">
            <a:spLocks noChangeArrowheads="1"/>
          </p:cNvSpPr>
          <p:nvPr/>
        </p:nvSpPr>
        <p:spPr bwMode="auto">
          <a:xfrm>
            <a:off x="136525" y="6172200"/>
            <a:ext cx="4894263"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2400">
                <a:solidFill>
                  <a:schemeClr val="tx1"/>
                </a:solidFill>
                <a:latin typeface="Arial" charset="0"/>
                <a:ea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defRPr/>
            </a:pPr>
            <a:r>
              <a:rPr lang="en-US" b="1"/>
              <a:t>3.</a:t>
            </a:r>
            <a:r>
              <a:rPr lang="en-US"/>
              <a:t> </a:t>
            </a:r>
            <a:r>
              <a:rPr lang="en-US">
                <a:solidFill>
                  <a:srgbClr val="000000"/>
                </a:solidFill>
              </a:rPr>
              <a:t>A shortage of 3,000 units arises.</a:t>
            </a:r>
            <a:endParaRPr lang="en-US">
              <a:solidFill>
                <a:srgbClr val="000000"/>
              </a:solidFill>
              <a:latin typeface="Charcoal" charset="0"/>
            </a:endParaRPr>
          </a:p>
        </p:txBody>
      </p:sp>
      <p:sp>
        <p:nvSpPr>
          <p:cNvPr id="38918" name="Rectangle 17">
            <a:extLst>
              <a:ext uri="{FF2B5EF4-FFF2-40B4-BE49-F238E27FC236}">
                <a16:creationId xmlns:a16="http://schemas.microsoft.com/office/drawing/2014/main" id="{41977E6F-68FE-5607-F0D2-77426229299D}"/>
              </a:ext>
            </a:extLst>
          </p:cNvPr>
          <p:cNvSpPr>
            <a:spLocks noGrp="1" noChangeArrowheads="1"/>
          </p:cNvSpPr>
          <p:nvPr>
            <p:ph type="title"/>
          </p:nvPr>
        </p:nvSpPr>
        <p:spPr>
          <a:xfrm>
            <a:off x="381000" y="990600"/>
            <a:ext cx="8229600" cy="533400"/>
          </a:xfrm>
        </p:spPr>
        <p:txBody>
          <a:bodyPr/>
          <a:lstStyle/>
          <a:p>
            <a:pPr eaLnBrk="1" hangingPunct="1">
              <a:defRPr/>
            </a:pPr>
            <a:r>
              <a:rPr lang="en-US"/>
              <a:t>7.1  PRICE CEILINGS</a:t>
            </a:r>
            <a:endParaRPr lang="en-CA"/>
          </a:p>
        </p:txBody>
      </p:sp>
      <p:sp>
        <p:nvSpPr>
          <p:cNvPr id="38919" name="Rectangle 18">
            <a:extLst>
              <a:ext uri="{FF2B5EF4-FFF2-40B4-BE49-F238E27FC236}">
                <a16:creationId xmlns:a16="http://schemas.microsoft.com/office/drawing/2014/main" id="{F09EDE10-EDCA-42AE-8D43-68BAEB2908F8}"/>
              </a:ext>
            </a:extLst>
          </p:cNvPr>
          <p:cNvSpPr>
            <a:spLocks noGrp="1" noChangeArrowheads="1"/>
          </p:cNvSpPr>
          <p:nvPr>
            <p:ph type="body" idx="1"/>
          </p:nvPr>
        </p:nvSpPr>
        <p:spPr>
          <a:xfrm>
            <a:off x="136525" y="1771650"/>
            <a:ext cx="4648200" cy="742950"/>
          </a:xfrm>
        </p:spPr>
        <p:txBody>
          <a:bodyPr/>
          <a:lstStyle/>
          <a:p>
            <a:pPr marL="0" indent="0" eaLnBrk="1" hangingPunct="1">
              <a:lnSpc>
                <a:spcPct val="90000"/>
              </a:lnSpc>
              <a:spcBef>
                <a:spcPct val="0"/>
              </a:spcBef>
              <a:buClrTx/>
              <a:buFontTx/>
              <a:buNone/>
              <a:defRPr/>
            </a:pPr>
            <a:r>
              <a:rPr lang="en-US" sz="2400" b="0">
                <a:solidFill>
                  <a:schemeClr val="tx1"/>
                </a:solidFill>
              </a:rPr>
              <a:t>Figure 7.2 shows how a rent ceiling creates a shortage.</a:t>
            </a:r>
            <a:endParaRPr lang="en-CA" sz="2400" b="0"/>
          </a:p>
        </p:txBody>
      </p:sp>
      <p:pic>
        <p:nvPicPr>
          <p:cNvPr id="33799" name="Picture 7" descr="fig0702aa.gif">
            <a:extLst>
              <a:ext uri="{FF2B5EF4-FFF2-40B4-BE49-F238E27FC236}">
                <a16:creationId xmlns:a16="http://schemas.microsoft.com/office/drawing/2014/main" id="{81E5290B-4704-D317-2910-4082E4A63FD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389438" y="1628775"/>
            <a:ext cx="4602162"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descr="fig0702a.gif">
            <a:extLst>
              <a:ext uri="{FF2B5EF4-FFF2-40B4-BE49-F238E27FC236}">
                <a16:creationId xmlns:a16="http://schemas.microsoft.com/office/drawing/2014/main" id="{8BF5F760-A58D-29E1-BDB8-944274C9797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389438" y="1628775"/>
            <a:ext cx="4602162"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fig0702b.gif">
            <a:extLst>
              <a:ext uri="{FF2B5EF4-FFF2-40B4-BE49-F238E27FC236}">
                <a16:creationId xmlns:a16="http://schemas.microsoft.com/office/drawing/2014/main" id="{2F33F73A-70C0-6037-DD31-FAC59494D858}"/>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389438" y="1628775"/>
            <a:ext cx="4602162"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descr="fig0702c.gif">
            <a:extLst>
              <a:ext uri="{FF2B5EF4-FFF2-40B4-BE49-F238E27FC236}">
                <a16:creationId xmlns:a16="http://schemas.microsoft.com/office/drawing/2014/main" id="{7C780225-789A-0596-3C1D-41813A5F1B4C}"/>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389438" y="1628775"/>
            <a:ext cx="4602162"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1" descr="fig0702d.gif">
            <a:extLst>
              <a:ext uri="{FF2B5EF4-FFF2-40B4-BE49-F238E27FC236}">
                <a16:creationId xmlns:a16="http://schemas.microsoft.com/office/drawing/2014/main" id="{0447957A-AD40-B706-BD92-11AFBE0C477D}"/>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389438" y="1628775"/>
            <a:ext cx="4602162"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descr="fig0702e.gif">
            <a:extLst>
              <a:ext uri="{FF2B5EF4-FFF2-40B4-BE49-F238E27FC236}">
                <a16:creationId xmlns:a16="http://schemas.microsoft.com/office/drawing/2014/main" id="{9FC49317-781C-5FF5-0446-F81C325FDC9F}"/>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4389438" y="1628775"/>
            <a:ext cx="4602162"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61835"/>
                                        </p:tgtEl>
                                        <p:attrNameLst>
                                          <p:attrName>style.visibility</p:attrName>
                                        </p:attrNameLst>
                                      </p:cBhvr>
                                      <p:to>
                                        <p:strVal val="visible"/>
                                      </p:to>
                                    </p:set>
                                    <p:animEffect transition="in" filter="wipe(left)">
                                      <p:cBhvr>
                                        <p:cTn id="7" dur="500"/>
                                        <p:tgtEl>
                                          <p:spTgt spid="461835"/>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1000"/>
                                        <p:tgtEl>
                                          <p:spTgt spid="9"/>
                                        </p:tgtEl>
                                      </p:cBhvr>
                                    </p:animEffect>
                                  </p:childTnLst>
                                </p:cTn>
                              </p:par>
                            </p:childTnLst>
                          </p:cTn>
                        </p:par>
                        <p:par>
                          <p:cTn id="12" fill="hold" nodeType="afterGroup">
                            <p:stCondLst>
                              <p:cond delay="1500"/>
                            </p:stCondLst>
                            <p:childTnLst>
                              <p:par>
                                <p:cTn id="13" presetID="22" presetClass="entr" presetSubtype="4"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down)">
                                      <p:cBhvr>
                                        <p:cTn id="15" dur="1000"/>
                                        <p:tgtEl>
                                          <p:spTgt spid="10"/>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461836"/>
                                        </p:tgtEl>
                                        <p:attrNameLst>
                                          <p:attrName>style.visibility</p:attrName>
                                        </p:attrNameLst>
                                      </p:cBhvr>
                                      <p:to>
                                        <p:strVal val="visible"/>
                                      </p:to>
                                    </p:set>
                                    <p:animEffect transition="in" filter="wipe(left)">
                                      <p:cBhvr>
                                        <p:cTn id="20" dur="500"/>
                                        <p:tgtEl>
                                          <p:spTgt spid="461836"/>
                                        </p:tgtEl>
                                      </p:cBhvr>
                                    </p:animEffect>
                                  </p:childTnLst>
                                </p:cTn>
                              </p:par>
                            </p:childTnLst>
                          </p:cTn>
                        </p:par>
                        <p:par>
                          <p:cTn id="21" fill="hold" nodeType="afterGroup">
                            <p:stCondLst>
                              <p:cond delay="500"/>
                            </p:stCondLst>
                            <p:childTnLst>
                              <p:par>
                                <p:cTn id="22" presetID="10" presetClass="entr" presetSubtype="0" fill="hold"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461837"/>
                                        </p:tgtEl>
                                        <p:attrNameLst>
                                          <p:attrName>style.visibility</p:attrName>
                                        </p:attrNameLst>
                                      </p:cBhvr>
                                      <p:to>
                                        <p:strVal val="visible"/>
                                      </p:to>
                                    </p:set>
                                    <p:animEffect transition="in" filter="wipe(left)">
                                      <p:cBhvr>
                                        <p:cTn id="29" dur="500"/>
                                        <p:tgtEl>
                                          <p:spTgt spid="461837"/>
                                        </p:tgtEl>
                                      </p:cBhvr>
                                    </p:animEffect>
                                  </p:childTnLst>
                                </p:cTn>
                              </p:par>
                            </p:childTnLst>
                          </p:cTn>
                        </p:par>
                        <p:par>
                          <p:cTn id="30" fill="hold" nodeType="afterGroup">
                            <p:stCondLst>
                              <p:cond delay="500"/>
                            </p:stCondLst>
                            <p:childTnLst>
                              <p:par>
                                <p:cTn id="31" presetID="10" presetClass="entr" presetSubtype="0" fill="hold"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461838"/>
                                        </p:tgtEl>
                                        <p:attrNameLst>
                                          <p:attrName>style.visibility</p:attrName>
                                        </p:attrNameLst>
                                      </p:cBhvr>
                                      <p:to>
                                        <p:strVal val="visible"/>
                                      </p:to>
                                    </p:set>
                                    <p:animEffect transition="in" filter="wipe(left)">
                                      <p:cBhvr>
                                        <p:cTn id="38" dur="500"/>
                                        <p:tgtEl>
                                          <p:spTgt spid="461838"/>
                                        </p:tgtEl>
                                      </p:cBhvr>
                                    </p:animEffect>
                                  </p:childTnLst>
                                </p:cTn>
                              </p:par>
                            </p:childTnLst>
                          </p:cTn>
                        </p:par>
                        <p:par>
                          <p:cTn id="39" fill="hold" nodeType="afterGroup">
                            <p:stCondLst>
                              <p:cond delay="500"/>
                            </p:stCondLst>
                            <p:childTnLst>
                              <p:par>
                                <p:cTn id="40" presetID="22" presetClass="entr" presetSubtype="8" fill="hold" nodeType="after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left)">
                                      <p:cBhvr>
                                        <p:cTn id="42"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835" grpId="0" autoUpdateAnimBg="0"/>
      <p:bldP spid="461836" grpId="0" autoUpdateAnimBg="0"/>
      <p:bldP spid="461837" grpId="0" autoUpdateAnimBg="0"/>
      <p:bldP spid="461838"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5841" name="Picture 13" descr="fig0702aa.gif">
            <a:extLst>
              <a:ext uri="{FF2B5EF4-FFF2-40B4-BE49-F238E27FC236}">
                <a16:creationId xmlns:a16="http://schemas.microsoft.com/office/drawing/2014/main" id="{198C726F-A3BA-9CC7-129F-D74EB4BC6B2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457200"/>
            <a:ext cx="5648325" cy="576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4" descr="fig0702a.gif">
            <a:extLst>
              <a:ext uri="{FF2B5EF4-FFF2-40B4-BE49-F238E27FC236}">
                <a16:creationId xmlns:a16="http://schemas.microsoft.com/office/drawing/2014/main" id="{4D570D18-D152-C89A-4C60-B190D838579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457200"/>
            <a:ext cx="5648325" cy="576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5" descr="fig0702b.gif">
            <a:extLst>
              <a:ext uri="{FF2B5EF4-FFF2-40B4-BE49-F238E27FC236}">
                <a16:creationId xmlns:a16="http://schemas.microsoft.com/office/drawing/2014/main" id="{966085B7-7724-C042-69AE-5143E36B3CBC}"/>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752600" y="457200"/>
            <a:ext cx="5648325" cy="576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6" descr="fig0702c.gif">
            <a:extLst>
              <a:ext uri="{FF2B5EF4-FFF2-40B4-BE49-F238E27FC236}">
                <a16:creationId xmlns:a16="http://schemas.microsoft.com/office/drawing/2014/main" id="{50AFEFE6-12E7-B4EA-290F-6AD4AF1E52B1}"/>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752600" y="457200"/>
            <a:ext cx="5648325" cy="576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7" descr="fig0702d.gif">
            <a:extLst>
              <a:ext uri="{FF2B5EF4-FFF2-40B4-BE49-F238E27FC236}">
                <a16:creationId xmlns:a16="http://schemas.microsoft.com/office/drawing/2014/main" id="{784545E2-F814-E731-D2E0-E2C453D87C67}"/>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752600" y="457200"/>
            <a:ext cx="5648325" cy="576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18" descr="fig0702e.gif">
            <a:extLst>
              <a:ext uri="{FF2B5EF4-FFF2-40B4-BE49-F238E27FC236}">
                <a16:creationId xmlns:a16="http://schemas.microsoft.com/office/drawing/2014/main" id="{7C843B86-91F6-EFA4-2867-3D5267518502}"/>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1752600" y="457200"/>
            <a:ext cx="5648325" cy="576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1000"/>
                                        <p:tgtEl>
                                          <p:spTgt spid="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down)">
                                      <p:cBhvr>
                                        <p:cTn id="12" dur="1000"/>
                                        <p:tgtEl>
                                          <p:spTgt spid="1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left)">
                                      <p:cBhvr>
                                        <p:cTn id="27"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2" name="Rectangle 5">
            <a:extLst>
              <a:ext uri="{FF2B5EF4-FFF2-40B4-BE49-F238E27FC236}">
                <a16:creationId xmlns:a16="http://schemas.microsoft.com/office/drawing/2014/main" id="{7A27CD09-530F-CAC5-360C-8A2513C8FCA8}"/>
              </a:ext>
            </a:extLst>
          </p:cNvPr>
          <p:cNvSpPr>
            <a:spLocks noGrp="1" noChangeArrowheads="1"/>
          </p:cNvSpPr>
          <p:nvPr>
            <p:ph type="title"/>
          </p:nvPr>
        </p:nvSpPr>
        <p:spPr>
          <a:xfrm>
            <a:off x="381000" y="990600"/>
            <a:ext cx="8229600" cy="533400"/>
          </a:xfrm>
        </p:spPr>
        <p:txBody>
          <a:bodyPr/>
          <a:lstStyle/>
          <a:p>
            <a:pPr eaLnBrk="1" hangingPunct="1">
              <a:defRPr/>
            </a:pPr>
            <a:r>
              <a:rPr lang="en-US"/>
              <a:t>7.1  PRICE CEILINGS</a:t>
            </a:r>
            <a:endParaRPr lang="en-CA"/>
          </a:p>
        </p:txBody>
      </p:sp>
      <p:sp>
        <p:nvSpPr>
          <p:cNvPr id="413702" name="Rectangle 6">
            <a:extLst>
              <a:ext uri="{FF2B5EF4-FFF2-40B4-BE49-F238E27FC236}">
                <a16:creationId xmlns:a16="http://schemas.microsoft.com/office/drawing/2014/main" id="{54183EA5-FFEB-675A-EABB-0A00370D540D}"/>
              </a:ext>
            </a:extLst>
          </p:cNvPr>
          <p:cNvSpPr>
            <a:spLocks noGrp="1" noChangeArrowheads="1"/>
          </p:cNvSpPr>
          <p:nvPr>
            <p:ph type="body" idx="1"/>
          </p:nvPr>
        </p:nvSpPr>
        <p:spPr>
          <a:xfrm>
            <a:off x="381000" y="1905000"/>
            <a:ext cx="8229600" cy="4495800"/>
          </a:xfrm>
        </p:spPr>
        <p:txBody>
          <a:bodyPr/>
          <a:lstStyle/>
          <a:p>
            <a:pPr lvl="1" eaLnBrk="1" hangingPunct="1">
              <a:defRPr/>
            </a:pPr>
            <a:r>
              <a:rPr lang="en-US"/>
              <a:t>When a rent ceiling creates a housing shortage, two developments occur:</a:t>
            </a:r>
          </a:p>
          <a:p>
            <a:pPr lvl="2" eaLnBrk="1" hangingPunct="1">
              <a:defRPr/>
            </a:pPr>
            <a:r>
              <a:rPr lang="en-US"/>
              <a:t>A black market</a:t>
            </a:r>
          </a:p>
          <a:p>
            <a:pPr lvl="2" eaLnBrk="1" hangingPunct="1">
              <a:defRPr/>
            </a:pPr>
            <a:r>
              <a:rPr lang="en-US"/>
              <a:t>Increased search activity</a:t>
            </a:r>
          </a:p>
          <a:p>
            <a:pPr lvl="1" eaLnBrk="1" hangingPunct="1">
              <a:lnSpc>
                <a:spcPct val="90000"/>
              </a:lnSpc>
              <a:defRPr/>
            </a:pPr>
            <a:r>
              <a:rPr lang="en-US">
                <a:solidFill>
                  <a:srgbClr val="000000"/>
                </a:solidFill>
              </a:rPr>
              <a:t>A</a:t>
            </a:r>
            <a:r>
              <a:rPr lang="en-US" sz="2600" b="1">
                <a:solidFill>
                  <a:srgbClr val="FF0000"/>
                </a:solidFill>
              </a:rPr>
              <a:t> black market </a:t>
            </a:r>
            <a:r>
              <a:rPr lang="en-US"/>
              <a:t>is an illegal market that operates alongside a government-regulated market.</a:t>
            </a:r>
          </a:p>
          <a:p>
            <a:pPr lvl="1" eaLnBrk="1" hangingPunct="1">
              <a:defRPr/>
            </a:pPr>
            <a:r>
              <a:rPr lang="en-US" sz="2600" b="1">
                <a:solidFill>
                  <a:srgbClr val="FF0000"/>
                </a:solidFill>
              </a:rPr>
              <a:t>Search activity </a:t>
            </a:r>
            <a:r>
              <a:rPr lang="en-US"/>
              <a:t>is the time spent looking for someone with whom to do business.</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13702">
                                            <p:txEl>
                                              <p:pRg st="0" end="0"/>
                                            </p:txEl>
                                          </p:spTgt>
                                        </p:tgtEl>
                                        <p:attrNameLst>
                                          <p:attrName>style.visibility</p:attrName>
                                        </p:attrNameLst>
                                      </p:cBhvr>
                                      <p:to>
                                        <p:strVal val="visible"/>
                                      </p:to>
                                    </p:set>
                                    <p:animEffect transition="in" filter="wipe(left)">
                                      <p:cBhvr>
                                        <p:cTn id="7" dur="500"/>
                                        <p:tgtEl>
                                          <p:spTgt spid="41370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13702">
                                            <p:txEl>
                                              <p:pRg st="1" end="1"/>
                                            </p:txEl>
                                          </p:spTgt>
                                        </p:tgtEl>
                                        <p:attrNameLst>
                                          <p:attrName>style.visibility</p:attrName>
                                        </p:attrNameLst>
                                      </p:cBhvr>
                                      <p:to>
                                        <p:strVal val="visible"/>
                                      </p:to>
                                    </p:set>
                                    <p:animEffect transition="in" filter="wipe(left)">
                                      <p:cBhvr>
                                        <p:cTn id="12" dur="500"/>
                                        <p:tgtEl>
                                          <p:spTgt spid="41370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13702">
                                            <p:txEl>
                                              <p:pRg st="2" end="2"/>
                                            </p:txEl>
                                          </p:spTgt>
                                        </p:tgtEl>
                                        <p:attrNameLst>
                                          <p:attrName>style.visibility</p:attrName>
                                        </p:attrNameLst>
                                      </p:cBhvr>
                                      <p:to>
                                        <p:strVal val="visible"/>
                                      </p:to>
                                    </p:set>
                                    <p:animEffect transition="in" filter="wipe(left)">
                                      <p:cBhvr>
                                        <p:cTn id="17" dur="500"/>
                                        <p:tgtEl>
                                          <p:spTgt spid="413702">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13702">
                                            <p:txEl>
                                              <p:pRg st="3" end="3"/>
                                            </p:txEl>
                                          </p:spTgt>
                                        </p:tgtEl>
                                        <p:attrNameLst>
                                          <p:attrName>style.visibility</p:attrName>
                                        </p:attrNameLst>
                                      </p:cBhvr>
                                      <p:to>
                                        <p:strVal val="visible"/>
                                      </p:to>
                                    </p:set>
                                    <p:animEffect transition="in" filter="wipe(left)">
                                      <p:cBhvr>
                                        <p:cTn id="22" dur="500"/>
                                        <p:tgtEl>
                                          <p:spTgt spid="413702">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13702">
                                            <p:txEl>
                                              <p:pRg st="4" end="4"/>
                                            </p:txEl>
                                          </p:spTgt>
                                        </p:tgtEl>
                                        <p:attrNameLst>
                                          <p:attrName>style.visibility</p:attrName>
                                        </p:attrNameLst>
                                      </p:cBhvr>
                                      <p:to>
                                        <p:strVal val="visible"/>
                                      </p:to>
                                    </p:set>
                                    <p:animEffect transition="in" filter="wipe(left)">
                                      <p:cBhvr>
                                        <p:cTn id="27" dur="500"/>
                                        <p:tgtEl>
                                          <p:spTgt spid="41370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3702" grpId="0" build="p" bldLvl="5"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Rectangle 17">
            <a:extLst>
              <a:ext uri="{FF2B5EF4-FFF2-40B4-BE49-F238E27FC236}">
                <a16:creationId xmlns:a16="http://schemas.microsoft.com/office/drawing/2014/main" id="{6605A0CB-4452-10ED-E116-1B5B75B9162B}"/>
              </a:ext>
            </a:extLst>
          </p:cNvPr>
          <p:cNvSpPr>
            <a:spLocks noGrp="1" noChangeArrowheads="1"/>
          </p:cNvSpPr>
          <p:nvPr>
            <p:ph type="title"/>
          </p:nvPr>
        </p:nvSpPr>
        <p:spPr>
          <a:xfrm>
            <a:off x="381000" y="990600"/>
            <a:ext cx="8229600" cy="533400"/>
          </a:xfrm>
        </p:spPr>
        <p:txBody>
          <a:bodyPr/>
          <a:lstStyle/>
          <a:p>
            <a:pPr eaLnBrk="1" hangingPunct="1">
              <a:defRPr/>
            </a:pPr>
            <a:r>
              <a:rPr lang="en-US"/>
              <a:t>7.1  PRICE CEILINGS</a:t>
            </a:r>
            <a:endParaRPr lang="en-CA"/>
          </a:p>
        </p:txBody>
      </p:sp>
      <p:sp>
        <p:nvSpPr>
          <p:cNvPr id="41987" name="Rectangle 18">
            <a:extLst>
              <a:ext uri="{FF2B5EF4-FFF2-40B4-BE49-F238E27FC236}">
                <a16:creationId xmlns:a16="http://schemas.microsoft.com/office/drawing/2014/main" id="{23F8F1F0-5A9B-1022-53C4-C34846FCF484}"/>
              </a:ext>
            </a:extLst>
          </p:cNvPr>
          <p:cNvSpPr>
            <a:spLocks noGrp="1" noChangeArrowheads="1"/>
          </p:cNvSpPr>
          <p:nvPr>
            <p:ph type="body" idx="1"/>
          </p:nvPr>
        </p:nvSpPr>
        <p:spPr>
          <a:xfrm>
            <a:off x="227013" y="1997075"/>
            <a:ext cx="4268787" cy="1127125"/>
          </a:xfrm>
        </p:spPr>
        <p:txBody>
          <a:bodyPr/>
          <a:lstStyle/>
          <a:p>
            <a:pPr marL="0" indent="0" eaLnBrk="1" hangingPunct="1">
              <a:lnSpc>
                <a:spcPct val="90000"/>
              </a:lnSpc>
              <a:buFont typeface="Webdings" charset="0"/>
              <a:buNone/>
              <a:defRPr/>
            </a:pPr>
            <a:r>
              <a:rPr lang="en-US" sz="2400" b="0">
                <a:solidFill>
                  <a:schemeClr val="tx1"/>
                </a:solidFill>
              </a:rPr>
              <a:t>Figure 7.3 shows how a rent ceiling creates a black market and housing search.</a:t>
            </a:r>
            <a:endParaRPr lang="en-CA" sz="2400" b="0">
              <a:solidFill>
                <a:schemeClr val="tx1"/>
              </a:solidFill>
            </a:endParaRPr>
          </a:p>
        </p:txBody>
      </p:sp>
      <p:sp>
        <p:nvSpPr>
          <p:cNvPr id="463891" name="Rectangle 19">
            <a:extLst>
              <a:ext uri="{FF2B5EF4-FFF2-40B4-BE49-F238E27FC236}">
                <a16:creationId xmlns:a16="http://schemas.microsoft.com/office/drawing/2014/main" id="{CB52F360-2B85-19F7-0022-458B3A1D638D}"/>
              </a:ext>
            </a:extLst>
          </p:cNvPr>
          <p:cNvSpPr>
            <a:spLocks noChangeArrowheads="1"/>
          </p:cNvSpPr>
          <p:nvPr/>
        </p:nvSpPr>
        <p:spPr bwMode="auto">
          <a:xfrm>
            <a:off x="227013" y="3124200"/>
            <a:ext cx="4268787" cy="762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r>
              <a:rPr lang="en-US">
                <a:solidFill>
                  <a:srgbClr val="000000"/>
                </a:solidFill>
                <a:latin typeface="Arial" charset="0"/>
                <a:ea typeface="ＭＳ Ｐゴシック" charset="0"/>
              </a:rPr>
              <a:t>With a rent ceiling of $400 a month:</a:t>
            </a:r>
          </a:p>
        </p:txBody>
      </p:sp>
      <p:sp>
        <p:nvSpPr>
          <p:cNvPr id="463892" name="Rectangle 20">
            <a:extLst>
              <a:ext uri="{FF2B5EF4-FFF2-40B4-BE49-F238E27FC236}">
                <a16:creationId xmlns:a16="http://schemas.microsoft.com/office/drawing/2014/main" id="{3057C3DF-B271-2A99-CF66-AB5F5A32E90E}"/>
              </a:ext>
            </a:extLst>
          </p:cNvPr>
          <p:cNvSpPr>
            <a:spLocks noChangeArrowheads="1"/>
          </p:cNvSpPr>
          <p:nvPr/>
        </p:nvSpPr>
        <p:spPr bwMode="auto">
          <a:xfrm>
            <a:off x="152400" y="4038600"/>
            <a:ext cx="4268788" cy="762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indent="-342900">
              <a:defRPr/>
            </a:pPr>
            <a:r>
              <a:rPr lang="en-US" b="1">
                <a:latin typeface="Arial" charset="0"/>
                <a:ea typeface="ＭＳ Ｐゴシック" charset="0"/>
              </a:rPr>
              <a:t>1.</a:t>
            </a:r>
            <a:r>
              <a:rPr lang="en-US">
                <a:latin typeface="Arial" charset="0"/>
                <a:ea typeface="ＭＳ Ｐゴシック" charset="0"/>
              </a:rPr>
              <a:t> </a:t>
            </a:r>
            <a:r>
              <a:rPr lang="en-US">
                <a:solidFill>
                  <a:srgbClr val="000000"/>
                </a:solidFill>
                <a:latin typeface="Arial" charset="0"/>
                <a:ea typeface="ＭＳ Ｐゴシック" charset="0"/>
              </a:rPr>
              <a:t>3,000 units of housing are available.</a:t>
            </a:r>
          </a:p>
        </p:txBody>
      </p:sp>
      <p:sp>
        <p:nvSpPr>
          <p:cNvPr id="463893" name="Rectangle 21">
            <a:extLst>
              <a:ext uri="{FF2B5EF4-FFF2-40B4-BE49-F238E27FC236}">
                <a16:creationId xmlns:a16="http://schemas.microsoft.com/office/drawing/2014/main" id="{49416C8D-BB76-D6E2-5E23-CB4577D6A2AE}"/>
              </a:ext>
            </a:extLst>
          </p:cNvPr>
          <p:cNvSpPr>
            <a:spLocks noChangeArrowheads="1"/>
          </p:cNvSpPr>
          <p:nvPr/>
        </p:nvSpPr>
        <p:spPr bwMode="auto">
          <a:xfrm>
            <a:off x="152400" y="5046663"/>
            <a:ext cx="4268788" cy="12017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indent="-342900">
              <a:defRPr/>
            </a:pPr>
            <a:r>
              <a:rPr lang="en-US" b="1">
                <a:latin typeface="Arial" charset="0"/>
                <a:ea typeface="ＭＳ Ｐゴシック" charset="0"/>
              </a:rPr>
              <a:t>2.</a:t>
            </a:r>
            <a:r>
              <a:rPr lang="en-US">
                <a:latin typeface="Arial" charset="0"/>
                <a:ea typeface="ＭＳ Ｐゴシック" charset="0"/>
              </a:rPr>
              <a:t> </a:t>
            </a:r>
            <a:r>
              <a:rPr lang="en-US">
                <a:solidFill>
                  <a:srgbClr val="000000"/>
                </a:solidFill>
                <a:latin typeface="Arial" charset="0"/>
                <a:ea typeface="ＭＳ Ｐゴシック" charset="0"/>
              </a:rPr>
              <a:t>Someone is willing to pay $625 a month for the 3,000th unit of housing.</a:t>
            </a:r>
          </a:p>
        </p:txBody>
      </p:sp>
      <p:pic>
        <p:nvPicPr>
          <p:cNvPr id="39942" name="Picture 7" descr="fig0703a.gif">
            <a:extLst>
              <a:ext uri="{FF2B5EF4-FFF2-40B4-BE49-F238E27FC236}">
                <a16:creationId xmlns:a16="http://schemas.microsoft.com/office/drawing/2014/main" id="{99519315-BE95-2016-F898-6D147648826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343400" y="1828800"/>
            <a:ext cx="4602163"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descr="fig0703b.gif">
            <a:extLst>
              <a:ext uri="{FF2B5EF4-FFF2-40B4-BE49-F238E27FC236}">
                <a16:creationId xmlns:a16="http://schemas.microsoft.com/office/drawing/2014/main" id="{05055C08-08F2-D1EC-D019-1976E71FDF8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343400" y="1828800"/>
            <a:ext cx="4602163"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fig0703c.gif">
            <a:extLst>
              <a:ext uri="{FF2B5EF4-FFF2-40B4-BE49-F238E27FC236}">
                <a16:creationId xmlns:a16="http://schemas.microsoft.com/office/drawing/2014/main" id="{DB2D1582-46F0-2D40-9523-9829F9D1595B}"/>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343400" y="1828800"/>
            <a:ext cx="4602163"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descr="fig0703d.gif">
            <a:extLst>
              <a:ext uri="{FF2B5EF4-FFF2-40B4-BE49-F238E27FC236}">
                <a16:creationId xmlns:a16="http://schemas.microsoft.com/office/drawing/2014/main" id="{408BD762-90C3-F051-1D2A-B55CEE8225ED}"/>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343400" y="1828800"/>
            <a:ext cx="4602163"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1" descr="fig0703e.gif">
            <a:extLst>
              <a:ext uri="{FF2B5EF4-FFF2-40B4-BE49-F238E27FC236}">
                <a16:creationId xmlns:a16="http://schemas.microsoft.com/office/drawing/2014/main" id="{11FD83A5-D629-9F23-BA2E-298829C5614D}"/>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343400" y="1828800"/>
            <a:ext cx="4602163"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63891"/>
                                        </p:tgtEl>
                                        <p:attrNameLst>
                                          <p:attrName>style.visibility</p:attrName>
                                        </p:attrNameLst>
                                      </p:cBhvr>
                                      <p:to>
                                        <p:strVal val="visible"/>
                                      </p:to>
                                    </p:set>
                                    <p:animEffect transition="in" filter="wipe(left)">
                                      <p:cBhvr>
                                        <p:cTn id="7" dur="500"/>
                                        <p:tgtEl>
                                          <p:spTgt spid="463891"/>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1000"/>
                                        <p:tgtEl>
                                          <p:spTgt spid="9"/>
                                        </p:tgtEl>
                                      </p:cBhvr>
                                    </p:animEffect>
                                  </p:childTnLst>
                                </p:cTn>
                              </p:par>
                            </p:childTnLst>
                          </p:cTn>
                        </p:par>
                        <p:par>
                          <p:cTn id="12" fill="hold" nodeType="afterGroup">
                            <p:stCondLst>
                              <p:cond delay="1500"/>
                            </p:stCondLst>
                            <p:childTnLst>
                              <p:par>
                                <p:cTn id="13" presetID="22" presetClass="entr" presetSubtype="4"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down)">
                                      <p:cBhvr>
                                        <p:cTn id="15" dur="1000"/>
                                        <p:tgtEl>
                                          <p:spTgt spid="10"/>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463892"/>
                                        </p:tgtEl>
                                        <p:attrNameLst>
                                          <p:attrName>style.visibility</p:attrName>
                                        </p:attrNameLst>
                                      </p:cBhvr>
                                      <p:to>
                                        <p:strVal val="visible"/>
                                      </p:to>
                                    </p:set>
                                    <p:animEffect transition="in" filter="wipe(left)">
                                      <p:cBhvr>
                                        <p:cTn id="20" dur="500"/>
                                        <p:tgtEl>
                                          <p:spTgt spid="463892"/>
                                        </p:tgtEl>
                                      </p:cBhvr>
                                    </p:animEffect>
                                  </p:childTnLst>
                                </p:cTn>
                              </p:par>
                            </p:childTnLst>
                          </p:cTn>
                        </p:par>
                        <p:par>
                          <p:cTn id="21" fill="hold" nodeType="afterGroup">
                            <p:stCondLst>
                              <p:cond delay="500"/>
                            </p:stCondLst>
                            <p:childTnLst>
                              <p:par>
                                <p:cTn id="22" presetID="10" presetClass="entr" presetSubtype="0" fill="hold"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463893"/>
                                        </p:tgtEl>
                                        <p:attrNameLst>
                                          <p:attrName>style.visibility</p:attrName>
                                        </p:attrNameLst>
                                      </p:cBhvr>
                                      <p:to>
                                        <p:strVal val="visible"/>
                                      </p:to>
                                    </p:set>
                                    <p:animEffect transition="in" filter="wipe(left)">
                                      <p:cBhvr>
                                        <p:cTn id="29" dur="500"/>
                                        <p:tgtEl>
                                          <p:spTgt spid="463893"/>
                                        </p:tgtEl>
                                      </p:cBhvr>
                                    </p:animEffect>
                                  </p:childTnLst>
                                </p:cTn>
                              </p:par>
                            </p:childTnLst>
                          </p:cTn>
                        </p:par>
                        <p:par>
                          <p:cTn id="30" fill="hold" nodeType="afterGroup">
                            <p:stCondLst>
                              <p:cond delay="500"/>
                            </p:stCondLst>
                            <p:childTnLst>
                              <p:par>
                                <p:cTn id="31" presetID="10" presetClass="entr" presetSubtype="0" fill="hold"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3891" grpId="0" autoUpdateAnimBg="0"/>
      <p:bldP spid="463892" grpId="0" autoUpdateAnimBg="0"/>
      <p:bldP spid="463893"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1985" name="Picture 7" descr="fig0703a.gif">
            <a:extLst>
              <a:ext uri="{FF2B5EF4-FFF2-40B4-BE49-F238E27FC236}">
                <a16:creationId xmlns:a16="http://schemas.microsoft.com/office/drawing/2014/main" id="{AC8FDD3A-6751-E82B-BC04-2B05B1938E4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533400"/>
            <a:ext cx="5648325" cy="576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descr="fig0703b.gif">
            <a:extLst>
              <a:ext uri="{FF2B5EF4-FFF2-40B4-BE49-F238E27FC236}">
                <a16:creationId xmlns:a16="http://schemas.microsoft.com/office/drawing/2014/main" id="{892E86D0-8633-5828-157D-E920D339AE7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533400"/>
            <a:ext cx="5648325" cy="576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fig0703c.gif">
            <a:extLst>
              <a:ext uri="{FF2B5EF4-FFF2-40B4-BE49-F238E27FC236}">
                <a16:creationId xmlns:a16="http://schemas.microsoft.com/office/drawing/2014/main" id="{A8CFA3AD-ABE8-8E21-7A92-96B5FCB24E99}"/>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676400" y="533400"/>
            <a:ext cx="5648325" cy="576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descr="fig0703d.gif">
            <a:extLst>
              <a:ext uri="{FF2B5EF4-FFF2-40B4-BE49-F238E27FC236}">
                <a16:creationId xmlns:a16="http://schemas.microsoft.com/office/drawing/2014/main" id="{B10D6ECF-CA11-515C-B5C8-7D09338B442C}"/>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676400" y="533400"/>
            <a:ext cx="5648325" cy="576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1" descr="fig0703e.gif">
            <a:extLst>
              <a:ext uri="{FF2B5EF4-FFF2-40B4-BE49-F238E27FC236}">
                <a16:creationId xmlns:a16="http://schemas.microsoft.com/office/drawing/2014/main" id="{93A47044-8A7E-7A32-6448-776D0E4A10C5}"/>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676400" y="533400"/>
            <a:ext cx="5648325" cy="576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descr="fig0703f.gif">
            <a:extLst>
              <a:ext uri="{FF2B5EF4-FFF2-40B4-BE49-F238E27FC236}">
                <a16:creationId xmlns:a16="http://schemas.microsoft.com/office/drawing/2014/main" id="{61CA60B0-ECC5-F835-7372-DDDF4AB39785}"/>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1676400" y="533400"/>
            <a:ext cx="5648325" cy="576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10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1000"/>
                                        <p:tgtEl>
                                          <p:spTgt spid="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down)">
                                      <p:cBhvr>
                                        <p:cTn id="27"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Rectangle 1034">
            <a:extLst>
              <a:ext uri="{FF2B5EF4-FFF2-40B4-BE49-F238E27FC236}">
                <a16:creationId xmlns:a16="http://schemas.microsoft.com/office/drawing/2014/main" id="{74EC042B-62BE-1FA0-861C-6F6ED4D9DF6D}"/>
              </a:ext>
            </a:extLst>
          </p:cNvPr>
          <p:cNvSpPr>
            <a:spLocks noGrp="1" noChangeArrowheads="1"/>
          </p:cNvSpPr>
          <p:nvPr>
            <p:ph type="title"/>
          </p:nvPr>
        </p:nvSpPr>
        <p:spPr>
          <a:xfrm>
            <a:off x="381000" y="990600"/>
            <a:ext cx="8229600" cy="533400"/>
          </a:xfrm>
        </p:spPr>
        <p:txBody>
          <a:bodyPr/>
          <a:lstStyle/>
          <a:p>
            <a:pPr eaLnBrk="1" hangingPunct="1">
              <a:defRPr/>
            </a:pPr>
            <a:r>
              <a:rPr lang="en-US"/>
              <a:t>7.1  PRICE CEILINGS</a:t>
            </a:r>
            <a:endParaRPr lang="en-CA"/>
          </a:p>
        </p:txBody>
      </p:sp>
      <p:sp>
        <p:nvSpPr>
          <p:cNvPr id="519179" name="Rectangle 1035">
            <a:extLst>
              <a:ext uri="{FF2B5EF4-FFF2-40B4-BE49-F238E27FC236}">
                <a16:creationId xmlns:a16="http://schemas.microsoft.com/office/drawing/2014/main" id="{CE2A2C5A-1B3D-EA4D-F2F0-122B693F0684}"/>
              </a:ext>
            </a:extLst>
          </p:cNvPr>
          <p:cNvSpPr>
            <a:spLocks noGrp="1" noChangeArrowheads="1"/>
          </p:cNvSpPr>
          <p:nvPr>
            <p:ph type="body" idx="1"/>
          </p:nvPr>
        </p:nvSpPr>
        <p:spPr>
          <a:xfrm>
            <a:off x="152400" y="1997075"/>
            <a:ext cx="4268788" cy="1812925"/>
          </a:xfrm>
        </p:spPr>
        <p:txBody>
          <a:bodyPr/>
          <a:lstStyle/>
          <a:p>
            <a:pPr eaLnBrk="1" hangingPunct="1">
              <a:lnSpc>
                <a:spcPct val="90000"/>
              </a:lnSpc>
              <a:spcBef>
                <a:spcPct val="0"/>
              </a:spcBef>
              <a:buClrTx/>
              <a:buFontTx/>
              <a:buNone/>
              <a:defRPr/>
            </a:pPr>
            <a:r>
              <a:rPr lang="en-US" sz="2400" dirty="0">
                <a:solidFill>
                  <a:schemeClr val="tx1"/>
                </a:solidFill>
              </a:rPr>
              <a:t>3.</a:t>
            </a:r>
            <a:r>
              <a:rPr lang="en-US" sz="2400" b="0" dirty="0">
                <a:solidFill>
                  <a:schemeClr val="tx1"/>
                </a:solidFill>
              </a:rPr>
              <a:t> </a:t>
            </a:r>
            <a:r>
              <a:rPr lang="en-US" sz="2400" b="0" dirty="0">
                <a:solidFill>
                  <a:srgbClr val="000000"/>
                </a:solidFill>
              </a:rPr>
              <a:t>Black market rents might be as high as $625 a month and resources get used up in costly search activity.</a:t>
            </a:r>
          </a:p>
        </p:txBody>
      </p:sp>
      <p:pic>
        <p:nvPicPr>
          <p:cNvPr id="44035" name="Picture 7" descr="fig0703a.gif">
            <a:extLst>
              <a:ext uri="{FF2B5EF4-FFF2-40B4-BE49-F238E27FC236}">
                <a16:creationId xmlns:a16="http://schemas.microsoft.com/office/drawing/2014/main" id="{CE7C0EE4-ACE8-D59F-6BCA-F28C60CC1E8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343400" y="1828800"/>
            <a:ext cx="4602163"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6" name="Picture 8" descr="fig0703b.gif">
            <a:extLst>
              <a:ext uri="{FF2B5EF4-FFF2-40B4-BE49-F238E27FC236}">
                <a16:creationId xmlns:a16="http://schemas.microsoft.com/office/drawing/2014/main" id="{33A729EB-DB42-CD6F-8672-AC080E247A4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343400" y="1828800"/>
            <a:ext cx="4602163"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7" name="Picture 9" descr="fig0703c.gif">
            <a:extLst>
              <a:ext uri="{FF2B5EF4-FFF2-40B4-BE49-F238E27FC236}">
                <a16:creationId xmlns:a16="http://schemas.microsoft.com/office/drawing/2014/main" id="{5088ECE2-69AC-9A6E-AFA6-5ED0B627015C}"/>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343400" y="1828800"/>
            <a:ext cx="4602163"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8" name="Picture 10" descr="fig0703d.gif">
            <a:extLst>
              <a:ext uri="{FF2B5EF4-FFF2-40B4-BE49-F238E27FC236}">
                <a16:creationId xmlns:a16="http://schemas.microsoft.com/office/drawing/2014/main" id="{4CC48CA7-D823-C7B6-05B6-515C05E37B6D}"/>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343400" y="1828800"/>
            <a:ext cx="4602163"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9" name="Picture 11" descr="fig0703e.gif">
            <a:extLst>
              <a:ext uri="{FF2B5EF4-FFF2-40B4-BE49-F238E27FC236}">
                <a16:creationId xmlns:a16="http://schemas.microsoft.com/office/drawing/2014/main" id="{97DD6554-AB89-A3C8-DD32-BC6741C8E455}"/>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343400" y="1828800"/>
            <a:ext cx="4602163"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descr="fig0703f.gif">
            <a:extLst>
              <a:ext uri="{FF2B5EF4-FFF2-40B4-BE49-F238E27FC236}">
                <a16:creationId xmlns:a16="http://schemas.microsoft.com/office/drawing/2014/main" id="{1C0FB9FF-CAE1-A12F-A1BD-210695B5AFBA}"/>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4343400" y="1828800"/>
            <a:ext cx="4602163"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19179">
                                            <p:txEl>
                                              <p:pRg st="0" end="0"/>
                                            </p:txEl>
                                          </p:spTgt>
                                        </p:tgtEl>
                                        <p:attrNameLst>
                                          <p:attrName>style.visibility</p:attrName>
                                        </p:attrNameLst>
                                      </p:cBhvr>
                                      <p:to>
                                        <p:strVal val="visible"/>
                                      </p:to>
                                    </p:set>
                                    <p:animEffect transition="in" filter="wipe(left)">
                                      <p:cBhvr>
                                        <p:cTn id="7" dur="500"/>
                                        <p:tgtEl>
                                          <p:spTgt spid="519179">
                                            <p:txEl>
                                              <p:pRg st="0" end="0"/>
                                            </p:txEl>
                                          </p:spTgt>
                                        </p:tgtEl>
                                      </p:cBhvr>
                                    </p:animEffect>
                                  </p:childTnLst>
                                </p:cTn>
                              </p:par>
                            </p:childTnLst>
                          </p:cTn>
                        </p:par>
                        <p:par>
                          <p:cTn id="8" fill="hold" nodeType="afterGroup">
                            <p:stCondLst>
                              <p:cond delay="500"/>
                            </p:stCondLst>
                            <p:childTnLst>
                              <p:par>
                                <p:cTn id="9" presetID="22" presetClass="entr" presetSubtype="4"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down)">
                                      <p:cBhvr>
                                        <p:cTn id="11"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9179" grpId="0" build="p" bldLvl="3" autoUpdateAnimBg="0" advAuto="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Rectangle 4">
            <a:extLst>
              <a:ext uri="{FF2B5EF4-FFF2-40B4-BE49-F238E27FC236}">
                <a16:creationId xmlns:a16="http://schemas.microsoft.com/office/drawing/2014/main" id="{B5780B41-43EA-0A34-9BDA-0244F9D74E43}"/>
              </a:ext>
            </a:extLst>
          </p:cNvPr>
          <p:cNvSpPr>
            <a:spLocks noGrp="1" noChangeArrowheads="1"/>
          </p:cNvSpPr>
          <p:nvPr>
            <p:ph type="title"/>
          </p:nvPr>
        </p:nvSpPr>
        <p:spPr>
          <a:xfrm>
            <a:off x="381000" y="990600"/>
            <a:ext cx="8229600" cy="533400"/>
          </a:xfrm>
        </p:spPr>
        <p:txBody>
          <a:bodyPr/>
          <a:lstStyle/>
          <a:p>
            <a:pPr eaLnBrk="1" hangingPunct="1">
              <a:defRPr/>
            </a:pPr>
            <a:r>
              <a:rPr lang="en-US"/>
              <a:t>7.1  PRICE CEILINGS</a:t>
            </a:r>
            <a:endParaRPr lang="en-CA"/>
          </a:p>
        </p:txBody>
      </p:sp>
      <p:sp>
        <p:nvSpPr>
          <p:cNvPr id="416773" name="Rectangle 5">
            <a:extLst>
              <a:ext uri="{FF2B5EF4-FFF2-40B4-BE49-F238E27FC236}">
                <a16:creationId xmlns:a16="http://schemas.microsoft.com/office/drawing/2014/main" id="{97722BF7-43D8-B436-C24B-4F1E49E1BCBC}"/>
              </a:ext>
            </a:extLst>
          </p:cNvPr>
          <p:cNvSpPr>
            <a:spLocks noGrp="1" noChangeArrowheads="1"/>
          </p:cNvSpPr>
          <p:nvPr>
            <p:ph type="body" idx="1"/>
          </p:nvPr>
        </p:nvSpPr>
        <p:spPr>
          <a:xfrm>
            <a:off x="381000" y="2397125"/>
            <a:ext cx="8229600" cy="3775075"/>
          </a:xfrm>
        </p:spPr>
        <p:txBody>
          <a:bodyPr/>
          <a:lstStyle/>
          <a:p>
            <a:pPr lvl="1" eaLnBrk="1" hangingPunct="1"/>
            <a:r>
              <a:rPr lang="en-US" altLang="en-TW">
                <a:ea typeface="ＭＳ Ｐゴシック" panose="020B0600070205080204" pitchFamily="34" charset="-128"/>
              </a:rPr>
              <a:t>With a rent ceiling, the outcome is inefficient.</a:t>
            </a:r>
          </a:p>
          <a:p>
            <a:pPr lvl="1" eaLnBrk="1" hangingPunct="1"/>
            <a:r>
              <a:rPr lang="en-US" altLang="en-TW">
                <a:ea typeface="ＭＳ Ｐゴシック" panose="020B0600070205080204" pitchFamily="34" charset="-128"/>
              </a:rPr>
              <a:t>Marginal benefit exceeds marginal cost. </a:t>
            </a:r>
          </a:p>
          <a:p>
            <a:pPr lvl="1" eaLnBrk="1" hangingPunct="1"/>
            <a:r>
              <a:rPr lang="en-US" altLang="en-TW">
                <a:ea typeface="ＭＳ Ｐゴシック" panose="020B0600070205080204" pitchFamily="34" charset="-128"/>
              </a:rPr>
              <a:t>Total surplus</a:t>
            </a:r>
            <a:r>
              <a:rPr lang="en-US" altLang="en-TW">
                <a:ea typeface="ＭＳ Ｐゴシック" panose="020B0600070205080204" pitchFamily="34" charset="-128"/>
                <a:cs typeface="Arial" panose="020B0604020202020204" pitchFamily="34" charset="0"/>
              </a:rPr>
              <a:t>—</a:t>
            </a:r>
            <a:r>
              <a:rPr lang="en-US" altLang="en-TW">
                <a:ea typeface="ＭＳ Ｐゴシック" panose="020B0600070205080204" pitchFamily="34" charset="-128"/>
              </a:rPr>
              <a:t>the sum of producer surplus and consumer surplus</a:t>
            </a:r>
            <a:r>
              <a:rPr lang="en-US" altLang="en-TW">
                <a:ea typeface="ＭＳ Ｐゴシック" panose="020B0600070205080204" pitchFamily="34" charset="-128"/>
                <a:cs typeface="Arial" panose="020B0604020202020204" pitchFamily="34" charset="0"/>
              </a:rPr>
              <a:t>—</a:t>
            </a:r>
            <a:r>
              <a:rPr lang="en-US" altLang="en-TW">
                <a:ea typeface="ＭＳ Ｐゴシック" panose="020B0600070205080204" pitchFamily="34" charset="-128"/>
              </a:rPr>
              <a:t>shrinks and a deadweight loss arises. </a:t>
            </a:r>
          </a:p>
          <a:p>
            <a:pPr lvl="1" eaLnBrk="1" hangingPunct="1"/>
            <a:r>
              <a:rPr lang="en-US" altLang="en-TW">
                <a:ea typeface="ＭＳ Ｐゴシック" panose="020B0600070205080204" pitchFamily="34" charset="-128"/>
              </a:rPr>
              <a:t>People who can</a:t>
            </a:r>
            <a:r>
              <a:rPr lang="en-US" altLang="en-US">
                <a:ea typeface="ＭＳ Ｐゴシック" panose="020B0600070205080204" pitchFamily="34" charset="-128"/>
              </a:rPr>
              <a:t>’</a:t>
            </a:r>
            <a:r>
              <a:rPr lang="en-US" altLang="en-TW">
                <a:ea typeface="ＭＳ Ｐゴシック" panose="020B0600070205080204" pitchFamily="34" charset="-128"/>
              </a:rPr>
              <a:t>t find housing and landlords who can</a:t>
            </a:r>
            <a:r>
              <a:rPr lang="en-US" altLang="en-US">
                <a:ea typeface="ＭＳ Ｐゴシック" panose="020B0600070205080204" pitchFamily="34" charset="-128"/>
              </a:rPr>
              <a:t>’</a:t>
            </a:r>
            <a:r>
              <a:rPr lang="en-US" altLang="en-TW">
                <a:ea typeface="ＭＳ Ｐゴシック" panose="020B0600070205080204" pitchFamily="34" charset="-128"/>
              </a:rPr>
              <a:t>t offer housing at a lower rent lose.</a:t>
            </a:r>
          </a:p>
        </p:txBody>
      </p:sp>
      <p:sp>
        <p:nvSpPr>
          <p:cNvPr id="45060" name="Rectangle 6">
            <a:extLst>
              <a:ext uri="{FF2B5EF4-FFF2-40B4-BE49-F238E27FC236}">
                <a16:creationId xmlns:a16="http://schemas.microsoft.com/office/drawing/2014/main" id="{AF9C32A4-1D0A-E8E7-42C6-EF6D3A1A9C07}"/>
              </a:ext>
            </a:extLst>
          </p:cNvPr>
          <p:cNvSpPr>
            <a:spLocks noChangeArrowheads="1"/>
          </p:cNvSpPr>
          <p:nvPr/>
        </p:nvSpPr>
        <p:spPr bwMode="auto">
          <a:xfrm>
            <a:off x="381000" y="1752600"/>
            <a:ext cx="8229600"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indent="-342900">
              <a:spcBef>
                <a:spcPct val="20000"/>
              </a:spcBef>
              <a:buClr>
                <a:srgbClr val="00468F"/>
              </a:buClr>
              <a:buFont typeface="Webdings" charset="0"/>
              <a:buChar char="&lt;"/>
              <a:defRPr/>
            </a:pPr>
            <a:r>
              <a:rPr lang="en-US" sz="2800" b="1">
                <a:solidFill>
                  <a:srgbClr val="00468F"/>
                </a:solidFill>
                <a:latin typeface="Arial" charset="0"/>
                <a:ea typeface="ＭＳ Ｐゴシック" charset="0"/>
              </a:rPr>
              <a:t> Are Rent Ceilings Efficient?</a:t>
            </a:r>
          </a:p>
          <a:p>
            <a:pPr lvl="1">
              <a:lnSpc>
                <a:spcPct val="105000"/>
              </a:lnSpc>
              <a:spcBef>
                <a:spcPct val="50000"/>
              </a:spcBef>
              <a:defRPr/>
            </a:pPr>
            <a:endParaRPr lang="en-US">
              <a:latin typeface="Arial" charset="0"/>
              <a:ea typeface="ＭＳ Ｐゴシック" charset="0"/>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16773">
                                            <p:txEl>
                                              <p:pRg st="0" end="0"/>
                                            </p:txEl>
                                          </p:spTgt>
                                        </p:tgtEl>
                                        <p:attrNameLst>
                                          <p:attrName>style.visibility</p:attrName>
                                        </p:attrNameLst>
                                      </p:cBhvr>
                                      <p:to>
                                        <p:strVal val="visible"/>
                                      </p:to>
                                    </p:set>
                                    <p:animEffect transition="in" filter="wipe(left)">
                                      <p:cBhvr>
                                        <p:cTn id="7" dur="500"/>
                                        <p:tgtEl>
                                          <p:spTgt spid="41677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16773">
                                            <p:txEl>
                                              <p:pRg st="1" end="1"/>
                                            </p:txEl>
                                          </p:spTgt>
                                        </p:tgtEl>
                                        <p:attrNameLst>
                                          <p:attrName>style.visibility</p:attrName>
                                        </p:attrNameLst>
                                      </p:cBhvr>
                                      <p:to>
                                        <p:strVal val="visible"/>
                                      </p:to>
                                    </p:set>
                                    <p:animEffect transition="in" filter="wipe(left)">
                                      <p:cBhvr>
                                        <p:cTn id="12" dur="500"/>
                                        <p:tgtEl>
                                          <p:spTgt spid="41677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16773">
                                            <p:txEl>
                                              <p:pRg st="2" end="2"/>
                                            </p:txEl>
                                          </p:spTgt>
                                        </p:tgtEl>
                                        <p:attrNameLst>
                                          <p:attrName>style.visibility</p:attrName>
                                        </p:attrNameLst>
                                      </p:cBhvr>
                                      <p:to>
                                        <p:strVal val="visible"/>
                                      </p:to>
                                    </p:set>
                                    <p:animEffect transition="in" filter="wipe(left)">
                                      <p:cBhvr>
                                        <p:cTn id="17" dur="500"/>
                                        <p:tgtEl>
                                          <p:spTgt spid="41677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16773">
                                            <p:txEl>
                                              <p:pRg st="3" end="3"/>
                                            </p:txEl>
                                          </p:spTgt>
                                        </p:tgtEl>
                                        <p:attrNameLst>
                                          <p:attrName>style.visibility</p:attrName>
                                        </p:attrNameLst>
                                      </p:cBhvr>
                                      <p:to>
                                        <p:strVal val="visible"/>
                                      </p:to>
                                    </p:set>
                                    <p:animEffect transition="in" filter="wipe(left)">
                                      <p:cBhvr>
                                        <p:cTn id="22" dur="500"/>
                                        <p:tgtEl>
                                          <p:spTgt spid="41677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6773" grpId="0" build="p" bldLvl="3"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2" name="Text Box 7">
            <a:extLst>
              <a:ext uri="{FF2B5EF4-FFF2-40B4-BE49-F238E27FC236}">
                <a16:creationId xmlns:a16="http://schemas.microsoft.com/office/drawing/2014/main" id="{727F1E8B-823F-9863-5B9B-3FC0576D06E4}"/>
              </a:ext>
            </a:extLst>
          </p:cNvPr>
          <p:cNvSpPr txBox="1">
            <a:spLocks noChangeArrowheads="1"/>
          </p:cNvSpPr>
          <p:nvPr/>
        </p:nvSpPr>
        <p:spPr bwMode="auto">
          <a:xfrm>
            <a:off x="365125" y="1868488"/>
            <a:ext cx="18415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2400">
                <a:solidFill>
                  <a:schemeClr val="tx1"/>
                </a:solidFill>
                <a:latin typeface="Arial" charset="0"/>
                <a:ea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defRPr/>
            </a:pPr>
            <a:endParaRPr lang="en-US">
              <a:solidFill>
                <a:srgbClr val="1566B0"/>
              </a:solidFill>
            </a:endParaRPr>
          </a:p>
        </p:txBody>
      </p:sp>
      <p:sp>
        <p:nvSpPr>
          <p:cNvPr id="465929" name="Text Box 9">
            <a:extLst>
              <a:ext uri="{FF2B5EF4-FFF2-40B4-BE49-F238E27FC236}">
                <a16:creationId xmlns:a16="http://schemas.microsoft.com/office/drawing/2014/main" id="{6CF2CE6A-5C4B-D5BD-E963-FBF927719D0D}"/>
              </a:ext>
            </a:extLst>
          </p:cNvPr>
          <p:cNvSpPr txBox="1">
            <a:spLocks noChangeArrowheads="1"/>
          </p:cNvSpPr>
          <p:nvPr/>
        </p:nvSpPr>
        <p:spPr bwMode="auto">
          <a:xfrm>
            <a:off x="228600" y="3079750"/>
            <a:ext cx="4114800" cy="11874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388938" indent="-388938" eaLnBrk="0" hangingPunct="0">
              <a:defRPr sz="2400">
                <a:solidFill>
                  <a:schemeClr val="tx1"/>
                </a:solidFill>
                <a:latin typeface="Arial" charset="0"/>
                <a:ea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defRPr/>
            </a:pPr>
            <a:r>
              <a:rPr lang="en-US" b="1">
                <a:solidFill>
                  <a:srgbClr val="000000"/>
                </a:solidFill>
              </a:rPr>
              <a:t>1.</a:t>
            </a:r>
            <a:r>
              <a:rPr lang="en-US">
                <a:solidFill>
                  <a:srgbClr val="000000"/>
                </a:solidFill>
              </a:rPr>
              <a:t> The market is efficient with marginal benefit equal to marginal cost.</a:t>
            </a:r>
            <a:endParaRPr lang="en-US">
              <a:solidFill>
                <a:srgbClr val="1566B0"/>
              </a:solidFill>
            </a:endParaRPr>
          </a:p>
        </p:txBody>
      </p:sp>
      <p:sp>
        <p:nvSpPr>
          <p:cNvPr id="46084" name="Rectangle 13">
            <a:extLst>
              <a:ext uri="{FF2B5EF4-FFF2-40B4-BE49-F238E27FC236}">
                <a16:creationId xmlns:a16="http://schemas.microsoft.com/office/drawing/2014/main" id="{881C9C96-74AE-4B08-C121-6D0010CB4E0D}"/>
              </a:ext>
            </a:extLst>
          </p:cNvPr>
          <p:cNvSpPr>
            <a:spLocks noGrp="1" noChangeArrowheads="1"/>
          </p:cNvSpPr>
          <p:nvPr>
            <p:ph type="title"/>
          </p:nvPr>
        </p:nvSpPr>
        <p:spPr>
          <a:xfrm>
            <a:off x="381000" y="990600"/>
            <a:ext cx="8229600" cy="533400"/>
          </a:xfrm>
        </p:spPr>
        <p:txBody>
          <a:bodyPr/>
          <a:lstStyle/>
          <a:p>
            <a:pPr eaLnBrk="1" hangingPunct="1">
              <a:defRPr/>
            </a:pPr>
            <a:r>
              <a:rPr lang="en-US"/>
              <a:t>7.1  PRICE CEILINGS</a:t>
            </a:r>
            <a:endParaRPr lang="en-CA"/>
          </a:p>
        </p:txBody>
      </p:sp>
      <p:sp>
        <p:nvSpPr>
          <p:cNvPr id="46085" name="Rectangle 14">
            <a:extLst>
              <a:ext uri="{FF2B5EF4-FFF2-40B4-BE49-F238E27FC236}">
                <a16:creationId xmlns:a16="http://schemas.microsoft.com/office/drawing/2014/main" id="{DC120432-6FF8-D726-22E2-CF6B4DC4A1DA}"/>
              </a:ext>
            </a:extLst>
          </p:cNvPr>
          <p:cNvSpPr>
            <a:spLocks noGrp="1" noChangeArrowheads="1"/>
          </p:cNvSpPr>
          <p:nvPr>
            <p:ph type="body" idx="1"/>
          </p:nvPr>
        </p:nvSpPr>
        <p:spPr>
          <a:xfrm>
            <a:off x="228600" y="1981200"/>
            <a:ext cx="4191000" cy="838200"/>
          </a:xfrm>
        </p:spPr>
        <p:txBody>
          <a:bodyPr/>
          <a:lstStyle/>
          <a:p>
            <a:pPr marL="0" indent="0" eaLnBrk="1" hangingPunct="1">
              <a:spcBef>
                <a:spcPct val="0"/>
              </a:spcBef>
              <a:buClrTx/>
              <a:buFontTx/>
              <a:buNone/>
              <a:defRPr/>
            </a:pPr>
            <a:r>
              <a:rPr lang="en-US" sz="2400" b="0">
                <a:solidFill>
                  <a:schemeClr val="tx1"/>
                </a:solidFill>
              </a:rPr>
              <a:t>Figure 7.4(a) shows an efficient housing market.</a:t>
            </a:r>
            <a:endParaRPr lang="en-CA" sz="2400" b="0"/>
          </a:p>
        </p:txBody>
      </p:sp>
      <p:sp>
        <p:nvSpPr>
          <p:cNvPr id="465935" name="Text Box 15">
            <a:extLst>
              <a:ext uri="{FF2B5EF4-FFF2-40B4-BE49-F238E27FC236}">
                <a16:creationId xmlns:a16="http://schemas.microsoft.com/office/drawing/2014/main" id="{8A1FB80D-1BAA-CC08-A257-1A3EDA13A53F}"/>
              </a:ext>
            </a:extLst>
          </p:cNvPr>
          <p:cNvSpPr txBox="1">
            <a:spLocks noChangeArrowheads="1"/>
          </p:cNvSpPr>
          <p:nvPr/>
        </p:nvSpPr>
        <p:spPr bwMode="auto">
          <a:xfrm>
            <a:off x="76200" y="4419600"/>
            <a:ext cx="4419600" cy="461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280988" indent="-165100" eaLnBrk="0" hangingPunct="0">
              <a:defRPr sz="2400">
                <a:solidFill>
                  <a:schemeClr val="tx1"/>
                </a:solidFill>
                <a:latin typeface="Arial" charset="0"/>
                <a:ea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defRPr/>
            </a:pPr>
            <a:r>
              <a:rPr lang="en-US" b="1" dirty="0">
                <a:solidFill>
                  <a:srgbClr val="000000"/>
                </a:solidFill>
              </a:rPr>
              <a:t>2.</a:t>
            </a:r>
            <a:r>
              <a:rPr lang="en-US" dirty="0"/>
              <a:t> C</a:t>
            </a:r>
            <a:r>
              <a:rPr lang="en-US" dirty="0">
                <a:solidFill>
                  <a:srgbClr val="000000"/>
                </a:solidFill>
              </a:rPr>
              <a:t>onsumer surplus plus ...</a:t>
            </a:r>
          </a:p>
        </p:txBody>
      </p:sp>
      <p:sp>
        <p:nvSpPr>
          <p:cNvPr id="465948" name="Text Box 28">
            <a:extLst>
              <a:ext uri="{FF2B5EF4-FFF2-40B4-BE49-F238E27FC236}">
                <a16:creationId xmlns:a16="http://schemas.microsoft.com/office/drawing/2014/main" id="{133810C4-77F2-A699-1932-28BC2DA5198B}"/>
              </a:ext>
            </a:extLst>
          </p:cNvPr>
          <p:cNvSpPr txBox="1">
            <a:spLocks noChangeArrowheads="1"/>
          </p:cNvSpPr>
          <p:nvPr/>
        </p:nvSpPr>
        <p:spPr bwMode="auto">
          <a:xfrm>
            <a:off x="76200" y="5029200"/>
            <a:ext cx="4114800" cy="8223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461963" indent="-346075" eaLnBrk="0" hangingPunct="0">
              <a:defRPr sz="2400">
                <a:solidFill>
                  <a:schemeClr val="tx1"/>
                </a:solidFill>
                <a:latin typeface="Arial" charset="0"/>
                <a:ea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defRPr/>
            </a:pPr>
            <a:r>
              <a:rPr lang="en-US" b="1">
                <a:solidFill>
                  <a:srgbClr val="000000"/>
                </a:solidFill>
              </a:rPr>
              <a:t>3.</a:t>
            </a:r>
            <a:r>
              <a:rPr lang="en-US"/>
              <a:t> </a:t>
            </a:r>
            <a:r>
              <a:rPr lang="en-US">
                <a:solidFill>
                  <a:srgbClr val="000000"/>
                </a:solidFill>
              </a:rPr>
              <a:t>Producer surplus is as large as possible.</a:t>
            </a:r>
          </a:p>
        </p:txBody>
      </p:sp>
      <p:pic>
        <p:nvPicPr>
          <p:cNvPr id="48135" name="Picture 5" descr="fig0704aa.gif">
            <a:extLst>
              <a:ext uri="{FF2B5EF4-FFF2-40B4-BE49-F238E27FC236}">
                <a16:creationId xmlns:a16="http://schemas.microsoft.com/office/drawing/2014/main" id="{CFA4D4C3-8002-364E-FF33-805FE95C1A3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95800" y="1676400"/>
            <a:ext cx="4503738" cy="470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descr="fig0704ab.gif">
            <a:extLst>
              <a:ext uri="{FF2B5EF4-FFF2-40B4-BE49-F238E27FC236}">
                <a16:creationId xmlns:a16="http://schemas.microsoft.com/office/drawing/2014/main" id="{A3097D9F-F92E-CBE2-AF0F-21BED49E24B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495800" y="1676400"/>
            <a:ext cx="4503738" cy="470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descr="fig0704ac.gif">
            <a:extLst>
              <a:ext uri="{FF2B5EF4-FFF2-40B4-BE49-F238E27FC236}">
                <a16:creationId xmlns:a16="http://schemas.microsoft.com/office/drawing/2014/main" id="{51AECC7C-35C1-8510-CF08-9FB1681A525B}"/>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495800" y="1676400"/>
            <a:ext cx="4503738" cy="470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descr="fig0704ad.gif">
            <a:extLst>
              <a:ext uri="{FF2B5EF4-FFF2-40B4-BE49-F238E27FC236}">
                <a16:creationId xmlns:a16="http://schemas.microsoft.com/office/drawing/2014/main" id="{14B4000F-C892-8613-E841-27D0C8CE8D57}"/>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495800" y="1676400"/>
            <a:ext cx="4503738" cy="470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65929"/>
                                        </p:tgtEl>
                                        <p:attrNameLst>
                                          <p:attrName>style.visibility</p:attrName>
                                        </p:attrNameLst>
                                      </p:cBhvr>
                                      <p:to>
                                        <p:strVal val="visible"/>
                                      </p:to>
                                    </p:set>
                                    <p:animEffect transition="in" filter="wipe(left)">
                                      <p:cBhvr>
                                        <p:cTn id="7" dur="500"/>
                                        <p:tgtEl>
                                          <p:spTgt spid="465929"/>
                                        </p:tgtEl>
                                      </p:cBhvr>
                                    </p:animEffect>
                                  </p:childTnLst>
                                </p:cTn>
                              </p:par>
                            </p:childTnLst>
                          </p:cTn>
                        </p:par>
                        <p:par>
                          <p:cTn id="8" fill="hold" nodeType="afterGroup">
                            <p:stCondLst>
                              <p:cond delay="500"/>
                            </p:stCondLst>
                            <p:childTnLst>
                              <p:par>
                                <p:cTn id="9" presetID="10"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465935"/>
                                        </p:tgtEl>
                                        <p:attrNameLst>
                                          <p:attrName>style.visibility</p:attrName>
                                        </p:attrNameLst>
                                      </p:cBhvr>
                                      <p:to>
                                        <p:strVal val="visible"/>
                                      </p:to>
                                    </p:set>
                                    <p:animEffect transition="in" filter="wipe(left)">
                                      <p:cBhvr>
                                        <p:cTn id="16" dur="500"/>
                                        <p:tgtEl>
                                          <p:spTgt spid="465935"/>
                                        </p:tgtEl>
                                      </p:cBhvr>
                                    </p:animEffect>
                                  </p:childTnLst>
                                </p:cTn>
                              </p:par>
                            </p:childTnLst>
                          </p:cTn>
                        </p:par>
                        <p:par>
                          <p:cTn id="17" fill="hold" nodeType="afterGroup">
                            <p:stCondLst>
                              <p:cond delay="500"/>
                            </p:stCondLst>
                            <p:childTnLst>
                              <p:par>
                                <p:cTn id="18" presetID="10" presetClass="entr" presetSubtype="0" fill="hold"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465948"/>
                                        </p:tgtEl>
                                        <p:attrNameLst>
                                          <p:attrName>style.visibility</p:attrName>
                                        </p:attrNameLst>
                                      </p:cBhvr>
                                      <p:to>
                                        <p:strVal val="visible"/>
                                      </p:to>
                                    </p:set>
                                    <p:animEffect transition="in" filter="wipe(left)">
                                      <p:cBhvr>
                                        <p:cTn id="25" dur="500"/>
                                        <p:tgtEl>
                                          <p:spTgt spid="465948"/>
                                        </p:tgtEl>
                                      </p:cBhvr>
                                    </p:animEffect>
                                  </p:childTnLst>
                                </p:cTn>
                              </p:par>
                            </p:childTnLst>
                          </p:cTn>
                        </p:par>
                        <p:par>
                          <p:cTn id="26" fill="hold" nodeType="afterGroup">
                            <p:stCondLst>
                              <p:cond delay="500"/>
                            </p:stCondLst>
                            <p:childTnLst>
                              <p:par>
                                <p:cTn id="27" presetID="10" presetClass="entr" presetSubtype="0" fill="hold" nodeType="after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5929" grpId="0" autoUpdateAnimBg="0"/>
      <p:bldP spid="465935" grpId="0" autoUpdateAnimBg="0"/>
      <p:bldP spid="465948"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3" y="152064"/>
            <a:ext cx="8419529" cy="1321437"/>
          </a:xfrm>
        </p:spPr>
        <p:txBody>
          <a:bodyPr/>
          <a:lstStyle/>
          <a:p>
            <a:pPr algn="l"/>
            <a:r>
              <a:rPr lang="en-US" sz="3200" dirty="0"/>
              <a:t>Figure 7.2 </a:t>
            </a:r>
            <a:br>
              <a:rPr lang="en-US" sz="3200" dirty="0"/>
            </a:br>
            <a:r>
              <a:rPr lang="en-US" sz="3200" dirty="0"/>
              <a:t>The inefficiency of a rent ceiling</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637" y="1770275"/>
            <a:ext cx="8312727" cy="3602941"/>
          </a:xfrm>
          <a:prstGeom prst="rect">
            <a:avLst/>
          </a:prstGeom>
        </p:spPr>
      </p:pic>
    </p:spTree>
    <p:extLst>
      <p:ext uri="{BB962C8B-B14F-4D97-AF65-F5344CB8AC3E}">
        <p14:creationId xmlns:p14="http://schemas.microsoft.com/office/powerpoint/2010/main" val="908511984"/>
      </p:ext>
    </p:extLst>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0177" name="Picture 5" descr="fig0704aa.gif">
            <a:extLst>
              <a:ext uri="{FF2B5EF4-FFF2-40B4-BE49-F238E27FC236}">
                <a16:creationId xmlns:a16="http://schemas.microsoft.com/office/drawing/2014/main" id="{7CBEAC77-26F6-DF1A-8AB3-8C3E1456907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52400"/>
            <a:ext cx="5962650" cy="622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descr="fig0704ab.gif">
            <a:extLst>
              <a:ext uri="{FF2B5EF4-FFF2-40B4-BE49-F238E27FC236}">
                <a16:creationId xmlns:a16="http://schemas.microsoft.com/office/drawing/2014/main" id="{E87E51B8-3170-AE4E-0311-31BE4FEF87C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152400"/>
            <a:ext cx="5962650" cy="622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descr="fig0704ac.gif">
            <a:extLst>
              <a:ext uri="{FF2B5EF4-FFF2-40B4-BE49-F238E27FC236}">
                <a16:creationId xmlns:a16="http://schemas.microsoft.com/office/drawing/2014/main" id="{0B4B8A17-A16D-B61A-15F4-2C5E38301DEB}"/>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600200" y="152400"/>
            <a:ext cx="5962650" cy="622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descr="fig0704ad.gif">
            <a:extLst>
              <a:ext uri="{FF2B5EF4-FFF2-40B4-BE49-F238E27FC236}">
                <a16:creationId xmlns:a16="http://schemas.microsoft.com/office/drawing/2014/main" id="{0D54E094-64AC-EC6D-4161-ECB84AA524AE}"/>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600200" y="152400"/>
            <a:ext cx="5962650" cy="622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0" name="Rectangle 18">
            <a:extLst>
              <a:ext uri="{FF2B5EF4-FFF2-40B4-BE49-F238E27FC236}">
                <a16:creationId xmlns:a16="http://schemas.microsoft.com/office/drawing/2014/main" id="{7E3F0EB4-AF15-8564-0899-419BCBDFD212}"/>
              </a:ext>
            </a:extLst>
          </p:cNvPr>
          <p:cNvSpPr>
            <a:spLocks noGrp="1" noChangeArrowheads="1"/>
          </p:cNvSpPr>
          <p:nvPr>
            <p:ph type="title"/>
          </p:nvPr>
        </p:nvSpPr>
        <p:spPr>
          <a:xfrm>
            <a:off x="381000" y="990600"/>
            <a:ext cx="8229600" cy="533400"/>
          </a:xfrm>
        </p:spPr>
        <p:txBody>
          <a:bodyPr/>
          <a:lstStyle/>
          <a:p>
            <a:pPr eaLnBrk="1" hangingPunct="1">
              <a:defRPr/>
            </a:pPr>
            <a:r>
              <a:rPr lang="en-US"/>
              <a:t>7.1  PRICE CEILINGS</a:t>
            </a:r>
            <a:endParaRPr lang="en-CA"/>
          </a:p>
        </p:txBody>
      </p:sp>
      <p:sp>
        <p:nvSpPr>
          <p:cNvPr id="48131" name="Rectangle 19">
            <a:extLst>
              <a:ext uri="{FF2B5EF4-FFF2-40B4-BE49-F238E27FC236}">
                <a16:creationId xmlns:a16="http://schemas.microsoft.com/office/drawing/2014/main" id="{6064172D-610B-67FD-CFA5-5E0E235F1ECC}"/>
              </a:ext>
            </a:extLst>
          </p:cNvPr>
          <p:cNvSpPr>
            <a:spLocks noGrp="1" noChangeArrowheads="1"/>
          </p:cNvSpPr>
          <p:nvPr>
            <p:ph type="body" idx="1"/>
          </p:nvPr>
        </p:nvSpPr>
        <p:spPr>
          <a:xfrm>
            <a:off x="228600" y="1828800"/>
            <a:ext cx="4191000" cy="838200"/>
          </a:xfrm>
        </p:spPr>
        <p:txBody>
          <a:bodyPr/>
          <a:lstStyle/>
          <a:p>
            <a:pPr marL="0" indent="0" eaLnBrk="1" hangingPunct="1">
              <a:spcBef>
                <a:spcPct val="0"/>
              </a:spcBef>
              <a:buClrTx/>
              <a:buFontTx/>
              <a:buNone/>
              <a:defRPr/>
            </a:pPr>
            <a:r>
              <a:rPr lang="en-US" sz="2400" b="0">
                <a:solidFill>
                  <a:schemeClr val="tx1"/>
                </a:solidFill>
              </a:rPr>
              <a:t>Figure 7.4(b) shows the inefficiency of a rent ceiling.</a:t>
            </a:r>
            <a:endParaRPr lang="en-CA" sz="2400" b="0"/>
          </a:p>
        </p:txBody>
      </p:sp>
      <p:sp>
        <p:nvSpPr>
          <p:cNvPr id="467988" name="Rectangle 20">
            <a:extLst>
              <a:ext uri="{FF2B5EF4-FFF2-40B4-BE49-F238E27FC236}">
                <a16:creationId xmlns:a16="http://schemas.microsoft.com/office/drawing/2014/main" id="{04C11B8D-A896-50E7-1250-12AF80190D87}"/>
              </a:ext>
            </a:extLst>
          </p:cNvPr>
          <p:cNvSpPr>
            <a:spLocks noChangeArrowheads="1"/>
          </p:cNvSpPr>
          <p:nvPr/>
        </p:nvSpPr>
        <p:spPr bwMode="auto">
          <a:xfrm>
            <a:off x="152400" y="2743200"/>
            <a:ext cx="4114800" cy="1600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58738" indent="-58738">
              <a:defRPr/>
            </a:pPr>
            <a:r>
              <a:rPr lang="en-US" b="1">
                <a:solidFill>
                  <a:srgbClr val="000000"/>
                </a:solidFill>
                <a:latin typeface="Arial" charset="0"/>
                <a:ea typeface="ＭＳ Ｐゴシック" charset="0"/>
              </a:rPr>
              <a:t>	</a:t>
            </a:r>
            <a:r>
              <a:rPr lang="en-US">
                <a:solidFill>
                  <a:srgbClr val="000000"/>
                </a:solidFill>
                <a:latin typeface="Arial" charset="0"/>
                <a:ea typeface="ＭＳ Ｐゴシック" charset="0"/>
              </a:rPr>
              <a:t>A rent ceiling restricts the quantity supplied and marginal benefit exceeds marginal cost.</a:t>
            </a:r>
            <a:endParaRPr lang="en-CA">
              <a:solidFill>
                <a:srgbClr val="000000"/>
              </a:solidFill>
              <a:latin typeface="Arial" charset="0"/>
              <a:ea typeface="ＭＳ Ｐゴシック" charset="0"/>
            </a:endParaRPr>
          </a:p>
        </p:txBody>
      </p:sp>
      <p:sp>
        <p:nvSpPr>
          <p:cNvPr id="467989" name="Rectangle 21">
            <a:extLst>
              <a:ext uri="{FF2B5EF4-FFF2-40B4-BE49-F238E27FC236}">
                <a16:creationId xmlns:a16="http://schemas.microsoft.com/office/drawing/2014/main" id="{2111CEB9-FBDB-4C5B-5788-34134D201B8E}"/>
              </a:ext>
            </a:extLst>
          </p:cNvPr>
          <p:cNvSpPr>
            <a:spLocks noChangeArrowheads="1"/>
          </p:cNvSpPr>
          <p:nvPr/>
        </p:nvSpPr>
        <p:spPr bwMode="auto">
          <a:xfrm>
            <a:off x="152400" y="4419600"/>
            <a:ext cx="4267200" cy="762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88938" indent="-323850">
              <a:defRPr/>
            </a:pPr>
            <a:r>
              <a:rPr lang="en-US" b="1">
                <a:solidFill>
                  <a:srgbClr val="000000"/>
                </a:solidFill>
                <a:latin typeface="Arial" charset="0"/>
                <a:ea typeface="ＭＳ Ｐゴシック" charset="0"/>
              </a:rPr>
              <a:t>1.</a:t>
            </a:r>
            <a:r>
              <a:rPr lang="en-US">
                <a:solidFill>
                  <a:srgbClr val="000000"/>
                </a:solidFill>
                <a:latin typeface="Arial" charset="0"/>
                <a:ea typeface="ＭＳ Ｐゴシック" charset="0"/>
              </a:rPr>
              <a:t> Consumer surplus shrinks.</a:t>
            </a:r>
            <a:endParaRPr lang="en-CA">
              <a:solidFill>
                <a:srgbClr val="000000"/>
              </a:solidFill>
              <a:latin typeface="Arial" charset="0"/>
              <a:ea typeface="ＭＳ Ｐゴシック" charset="0"/>
            </a:endParaRPr>
          </a:p>
        </p:txBody>
      </p:sp>
      <p:sp>
        <p:nvSpPr>
          <p:cNvPr id="467998" name="Rectangle 30">
            <a:extLst>
              <a:ext uri="{FF2B5EF4-FFF2-40B4-BE49-F238E27FC236}">
                <a16:creationId xmlns:a16="http://schemas.microsoft.com/office/drawing/2014/main" id="{00ED9DAD-A52A-B69E-180B-03A001563BAB}"/>
              </a:ext>
            </a:extLst>
          </p:cNvPr>
          <p:cNvSpPr>
            <a:spLocks noChangeArrowheads="1"/>
          </p:cNvSpPr>
          <p:nvPr/>
        </p:nvSpPr>
        <p:spPr bwMode="auto">
          <a:xfrm>
            <a:off x="152400" y="5029200"/>
            <a:ext cx="4114800"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88938" indent="-323850">
              <a:defRPr/>
            </a:pPr>
            <a:r>
              <a:rPr lang="en-US" b="1">
                <a:solidFill>
                  <a:srgbClr val="000000"/>
                </a:solidFill>
                <a:latin typeface="Arial" charset="0"/>
                <a:ea typeface="ＭＳ Ｐゴシック" charset="0"/>
              </a:rPr>
              <a:t>2.</a:t>
            </a:r>
            <a:r>
              <a:rPr lang="en-US">
                <a:latin typeface="Arial" charset="0"/>
                <a:ea typeface="ＭＳ Ｐゴシック" charset="0"/>
              </a:rPr>
              <a:t> </a:t>
            </a:r>
            <a:r>
              <a:rPr lang="en-US">
                <a:solidFill>
                  <a:srgbClr val="000000"/>
                </a:solidFill>
                <a:latin typeface="Arial" charset="0"/>
                <a:ea typeface="ＭＳ Ｐゴシック" charset="0"/>
              </a:rPr>
              <a:t>Producer surplus shrinks.</a:t>
            </a:r>
            <a:endParaRPr lang="en-CA">
              <a:solidFill>
                <a:srgbClr val="000000"/>
              </a:solidFill>
              <a:latin typeface="Arial" charset="0"/>
              <a:ea typeface="ＭＳ Ｐゴシック" charset="0"/>
            </a:endParaRPr>
          </a:p>
        </p:txBody>
      </p:sp>
      <p:pic>
        <p:nvPicPr>
          <p:cNvPr id="52230" name="Picture 7" descr="fig0704ba.gif">
            <a:extLst>
              <a:ext uri="{FF2B5EF4-FFF2-40B4-BE49-F238E27FC236}">
                <a16:creationId xmlns:a16="http://schemas.microsoft.com/office/drawing/2014/main" id="{4BEBE457-55E4-EB6C-71A2-1CE068573BF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95800" y="1676400"/>
            <a:ext cx="4503738" cy="470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descr="fig0704bb.gif">
            <a:extLst>
              <a:ext uri="{FF2B5EF4-FFF2-40B4-BE49-F238E27FC236}">
                <a16:creationId xmlns:a16="http://schemas.microsoft.com/office/drawing/2014/main" id="{57683F07-0467-BC8A-397D-C064435E826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495800" y="1676400"/>
            <a:ext cx="4503738" cy="470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fig0704bc.gif">
            <a:extLst>
              <a:ext uri="{FF2B5EF4-FFF2-40B4-BE49-F238E27FC236}">
                <a16:creationId xmlns:a16="http://schemas.microsoft.com/office/drawing/2014/main" id="{D355146D-A710-F644-DB7C-CC97998B150F}"/>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495800" y="1676400"/>
            <a:ext cx="4503738" cy="470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descr="fig0704bd.gif">
            <a:extLst>
              <a:ext uri="{FF2B5EF4-FFF2-40B4-BE49-F238E27FC236}">
                <a16:creationId xmlns:a16="http://schemas.microsoft.com/office/drawing/2014/main" id="{3BB6DE07-206C-8C69-34A5-1C2AFBA85D08}"/>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495800" y="1676400"/>
            <a:ext cx="4503738" cy="470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1" descr="fig0704be.gif">
            <a:extLst>
              <a:ext uri="{FF2B5EF4-FFF2-40B4-BE49-F238E27FC236}">
                <a16:creationId xmlns:a16="http://schemas.microsoft.com/office/drawing/2014/main" id="{578B5664-B770-30D7-503E-B0DFCA9F7330}"/>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495800" y="1676400"/>
            <a:ext cx="4503738" cy="470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67988"/>
                                        </p:tgtEl>
                                        <p:attrNameLst>
                                          <p:attrName>style.visibility</p:attrName>
                                        </p:attrNameLst>
                                      </p:cBhvr>
                                      <p:to>
                                        <p:strVal val="visible"/>
                                      </p:to>
                                    </p:set>
                                    <p:animEffect transition="in" filter="wipe(left)">
                                      <p:cBhvr>
                                        <p:cTn id="7" dur="500"/>
                                        <p:tgtEl>
                                          <p:spTgt spid="467988"/>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childTnLst>
                          </p:cTn>
                        </p:par>
                        <p:par>
                          <p:cTn id="12" fill="hold" nodeType="afterGroup">
                            <p:stCondLst>
                              <p:cond delay="1000"/>
                            </p:stCondLst>
                            <p:childTnLst>
                              <p:par>
                                <p:cTn id="13" presetID="10" presetClass="entr" presetSubtype="0"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467989"/>
                                        </p:tgtEl>
                                        <p:attrNameLst>
                                          <p:attrName>style.visibility</p:attrName>
                                        </p:attrNameLst>
                                      </p:cBhvr>
                                      <p:to>
                                        <p:strVal val="visible"/>
                                      </p:to>
                                    </p:set>
                                    <p:animEffect transition="in" filter="wipe(left)">
                                      <p:cBhvr>
                                        <p:cTn id="20" dur="500"/>
                                        <p:tgtEl>
                                          <p:spTgt spid="467989"/>
                                        </p:tgtEl>
                                      </p:cBhvr>
                                    </p:animEffect>
                                  </p:childTnLst>
                                </p:cTn>
                              </p:par>
                            </p:childTnLst>
                          </p:cTn>
                        </p:par>
                        <p:par>
                          <p:cTn id="21" fill="hold" nodeType="afterGroup">
                            <p:stCondLst>
                              <p:cond delay="500"/>
                            </p:stCondLst>
                            <p:childTnLst>
                              <p:par>
                                <p:cTn id="22" presetID="10" presetClass="entr" presetSubtype="0" fill="hold"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467998"/>
                                        </p:tgtEl>
                                        <p:attrNameLst>
                                          <p:attrName>style.visibility</p:attrName>
                                        </p:attrNameLst>
                                      </p:cBhvr>
                                      <p:to>
                                        <p:strVal val="visible"/>
                                      </p:to>
                                    </p:set>
                                    <p:animEffect transition="in" filter="wipe(left)">
                                      <p:cBhvr>
                                        <p:cTn id="29" dur="500"/>
                                        <p:tgtEl>
                                          <p:spTgt spid="467998"/>
                                        </p:tgtEl>
                                      </p:cBhvr>
                                    </p:animEffect>
                                  </p:childTnLst>
                                </p:cTn>
                              </p:par>
                            </p:childTnLst>
                          </p:cTn>
                        </p:par>
                        <p:par>
                          <p:cTn id="30" fill="hold" nodeType="afterGroup">
                            <p:stCondLst>
                              <p:cond delay="500"/>
                            </p:stCondLst>
                            <p:childTnLst>
                              <p:par>
                                <p:cTn id="31" presetID="10" presetClass="entr" presetSubtype="0" fill="hold"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7988"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4273" name="Picture 9" descr="fig0704ba.gif">
            <a:extLst>
              <a:ext uri="{FF2B5EF4-FFF2-40B4-BE49-F238E27FC236}">
                <a16:creationId xmlns:a16="http://schemas.microsoft.com/office/drawing/2014/main" id="{9B8B27E9-8AD9-8DED-4EEB-2AEB429BCF7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52400"/>
            <a:ext cx="5962650" cy="622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descr="fig0704bb.gif">
            <a:extLst>
              <a:ext uri="{FF2B5EF4-FFF2-40B4-BE49-F238E27FC236}">
                <a16:creationId xmlns:a16="http://schemas.microsoft.com/office/drawing/2014/main" id="{E756854D-B2FE-404F-50A3-B837F287EB0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152400"/>
            <a:ext cx="5962650" cy="622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1" descr="fig0704bc.gif">
            <a:extLst>
              <a:ext uri="{FF2B5EF4-FFF2-40B4-BE49-F238E27FC236}">
                <a16:creationId xmlns:a16="http://schemas.microsoft.com/office/drawing/2014/main" id="{8C8EAE03-0065-A6BA-402F-53CB3993F472}"/>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600200" y="152400"/>
            <a:ext cx="5962650" cy="622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descr="fig0704bd.gif">
            <a:extLst>
              <a:ext uri="{FF2B5EF4-FFF2-40B4-BE49-F238E27FC236}">
                <a16:creationId xmlns:a16="http://schemas.microsoft.com/office/drawing/2014/main" id="{04996A21-4A64-2477-6E5C-5DFEDF834015}"/>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600200" y="152400"/>
            <a:ext cx="5962650" cy="622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3" descr="fig0704be.gif">
            <a:extLst>
              <a:ext uri="{FF2B5EF4-FFF2-40B4-BE49-F238E27FC236}">
                <a16:creationId xmlns:a16="http://schemas.microsoft.com/office/drawing/2014/main" id="{12D028F9-8E26-76BF-E00C-CF1303894BEC}"/>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600200" y="152400"/>
            <a:ext cx="5962650" cy="622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4" descr="fig0704bf.gif">
            <a:extLst>
              <a:ext uri="{FF2B5EF4-FFF2-40B4-BE49-F238E27FC236}">
                <a16:creationId xmlns:a16="http://schemas.microsoft.com/office/drawing/2014/main" id="{465BC3D0-0348-8899-A6B0-9C1FB3A212DF}"/>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1600200" y="152400"/>
            <a:ext cx="5962650" cy="622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5" descr="fig0704bg.gif">
            <a:extLst>
              <a:ext uri="{FF2B5EF4-FFF2-40B4-BE49-F238E27FC236}">
                <a16:creationId xmlns:a16="http://schemas.microsoft.com/office/drawing/2014/main" id="{D9DC0B4A-F723-2AC3-9378-0A9B5400F120}"/>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1600200" y="152400"/>
            <a:ext cx="5962650" cy="622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nodeType="afterGroup">
                            <p:stCondLst>
                              <p:cond delay="500"/>
                            </p:stCondLst>
                            <p:childTnLst>
                              <p:par>
                                <p:cTn id="9" presetID="10" presetClass="entr" presetSubtype="0"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0" presetClass="entr" presetSubtype="0" fill="hold" nodeType="click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500"/>
                                        <p:tgtEl>
                                          <p:spTgt spid="1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0" presetClass="entr" presetSubtype="0"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8" name="Rectangle 13">
            <a:extLst>
              <a:ext uri="{FF2B5EF4-FFF2-40B4-BE49-F238E27FC236}">
                <a16:creationId xmlns:a16="http://schemas.microsoft.com/office/drawing/2014/main" id="{D4F80077-9CB6-FE53-8D85-100F94971553}"/>
              </a:ext>
            </a:extLst>
          </p:cNvPr>
          <p:cNvSpPr>
            <a:spLocks noGrp="1" noChangeArrowheads="1"/>
          </p:cNvSpPr>
          <p:nvPr>
            <p:ph type="title"/>
          </p:nvPr>
        </p:nvSpPr>
        <p:spPr>
          <a:xfrm>
            <a:off x="381000" y="990600"/>
            <a:ext cx="8229600" cy="533400"/>
          </a:xfrm>
        </p:spPr>
        <p:txBody>
          <a:bodyPr/>
          <a:lstStyle/>
          <a:p>
            <a:pPr eaLnBrk="1" hangingPunct="1">
              <a:defRPr/>
            </a:pPr>
            <a:r>
              <a:rPr lang="en-US"/>
              <a:t>7.1  PRICE CEILINGS</a:t>
            </a:r>
            <a:endParaRPr lang="en-CA"/>
          </a:p>
        </p:txBody>
      </p:sp>
      <p:sp>
        <p:nvSpPr>
          <p:cNvPr id="526350" name="Rectangle 14">
            <a:extLst>
              <a:ext uri="{FF2B5EF4-FFF2-40B4-BE49-F238E27FC236}">
                <a16:creationId xmlns:a16="http://schemas.microsoft.com/office/drawing/2014/main" id="{D0832E6A-CB86-836B-D4C5-7287A80AB602}"/>
              </a:ext>
            </a:extLst>
          </p:cNvPr>
          <p:cNvSpPr>
            <a:spLocks noGrp="1" noChangeArrowheads="1"/>
          </p:cNvSpPr>
          <p:nvPr>
            <p:ph type="body" idx="1"/>
          </p:nvPr>
        </p:nvSpPr>
        <p:spPr>
          <a:xfrm>
            <a:off x="152400" y="1828800"/>
            <a:ext cx="4191000" cy="609600"/>
          </a:xfrm>
        </p:spPr>
        <p:txBody>
          <a:bodyPr/>
          <a:lstStyle/>
          <a:p>
            <a:pPr marL="0" indent="0" eaLnBrk="1" hangingPunct="1">
              <a:spcBef>
                <a:spcPct val="0"/>
              </a:spcBef>
              <a:buClrTx/>
              <a:buFontTx/>
              <a:buNone/>
              <a:defRPr/>
            </a:pPr>
            <a:r>
              <a:rPr lang="en-US" sz="2400">
                <a:solidFill>
                  <a:schemeClr val="tx1"/>
                </a:solidFill>
              </a:rPr>
              <a:t>3.</a:t>
            </a:r>
            <a:r>
              <a:rPr lang="en-US" sz="2400" b="0">
                <a:solidFill>
                  <a:schemeClr val="tx1"/>
                </a:solidFill>
              </a:rPr>
              <a:t> A deadweight loss arises.</a:t>
            </a:r>
            <a:endParaRPr lang="en-CA" sz="2400" b="0"/>
          </a:p>
        </p:txBody>
      </p:sp>
      <p:sp>
        <p:nvSpPr>
          <p:cNvPr id="526351" name="Rectangle 15">
            <a:extLst>
              <a:ext uri="{FF2B5EF4-FFF2-40B4-BE49-F238E27FC236}">
                <a16:creationId xmlns:a16="http://schemas.microsoft.com/office/drawing/2014/main" id="{A401FFD8-95FB-0C81-9F9F-C13642B36303}"/>
              </a:ext>
            </a:extLst>
          </p:cNvPr>
          <p:cNvSpPr>
            <a:spLocks noChangeArrowheads="1"/>
          </p:cNvSpPr>
          <p:nvPr/>
        </p:nvSpPr>
        <p:spPr bwMode="auto">
          <a:xfrm>
            <a:off x="152400" y="2590800"/>
            <a:ext cx="4343400" cy="1600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6075" indent="-346075">
              <a:defRPr/>
            </a:pPr>
            <a:r>
              <a:rPr lang="en-US" b="1" dirty="0">
                <a:solidFill>
                  <a:srgbClr val="000000"/>
                </a:solidFill>
                <a:latin typeface="Arial" charset="0"/>
                <a:ea typeface="ＭＳ Ｐゴシック" charset="0"/>
              </a:rPr>
              <a:t>4.</a:t>
            </a:r>
            <a:r>
              <a:rPr lang="en-US" dirty="0">
                <a:solidFill>
                  <a:srgbClr val="000000"/>
                </a:solidFill>
                <a:latin typeface="Arial" charset="0"/>
                <a:ea typeface="ＭＳ Ｐゴシック" charset="0"/>
              </a:rPr>
              <a:t> Other resources are lost in search activity and evading and enforcing the rent ceiling law.</a:t>
            </a:r>
            <a:endParaRPr lang="en-CA" dirty="0">
              <a:solidFill>
                <a:srgbClr val="000000"/>
              </a:solidFill>
              <a:latin typeface="Arial" charset="0"/>
              <a:ea typeface="ＭＳ Ｐゴシック" charset="0"/>
            </a:endParaRPr>
          </a:p>
        </p:txBody>
      </p:sp>
      <p:sp>
        <p:nvSpPr>
          <p:cNvPr id="526352" name="Rectangle 16">
            <a:extLst>
              <a:ext uri="{FF2B5EF4-FFF2-40B4-BE49-F238E27FC236}">
                <a16:creationId xmlns:a16="http://schemas.microsoft.com/office/drawing/2014/main" id="{A44BCFCC-5469-4212-05BE-1F37540EF8CE}"/>
              </a:ext>
            </a:extLst>
          </p:cNvPr>
          <p:cNvSpPr>
            <a:spLocks noChangeArrowheads="1"/>
          </p:cNvSpPr>
          <p:nvPr/>
        </p:nvSpPr>
        <p:spPr bwMode="auto">
          <a:xfrm>
            <a:off x="152400" y="4419600"/>
            <a:ext cx="4114800" cy="609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r>
              <a:rPr lang="en-US">
                <a:solidFill>
                  <a:srgbClr val="000000"/>
                </a:solidFill>
                <a:latin typeface="Arial" charset="0"/>
                <a:ea typeface="ＭＳ Ｐゴシック" charset="0"/>
              </a:rPr>
              <a:t>Resource use is inefficient.</a:t>
            </a:r>
            <a:endParaRPr lang="en-CA">
              <a:solidFill>
                <a:srgbClr val="000000"/>
              </a:solidFill>
              <a:latin typeface="Arial" charset="0"/>
              <a:ea typeface="ＭＳ Ｐゴシック" charset="0"/>
            </a:endParaRPr>
          </a:p>
        </p:txBody>
      </p:sp>
      <p:pic>
        <p:nvPicPr>
          <p:cNvPr id="56325" name="Picture 7" descr="fig0704ba.gif">
            <a:extLst>
              <a:ext uri="{FF2B5EF4-FFF2-40B4-BE49-F238E27FC236}">
                <a16:creationId xmlns:a16="http://schemas.microsoft.com/office/drawing/2014/main" id="{10293877-5402-7558-189C-3223F5BBD84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95800" y="1676400"/>
            <a:ext cx="4503738" cy="470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6" name="Picture 8" descr="fig0704bb.gif">
            <a:extLst>
              <a:ext uri="{FF2B5EF4-FFF2-40B4-BE49-F238E27FC236}">
                <a16:creationId xmlns:a16="http://schemas.microsoft.com/office/drawing/2014/main" id="{8CB207F4-A3DF-064D-A571-FB66712CC1B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495800" y="1676400"/>
            <a:ext cx="4503738" cy="470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7" name="Picture 9" descr="fig0704bc.gif">
            <a:extLst>
              <a:ext uri="{FF2B5EF4-FFF2-40B4-BE49-F238E27FC236}">
                <a16:creationId xmlns:a16="http://schemas.microsoft.com/office/drawing/2014/main" id="{6BD41E37-72B3-DC1A-8EE7-9B6DEFE89C02}"/>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495800" y="1676400"/>
            <a:ext cx="4503738" cy="470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8" name="Picture 10" descr="fig0704bd.gif">
            <a:extLst>
              <a:ext uri="{FF2B5EF4-FFF2-40B4-BE49-F238E27FC236}">
                <a16:creationId xmlns:a16="http://schemas.microsoft.com/office/drawing/2014/main" id="{FD81C827-1109-18F9-60DD-3EA99792523D}"/>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495800" y="1676400"/>
            <a:ext cx="4503738" cy="470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9" name="Picture 11" descr="fig0704be.gif">
            <a:extLst>
              <a:ext uri="{FF2B5EF4-FFF2-40B4-BE49-F238E27FC236}">
                <a16:creationId xmlns:a16="http://schemas.microsoft.com/office/drawing/2014/main" id="{BF59A78D-6E10-FF82-C411-90F85F5E6B98}"/>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495800" y="1676400"/>
            <a:ext cx="4503738" cy="470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descr="fig0704bf.gif">
            <a:extLst>
              <a:ext uri="{FF2B5EF4-FFF2-40B4-BE49-F238E27FC236}">
                <a16:creationId xmlns:a16="http://schemas.microsoft.com/office/drawing/2014/main" id="{F302B4C7-19E3-B21B-0ABE-C13B8E7DAEAB}"/>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4495800" y="1676400"/>
            <a:ext cx="4503738" cy="470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3" descr="fig0704bg.gif">
            <a:extLst>
              <a:ext uri="{FF2B5EF4-FFF2-40B4-BE49-F238E27FC236}">
                <a16:creationId xmlns:a16="http://schemas.microsoft.com/office/drawing/2014/main" id="{C9FD0646-5CA0-9356-69E2-428985432091}"/>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4495800" y="1676400"/>
            <a:ext cx="4503738" cy="470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26350">
                                            <p:txEl>
                                              <p:pRg st="0" end="0"/>
                                            </p:txEl>
                                          </p:spTgt>
                                        </p:tgtEl>
                                        <p:attrNameLst>
                                          <p:attrName>style.visibility</p:attrName>
                                        </p:attrNameLst>
                                      </p:cBhvr>
                                      <p:to>
                                        <p:strVal val="visible"/>
                                      </p:to>
                                    </p:set>
                                    <p:animEffect transition="in" filter="wipe(left)">
                                      <p:cBhvr>
                                        <p:cTn id="7" dur="500"/>
                                        <p:tgtEl>
                                          <p:spTgt spid="526350">
                                            <p:txEl>
                                              <p:pRg st="0" end="0"/>
                                            </p:txEl>
                                          </p:spTgt>
                                        </p:tgtEl>
                                      </p:cBhvr>
                                    </p:animEffect>
                                  </p:childTnLst>
                                </p:cTn>
                              </p:par>
                            </p:childTnLst>
                          </p:cTn>
                        </p:par>
                        <p:par>
                          <p:cTn id="8" fill="hold" nodeType="afterGroup">
                            <p:stCondLst>
                              <p:cond delay="500"/>
                            </p:stCondLst>
                            <p:childTnLst>
                              <p:par>
                                <p:cTn id="9" presetID="10" presetClass="entr" presetSubtype="0"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526351"/>
                                        </p:tgtEl>
                                        <p:attrNameLst>
                                          <p:attrName>style.visibility</p:attrName>
                                        </p:attrNameLst>
                                      </p:cBhvr>
                                      <p:to>
                                        <p:strVal val="visible"/>
                                      </p:to>
                                    </p:set>
                                    <p:animEffect transition="in" filter="wipe(left)">
                                      <p:cBhvr>
                                        <p:cTn id="16" dur="500"/>
                                        <p:tgtEl>
                                          <p:spTgt spid="526351"/>
                                        </p:tgtEl>
                                      </p:cBhvr>
                                    </p:animEffect>
                                  </p:childTnLst>
                                </p:cTn>
                              </p:par>
                            </p:childTnLst>
                          </p:cTn>
                        </p:par>
                        <p:par>
                          <p:cTn id="17" fill="hold" nodeType="afterGroup">
                            <p:stCondLst>
                              <p:cond delay="500"/>
                            </p:stCondLst>
                            <p:childTnLst>
                              <p:par>
                                <p:cTn id="18" presetID="10" presetClass="entr" presetSubtype="0" fill="hold" nodeType="after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526352"/>
                                        </p:tgtEl>
                                        <p:attrNameLst>
                                          <p:attrName>style.visibility</p:attrName>
                                        </p:attrNameLst>
                                      </p:cBhvr>
                                      <p:to>
                                        <p:strVal val="visible"/>
                                      </p:to>
                                    </p:set>
                                    <p:animEffect transition="in" filter="wipe(left)">
                                      <p:cBhvr>
                                        <p:cTn id="25" dur="500"/>
                                        <p:tgtEl>
                                          <p:spTgt spid="5263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6350" grpId="0" build="p" bldLvl="3" autoUpdateAnimBg="0" advAuto="0"/>
      <p:bldP spid="526351" grpId="0" autoUpdateAnimBg="0"/>
      <p:bldP spid="526352"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2" name="Rectangle 4">
            <a:extLst>
              <a:ext uri="{FF2B5EF4-FFF2-40B4-BE49-F238E27FC236}">
                <a16:creationId xmlns:a16="http://schemas.microsoft.com/office/drawing/2014/main" id="{FAE32B9A-3178-14BA-AD38-A6361CD51A0E}"/>
              </a:ext>
            </a:extLst>
          </p:cNvPr>
          <p:cNvSpPr>
            <a:spLocks noGrp="1" noChangeArrowheads="1"/>
          </p:cNvSpPr>
          <p:nvPr>
            <p:ph type="title"/>
          </p:nvPr>
        </p:nvSpPr>
        <p:spPr/>
        <p:txBody>
          <a:bodyPr/>
          <a:lstStyle/>
          <a:p>
            <a:pPr eaLnBrk="1" hangingPunct="1">
              <a:defRPr/>
            </a:pPr>
            <a:r>
              <a:rPr lang="en-US"/>
              <a:t>7.1  PRICE CEILINGS</a:t>
            </a:r>
            <a:endParaRPr lang="en-CA"/>
          </a:p>
        </p:txBody>
      </p:sp>
      <p:sp>
        <p:nvSpPr>
          <p:cNvPr id="420869" name="Rectangle 5">
            <a:extLst>
              <a:ext uri="{FF2B5EF4-FFF2-40B4-BE49-F238E27FC236}">
                <a16:creationId xmlns:a16="http://schemas.microsoft.com/office/drawing/2014/main" id="{82042F34-1899-A913-6A72-CD0DE776B1CA}"/>
              </a:ext>
            </a:extLst>
          </p:cNvPr>
          <p:cNvSpPr>
            <a:spLocks noGrp="1" noChangeArrowheads="1"/>
          </p:cNvSpPr>
          <p:nvPr>
            <p:ph type="body" idx="1"/>
          </p:nvPr>
        </p:nvSpPr>
        <p:spPr>
          <a:xfrm>
            <a:off x="304800" y="2590800"/>
            <a:ext cx="8229600" cy="3352800"/>
          </a:xfrm>
        </p:spPr>
        <p:txBody>
          <a:bodyPr/>
          <a:lstStyle/>
          <a:p>
            <a:pPr lvl="1" eaLnBrk="1" hangingPunct="1"/>
            <a:r>
              <a:rPr lang="en-US" altLang="en-TW">
                <a:ea typeface="ＭＳ Ｐゴシック" panose="020B0600070205080204" pitchFamily="34" charset="-128"/>
              </a:rPr>
              <a:t>Are the rules fair?</a:t>
            </a:r>
          </a:p>
          <a:p>
            <a:pPr lvl="1" eaLnBrk="1" hangingPunct="1"/>
            <a:r>
              <a:rPr lang="en-US" altLang="en-TW">
                <a:ea typeface="ＭＳ Ｐゴシック" panose="020B0600070205080204" pitchFamily="34" charset="-128"/>
              </a:rPr>
              <a:t>Are the results fair?</a:t>
            </a:r>
          </a:p>
          <a:p>
            <a:pPr lvl="1" eaLnBrk="1" hangingPunct="1"/>
            <a:r>
              <a:rPr lang="en-US" altLang="en-TW">
                <a:ea typeface="ＭＳ Ｐゴシック" panose="020B0600070205080204" pitchFamily="34" charset="-128"/>
              </a:rPr>
              <a:t>Does blocking rent adjustments avoid scarcity?</a:t>
            </a:r>
          </a:p>
          <a:p>
            <a:pPr lvl="1" eaLnBrk="1" hangingPunct="1"/>
            <a:r>
              <a:rPr lang="en-US" altLang="en-TW">
                <a:ea typeface="ＭＳ Ｐゴシック" panose="020B0600070205080204" pitchFamily="34" charset="-128"/>
              </a:rPr>
              <a:t>What mechanisms allocate resources when prices don</a:t>
            </a:r>
            <a:r>
              <a:rPr lang="en-US" altLang="en-US">
                <a:ea typeface="ＭＳ Ｐゴシック" panose="020B0600070205080204" pitchFamily="34" charset="-128"/>
              </a:rPr>
              <a:t>’</a:t>
            </a:r>
            <a:r>
              <a:rPr lang="en-US" altLang="en-TW">
                <a:ea typeface="ＭＳ Ｐゴシック" panose="020B0600070205080204" pitchFamily="34" charset="-128"/>
              </a:rPr>
              <a:t>t do the job?</a:t>
            </a:r>
          </a:p>
          <a:p>
            <a:pPr lvl="1" eaLnBrk="1" hangingPunct="1"/>
            <a:r>
              <a:rPr lang="en-US" altLang="en-TW">
                <a:ea typeface="ＭＳ Ｐゴシック" panose="020B0600070205080204" pitchFamily="34" charset="-128"/>
              </a:rPr>
              <a:t>Are those non-price mechanisms fair?</a:t>
            </a:r>
          </a:p>
        </p:txBody>
      </p:sp>
      <p:sp>
        <p:nvSpPr>
          <p:cNvPr id="51204" name="Rectangle 6">
            <a:extLst>
              <a:ext uri="{FF2B5EF4-FFF2-40B4-BE49-F238E27FC236}">
                <a16:creationId xmlns:a16="http://schemas.microsoft.com/office/drawing/2014/main" id="{984BA47A-A38F-1170-E694-054A891A0B69}"/>
              </a:ext>
            </a:extLst>
          </p:cNvPr>
          <p:cNvSpPr>
            <a:spLocks noChangeArrowheads="1"/>
          </p:cNvSpPr>
          <p:nvPr/>
        </p:nvSpPr>
        <p:spPr bwMode="auto">
          <a:xfrm>
            <a:off x="381000" y="1905000"/>
            <a:ext cx="82296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indent="-342900">
              <a:spcBef>
                <a:spcPct val="20000"/>
              </a:spcBef>
              <a:buClr>
                <a:srgbClr val="00468F"/>
              </a:buClr>
              <a:buFont typeface="Webdings" charset="0"/>
              <a:buChar char="&lt;"/>
              <a:defRPr/>
            </a:pPr>
            <a:r>
              <a:rPr lang="en-US" sz="2800" b="1">
                <a:solidFill>
                  <a:srgbClr val="00468F"/>
                </a:solidFill>
                <a:latin typeface="Arial" charset="0"/>
                <a:ea typeface="ＭＳ Ｐゴシック" charset="0"/>
              </a:rPr>
              <a:t>Are Rent Ceilings Fair?</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20869">
                                            <p:txEl>
                                              <p:pRg st="0" end="0"/>
                                            </p:txEl>
                                          </p:spTgt>
                                        </p:tgtEl>
                                        <p:attrNameLst>
                                          <p:attrName>style.visibility</p:attrName>
                                        </p:attrNameLst>
                                      </p:cBhvr>
                                      <p:to>
                                        <p:strVal val="visible"/>
                                      </p:to>
                                    </p:set>
                                    <p:animEffect transition="in" filter="wipe(left)">
                                      <p:cBhvr>
                                        <p:cTn id="7" dur="500"/>
                                        <p:tgtEl>
                                          <p:spTgt spid="42086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20869">
                                            <p:txEl>
                                              <p:pRg st="1" end="1"/>
                                            </p:txEl>
                                          </p:spTgt>
                                        </p:tgtEl>
                                        <p:attrNameLst>
                                          <p:attrName>style.visibility</p:attrName>
                                        </p:attrNameLst>
                                      </p:cBhvr>
                                      <p:to>
                                        <p:strVal val="visible"/>
                                      </p:to>
                                    </p:set>
                                    <p:animEffect transition="in" filter="wipe(left)">
                                      <p:cBhvr>
                                        <p:cTn id="12" dur="500"/>
                                        <p:tgtEl>
                                          <p:spTgt spid="42086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20869">
                                            <p:txEl>
                                              <p:pRg st="2" end="2"/>
                                            </p:txEl>
                                          </p:spTgt>
                                        </p:tgtEl>
                                        <p:attrNameLst>
                                          <p:attrName>style.visibility</p:attrName>
                                        </p:attrNameLst>
                                      </p:cBhvr>
                                      <p:to>
                                        <p:strVal val="visible"/>
                                      </p:to>
                                    </p:set>
                                    <p:animEffect transition="in" filter="wipe(left)">
                                      <p:cBhvr>
                                        <p:cTn id="17" dur="500"/>
                                        <p:tgtEl>
                                          <p:spTgt spid="42086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20869">
                                            <p:txEl>
                                              <p:pRg st="3" end="3"/>
                                            </p:txEl>
                                          </p:spTgt>
                                        </p:tgtEl>
                                        <p:attrNameLst>
                                          <p:attrName>style.visibility</p:attrName>
                                        </p:attrNameLst>
                                      </p:cBhvr>
                                      <p:to>
                                        <p:strVal val="visible"/>
                                      </p:to>
                                    </p:set>
                                    <p:animEffect transition="in" filter="wipe(left)">
                                      <p:cBhvr>
                                        <p:cTn id="22" dur="500"/>
                                        <p:tgtEl>
                                          <p:spTgt spid="42086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20869">
                                            <p:txEl>
                                              <p:pRg st="4" end="4"/>
                                            </p:txEl>
                                          </p:spTgt>
                                        </p:tgtEl>
                                        <p:attrNameLst>
                                          <p:attrName>style.visibility</p:attrName>
                                        </p:attrNameLst>
                                      </p:cBhvr>
                                      <p:to>
                                        <p:strVal val="visible"/>
                                      </p:to>
                                    </p:set>
                                    <p:animEffect transition="in" filter="wipe(left)">
                                      <p:cBhvr>
                                        <p:cTn id="27" dur="500"/>
                                        <p:tgtEl>
                                          <p:spTgt spid="42086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869" grpId="0" build="p" bldLvl="3"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620E8B52-B02A-3D51-4554-291432B294F5}"/>
              </a:ext>
            </a:extLst>
          </p:cNvPr>
          <p:cNvSpPr>
            <a:spLocks noGrp="1" noChangeArrowheads="1"/>
          </p:cNvSpPr>
          <p:nvPr>
            <p:ph type="title"/>
          </p:nvPr>
        </p:nvSpPr>
        <p:spPr>
          <a:xfrm>
            <a:off x="381000" y="990600"/>
            <a:ext cx="8229600" cy="533400"/>
          </a:xfrm>
        </p:spPr>
        <p:txBody>
          <a:bodyPr/>
          <a:lstStyle/>
          <a:p>
            <a:pPr eaLnBrk="1" hangingPunct="1">
              <a:defRPr/>
            </a:pPr>
            <a:r>
              <a:rPr lang="en-US"/>
              <a:t>7.1  PRICE CEILINGS</a:t>
            </a:r>
            <a:endParaRPr lang="en-CA"/>
          </a:p>
        </p:txBody>
      </p:sp>
      <p:sp>
        <p:nvSpPr>
          <p:cNvPr id="523267" name="Rectangle 3">
            <a:extLst>
              <a:ext uri="{FF2B5EF4-FFF2-40B4-BE49-F238E27FC236}">
                <a16:creationId xmlns:a16="http://schemas.microsoft.com/office/drawing/2014/main" id="{3C3B1EEA-CE8C-9F50-2B71-F61682E8823A}"/>
              </a:ext>
            </a:extLst>
          </p:cNvPr>
          <p:cNvSpPr>
            <a:spLocks noGrp="1" noChangeArrowheads="1"/>
          </p:cNvSpPr>
          <p:nvPr>
            <p:ph type="body" idx="1"/>
          </p:nvPr>
        </p:nvSpPr>
        <p:spPr>
          <a:xfrm>
            <a:off x="381000" y="3100388"/>
            <a:ext cx="8229600" cy="1617662"/>
          </a:xfrm>
        </p:spPr>
        <p:txBody>
          <a:bodyPr/>
          <a:lstStyle/>
          <a:p>
            <a:pPr lvl="1" eaLnBrk="1" hangingPunct="1">
              <a:defRPr/>
            </a:pPr>
            <a:r>
              <a:rPr lang="en-US" dirty="0"/>
              <a:t>Current renters gain and lobby politicians.</a:t>
            </a:r>
          </a:p>
          <a:p>
            <a:pPr lvl="1" eaLnBrk="1" hangingPunct="1">
              <a:defRPr/>
            </a:pPr>
            <a:r>
              <a:rPr lang="en-US" dirty="0"/>
              <a:t>More renters than landlords, so rent ceilings can tip an election.</a:t>
            </a:r>
          </a:p>
          <a:p>
            <a:pPr lvl="1" eaLnBrk="1" hangingPunct="1">
              <a:defRPr/>
            </a:pPr>
            <a:endParaRPr lang="en-US" dirty="0"/>
          </a:p>
        </p:txBody>
      </p:sp>
      <p:sp>
        <p:nvSpPr>
          <p:cNvPr id="52228" name="Rectangle 4">
            <a:extLst>
              <a:ext uri="{FF2B5EF4-FFF2-40B4-BE49-F238E27FC236}">
                <a16:creationId xmlns:a16="http://schemas.microsoft.com/office/drawing/2014/main" id="{BAD1A46C-012E-BC2B-A440-7ED1E8A37919}"/>
              </a:ext>
            </a:extLst>
          </p:cNvPr>
          <p:cNvSpPr>
            <a:spLocks noChangeArrowheads="1"/>
          </p:cNvSpPr>
          <p:nvPr/>
        </p:nvSpPr>
        <p:spPr bwMode="auto">
          <a:xfrm>
            <a:off x="381000" y="2057400"/>
            <a:ext cx="8229600" cy="914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indent="-342900">
              <a:spcBef>
                <a:spcPct val="20000"/>
              </a:spcBef>
              <a:buClr>
                <a:srgbClr val="00468F"/>
              </a:buClr>
              <a:buFont typeface="Webdings" charset="0"/>
              <a:buChar char="&lt;"/>
              <a:defRPr/>
            </a:pPr>
            <a:r>
              <a:rPr lang="en-US" sz="2800" b="1" dirty="0">
                <a:solidFill>
                  <a:srgbClr val="00468F"/>
                </a:solidFill>
                <a:latin typeface="Arial" charset="0"/>
                <a:ea typeface="ＭＳ Ｐゴシック" charset="0"/>
              </a:rPr>
              <a:t>If Rent Ceilings Are So Bad, Why Do We Have Them?</a:t>
            </a:r>
          </a:p>
          <a:p>
            <a:pPr lvl="1">
              <a:lnSpc>
                <a:spcPct val="105000"/>
              </a:lnSpc>
              <a:spcBef>
                <a:spcPct val="50000"/>
              </a:spcBef>
              <a:defRPr/>
            </a:pPr>
            <a:endParaRPr lang="en-US" dirty="0">
              <a:latin typeface="Arial" charset="0"/>
              <a:ea typeface="ＭＳ Ｐゴシック" charset="0"/>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23267">
                                            <p:txEl>
                                              <p:pRg st="0" end="0"/>
                                            </p:txEl>
                                          </p:spTgt>
                                        </p:tgtEl>
                                        <p:attrNameLst>
                                          <p:attrName>style.visibility</p:attrName>
                                        </p:attrNameLst>
                                      </p:cBhvr>
                                      <p:to>
                                        <p:strVal val="visible"/>
                                      </p:to>
                                    </p:set>
                                    <p:animEffect transition="in" filter="wipe(left)">
                                      <p:cBhvr>
                                        <p:cTn id="7" dur="500"/>
                                        <p:tgtEl>
                                          <p:spTgt spid="5232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23267">
                                            <p:txEl>
                                              <p:pRg st="1" end="1"/>
                                            </p:txEl>
                                          </p:spTgt>
                                        </p:tgtEl>
                                        <p:attrNameLst>
                                          <p:attrName>style.visibility</p:attrName>
                                        </p:attrNameLst>
                                      </p:cBhvr>
                                      <p:to>
                                        <p:strVal val="visible"/>
                                      </p:to>
                                    </p:set>
                                    <p:animEffect transition="in" filter="wipe(left)">
                                      <p:cBhvr>
                                        <p:cTn id="12" dur="500"/>
                                        <p:tgtEl>
                                          <p:spTgt spid="52326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3267" grpId="0" build="p" bldLvl="3"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4E50F016-D208-5830-B523-351AA5970A0F}"/>
              </a:ext>
            </a:extLst>
          </p:cNvPr>
          <p:cNvSpPr>
            <a:spLocks noGrp="1" noChangeArrowheads="1"/>
          </p:cNvSpPr>
          <p:nvPr>
            <p:ph type="title"/>
          </p:nvPr>
        </p:nvSpPr>
        <p:spPr/>
        <p:txBody>
          <a:bodyPr/>
          <a:lstStyle/>
          <a:p>
            <a:pPr eaLnBrk="1" hangingPunct="1">
              <a:defRPr/>
            </a:pPr>
            <a:r>
              <a:rPr lang="en-US"/>
              <a:t>7.2  PRICE FLOORS</a:t>
            </a:r>
            <a:endParaRPr lang="en-CA"/>
          </a:p>
        </p:txBody>
      </p:sp>
      <p:sp>
        <p:nvSpPr>
          <p:cNvPr id="620547" name="Rectangle 3">
            <a:extLst>
              <a:ext uri="{FF2B5EF4-FFF2-40B4-BE49-F238E27FC236}">
                <a16:creationId xmlns:a16="http://schemas.microsoft.com/office/drawing/2014/main" id="{BF8636B0-C923-ACFF-F644-D42EE3BC84AB}"/>
              </a:ext>
            </a:extLst>
          </p:cNvPr>
          <p:cNvSpPr>
            <a:spLocks noGrp="1" noChangeArrowheads="1"/>
          </p:cNvSpPr>
          <p:nvPr>
            <p:ph type="body" idx="1"/>
          </p:nvPr>
        </p:nvSpPr>
        <p:spPr>
          <a:xfrm>
            <a:off x="381000" y="1981200"/>
            <a:ext cx="8229600" cy="3375025"/>
          </a:xfrm>
        </p:spPr>
        <p:txBody>
          <a:bodyPr/>
          <a:lstStyle/>
          <a:p>
            <a:pPr eaLnBrk="1" hangingPunct="1">
              <a:buFont typeface="Webdings" charset="0"/>
              <a:buNone/>
              <a:defRPr/>
            </a:pPr>
            <a:r>
              <a:rPr lang="en-US" sz="3000" b="0" dirty="0">
                <a:solidFill>
                  <a:srgbClr val="FF0000"/>
                </a:solidFill>
              </a:rPr>
              <a:t>	</a:t>
            </a:r>
            <a:r>
              <a:rPr lang="en-US" sz="2400" b="0" dirty="0">
                <a:solidFill>
                  <a:srgbClr val="000000"/>
                </a:solidFill>
              </a:rPr>
              <a:t>A</a:t>
            </a:r>
            <a:r>
              <a:rPr lang="en-US" dirty="0">
                <a:solidFill>
                  <a:srgbClr val="000000"/>
                </a:solidFill>
              </a:rPr>
              <a:t> </a:t>
            </a:r>
            <a:r>
              <a:rPr lang="en-US" sz="2600" dirty="0">
                <a:solidFill>
                  <a:srgbClr val="FF0000"/>
                </a:solidFill>
              </a:rPr>
              <a:t>price floor</a:t>
            </a:r>
            <a:r>
              <a:rPr lang="en-US" dirty="0">
                <a:solidFill>
                  <a:srgbClr val="FF0000"/>
                </a:solidFill>
              </a:rPr>
              <a:t> </a:t>
            </a:r>
            <a:r>
              <a:rPr lang="en-US" sz="2400" b="0" dirty="0">
                <a:solidFill>
                  <a:srgbClr val="000000"/>
                </a:solidFill>
              </a:rPr>
              <a:t>is a government regulation that places a </a:t>
            </a:r>
            <a:r>
              <a:rPr lang="en-US" sz="2400" b="0" i="1" dirty="0">
                <a:solidFill>
                  <a:srgbClr val="000000"/>
                </a:solidFill>
              </a:rPr>
              <a:t>lower</a:t>
            </a:r>
            <a:r>
              <a:rPr lang="en-US" sz="2400" b="0" dirty="0">
                <a:solidFill>
                  <a:srgbClr val="000000"/>
                </a:solidFill>
              </a:rPr>
              <a:t> limit on the price at which a particular good, service, or factor of production may be traded</a:t>
            </a:r>
            <a:r>
              <a:rPr lang="en-US" dirty="0">
                <a:solidFill>
                  <a:srgbClr val="000000"/>
                </a:solidFill>
              </a:rPr>
              <a:t>.</a:t>
            </a:r>
          </a:p>
          <a:p>
            <a:pPr lvl="1" eaLnBrk="1" hangingPunct="1">
              <a:defRPr/>
            </a:pPr>
            <a:r>
              <a:rPr lang="en-US" dirty="0">
                <a:solidFill>
                  <a:srgbClr val="000000"/>
                </a:solidFill>
              </a:rPr>
              <a:t>An example is the minimum wage in labor markets.</a:t>
            </a:r>
          </a:p>
          <a:p>
            <a:pPr lvl="1" eaLnBrk="1" hangingPunct="1">
              <a:defRPr/>
            </a:pPr>
            <a:r>
              <a:rPr lang="en-US" dirty="0">
                <a:solidFill>
                  <a:srgbClr val="000000"/>
                </a:solidFill>
              </a:rPr>
              <a:t>Trading </a:t>
            </a:r>
            <a:r>
              <a:rPr lang="en-US" i="1" dirty="0">
                <a:solidFill>
                  <a:srgbClr val="000000"/>
                </a:solidFill>
              </a:rPr>
              <a:t>below</a:t>
            </a:r>
            <a:r>
              <a:rPr lang="en-US" dirty="0">
                <a:solidFill>
                  <a:srgbClr val="000000"/>
                </a:solidFill>
              </a:rPr>
              <a:t> the price floor is </a:t>
            </a:r>
            <a:r>
              <a:rPr lang="en-US" i="1" dirty="0">
                <a:solidFill>
                  <a:srgbClr val="000000"/>
                </a:solidFill>
              </a:rPr>
              <a:t>illegal</a:t>
            </a:r>
            <a:r>
              <a:rPr lang="en-US" dirty="0">
                <a:solidFill>
                  <a:srgbClr val="000000"/>
                </a:solidFill>
              </a:rPr>
              <a:t>.</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20547">
                                            <p:txEl>
                                              <p:pRg st="0" end="0"/>
                                            </p:txEl>
                                          </p:spTgt>
                                        </p:tgtEl>
                                        <p:attrNameLst>
                                          <p:attrName>style.visibility</p:attrName>
                                        </p:attrNameLst>
                                      </p:cBhvr>
                                      <p:to>
                                        <p:strVal val="visible"/>
                                      </p:to>
                                    </p:set>
                                    <p:animEffect transition="in" filter="wipe(left)">
                                      <p:cBhvr>
                                        <p:cTn id="7" dur="500"/>
                                        <p:tgtEl>
                                          <p:spTgt spid="6205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20547">
                                            <p:txEl>
                                              <p:pRg st="1" end="1"/>
                                            </p:txEl>
                                          </p:spTgt>
                                        </p:tgtEl>
                                        <p:attrNameLst>
                                          <p:attrName>style.visibility</p:attrName>
                                        </p:attrNameLst>
                                      </p:cBhvr>
                                      <p:to>
                                        <p:strVal val="visible"/>
                                      </p:to>
                                    </p:set>
                                    <p:animEffect transition="in" filter="wipe(left)">
                                      <p:cBhvr>
                                        <p:cTn id="12" dur="500"/>
                                        <p:tgtEl>
                                          <p:spTgt spid="62054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20547">
                                            <p:txEl>
                                              <p:pRg st="2" end="2"/>
                                            </p:txEl>
                                          </p:spTgt>
                                        </p:tgtEl>
                                        <p:attrNameLst>
                                          <p:attrName>style.visibility</p:attrName>
                                        </p:attrNameLst>
                                      </p:cBhvr>
                                      <p:to>
                                        <p:strVal val="visible"/>
                                      </p:to>
                                    </p:set>
                                    <p:animEffect transition="in" filter="wipe(left)">
                                      <p:cBhvr>
                                        <p:cTn id="17" dur="500"/>
                                        <p:tgtEl>
                                          <p:spTgt spid="62054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0547" grpId="0" build="p" bldLvl="3"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4" name="Rectangle 8">
            <a:extLst>
              <a:ext uri="{FF2B5EF4-FFF2-40B4-BE49-F238E27FC236}">
                <a16:creationId xmlns:a16="http://schemas.microsoft.com/office/drawing/2014/main" id="{FCF32BF4-85B3-AA14-9E61-A77E90AB6EB9}"/>
              </a:ext>
            </a:extLst>
          </p:cNvPr>
          <p:cNvSpPr>
            <a:spLocks noChangeArrowheads="1"/>
          </p:cNvSpPr>
          <p:nvPr/>
        </p:nvSpPr>
        <p:spPr bwMode="auto">
          <a:xfrm>
            <a:off x="152400" y="1752600"/>
            <a:ext cx="4876800" cy="8223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r>
              <a:rPr lang="en-US">
                <a:latin typeface="Arial" charset="0"/>
                <a:ea typeface="ＭＳ Ｐゴシック" charset="0"/>
              </a:rPr>
              <a:t>Figure 7.5 shows a market for fast-food servers.</a:t>
            </a:r>
          </a:p>
        </p:txBody>
      </p:sp>
      <p:sp>
        <p:nvSpPr>
          <p:cNvPr id="470025" name="Text Box 9">
            <a:extLst>
              <a:ext uri="{FF2B5EF4-FFF2-40B4-BE49-F238E27FC236}">
                <a16:creationId xmlns:a16="http://schemas.microsoft.com/office/drawing/2014/main" id="{5675BE16-DB53-6654-F66E-6FEB5F03ED07}"/>
              </a:ext>
            </a:extLst>
          </p:cNvPr>
          <p:cNvSpPr txBox="1">
            <a:spLocks noChangeArrowheads="1"/>
          </p:cNvSpPr>
          <p:nvPr/>
        </p:nvSpPr>
        <p:spPr bwMode="auto">
          <a:xfrm>
            <a:off x="152400" y="2743200"/>
            <a:ext cx="4267200" cy="15525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398463" indent="-398463" eaLnBrk="0" hangingPunct="0">
              <a:defRPr sz="2400">
                <a:solidFill>
                  <a:schemeClr val="tx1"/>
                </a:solidFill>
                <a:latin typeface="Arial" charset="0"/>
                <a:ea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defRPr/>
            </a:pPr>
            <a:r>
              <a:rPr lang="en-US" b="1"/>
              <a:t>1. </a:t>
            </a:r>
            <a:r>
              <a:rPr lang="en-US"/>
              <a:t>The demand for and supply of fast-food servers determine the market equilibrium.</a:t>
            </a:r>
            <a:endParaRPr lang="en-US">
              <a:latin typeface="Charcoal" charset="0"/>
            </a:endParaRPr>
          </a:p>
        </p:txBody>
      </p:sp>
      <p:sp>
        <p:nvSpPr>
          <p:cNvPr id="54276" name="Rectangle 13">
            <a:extLst>
              <a:ext uri="{FF2B5EF4-FFF2-40B4-BE49-F238E27FC236}">
                <a16:creationId xmlns:a16="http://schemas.microsoft.com/office/drawing/2014/main" id="{4997DCE8-AF5F-C81E-4578-F5F312479B7B}"/>
              </a:ext>
            </a:extLst>
          </p:cNvPr>
          <p:cNvSpPr>
            <a:spLocks noGrp="1" noChangeArrowheads="1"/>
          </p:cNvSpPr>
          <p:nvPr>
            <p:ph type="title"/>
          </p:nvPr>
        </p:nvSpPr>
        <p:spPr>
          <a:xfrm>
            <a:off x="381000" y="990600"/>
            <a:ext cx="8229600" cy="533400"/>
          </a:xfrm>
        </p:spPr>
        <p:txBody>
          <a:bodyPr/>
          <a:lstStyle/>
          <a:p>
            <a:pPr eaLnBrk="1" hangingPunct="1">
              <a:defRPr/>
            </a:pPr>
            <a:r>
              <a:rPr lang="en-US"/>
              <a:t>7.2  PRICE FLOORS</a:t>
            </a:r>
            <a:endParaRPr lang="en-CA"/>
          </a:p>
        </p:txBody>
      </p:sp>
      <p:sp>
        <p:nvSpPr>
          <p:cNvPr id="470036" name="Text Box 20">
            <a:extLst>
              <a:ext uri="{FF2B5EF4-FFF2-40B4-BE49-F238E27FC236}">
                <a16:creationId xmlns:a16="http://schemas.microsoft.com/office/drawing/2014/main" id="{2EC35886-83A8-E3D5-83DE-062760BE83F2}"/>
              </a:ext>
            </a:extLst>
          </p:cNvPr>
          <p:cNvSpPr txBox="1">
            <a:spLocks noChangeArrowheads="1"/>
          </p:cNvSpPr>
          <p:nvPr/>
        </p:nvSpPr>
        <p:spPr bwMode="auto">
          <a:xfrm>
            <a:off x="76200" y="4359275"/>
            <a:ext cx="4343400" cy="8223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457200" indent="-457200" eaLnBrk="0" hangingPunct="0">
              <a:defRPr sz="2400">
                <a:solidFill>
                  <a:schemeClr val="tx1"/>
                </a:solidFill>
                <a:latin typeface="Arial" charset="0"/>
                <a:ea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defRPr/>
            </a:pPr>
            <a:r>
              <a:rPr lang="en-US" b="1"/>
              <a:t>2.</a:t>
            </a:r>
            <a:r>
              <a:rPr lang="en-US"/>
              <a:t>	The equilibrium wage rate is $5 an hour.</a:t>
            </a:r>
            <a:endParaRPr lang="en-US">
              <a:latin typeface="Charcoal" charset="0"/>
            </a:endParaRPr>
          </a:p>
        </p:txBody>
      </p:sp>
      <p:sp>
        <p:nvSpPr>
          <p:cNvPr id="470037" name="Text Box 21">
            <a:extLst>
              <a:ext uri="{FF2B5EF4-FFF2-40B4-BE49-F238E27FC236}">
                <a16:creationId xmlns:a16="http://schemas.microsoft.com/office/drawing/2014/main" id="{86E77D2F-5162-981E-3C7E-09817E55494D}"/>
              </a:ext>
            </a:extLst>
          </p:cNvPr>
          <p:cNvSpPr txBox="1">
            <a:spLocks noChangeArrowheads="1"/>
          </p:cNvSpPr>
          <p:nvPr/>
        </p:nvSpPr>
        <p:spPr bwMode="auto">
          <a:xfrm>
            <a:off x="76200" y="5257800"/>
            <a:ext cx="4572000" cy="8223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457200" indent="-457200" eaLnBrk="0" hangingPunct="0">
              <a:defRPr sz="2400">
                <a:solidFill>
                  <a:schemeClr val="tx1"/>
                </a:solidFill>
                <a:latin typeface="Arial" charset="0"/>
                <a:ea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defRPr/>
            </a:pPr>
            <a:r>
              <a:rPr lang="en-US" b="1"/>
              <a:t>3.</a:t>
            </a:r>
            <a:r>
              <a:rPr lang="en-US"/>
              <a:t>	The equilibrium quantity is 5,000 servers.</a:t>
            </a:r>
            <a:endParaRPr lang="en-US">
              <a:latin typeface="Charcoal" charset="0"/>
            </a:endParaRPr>
          </a:p>
        </p:txBody>
      </p:sp>
      <p:pic>
        <p:nvPicPr>
          <p:cNvPr id="64518" name="Picture 5" descr="fig0705a.gif">
            <a:extLst>
              <a:ext uri="{FF2B5EF4-FFF2-40B4-BE49-F238E27FC236}">
                <a16:creationId xmlns:a16="http://schemas.microsoft.com/office/drawing/2014/main" id="{EB62A21C-6419-045D-39CC-26449D0E4E3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95800" y="1828800"/>
            <a:ext cx="4467225" cy="466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descr="fig0705b.gif">
            <a:extLst>
              <a:ext uri="{FF2B5EF4-FFF2-40B4-BE49-F238E27FC236}">
                <a16:creationId xmlns:a16="http://schemas.microsoft.com/office/drawing/2014/main" id="{5C5834A3-F559-F509-56C4-6E25D1A3B58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495800" y="1828800"/>
            <a:ext cx="4467225" cy="466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descr="fig0705c.gif">
            <a:extLst>
              <a:ext uri="{FF2B5EF4-FFF2-40B4-BE49-F238E27FC236}">
                <a16:creationId xmlns:a16="http://schemas.microsoft.com/office/drawing/2014/main" id="{33E75452-EA6B-5273-194D-38972DD2A04C}"/>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495800" y="1828800"/>
            <a:ext cx="4467225" cy="466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descr="fig0705d.gif">
            <a:extLst>
              <a:ext uri="{FF2B5EF4-FFF2-40B4-BE49-F238E27FC236}">
                <a16:creationId xmlns:a16="http://schemas.microsoft.com/office/drawing/2014/main" id="{878F0F6D-759E-3C85-9DFB-DE7FCC9A83FF}"/>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495800" y="1828800"/>
            <a:ext cx="4467225" cy="466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0025"/>
                                        </p:tgtEl>
                                        <p:attrNameLst>
                                          <p:attrName>style.visibility</p:attrName>
                                        </p:attrNameLst>
                                      </p:cBhvr>
                                      <p:to>
                                        <p:strVal val="visible"/>
                                      </p:to>
                                    </p:set>
                                    <p:animEffect transition="in" filter="wipe(left)">
                                      <p:cBhvr>
                                        <p:cTn id="7" dur="500"/>
                                        <p:tgtEl>
                                          <p:spTgt spid="470025"/>
                                        </p:tgtEl>
                                      </p:cBhvr>
                                    </p:animEffect>
                                  </p:childTnLst>
                                </p:cTn>
                              </p:par>
                            </p:childTnLst>
                          </p:cTn>
                        </p:par>
                        <p:par>
                          <p:cTn id="8" fill="hold" nodeType="afterGroup">
                            <p:stCondLst>
                              <p:cond delay="500"/>
                            </p:stCondLst>
                            <p:childTnLst>
                              <p:par>
                                <p:cTn id="9" presetID="10"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470036"/>
                                        </p:tgtEl>
                                        <p:attrNameLst>
                                          <p:attrName>style.visibility</p:attrName>
                                        </p:attrNameLst>
                                      </p:cBhvr>
                                      <p:to>
                                        <p:strVal val="visible"/>
                                      </p:to>
                                    </p:set>
                                    <p:animEffect transition="in" filter="wipe(left)">
                                      <p:cBhvr>
                                        <p:cTn id="16" dur="500"/>
                                        <p:tgtEl>
                                          <p:spTgt spid="470036"/>
                                        </p:tgtEl>
                                      </p:cBhvr>
                                    </p:animEffect>
                                  </p:childTnLst>
                                </p:cTn>
                              </p:par>
                            </p:childTnLst>
                          </p:cTn>
                        </p:par>
                        <p:par>
                          <p:cTn id="17" fill="hold" nodeType="afterGroup">
                            <p:stCondLst>
                              <p:cond delay="500"/>
                            </p:stCondLst>
                            <p:childTnLst>
                              <p:par>
                                <p:cTn id="18" presetID="10" presetClass="entr" presetSubtype="0" fill="hold"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470037"/>
                                        </p:tgtEl>
                                        <p:attrNameLst>
                                          <p:attrName>style.visibility</p:attrName>
                                        </p:attrNameLst>
                                      </p:cBhvr>
                                      <p:to>
                                        <p:strVal val="visible"/>
                                      </p:to>
                                    </p:set>
                                    <p:animEffect transition="in" filter="wipe(left)">
                                      <p:cBhvr>
                                        <p:cTn id="25" dur="500"/>
                                        <p:tgtEl>
                                          <p:spTgt spid="470037"/>
                                        </p:tgtEl>
                                      </p:cBhvr>
                                    </p:animEffect>
                                  </p:childTnLst>
                                </p:cTn>
                              </p:par>
                            </p:childTnLst>
                          </p:cTn>
                        </p:par>
                        <p:par>
                          <p:cTn id="26" fill="hold" nodeType="afterGroup">
                            <p:stCondLst>
                              <p:cond delay="500"/>
                            </p:stCondLst>
                            <p:childTnLst>
                              <p:par>
                                <p:cTn id="27" presetID="10" presetClass="entr" presetSubtype="0" fill="hold" nodeType="after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0025" grpId="0" autoUpdateAnimBg="0"/>
      <p:bldP spid="470036" grpId="0" autoUpdateAnimBg="0"/>
      <p:bldP spid="470037"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6561" name="Picture 5" descr="fig0705a.gif">
            <a:extLst>
              <a:ext uri="{FF2B5EF4-FFF2-40B4-BE49-F238E27FC236}">
                <a16:creationId xmlns:a16="http://schemas.microsoft.com/office/drawing/2014/main" id="{1148E779-F0DA-7F74-4369-1BBD2155170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304800"/>
            <a:ext cx="5514975" cy="576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descr="fig0705b.gif">
            <a:extLst>
              <a:ext uri="{FF2B5EF4-FFF2-40B4-BE49-F238E27FC236}">
                <a16:creationId xmlns:a16="http://schemas.microsoft.com/office/drawing/2014/main" id="{1F78D15E-236E-C60A-0251-3951AAE9F61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304800"/>
            <a:ext cx="5514975" cy="576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descr="fig0705c.gif">
            <a:extLst>
              <a:ext uri="{FF2B5EF4-FFF2-40B4-BE49-F238E27FC236}">
                <a16:creationId xmlns:a16="http://schemas.microsoft.com/office/drawing/2014/main" id="{88355BB3-B1D2-A009-E68F-4D29DD912459}"/>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752600" y="304800"/>
            <a:ext cx="5514975" cy="576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descr="fig0705d.gif">
            <a:extLst>
              <a:ext uri="{FF2B5EF4-FFF2-40B4-BE49-F238E27FC236}">
                <a16:creationId xmlns:a16="http://schemas.microsoft.com/office/drawing/2014/main" id="{88700E83-72D7-69EC-15C8-D9C8504E28BA}"/>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752600" y="304800"/>
            <a:ext cx="5514975" cy="576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2" name="Rectangle 4">
            <a:extLst>
              <a:ext uri="{FF2B5EF4-FFF2-40B4-BE49-F238E27FC236}">
                <a16:creationId xmlns:a16="http://schemas.microsoft.com/office/drawing/2014/main" id="{1D345043-9DBA-76CA-4720-CEB8234EC410}"/>
              </a:ext>
            </a:extLst>
          </p:cNvPr>
          <p:cNvSpPr>
            <a:spLocks noGrp="1" noChangeArrowheads="1"/>
          </p:cNvSpPr>
          <p:nvPr>
            <p:ph type="title"/>
          </p:nvPr>
        </p:nvSpPr>
        <p:spPr/>
        <p:txBody>
          <a:bodyPr/>
          <a:lstStyle/>
          <a:p>
            <a:pPr eaLnBrk="1" hangingPunct="1">
              <a:defRPr/>
            </a:pPr>
            <a:r>
              <a:rPr lang="en-US"/>
              <a:t>7.2  PRICE FLOORS</a:t>
            </a:r>
            <a:endParaRPr lang="en-CA"/>
          </a:p>
        </p:txBody>
      </p:sp>
      <p:sp>
        <p:nvSpPr>
          <p:cNvPr id="421893" name="Rectangle 5">
            <a:extLst>
              <a:ext uri="{FF2B5EF4-FFF2-40B4-BE49-F238E27FC236}">
                <a16:creationId xmlns:a16="http://schemas.microsoft.com/office/drawing/2014/main" id="{79EAD1A0-1D7F-217E-C7FF-C0A89CE02310}"/>
              </a:ext>
            </a:extLst>
          </p:cNvPr>
          <p:cNvSpPr>
            <a:spLocks noGrp="1" noChangeArrowheads="1"/>
          </p:cNvSpPr>
          <p:nvPr>
            <p:ph type="body" idx="1"/>
          </p:nvPr>
        </p:nvSpPr>
        <p:spPr>
          <a:xfrm>
            <a:off x="381000" y="2397125"/>
            <a:ext cx="8229600" cy="3775075"/>
          </a:xfrm>
        </p:spPr>
        <p:txBody>
          <a:bodyPr/>
          <a:lstStyle/>
          <a:p>
            <a:pPr eaLnBrk="1" hangingPunct="1">
              <a:buFont typeface="Webdings" charset="0"/>
              <a:buNone/>
              <a:defRPr/>
            </a:pPr>
            <a:r>
              <a:rPr lang="en-US" sz="3000" b="0">
                <a:solidFill>
                  <a:srgbClr val="FF0000"/>
                </a:solidFill>
              </a:rPr>
              <a:t>	 </a:t>
            </a:r>
            <a:r>
              <a:rPr lang="en-US" sz="2400" b="0">
                <a:solidFill>
                  <a:schemeClr val="tx1"/>
                </a:solidFill>
              </a:rPr>
              <a:t>A</a:t>
            </a:r>
            <a:r>
              <a:rPr lang="en-US" sz="3000" b="0">
                <a:solidFill>
                  <a:srgbClr val="FF0000"/>
                </a:solidFill>
              </a:rPr>
              <a:t> </a:t>
            </a:r>
            <a:r>
              <a:rPr lang="en-US" sz="2600">
                <a:solidFill>
                  <a:srgbClr val="FF0000"/>
                </a:solidFill>
              </a:rPr>
              <a:t>minimum wage law</a:t>
            </a:r>
            <a:r>
              <a:rPr lang="en-US" sz="2400">
                <a:solidFill>
                  <a:srgbClr val="FF0000"/>
                </a:solidFill>
              </a:rPr>
              <a:t> </a:t>
            </a:r>
            <a:r>
              <a:rPr lang="en-US" sz="2400" b="0">
                <a:solidFill>
                  <a:schemeClr val="tx1"/>
                </a:solidFill>
              </a:rPr>
              <a:t>is a government regulation that makes hiring labor for less than a specified wage illegal.</a:t>
            </a:r>
          </a:p>
          <a:p>
            <a:pPr lvl="1" eaLnBrk="1" hangingPunct="1">
              <a:defRPr/>
            </a:pPr>
            <a:r>
              <a:rPr lang="en-US">
                <a:solidFill>
                  <a:srgbClr val="000000"/>
                </a:solidFill>
              </a:rPr>
              <a:t>Firms can pay a wage rate above the minimum wage but they may not pay a wage rate below the minimum wage.</a:t>
            </a:r>
          </a:p>
          <a:p>
            <a:pPr lvl="1" eaLnBrk="1" hangingPunct="1">
              <a:defRPr/>
            </a:pPr>
            <a:r>
              <a:rPr lang="en-US">
                <a:solidFill>
                  <a:srgbClr val="000000"/>
                </a:solidFill>
              </a:rPr>
              <a:t>The effect of a minimum wage depends on whether it is set above or below the market equilibrium wage rate.</a:t>
            </a:r>
          </a:p>
        </p:txBody>
      </p:sp>
      <p:sp>
        <p:nvSpPr>
          <p:cNvPr id="56324" name="Rectangle 6">
            <a:extLst>
              <a:ext uri="{FF2B5EF4-FFF2-40B4-BE49-F238E27FC236}">
                <a16:creationId xmlns:a16="http://schemas.microsoft.com/office/drawing/2014/main" id="{AD8E29AE-08E6-25D1-8CE9-5CB7EAA66864}"/>
              </a:ext>
            </a:extLst>
          </p:cNvPr>
          <p:cNvSpPr>
            <a:spLocks noChangeArrowheads="1"/>
          </p:cNvSpPr>
          <p:nvPr/>
        </p:nvSpPr>
        <p:spPr bwMode="auto">
          <a:xfrm>
            <a:off x="381000" y="1752600"/>
            <a:ext cx="8229600"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indent="-342900">
              <a:spcBef>
                <a:spcPct val="20000"/>
              </a:spcBef>
              <a:buClr>
                <a:srgbClr val="00468F"/>
              </a:buClr>
              <a:buFont typeface="Webdings" charset="0"/>
              <a:buChar char="&lt;"/>
              <a:defRPr/>
            </a:pPr>
            <a:r>
              <a:rPr lang="en-US" sz="2800" b="1">
                <a:solidFill>
                  <a:srgbClr val="00468F"/>
                </a:solidFill>
                <a:latin typeface="Arial" charset="0"/>
                <a:ea typeface="ＭＳ Ｐゴシック" charset="0"/>
              </a:rPr>
              <a:t>The Minimum Wage</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21893">
                                            <p:txEl>
                                              <p:pRg st="0" end="0"/>
                                            </p:txEl>
                                          </p:spTgt>
                                        </p:tgtEl>
                                        <p:attrNameLst>
                                          <p:attrName>style.visibility</p:attrName>
                                        </p:attrNameLst>
                                      </p:cBhvr>
                                      <p:to>
                                        <p:strVal val="visible"/>
                                      </p:to>
                                    </p:set>
                                    <p:animEffect transition="in" filter="wipe(left)">
                                      <p:cBhvr>
                                        <p:cTn id="7" dur="500"/>
                                        <p:tgtEl>
                                          <p:spTgt spid="42189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21893">
                                            <p:txEl>
                                              <p:pRg st="1" end="1"/>
                                            </p:txEl>
                                          </p:spTgt>
                                        </p:tgtEl>
                                        <p:attrNameLst>
                                          <p:attrName>style.visibility</p:attrName>
                                        </p:attrNameLst>
                                      </p:cBhvr>
                                      <p:to>
                                        <p:strVal val="visible"/>
                                      </p:to>
                                    </p:set>
                                    <p:animEffect transition="in" filter="wipe(left)">
                                      <p:cBhvr>
                                        <p:cTn id="12" dur="500"/>
                                        <p:tgtEl>
                                          <p:spTgt spid="42189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21893">
                                            <p:txEl>
                                              <p:pRg st="2" end="2"/>
                                            </p:txEl>
                                          </p:spTgt>
                                        </p:tgtEl>
                                        <p:attrNameLst>
                                          <p:attrName>style.visibility</p:attrName>
                                        </p:attrNameLst>
                                      </p:cBhvr>
                                      <p:to>
                                        <p:strVal val="visible"/>
                                      </p:to>
                                    </p:set>
                                    <p:animEffect transition="in" filter="wipe(left)">
                                      <p:cBhvr>
                                        <p:cTn id="17" dur="500"/>
                                        <p:tgtEl>
                                          <p:spTgt spid="42189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1893" grpId="0" build="p" bldLvl="3"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2075" name="Text Box 11">
            <a:extLst>
              <a:ext uri="{FF2B5EF4-FFF2-40B4-BE49-F238E27FC236}">
                <a16:creationId xmlns:a16="http://schemas.microsoft.com/office/drawing/2014/main" id="{983A0419-28BE-DF9B-D16B-DCDAF9C7257D}"/>
              </a:ext>
            </a:extLst>
          </p:cNvPr>
          <p:cNvSpPr txBox="1">
            <a:spLocks noChangeArrowheads="1"/>
          </p:cNvSpPr>
          <p:nvPr/>
        </p:nvSpPr>
        <p:spPr bwMode="auto">
          <a:xfrm>
            <a:off x="136525" y="2911475"/>
            <a:ext cx="4206875" cy="8223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sz="2400">
                <a:solidFill>
                  <a:schemeClr val="tx1"/>
                </a:solidFill>
                <a:latin typeface="Arial" charset="0"/>
                <a:ea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defRPr/>
            </a:pPr>
            <a:r>
              <a:rPr lang="en-US" dirty="0">
                <a:solidFill>
                  <a:srgbClr val="000000"/>
                </a:solidFill>
              </a:rPr>
              <a:t>A minimum wage is set above the equilibrium wage.</a:t>
            </a:r>
          </a:p>
        </p:txBody>
      </p:sp>
      <p:sp>
        <p:nvSpPr>
          <p:cNvPr id="472076" name="Text Box 12">
            <a:extLst>
              <a:ext uri="{FF2B5EF4-FFF2-40B4-BE49-F238E27FC236}">
                <a16:creationId xmlns:a16="http://schemas.microsoft.com/office/drawing/2014/main" id="{5B2A72BC-B47D-17A5-EEFF-097C4ADAA03F}"/>
              </a:ext>
            </a:extLst>
          </p:cNvPr>
          <p:cNvSpPr txBox="1">
            <a:spLocks noChangeArrowheads="1"/>
          </p:cNvSpPr>
          <p:nvPr/>
        </p:nvSpPr>
        <p:spPr bwMode="auto">
          <a:xfrm>
            <a:off x="136525" y="3886200"/>
            <a:ext cx="4435475" cy="8223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346075" indent="-346075" eaLnBrk="0" hangingPunct="0">
              <a:defRPr sz="2400">
                <a:solidFill>
                  <a:schemeClr val="tx1"/>
                </a:solidFill>
                <a:latin typeface="Arial" charset="0"/>
                <a:ea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defRPr/>
            </a:pPr>
            <a:r>
              <a:rPr lang="en-US" b="1" dirty="0"/>
              <a:t>1.</a:t>
            </a:r>
            <a:r>
              <a:rPr lang="en-US" dirty="0"/>
              <a:t> </a:t>
            </a:r>
            <a:r>
              <a:rPr lang="en-US" dirty="0">
                <a:solidFill>
                  <a:srgbClr val="000000"/>
                </a:solidFill>
              </a:rPr>
              <a:t>The quantity demanded decreases to 3,000 workers.</a:t>
            </a:r>
            <a:endParaRPr lang="en-US" dirty="0">
              <a:solidFill>
                <a:srgbClr val="1566B0"/>
              </a:solidFill>
            </a:endParaRPr>
          </a:p>
        </p:txBody>
      </p:sp>
      <p:sp>
        <p:nvSpPr>
          <p:cNvPr id="472077" name="Text Box 13">
            <a:extLst>
              <a:ext uri="{FF2B5EF4-FFF2-40B4-BE49-F238E27FC236}">
                <a16:creationId xmlns:a16="http://schemas.microsoft.com/office/drawing/2014/main" id="{4CBE68C6-7FD9-CF04-7AAF-782D9918F5E3}"/>
              </a:ext>
            </a:extLst>
          </p:cNvPr>
          <p:cNvSpPr txBox="1">
            <a:spLocks noChangeArrowheads="1"/>
          </p:cNvSpPr>
          <p:nvPr/>
        </p:nvSpPr>
        <p:spPr bwMode="auto">
          <a:xfrm>
            <a:off x="136525" y="4953000"/>
            <a:ext cx="4283075" cy="8223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338138" indent="-338138" eaLnBrk="0" hangingPunct="0">
              <a:defRPr sz="2400">
                <a:solidFill>
                  <a:schemeClr val="tx1"/>
                </a:solidFill>
                <a:latin typeface="Arial" charset="0"/>
                <a:ea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defRPr/>
            </a:pPr>
            <a:r>
              <a:rPr lang="en-US" b="1"/>
              <a:t>2.</a:t>
            </a:r>
            <a:r>
              <a:rPr lang="en-US"/>
              <a:t> </a:t>
            </a:r>
            <a:r>
              <a:rPr lang="en-US">
                <a:solidFill>
                  <a:srgbClr val="000000"/>
                </a:solidFill>
              </a:rPr>
              <a:t>The quantity supplied increases to 7,000 people.</a:t>
            </a:r>
          </a:p>
        </p:txBody>
      </p:sp>
      <p:sp>
        <p:nvSpPr>
          <p:cNvPr id="472078" name="Text Box 14">
            <a:extLst>
              <a:ext uri="{FF2B5EF4-FFF2-40B4-BE49-F238E27FC236}">
                <a16:creationId xmlns:a16="http://schemas.microsoft.com/office/drawing/2014/main" id="{B53A3BD0-9558-8981-46F6-C48A5736396F}"/>
              </a:ext>
            </a:extLst>
          </p:cNvPr>
          <p:cNvSpPr txBox="1">
            <a:spLocks noChangeArrowheads="1"/>
          </p:cNvSpPr>
          <p:nvPr/>
        </p:nvSpPr>
        <p:spPr bwMode="auto">
          <a:xfrm>
            <a:off x="136525" y="6019800"/>
            <a:ext cx="464502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2400">
                <a:solidFill>
                  <a:schemeClr val="tx1"/>
                </a:solidFill>
                <a:latin typeface="Arial" charset="0"/>
                <a:ea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defRPr/>
            </a:pPr>
            <a:r>
              <a:rPr lang="en-US" b="1"/>
              <a:t>3.</a:t>
            </a:r>
            <a:r>
              <a:rPr lang="en-US"/>
              <a:t> </a:t>
            </a:r>
            <a:r>
              <a:rPr lang="en-US">
                <a:solidFill>
                  <a:srgbClr val="000000"/>
                </a:solidFill>
              </a:rPr>
              <a:t>4,000 people are unemployed.</a:t>
            </a:r>
          </a:p>
        </p:txBody>
      </p:sp>
      <p:sp>
        <p:nvSpPr>
          <p:cNvPr id="57350" name="Rectangle 17">
            <a:extLst>
              <a:ext uri="{FF2B5EF4-FFF2-40B4-BE49-F238E27FC236}">
                <a16:creationId xmlns:a16="http://schemas.microsoft.com/office/drawing/2014/main" id="{9C0D744A-A314-3304-FE46-DC3094B632F8}"/>
              </a:ext>
            </a:extLst>
          </p:cNvPr>
          <p:cNvSpPr>
            <a:spLocks noGrp="1" noChangeArrowheads="1"/>
          </p:cNvSpPr>
          <p:nvPr>
            <p:ph type="title"/>
          </p:nvPr>
        </p:nvSpPr>
        <p:spPr>
          <a:xfrm>
            <a:off x="381000" y="990600"/>
            <a:ext cx="8229600" cy="533400"/>
          </a:xfrm>
        </p:spPr>
        <p:txBody>
          <a:bodyPr/>
          <a:lstStyle/>
          <a:p>
            <a:pPr eaLnBrk="1" hangingPunct="1">
              <a:defRPr/>
            </a:pPr>
            <a:r>
              <a:rPr lang="en-US"/>
              <a:t>7.2  PRICE FLOORS</a:t>
            </a:r>
            <a:endParaRPr lang="en-CA"/>
          </a:p>
        </p:txBody>
      </p:sp>
      <p:sp>
        <p:nvSpPr>
          <p:cNvPr id="57351" name="Rectangle 18">
            <a:extLst>
              <a:ext uri="{FF2B5EF4-FFF2-40B4-BE49-F238E27FC236}">
                <a16:creationId xmlns:a16="http://schemas.microsoft.com/office/drawing/2014/main" id="{F9D5DED5-8345-FC66-FE8A-C560970BB3E6}"/>
              </a:ext>
            </a:extLst>
          </p:cNvPr>
          <p:cNvSpPr>
            <a:spLocks noGrp="1" noChangeArrowheads="1"/>
          </p:cNvSpPr>
          <p:nvPr>
            <p:ph type="body" idx="1"/>
          </p:nvPr>
        </p:nvSpPr>
        <p:spPr>
          <a:xfrm>
            <a:off x="228600" y="1676400"/>
            <a:ext cx="4495800" cy="1295400"/>
          </a:xfrm>
        </p:spPr>
        <p:txBody>
          <a:bodyPr/>
          <a:lstStyle/>
          <a:p>
            <a:pPr marL="0" indent="0" eaLnBrk="1" hangingPunct="1">
              <a:buFont typeface="Webdings" charset="0"/>
              <a:buNone/>
              <a:defRPr/>
            </a:pPr>
            <a:r>
              <a:rPr lang="en-US" sz="2400" b="0">
                <a:solidFill>
                  <a:schemeClr val="tx1"/>
                </a:solidFill>
              </a:rPr>
              <a:t>Figure 7.6 shows how a minimum wage creates unemployment.</a:t>
            </a:r>
            <a:endParaRPr lang="en-CA" sz="2400" b="0">
              <a:solidFill>
                <a:schemeClr val="tx1"/>
              </a:solidFill>
            </a:endParaRPr>
          </a:p>
        </p:txBody>
      </p:sp>
      <p:pic>
        <p:nvPicPr>
          <p:cNvPr id="70663" name="Picture 13" descr="fig0706a.gif">
            <a:extLst>
              <a:ext uri="{FF2B5EF4-FFF2-40B4-BE49-F238E27FC236}">
                <a16:creationId xmlns:a16="http://schemas.microsoft.com/office/drawing/2014/main" id="{01C7268C-6D68-2A86-6CDE-529D55045AF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49788" y="1828800"/>
            <a:ext cx="4494212"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4" descr="fig0706b.gif">
            <a:extLst>
              <a:ext uri="{FF2B5EF4-FFF2-40B4-BE49-F238E27FC236}">
                <a16:creationId xmlns:a16="http://schemas.microsoft.com/office/drawing/2014/main" id="{3E4366E0-4992-822D-5151-3700F694BE1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649788" y="1828800"/>
            <a:ext cx="4494212"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5" descr="fig0706c.gif">
            <a:extLst>
              <a:ext uri="{FF2B5EF4-FFF2-40B4-BE49-F238E27FC236}">
                <a16:creationId xmlns:a16="http://schemas.microsoft.com/office/drawing/2014/main" id="{AADBB15E-4DBE-A03D-DA23-490D7DA9EF5B}"/>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649788" y="1828800"/>
            <a:ext cx="4494212"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6" descr="fig0706d.gif">
            <a:extLst>
              <a:ext uri="{FF2B5EF4-FFF2-40B4-BE49-F238E27FC236}">
                <a16:creationId xmlns:a16="http://schemas.microsoft.com/office/drawing/2014/main" id="{E0A9E406-476E-C9AD-5577-B8EE07649AA3}"/>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649788" y="1828800"/>
            <a:ext cx="4494212"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7" descr="fig0706e.gif">
            <a:extLst>
              <a:ext uri="{FF2B5EF4-FFF2-40B4-BE49-F238E27FC236}">
                <a16:creationId xmlns:a16="http://schemas.microsoft.com/office/drawing/2014/main" id="{B2903B2E-ED92-B799-F075-5A3BA48FFEB2}"/>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649788" y="1828800"/>
            <a:ext cx="4494212"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18" descr="fig0706f.gif">
            <a:extLst>
              <a:ext uri="{FF2B5EF4-FFF2-40B4-BE49-F238E27FC236}">
                <a16:creationId xmlns:a16="http://schemas.microsoft.com/office/drawing/2014/main" id="{14C1D59A-F3B6-1692-056F-806D930D4924}"/>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4649788" y="1828800"/>
            <a:ext cx="4494212"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2075"/>
                                        </p:tgtEl>
                                        <p:attrNameLst>
                                          <p:attrName>style.visibility</p:attrName>
                                        </p:attrNameLst>
                                      </p:cBhvr>
                                      <p:to>
                                        <p:strVal val="visible"/>
                                      </p:to>
                                    </p:set>
                                    <p:animEffect transition="in" filter="wipe(left)">
                                      <p:cBhvr>
                                        <p:cTn id="7" dur="500"/>
                                        <p:tgtEl>
                                          <p:spTgt spid="472075"/>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left)">
                                      <p:cBhvr>
                                        <p:cTn id="11" dur="1000"/>
                                        <p:tgtEl>
                                          <p:spTgt spid="15"/>
                                        </p:tgtEl>
                                      </p:cBhvr>
                                    </p:animEffect>
                                  </p:childTnLst>
                                </p:cTn>
                              </p:par>
                            </p:childTnLst>
                          </p:cTn>
                        </p:par>
                        <p:par>
                          <p:cTn id="12" fill="hold" nodeType="afterGroup">
                            <p:stCondLst>
                              <p:cond delay="1500"/>
                            </p:stCondLst>
                            <p:childTnLst>
                              <p:par>
                                <p:cTn id="13" presetID="22" presetClass="entr" presetSubtype="1" fill="hold"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wipe(up)">
                                      <p:cBhvr>
                                        <p:cTn id="15" dur="1000"/>
                                        <p:tgtEl>
                                          <p:spTgt spid="1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472076"/>
                                        </p:tgtEl>
                                        <p:attrNameLst>
                                          <p:attrName>style.visibility</p:attrName>
                                        </p:attrNameLst>
                                      </p:cBhvr>
                                      <p:to>
                                        <p:strVal val="visible"/>
                                      </p:to>
                                    </p:set>
                                    <p:animEffect transition="in" filter="wipe(left)">
                                      <p:cBhvr>
                                        <p:cTn id="20" dur="500"/>
                                        <p:tgtEl>
                                          <p:spTgt spid="472076"/>
                                        </p:tgtEl>
                                      </p:cBhvr>
                                    </p:animEffect>
                                  </p:childTnLst>
                                </p:cTn>
                              </p:par>
                            </p:childTnLst>
                          </p:cTn>
                        </p:par>
                        <p:par>
                          <p:cTn id="21" fill="hold" nodeType="afterGroup">
                            <p:stCondLst>
                              <p:cond delay="500"/>
                            </p:stCondLst>
                            <p:childTnLst>
                              <p:par>
                                <p:cTn id="22" presetID="10" presetClass="entr" presetSubtype="0" fill="hold" nodeType="after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472077"/>
                                        </p:tgtEl>
                                        <p:attrNameLst>
                                          <p:attrName>style.visibility</p:attrName>
                                        </p:attrNameLst>
                                      </p:cBhvr>
                                      <p:to>
                                        <p:strVal val="visible"/>
                                      </p:to>
                                    </p:set>
                                    <p:animEffect transition="in" filter="wipe(left)">
                                      <p:cBhvr>
                                        <p:cTn id="29" dur="500"/>
                                        <p:tgtEl>
                                          <p:spTgt spid="472077"/>
                                        </p:tgtEl>
                                      </p:cBhvr>
                                    </p:animEffect>
                                  </p:childTnLst>
                                </p:cTn>
                              </p:par>
                            </p:childTnLst>
                          </p:cTn>
                        </p:par>
                        <p:par>
                          <p:cTn id="30" fill="hold" nodeType="afterGroup">
                            <p:stCondLst>
                              <p:cond delay="500"/>
                            </p:stCondLst>
                            <p:childTnLst>
                              <p:par>
                                <p:cTn id="31" presetID="10" presetClass="entr" presetSubtype="0" fill="hold" nodeType="after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500"/>
                                        <p:tgtEl>
                                          <p:spTgt spid="18"/>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472078"/>
                                        </p:tgtEl>
                                        <p:attrNameLst>
                                          <p:attrName>style.visibility</p:attrName>
                                        </p:attrNameLst>
                                      </p:cBhvr>
                                      <p:to>
                                        <p:strVal val="visible"/>
                                      </p:to>
                                    </p:set>
                                    <p:animEffect transition="in" filter="wipe(left)">
                                      <p:cBhvr>
                                        <p:cTn id="38" dur="500"/>
                                        <p:tgtEl>
                                          <p:spTgt spid="472078"/>
                                        </p:tgtEl>
                                      </p:cBhvr>
                                    </p:animEffect>
                                  </p:childTnLst>
                                </p:cTn>
                              </p:par>
                            </p:childTnLst>
                          </p:cTn>
                        </p:par>
                        <p:par>
                          <p:cTn id="39" fill="hold" nodeType="afterGroup">
                            <p:stCondLst>
                              <p:cond delay="500"/>
                            </p:stCondLst>
                            <p:childTnLst>
                              <p:par>
                                <p:cTn id="40" presetID="22" presetClass="entr" presetSubtype="8" fill="hold" nodeType="after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wipe(left)">
                                      <p:cBhvr>
                                        <p:cTn id="42"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2075" grpId="0" autoUpdateAnimBg="0"/>
      <p:bldP spid="472076" grpId="0" autoUpdateAnimBg="0"/>
      <p:bldP spid="472077" grpId="0" autoUpdateAnimBg="0"/>
      <p:bldP spid="472078"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2705" name="Picture 7" descr="fig0706a.gif">
            <a:extLst>
              <a:ext uri="{FF2B5EF4-FFF2-40B4-BE49-F238E27FC236}">
                <a16:creationId xmlns:a16="http://schemas.microsoft.com/office/drawing/2014/main" id="{BFE3A2A9-8F81-C2BD-AADE-CD994CDE6D2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304800"/>
            <a:ext cx="5514975" cy="576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descr="fig0706b.gif">
            <a:extLst>
              <a:ext uri="{FF2B5EF4-FFF2-40B4-BE49-F238E27FC236}">
                <a16:creationId xmlns:a16="http://schemas.microsoft.com/office/drawing/2014/main" id="{9E07CEA1-7CBA-D815-DF06-9B11B376ED8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304800"/>
            <a:ext cx="5514975" cy="576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fig0706c.gif">
            <a:extLst>
              <a:ext uri="{FF2B5EF4-FFF2-40B4-BE49-F238E27FC236}">
                <a16:creationId xmlns:a16="http://schemas.microsoft.com/office/drawing/2014/main" id="{876C569B-64A9-AD8F-3CD5-26D9EDAA293F}"/>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905000" y="304800"/>
            <a:ext cx="5514975" cy="576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descr="fig0706d.gif">
            <a:extLst>
              <a:ext uri="{FF2B5EF4-FFF2-40B4-BE49-F238E27FC236}">
                <a16:creationId xmlns:a16="http://schemas.microsoft.com/office/drawing/2014/main" id="{93F36B67-6917-6C3C-7C94-43BB63F93A02}"/>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905000" y="304800"/>
            <a:ext cx="5514975" cy="576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1" descr="fig0706e.gif">
            <a:extLst>
              <a:ext uri="{FF2B5EF4-FFF2-40B4-BE49-F238E27FC236}">
                <a16:creationId xmlns:a16="http://schemas.microsoft.com/office/drawing/2014/main" id="{349F70FD-653A-8C94-2B87-615390324595}"/>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905000" y="304800"/>
            <a:ext cx="5514975" cy="576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descr="fig0706f.gif">
            <a:extLst>
              <a:ext uri="{FF2B5EF4-FFF2-40B4-BE49-F238E27FC236}">
                <a16:creationId xmlns:a16="http://schemas.microsoft.com/office/drawing/2014/main" id="{C37E923C-BF30-AFED-2789-025CDBCC39FD}"/>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1905000" y="304800"/>
            <a:ext cx="5514975" cy="576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10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up)">
                                      <p:cBhvr>
                                        <p:cTn id="12" dur="1000"/>
                                        <p:tgtEl>
                                          <p:spTgt spid="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left)">
                                      <p:cBhvr>
                                        <p:cTn id="27"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8B4B2BED-A496-D3A7-92AE-7ADEA9C562EB}"/>
              </a:ext>
            </a:extLst>
          </p:cNvPr>
          <p:cNvSpPr>
            <a:spLocks noGrp="1" noChangeArrowheads="1"/>
          </p:cNvSpPr>
          <p:nvPr>
            <p:ph type="title"/>
          </p:nvPr>
        </p:nvSpPr>
        <p:spPr>
          <a:xfrm>
            <a:off x="381000" y="990600"/>
            <a:ext cx="8229600" cy="533400"/>
          </a:xfrm>
        </p:spPr>
        <p:txBody>
          <a:bodyPr/>
          <a:lstStyle/>
          <a:p>
            <a:pPr eaLnBrk="1" hangingPunct="1">
              <a:defRPr/>
            </a:pPr>
            <a:r>
              <a:rPr lang="en-US"/>
              <a:t>7.2  PRICE FLOORS</a:t>
            </a:r>
            <a:endParaRPr lang="en-CA"/>
          </a:p>
        </p:txBody>
      </p:sp>
      <p:sp>
        <p:nvSpPr>
          <p:cNvPr id="621571" name="Rectangle 3">
            <a:extLst>
              <a:ext uri="{FF2B5EF4-FFF2-40B4-BE49-F238E27FC236}">
                <a16:creationId xmlns:a16="http://schemas.microsoft.com/office/drawing/2014/main" id="{8DD653A8-E080-82DF-1E9B-695EC57B73E8}"/>
              </a:ext>
            </a:extLst>
          </p:cNvPr>
          <p:cNvSpPr>
            <a:spLocks noGrp="1" noChangeArrowheads="1"/>
          </p:cNvSpPr>
          <p:nvPr>
            <p:ph type="body" idx="1"/>
          </p:nvPr>
        </p:nvSpPr>
        <p:spPr>
          <a:xfrm>
            <a:off x="415159" y="1752600"/>
            <a:ext cx="8229600" cy="4495800"/>
          </a:xfrm>
        </p:spPr>
        <p:txBody>
          <a:bodyPr/>
          <a:lstStyle/>
          <a:p>
            <a:pPr marL="114300" lvl="1" indent="3175" eaLnBrk="1" hangingPunct="1">
              <a:lnSpc>
                <a:spcPct val="95000"/>
              </a:lnSpc>
              <a:defRPr/>
            </a:pPr>
            <a:r>
              <a:rPr lang="en-US" dirty="0"/>
              <a:t>Of the 4,000 people unemployed, 2,000 have been fired and another 2,000 would like to work at $7 an hour.</a:t>
            </a:r>
          </a:p>
          <a:p>
            <a:pPr marL="114300" lvl="1" indent="3175" eaLnBrk="1" hangingPunct="1">
              <a:lnSpc>
                <a:spcPct val="95000"/>
              </a:lnSpc>
              <a:defRPr/>
            </a:pPr>
            <a:r>
              <a:rPr lang="en-US" dirty="0"/>
              <a:t>The 3,000 jobs must somehow be allocated to the 7,000 people who would like to work. </a:t>
            </a:r>
          </a:p>
          <a:p>
            <a:pPr marL="114300" lvl="1" indent="3175" eaLnBrk="1" hangingPunct="1">
              <a:lnSpc>
                <a:spcPct val="95000"/>
              </a:lnSpc>
              <a:defRPr/>
            </a:pPr>
            <a:r>
              <a:rPr lang="en-US" dirty="0"/>
              <a:t>This allocation is achieved by</a:t>
            </a:r>
          </a:p>
          <a:p>
            <a:pPr marL="796925" lvl="2" indent="-222250" eaLnBrk="1" hangingPunct="1">
              <a:lnSpc>
                <a:spcPct val="90000"/>
              </a:lnSpc>
              <a:defRPr/>
            </a:pPr>
            <a:r>
              <a:rPr lang="en-US" dirty="0"/>
              <a:t>Increased search activity</a:t>
            </a:r>
          </a:p>
          <a:p>
            <a:pPr marL="796925" lvl="2" indent="-222250" eaLnBrk="1" hangingPunct="1">
              <a:lnSpc>
                <a:spcPct val="90000"/>
              </a:lnSpc>
              <a:defRPr/>
            </a:pPr>
            <a:r>
              <a:rPr lang="en-US" dirty="0"/>
              <a:t>Illegal hiring</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21571">
                                            <p:txEl>
                                              <p:pRg st="0" end="0"/>
                                            </p:txEl>
                                          </p:spTgt>
                                        </p:tgtEl>
                                        <p:attrNameLst>
                                          <p:attrName>style.visibility</p:attrName>
                                        </p:attrNameLst>
                                      </p:cBhvr>
                                      <p:to>
                                        <p:strVal val="visible"/>
                                      </p:to>
                                    </p:set>
                                    <p:animEffect transition="in" filter="wipe(left)">
                                      <p:cBhvr>
                                        <p:cTn id="7" dur="500"/>
                                        <p:tgtEl>
                                          <p:spTgt spid="6215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21571">
                                            <p:txEl>
                                              <p:pRg st="1" end="1"/>
                                            </p:txEl>
                                          </p:spTgt>
                                        </p:tgtEl>
                                        <p:attrNameLst>
                                          <p:attrName>style.visibility</p:attrName>
                                        </p:attrNameLst>
                                      </p:cBhvr>
                                      <p:to>
                                        <p:strVal val="visible"/>
                                      </p:to>
                                    </p:set>
                                    <p:animEffect transition="in" filter="wipe(left)">
                                      <p:cBhvr>
                                        <p:cTn id="12" dur="500"/>
                                        <p:tgtEl>
                                          <p:spTgt spid="62157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21571">
                                            <p:txEl>
                                              <p:pRg st="2" end="2"/>
                                            </p:txEl>
                                          </p:spTgt>
                                        </p:tgtEl>
                                        <p:attrNameLst>
                                          <p:attrName>style.visibility</p:attrName>
                                        </p:attrNameLst>
                                      </p:cBhvr>
                                      <p:to>
                                        <p:strVal val="visible"/>
                                      </p:to>
                                    </p:set>
                                    <p:animEffect transition="in" filter="wipe(left)">
                                      <p:cBhvr>
                                        <p:cTn id="17" dur="500"/>
                                        <p:tgtEl>
                                          <p:spTgt spid="62157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21571">
                                            <p:txEl>
                                              <p:pRg st="3" end="3"/>
                                            </p:txEl>
                                          </p:spTgt>
                                        </p:tgtEl>
                                        <p:attrNameLst>
                                          <p:attrName>style.visibility</p:attrName>
                                        </p:attrNameLst>
                                      </p:cBhvr>
                                      <p:to>
                                        <p:strVal val="visible"/>
                                      </p:to>
                                    </p:set>
                                    <p:animEffect transition="in" filter="wipe(left)">
                                      <p:cBhvr>
                                        <p:cTn id="22" dur="500"/>
                                        <p:tgtEl>
                                          <p:spTgt spid="62157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21571">
                                            <p:txEl>
                                              <p:pRg st="4" end="4"/>
                                            </p:txEl>
                                          </p:spTgt>
                                        </p:tgtEl>
                                        <p:attrNameLst>
                                          <p:attrName>style.visibility</p:attrName>
                                        </p:attrNameLst>
                                      </p:cBhvr>
                                      <p:to>
                                        <p:strVal val="visible"/>
                                      </p:to>
                                    </p:set>
                                    <p:animEffect transition="in" filter="wipe(left)">
                                      <p:cBhvr>
                                        <p:cTn id="27" dur="500"/>
                                        <p:tgtEl>
                                          <p:spTgt spid="62157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1571" grpId="0" build="p" bldLvl="5"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4123" name="Text Box 11">
            <a:extLst>
              <a:ext uri="{FF2B5EF4-FFF2-40B4-BE49-F238E27FC236}">
                <a16:creationId xmlns:a16="http://schemas.microsoft.com/office/drawing/2014/main" id="{561A2DBD-2FAF-146E-B340-898E9ADEE8C8}"/>
              </a:ext>
            </a:extLst>
          </p:cNvPr>
          <p:cNvSpPr txBox="1">
            <a:spLocks noChangeArrowheads="1"/>
          </p:cNvSpPr>
          <p:nvPr/>
        </p:nvSpPr>
        <p:spPr bwMode="auto">
          <a:xfrm>
            <a:off x="152400" y="2971800"/>
            <a:ext cx="4337050" cy="11874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346075" indent="-346075" eaLnBrk="0" hangingPunct="0">
              <a:defRPr sz="2400">
                <a:solidFill>
                  <a:schemeClr val="tx1"/>
                </a:solidFill>
                <a:latin typeface="Arial" charset="0"/>
                <a:ea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defRPr/>
            </a:pPr>
            <a:r>
              <a:rPr lang="en-US" b="1">
                <a:solidFill>
                  <a:srgbClr val="000000"/>
                </a:solidFill>
              </a:rPr>
              <a:t>1.</a:t>
            </a:r>
            <a:r>
              <a:rPr lang="en-US">
                <a:solidFill>
                  <a:srgbClr val="000000"/>
                </a:solidFill>
              </a:rPr>
              <a:t> At the minimum wage rate of $7 an hour, 3,000 jobs are available.</a:t>
            </a:r>
          </a:p>
        </p:txBody>
      </p:sp>
      <p:sp>
        <p:nvSpPr>
          <p:cNvPr id="474125" name="Text Box 13">
            <a:extLst>
              <a:ext uri="{FF2B5EF4-FFF2-40B4-BE49-F238E27FC236}">
                <a16:creationId xmlns:a16="http://schemas.microsoft.com/office/drawing/2014/main" id="{6D2045A4-64D5-8B72-A62E-A0BEE5EA97B5}"/>
              </a:ext>
            </a:extLst>
          </p:cNvPr>
          <p:cNvSpPr txBox="1">
            <a:spLocks noChangeArrowheads="1"/>
          </p:cNvSpPr>
          <p:nvPr/>
        </p:nvSpPr>
        <p:spPr bwMode="auto">
          <a:xfrm>
            <a:off x="152400" y="4343400"/>
            <a:ext cx="4191000" cy="11874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346075" indent="-346075" eaLnBrk="0" hangingPunct="0">
              <a:defRPr sz="2400">
                <a:solidFill>
                  <a:schemeClr val="tx1"/>
                </a:solidFill>
                <a:latin typeface="Arial" charset="0"/>
                <a:ea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defRPr/>
            </a:pPr>
            <a:r>
              <a:rPr lang="en-US" b="1"/>
              <a:t>2.</a:t>
            </a:r>
            <a:r>
              <a:rPr lang="en-US"/>
              <a:t> </a:t>
            </a:r>
            <a:r>
              <a:rPr lang="en-US">
                <a:solidFill>
                  <a:srgbClr val="000000"/>
                </a:solidFill>
              </a:rPr>
              <a:t>Someone is willing to take the 3,000th job for $3 an hour.</a:t>
            </a:r>
            <a:endParaRPr lang="en-US">
              <a:solidFill>
                <a:srgbClr val="1566B0"/>
              </a:solidFill>
            </a:endParaRPr>
          </a:p>
        </p:txBody>
      </p:sp>
      <p:sp>
        <p:nvSpPr>
          <p:cNvPr id="60420" name="Rectangle 17">
            <a:extLst>
              <a:ext uri="{FF2B5EF4-FFF2-40B4-BE49-F238E27FC236}">
                <a16:creationId xmlns:a16="http://schemas.microsoft.com/office/drawing/2014/main" id="{21BF2F6B-47BA-0564-0E1C-C822B1A9311B}"/>
              </a:ext>
            </a:extLst>
          </p:cNvPr>
          <p:cNvSpPr>
            <a:spLocks noGrp="1" noChangeArrowheads="1"/>
          </p:cNvSpPr>
          <p:nvPr>
            <p:ph type="title"/>
          </p:nvPr>
        </p:nvSpPr>
        <p:spPr>
          <a:xfrm>
            <a:off x="381000" y="990600"/>
            <a:ext cx="8229600" cy="533400"/>
          </a:xfrm>
        </p:spPr>
        <p:txBody>
          <a:bodyPr/>
          <a:lstStyle/>
          <a:p>
            <a:pPr eaLnBrk="1" hangingPunct="1">
              <a:defRPr/>
            </a:pPr>
            <a:r>
              <a:rPr lang="en-US"/>
              <a:t>7.2  PRICE FLOORS</a:t>
            </a:r>
            <a:endParaRPr lang="en-CA"/>
          </a:p>
        </p:txBody>
      </p:sp>
      <p:sp>
        <p:nvSpPr>
          <p:cNvPr id="60421" name="Rectangle 19">
            <a:extLst>
              <a:ext uri="{FF2B5EF4-FFF2-40B4-BE49-F238E27FC236}">
                <a16:creationId xmlns:a16="http://schemas.microsoft.com/office/drawing/2014/main" id="{68D2AE80-59E6-B694-A968-BA1495F02A1E}"/>
              </a:ext>
            </a:extLst>
          </p:cNvPr>
          <p:cNvSpPr>
            <a:spLocks noGrp="1" noChangeArrowheads="1"/>
          </p:cNvSpPr>
          <p:nvPr>
            <p:ph type="body" idx="1"/>
          </p:nvPr>
        </p:nvSpPr>
        <p:spPr>
          <a:xfrm>
            <a:off x="228600" y="1676400"/>
            <a:ext cx="4191000" cy="1295400"/>
          </a:xfrm>
        </p:spPr>
        <p:txBody>
          <a:bodyPr/>
          <a:lstStyle/>
          <a:p>
            <a:pPr marL="0" indent="0" eaLnBrk="1" hangingPunct="1">
              <a:buFont typeface="Webdings" charset="0"/>
              <a:buNone/>
              <a:defRPr/>
            </a:pPr>
            <a:r>
              <a:rPr lang="en-US" sz="2400" b="0">
                <a:solidFill>
                  <a:schemeClr val="tx1"/>
                </a:solidFill>
              </a:rPr>
              <a:t>Figure 7.7 shows how a minimum wage increases job search.</a:t>
            </a:r>
            <a:endParaRPr lang="en-CA" sz="2400" b="0">
              <a:solidFill>
                <a:schemeClr val="tx1"/>
              </a:solidFill>
            </a:endParaRPr>
          </a:p>
        </p:txBody>
      </p:sp>
      <p:pic>
        <p:nvPicPr>
          <p:cNvPr id="76805" name="Picture 7" descr="fig0707a.gif">
            <a:extLst>
              <a:ext uri="{FF2B5EF4-FFF2-40B4-BE49-F238E27FC236}">
                <a16:creationId xmlns:a16="http://schemas.microsoft.com/office/drawing/2014/main" id="{2EBA5F4D-9809-CEAE-2000-C7293D97C56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95800" y="1828800"/>
            <a:ext cx="4494213"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descr="fig0707b.gif">
            <a:extLst>
              <a:ext uri="{FF2B5EF4-FFF2-40B4-BE49-F238E27FC236}">
                <a16:creationId xmlns:a16="http://schemas.microsoft.com/office/drawing/2014/main" id="{F76519BA-5BAB-558A-24FC-29DAF71A21D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495800" y="1828800"/>
            <a:ext cx="4494213"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fig0707c.gif">
            <a:extLst>
              <a:ext uri="{FF2B5EF4-FFF2-40B4-BE49-F238E27FC236}">
                <a16:creationId xmlns:a16="http://schemas.microsoft.com/office/drawing/2014/main" id="{B7156203-A06C-A3BC-F978-0E17390F6A9E}"/>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495800" y="1828800"/>
            <a:ext cx="4494213"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descr="fig0707d.gif">
            <a:extLst>
              <a:ext uri="{FF2B5EF4-FFF2-40B4-BE49-F238E27FC236}">
                <a16:creationId xmlns:a16="http://schemas.microsoft.com/office/drawing/2014/main" id="{D709026F-88EF-310D-BC0D-2904E6D6E550}"/>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495800" y="1828800"/>
            <a:ext cx="4494213"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1" descr="fig0707e.gif">
            <a:extLst>
              <a:ext uri="{FF2B5EF4-FFF2-40B4-BE49-F238E27FC236}">
                <a16:creationId xmlns:a16="http://schemas.microsoft.com/office/drawing/2014/main" id="{8487D956-D648-8253-D7A0-B15F5422933A}"/>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495800" y="1828800"/>
            <a:ext cx="4494213"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4123"/>
                                        </p:tgtEl>
                                        <p:attrNameLst>
                                          <p:attrName>style.visibility</p:attrName>
                                        </p:attrNameLst>
                                      </p:cBhvr>
                                      <p:to>
                                        <p:strVal val="visible"/>
                                      </p:to>
                                    </p:set>
                                    <p:animEffect transition="in" filter="wipe(left)">
                                      <p:cBhvr>
                                        <p:cTn id="7" dur="500"/>
                                        <p:tgtEl>
                                          <p:spTgt spid="474123"/>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1000"/>
                                        <p:tgtEl>
                                          <p:spTgt spid="9"/>
                                        </p:tgtEl>
                                      </p:cBhvr>
                                    </p:animEffect>
                                  </p:childTnLst>
                                </p:cTn>
                              </p:par>
                            </p:childTnLst>
                          </p:cTn>
                        </p:par>
                        <p:par>
                          <p:cTn id="12" fill="hold" nodeType="afterGroup">
                            <p:stCondLst>
                              <p:cond delay="1500"/>
                            </p:stCondLst>
                            <p:childTnLst>
                              <p:par>
                                <p:cTn id="13" presetID="22" presetClass="entr" presetSubtype="1"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up)">
                                      <p:cBhvr>
                                        <p:cTn id="15" dur="1000"/>
                                        <p:tgtEl>
                                          <p:spTgt spid="10"/>
                                        </p:tgtEl>
                                      </p:cBhvr>
                                    </p:animEffect>
                                  </p:childTnLst>
                                </p:cTn>
                              </p:par>
                            </p:childTnLst>
                          </p:cTn>
                        </p:par>
                        <p:par>
                          <p:cTn id="16" fill="hold" nodeType="afterGroup">
                            <p:stCondLst>
                              <p:cond delay="2500"/>
                            </p:stCondLst>
                            <p:childTnLst>
                              <p:par>
                                <p:cTn id="17" presetID="10" presetClass="entr" presetSubtype="0" fill="hold"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474125"/>
                                        </p:tgtEl>
                                        <p:attrNameLst>
                                          <p:attrName>style.visibility</p:attrName>
                                        </p:attrNameLst>
                                      </p:cBhvr>
                                      <p:to>
                                        <p:strVal val="visible"/>
                                      </p:to>
                                    </p:set>
                                    <p:animEffect transition="in" filter="wipe(left)">
                                      <p:cBhvr>
                                        <p:cTn id="24" dur="500"/>
                                        <p:tgtEl>
                                          <p:spTgt spid="474125"/>
                                        </p:tgtEl>
                                      </p:cBhvr>
                                    </p:animEffect>
                                  </p:childTnLst>
                                </p:cTn>
                              </p:par>
                            </p:childTnLst>
                          </p:cTn>
                        </p:par>
                        <p:par>
                          <p:cTn id="25" fill="hold" nodeType="afterGroup">
                            <p:stCondLst>
                              <p:cond delay="500"/>
                            </p:stCondLst>
                            <p:childTnLst>
                              <p:par>
                                <p:cTn id="26" presetID="10" presetClass="entr" presetSubtype="0" fill="hold"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4123" grpId="0" autoUpdateAnimBg="0"/>
      <p:bldP spid="474125"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8849" name="Picture 7" descr="fig0707a.gif">
            <a:extLst>
              <a:ext uri="{FF2B5EF4-FFF2-40B4-BE49-F238E27FC236}">
                <a16:creationId xmlns:a16="http://schemas.microsoft.com/office/drawing/2014/main" id="{3DE45AB8-0D11-1EC6-608B-08B75AAA21B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381000"/>
            <a:ext cx="5514975" cy="576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3" descr="fig0707b.gif">
            <a:extLst>
              <a:ext uri="{FF2B5EF4-FFF2-40B4-BE49-F238E27FC236}">
                <a16:creationId xmlns:a16="http://schemas.microsoft.com/office/drawing/2014/main" id="{D1EE2873-9BB5-87AE-09E2-2AD023AE7F4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381000"/>
            <a:ext cx="5514975" cy="576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4" descr="fig0707c.gif">
            <a:extLst>
              <a:ext uri="{FF2B5EF4-FFF2-40B4-BE49-F238E27FC236}">
                <a16:creationId xmlns:a16="http://schemas.microsoft.com/office/drawing/2014/main" id="{96BFAFE6-AE6F-1C69-0032-B47EA362FBF2}"/>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981200" y="381000"/>
            <a:ext cx="5514975" cy="576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5" descr="fig0707d.gif">
            <a:extLst>
              <a:ext uri="{FF2B5EF4-FFF2-40B4-BE49-F238E27FC236}">
                <a16:creationId xmlns:a16="http://schemas.microsoft.com/office/drawing/2014/main" id="{AEC4DED7-FABA-26AE-F1D6-CE10835644B7}"/>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981200" y="381000"/>
            <a:ext cx="5514975" cy="576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6" descr="fig0707e.gif">
            <a:extLst>
              <a:ext uri="{FF2B5EF4-FFF2-40B4-BE49-F238E27FC236}">
                <a16:creationId xmlns:a16="http://schemas.microsoft.com/office/drawing/2014/main" id="{FED7B734-02C5-46EB-9521-B434740789D6}"/>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981200" y="381000"/>
            <a:ext cx="5514975" cy="576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7" descr="fig0707f.gif">
            <a:extLst>
              <a:ext uri="{FF2B5EF4-FFF2-40B4-BE49-F238E27FC236}">
                <a16:creationId xmlns:a16="http://schemas.microsoft.com/office/drawing/2014/main" id="{0FD3F5A0-E1B4-E3DC-CF7E-4E94F0AB426A}"/>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1981200" y="381000"/>
            <a:ext cx="5514975" cy="576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1000"/>
                                        <p:tgtEl>
                                          <p:spTgt spid="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up)">
                                      <p:cBhvr>
                                        <p:cTn id="12" dur="1000"/>
                                        <p:tgtEl>
                                          <p:spTgt spid="1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down)">
                                      <p:cBhvr>
                                        <p:cTn id="27"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466" name="Rectangle 11">
            <a:extLst>
              <a:ext uri="{FF2B5EF4-FFF2-40B4-BE49-F238E27FC236}">
                <a16:creationId xmlns:a16="http://schemas.microsoft.com/office/drawing/2014/main" id="{4EA713FD-D82E-2214-0C19-40339B73327F}"/>
              </a:ext>
            </a:extLst>
          </p:cNvPr>
          <p:cNvSpPr>
            <a:spLocks noGrp="1" noChangeArrowheads="1"/>
          </p:cNvSpPr>
          <p:nvPr>
            <p:ph type="title"/>
          </p:nvPr>
        </p:nvSpPr>
        <p:spPr>
          <a:xfrm>
            <a:off x="381000" y="990600"/>
            <a:ext cx="8229600" cy="533400"/>
          </a:xfrm>
        </p:spPr>
        <p:txBody>
          <a:bodyPr/>
          <a:lstStyle/>
          <a:p>
            <a:pPr eaLnBrk="1" hangingPunct="1">
              <a:defRPr/>
            </a:pPr>
            <a:r>
              <a:rPr lang="en-US"/>
              <a:t>7.2  PRICE FLOORS</a:t>
            </a:r>
            <a:endParaRPr lang="en-CA"/>
          </a:p>
        </p:txBody>
      </p:sp>
      <p:sp>
        <p:nvSpPr>
          <p:cNvPr id="531468" name="Rectangle 12">
            <a:extLst>
              <a:ext uri="{FF2B5EF4-FFF2-40B4-BE49-F238E27FC236}">
                <a16:creationId xmlns:a16="http://schemas.microsoft.com/office/drawing/2014/main" id="{9DA98719-445E-7DB9-0816-30C295198B5E}"/>
              </a:ext>
            </a:extLst>
          </p:cNvPr>
          <p:cNvSpPr>
            <a:spLocks noGrp="1" noChangeArrowheads="1"/>
          </p:cNvSpPr>
          <p:nvPr>
            <p:ph type="body" idx="1"/>
          </p:nvPr>
        </p:nvSpPr>
        <p:spPr>
          <a:xfrm>
            <a:off x="457200" y="3505200"/>
            <a:ext cx="4114800" cy="2133600"/>
          </a:xfrm>
        </p:spPr>
        <p:txBody>
          <a:bodyPr/>
          <a:lstStyle/>
          <a:p>
            <a:pPr marL="0" indent="0" eaLnBrk="1" hangingPunct="1">
              <a:lnSpc>
                <a:spcPct val="105000"/>
              </a:lnSpc>
              <a:spcBef>
                <a:spcPct val="0"/>
              </a:spcBef>
              <a:buClrTx/>
              <a:buFontTx/>
              <a:buNone/>
              <a:defRPr/>
            </a:pPr>
            <a:r>
              <a:rPr lang="en-US" sz="2400" b="0">
                <a:solidFill>
                  <a:srgbClr val="000000"/>
                </a:solidFill>
              </a:rPr>
              <a:t>People are willing to spend time on job search that is worth the equivalent of lowering their wage rate by $4 an hour.</a:t>
            </a:r>
          </a:p>
        </p:txBody>
      </p:sp>
      <p:sp>
        <p:nvSpPr>
          <p:cNvPr id="62468" name="Text Box 13">
            <a:extLst>
              <a:ext uri="{FF2B5EF4-FFF2-40B4-BE49-F238E27FC236}">
                <a16:creationId xmlns:a16="http://schemas.microsoft.com/office/drawing/2014/main" id="{816CBE31-497F-9F51-F794-21E5F5596739}"/>
              </a:ext>
            </a:extLst>
          </p:cNvPr>
          <p:cNvSpPr txBox="1">
            <a:spLocks noChangeArrowheads="1"/>
          </p:cNvSpPr>
          <p:nvPr/>
        </p:nvSpPr>
        <p:spPr bwMode="auto">
          <a:xfrm>
            <a:off x="228600" y="2057400"/>
            <a:ext cx="4038600" cy="11874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230188" indent="-230188" eaLnBrk="0" hangingPunct="0">
              <a:defRPr sz="2400">
                <a:solidFill>
                  <a:schemeClr val="tx1"/>
                </a:solidFill>
                <a:latin typeface="Arial" charset="0"/>
                <a:ea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defRPr/>
            </a:pPr>
            <a:r>
              <a:rPr lang="en-US" b="1"/>
              <a:t>3.</a:t>
            </a:r>
            <a:r>
              <a:rPr lang="en-US">
                <a:solidFill>
                  <a:srgbClr val="FFFFFF"/>
                </a:solidFill>
              </a:rPr>
              <a:t> </a:t>
            </a:r>
            <a:r>
              <a:rPr lang="en-US">
                <a:solidFill>
                  <a:srgbClr val="000000"/>
                </a:solidFill>
              </a:rPr>
              <a:t>Illegal wage rates might range from just below $7 an hour to $3 an hour.</a:t>
            </a:r>
            <a:endParaRPr lang="en-US">
              <a:solidFill>
                <a:srgbClr val="1566B0"/>
              </a:solidFill>
            </a:endParaRPr>
          </a:p>
        </p:txBody>
      </p:sp>
      <p:pic>
        <p:nvPicPr>
          <p:cNvPr id="80900" name="Picture 7" descr="fig0707a.gif">
            <a:extLst>
              <a:ext uri="{FF2B5EF4-FFF2-40B4-BE49-F238E27FC236}">
                <a16:creationId xmlns:a16="http://schemas.microsoft.com/office/drawing/2014/main" id="{CC585743-7E87-4ECD-4B8C-9A2EC033D13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95800" y="1828800"/>
            <a:ext cx="4494213"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901" name="Picture 8" descr="fig0707b.gif">
            <a:extLst>
              <a:ext uri="{FF2B5EF4-FFF2-40B4-BE49-F238E27FC236}">
                <a16:creationId xmlns:a16="http://schemas.microsoft.com/office/drawing/2014/main" id="{AAC2B0F3-7021-2600-D87C-1256E2DDB29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495800" y="1828800"/>
            <a:ext cx="4494213"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902" name="Picture 9" descr="fig0707c.gif">
            <a:extLst>
              <a:ext uri="{FF2B5EF4-FFF2-40B4-BE49-F238E27FC236}">
                <a16:creationId xmlns:a16="http://schemas.microsoft.com/office/drawing/2014/main" id="{4EFBF786-EE9B-AF3E-3DF2-F3BAFFC47EA1}"/>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495800" y="1828800"/>
            <a:ext cx="4494213"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903" name="Picture 10" descr="fig0707d.gif">
            <a:extLst>
              <a:ext uri="{FF2B5EF4-FFF2-40B4-BE49-F238E27FC236}">
                <a16:creationId xmlns:a16="http://schemas.microsoft.com/office/drawing/2014/main" id="{0189F381-A065-5164-733A-8D8C30D55391}"/>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495800" y="1828800"/>
            <a:ext cx="4494213"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904" name="Picture 11" descr="fig0707e.gif">
            <a:extLst>
              <a:ext uri="{FF2B5EF4-FFF2-40B4-BE49-F238E27FC236}">
                <a16:creationId xmlns:a16="http://schemas.microsoft.com/office/drawing/2014/main" id="{80156313-AA01-69DF-2CCE-B5862A1F94E5}"/>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495800" y="1828800"/>
            <a:ext cx="4494213"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descr="fig0707f.gif">
            <a:extLst>
              <a:ext uri="{FF2B5EF4-FFF2-40B4-BE49-F238E27FC236}">
                <a16:creationId xmlns:a16="http://schemas.microsoft.com/office/drawing/2014/main" id="{D7F77885-13F2-B402-9792-52065518198A}"/>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4495800" y="1828800"/>
            <a:ext cx="4494213"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1000"/>
                                        <p:tgtEl>
                                          <p:spTgt spid="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31468">
                                            <p:txEl>
                                              <p:pRg st="0" end="0"/>
                                            </p:txEl>
                                          </p:spTgt>
                                        </p:tgtEl>
                                        <p:attrNameLst>
                                          <p:attrName>style.visibility</p:attrName>
                                        </p:attrNameLst>
                                      </p:cBhvr>
                                      <p:to>
                                        <p:strVal val="visible"/>
                                      </p:to>
                                    </p:set>
                                    <p:animEffect transition="in" filter="wipe(left)">
                                      <p:cBhvr>
                                        <p:cTn id="12" dur="500"/>
                                        <p:tgtEl>
                                          <p:spTgt spid="53146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1468" grpId="0" build="p" bldLvl="3"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90" name="Rectangle 4">
            <a:extLst>
              <a:ext uri="{FF2B5EF4-FFF2-40B4-BE49-F238E27FC236}">
                <a16:creationId xmlns:a16="http://schemas.microsoft.com/office/drawing/2014/main" id="{94BEDFC4-9601-0F5D-32EC-20BB89643E8C}"/>
              </a:ext>
            </a:extLst>
          </p:cNvPr>
          <p:cNvSpPr>
            <a:spLocks noGrp="1" noChangeArrowheads="1"/>
          </p:cNvSpPr>
          <p:nvPr>
            <p:ph type="title"/>
          </p:nvPr>
        </p:nvSpPr>
        <p:spPr/>
        <p:txBody>
          <a:bodyPr/>
          <a:lstStyle/>
          <a:p>
            <a:pPr eaLnBrk="1" hangingPunct="1">
              <a:defRPr/>
            </a:pPr>
            <a:r>
              <a:rPr lang="en-US"/>
              <a:t>7.2  PRICE FLOORS</a:t>
            </a:r>
            <a:endParaRPr lang="en-CA"/>
          </a:p>
        </p:txBody>
      </p:sp>
      <p:sp>
        <p:nvSpPr>
          <p:cNvPr id="428037" name="Rectangle 5">
            <a:extLst>
              <a:ext uri="{FF2B5EF4-FFF2-40B4-BE49-F238E27FC236}">
                <a16:creationId xmlns:a16="http://schemas.microsoft.com/office/drawing/2014/main" id="{D26C0759-DF3D-AA7D-7841-A452C83231C8}"/>
              </a:ext>
            </a:extLst>
          </p:cNvPr>
          <p:cNvSpPr>
            <a:spLocks noGrp="1" noChangeArrowheads="1"/>
          </p:cNvSpPr>
          <p:nvPr>
            <p:ph type="body" idx="1"/>
          </p:nvPr>
        </p:nvSpPr>
        <p:spPr>
          <a:xfrm>
            <a:off x="304800" y="2362200"/>
            <a:ext cx="8229600" cy="3200400"/>
          </a:xfrm>
        </p:spPr>
        <p:txBody>
          <a:bodyPr/>
          <a:lstStyle/>
          <a:p>
            <a:pPr lvl="1" eaLnBrk="1" hangingPunct="1"/>
            <a:r>
              <a:rPr lang="en-US" altLang="en-TW">
                <a:ea typeface="ＭＳ Ｐゴシック" panose="020B0600070205080204" pitchFamily="34" charset="-128"/>
              </a:rPr>
              <a:t>The firms</a:t>
            </a:r>
            <a:r>
              <a:rPr lang="en-US" altLang="en-US">
                <a:ea typeface="ＭＳ Ｐゴシック" panose="020B0600070205080204" pitchFamily="34" charset="-128"/>
              </a:rPr>
              <a:t>’</a:t>
            </a:r>
            <a:r>
              <a:rPr lang="en-US" altLang="en-TW">
                <a:ea typeface="ＭＳ Ｐゴシック" panose="020B0600070205080204" pitchFamily="34" charset="-128"/>
              </a:rPr>
              <a:t> surplus and workers</a:t>
            </a:r>
            <a:r>
              <a:rPr lang="en-US" altLang="en-US">
                <a:ea typeface="ＭＳ Ｐゴシック" panose="020B0600070205080204" pitchFamily="34" charset="-128"/>
              </a:rPr>
              <a:t>’</a:t>
            </a:r>
            <a:r>
              <a:rPr lang="en-US" altLang="en-TW">
                <a:ea typeface="ＭＳ Ｐゴシック" panose="020B0600070205080204" pitchFamily="34" charset="-128"/>
              </a:rPr>
              <a:t> surplus shrink, and a deadweight loss arises. </a:t>
            </a:r>
          </a:p>
          <a:p>
            <a:pPr lvl="1" eaLnBrk="1" hangingPunct="1"/>
            <a:r>
              <a:rPr lang="en-US" altLang="en-TW">
                <a:ea typeface="ＭＳ Ｐゴシック" panose="020B0600070205080204" pitchFamily="34" charset="-128"/>
              </a:rPr>
              <a:t>Firms that cut back employment and people who can</a:t>
            </a:r>
            <a:r>
              <a:rPr lang="en-US" altLang="en-US">
                <a:ea typeface="ＭＳ Ｐゴシック" panose="020B0600070205080204" pitchFamily="34" charset="-128"/>
              </a:rPr>
              <a:t>’</a:t>
            </a:r>
            <a:r>
              <a:rPr lang="en-US" altLang="en-TW">
                <a:ea typeface="ＭＳ Ｐゴシック" panose="020B0600070205080204" pitchFamily="34" charset="-128"/>
              </a:rPr>
              <a:t>t find jobs at the higher wage rate lose.</a:t>
            </a:r>
          </a:p>
          <a:p>
            <a:pPr lvl="1" eaLnBrk="1" hangingPunct="1"/>
            <a:r>
              <a:rPr lang="en-US" altLang="en-TW">
                <a:ea typeface="ＭＳ Ｐゴシック" panose="020B0600070205080204" pitchFamily="34" charset="-128"/>
              </a:rPr>
              <a:t>The total loss exceeds the deadweight loss because resources get used in costly job-search activity.</a:t>
            </a:r>
          </a:p>
        </p:txBody>
      </p:sp>
      <p:sp>
        <p:nvSpPr>
          <p:cNvPr id="428038" name="Rectangle 6">
            <a:extLst>
              <a:ext uri="{FF2B5EF4-FFF2-40B4-BE49-F238E27FC236}">
                <a16:creationId xmlns:a16="http://schemas.microsoft.com/office/drawing/2014/main" id="{52D28F1F-BD4A-C703-CC22-7D23120D7727}"/>
              </a:ext>
            </a:extLst>
          </p:cNvPr>
          <p:cNvSpPr>
            <a:spLocks noChangeArrowheads="1"/>
          </p:cNvSpPr>
          <p:nvPr/>
        </p:nvSpPr>
        <p:spPr bwMode="auto">
          <a:xfrm>
            <a:off x="381000" y="1752600"/>
            <a:ext cx="82296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indent="-342900">
              <a:spcBef>
                <a:spcPct val="20000"/>
              </a:spcBef>
              <a:buClr>
                <a:srgbClr val="00468F"/>
              </a:buClr>
              <a:buFont typeface="Webdings" charset="0"/>
              <a:buChar char="&lt;"/>
              <a:defRPr/>
            </a:pPr>
            <a:r>
              <a:rPr lang="en-US" sz="2800" b="1">
                <a:solidFill>
                  <a:srgbClr val="00468F"/>
                </a:solidFill>
                <a:latin typeface="Arial" charset="0"/>
                <a:ea typeface="ＭＳ Ｐゴシック" charset="0"/>
              </a:rPr>
              <a:t>Is the Minimum Wage Efficient?</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28038">
                                            <p:txEl>
                                              <p:pRg st="0" end="0"/>
                                            </p:txEl>
                                          </p:spTgt>
                                        </p:tgtEl>
                                        <p:attrNameLst>
                                          <p:attrName>style.visibility</p:attrName>
                                        </p:attrNameLst>
                                      </p:cBhvr>
                                      <p:to>
                                        <p:strVal val="visible"/>
                                      </p:to>
                                    </p:set>
                                    <p:animEffect transition="in" filter="wipe(left)">
                                      <p:cBhvr>
                                        <p:cTn id="7" dur="500"/>
                                        <p:tgtEl>
                                          <p:spTgt spid="42803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28037">
                                            <p:txEl>
                                              <p:pRg st="0" end="0"/>
                                            </p:txEl>
                                          </p:spTgt>
                                        </p:tgtEl>
                                        <p:attrNameLst>
                                          <p:attrName>style.visibility</p:attrName>
                                        </p:attrNameLst>
                                      </p:cBhvr>
                                      <p:to>
                                        <p:strVal val="visible"/>
                                      </p:to>
                                    </p:set>
                                    <p:animEffect transition="in" filter="wipe(left)">
                                      <p:cBhvr>
                                        <p:cTn id="12" dur="500"/>
                                        <p:tgtEl>
                                          <p:spTgt spid="428037">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28037">
                                            <p:txEl>
                                              <p:pRg st="1" end="1"/>
                                            </p:txEl>
                                          </p:spTgt>
                                        </p:tgtEl>
                                        <p:attrNameLst>
                                          <p:attrName>style.visibility</p:attrName>
                                        </p:attrNameLst>
                                      </p:cBhvr>
                                      <p:to>
                                        <p:strVal val="visible"/>
                                      </p:to>
                                    </p:set>
                                    <p:animEffect transition="in" filter="wipe(left)">
                                      <p:cBhvr>
                                        <p:cTn id="17" dur="500"/>
                                        <p:tgtEl>
                                          <p:spTgt spid="428037">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28037">
                                            <p:txEl>
                                              <p:pRg st="2" end="2"/>
                                            </p:txEl>
                                          </p:spTgt>
                                        </p:tgtEl>
                                        <p:attrNameLst>
                                          <p:attrName>style.visibility</p:attrName>
                                        </p:attrNameLst>
                                      </p:cBhvr>
                                      <p:to>
                                        <p:strVal val="visible"/>
                                      </p:to>
                                    </p:set>
                                    <p:animEffect transition="in" filter="wipe(left)">
                                      <p:cBhvr>
                                        <p:cTn id="22" dur="500"/>
                                        <p:tgtEl>
                                          <p:spTgt spid="42803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8037" grpId="0" build="p" bldLvl="5" autoUpdateAnimBg="0"/>
      <p:bldP spid="428038" grpId="0" build="p" bldLvl="5" autoUpdateAnimBg="0" advAuto="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514" name="Rectangle 14">
            <a:extLst>
              <a:ext uri="{FF2B5EF4-FFF2-40B4-BE49-F238E27FC236}">
                <a16:creationId xmlns:a16="http://schemas.microsoft.com/office/drawing/2014/main" id="{181C7ED9-FECA-B8D3-8638-C9FB4EBD5F81}"/>
              </a:ext>
            </a:extLst>
          </p:cNvPr>
          <p:cNvSpPr>
            <a:spLocks noGrp="1" noChangeArrowheads="1"/>
          </p:cNvSpPr>
          <p:nvPr>
            <p:ph type="title"/>
          </p:nvPr>
        </p:nvSpPr>
        <p:spPr>
          <a:xfrm>
            <a:off x="381000" y="990600"/>
            <a:ext cx="8229600" cy="533400"/>
          </a:xfrm>
        </p:spPr>
        <p:txBody>
          <a:bodyPr/>
          <a:lstStyle/>
          <a:p>
            <a:pPr eaLnBrk="1" hangingPunct="1">
              <a:defRPr/>
            </a:pPr>
            <a:r>
              <a:rPr lang="en-US"/>
              <a:t>7.2  PRICE FLOORS</a:t>
            </a:r>
            <a:endParaRPr lang="en-CA"/>
          </a:p>
        </p:txBody>
      </p:sp>
      <p:sp>
        <p:nvSpPr>
          <p:cNvPr id="64515" name="Rectangle 15">
            <a:extLst>
              <a:ext uri="{FF2B5EF4-FFF2-40B4-BE49-F238E27FC236}">
                <a16:creationId xmlns:a16="http://schemas.microsoft.com/office/drawing/2014/main" id="{B80DD952-4E73-A76D-274C-554F73DC3D67}"/>
              </a:ext>
            </a:extLst>
          </p:cNvPr>
          <p:cNvSpPr>
            <a:spLocks noGrp="1" noChangeArrowheads="1"/>
          </p:cNvSpPr>
          <p:nvPr>
            <p:ph type="body" idx="1"/>
          </p:nvPr>
        </p:nvSpPr>
        <p:spPr>
          <a:xfrm>
            <a:off x="152400" y="1981200"/>
            <a:ext cx="4191000" cy="990600"/>
          </a:xfrm>
        </p:spPr>
        <p:txBody>
          <a:bodyPr/>
          <a:lstStyle/>
          <a:p>
            <a:pPr marL="114300" lvl="1" eaLnBrk="1" hangingPunct="1">
              <a:defRPr/>
            </a:pPr>
            <a:r>
              <a:rPr lang="en-US"/>
              <a:t>Figure 7.8(a) shows an efficient labor market.</a:t>
            </a:r>
            <a:endParaRPr lang="en-CA"/>
          </a:p>
        </p:txBody>
      </p:sp>
      <p:sp>
        <p:nvSpPr>
          <p:cNvPr id="476176" name="Rectangle 16">
            <a:extLst>
              <a:ext uri="{FF2B5EF4-FFF2-40B4-BE49-F238E27FC236}">
                <a16:creationId xmlns:a16="http://schemas.microsoft.com/office/drawing/2014/main" id="{0FF3890C-0DDC-2939-1194-B5F7F810ABEE}"/>
              </a:ext>
            </a:extLst>
          </p:cNvPr>
          <p:cNvSpPr>
            <a:spLocks noChangeArrowheads="1"/>
          </p:cNvSpPr>
          <p:nvPr/>
        </p:nvSpPr>
        <p:spPr bwMode="auto">
          <a:xfrm>
            <a:off x="152400" y="2971800"/>
            <a:ext cx="4191000" cy="1676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98463" lvl="1" indent="-284163">
              <a:lnSpc>
                <a:spcPct val="105000"/>
              </a:lnSpc>
              <a:spcBef>
                <a:spcPct val="50000"/>
              </a:spcBef>
              <a:defRPr/>
            </a:pPr>
            <a:r>
              <a:rPr lang="en-US" b="1">
                <a:latin typeface="Arial" charset="0"/>
                <a:ea typeface="ＭＳ Ｐゴシック" charset="0"/>
              </a:rPr>
              <a:t>1.</a:t>
            </a:r>
            <a:r>
              <a:rPr lang="en-US">
                <a:latin typeface="Arial" charset="0"/>
                <a:ea typeface="ＭＳ Ｐゴシック" charset="0"/>
              </a:rPr>
              <a:t> At the market equilibrium, the marginal benefit of labor to firms equals the marginal cost of working.</a:t>
            </a:r>
            <a:endParaRPr lang="en-CA">
              <a:latin typeface="Arial" charset="0"/>
              <a:ea typeface="ＭＳ Ｐゴシック" charset="0"/>
            </a:endParaRPr>
          </a:p>
        </p:txBody>
      </p:sp>
      <p:sp>
        <p:nvSpPr>
          <p:cNvPr id="476177" name="Rectangle 17">
            <a:extLst>
              <a:ext uri="{FF2B5EF4-FFF2-40B4-BE49-F238E27FC236}">
                <a16:creationId xmlns:a16="http://schemas.microsoft.com/office/drawing/2014/main" id="{E0D8F4D4-BE36-3FD4-B335-413106A216E1}"/>
              </a:ext>
            </a:extLst>
          </p:cNvPr>
          <p:cNvSpPr>
            <a:spLocks noChangeArrowheads="1"/>
          </p:cNvSpPr>
          <p:nvPr/>
        </p:nvSpPr>
        <p:spPr bwMode="auto">
          <a:xfrm>
            <a:off x="152400" y="4876800"/>
            <a:ext cx="4191000" cy="1524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eaLnBrk="0" hangingPunct="0">
              <a:defRPr sz="2400">
                <a:solidFill>
                  <a:schemeClr val="tx1"/>
                </a:solidFill>
                <a:latin typeface="Arial" panose="020B0604020202020204" pitchFamily="34" charset="0"/>
                <a:ea typeface="ＭＳ Ｐゴシック" panose="020B0600070205080204" pitchFamily="34" charset="-128"/>
              </a:defRPr>
            </a:lvl1pPr>
            <a:lvl2pPr marL="463550" indent="-3492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lvl="1" eaLnBrk="1" hangingPunct="1">
              <a:lnSpc>
                <a:spcPct val="105000"/>
              </a:lnSpc>
              <a:spcBef>
                <a:spcPct val="50000"/>
              </a:spcBef>
            </a:pPr>
            <a:r>
              <a:rPr lang="en-US" altLang="en-TW" b="1"/>
              <a:t>2.</a:t>
            </a:r>
            <a:r>
              <a:rPr lang="en-US" altLang="en-TW"/>
              <a:t> The sum of the firms</a:t>
            </a:r>
            <a:r>
              <a:rPr lang="en-US" altLang="en-US"/>
              <a:t>’</a:t>
            </a:r>
            <a:r>
              <a:rPr lang="en-US" altLang="en-TW"/>
              <a:t> and workers</a:t>
            </a:r>
            <a:r>
              <a:rPr lang="en-US" altLang="en-US"/>
              <a:t>’</a:t>
            </a:r>
            <a:r>
              <a:rPr lang="en-US" altLang="en-TW"/>
              <a:t> surpluses is as large as possible.</a:t>
            </a:r>
            <a:endParaRPr lang="en-CA" altLang="en-TW"/>
          </a:p>
        </p:txBody>
      </p:sp>
      <p:pic>
        <p:nvPicPr>
          <p:cNvPr id="84997" name="Picture 5" descr="fig0708aa.gif">
            <a:extLst>
              <a:ext uri="{FF2B5EF4-FFF2-40B4-BE49-F238E27FC236}">
                <a16:creationId xmlns:a16="http://schemas.microsoft.com/office/drawing/2014/main" id="{FA620DF5-1F0C-5A93-9561-1DE9FF54814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676400"/>
            <a:ext cx="4497388" cy="470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descr="fig0708ab.gif">
            <a:extLst>
              <a:ext uri="{FF2B5EF4-FFF2-40B4-BE49-F238E27FC236}">
                <a16:creationId xmlns:a16="http://schemas.microsoft.com/office/drawing/2014/main" id="{9788F615-818D-CC97-401A-13D16446900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1676400"/>
            <a:ext cx="4497388" cy="470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descr="fig0708ac.gif">
            <a:extLst>
              <a:ext uri="{FF2B5EF4-FFF2-40B4-BE49-F238E27FC236}">
                <a16:creationId xmlns:a16="http://schemas.microsoft.com/office/drawing/2014/main" id="{A8213125-6C6A-EFB7-3E79-15C793D4AA6F}"/>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1676400"/>
            <a:ext cx="4497388" cy="470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descr="fig0708ad.gif">
            <a:extLst>
              <a:ext uri="{FF2B5EF4-FFF2-40B4-BE49-F238E27FC236}">
                <a16:creationId xmlns:a16="http://schemas.microsoft.com/office/drawing/2014/main" id="{F5853653-7723-B198-3CEE-32298145C01B}"/>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572000" y="1676400"/>
            <a:ext cx="4497388" cy="470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6176"/>
                                        </p:tgtEl>
                                        <p:attrNameLst>
                                          <p:attrName>style.visibility</p:attrName>
                                        </p:attrNameLst>
                                      </p:cBhvr>
                                      <p:to>
                                        <p:strVal val="visible"/>
                                      </p:to>
                                    </p:set>
                                    <p:animEffect transition="in" filter="wipe(left)">
                                      <p:cBhvr>
                                        <p:cTn id="7" dur="500"/>
                                        <p:tgtEl>
                                          <p:spTgt spid="476176"/>
                                        </p:tgtEl>
                                      </p:cBhvr>
                                    </p:animEffect>
                                  </p:childTnLst>
                                </p:cTn>
                              </p:par>
                            </p:childTnLst>
                          </p:cTn>
                        </p:par>
                        <p:par>
                          <p:cTn id="8" fill="hold" nodeType="afterGroup">
                            <p:stCondLst>
                              <p:cond delay="500"/>
                            </p:stCondLst>
                            <p:childTnLst>
                              <p:par>
                                <p:cTn id="9" presetID="10"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476177"/>
                                        </p:tgtEl>
                                        <p:attrNameLst>
                                          <p:attrName>style.visibility</p:attrName>
                                        </p:attrNameLst>
                                      </p:cBhvr>
                                      <p:to>
                                        <p:strVal val="visible"/>
                                      </p:to>
                                    </p:set>
                                    <p:animEffect transition="in" filter="wipe(left)">
                                      <p:cBhvr>
                                        <p:cTn id="16" dur="500"/>
                                        <p:tgtEl>
                                          <p:spTgt spid="476177"/>
                                        </p:tgtEl>
                                      </p:cBhvr>
                                    </p:animEffect>
                                  </p:childTnLst>
                                </p:cTn>
                              </p:par>
                            </p:childTnLst>
                          </p:cTn>
                        </p:par>
                        <p:par>
                          <p:cTn id="17" fill="hold" nodeType="afterGroup">
                            <p:stCondLst>
                              <p:cond delay="500"/>
                            </p:stCondLst>
                            <p:childTnLst>
                              <p:par>
                                <p:cTn id="18" presetID="10" presetClass="entr" presetSubtype="0" fill="hold"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par>
                          <p:cTn id="21" fill="hold" nodeType="afterGroup">
                            <p:stCondLst>
                              <p:cond delay="1000"/>
                            </p:stCondLst>
                            <p:childTnLst>
                              <p:par>
                                <p:cTn id="22" presetID="10" presetClass="entr" presetSubtype="0" fill="hold"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6176" grpId="0" autoUpdateAnimBg="0"/>
      <p:bldP spid="476177"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87041" name="Picture 7" descr="fig0708aa.gif">
            <a:extLst>
              <a:ext uri="{FF2B5EF4-FFF2-40B4-BE49-F238E27FC236}">
                <a16:creationId xmlns:a16="http://schemas.microsoft.com/office/drawing/2014/main" id="{8BCE9895-05C0-7488-C380-C3350FCB604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52400"/>
            <a:ext cx="5953125" cy="622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descr="fig0708ab.gif">
            <a:extLst>
              <a:ext uri="{FF2B5EF4-FFF2-40B4-BE49-F238E27FC236}">
                <a16:creationId xmlns:a16="http://schemas.microsoft.com/office/drawing/2014/main" id="{46867FE3-04E3-020A-A9D4-9BAB3203405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152400"/>
            <a:ext cx="5953125" cy="622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fig0708ac.gif">
            <a:extLst>
              <a:ext uri="{FF2B5EF4-FFF2-40B4-BE49-F238E27FC236}">
                <a16:creationId xmlns:a16="http://schemas.microsoft.com/office/drawing/2014/main" id="{6AF6A8B2-2068-FB06-A2DB-2601BA26883D}"/>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600200" y="152400"/>
            <a:ext cx="5953125" cy="622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descr="fig0708ad.gif">
            <a:extLst>
              <a:ext uri="{FF2B5EF4-FFF2-40B4-BE49-F238E27FC236}">
                <a16:creationId xmlns:a16="http://schemas.microsoft.com/office/drawing/2014/main" id="{FA4C307F-869D-EE29-BFDF-4ED704745F01}"/>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600200" y="152400"/>
            <a:ext cx="5953125" cy="622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562" name="Rectangle 13">
            <a:extLst>
              <a:ext uri="{FF2B5EF4-FFF2-40B4-BE49-F238E27FC236}">
                <a16:creationId xmlns:a16="http://schemas.microsoft.com/office/drawing/2014/main" id="{F2DCDC26-4AC2-CC92-E60B-2B877AAE49EF}"/>
              </a:ext>
            </a:extLst>
          </p:cNvPr>
          <p:cNvSpPr>
            <a:spLocks noGrp="1" noChangeArrowheads="1"/>
          </p:cNvSpPr>
          <p:nvPr>
            <p:ph type="title"/>
          </p:nvPr>
        </p:nvSpPr>
        <p:spPr>
          <a:xfrm>
            <a:off x="381000" y="990600"/>
            <a:ext cx="8229600" cy="533400"/>
          </a:xfrm>
        </p:spPr>
        <p:txBody>
          <a:bodyPr/>
          <a:lstStyle/>
          <a:p>
            <a:pPr eaLnBrk="1" hangingPunct="1">
              <a:defRPr/>
            </a:pPr>
            <a:r>
              <a:rPr lang="en-US"/>
              <a:t>7.2  PRICE FLOORS</a:t>
            </a:r>
            <a:endParaRPr lang="en-CA"/>
          </a:p>
        </p:txBody>
      </p:sp>
      <p:sp>
        <p:nvSpPr>
          <p:cNvPr id="66563" name="Rectangle 14">
            <a:extLst>
              <a:ext uri="{FF2B5EF4-FFF2-40B4-BE49-F238E27FC236}">
                <a16:creationId xmlns:a16="http://schemas.microsoft.com/office/drawing/2014/main" id="{304E4D9E-15AA-3713-0276-B05377899BC5}"/>
              </a:ext>
            </a:extLst>
          </p:cNvPr>
          <p:cNvSpPr>
            <a:spLocks noGrp="1" noChangeArrowheads="1"/>
          </p:cNvSpPr>
          <p:nvPr>
            <p:ph type="body" idx="1"/>
          </p:nvPr>
        </p:nvSpPr>
        <p:spPr>
          <a:xfrm>
            <a:off x="152400" y="1905000"/>
            <a:ext cx="4191000" cy="1524000"/>
          </a:xfrm>
        </p:spPr>
        <p:txBody>
          <a:bodyPr/>
          <a:lstStyle/>
          <a:p>
            <a:pPr marL="114300" lvl="1" eaLnBrk="1" hangingPunct="1">
              <a:defRPr/>
            </a:pPr>
            <a:r>
              <a:rPr lang="en-US"/>
              <a:t>Figure 7.8(b) shows an inefficient labor market with a minimum wage.</a:t>
            </a:r>
            <a:endParaRPr lang="en-CA" sz="2000" b="1"/>
          </a:p>
        </p:txBody>
      </p:sp>
      <p:sp>
        <p:nvSpPr>
          <p:cNvPr id="534544" name="Rectangle 16">
            <a:extLst>
              <a:ext uri="{FF2B5EF4-FFF2-40B4-BE49-F238E27FC236}">
                <a16:creationId xmlns:a16="http://schemas.microsoft.com/office/drawing/2014/main" id="{9AF741D4-E33A-EA03-B1F0-6D55D81FE45A}"/>
              </a:ext>
            </a:extLst>
          </p:cNvPr>
          <p:cNvSpPr>
            <a:spLocks noChangeArrowheads="1"/>
          </p:cNvSpPr>
          <p:nvPr/>
        </p:nvSpPr>
        <p:spPr bwMode="auto">
          <a:xfrm>
            <a:off x="0" y="3276600"/>
            <a:ext cx="4343400" cy="990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6075" lvl="1" indent="-231775">
              <a:lnSpc>
                <a:spcPct val="105000"/>
              </a:lnSpc>
              <a:spcBef>
                <a:spcPct val="50000"/>
              </a:spcBef>
              <a:defRPr/>
            </a:pPr>
            <a:r>
              <a:rPr lang="en-US" b="1">
                <a:latin typeface="Arial" charset="0"/>
                <a:ea typeface="ＭＳ Ｐゴシック" charset="0"/>
              </a:rPr>
              <a:t> </a:t>
            </a:r>
            <a:r>
              <a:rPr lang="en-US">
                <a:latin typeface="Arial" charset="0"/>
                <a:ea typeface="ＭＳ Ｐゴシック" charset="0"/>
              </a:rPr>
              <a:t> The minimum wage restricts the quantity demanded.</a:t>
            </a:r>
            <a:endParaRPr lang="en-CA" sz="2000" b="1">
              <a:latin typeface="Arial" charset="0"/>
              <a:ea typeface="ＭＳ Ｐゴシック" charset="0"/>
            </a:endParaRPr>
          </a:p>
        </p:txBody>
      </p:sp>
      <p:sp>
        <p:nvSpPr>
          <p:cNvPr id="534545" name="Rectangle 17">
            <a:extLst>
              <a:ext uri="{FF2B5EF4-FFF2-40B4-BE49-F238E27FC236}">
                <a16:creationId xmlns:a16="http://schemas.microsoft.com/office/drawing/2014/main" id="{90FB621A-5CDD-0FB4-BB42-636D00D56637}"/>
              </a:ext>
            </a:extLst>
          </p:cNvPr>
          <p:cNvSpPr>
            <a:spLocks noChangeArrowheads="1"/>
          </p:cNvSpPr>
          <p:nvPr/>
        </p:nvSpPr>
        <p:spPr bwMode="auto">
          <a:xfrm>
            <a:off x="152400" y="4267200"/>
            <a:ext cx="4191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eaLnBrk="0" hangingPunct="0">
              <a:defRPr sz="2400">
                <a:solidFill>
                  <a:schemeClr val="tx1"/>
                </a:solidFill>
                <a:latin typeface="Arial" panose="020B0604020202020204" pitchFamily="34" charset="0"/>
                <a:ea typeface="ＭＳ Ｐゴシック" panose="020B0600070205080204" pitchFamily="34" charset="-128"/>
              </a:defRPr>
            </a:lvl1pPr>
            <a:lvl2pPr marL="346075" indent="-231775"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lvl="1" eaLnBrk="1" hangingPunct="1">
              <a:lnSpc>
                <a:spcPct val="105000"/>
              </a:lnSpc>
              <a:spcBef>
                <a:spcPct val="50000"/>
              </a:spcBef>
            </a:pPr>
            <a:r>
              <a:rPr lang="en-US" altLang="en-TW" b="1"/>
              <a:t>1.</a:t>
            </a:r>
            <a:r>
              <a:rPr lang="en-US" altLang="en-TW"/>
              <a:t> The firms</a:t>
            </a:r>
            <a:r>
              <a:rPr lang="en-US" altLang="en-US"/>
              <a:t>’</a:t>
            </a:r>
            <a:r>
              <a:rPr lang="en-US" altLang="en-TW"/>
              <a:t> surplus shrinks.</a:t>
            </a:r>
            <a:endParaRPr lang="en-CA" altLang="en-TW" sz="2000" b="1"/>
          </a:p>
        </p:txBody>
      </p:sp>
      <p:sp>
        <p:nvSpPr>
          <p:cNvPr id="534554" name="Rectangle 26">
            <a:extLst>
              <a:ext uri="{FF2B5EF4-FFF2-40B4-BE49-F238E27FC236}">
                <a16:creationId xmlns:a16="http://schemas.microsoft.com/office/drawing/2014/main" id="{9E83E1AD-ABF0-0DDD-E159-76637A912A88}"/>
              </a:ext>
            </a:extLst>
          </p:cNvPr>
          <p:cNvSpPr>
            <a:spLocks noChangeArrowheads="1"/>
          </p:cNvSpPr>
          <p:nvPr/>
        </p:nvSpPr>
        <p:spPr bwMode="auto">
          <a:xfrm>
            <a:off x="152400" y="4953000"/>
            <a:ext cx="4343400" cy="990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eaLnBrk="0" hangingPunct="0">
              <a:defRPr sz="2400">
                <a:solidFill>
                  <a:schemeClr val="tx1"/>
                </a:solidFill>
                <a:latin typeface="Arial" panose="020B0604020202020204" pitchFamily="34" charset="0"/>
                <a:ea typeface="ＭＳ Ｐゴシック" panose="020B0600070205080204" pitchFamily="34" charset="-128"/>
              </a:defRPr>
            </a:lvl1pPr>
            <a:lvl2pPr marL="463550" indent="-3492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lvl="1" eaLnBrk="1" hangingPunct="1">
              <a:lnSpc>
                <a:spcPct val="105000"/>
              </a:lnSpc>
              <a:spcBef>
                <a:spcPct val="50000"/>
              </a:spcBef>
            </a:pPr>
            <a:r>
              <a:rPr lang="en-US" altLang="en-TW" b="1"/>
              <a:t>2.</a:t>
            </a:r>
            <a:r>
              <a:rPr lang="en-US" altLang="en-TW"/>
              <a:t> The workers</a:t>
            </a:r>
            <a:r>
              <a:rPr lang="en-US" altLang="en-US"/>
              <a:t>’</a:t>
            </a:r>
            <a:r>
              <a:rPr lang="en-US" altLang="en-TW"/>
              <a:t> surplus shrinks.</a:t>
            </a:r>
            <a:endParaRPr lang="en-CA" altLang="en-TW" sz="2000" b="1"/>
          </a:p>
        </p:txBody>
      </p:sp>
      <p:pic>
        <p:nvPicPr>
          <p:cNvPr id="89094" name="Picture 9" descr="fig0708ba.gif">
            <a:extLst>
              <a:ext uri="{FF2B5EF4-FFF2-40B4-BE49-F238E27FC236}">
                <a16:creationId xmlns:a16="http://schemas.microsoft.com/office/drawing/2014/main" id="{DB38C6A7-33D7-2970-58A7-3659BC677FA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676400"/>
            <a:ext cx="4497388" cy="470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descr="fig0708bb.gif">
            <a:extLst>
              <a:ext uri="{FF2B5EF4-FFF2-40B4-BE49-F238E27FC236}">
                <a16:creationId xmlns:a16="http://schemas.microsoft.com/office/drawing/2014/main" id="{F29FD6A6-99AD-ACBD-04AB-C5D38EC6B20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1676400"/>
            <a:ext cx="4497388" cy="470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1" descr="fig0708bc.gif">
            <a:extLst>
              <a:ext uri="{FF2B5EF4-FFF2-40B4-BE49-F238E27FC236}">
                <a16:creationId xmlns:a16="http://schemas.microsoft.com/office/drawing/2014/main" id="{BB38051B-6E7A-7D00-5FAA-C0C930341B14}"/>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1676400"/>
            <a:ext cx="4497388" cy="470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descr="fig0708bd.gif">
            <a:extLst>
              <a:ext uri="{FF2B5EF4-FFF2-40B4-BE49-F238E27FC236}">
                <a16:creationId xmlns:a16="http://schemas.microsoft.com/office/drawing/2014/main" id="{E4C80803-D3C7-D8EF-3B9F-8C9BAFA37BF5}"/>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572000" y="1676400"/>
            <a:ext cx="4497388" cy="470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3" descr="fig0708be.gif">
            <a:extLst>
              <a:ext uri="{FF2B5EF4-FFF2-40B4-BE49-F238E27FC236}">
                <a16:creationId xmlns:a16="http://schemas.microsoft.com/office/drawing/2014/main" id="{3A71CE1C-1E68-624C-705A-EF041B8E0C71}"/>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572000" y="1676400"/>
            <a:ext cx="4497388" cy="470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34544"/>
                                        </p:tgtEl>
                                        <p:attrNameLst>
                                          <p:attrName>style.visibility</p:attrName>
                                        </p:attrNameLst>
                                      </p:cBhvr>
                                      <p:to>
                                        <p:strVal val="visible"/>
                                      </p:to>
                                    </p:set>
                                    <p:animEffect transition="in" filter="wipe(left)">
                                      <p:cBhvr>
                                        <p:cTn id="12" dur="500"/>
                                        <p:tgtEl>
                                          <p:spTgt spid="534544"/>
                                        </p:tgtEl>
                                      </p:cBhvr>
                                    </p:animEffect>
                                  </p:childTnLst>
                                </p:cTn>
                              </p:par>
                            </p:childTnLst>
                          </p:cTn>
                        </p:par>
                        <p:par>
                          <p:cTn id="13" fill="hold" nodeType="afterGroup">
                            <p:stCondLst>
                              <p:cond delay="500"/>
                            </p:stCondLst>
                            <p:childTnLst>
                              <p:par>
                                <p:cTn id="14" presetID="10" presetClass="entr" presetSubtype="0" fill="hold" nodeType="after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34545"/>
                                        </p:tgtEl>
                                        <p:attrNameLst>
                                          <p:attrName>style.visibility</p:attrName>
                                        </p:attrNameLst>
                                      </p:cBhvr>
                                      <p:to>
                                        <p:strVal val="visible"/>
                                      </p:to>
                                    </p:set>
                                    <p:animEffect transition="in" filter="wipe(left)">
                                      <p:cBhvr>
                                        <p:cTn id="21" dur="500"/>
                                        <p:tgtEl>
                                          <p:spTgt spid="534545"/>
                                        </p:tgtEl>
                                      </p:cBhvr>
                                    </p:animEffect>
                                  </p:childTnLst>
                                </p:cTn>
                              </p:par>
                            </p:childTnLst>
                          </p:cTn>
                        </p:par>
                        <p:par>
                          <p:cTn id="22" fill="hold" nodeType="afterGroup">
                            <p:stCondLst>
                              <p:cond delay="500"/>
                            </p:stCondLst>
                            <p:childTnLst>
                              <p:par>
                                <p:cTn id="23" presetID="10" presetClass="entr" presetSubtype="0" fill="hold"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534554"/>
                                        </p:tgtEl>
                                        <p:attrNameLst>
                                          <p:attrName>style.visibility</p:attrName>
                                        </p:attrNameLst>
                                      </p:cBhvr>
                                      <p:to>
                                        <p:strVal val="visible"/>
                                      </p:to>
                                    </p:set>
                                    <p:animEffect transition="in" filter="wipe(left)">
                                      <p:cBhvr>
                                        <p:cTn id="30" dur="500"/>
                                        <p:tgtEl>
                                          <p:spTgt spid="534554"/>
                                        </p:tgtEl>
                                      </p:cBhvr>
                                    </p:animEffect>
                                  </p:childTnLst>
                                </p:cTn>
                              </p:par>
                            </p:childTnLst>
                          </p:cTn>
                        </p:par>
                        <p:par>
                          <p:cTn id="31" fill="hold" nodeType="afterGroup">
                            <p:stCondLst>
                              <p:cond delay="500"/>
                            </p:stCondLst>
                            <p:childTnLst>
                              <p:par>
                                <p:cTn id="32" presetID="10"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4544" grpId="0" autoUpdateAnimBg="0"/>
      <p:bldP spid="534545" grpId="0" autoUpdateAnimBg="0"/>
      <p:bldP spid="534554"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1137" name="Picture 12" descr="fig0708ba.gif">
            <a:extLst>
              <a:ext uri="{FF2B5EF4-FFF2-40B4-BE49-F238E27FC236}">
                <a16:creationId xmlns:a16="http://schemas.microsoft.com/office/drawing/2014/main" id="{0820AC3C-9A86-5F38-9CFD-7BAB607B13D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247650"/>
            <a:ext cx="5953125" cy="622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3" descr="fig0708bb.gif">
            <a:extLst>
              <a:ext uri="{FF2B5EF4-FFF2-40B4-BE49-F238E27FC236}">
                <a16:creationId xmlns:a16="http://schemas.microsoft.com/office/drawing/2014/main" id="{1E91C8EF-3215-F038-DC9F-46680101B4B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247650"/>
            <a:ext cx="5953125" cy="622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4" descr="fig0708bc.gif">
            <a:extLst>
              <a:ext uri="{FF2B5EF4-FFF2-40B4-BE49-F238E27FC236}">
                <a16:creationId xmlns:a16="http://schemas.microsoft.com/office/drawing/2014/main" id="{A528B095-F4FF-6564-6A25-80E7827BE833}"/>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600200" y="247650"/>
            <a:ext cx="5953125" cy="622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5" descr="fig0708bd.gif">
            <a:extLst>
              <a:ext uri="{FF2B5EF4-FFF2-40B4-BE49-F238E27FC236}">
                <a16:creationId xmlns:a16="http://schemas.microsoft.com/office/drawing/2014/main" id="{DEA9442D-E9B0-66C5-7E6A-234C66DBFFEC}"/>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600200" y="247650"/>
            <a:ext cx="5953125" cy="622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6" descr="fig0708be.gif">
            <a:extLst>
              <a:ext uri="{FF2B5EF4-FFF2-40B4-BE49-F238E27FC236}">
                <a16:creationId xmlns:a16="http://schemas.microsoft.com/office/drawing/2014/main" id="{C4981749-24A9-48C6-51FE-2C462AFA2705}"/>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600200" y="247650"/>
            <a:ext cx="5953125" cy="622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7" descr="fig0708bf.gif">
            <a:extLst>
              <a:ext uri="{FF2B5EF4-FFF2-40B4-BE49-F238E27FC236}">
                <a16:creationId xmlns:a16="http://schemas.microsoft.com/office/drawing/2014/main" id="{D37388C1-FF38-7216-EE29-15FD10AD43E8}"/>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1600200" y="247650"/>
            <a:ext cx="5953125" cy="622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18" descr="fig0708bg.gif">
            <a:extLst>
              <a:ext uri="{FF2B5EF4-FFF2-40B4-BE49-F238E27FC236}">
                <a16:creationId xmlns:a16="http://schemas.microsoft.com/office/drawing/2014/main" id="{B4E2D619-8185-527F-7714-39F094AEE3C1}"/>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1600200" y="247650"/>
            <a:ext cx="5953125" cy="622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par>
                          <p:cTn id="8" fill="hold" nodeType="afterGroup">
                            <p:stCondLst>
                              <p:cond delay="500"/>
                            </p:stCondLst>
                            <p:childTnLst>
                              <p:par>
                                <p:cTn id="9" presetID="10" presetClass="entr" presetSubtype="0"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0" presetClass="entr" presetSubtype="0" fill="hold" nodeType="click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0" presetClass="entr" presetSubtype="0" fill="hold"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0" presetClass="entr" presetSubtype="0" fill="hold"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0" name="Rectangle 11">
            <a:extLst>
              <a:ext uri="{FF2B5EF4-FFF2-40B4-BE49-F238E27FC236}">
                <a16:creationId xmlns:a16="http://schemas.microsoft.com/office/drawing/2014/main" id="{96F7E017-FFC9-56E9-455A-6FAA8F15A3B4}"/>
              </a:ext>
            </a:extLst>
          </p:cNvPr>
          <p:cNvSpPr>
            <a:spLocks noGrp="1" noChangeArrowheads="1"/>
          </p:cNvSpPr>
          <p:nvPr>
            <p:ph type="title"/>
          </p:nvPr>
        </p:nvSpPr>
        <p:spPr>
          <a:xfrm>
            <a:off x="381000" y="990600"/>
            <a:ext cx="8229600" cy="533400"/>
          </a:xfrm>
        </p:spPr>
        <p:txBody>
          <a:bodyPr/>
          <a:lstStyle/>
          <a:p>
            <a:pPr eaLnBrk="1" hangingPunct="1">
              <a:defRPr/>
            </a:pPr>
            <a:r>
              <a:rPr lang="en-US"/>
              <a:t>7.2  PRICE FLOORS</a:t>
            </a:r>
            <a:endParaRPr lang="en-CA"/>
          </a:p>
        </p:txBody>
      </p:sp>
      <p:sp>
        <p:nvSpPr>
          <p:cNvPr id="537612" name="Rectangle 12">
            <a:extLst>
              <a:ext uri="{FF2B5EF4-FFF2-40B4-BE49-F238E27FC236}">
                <a16:creationId xmlns:a16="http://schemas.microsoft.com/office/drawing/2014/main" id="{BF18EDD3-4D31-6206-353F-63998A082A92}"/>
              </a:ext>
            </a:extLst>
          </p:cNvPr>
          <p:cNvSpPr>
            <a:spLocks noGrp="1" noChangeArrowheads="1"/>
          </p:cNvSpPr>
          <p:nvPr>
            <p:ph type="body" idx="1"/>
          </p:nvPr>
        </p:nvSpPr>
        <p:spPr>
          <a:xfrm>
            <a:off x="152400" y="1905000"/>
            <a:ext cx="4191000" cy="762000"/>
          </a:xfrm>
        </p:spPr>
        <p:txBody>
          <a:bodyPr/>
          <a:lstStyle/>
          <a:p>
            <a:pPr marL="114300" lvl="1" eaLnBrk="1" hangingPunct="1">
              <a:defRPr/>
            </a:pPr>
            <a:r>
              <a:rPr lang="en-US" b="1"/>
              <a:t>3.</a:t>
            </a:r>
            <a:r>
              <a:rPr lang="en-US"/>
              <a:t> A deadweight loss arises.</a:t>
            </a:r>
            <a:endParaRPr lang="en-CA" sz="2000" b="1"/>
          </a:p>
        </p:txBody>
      </p:sp>
      <p:sp>
        <p:nvSpPr>
          <p:cNvPr id="537613" name="Rectangle 13">
            <a:extLst>
              <a:ext uri="{FF2B5EF4-FFF2-40B4-BE49-F238E27FC236}">
                <a16:creationId xmlns:a16="http://schemas.microsoft.com/office/drawing/2014/main" id="{BD99D3CF-23D0-0417-64B9-61E9F518EAAF}"/>
              </a:ext>
            </a:extLst>
          </p:cNvPr>
          <p:cNvSpPr>
            <a:spLocks noChangeArrowheads="1"/>
          </p:cNvSpPr>
          <p:nvPr/>
        </p:nvSpPr>
        <p:spPr bwMode="auto">
          <a:xfrm>
            <a:off x="152400" y="2819400"/>
            <a:ext cx="4191000" cy="914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404813" lvl="1" indent="-290513">
              <a:lnSpc>
                <a:spcPct val="105000"/>
              </a:lnSpc>
              <a:spcBef>
                <a:spcPct val="50000"/>
              </a:spcBef>
              <a:defRPr/>
            </a:pPr>
            <a:r>
              <a:rPr lang="en-US" b="1">
                <a:latin typeface="Arial" charset="0"/>
                <a:ea typeface="ＭＳ Ｐゴシック" charset="0"/>
              </a:rPr>
              <a:t>4</a:t>
            </a:r>
            <a:r>
              <a:rPr lang="en-US">
                <a:latin typeface="Arial" charset="0"/>
                <a:ea typeface="ＭＳ Ｐゴシック" charset="0"/>
              </a:rPr>
              <a:t>. Other resources are used up in job-search activity.</a:t>
            </a:r>
            <a:endParaRPr lang="en-CA" sz="2000" b="1">
              <a:latin typeface="Arial" charset="0"/>
              <a:ea typeface="ＭＳ Ｐゴシック" charset="0"/>
            </a:endParaRPr>
          </a:p>
        </p:txBody>
      </p:sp>
      <p:sp>
        <p:nvSpPr>
          <p:cNvPr id="537615" name="Rectangle 15">
            <a:extLst>
              <a:ext uri="{FF2B5EF4-FFF2-40B4-BE49-F238E27FC236}">
                <a16:creationId xmlns:a16="http://schemas.microsoft.com/office/drawing/2014/main" id="{BAF0041B-1B7B-802D-AB14-FC37A50DE309}"/>
              </a:ext>
            </a:extLst>
          </p:cNvPr>
          <p:cNvSpPr>
            <a:spLocks noChangeArrowheads="1"/>
          </p:cNvSpPr>
          <p:nvPr/>
        </p:nvSpPr>
        <p:spPr bwMode="auto">
          <a:xfrm>
            <a:off x="152400" y="4038600"/>
            <a:ext cx="4191000" cy="609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114300" lvl="1">
              <a:lnSpc>
                <a:spcPct val="105000"/>
              </a:lnSpc>
              <a:spcBef>
                <a:spcPct val="50000"/>
              </a:spcBef>
              <a:defRPr/>
            </a:pPr>
            <a:r>
              <a:rPr lang="en-US">
                <a:latin typeface="Arial" charset="0"/>
                <a:ea typeface="ＭＳ Ｐゴシック" charset="0"/>
              </a:rPr>
              <a:t>The outcome is inefficient.</a:t>
            </a:r>
            <a:endParaRPr lang="en-CA" sz="2000" b="1">
              <a:latin typeface="Arial" charset="0"/>
              <a:ea typeface="ＭＳ Ｐゴシック" charset="0"/>
            </a:endParaRPr>
          </a:p>
        </p:txBody>
      </p:sp>
      <p:pic>
        <p:nvPicPr>
          <p:cNvPr id="93189" name="Picture 9" descr="fig0708ba.gif">
            <a:extLst>
              <a:ext uri="{FF2B5EF4-FFF2-40B4-BE49-F238E27FC236}">
                <a16:creationId xmlns:a16="http://schemas.microsoft.com/office/drawing/2014/main" id="{91CFC191-A69B-EC3F-807A-EE6B6BF2A9E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676400"/>
            <a:ext cx="4497388" cy="470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3190" name="Picture 10" descr="fig0708bb.gif">
            <a:extLst>
              <a:ext uri="{FF2B5EF4-FFF2-40B4-BE49-F238E27FC236}">
                <a16:creationId xmlns:a16="http://schemas.microsoft.com/office/drawing/2014/main" id="{7F7F674A-0FF1-6D5D-1D38-80A05396F3C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1676400"/>
            <a:ext cx="4497388" cy="470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3191" name="Picture 11" descr="fig0708bc.gif">
            <a:extLst>
              <a:ext uri="{FF2B5EF4-FFF2-40B4-BE49-F238E27FC236}">
                <a16:creationId xmlns:a16="http://schemas.microsoft.com/office/drawing/2014/main" id="{2B34CA99-EA0F-3877-F2E6-78167AC96F23}"/>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1676400"/>
            <a:ext cx="4497388" cy="470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3192" name="Picture 12" descr="fig0708bd.gif">
            <a:extLst>
              <a:ext uri="{FF2B5EF4-FFF2-40B4-BE49-F238E27FC236}">
                <a16:creationId xmlns:a16="http://schemas.microsoft.com/office/drawing/2014/main" id="{3D2A52AE-02E4-024D-690C-DEFDCEC12D5C}"/>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572000" y="1676400"/>
            <a:ext cx="4497388" cy="470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3193" name="Picture 13" descr="fig0708be.gif">
            <a:extLst>
              <a:ext uri="{FF2B5EF4-FFF2-40B4-BE49-F238E27FC236}">
                <a16:creationId xmlns:a16="http://schemas.microsoft.com/office/drawing/2014/main" id="{A44AAF40-35E2-C477-4BBF-920ADE7152FC}"/>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572000" y="1676400"/>
            <a:ext cx="4497388" cy="470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4" descr="fig0708bf.gif">
            <a:extLst>
              <a:ext uri="{FF2B5EF4-FFF2-40B4-BE49-F238E27FC236}">
                <a16:creationId xmlns:a16="http://schemas.microsoft.com/office/drawing/2014/main" id="{DE4EAA0C-BAB7-CA0C-A844-7F0CEC6C87EA}"/>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4572000" y="1676400"/>
            <a:ext cx="4497388" cy="470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5" descr="fig0708bg.gif">
            <a:extLst>
              <a:ext uri="{FF2B5EF4-FFF2-40B4-BE49-F238E27FC236}">
                <a16:creationId xmlns:a16="http://schemas.microsoft.com/office/drawing/2014/main" id="{10B71DB6-42E3-D5E9-3223-1FF4DCB9F38E}"/>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4572000" y="1676400"/>
            <a:ext cx="4497388" cy="470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37612">
                                            <p:txEl>
                                              <p:pRg st="0" end="0"/>
                                            </p:txEl>
                                          </p:spTgt>
                                        </p:tgtEl>
                                        <p:attrNameLst>
                                          <p:attrName>style.visibility</p:attrName>
                                        </p:attrNameLst>
                                      </p:cBhvr>
                                      <p:to>
                                        <p:strVal val="visible"/>
                                      </p:to>
                                    </p:set>
                                    <p:animEffect transition="in" filter="wipe(left)">
                                      <p:cBhvr>
                                        <p:cTn id="7" dur="500"/>
                                        <p:tgtEl>
                                          <p:spTgt spid="53761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37613"/>
                                        </p:tgtEl>
                                        <p:attrNameLst>
                                          <p:attrName>style.visibility</p:attrName>
                                        </p:attrNameLst>
                                      </p:cBhvr>
                                      <p:to>
                                        <p:strVal val="visible"/>
                                      </p:to>
                                    </p:set>
                                    <p:animEffect transition="in" filter="wipe(left)">
                                      <p:cBhvr>
                                        <p:cTn id="17" dur="500"/>
                                        <p:tgtEl>
                                          <p:spTgt spid="537613"/>
                                        </p:tgtEl>
                                      </p:cBhvr>
                                    </p:animEffect>
                                  </p:childTnLst>
                                </p:cTn>
                              </p:par>
                            </p:childTnLst>
                          </p:cTn>
                        </p:par>
                        <p:par>
                          <p:cTn id="18" fill="hold" nodeType="afterGroup">
                            <p:stCondLst>
                              <p:cond delay="500"/>
                            </p:stCondLst>
                            <p:childTnLst>
                              <p:par>
                                <p:cTn id="19" presetID="10" presetClass="entr" presetSubtype="0" fill="hold" nodeType="after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37615"/>
                                        </p:tgtEl>
                                        <p:attrNameLst>
                                          <p:attrName>style.visibility</p:attrName>
                                        </p:attrNameLst>
                                      </p:cBhvr>
                                      <p:to>
                                        <p:strVal val="visible"/>
                                      </p:to>
                                    </p:set>
                                    <p:animEffect transition="in" filter="wipe(left)">
                                      <p:cBhvr>
                                        <p:cTn id="26" dur="500"/>
                                        <p:tgtEl>
                                          <p:spTgt spid="5376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7612" grpId="0" build="p" bldLvl="3" autoUpdateAnimBg="0" advAuto="0"/>
      <p:bldP spid="537613" grpId="0" autoUpdateAnimBg="0"/>
      <p:bldP spid="537615"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634" name="Rectangle 4">
            <a:extLst>
              <a:ext uri="{FF2B5EF4-FFF2-40B4-BE49-F238E27FC236}">
                <a16:creationId xmlns:a16="http://schemas.microsoft.com/office/drawing/2014/main" id="{C8B75B02-BA58-C132-40FC-70A5C8643119}"/>
              </a:ext>
            </a:extLst>
          </p:cNvPr>
          <p:cNvSpPr>
            <a:spLocks noGrp="1" noChangeArrowheads="1"/>
          </p:cNvSpPr>
          <p:nvPr>
            <p:ph type="title"/>
          </p:nvPr>
        </p:nvSpPr>
        <p:spPr/>
        <p:txBody>
          <a:bodyPr/>
          <a:lstStyle/>
          <a:p>
            <a:pPr eaLnBrk="1" hangingPunct="1">
              <a:defRPr/>
            </a:pPr>
            <a:r>
              <a:rPr lang="en-US"/>
              <a:t>7.2  PRICE FLOORS</a:t>
            </a:r>
            <a:endParaRPr lang="en-CA"/>
          </a:p>
        </p:txBody>
      </p:sp>
      <p:sp>
        <p:nvSpPr>
          <p:cNvPr id="430085" name="Rectangle 5">
            <a:extLst>
              <a:ext uri="{FF2B5EF4-FFF2-40B4-BE49-F238E27FC236}">
                <a16:creationId xmlns:a16="http://schemas.microsoft.com/office/drawing/2014/main" id="{5F068635-FB0B-5BC1-FCAA-DB5A2C1D1C96}"/>
              </a:ext>
            </a:extLst>
          </p:cNvPr>
          <p:cNvSpPr>
            <a:spLocks noGrp="1" noChangeArrowheads="1"/>
          </p:cNvSpPr>
          <p:nvPr>
            <p:ph type="body" idx="1"/>
          </p:nvPr>
        </p:nvSpPr>
        <p:spPr>
          <a:xfrm>
            <a:off x="381000" y="2466975"/>
            <a:ext cx="8229600" cy="2320925"/>
          </a:xfrm>
        </p:spPr>
        <p:txBody>
          <a:bodyPr/>
          <a:lstStyle/>
          <a:p>
            <a:pPr lvl="1" eaLnBrk="1" hangingPunct="1"/>
            <a:r>
              <a:rPr lang="en-US" altLang="en-TW">
                <a:ea typeface="ＭＳ Ｐゴシック" panose="020B0600070205080204" pitchFamily="34" charset="-128"/>
              </a:rPr>
              <a:t>Is the rule fair?</a:t>
            </a:r>
          </a:p>
          <a:p>
            <a:pPr lvl="1" eaLnBrk="1" hangingPunct="1"/>
            <a:r>
              <a:rPr lang="en-US" altLang="en-TW">
                <a:ea typeface="ＭＳ Ｐゴシック" panose="020B0600070205080204" pitchFamily="34" charset="-128"/>
              </a:rPr>
              <a:t>Is the result fair?</a:t>
            </a:r>
          </a:p>
          <a:p>
            <a:pPr lvl="1" eaLnBrk="1" hangingPunct="1"/>
            <a:r>
              <a:rPr lang="en-US" altLang="en-TW">
                <a:ea typeface="ＭＳ Ｐゴシック" panose="020B0600070205080204" pitchFamily="34" charset="-128"/>
              </a:rPr>
              <a:t>If the wage rate doesn</a:t>
            </a:r>
            <a:r>
              <a:rPr lang="en-US" altLang="en-US">
                <a:ea typeface="ＭＳ Ｐゴシック" panose="020B0600070205080204" pitchFamily="34" charset="-128"/>
              </a:rPr>
              <a:t>’</a:t>
            </a:r>
            <a:r>
              <a:rPr lang="en-US" altLang="en-TW">
                <a:ea typeface="ＭＳ Ｐゴシック" panose="020B0600070205080204" pitchFamily="34" charset="-128"/>
              </a:rPr>
              <a:t>t allocate labor, what does?</a:t>
            </a:r>
          </a:p>
          <a:p>
            <a:pPr lvl="1" eaLnBrk="1" hangingPunct="1"/>
            <a:r>
              <a:rPr lang="en-US" altLang="en-TW">
                <a:ea typeface="ＭＳ Ｐゴシック" panose="020B0600070205080204" pitchFamily="34" charset="-128"/>
              </a:rPr>
              <a:t>Are non-wage allocation mechanisms fair?</a:t>
            </a:r>
          </a:p>
          <a:p>
            <a:pPr eaLnBrk="1" hangingPunct="1"/>
            <a:endParaRPr lang="en-US" altLang="en-TW">
              <a:ea typeface="ＭＳ Ｐゴシック" panose="020B0600070205080204" pitchFamily="34" charset="-128"/>
            </a:endParaRPr>
          </a:p>
        </p:txBody>
      </p:sp>
      <p:sp>
        <p:nvSpPr>
          <p:cNvPr id="69636" name="Rectangle 6">
            <a:extLst>
              <a:ext uri="{FF2B5EF4-FFF2-40B4-BE49-F238E27FC236}">
                <a16:creationId xmlns:a16="http://schemas.microsoft.com/office/drawing/2014/main" id="{34370F82-5279-B8A9-E274-AB893C0C77DE}"/>
              </a:ext>
            </a:extLst>
          </p:cNvPr>
          <p:cNvSpPr>
            <a:spLocks noChangeArrowheads="1"/>
          </p:cNvSpPr>
          <p:nvPr/>
        </p:nvSpPr>
        <p:spPr bwMode="auto">
          <a:xfrm>
            <a:off x="381000" y="1752600"/>
            <a:ext cx="8229600" cy="609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indent="-342900">
              <a:spcBef>
                <a:spcPct val="20000"/>
              </a:spcBef>
              <a:buClr>
                <a:srgbClr val="00468F"/>
              </a:buClr>
              <a:buFont typeface="Webdings" charset="0"/>
              <a:buChar char="&lt;"/>
              <a:defRPr/>
            </a:pPr>
            <a:r>
              <a:rPr lang="en-US" sz="2800" b="1">
                <a:solidFill>
                  <a:srgbClr val="00468F"/>
                </a:solidFill>
                <a:latin typeface="Arial" charset="0"/>
                <a:ea typeface="ＭＳ Ｐゴシック" charset="0"/>
              </a:rPr>
              <a:t>Is the Minimum Wage Fair?</a:t>
            </a:r>
          </a:p>
          <a:p>
            <a:pPr marL="342900" indent="-342900">
              <a:spcBef>
                <a:spcPct val="20000"/>
              </a:spcBef>
              <a:buClr>
                <a:srgbClr val="00468F"/>
              </a:buClr>
              <a:buFont typeface="Webdings" charset="0"/>
              <a:buChar char="&lt;"/>
              <a:defRPr/>
            </a:pPr>
            <a:endParaRPr lang="en-US" sz="2800" b="1">
              <a:solidFill>
                <a:srgbClr val="00468F"/>
              </a:solidFill>
              <a:latin typeface="Arial" charset="0"/>
              <a:ea typeface="ＭＳ Ｐゴシック" charset="0"/>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30085">
                                            <p:txEl>
                                              <p:pRg st="0" end="0"/>
                                            </p:txEl>
                                          </p:spTgt>
                                        </p:tgtEl>
                                        <p:attrNameLst>
                                          <p:attrName>style.visibility</p:attrName>
                                        </p:attrNameLst>
                                      </p:cBhvr>
                                      <p:to>
                                        <p:strVal val="visible"/>
                                      </p:to>
                                    </p:set>
                                    <p:animEffect transition="in" filter="wipe(left)">
                                      <p:cBhvr>
                                        <p:cTn id="7" dur="500"/>
                                        <p:tgtEl>
                                          <p:spTgt spid="43008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30085">
                                            <p:txEl>
                                              <p:pRg st="1" end="1"/>
                                            </p:txEl>
                                          </p:spTgt>
                                        </p:tgtEl>
                                        <p:attrNameLst>
                                          <p:attrName>style.visibility</p:attrName>
                                        </p:attrNameLst>
                                      </p:cBhvr>
                                      <p:to>
                                        <p:strVal val="visible"/>
                                      </p:to>
                                    </p:set>
                                    <p:animEffect transition="in" filter="wipe(left)">
                                      <p:cBhvr>
                                        <p:cTn id="12" dur="500"/>
                                        <p:tgtEl>
                                          <p:spTgt spid="43008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30085">
                                            <p:txEl>
                                              <p:pRg st="2" end="2"/>
                                            </p:txEl>
                                          </p:spTgt>
                                        </p:tgtEl>
                                        <p:attrNameLst>
                                          <p:attrName>style.visibility</p:attrName>
                                        </p:attrNameLst>
                                      </p:cBhvr>
                                      <p:to>
                                        <p:strVal val="visible"/>
                                      </p:to>
                                    </p:set>
                                    <p:animEffect transition="in" filter="wipe(left)">
                                      <p:cBhvr>
                                        <p:cTn id="17" dur="500"/>
                                        <p:tgtEl>
                                          <p:spTgt spid="43008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30085">
                                            <p:txEl>
                                              <p:pRg st="3" end="3"/>
                                            </p:txEl>
                                          </p:spTgt>
                                        </p:tgtEl>
                                        <p:attrNameLst>
                                          <p:attrName>style.visibility</p:attrName>
                                        </p:attrNameLst>
                                      </p:cBhvr>
                                      <p:to>
                                        <p:strVal val="visible"/>
                                      </p:to>
                                    </p:set>
                                    <p:animEffect transition="in" filter="wipe(left)">
                                      <p:cBhvr>
                                        <p:cTn id="22" dur="500"/>
                                        <p:tgtEl>
                                          <p:spTgt spid="43008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085" grpId="0" build="p" bldLvl="3"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B027962E-F19D-3F46-F8E7-1A4D0F5D7A56}"/>
              </a:ext>
            </a:extLst>
          </p:cNvPr>
          <p:cNvSpPr>
            <a:spLocks noGrp="1" noChangeArrowheads="1"/>
          </p:cNvSpPr>
          <p:nvPr>
            <p:ph type="title"/>
          </p:nvPr>
        </p:nvSpPr>
        <p:spPr/>
        <p:txBody>
          <a:bodyPr/>
          <a:lstStyle/>
          <a:p>
            <a:pPr eaLnBrk="1" hangingPunct="1">
              <a:defRPr/>
            </a:pPr>
            <a:r>
              <a:rPr lang="en-US"/>
              <a:t>7.2  PRICE FLOORS</a:t>
            </a:r>
            <a:endParaRPr lang="en-CA"/>
          </a:p>
        </p:txBody>
      </p:sp>
      <p:sp>
        <p:nvSpPr>
          <p:cNvPr id="624643" name="Rectangle 3">
            <a:extLst>
              <a:ext uri="{FF2B5EF4-FFF2-40B4-BE49-F238E27FC236}">
                <a16:creationId xmlns:a16="http://schemas.microsoft.com/office/drawing/2014/main" id="{A3625060-13A3-29D5-2521-6E61D12E792F}"/>
              </a:ext>
            </a:extLst>
          </p:cNvPr>
          <p:cNvSpPr>
            <a:spLocks noGrp="1" noChangeArrowheads="1"/>
          </p:cNvSpPr>
          <p:nvPr>
            <p:ph type="body" idx="1"/>
          </p:nvPr>
        </p:nvSpPr>
        <p:spPr>
          <a:xfrm>
            <a:off x="304800" y="2971800"/>
            <a:ext cx="8229600" cy="2362200"/>
          </a:xfrm>
        </p:spPr>
        <p:txBody>
          <a:bodyPr/>
          <a:lstStyle/>
          <a:p>
            <a:pPr lvl="1" eaLnBrk="1" hangingPunct="1">
              <a:defRPr/>
            </a:pPr>
            <a:r>
              <a:rPr lang="en-US" dirty="0"/>
              <a:t>The effects of minimum wage on employment might be small.</a:t>
            </a:r>
          </a:p>
          <a:p>
            <a:pPr lvl="1" eaLnBrk="1" hangingPunct="1">
              <a:defRPr/>
            </a:pPr>
            <a:r>
              <a:rPr lang="en-US" dirty="0"/>
              <a:t>What would make the effects on employment small?</a:t>
            </a:r>
          </a:p>
          <a:p>
            <a:pPr lvl="1" eaLnBrk="1" hangingPunct="1">
              <a:defRPr/>
            </a:pPr>
            <a:r>
              <a:rPr lang="en-US" dirty="0"/>
              <a:t>Labor unions might lobby for a minimum wage: why?</a:t>
            </a:r>
          </a:p>
          <a:p>
            <a:pPr lvl="1" eaLnBrk="1" hangingPunct="1">
              <a:defRPr/>
            </a:pPr>
            <a:endParaRPr lang="en-US" dirty="0"/>
          </a:p>
        </p:txBody>
      </p:sp>
      <p:sp>
        <p:nvSpPr>
          <p:cNvPr id="70660" name="Rectangle 4">
            <a:extLst>
              <a:ext uri="{FF2B5EF4-FFF2-40B4-BE49-F238E27FC236}">
                <a16:creationId xmlns:a16="http://schemas.microsoft.com/office/drawing/2014/main" id="{F4F0828D-9E72-409C-E9DA-E3BFEF344259}"/>
              </a:ext>
            </a:extLst>
          </p:cNvPr>
          <p:cNvSpPr>
            <a:spLocks noChangeArrowheads="1"/>
          </p:cNvSpPr>
          <p:nvPr/>
        </p:nvSpPr>
        <p:spPr bwMode="auto">
          <a:xfrm>
            <a:off x="381000" y="1828800"/>
            <a:ext cx="8229600" cy="914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indent="-342900">
              <a:spcBef>
                <a:spcPct val="20000"/>
              </a:spcBef>
              <a:buClr>
                <a:srgbClr val="00468F"/>
              </a:buClr>
              <a:buFont typeface="Webdings" charset="0"/>
              <a:buChar char="&lt;"/>
              <a:defRPr/>
            </a:pPr>
            <a:r>
              <a:rPr lang="en-US" sz="2800" b="1" dirty="0">
                <a:solidFill>
                  <a:srgbClr val="00468F"/>
                </a:solidFill>
                <a:latin typeface="Arial" charset="0"/>
                <a:ea typeface="ＭＳ Ｐゴシック" charset="0"/>
              </a:rPr>
              <a:t>If the Minimum Wage Is So Bad, Why Do We Have It?</a:t>
            </a:r>
            <a:endParaRPr lang="en-US" dirty="0">
              <a:latin typeface="Arial" charset="0"/>
              <a:ea typeface="ＭＳ Ｐゴシック" charset="0"/>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24643">
                                            <p:txEl>
                                              <p:pRg st="0" end="0"/>
                                            </p:txEl>
                                          </p:spTgt>
                                        </p:tgtEl>
                                        <p:attrNameLst>
                                          <p:attrName>style.visibility</p:attrName>
                                        </p:attrNameLst>
                                      </p:cBhvr>
                                      <p:to>
                                        <p:strVal val="visible"/>
                                      </p:to>
                                    </p:set>
                                    <p:animEffect transition="in" filter="wipe(left)">
                                      <p:cBhvr>
                                        <p:cTn id="7" dur="500"/>
                                        <p:tgtEl>
                                          <p:spTgt spid="6246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24643">
                                            <p:txEl>
                                              <p:pRg st="1" end="1"/>
                                            </p:txEl>
                                          </p:spTgt>
                                        </p:tgtEl>
                                        <p:attrNameLst>
                                          <p:attrName>style.visibility</p:attrName>
                                        </p:attrNameLst>
                                      </p:cBhvr>
                                      <p:to>
                                        <p:strVal val="visible"/>
                                      </p:to>
                                    </p:set>
                                    <p:animEffect transition="in" filter="wipe(left)">
                                      <p:cBhvr>
                                        <p:cTn id="12" dur="500"/>
                                        <p:tgtEl>
                                          <p:spTgt spid="62464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24643">
                                            <p:txEl>
                                              <p:pRg st="2" end="2"/>
                                            </p:txEl>
                                          </p:spTgt>
                                        </p:tgtEl>
                                        <p:attrNameLst>
                                          <p:attrName>style.visibility</p:attrName>
                                        </p:attrNameLst>
                                      </p:cBhvr>
                                      <p:to>
                                        <p:strVal val="visible"/>
                                      </p:to>
                                    </p:set>
                                    <p:animEffect transition="in" filter="wipe(left)">
                                      <p:cBhvr>
                                        <p:cTn id="17" dur="500"/>
                                        <p:tgtEl>
                                          <p:spTgt spid="62464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43" grpId="0" build="p" bldLvl="3"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3" y="152065"/>
            <a:ext cx="8419529" cy="838536"/>
          </a:xfrm>
        </p:spPr>
        <p:txBody>
          <a:bodyPr/>
          <a:lstStyle/>
          <a:p>
            <a:pPr algn="l"/>
            <a:r>
              <a:rPr lang="en-US" sz="3200" dirty="0"/>
              <a:t>Figure 6.5 </a:t>
            </a:r>
            <a:br>
              <a:rPr lang="en-US" sz="3200" dirty="0"/>
            </a:br>
            <a:r>
              <a:rPr lang="en-US" sz="3200" dirty="0"/>
              <a:t>A tax on sellers</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637" y="1707407"/>
            <a:ext cx="8312727" cy="3737817"/>
          </a:xfrm>
          <a:prstGeom prst="rect">
            <a:avLst/>
          </a:prstGeom>
        </p:spPr>
      </p:pic>
    </p:spTree>
    <p:extLst>
      <p:ext uri="{BB962C8B-B14F-4D97-AF65-F5344CB8AC3E}">
        <p14:creationId xmlns:p14="http://schemas.microsoft.com/office/powerpoint/2010/main" val="2314734174"/>
      </p:ext>
    </p:extLst>
  </p:cSld>
  <p:clrMapOvr>
    <a:masterClrMapping/>
  </p:clrMapOvr>
  <p:transition spd="med">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3" y="152064"/>
            <a:ext cx="8419529" cy="1321437"/>
          </a:xfrm>
        </p:spPr>
        <p:txBody>
          <a:bodyPr/>
          <a:lstStyle/>
          <a:p>
            <a:pPr algn="l"/>
            <a:r>
              <a:rPr lang="en-US" sz="3200" dirty="0"/>
              <a:t>Figure 6.6 </a:t>
            </a:r>
            <a:br>
              <a:rPr lang="en-US" sz="3200" dirty="0"/>
            </a:br>
            <a:r>
              <a:rPr lang="en-US" sz="3200" dirty="0"/>
              <a:t>A tax on buyers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637" y="1707467"/>
            <a:ext cx="8312727" cy="3710325"/>
          </a:xfrm>
          <a:prstGeom prst="rect">
            <a:avLst/>
          </a:prstGeom>
        </p:spPr>
      </p:pic>
    </p:spTree>
    <p:extLst>
      <p:ext uri="{BB962C8B-B14F-4D97-AF65-F5344CB8AC3E}">
        <p14:creationId xmlns:p14="http://schemas.microsoft.com/office/powerpoint/2010/main" val="892698072"/>
      </p:ext>
    </p:extLst>
  </p:cSld>
  <p:clrMapOvr>
    <a:masterClrMapping/>
  </p:clrMapOvr>
  <p:transition spd="med">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3" y="152064"/>
            <a:ext cx="8419529" cy="1321437"/>
          </a:xfrm>
        </p:spPr>
        <p:txBody>
          <a:bodyPr/>
          <a:lstStyle/>
          <a:p>
            <a:pPr algn="l"/>
            <a:r>
              <a:rPr lang="en-US" sz="3200" dirty="0"/>
              <a:t>Figure 6.7 </a:t>
            </a:r>
            <a:br>
              <a:rPr lang="en-US" sz="3200" dirty="0"/>
            </a:br>
            <a:r>
              <a:rPr lang="en-US" sz="3200" dirty="0"/>
              <a:t>Tax with perfectly inelastic demand</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637" y="1704272"/>
            <a:ext cx="8312727" cy="3740952"/>
          </a:xfrm>
          <a:prstGeom prst="rect">
            <a:avLst/>
          </a:prstGeom>
        </p:spPr>
      </p:pic>
    </p:spTree>
    <p:extLst>
      <p:ext uri="{BB962C8B-B14F-4D97-AF65-F5344CB8AC3E}">
        <p14:creationId xmlns:p14="http://schemas.microsoft.com/office/powerpoint/2010/main" val="2624922616"/>
      </p:ext>
    </p:extLst>
  </p:cSld>
  <p:clrMapOvr>
    <a:masterClrMapping/>
  </p:clrMapOvr>
  <p:transition spd="med">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3" y="152064"/>
            <a:ext cx="8419529" cy="1321437"/>
          </a:xfrm>
        </p:spPr>
        <p:txBody>
          <a:bodyPr/>
          <a:lstStyle/>
          <a:p>
            <a:pPr algn="l"/>
            <a:r>
              <a:rPr lang="en-US" sz="3200" dirty="0"/>
              <a:t>Figure 6.8 </a:t>
            </a:r>
            <a:br>
              <a:rPr lang="en-US" sz="3200" dirty="0"/>
            </a:br>
            <a:r>
              <a:rPr lang="en-US" sz="3200" dirty="0"/>
              <a:t>Tax with perfectly elastic demand</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637" y="1711428"/>
            <a:ext cx="8312727" cy="3733796"/>
          </a:xfrm>
          <a:prstGeom prst="rect">
            <a:avLst/>
          </a:prstGeom>
        </p:spPr>
      </p:pic>
    </p:spTree>
    <p:extLst>
      <p:ext uri="{BB962C8B-B14F-4D97-AF65-F5344CB8AC3E}">
        <p14:creationId xmlns:p14="http://schemas.microsoft.com/office/powerpoint/2010/main" val="3676482418"/>
      </p:ext>
    </p:extLst>
  </p:cSld>
  <p:clrMapOvr>
    <a:masterClrMapping/>
  </p:clrMapOvr>
  <p:transition spd="med">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3" y="152064"/>
            <a:ext cx="8419529" cy="1321437"/>
          </a:xfrm>
        </p:spPr>
        <p:txBody>
          <a:bodyPr/>
          <a:lstStyle/>
          <a:p>
            <a:pPr algn="l"/>
            <a:r>
              <a:rPr lang="en-US" sz="3200" dirty="0"/>
              <a:t>Figure 6.9 </a:t>
            </a:r>
            <a:br>
              <a:rPr lang="en-US" sz="3200" dirty="0"/>
            </a:br>
            <a:r>
              <a:rPr lang="en-US" sz="3200" dirty="0"/>
              <a:t>Tax and the elasticity of supply</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3488" y="1446698"/>
            <a:ext cx="7557025" cy="4790614"/>
          </a:xfrm>
          <a:prstGeom prst="rect">
            <a:avLst/>
          </a:prstGeom>
        </p:spPr>
      </p:pic>
    </p:spTree>
    <p:extLst>
      <p:ext uri="{BB962C8B-B14F-4D97-AF65-F5344CB8AC3E}">
        <p14:creationId xmlns:p14="http://schemas.microsoft.com/office/powerpoint/2010/main" val="4188083816"/>
      </p:ext>
    </p:extLst>
  </p:cSld>
  <p:clrMapOvr>
    <a:masterClrMapping/>
  </p:clrMapOvr>
  <p:transition spd="med">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3" y="152064"/>
            <a:ext cx="8419529" cy="1321437"/>
          </a:xfrm>
        </p:spPr>
        <p:txBody>
          <a:bodyPr/>
          <a:lstStyle/>
          <a:p>
            <a:pPr algn="l"/>
            <a:r>
              <a:rPr lang="en-US" sz="3200" dirty="0"/>
              <a:t>Figure 6.10 </a:t>
            </a:r>
            <a:br>
              <a:rPr lang="en-US" sz="3200" dirty="0"/>
            </a:br>
            <a:r>
              <a:rPr lang="en-US" sz="3200" dirty="0"/>
              <a:t>Taxes and efficiency</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637" y="1674973"/>
            <a:ext cx="8312727" cy="3914267"/>
          </a:xfrm>
          <a:prstGeom prst="rect">
            <a:avLst/>
          </a:prstGeom>
        </p:spPr>
      </p:pic>
    </p:spTree>
    <p:extLst>
      <p:ext uri="{BB962C8B-B14F-4D97-AF65-F5344CB8AC3E}">
        <p14:creationId xmlns:p14="http://schemas.microsoft.com/office/powerpoint/2010/main" val="464924391"/>
      </p:ext>
    </p:extLst>
  </p:cSld>
  <p:clrMapOvr>
    <a:masterClrMapping/>
  </p:clrMapOvr>
  <p:transition spd="med">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3" y="152064"/>
            <a:ext cx="8419529" cy="1321437"/>
          </a:xfrm>
        </p:spPr>
        <p:txBody>
          <a:bodyPr/>
          <a:lstStyle/>
          <a:p>
            <a:pPr algn="l"/>
            <a:r>
              <a:rPr lang="en-US" sz="3200" dirty="0"/>
              <a:t>Figure 1 </a:t>
            </a:r>
            <a:br>
              <a:rPr lang="en-US" sz="3200" dirty="0"/>
            </a:br>
            <a:r>
              <a:rPr lang="en-US" sz="3200" dirty="0"/>
              <a:t>UK taxes</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2146" y="1537078"/>
            <a:ext cx="5939706" cy="4196178"/>
          </a:xfrm>
          <a:prstGeom prst="rect">
            <a:avLst/>
          </a:prstGeom>
        </p:spPr>
      </p:pic>
      <p:sp>
        <p:nvSpPr>
          <p:cNvPr id="5" name="TextBox 4"/>
          <p:cNvSpPr txBox="1"/>
          <p:nvPr/>
        </p:nvSpPr>
        <p:spPr>
          <a:xfrm>
            <a:off x="356695" y="5922726"/>
            <a:ext cx="8392018" cy="338554"/>
          </a:xfrm>
          <a:prstGeom prst="rect">
            <a:avLst/>
          </a:prstGeom>
          <a:noFill/>
        </p:spPr>
        <p:txBody>
          <a:bodyPr wrap="square" rtlCol="0">
            <a:spAutoFit/>
          </a:bodyPr>
          <a:lstStyle/>
          <a:p>
            <a:r>
              <a:rPr lang="en-US" sz="800" dirty="0"/>
              <a:t>Source of data: Miller, H. and </a:t>
            </a:r>
            <a:r>
              <a:rPr lang="en-US" sz="800" dirty="0" err="1"/>
              <a:t>Roantree</a:t>
            </a:r>
            <a:r>
              <a:rPr lang="en-US" sz="800" dirty="0"/>
              <a:t>, B., Tax revenues: where does the money come from and what are the next government’s challenges? Institute for Fiscal Studies Briefing note, 2017. Available at: www.ifs.org.uk.</a:t>
            </a:r>
            <a:endParaRPr lang="en-IN" sz="800" dirty="0"/>
          </a:p>
        </p:txBody>
      </p:sp>
    </p:spTree>
    <p:extLst>
      <p:ext uri="{BB962C8B-B14F-4D97-AF65-F5344CB8AC3E}">
        <p14:creationId xmlns:p14="http://schemas.microsoft.com/office/powerpoint/2010/main" val="3822134233"/>
      </p:ext>
    </p:extLst>
  </p:cSld>
  <p:clrMapOvr>
    <a:masterClrMapping/>
  </p:clrMapOvr>
  <p:transition spd="med">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3" y="152064"/>
            <a:ext cx="8419529" cy="1321437"/>
          </a:xfrm>
        </p:spPr>
        <p:txBody>
          <a:bodyPr/>
          <a:lstStyle/>
          <a:p>
            <a:pPr algn="l"/>
            <a:r>
              <a:rPr lang="en-US" sz="3200" dirty="0"/>
              <a:t>Figure 6.11 </a:t>
            </a:r>
            <a:br>
              <a:rPr lang="en-US" sz="3200" dirty="0"/>
            </a:br>
            <a:r>
              <a:rPr lang="en-US" sz="3200" dirty="0"/>
              <a:t>The effects of a production quota</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637" y="1706085"/>
            <a:ext cx="8312727" cy="3883155"/>
          </a:xfrm>
          <a:prstGeom prst="rect">
            <a:avLst/>
          </a:prstGeom>
        </p:spPr>
      </p:pic>
    </p:spTree>
    <p:extLst>
      <p:ext uri="{BB962C8B-B14F-4D97-AF65-F5344CB8AC3E}">
        <p14:creationId xmlns:p14="http://schemas.microsoft.com/office/powerpoint/2010/main" val="4198869372"/>
      </p:ext>
    </p:extLst>
  </p:cSld>
  <p:clrMapOvr>
    <a:masterClrMapping/>
  </p:clrMapOvr>
  <p:transition spd="med">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3" y="152064"/>
            <a:ext cx="8419529" cy="1321437"/>
          </a:xfrm>
        </p:spPr>
        <p:txBody>
          <a:bodyPr/>
          <a:lstStyle/>
          <a:p>
            <a:pPr algn="l"/>
            <a:r>
              <a:rPr lang="en-US" sz="3200" dirty="0"/>
              <a:t>Figure 6.12 </a:t>
            </a:r>
            <a:br>
              <a:rPr lang="en-US" sz="3200" dirty="0"/>
            </a:br>
            <a:r>
              <a:rPr lang="en-US" sz="3200" dirty="0"/>
              <a:t>The effects of a production subsidy</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637" y="1700808"/>
            <a:ext cx="8312727" cy="3953447"/>
          </a:xfrm>
          <a:prstGeom prst="rect">
            <a:avLst/>
          </a:prstGeom>
        </p:spPr>
      </p:pic>
    </p:spTree>
    <p:extLst>
      <p:ext uri="{BB962C8B-B14F-4D97-AF65-F5344CB8AC3E}">
        <p14:creationId xmlns:p14="http://schemas.microsoft.com/office/powerpoint/2010/main" val="2524027235"/>
      </p:ext>
    </p:extLst>
  </p:cSld>
  <p:clrMapOvr>
    <a:masterClrMapping/>
  </p:clrMapOvr>
  <p:transition spd="med">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3" y="152064"/>
            <a:ext cx="8419529" cy="1321437"/>
          </a:xfrm>
        </p:spPr>
        <p:txBody>
          <a:bodyPr/>
          <a:lstStyle/>
          <a:p>
            <a:pPr algn="l"/>
            <a:r>
              <a:rPr lang="en-US" sz="3200" dirty="0"/>
              <a:t>Figure 6.13 </a:t>
            </a:r>
            <a:br>
              <a:rPr lang="en-US" sz="3200" dirty="0"/>
            </a:br>
            <a:r>
              <a:rPr lang="en-US" sz="3200" dirty="0"/>
              <a:t>The effects of a price support</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637" y="1542767"/>
            <a:ext cx="8312727" cy="3974465"/>
          </a:xfrm>
          <a:prstGeom prst="rect">
            <a:avLst/>
          </a:prstGeom>
        </p:spPr>
      </p:pic>
    </p:spTree>
    <p:extLst>
      <p:ext uri="{BB962C8B-B14F-4D97-AF65-F5344CB8AC3E}">
        <p14:creationId xmlns:p14="http://schemas.microsoft.com/office/powerpoint/2010/main" val="389279285"/>
      </p:ext>
    </p:extLst>
  </p:cSld>
  <p:clrMapOvr>
    <a:masterClrMapping/>
  </p:clrMapOvr>
  <p:transition spd="med">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3" y="152064"/>
            <a:ext cx="8419529" cy="1321437"/>
          </a:xfrm>
        </p:spPr>
        <p:txBody>
          <a:bodyPr/>
          <a:lstStyle/>
          <a:p>
            <a:pPr algn="l"/>
            <a:r>
              <a:rPr lang="en-US" sz="3200" dirty="0"/>
              <a:t>Figure 6.14 </a:t>
            </a:r>
            <a:br>
              <a:rPr lang="en-US" sz="3200" dirty="0"/>
            </a:br>
            <a:r>
              <a:rPr lang="en-US" sz="3200" dirty="0"/>
              <a:t>A market for an illegal good</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637" y="1703685"/>
            <a:ext cx="8312727" cy="3813547"/>
          </a:xfrm>
          <a:prstGeom prst="rect">
            <a:avLst/>
          </a:prstGeom>
        </p:spPr>
      </p:pic>
    </p:spTree>
    <p:extLst>
      <p:ext uri="{BB962C8B-B14F-4D97-AF65-F5344CB8AC3E}">
        <p14:creationId xmlns:p14="http://schemas.microsoft.com/office/powerpoint/2010/main" val="2479010932"/>
      </p:ext>
    </p:extLst>
  </p:cSld>
  <p:clrMapOvr>
    <a:masterClrMapping/>
  </p:clrMapOvr>
  <p:transition spd="med">
    <p:wipe dir="r"/>
  </p:transition>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D4BB2252-81D6-FA79-FB5A-586A8F6044FA}"/>
              </a:ext>
            </a:extLst>
          </p:cNvPr>
          <p:cNvSpPr>
            <a:spLocks noGrp="1" noChangeArrowheads="1"/>
          </p:cNvSpPr>
          <p:nvPr>
            <p:ph type="title"/>
          </p:nvPr>
        </p:nvSpPr>
        <p:spPr/>
        <p:txBody>
          <a:bodyPr/>
          <a:lstStyle/>
          <a:p>
            <a:pPr eaLnBrk="1" hangingPunct="1">
              <a:defRPr/>
            </a:pPr>
            <a:r>
              <a:rPr lang="en-US"/>
              <a:t>7.3  PRICE SUPPORTS IN AGRICULTURE</a:t>
            </a:r>
            <a:endParaRPr lang="en-CA"/>
          </a:p>
        </p:txBody>
      </p:sp>
      <p:sp>
        <p:nvSpPr>
          <p:cNvPr id="623619" name="Rectangle 3">
            <a:extLst>
              <a:ext uri="{FF2B5EF4-FFF2-40B4-BE49-F238E27FC236}">
                <a16:creationId xmlns:a16="http://schemas.microsoft.com/office/drawing/2014/main" id="{031C926B-6823-926E-79A6-B1A9A22DA6BA}"/>
              </a:ext>
            </a:extLst>
          </p:cNvPr>
          <p:cNvSpPr>
            <a:spLocks noGrp="1" noChangeArrowheads="1"/>
          </p:cNvSpPr>
          <p:nvPr>
            <p:ph type="body" idx="1"/>
          </p:nvPr>
        </p:nvSpPr>
        <p:spPr>
          <a:xfrm>
            <a:off x="304800" y="3048000"/>
            <a:ext cx="8229600" cy="3124200"/>
          </a:xfrm>
        </p:spPr>
        <p:txBody>
          <a:bodyPr/>
          <a:lstStyle/>
          <a:p>
            <a:pPr lvl="1" eaLnBrk="1" hangingPunct="1">
              <a:defRPr/>
            </a:pPr>
            <a:r>
              <a:rPr lang="en-US" dirty="0"/>
              <a:t>To support farms, governments most always:</a:t>
            </a:r>
          </a:p>
          <a:p>
            <a:pPr marL="1027113" lvl="2" indent="-346075" eaLnBrk="1" hangingPunct="1">
              <a:defRPr/>
            </a:pPr>
            <a:r>
              <a:rPr lang="en-US" dirty="0"/>
              <a:t>Isolate the domestic market from global competition.</a:t>
            </a:r>
          </a:p>
          <a:p>
            <a:pPr marL="1027113" lvl="2" indent="-346075" eaLnBrk="1" hangingPunct="1">
              <a:defRPr/>
            </a:pPr>
            <a:r>
              <a:rPr lang="en-US" dirty="0"/>
              <a:t>Introduce a price floor.</a:t>
            </a:r>
          </a:p>
          <a:p>
            <a:pPr marL="1027113" lvl="2" indent="-346075" eaLnBrk="1" hangingPunct="1">
              <a:defRPr/>
            </a:pPr>
            <a:r>
              <a:rPr lang="en-US" dirty="0"/>
              <a:t>Pay the farmers a subsidy.</a:t>
            </a:r>
          </a:p>
        </p:txBody>
      </p:sp>
      <p:sp>
        <p:nvSpPr>
          <p:cNvPr id="623620" name="Rectangle 4">
            <a:extLst>
              <a:ext uri="{FF2B5EF4-FFF2-40B4-BE49-F238E27FC236}">
                <a16:creationId xmlns:a16="http://schemas.microsoft.com/office/drawing/2014/main" id="{86D5EA91-CD29-836C-E797-77413EA18262}"/>
              </a:ext>
            </a:extLst>
          </p:cNvPr>
          <p:cNvSpPr>
            <a:spLocks noChangeArrowheads="1"/>
          </p:cNvSpPr>
          <p:nvPr/>
        </p:nvSpPr>
        <p:spPr bwMode="auto">
          <a:xfrm>
            <a:off x="381000" y="1828800"/>
            <a:ext cx="8229600" cy="990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indent="-342900">
              <a:spcBef>
                <a:spcPct val="20000"/>
              </a:spcBef>
              <a:buClr>
                <a:srgbClr val="00468F"/>
              </a:buClr>
              <a:buFont typeface="Webdings" charset="0"/>
              <a:buChar char="&lt;"/>
              <a:defRPr/>
            </a:pPr>
            <a:r>
              <a:rPr lang="en-US" sz="2800" b="1">
                <a:solidFill>
                  <a:srgbClr val="00468F"/>
                </a:solidFill>
                <a:latin typeface="Arial" charset="0"/>
                <a:ea typeface="ＭＳ Ｐゴシック" charset="0"/>
              </a:rPr>
              <a:t>How Governments Intervene in Markets for Farm Products</a:t>
            </a:r>
            <a:endParaRPr lang="en-US">
              <a:latin typeface="Arial" charset="0"/>
              <a:ea typeface="ＭＳ Ｐゴシック" charset="0"/>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23620">
                                            <p:txEl>
                                              <p:pRg st="0" end="0"/>
                                            </p:txEl>
                                          </p:spTgt>
                                        </p:tgtEl>
                                        <p:attrNameLst>
                                          <p:attrName>style.visibility</p:attrName>
                                        </p:attrNameLst>
                                      </p:cBhvr>
                                      <p:to>
                                        <p:strVal val="visible"/>
                                      </p:to>
                                    </p:set>
                                    <p:animEffect transition="in" filter="wipe(left)">
                                      <p:cBhvr>
                                        <p:cTn id="7" dur="500"/>
                                        <p:tgtEl>
                                          <p:spTgt spid="62362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23619">
                                            <p:txEl>
                                              <p:pRg st="0" end="0"/>
                                            </p:txEl>
                                          </p:spTgt>
                                        </p:tgtEl>
                                        <p:attrNameLst>
                                          <p:attrName>style.visibility</p:attrName>
                                        </p:attrNameLst>
                                      </p:cBhvr>
                                      <p:to>
                                        <p:strVal val="visible"/>
                                      </p:to>
                                    </p:set>
                                    <p:animEffect transition="in" filter="wipe(left)">
                                      <p:cBhvr>
                                        <p:cTn id="12" dur="500"/>
                                        <p:tgtEl>
                                          <p:spTgt spid="62361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23619">
                                            <p:txEl>
                                              <p:pRg st="1" end="1"/>
                                            </p:txEl>
                                          </p:spTgt>
                                        </p:tgtEl>
                                        <p:attrNameLst>
                                          <p:attrName>style.visibility</p:attrName>
                                        </p:attrNameLst>
                                      </p:cBhvr>
                                      <p:to>
                                        <p:strVal val="visible"/>
                                      </p:to>
                                    </p:set>
                                    <p:animEffect transition="in" filter="wipe(left)">
                                      <p:cBhvr>
                                        <p:cTn id="17" dur="500"/>
                                        <p:tgtEl>
                                          <p:spTgt spid="623619">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23619">
                                            <p:txEl>
                                              <p:pRg st="2" end="2"/>
                                            </p:txEl>
                                          </p:spTgt>
                                        </p:tgtEl>
                                        <p:attrNameLst>
                                          <p:attrName>style.visibility</p:attrName>
                                        </p:attrNameLst>
                                      </p:cBhvr>
                                      <p:to>
                                        <p:strVal val="visible"/>
                                      </p:to>
                                    </p:set>
                                    <p:animEffect transition="in" filter="wipe(left)">
                                      <p:cBhvr>
                                        <p:cTn id="22" dur="500"/>
                                        <p:tgtEl>
                                          <p:spTgt spid="623619">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23619">
                                            <p:txEl>
                                              <p:pRg st="3" end="3"/>
                                            </p:txEl>
                                          </p:spTgt>
                                        </p:tgtEl>
                                        <p:attrNameLst>
                                          <p:attrName>style.visibility</p:attrName>
                                        </p:attrNameLst>
                                      </p:cBhvr>
                                      <p:to>
                                        <p:strVal val="visible"/>
                                      </p:to>
                                    </p:set>
                                    <p:animEffect transition="in" filter="wipe(left)">
                                      <p:cBhvr>
                                        <p:cTn id="27" dur="500"/>
                                        <p:tgtEl>
                                          <p:spTgt spid="6236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3619" grpId="0" build="p" bldLvl="3"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2DD8226D-9EC6-1DBD-79E5-2A60E9C2CA14}"/>
              </a:ext>
            </a:extLst>
          </p:cNvPr>
          <p:cNvSpPr>
            <a:spLocks noGrp="1" noChangeArrowheads="1"/>
          </p:cNvSpPr>
          <p:nvPr>
            <p:ph type="title"/>
          </p:nvPr>
        </p:nvSpPr>
        <p:spPr/>
        <p:txBody>
          <a:bodyPr/>
          <a:lstStyle/>
          <a:p>
            <a:pPr eaLnBrk="1" hangingPunct="1">
              <a:defRPr/>
            </a:pPr>
            <a:r>
              <a:rPr lang="en-US"/>
              <a:t>7.3  PRICE SUPPORTS IN AGRICULTURE</a:t>
            </a:r>
            <a:endParaRPr lang="en-CA"/>
          </a:p>
        </p:txBody>
      </p:sp>
      <p:sp>
        <p:nvSpPr>
          <p:cNvPr id="625667" name="Rectangle 3">
            <a:extLst>
              <a:ext uri="{FF2B5EF4-FFF2-40B4-BE49-F238E27FC236}">
                <a16:creationId xmlns:a16="http://schemas.microsoft.com/office/drawing/2014/main" id="{84769616-6256-8835-2380-458658CBF1C0}"/>
              </a:ext>
            </a:extLst>
          </p:cNvPr>
          <p:cNvSpPr>
            <a:spLocks noGrp="1" noChangeArrowheads="1"/>
          </p:cNvSpPr>
          <p:nvPr>
            <p:ph type="body" idx="1"/>
          </p:nvPr>
        </p:nvSpPr>
        <p:spPr>
          <a:xfrm>
            <a:off x="304800" y="2438400"/>
            <a:ext cx="8229600" cy="3124200"/>
          </a:xfrm>
        </p:spPr>
        <p:txBody>
          <a:bodyPr/>
          <a:lstStyle/>
          <a:p>
            <a:pPr lvl="1" eaLnBrk="1" hangingPunct="1">
              <a:defRPr/>
            </a:pPr>
            <a:r>
              <a:rPr lang="en-US"/>
              <a:t>A government cannot regulate the market price of a farm product without isolating the domestic market from the global market.</a:t>
            </a:r>
          </a:p>
          <a:p>
            <a:pPr lvl="1" eaLnBrk="1" hangingPunct="1">
              <a:defRPr/>
            </a:pPr>
            <a:r>
              <a:rPr lang="en-US"/>
              <a:t>To isolate the domestic market, the government restricts imports from the rest of the world.</a:t>
            </a:r>
          </a:p>
        </p:txBody>
      </p:sp>
      <p:sp>
        <p:nvSpPr>
          <p:cNvPr id="74756" name="Rectangle 4">
            <a:extLst>
              <a:ext uri="{FF2B5EF4-FFF2-40B4-BE49-F238E27FC236}">
                <a16:creationId xmlns:a16="http://schemas.microsoft.com/office/drawing/2014/main" id="{BE081351-64A5-880B-BD91-0523B7EA19F4}"/>
              </a:ext>
            </a:extLst>
          </p:cNvPr>
          <p:cNvSpPr>
            <a:spLocks noChangeArrowheads="1"/>
          </p:cNvSpPr>
          <p:nvPr/>
        </p:nvSpPr>
        <p:spPr bwMode="auto">
          <a:xfrm>
            <a:off x="381000" y="1828800"/>
            <a:ext cx="8229600"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lvl="1">
              <a:spcBef>
                <a:spcPct val="20000"/>
              </a:spcBef>
              <a:buClr>
                <a:srgbClr val="00468F"/>
              </a:buClr>
              <a:buFont typeface="Webdings" charset="0"/>
              <a:buNone/>
              <a:defRPr/>
            </a:pPr>
            <a:r>
              <a:rPr lang="en-US" b="1">
                <a:solidFill>
                  <a:srgbClr val="00468F"/>
                </a:solidFill>
                <a:latin typeface="Arial" charset="0"/>
                <a:ea typeface="ＭＳ Ｐゴシック" charset="0"/>
              </a:rPr>
              <a:t>Isolate the Domestic Market</a:t>
            </a:r>
            <a:endParaRPr lang="en-US">
              <a:latin typeface="Arial" charset="0"/>
              <a:ea typeface="ＭＳ Ｐゴシック" charset="0"/>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25667">
                                            <p:txEl>
                                              <p:pRg st="0" end="0"/>
                                            </p:txEl>
                                          </p:spTgt>
                                        </p:tgtEl>
                                        <p:attrNameLst>
                                          <p:attrName>style.visibility</p:attrName>
                                        </p:attrNameLst>
                                      </p:cBhvr>
                                      <p:to>
                                        <p:strVal val="visible"/>
                                      </p:to>
                                    </p:set>
                                    <p:animEffect transition="in" filter="wipe(left)">
                                      <p:cBhvr>
                                        <p:cTn id="7" dur="500"/>
                                        <p:tgtEl>
                                          <p:spTgt spid="6256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25667">
                                            <p:txEl>
                                              <p:pRg st="1" end="1"/>
                                            </p:txEl>
                                          </p:spTgt>
                                        </p:tgtEl>
                                        <p:attrNameLst>
                                          <p:attrName>style.visibility</p:attrName>
                                        </p:attrNameLst>
                                      </p:cBhvr>
                                      <p:to>
                                        <p:strVal val="visible"/>
                                      </p:to>
                                    </p:set>
                                    <p:animEffect transition="in" filter="wipe(left)">
                                      <p:cBhvr>
                                        <p:cTn id="12" dur="500"/>
                                        <p:tgtEl>
                                          <p:spTgt spid="62566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5667" grpId="0" build="p" bldLvl="3"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47F43490-A735-E21A-E279-806E0ABEB776}"/>
              </a:ext>
            </a:extLst>
          </p:cNvPr>
          <p:cNvSpPr>
            <a:spLocks noGrp="1" noChangeArrowheads="1"/>
          </p:cNvSpPr>
          <p:nvPr>
            <p:ph type="title"/>
          </p:nvPr>
        </p:nvSpPr>
        <p:spPr/>
        <p:txBody>
          <a:bodyPr/>
          <a:lstStyle/>
          <a:p>
            <a:pPr eaLnBrk="1" hangingPunct="1">
              <a:defRPr/>
            </a:pPr>
            <a:r>
              <a:rPr lang="en-US"/>
              <a:t>7.3  PRICE SUPPORTS IN AGRICULTURE</a:t>
            </a:r>
            <a:endParaRPr lang="en-CA"/>
          </a:p>
        </p:txBody>
      </p:sp>
      <p:sp>
        <p:nvSpPr>
          <p:cNvPr id="626691" name="Rectangle 3">
            <a:extLst>
              <a:ext uri="{FF2B5EF4-FFF2-40B4-BE49-F238E27FC236}">
                <a16:creationId xmlns:a16="http://schemas.microsoft.com/office/drawing/2014/main" id="{66880AD7-C08C-0009-2399-0C7DF807CB95}"/>
              </a:ext>
            </a:extLst>
          </p:cNvPr>
          <p:cNvSpPr>
            <a:spLocks noGrp="1" noChangeArrowheads="1"/>
          </p:cNvSpPr>
          <p:nvPr>
            <p:ph type="body" idx="1"/>
          </p:nvPr>
        </p:nvSpPr>
        <p:spPr>
          <a:xfrm>
            <a:off x="304800" y="2514600"/>
            <a:ext cx="8229600" cy="3657600"/>
          </a:xfrm>
        </p:spPr>
        <p:txBody>
          <a:bodyPr/>
          <a:lstStyle/>
          <a:p>
            <a:pPr lvl="1" eaLnBrk="1" hangingPunct="1">
              <a:defRPr/>
            </a:pPr>
            <a:r>
              <a:rPr lang="en-US"/>
              <a:t>A</a:t>
            </a:r>
            <a:r>
              <a:rPr lang="en-US" b="1">
                <a:solidFill>
                  <a:srgbClr val="FF0000"/>
                </a:solidFill>
              </a:rPr>
              <a:t> </a:t>
            </a:r>
            <a:r>
              <a:rPr lang="en-US" sz="2600" b="1">
                <a:solidFill>
                  <a:srgbClr val="FF0000"/>
                </a:solidFill>
              </a:rPr>
              <a:t>price support</a:t>
            </a:r>
            <a:r>
              <a:rPr lang="en-US" b="1">
                <a:solidFill>
                  <a:srgbClr val="FF0000"/>
                </a:solidFill>
              </a:rPr>
              <a:t> </a:t>
            </a:r>
            <a:r>
              <a:rPr lang="en-US"/>
              <a:t>is a price floor in an agricultural market maintained by a government guarantee to buy any surplus output at that price.</a:t>
            </a:r>
          </a:p>
          <a:p>
            <a:pPr lvl="1" eaLnBrk="1" hangingPunct="1">
              <a:defRPr/>
            </a:pPr>
            <a:r>
              <a:rPr lang="en-US"/>
              <a:t>A price floor set above the market equilibrium price creates a surplus.</a:t>
            </a:r>
          </a:p>
          <a:p>
            <a:pPr lvl="1" eaLnBrk="1" hangingPunct="1">
              <a:defRPr/>
            </a:pPr>
            <a:r>
              <a:rPr lang="en-US"/>
              <a:t>To maintain the price, the government buys the surplus.</a:t>
            </a:r>
          </a:p>
        </p:txBody>
      </p:sp>
      <p:sp>
        <p:nvSpPr>
          <p:cNvPr id="75780" name="Rectangle 4">
            <a:extLst>
              <a:ext uri="{FF2B5EF4-FFF2-40B4-BE49-F238E27FC236}">
                <a16:creationId xmlns:a16="http://schemas.microsoft.com/office/drawing/2014/main" id="{52E7C101-D090-D1EB-F983-87602BDB6999}"/>
              </a:ext>
            </a:extLst>
          </p:cNvPr>
          <p:cNvSpPr>
            <a:spLocks noChangeArrowheads="1"/>
          </p:cNvSpPr>
          <p:nvPr/>
        </p:nvSpPr>
        <p:spPr bwMode="auto">
          <a:xfrm>
            <a:off x="381000" y="1828800"/>
            <a:ext cx="8229600"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lvl="1">
              <a:spcBef>
                <a:spcPct val="20000"/>
              </a:spcBef>
              <a:buClr>
                <a:srgbClr val="00468F"/>
              </a:buClr>
              <a:buFont typeface="Webdings" charset="0"/>
              <a:buNone/>
              <a:defRPr/>
            </a:pPr>
            <a:r>
              <a:rPr lang="en-US" b="1">
                <a:solidFill>
                  <a:srgbClr val="00468F"/>
                </a:solidFill>
                <a:latin typeface="Arial" charset="0"/>
                <a:ea typeface="ＭＳ Ｐゴシック" charset="0"/>
              </a:rPr>
              <a:t>Introduce a Price Floor</a:t>
            </a:r>
            <a:endParaRPr lang="en-US">
              <a:latin typeface="Arial" charset="0"/>
              <a:ea typeface="ＭＳ Ｐゴシック" charset="0"/>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26691">
                                            <p:txEl>
                                              <p:pRg st="0" end="0"/>
                                            </p:txEl>
                                          </p:spTgt>
                                        </p:tgtEl>
                                        <p:attrNameLst>
                                          <p:attrName>style.visibility</p:attrName>
                                        </p:attrNameLst>
                                      </p:cBhvr>
                                      <p:to>
                                        <p:strVal val="visible"/>
                                      </p:to>
                                    </p:set>
                                    <p:animEffect transition="in" filter="wipe(left)">
                                      <p:cBhvr>
                                        <p:cTn id="7" dur="500"/>
                                        <p:tgtEl>
                                          <p:spTgt spid="6266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26691">
                                            <p:txEl>
                                              <p:pRg st="1" end="1"/>
                                            </p:txEl>
                                          </p:spTgt>
                                        </p:tgtEl>
                                        <p:attrNameLst>
                                          <p:attrName>style.visibility</p:attrName>
                                        </p:attrNameLst>
                                      </p:cBhvr>
                                      <p:to>
                                        <p:strVal val="visible"/>
                                      </p:to>
                                    </p:set>
                                    <p:animEffect transition="in" filter="wipe(left)">
                                      <p:cBhvr>
                                        <p:cTn id="12" dur="500"/>
                                        <p:tgtEl>
                                          <p:spTgt spid="62669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26691">
                                            <p:txEl>
                                              <p:pRg st="2" end="2"/>
                                            </p:txEl>
                                          </p:spTgt>
                                        </p:tgtEl>
                                        <p:attrNameLst>
                                          <p:attrName>style.visibility</p:attrName>
                                        </p:attrNameLst>
                                      </p:cBhvr>
                                      <p:to>
                                        <p:strVal val="visible"/>
                                      </p:to>
                                    </p:set>
                                    <p:animEffect transition="in" filter="wipe(left)">
                                      <p:cBhvr>
                                        <p:cTn id="17" dur="500"/>
                                        <p:tgtEl>
                                          <p:spTgt spid="62669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6691" grpId="0" build="p" bldLvl="3"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C97E5DCD-1250-261F-6033-35A1B97686A0}"/>
              </a:ext>
            </a:extLst>
          </p:cNvPr>
          <p:cNvSpPr>
            <a:spLocks noGrp="1" noChangeArrowheads="1"/>
          </p:cNvSpPr>
          <p:nvPr>
            <p:ph type="title"/>
          </p:nvPr>
        </p:nvSpPr>
        <p:spPr/>
        <p:txBody>
          <a:bodyPr/>
          <a:lstStyle/>
          <a:p>
            <a:pPr eaLnBrk="1" hangingPunct="1">
              <a:defRPr/>
            </a:pPr>
            <a:r>
              <a:rPr lang="en-US"/>
              <a:t>7.3  PRICE SUPPORTS IN AGRICULTURE</a:t>
            </a:r>
            <a:endParaRPr lang="en-CA"/>
          </a:p>
        </p:txBody>
      </p:sp>
      <p:sp>
        <p:nvSpPr>
          <p:cNvPr id="627715" name="Rectangle 3">
            <a:extLst>
              <a:ext uri="{FF2B5EF4-FFF2-40B4-BE49-F238E27FC236}">
                <a16:creationId xmlns:a16="http://schemas.microsoft.com/office/drawing/2014/main" id="{07F14B55-4AC1-347E-D09F-64347F9BFCE1}"/>
              </a:ext>
            </a:extLst>
          </p:cNvPr>
          <p:cNvSpPr>
            <a:spLocks noGrp="1" noChangeArrowheads="1"/>
          </p:cNvSpPr>
          <p:nvPr>
            <p:ph type="body" idx="1"/>
          </p:nvPr>
        </p:nvSpPr>
        <p:spPr>
          <a:xfrm>
            <a:off x="304800" y="2362200"/>
            <a:ext cx="8229600" cy="3657600"/>
          </a:xfrm>
        </p:spPr>
        <p:txBody>
          <a:bodyPr/>
          <a:lstStyle/>
          <a:p>
            <a:pPr lvl="1" eaLnBrk="1" hangingPunct="1">
              <a:defRPr/>
            </a:pPr>
            <a:r>
              <a:rPr lang="en-US"/>
              <a:t>A</a:t>
            </a:r>
            <a:r>
              <a:rPr lang="en-US" b="1">
                <a:solidFill>
                  <a:srgbClr val="FF0000"/>
                </a:solidFill>
              </a:rPr>
              <a:t> </a:t>
            </a:r>
            <a:r>
              <a:rPr lang="en-US" sz="2600" b="1">
                <a:solidFill>
                  <a:srgbClr val="FF0000"/>
                </a:solidFill>
              </a:rPr>
              <a:t>subsidy</a:t>
            </a:r>
            <a:r>
              <a:rPr lang="en-US" b="1">
                <a:solidFill>
                  <a:srgbClr val="FF0000"/>
                </a:solidFill>
              </a:rPr>
              <a:t> </a:t>
            </a:r>
            <a:r>
              <a:rPr lang="en-US"/>
              <a:t>is a payment by the government to a producer to cover part of the cost of production.</a:t>
            </a:r>
          </a:p>
          <a:p>
            <a:pPr lvl="1" eaLnBrk="1" hangingPunct="1">
              <a:defRPr/>
            </a:pPr>
            <a:r>
              <a:rPr lang="en-US"/>
              <a:t>When the government buys the surplus produced by farmers, it provides them with a subsidy.</a:t>
            </a:r>
          </a:p>
          <a:p>
            <a:pPr lvl="1" eaLnBrk="1" hangingPunct="1">
              <a:defRPr/>
            </a:pPr>
            <a:r>
              <a:rPr lang="en-US"/>
              <a:t>Given the surplus produced, farms would not cover their costs without a subsidy.</a:t>
            </a:r>
          </a:p>
        </p:txBody>
      </p:sp>
      <p:sp>
        <p:nvSpPr>
          <p:cNvPr id="76804" name="Rectangle 4">
            <a:extLst>
              <a:ext uri="{FF2B5EF4-FFF2-40B4-BE49-F238E27FC236}">
                <a16:creationId xmlns:a16="http://schemas.microsoft.com/office/drawing/2014/main" id="{1998BA7B-5B5E-87EE-5603-5A01C9ADA36A}"/>
              </a:ext>
            </a:extLst>
          </p:cNvPr>
          <p:cNvSpPr>
            <a:spLocks noChangeArrowheads="1"/>
          </p:cNvSpPr>
          <p:nvPr/>
        </p:nvSpPr>
        <p:spPr bwMode="auto">
          <a:xfrm>
            <a:off x="381000" y="1828800"/>
            <a:ext cx="8229600"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lvl="1">
              <a:spcBef>
                <a:spcPct val="20000"/>
              </a:spcBef>
              <a:buClr>
                <a:srgbClr val="00468F"/>
              </a:buClr>
              <a:buFont typeface="Webdings" charset="0"/>
              <a:buNone/>
              <a:defRPr/>
            </a:pPr>
            <a:r>
              <a:rPr lang="en-US" b="1" dirty="0">
                <a:solidFill>
                  <a:srgbClr val="00468F"/>
                </a:solidFill>
                <a:latin typeface="Arial" charset="0"/>
                <a:ea typeface="ＭＳ Ｐゴシック" charset="0"/>
              </a:rPr>
              <a:t>Pay Farmers a Subsidy</a:t>
            </a:r>
            <a:endParaRPr lang="en-US" dirty="0">
              <a:latin typeface="Arial" charset="0"/>
              <a:ea typeface="ＭＳ Ｐゴシック" charset="0"/>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27715">
                                            <p:txEl>
                                              <p:pRg st="0" end="0"/>
                                            </p:txEl>
                                          </p:spTgt>
                                        </p:tgtEl>
                                        <p:attrNameLst>
                                          <p:attrName>style.visibility</p:attrName>
                                        </p:attrNameLst>
                                      </p:cBhvr>
                                      <p:to>
                                        <p:strVal val="visible"/>
                                      </p:to>
                                    </p:set>
                                    <p:animEffect transition="in" filter="wipe(left)">
                                      <p:cBhvr>
                                        <p:cTn id="7" dur="500"/>
                                        <p:tgtEl>
                                          <p:spTgt spid="6277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27715">
                                            <p:txEl>
                                              <p:pRg st="1" end="1"/>
                                            </p:txEl>
                                          </p:spTgt>
                                        </p:tgtEl>
                                        <p:attrNameLst>
                                          <p:attrName>style.visibility</p:attrName>
                                        </p:attrNameLst>
                                      </p:cBhvr>
                                      <p:to>
                                        <p:strVal val="visible"/>
                                      </p:to>
                                    </p:set>
                                    <p:animEffect transition="in" filter="wipe(left)">
                                      <p:cBhvr>
                                        <p:cTn id="12" dur="500"/>
                                        <p:tgtEl>
                                          <p:spTgt spid="6277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27715">
                                            <p:txEl>
                                              <p:pRg st="2" end="2"/>
                                            </p:txEl>
                                          </p:spTgt>
                                        </p:tgtEl>
                                        <p:attrNameLst>
                                          <p:attrName>style.visibility</p:attrName>
                                        </p:attrNameLst>
                                      </p:cBhvr>
                                      <p:to>
                                        <p:strVal val="visible"/>
                                      </p:to>
                                    </p:set>
                                    <p:animEffect transition="in" filter="wipe(left)">
                                      <p:cBhvr>
                                        <p:cTn id="17" dur="500"/>
                                        <p:tgtEl>
                                          <p:spTgt spid="6277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7715" grpId="0" build="p" bldLvl="3"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C3DF0ACD-56C7-2BB5-D8B4-91C9FAEF518A}"/>
              </a:ext>
            </a:extLst>
          </p:cNvPr>
          <p:cNvSpPr>
            <a:spLocks noGrp="1" noChangeArrowheads="1"/>
          </p:cNvSpPr>
          <p:nvPr>
            <p:ph type="title"/>
          </p:nvPr>
        </p:nvSpPr>
        <p:spPr/>
        <p:txBody>
          <a:bodyPr/>
          <a:lstStyle/>
          <a:p>
            <a:pPr eaLnBrk="1" hangingPunct="1">
              <a:defRPr/>
            </a:pPr>
            <a:r>
              <a:rPr lang="en-US"/>
              <a:t>7.3  PRICE SUPPORTS IN AGRICULTURE</a:t>
            </a:r>
            <a:endParaRPr lang="en-CA"/>
          </a:p>
        </p:txBody>
      </p:sp>
      <p:sp>
        <p:nvSpPr>
          <p:cNvPr id="77827" name="Text Box 15">
            <a:extLst>
              <a:ext uri="{FF2B5EF4-FFF2-40B4-BE49-F238E27FC236}">
                <a16:creationId xmlns:a16="http://schemas.microsoft.com/office/drawing/2014/main" id="{48074571-E454-B8BA-F1E7-F1D7A6E14A39}"/>
              </a:ext>
            </a:extLst>
          </p:cNvPr>
          <p:cNvSpPr txBox="1">
            <a:spLocks noChangeArrowheads="1"/>
          </p:cNvSpPr>
          <p:nvPr/>
        </p:nvSpPr>
        <p:spPr bwMode="auto">
          <a:xfrm>
            <a:off x="228600" y="1905000"/>
            <a:ext cx="4038600" cy="11874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sz="2400">
                <a:solidFill>
                  <a:schemeClr val="tx1"/>
                </a:solidFill>
                <a:latin typeface="Arial" charset="0"/>
                <a:ea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defRPr/>
            </a:pPr>
            <a:r>
              <a:rPr lang="en-US"/>
              <a:t>Figure 7.9 shows how a price support works in the market for sugar beets.</a:t>
            </a:r>
          </a:p>
        </p:txBody>
      </p:sp>
      <p:sp>
        <p:nvSpPr>
          <p:cNvPr id="630800" name="Text Box 16">
            <a:extLst>
              <a:ext uri="{FF2B5EF4-FFF2-40B4-BE49-F238E27FC236}">
                <a16:creationId xmlns:a16="http://schemas.microsoft.com/office/drawing/2014/main" id="{AB25B328-AFB5-B2C2-9CEC-3786613CBC80}"/>
              </a:ext>
            </a:extLst>
          </p:cNvPr>
          <p:cNvSpPr txBox="1">
            <a:spLocks noChangeArrowheads="1"/>
          </p:cNvSpPr>
          <p:nvPr/>
        </p:nvSpPr>
        <p:spPr bwMode="auto">
          <a:xfrm>
            <a:off x="152400" y="3429000"/>
            <a:ext cx="3886200" cy="19177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457200" indent="-457200" eaLnBrk="0" hangingPunct="0">
              <a:defRPr sz="2400">
                <a:solidFill>
                  <a:schemeClr val="tx1"/>
                </a:solidFill>
                <a:latin typeface="Arial" charset="0"/>
                <a:ea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defRPr/>
            </a:pPr>
            <a:r>
              <a:rPr lang="en-US" b="1"/>
              <a:t> 1. </a:t>
            </a:r>
            <a:r>
              <a:rPr lang="en-US"/>
              <a:t>With no price support, the competitive equilibrium price is $25 a ton and 25 million tons a year are grown.</a:t>
            </a:r>
          </a:p>
        </p:txBody>
      </p:sp>
      <p:pic>
        <p:nvPicPr>
          <p:cNvPr id="107524" name="Picture 8" descr="fig0709a.gif">
            <a:extLst>
              <a:ext uri="{FF2B5EF4-FFF2-40B4-BE49-F238E27FC236}">
                <a16:creationId xmlns:a16="http://schemas.microsoft.com/office/drawing/2014/main" id="{BDE56DEC-FFAE-CAA5-65F5-C76D93F0BF7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831975"/>
            <a:ext cx="4448175"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fig0709b.gif">
            <a:extLst>
              <a:ext uri="{FF2B5EF4-FFF2-40B4-BE49-F238E27FC236}">
                <a16:creationId xmlns:a16="http://schemas.microsoft.com/office/drawing/2014/main" id="{491A8BCE-CA28-58C5-BA48-B1E640B24BB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1831975"/>
            <a:ext cx="4448175"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30800"/>
                                        </p:tgtEl>
                                        <p:attrNameLst>
                                          <p:attrName>style.visibility</p:attrName>
                                        </p:attrNameLst>
                                      </p:cBhvr>
                                      <p:to>
                                        <p:strVal val="visible"/>
                                      </p:to>
                                    </p:set>
                                    <p:animEffect transition="in" filter="wipe(left)">
                                      <p:cBhvr>
                                        <p:cTn id="7" dur="500"/>
                                        <p:tgtEl>
                                          <p:spTgt spid="630800"/>
                                        </p:tgtEl>
                                      </p:cBhvr>
                                    </p:animEffect>
                                  </p:childTnLst>
                                </p:cTn>
                              </p:par>
                            </p:childTnLst>
                          </p:cTn>
                        </p:par>
                        <p:par>
                          <p:cTn id="8" fill="hold" nodeType="afterGroup">
                            <p:stCondLst>
                              <p:cond delay="500"/>
                            </p:stCondLst>
                            <p:childTnLst>
                              <p:par>
                                <p:cTn id="9" presetID="1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0800" grpId="0"/>
    </p:bldLst>
  </p:timing>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9569" name="Picture 9" descr="fig0709a.gif">
            <a:extLst>
              <a:ext uri="{FF2B5EF4-FFF2-40B4-BE49-F238E27FC236}">
                <a16:creationId xmlns:a16="http://schemas.microsoft.com/office/drawing/2014/main" id="{2AE95BDF-681C-3E6B-12B1-B73C206353A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381000"/>
            <a:ext cx="5514975" cy="576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descr="fig0709b.gif">
            <a:extLst>
              <a:ext uri="{FF2B5EF4-FFF2-40B4-BE49-F238E27FC236}">
                <a16:creationId xmlns:a16="http://schemas.microsoft.com/office/drawing/2014/main" id="{A10BCA9C-1B33-8896-5797-276144614C3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381000"/>
            <a:ext cx="5514975" cy="576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1" descr="fig0709c.gif">
            <a:extLst>
              <a:ext uri="{FF2B5EF4-FFF2-40B4-BE49-F238E27FC236}">
                <a16:creationId xmlns:a16="http://schemas.microsoft.com/office/drawing/2014/main" id="{7610192F-2A78-EE15-A4C0-74068DCB962E}"/>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981200" y="381000"/>
            <a:ext cx="5514975" cy="576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descr="fig0709d.gif">
            <a:extLst>
              <a:ext uri="{FF2B5EF4-FFF2-40B4-BE49-F238E27FC236}">
                <a16:creationId xmlns:a16="http://schemas.microsoft.com/office/drawing/2014/main" id="{58C2DDCA-1F0A-F158-FD87-EF3CF5B94CF6}"/>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981200" y="381000"/>
            <a:ext cx="5514975" cy="576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3" descr="fig0709e.gif">
            <a:extLst>
              <a:ext uri="{FF2B5EF4-FFF2-40B4-BE49-F238E27FC236}">
                <a16:creationId xmlns:a16="http://schemas.microsoft.com/office/drawing/2014/main" id="{F59EF5AA-3500-06AA-8B25-0CC62D8B3341}"/>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981200" y="381000"/>
            <a:ext cx="5514975" cy="576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4" descr="fig0709f.gif">
            <a:extLst>
              <a:ext uri="{FF2B5EF4-FFF2-40B4-BE49-F238E27FC236}">
                <a16:creationId xmlns:a16="http://schemas.microsoft.com/office/drawing/2014/main" id="{C2977F06-68A8-E112-0E67-B4762AA9D1F2}"/>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1981200" y="381000"/>
            <a:ext cx="5514975" cy="576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5" descr="fig0709g.gif">
            <a:extLst>
              <a:ext uri="{FF2B5EF4-FFF2-40B4-BE49-F238E27FC236}">
                <a16:creationId xmlns:a16="http://schemas.microsoft.com/office/drawing/2014/main" id="{4E2FEE47-4DE6-DB13-9559-CF4BBE58B6E0}"/>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1981200" y="381000"/>
            <a:ext cx="5514975" cy="576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1000"/>
                                        <p:tgtEl>
                                          <p:spTgt spid="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03A55296-C008-F20B-7755-06097CF987D9}"/>
              </a:ext>
            </a:extLst>
          </p:cNvPr>
          <p:cNvSpPr>
            <a:spLocks noGrp="1" noChangeArrowheads="1"/>
          </p:cNvSpPr>
          <p:nvPr>
            <p:ph type="title"/>
          </p:nvPr>
        </p:nvSpPr>
        <p:spPr>
          <a:xfrm>
            <a:off x="381000" y="990600"/>
            <a:ext cx="8229600" cy="533400"/>
          </a:xfrm>
        </p:spPr>
        <p:txBody>
          <a:bodyPr/>
          <a:lstStyle/>
          <a:p>
            <a:pPr eaLnBrk="1" hangingPunct="1">
              <a:defRPr/>
            </a:pPr>
            <a:r>
              <a:rPr lang="en-US"/>
              <a:t>7.3  PRICE SUPPORTS IN AGRICULTURE</a:t>
            </a:r>
            <a:endParaRPr lang="en-CA"/>
          </a:p>
        </p:txBody>
      </p:sp>
      <p:sp>
        <p:nvSpPr>
          <p:cNvPr id="79875" name="Text Box 10">
            <a:extLst>
              <a:ext uri="{FF2B5EF4-FFF2-40B4-BE49-F238E27FC236}">
                <a16:creationId xmlns:a16="http://schemas.microsoft.com/office/drawing/2014/main" id="{7C358AE8-7F7E-03B1-D64C-2E6F392A7E51}"/>
              </a:ext>
            </a:extLst>
          </p:cNvPr>
          <p:cNvSpPr txBox="1">
            <a:spLocks noChangeArrowheads="1"/>
          </p:cNvSpPr>
          <p:nvPr/>
        </p:nvSpPr>
        <p:spPr bwMode="auto">
          <a:xfrm>
            <a:off x="228600" y="1752600"/>
            <a:ext cx="4038600" cy="8223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457200" indent="-457200" eaLnBrk="0" hangingPunct="0">
              <a:defRPr sz="2400">
                <a:solidFill>
                  <a:schemeClr val="tx1"/>
                </a:solidFill>
                <a:latin typeface="Arial" charset="0"/>
                <a:ea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defRPr/>
            </a:pPr>
            <a:r>
              <a:rPr lang="en-US" b="1"/>
              <a:t>2.</a:t>
            </a:r>
            <a:r>
              <a:rPr lang="en-US"/>
              <a:t>	A price support is set at $35 a ton.</a:t>
            </a:r>
          </a:p>
        </p:txBody>
      </p:sp>
      <p:sp>
        <p:nvSpPr>
          <p:cNvPr id="628747" name="Text Box 11">
            <a:extLst>
              <a:ext uri="{FF2B5EF4-FFF2-40B4-BE49-F238E27FC236}">
                <a16:creationId xmlns:a16="http://schemas.microsoft.com/office/drawing/2014/main" id="{B55D2353-D445-AA6C-3453-50F2D3E19AE3}"/>
              </a:ext>
            </a:extLst>
          </p:cNvPr>
          <p:cNvSpPr txBox="1">
            <a:spLocks noChangeArrowheads="1"/>
          </p:cNvSpPr>
          <p:nvPr/>
        </p:nvSpPr>
        <p:spPr bwMode="auto">
          <a:xfrm>
            <a:off x="228600" y="2590800"/>
            <a:ext cx="4191000" cy="8223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457200" indent="-457200" eaLnBrk="0" hangingPunct="0">
              <a:defRPr sz="2400">
                <a:solidFill>
                  <a:schemeClr val="tx1"/>
                </a:solidFill>
                <a:latin typeface="Arial" charset="0"/>
                <a:ea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defRPr/>
            </a:pPr>
            <a:r>
              <a:rPr lang="en-US" b="1"/>
              <a:t>3.</a:t>
            </a:r>
            <a:r>
              <a:rPr lang="en-US"/>
              <a:t>	The quantity produced is 30 million tons a year.</a:t>
            </a:r>
          </a:p>
        </p:txBody>
      </p:sp>
      <p:sp>
        <p:nvSpPr>
          <p:cNvPr id="628748" name="Text Box 12">
            <a:extLst>
              <a:ext uri="{FF2B5EF4-FFF2-40B4-BE49-F238E27FC236}">
                <a16:creationId xmlns:a16="http://schemas.microsoft.com/office/drawing/2014/main" id="{04AF7894-4E8A-2099-8C94-462C8B84094B}"/>
              </a:ext>
            </a:extLst>
          </p:cNvPr>
          <p:cNvSpPr txBox="1">
            <a:spLocks noChangeArrowheads="1"/>
          </p:cNvSpPr>
          <p:nvPr/>
        </p:nvSpPr>
        <p:spPr bwMode="auto">
          <a:xfrm>
            <a:off x="228600" y="3429000"/>
            <a:ext cx="4038600" cy="11874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457200" indent="-457200" eaLnBrk="0" hangingPunct="0">
              <a:defRPr sz="2400">
                <a:solidFill>
                  <a:schemeClr val="tx1"/>
                </a:solidFill>
                <a:latin typeface="Arial" charset="0"/>
                <a:ea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defRPr/>
            </a:pPr>
            <a:r>
              <a:rPr lang="en-US" b="1"/>
              <a:t>4.</a:t>
            </a:r>
            <a:r>
              <a:rPr lang="en-US"/>
              <a:t>	The quantity bought by domestic users is 20 million tons a year.</a:t>
            </a:r>
          </a:p>
        </p:txBody>
      </p:sp>
      <p:sp>
        <p:nvSpPr>
          <p:cNvPr id="628749" name="Text Box 13">
            <a:extLst>
              <a:ext uri="{FF2B5EF4-FFF2-40B4-BE49-F238E27FC236}">
                <a16:creationId xmlns:a16="http://schemas.microsoft.com/office/drawing/2014/main" id="{BB89C4F8-CF68-85F7-22A0-E9F8B12959EB}"/>
              </a:ext>
            </a:extLst>
          </p:cNvPr>
          <p:cNvSpPr txBox="1">
            <a:spLocks noChangeArrowheads="1"/>
          </p:cNvSpPr>
          <p:nvPr/>
        </p:nvSpPr>
        <p:spPr bwMode="auto">
          <a:xfrm>
            <a:off x="228600" y="4572000"/>
            <a:ext cx="4267200" cy="15525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457200" indent="-457200"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US" altLang="en-TW" b="1"/>
              <a:t>5.</a:t>
            </a:r>
            <a:r>
              <a:rPr lang="en-US" altLang="en-TW"/>
              <a:t>	The government buys the surplus of 10 million tons at $35 a ton</a:t>
            </a:r>
            <a:r>
              <a:rPr lang="en-US" altLang="en-TW">
                <a:cs typeface="Arial" panose="020B0604020202020204" pitchFamily="34" charset="0"/>
              </a:rPr>
              <a:t>—</a:t>
            </a:r>
            <a:r>
              <a:rPr lang="en-US" altLang="en-TW"/>
              <a:t>a subsidy of $350 million a year.</a:t>
            </a:r>
          </a:p>
        </p:txBody>
      </p:sp>
      <p:sp>
        <p:nvSpPr>
          <p:cNvPr id="628750" name="Text Box 14">
            <a:extLst>
              <a:ext uri="{FF2B5EF4-FFF2-40B4-BE49-F238E27FC236}">
                <a16:creationId xmlns:a16="http://schemas.microsoft.com/office/drawing/2014/main" id="{16924A66-8121-5355-F19B-ED421ACCB70A}"/>
              </a:ext>
            </a:extLst>
          </p:cNvPr>
          <p:cNvSpPr txBox="1">
            <a:spLocks noChangeArrowheads="1"/>
          </p:cNvSpPr>
          <p:nvPr/>
        </p:nvSpPr>
        <p:spPr bwMode="auto">
          <a:xfrm>
            <a:off x="228600" y="6172200"/>
            <a:ext cx="4191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457200" indent="-457200" eaLnBrk="0" hangingPunct="0">
              <a:defRPr sz="2400">
                <a:solidFill>
                  <a:schemeClr val="tx1"/>
                </a:solidFill>
                <a:latin typeface="Arial" charset="0"/>
                <a:ea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defRPr/>
            </a:pPr>
            <a:r>
              <a:rPr lang="en-US" b="1"/>
              <a:t>6.</a:t>
            </a:r>
            <a:r>
              <a:rPr lang="en-US"/>
              <a:t>	A deadweight loss arises.</a:t>
            </a:r>
          </a:p>
        </p:txBody>
      </p:sp>
      <p:pic>
        <p:nvPicPr>
          <p:cNvPr id="111623" name="Picture 8" descr="fig0709a.gif">
            <a:extLst>
              <a:ext uri="{FF2B5EF4-FFF2-40B4-BE49-F238E27FC236}">
                <a16:creationId xmlns:a16="http://schemas.microsoft.com/office/drawing/2014/main" id="{1FB463EE-1058-9BF5-0FC2-68F8853F048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831975"/>
            <a:ext cx="4448175"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24" name="Picture 9" descr="fig0709b.gif">
            <a:extLst>
              <a:ext uri="{FF2B5EF4-FFF2-40B4-BE49-F238E27FC236}">
                <a16:creationId xmlns:a16="http://schemas.microsoft.com/office/drawing/2014/main" id="{949A0BAD-D2B9-C61E-91DB-72983E23178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1831975"/>
            <a:ext cx="4448175"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descr="fig0709c.gif">
            <a:extLst>
              <a:ext uri="{FF2B5EF4-FFF2-40B4-BE49-F238E27FC236}">
                <a16:creationId xmlns:a16="http://schemas.microsoft.com/office/drawing/2014/main" id="{719045DA-913B-E6A2-5DD3-C413B9FB4DA8}"/>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1831975"/>
            <a:ext cx="4448175"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1" descr="fig0709d.gif">
            <a:extLst>
              <a:ext uri="{FF2B5EF4-FFF2-40B4-BE49-F238E27FC236}">
                <a16:creationId xmlns:a16="http://schemas.microsoft.com/office/drawing/2014/main" id="{9ED1FFFC-4FFB-3023-C479-A397513FB2D1}"/>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572000" y="1831975"/>
            <a:ext cx="4448175"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descr="fig0709e.gif">
            <a:extLst>
              <a:ext uri="{FF2B5EF4-FFF2-40B4-BE49-F238E27FC236}">
                <a16:creationId xmlns:a16="http://schemas.microsoft.com/office/drawing/2014/main" id="{FF756F64-9A38-85F2-404A-38156A5E4413}"/>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572000" y="1831975"/>
            <a:ext cx="4448175"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3" descr="fig0709f.gif">
            <a:extLst>
              <a:ext uri="{FF2B5EF4-FFF2-40B4-BE49-F238E27FC236}">
                <a16:creationId xmlns:a16="http://schemas.microsoft.com/office/drawing/2014/main" id="{562AA931-4E08-D8FD-3B6D-A3D137B40CB0}"/>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4572000" y="1831975"/>
            <a:ext cx="4448175"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4" descr="fig0709g.gif">
            <a:extLst>
              <a:ext uri="{FF2B5EF4-FFF2-40B4-BE49-F238E27FC236}">
                <a16:creationId xmlns:a16="http://schemas.microsoft.com/office/drawing/2014/main" id="{F495D99A-1519-EAFD-EE9A-859C689CEA6B}"/>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4572000" y="1831975"/>
            <a:ext cx="4448175"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1000"/>
                                        <p:tgtEl>
                                          <p:spTgt spid="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28747"/>
                                        </p:tgtEl>
                                        <p:attrNameLst>
                                          <p:attrName>style.visibility</p:attrName>
                                        </p:attrNameLst>
                                      </p:cBhvr>
                                      <p:to>
                                        <p:strVal val="visible"/>
                                      </p:to>
                                    </p:set>
                                    <p:animEffect transition="in" filter="wipe(left)">
                                      <p:cBhvr>
                                        <p:cTn id="12" dur="500"/>
                                        <p:tgtEl>
                                          <p:spTgt spid="628747"/>
                                        </p:tgtEl>
                                      </p:cBhvr>
                                    </p:animEffect>
                                  </p:childTnLst>
                                </p:cTn>
                              </p:par>
                            </p:childTnLst>
                          </p:cTn>
                        </p:par>
                        <p:par>
                          <p:cTn id="13" fill="hold" nodeType="afterGroup">
                            <p:stCondLst>
                              <p:cond delay="500"/>
                            </p:stCondLst>
                            <p:childTnLst>
                              <p:par>
                                <p:cTn id="14" presetID="10" presetClass="entr" presetSubtype="0" fill="hold" nodeType="after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628748"/>
                                        </p:tgtEl>
                                        <p:attrNameLst>
                                          <p:attrName>style.visibility</p:attrName>
                                        </p:attrNameLst>
                                      </p:cBhvr>
                                      <p:to>
                                        <p:strVal val="visible"/>
                                      </p:to>
                                    </p:set>
                                    <p:animEffect transition="in" filter="wipe(left)">
                                      <p:cBhvr>
                                        <p:cTn id="21" dur="500"/>
                                        <p:tgtEl>
                                          <p:spTgt spid="628748"/>
                                        </p:tgtEl>
                                      </p:cBhvr>
                                    </p:animEffect>
                                  </p:childTnLst>
                                </p:cTn>
                              </p:par>
                            </p:childTnLst>
                          </p:cTn>
                        </p:par>
                        <p:par>
                          <p:cTn id="22" fill="hold" nodeType="afterGroup">
                            <p:stCondLst>
                              <p:cond delay="500"/>
                            </p:stCondLst>
                            <p:childTnLst>
                              <p:par>
                                <p:cTn id="23" presetID="10" presetClass="entr" presetSubtype="0" fill="hold"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628749"/>
                                        </p:tgtEl>
                                        <p:attrNameLst>
                                          <p:attrName>style.visibility</p:attrName>
                                        </p:attrNameLst>
                                      </p:cBhvr>
                                      <p:to>
                                        <p:strVal val="visible"/>
                                      </p:to>
                                    </p:set>
                                    <p:animEffect transition="in" filter="wipe(left)">
                                      <p:cBhvr>
                                        <p:cTn id="30" dur="500"/>
                                        <p:tgtEl>
                                          <p:spTgt spid="628749"/>
                                        </p:tgtEl>
                                      </p:cBhvr>
                                    </p:animEffect>
                                  </p:childTnLst>
                                </p:cTn>
                              </p:par>
                            </p:childTnLst>
                          </p:cTn>
                        </p:par>
                        <p:par>
                          <p:cTn id="31" fill="hold" nodeType="afterGroup">
                            <p:stCondLst>
                              <p:cond delay="500"/>
                            </p:stCondLst>
                            <p:childTnLst>
                              <p:par>
                                <p:cTn id="32" presetID="10"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628750"/>
                                        </p:tgtEl>
                                        <p:attrNameLst>
                                          <p:attrName>style.visibility</p:attrName>
                                        </p:attrNameLst>
                                      </p:cBhvr>
                                      <p:to>
                                        <p:strVal val="visible"/>
                                      </p:to>
                                    </p:set>
                                    <p:animEffect transition="in" filter="wipe(left)">
                                      <p:cBhvr>
                                        <p:cTn id="39" dur="500"/>
                                        <p:tgtEl>
                                          <p:spTgt spid="628750"/>
                                        </p:tgtEl>
                                      </p:cBhvr>
                                    </p:animEffect>
                                  </p:childTnLst>
                                </p:cTn>
                              </p:par>
                            </p:childTnLst>
                          </p:cTn>
                        </p:par>
                        <p:par>
                          <p:cTn id="40" fill="hold" nodeType="afterGroup">
                            <p:stCondLst>
                              <p:cond delay="500"/>
                            </p:stCondLst>
                            <p:childTnLst>
                              <p:par>
                                <p:cTn id="41" presetID="10" presetClass="entr" presetSubtype="0" fill="hold" nodeType="after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8747" grpId="0"/>
      <p:bldP spid="628748" grpId="0"/>
      <p:bldP spid="628749" grpId="0"/>
      <p:bldP spid="628750" grpId="0"/>
    </p:bld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3D7D452E-750C-C234-B639-DF979BB8F946}"/>
              </a:ext>
            </a:extLst>
          </p:cNvPr>
          <p:cNvSpPr>
            <a:spLocks noGrp="1" noChangeArrowheads="1"/>
          </p:cNvSpPr>
          <p:nvPr>
            <p:ph type="title"/>
          </p:nvPr>
        </p:nvSpPr>
        <p:spPr/>
        <p:txBody>
          <a:bodyPr/>
          <a:lstStyle/>
          <a:p>
            <a:pPr eaLnBrk="1" hangingPunct="1">
              <a:defRPr/>
            </a:pPr>
            <a:r>
              <a:rPr lang="en-US"/>
              <a:t>7.3  PRICE SUPPORTS IN AGRICULTURE</a:t>
            </a:r>
            <a:endParaRPr lang="en-CA"/>
          </a:p>
        </p:txBody>
      </p:sp>
      <p:sp>
        <p:nvSpPr>
          <p:cNvPr id="633859" name="Rectangle 3">
            <a:extLst>
              <a:ext uri="{FF2B5EF4-FFF2-40B4-BE49-F238E27FC236}">
                <a16:creationId xmlns:a16="http://schemas.microsoft.com/office/drawing/2014/main" id="{78B94E2A-2529-EDDB-1CA9-4B0B207951FF}"/>
              </a:ext>
            </a:extLst>
          </p:cNvPr>
          <p:cNvSpPr>
            <a:spLocks noGrp="1" noChangeArrowheads="1"/>
          </p:cNvSpPr>
          <p:nvPr>
            <p:ph type="body" idx="1"/>
          </p:nvPr>
        </p:nvSpPr>
        <p:spPr>
          <a:xfrm>
            <a:off x="304800" y="1905000"/>
            <a:ext cx="8229600" cy="4038600"/>
          </a:xfrm>
        </p:spPr>
        <p:txBody>
          <a:bodyPr/>
          <a:lstStyle/>
          <a:p>
            <a:pPr marL="171450" lvl="1" eaLnBrk="1" hangingPunct="1"/>
            <a:r>
              <a:rPr lang="en-US" altLang="en-TW">
                <a:ea typeface="ＭＳ Ｐゴシック" panose="020B0600070205080204" pitchFamily="34" charset="-128"/>
              </a:rPr>
              <a:t>The price support increases farmers</a:t>
            </a:r>
            <a:r>
              <a:rPr lang="en-US" altLang="en-US">
                <a:ea typeface="ＭＳ Ｐゴシック" panose="020B0600070205080204" pitchFamily="34" charset="-128"/>
              </a:rPr>
              <a:t>’</a:t>
            </a:r>
            <a:r>
              <a:rPr lang="en-US" altLang="en-TW">
                <a:ea typeface="ＭＳ Ｐゴシック" panose="020B0600070205080204" pitchFamily="34" charset="-128"/>
              </a:rPr>
              <a:t> revenue.</a:t>
            </a:r>
          </a:p>
          <a:p>
            <a:pPr marL="171450" lvl="1" eaLnBrk="1" hangingPunct="1"/>
            <a:r>
              <a:rPr lang="en-US" altLang="en-TW">
                <a:ea typeface="ＭＳ Ｐゴシック" panose="020B0600070205080204" pitchFamily="34" charset="-128"/>
              </a:rPr>
              <a:t>With no price support, farmers receive $625 billion</a:t>
            </a:r>
            <a:br>
              <a:rPr lang="en-US" altLang="en-TW">
                <a:ea typeface="ＭＳ Ｐゴシック" panose="020B0600070205080204" pitchFamily="34" charset="-128"/>
              </a:rPr>
            </a:br>
            <a:r>
              <a:rPr lang="en-US" altLang="en-TW">
                <a:ea typeface="ＭＳ Ｐゴシック" panose="020B0600070205080204" pitchFamily="34" charset="-128"/>
              </a:rPr>
              <a:t>(25 million tons multiplied by $25 a ton).</a:t>
            </a:r>
          </a:p>
          <a:p>
            <a:pPr marL="171450" lvl="1" eaLnBrk="1" hangingPunct="1"/>
            <a:r>
              <a:rPr lang="en-US" altLang="en-TW">
                <a:ea typeface="ＭＳ Ｐゴシック" panose="020B0600070205080204" pitchFamily="34" charset="-128"/>
              </a:rPr>
              <a:t>With the price support, farmers receive $1,050 billion (30 million tons multiplied by $35 a ton).</a:t>
            </a:r>
          </a:p>
          <a:p>
            <a:pPr marL="171450" lvl="1" eaLnBrk="1" hangingPunct="1"/>
            <a:r>
              <a:rPr lang="en-US" altLang="en-TW">
                <a:ea typeface="ＭＳ Ｐゴシック" panose="020B0600070205080204" pitchFamily="34" charset="-128"/>
              </a:rPr>
              <a:t>The price support is inefficient because it creates deadweight loss</a:t>
            </a:r>
            <a:r>
              <a:rPr lang="en-US" altLang="en-TW">
                <a:ea typeface="ＭＳ Ｐゴシック" panose="020B0600070205080204" pitchFamily="34" charset="-128"/>
                <a:cs typeface="Arial" panose="020B0604020202020204" pitchFamily="34" charset="0"/>
              </a:rPr>
              <a:t>—farmers gain and buyers lose but buyers lose more than farmers gain</a:t>
            </a:r>
            <a:r>
              <a:rPr lang="en-US" altLang="en-TW">
                <a:ea typeface="ＭＳ Ｐゴシック" panose="020B0600070205080204" pitchFamily="34" charset="-128"/>
              </a:rPr>
              <a:t>.</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33859">
                                            <p:txEl>
                                              <p:pRg st="1" end="1"/>
                                            </p:txEl>
                                          </p:spTgt>
                                        </p:tgtEl>
                                        <p:attrNameLst>
                                          <p:attrName>style.visibility</p:attrName>
                                        </p:attrNameLst>
                                      </p:cBhvr>
                                      <p:to>
                                        <p:strVal val="visible"/>
                                      </p:to>
                                    </p:set>
                                    <p:animEffect transition="in" filter="wipe(left)">
                                      <p:cBhvr>
                                        <p:cTn id="7" dur="500"/>
                                        <p:tgtEl>
                                          <p:spTgt spid="63385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33859">
                                            <p:txEl>
                                              <p:pRg st="2" end="2"/>
                                            </p:txEl>
                                          </p:spTgt>
                                        </p:tgtEl>
                                        <p:attrNameLst>
                                          <p:attrName>style.visibility</p:attrName>
                                        </p:attrNameLst>
                                      </p:cBhvr>
                                      <p:to>
                                        <p:strVal val="visible"/>
                                      </p:to>
                                    </p:set>
                                    <p:animEffect transition="in" filter="wipe(left)">
                                      <p:cBhvr>
                                        <p:cTn id="12" dur="500"/>
                                        <p:tgtEl>
                                          <p:spTgt spid="63385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33859">
                                            <p:txEl>
                                              <p:pRg st="3" end="3"/>
                                            </p:txEl>
                                          </p:spTgt>
                                        </p:tgtEl>
                                        <p:attrNameLst>
                                          <p:attrName>style.visibility</p:attrName>
                                        </p:attrNameLst>
                                      </p:cBhvr>
                                      <p:to>
                                        <p:strVal val="visible"/>
                                      </p:to>
                                    </p:set>
                                    <p:animEffect transition="in" filter="wipe(left)">
                                      <p:cBhvr>
                                        <p:cTn id="17" dur="500"/>
                                        <p:tgtEl>
                                          <p:spTgt spid="63385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3859" grpId="0" build="p" bldLvl="3"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4B8A6E3B-3479-14F8-C4FA-CBFD221ECC28}"/>
              </a:ext>
            </a:extLst>
          </p:cNvPr>
          <p:cNvSpPr>
            <a:spLocks noGrp="1" noChangeArrowheads="1"/>
          </p:cNvSpPr>
          <p:nvPr>
            <p:ph type="title"/>
          </p:nvPr>
        </p:nvSpPr>
        <p:spPr/>
        <p:txBody>
          <a:bodyPr/>
          <a:lstStyle/>
          <a:p>
            <a:pPr eaLnBrk="1" hangingPunct="1">
              <a:defRPr/>
            </a:pPr>
            <a:r>
              <a:rPr lang="en-US"/>
              <a:t>7.3  PRICE SUPPORTS IN AGRICULTURE</a:t>
            </a:r>
            <a:endParaRPr lang="en-CA"/>
          </a:p>
        </p:txBody>
      </p:sp>
      <p:sp>
        <p:nvSpPr>
          <p:cNvPr id="634883" name="Rectangle 3">
            <a:extLst>
              <a:ext uri="{FF2B5EF4-FFF2-40B4-BE49-F238E27FC236}">
                <a16:creationId xmlns:a16="http://schemas.microsoft.com/office/drawing/2014/main" id="{8C6574C1-1A2C-B696-17ED-A9443C27DDEA}"/>
              </a:ext>
            </a:extLst>
          </p:cNvPr>
          <p:cNvSpPr>
            <a:spLocks noGrp="1" noChangeArrowheads="1"/>
          </p:cNvSpPr>
          <p:nvPr>
            <p:ph type="body" idx="1"/>
          </p:nvPr>
        </p:nvSpPr>
        <p:spPr>
          <a:xfrm>
            <a:off x="381000" y="1905000"/>
            <a:ext cx="8610600" cy="4572000"/>
          </a:xfrm>
        </p:spPr>
        <p:txBody>
          <a:bodyPr/>
          <a:lstStyle/>
          <a:p>
            <a:pPr marL="0" indent="0" eaLnBrk="1" hangingPunct="1">
              <a:buFont typeface="Webdings" charset="0"/>
              <a:buNone/>
              <a:tabLst>
                <a:tab pos="457200" algn="l"/>
              </a:tabLst>
              <a:defRPr/>
            </a:pPr>
            <a:r>
              <a:rPr lang="en-US" sz="2400" dirty="0"/>
              <a:t>Effects on the Rest of the World</a:t>
            </a:r>
          </a:p>
          <a:p>
            <a:pPr marL="114300" lvl="1" eaLnBrk="1" hangingPunct="1">
              <a:tabLst>
                <a:tab pos="457200" algn="l"/>
              </a:tabLst>
              <a:defRPr/>
            </a:pPr>
            <a:r>
              <a:rPr lang="en-US" dirty="0"/>
              <a:t>The rest of the world receives a double-whammy from price supports:</a:t>
            </a:r>
          </a:p>
          <a:p>
            <a:pPr marL="114300" lvl="1" eaLnBrk="1" hangingPunct="1">
              <a:tabLst>
                <a:tab pos="457200" algn="l"/>
              </a:tabLst>
              <a:defRPr/>
            </a:pPr>
            <a:r>
              <a:rPr lang="en-US" dirty="0"/>
              <a:t>1. Import restrictions in advance economies deny developing 	economies access to markets in the advanced economies.</a:t>
            </a:r>
          </a:p>
          <a:p>
            <a:pPr marL="114300" lvl="1" eaLnBrk="1" hangingPunct="1">
              <a:tabLst>
                <a:tab pos="457200" algn="l"/>
              </a:tabLst>
              <a:defRPr/>
            </a:pPr>
            <a:r>
              <a:rPr lang="en-US" dirty="0"/>
              <a:t>	The result is lower prices and smaller farm production in 	developing countries. </a:t>
            </a:r>
          </a:p>
          <a:p>
            <a:pPr marL="114300" lvl="1" eaLnBrk="1" hangingPunct="1">
              <a:tabLst>
                <a:tab pos="457200" algn="l"/>
              </a:tabLst>
              <a:defRPr/>
            </a:pPr>
            <a:r>
              <a:rPr lang="en-US" dirty="0"/>
              <a:t>2. Advanced economies sell their surpluses on the world 	market, which lowers the prices of farm products in the rest </a:t>
            </a:r>
            <a:br>
              <a:rPr lang="en-US" dirty="0"/>
            </a:br>
            <a:r>
              <a:rPr lang="en-US" dirty="0"/>
              <a:t>	of the world even further.</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34883">
                                            <p:txEl>
                                              <p:pRg st="1" end="1"/>
                                            </p:txEl>
                                          </p:spTgt>
                                        </p:tgtEl>
                                        <p:attrNameLst>
                                          <p:attrName>style.visibility</p:attrName>
                                        </p:attrNameLst>
                                      </p:cBhvr>
                                      <p:to>
                                        <p:strVal val="visible"/>
                                      </p:to>
                                    </p:set>
                                    <p:animEffect transition="in" filter="wipe(left)">
                                      <p:cBhvr>
                                        <p:cTn id="7" dur="500"/>
                                        <p:tgtEl>
                                          <p:spTgt spid="63488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34883">
                                            <p:txEl>
                                              <p:pRg st="2" end="2"/>
                                            </p:txEl>
                                          </p:spTgt>
                                        </p:tgtEl>
                                        <p:attrNameLst>
                                          <p:attrName>style.visibility</p:attrName>
                                        </p:attrNameLst>
                                      </p:cBhvr>
                                      <p:to>
                                        <p:strVal val="visible"/>
                                      </p:to>
                                    </p:set>
                                    <p:animEffect transition="in" filter="wipe(left)">
                                      <p:cBhvr>
                                        <p:cTn id="12" dur="500"/>
                                        <p:tgtEl>
                                          <p:spTgt spid="63488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34883">
                                            <p:txEl>
                                              <p:pRg st="3" end="3"/>
                                            </p:txEl>
                                          </p:spTgt>
                                        </p:tgtEl>
                                        <p:attrNameLst>
                                          <p:attrName>style.visibility</p:attrName>
                                        </p:attrNameLst>
                                      </p:cBhvr>
                                      <p:to>
                                        <p:strVal val="visible"/>
                                      </p:to>
                                    </p:set>
                                    <p:animEffect transition="in" filter="wipe(left)">
                                      <p:cBhvr>
                                        <p:cTn id="17" dur="500"/>
                                        <p:tgtEl>
                                          <p:spTgt spid="63488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34883">
                                            <p:txEl>
                                              <p:pRg st="4" end="4"/>
                                            </p:txEl>
                                          </p:spTgt>
                                        </p:tgtEl>
                                        <p:attrNameLst>
                                          <p:attrName>style.visibility</p:attrName>
                                        </p:attrNameLst>
                                      </p:cBhvr>
                                      <p:to>
                                        <p:strVal val="visible"/>
                                      </p:to>
                                    </p:set>
                                    <p:animEffect transition="in" filter="wipe(left)">
                                      <p:cBhvr>
                                        <p:cTn id="22" dur="500"/>
                                        <p:tgtEl>
                                          <p:spTgt spid="63488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883" grpId="0" build="p" bldLvl="3"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761" name="Picture 4" descr="EYEON-CH07.jpg">
            <a:extLst>
              <a:ext uri="{FF2B5EF4-FFF2-40B4-BE49-F238E27FC236}">
                <a16:creationId xmlns:a16="http://schemas.microsoft.com/office/drawing/2014/main" id="{0F205C64-C2BF-073D-1B23-10F037A1249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141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762" name="Text Box 8">
            <a:extLst>
              <a:ext uri="{FF2B5EF4-FFF2-40B4-BE49-F238E27FC236}">
                <a16:creationId xmlns:a16="http://schemas.microsoft.com/office/drawing/2014/main" id="{A756075A-BDC0-0957-7265-ED4C83C6BA0D}"/>
              </a:ext>
            </a:extLst>
          </p:cNvPr>
          <p:cNvSpPr txBox="1">
            <a:spLocks noChangeArrowheads="1"/>
          </p:cNvSpPr>
          <p:nvPr/>
        </p:nvSpPr>
        <p:spPr bwMode="auto">
          <a:xfrm>
            <a:off x="1476375" y="693738"/>
            <a:ext cx="7056438"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TW" b="1">
                <a:solidFill>
                  <a:srgbClr val="548B96"/>
                </a:solidFill>
                <a:cs typeface="Arial" panose="020B0604020202020204" pitchFamily="34" charset="0"/>
              </a:rPr>
              <a:t>Can the President Repeal the Laws of Demand and Supply</a:t>
            </a:r>
          </a:p>
        </p:txBody>
      </p:sp>
      <p:sp>
        <p:nvSpPr>
          <p:cNvPr id="8" name="Rectangle 2">
            <a:extLst>
              <a:ext uri="{FF2B5EF4-FFF2-40B4-BE49-F238E27FC236}">
                <a16:creationId xmlns:a16="http://schemas.microsoft.com/office/drawing/2014/main" id="{C104AFF5-99A9-070A-33A0-0AAEFB203301}"/>
              </a:ext>
            </a:extLst>
          </p:cNvPr>
          <p:cNvSpPr txBox="1">
            <a:spLocks noChangeArrowheads="1"/>
          </p:cNvSpPr>
          <p:nvPr/>
        </p:nvSpPr>
        <p:spPr bwMode="auto">
          <a:xfrm>
            <a:off x="381000" y="1493838"/>
            <a:ext cx="8534400" cy="490696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Arial" panose="020B0604020202020204" pitchFamily="34" charset="0"/>
                <a:ea typeface="ＭＳ Ｐゴシック" panose="020B0600070205080204" pitchFamily="34" charset="-128"/>
              </a:defRPr>
            </a:lvl1pPr>
            <a:lvl2pPr marL="11430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lvl="1" eaLnBrk="1" hangingPunct="1">
              <a:spcBef>
                <a:spcPts val="1200"/>
              </a:spcBef>
              <a:spcAft>
                <a:spcPts val="300"/>
              </a:spcAft>
            </a:pPr>
            <a:r>
              <a:rPr lang="en-US" altLang="en-TW">
                <a:solidFill>
                  <a:srgbClr val="000000"/>
                </a:solidFill>
              </a:rPr>
              <a:t>The President</a:t>
            </a:r>
            <a:r>
              <a:rPr lang="en-US" altLang="en-US">
                <a:solidFill>
                  <a:srgbClr val="000000"/>
                </a:solidFill>
              </a:rPr>
              <a:t>’</a:t>
            </a:r>
            <a:r>
              <a:rPr lang="en-US" altLang="en-TW">
                <a:solidFill>
                  <a:srgbClr val="000000"/>
                </a:solidFill>
              </a:rPr>
              <a:t>s pen is powerful, but it holds no magical powers.</a:t>
            </a:r>
          </a:p>
          <a:p>
            <a:pPr lvl="1" eaLnBrk="1" hangingPunct="1">
              <a:spcBef>
                <a:spcPts val="1200"/>
              </a:spcBef>
              <a:spcAft>
                <a:spcPts val="300"/>
              </a:spcAft>
            </a:pPr>
            <a:r>
              <a:rPr lang="en-US" altLang="en-TW">
                <a:solidFill>
                  <a:srgbClr val="000000"/>
                </a:solidFill>
              </a:rPr>
              <a:t>When the President signs a Bill or an Executive Order to bring in a new law or regulation, the outcome is not always exactly what was intended.</a:t>
            </a:r>
          </a:p>
          <a:p>
            <a:pPr lvl="1" eaLnBrk="1" hangingPunct="1">
              <a:spcBef>
                <a:spcPts val="1200"/>
              </a:spcBef>
              <a:spcAft>
                <a:spcPts val="300"/>
              </a:spcAft>
            </a:pPr>
            <a:r>
              <a:rPr lang="en-US" altLang="en-TW">
                <a:solidFill>
                  <a:srgbClr val="000000"/>
                </a:solidFill>
              </a:rPr>
              <a:t>A mismatch between intention and outcome is almost inevitable when a law or regulation seeks to block the laws of supply and demand.</a:t>
            </a:r>
          </a:p>
          <a:p>
            <a:pPr lvl="1" eaLnBrk="1" hangingPunct="1">
              <a:spcBef>
                <a:spcPts val="1200"/>
              </a:spcBef>
              <a:spcAft>
                <a:spcPts val="300"/>
              </a:spcAft>
            </a:pPr>
            <a:r>
              <a:rPr lang="en-US" altLang="en-TW">
                <a:solidFill>
                  <a:srgbClr val="000000"/>
                </a:solidFill>
              </a:rPr>
              <a:t>You</a:t>
            </a:r>
            <a:r>
              <a:rPr lang="en-US" altLang="en-US">
                <a:solidFill>
                  <a:srgbClr val="000000"/>
                </a:solidFill>
              </a:rPr>
              <a:t>’</a:t>
            </a:r>
            <a:r>
              <a:rPr lang="en-US" altLang="en-TW">
                <a:solidFill>
                  <a:srgbClr val="000000"/>
                </a:solidFill>
              </a:rPr>
              <a:t>ve seen that the federal minimum wage law leaves some teenagers without jobs.</a:t>
            </a:r>
          </a:p>
          <a:p>
            <a:pPr lvl="1" eaLnBrk="1" hangingPunct="1">
              <a:spcBef>
                <a:spcPts val="1200"/>
              </a:spcBef>
              <a:spcAft>
                <a:spcPts val="300"/>
              </a:spcAft>
            </a:pPr>
            <a:r>
              <a:rPr lang="en-US" altLang="en-TW">
                <a:solidFill>
                  <a:srgbClr val="000000"/>
                </a:solidFill>
              </a:rPr>
              <a:t>Problems would also arise if a law tried to cap executive pay.</a:t>
            </a:r>
          </a:p>
        </p:txBody>
      </p:sp>
      <p:sp>
        <p:nvSpPr>
          <p:cNvPr id="71685" name="Text Box 2">
            <a:extLst>
              <a:ext uri="{FF2B5EF4-FFF2-40B4-BE49-F238E27FC236}">
                <a16:creationId xmlns:a16="http://schemas.microsoft.com/office/drawing/2014/main" id="{56076675-6BED-E3EF-64D4-E7E02937D2BE}"/>
              </a:ext>
            </a:extLst>
          </p:cNvPr>
          <p:cNvSpPr txBox="1">
            <a:spLocks noChangeArrowheads="1"/>
          </p:cNvSpPr>
          <p:nvPr/>
        </p:nvSpPr>
        <p:spPr bwMode="auto">
          <a:xfrm>
            <a:off x="431800" y="6643688"/>
            <a:ext cx="1692275" cy="2143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US" altLang="en-TW" sz="800">
                <a:solidFill>
                  <a:srgbClr val="000000"/>
                </a:solidFill>
              </a:rPr>
              <a:t>© 2013 Pearson</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left)">
                                      <p:cBhvr>
                                        <p:cTn id="7" dur="500"/>
                                        <p:tgtEl>
                                          <p:spTgt spid="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wipe(left)">
                                      <p:cBhvr>
                                        <p:cTn id="12" dur="500"/>
                                        <p:tgtEl>
                                          <p:spTgt spid="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wipe(left)">
                                      <p:cBhvr>
                                        <p:cTn id="17" dur="500"/>
                                        <p:tgtEl>
                                          <p:spTgt spid="8">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wipe(left)">
                                      <p:cBhvr>
                                        <p:cTn id="22" dur="500"/>
                                        <p:tgtEl>
                                          <p:spTgt spid="8">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wipe(left)">
                                      <p:cBhvr>
                                        <p:cTn id="27"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bldLvl="3"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785" name="Picture 4" descr="EYEON-CH07.jpg">
            <a:extLst>
              <a:ext uri="{FF2B5EF4-FFF2-40B4-BE49-F238E27FC236}">
                <a16:creationId xmlns:a16="http://schemas.microsoft.com/office/drawing/2014/main" id="{5A3AC8F7-E8CE-59E5-664A-07350D47866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141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2">
            <a:extLst>
              <a:ext uri="{FF2B5EF4-FFF2-40B4-BE49-F238E27FC236}">
                <a16:creationId xmlns:a16="http://schemas.microsoft.com/office/drawing/2014/main" id="{4BF8CC73-1A97-4CA7-5424-67AB521BDEC7}"/>
              </a:ext>
            </a:extLst>
          </p:cNvPr>
          <p:cNvSpPr txBox="1">
            <a:spLocks noChangeArrowheads="1"/>
          </p:cNvSpPr>
          <p:nvPr/>
        </p:nvSpPr>
        <p:spPr bwMode="auto">
          <a:xfrm>
            <a:off x="381000" y="1600200"/>
            <a:ext cx="8077200" cy="4953000"/>
          </a:xfrm>
          <a:prstGeom prst="rect">
            <a:avLst/>
          </a:prstGeom>
          <a:solidFill>
            <a:srgbClr val="FFFFFF"/>
          </a:solid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marL="342900" indent="-342900" algn="l" rtl="0" fontAlgn="base">
              <a:spcBef>
                <a:spcPct val="20000"/>
              </a:spcBef>
              <a:spcAft>
                <a:spcPct val="0"/>
              </a:spcAft>
              <a:buClr>
                <a:srgbClr val="00468F"/>
              </a:buClr>
              <a:buFont typeface="Webdings" pitchFamily="18" charset="2"/>
              <a:buChar char="&lt;"/>
              <a:defRPr sz="2800" b="1">
                <a:solidFill>
                  <a:srgbClr val="00468F"/>
                </a:solidFill>
                <a:latin typeface="+mn-lt"/>
                <a:ea typeface="+mn-ea"/>
                <a:cs typeface="+mn-cs"/>
              </a:defRPr>
            </a:lvl1pPr>
            <a:lvl2pPr marL="457200" algn="l" rtl="0" fontAlgn="base">
              <a:lnSpc>
                <a:spcPct val="105000"/>
              </a:lnSpc>
              <a:spcBef>
                <a:spcPct val="50000"/>
              </a:spcBef>
              <a:spcAft>
                <a:spcPct val="0"/>
              </a:spcAft>
              <a:defRPr sz="2400">
                <a:solidFill>
                  <a:schemeClr val="tx1"/>
                </a:solidFill>
                <a:latin typeface="+mn-lt"/>
              </a:defRPr>
            </a:lvl2pPr>
            <a:lvl3pPr marL="1143000" indent="-228600" algn="l" rtl="0" fontAlgn="base">
              <a:spcBef>
                <a:spcPct val="20000"/>
              </a:spcBef>
              <a:spcAft>
                <a:spcPct val="0"/>
              </a:spcAft>
              <a:buClr>
                <a:srgbClr val="00468F"/>
              </a:buClr>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114300" lvl="1">
              <a:defRPr/>
            </a:pPr>
            <a:r>
              <a:rPr lang="en-US" kern="0" dirty="0">
                <a:solidFill>
                  <a:srgbClr val="000000"/>
                </a:solidFill>
                <a:ea typeface="+mn-ea"/>
              </a:rPr>
              <a:t>Placing a cap on executive pay would work like putting a ceiling on home rents.</a:t>
            </a:r>
          </a:p>
          <a:p>
            <a:pPr marL="114300" lvl="1">
              <a:defRPr/>
            </a:pPr>
            <a:r>
              <a:rPr lang="en-US" kern="0" dirty="0">
                <a:solidFill>
                  <a:srgbClr val="000000"/>
                </a:solidFill>
                <a:ea typeface="+mn-ea"/>
              </a:rPr>
              <a:t>The quantity of executive services supplied would decrease and the most talented executives would seek jobs with the unregulated employers.</a:t>
            </a:r>
          </a:p>
          <a:p>
            <a:pPr marL="114300" lvl="1">
              <a:defRPr/>
            </a:pPr>
            <a:r>
              <a:rPr lang="en-US" kern="0" dirty="0">
                <a:solidFill>
                  <a:srgbClr val="000000"/>
                </a:solidFill>
                <a:ea typeface="+mn-ea"/>
              </a:rPr>
              <a:t>The firms in the most difficulty would face the added challenge of recruiting and keeping competent executives and directors.</a:t>
            </a:r>
          </a:p>
          <a:p>
            <a:pPr marL="114300" lvl="1">
              <a:defRPr/>
            </a:pPr>
            <a:r>
              <a:rPr lang="en-US" kern="0" dirty="0">
                <a:solidFill>
                  <a:srgbClr val="000000"/>
                </a:solidFill>
                <a:ea typeface="+mn-ea"/>
              </a:rPr>
              <a:t>The deadweight loss from this action would be large. </a:t>
            </a:r>
          </a:p>
        </p:txBody>
      </p:sp>
      <p:sp>
        <p:nvSpPr>
          <p:cNvPr id="118787" name="Text Box 8">
            <a:extLst>
              <a:ext uri="{FF2B5EF4-FFF2-40B4-BE49-F238E27FC236}">
                <a16:creationId xmlns:a16="http://schemas.microsoft.com/office/drawing/2014/main" id="{A915C1A6-4DE4-A4C7-7959-FD9372198463}"/>
              </a:ext>
            </a:extLst>
          </p:cNvPr>
          <p:cNvSpPr txBox="1">
            <a:spLocks noChangeArrowheads="1"/>
          </p:cNvSpPr>
          <p:nvPr/>
        </p:nvSpPr>
        <p:spPr bwMode="auto">
          <a:xfrm>
            <a:off x="1476375" y="685800"/>
            <a:ext cx="705643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TW" b="1">
                <a:solidFill>
                  <a:srgbClr val="548B96"/>
                </a:solidFill>
                <a:cs typeface="Arial" panose="020B0604020202020204" pitchFamily="34" charset="0"/>
              </a:rPr>
              <a:t>Can the President Repeal the Laws of Demand and Supply</a:t>
            </a:r>
          </a:p>
        </p:txBody>
      </p:sp>
      <p:sp>
        <p:nvSpPr>
          <p:cNvPr id="72709" name="Text Box 2">
            <a:extLst>
              <a:ext uri="{FF2B5EF4-FFF2-40B4-BE49-F238E27FC236}">
                <a16:creationId xmlns:a16="http://schemas.microsoft.com/office/drawing/2014/main" id="{53365240-5808-9A2C-DFE7-A7B01C05EAF1}"/>
              </a:ext>
            </a:extLst>
          </p:cNvPr>
          <p:cNvSpPr txBox="1">
            <a:spLocks noChangeArrowheads="1"/>
          </p:cNvSpPr>
          <p:nvPr/>
        </p:nvSpPr>
        <p:spPr bwMode="auto">
          <a:xfrm>
            <a:off x="431800" y="6643688"/>
            <a:ext cx="1692275" cy="2143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US" altLang="en-TW" sz="800">
                <a:solidFill>
                  <a:srgbClr val="000000"/>
                </a:solidFill>
              </a:rPr>
              <a:t>© 2013 Pearson</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wipe(left)">
                                      <p:cBhvr>
                                        <p:cTn id="7" dur="500"/>
                                        <p:tgtEl>
                                          <p:spTgt spid="4">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wipe(left)">
                                      <p:cBhvr>
                                        <p:cTn id="12" dur="500"/>
                                        <p:tgtEl>
                                          <p:spTgt spid="4">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wipe(left)">
                                      <p:cBhvr>
                                        <p:cTn id="17"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3_foundations">
  <a:themeElements>
    <a:clrScheme name="3_foundations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3_foundation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CA"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CA" sz="2400" b="0" i="0" u="none" strike="noStrike" cap="none" normalizeH="0" baseline="0" smtClean="0">
            <a:ln>
              <a:noFill/>
            </a:ln>
            <a:solidFill>
              <a:schemeClr val="tx1"/>
            </a:solidFill>
            <a:effectLst/>
            <a:latin typeface="Arial" charset="0"/>
          </a:defRPr>
        </a:defPPr>
      </a:lstStyle>
    </a:lnDef>
  </a:objectDefaults>
  <a:extraClrSchemeLst>
    <a:extraClrScheme>
      <a:clrScheme name="3_foundations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3_foundations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foundations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foundations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3_foundations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3_foundations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3_foundations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foundations">
  <a:themeElements>
    <a:clrScheme name="1_foundations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foundation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CA"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CA" sz="2400" b="0" i="0" u="none" strike="noStrike" cap="none" normalizeH="0" baseline="0" smtClean="0">
            <a:ln>
              <a:noFill/>
            </a:ln>
            <a:solidFill>
              <a:schemeClr val="tx1"/>
            </a:solidFill>
            <a:effectLst/>
            <a:latin typeface="Arial" charset="0"/>
          </a:defRPr>
        </a:defPPr>
      </a:lstStyle>
    </a:lnDef>
  </a:objectDefaults>
  <a:extraClrSchemeLst>
    <a:extraClrScheme>
      <a:clrScheme name="1_foundations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foundations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foundations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foundations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foundations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foundations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foundations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newdesign">
  <a:themeElements>
    <a:clrScheme name="1_new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new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CA"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CA" sz="2400" b="0" i="0" u="none" strike="noStrike" cap="none" normalizeH="0" baseline="0" smtClean="0">
            <a:ln>
              <a:noFill/>
            </a:ln>
            <a:solidFill>
              <a:schemeClr val="tx1"/>
            </a:solidFill>
            <a:effectLst/>
            <a:latin typeface="Arial" charset="0"/>
          </a:defRPr>
        </a:defPPr>
      </a:lstStyle>
    </a:lnDef>
  </a:objectDefaults>
  <a:extraClrSchemeLst>
    <a:extraClrScheme>
      <a:clrScheme name="1_new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new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new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new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new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new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new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newdesign">
  <a:themeElements>
    <a:clrScheme name="2_new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2_new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CA"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CA" sz="2400" b="0" i="0" u="none" strike="noStrike" cap="none" normalizeH="0" baseline="0" smtClean="0">
            <a:ln>
              <a:noFill/>
            </a:ln>
            <a:solidFill>
              <a:schemeClr val="tx1"/>
            </a:solidFill>
            <a:effectLst/>
            <a:latin typeface="Arial" charset="0"/>
          </a:defRPr>
        </a:defPPr>
      </a:lstStyle>
    </a:lnDef>
  </a:objectDefaults>
  <a:extraClrSchemeLst>
    <a:extraClrScheme>
      <a:clrScheme name="2_new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new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new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new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new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new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new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3_newdesign">
  <a:themeElements>
    <a:clrScheme name="3_new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3_new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CA"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CA" sz="2400" b="0" i="0" u="none" strike="noStrike" cap="none" normalizeH="0" baseline="0" smtClean="0">
            <a:ln>
              <a:noFill/>
            </a:ln>
            <a:solidFill>
              <a:schemeClr val="tx1"/>
            </a:solidFill>
            <a:effectLst/>
            <a:latin typeface="Arial" charset="0"/>
          </a:defRPr>
        </a:defPPr>
      </a:lstStyle>
    </a:lnDef>
  </a:objectDefaults>
  <a:extraClrSchemeLst>
    <a:extraClrScheme>
      <a:clrScheme name="3_new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3_new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new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new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3_new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3_new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3_new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1_Custom Design">
  <a:themeElements>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CA"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CA" sz="2400" b="0" i="0" u="none" strike="noStrike" cap="none" normalizeH="0" baseline="0" smtClean="0">
            <a:ln>
              <a:noFill/>
            </a:ln>
            <a:solidFill>
              <a:schemeClr val="tx1"/>
            </a:solidFill>
            <a:effectLst/>
            <a:latin typeface="Arial" charset="0"/>
          </a:defRPr>
        </a:defPPr>
      </a:lstStyle>
    </a:lnDef>
  </a:objectDefaults>
  <a:extraClrSchemeLst>
    <a:extraClrScheme>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0c7fd77c-bf1b-4511-8a0d-ca095442aa9f}" enabled="1" method="Privileged" siteId="{07ef1208-413c-4b5e-9cdd-64ef305754f0}" removed="0"/>
</clbl:labelList>
</file>

<file path=docProps/app.xml><?xml version="1.0" encoding="utf-8"?>
<Properties xmlns="http://schemas.openxmlformats.org/officeDocument/2006/extended-properties" xmlns:vt="http://schemas.openxmlformats.org/officeDocument/2006/docPropsVTypes">
  <Template>Foundations 2e</Template>
  <TotalTime>5285</TotalTime>
  <Words>3045</Words>
  <Application>Microsoft Macintosh PowerPoint</Application>
  <PresentationFormat>On-screen Show (4:3)</PresentationFormat>
  <Paragraphs>289</Paragraphs>
  <Slides>62</Slides>
  <Notes>47</Notes>
  <HiddenSlides>11</HiddenSlides>
  <MMClips>0</MMClips>
  <ScaleCrop>false</ScaleCrop>
  <HeadingPairs>
    <vt:vector size="6" baseType="variant">
      <vt:variant>
        <vt:lpstr>Fonts Used</vt:lpstr>
      </vt:variant>
      <vt:variant>
        <vt:i4>8</vt:i4>
      </vt:variant>
      <vt:variant>
        <vt:lpstr>Theme</vt:lpstr>
      </vt:variant>
      <vt:variant>
        <vt:i4>7</vt:i4>
      </vt:variant>
      <vt:variant>
        <vt:lpstr>Slide Titles</vt:lpstr>
      </vt:variant>
      <vt:variant>
        <vt:i4>62</vt:i4>
      </vt:variant>
    </vt:vector>
  </HeadingPairs>
  <TitlesOfParts>
    <vt:vector size="77" baseType="lpstr">
      <vt:lpstr>Arial</vt:lpstr>
      <vt:lpstr>ＭＳ Ｐゴシック</vt:lpstr>
      <vt:lpstr>Webdings</vt:lpstr>
      <vt:lpstr>Times New Roman</vt:lpstr>
      <vt:lpstr>Calibri</vt:lpstr>
      <vt:lpstr>Tahoma</vt:lpstr>
      <vt:lpstr>Charcoal</vt:lpstr>
      <vt:lpstr>GillSans</vt:lpstr>
      <vt:lpstr>3_foundations</vt:lpstr>
      <vt:lpstr>1_foundations</vt:lpstr>
      <vt:lpstr>1_newdesign</vt:lpstr>
      <vt:lpstr>2_newdesign</vt:lpstr>
      <vt:lpstr>3_newdesign</vt:lpstr>
      <vt:lpstr>1_Custom Design</vt:lpstr>
      <vt:lpstr>Office Theme</vt:lpstr>
      <vt:lpstr>PowerPoint Presentation</vt:lpstr>
      <vt:lpstr>PowerPoint Presentation</vt:lpstr>
      <vt:lpstr>PowerPoint Presentation</vt:lpstr>
      <vt:lpstr>7.1  PRICE CEILINGS</vt:lpstr>
      <vt:lpstr>7.1  PRICE CEILINGS</vt:lpstr>
      <vt:lpstr>7.1  PRICE CEILINGS</vt:lpstr>
      <vt:lpstr>PowerPoint Presentation</vt:lpstr>
      <vt:lpstr>7.1  PRICE CEILINGS</vt:lpstr>
      <vt:lpstr>PowerPoint Presentation</vt:lpstr>
      <vt:lpstr>7.1  PRICE CEILINGS</vt:lpstr>
      <vt:lpstr>7.1  PRICE CEILINGS</vt:lpstr>
      <vt:lpstr>PowerPoint Presentation</vt:lpstr>
      <vt:lpstr>7.1  PRICE CEILINGS</vt:lpstr>
      <vt:lpstr>7.1  PRICE CEILINGS</vt:lpstr>
      <vt:lpstr>7.1  PRICE CEILINGS</vt:lpstr>
      <vt:lpstr>Figure 7.2  The inefficiency of a rent ceiling</vt:lpstr>
      <vt:lpstr>PowerPoint Presentation</vt:lpstr>
      <vt:lpstr>7.1  PRICE CEILINGS</vt:lpstr>
      <vt:lpstr>PowerPoint Presentation</vt:lpstr>
      <vt:lpstr>7.1  PRICE CEILINGS</vt:lpstr>
      <vt:lpstr>7.1  PRICE CEILINGS</vt:lpstr>
      <vt:lpstr>7.1  PRICE CEILINGS</vt:lpstr>
      <vt:lpstr>7.2  PRICE FLOORS</vt:lpstr>
      <vt:lpstr>7.2  PRICE FLOORS</vt:lpstr>
      <vt:lpstr>PowerPoint Presentation</vt:lpstr>
      <vt:lpstr>7.2  PRICE FLOORS</vt:lpstr>
      <vt:lpstr>7.2  PRICE FLOORS</vt:lpstr>
      <vt:lpstr>PowerPoint Presentation</vt:lpstr>
      <vt:lpstr>7.2  PRICE FLOORS</vt:lpstr>
      <vt:lpstr>7.2  PRICE FLOORS</vt:lpstr>
      <vt:lpstr>PowerPoint Presentation</vt:lpstr>
      <vt:lpstr>7.2  PRICE FLOORS</vt:lpstr>
      <vt:lpstr>7.2  PRICE FLOORS</vt:lpstr>
      <vt:lpstr>7.2  PRICE FLOORS</vt:lpstr>
      <vt:lpstr>PowerPoint Presentation</vt:lpstr>
      <vt:lpstr>7.2  PRICE FLOORS</vt:lpstr>
      <vt:lpstr>PowerPoint Presentation</vt:lpstr>
      <vt:lpstr>7.2  PRICE FLOORS</vt:lpstr>
      <vt:lpstr>7.2  PRICE FLOORS</vt:lpstr>
      <vt:lpstr>7.2  PRICE FLOORS</vt:lpstr>
      <vt:lpstr>Figure 6.5  A tax on sellers</vt:lpstr>
      <vt:lpstr>Figure 6.6  A tax on buyers</vt:lpstr>
      <vt:lpstr>Figure 6.7  Tax with perfectly inelastic demand</vt:lpstr>
      <vt:lpstr>Figure 6.8  Tax with perfectly elastic demand</vt:lpstr>
      <vt:lpstr>Figure 6.9  Tax and the elasticity of supply</vt:lpstr>
      <vt:lpstr>Figure 6.10  Taxes and efficiency</vt:lpstr>
      <vt:lpstr>Figure 1  UK taxes</vt:lpstr>
      <vt:lpstr>Figure 6.11  The effects of a production quota</vt:lpstr>
      <vt:lpstr>Figure 6.12  The effects of a production subsidy</vt:lpstr>
      <vt:lpstr>Figure 6.13  The effects of a price support</vt:lpstr>
      <vt:lpstr>Figure 6.14  A market for an illegal good</vt:lpstr>
      <vt:lpstr>7.3  PRICE SUPPORTS IN AGRICULTURE</vt:lpstr>
      <vt:lpstr>7.3  PRICE SUPPORTS IN AGRICULTURE</vt:lpstr>
      <vt:lpstr>7.3  PRICE SUPPORTS IN AGRICULTURE</vt:lpstr>
      <vt:lpstr>7.3  PRICE SUPPORTS IN AGRICULTURE</vt:lpstr>
      <vt:lpstr>7.3  PRICE SUPPORTS IN AGRICULTURE</vt:lpstr>
      <vt:lpstr>PowerPoint Presentation</vt:lpstr>
      <vt:lpstr>7.3  PRICE SUPPORTS IN AGRICULTURE</vt:lpstr>
      <vt:lpstr>7.3  PRICE SUPPORTS IN AGRICULTURE</vt:lpstr>
      <vt:lpstr>7.3  PRICE SUPPORTS IN AGRICULTURE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Chapter7</dc:title>
  <dc:creator>Michael Parkin</dc:creator>
  <dc:description/>
  <cp:lastModifiedBy>Le Mai. Huong</cp:lastModifiedBy>
  <cp:revision>173</cp:revision>
  <dcterms:created xsi:type="dcterms:W3CDTF">2000-11-24T17:02:06Z</dcterms:created>
  <dcterms:modified xsi:type="dcterms:W3CDTF">2026-03-23T15:37:10Z</dcterms:modified>
</cp:coreProperties>
</file>