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3"/>
  </p:notesMasterIdLst>
  <p:handoutMasterIdLst>
    <p:handoutMasterId r:id="rId64"/>
  </p:handoutMasterIdLst>
  <p:sldIdLst>
    <p:sldId id="30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7" r:id="rId38"/>
    <p:sldId id="298" r:id="rId39"/>
    <p:sldId id="301" r:id="rId40"/>
    <p:sldId id="302" r:id="rId41"/>
    <p:sldId id="303" r:id="rId42"/>
    <p:sldId id="330" r:id="rId43"/>
    <p:sldId id="305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1" userDrawn="1">
          <p15:clr>
            <a:srgbClr val="A4A3A4"/>
          </p15:clr>
        </p15:guide>
        <p15:guide id="6" pos="271" userDrawn="1">
          <p15:clr>
            <a:srgbClr val="A4A3A4"/>
          </p15:clr>
        </p15:guide>
        <p15:guide id="7" pos="2880" userDrawn="1">
          <p15:clr>
            <a:srgbClr val="A4A3A4"/>
          </p15:clr>
        </p15:guide>
        <p15:guide id="8" orient="horz" pos="3929" userDrawn="1">
          <p15:clr>
            <a:srgbClr val="A4A3A4"/>
          </p15:clr>
        </p15:guide>
        <p15:guide id="9" orient="horz" pos="1842" userDrawn="1">
          <p15:clr>
            <a:srgbClr val="A4A3A4"/>
          </p15:clr>
        </p15:guide>
        <p15:guide id="10" pos="5511" userDrawn="1">
          <p15:clr>
            <a:srgbClr val="A4A3A4"/>
          </p15:clr>
        </p15:guide>
        <p15:guide id="11" orient="horz" pos="12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resh, Anandan" initials="SA" lastIdx="6" clrIdx="0">
    <p:extLst>
      <p:ext uri="{19B8F6BF-5375-455C-9EA6-DF929625EA0E}">
        <p15:presenceInfo xmlns:p15="http://schemas.microsoft.com/office/powerpoint/2012/main" userId="S-1-5-21-2752970185-40930380-1894245210-2183" providerId="AD"/>
      </p:ext>
    </p:extLst>
  </p:cmAuthor>
  <p:cmAuthor id="2" name="Shukla, Preety" initials="SP" lastIdx="4" clrIdx="1">
    <p:extLst>
      <p:ext uri="{19B8F6BF-5375-455C-9EA6-DF929625EA0E}">
        <p15:presenceInfo xmlns:p15="http://schemas.microsoft.com/office/powerpoint/2012/main" userId="S::preety.shukla@pearson.com::a180e6dc-b464-4223-9030-d1701501bd4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80A3"/>
    <a:srgbClr val="007BA4"/>
    <a:srgbClr val="00A4B7"/>
    <a:srgbClr val="EA5633"/>
    <a:srgbClr val="1829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719"/>
  </p:normalViewPr>
  <p:slideViewPr>
    <p:cSldViewPr>
      <p:cViewPr varScale="1">
        <p:scale>
          <a:sx n="152" d="100"/>
          <a:sy n="152" d="100"/>
        </p:scale>
        <p:origin x="1096" y="168"/>
      </p:cViewPr>
      <p:guideLst>
        <p:guide orient="horz" pos="461"/>
        <p:guide pos="271"/>
        <p:guide pos="2880"/>
        <p:guide orient="horz" pos="3929"/>
        <p:guide orient="horz" pos="1842"/>
        <p:guide pos="5511"/>
        <p:guide orient="horz" pos="12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handoutMaster" Target="handoutMasters/handoutMaster1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BE231-3047-46CC-8EB7-0A9C6A23B5E3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0D405B-D0BD-49FD-B9CE-587CD7BE639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238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29C7B-D5A1-4F4F-81D6-26274366EFE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C9930-0A10-4D51-BF8B-58A66CF9DE8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6D3EE1-26EB-4098-B0C0-27B5598D974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092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Figure 22.8 </a:t>
            </a:r>
            <a:br>
              <a:rPr lang="en-US" sz="1200" dirty="0"/>
            </a:br>
            <a:r>
              <a:rPr lang="en-US" sz="1200" dirty="0"/>
              <a:t>The </a:t>
            </a:r>
            <a:r>
              <a:rPr lang="en-US" sz="1200" dirty="0" err="1"/>
              <a:t>labour</a:t>
            </a:r>
            <a:r>
              <a:rPr lang="en-US" sz="1200" dirty="0"/>
              <a:t> market and potential GDP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0C9930-0A10-4D51-BF8B-58A66CF9DE84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298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Figure 22.9 </a:t>
            </a:r>
            <a:br>
              <a:rPr lang="en-US" sz="1200" dirty="0"/>
            </a:br>
            <a:r>
              <a:rPr lang="en-US" sz="1200" dirty="0"/>
              <a:t>Effects of an increase in population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0C9930-0A10-4D51-BF8B-58A66CF9DE84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875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Figure 22.10 </a:t>
            </a:r>
            <a:br>
              <a:rPr lang="en-US" sz="1200" dirty="0"/>
            </a:br>
            <a:r>
              <a:rPr lang="en-US" sz="1200" dirty="0"/>
              <a:t>Effects of an increase in </a:t>
            </a:r>
            <a:r>
              <a:rPr lang="en-US" sz="1200" dirty="0" err="1"/>
              <a:t>labour</a:t>
            </a:r>
            <a:r>
              <a:rPr lang="en-US" sz="1200" dirty="0"/>
              <a:t> productivity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0C9930-0A10-4D51-BF8B-58A66CF9DE84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748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7180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774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8420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563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9837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6657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24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8882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3001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891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6307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6"/>
          </p:nvPr>
        </p:nvSpPr>
        <p:spPr>
          <a:xfrm>
            <a:off x="93663" y="6165850"/>
            <a:ext cx="8596312" cy="234950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7"/>
          </p:nvPr>
        </p:nvSpPr>
        <p:spPr>
          <a:xfrm>
            <a:off x="6335713" y="112713"/>
            <a:ext cx="2133600" cy="182562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fld id="{9A969A0D-5DF0-455E-920E-DB858AE69123}" type="datetimeFigureOut">
              <a:rPr lang="en-US"/>
              <a:pPr>
                <a:defRPr/>
              </a:pPr>
              <a:t>2/3/26</a:t>
            </a:fld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8"/>
          </p:nvPr>
        </p:nvSpPr>
        <p:spPr>
          <a:xfrm>
            <a:off x="8469313" y="112713"/>
            <a:ext cx="552450" cy="1825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>
                <a:solidFill>
                  <a:srgbClr val="000000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6D6BF8C-5CE4-4E11-B28F-568A4285EE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3395078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185738" y="6416675"/>
            <a:ext cx="8642350" cy="188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© 2022 Pearson Education Limited. All Rights Reserved.</a:t>
            </a:r>
            <a:endParaRPr lang="en-GB" sz="1200" dirty="0">
              <a:solidFill>
                <a:srgbClr val="000000"/>
              </a:solidFill>
              <a:latin typeface="Arial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29" name="Picture 8" descr="Pearson Logo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76988"/>
            <a:ext cx="91757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565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3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 txBox="1">
            <a:spLocks/>
          </p:cNvSpPr>
          <p:nvPr/>
        </p:nvSpPr>
        <p:spPr bwMode="auto">
          <a:xfrm>
            <a:off x="4859412" y="3502025"/>
            <a:ext cx="3961060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Chapter 22</a:t>
            </a:r>
          </a:p>
          <a:p>
            <a:pPr marL="0" lvl="0" indent="0">
              <a:spcBef>
                <a:spcPts val="1200"/>
              </a:spcBef>
              <a:buNone/>
              <a:defRPr/>
            </a:pPr>
            <a:r>
              <a:rPr lang="en-US" sz="2200" kern="0" dirty="0">
                <a:solidFill>
                  <a:srgbClr val="000000"/>
                </a:solidFill>
              </a:rPr>
              <a:t>Economic growth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07988" y="238125"/>
            <a:ext cx="8051800" cy="15319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lvl="0" algn="l">
              <a:spcBef>
                <a:spcPts val="600"/>
              </a:spcBef>
              <a:defRPr/>
            </a:pPr>
            <a:r>
              <a:rPr lang="en-US" kern="0" dirty="0"/>
              <a:t>Economics</a:t>
            </a:r>
          </a:p>
          <a:p>
            <a:pPr lvl="0" algn="l">
              <a:spcBef>
                <a:spcPts val="600"/>
              </a:spcBef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FA3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Eleventh European Edition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1312948"/>
            <a:ext cx="3600401" cy="4922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 Placeholder 4"/>
          <p:cNvSpPr txBox="1">
            <a:spLocks/>
          </p:cNvSpPr>
          <p:nvPr/>
        </p:nvSpPr>
        <p:spPr bwMode="auto">
          <a:xfrm>
            <a:off x="4859412" y="1962150"/>
            <a:ext cx="3889301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 </a:t>
            </a:r>
            <a:r>
              <a:rPr lang="en-US" sz="3000" kern="0" noProof="0" dirty="0">
                <a:solidFill>
                  <a:srgbClr val="000000"/>
                </a:solidFill>
                <a:latin typeface="Arial"/>
              </a:rPr>
              <a:t>7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lvl="0" indent="0">
              <a:spcBef>
                <a:spcPts val="1200"/>
              </a:spcBef>
              <a:buNone/>
              <a:defRPr/>
            </a:pPr>
            <a:r>
              <a:rPr lang="en-US" sz="2200" kern="0" dirty="0">
                <a:solidFill>
                  <a:srgbClr val="000000"/>
                </a:solidFill>
              </a:rPr>
              <a:t>Macroeconomic trends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715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940054"/>
            <a:ext cx="708405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EF4A21"/>
                </a:solidFill>
              </a:rPr>
              <a:t>After</a:t>
            </a:r>
            <a:r>
              <a:rPr sz="2500" spc="-45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studying</a:t>
            </a:r>
            <a:r>
              <a:rPr sz="2500" spc="-3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this</a:t>
            </a:r>
            <a:r>
              <a:rPr sz="2500" spc="-6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chapter,</a:t>
            </a:r>
            <a:r>
              <a:rPr sz="2500" spc="-55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you</a:t>
            </a:r>
            <a:r>
              <a:rPr sz="2500" spc="-4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will</a:t>
            </a:r>
            <a:r>
              <a:rPr sz="2500" spc="-7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be</a:t>
            </a:r>
            <a:r>
              <a:rPr sz="2500" spc="-7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able</a:t>
            </a:r>
            <a:r>
              <a:rPr sz="2500" spc="-75" dirty="0">
                <a:solidFill>
                  <a:srgbClr val="EF4A21"/>
                </a:solidFill>
              </a:rPr>
              <a:t> </a:t>
            </a:r>
            <a:r>
              <a:rPr sz="2500" spc="-25" dirty="0">
                <a:solidFill>
                  <a:srgbClr val="EF4A21"/>
                </a:solidFill>
              </a:rPr>
              <a:t>to: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763016" y="1626234"/>
            <a:ext cx="7811134" cy="3967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82930" indent="-342900">
              <a:lnSpc>
                <a:spcPct val="100000"/>
              </a:lnSpc>
              <a:spcBef>
                <a:spcPts val="100"/>
              </a:spcBef>
              <a:buClr>
                <a:srgbClr val="EF4A21"/>
              </a:buClr>
              <a:buSzPct val="79166"/>
              <a:buFont typeface="Wingdings"/>
              <a:buChar char="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Define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calculate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economic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explain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implications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sustained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growth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989"/>
              </a:spcBef>
              <a:buClr>
                <a:srgbClr val="EF4A21"/>
              </a:buClr>
              <a:buSzPct val="79166"/>
              <a:buFont typeface="Wingdings"/>
              <a:buChar char="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Describe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economic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trends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United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States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countries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regions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000"/>
              </a:spcBef>
              <a:buClr>
                <a:srgbClr val="EF4A21"/>
              </a:buClr>
              <a:buSzPct val="79166"/>
              <a:buFont typeface="Wingdings"/>
              <a:buChar char="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Explain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makes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potential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grow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010"/>
              </a:spcBef>
              <a:buClr>
                <a:srgbClr val="EF4A21"/>
              </a:buClr>
              <a:buSzPct val="79166"/>
              <a:buFont typeface="Wingdings"/>
              <a:buChar char="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Explain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sources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productivity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growth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989"/>
              </a:spcBef>
              <a:buClr>
                <a:srgbClr val="EF4A21"/>
              </a:buClr>
              <a:buSzPct val="79166"/>
              <a:buFont typeface="Wingdings"/>
              <a:buChar char="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Explain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theories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economic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policies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rate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7889240" cy="340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Economic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sustained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expansion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production </a:t>
            </a:r>
            <a:r>
              <a:rPr sz="2400" dirty="0">
                <a:latin typeface="Arial"/>
                <a:cs typeface="Arial"/>
              </a:rPr>
              <a:t>possibilities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measured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over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given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period.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Calculating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Growth</a:t>
            </a:r>
            <a:r>
              <a:rPr sz="2400" b="1" spc="-6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Rates</a:t>
            </a:r>
            <a:endParaRPr sz="2400">
              <a:latin typeface="Arial"/>
              <a:cs typeface="Arial"/>
            </a:endParaRPr>
          </a:p>
          <a:p>
            <a:pPr marL="12700" marR="66992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economic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growth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rate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annual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percentage </a:t>
            </a:r>
            <a:r>
              <a:rPr sz="2400" dirty="0">
                <a:latin typeface="Arial"/>
                <a:cs typeface="Arial"/>
              </a:rPr>
              <a:t>change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GDP.</a:t>
            </a:r>
            <a:endParaRPr sz="2400">
              <a:latin typeface="Arial"/>
              <a:cs typeface="Arial"/>
            </a:endParaRPr>
          </a:p>
          <a:p>
            <a:pPr marL="12700" marR="512445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economic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tells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rapidly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total </a:t>
            </a:r>
            <a:r>
              <a:rPr sz="2400" dirty="0">
                <a:latin typeface="Arial"/>
                <a:cs typeface="Arial"/>
              </a:rPr>
              <a:t>economy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expanding.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883" y="602691"/>
            <a:ext cx="62522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Basics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Economic</a:t>
            </a:r>
            <a:r>
              <a:rPr spc="-50" dirty="0"/>
              <a:t> </a:t>
            </a:r>
            <a:r>
              <a:rPr spc="-10" dirty="0"/>
              <a:t>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standard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living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depends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GDP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per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person.</a:t>
            </a:r>
          </a:p>
          <a:p>
            <a:pPr marL="12700" marR="1125220">
              <a:lnSpc>
                <a:spcPct val="100000"/>
              </a:lnSpc>
              <a:spcBef>
                <a:spcPts val="1200"/>
              </a:spcBef>
            </a:pPr>
            <a:r>
              <a:rPr dirty="0">
                <a:solidFill>
                  <a:srgbClr val="000000"/>
                </a:solidFill>
              </a:rPr>
              <a:t>Real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GDP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per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person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GDP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divided</a:t>
            </a:r>
            <a:r>
              <a:rPr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by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population.</a:t>
            </a: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GDP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per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person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grows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only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if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GDP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grows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faster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than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1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population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grows.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883" y="602691"/>
            <a:ext cx="62522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Basics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Economic</a:t>
            </a:r>
            <a:r>
              <a:rPr spc="-50" dirty="0"/>
              <a:t> </a:t>
            </a:r>
            <a:r>
              <a:rPr spc="-10" dirty="0"/>
              <a:t>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758" y="1457055"/>
            <a:ext cx="7710170" cy="386778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Economic</a:t>
            </a:r>
            <a:r>
              <a:rPr sz="2400" b="1" spc="-6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Growth</a:t>
            </a:r>
            <a:r>
              <a:rPr sz="2400" b="1" spc="-9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Versus</a:t>
            </a:r>
            <a:r>
              <a:rPr sz="2400" b="1" spc="-5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Business</a:t>
            </a:r>
            <a:r>
              <a:rPr sz="2400" b="1" spc="-5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Cycle</a:t>
            </a:r>
            <a:r>
              <a:rPr sz="2400" b="1" spc="-2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Expansion</a:t>
            </a:r>
            <a:endParaRPr sz="24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Real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distinct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reasons:</a:t>
            </a:r>
            <a:endParaRPr sz="2400">
              <a:latin typeface="Arial"/>
              <a:cs typeface="Arial"/>
            </a:endParaRPr>
          </a:p>
          <a:p>
            <a:pPr marL="371475" indent="-35877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71475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economy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might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returning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full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employment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</a:t>
            </a:r>
            <a:endParaRPr sz="2400">
              <a:latin typeface="Arial"/>
              <a:cs typeface="Arial"/>
            </a:endParaRPr>
          </a:p>
          <a:p>
            <a:pPr marL="37211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an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expansion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phase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business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cycle.</a:t>
            </a:r>
            <a:endParaRPr sz="2400">
              <a:latin typeface="Arial"/>
              <a:cs typeface="Arial"/>
            </a:endParaRPr>
          </a:p>
          <a:p>
            <a:pPr marL="370840" indent="-358140">
              <a:lnSpc>
                <a:spcPct val="100000"/>
              </a:lnSpc>
              <a:spcBef>
                <a:spcPts val="1200"/>
              </a:spcBef>
              <a:buAutoNum type="arabicPeriod" startAt="2"/>
              <a:tabLst>
                <a:tab pos="370840" algn="l"/>
              </a:tabLst>
            </a:pPr>
            <a:r>
              <a:rPr sz="2400" i="1" dirty="0">
                <a:latin typeface="Arial"/>
                <a:cs typeface="Arial"/>
              </a:rPr>
              <a:t>Potential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might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increasing.</a:t>
            </a:r>
            <a:endParaRPr sz="24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return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full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employment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expansion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phase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business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cycle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isn’t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economic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growth.</a:t>
            </a:r>
            <a:endParaRPr sz="24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expansion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potential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economic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growth.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883" y="602691"/>
            <a:ext cx="62522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Basics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Economic</a:t>
            </a:r>
            <a:r>
              <a:rPr spc="-50" dirty="0"/>
              <a:t> </a:t>
            </a:r>
            <a:r>
              <a:rPr spc="-10" dirty="0"/>
              <a:t>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2122" y="1609801"/>
            <a:ext cx="3717925" cy="4355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23.1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illustrates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"/>
                <a:cs typeface="Arial"/>
              </a:rPr>
              <a:t>distinction.</a:t>
            </a:r>
            <a:endParaRPr sz="2400">
              <a:latin typeface="Arial"/>
              <a:cs typeface="Arial"/>
            </a:endParaRPr>
          </a:p>
          <a:p>
            <a:pPr marL="38100" marR="304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return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full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employment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expansion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movement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inside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i="1" dirty="0">
                <a:latin typeface="Arial"/>
                <a:cs typeface="Arial"/>
              </a:rPr>
              <a:t>PPF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point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PPF</a:t>
            </a:r>
            <a:r>
              <a:rPr sz="2400" spc="-20" dirty="0">
                <a:latin typeface="Arial"/>
                <a:cs typeface="Arial"/>
              </a:rPr>
              <a:t>: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point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point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B</a:t>
            </a:r>
            <a:r>
              <a:rPr sz="2400" spc="-2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8100" marR="42037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Economic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outward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shift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PPF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PPF</a:t>
            </a:r>
            <a:r>
              <a:rPr sz="1800" baseline="-20833" dirty="0">
                <a:latin typeface="Arial"/>
                <a:cs typeface="Arial"/>
              </a:rPr>
              <a:t>0</a:t>
            </a:r>
            <a:r>
              <a:rPr sz="1800" spc="52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PPF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spc="52" baseline="-20833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:</a:t>
            </a:r>
            <a:r>
              <a:rPr sz="2400" spc="6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point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point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C.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30883" y="602691"/>
            <a:ext cx="62522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Basics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Economic</a:t>
            </a:r>
            <a:r>
              <a:rPr spc="-50" dirty="0"/>
              <a:t> </a:t>
            </a:r>
            <a:r>
              <a:rPr spc="-10" dirty="0"/>
              <a:t>Growth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0371" y="1656588"/>
            <a:ext cx="4244339" cy="3962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479165" cy="398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figure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growth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GDP.</a:t>
            </a:r>
            <a:endParaRPr sz="2400">
              <a:latin typeface="Arial"/>
              <a:cs typeface="Arial"/>
            </a:endParaRPr>
          </a:p>
          <a:p>
            <a:pPr marL="12700" marR="13525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potential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measures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pace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expansion</a:t>
            </a:r>
            <a:r>
              <a:rPr sz="2400" spc="-25" dirty="0">
                <a:latin typeface="Arial"/>
                <a:cs typeface="Arial"/>
              </a:rPr>
              <a:t> of </a:t>
            </a:r>
            <a:r>
              <a:rPr sz="2400" dirty="0">
                <a:latin typeface="Arial"/>
                <a:cs typeface="Arial"/>
              </a:rPr>
              <a:t>production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possibilities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…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smooths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business </a:t>
            </a:r>
            <a:r>
              <a:rPr sz="2400" dirty="0">
                <a:latin typeface="Arial"/>
                <a:cs typeface="Arial"/>
              </a:rPr>
              <a:t>cycle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fluctuations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GDP.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30883" y="602691"/>
            <a:ext cx="62522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Basics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Economic</a:t>
            </a:r>
            <a:r>
              <a:rPr spc="-50" dirty="0"/>
              <a:t> </a:t>
            </a:r>
            <a:r>
              <a:rPr spc="-10" dirty="0"/>
              <a:t>Growth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40708" y="1656588"/>
            <a:ext cx="4663440" cy="448513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425690" cy="216027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The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Magic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of</a:t>
            </a:r>
            <a:r>
              <a:rPr sz="2400" b="1" spc="-2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Sustained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Growth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Rule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70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takes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level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variable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double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approximately</a:t>
            </a:r>
            <a:endParaRPr sz="2400">
              <a:latin typeface="Arial"/>
              <a:cs typeface="Arial"/>
            </a:endParaRPr>
          </a:p>
          <a:p>
            <a:pPr marL="12700" marR="3175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70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divided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annual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percentage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10" dirty="0">
                <a:latin typeface="Arial"/>
                <a:cs typeface="Arial"/>
              </a:rPr>
              <a:t>variable.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883" y="602691"/>
            <a:ext cx="62522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Basics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Economic</a:t>
            </a:r>
            <a:r>
              <a:rPr spc="-50" dirty="0"/>
              <a:t> </a:t>
            </a:r>
            <a:r>
              <a:rPr spc="-10" dirty="0"/>
              <a:t>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6547"/>
            <a:ext cx="4127500" cy="459994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Applying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the</a:t>
            </a:r>
            <a:r>
              <a:rPr sz="2400" b="1" spc="-2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Rule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of</a:t>
            </a:r>
            <a:r>
              <a:rPr sz="2400" b="1" spc="-25" dirty="0">
                <a:solidFill>
                  <a:srgbClr val="1A70B7"/>
                </a:solidFill>
                <a:latin typeface="Arial"/>
                <a:cs typeface="Arial"/>
              </a:rPr>
              <a:t> 70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23.3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doubling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rates.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variable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grows:</a:t>
            </a:r>
            <a:endParaRPr sz="2400">
              <a:latin typeface="Arial"/>
              <a:cs typeface="Arial"/>
            </a:endParaRPr>
          </a:p>
          <a:p>
            <a:pPr marL="12700" marR="38163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7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doubles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10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years.</a:t>
            </a:r>
            <a:endParaRPr sz="2400">
              <a:latin typeface="Arial"/>
              <a:cs typeface="Arial"/>
            </a:endParaRPr>
          </a:p>
          <a:p>
            <a:pPr marL="12700" marR="38163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doubles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35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years.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doubles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70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years</a:t>
            </a:r>
            <a:r>
              <a:rPr sz="2000" spc="-1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30883" y="602691"/>
            <a:ext cx="62522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Basics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Economic</a:t>
            </a:r>
            <a:r>
              <a:rPr spc="-50" dirty="0"/>
              <a:t> </a:t>
            </a:r>
            <a:r>
              <a:rPr spc="-10" dirty="0"/>
              <a:t>Growth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1676400"/>
            <a:ext cx="4029455" cy="375513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501115" y="1166018"/>
            <a:ext cx="8229600" cy="533800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600" spc="-10" dirty="0">
                <a:solidFill>
                  <a:srgbClr val="1A70B7"/>
                </a:solidFill>
              </a:rPr>
              <a:t>Long-</a:t>
            </a:r>
            <a:r>
              <a:rPr sz="2600" dirty="0">
                <a:solidFill>
                  <a:srgbClr val="1A70B7"/>
                </a:solidFill>
              </a:rPr>
              <a:t>Term</a:t>
            </a:r>
            <a:r>
              <a:rPr sz="2600" spc="-10" dirty="0">
                <a:solidFill>
                  <a:srgbClr val="1A70B7"/>
                </a:solidFill>
              </a:rPr>
              <a:t> </a:t>
            </a:r>
            <a:r>
              <a:rPr sz="2600" dirty="0">
                <a:solidFill>
                  <a:srgbClr val="1A70B7"/>
                </a:solidFill>
              </a:rPr>
              <a:t>Growth</a:t>
            </a:r>
            <a:r>
              <a:rPr sz="2600" spc="-50" dirty="0">
                <a:solidFill>
                  <a:srgbClr val="1A70B7"/>
                </a:solidFill>
              </a:rPr>
              <a:t> </a:t>
            </a:r>
            <a:r>
              <a:rPr sz="2600" dirty="0">
                <a:solidFill>
                  <a:srgbClr val="1A70B7"/>
                </a:solidFill>
              </a:rPr>
              <a:t>in</a:t>
            </a:r>
            <a:r>
              <a:rPr sz="2600" spc="-30" dirty="0">
                <a:solidFill>
                  <a:srgbClr val="1A70B7"/>
                </a:solidFill>
              </a:rPr>
              <a:t> </a:t>
            </a:r>
            <a:r>
              <a:rPr sz="2600" dirty="0">
                <a:solidFill>
                  <a:srgbClr val="1A70B7"/>
                </a:solidFill>
              </a:rPr>
              <a:t>the</a:t>
            </a:r>
            <a:r>
              <a:rPr sz="2600" spc="-5" dirty="0">
                <a:solidFill>
                  <a:srgbClr val="1A70B7"/>
                </a:solidFill>
              </a:rPr>
              <a:t> </a:t>
            </a:r>
            <a:r>
              <a:rPr sz="2600" dirty="0">
                <a:solidFill>
                  <a:srgbClr val="1A70B7"/>
                </a:solidFill>
              </a:rPr>
              <a:t>U.S.</a:t>
            </a:r>
            <a:r>
              <a:rPr sz="2600" spc="-30" dirty="0">
                <a:solidFill>
                  <a:srgbClr val="1A70B7"/>
                </a:solidFill>
              </a:rPr>
              <a:t> </a:t>
            </a:r>
            <a:r>
              <a:rPr sz="2600" spc="-10" dirty="0">
                <a:solidFill>
                  <a:srgbClr val="1A70B7"/>
                </a:solidFill>
              </a:rPr>
              <a:t>Economy</a:t>
            </a:r>
          </a:p>
          <a:p>
            <a:pPr marL="12700" marR="109855">
              <a:lnSpc>
                <a:spcPct val="100000"/>
              </a:lnSpc>
              <a:spcBef>
                <a:spcPts val="1200"/>
              </a:spcBef>
            </a:pP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From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1916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2016,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growth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sz="26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GDP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per</a:t>
            </a:r>
            <a:r>
              <a:rPr sz="26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person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25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United</a:t>
            </a:r>
            <a:r>
              <a:rPr sz="26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States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averaged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percent</a:t>
            </a:r>
            <a:r>
              <a:rPr sz="26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10" dirty="0">
                <a:solidFill>
                  <a:srgbClr val="000000"/>
                </a:solidFill>
                <a:latin typeface="Arial"/>
                <a:cs typeface="Arial"/>
              </a:rPr>
              <a:t>year.</a:t>
            </a:r>
          </a:p>
          <a:p>
            <a:pPr marL="12700" marR="344170">
              <a:lnSpc>
                <a:spcPct val="100000"/>
              </a:lnSpc>
              <a:spcBef>
                <a:spcPts val="1205"/>
              </a:spcBef>
            </a:pP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GDP</a:t>
            </a:r>
            <a:r>
              <a:rPr sz="26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per</a:t>
            </a:r>
            <a:r>
              <a:rPr sz="26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person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fell</a:t>
            </a:r>
            <a:r>
              <a:rPr sz="26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precipitously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during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10" dirty="0">
                <a:solidFill>
                  <a:srgbClr val="000000"/>
                </a:solidFill>
                <a:latin typeface="Arial"/>
                <a:cs typeface="Arial"/>
              </a:rPr>
              <a:t>Great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Depression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6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rose</a:t>
            </a:r>
            <a:r>
              <a:rPr sz="26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rapidly</a:t>
            </a:r>
            <a:r>
              <a:rPr sz="26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during</a:t>
            </a:r>
            <a:r>
              <a:rPr sz="26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World</a:t>
            </a:r>
            <a:r>
              <a:rPr sz="26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War</a:t>
            </a:r>
            <a:r>
              <a:rPr sz="2600"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25" dirty="0">
                <a:solidFill>
                  <a:srgbClr val="000000"/>
                </a:solidFill>
                <a:latin typeface="Arial"/>
                <a:cs typeface="Arial"/>
              </a:rPr>
              <a:t>II.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Growth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was</a:t>
            </a:r>
            <a:r>
              <a:rPr sz="26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rapid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during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10" dirty="0">
                <a:solidFill>
                  <a:srgbClr val="000000"/>
                </a:solidFill>
                <a:latin typeface="Arial"/>
                <a:cs typeface="Arial"/>
              </a:rPr>
              <a:t>1960s.</a:t>
            </a: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Growth</a:t>
            </a:r>
            <a:r>
              <a:rPr sz="26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slowed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during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1970s</a:t>
            </a:r>
            <a:r>
              <a:rPr sz="26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sped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up</a:t>
            </a:r>
            <a:r>
              <a:rPr sz="26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again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25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1980s</a:t>
            </a:r>
            <a:r>
              <a:rPr sz="26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and1990s,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but</a:t>
            </a:r>
            <a:r>
              <a:rPr sz="26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never</a:t>
            </a:r>
            <a:r>
              <a:rPr sz="26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returned</a:t>
            </a:r>
            <a:r>
              <a:rPr sz="26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sz="26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1960s’</a:t>
            </a:r>
            <a:r>
              <a:rPr sz="26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10" dirty="0">
                <a:solidFill>
                  <a:srgbClr val="000000"/>
                </a:solidFill>
                <a:latin typeface="Arial"/>
                <a:cs typeface="Arial"/>
              </a:rPr>
              <a:t>rate.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Figure</a:t>
            </a:r>
            <a:r>
              <a:rPr sz="26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23.4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sz="26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6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next</a:t>
            </a:r>
            <a:r>
              <a:rPr sz="26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dirty="0">
                <a:solidFill>
                  <a:srgbClr val="000000"/>
                </a:solidFill>
                <a:latin typeface="Arial"/>
                <a:cs typeface="Arial"/>
              </a:rPr>
              <a:t>slide</a:t>
            </a:r>
            <a:r>
              <a:rPr sz="26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0" spc="-10" dirty="0">
                <a:solidFill>
                  <a:srgbClr val="000000"/>
                </a:solidFill>
                <a:latin typeface="Arial"/>
                <a:cs typeface="Arial"/>
              </a:rPr>
              <a:t>illustrates.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5734" y="95088"/>
            <a:ext cx="8229600" cy="1143000"/>
          </a:xfrm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Long-</a:t>
            </a:r>
            <a:r>
              <a:rPr dirty="0"/>
              <a:t>Term</a:t>
            </a:r>
            <a:r>
              <a:rPr spc="-55" dirty="0"/>
              <a:t> </a:t>
            </a:r>
            <a:r>
              <a:rPr dirty="0"/>
              <a:t>Growth</a:t>
            </a:r>
            <a:r>
              <a:rPr spc="-60" dirty="0"/>
              <a:t> </a:t>
            </a:r>
            <a:r>
              <a:rPr spc="-10" dirty="0"/>
              <a:t>Trends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Long-</a:t>
            </a:r>
            <a:r>
              <a:rPr dirty="0"/>
              <a:t>Term</a:t>
            </a:r>
            <a:r>
              <a:rPr spc="-55" dirty="0"/>
              <a:t> </a:t>
            </a:r>
            <a:r>
              <a:rPr dirty="0"/>
              <a:t>Growth</a:t>
            </a:r>
            <a:r>
              <a:rPr spc="-60" dirty="0"/>
              <a:t> </a:t>
            </a:r>
            <a:r>
              <a:rPr spc="-10" dirty="0"/>
              <a:t>Trends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676400"/>
            <a:ext cx="6629400" cy="467868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459479" cy="4507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Real</a:t>
            </a:r>
            <a:r>
              <a:rPr sz="2400" b="1" spc="-2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GDP</a:t>
            </a:r>
            <a:r>
              <a:rPr sz="2400" b="1" spc="-3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Growth</a:t>
            </a:r>
            <a:r>
              <a:rPr sz="2400" b="1" spc="-6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in</a:t>
            </a:r>
            <a:r>
              <a:rPr sz="2400" b="1" spc="-3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1A70B7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World</a:t>
            </a:r>
            <a:r>
              <a:rPr sz="2400" b="1" spc="-2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Economy</a:t>
            </a:r>
            <a:endParaRPr sz="2400">
              <a:latin typeface="Arial"/>
              <a:cs typeface="Arial"/>
            </a:endParaRPr>
          </a:p>
          <a:p>
            <a:pPr marL="12700" marR="6604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23.5(a)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rich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countries.</a:t>
            </a:r>
            <a:endParaRPr sz="2400">
              <a:latin typeface="Arial"/>
              <a:cs typeface="Arial"/>
            </a:endParaRPr>
          </a:p>
          <a:p>
            <a:pPr marL="12700" marR="4826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Japan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grew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rapidly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1960s,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slower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1980s,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stagnated </a:t>
            </a:r>
            <a:r>
              <a:rPr sz="2400" dirty="0">
                <a:latin typeface="Arial"/>
                <a:cs typeface="Arial"/>
              </a:rPr>
              <a:t>during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1990s.</a:t>
            </a:r>
            <a:endParaRPr sz="2400">
              <a:latin typeface="Arial"/>
              <a:cs typeface="Arial"/>
            </a:endParaRPr>
          </a:p>
          <a:p>
            <a:pPr marL="12700" marR="187325" algn="just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Growth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Europe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4, </a:t>
            </a:r>
            <a:r>
              <a:rPr sz="2400" dirty="0">
                <a:latin typeface="Arial"/>
                <a:cs typeface="Arial"/>
              </a:rPr>
              <a:t>Canada,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United </a:t>
            </a:r>
            <a:r>
              <a:rPr sz="2400" dirty="0">
                <a:latin typeface="Arial"/>
                <a:cs typeface="Arial"/>
              </a:rPr>
              <a:t>States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been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similar.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Long-</a:t>
            </a:r>
            <a:r>
              <a:rPr dirty="0"/>
              <a:t>Term</a:t>
            </a:r>
            <a:r>
              <a:rPr spc="-55" dirty="0"/>
              <a:t> </a:t>
            </a:r>
            <a:r>
              <a:rPr dirty="0"/>
              <a:t>Growth</a:t>
            </a:r>
            <a:r>
              <a:rPr spc="-60" dirty="0"/>
              <a:t> </a:t>
            </a:r>
            <a:r>
              <a:rPr spc="-10" dirty="0"/>
              <a:t>Trends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7388" y="1656588"/>
            <a:ext cx="4480560" cy="41071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430270" cy="347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23.5(b)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per </a:t>
            </a:r>
            <a:r>
              <a:rPr sz="2400" dirty="0">
                <a:latin typeface="Arial"/>
                <a:cs typeface="Arial"/>
              </a:rPr>
              <a:t>person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group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poor </a:t>
            </a:r>
            <a:r>
              <a:rPr sz="2400" spc="-10" dirty="0">
                <a:latin typeface="Arial"/>
                <a:cs typeface="Arial"/>
              </a:rPr>
              <a:t>countries.</a:t>
            </a:r>
            <a:endParaRPr sz="2400">
              <a:latin typeface="Arial"/>
              <a:cs typeface="Arial"/>
            </a:endParaRPr>
          </a:p>
          <a:p>
            <a:pPr marL="12700" marR="307975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gaps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between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real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United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these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countries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have </a:t>
            </a:r>
            <a:r>
              <a:rPr sz="2400" spc="-10" dirty="0">
                <a:latin typeface="Arial"/>
                <a:cs typeface="Arial"/>
              </a:rPr>
              <a:t>widened.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Economic</a:t>
            </a:r>
            <a:r>
              <a:rPr spc="-50" dirty="0"/>
              <a:t> </a:t>
            </a:r>
            <a:r>
              <a:rPr dirty="0"/>
              <a:t>Growth</a:t>
            </a:r>
            <a:r>
              <a:rPr spc="-60" dirty="0"/>
              <a:t> </a:t>
            </a:r>
            <a:r>
              <a:rPr spc="-10" dirty="0"/>
              <a:t>Trends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7388" y="1656588"/>
            <a:ext cx="4480560" cy="41071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Economic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growth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occurs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when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GDP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increases.</a:t>
            </a:r>
          </a:p>
          <a:p>
            <a:pPr marL="12700" marR="24384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But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one-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shot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increase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GDP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or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recovery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from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recession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not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economic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growth.</a:t>
            </a: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Economic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growth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sustained,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year-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on-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year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increase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i="1" dirty="0">
                <a:solidFill>
                  <a:srgbClr val="000000"/>
                </a:solidFill>
                <a:latin typeface="Arial"/>
                <a:cs typeface="Arial"/>
              </a:rPr>
              <a:t>potential</a:t>
            </a:r>
            <a:r>
              <a:rPr b="0" i="1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i="1" spc="-20" dirty="0">
                <a:solidFill>
                  <a:srgbClr val="000000"/>
                </a:solidFill>
                <a:latin typeface="Arial"/>
                <a:cs typeface="Arial"/>
              </a:rPr>
              <a:t>GDP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766684" cy="372745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What</a:t>
            </a:r>
            <a:r>
              <a:rPr sz="2400" b="1" spc="-3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Determines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Potential</a:t>
            </a:r>
            <a:r>
              <a:rPr sz="2400" b="1" spc="-4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1A70B7"/>
                </a:solidFill>
                <a:latin typeface="Arial"/>
                <a:cs typeface="Arial"/>
              </a:rPr>
              <a:t>GDP?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Potential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produced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when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employed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full-employment quantity.</a:t>
            </a:r>
            <a:endParaRPr sz="2400">
              <a:latin typeface="Arial"/>
              <a:cs typeface="Arial"/>
            </a:endParaRPr>
          </a:p>
          <a:p>
            <a:pPr marL="12700" marR="561975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determine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potential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two </a:t>
            </a:r>
            <a:r>
              <a:rPr sz="2400" spc="-10" dirty="0">
                <a:latin typeface="Arial"/>
                <a:cs typeface="Arial"/>
              </a:rPr>
              <a:t>components: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An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aggregate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production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An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aggregate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market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767454" cy="4355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Aggregate</a:t>
            </a:r>
            <a:r>
              <a:rPr sz="2400" b="1" spc="-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Production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aggregate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production </a:t>
            </a:r>
            <a:r>
              <a:rPr sz="2400" b="1" dirty="0">
                <a:latin typeface="Arial"/>
                <a:cs typeface="Arial"/>
              </a:rPr>
              <a:t>function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tells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real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changes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changes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influences</a:t>
            </a:r>
            <a:r>
              <a:rPr sz="2400" spc="6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production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remain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10" dirty="0">
                <a:latin typeface="Arial"/>
                <a:cs typeface="Arial"/>
              </a:rPr>
              <a:t>same.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labor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increases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GDP.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3796" y="1656588"/>
            <a:ext cx="4312920" cy="38709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548245" cy="44469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Aggregate</a:t>
            </a:r>
            <a:r>
              <a:rPr sz="2400" b="1" spc="-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Labor</a:t>
            </a:r>
            <a:r>
              <a:rPr sz="2400" b="1" spc="-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Market</a:t>
            </a:r>
            <a:endParaRPr sz="2400">
              <a:latin typeface="Arial"/>
              <a:cs typeface="Arial"/>
            </a:endParaRPr>
          </a:p>
          <a:p>
            <a:pPr marL="12700" marR="90360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demand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for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labor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labor </a:t>
            </a:r>
            <a:r>
              <a:rPr sz="2400" dirty="0">
                <a:latin typeface="Arial"/>
                <a:cs typeface="Arial"/>
              </a:rPr>
              <a:t>demanded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wage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rate.</a:t>
            </a:r>
            <a:endParaRPr sz="2400">
              <a:latin typeface="Arial"/>
              <a:cs typeface="Arial"/>
            </a:endParaRPr>
          </a:p>
          <a:p>
            <a:pPr marL="12700" marR="189865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real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wage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rate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money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wage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divided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by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level.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supply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of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labor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supplied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wage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rate.</a:t>
            </a:r>
            <a:endParaRPr sz="2400">
              <a:latin typeface="Arial"/>
              <a:cs typeface="Arial"/>
            </a:endParaRPr>
          </a:p>
          <a:p>
            <a:pPr marL="12700" marR="17081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labor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market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is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in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equilibrium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wage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rate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which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demanded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equals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supplied.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702050" cy="398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23.7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illustrates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labor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market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equilibrium.</a:t>
            </a:r>
            <a:endParaRPr sz="2400">
              <a:latin typeface="Arial"/>
              <a:cs typeface="Arial"/>
            </a:endParaRPr>
          </a:p>
          <a:p>
            <a:pPr marL="12700" marR="17399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Labor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market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equilibrium </a:t>
            </a:r>
            <a:r>
              <a:rPr sz="2400" dirty="0">
                <a:latin typeface="Arial"/>
                <a:cs typeface="Arial"/>
              </a:rPr>
              <a:t>occurs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wage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rate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$35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hour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200 </a:t>
            </a:r>
            <a:r>
              <a:rPr sz="2400" dirty="0">
                <a:latin typeface="Arial"/>
                <a:cs typeface="Arial"/>
              </a:rPr>
              <a:t>billion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hours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employed.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wage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above</a:t>
            </a:r>
            <a:endParaRPr sz="2400">
              <a:latin typeface="Arial"/>
              <a:cs typeface="Arial"/>
            </a:endParaRPr>
          </a:p>
          <a:p>
            <a:pPr marL="12700" marR="49339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$35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hour,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surplus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wage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falls.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20" y="1676400"/>
            <a:ext cx="4221480" cy="390144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462654" cy="2739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wage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below</a:t>
            </a:r>
            <a:endParaRPr sz="2400">
              <a:latin typeface="Arial"/>
              <a:cs typeface="Arial"/>
            </a:endParaRPr>
          </a:p>
          <a:p>
            <a:pPr marL="12700" marR="5143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$35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hour,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shortage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wage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rises.</a:t>
            </a:r>
            <a:endParaRPr sz="2400">
              <a:latin typeface="Arial"/>
              <a:cs typeface="Arial"/>
            </a:endParaRPr>
          </a:p>
          <a:p>
            <a:pPr marL="12700" marR="5143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market </a:t>
            </a:r>
            <a:r>
              <a:rPr sz="2400" dirty="0">
                <a:latin typeface="Arial"/>
                <a:cs typeface="Arial"/>
              </a:rPr>
              <a:t>equilibrium,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economy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full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employment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5320" y="1676400"/>
            <a:ext cx="4221480" cy="39014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3819525" cy="466026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Potential</a:t>
            </a:r>
            <a:r>
              <a:rPr sz="2400" b="1" spc="-25" dirty="0">
                <a:solidFill>
                  <a:srgbClr val="6F2F9F"/>
                </a:solidFill>
                <a:latin typeface="Arial"/>
                <a:cs typeface="Arial"/>
              </a:rPr>
              <a:t> GDP</a:t>
            </a:r>
            <a:endParaRPr sz="2400">
              <a:latin typeface="Arial"/>
              <a:cs typeface="Arial"/>
            </a:endParaRPr>
          </a:p>
          <a:p>
            <a:pPr marL="12700" marR="44386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GDP </a:t>
            </a:r>
            <a:r>
              <a:rPr sz="2400" dirty="0">
                <a:latin typeface="Arial"/>
                <a:cs typeface="Arial"/>
              </a:rPr>
              <a:t>produced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economy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full </a:t>
            </a:r>
            <a:r>
              <a:rPr sz="2400" dirty="0">
                <a:latin typeface="Arial"/>
                <a:cs typeface="Arial"/>
              </a:rPr>
              <a:t>employment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potential </a:t>
            </a:r>
            <a:r>
              <a:rPr sz="2400" spc="-20" dirty="0">
                <a:latin typeface="Arial"/>
                <a:cs typeface="Arial"/>
              </a:rPr>
              <a:t>GDP.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economy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at</a:t>
            </a:r>
            <a:endParaRPr sz="2400">
              <a:latin typeface="Arial"/>
              <a:cs typeface="Arial"/>
            </a:endParaRPr>
          </a:p>
          <a:p>
            <a:pPr marL="12700" marR="476884">
              <a:lnSpc>
                <a:spcPct val="100000"/>
              </a:lnSpc>
            </a:pPr>
            <a:r>
              <a:rPr sz="2400" spc="-20" dirty="0">
                <a:latin typeface="Arial"/>
                <a:cs typeface="Arial"/>
              </a:rPr>
              <a:t>full-</a:t>
            </a:r>
            <a:r>
              <a:rPr sz="2400" dirty="0">
                <a:latin typeface="Arial"/>
                <a:cs typeface="Arial"/>
              </a:rPr>
              <a:t>employment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when </a:t>
            </a:r>
            <a:r>
              <a:rPr sz="2400" dirty="0">
                <a:latin typeface="Arial"/>
                <a:cs typeface="Arial"/>
              </a:rPr>
              <a:t>200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billion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hours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labor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employed.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Potential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$18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trillion.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66825" y="427990"/>
            <a:ext cx="237426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How</a:t>
            </a:r>
            <a:r>
              <a:rPr sz="2800" spc="-65" dirty="0"/>
              <a:t> </a:t>
            </a:r>
            <a:r>
              <a:rPr sz="2800" spc="-10" dirty="0"/>
              <a:t>Potential </a:t>
            </a:r>
            <a:r>
              <a:rPr sz="2800" dirty="0"/>
              <a:t>GDP</a:t>
            </a:r>
            <a:r>
              <a:rPr sz="2800" spc="-70" dirty="0"/>
              <a:t> </a:t>
            </a:r>
            <a:r>
              <a:rPr sz="2800" spc="-10" dirty="0"/>
              <a:t>Grows</a:t>
            </a:r>
            <a:endParaRPr sz="28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00" y="108204"/>
            <a:ext cx="3467100" cy="656082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178040" cy="247777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What</a:t>
            </a:r>
            <a:r>
              <a:rPr sz="2400" b="1" spc="-3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Makes</a:t>
            </a:r>
            <a:r>
              <a:rPr sz="2400" b="1" spc="-4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Potential</a:t>
            </a:r>
            <a:r>
              <a:rPr sz="2400" b="1" spc="-5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GDP</a:t>
            </a:r>
            <a:r>
              <a:rPr sz="2400" b="1" spc="-4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Grow?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We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begin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dividing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forces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spc="-10" dirty="0">
                <a:latin typeface="Arial"/>
                <a:cs typeface="Arial"/>
              </a:rPr>
              <a:t>increase: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5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Growth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supply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labor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Growth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productivity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701915" cy="423354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Growth</a:t>
            </a:r>
            <a:r>
              <a:rPr sz="2400" b="1" spc="-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in</a:t>
            </a:r>
            <a:r>
              <a:rPr sz="2400" b="1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2400" b="1" spc="-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Supply</a:t>
            </a:r>
            <a:r>
              <a:rPr sz="24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r>
              <a:rPr sz="2400" b="1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Labor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Aggregate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hours,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total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hours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all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people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employed,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change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result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changes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in: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0520" algn="l"/>
              </a:tabLst>
            </a:pPr>
            <a:r>
              <a:rPr sz="2400" dirty="0">
                <a:latin typeface="Arial"/>
                <a:cs typeface="Arial"/>
              </a:rPr>
              <a:t>Average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hours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worker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0520" algn="l"/>
              </a:tabLst>
            </a:pPr>
            <a:r>
              <a:rPr sz="2400" spc="-20" dirty="0">
                <a:latin typeface="Arial"/>
                <a:cs typeface="Arial"/>
              </a:rPr>
              <a:t>Employment-</a:t>
            </a:r>
            <a:r>
              <a:rPr sz="2400" spc="-10" dirty="0">
                <a:latin typeface="Arial"/>
                <a:cs typeface="Arial"/>
              </a:rPr>
              <a:t>to-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ratio</a:t>
            </a:r>
            <a:endParaRPr sz="2400">
              <a:latin typeface="Arial"/>
              <a:cs typeface="Arial"/>
            </a:endParaRPr>
          </a:p>
          <a:p>
            <a:pPr marL="349885" indent="-33718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49885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working-</a:t>
            </a:r>
            <a:r>
              <a:rPr sz="2400" dirty="0">
                <a:latin typeface="Arial"/>
                <a:cs typeface="Arial"/>
              </a:rPr>
              <a:t>age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growth</a:t>
            </a:r>
            <a:endParaRPr sz="2400">
              <a:latin typeface="Arial"/>
              <a:cs typeface="Arial"/>
            </a:endParaRPr>
          </a:p>
          <a:p>
            <a:pPr marL="12700" marR="356235" algn="just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aggregate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hours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real </a:t>
            </a:r>
            <a:r>
              <a:rPr sz="2400" dirty="0">
                <a:latin typeface="Arial"/>
                <a:cs typeface="Arial"/>
              </a:rPr>
              <a:t>GDP,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person,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must </a:t>
            </a:r>
            <a:r>
              <a:rPr sz="2400" dirty="0">
                <a:latin typeface="Arial"/>
                <a:cs typeface="Arial"/>
              </a:rPr>
              <a:t>become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more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productive.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i="1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i="1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000000"/>
                </a:solidFill>
                <a:latin typeface="Arial"/>
                <a:cs typeface="Arial"/>
              </a:rPr>
              <a:t>Effects</a:t>
            </a:r>
            <a:r>
              <a:rPr i="1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i="1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000000"/>
                </a:solidFill>
                <a:latin typeface="Arial"/>
                <a:cs typeface="Arial"/>
              </a:rPr>
              <a:t>Population</a:t>
            </a:r>
            <a:r>
              <a:rPr i="1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000000"/>
                </a:solidFill>
                <a:latin typeface="Arial"/>
                <a:cs typeface="Arial"/>
              </a:rPr>
              <a:t>Growth</a:t>
            </a:r>
          </a:p>
          <a:p>
            <a:pPr marL="12700" marR="5080">
              <a:lnSpc>
                <a:spcPct val="141700"/>
              </a:lnSpc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increase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population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increases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supply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labor.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With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no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change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demand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labor,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equilibrium</a:t>
            </a:r>
          </a:p>
          <a:p>
            <a:pPr marL="12700">
              <a:lnSpc>
                <a:spcPct val="100000"/>
              </a:lnSpc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wage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falls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aggregate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hours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increase.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As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aggregate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hours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increase,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potential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GDP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increases.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635375" cy="340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23.9(a)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illustrates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effects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population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market.</a:t>
            </a:r>
            <a:endParaRPr sz="2400">
              <a:latin typeface="Arial"/>
              <a:cs typeface="Arial"/>
            </a:endParaRPr>
          </a:p>
          <a:p>
            <a:pPr marL="12700" marR="53086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supply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curve </a:t>
            </a:r>
            <a:r>
              <a:rPr sz="2400" dirty="0">
                <a:latin typeface="Arial"/>
                <a:cs typeface="Arial"/>
              </a:rPr>
              <a:t>shifts </a:t>
            </a:r>
            <a:r>
              <a:rPr sz="2400" spc="-10" dirty="0">
                <a:latin typeface="Arial"/>
                <a:cs typeface="Arial"/>
              </a:rPr>
              <a:t>rightward.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wage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falls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  <a:p>
            <a:pPr marL="12700" marR="80137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and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aggregate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hours </a:t>
            </a:r>
            <a:r>
              <a:rPr sz="2400" spc="-10" dirty="0">
                <a:latin typeface="Arial"/>
                <a:cs typeface="Arial"/>
              </a:rPr>
              <a:t>increase.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7220" y="1655063"/>
            <a:ext cx="4335779" cy="400964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280410" cy="377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00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aggregate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hours </a:t>
            </a:r>
            <a:r>
              <a:rPr sz="2400" dirty="0">
                <a:latin typeface="Arial"/>
                <a:cs typeface="Arial"/>
              </a:rPr>
              <a:t>increase,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potential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GDP </a:t>
            </a:r>
            <a:r>
              <a:rPr sz="2400" spc="-10" dirty="0">
                <a:latin typeface="Arial"/>
                <a:cs typeface="Arial"/>
              </a:rPr>
              <a:t>increases.</a:t>
            </a:r>
            <a:endParaRPr sz="2400">
              <a:latin typeface="Arial"/>
              <a:cs typeface="Arial"/>
            </a:endParaRPr>
          </a:p>
          <a:p>
            <a:pPr marL="12700" marR="5334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Because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diminishing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returns,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increased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increases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but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decreases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GDP </a:t>
            </a:r>
            <a:r>
              <a:rPr sz="2400" dirty="0">
                <a:latin typeface="Arial"/>
                <a:cs typeface="Arial"/>
              </a:rPr>
              <a:t>per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hour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labor.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7220" y="1655064"/>
            <a:ext cx="4328160" cy="41833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/>
              <a:t>Growth</a:t>
            </a:r>
            <a:r>
              <a:rPr spc="-5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Labor</a:t>
            </a:r>
            <a:r>
              <a:rPr spc="-5" dirty="0"/>
              <a:t> </a:t>
            </a:r>
            <a:r>
              <a:rPr spc="-10" dirty="0"/>
              <a:t>Productivity</a:t>
            </a:r>
          </a:p>
          <a:p>
            <a:pPr marL="12700" marR="144145">
              <a:lnSpc>
                <a:spcPct val="100000"/>
              </a:lnSpc>
              <a:spcBef>
                <a:spcPts val="1200"/>
              </a:spcBef>
            </a:pPr>
            <a:r>
              <a:rPr dirty="0">
                <a:solidFill>
                  <a:srgbClr val="000000"/>
                </a:solidFill>
              </a:rPr>
              <a:t>Labor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productivity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quantity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GDP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produced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by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hour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labor.</a:t>
            </a:r>
          </a:p>
          <a:p>
            <a:pPr marL="12700" marR="169545">
              <a:lnSpc>
                <a:spcPct val="100000"/>
              </a:lnSpc>
              <a:spcBef>
                <a:spcPts val="12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Labor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productivity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equals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GDP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divided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by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aggregate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labor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hours.</a:t>
            </a: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If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labor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becomes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more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productive,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firms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willing</a:t>
            </a:r>
            <a:r>
              <a:rPr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pay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more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given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number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hours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so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demand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labor increases.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195320" cy="2739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23.10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effect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productivity.</a:t>
            </a:r>
            <a:endParaRPr sz="2400">
              <a:latin typeface="Arial"/>
              <a:cs typeface="Arial"/>
            </a:endParaRPr>
          </a:p>
          <a:p>
            <a:pPr marL="12700" marR="32766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labor </a:t>
            </a:r>
            <a:r>
              <a:rPr sz="2400" dirty="0">
                <a:latin typeface="Arial"/>
                <a:cs typeface="Arial"/>
              </a:rPr>
              <a:t>productivity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shifts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production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function upward.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8744" y="1656587"/>
            <a:ext cx="4259579" cy="419862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3465829" cy="392874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market: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labor </a:t>
            </a:r>
            <a:r>
              <a:rPr sz="2400" dirty="0">
                <a:latin typeface="Arial"/>
                <a:cs typeface="Arial"/>
              </a:rPr>
              <a:t>productivity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increases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demand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labor.</a:t>
            </a:r>
            <a:endParaRPr sz="2400">
              <a:latin typeface="Arial"/>
              <a:cs typeface="Arial"/>
            </a:endParaRPr>
          </a:p>
          <a:p>
            <a:pPr marL="12700" marR="276225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With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change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supply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real </a:t>
            </a:r>
            <a:r>
              <a:rPr sz="2400" dirty="0">
                <a:latin typeface="Arial"/>
                <a:cs typeface="Arial"/>
              </a:rPr>
              <a:t>wage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rises</a:t>
            </a:r>
            <a:r>
              <a:rPr sz="2400" spc="-50" dirty="0">
                <a:latin typeface="Arial"/>
                <a:cs typeface="Arial"/>
              </a:rPr>
              <a:t> …</a:t>
            </a:r>
            <a:endParaRPr sz="2400">
              <a:latin typeface="Arial"/>
              <a:cs typeface="Arial"/>
            </a:endParaRPr>
          </a:p>
          <a:p>
            <a:pPr marL="12700" marR="63182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and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aggregate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hours </a:t>
            </a:r>
            <a:r>
              <a:rPr sz="2400" spc="-10" dirty="0">
                <a:latin typeface="Arial"/>
                <a:cs typeface="Arial"/>
              </a:rPr>
              <a:t>increase.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2167" y="1655064"/>
            <a:ext cx="4305299" cy="421538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3115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aggregate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hours, </a:t>
            </a:r>
            <a:r>
              <a:rPr sz="2400" dirty="0">
                <a:latin typeface="Arial"/>
                <a:cs typeface="Arial"/>
              </a:rPr>
              <a:t>potential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increases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C</a:t>
            </a:r>
            <a:r>
              <a:rPr sz="2400" spc="-2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8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50" dirty="0"/>
              <a:t> </a:t>
            </a:r>
            <a:r>
              <a:rPr dirty="0"/>
              <a:t>Potential</a:t>
            </a:r>
            <a:r>
              <a:rPr spc="-50" dirty="0"/>
              <a:t> </a:t>
            </a:r>
            <a:r>
              <a:rPr dirty="0"/>
              <a:t>GDP</a:t>
            </a:r>
            <a:r>
              <a:rPr spc="-35" dirty="0"/>
              <a:t> </a:t>
            </a:r>
            <a:r>
              <a:rPr spc="-10" dirty="0"/>
              <a:t>Grows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8744" y="1656587"/>
            <a:ext cx="4259579" cy="41986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888605" cy="424561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Preconditions</a:t>
            </a:r>
            <a:r>
              <a:rPr sz="2400" b="1" spc="-6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for</a:t>
            </a:r>
            <a:r>
              <a:rPr sz="2400" b="1" spc="-6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Labor</a:t>
            </a:r>
            <a:r>
              <a:rPr sz="2400" b="1" spc="-4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Productivity</a:t>
            </a:r>
            <a:r>
              <a:rPr sz="2400" b="1" spc="-7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Growth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fundamental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precondition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productivity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growth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incentive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system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firms,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markets,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property </a:t>
            </a:r>
            <a:r>
              <a:rPr sz="2400" dirty="0">
                <a:latin typeface="Arial"/>
                <a:cs typeface="Arial"/>
              </a:rPr>
              <a:t>rights,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money.</a:t>
            </a:r>
            <a:endParaRPr sz="2400">
              <a:latin typeface="Arial"/>
              <a:cs typeface="Arial"/>
            </a:endParaRPr>
          </a:p>
          <a:p>
            <a:pPr marL="12700" marR="30861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With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preconditions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productivity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place, </a:t>
            </a:r>
            <a:r>
              <a:rPr sz="2400" dirty="0">
                <a:latin typeface="Arial"/>
                <a:cs typeface="Arial"/>
              </a:rPr>
              <a:t>three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things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influence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pace: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1A70B7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Physical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capital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growth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1A70B7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Human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capital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growth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1A70B7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Technological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advances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883" y="602691"/>
            <a:ext cx="59601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60" dirty="0"/>
              <a:t> </a:t>
            </a:r>
            <a:r>
              <a:rPr dirty="0"/>
              <a:t>Labor</a:t>
            </a:r>
            <a:r>
              <a:rPr spc="-50" dirty="0"/>
              <a:t> </a:t>
            </a:r>
            <a:r>
              <a:rPr dirty="0"/>
              <a:t>Productivity</a:t>
            </a:r>
            <a:r>
              <a:rPr spc="-60" dirty="0"/>
              <a:t> </a:t>
            </a:r>
            <a:r>
              <a:rPr spc="-10" dirty="0"/>
              <a:t>Grows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>
                <a:solidFill>
                  <a:srgbClr val="1A70B7"/>
                </a:solidFill>
              </a:rPr>
              <a:t>Physical</a:t>
            </a:r>
            <a:r>
              <a:rPr spc="-35" dirty="0">
                <a:solidFill>
                  <a:srgbClr val="1A70B7"/>
                </a:solidFill>
              </a:rPr>
              <a:t> </a:t>
            </a:r>
            <a:r>
              <a:rPr dirty="0">
                <a:solidFill>
                  <a:srgbClr val="1A70B7"/>
                </a:solidFill>
              </a:rPr>
              <a:t>Capital</a:t>
            </a:r>
            <a:r>
              <a:rPr spc="-45" dirty="0">
                <a:solidFill>
                  <a:srgbClr val="1A70B7"/>
                </a:solidFill>
              </a:rPr>
              <a:t> </a:t>
            </a:r>
            <a:r>
              <a:rPr spc="-10" dirty="0">
                <a:solidFill>
                  <a:srgbClr val="1A70B7"/>
                </a:solidFill>
              </a:rPr>
              <a:t>Growth</a:t>
            </a:r>
          </a:p>
          <a:p>
            <a:pPr marL="12700" marR="21082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accumulation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new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capital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increases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capital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per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worker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increases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labor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productivity.</a:t>
            </a: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>
                <a:solidFill>
                  <a:srgbClr val="1A70B7"/>
                </a:solidFill>
              </a:rPr>
              <a:t>Human</a:t>
            </a:r>
            <a:r>
              <a:rPr spc="-75" dirty="0">
                <a:solidFill>
                  <a:srgbClr val="1A70B7"/>
                </a:solidFill>
              </a:rPr>
              <a:t> </a:t>
            </a:r>
            <a:r>
              <a:rPr dirty="0">
                <a:solidFill>
                  <a:srgbClr val="1A70B7"/>
                </a:solidFill>
              </a:rPr>
              <a:t>Capital</a:t>
            </a:r>
            <a:r>
              <a:rPr spc="-70" dirty="0">
                <a:solidFill>
                  <a:srgbClr val="1A70B7"/>
                </a:solidFill>
              </a:rPr>
              <a:t> </a:t>
            </a:r>
            <a:r>
              <a:rPr spc="-10" dirty="0">
                <a:solidFill>
                  <a:srgbClr val="1A70B7"/>
                </a:solidFill>
              </a:rPr>
              <a:t>Growth</a:t>
            </a: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Human</a:t>
            </a:r>
            <a:r>
              <a:rPr b="0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capital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acquired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through</a:t>
            </a:r>
            <a:r>
              <a:rPr b="0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education,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on-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the-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job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training,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learning-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by-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doing</a:t>
            </a:r>
            <a:r>
              <a:rPr b="0" spc="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most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fundamental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source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labor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productivity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growth.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883" y="602691"/>
            <a:ext cx="59601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60" dirty="0"/>
              <a:t> </a:t>
            </a:r>
            <a:r>
              <a:rPr dirty="0"/>
              <a:t>Labor</a:t>
            </a:r>
            <a:r>
              <a:rPr spc="-50" dirty="0"/>
              <a:t> </a:t>
            </a:r>
            <a:r>
              <a:rPr dirty="0"/>
              <a:t>Productivity</a:t>
            </a:r>
            <a:r>
              <a:rPr spc="-60" dirty="0"/>
              <a:t> </a:t>
            </a:r>
            <a:r>
              <a:rPr spc="-10" dirty="0"/>
              <a:t>Grows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430510" y="836712"/>
            <a:ext cx="8229600" cy="4525963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>
                <a:solidFill>
                  <a:srgbClr val="1A70B7"/>
                </a:solidFill>
              </a:rPr>
              <a:t>Technological</a:t>
            </a:r>
            <a:r>
              <a:rPr spc="-60" dirty="0">
                <a:solidFill>
                  <a:srgbClr val="1A70B7"/>
                </a:solidFill>
              </a:rPr>
              <a:t> </a:t>
            </a:r>
            <a:r>
              <a:rPr spc="-10" dirty="0">
                <a:solidFill>
                  <a:srgbClr val="1A70B7"/>
                </a:solidFill>
              </a:rPr>
              <a:t>Advances</a:t>
            </a:r>
          </a:p>
          <a:p>
            <a:pPr marL="12700" marR="38100">
              <a:lnSpc>
                <a:spcPct val="100000"/>
              </a:lnSpc>
              <a:spcBef>
                <a:spcPts val="1200"/>
              </a:spcBef>
            </a:pP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Technological</a:t>
            </a:r>
            <a:r>
              <a:rPr b="0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change—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discovery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application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new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technologies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new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goods—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has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contributed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immensely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increasing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labor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productivity.</a:t>
            </a: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Figure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23.11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next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slide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summarizes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process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of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growth.</a:t>
            </a:r>
          </a:p>
          <a:p>
            <a:pPr marL="12700" marR="22225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It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also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shows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growth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GDP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per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person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depends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real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GDP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growth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population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growth rate.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167770"/>
            <a:ext cx="6733793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60" dirty="0"/>
              <a:t> </a:t>
            </a:r>
            <a:r>
              <a:rPr dirty="0"/>
              <a:t>Labor</a:t>
            </a:r>
            <a:r>
              <a:rPr spc="-50" dirty="0"/>
              <a:t> </a:t>
            </a:r>
            <a:r>
              <a:rPr dirty="0"/>
              <a:t>Productivity</a:t>
            </a:r>
            <a:r>
              <a:rPr spc="-60" dirty="0"/>
              <a:t> </a:t>
            </a:r>
            <a:r>
              <a:rPr spc="-10" dirty="0"/>
              <a:t>Grows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0883" y="602691"/>
            <a:ext cx="59601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-60" dirty="0"/>
              <a:t> </a:t>
            </a:r>
            <a:r>
              <a:rPr dirty="0"/>
              <a:t>Labor</a:t>
            </a:r>
            <a:r>
              <a:rPr spc="-50" dirty="0"/>
              <a:t> </a:t>
            </a:r>
            <a:r>
              <a:rPr dirty="0"/>
              <a:t>Productivity</a:t>
            </a:r>
            <a:r>
              <a:rPr spc="-60" dirty="0"/>
              <a:t> </a:t>
            </a:r>
            <a:r>
              <a:rPr spc="-10" dirty="0"/>
              <a:t>Grows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057400"/>
            <a:ext cx="8439912" cy="25999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533363"/>
            <a:ext cx="7922895" cy="363918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dirty="0">
                <a:latin typeface="Arial"/>
                <a:cs typeface="Arial"/>
              </a:rPr>
              <a:t>Two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further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facts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key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role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new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theory: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Discoveries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public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capital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good.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Knowledge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subject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diminishing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returns.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Increasing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stock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knowledge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makes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capital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labor </a:t>
            </a:r>
            <a:r>
              <a:rPr sz="2400" dirty="0">
                <a:latin typeface="Arial"/>
                <a:cs typeface="Arial"/>
              </a:rPr>
              <a:t>more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productive.</a:t>
            </a:r>
            <a:endParaRPr sz="2400">
              <a:latin typeface="Arial"/>
              <a:cs typeface="Arial"/>
            </a:endParaRPr>
          </a:p>
          <a:p>
            <a:pPr marL="12700" marR="986155" algn="just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central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proposition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new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theory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 </a:t>
            </a:r>
            <a:r>
              <a:rPr sz="2400" dirty="0">
                <a:latin typeface="Arial"/>
                <a:cs typeface="Arial"/>
              </a:rPr>
              <a:t>knowledge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capital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does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not</a:t>
            </a:r>
            <a:r>
              <a:rPr sz="2400" i="1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experience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diminishing returns.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Growth</a:t>
            </a:r>
            <a:r>
              <a:rPr spc="-50" dirty="0"/>
              <a:t> </a:t>
            </a:r>
            <a:r>
              <a:rPr dirty="0"/>
              <a:t>Theories,</a:t>
            </a:r>
            <a:r>
              <a:rPr spc="-35" dirty="0"/>
              <a:t> </a:t>
            </a:r>
            <a:r>
              <a:rPr spc="-10" dirty="0"/>
              <a:t>Evidence,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Policies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173736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23.12 summarizes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ideas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new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growth </a:t>
            </a:r>
            <a:r>
              <a:rPr sz="2400" dirty="0">
                <a:latin typeface="Arial"/>
                <a:cs typeface="Arial"/>
              </a:rPr>
              <a:t>theory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spc="-10" dirty="0">
                <a:latin typeface="Arial"/>
                <a:cs typeface="Arial"/>
              </a:rPr>
              <a:t>perpetual motion machine.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Growth</a:t>
            </a:r>
            <a:r>
              <a:rPr spc="-50" dirty="0"/>
              <a:t> </a:t>
            </a:r>
            <a:r>
              <a:rPr dirty="0"/>
              <a:t>Theories,</a:t>
            </a:r>
            <a:r>
              <a:rPr spc="-35" dirty="0"/>
              <a:t> </a:t>
            </a:r>
            <a:r>
              <a:rPr spc="-10" dirty="0"/>
              <a:t>Evidence,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Policies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4600" y="1524000"/>
            <a:ext cx="6172200" cy="469392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663" y="626363"/>
            <a:ext cx="822960" cy="4907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Growth</a:t>
            </a:r>
            <a:r>
              <a:rPr spc="-50" dirty="0"/>
              <a:t> </a:t>
            </a:r>
            <a:r>
              <a:rPr dirty="0"/>
              <a:t>Theories,</a:t>
            </a:r>
            <a:r>
              <a:rPr spc="-35" dirty="0"/>
              <a:t> </a:t>
            </a:r>
            <a:r>
              <a:rPr spc="-10" dirty="0"/>
              <a:t>Evidence,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Policies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79" y="1950720"/>
            <a:ext cx="8503920" cy="39776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903209" cy="45993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Policies</a:t>
            </a:r>
            <a:r>
              <a:rPr sz="2400" b="1" spc="-7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for</a:t>
            </a:r>
            <a:r>
              <a:rPr sz="2400" b="1" spc="-3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Achieving</a:t>
            </a:r>
            <a:r>
              <a:rPr sz="2400" b="1" spc="-3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Faster</a:t>
            </a:r>
            <a:r>
              <a:rPr sz="2400" b="1" spc="-4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Growth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Growth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accounting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tells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achieve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faster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economic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must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either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growth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capital </a:t>
            </a:r>
            <a:r>
              <a:rPr sz="2400" dirty="0">
                <a:latin typeface="Arial"/>
                <a:cs typeface="Arial"/>
              </a:rPr>
              <a:t>per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hour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pace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technological change.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main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suggestions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achieving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these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objectives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are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Stimulate</a:t>
            </a:r>
            <a:r>
              <a:rPr sz="2400" b="1" spc="-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Saving</a:t>
            </a:r>
            <a:endParaRPr sz="2400">
              <a:latin typeface="Arial"/>
              <a:cs typeface="Arial"/>
            </a:endParaRPr>
          </a:p>
          <a:p>
            <a:pPr marL="12700" marR="13652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Saving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finances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investment.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higher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saving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might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physical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capital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growth.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Tax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incentives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might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provided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boost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saving.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Growth</a:t>
            </a:r>
            <a:r>
              <a:rPr spc="-50" dirty="0"/>
              <a:t> </a:t>
            </a:r>
            <a:r>
              <a:rPr dirty="0"/>
              <a:t>Theories,</a:t>
            </a:r>
            <a:r>
              <a:rPr spc="-35" dirty="0"/>
              <a:t> </a:t>
            </a:r>
            <a:r>
              <a:rPr spc="-10" dirty="0"/>
              <a:t>Evidence,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Policies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395536" y="1340768"/>
            <a:ext cx="8229600" cy="4525963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/>
              <a:t>Stimulate</a:t>
            </a:r>
            <a:r>
              <a:rPr spc="-85" dirty="0"/>
              <a:t> </a:t>
            </a:r>
            <a:r>
              <a:rPr dirty="0"/>
              <a:t>Research</a:t>
            </a:r>
            <a:r>
              <a:rPr spc="-4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Development</a:t>
            </a:r>
          </a:p>
          <a:p>
            <a:pPr marL="12700" marR="26289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Because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fruits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i="1" dirty="0">
                <a:solidFill>
                  <a:srgbClr val="000000"/>
                </a:solidFill>
                <a:latin typeface="Arial"/>
                <a:cs typeface="Arial"/>
              </a:rPr>
              <a:t>basic</a:t>
            </a:r>
            <a:r>
              <a:rPr b="0" i="1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research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development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efforts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can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be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used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by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everyone,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not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all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benefit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a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discovery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falls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initial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discoverer.</a:t>
            </a:r>
          </a:p>
          <a:p>
            <a:pPr marL="12700" marR="991869">
              <a:lnSpc>
                <a:spcPct val="100000"/>
              </a:lnSpc>
              <a:spcBef>
                <a:spcPts val="12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So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market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might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allocate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too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few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resources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to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research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development.</a:t>
            </a: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Government</a:t>
            </a:r>
            <a:r>
              <a:rPr b="0" spc="-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subsidies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1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direct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funding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might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stimulate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basic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research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development.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Growth</a:t>
            </a:r>
            <a:r>
              <a:rPr spc="-50" dirty="0"/>
              <a:t> </a:t>
            </a:r>
            <a:r>
              <a:rPr dirty="0"/>
              <a:t>Theories,</a:t>
            </a:r>
            <a:r>
              <a:rPr spc="-35" dirty="0"/>
              <a:t> </a:t>
            </a:r>
            <a:r>
              <a:rPr spc="-10" dirty="0"/>
              <a:t>Evidence,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Policies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177956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800" dirty="0"/>
              <a:t>Improve</a:t>
            </a:r>
            <a:r>
              <a:rPr sz="2800" spc="-35" dirty="0"/>
              <a:t> </a:t>
            </a:r>
            <a:r>
              <a:rPr sz="2800" dirty="0"/>
              <a:t>the</a:t>
            </a:r>
            <a:r>
              <a:rPr sz="2800" spc="-15" dirty="0"/>
              <a:t> </a:t>
            </a:r>
            <a:r>
              <a:rPr sz="2800" dirty="0"/>
              <a:t>Quality</a:t>
            </a:r>
            <a:r>
              <a:rPr sz="2800" spc="-50" dirty="0"/>
              <a:t> </a:t>
            </a:r>
            <a:r>
              <a:rPr sz="2800" dirty="0"/>
              <a:t>of</a:t>
            </a:r>
            <a:r>
              <a:rPr sz="2800" spc="-25" dirty="0"/>
              <a:t> </a:t>
            </a:r>
            <a:r>
              <a:rPr sz="2800" spc="-10" dirty="0"/>
              <a:t>Education</a:t>
            </a:r>
          </a:p>
          <a:p>
            <a:pPr marL="12700" marR="76200">
              <a:lnSpc>
                <a:spcPct val="100000"/>
              </a:lnSpc>
              <a:spcBef>
                <a:spcPts val="1200"/>
              </a:spcBef>
            </a:pP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benefits</a:t>
            </a:r>
            <a:r>
              <a:rPr sz="28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from</a:t>
            </a:r>
            <a:r>
              <a:rPr sz="2800" b="0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education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spread</a:t>
            </a:r>
            <a:r>
              <a:rPr sz="28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beyond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person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being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educated,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so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there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tendency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under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invest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in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education.</a:t>
            </a: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800" dirty="0"/>
              <a:t>Provide</a:t>
            </a:r>
            <a:r>
              <a:rPr sz="2800" spc="-35" dirty="0"/>
              <a:t> </a:t>
            </a:r>
            <a:r>
              <a:rPr sz="2800" dirty="0"/>
              <a:t>International</a:t>
            </a:r>
            <a:r>
              <a:rPr sz="2800" spc="-70" dirty="0"/>
              <a:t> </a:t>
            </a:r>
            <a:r>
              <a:rPr sz="2800" dirty="0"/>
              <a:t>Aid</a:t>
            </a:r>
            <a:r>
              <a:rPr sz="2800" spc="-40" dirty="0"/>
              <a:t> </a:t>
            </a:r>
            <a:r>
              <a:rPr sz="2800" dirty="0"/>
              <a:t>to</a:t>
            </a:r>
            <a:r>
              <a:rPr sz="2800" spc="-35" dirty="0"/>
              <a:t> </a:t>
            </a:r>
            <a:r>
              <a:rPr sz="2800" dirty="0"/>
              <a:t>Developing</a:t>
            </a:r>
            <a:r>
              <a:rPr sz="2800" spc="-35" dirty="0"/>
              <a:t> </a:t>
            </a:r>
            <a:r>
              <a:rPr sz="2800" spc="-10" dirty="0"/>
              <a:t>Nations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If</a:t>
            </a:r>
            <a:r>
              <a:rPr sz="2800"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rich</a:t>
            </a:r>
            <a:r>
              <a:rPr sz="28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countries</a:t>
            </a:r>
            <a:r>
              <a:rPr sz="28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give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financial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aid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sz="28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developing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countries,</a:t>
            </a:r>
          </a:p>
          <a:p>
            <a:pPr marL="12700">
              <a:lnSpc>
                <a:spcPct val="100000"/>
              </a:lnSpc>
            </a:pP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investment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growth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will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increase.</a:t>
            </a:r>
          </a:p>
          <a:p>
            <a:pPr marL="12700" marR="12700">
              <a:lnSpc>
                <a:spcPct val="100000"/>
              </a:lnSpc>
              <a:spcBef>
                <a:spcPts val="1200"/>
              </a:spcBef>
            </a:pP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But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data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effect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aid</a:t>
            </a:r>
            <a:r>
              <a:rPr sz="28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shows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it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has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had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zero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or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8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negative</a:t>
            </a:r>
            <a:r>
              <a:rPr sz="28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effect.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Growth</a:t>
            </a:r>
            <a:r>
              <a:rPr spc="-50" dirty="0"/>
              <a:t> </a:t>
            </a:r>
            <a:r>
              <a:rPr dirty="0"/>
              <a:t>Theories,</a:t>
            </a:r>
            <a:r>
              <a:rPr spc="-35" dirty="0"/>
              <a:t> </a:t>
            </a:r>
            <a:r>
              <a:rPr spc="-10" dirty="0"/>
              <a:t>Evidence,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Policies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/>
              <a:t>Encourage</a:t>
            </a:r>
            <a:r>
              <a:rPr spc="-50" dirty="0"/>
              <a:t> </a:t>
            </a:r>
            <a:r>
              <a:rPr dirty="0"/>
              <a:t>International</a:t>
            </a:r>
            <a:r>
              <a:rPr spc="-80" dirty="0"/>
              <a:t> </a:t>
            </a:r>
            <a:r>
              <a:rPr spc="-10" dirty="0"/>
              <a:t>Trade</a:t>
            </a: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Free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international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trade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stimulates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growth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by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extracting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all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available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gains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from</a:t>
            </a:r>
            <a:r>
              <a:rPr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specialization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trade.</a:t>
            </a:r>
          </a:p>
          <a:p>
            <a:pPr marL="12700" marR="190500">
              <a:lnSpc>
                <a:spcPct val="100000"/>
              </a:lnSpc>
              <a:spcBef>
                <a:spcPts val="12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fastest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growing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nations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ones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with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fastest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growing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exports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imports.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Growth</a:t>
            </a:r>
            <a:r>
              <a:rPr spc="-50" dirty="0"/>
              <a:t> </a:t>
            </a:r>
            <a:r>
              <a:rPr dirty="0"/>
              <a:t>Theories,</a:t>
            </a:r>
            <a:r>
              <a:rPr spc="-35" dirty="0"/>
              <a:t> </a:t>
            </a:r>
            <a:r>
              <a:rPr spc="-10" dirty="0"/>
              <a:t>Evidence,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Policies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22.1 </a:t>
            </a:r>
            <a:br>
              <a:rPr lang="en-US" sz="3200" dirty="0"/>
            </a:br>
            <a:r>
              <a:rPr lang="en-US" sz="3200" dirty="0"/>
              <a:t>Economic growth and the business cycle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630321"/>
            <a:ext cx="8312727" cy="388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315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3" y="296080"/>
            <a:ext cx="8707313" cy="1034744"/>
          </a:xfrm>
        </p:spPr>
        <p:txBody>
          <a:bodyPr/>
          <a:lstStyle/>
          <a:p>
            <a:pPr algn="l"/>
            <a:r>
              <a:rPr lang="en-US" sz="3200" dirty="0"/>
              <a:t>Figure 22.2 </a:t>
            </a:r>
            <a:br>
              <a:rPr lang="en-US" sz="3200" dirty="0"/>
            </a:br>
            <a:r>
              <a:rPr lang="en-US" sz="3200" dirty="0"/>
              <a:t>Growth rates of real GDP and potential GDP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664" y="6093876"/>
            <a:ext cx="2640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Sources of data: Office for National Statistics and IMF</a:t>
            </a:r>
            <a:endParaRPr lang="en-IN" sz="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636943"/>
            <a:ext cx="8312727" cy="409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5169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3" y="296080"/>
            <a:ext cx="8707313" cy="1034744"/>
          </a:xfrm>
        </p:spPr>
        <p:txBody>
          <a:bodyPr/>
          <a:lstStyle/>
          <a:p>
            <a:pPr algn="l"/>
            <a:r>
              <a:rPr lang="en-US" sz="3200" dirty="0"/>
              <a:t>Figure 22.3 </a:t>
            </a:r>
            <a:br>
              <a:rPr lang="en-US" sz="3200" dirty="0"/>
            </a:br>
            <a:r>
              <a:rPr lang="en-US" sz="3200" dirty="0"/>
              <a:t>Rule of 70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571917"/>
            <a:ext cx="8312727" cy="394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620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3" y="540336"/>
            <a:ext cx="8707313" cy="1034744"/>
          </a:xfrm>
        </p:spPr>
        <p:txBody>
          <a:bodyPr/>
          <a:lstStyle/>
          <a:p>
            <a:pPr algn="l"/>
            <a:r>
              <a:rPr lang="en-US" sz="3200" dirty="0"/>
              <a:t>Figure 22.4 </a:t>
            </a:r>
            <a:br>
              <a:rPr lang="en-US" sz="3200" dirty="0"/>
            </a:br>
            <a:r>
              <a:rPr lang="en-US" sz="3200" dirty="0"/>
              <a:t>One hundred years of economic growth in the 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664" y="6093876"/>
            <a:ext cx="23855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Sources of data: ONS and Bank of England IMF</a:t>
            </a:r>
            <a:endParaRPr lang="en-IN" sz="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989" y="1839952"/>
            <a:ext cx="6870023" cy="415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4279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540336"/>
            <a:ext cx="8419530" cy="1034744"/>
          </a:xfrm>
        </p:spPr>
        <p:txBody>
          <a:bodyPr/>
          <a:lstStyle/>
          <a:p>
            <a:pPr algn="l"/>
            <a:r>
              <a:rPr lang="en-US" sz="3200" dirty="0"/>
              <a:t>Figure 22.5 </a:t>
            </a:r>
            <a:br>
              <a:rPr lang="en-US" sz="3200" dirty="0"/>
            </a:br>
            <a:r>
              <a:rPr lang="en-US" sz="3200" dirty="0"/>
              <a:t>Economic growth around the world: catch-up or not?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664" y="6093876"/>
            <a:ext cx="44438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Sources of data: World Economic Outlook Database, International Monetary Fund, April 2021</a:t>
            </a:r>
            <a:endParaRPr lang="en-IN" sz="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065" y="1910891"/>
            <a:ext cx="6471871" cy="411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884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419530" cy="1034744"/>
          </a:xfrm>
        </p:spPr>
        <p:txBody>
          <a:bodyPr/>
          <a:lstStyle/>
          <a:p>
            <a:pPr algn="l"/>
            <a:r>
              <a:rPr lang="en-US" sz="3200" dirty="0"/>
              <a:t>Figure 1 </a:t>
            </a:r>
            <a:br>
              <a:rPr lang="en-US" sz="3200" dirty="0"/>
            </a:br>
            <a:r>
              <a:rPr lang="en-US" sz="3200" dirty="0"/>
              <a:t>Closing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664" y="6093876"/>
            <a:ext cx="41472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Sources of data: Economic Outlook Database, International </a:t>
            </a:r>
            <a:r>
              <a:rPr lang="en-IN" sz="800" dirty="0"/>
              <a:t>Monetary Fund, April 2021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168" y="1517243"/>
            <a:ext cx="4425665" cy="447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470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419530" cy="1034744"/>
          </a:xfrm>
        </p:spPr>
        <p:txBody>
          <a:bodyPr/>
          <a:lstStyle/>
          <a:p>
            <a:pPr algn="l"/>
            <a:r>
              <a:rPr lang="en-US" sz="3200" dirty="0"/>
              <a:t>Figure 22.6 </a:t>
            </a:r>
            <a:br>
              <a:rPr lang="en-US" sz="3200" dirty="0"/>
            </a:br>
            <a:r>
              <a:rPr lang="en-US" sz="3200" dirty="0"/>
              <a:t>The aggregate production function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523" y="1517854"/>
            <a:ext cx="4408952" cy="470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827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419530" cy="1034744"/>
          </a:xfrm>
        </p:spPr>
        <p:txBody>
          <a:bodyPr/>
          <a:lstStyle/>
          <a:p>
            <a:pPr algn="l"/>
            <a:r>
              <a:rPr lang="en-US" sz="3200" dirty="0"/>
              <a:t>Figure 22.7 </a:t>
            </a:r>
            <a:br>
              <a:rPr lang="en-US" sz="3200" dirty="0"/>
            </a:br>
            <a:r>
              <a:rPr lang="en-US" sz="3200" dirty="0" err="1"/>
              <a:t>Labour</a:t>
            </a:r>
            <a:r>
              <a:rPr lang="en-US" sz="3200" dirty="0"/>
              <a:t> market equilibrium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778863"/>
            <a:ext cx="8312727" cy="373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482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748" y="249455"/>
            <a:ext cx="6136503" cy="605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368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549" y="269327"/>
            <a:ext cx="5876900" cy="605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517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855" y="212917"/>
            <a:ext cx="6214290" cy="613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787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7224"/>
            <a:ext cx="8635304" cy="1034744"/>
          </a:xfrm>
        </p:spPr>
        <p:txBody>
          <a:bodyPr/>
          <a:lstStyle/>
          <a:p>
            <a:pPr algn="l"/>
            <a:r>
              <a:rPr lang="en-US" sz="3200" dirty="0"/>
              <a:t>Figure 22.11 </a:t>
            </a:r>
            <a:br>
              <a:rPr lang="en-US" sz="3200" dirty="0"/>
            </a:br>
            <a:r>
              <a:rPr lang="en-US" sz="3200" dirty="0"/>
              <a:t>Sources of economic growth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2351664"/>
            <a:ext cx="8312727" cy="215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311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116632"/>
            <a:ext cx="8635304" cy="1367199"/>
          </a:xfrm>
        </p:spPr>
        <p:txBody>
          <a:bodyPr/>
          <a:lstStyle/>
          <a:p>
            <a:pPr algn="l"/>
            <a:r>
              <a:rPr lang="en-US" sz="3000" dirty="0"/>
              <a:t>Figure 1 </a:t>
            </a:r>
            <a:br>
              <a:rPr lang="en-US" sz="3000" dirty="0"/>
            </a:br>
            <a:r>
              <a:rPr lang="en-US" sz="3000" dirty="0"/>
              <a:t>The effects of robots on employment and GDP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494" y="1379175"/>
            <a:ext cx="2621013" cy="495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3910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7224"/>
            <a:ext cx="8635304" cy="1034744"/>
          </a:xfrm>
        </p:spPr>
        <p:txBody>
          <a:bodyPr/>
          <a:lstStyle/>
          <a:p>
            <a:pPr algn="l"/>
            <a:r>
              <a:rPr lang="en-US" sz="3200" dirty="0"/>
              <a:t>Figure 22.12 </a:t>
            </a:r>
            <a:br>
              <a:rPr lang="en-US" sz="3200" dirty="0"/>
            </a:br>
            <a:r>
              <a:rPr lang="en-US" sz="3200" dirty="0"/>
              <a:t>A perpetual motion machine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88" y="1475425"/>
            <a:ext cx="7557025" cy="44818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2960" y="6093876"/>
            <a:ext cx="77444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Source: Based on a similar figure in </a:t>
            </a:r>
            <a:r>
              <a:rPr lang="en-US" sz="800" i="1" dirty="0"/>
              <a:t>These Are the Good Old Days: A Report </a:t>
            </a:r>
            <a:r>
              <a:rPr lang="en-IN" sz="800" i="1" dirty="0"/>
              <a:t>on United States Living Standards, </a:t>
            </a:r>
            <a:r>
              <a:rPr lang="en-IN" sz="800" dirty="0"/>
              <a:t>Federal Reserve </a:t>
            </a:r>
            <a:r>
              <a:rPr lang="en-US" sz="800" dirty="0"/>
              <a:t>Bank of Dallas 1993 Annual </a:t>
            </a:r>
            <a:r>
              <a:rPr lang="en-IN" sz="800" dirty="0"/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38627211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7224"/>
            <a:ext cx="8635304" cy="1034744"/>
          </a:xfrm>
        </p:spPr>
        <p:txBody>
          <a:bodyPr/>
          <a:lstStyle/>
          <a:p>
            <a:pPr algn="l"/>
            <a:r>
              <a:rPr lang="en-US" sz="3200" dirty="0"/>
              <a:t>Table 22.1</a:t>
            </a:r>
            <a:br>
              <a:rPr lang="en-US" sz="3200" dirty="0"/>
            </a:br>
            <a:r>
              <a:rPr lang="en-US" sz="3200" dirty="0"/>
              <a:t>The influences on economic growth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759978"/>
            <a:ext cx="8312727" cy="3338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8328" y="6093876"/>
            <a:ext cx="72795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 of information: Xavier Sala-</a:t>
            </a:r>
            <a:r>
              <a:rPr lang="en-US" sz="800" dirty="0" err="1"/>
              <a:t>i</a:t>
            </a:r>
            <a:r>
              <a:rPr lang="en-US" sz="800" dirty="0"/>
              <a:t>-Martin, ‘I Just Ran Two Million Regressions’, </a:t>
            </a:r>
            <a:r>
              <a:rPr lang="en-US" sz="800" i="1" dirty="0"/>
              <a:t>The American Economic Review, </a:t>
            </a:r>
            <a:r>
              <a:rPr lang="en-US" sz="800" dirty="0"/>
              <a:t>Vol. 87, No. 2 (May </a:t>
            </a:r>
            <a:r>
              <a:rPr lang="en-IN" sz="800" dirty="0"/>
              <a:t>1997), pp. 178–183.</a:t>
            </a:r>
          </a:p>
        </p:txBody>
      </p:sp>
    </p:spTree>
    <p:extLst>
      <p:ext uri="{BB962C8B-B14F-4D97-AF65-F5344CB8AC3E}">
        <p14:creationId xmlns:p14="http://schemas.microsoft.com/office/powerpoint/2010/main" val="11024305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7224"/>
            <a:ext cx="8635304" cy="1034744"/>
          </a:xfrm>
        </p:spPr>
        <p:txBody>
          <a:bodyPr/>
          <a:lstStyle/>
          <a:p>
            <a:pPr algn="l"/>
            <a:r>
              <a:rPr lang="en-US" sz="3200" dirty="0"/>
              <a:t>Figure 1 </a:t>
            </a:r>
            <a:br>
              <a:rPr lang="en-US" sz="3200" dirty="0"/>
            </a:br>
            <a:r>
              <a:rPr lang="en-US" sz="3200" dirty="0"/>
              <a:t>Real GDP and potential GDP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302" y="1464710"/>
            <a:ext cx="6801395" cy="471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398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7224"/>
            <a:ext cx="8635304" cy="1034744"/>
          </a:xfrm>
        </p:spPr>
        <p:txBody>
          <a:bodyPr/>
          <a:lstStyle/>
          <a:p>
            <a:pPr algn="l"/>
            <a:r>
              <a:rPr lang="en-US" sz="3200" dirty="0"/>
              <a:t>Figure 2 </a:t>
            </a:r>
            <a:br>
              <a:rPr lang="en-US" sz="3200" dirty="0"/>
            </a:br>
            <a:r>
              <a:rPr lang="en-US" sz="3200" dirty="0"/>
              <a:t>UK exports of goods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16" y="1536834"/>
            <a:ext cx="6748366" cy="467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225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7224"/>
            <a:ext cx="8635304" cy="1034744"/>
          </a:xfrm>
        </p:spPr>
        <p:txBody>
          <a:bodyPr/>
          <a:lstStyle/>
          <a:p>
            <a:pPr algn="l"/>
            <a:r>
              <a:rPr lang="en-US" sz="3200" dirty="0"/>
              <a:t>Figure 3 </a:t>
            </a:r>
            <a:br>
              <a:rPr lang="en-US" sz="3200" dirty="0"/>
            </a:br>
            <a:r>
              <a:rPr lang="en-US" sz="3200" dirty="0"/>
              <a:t>Brexit shifts the production function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403" y="1506132"/>
            <a:ext cx="5311192" cy="477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37785"/>
      </p:ext>
    </p:extLst>
  </p:cSld>
  <p:clrMapOvr>
    <a:masterClrMapping/>
  </p:clrMapOvr>
</p:sld>
</file>

<file path=ppt/theme/theme1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ideocompleted_x003f_ xmlns="c888f911-6bfd-442d-9fe5-f42f2f7a2c59">false</Videocompleted_x003f_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8981DF6FD949479277F2472D00FEA7" ma:contentTypeVersion="17" ma:contentTypeDescription="Create a new document." ma:contentTypeScope="" ma:versionID="c9a32762dcbd6c5e0f6b51de6863c537">
  <xsd:schema xmlns:xsd="http://www.w3.org/2001/XMLSchema" xmlns:xs="http://www.w3.org/2001/XMLSchema" xmlns:p="http://schemas.microsoft.com/office/2006/metadata/properties" xmlns:ns2="c888f911-6bfd-442d-9fe5-f42f2f7a2c59" xmlns:ns3="c86649ca-290d-4237-b5ca-38108a4ea666" targetNamespace="http://schemas.microsoft.com/office/2006/metadata/properties" ma:root="true" ma:fieldsID="ef88fcde43fbf2b7859e96eae522f514" ns2:_="" ns3:_="">
    <xsd:import namespace="c888f911-6bfd-442d-9fe5-f42f2f7a2c59"/>
    <xsd:import namespace="c86649ca-290d-4237-b5ca-38108a4ea6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Videocompleted_x003f_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88f911-6bfd-442d-9fe5-f42f2f7a2c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Videocompleted_x003f_" ma:index="20" nillable="true" ma:displayName="Video completed?" ma:default="0" ma:format="Dropdown" ma:internalName="Videocompleted_x003f_">
      <xsd:simpleType>
        <xsd:restriction base="dms:Boolean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6649ca-290d-4237-b5ca-38108a4ea66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162C22-5EC1-4514-873A-C7AF6F8F3814}">
  <ds:schemaRefs>
    <ds:schemaRef ds:uri="http://schemas.microsoft.com/office/2006/metadata/properties"/>
    <ds:schemaRef ds:uri="http://www.w3.org/2000/xmlns/"/>
    <ds:schemaRef ds:uri="c888f911-6bfd-442d-9fe5-f42f2f7a2c59"/>
  </ds:schemaRefs>
</ds:datastoreItem>
</file>

<file path=customXml/itemProps2.xml><?xml version="1.0" encoding="utf-8"?>
<ds:datastoreItem xmlns:ds="http://schemas.openxmlformats.org/officeDocument/2006/customXml" ds:itemID="{2D9A3F61-13A4-47A6-BDA2-C2D344883A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F9DA32-FB23-4F36-9CE2-02F2F96E04D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c888f911-6bfd-442d-9fe5-f42f2f7a2c59"/>
    <ds:schemaRef ds:uri="c86649ca-290d-4237-b5ca-38108a4ea666"/>
  </ds:schemaRefs>
</ds:datastoreItem>
</file>

<file path=docMetadata/LabelInfo.xml><?xml version="1.0" encoding="utf-8"?>
<clbl:labelList xmlns:clbl="http://schemas.microsoft.com/office/2020/mipLabelMetadata">
  <clbl:label id="{0c7fd77c-bf1b-4511-8a0d-ca095442aa9f}" enabled="1" method="Privileged" siteId="{07ef1208-413c-4b5e-9cdd-64ef305754f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5437</TotalTime>
  <Words>2379</Words>
  <Application>Microsoft Office PowerPoint</Application>
  <PresentationFormat>On-screen Show (4:3)</PresentationFormat>
  <Paragraphs>268</Paragraphs>
  <Slides>58</Slides>
  <Notes>4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3_Default Design</vt:lpstr>
      <vt:lpstr>PowerPoint Presentation</vt:lpstr>
      <vt:lpstr>After studying this chapter, you will be able to:</vt:lpstr>
      <vt:lpstr>The Basics of Economic Growth</vt:lpstr>
      <vt:lpstr>The Basics of Economic Growth</vt:lpstr>
      <vt:lpstr>The Basics of Economic Growth</vt:lpstr>
      <vt:lpstr>The Basics of Economic Growth</vt:lpstr>
      <vt:lpstr>The Basics of Economic Growth</vt:lpstr>
      <vt:lpstr>The Basics of Economic Growth</vt:lpstr>
      <vt:lpstr>The Basics of Economic Growth</vt:lpstr>
      <vt:lpstr>Long-Term Growth Trends</vt:lpstr>
      <vt:lpstr>Long-Term Growth Trends</vt:lpstr>
      <vt:lpstr>Long-Term Growth Trends</vt:lpstr>
      <vt:lpstr>Economic Growth Trends</vt:lpstr>
      <vt:lpstr>How Potential GDP Grows</vt:lpstr>
      <vt:lpstr>How Potential GDP Grows</vt:lpstr>
      <vt:lpstr>How Potential GDP Grows</vt:lpstr>
      <vt:lpstr>How Potential GDP Grows</vt:lpstr>
      <vt:lpstr>How Potential GDP Grows</vt:lpstr>
      <vt:lpstr>How Potential GDP Grows</vt:lpstr>
      <vt:lpstr>How Potential GDP Grows</vt:lpstr>
      <vt:lpstr>How Potential GDP Grows</vt:lpstr>
      <vt:lpstr>How Potential GDP Grows</vt:lpstr>
      <vt:lpstr>How Potential GDP Grows</vt:lpstr>
      <vt:lpstr>How Potential GDP Grows</vt:lpstr>
      <vt:lpstr>How Potential GDP Grows</vt:lpstr>
      <vt:lpstr>How Potential GDP Grows</vt:lpstr>
      <vt:lpstr>How Potential GDP Grows</vt:lpstr>
      <vt:lpstr>How Potential GDP Grows</vt:lpstr>
      <vt:lpstr>How Potential GDP Grows</vt:lpstr>
      <vt:lpstr>Why Labor Productivity Grows</vt:lpstr>
      <vt:lpstr>Why Labor Productivity Grows</vt:lpstr>
      <vt:lpstr>Why Labor Productivity Grows</vt:lpstr>
      <vt:lpstr>Why Labor Productivity Grows</vt:lpstr>
      <vt:lpstr>Growth Theories, Evidence, and Policies</vt:lpstr>
      <vt:lpstr>Growth Theories, Evidence, and Policies</vt:lpstr>
      <vt:lpstr>Growth Theories, Evidence, and Policies</vt:lpstr>
      <vt:lpstr>Growth Theories, Evidence, and Policies</vt:lpstr>
      <vt:lpstr>Growth Theories, Evidence, and Policies</vt:lpstr>
      <vt:lpstr>Growth Theories, Evidence, and Policies</vt:lpstr>
      <vt:lpstr>Growth Theories, Evidence, and Policies</vt:lpstr>
      <vt:lpstr>Figure 22.1  Economic growth and the business cycle</vt:lpstr>
      <vt:lpstr>Figure 22.2  Growth rates of real GDP and potential GDP</vt:lpstr>
      <vt:lpstr>Figure 22.3  Rule of 70</vt:lpstr>
      <vt:lpstr>Figure 22.4  One hundred years of economic growth in the UK</vt:lpstr>
      <vt:lpstr>Figure 22.5  Economic growth around the world: catch-up or not?</vt:lpstr>
      <vt:lpstr>Figure 1  Closing gaps</vt:lpstr>
      <vt:lpstr>Figure 22.6  The aggregate production function</vt:lpstr>
      <vt:lpstr>Figure 22.7  Labour market equilibrium</vt:lpstr>
      <vt:lpstr>PowerPoint Presentation</vt:lpstr>
      <vt:lpstr>PowerPoint Presentation</vt:lpstr>
      <vt:lpstr>PowerPoint Presentation</vt:lpstr>
      <vt:lpstr>Figure 22.11  Sources of economic growth</vt:lpstr>
      <vt:lpstr>Figure 1  The effects of robots on employment and GDP</vt:lpstr>
      <vt:lpstr>Figure 22.12  A perpetual motion machine</vt:lpstr>
      <vt:lpstr>Table 22.1 The influences on economic growth</vt:lpstr>
      <vt:lpstr>Figure 1  Real GDP and potential GDP</vt:lpstr>
      <vt:lpstr>Figure 2  UK exports of goods</vt:lpstr>
      <vt:lpstr>Figure 3  Brexit shifts the production function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Marketing Powerpoint Slides</dc:title>
  <dc:subject>Digital Marketing</dc:subject>
  <dc:creator>Kirsty Farrelly</dc:creator>
  <cp:keywords>Digital Marketing</cp:keywords>
  <cp:lastModifiedBy>Mai Le</cp:lastModifiedBy>
  <cp:revision>258</cp:revision>
  <dcterms:created xsi:type="dcterms:W3CDTF">2019-02-27T10:38:23Z</dcterms:created>
  <dcterms:modified xsi:type="dcterms:W3CDTF">2026-02-03T02:26:56Z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0x010100138981DF6FD949479277F2472D00FEA7</vt:lpwstr>
  </property>
</Properties>
</file>