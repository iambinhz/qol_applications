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2"/>
  </p:notesMasterIdLst>
  <p:handoutMasterIdLst>
    <p:handoutMasterId r:id="rId23"/>
  </p:handoutMasterIdLst>
  <p:sldIdLst>
    <p:sldId id="288" r:id="rId5"/>
    <p:sldId id="287" r:id="rId6"/>
    <p:sldId id="256" r:id="rId7"/>
    <p:sldId id="425" r:id="rId8"/>
    <p:sldId id="442" r:id="rId9"/>
    <p:sldId id="648" r:id="rId10"/>
    <p:sldId id="621" r:id="rId11"/>
    <p:sldId id="622" r:id="rId12"/>
    <p:sldId id="645" r:id="rId13"/>
    <p:sldId id="437" r:id="rId14"/>
    <p:sldId id="441" r:id="rId15"/>
    <p:sldId id="444" r:id="rId16"/>
    <p:sldId id="649" r:id="rId17"/>
    <p:sldId id="646" r:id="rId18"/>
    <p:sldId id="435" r:id="rId19"/>
    <p:sldId id="650" r:id="rId20"/>
    <p:sldId id="462" r:id="rId21"/>
  </p:sldIdLst>
  <p:sldSz cx="9144000" cy="6858000" type="screen4x3"/>
  <p:notesSz cx="6669088" cy="9926638"/>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orient="horz" pos="427">
          <p15:clr>
            <a:srgbClr val="A4A3A4"/>
          </p15:clr>
        </p15:guide>
        <p15:guide id="3" orient="horz" pos="983">
          <p15:clr>
            <a:srgbClr val="A4A3A4"/>
          </p15:clr>
        </p15:guide>
        <p15:guide id="4" orient="horz" pos="3838">
          <p15:clr>
            <a:srgbClr val="A4A3A4"/>
          </p15:clr>
        </p15:guide>
        <p15:guide id="5" pos="2880">
          <p15:clr>
            <a:srgbClr val="A4A3A4"/>
          </p15:clr>
        </p15:guide>
        <p15:guide id="6" pos="562">
          <p15:clr>
            <a:srgbClr val="A4A3A4"/>
          </p15:clr>
        </p15:guide>
        <p15:guide id="7" pos="5103">
          <p15:clr>
            <a:srgbClr val="A4A3A4"/>
          </p15:clr>
        </p15:guide>
        <p15:guide id="8" pos="2562">
          <p15:clr>
            <a:srgbClr val="A4A3A4"/>
          </p15:clr>
        </p15:guide>
        <p15:guide id="9" pos="269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l Bobula" initials="MB" lastIdx="2" clrIdx="0">
    <p:extLst>
      <p:ext uri="{19B8F6BF-5375-455C-9EA6-DF929625EA0E}">
        <p15:presenceInfo xmlns:p15="http://schemas.microsoft.com/office/powerpoint/2012/main" userId="S-1-5-21-1659004503-492894223-725345543-2192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6818D"/>
    <a:srgbClr val="1A9DAC"/>
    <a:srgbClr val="598752"/>
    <a:srgbClr val="6DA463"/>
    <a:srgbClr val="A65C45"/>
    <a:srgbClr val="CC7054"/>
    <a:srgbClr val="FFFFFF"/>
    <a:srgbClr val="D6A700"/>
    <a:srgbClr val="958CB2"/>
    <a:srgbClr val="7FB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0300E-AF38-43B0-ADC8-15317F0B68C5}" v="481" dt="2025-08-14T14:52:06.9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83495" autoAdjust="0"/>
  </p:normalViewPr>
  <p:slideViewPr>
    <p:cSldViewPr showGuides="1">
      <p:cViewPr>
        <p:scale>
          <a:sx n="75" d="100"/>
          <a:sy n="75" d="100"/>
        </p:scale>
        <p:origin x="276" y="198"/>
      </p:cViewPr>
      <p:guideLst>
        <p:guide orient="horz" pos="2160"/>
        <p:guide orient="horz" pos="427"/>
        <p:guide orient="horz" pos="983"/>
        <p:guide orient="horz" pos="3838"/>
        <p:guide pos="2880"/>
        <p:guide pos="562"/>
        <p:guide pos="5103"/>
        <p:guide pos="2562"/>
        <p:guide pos="26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lza Pilgrim" userId="9b1f39d4-236b-4377-9a8d-dccbd2a774dd" providerId="ADAL" clId="{0780300E-AF38-43B0-ADC8-15317F0B68C5}"/>
    <pc:docChg chg="undo custSel addSld delSld modSld sldOrd">
      <pc:chgData name="Demelza Pilgrim" userId="9b1f39d4-236b-4377-9a8d-dccbd2a774dd" providerId="ADAL" clId="{0780300E-AF38-43B0-ADC8-15317F0B68C5}" dt="2025-08-14T14:52:40.623" v="1381" actId="20577"/>
      <pc:docMkLst>
        <pc:docMk/>
      </pc:docMkLst>
      <pc:sldChg chg="addSp delSp modSp add del mod modNotesTx">
        <pc:chgData name="Demelza Pilgrim" userId="9b1f39d4-236b-4377-9a8d-dccbd2a774dd" providerId="ADAL" clId="{0780300E-AF38-43B0-ADC8-15317F0B68C5}" dt="2025-08-14T14:06:55.773" v="429" actId="20577"/>
        <pc:sldMkLst>
          <pc:docMk/>
          <pc:sldMk cId="0" sldId="256"/>
        </pc:sldMkLst>
        <pc:spChg chg="mod">
          <ac:chgData name="Demelza Pilgrim" userId="9b1f39d4-236b-4377-9a8d-dccbd2a774dd" providerId="ADAL" clId="{0780300E-AF38-43B0-ADC8-15317F0B68C5}" dt="2025-08-13T14:59:25.494" v="1" actId="6549"/>
          <ac:spMkLst>
            <pc:docMk/>
            <pc:sldMk cId="0" sldId="256"/>
            <ac:spMk id="13313" creationId="{00000000-0000-0000-0000-000000000000}"/>
          </ac:spMkLst>
        </pc:spChg>
        <pc:spChg chg="mod">
          <ac:chgData name="Demelza Pilgrim" userId="9b1f39d4-236b-4377-9a8d-dccbd2a774dd" providerId="ADAL" clId="{0780300E-AF38-43B0-ADC8-15317F0B68C5}" dt="2025-08-14T09:10:27.014" v="186" actId="120"/>
          <ac:spMkLst>
            <pc:docMk/>
            <pc:sldMk cId="0" sldId="256"/>
            <ac:spMk id="13319" creationId="{B54CC29E-BA68-10E6-2F39-FA1EBE0C99F6}"/>
          </ac:spMkLst>
        </pc:spChg>
        <pc:graphicFrameChg chg="add del mod modGraphic">
          <ac:chgData name="Demelza Pilgrim" userId="9b1f39d4-236b-4377-9a8d-dccbd2a774dd" providerId="ADAL" clId="{0780300E-AF38-43B0-ADC8-15317F0B68C5}" dt="2025-08-14T14:06:55.773" v="429" actId="20577"/>
          <ac:graphicFrameMkLst>
            <pc:docMk/>
            <pc:sldMk cId="0" sldId="256"/>
            <ac:graphicFrameMk id="13315" creationId="{C2855CC1-6974-FD0F-632A-C97A1652BB10}"/>
          </ac:graphicFrameMkLst>
        </pc:graphicFrameChg>
      </pc:sldChg>
      <pc:sldChg chg="del">
        <pc:chgData name="Demelza Pilgrim" userId="9b1f39d4-236b-4377-9a8d-dccbd2a774dd" providerId="ADAL" clId="{0780300E-AF38-43B0-ADC8-15317F0B68C5}" dt="2025-08-14T09:14:52.590" v="239" actId="47"/>
        <pc:sldMkLst>
          <pc:docMk/>
          <pc:sldMk cId="1310323214" sldId="279"/>
        </pc:sldMkLst>
      </pc:sldChg>
      <pc:sldChg chg="modSp add mod modNotesTx">
        <pc:chgData name="Demelza Pilgrim" userId="9b1f39d4-236b-4377-9a8d-dccbd2a774dd" providerId="ADAL" clId="{0780300E-AF38-43B0-ADC8-15317F0B68C5}" dt="2025-08-14T14:06:05.985" v="419" actId="14100"/>
        <pc:sldMkLst>
          <pc:docMk/>
          <pc:sldMk cId="591890035" sldId="287"/>
        </pc:sldMkLst>
        <pc:spChg chg="mod">
          <ac:chgData name="Demelza Pilgrim" userId="9b1f39d4-236b-4377-9a8d-dccbd2a774dd" providerId="ADAL" clId="{0780300E-AF38-43B0-ADC8-15317F0B68C5}" dt="2025-08-14T09:10:16.406" v="184" actId="120"/>
          <ac:spMkLst>
            <pc:docMk/>
            <pc:sldMk cId="591890035" sldId="287"/>
            <ac:spMk id="2" creationId="{398214CE-3250-F7F0-AE05-421FA0F9E543}"/>
          </ac:spMkLst>
        </pc:spChg>
        <pc:spChg chg="mod">
          <ac:chgData name="Demelza Pilgrim" userId="9b1f39d4-236b-4377-9a8d-dccbd2a774dd" providerId="ADAL" clId="{0780300E-AF38-43B0-ADC8-15317F0B68C5}" dt="2025-08-14T14:06:05.985" v="419" actId="14100"/>
          <ac:spMkLst>
            <pc:docMk/>
            <pc:sldMk cId="591890035" sldId="287"/>
            <ac:spMk id="3" creationId="{FF9B3823-0605-807A-5635-4865E10F2BE4}"/>
          </ac:spMkLst>
        </pc:spChg>
        <pc:picChg chg="mod">
          <ac:chgData name="Demelza Pilgrim" userId="9b1f39d4-236b-4377-9a8d-dccbd2a774dd" providerId="ADAL" clId="{0780300E-AF38-43B0-ADC8-15317F0B68C5}" dt="2025-08-13T16:17:32.254" v="66" actId="1076"/>
          <ac:picMkLst>
            <pc:docMk/>
            <pc:sldMk cId="591890035" sldId="287"/>
            <ac:picMk id="5" creationId="{295E040E-13B2-6A1F-C2CA-FE2D44F88278}"/>
          </ac:picMkLst>
        </pc:picChg>
      </pc:sldChg>
      <pc:sldChg chg="modSp add mod">
        <pc:chgData name="Demelza Pilgrim" userId="9b1f39d4-236b-4377-9a8d-dccbd2a774dd" providerId="ADAL" clId="{0780300E-AF38-43B0-ADC8-15317F0B68C5}" dt="2025-08-14T09:47:53.951" v="271" actId="20577"/>
        <pc:sldMkLst>
          <pc:docMk/>
          <pc:sldMk cId="2640722381" sldId="288"/>
        </pc:sldMkLst>
        <pc:spChg chg="mod">
          <ac:chgData name="Demelza Pilgrim" userId="9b1f39d4-236b-4377-9a8d-dccbd2a774dd" providerId="ADAL" clId="{0780300E-AF38-43B0-ADC8-15317F0B68C5}" dt="2025-08-14T09:47:53.951" v="271" actId="20577"/>
          <ac:spMkLst>
            <pc:docMk/>
            <pc:sldMk cId="2640722381" sldId="288"/>
            <ac:spMk id="2" creationId="{1AFEF73C-04D4-7BB1-2084-E39FB595A675}"/>
          </ac:spMkLst>
        </pc:spChg>
      </pc:sldChg>
      <pc:sldChg chg="addSp delSp del mod ord">
        <pc:chgData name="Demelza Pilgrim" userId="9b1f39d4-236b-4377-9a8d-dccbd2a774dd" providerId="ADAL" clId="{0780300E-AF38-43B0-ADC8-15317F0B68C5}" dt="2025-08-14T09:16:01.047" v="243" actId="47"/>
        <pc:sldMkLst>
          <pc:docMk/>
          <pc:sldMk cId="731345745" sldId="398"/>
        </pc:sldMkLst>
        <pc:spChg chg="add del">
          <ac:chgData name="Demelza Pilgrim" userId="9b1f39d4-236b-4377-9a8d-dccbd2a774dd" providerId="ADAL" clId="{0780300E-AF38-43B0-ADC8-15317F0B68C5}" dt="2025-08-13T15:00:20.664" v="6" actId="22"/>
          <ac:spMkLst>
            <pc:docMk/>
            <pc:sldMk cId="731345745" sldId="398"/>
            <ac:spMk id="5" creationId="{2E5FA23C-E3DC-9FB3-153F-BC82B0F52C84}"/>
          </ac:spMkLst>
        </pc:spChg>
        <pc:spChg chg="add del">
          <ac:chgData name="Demelza Pilgrim" userId="9b1f39d4-236b-4377-9a8d-dccbd2a774dd" providerId="ADAL" clId="{0780300E-AF38-43B0-ADC8-15317F0B68C5}" dt="2025-08-13T15:00:30.754" v="8" actId="22"/>
          <ac:spMkLst>
            <pc:docMk/>
            <pc:sldMk cId="731345745" sldId="398"/>
            <ac:spMk id="7" creationId="{2B968BFF-CCE0-F6C7-EB2D-7A3635A7AA2F}"/>
          </ac:spMkLst>
        </pc:spChg>
      </pc:sldChg>
      <pc:sldChg chg="del">
        <pc:chgData name="Demelza Pilgrim" userId="9b1f39d4-236b-4377-9a8d-dccbd2a774dd" providerId="ADAL" clId="{0780300E-AF38-43B0-ADC8-15317F0B68C5}" dt="2025-08-13T15:00:09.967" v="3" actId="47"/>
        <pc:sldMkLst>
          <pc:docMk/>
          <pc:sldMk cId="2448094804" sldId="422"/>
        </pc:sldMkLst>
      </pc:sldChg>
      <pc:sldChg chg="del">
        <pc:chgData name="Demelza Pilgrim" userId="9b1f39d4-236b-4377-9a8d-dccbd2a774dd" providerId="ADAL" clId="{0780300E-AF38-43B0-ADC8-15317F0B68C5}" dt="2025-08-13T15:00:05.737" v="2" actId="47"/>
        <pc:sldMkLst>
          <pc:docMk/>
          <pc:sldMk cId="1235986055" sldId="423"/>
        </pc:sldMkLst>
      </pc:sldChg>
      <pc:sldChg chg="del">
        <pc:chgData name="Demelza Pilgrim" userId="9b1f39d4-236b-4377-9a8d-dccbd2a774dd" providerId="ADAL" clId="{0780300E-AF38-43B0-ADC8-15317F0B68C5}" dt="2025-08-13T15:00:11.607" v="4" actId="47"/>
        <pc:sldMkLst>
          <pc:docMk/>
          <pc:sldMk cId="2365390341" sldId="424"/>
        </pc:sldMkLst>
      </pc:sldChg>
      <pc:sldChg chg="addSp delSp modSp mod ord">
        <pc:chgData name="Demelza Pilgrim" userId="9b1f39d4-236b-4377-9a8d-dccbd2a774dd" providerId="ADAL" clId="{0780300E-AF38-43B0-ADC8-15317F0B68C5}" dt="2025-08-14T14:07:07.998" v="431" actId="14100"/>
        <pc:sldMkLst>
          <pc:docMk/>
          <pc:sldMk cId="3756886547" sldId="425"/>
        </pc:sldMkLst>
        <pc:spChg chg="mod">
          <ac:chgData name="Demelza Pilgrim" userId="9b1f39d4-236b-4377-9a8d-dccbd2a774dd" providerId="ADAL" clId="{0780300E-AF38-43B0-ADC8-15317F0B68C5}" dt="2025-08-14T14:07:07.998" v="431" actId="14100"/>
          <ac:spMkLst>
            <pc:docMk/>
            <pc:sldMk cId="3756886547" sldId="425"/>
            <ac:spMk id="2" creationId="{00000000-0000-0000-0000-000000000000}"/>
          </ac:spMkLst>
        </pc:spChg>
        <pc:spChg chg="mod">
          <ac:chgData name="Demelza Pilgrim" userId="9b1f39d4-236b-4377-9a8d-dccbd2a774dd" providerId="ADAL" clId="{0780300E-AF38-43B0-ADC8-15317F0B68C5}" dt="2025-08-14T14:07:04.892" v="430" actId="14100"/>
          <ac:spMkLst>
            <pc:docMk/>
            <pc:sldMk cId="3756886547" sldId="425"/>
            <ac:spMk id="4" creationId="{00000000-0000-0000-0000-000000000000}"/>
          </ac:spMkLst>
        </pc:spChg>
        <pc:spChg chg="del mod">
          <ac:chgData name="Demelza Pilgrim" userId="9b1f39d4-236b-4377-9a8d-dccbd2a774dd" providerId="ADAL" clId="{0780300E-AF38-43B0-ADC8-15317F0B68C5}" dt="2025-08-14T09:50:48.177" v="290"/>
          <ac:spMkLst>
            <pc:docMk/>
            <pc:sldMk cId="3756886547" sldId="425"/>
            <ac:spMk id="5" creationId="{00000000-0000-0000-0000-000000000000}"/>
          </ac:spMkLst>
        </pc:spChg>
        <pc:spChg chg="add del mod">
          <ac:chgData name="Demelza Pilgrim" userId="9b1f39d4-236b-4377-9a8d-dccbd2a774dd" providerId="ADAL" clId="{0780300E-AF38-43B0-ADC8-15317F0B68C5}" dt="2025-08-14T09:52:03.039" v="295" actId="478"/>
          <ac:spMkLst>
            <pc:docMk/>
            <pc:sldMk cId="3756886547" sldId="425"/>
            <ac:spMk id="6" creationId="{B5706A8B-C3E8-46BE-175E-D4FEE76824E7}"/>
          </ac:spMkLst>
        </pc:spChg>
      </pc:sldChg>
      <pc:sldChg chg="modSp del mod ord">
        <pc:chgData name="Demelza Pilgrim" userId="9b1f39d4-236b-4377-9a8d-dccbd2a774dd" providerId="ADAL" clId="{0780300E-AF38-43B0-ADC8-15317F0B68C5}" dt="2025-08-14T14:30:02.482" v="796" actId="47"/>
        <pc:sldMkLst>
          <pc:docMk/>
          <pc:sldMk cId="2346256301" sldId="426"/>
        </pc:sldMkLst>
        <pc:spChg chg="mod">
          <ac:chgData name="Demelza Pilgrim" userId="9b1f39d4-236b-4377-9a8d-dccbd2a774dd" providerId="ADAL" clId="{0780300E-AF38-43B0-ADC8-15317F0B68C5}" dt="2025-08-14T14:29:33.805" v="790" actId="21"/>
          <ac:spMkLst>
            <pc:docMk/>
            <pc:sldMk cId="2346256301" sldId="426"/>
            <ac:spMk id="3" creationId="{00000000-0000-0000-0000-000000000000}"/>
          </ac:spMkLst>
        </pc:spChg>
      </pc:sldChg>
      <pc:sldChg chg="del ord">
        <pc:chgData name="Demelza Pilgrim" userId="9b1f39d4-236b-4377-9a8d-dccbd2a774dd" providerId="ADAL" clId="{0780300E-AF38-43B0-ADC8-15317F0B68C5}" dt="2025-08-14T14:30:52.261" v="808" actId="47"/>
        <pc:sldMkLst>
          <pc:docMk/>
          <pc:sldMk cId="1390070471" sldId="428"/>
        </pc:sldMkLst>
      </pc:sldChg>
      <pc:sldChg chg="del ord">
        <pc:chgData name="Demelza Pilgrim" userId="9b1f39d4-236b-4377-9a8d-dccbd2a774dd" providerId="ADAL" clId="{0780300E-AF38-43B0-ADC8-15317F0B68C5}" dt="2025-08-14T14:34:13.744" v="861" actId="47"/>
        <pc:sldMkLst>
          <pc:docMk/>
          <pc:sldMk cId="1700051849" sldId="430"/>
        </pc:sldMkLst>
      </pc:sldChg>
      <pc:sldChg chg="del ord">
        <pc:chgData name="Demelza Pilgrim" userId="9b1f39d4-236b-4377-9a8d-dccbd2a774dd" providerId="ADAL" clId="{0780300E-AF38-43B0-ADC8-15317F0B68C5}" dt="2025-08-14T14:35:25.356" v="906" actId="47"/>
        <pc:sldMkLst>
          <pc:docMk/>
          <pc:sldMk cId="2533034016" sldId="432"/>
        </pc:sldMkLst>
      </pc:sldChg>
      <pc:sldChg chg="del ord">
        <pc:chgData name="Demelza Pilgrim" userId="9b1f39d4-236b-4377-9a8d-dccbd2a774dd" providerId="ADAL" clId="{0780300E-AF38-43B0-ADC8-15317F0B68C5}" dt="2025-08-14T14:36:07.304" v="928" actId="47"/>
        <pc:sldMkLst>
          <pc:docMk/>
          <pc:sldMk cId="3607013711" sldId="434"/>
        </pc:sldMkLst>
      </pc:sldChg>
      <pc:sldChg chg="modSp ord modNotesTx">
        <pc:chgData name="Demelza Pilgrim" userId="9b1f39d4-236b-4377-9a8d-dccbd2a774dd" providerId="ADAL" clId="{0780300E-AF38-43B0-ADC8-15317F0B68C5}" dt="2025-08-14T14:36:03.148" v="927" actId="6549"/>
        <pc:sldMkLst>
          <pc:docMk/>
          <pc:sldMk cId="201507980" sldId="435"/>
        </pc:sldMkLst>
        <pc:graphicFrameChg chg="mod">
          <ac:chgData name="Demelza Pilgrim" userId="9b1f39d4-236b-4377-9a8d-dccbd2a774dd" providerId="ADAL" clId="{0780300E-AF38-43B0-ADC8-15317F0B68C5}" dt="2025-08-14T14:35:31.483" v="907" actId="14100"/>
          <ac:graphicFrameMkLst>
            <pc:docMk/>
            <pc:sldMk cId="201507980" sldId="435"/>
            <ac:graphicFrameMk id="4" creationId="{40227B97-49D0-4008-9F50-DC433FF4A3CD}"/>
          </ac:graphicFrameMkLst>
        </pc:graphicFrameChg>
      </pc:sldChg>
      <pc:sldChg chg="del ord">
        <pc:chgData name="Demelza Pilgrim" userId="9b1f39d4-236b-4377-9a8d-dccbd2a774dd" providerId="ADAL" clId="{0780300E-AF38-43B0-ADC8-15317F0B68C5}" dt="2025-08-14T10:13:10.658" v="377" actId="47"/>
        <pc:sldMkLst>
          <pc:docMk/>
          <pc:sldMk cId="3322954121" sldId="436"/>
        </pc:sldMkLst>
      </pc:sldChg>
      <pc:sldChg chg="modNotesTx">
        <pc:chgData name="Demelza Pilgrim" userId="9b1f39d4-236b-4377-9a8d-dccbd2a774dd" providerId="ADAL" clId="{0780300E-AF38-43B0-ADC8-15317F0B68C5}" dt="2025-08-14T14:37:30.783" v="944" actId="20577"/>
        <pc:sldMkLst>
          <pc:docMk/>
          <pc:sldMk cId="3680968939" sldId="441"/>
        </pc:sldMkLst>
      </pc:sldChg>
      <pc:sldChg chg="addSp delSp modSp add mod">
        <pc:chgData name="Demelza Pilgrim" userId="9b1f39d4-236b-4377-9a8d-dccbd2a774dd" providerId="ADAL" clId="{0780300E-AF38-43B0-ADC8-15317F0B68C5}" dt="2025-08-14T14:50:47.200" v="1344" actId="20577"/>
        <pc:sldMkLst>
          <pc:docMk/>
          <pc:sldMk cId="1332667203" sldId="442"/>
        </pc:sldMkLst>
        <pc:spChg chg="mod">
          <ac:chgData name="Demelza Pilgrim" userId="9b1f39d4-236b-4377-9a8d-dccbd2a774dd" providerId="ADAL" clId="{0780300E-AF38-43B0-ADC8-15317F0B68C5}" dt="2025-08-14T09:53:02.472" v="298" actId="14100"/>
          <ac:spMkLst>
            <pc:docMk/>
            <pc:sldMk cId="1332667203" sldId="442"/>
            <ac:spMk id="2" creationId="{00000000-0000-0000-0000-000000000000}"/>
          </ac:spMkLst>
        </pc:spChg>
        <pc:spChg chg="mod">
          <ac:chgData name="Demelza Pilgrim" userId="9b1f39d4-236b-4377-9a8d-dccbd2a774dd" providerId="ADAL" clId="{0780300E-AF38-43B0-ADC8-15317F0B68C5}" dt="2025-08-14T14:16:53.320" v="768" actId="6549"/>
          <ac:spMkLst>
            <pc:docMk/>
            <pc:sldMk cId="1332667203" sldId="442"/>
            <ac:spMk id="3" creationId="{00000000-0000-0000-0000-000000000000}"/>
          </ac:spMkLst>
        </pc:spChg>
        <pc:spChg chg="add mod">
          <ac:chgData name="Demelza Pilgrim" userId="9b1f39d4-236b-4377-9a8d-dccbd2a774dd" providerId="ADAL" clId="{0780300E-AF38-43B0-ADC8-15317F0B68C5}" dt="2025-08-14T14:50:47.200" v="1344" actId="20577"/>
          <ac:spMkLst>
            <pc:docMk/>
            <pc:sldMk cId="1332667203" sldId="442"/>
            <ac:spMk id="5" creationId="{E5A7E39D-908B-242F-77B5-50E1E4C70EA6}"/>
          </ac:spMkLst>
        </pc:spChg>
        <pc:spChg chg="add del mod">
          <ac:chgData name="Demelza Pilgrim" userId="9b1f39d4-236b-4377-9a8d-dccbd2a774dd" providerId="ADAL" clId="{0780300E-AF38-43B0-ADC8-15317F0B68C5}" dt="2025-08-14T14:50:42.093" v="1339" actId="478"/>
          <ac:spMkLst>
            <pc:docMk/>
            <pc:sldMk cId="1332667203" sldId="442"/>
            <ac:spMk id="8" creationId="{E32212B7-D48B-8EA9-3AA9-500C71BB7A14}"/>
          </ac:spMkLst>
        </pc:spChg>
        <pc:picChg chg="mod">
          <ac:chgData name="Demelza Pilgrim" userId="9b1f39d4-236b-4377-9a8d-dccbd2a774dd" providerId="ADAL" clId="{0780300E-AF38-43B0-ADC8-15317F0B68C5}" dt="2025-08-14T14:16:56.859" v="772" actId="1038"/>
          <ac:picMkLst>
            <pc:docMk/>
            <pc:sldMk cId="1332667203" sldId="442"/>
            <ac:picMk id="4100" creationId="{00000000-0000-0000-0000-000000000000}"/>
          </ac:picMkLst>
        </pc:picChg>
        <pc:cxnChg chg="add del">
          <ac:chgData name="Demelza Pilgrim" userId="9b1f39d4-236b-4377-9a8d-dccbd2a774dd" providerId="ADAL" clId="{0780300E-AF38-43B0-ADC8-15317F0B68C5}" dt="2025-08-14T14:50:43.070" v="1340" actId="478"/>
          <ac:cxnSpMkLst>
            <pc:docMk/>
            <pc:sldMk cId="1332667203" sldId="442"/>
            <ac:cxnSpMk id="7" creationId="{37DC01C5-CA32-315B-8EEE-E84FD8494BD3}"/>
          </ac:cxnSpMkLst>
        </pc:cxnChg>
      </pc:sldChg>
      <pc:sldChg chg="del">
        <pc:chgData name="Demelza Pilgrim" userId="9b1f39d4-236b-4377-9a8d-dccbd2a774dd" providerId="ADAL" clId="{0780300E-AF38-43B0-ADC8-15317F0B68C5}" dt="2025-08-13T15:01:27.293" v="21" actId="47"/>
        <pc:sldMkLst>
          <pc:docMk/>
          <pc:sldMk cId="3495177323" sldId="442"/>
        </pc:sldMkLst>
      </pc:sldChg>
      <pc:sldChg chg="del">
        <pc:chgData name="Demelza Pilgrim" userId="9b1f39d4-236b-4377-9a8d-dccbd2a774dd" providerId="ADAL" clId="{0780300E-AF38-43B0-ADC8-15317F0B68C5}" dt="2025-08-14T14:37:35.053" v="945" actId="47"/>
        <pc:sldMkLst>
          <pc:docMk/>
          <pc:sldMk cId="3446105278" sldId="443"/>
        </pc:sldMkLst>
      </pc:sldChg>
      <pc:sldChg chg="modSp mod">
        <pc:chgData name="Demelza Pilgrim" userId="9b1f39d4-236b-4377-9a8d-dccbd2a774dd" providerId="ADAL" clId="{0780300E-AF38-43B0-ADC8-15317F0B68C5}" dt="2025-08-14T14:46:20.969" v="1227" actId="404"/>
        <pc:sldMkLst>
          <pc:docMk/>
          <pc:sldMk cId="3268026335" sldId="444"/>
        </pc:sldMkLst>
        <pc:spChg chg="mod">
          <ac:chgData name="Demelza Pilgrim" userId="9b1f39d4-236b-4377-9a8d-dccbd2a774dd" providerId="ADAL" clId="{0780300E-AF38-43B0-ADC8-15317F0B68C5}" dt="2025-08-14T14:46:20.969" v="1227" actId="404"/>
          <ac:spMkLst>
            <pc:docMk/>
            <pc:sldMk cId="3268026335" sldId="444"/>
            <ac:spMk id="2" creationId="{8276FC4E-C423-43DD-A063-DA6203B5DAAC}"/>
          </ac:spMkLst>
        </pc:spChg>
      </pc:sldChg>
      <pc:sldChg chg="modSp add mod">
        <pc:chgData name="Demelza Pilgrim" userId="9b1f39d4-236b-4377-9a8d-dccbd2a774dd" providerId="ADAL" clId="{0780300E-AF38-43B0-ADC8-15317F0B68C5}" dt="2025-08-14T14:52:40.623" v="1381" actId="20577"/>
        <pc:sldMkLst>
          <pc:docMk/>
          <pc:sldMk cId="1668558411" sldId="462"/>
        </pc:sldMkLst>
        <pc:spChg chg="mod">
          <ac:chgData name="Demelza Pilgrim" userId="9b1f39d4-236b-4377-9a8d-dccbd2a774dd" providerId="ADAL" clId="{0780300E-AF38-43B0-ADC8-15317F0B68C5}" dt="2025-08-14T14:52:30.371" v="1362" actId="120"/>
          <ac:spMkLst>
            <pc:docMk/>
            <pc:sldMk cId="1668558411" sldId="462"/>
            <ac:spMk id="2" creationId="{C8F0632B-2FCE-B6ED-C419-427E610D5F4C}"/>
          </ac:spMkLst>
        </pc:spChg>
        <pc:spChg chg="mod">
          <ac:chgData name="Demelza Pilgrim" userId="9b1f39d4-236b-4377-9a8d-dccbd2a774dd" providerId="ADAL" clId="{0780300E-AF38-43B0-ADC8-15317F0B68C5}" dt="2025-08-14T14:52:40.623" v="1381" actId="20577"/>
          <ac:spMkLst>
            <pc:docMk/>
            <pc:sldMk cId="1668558411" sldId="462"/>
            <ac:spMk id="3" creationId="{7393D38A-6D63-08BB-0FBC-2882D1231479}"/>
          </ac:spMkLst>
        </pc:spChg>
      </pc:sldChg>
      <pc:sldChg chg="modSp add mod">
        <pc:chgData name="Demelza Pilgrim" userId="9b1f39d4-236b-4377-9a8d-dccbd2a774dd" providerId="ADAL" clId="{0780300E-AF38-43B0-ADC8-15317F0B68C5}" dt="2025-08-14T14:13:57.330" v="611" actId="1076"/>
        <pc:sldMkLst>
          <pc:docMk/>
          <pc:sldMk cId="2469363055" sldId="621"/>
        </pc:sldMkLst>
        <pc:spChg chg="mod">
          <ac:chgData name="Demelza Pilgrim" userId="9b1f39d4-236b-4377-9a8d-dccbd2a774dd" providerId="ADAL" clId="{0780300E-AF38-43B0-ADC8-15317F0B68C5}" dt="2025-08-14T14:13:41.561" v="609" actId="1076"/>
          <ac:spMkLst>
            <pc:docMk/>
            <pc:sldMk cId="2469363055" sldId="621"/>
            <ac:spMk id="2" creationId="{00000000-0000-0000-0000-000000000000}"/>
          </ac:spMkLst>
        </pc:spChg>
        <pc:graphicFrameChg chg="mod modGraphic">
          <ac:chgData name="Demelza Pilgrim" userId="9b1f39d4-236b-4377-9a8d-dccbd2a774dd" providerId="ADAL" clId="{0780300E-AF38-43B0-ADC8-15317F0B68C5}" dt="2025-08-14T14:13:57.330" v="611" actId="1076"/>
          <ac:graphicFrameMkLst>
            <pc:docMk/>
            <pc:sldMk cId="2469363055" sldId="621"/>
            <ac:graphicFrameMk id="5" creationId="{59CCBC1A-3B61-444F-A3EF-77733FF303D1}"/>
          </ac:graphicFrameMkLst>
        </pc:graphicFrameChg>
      </pc:sldChg>
      <pc:sldChg chg="modSp add mod">
        <pc:chgData name="Demelza Pilgrim" userId="9b1f39d4-236b-4377-9a8d-dccbd2a774dd" providerId="ADAL" clId="{0780300E-AF38-43B0-ADC8-15317F0B68C5}" dt="2025-08-14T14:14:22.108" v="621" actId="14100"/>
        <pc:sldMkLst>
          <pc:docMk/>
          <pc:sldMk cId="66171161" sldId="622"/>
        </pc:sldMkLst>
        <pc:spChg chg="mod">
          <ac:chgData name="Demelza Pilgrim" userId="9b1f39d4-236b-4377-9a8d-dccbd2a774dd" providerId="ADAL" clId="{0780300E-AF38-43B0-ADC8-15317F0B68C5}" dt="2025-08-14T14:14:07.945" v="617" actId="404"/>
          <ac:spMkLst>
            <pc:docMk/>
            <pc:sldMk cId="66171161" sldId="622"/>
            <ac:spMk id="2" creationId="{00000000-0000-0000-0000-000000000000}"/>
          </ac:spMkLst>
        </pc:spChg>
        <pc:spChg chg="mod">
          <ac:chgData name="Demelza Pilgrim" userId="9b1f39d4-236b-4377-9a8d-dccbd2a774dd" providerId="ADAL" clId="{0780300E-AF38-43B0-ADC8-15317F0B68C5}" dt="2025-08-14T14:14:13.587" v="618" actId="1076"/>
          <ac:spMkLst>
            <pc:docMk/>
            <pc:sldMk cId="66171161" sldId="622"/>
            <ac:spMk id="3" creationId="{00000000-0000-0000-0000-000000000000}"/>
          </ac:spMkLst>
        </pc:spChg>
        <pc:graphicFrameChg chg="mod modGraphic">
          <ac:chgData name="Demelza Pilgrim" userId="9b1f39d4-236b-4377-9a8d-dccbd2a774dd" providerId="ADAL" clId="{0780300E-AF38-43B0-ADC8-15317F0B68C5}" dt="2025-08-14T14:14:22.108" v="621" actId="14100"/>
          <ac:graphicFrameMkLst>
            <pc:docMk/>
            <pc:sldMk cId="66171161" sldId="622"/>
            <ac:graphicFrameMk id="6" creationId="{0BED12CC-9557-4B24-8845-2777142F17C9}"/>
          </ac:graphicFrameMkLst>
        </pc:graphicFrameChg>
      </pc:sldChg>
      <pc:sldChg chg="modSp add del mod">
        <pc:chgData name="Demelza Pilgrim" userId="9b1f39d4-236b-4377-9a8d-dccbd2a774dd" providerId="ADAL" clId="{0780300E-AF38-43B0-ADC8-15317F0B68C5}" dt="2025-08-14T14:52:11.705" v="1351" actId="47"/>
        <pc:sldMkLst>
          <pc:docMk/>
          <pc:sldMk cId="3683041054" sldId="644"/>
        </pc:sldMkLst>
        <pc:spChg chg="mod">
          <ac:chgData name="Demelza Pilgrim" userId="9b1f39d4-236b-4377-9a8d-dccbd2a774dd" providerId="ADAL" clId="{0780300E-AF38-43B0-ADC8-15317F0B68C5}" dt="2025-08-14T14:51:46.932" v="1349" actId="1076"/>
          <ac:spMkLst>
            <pc:docMk/>
            <pc:sldMk cId="3683041054" sldId="644"/>
            <ac:spMk id="13319" creationId="{AA415FDD-419D-9531-835C-5A41D2DF676B}"/>
          </ac:spMkLst>
        </pc:spChg>
      </pc:sldChg>
      <pc:sldChg chg="addSp modSp add mod modAnim">
        <pc:chgData name="Demelza Pilgrim" userId="9b1f39d4-236b-4377-9a8d-dccbd2a774dd" providerId="ADAL" clId="{0780300E-AF38-43B0-ADC8-15317F0B68C5}" dt="2025-08-14T14:12:39.617" v="600" actId="122"/>
        <pc:sldMkLst>
          <pc:docMk/>
          <pc:sldMk cId="322152927" sldId="645"/>
        </pc:sldMkLst>
        <pc:spChg chg="mod">
          <ac:chgData name="Demelza Pilgrim" userId="9b1f39d4-236b-4377-9a8d-dccbd2a774dd" providerId="ADAL" clId="{0780300E-AF38-43B0-ADC8-15317F0B68C5}" dt="2025-08-14T10:15:06.907" v="406" actId="108"/>
          <ac:spMkLst>
            <pc:docMk/>
            <pc:sldMk cId="322152927" sldId="645"/>
            <ac:spMk id="2" creationId="{00000000-0000-0000-0000-000000000000}"/>
          </ac:spMkLst>
        </pc:spChg>
        <pc:spChg chg="add mod">
          <ac:chgData name="Demelza Pilgrim" userId="9b1f39d4-236b-4377-9a8d-dccbd2a774dd" providerId="ADAL" clId="{0780300E-AF38-43B0-ADC8-15317F0B68C5}" dt="2025-08-14T14:11:04.552" v="581" actId="20577"/>
          <ac:spMkLst>
            <pc:docMk/>
            <pc:sldMk cId="322152927" sldId="645"/>
            <ac:spMk id="3" creationId="{DDAA1D26-0822-647E-7D8D-BD65EFC4786A}"/>
          </ac:spMkLst>
        </pc:spChg>
        <pc:spChg chg="mod">
          <ac:chgData name="Demelza Pilgrim" userId="9b1f39d4-236b-4377-9a8d-dccbd2a774dd" providerId="ADAL" clId="{0780300E-AF38-43B0-ADC8-15317F0B68C5}" dt="2025-08-14T14:11:36.081" v="586" actId="14100"/>
          <ac:spMkLst>
            <pc:docMk/>
            <pc:sldMk cId="322152927" sldId="645"/>
            <ac:spMk id="5" creationId="{9912F6F9-8AFF-B2AF-D251-0AAAA51A79FA}"/>
          </ac:spMkLst>
        </pc:spChg>
        <pc:spChg chg="mod">
          <ac:chgData name="Demelza Pilgrim" userId="9b1f39d4-236b-4377-9a8d-dccbd2a774dd" providerId="ADAL" clId="{0780300E-AF38-43B0-ADC8-15317F0B68C5}" dt="2025-08-14T14:12:39.617" v="600" actId="122"/>
          <ac:spMkLst>
            <pc:docMk/>
            <pc:sldMk cId="322152927" sldId="645"/>
            <ac:spMk id="8" creationId="{00000000-0000-0000-0000-000000000000}"/>
          </ac:spMkLst>
        </pc:spChg>
      </pc:sldChg>
      <pc:sldChg chg="new del">
        <pc:chgData name="Demelza Pilgrim" userId="9b1f39d4-236b-4377-9a8d-dccbd2a774dd" providerId="ADAL" clId="{0780300E-AF38-43B0-ADC8-15317F0B68C5}" dt="2025-08-14T10:13:45.080" v="379" actId="47"/>
        <pc:sldMkLst>
          <pc:docMk/>
          <pc:sldMk cId="582104105" sldId="646"/>
        </pc:sldMkLst>
      </pc:sldChg>
      <pc:sldChg chg="modSp add del mod">
        <pc:chgData name="Demelza Pilgrim" userId="9b1f39d4-236b-4377-9a8d-dccbd2a774dd" providerId="ADAL" clId="{0780300E-AF38-43B0-ADC8-15317F0B68C5}" dt="2025-08-14T10:11:52.492" v="371" actId="2696"/>
        <pc:sldMkLst>
          <pc:docMk/>
          <pc:sldMk cId="2576629569" sldId="646"/>
        </pc:sldMkLst>
        <pc:spChg chg="mod">
          <ac:chgData name="Demelza Pilgrim" userId="9b1f39d4-236b-4377-9a8d-dccbd2a774dd" providerId="ADAL" clId="{0780300E-AF38-43B0-ADC8-15317F0B68C5}" dt="2025-08-14T10:09:01.180" v="320" actId="14100"/>
          <ac:spMkLst>
            <pc:docMk/>
            <pc:sldMk cId="2576629569" sldId="646"/>
            <ac:spMk id="2" creationId="{00000000-0000-0000-0000-000000000000}"/>
          </ac:spMkLst>
        </pc:spChg>
        <pc:spChg chg="mod">
          <ac:chgData name="Demelza Pilgrim" userId="9b1f39d4-236b-4377-9a8d-dccbd2a774dd" providerId="ADAL" clId="{0780300E-AF38-43B0-ADC8-15317F0B68C5}" dt="2025-08-14T10:09:57.879" v="333" actId="6549"/>
          <ac:spMkLst>
            <pc:docMk/>
            <pc:sldMk cId="2576629569" sldId="646"/>
            <ac:spMk id="5" creationId="{729F98DE-885E-C040-9F0F-ED38A7DABF5C}"/>
          </ac:spMkLst>
        </pc:spChg>
      </pc:sldChg>
      <pc:sldChg chg="addSp delSp modSp new mod modNotesTx">
        <pc:chgData name="Demelza Pilgrim" userId="9b1f39d4-236b-4377-9a8d-dccbd2a774dd" providerId="ADAL" clId="{0780300E-AF38-43B0-ADC8-15317F0B68C5}" dt="2025-08-14T14:46:41.151" v="1230" actId="1076"/>
        <pc:sldMkLst>
          <pc:docMk/>
          <pc:sldMk cId="3478082570" sldId="646"/>
        </pc:sldMkLst>
        <pc:spChg chg="mod">
          <ac:chgData name="Demelza Pilgrim" userId="9b1f39d4-236b-4377-9a8d-dccbd2a774dd" providerId="ADAL" clId="{0780300E-AF38-43B0-ADC8-15317F0B68C5}" dt="2025-08-14T14:46:41.151" v="1230" actId="1076"/>
          <ac:spMkLst>
            <pc:docMk/>
            <pc:sldMk cId="3478082570" sldId="646"/>
            <ac:spMk id="2" creationId="{9959E76A-A4C5-D81F-3870-FBEE7B9913B5}"/>
          </ac:spMkLst>
        </pc:spChg>
        <pc:spChg chg="del mod">
          <ac:chgData name="Demelza Pilgrim" userId="9b1f39d4-236b-4377-9a8d-dccbd2a774dd" providerId="ADAL" clId="{0780300E-AF38-43B0-ADC8-15317F0B68C5}" dt="2025-08-14T14:44:13.554" v="1093" actId="478"/>
          <ac:spMkLst>
            <pc:docMk/>
            <pc:sldMk cId="3478082570" sldId="646"/>
            <ac:spMk id="3" creationId="{13591C8E-FCDD-60DB-1D4E-F0F0A1B16B23}"/>
          </ac:spMkLst>
        </pc:spChg>
        <pc:spChg chg="add mod">
          <ac:chgData name="Demelza Pilgrim" userId="9b1f39d4-236b-4377-9a8d-dccbd2a774dd" providerId="ADAL" clId="{0780300E-AF38-43B0-ADC8-15317F0B68C5}" dt="2025-08-14T14:44:29.987" v="1097" actId="1076"/>
          <ac:spMkLst>
            <pc:docMk/>
            <pc:sldMk cId="3478082570" sldId="646"/>
            <ac:spMk id="5" creationId="{0B8F4432-9517-1F65-2F01-6E286BF4A42E}"/>
          </ac:spMkLst>
        </pc:spChg>
        <pc:spChg chg="add del mod">
          <ac:chgData name="Demelza Pilgrim" userId="9b1f39d4-236b-4377-9a8d-dccbd2a774dd" providerId="ADAL" clId="{0780300E-AF38-43B0-ADC8-15317F0B68C5}" dt="2025-08-14T14:43:26.578" v="1004" actId="478"/>
          <ac:spMkLst>
            <pc:docMk/>
            <pc:sldMk cId="3478082570" sldId="646"/>
            <ac:spMk id="6" creationId="{5D3EC8CE-B939-6D5E-2B46-F1349AF15481}"/>
          </ac:spMkLst>
        </pc:spChg>
        <pc:spChg chg="add mod">
          <ac:chgData name="Demelza Pilgrim" userId="9b1f39d4-236b-4377-9a8d-dccbd2a774dd" providerId="ADAL" clId="{0780300E-AF38-43B0-ADC8-15317F0B68C5}" dt="2025-08-14T14:44:27.644" v="1096" actId="1076"/>
          <ac:spMkLst>
            <pc:docMk/>
            <pc:sldMk cId="3478082570" sldId="646"/>
            <ac:spMk id="7" creationId="{6516594A-5F05-0F04-A7E9-406323C92E0E}"/>
          </ac:spMkLst>
        </pc:spChg>
        <pc:spChg chg="add mod">
          <ac:chgData name="Demelza Pilgrim" userId="9b1f39d4-236b-4377-9a8d-dccbd2a774dd" providerId="ADAL" clId="{0780300E-AF38-43B0-ADC8-15317F0B68C5}" dt="2025-08-14T14:45:04.720" v="1135" actId="20577"/>
          <ac:spMkLst>
            <pc:docMk/>
            <pc:sldMk cId="3478082570" sldId="646"/>
            <ac:spMk id="8" creationId="{F8D2819B-C8E2-F792-94A8-9307E325A04F}"/>
          </ac:spMkLst>
        </pc:spChg>
        <pc:spChg chg="add del mod">
          <ac:chgData name="Demelza Pilgrim" userId="9b1f39d4-236b-4377-9a8d-dccbd2a774dd" providerId="ADAL" clId="{0780300E-AF38-43B0-ADC8-15317F0B68C5}" dt="2025-08-14T14:44:17.612" v="1094" actId="478"/>
          <ac:spMkLst>
            <pc:docMk/>
            <pc:sldMk cId="3478082570" sldId="646"/>
            <ac:spMk id="10" creationId="{E89AF5FE-2D42-A686-A808-04C641451E9A}"/>
          </ac:spMkLst>
        </pc:spChg>
        <pc:spChg chg="add mod">
          <ac:chgData name="Demelza Pilgrim" userId="9b1f39d4-236b-4377-9a8d-dccbd2a774dd" providerId="ADAL" clId="{0780300E-AF38-43B0-ADC8-15317F0B68C5}" dt="2025-08-14T14:46:14.129" v="1225" actId="20577"/>
          <ac:spMkLst>
            <pc:docMk/>
            <pc:sldMk cId="3478082570" sldId="646"/>
            <ac:spMk id="11" creationId="{BE735F1C-76F7-53FD-10C6-5DFD9A0C3573}"/>
          </ac:spMkLst>
        </pc:spChg>
      </pc:sldChg>
      <pc:sldChg chg="modSp add del mod">
        <pc:chgData name="Demelza Pilgrim" userId="9b1f39d4-236b-4377-9a8d-dccbd2a774dd" providerId="ADAL" clId="{0780300E-AF38-43B0-ADC8-15317F0B68C5}" dt="2025-08-14T10:12:21.241" v="372" actId="47"/>
        <pc:sldMkLst>
          <pc:docMk/>
          <pc:sldMk cId="1419451880" sldId="647"/>
        </pc:sldMkLst>
        <pc:spChg chg="mod">
          <ac:chgData name="Demelza Pilgrim" userId="9b1f39d4-236b-4377-9a8d-dccbd2a774dd" providerId="ADAL" clId="{0780300E-AF38-43B0-ADC8-15317F0B68C5}" dt="2025-08-13T15:00:55.068" v="17" actId="14100"/>
          <ac:spMkLst>
            <pc:docMk/>
            <pc:sldMk cId="1419451880" sldId="647"/>
            <ac:spMk id="2" creationId="{53EE7478-5A16-1978-D7B0-28684A85BCE4}"/>
          </ac:spMkLst>
        </pc:spChg>
        <pc:spChg chg="mod">
          <ac:chgData name="Demelza Pilgrim" userId="9b1f39d4-236b-4377-9a8d-dccbd2a774dd" providerId="ADAL" clId="{0780300E-AF38-43B0-ADC8-15317F0B68C5}" dt="2025-08-13T15:01:08.074" v="20" actId="113"/>
          <ac:spMkLst>
            <pc:docMk/>
            <pc:sldMk cId="1419451880" sldId="647"/>
            <ac:spMk id="4" creationId="{B116F39F-318B-3578-8BB0-D045F33BDEBD}"/>
          </ac:spMkLst>
        </pc:spChg>
      </pc:sldChg>
      <pc:sldChg chg="delSp modSp add del mod delAnim modAnim">
        <pc:chgData name="Demelza Pilgrim" userId="9b1f39d4-236b-4377-9a8d-dccbd2a774dd" providerId="ADAL" clId="{0780300E-AF38-43B0-ADC8-15317F0B68C5}" dt="2025-08-14T14:15:02.133" v="643" actId="47"/>
        <pc:sldMkLst>
          <pc:docMk/>
          <pc:sldMk cId="2576629569" sldId="647"/>
        </pc:sldMkLst>
        <pc:spChg chg="mod">
          <ac:chgData name="Demelza Pilgrim" userId="9b1f39d4-236b-4377-9a8d-dccbd2a774dd" providerId="ADAL" clId="{0780300E-AF38-43B0-ADC8-15317F0B68C5}" dt="2025-08-14T10:15:25.439" v="410" actId="1035"/>
          <ac:spMkLst>
            <pc:docMk/>
            <pc:sldMk cId="2576629569" sldId="647"/>
            <ac:spMk id="2" creationId="{00000000-0000-0000-0000-000000000000}"/>
          </ac:spMkLst>
        </pc:spChg>
        <pc:spChg chg="del mod">
          <ac:chgData name="Demelza Pilgrim" userId="9b1f39d4-236b-4377-9a8d-dccbd2a774dd" providerId="ADAL" clId="{0780300E-AF38-43B0-ADC8-15317F0B68C5}" dt="2025-08-14T14:14:49.851" v="623" actId="478"/>
          <ac:spMkLst>
            <pc:docMk/>
            <pc:sldMk cId="2576629569" sldId="647"/>
            <ac:spMk id="5" creationId="{729F98DE-885E-C040-9F0F-ED38A7DABF5C}"/>
          </ac:spMkLst>
        </pc:spChg>
        <pc:spChg chg="del mod">
          <ac:chgData name="Demelza Pilgrim" userId="9b1f39d4-236b-4377-9a8d-dccbd2a774dd" providerId="ADAL" clId="{0780300E-AF38-43B0-ADC8-15317F0B68C5}" dt="2025-08-14T14:14:59.210" v="642" actId="478"/>
          <ac:spMkLst>
            <pc:docMk/>
            <pc:sldMk cId="2576629569" sldId="647"/>
            <ac:spMk id="6" creationId="{00000000-0000-0000-0000-000000000000}"/>
          </ac:spMkLst>
        </pc:spChg>
      </pc:sldChg>
      <pc:sldChg chg="add del">
        <pc:chgData name="Demelza Pilgrim" userId="9b1f39d4-236b-4377-9a8d-dccbd2a774dd" providerId="ADAL" clId="{0780300E-AF38-43B0-ADC8-15317F0B68C5}" dt="2025-08-14T09:51:17.176" v="292" actId="2890"/>
        <pc:sldMkLst>
          <pc:docMk/>
          <pc:sldMk cId="1129106812" sldId="648"/>
        </pc:sldMkLst>
      </pc:sldChg>
      <pc:sldChg chg="add del">
        <pc:chgData name="Demelza Pilgrim" userId="9b1f39d4-236b-4377-9a8d-dccbd2a774dd" providerId="ADAL" clId="{0780300E-AF38-43B0-ADC8-15317F0B68C5}" dt="2025-08-14T09:51:36.595" v="294" actId="2696"/>
        <pc:sldMkLst>
          <pc:docMk/>
          <pc:sldMk cId="1149822549" sldId="648"/>
        </pc:sldMkLst>
      </pc:sldChg>
      <pc:sldChg chg="delSp modSp add mod">
        <pc:chgData name="Demelza Pilgrim" userId="9b1f39d4-236b-4377-9a8d-dccbd2a774dd" providerId="ADAL" clId="{0780300E-AF38-43B0-ADC8-15317F0B68C5}" dt="2025-08-14T14:12:17.415" v="595" actId="14100"/>
        <pc:sldMkLst>
          <pc:docMk/>
          <pc:sldMk cId="3438173866" sldId="648"/>
        </pc:sldMkLst>
        <pc:spChg chg="mod">
          <ac:chgData name="Demelza Pilgrim" userId="9b1f39d4-236b-4377-9a8d-dccbd2a774dd" providerId="ADAL" clId="{0780300E-AF38-43B0-ADC8-15317F0B68C5}" dt="2025-08-14T14:07:40.103" v="441" actId="20577"/>
          <ac:spMkLst>
            <pc:docMk/>
            <pc:sldMk cId="3438173866" sldId="648"/>
            <ac:spMk id="2" creationId="{B7A166E9-B626-06E2-420D-37EE53BB74EB}"/>
          </ac:spMkLst>
        </pc:spChg>
        <pc:spChg chg="mod">
          <ac:chgData name="Demelza Pilgrim" userId="9b1f39d4-236b-4377-9a8d-dccbd2a774dd" providerId="ADAL" clId="{0780300E-AF38-43B0-ADC8-15317F0B68C5}" dt="2025-08-14T14:12:17.415" v="595" actId="14100"/>
          <ac:spMkLst>
            <pc:docMk/>
            <pc:sldMk cId="3438173866" sldId="648"/>
            <ac:spMk id="3" creationId="{4591D977-C224-B13F-8B62-D7D3DD18687E}"/>
          </ac:spMkLst>
        </pc:spChg>
        <pc:spChg chg="del">
          <ac:chgData name="Demelza Pilgrim" userId="9b1f39d4-236b-4377-9a8d-dccbd2a774dd" providerId="ADAL" clId="{0780300E-AF38-43B0-ADC8-15317F0B68C5}" dt="2025-08-14T14:09:33.994" v="563" actId="478"/>
          <ac:spMkLst>
            <pc:docMk/>
            <pc:sldMk cId="3438173866" sldId="648"/>
            <ac:spMk id="5" creationId="{CAECFBF9-E9A8-BE96-E917-DB5A8020CA92}"/>
          </ac:spMkLst>
        </pc:spChg>
        <pc:picChg chg="del">
          <ac:chgData name="Demelza Pilgrim" userId="9b1f39d4-236b-4377-9a8d-dccbd2a774dd" providerId="ADAL" clId="{0780300E-AF38-43B0-ADC8-15317F0B68C5}" dt="2025-08-14T14:09:02.159" v="555" actId="478"/>
          <ac:picMkLst>
            <pc:docMk/>
            <pc:sldMk cId="3438173866" sldId="648"/>
            <ac:picMk id="4100" creationId="{C3B1D381-F16B-947C-BE3E-85955AFF1D04}"/>
          </ac:picMkLst>
        </pc:picChg>
      </pc:sldChg>
      <pc:sldChg chg="addSp delSp modSp add mod delAnim modNotesTx">
        <pc:chgData name="Demelza Pilgrim" userId="9b1f39d4-236b-4377-9a8d-dccbd2a774dd" providerId="ADAL" clId="{0780300E-AF38-43B0-ADC8-15317F0B68C5}" dt="2025-08-14T14:46:30.911" v="1228" actId="120"/>
        <pc:sldMkLst>
          <pc:docMk/>
          <pc:sldMk cId="1689108325" sldId="649"/>
        </pc:sldMkLst>
        <pc:spChg chg="mod">
          <ac:chgData name="Demelza Pilgrim" userId="9b1f39d4-236b-4377-9a8d-dccbd2a774dd" providerId="ADAL" clId="{0780300E-AF38-43B0-ADC8-15317F0B68C5}" dt="2025-08-14T14:46:30.911" v="1228" actId="120"/>
          <ac:spMkLst>
            <pc:docMk/>
            <pc:sldMk cId="1689108325" sldId="649"/>
            <ac:spMk id="2" creationId="{5025B92F-04CF-0225-0903-2005B328A7EB}"/>
          </ac:spMkLst>
        </pc:spChg>
        <pc:spChg chg="del mod">
          <ac:chgData name="Demelza Pilgrim" userId="9b1f39d4-236b-4377-9a8d-dccbd2a774dd" providerId="ADAL" clId="{0780300E-AF38-43B0-ADC8-15317F0B68C5}" dt="2025-08-14T14:29:19.606" v="787" actId="478"/>
          <ac:spMkLst>
            <pc:docMk/>
            <pc:sldMk cId="1689108325" sldId="649"/>
            <ac:spMk id="3" creationId="{347BA18A-D21D-E967-5C49-A6A186469BC8}"/>
          </ac:spMkLst>
        </pc:spChg>
        <pc:spChg chg="del">
          <ac:chgData name="Demelza Pilgrim" userId="9b1f39d4-236b-4377-9a8d-dccbd2a774dd" providerId="ADAL" clId="{0780300E-AF38-43B0-ADC8-15317F0B68C5}" dt="2025-08-14T14:29:21.062" v="788" actId="478"/>
          <ac:spMkLst>
            <pc:docMk/>
            <pc:sldMk cId="1689108325" sldId="649"/>
            <ac:spMk id="5" creationId="{A7EB70F0-1A10-B94B-FDD2-85F3E01C82B0}"/>
          </ac:spMkLst>
        </pc:spChg>
        <pc:spChg chg="del">
          <ac:chgData name="Demelza Pilgrim" userId="9b1f39d4-236b-4377-9a8d-dccbd2a774dd" providerId="ADAL" clId="{0780300E-AF38-43B0-ADC8-15317F0B68C5}" dt="2025-08-14T14:29:22.804" v="789" actId="478"/>
          <ac:spMkLst>
            <pc:docMk/>
            <pc:sldMk cId="1689108325" sldId="649"/>
            <ac:spMk id="8" creationId="{36E27C71-7DBC-0683-8849-60F7D644053E}"/>
          </ac:spMkLst>
        </pc:spChg>
        <pc:spChg chg="add mod">
          <ac:chgData name="Demelza Pilgrim" userId="9b1f39d4-236b-4377-9a8d-dccbd2a774dd" providerId="ADAL" clId="{0780300E-AF38-43B0-ADC8-15317F0B68C5}" dt="2025-08-14T14:35:16.768" v="905" actId="6549"/>
          <ac:spMkLst>
            <pc:docMk/>
            <pc:sldMk cId="1689108325" sldId="649"/>
            <ac:spMk id="9" creationId="{6D017339-DDF4-0142-2143-176F22DCB94F}"/>
          </ac:spMkLst>
        </pc:spChg>
      </pc:sldChg>
      <pc:sldChg chg="modSp add mod">
        <pc:chgData name="Demelza Pilgrim" userId="9b1f39d4-236b-4377-9a8d-dccbd2a774dd" providerId="ADAL" clId="{0780300E-AF38-43B0-ADC8-15317F0B68C5}" dt="2025-08-14T14:52:20.301" v="1361" actId="404"/>
        <pc:sldMkLst>
          <pc:docMk/>
          <pc:sldMk cId="3138774001" sldId="650"/>
        </pc:sldMkLst>
        <pc:spChg chg="mod">
          <ac:chgData name="Demelza Pilgrim" userId="9b1f39d4-236b-4377-9a8d-dccbd2a774dd" providerId="ADAL" clId="{0780300E-AF38-43B0-ADC8-15317F0B68C5}" dt="2025-08-14T14:52:20.301" v="1361" actId="404"/>
          <ac:spMkLst>
            <pc:docMk/>
            <pc:sldMk cId="3138774001" sldId="650"/>
            <ac:spMk id="13319" creationId="{2F05CE75-A456-5D93-6E87-C28B14245456}"/>
          </ac:spMkLst>
        </pc:spChg>
      </pc:sldChg>
      <pc:sldMasterChg chg="delSldLayout">
        <pc:chgData name="Demelza Pilgrim" userId="9b1f39d4-236b-4377-9a8d-dccbd2a774dd" providerId="ADAL" clId="{0780300E-AF38-43B0-ADC8-15317F0B68C5}" dt="2025-08-14T14:52:11.705" v="1351" actId="47"/>
        <pc:sldMasterMkLst>
          <pc:docMk/>
          <pc:sldMasterMk cId="0" sldId="2147483719"/>
        </pc:sldMasterMkLst>
        <pc:sldLayoutChg chg="del">
          <pc:chgData name="Demelza Pilgrim" userId="9b1f39d4-236b-4377-9a8d-dccbd2a774dd" providerId="ADAL" clId="{0780300E-AF38-43B0-ADC8-15317F0B68C5}" dt="2025-08-14T10:12:21.241" v="372" actId="47"/>
          <pc:sldLayoutMkLst>
            <pc:docMk/>
            <pc:sldMasterMk cId="0" sldId="2147483719"/>
            <pc:sldLayoutMk cId="2165212745" sldId="2147483952"/>
          </pc:sldLayoutMkLst>
        </pc:sldLayoutChg>
        <pc:sldLayoutChg chg="del">
          <pc:chgData name="Demelza Pilgrim" userId="9b1f39d4-236b-4377-9a8d-dccbd2a774dd" providerId="ADAL" clId="{0780300E-AF38-43B0-ADC8-15317F0B68C5}" dt="2025-08-14T14:52:11.705" v="1351" actId="47"/>
          <pc:sldLayoutMkLst>
            <pc:docMk/>
            <pc:sldMasterMk cId="0" sldId="2147483719"/>
            <pc:sldLayoutMk cId="2925596998" sldId="2147483957"/>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dirty="0">
              <a:latin typeface="Arial" panose="020B0604020202020204" pitchFamily="34" charset="0"/>
              <a:cs typeface="Arial" panose="020B0604020202020204" pitchFamily="34" charset="0"/>
            </a:rPr>
            <a:t>Understand the role of ratios</a:t>
          </a:r>
        </a:p>
        <a:p>
          <a:pPr>
            <a:lnSpc>
              <a:spcPct val="100000"/>
            </a:lnSpc>
          </a:pPr>
          <a:endParaRPr lang="en-US" sz="16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Work through the calculations</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Interpret the results of these calculations and what it tells us about the company</a:t>
          </a: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Identify the ratios used to review gearing, liquidity and efficiency </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dirty="0">
              <a:latin typeface="Arial" panose="020B0604020202020204" pitchFamily="34" charset="0"/>
              <a:cs typeface="Arial" panose="020B0604020202020204" pitchFamily="34" charset="0"/>
            </a:rPr>
            <a:t>Understand the role of ratios</a:t>
          </a:r>
        </a:p>
        <a:p>
          <a:pPr>
            <a:lnSpc>
              <a:spcPct val="100000"/>
            </a:lnSpc>
          </a:pPr>
          <a:endParaRPr lang="en-US" sz="16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Work through the calculations</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Interpret the results of these calculations and what it tells us about the company</a:t>
          </a: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Identify the ratios used to review gearing, liquidity and efficiency </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1412"/>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16572" y="162499"/>
          <a:ext cx="393767" cy="39376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26912" y="147335"/>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71120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Understand the role of ratios</a:t>
          </a: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26912" y="147335"/>
        <a:ext cx="6805935" cy="715941"/>
      </dsp:txXfrm>
    </dsp:sp>
    <dsp:sp modelId="{61B30C71-B6B1-4EDB-8941-25699A6AA799}">
      <dsp:nvSpPr>
        <dsp:cNvPr id="0" name=""/>
        <dsp:cNvSpPr/>
      </dsp:nvSpPr>
      <dsp:spPr>
        <a:xfrm>
          <a:off x="0" y="896339"/>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16572" y="1057426"/>
          <a:ext cx="393767" cy="39376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95537" y="868238"/>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Identify the ratios used to review gearing, liquidity and efficiency </a:t>
          </a:r>
          <a:endParaRPr lang="en-US" sz="1600" kern="1200" dirty="0">
            <a:solidFill>
              <a:prstClr val="black">
                <a:hueOff val="0"/>
                <a:satOff val="0"/>
                <a:lumOff val="0"/>
                <a:alphaOff val="0"/>
              </a:prstClr>
            </a:solidFill>
            <a:latin typeface="Segoe Sans"/>
            <a:ea typeface="+mn-ea"/>
            <a:cs typeface="+mn-cs"/>
          </a:endParaRPr>
        </a:p>
      </dsp:txBody>
      <dsp:txXfrm>
        <a:off x="795537" y="868238"/>
        <a:ext cx="6805935" cy="715941"/>
      </dsp:txXfrm>
    </dsp:sp>
    <dsp:sp modelId="{D9483691-DD36-405D-BB66-9F59F2F1E989}">
      <dsp:nvSpPr>
        <dsp:cNvPr id="0" name=""/>
        <dsp:cNvSpPr/>
      </dsp:nvSpPr>
      <dsp:spPr>
        <a:xfrm>
          <a:off x="0" y="179126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16572" y="1952353"/>
          <a:ext cx="393767" cy="39376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26912" y="1804339"/>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Work through the calculations</a:t>
          </a:r>
          <a:endParaRPr lang="en-US" sz="1600" kern="1200" dirty="0">
            <a:solidFill>
              <a:prstClr val="black">
                <a:hueOff val="0"/>
                <a:satOff val="0"/>
                <a:lumOff val="0"/>
                <a:alphaOff val="0"/>
              </a:prstClr>
            </a:solidFill>
            <a:latin typeface="Segoe Sans"/>
            <a:ea typeface="+mn-ea"/>
            <a:cs typeface="+mn-cs"/>
          </a:endParaRPr>
        </a:p>
      </dsp:txBody>
      <dsp:txXfrm>
        <a:off x="826912" y="1804339"/>
        <a:ext cx="6805935" cy="715941"/>
      </dsp:txXfrm>
    </dsp:sp>
    <dsp:sp modelId="{CF075505-E8EA-4669-BABA-401DC8E15F63}">
      <dsp:nvSpPr>
        <dsp:cNvPr id="0" name=""/>
        <dsp:cNvSpPr/>
      </dsp:nvSpPr>
      <dsp:spPr>
        <a:xfrm>
          <a:off x="0" y="268760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16025" y="2845839"/>
          <a:ext cx="393767" cy="39376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52911" y="2670077"/>
          <a:ext cx="6498987"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Interpret the results of these calculations and what it tells us about the company</a:t>
          </a:r>
          <a:endParaRPr lang="en-GB" sz="1600" kern="1200" dirty="0">
            <a:solidFill>
              <a:prstClr val="black">
                <a:hueOff val="0"/>
                <a:satOff val="0"/>
                <a:lumOff val="0"/>
                <a:alphaOff val="0"/>
              </a:prstClr>
            </a:solidFill>
            <a:latin typeface="Segoe Sans"/>
            <a:ea typeface="+mn-ea"/>
            <a:cs typeface="+mn-cs"/>
          </a:endParaRPr>
        </a:p>
      </dsp:txBody>
      <dsp:txXfrm>
        <a:off x="852911" y="2670077"/>
        <a:ext cx="6498987" cy="7159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1412"/>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16572" y="162499"/>
          <a:ext cx="393767" cy="39376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26912" y="147335"/>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71120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Understand the role of ratios</a:t>
          </a: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26912" y="147335"/>
        <a:ext cx="6805935" cy="715941"/>
      </dsp:txXfrm>
    </dsp:sp>
    <dsp:sp modelId="{61B30C71-B6B1-4EDB-8941-25699A6AA799}">
      <dsp:nvSpPr>
        <dsp:cNvPr id="0" name=""/>
        <dsp:cNvSpPr/>
      </dsp:nvSpPr>
      <dsp:spPr>
        <a:xfrm>
          <a:off x="0" y="896339"/>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16572" y="1057426"/>
          <a:ext cx="393767" cy="39376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95537" y="868238"/>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Identify the ratios used to review gearing, liquidity and efficiency </a:t>
          </a:r>
          <a:endParaRPr lang="en-US" sz="1600" kern="1200" dirty="0">
            <a:solidFill>
              <a:prstClr val="black">
                <a:hueOff val="0"/>
                <a:satOff val="0"/>
                <a:lumOff val="0"/>
                <a:alphaOff val="0"/>
              </a:prstClr>
            </a:solidFill>
            <a:latin typeface="Segoe Sans"/>
            <a:ea typeface="+mn-ea"/>
            <a:cs typeface="+mn-cs"/>
          </a:endParaRPr>
        </a:p>
      </dsp:txBody>
      <dsp:txXfrm>
        <a:off x="795537" y="868238"/>
        <a:ext cx="6805935" cy="715941"/>
      </dsp:txXfrm>
    </dsp:sp>
    <dsp:sp modelId="{D9483691-DD36-405D-BB66-9F59F2F1E989}">
      <dsp:nvSpPr>
        <dsp:cNvPr id="0" name=""/>
        <dsp:cNvSpPr/>
      </dsp:nvSpPr>
      <dsp:spPr>
        <a:xfrm>
          <a:off x="0" y="179126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16572" y="1952353"/>
          <a:ext cx="393767" cy="39376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26912" y="1804339"/>
          <a:ext cx="6805935"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Work through the calculations</a:t>
          </a:r>
          <a:endParaRPr lang="en-US" sz="1600" kern="1200" dirty="0">
            <a:solidFill>
              <a:prstClr val="black">
                <a:hueOff val="0"/>
                <a:satOff val="0"/>
                <a:lumOff val="0"/>
                <a:alphaOff val="0"/>
              </a:prstClr>
            </a:solidFill>
            <a:latin typeface="Segoe Sans"/>
            <a:ea typeface="+mn-ea"/>
            <a:cs typeface="+mn-cs"/>
          </a:endParaRPr>
        </a:p>
      </dsp:txBody>
      <dsp:txXfrm>
        <a:off x="826912" y="1804339"/>
        <a:ext cx="6805935" cy="715941"/>
      </dsp:txXfrm>
    </dsp:sp>
    <dsp:sp modelId="{CF075505-E8EA-4669-BABA-401DC8E15F63}">
      <dsp:nvSpPr>
        <dsp:cNvPr id="0" name=""/>
        <dsp:cNvSpPr/>
      </dsp:nvSpPr>
      <dsp:spPr>
        <a:xfrm>
          <a:off x="0" y="2687606"/>
          <a:ext cx="7632848" cy="715941"/>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16025" y="2845839"/>
          <a:ext cx="393767" cy="39376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52911" y="2670077"/>
          <a:ext cx="6498987" cy="71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770" tIns="75770" rIns="75770" bIns="75770" numCol="1" spcCol="1270" anchor="ctr" anchorCtr="0">
          <a:noAutofit/>
        </a:bodyPr>
        <a:lstStyle/>
        <a:p>
          <a:pPr marL="0" lvl="0" indent="0" algn="l" defTabSz="84455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Interpret the results of these calculations and what it tells us about the company</a:t>
          </a:r>
          <a:endParaRPr lang="en-GB" sz="1600" kern="1200" dirty="0">
            <a:solidFill>
              <a:prstClr val="black">
                <a:hueOff val="0"/>
                <a:satOff val="0"/>
                <a:lumOff val="0"/>
                <a:alphaOff val="0"/>
              </a:prstClr>
            </a:solidFill>
            <a:latin typeface="Segoe Sans"/>
            <a:ea typeface="+mn-ea"/>
            <a:cs typeface="+mn-cs"/>
          </a:endParaRPr>
        </a:p>
      </dsp:txBody>
      <dsp:txXfrm>
        <a:off x="852911" y="2670077"/>
        <a:ext cx="6498987" cy="71594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90046" cy="49785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971" y="2"/>
            <a:ext cx="2890045" cy="497852"/>
          </a:xfrm>
          <a:prstGeom prst="rect">
            <a:avLst/>
          </a:prstGeom>
        </p:spPr>
        <p:txBody>
          <a:bodyPr vert="horz" lIns="91440" tIns="45720" rIns="91440" bIns="45720" rtlCol="0"/>
          <a:lstStyle>
            <a:lvl1pPr algn="r">
              <a:defRPr sz="1200"/>
            </a:lvl1pPr>
          </a:lstStyle>
          <a:p>
            <a:fld id="{75250A90-9BCF-4E68-A6A1-3259FE159936}" type="datetimeFigureOut">
              <a:rPr lang="en-GB" smtClean="0"/>
              <a:t>13/08/2025</a:t>
            </a:fld>
            <a:endParaRPr lang="en-GB"/>
          </a:p>
        </p:txBody>
      </p:sp>
      <p:sp>
        <p:nvSpPr>
          <p:cNvPr id="4" name="Footer Placeholder 3"/>
          <p:cNvSpPr>
            <a:spLocks noGrp="1"/>
          </p:cNvSpPr>
          <p:nvPr>
            <p:ph type="ftr" sz="quarter" idx="2"/>
          </p:nvPr>
        </p:nvSpPr>
        <p:spPr>
          <a:xfrm>
            <a:off x="0" y="9428788"/>
            <a:ext cx="2890046" cy="497852"/>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971" y="9428788"/>
            <a:ext cx="2890045" cy="497852"/>
          </a:xfrm>
          <a:prstGeom prst="rect">
            <a:avLst/>
          </a:prstGeom>
        </p:spPr>
        <p:txBody>
          <a:bodyPr vert="horz" lIns="91440" tIns="45720" rIns="91440" bIns="45720" rtlCol="0" anchor="b"/>
          <a:lstStyle>
            <a:lvl1pPr algn="r">
              <a:defRPr sz="1200"/>
            </a:lvl1pPr>
          </a:lstStyle>
          <a:p>
            <a:fld id="{701DA7D5-44E4-4B1A-98FF-97E30BB05519}" type="slidenum">
              <a:rPr lang="en-GB" smtClean="0"/>
              <a:t>‹#›</a:t>
            </a:fld>
            <a:endParaRPr lang="en-GB"/>
          </a:p>
        </p:txBody>
      </p:sp>
    </p:spTree>
    <p:extLst>
      <p:ext uri="{BB962C8B-B14F-4D97-AF65-F5344CB8AC3E}">
        <p14:creationId xmlns:p14="http://schemas.microsoft.com/office/powerpoint/2010/main" val="2133641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889938" cy="4963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3777993" y="0"/>
            <a:ext cx="2889938" cy="4963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855663" y="746125"/>
            <a:ext cx="4957762" cy="3719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666909" y="4715156"/>
            <a:ext cx="5335270" cy="44669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9428009"/>
            <a:ext cx="2889938" cy="49633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3777993" y="9428009"/>
            <a:ext cx="2889938" cy="49633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F8A6BB3-15F9-4141-AB05-7BFCB398C0ED}" type="slidenum">
              <a:rPr lang="en-US" altLang="en-US"/>
              <a:pPr>
                <a:defRPr/>
              </a:pPr>
              <a:t>‹#›</a:t>
            </a:fld>
            <a:endParaRPr lang="en-US" altLang="en-US"/>
          </a:p>
        </p:txBody>
      </p:sp>
    </p:spTree>
    <p:extLst>
      <p:ext uri="{BB962C8B-B14F-4D97-AF65-F5344CB8AC3E}">
        <p14:creationId xmlns:p14="http://schemas.microsoft.com/office/powerpoint/2010/main" val="5273664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TO STUDENTS: Please see last weeks lecture slides and make sure you review them so that you understand how you will be assessed and what resources we provide to support you in success.</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Financial ratios allow performance evaluation</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Useful and easy tool</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Comparison over time and between companies</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Highlight the problem but may not always explain the reasons behind the problem </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Profitability ratios – some of the key financial ratios</a:t>
            </a:r>
          </a:p>
          <a:p>
            <a:pPr marL="285750" indent="-285750" algn="just">
              <a:buFont typeface="Arial" panose="020B0604020202020204" pitchFamily="34" charset="0"/>
              <a:buChar char="•"/>
            </a:pPr>
            <a:r>
              <a:rPr lang="en-GB" sz="1200" dirty="0">
                <a:latin typeface="Arial" panose="020B0604020202020204" pitchFamily="34" charset="0"/>
                <a:cs typeface="Arial" panose="020B0604020202020204" pitchFamily="34" charset="0"/>
              </a:rPr>
              <a:t>Margins (profitability) differ between industries</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dirty="0"/>
          </a:p>
        </p:txBody>
      </p:sp>
    </p:spTree>
    <p:extLst>
      <p:ext uri="{BB962C8B-B14F-4D97-AF65-F5344CB8AC3E}">
        <p14:creationId xmlns:p14="http://schemas.microsoft.com/office/powerpoint/2010/main" val="274574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dirty="0"/>
          </a:p>
        </p:txBody>
      </p:sp>
    </p:spTree>
    <p:extLst>
      <p:ext uri="{BB962C8B-B14F-4D97-AF65-F5344CB8AC3E}">
        <p14:creationId xmlns:p14="http://schemas.microsoft.com/office/powerpoint/2010/main" val="194370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0F8A6BB3-15F9-4141-AB05-7BFCB398C0ED}" type="slidenum">
              <a:rPr lang="en-US" altLang="en-US" smtClean="0"/>
              <a:pPr>
                <a:defRPr/>
              </a:pPr>
              <a:t>5</a:t>
            </a:fld>
            <a:endParaRPr lang="en-US" altLang="en-US"/>
          </a:p>
        </p:txBody>
      </p:sp>
    </p:spTree>
    <p:extLst>
      <p:ext uri="{BB962C8B-B14F-4D97-AF65-F5344CB8AC3E}">
        <p14:creationId xmlns:p14="http://schemas.microsoft.com/office/powerpoint/2010/main" val="102667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25A33-76A1-CE14-98BE-6790F84A0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80CB5-1DDE-041C-78EB-F82BDD2FB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CAA9C-8E1B-5506-90F4-CB22219016F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DA9364D-62E4-46AD-5116-3E7BE913486B}"/>
              </a:ext>
            </a:extLst>
          </p:cNvPr>
          <p:cNvSpPr>
            <a:spLocks noGrp="1"/>
          </p:cNvSpPr>
          <p:nvPr>
            <p:ph type="sldNum" sz="quarter" idx="10"/>
          </p:nvPr>
        </p:nvSpPr>
        <p:spPr/>
        <p:txBody>
          <a:bodyPr/>
          <a:lstStyle/>
          <a:p>
            <a:pPr>
              <a:defRPr/>
            </a:pPr>
            <a:fld id="{0F8A6BB3-15F9-4141-AB05-7BFCB398C0ED}" type="slidenum">
              <a:rPr lang="en-US" altLang="en-US" smtClean="0"/>
              <a:pPr>
                <a:defRPr/>
              </a:pPr>
              <a:t>6</a:t>
            </a:fld>
            <a:endParaRPr lang="en-US" altLang="en-US"/>
          </a:p>
        </p:txBody>
      </p:sp>
    </p:spTree>
    <p:extLst>
      <p:ext uri="{BB962C8B-B14F-4D97-AF65-F5344CB8AC3E}">
        <p14:creationId xmlns:p14="http://schemas.microsoft.com/office/powerpoint/2010/main" val="1642242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0A34707-E474-48EA-B54D-5816D1580940}" type="slidenum">
              <a:rPr lang="en-GB" smtClean="0"/>
              <a:t>7</a:t>
            </a:fld>
            <a:endParaRPr lang="en-GB"/>
          </a:p>
        </p:txBody>
      </p:sp>
    </p:spTree>
    <p:extLst>
      <p:ext uri="{BB962C8B-B14F-4D97-AF65-F5344CB8AC3E}">
        <p14:creationId xmlns:p14="http://schemas.microsoft.com/office/powerpoint/2010/main" val="304409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0A34707-E474-48EA-B54D-5816D1580940}" type="slidenum">
              <a:rPr lang="en-GB" smtClean="0"/>
              <a:t>8</a:t>
            </a:fld>
            <a:endParaRPr lang="en-GB"/>
          </a:p>
        </p:txBody>
      </p:sp>
    </p:spTree>
    <p:extLst>
      <p:ext uri="{BB962C8B-B14F-4D97-AF65-F5344CB8AC3E}">
        <p14:creationId xmlns:p14="http://schemas.microsoft.com/office/powerpoint/2010/main" val="2057935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rPr>
              <a:t>Current assets are made of three major parts (</a:t>
            </a:r>
            <a:r>
              <a:rPr lang="en-GB" sz="1200" i="1">
                <a:solidFill>
                  <a:prstClr val="black"/>
                </a:solidFill>
              </a:rPr>
              <a:t>cash</a:t>
            </a:r>
            <a:r>
              <a:rPr lang="en-GB" sz="1200">
                <a:solidFill>
                  <a:prstClr val="black"/>
                </a:solidFill>
              </a:rPr>
              <a:t>, </a:t>
            </a:r>
            <a:r>
              <a:rPr lang="en-GB" sz="1200" i="1">
                <a:solidFill>
                  <a:prstClr val="black"/>
                </a:solidFill>
              </a:rPr>
              <a:t>inventories</a:t>
            </a:r>
            <a:r>
              <a:rPr lang="en-GB" sz="1200">
                <a:solidFill>
                  <a:prstClr val="black"/>
                </a:solidFill>
              </a:rPr>
              <a:t>, </a:t>
            </a:r>
            <a:r>
              <a:rPr lang="en-GB" sz="1200" i="1">
                <a:solidFill>
                  <a:prstClr val="black"/>
                </a:solidFill>
              </a:rPr>
              <a:t>receivables</a:t>
            </a:r>
            <a:r>
              <a:rPr lang="en-GB" sz="1200">
                <a:solidFill>
                  <a:prstClr val="black"/>
                </a:solidFill>
              </a:rPr>
              <a:t>) and their liquidities are quite different. The Quick/Acid test ratio takes this into account…</a:t>
            </a:r>
          </a:p>
          <a:p>
            <a:endParaRPr lang="en-GB"/>
          </a:p>
        </p:txBody>
      </p:sp>
      <p:sp>
        <p:nvSpPr>
          <p:cNvPr id="4" name="Slide Number Placeholder 3"/>
          <p:cNvSpPr>
            <a:spLocks noGrp="1"/>
          </p:cNvSpPr>
          <p:nvPr>
            <p:ph type="sldNum" sz="quarter" idx="10"/>
          </p:nvPr>
        </p:nvSpPr>
        <p:spPr/>
        <p:txBody>
          <a:bodyPr/>
          <a:lstStyle/>
          <a:p>
            <a:fld id="{60A34707-E474-48EA-B54D-5816D1580940}" type="slidenum">
              <a:rPr lang="en-GB" smtClean="0"/>
              <a:t>9</a:t>
            </a:fld>
            <a:endParaRPr lang="en-GB"/>
          </a:p>
        </p:txBody>
      </p:sp>
    </p:spTree>
    <p:extLst>
      <p:ext uri="{BB962C8B-B14F-4D97-AF65-F5344CB8AC3E}">
        <p14:creationId xmlns:p14="http://schemas.microsoft.com/office/powerpoint/2010/main" val="1062235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Introduce Finance Risk impacting Business Risk. Overtrading:</a:t>
            </a:r>
          </a:p>
          <a:p>
            <a:pPr algn="just" eaLnBrk="1" hangingPunct="1">
              <a:lnSpc>
                <a:spcPct val="90000"/>
              </a:lnSpc>
              <a:defRPr/>
            </a:pPr>
            <a:r>
              <a:rPr lang="en-GB" sz="3200" dirty="0">
                <a:latin typeface="Arial" panose="020B0604020202020204" pitchFamily="34" charset="0"/>
                <a:cs typeface="Arial" panose="020B0604020202020204" pitchFamily="34" charset="0"/>
              </a:rPr>
              <a:t>Businesses may not have sufficient finance to meet working capital needs</a:t>
            </a:r>
          </a:p>
          <a:p>
            <a:pPr algn="just" eaLnBrk="1" hangingPunct="1">
              <a:lnSpc>
                <a:spcPct val="90000"/>
              </a:lnSpc>
              <a:defRPr/>
            </a:pPr>
            <a:r>
              <a:rPr lang="en-GB" sz="3200" dirty="0">
                <a:latin typeface="Arial" panose="020B0604020202020204" pitchFamily="34" charset="0"/>
                <a:cs typeface="Arial" panose="020B0604020202020204" pitchFamily="34" charset="0"/>
              </a:rPr>
              <a:t>Could be due to:</a:t>
            </a:r>
          </a:p>
          <a:p>
            <a:pPr lvl="1" algn="just" eaLnBrk="1" hangingPunct="1">
              <a:lnSpc>
                <a:spcPct val="90000"/>
              </a:lnSpc>
              <a:defRPr/>
            </a:pPr>
            <a:r>
              <a:rPr lang="en-GB" sz="3200" dirty="0">
                <a:latin typeface="Arial" panose="020B0604020202020204" pitchFamily="34" charset="0"/>
                <a:cs typeface="Arial" panose="020B0604020202020204" pitchFamily="34" charset="0"/>
              </a:rPr>
              <a:t>Rapid expansion</a:t>
            </a:r>
          </a:p>
          <a:p>
            <a:pPr lvl="1" algn="just" eaLnBrk="1" hangingPunct="1">
              <a:lnSpc>
                <a:spcPct val="90000"/>
              </a:lnSpc>
              <a:defRPr/>
            </a:pPr>
            <a:r>
              <a:rPr lang="en-GB" sz="3200" dirty="0">
                <a:latin typeface="Arial" panose="020B0604020202020204" pitchFamily="34" charset="0"/>
                <a:cs typeface="Arial" panose="020B0604020202020204" pitchFamily="34" charset="0"/>
              </a:rPr>
              <a:t>Poor control</a:t>
            </a:r>
          </a:p>
          <a:p>
            <a:pPr algn="just" eaLnBrk="1" hangingPunct="1">
              <a:lnSpc>
                <a:spcPct val="90000"/>
              </a:lnSpc>
              <a:defRPr/>
            </a:pPr>
            <a:r>
              <a:rPr lang="en-GB" sz="3200" dirty="0">
                <a:latin typeface="Arial" panose="020B0604020202020204" pitchFamily="34" charset="0"/>
                <a:cs typeface="Arial" panose="020B0604020202020204" pitchFamily="34" charset="0"/>
              </a:rPr>
              <a:t>Consequences include:</a:t>
            </a:r>
          </a:p>
          <a:p>
            <a:pPr lvl="1" algn="just" eaLnBrk="1" hangingPunct="1">
              <a:lnSpc>
                <a:spcPct val="90000"/>
              </a:lnSpc>
              <a:defRPr/>
            </a:pPr>
            <a:r>
              <a:rPr lang="en-GB" sz="3200" dirty="0">
                <a:latin typeface="Arial" panose="020B0604020202020204" pitchFamily="34" charset="0"/>
                <a:cs typeface="Arial" panose="020B0604020202020204" pitchFamily="34" charset="0"/>
              </a:rPr>
              <a:t>Slow payments to suppliers</a:t>
            </a:r>
          </a:p>
          <a:p>
            <a:pPr lvl="1" algn="just" eaLnBrk="1" hangingPunct="1">
              <a:lnSpc>
                <a:spcPct val="90000"/>
              </a:lnSpc>
              <a:defRPr/>
            </a:pPr>
            <a:r>
              <a:rPr lang="en-GB" sz="3200" dirty="0">
                <a:latin typeface="Arial" panose="020B0604020202020204" pitchFamily="34" charset="0"/>
                <a:cs typeface="Arial" panose="020B0604020202020204" pitchFamily="34" charset="0"/>
              </a:rPr>
              <a:t>Exceeding overdraft limits</a:t>
            </a:r>
          </a:p>
          <a:p>
            <a:pPr lvl="1" algn="just" eaLnBrk="1" hangingPunct="1">
              <a:lnSpc>
                <a:spcPct val="90000"/>
              </a:lnSpc>
              <a:defRPr/>
            </a:pPr>
            <a:r>
              <a:rPr lang="en-GB" sz="3200" dirty="0">
                <a:latin typeface="Arial" panose="020B0604020202020204" pitchFamily="34" charset="0"/>
                <a:cs typeface="Arial" panose="020B0604020202020204" pitchFamily="34" charset="0"/>
              </a:rPr>
              <a:t>A strain on management time</a:t>
            </a:r>
          </a:p>
          <a:p>
            <a:endParaRPr lang="en-GB" dirty="0"/>
          </a:p>
        </p:txBody>
      </p:sp>
      <p:sp>
        <p:nvSpPr>
          <p:cNvPr id="4" name="Slide Number Placeholder 3"/>
          <p:cNvSpPr>
            <a:spLocks noGrp="1"/>
          </p:cNvSpPr>
          <p:nvPr>
            <p:ph type="sldNum" sz="quarter" idx="5"/>
          </p:nvPr>
        </p:nvSpPr>
        <p:spPr/>
        <p:txBody>
          <a:bodyPr/>
          <a:lstStyle/>
          <a:p>
            <a:pPr>
              <a:defRPr/>
            </a:pPr>
            <a:fld id="{0F8A6BB3-15F9-4141-AB05-7BFCB398C0ED}" type="slidenum">
              <a:rPr lang="en-US" altLang="en-US" smtClean="0"/>
              <a:pPr>
                <a:defRPr/>
              </a:pPr>
              <a:t>11</a:t>
            </a:fld>
            <a:endParaRPr lang="en-US" altLang="en-US"/>
          </a:p>
        </p:txBody>
      </p:sp>
    </p:spTree>
    <p:extLst>
      <p:ext uri="{BB962C8B-B14F-4D97-AF65-F5344CB8AC3E}">
        <p14:creationId xmlns:p14="http://schemas.microsoft.com/office/powerpoint/2010/main" val="2731497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236C-5243-DDE4-850D-794DB6DDA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239EA-90C8-B352-D1E0-CBC35D89B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D22FD-16CF-054F-A945-69788ABBBEF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4F57EC-420A-B74B-993F-9C508D1D95C6}"/>
              </a:ext>
            </a:extLst>
          </p:cNvPr>
          <p:cNvSpPr>
            <a:spLocks noGrp="1"/>
          </p:cNvSpPr>
          <p:nvPr>
            <p:ph type="sldNum" sz="quarter" idx="10"/>
          </p:nvPr>
        </p:nvSpPr>
        <p:spPr/>
        <p:txBody>
          <a:bodyPr/>
          <a:lstStyle/>
          <a:p>
            <a:fld id="{60A34707-E474-48EA-B54D-5816D1580940}" type="slidenum">
              <a:rPr lang="en-GB" smtClean="0"/>
              <a:t>13</a:t>
            </a:fld>
            <a:endParaRPr lang="en-GB"/>
          </a:p>
        </p:txBody>
      </p:sp>
    </p:spTree>
    <p:extLst>
      <p:ext uri="{BB962C8B-B14F-4D97-AF65-F5344CB8AC3E}">
        <p14:creationId xmlns:p14="http://schemas.microsoft.com/office/powerpoint/2010/main" val="178382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0F8A6BB3-15F9-4141-AB05-7BFCB398C0ED}" type="slidenum">
              <a:rPr lang="en-US" altLang="en-US" smtClean="0"/>
              <a:pPr>
                <a:defRPr/>
              </a:pPr>
              <a:t>14</a:t>
            </a:fld>
            <a:endParaRPr lang="en-US" altLang="en-US"/>
          </a:p>
        </p:txBody>
      </p:sp>
    </p:spTree>
    <p:extLst>
      <p:ext uri="{BB962C8B-B14F-4D97-AF65-F5344CB8AC3E}">
        <p14:creationId xmlns:p14="http://schemas.microsoft.com/office/powerpoint/2010/main" val="3058761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Interpretation:</a:t>
            </a:r>
          </a:p>
          <a:p>
            <a:pPr algn="just" eaLnBrk="1" hangingPunct="1">
              <a:defRPr/>
            </a:pPr>
            <a:r>
              <a:rPr lang="en-GB" sz="1200" dirty="0">
                <a:latin typeface="Arial" panose="020B0604020202020204" pitchFamily="34" charset="0"/>
                <a:cs typeface="Arial" panose="020B0604020202020204" pitchFamily="34" charset="0"/>
              </a:rPr>
              <a:t>Inventory levels have increased slightly – need to compare to planned levels and industry average.</a:t>
            </a:r>
          </a:p>
          <a:p>
            <a:pPr algn="just" eaLnBrk="1" hangingPunct="1">
              <a:defRPr/>
            </a:pPr>
            <a:r>
              <a:rPr lang="en-GB" sz="1200" dirty="0">
                <a:latin typeface="Arial" panose="020B0604020202020204" pitchFamily="34" charset="0"/>
                <a:cs typeface="Arial" panose="020B0604020202020204" pitchFamily="34" charset="0"/>
              </a:rPr>
              <a:t>A shorter receivables settlement period and longer payables settlement period would have been desirable.</a:t>
            </a:r>
          </a:p>
          <a:p>
            <a:pPr algn="just" eaLnBrk="1" hangingPunct="1">
              <a:defRPr/>
            </a:pPr>
            <a:r>
              <a:rPr lang="en-GB" sz="1200" dirty="0">
                <a:latin typeface="Arial" panose="020B0604020202020204" pitchFamily="34" charset="0"/>
                <a:cs typeface="Arial" panose="020B0604020202020204" pitchFamily="34" charset="0"/>
              </a:rPr>
              <a:t>Think about the consequences.</a:t>
            </a:r>
          </a:p>
          <a:p>
            <a:pPr algn="just" eaLnBrk="1" hangingPunct="1">
              <a:defRPr/>
            </a:pPr>
            <a:r>
              <a:rPr lang="en-GB" sz="1200" dirty="0">
                <a:latin typeface="Arial" panose="020B0604020202020204" pitchFamily="34" charset="0"/>
                <a:cs typeface="Arial" panose="020B0604020202020204" pitchFamily="34" charset="0"/>
              </a:rPr>
              <a:t>Each £1 of capital invested is generating more sales income- this is good.</a:t>
            </a:r>
          </a:p>
          <a:p>
            <a:pPr algn="just" eaLnBrk="1" hangingPunct="1">
              <a:defRPr/>
            </a:pPr>
            <a:r>
              <a:rPr lang="en-GB" sz="1200" dirty="0">
                <a:latin typeface="Arial" panose="020B0604020202020204" pitchFamily="34" charset="0"/>
                <a:cs typeface="Arial" panose="020B0604020202020204" pitchFamily="34" charset="0"/>
              </a:rPr>
              <a:t>So where are we going wrong!</a:t>
            </a:r>
            <a:endParaRPr lang="en-US" sz="1200" dirty="0">
              <a:latin typeface="Arial" panose="020B0604020202020204" pitchFamily="34" charset="0"/>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0F8A6BB3-15F9-4141-AB05-7BFCB398C0ED}" type="slidenum">
              <a:rPr lang="en-US" altLang="en-US" smtClean="0"/>
              <a:pPr>
                <a:defRPr/>
              </a:pPr>
              <a:t>15</a:t>
            </a:fld>
            <a:endParaRPr lang="en-US" altLang="en-US"/>
          </a:p>
        </p:txBody>
      </p:sp>
    </p:spTree>
    <p:extLst>
      <p:ext uri="{BB962C8B-B14F-4D97-AF65-F5344CB8AC3E}">
        <p14:creationId xmlns:p14="http://schemas.microsoft.com/office/powerpoint/2010/main" val="2696675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BB35C-ACBF-48C7-064C-695E3667E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48EAB-56F0-59AE-F7DD-49049B7BC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836C3-3F11-3A40-A990-DF8CF04E8C70}"/>
              </a:ext>
            </a:extLst>
          </p:cNvPr>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E2D8C4-7668-DC49-AE82-293486AC9462}"/>
              </a:ext>
            </a:extLst>
          </p:cNvPr>
          <p:cNvSpPr>
            <a:spLocks noGrp="1"/>
          </p:cNvSpPr>
          <p:nvPr>
            <p:ph type="sldNum" sz="quarter" idx="5"/>
          </p:nvPr>
        </p:nvSpPr>
        <p:spPr/>
        <p:txBody>
          <a:bodyPr/>
          <a:lstStyle/>
          <a:p>
            <a:pPr>
              <a:defRPr/>
            </a:pPr>
            <a:fld id="{85360570-2B09-DB43-BBE0-DA076DA911F1}" type="slidenum">
              <a:rPr lang="en-US" altLang="en-US" smtClean="0"/>
              <a:pPr>
                <a:defRPr/>
              </a:pPr>
              <a:t>16</a:t>
            </a:fld>
            <a:endParaRPr lang="en-US" altLang="en-US" dirty="0"/>
          </a:p>
        </p:txBody>
      </p:sp>
    </p:spTree>
    <p:extLst>
      <p:ext uri="{BB962C8B-B14F-4D97-AF65-F5344CB8AC3E}">
        <p14:creationId xmlns:p14="http://schemas.microsoft.com/office/powerpoint/2010/main" val="2680117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7A708D-0180-424B-8170-B8C7498B3081}" type="slidenum">
              <a:rPr lang="en-GB" smtClean="0"/>
              <a:t>17</a:t>
            </a:fld>
            <a:endParaRPr lang="en-GB"/>
          </a:p>
        </p:txBody>
      </p:sp>
    </p:spTree>
    <p:extLst>
      <p:ext uri="{BB962C8B-B14F-4D97-AF65-F5344CB8AC3E}">
        <p14:creationId xmlns:p14="http://schemas.microsoft.com/office/powerpoint/2010/main" val="1849783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presentation title slide">
    <p:bg>
      <p:bgPr>
        <a:solidFill>
          <a:srgbClr val="1A9DAC"/>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1919288" y="1443038"/>
            <a:ext cx="0" cy="36576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7" name="Picture 11" descr="UWE-Logo-Bottom.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4363" y="5783263"/>
            <a:ext cx="2182812"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Placeholder 14"/>
          <p:cNvSpPr>
            <a:spLocks noGrp="1"/>
          </p:cNvSpPr>
          <p:nvPr>
            <p:ph type="body" sz="quarter" idx="14"/>
          </p:nvPr>
        </p:nvSpPr>
        <p:spPr>
          <a:xfrm>
            <a:off x="2325600" y="1340768"/>
            <a:ext cx="6062750" cy="3774848"/>
          </a:xfrm>
          <a:prstGeom prst="rect">
            <a:avLst/>
          </a:prstGeom>
        </p:spPr>
        <p:txBody>
          <a:bodyPr lIns="0" tIns="0" rIns="0" bIns="0"/>
          <a:lstStyle>
            <a:lvl1pPr marL="0" indent="0">
              <a:lnSpc>
                <a:spcPts val="4800"/>
              </a:lnSpc>
              <a:spcBef>
                <a:spcPts val="0"/>
              </a:spcBef>
              <a:buFontTx/>
              <a:buNone/>
              <a:defRPr sz="4400" b="0" i="0">
                <a:solidFill>
                  <a:schemeClr val="bg1"/>
                </a:solidFill>
                <a:latin typeface="Georgia" charset="0"/>
                <a:ea typeface="Georgia" charset="0"/>
                <a:cs typeface="Georgia" charset="0"/>
              </a:defRPr>
            </a:lvl1pPr>
          </a:lstStyle>
          <a:p>
            <a:pPr lvl="0"/>
            <a:r>
              <a:rPr lang="en-GB" dirty="0"/>
              <a:t>Click to edit Master text styles</a:t>
            </a:r>
          </a:p>
        </p:txBody>
      </p:sp>
      <p:sp>
        <p:nvSpPr>
          <p:cNvPr id="18" name="Text Placeholder 14"/>
          <p:cNvSpPr>
            <a:spLocks noGrp="1"/>
          </p:cNvSpPr>
          <p:nvPr>
            <p:ph type="body" sz="quarter" idx="15"/>
          </p:nvPr>
        </p:nvSpPr>
        <p:spPr>
          <a:xfrm>
            <a:off x="640800" y="1427168"/>
            <a:ext cx="1219139" cy="358775"/>
          </a:xfrm>
          <a:prstGeom prst="rect">
            <a:avLst/>
          </a:prstGeom>
        </p:spPr>
        <p:txBody>
          <a:bodyPr lIns="0" tIns="0" rIns="0" bIns="0"/>
          <a:lstStyle>
            <a:lvl1pPr marL="0" indent="0">
              <a:lnSpc>
                <a:spcPts val="1300"/>
              </a:lnSpc>
              <a:spcBef>
                <a:spcPts val="0"/>
              </a:spcBef>
              <a:buFontTx/>
              <a:buNone/>
              <a:defRPr sz="1100" b="0" i="0">
                <a:solidFill>
                  <a:schemeClr val="bg1"/>
                </a:solidFill>
                <a:latin typeface="Tahoma" charset="0"/>
                <a:ea typeface="Tahoma" charset="0"/>
                <a:cs typeface="Tahoma" charset="0"/>
              </a:defRPr>
            </a:lvl1pPr>
          </a:lstStyle>
          <a:p>
            <a:pPr lvl="0"/>
            <a:r>
              <a:rPr lang="en-GB" dirty="0"/>
              <a:t>Click to edit Master text styles</a:t>
            </a:r>
          </a:p>
        </p:txBody>
      </p:sp>
      <p:sp>
        <p:nvSpPr>
          <p:cNvPr id="19" name="Text Placeholder 14"/>
          <p:cNvSpPr>
            <a:spLocks noGrp="1"/>
          </p:cNvSpPr>
          <p:nvPr>
            <p:ph type="body" sz="quarter" idx="16"/>
          </p:nvPr>
        </p:nvSpPr>
        <p:spPr>
          <a:xfrm>
            <a:off x="640800" y="1787168"/>
            <a:ext cx="1219139" cy="536400"/>
          </a:xfrm>
          <a:prstGeom prst="rect">
            <a:avLst/>
          </a:prstGeom>
        </p:spPr>
        <p:txBody>
          <a:bodyPr lIns="0" tIns="0" rIns="0" bIns="0"/>
          <a:lstStyle>
            <a:lvl1pPr marL="0" indent="0">
              <a:lnSpc>
                <a:spcPts val="1300"/>
              </a:lnSpc>
              <a:spcBef>
                <a:spcPts val="0"/>
              </a:spcBef>
              <a:buFontTx/>
              <a:buNone/>
              <a:defRPr sz="1100" b="1" i="0">
                <a:solidFill>
                  <a:schemeClr val="bg1"/>
                </a:solidFill>
                <a:latin typeface="Tahoma" charset="0"/>
                <a:ea typeface="Tahoma" charset="0"/>
                <a:cs typeface="Tahoma" charset="0"/>
              </a:defRPr>
            </a:lvl1pPr>
          </a:lstStyle>
          <a:p>
            <a:pPr lvl="0"/>
            <a:r>
              <a:rPr lang="en-GB" dirty="0"/>
              <a:t>Click to edit Master text styles</a:t>
            </a:r>
          </a:p>
        </p:txBody>
      </p:sp>
      <p:sp>
        <p:nvSpPr>
          <p:cNvPr id="20" name="Text Placeholder 14"/>
          <p:cNvSpPr>
            <a:spLocks noGrp="1"/>
          </p:cNvSpPr>
          <p:nvPr>
            <p:ph type="body" sz="quarter" idx="17"/>
          </p:nvPr>
        </p:nvSpPr>
        <p:spPr>
          <a:xfrm>
            <a:off x="640800" y="2330768"/>
            <a:ext cx="1219139" cy="695325"/>
          </a:xfrm>
          <a:prstGeom prst="rect">
            <a:avLst/>
          </a:prstGeom>
        </p:spPr>
        <p:txBody>
          <a:bodyPr lIns="0" tIns="0" rIns="0" bIns="0"/>
          <a:lstStyle>
            <a:lvl1pPr marL="0" indent="0">
              <a:lnSpc>
                <a:spcPts val="1300"/>
              </a:lnSpc>
              <a:spcBef>
                <a:spcPts val="0"/>
              </a:spcBef>
              <a:buFontTx/>
              <a:buNone/>
              <a:defRPr sz="1100" b="1" i="0">
                <a:solidFill>
                  <a:schemeClr val="bg1"/>
                </a:solidFill>
                <a:latin typeface="Tahoma" charset="0"/>
                <a:ea typeface="Tahoma" charset="0"/>
                <a:cs typeface="Tahoma" charset="0"/>
              </a:defRPr>
            </a:lvl1pPr>
          </a:lstStyle>
          <a:p>
            <a:pPr lvl="0"/>
            <a:r>
              <a:rPr lang="en-GB" dirty="0"/>
              <a:t>Click to edit Master text styles</a:t>
            </a:r>
          </a:p>
        </p:txBody>
      </p:sp>
      <p:sp>
        <p:nvSpPr>
          <p:cNvPr id="8" name="Text Placeholder 14"/>
          <p:cNvSpPr>
            <a:spLocks noGrp="1"/>
          </p:cNvSpPr>
          <p:nvPr>
            <p:ph type="body" sz="quarter" idx="18"/>
          </p:nvPr>
        </p:nvSpPr>
        <p:spPr>
          <a:xfrm>
            <a:off x="645062" y="4960139"/>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Tahoma"/>
                <a:ea typeface="Tahoma"/>
                <a:cs typeface="Tahoma"/>
              </a:defRPr>
            </a:lvl1pPr>
          </a:lstStyle>
          <a:p>
            <a:pPr lvl="0"/>
            <a:r>
              <a:rPr lang="en-GB" dirty="0"/>
              <a:t>Click to edit Master text styles</a:t>
            </a:r>
          </a:p>
        </p:txBody>
      </p:sp>
    </p:spTree>
    <p:extLst>
      <p:ext uri="{BB962C8B-B14F-4D97-AF65-F5344CB8AC3E}">
        <p14:creationId xmlns:p14="http://schemas.microsoft.com/office/powerpoint/2010/main" val="52049824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899591" y="1890713"/>
            <a:ext cx="6515621"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1313176712"/>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headings, text and bullet points">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1" y="689700"/>
            <a:ext cx="6515621" cy="651068"/>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6" name="Text Placeholder 5"/>
          <p:cNvSpPr>
            <a:spLocks noGrp="1"/>
          </p:cNvSpPr>
          <p:nvPr>
            <p:ph type="body" sz="quarter" idx="11"/>
          </p:nvPr>
        </p:nvSpPr>
        <p:spPr>
          <a:xfrm>
            <a:off x="827584" y="1557214"/>
            <a:ext cx="6587628" cy="4464074"/>
          </a:xfrm>
          <a:prstGeom prst="rect">
            <a:avLst/>
          </a:prstGeom>
        </p:spPr>
        <p:txBody>
          <a:bodyPr/>
          <a:lstStyle>
            <a:lvl1pPr marL="266700" indent="-266700">
              <a:buClr>
                <a:srgbClr val="16818D"/>
              </a:buClr>
              <a:defRPr sz="1600">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600">
                <a:latin typeface="Tahoma" panose="020B0604030504040204" pitchFamily="34" charset="0"/>
                <a:ea typeface="Tahoma" panose="020B0604030504040204" pitchFamily="34" charset="0"/>
                <a:cs typeface="Tahoma" panose="020B0604030504040204" pitchFamily="34" charset="0"/>
              </a:defRPr>
            </a:lvl2pPr>
            <a:lvl3pPr marL="808038" indent="-266700">
              <a:buClr>
                <a:srgbClr val="16818D"/>
              </a:buClr>
              <a:buFont typeface="Arial" panose="020B0604020202020204" pitchFamily="34" charset="0"/>
              <a:buChar char="̶"/>
              <a:defRPr sz="16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71558365"/>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headings, text and numbered points">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1" y="692696"/>
            <a:ext cx="6515621" cy="634666"/>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2"/>
          <p:cNvSpPr>
            <a:spLocks noGrp="1"/>
          </p:cNvSpPr>
          <p:nvPr>
            <p:ph type="body" sz="quarter" idx="11"/>
          </p:nvPr>
        </p:nvSpPr>
        <p:spPr>
          <a:xfrm>
            <a:off x="827584" y="1557214"/>
            <a:ext cx="6587628" cy="4465637"/>
          </a:xfrm>
          <a:prstGeom prst="rect">
            <a:avLst/>
          </a:prstGeom>
        </p:spPr>
        <p:txBody>
          <a:bodyPr/>
          <a:lstStyle>
            <a:lvl1pPr marL="266700" indent="-266700">
              <a:buClr>
                <a:srgbClr val="16818D"/>
              </a:buClr>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mj-lt"/>
              <a:buAutoNum type="romanLcPeriod"/>
              <a:defRPr sz="1600">
                <a:latin typeface="Tahoma" panose="020B0604030504040204" pitchFamily="34" charset="0"/>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600">
                <a:latin typeface="Tahoma" panose="020B0604030504040204" pitchFamily="34" charset="0"/>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95484368"/>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text style">
    <p:spTree>
      <p:nvGrpSpPr>
        <p:cNvPr id="1" name=""/>
        <p:cNvGrpSpPr/>
        <p:nvPr/>
      </p:nvGrpSpPr>
      <p:grpSpPr>
        <a:xfrm>
          <a:off x="0" y="0"/>
          <a:ext cx="0" cy="0"/>
          <a:chOff x="0" y="0"/>
          <a:chExt cx="0" cy="0"/>
        </a:xfrm>
      </p:grpSpPr>
      <p:pic>
        <p:nvPicPr>
          <p:cNvPr id="8"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1"/>
          </p:nvPr>
        </p:nvSpPr>
        <p:spPr>
          <a:xfrm>
            <a:off x="899592" y="1628800"/>
            <a:ext cx="3167583" cy="4464025"/>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Tahoma" charset="0"/>
                <a:ea typeface="Tahoma" charset="0"/>
                <a:cs typeface="Tahoma" charset="0"/>
              </a:defRPr>
            </a:lvl1pPr>
          </a:lstStyle>
          <a:p>
            <a:pPr lvl="0"/>
            <a:r>
              <a:rPr lang="en-GB" dirty="0"/>
              <a:t>Click to edit Master text styles</a:t>
            </a:r>
          </a:p>
        </p:txBody>
      </p:sp>
      <p:sp>
        <p:nvSpPr>
          <p:cNvPr id="5" name="Text Placeholder 5"/>
          <p:cNvSpPr>
            <a:spLocks noGrp="1"/>
          </p:cNvSpPr>
          <p:nvPr>
            <p:ph type="body" sz="quarter" idx="10"/>
          </p:nvPr>
        </p:nvSpPr>
        <p:spPr>
          <a:xfrm>
            <a:off x="899591" y="692696"/>
            <a:ext cx="6515621" cy="646040"/>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2"/>
          </p:nvPr>
        </p:nvSpPr>
        <p:spPr>
          <a:xfrm>
            <a:off x="4284663" y="1628800"/>
            <a:ext cx="3167583" cy="4464025"/>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1223581112"/>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text style with bullet points">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1" y="692696"/>
            <a:ext cx="6515621" cy="646040"/>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8" name="Text Placeholder 5"/>
          <p:cNvSpPr>
            <a:spLocks noGrp="1"/>
          </p:cNvSpPr>
          <p:nvPr>
            <p:ph type="body" sz="quarter" idx="11" hasCustomPrompt="1"/>
          </p:nvPr>
        </p:nvSpPr>
        <p:spPr>
          <a:xfrm>
            <a:off x="899666" y="1584000"/>
            <a:ext cx="3167583" cy="4437288"/>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400">
                <a:latin typeface="Tahoma" panose="020B0604030504040204" pitchFamily="34" charset="0"/>
                <a:ea typeface="Tahoma" panose="020B0604030504040204" pitchFamily="34" charset="0"/>
                <a:cs typeface="Tahoma" panose="020B0604030504040204" pitchFamily="34" charset="0"/>
              </a:defRPr>
            </a:lvl2pPr>
            <a:lvl3pPr marL="808038" indent="-1778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163638" indent="-301625">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737" y="1584000"/>
            <a:ext cx="3167583" cy="4437288"/>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1338" indent="-274638">
              <a:buClr>
                <a:srgbClr val="16818D"/>
              </a:buClr>
              <a:buFont typeface="Courier New" panose="02070309020205020404" pitchFamily="49" charset="0"/>
              <a:buChar char="o"/>
              <a:defRPr sz="1400">
                <a:latin typeface="Tahoma" panose="020B0604030504040204" pitchFamily="34" charset="0"/>
                <a:ea typeface="Tahoma" panose="020B0604030504040204" pitchFamily="34" charset="0"/>
                <a:cs typeface="Tahoma" panose="020B0604030504040204" pitchFamily="34" charset="0"/>
              </a:defRPr>
            </a:lvl2pPr>
            <a:lvl3pPr marL="808038" indent="-1778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163638" indent="-301625">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42434571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text style with numbered points">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2" y="692696"/>
            <a:ext cx="6481464" cy="646040"/>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8" name="Text Placeholder 5"/>
          <p:cNvSpPr>
            <a:spLocks noGrp="1"/>
          </p:cNvSpPr>
          <p:nvPr>
            <p:ph type="body" sz="quarter" idx="11" hasCustomPrompt="1"/>
          </p:nvPr>
        </p:nvSpPr>
        <p:spPr>
          <a:xfrm>
            <a:off x="894944" y="1584148"/>
            <a:ext cx="3167583" cy="4437140"/>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Tahoma"/>
                <a:ea typeface="Tahoma"/>
                <a:cs typeface="Tahoma"/>
              </a:defRPr>
            </a:lvl1pPr>
            <a:lvl2pPr marL="541338" indent="-274638">
              <a:buClr>
                <a:srgbClr val="16818D"/>
              </a:buClr>
              <a:buFont typeface="+mj-lt"/>
              <a:buAutoNum type="romanLcPeriod"/>
              <a:defRPr sz="1400" baseline="0">
                <a:latin typeface="Tahoma" panose="020B0604030504040204" pitchFamily="34" charset="0"/>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0015" y="1584148"/>
            <a:ext cx="3167583" cy="4437140"/>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Tahoma"/>
                <a:ea typeface="Tahoma"/>
                <a:cs typeface="Tahoma"/>
              </a:defRPr>
            </a:lvl1pPr>
            <a:lvl2pPr marL="541338" indent="-274638">
              <a:buClr>
                <a:srgbClr val="16818D"/>
              </a:buClr>
              <a:buFont typeface="+mj-lt"/>
              <a:buAutoNum type="romanLcPeriod"/>
              <a:defRPr sz="1400">
                <a:latin typeface="Tahoma" panose="020B0604030504040204" pitchFamily="34" charset="0"/>
                <a:ea typeface="Tahoma" panose="020B0604030504040204" pitchFamily="34" charset="0"/>
                <a:cs typeface="Tahoma" panose="020B0604030504040204" pitchFamily="34" charset="0"/>
              </a:defRPr>
            </a:lvl2pPr>
            <a:lvl3pPr marL="896938" indent="-266700">
              <a:buClr>
                <a:srgbClr val="16818D"/>
              </a:buClr>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Tahoma" panose="020B0604030504040204" pitchFamily="34" charset="0"/>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185189897"/>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 and graph position">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5"/>
          <p:cNvSpPr>
            <a:spLocks noGrp="1"/>
          </p:cNvSpPr>
          <p:nvPr>
            <p:ph type="body" sz="quarter" idx="10"/>
          </p:nvPr>
        </p:nvSpPr>
        <p:spPr>
          <a:xfrm>
            <a:off x="899591" y="692696"/>
            <a:ext cx="6515621" cy="646040"/>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endParaRPr lang="en-US" noProof="0"/>
          </a:p>
        </p:txBody>
      </p:sp>
    </p:spTree>
    <p:extLst>
      <p:ext uri="{BB962C8B-B14F-4D97-AF65-F5344CB8AC3E}">
        <p14:creationId xmlns:p14="http://schemas.microsoft.com/office/powerpoint/2010/main" val="782794376"/>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arrow column text style with chart">
    <p:spTree>
      <p:nvGrpSpPr>
        <p:cNvPr id="1" name=""/>
        <p:cNvGrpSpPr/>
        <p:nvPr/>
      </p:nvGrpSpPr>
      <p:grpSpPr>
        <a:xfrm>
          <a:off x="0" y="0"/>
          <a:ext cx="0" cy="0"/>
          <a:chOff x="0" y="0"/>
          <a:chExt cx="0" cy="0"/>
        </a:xfrm>
      </p:grpSpPr>
      <p:pic>
        <p:nvPicPr>
          <p:cNvPr id="7"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1"/>
          </p:nvPr>
        </p:nvSpPr>
        <p:spPr>
          <a:xfrm>
            <a:off x="899592" y="1628800"/>
            <a:ext cx="3167583" cy="446402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400" b="0" i="0" baseline="0">
                <a:solidFill>
                  <a:schemeClr val="tx1"/>
                </a:solidFill>
                <a:latin typeface="Tahoma" charset="0"/>
                <a:ea typeface="Tahoma" charset="0"/>
                <a:cs typeface="Tahoma" charset="0"/>
              </a:defRPr>
            </a:lvl1pPr>
          </a:lstStyle>
          <a:p>
            <a:pPr lvl="0"/>
            <a:r>
              <a:rPr lang="en-GB" dirty="0"/>
              <a:t>Click to edit Master text styles</a:t>
            </a:r>
          </a:p>
        </p:txBody>
      </p:sp>
      <p:sp>
        <p:nvSpPr>
          <p:cNvPr id="5" name="Text Placeholder 5"/>
          <p:cNvSpPr>
            <a:spLocks noGrp="1"/>
          </p:cNvSpPr>
          <p:nvPr>
            <p:ph type="body" sz="quarter" idx="10"/>
          </p:nvPr>
        </p:nvSpPr>
        <p:spPr>
          <a:xfrm>
            <a:off x="899591" y="692696"/>
            <a:ext cx="6515621" cy="646040"/>
          </a:xfrm>
          <a:prstGeom prst="rect">
            <a:avLst/>
          </a:prstGeom>
        </p:spPr>
        <p:txBody>
          <a:bodyPr lIns="0" tIns="0" rIns="0" bIns="0"/>
          <a:lstStyle>
            <a:lvl1pPr marL="0" indent="0">
              <a:lnSpc>
                <a:spcPts val="4200"/>
              </a:lnSpc>
              <a:buFontTx/>
              <a:buNone/>
              <a:defRPr sz="40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endParaRPr lang="en-US" noProof="0"/>
          </a:p>
        </p:txBody>
      </p:sp>
    </p:spTree>
    <p:extLst>
      <p:ext uri="{BB962C8B-B14F-4D97-AF65-F5344CB8AC3E}">
        <p14:creationId xmlns:p14="http://schemas.microsoft.com/office/powerpoint/2010/main" val="940255910"/>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pic>
        <p:nvPicPr>
          <p:cNvPr id="3"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6326188"/>
            <a:ext cx="1081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Picture Placeholder 21"/>
          <p:cNvSpPr>
            <a:spLocks noGrp="1"/>
          </p:cNvSpPr>
          <p:nvPr>
            <p:ph type="pic" sz="quarter" idx="12"/>
          </p:nvPr>
        </p:nvSpPr>
        <p:spPr>
          <a:xfrm>
            <a:off x="611560" y="764704"/>
            <a:ext cx="7884740" cy="5112221"/>
          </a:xfrm>
          <a:prstGeom prst="rect">
            <a:avLst/>
          </a:prstGeom>
          <a:solidFill>
            <a:schemeClr val="bg1">
              <a:lumMod val="75000"/>
            </a:schemeClr>
          </a:solidFill>
        </p:spPr>
        <p:txBody>
          <a:bodyPr/>
          <a:lstStyle>
            <a:lvl1pPr marL="0" indent="0">
              <a:buFontTx/>
              <a:buNone/>
              <a:defRPr sz="2400" b="0" i="0">
                <a:ln>
                  <a:solidFill>
                    <a:srgbClr val="FFFFFF"/>
                  </a:solidFill>
                </a:ln>
                <a:solidFill>
                  <a:srgbClr val="FFFFFF"/>
                </a:solidFill>
                <a:latin typeface="Tahoma" charset="0"/>
                <a:ea typeface="Tahoma" charset="0"/>
                <a:cs typeface="Tahoma" charset="0"/>
              </a:defRPr>
            </a:lvl1pPr>
          </a:lstStyle>
          <a:p>
            <a:pPr lvl="0"/>
            <a:r>
              <a:rPr lang="en-GB" noProof="0" dirty="0"/>
              <a:t>Drag picture to placeholder or click icon to add</a:t>
            </a:r>
            <a:endParaRPr lang="en-US" noProof="0" dirty="0"/>
          </a:p>
        </p:txBody>
      </p:sp>
    </p:spTree>
    <p:extLst>
      <p:ext uri="{BB962C8B-B14F-4D97-AF65-F5344CB8AC3E}">
        <p14:creationId xmlns:p14="http://schemas.microsoft.com/office/powerpoint/2010/main" val="1696404744"/>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E707-30C8-E63B-7D26-172B75C398B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B6CA31-773B-F519-33C7-059FD5A80F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933614-444B-3122-CF3A-3758D5C7AE33}"/>
              </a:ext>
            </a:extLst>
          </p:cNvPr>
          <p:cNvSpPr>
            <a:spLocks noGrp="1"/>
          </p:cNvSpPr>
          <p:nvPr>
            <p:ph type="dt" sz="half" idx="10"/>
          </p:nvPr>
        </p:nvSpPr>
        <p:spPr/>
        <p:txBody>
          <a:bodyPr/>
          <a:lstStyle/>
          <a:p>
            <a:fld id="{1B27423C-C77E-4B24-9BBF-4D7A317CCB17}" type="datetimeFigureOut">
              <a:rPr lang="en-GB" smtClean="0"/>
              <a:t>13/08/2025</a:t>
            </a:fld>
            <a:endParaRPr lang="en-GB"/>
          </a:p>
        </p:txBody>
      </p:sp>
      <p:sp>
        <p:nvSpPr>
          <p:cNvPr id="5" name="Footer Placeholder 4">
            <a:extLst>
              <a:ext uri="{FF2B5EF4-FFF2-40B4-BE49-F238E27FC236}">
                <a16:creationId xmlns:a16="http://schemas.microsoft.com/office/drawing/2014/main" id="{E8229858-BC69-50B1-7740-2B551546F3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547902-53F3-D55E-0873-1D1585213F59}"/>
              </a:ext>
            </a:extLst>
          </p:cNvPr>
          <p:cNvSpPr>
            <a:spLocks noGrp="1"/>
          </p:cNvSpPr>
          <p:nvPr>
            <p:ph type="sldNum" sz="quarter" idx="12"/>
          </p:nvPr>
        </p:nvSpPr>
        <p:spPr/>
        <p:txBody>
          <a:bodyPr/>
          <a:lstStyle/>
          <a:p>
            <a:fld id="{6FAD761D-32D1-4109-9DB5-7975D6DE9DE3}" type="slidenum">
              <a:rPr lang="en-GB" smtClean="0"/>
              <a:t>‹#›</a:t>
            </a:fld>
            <a:endParaRPr lang="en-GB"/>
          </a:p>
        </p:txBody>
      </p:sp>
    </p:spTree>
    <p:extLst>
      <p:ext uri="{BB962C8B-B14F-4D97-AF65-F5344CB8AC3E}">
        <p14:creationId xmlns:p14="http://schemas.microsoft.com/office/powerpoint/2010/main" val="3018830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
            <a:ext cx="1787872" cy="895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81"/>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3" y="1916833"/>
            <a:ext cx="1219139" cy="269081"/>
          </a:xfrm>
          <a:prstGeom prst="rect">
            <a:avLst/>
          </a:prstGeom>
        </p:spPr>
        <p:txBody>
          <a:bodyPr lIns="0" tIns="0" rIns="0" bIns="0"/>
          <a:lstStyle>
            <a:lvl1pPr marL="0" indent="0">
              <a:lnSpc>
                <a:spcPts val="975"/>
              </a:lnSpc>
              <a:spcBef>
                <a:spcPts val="0"/>
              </a:spcBef>
              <a:buFontTx/>
              <a:buNone/>
              <a:defRPr sz="12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2" y="2323738"/>
            <a:ext cx="1219139" cy="402300"/>
          </a:xfrm>
          <a:prstGeom prst="rect">
            <a:avLst/>
          </a:prstGeom>
        </p:spPr>
        <p:txBody>
          <a:bodyPr lIns="0" tIns="0" rIns="0" bIns="0"/>
          <a:lstStyle>
            <a:lvl1pPr marL="0" indent="0">
              <a:lnSpc>
                <a:spcPts val="975"/>
              </a:lnSpc>
              <a:spcBef>
                <a:spcPts val="0"/>
              </a:spcBef>
              <a:buFontTx/>
              <a:buNone/>
              <a:defRPr sz="1350" b="1" i="0">
                <a:solidFill>
                  <a:schemeClr val="bg1"/>
                </a:solidFill>
                <a:latin typeface="+mj-lt"/>
                <a:ea typeface="Tahoma" charset="0"/>
                <a:cs typeface="Tahoma" charset="0"/>
              </a:defRPr>
            </a:lvl1pPr>
          </a:lstStyle>
          <a:p>
            <a:pPr lvl="0"/>
            <a:r>
              <a:rPr lang="en-US"/>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7" y="2913641"/>
            <a:ext cx="1219139" cy="371345"/>
          </a:xfrm>
          <a:prstGeom prst="rect">
            <a:avLst/>
          </a:prstGeom>
        </p:spPr>
        <p:txBody>
          <a:bodyPr lIns="0" tIns="0" rIns="0" bIns="0"/>
          <a:lstStyle>
            <a:lvl1pPr marL="0" indent="0">
              <a:lnSpc>
                <a:spcPts val="975"/>
              </a:lnSpc>
              <a:spcBef>
                <a:spcPts val="0"/>
              </a:spcBef>
              <a:buFontTx/>
              <a:buNone/>
              <a:defRPr sz="1350" b="1" i="0">
                <a:solidFill>
                  <a:schemeClr val="bg1"/>
                </a:solidFill>
                <a:latin typeface="+mj-lt"/>
                <a:ea typeface="Tahoma" charset="0"/>
                <a:cs typeface="Tahoma"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p:nvCxnSpPr>
        <p:spPr>
          <a:xfrm>
            <a:off x="1919288" y="1916833"/>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7" y="5373217"/>
            <a:ext cx="1219139" cy="345828"/>
          </a:xfrm>
          <a:prstGeom prst="rect">
            <a:avLst/>
          </a:prstGeom>
        </p:spPr>
        <p:txBody>
          <a:bodyPr lIns="0" tIns="0" rIns="0" bIns="0"/>
          <a:lstStyle>
            <a:lvl1pPr marL="0" indent="0">
              <a:lnSpc>
                <a:spcPts val="975"/>
              </a:lnSpc>
              <a:spcBef>
                <a:spcPts val="0"/>
              </a:spcBef>
              <a:buFontTx/>
              <a:buNone/>
              <a:defRPr sz="12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837704584"/>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1"/>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236588686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2"/>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3946563115"/>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7"/>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35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68348949"/>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3" r:id="rId11"/>
    <p:sldLayoutId id="2147483954" r:id="rId12"/>
    <p:sldLayoutId id="2147483955" r:id="rId13"/>
    <p:sldLayoutId id="2147483956" r:id="rId14"/>
    <p:sldLayoutId id="2147483958" r:id="rId15"/>
  </p:sldLayoutIdLst>
  <p:transition spd="slow">
    <p:fade/>
  </p:transition>
  <p:txStyles>
    <p:titleStyle>
      <a:lvl1pPr algn="ctr" defTabSz="606425" rtl="0" eaLnBrk="0" fontAlgn="base" hangingPunct="0">
        <a:spcBef>
          <a:spcPct val="0"/>
        </a:spcBef>
        <a:spcAft>
          <a:spcPct val="0"/>
        </a:spcAft>
        <a:defRPr sz="5800" kern="1200">
          <a:solidFill>
            <a:schemeClr val="tx1"/>
          </a:solidFill>
          <a:latin typeface="+mj-lt"/>
          <a:ea typeface="ＭＳ Ｐゴシック" charset="0"/>
          <a:cs typeface="ＭＳ Ｐゴシック" charset="0"/>
        </a:defRPr>
      </a:lvl1pPr>
      <a:lvl2pPr algn="ctr" defTabSz="606425"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commons.wikimedia.org/wiki/File:Attention_Sign.sv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F73C-04D4-7BB1-2084-E39FB595A675}"/>
              </a:ext>
            </a:extLst>
          </p:cNvPr>
          <p:cNvSpPr>
            <a:spLocks noGrp="1"/>
          </p:cNvSpPr>
          <p:nvPr>
            <p:ph type="title"/>
          </p:nvPr>
        </p:nvSpPr>
        <p:spPr>
          <a:xfrm>
            <a:off x="2050826" y="1340767"/>
            <a:ext cx="6265590" cy="5248151"/>
          </a:xfrm>
        </p:spPr>
        <p:txBody>
          <a:bodyPr>
            <a:noAutofit/>
          </a:bodyPr>
          <a:lstStyle/>
          <a:p>
            <a:r>
              <a:rPr lang="en-GB" sz="4400" dirty="0"/>
              <a:t>UMET9G-30-1 </a:t>
            </a:r>
            <a:br>
              <a:rPr lang="en-GB" sz="4400" dirty="0"/>
            </a:br>
            <a:r>
              <a:rPr lang="en-GB" sz="4400" dirty="0"/>
              <a:t>Accounting &amp; Finance for Decision Making</a:t>
            </a:r>
            <a:br>
              <a:rPr lang="en-GB" sz="4400" dirty="0"/>
            </a:br>
            <a:br>
              <a:rPr lang="en-GB" sz="4400" dirty="0"/>
            </a:br>
            <a:r>
              <a:rPr lang="en-GB" sz="4400" dirty="0"/>
              <a:t>Financial Analysis – part 2; Efficiency, Gearing and Liquidity Ratios</a:t>
            </a:r>
            <a:br>
              <a:rPr lang="en-GB" sz="4400" dirty="0"/>
            </a:br>
            <a:endParaRPr lang="en-GB" sz="4400" dirty="0"/>
          </a:p>
        </p:txBody>
      </p:sp>
      <p:sp>
        <p:nvSpPr>
          <p:cNvPr id="3" name="Text Placeholder 2">
            <a:extLst>
              <a:ext uri="{FF2B5EF4-FFF2-40B4-BE49-F238E27FC236}">
                <a16:creationId xmlns:a16="http://schemas.microsoft.com/office/drawing/2014/main" id="{98D6E62E-6AD9-4D0B-7E60-F93F395E3C42}"/>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7FD96836-D923-AFEB-B3B3-9CB34EE42ECE}"/>
              </a:ext>
            </a:extLst>
          </p:cNvPr>
          <p:cNvSpPr>
            <a:spLocks noGrp="1"/>
          </p:cNvSpPr>
          <p:nvPr>
            <p:ph type="body" sz="quarter" idx="16"/>
          </p:nvPr>
        </p:nvSpPr>
        <p:spPr/>
        <p:txBody>
          <a:bodyPr/>
          <a:lstStyle/>
          <a:p>
            <a:endParaRPr lang="en-GB"/>
          </a:p>
        </p:txBody>
      </p:sp>
      <p:sp>
        <p:nvSpPr>
          <p:cNvPr id="5" name="Text Placeholder 4">
            <a:extLst>
              <a:ext uri="{FF2B5EF4-FFF2-40B4-BE49-F238E27FC236}">
                <a16:creationId xmlns:a16="http://schemas.microsoft.com/office/drawing/2014/main" id="{30BED68A-8FE9-778F-F1C5-2E5F562E7F24}"/>
              </a:ext>
            </a:extLst>
          </p:cNvPr>
          <p:cNvSpPr>
            <a:spLocks noGrp="1"/>
          </p:cNvSpPr>
          <p:nvPr>
            <p:ph type="body" sz="quarter" idx="17"/>
          </p:nvPr>
        </p:nvSpPr>
        <p:spPr/>
        <p:txBody>
          <a:bodyPr/>
          <a:lstStyle/>
          <a:p>
            <a:endParaRPr lang="en-GB"/>
          </a:p>
        </p:txBody>
      </p:sp>
      <p:sp>
        <p:nvSpPr>
          <p:cNvPr id="6" name="Text Placeholder 5">
            <a:extLst>
              <a:ext uri="{FF2B5EF4-FFF2-40B4-BE49-F238E27FC236}">
                <a16:creationId xmlns:a16="http://schemas.microsoft.com/office/drawing/2014/main" id="{3CC1755D-B81A-989A-E980-95F07C352C00}"/>
              </a:ext>
            </a:extLst>
          </p:cNvPr>
          <p:cNvSpPr>
            <a:spLocks noGrp="1"/>
          </p:cNvSpPr>
          <p:nvPr>
            <p:ph type="body" sz="quarter" idx="18"/>
          </p:nvPr>
        </p:nvSpPr>
        <p:spPr/>
        <p:txBody>
          <a:bodyPr/>
          <a:lstStyle/>
          <a:p>
            <a:endParaRPr lang="en-GB"/>
          </a:p>
        </p:txBody>
      </p:sp>
    </p:spTree>
    <p:extLst>
      <p:ext uri="{BB962C8B-B14F-4D97-AF65-F5344CB8AC3E}">
        <p14:creationId xmlns:p14="http://schemas.microsoft.com/office/powerpoint/2010/main" val="264072238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14CE-3250-F7F0-AE05-421FA0F9E543}"/>
              </a:ext>
            </a:extLst>
          </p:cNvPr>
          <p:cNvSpPr>
            <a:spLocks noGrp="1"/>
          </p:cNvSpPr>
          <p:nvPr>
            <p:ph type="title"/>
          </p:nvPr>
        </p:nvSpPr>
        <p:spPr/>
        <p:txBody>
          <a:bodyPr/>
          <a:lstStyle/>
          <a:p>
            <a:pPr algn="l"/>
            <a:r>
              <a:rPr lang="en-GB" dirty="0"/>
              <a:t>Recap</a:t>
            </a:r>
          </a:p>
        </p:txBody>
      </p:sp>
      <p:sp>
        <p:nvSpPr>
          <p:cNvPr id="3" name="Chart Placeholder 2">
            <a:extLst>
              <a:ext uri="{FF2B5EF4-FFF2-40B4-BE49-F238E27FC236}">
                <a16:creationId xmlns:a16="http://schemas.microsoft.com/office/drawing/2014/main" id="{FF9B3823-0605-807A-5635-4865E10F2BE4}"/>
              </a:ext>
            </a:extLst>
          </p:cNvPr>
          <p:cNvSpPr>
            <a:spLocks noGrp="1"/>
          </p:cNvSpPr>
          <p:nvPr>
            <p:ph type="chart" sz="quarter" idx="11"/>
          </p:nvPr>
        </p:nvSpPr>
        <p:spPr>
          <a:xfrm>
            <a:off x="899591" y="2132855"/>
            <a:ext cx="7351893" cy="4032447"/>
          </a:xfrm>
        </p:spPr>
        <p:txBody>
          <a:bodyPr/>
          <a:lstStyle/>
          <a:p>
            <a:pPr marL="0" indent="0">
              <a:buNone/>
            </a:pPr>
            <a:r>
              <a:rPr lang="en-GB" sz="3200" dirty="0">
                <a:latin typeface="Segoe Sans"/>
              </a:rPr>
              <a:t>Last week session covered:</a:t>
            </a:r>
          </a:p>
          <a:p>
            <a:pPr>
              <a:buFontTx/>
              <a:buChar char="-"/>
            </a:pPr>
            <a:r>
              <a:rPr lang="en-GB" sz="3200" dirty="0">
                <a:latin typeface="Segoe Sans"/>
              </a:rPr>
              <a:t>The need for financial analysis</a:t>
            </a:r>
          </a:p>
          <a:p>
            <a:pPr>
              <a:buFontTx/>
              <a:buChar char="-"/>
            </a:pPr>
            <a:r>
              <a:rPr lang="en-GB" sz="3200" dirty="0">
                <a:latin typeface="Segoe Sans"/>
              </a:rPr>
              <a:t>The key classification of ratios</a:t>
            </a:r>
          </a:p>
          <a:p>
            <a:pPr>
              <a:buFontTx/>
              <a:buChar char="-"/>
            </a:pPr>
            <a:r>
              <a:rPr lang="en-GB" sz="3200" dirty="0">
                <a:latin typeface="Segoe Sans"/>
              </a:rPr>
              <a:t>Use of Profitability and Equity Ratios</a:t>
            </a:r>
          </a:p>
        </p:txBody>
      </p:sp>
      <p:pic>
        <p:nvPicPr>
          <p:cNvPr id="5" name="Graphic 4" descr="Clipboard Checked with solid fill">
            <a:extLst>
              <a:ext uri="{FF2B5EF4-FFF2-40B4-BE49-F238E27FC236}">
                <a16:creationId xmlns:a16="http://schemas.microsoft.com/office/drawing/2014/main" id="{295E040E-13B2-6A1F-C2CA-FE2D44F88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85" y="2971800"/>
            <a:ext cx="914400" cy="914400"/>
          </a:xfrm>
          <a:prstGeom prst="rect">
            <a:avLst/>
          </a:prstGeom>
        </p:spPr>
      </p:pic>
    </p:spTree>
    <p:extLst>
      <p:ext uri="{BB962C8B-B14F-4D97-AF65-F5344CB8AC3E}">
        <p14:creationId xmlns:p14="http://schemas.microsoft.com/office/powerpoint/2010/main" val="59189003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itle 1">
            <a:extLst>
              <a:ext uri="{FF2B5EF4-FFF2-40B4-BE49-F238E27FC236}">
                <a16:creationId xmlns:a16="http://schemas.microsoft.com/office/drawing/2014/main" id="{B54CC29E-BA68-10E6-2F39-FA1EBE0C99F6}"/>
              </a:ext>
            </a:extLst>
          </p:cNvPr>
          <p:cNvSpPr>
            <a:spLocks noGrp="1"/>
          </p:cNvSpPr>
          <p:nvPr>
            <p:ph type="title"/>
          </p:nvPr>
        </p:nvSpPr>
        <p:spPr>
          <a:xfrm>
            <a:off x="892515" y="1376773"/>
            <a:ext cx="7886700" cy="646548"/>
          </a:xfrm>
        </p:spPr>
        <p:txBody>
          <a:bodyPr/>
          <a:lstStyle/>
          <a:p>
            <a:pPr algn="l"/>
            <a:r>
              <a:rPr lang="en-US" dirty="0"/>
              <a:t>Learning Outcomes</a:t>
            </a:r>
          </a:p>
        </p:txBody>
      </p:sp>
      <p:graphicFrame>
        <p:nvGraphicFramePr>
          <p:cNvPr id="13315" name="Text Placeholder 1">
            <a:extLst>
              <a:ext uri="{FF2B5EF4-FFF2-40B4-BE49-F238E27FC236}">
                <a16:creationId xmlns:a16="http://schemas.microsoft.com/office/drawing/2014/main" id="{C2855CC1-6974-FD0F-632A-C97A1652BB10}"/>
              </a:ext>
            </a:extLst>
          </p:cNvPr>
          <p:cNvGraphicFramePr/>
          <p:nvPr>
            <p:extLst>
              <p:ext uri="{D42A27DB-BD31-4B8C-83A1-F6EECF244321}">
                <p14:modId xmlns:p14="http://schemas.microsoft.com/office/powerpoint/2010/main" val="3832062999"/>
              </p:ext>
            </p:extLst>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27583" y="260648"/>
            <a:ext cx="6624737" cy="890215"/>
          </a:xfrm>
        </p:spPr>
        <p:txBody>
          <a:bodyPr/>
          <a:lstStyle/>
          <a:p>
            <a:r>
              <a:rPr lang="en-GB" b="1" dirty="0">
                <a:latin typeface="Arial" panose="020B0604020202020204" pitchFamily="34" charset="0"/>
                <a:cs typeface="Arial" panose="020B0604020202020204" pitchFamily="34" charset="0"/>
              </a:rPr>
              <a:t>Today’s focus</a:t>
            </a:r>
          </a:p>
        </p:txBody>
      </p:sp>
      <p:sp>
        <p:nvSpPr>
          <p:cNvPr id="4" name="Rectangle 3"/>
          <p:cNvSpPr/>
          <p:nvPr/>
        </p:nvSpPr>
        <p:spPr>
          <a:xfrm>
            <a:off x="827583" y="1556792"/>
            <a:ext cx="8033073" cy="3721019"/>
          </a:xfrm>
          <a:prstGeom prst="rect">
            <a:avLst/>
          </a:prstGeom>
        </p:spPr>
        <p:txBody>
          <a:bodyPr wrap="square">
            <a:spAutoFit/>
          </a:bodyPr>
          <a:lstStyle/>
          <a:p>
            <a:pPr algn="just">
              <a:lnSpc>
                <a:spcPct val="90000"/>
              </a:lnSpc>
            </a:pPr>
            <a:r>
              <a:rPr lang="en-GB" sz="2000" b="1" u="sng" dirty="0">
                <a:solidFill>
                  <a:srgbClr val="FF0000"/>
                </a:solidFill>
                <a:latin typeface="Arial" panose="020B0604020202020204" pitchFamily="34" charset="0"/>
                <a:cs typeface="Arial" panose="020B0604020202020204" pitchFamily="34" charset="0"/>
              </a:rPr>
              <a:t>Financial Gearing Ratio</a:t>
            </a:r>
          </a:p>
          <a:p>
            <a:pPr marL="912813" lvl="1" indent="-457200" algn="just">
              <a:buFont typeface="Arial" panose="020B0604020202020204" pitchFamily="34" charset="0"/>
              <a:buChar char="•"/>
            </a:pPr>
            <a:r>
              <a:rPr lang="en-GB" dirty="0">
                <a:latin typeface="Arial" panose="020B0604020202020204" pitchFamily="34" charset="0"/>
                <a:cs typeface="Arial" panose="020B0604020202020204" pitchFamily="34" charset="0"/>
              </a:rPr>
              <a:t>Gearing Ratio</a:t>
            </a:r>
          </a:p>
          <a:p>
            <a:pPr marL="912813" lvl="1" indent="-457200" algn="just">
              <a:buFont typeface="Arial" panose="020B0604020202020204" pitchFamily="34" charset="0"/>
              <a:buChar char="•"/>
            </a:pPr>
            <a:r>
              <a:rPr lang="en-GB" dirty="0">
                <a:latin typeface="Arial" panose="020B0604020202020204" pitchFamily="34" charset="0"/>
                <a:cs typeface="Arial" panose="020B0604020202020204" pitchFamily="34" charset="0"/>
              </a:rPr>
              <a:t>Interest Cover Ratio  </a:t>
            </a:r>
          </a:p>
          <a:p>
            <a:pPr algn="just">
              <a:lnSpc>
                <a:spcPct val="90000"/>
              </a:lnSpc>
            </a:pPr>
            <a:r>
              <a:rPr lang="en-GB" sz="2000" b="1" u="sng" dirty="0">
                <a:solidFill>
                  <a:srgbClr val="FF0000"/>
                </a:solidFill>
                <a:latin typeface="Arial" panose="020B0604020202020204" pitchFamily="34" charset="0"/>
                <a:cs typeface="Arial" panose="020B0604020202020204" pitchFamily="34" charset="0"/>
              </a:rPr>
              <a:t>Liquidity Ratios</a:t>
            </a:r>
          </a:p>
          <a:p>
            <a:pPr lvl="1" algn="just">
              <a:lnSpc>
                <a:spcPct val="90000"/>
              </a:lnSpc>
            </a:pPr>
            <a:r>
              <a:rPr lang="en-GB" dirty="0">
                <a:latin typeface="Arial" panose="020B0604020202020204" pitchFamily="34" charset="0"/>
                <a:cs typeface="Arial" panose="020B0604020202020204" pitchFamily="34" charset="0"/>
              </a:rPr>
              <a:t>Whether companies will be able to make payments when required</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Current Ratio</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Acid Test Ratio</a:t>
            </a:r>
          </a:p>
          <a:p>
            <a:pPr algn="just">
              <a:lnSpc>
                <a:spcPct val="90000"/>
              </a:lnSpc>
            </a:pPr>
            <a:r>
              <a:rPr lang="en-GB" sz="2000" b="1" u="sng" dirty="0">
                <a:solidFill>
                  <a:srgbClr val="FF0000"/>
                </a:solidFill>
                <a:latin typeface="Arial" panose="020B0604020202020204" pitchFamily="34" charset="0"/>
                <a:cs typeface="Arial" panose="020B0604020202020204" pitchFamily="34" charset="0"/>
              </a:rPr>
              <a:t>Efficiency Ratios</a:t>
            </a:r>
          </a:p>
          <a:p>
            <a:pPr lvl="1" algn="just">
              <a:lnSpc>
                <a:spcPct val="90000"/>
              </a:lnSpc>
            </a:pPr>
            <a:r>
              <a:rPr lang="en-GB" dirty="0">
                <a:latin typeface="Arial" panose="020B0604020202020204" pitchFamily="34" charset="0"/>
                <a:cs typeface="Arial" panose="020B0604020202020204" pitchFamily="34" charset="0"/>
              </a:rPr>
              <a:t>How resources have been used in the business</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Average Inventories Turnover Period</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Average Settlement Period for Trade Receivables</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Average Settlement Period for Trade Payables </a:t>
            </a:r>
          </a:p>
          <a:p>
            <a:pPr marL="798513" lvl="1" indent="-342900" algn="just">
              <a:lnSpc>
                <a:spcPct val="90000"/>
              </a:lnSpc>
              <a:buFont typeface="Arial" panose="020B0604020202020204" pitchFamily="34" charset="0"/>
              <a:buChar char="•"/>
            </a:pPr>
            <a:r>
              <a:rPr lang="en-GB" dirty="0">
                <a:latin typeface="Arial" panose="020B0604020202020204" pitchFamily="34" charset="0"/>
                <a:cs typeface="Arial" panose="020B0604020202020204" pitchFamily="34" charset="0"/>
              </a:rPr>
              <a:t>Sales to Capital Employed</a:t>
            </a:r>
          </a:p>
          <a:p>
            <a:pPr marL="798513" lvl="1" indent="-342900" algn="just">
              <a:lnSpc>
                <a:spcPct val="90000"/>
              </a:lnSpc>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6886547"/>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67544" y="620688"/>
            <a:ext cx="7866322" cy="746199"/>
          </a:xfrm>
        </p:spPr>
        <p:txBody>
          <a:bodyPr/>
          <a:lstStyle/>
          <a:p>
            <a:r>
              <a:rPr lang="en-GB" sz="4700" b="1" dirty="0">
                <a:latin typeface="Arial" panose="020B0604020202020204" pitchFamily="34" charset="0"/>
                <a:cs typeface="Arial" panose="020B0604020202020204" pitchFamily="34" charset="0"/>
              </a:rPr>
              <a:t>Financial Gearing </a:t>
            </a:r>
          </a:p>
        </p:txBody>
      </p:sp>
      <p:sp>
        <p:nvSpPr>
          <p:cNvPr id="3" name="Text Placeholder 2"/>
          <p:cNvSpPr>
            <a:spLocks noGrp="1"/>
          </p:cNvSpPr>
          <p:nvPr>
            <p:ph type="body" sz="quarter" idx="11"/>
          </p:nvPr>
        </p:nvSpPr>
        <p:spPr>
          <a:xfrm>
            <a:off x="251520" y="1556792"/>
            <a:ext cx="8568952" cy="3096344"/>
          </a:xfrm>
        </p:spPr>
        <p:txBody>
          <a:bodyPr/>
          <a:lstStyle/>
          <a:p>
            <a:pPr marL="342900" indent="-342900" algn="just">
              <a:buFont typeface="Arial" panose="020B0604020202020204" pitchFamily="34" charset="0"/>
              <a:buChar char="•"/>
            </a:pPr>
            <a:r>
              <a:rPr lang="en-GB" sz="2600" dirty="0">
                <a:latin typeface="Arial" panose="020B0604020202020204" pitchFamily="34" charset="0"/>
                <a:cs typeface="Arial" panose="020B0604020202020204" pitchFamily="34" charset="0"/>
              </a:rPr>
              <a:t>Financial Gearing measures the contribution of long term debt to the overall long-term capital structure of a company. Analysing the long term solvency of the firm.</a:t>
            </a:r>
          </a:p>
          <a:p>
            <a:pPr marL="342900" indent="-342900" algn="just">
              <a:buFont typeface="Arial" panose="020B0604020202020204" pitchFamily="34" charset="0"/>
              <a:buChar char="•"/>
            </a:pPr>
            <a:r>
              <a:rPr lang="en-GB" sz="2600" dirty="0">
                <a:latin typeface="Arial" panose="020B0604020202020204" pitchFamily="34" charset="0"/>
                <a:cs typeface="Arial" panose="020B0604020202020204" pitchFamily="34" charset="0"/>
              </a:rPr>
              <a:t>Considered to be the prime measure of a financial risk.</a:t>
            </a:r>
          </a:p>
          <a:p>
            <a:pPr marL="342900" indent="-342900" algn="just">
              <a:buFont typeface="Arial" panose="020B0604020202020204" pitchFamily="34" charset="0"/>
              <a:buChar char="•"/>
            </a:pPr>
            <a:r>
              <a:rPr lang="en-GB" sz="2600" dirty="0">
                <a:latin typeface="Arial" panose="020B0604020202020204" pitchFamily="34" charset="0"/>
                <a:cs typeface="Arial" panose="020B0604020202020204" pitchFamily="34" charset="0"/>
              </a:rPr>
              <a:t>Debt is considered more risky than equity because of the compulsory interest payments and the capital repayment</a:t>
            </a:r>
          </a:p>
          <a:p>
            <a:pPr marL="342900" indent="-342900" algn="just">
              <a:buFont typeface="Arial" panose="020B0604020202020204" pitchFamily="34" charset="0"/>
              <a:buChar char="•"/>
            </a:pPr>
            <a:r>
              <a:rPr lang="en-GB" sz="2600" dirty="0">
                <a:latin typeface="Arial" panose="020B0604020202020204" pitchFamily="34" charset="0"/>
                <a:cs typeface="Arial" panose="020B0604020202020204" pitchFamily="34" charset="0"/>
              </a:rPr>
              <a:t>So why borrow??     We will look at this in Sources of Finance</a:t>
            </a:r>
          </a:p>
          <a:p>
            <a:pPr marL="342900" indent="-342900" algn="just">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 </a:t>
            </a:r>
          </a:p>
        </p:txBody>
      </p:sp>
      <p:sp>
        <p:nvSpPr>
          <p:cNvPr id="9" name="TextBox 8"/>
          <p:cNvSpPr txBox="1"/>
          <p:nvPr/>
        </p:nvSpPr>
        <p:spPr>
          <a:xfrm>
            <a:off x="7404250" y="11623625"/>
            <a:ext cx="1356680" cy="369332"/>
          </a:xfrm>
          <a:prstGeom prst="rect">
            <a:avLst/>
          </a:prstGeom>
          <a:noFill/>
        </p:spPr>
        <p:txBody>
          <a:bodyPr wrap="square" rtlCol="0">
            <a:spAutoFit/>
          </a:bodyPr>
          <a:lstStyle/>
          <a:p>
            <a:r>
              <a:rPr lang="en-GB" dirty="0"/>
              <a:t> </a:t>
            </a:r>
          </a:p>
        </p:txBody>
      </p:sp>
      <p:pic>
        <p:nvPicPr>
          <p:cNvPr id="4100" name="Picture 4" descr="Image result for thinking emo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8658" y="4511922"/>
            <a:ext cx="501254" cy="5012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5A7E39D-908B-242F-77B5-50E1E4C70EA6}"/>
                  </a:ext>
                </a:extLst>
              </p:cNvPr>
              <p:cNvSpPr txBox="1"/>
              <p:nvPr/>
            </p:nvSpPr>
            <p:spPr>
              <a:xfrm>
                <a:off x="968338" y="5301208"/>
                <a:ext cx="7866322" cy="698589"/>
              </a:xfrm>
              <a:prstGeom prst="rect">
                <a:avLst/>
              </a:prstGeom>
              <a:noFill/>
            </p:spPr>
            <p:txBody>
              <a:bodyPr wrap="square">
                <a:spAutoFit/>
              </a:bodyPr>
              <a:lstStyle/>
              <a:p>
                <a:pPr marL="0" lvl="1" indent="0">
                  <a:lnSpc>
                    <a:spcPct val="150000"/>
                  </a:lnSpc>
                  <a:spcBef>
                    <a:spcPts val="1013"/>
                  </a:spcBef>
                  <a:buClr>
                    <a:srgbClr val="C00000"/>
                  </a:buClr>
                  <a:buNone/>
                  <a:tabLst>
                    <a:tab pos="502742" algn="l"/>
                  </a:tabLst>
                </a:pPr>
                <a14:m>
                  <m:oMath xmlns:m="http://schemas.openxmlformats.org/officeDocument/2006/math">
                    <m:r>
                      <m:rPr>
                        <m:sty m:val="p"/>
                      </m:rPr>
                      <a:rPr lang="en-GB" sz="1800" smtClean="0">
                        <a:solidFill>
                          <a:schemeClr val="accent5">
                            <a:lumMod val="75000"/>
                          </a:schemeClr>
                        </a:solidFill>
                        <a:latin typeface="Cambria Math" panose="02040503050406030204" pitchFamily="18" charset="0"/>
                        <a:ea typeface="Cambria Math" panose="02040503050406030204" pitchFamily="18" charset="0"/>
                      </a:rPr>
                      <m:t>Financial</m:t>
                    </m:r>
                    <m:r>
                      <a:rPr lang="en-GB" sz="1800" smtClean="0">
                        <a:solidFill>
                          <a:schemeClr val="accent5">
                            <a:lumMod val="75000"/>
                          </a:schemeClr>
                        </a:solidFill>
                        <a:latin typeface="Cambria Math" panose="02040503050406030204" pitchFamily="18" charset="0"/>
                        <a:ea typeface="Cambria Math" panose="02040503050406030204" pitchFamily="18" charset="0"/>
                      </a:rPr>
                      <m:t> </m:t>
                    </m:r>
                    <m:r>
                      <m:rPr>
                        <m:sty m:val="p"/>
                      </m:rPr>
                      <a:rPr lang="en-GB" sz="1800" smtClean="0">
                        <a:solidFill>
                          <a:schemeClr val="accent5">
                            <a:lumMod val="75000"/>
                          </a:schemeClr>
                        </a:solidFill>
                        <a:latin typeface="Cambria Math" panose="02040503050406030204" pitchFamily="18" charset="0"/>
                        <a:ea typeface="Cambria Math" panose="02040503050406030204" pitchFamily="18" charset="0"/>
                      </a:rPr>
                      <m:t>Gearing</m:t>
                    </m:r>
                    <m:r>
                      <a:rPr lang="en-GB" sz="1800" smtClean="0">
                        <a:solidFill>
                          <a:schemeClr val="accent5">
                            <a:lumMod val="75000"/>
                          </a:schemeClr>
                        </a:solidFill>
                        <a:latin typeface="Cambria Math" panose="02040503050406030204" pitchFamily="18" charset="0"/>
                        <a:ea typeface="Cambria Math" panose="02040503050406030204" pitchFamily="18" charset="0"/>
                      </a:rPr>
                      <m:t> </m:t>
                    </m:r>
                    <m:r>
                      <m:rPr>
                        <m:sty m:val="p"/>
                      </m:rPr>
                      <a:rPr lang="en-GB" sz="1800" smtClean="0">
                        <a:solidFill>
                          <a:schemeClr val="accent5">
                            <a:lumMod val="75000"/>
                          </a:schemeClr>
                        </a:solidFill>
                        <a:latin typeface="Cambria Math" panose="02040503050406030204" pitchFamily="18" charset="0"/>
                        <a:ea typeface="Cambria Math" panose="02040503050406030204" pitchFamily="18" charset="0"/>
                      </a:rPr>
                      <m:t>ratio</m:t>
                    </m:r>
                    <m:r>
                      <a:rPr lang="en-GB" sz="1800"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800" i="1">
                            <a:solidFill>
                              <a:schemeClr val="accent5"/>
                            </a:solidFill>
                            <a:latin typeface="Cambria Math" panose="02040503050406030204" pitchFamily="18" charset="0"/>
                            <a:ea typeface="Cambria Math" panose="02040503050406030204" pitchFamily="18" charset="0"/>
                          </a:rPr>
                        </m:ctrlPr>
                      </m:fPr>
                      <m:num>
                        <m:r>
                          <m:rPr>
                            <m:sty m:val="p"/>
                          </m:rPr>
                          <a:rPr lang="en-GB" sz="1800" b="0" i="0" smtClean="0">
                            <a:solidFill>
                              <a:schemeClr val="accent5"/>
                            </a:solidFill>
                            <a:latin typeface="Cambria Math" panose="02040503050406030204" pitchFamily="18" charset="0"/>
                            <a:ea typeface="Cambria Math" panose="02040503050406030204" pitchFamily="18" charset="0"/>
                          </a:rPr>
                          <m:t>Non</m:t>
                        </m:r>
                        <m:r>
                          <a:rPr lang="en-GB" sz="1800" b="0" i="0" smtClean="0">
                            <a:solidFill>
                              <a:schemeClr val="accent5"/>
                            </a:solidFill>
                            <a:latin typeface="Cambria Math" panose="02040503050406030204" pitchFamily="18" charset="0"/>
                            <a:ea typeface="Cambria Math" panose="02040503050406030204" pitchFamily="18" charset="0"/>
                          </a:rPr>
                          <m:t>−</m:t>
                        </m:r>
                        <m:r>
                          <m:rPr>
                            <m:sty m:val="p"/>
                          </m:rPr>
                          <a:rPr lang="en-GB" sz="1800" b="0" i="0" smtClean="0">
                            <a:solidFill>
                              <a:schemeClr val="accent5"/>
                            </a:solidFill>
                            <a:latin typeface="Cambria Math" panose="02040503050406030204" pitchFamily="18" charset="0"/>
                            <a:ea typeface="Cambria Math" panose="02040503050406030204" pitchFamily="18" charset="0"/>
                          </a:rPr>
                          <m:t>current</m:t>
                        </m:r>
                        <m:r>
                          <a:rPr lang="en-GB" sz="1800" b="0" i="0" smtClean="0">
                            <a:solidFill>
                              <a:schemeClr val="accent5"/>
                            </a:solidFill>
                            <a:latin typeface="Cambria Math" panose="02040503050406030204" pitchFamily="18" charset="0"/>
                            <a:ea typeface="Cambria Math" panose="02040503050406030204" pitchFamily="18" charset="0"/>
                          </a:rPr>
                          <m:t> </m:t>
                        </m:r>
                        <m:r>
                          <m:rPr>
                            <m:sty m:val="p"/>
                          </m:rPr>
                          <a:rPr lang="en-GB" sz="1800" b="0" i="0" smtClean="0">
                            <a:solidFill>
                              <a:schemeClr val="accent5"/>
                            </a:solidFill>
                            <a:latin typeface="Cambria Math" panose="02040503050406030204" pitchFamily="18" charset="0"/>
                            <a:ea typeface="Cambria Math" panose="02040503050406030204" pitchFamily="18" charset="0"/>
                          </a:rPr>
                          <m:t>Liabilities</m:t>
                        </m:r>
                      </m:num>
                      <m:den>
                        <m:r>
                          <m:rPr>
                            <m:sty m:val="p"/>
                          </m:rPr>
                          <a:rPr lang="en-GB" sz="1800" b="0" i="0" smtClean="0">
                            <a:solidFill>
                              <a:schemeClr val="accent5"/>
                            </a:solidFill>
                            <a:latin typeface="Cambria Math" panose="02040503050406030204" pitchFamily="18" charset="0"/>
                            <a:ea typeface="Cambria Math" panose="02040503050406030204" pitchFamily="18" charset="0"/>
                          </a:rPr>
                          <m:t>Equity</m:t>
                        </m:r>
                        <m:r>
                          <a:rPr lang="en-GB" sz="1800" b="0" i="0" smtClean="0">
                            <a:solidFill>
                              <a:schemeClr val="accent5"/>
                            </a:solidFill>
                            <a:latin typeface="Cambria Math" panose="02040503050406030204" pitchFamily="18" charset="0"/>
                            <a:ea typeface="Cambria Math" panose="02040503050406030204" pitchFamily="18" charset="0"/>
                          </a:rPr>
                          <m:t>+</m:t>
                        </m:r>
                        <m:r>
                          <m:rPr>
                            <m:sty m:val="p"/>
                          </m:rPr>
                          <a:rPr lang="en-GB" sz="1800" b="0" i="0" smtClean="0">
                            <a:solidFill>
                              <a:schemeClr val="accent5"/>
                            </a:solidFill>
                            <a:latin typeface="Cambria Math" panose="02040503050406030204" pitchFamily="18" charset="0"/>
                            <a:ea typeface="Cambria Math" panose="02040503050406030204" pitchFamily="18" charset="0"/>
                          </a:rPr>
                          <m:t>Non</m:t>
                        </m:r>
                        <m:r>
                          <a:rPr lang="en-GB" sz="1800" b="0" i="0" smtClean="0">
                            <a:solidFill>
                              <a:schemeClr val="accent5"/>
                            </a:solidFill>
                            <a:latin typeface="Cambria Math" panose="02040503050406030204" pitchFamily="18" charset="0"/>
                            <a:ea typeface="Cambria Math" panose="02040503050406030204" pitchFamily="18" charset="0"/>
                          </a:rPr>
                          <m:t>−</m:t>
                        </m:r>
                        <m:r>
                          <m:rPr>
                            <m:sty m:val="p"/>
                          </m:rPr>
                          <a:rPr lang="en-GB" sz="1800" b="0" i="0" smtClean="0">
                            <a:solidFill>
                              <a:schemeClr val="accent5"/>
                            </a:solidFill>
                            <a:latin typeface="Cambria Math" panose="02040503050406030204" pitchFamily="18" charset="0"/>
                            <a:ea typeface="Cambria Math" panose="02040503050406030204" pitchFamily="18" charset="0"/>
                          </a:rPr>
                          <m:t>current</m:t>
                        </m:r>
                        <m:r>
                          <a:rPr lang="en-GB" sz="1800" b="0" i="0" smtClean="0">
                            <a:solidFill>
                              <a:schemeClr val="accent5"/>
                            </a:solidFill>
                            <a:latin typeface="Cambria Math" panose="02040503050406030204" pitchFamily="18" charset="0"/>
                            <a:ea typeface="Cambria Math" panose="02040503050406030204" pitchFamily="18" charset="0"/>
                          </a:rPr>
                          <m:t> </m:t>
                        </m:r>
                        <m:r>
                          <m:rPr>
                            <m:sty m:val="p"/>
                          </m:rPr>
                          <a:rPr lang="en-GB" sz="1800" b="0" i="0" smtClean="0">
                            <a:solidFill>
                              <a:schemeClr val="accent5"/>
                            </a:solidFill>
                            <a:latin typeface="Cambria Math" panose="02040503050406030204" pitchFamily="18" charset="0"/>
                            <a:ea typeface="Cambria Math" panose="02040503050406030204" pitchFamily="18" charset="0"/>
                          </a:rPr>
                          <m:t>Liabilities</m:t>
                        </m:r>
                      </m:den>
                    </m:f>
                    <m:r>
                      <a:rPr lang="en-GB" sz="1800" i="1">
                        <a:solidFill>
                          <a:schemeClr val="accent5"/>
                        </a:solidFill>
                        <a:latin typeface="Cambria Math" panose="02040503050406030204" pitchFamily="18" charset="0"/>
                        <a:ea typeface="Cambria Math" panose="02040503050406030204" pitchFamily="18" charset="0"/>
                      </a:rPr>
                      <m:t> </m:t>
                    </m:r>
                  </m:oMath>
                </a14:m>
                <a:r>
                  <a:rPr lang="en-GB" sz="1800" dirty="0">
                    <a:solidFill>
                      <a:schemeClr val="accent5"/>
                    </a:solidFill>
                    <a:latin typeface="Cambria Math" panose="02040503050406030204" pitchFamily="18" charset="0"/>
                    <a:ea typeface="Cambria Math" panose="02040503050406030204" pitchFamily="18" charset="0"/>
                  </a:rPr>
                  <a:t>x</a:t>
                </a:r>
                <a14:m>
                  <m:oMath xmlns:m="http://schemas.openxmlformats.org/officeDocument/2006/math">
                    <m:r>
                      <a:rPr lang="en-GB" sz="1800" i="1">
                        <a:solidFill>
                          <a:schemeClr val="accent5"/>
                        </a:solidFill>
                        <a:latin typeface="Cambria Math" panose="02040503050406030204" pitchFamily="18" charset="0"/>
                        <a:ea typeface="Cambria Math" panose="02040503050406030204" pitchFamily="18" charset="0"/>
                      </a:rPr>
                      <m:t> 100</m:t>
                    </m:r>
                  </m:oMath>
                </a14:m>
                <a:endParaRPr lang="en-GB" sz="1800" dirty="0">
                  <a:solidFill>
                    <a:srgbClr val="7030A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E5A7E39D-908B-242F-77B5-50E1E4C70EA6}"/>
                  </a:ext>
                </a:extLst>
              </p:cNvPr>
              <p:cNvSpPr txBox="1">
                <a:spLocks noRot="1" noChangeAspect="1" noMove="1" noResize="1" noEditPoints="1" noAdjustHandles="1" noChangeArrowheads="1" noChangeShapeType="1" noTextEdit="1"/>
              </p:cNvSpPr>
              <p:nvPr/>
            </p:nvSpPr>
            <p:spPr>
              <a:xfrm>
                <a:off x="968338" y="5301208"/>
                <a:ext cx="7866322" cy="698589"/>
              </a:xfrm>
              <a:prstGeom prst="rect">
                <a:avLst/>
              </a:prstGeom>
              <a:blipFill>
                <a:blip r:embed="rId4"/>
                <a:stretch>
                  <a:fillRect b="-4386"/>
                </a:stretch>
              </a:blipFill>
            </p:spPr>
            <p:txBody>
              <a:bodyPr/>
              <a:lstStyle/>
              <a:p>
                <a:r>
                  <a:rPr lang="en-GB">
                    <a:noFill/>
                  </a:rPr>
                  <a:t> </a:t>
                </a:r>
              </a:p>
            </p:txBody>
          </p:sp>
        </mc:Fallback>
      </mc:AlternateContent>
    </p:spTree>
    <p:extLst>
      <p:ext uri="{BB962C8B-B14F-4D97-AF65-F5344CB8AC3E}">
        <p14:creationId xmlns:p14="http://schemas.microsoft.com/office/powerpoint/2010/main" val="133266720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7F89-4537-6B81-84D3-5B6586086E1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7A166E9-B626-06E2-420D-37EE53BB74EB}"/>
              </a:ext>
            </a:extLst>
          </p:cNvPr>
          <p:cNvSpPr>
            <a:spLocks noGrp="1"/>
          </p:cNvSpPr>
          <p:nvPr>
            <p:ph type="body" sz="quarter" idx="10"/>
          </p:nvPr>
        </p:nvSpPr>
        <p:spPr>
          <a:xfrm>
            <a:off x="467544" y="620688"/>
            <a:ext cx="7866322" cy="746199"/>
          </a:xfrm>
        </p:spPr>
        <p:txBody>
          <a:bodyPr/>
          <a:lstStyle/>
          <a:p>
            <a:r>
              <a:rPr lang="en-GB" sz="4700" b="1" dirty="0">
                <a:latin typeface="Arial" panose="020B0604020202020204" pitchFamily="34" charset="0"/>
                <a:cs typeface="Arial" panose="020B0604020202020204" pitchFamily="34" charset="0"/>
              </a:rPr>
              <a:t>Liquidity</a:t>
            </a:r>
          </a:p>
        </p:txBody>
      </p:sp>
      <p:sp>
        <p:nvSpPr>
          <p:cNvPr id="3" name="Text Placeholder 2">
            <a:extLst>
              <a:ext uri="{FF2B5EF4-FFF2-40B4-BE49-F238E27FC236}">
                <a16:creationId xmlns:a16="http://schemas.microsoft.com/office/drawing/2014/main" id="{4591D977-C224-B13F-8B62-D7D3DD18687E}"/>
              </a:ext>
            </a:extLst>
          </p:cNvPr>
          <p:cNvSpPr>
            <a:spLocks noGrp="1"/>
          </p:cNvSpPr>
          <p:nvPr>
            <p:ph type="body" sz="quarter" idx="11"/>
          </p:nvPr>
        </p:nvSpPr>
        <p:spPr>
          <a:xfrm>
            <a:off x="251520" y="1556792"/>
            <a:ext cx="8568952" cy="4680520"/>
          </a:xfrm>
        </p:spPr>
        <p:txBody>
          <a:bodyPr/>
          <a:lstStyle/>
          <a:p>
            <a:pPr>
              <a:spcBef>
                <a:spcPts val="338"/>
              </a:spcBef>
              <a:buClr>
                <a:srgbClr val="C00000"/>
              </a:buClr>
              <a:tabLst>
                <a:tab pos="502742" algn="l"/>
              </a:tabLst>
            </a:pPr>
            <a:r>
              <a:rPr lang="en-GB" sz="1800" b="1" dirty="0">
                <a:latin typeface="Arial" panose="020B0604020202020204" pitchFamily="34" charset="0"/>
                <a:cs typeface="Arial" panose="020B0604020202020204" pitchFamily="34" charset="0"/>
              </a:rPr>
              <a:t>Liquidity ratios </a:t>
            </a:r>
            <a:r>
              <a:rPr lang="en-GB" sz="1800" dirty="0">
                <a:latin typeface="Arial" panose="020B0604020202020204" pitchFamily="34" charset="0"/>
                <a:cs typeface="Arial" panose="020B0604020202020204" pitchFamily="34" charset="0"/>
              </a:rPr>
              <a:t>evaluate a company's ability to pay its </a:t>
            </a:r>
            <a:r>
              <a:rPr lang="en-GB" sz="1800" b="1" dirty="0">
                <a:latin typeface="Arial" panose="020B0604020202020204" pitchFamily="34" charset="0"/>
                <a:cs typeface="Arial" panose="020B0604020202020204" pitchFamily="34" charset="0"/>
              </a:rPr>
              <a:t>short-term liabilities</a:t>
            </a:r>
            <a:r>
              <a:rPr lang="en-GB" sz="1800" dirty="0">
                <a:latin typeface="Arial" panose="020B0604020202020204" pitchFamily="34" charset="0"/>
                <a:cs typeface="Arial" panose="020B0604020202020204" pitchFamily="34" charset="0"/>
              </a:rPr>
              <a:t>. These are commonly used metrics that lenders often look at in the loan approval process. Used along side Gearing ratios to assess the financial risk posed by the level of gearing</a:t>
            </a:r>
          </a:p>
          <a:p>
            <a:pPr marL="342900" indent="-342900" algn="just">
              <a:buFont typeface="Arial" panose="020B0604020202020204" pitchFamily="34" charset="0"/>
              <a:buChar char="•"/>
            </a:pPr>
            <a:r>
              <a:rPr lang="en-GB" sz="1800" b="1" u="sng" dirty="0">
                <a:latin typeface="Arial" panose="020B0604020202020204" pitchFamily="34" charset="0"/>
                <a:cs typeface="Arial" panose="020B0604020202020204" pitchFamily="34" charset="0"/>
              </a:rPr>
              <a:t>Current Ratio, </a:t>
            </a:r>
            <a:r>
              <a:rPr lang="en-GB" sz="1800" dirty="0">
                <a:latin typeface="Arial" panose="020B0604020202020204" pitchFamily="34" charset="0"/>
                <a:cs typeface="Arial" panose="020B0604020202020204" pitchFamily="34" charset="0"/>
              </a:rPr>
              <a:t>measures a company's ability to pay its short-term liabilities using cash, accounts receivable, and inventory</a:t>
            </a:r>
          </a:p>
          <a:p>
            <a:pPr marL="342900" indent="-342900" algn="just">
              <a:buFont typeface="Arial" panose="020B0604020202020204" pitchFamily="34" charset="0"/>
              <a:buChar char="•"/>
            </a:pPr>
            <a:r>
              <a:rPr lang="en-GB" sz="1800" b="1" u="sng" dirty="0">
                <a:latin typeface="Arial" panose="020B0604020202020204" pitchFamily="34" charset="0"/>
                <a:cs typeface="Arial" panose="020B0604020202020204" pitchFamily="34" charset="0"/>
              </a:rPr>
              <a:t>Quick Ratio/Acid Test Ratio,  </a:t>
            </a:r>
            <a:r>
              <a:rPr lang="en-GB" sz="1800" dirty="0">
                <a:latin typeface="Arial" panose="020B0604020202020204" pitchFamily="34" charset="0"/>
                <a:cs typeface="Arial" panose="020B0604020202020204" pitchFamily="34" charset="0"/>
              </a:rPr>
              <a:t>measures a company's ability to pay its short-term liabilities using ONLY cash and accounts receivable only. Inventories are excluded since their liquidity is not as good as cash an accounts receivable. This is a conservative measure of liquidity useful when inventory percentage is high. </a:t>
            </a:r>
          </a:p>
          <a:p>
            <a:pPr marL="342900" indent="-342900" algn="just">
              <a:buFont typeface="Arial" panose="020B0604020202020204" pitchFamily="34" charset="0"/>
              <a:buChar char="•"/>
            </a:pPr>
            <a:r>
              <a:rPr lang="en-GB" sz="1800" b="1" u="sng" dirty="0">
                <a:latin typeface="Arial" panose="020B0604020202020204" pitchFamily="34" charset="0"/>
                <a:cs typeface="Arial" panose="020B0604020202020204" pitchFamily="34" charset="0"/>
              </a:rPr>
              <a:t>Interest Coverage </a:t>
            </a:r>
            <a:r>
              <a:rPr lang="en-GB" sz="1800" dirty="0">
                <a:latin typeface="Arial" panose="020B0604020202020204" pitchFamily="34" charset="0"/>
                <a:cs typeface="Arial" panose="020B0604020202020204" pitchFamily="34" charset="0"/>
              </a:rPr>
              <a:t>indicates us how easily a company can pay its interest expenses using its earnings, used by creditors to determine the riskiness of a company's debt. A common view is that the interest coverage ratio should be at least 1.50, otherwise, the company might be struggling paying its debt.</a:t>
            </a:r>
          </a:p>
          <a:p>
            <a:pPr marL="342900" indent="-342900" algn="just">
              <a:buFont typeface="Arial" panose="020B0604020202020204" pitchFamily="34" charset="0"/>
              <a:buChar char="•"/>
            </a:pPr>
            <a:endParaRPr lang="en-GB" sz="18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GB" sz="1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84541321-F9EB-BC57-A966-42FD2F2F43DA}"/>
              </a:ext>
            </a:extLst>
          </p:cNvPr>
          <p:cNvSpPr txBox="1"/>
          <p:nvPr/>
        </p:nvSpPr>
        <p:spPr>
          <a:xfrm>
            <a:off x="7404250" y="11623625"/>
            <a:ext cx="1356680" cy="369332"/>
          </a:xfrm>
          <a:prstGeom prst="rect">
            <a:avLst/>
          </a:prstGeom>
          <a:noFill/>
        </p:spPr>
        <p:txBody>
          <a:bodyPr wrap="square" rtlCol="0">
            <a:spAutoFit/>
          </a:bodyPr>
          <a:lstStyle/>
          <a:p>
            <a:r>
              <a:rPr lang="en-GB" dirty="0"/>
              <a:t> </a:t>
            </a:r>
          </a:p>
        </p:txBody>
      </p:sp>
    </p:spTree>
    <p:extLst>
      <p:ext uri="{BB962C8B-B14F-4D97-AF65-F5344CB8AC3E}">
        <p14:creationId xmlns:p14="http://schemas.microsoft.com/office/powerpoint/2010/main" val="3438173866"/>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352" y="240747"/>
            <a:ext cx="8065008" cy="775558"/>
          </a:xfrm>
        </p:spPr>
        <p:txBody>
          <a:bodyPr>
            <a:noAutofit/>
          </a:bodyPr>
          <a:lstStyle/>
          <a:p>
            <a:r>
              <a:rPr lang="en-GB" sz="3600" dirty="0">
                <a:solidFill>
                  <a:srgbClr val="16818D"/>
                </a:solidFill>
              </a:rPr>
              <a:t>Financial Statements Cross Sectional Analysis – Morrison’s vs Sainsbury’s</a:t>
            </a:r>
          </a:p>
        </p:txBody>
      </p:sp>
      <p:sp>
        <p:nvSpPr>
          <p:cNvPr id="3" name="Content Placeholder 2"/>
          <p:cNvSpPr>
            <a:spLocks noGrp="1"/>
          </p:cNvSpPr>
          <p:nvPr>
            <p:ph idx="1"/>
          </p:nvPr>
        </p:nvSpPr>
        <p:spPr>
          <a:xfrm>
            <a:off x="1343025" y="2098325"/>
            <a:ext cx="6443663" cy="281402"/>
          </a:xfrm>
          <a:noFill/>
          <a:ln>
            <a:noFill/>
          </a:ln>
        </p:spPr>
        <p:txBody>
          <a:bodyPr>
            <a:noAutofit/>
          </a:bodyPr>
          <a:lstStyle/>
          <a:p>
            <a:pPr marL="0" indent="0">
              <a:spcBef>
                <a:spcPts val="0"/>
              </a:spcBef>
              <a:buClr>
                <a:srgbClr val="C00000"/>
              </a:buClr>
              <a:buNone/>
              <a:tabLst>
                <a:tab pos="502742" algn="l"/>
              </a:tabLst>
            </a:pPr>
            <a:r>
              <a:rPr lang="en-GB" sz="4950" b="1" u="sng" dirty="0" err="1">
                <a:solidFill>
                  <a:schemeClr val="accent1">
                    <a:lumMod val="75000"/>
                  </a:schemeClr>
                </a:solidFill>
              </a:rPr>
              <a:t>SoFP</a:t>
            </a:r>
            <a:endParaRPr lang="en-GB" sz="4950" b="1" u="sng" dirty="0">
              <a:solidFill>
                <a:schemeClr val="accent1">
                  <a:lumMod val="75000"/>
                </a:schemeClr>
              </a:solidFill>
            </a:endParaRPr>
          </a:p>
        </p:txBody>
      </p:sp>
      <p:sp>
        <p:nvSpPr>
          <p:cNvPr id="4" name="Slide Number Placeholder 3"/>
          <p:cNvSpPr>
            <a:spLocks noGrp="1"/>
          </p:cNvSpPr>
          <p:nvPr>
            <p:ph type="sldNum" sz="quarter" idx="12"/>
          </p:nvPr>
        </p:nvSpPr>
        <p:spPr>
          <a:xfrm>
            <a:off x="7546177" y="5140274"/>
            <a:ext cx="509600" cy="332922"/>
          </a:xfrm>
          <a:ln w="12700"/>
        </p:spPr>
        <p:txBody>
          <a:bodyPr/>
          <a:lstStyle/>
          <a:p>
            <a:fld id="{0F99C4FB-888A-4D12-A1C4-C744D94026CD}" type="slidenum">
              <a:rPr lang="en-GB" sz="1013">
                <a:solidFill>
                  <a:schemeClr val="tx1">
                    <a:lumMod val="50000"/>
                    <a:lumOff val="50000"/>
                  </a:schemeClr>
                </a:solidFill>
              </a:rPr>
              <a:t>7</a:t>
            </a:fld>
            <a:endParaRPr lang="en-GB" sz="1013">
              <a:solidFill>
                <a:schemeClr val="tx1">
                  <a:lumMod val="50000"/>
                  <a:lumOff val="50000"/>
                </a:schemeClr>
              </a:solidFill>
            </a:endParaRPr>
          </a:p>
        </p:txBody>
      </p:sp>
      <p:graphicFrame>
        <p:nvGraphicFramePr>
          <p:cNvPr id="5" name="Table 4">
            <a:extLst>
              <a:ext uri="{FF2B5EF4-FFF2-40B4-BE49-F238E27FC236}">
                <a16:creationId xmlns:a16="http://schemas.microsoft.com/office/drawing/2014/main" id="{59CCBC1A-3B61-444F-A3EF-77733FF303D1}"/>
              </a:ext>
            </a:extLst>
          </p:cNvPr>
          <p:cNvGraphicFramePr>
            <a:graphicFrameLocks noGrp="1"/>
          </p:cNvGraphicFramePr>
          <p:nvPr>
            <p:extLst>
              <p:ext uri="{D42A27DB-BD31-4B8C-83A1-F6EECF244321}">
                <p14:modId xmlns:p14="http://schemas.microsoft.com/office/powerpoint/2010/main" val="2846643580"/>
              </p:ext>
            </p:extLst>
          </p:nvPr>
        </p:nvGraphicFramePr>
        <p:xfrm>
          <a:off x="675586" y="2775726"/>
          <a:ext cx="7111102" cy="3405095"/>
        </p:xfrm>
        <a:graphic>
          <a:graphicData uri="http://schemas.openxmlformats.org/drawingml/2006/table">
            <a:tbl>
              <a:tblPr firstRow="1" bandRow="1">
                <a:tableStyleId>{5C22544A-7EE6-4342-B048-85BDC9FD1C3A}</a:tableStyleId>
              </a:tblPr>
              <a:tblGrid>
                <a:gridCol w="1810495">
                  <a:extLst>
                    <a:ext uri="{9D8B030D-6E8A-4147-A177-3AD203B41FA5}">
                      <a16:colId xmlns:a16="http://schemas.microsoft.com/office/drawing/2014/main" val="3812843169"/>
                    </a:ext>
                  </a:extLst>
                </a:gridCol>
                <a:gridCol w="872528">
                  <a:extLst>
                    <a:ext uri="{9D8B030D-6E8A-4147-A177-3AD203B41FA5}">
                      <a16:colId xmlns:a16="http://schemas.microsoft.com/office/drawing/2014/main" val="2854384083"/>
                    </a:ext>
                  </a:extLst>
                </a:gridCol>
                <a:gridCol w="872528">
                  <a:extLst>
                    <a:ext uri="{9D8B030D-6E8A-4147-A177-3AD203B41FA5}">
                      <a16:colId xmlns:a16="http://schemas.microsoft.com/office/drawing/2014/main" val="1176004737"/>
                    </a:ext>
                  </a:extLst>
                </a:gridCol>
                <a:gridCol w="1810495">
                  <a:extLst>
                    <a:ext uri="{9D8B030D-6E8A-4147-A177-3AD203B41FA5}">
                      <a16:colId xmlns:a16="http://schemas.microsoft.com/office/drawing/2014/main" val="1923215678"/>
                    </a:ext>
                  </a:extLst>
                </a:gridCol>
                <a:gridCol w="872528">
                  <a:extLst>
                    <a:ext uri="{9D8B030D-6E8A-4147-A177-3AD203B41FA5}">
                      <a16:colId xmlns:a16="http://schemas.microsoft.com/office/drawing/2014/main" val="3024142166"/>
                    </a:ext>
                  </a:extLst>
                </a:gridCol>
                <a:gridCol w="872528">
                  <a:extLst>
                    <a:ext uri="{9D8B030D-6E8A-4147-A177-3AD203B41FA5}">
                      <a16:colId xmlns:a16="http://schemas.microsoft.com/office/drawing/2014/main" val="13063065"/>
                    </a:ext>
                  </a:extLst>
                </a:gridCol>
              </a:tblGrid>
              <a:tr h="251540">
                <a:tc rowSpan="2">
                  <a:txBody>
                    <a:bodyPr/>
                    <a:lstStyle/>
                    <a:p>
                      <a:pPr algn="l" rtl="0" fontAlgn="ctr"/>
                      <a:r>
                        <a:rPr lang="en-GB" sz="900" b="1" u="none" strike="noStrike" dirty="0">
                          <a:solidFill>
                            <a:schemeClr val="tx1"/>
                          </a:solidFill>
                          <a:effectLst/>
                          <a:latin typeface="+mn-lt"/>
                        </a:rPr>
                        <a:t>Assets</a:t>
                      </a:r>
                      <a:endParaRPr lang="en-GB" sz="900" b="1" i="0" u="none" strike="noStrike" dirty="0">
                        <a:solidFill>
                          <a:schemeClr val="tx1"/>
                        </a:solidFill>
                        <a:effectLst/>
                        <a:latin typeface="+mn-lt"/>
                      </a:endParaRPr>
                    </a:p>
                  </a:txBody>
                  <a:tcPr marL="3572" marR="3572" marT="3572" marB="0" anchor="b">
                    <a:noFill/>
                  </a:tcPr>
                </a:tc>
                <a:tc gridSpan="2">
                  <a:txBody>
                    <a:bodyPr/>
                    <a:lstStyle/>
                    <a:p>
                      <a:pPr algn="ctr" fontAlgn="b"/>
                      <a:r>
                        <a:rPr lang="en-GB" sz="900" b="1" u="none" strike="noStrike" dirty="0">
                          <a:solidFill>
                            <a:schemeClr val="tx1"/>
                          </a:solidFill>
                          <a:effectLst/>
                          <a:latin typeface="+mn-lt"/>
                        </a:rPr>
                        <a:t>2020 (£m)</a:t>
                      </a:r>
                      <a:endParaRPr lang="en-GB" sz="900" b="1" i="0" u="none" strike="noStrike" dirty="0">
                        <a:solidFill>
                          <a:schemeClr val="tx1"/>
                        </a:solidFill>
                        <a:effectLst/>
                        <a:latin typeface="+mn-lt"/>
                      </a:endParaRPr>
                    </a:p>
                  </a:txBody>
                  <a:tcPr marL="3572" marR="3572" marT="3572" marB="0" anchor="b">
                    <a:noFill/>
                  </a:tcPr>
                </a:tc>
                <a:tc hMerge="1">
                  <a:txBody>
                    <a:bodyPr/>
                    <a:lstStyle/>
                    <a:p>
                      <a:endParaRPr lang="en-GB"/>
                    </a:p>
                  </a:txBody>
                  <a:tcPr/>
                </a:tc>
                <a:tc rowSpan="2">
                  <a:txBody>
                    <a:bodyPr/>
                    <a:lstStyle/>
                    <a:p>
                      <a:pPr algn="l" rtl="0" fontAlgn="ctr"/>
                      <a:r>
                        <a:rPr lang="en-GB" sz="900" b="1" u="none" strike="noStrike">
                          <a:solidFill>
                            <a:schemeClr val="tx1"/>
                          </a:solidFill>
                          <a:effectLst/>
                          <a:latin typeface="+mn-lt"/>
                        </a:rPr>
                        <a:t>Liabilities and Equity</a:t>
                      </a:r>
                      <a:endParaRPr lang="en-GB" sz="900" b="1" i="0" u="none" strike="noStrike">
                        <a:solidFill>
                          <a:schemeClr val="tx1"/>
                        </a:solidFill>
                        <a:effectLst/>
                        <a:latin typeface="+mn-lt"/>
                      </a:endParaRPr>
                    </a:p>
                  </a:txBody>
                  <a:tcPr marL="3572" marR="3572" marT="3572" marB="0" anchor="b">
                    <a:noFill/>
                  </a:tcPr>
                </a:tc>
                <a:tc gridSpan="2">
                  <a:txBody>
                    <a:bodyPr/>
                    <a:lstStyle/>
                    <a:p>
                      <a:pPr algn="ctr" fontAlgn="b"/>
                      <a:r>
                        <a:rPr lang="en-GB" sz="900" b="1" u="none" strike="noStrike">
                          <a:solidFill>
                            <a:schemeClr val="tx1"/>
                          </a:solidFill>
                          <a:effectLst/>
                          <a:latin typeface="+mn-lt"/>
                        </a:rPr>
                        <a:t>2020 (£m)</a:t>
                      </a:r>
                      <a:endParaRPr lang="en-GB" sz="900" b="1" i="0" u="none" strike="noStrike">
                        <a:solidFill>
                          <a:schemeClr val="tx1"/>
                        </a:solidFill>
                        <a:effectLst/>
                        <a:latin typeface="+mn-lt"/>
                      </a:endParaRPr>
                    </a:p>
                  </a:txBody>
                  <a:tcPr marL="3572" marR="3572" marT="3572" marB="0" anchor="b">
                    <a:noFill/>
                  </a:tcPr>
                </a:tc>
                <a:tc hMerge="1">
                  <a:txBody>
                    <a:bodyPr/>
                    <a:lstStyle/>
                    <a:p>
                      <a:endParaRPr lang="en-GB"/>
                    </a:p>
                  </a:txBody>
                  <a:tcPr/>
                </a:tc>
                <a:extLst>
                  <a:ext uri="{0D108BD9-81ED-4DB2-BD59-A6C34878D82A}">
                    <a16:rowId xmlns:a16="http://schemas.microsoft.com/office/drawing/2014/main" val="434307895"/>
                  </a:ext>
                </a:extLst>
              </a:tr>
              <a:tr h="251540">
                <a:tc vMerge="1">
                  <a:txBody>
                    <a:bodyPr/>
                    <a:lstStyle/>
                    <a:p>
                      <a:endParaRPr lang="en-GB"/>
                    </a:p>
                  </a:txBody>
                  <a:tcPr/>
                </a:tc>
                <a:tc>
                  <a:txBody>
                    <a:bodyPr/>
                    <a:lstStyle/>
                    <a:p>
                      <a:pPr algn="ctr" rtl="0" fontAlgn="ctr"/>
                      <a:r>
                        <a:rPr lang="en-GB" sz="900" b="1" u="none" strike="noStrike">
                          <a:solidFill>
                            <a:srgbClr val="0070C0"/>
                          </a:solidFill>
                          <a:effectLst/>
                          <a:latin typeface="+mn-lt"/>
                        </a:rPr>
                        <a:t>Morrisons</a:t>
                      </a:r>
                      <a:endParaRPr lang="en-GB" sz="900" b="1" i="0" u="none" strike="noStrike">
                        <a:solidFill>
                          <a:srgbClr val="0070C0"/>
                        </a:solidFill>
                        <a:effectLst/>
                        <a:latin typeface="+mn-lt"/>
                      </a:endParaRPr>
                    </a:p>
                  </a:txBody>
                  <a:tcPr marL="3572" marR="3572" marT="3572" marB="0" anchor="b">
                    <a:noFill/>
                  </a:tcPr>
                </a:tc>
                <a:tc>
                  <a:txBody>
                    <a:bodyPr/>
                    <a:lstStyle/>
                    <a:p>
                      <a:pPr algn="ctr" rtl="0" fontAlgn="ctr"/>
                      <a:r>
                        <a:rPr lang="en-GB" sz="900" b="1" u="none" strike="noStrike">
                          <a:solidFill>
                            <a:schemeClr val="accent6"/>
                          </a:solidFill>
                          <a:effectLst/>
                          <a:latin typeface="+mn-lt"/>
                        </a:rPr>
                        <a:t>Sainsbury's</a:t>
                      </a:r>
                      <a:endParaRPr lang="en-GB" sz="900" b="1" i="0" u="none" strike="noStrike">
                        <a:solidFill>
                          <a:schemeClr val="accent6"/>
                        </a:solidFill>
                        <a:effectLst/>
                        <a:latin typeface="+mn-lt"/>
                      </a:endParaRPr>
                    </a:p>
                  </a:txBody>
                  <a:tcPr marL="3572" marR="3572" marT="3572" marB="0" anchor="b">
                    <a:noFill/>
                  </a:tcPr>
                </a:tc>
                <a:tc vMerge="1">
                  <a:txBody>
                    <a:bodyPr/>
                    <a:lstStyle/>
                    <a:p>
                      <a:endParaRPr lang="en-GB"/>
                    </a:p>
                  </a:txBody>
                  <a:tcPr/>
                </a:tc>
                <a:tc>
                  <a:txBody>
                    <a:bodyPr/>
                    <a:lstStyle/>
                    <a:p>
                      <a:pPr algn="ctr" rtl="0" fontAlgn="ctr"/>
                      <a:r>
                        <a:rPr lang="en-GB" sz="900" b="1" u="none" strike="noStrike">
                          <a:solidFill>
                            <a:srgbClr val="0070C0"/>
                          </a:solidFill>
                          <a:effectLst/>
                          <a:latin typeface="+mn-lt"/>
                        </a:rPr>
                        <a:t>Morrisons</a:t>
                      </a:r>
                      <a:endParaRPr lang="en-GB" sz="900" b="1" i="0" u="none" strike="noStrike">
                        <a:solidFill>
                          <a:srgbClr val="0070C0"/>
                        </a:solidFill>
                        <a:effectLst/>
                        <a:latin typeface="+mn-lt"/>
                      </a:endParaRPr>
                    </a:p>
                  </a:txBody>
                  <a:tcPr marL="3572" marR="3572" marT="3572" marB="0" anchor="b">
                    <a:noFill/>
                  </a:tcPr>
                </a:tc>
                <a:tc>
                  <a:txBody>
                    <a:bodyPr/>
                    <a:lstStyle/>
                    <a:p>
                      <a:pPr algn="ctr" rtl="0" fontAlgn="ctr"/>
                      <a:r>
                        <a:rPr lang="en-GB" sz="900" b="1" u="none" strike="noStrike">
                          <a:solidFill>
                            <a:schemeClr val="accent6"/>
                          </a:solidFill>
                          <a:effectLst/>
                          <a:latin typeface="+mn-lt"/>
                        </a:rPr>
                        <a:t>Sainsbury's</a:t>
                      </a:r>
                      <a:endParaRPr lang="en-GB" sz="900" b="1" i="0" u="none" strike="noStrike">
                        <a:solidFill>
                          <a:schemeClr val="accent6"/>
                        </a:solidFill>
                        <a:effectLst/>
                        <a:latin typeface="+mn-lt"/>
                      </a:endParaRPr>
                    </a:p>
                  </a:txBody>
                  <a:tcPr marL="3572" marR="3572" marT="3572" marB="0" anchor="b">
                    <a:noFill/>
                  </a:tcPr>
                </a:tc>
                <a:extLst>
                  <a:ext uri="{0D108BD9-81ED-4DB2-BD59-A6C34878D82A}">
                    <a16:rowId xmlns:a16="http://schemas.microsoft.com/office/drawing/2014/main" val="1433398753"/>
                  </a:ext>
                </a:extLst>
              </a:tr>
              <a:tr h="349213">
                <a:tc>
                  <a:txBody>
                    <a:bodyPr/>
                    <a:lstStyle/>
                    <a:p>
                      <a:pPr algn="l" rtl="0" fontAlgn="ctr"/>
                      <a:r>
                        <a:rPr lang="en-GB" sz="900" u="sng" strike="noStrike">
                          <a:effectLst/>
                          <a:latin typeface="+mn-lt"/>
                        </a:rPr>
                        <a:t>Current Assets</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endParaRPr lang="en-GB" sz="900" b="0" i="0" u="sng" strike="noStrike">
                        <a:solidFill>
                          <a:srgbClr val="0070C0"/>
                        </a:solidFill>
                        <a:effectLst/>
                        <a:latin typeface="+mn-lt"/>
                      </a:endParaRPr>
                    </a:p>
                  </a:txBody>
                  <a:tcPr marL="3572" marR="3572" marT="3572" marB="0" anchor="ctr">
                    <a:noFill/>
                  </a:tcPr>
                </a:tc>
                <a:tc>
                  <a:txBody>
                    <a:bodyPr/>
                    <a:lstStyle/>
                    <a:p>
                      <a:pPr algn="ctr" rtl="0" fontAlgn="ctr"/>
                      <a:endParaRPr lang="en-GB" sz="900" b="0" i="0" u="sng" strike="noStrike">
                        <a:solidFill>
                          <a:schemeClr val="accent6"/>
                        </a:solidFill>
                        <a:effectLst/>
                        <a:latin typeface="+mn-lt"/>
                      </a:endParaRPr>
                    </a:p>
                  </a:txBody>
                  <a:tcPr marL="3572" marR="3572" marT="3572" marB="0" anchor="ctr">
                    <a:noFill/>
                  </a:tcPr>
                </a:tc>
                <a:tc>
                  <a:txBody>
                    <a:bodyPr/>
                    <a:lstStyle/>
                    <a:p>
                      <a:pPr algn="l" rtl="0" fontAlgn="ctr"/>
                      <a:r>
                        <a:rPr lang="en-GB" sz="900" u="sng" strike="noStrike">
                          <a:effectLst/>
                          <a:latin typeface="+mn-lt"/>
                        </a:rPr>
                        <a:t>Current Liabilities</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endParaRPr lang="en-GB" sz="900" b="0" i="0" u="sng" strike="noStrike">
                        <a:solidFill>
                          <a:srgbClr val="0070C0"/>
                        </a:solidFill>
                        <a:effectLst/>
                        <a:latin typeface="+mn-lt"/>
                      </a:endParaRPr>
                    </a:p>
                  </a:txBody>
                  <a:tcPr marL="3572" marR="3572" marT="3572" marB="0" anchor="ctr">
                    <a:noFill/>
                  </a:tcPr>
                </a:tc>
                <a:tc>
                  <a:txBody>
                    <a:bodyPr/>
                    <a:lstStyle/>
                    <a:p>
                      <a:pPr algn="ctr" rtl="0" fontAlgn="ctr"/>
                      <a:endParaRPr lang="en-GB" sz="900" b="0" i="0" u="sng"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1822956003"/>
                  </a:ext>
                </a:extLst>
              </a:tr>
              <a:tr h="250776">
                <a:tc>
                  <a:txBody>
                    <a:bodyPr/>
                    <a:lstStyle/>
                    <a:p>
                      <a:pPr algn="l" rtl="0" fontAlgn="ctr"/>
                      <a:r>
                        <a:rPr lang="en-GB" sz="900" u="none" strike="noStrike">
                          <a:effectLst/>
                          <a:latin typeface="+mn-lt"/>
                        </a:rPr>
                        <a:t>Cash</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305</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1,055</a:t>
                      </a:r>
                      <a:endParaRPr lang="en-GB" sz="900" b="0" i="0" u="none" strike="noStrike">
                        <a:solidFill>
                          <a:schemeClr val="accent6"/>
                        </a:solidFill>
                        <a:effectLst/>
                        <a:latin typeface="+mn-lt"/>
                      </a:endParaRPr>
                    </a:p>
                  </a:txBody>
                  <a:tcPr marL="3572" marR="3572" marT="3572" marB="0" anchor="ctr">
                    <a:noFill/>
                  </a:tcPr>
                </a:tc>
                <a:tc>
                  <a:txBody>
                    <a:bodyPr/>
                    <a:lstStyle/>
                    <a:p>
                      <a:pPr algn="l" rtl="0" fontAlgn="ctr"/>
                      <a:r>
                        <a:rPr lang="en-GB" sz="900" u="none" strike="noStrike">
                          <a:effectLst/>
                          <a:latin typeface="+mn-lt"/>
                        </a:rPr>
                        <a:t>Accounts payable</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10,658</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1443562271"/>
                  </a:ext>
                </a:extLst>
              </a:tr>
              <a:tr h="250776">
                <a:tc>
                  <a:txBody>
                    <a:bodyPr/>
                    <a:lstStyle/>
                    <a:p>
                      <a:pPr algn="l" rtl="0" fontAlgn="ctr"/>
                      <a:r>
                        <a:rPr lang="en-GB" sz="900" u="none" strike="noStrike">
                          <a:effectLst/>
                          <a:latin typeface="+mn-lt"/>
                        </a:rPr>
                        <a:t>Cash equivalents</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557</a:t>
                      </a:r>
                      <a:endParaRPr lang="en-GB" sz="900" b="0" i="0" u="none" strike="noStrike">
                        <a:solidFill>
                          <a:schemeClr val="accent6"/>
                        </a:solidFill>
                        <a:effectLst/>
                        <a:latin typeface="+mn-lt"/>
                      </a:endParaRPr>
                    </a:p>
                  </a:txBody>
                  <a:tcPr marL="3572" marR="3572" marT="3572" marB="0" anchor="ctr">
                    <a:noFill/>
                  </a:tcPr>
                </a:tc>
                <a:tc>
                  <a:txBody>
                    <a:bodyPr/>
                    <a:lstStyle/>
                    <a:p>
                      <a:pPr algn="l" rtl="0" fontAlgn="ctr"/>
                      <a:r>
                        <a:rPr lang="en-GB" sz="900" u="none" strike="noStrike">
                          <a:effectLst/>
                          <a:latin typeface="+mn-lt"/>
                        </a:rPr>
                        <a:t>Accrued expenses and other</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3,396</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1,389</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2327477729"/>
                  </a:ext>
                </a:extLst>
              </a:tr>
              <a:tr h="250776">
                <a:tc>
                  <a:txBody>
                    <a:bodyPr/>
                    <a:lstStyle/>
                    <a:p>
                      <a:pPr algn="l" rtl="0" fontAlgn="ctr"/>
                      <a:r>
                        <a:rPr lang="en-GB" sz="900" u="none" strike="noStrike">
                          <a:effectLst/>
                          <a:latin typeface="+mn-lt"/>
                        </a:rPr>
                        <a:t>Inventories</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660</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1,732</a:t>
                      </a:r>
                      <a:endParaRPr lang="en-GB" sz="900" b="0" i="0" u="none" strike="noStrike">
                        <a:solidFill>
                          <a:schemeClr val="accent6"/>
                        </a:solidFill>
                        <a:effectLst/>
                        <a:latin typeface="+mn-lt"/>
                      </a:endParaRPr>
                    </a:p>
                  </a:txBody>
                  <a:tcPr marL="3572" marR="3572" marT="3572" marB="0" anchor="ctr">
                    <a:noFill/>
                  </a:tcPr>
                </a:tc>
                <a:tc>
                  <a:txBody>
                    <a:bodyPr/>
                    <a:lstStyle/>
                    <a:p>
                      <a:pPr algn="l" rtl="0" fontAlgn="ctr"/>
                      <a:r>
                        <a:rPr lang="en-GB" sz="900" u="none" strike="noStrike">
                          <a:effectLst/>
                          <a:latin typeface="+mn-lt"/>
                        </a:rPr>
                        <a:t>Unearned revenue</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dirty="0">
                          <a:solidFill>
                            <a:srgbClr val="0070C0"/>
                          </a:solidFill>
                          <a:effectLst/>
                          <a:latin typeface="+mn-lt"/>
                        </a:rPr>
                        <a:t>-</a:t>
                      </a:r>
                      <a:endParaRPr lang="en-GB" sz="900" b="0" i="0" u="none" strike="noStrike" dirty="0">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3307900514"/>
                  </a:ext>
                </a:extLst>
              </a:tr>
              <a:tr h="796606">
                <a:tc>
                  <a:txBody>
                    <a:bodyPr/>
                    <a:lstStyle/>
                    <a:p>
                      <a:pPr algn="l" rtl="0" fontAlgn="ctr"/>
                      <a:r>
                        <a:rPr lang="en-GB" sz="900" u="none" strike="noStrike">
                          <a:effectLst/>
                          <a:latin typeface="+mn-lt"/>
                        </a:rPr>
                        <a:t>Accounts receivable, net</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811</a:t>
                      </a:r>
                      <a:endParaRPr lang="en-GB" sz="900" b="0" i="0" u="none" strike="noStrike">
                        <a:solidFill>
                          <a:schemeClr val="accent6"/>
                        </a:solidFill>
                        <a:effectLst/>
                        <a:latin typeface="+mn-lt"/>
                      </a:endParaRPr>
                    </a:p>
                  </a:txBody>
                  <a:tcPr marL="3572" marR="3572" marT="3572" marB="0" anchor="ctr">
                    <a:noFill/>
                  </a:tcPr>
                </a:tc>
                <a:tc>
                  <a:txBody>
                    <a:bodyPr/>
                    <a:lstStyle/>
                    <a:p>
                      <a:pPr marL="268288" indent="0"/>
                      <a:r>
                        <a:rPr lang="en-GB" sz="900">
                          <a:latin typeface="+mn-lt"/>
                        </a:rPr>
                        <a:t>Total Current Liabilities</a:t>
                      </a:r>
                    </a:p>
                  </a:txBody>
                  <a:tcPr marL="3572" marR="3572" marT="3572" marB="0" anchor="ctr">
                    <a:noFill/>
                  </a:tcPr>
                </a:tc>
                <a:tc>
                  <a:txBody>
                    <a:bodyPr/>
                    <a:lstStyle/>
                    <a:p>
                      <a:pPr algn="ctr"/>
                      <a:r>
                        <a:rPr lang="en-GB" sz="900" b="0" i="0" kern="1200">
                          <a:solidFill>
                            <a:srgbClr val="0070C0"/>
                          </a:solidFill>
                          <a:effectLst/>
                          <a:latin typeface="+mn-lt"/>
                          <a:ea typeface="+mn-ea"/>
                          <a:cs typeface="+mn-cs"/>
                        </a:rPr>
                        <a:t>3,396</a:t>
                      </a:r>
                      <a:endParaRPr lang="en-GB" sz="900">
                        <a:solidFill>
                          <a:srgbClr val="0070C0"/>
                        </a:solidFill>
                        <a:latin typeface="+mn-lt"/>
                      </a:endParaRPr>
                    </a:p>
                  </a:txBody>
                  <a:tcPr marL="3572" marR="3572" marT="3572"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00" b="0" i="0" kern="1200" dirty="0">
                          <a:solidFill>
                            <a:schemeClr val="accent6"/>
                          </a:solidFill>
                          <a:effectLst/>
                          <a:latin typeface="+mn-lt"/>
                          <a:ea typeface="+mn-ea"/>
                          <a:cs typeface="+mn-cs"/>
                        </a:rPr>
                        <a:t>12,047</a:t>
                      </a:r>
                      <a:endParaRPr lang="en-GB" sz="900" dirty="0">
                        <a:solidFill>
                          <a:schemeClr val="accent6"/>
                        </a:solidFill>
                        <a:latin typeface="+mn-lt"/>
                      </a:endParaRPr>
                    </a:p>
                  </a:txBody>
                  <a:tcPr marL="3572" marR="3572" marT="3572" marB="0" anchor="ctr">
                    <a:noFill/>
                  </a:tcPr>
                </a:tc>
                <a:extLst>
                  <a:ext uri="{0D108BD9-81ED-4DB2-BD59-A6C34878D82A}">
                    <a16:rowId xmlns:a16="http://schemas.microsoft.com/office/drawing/2014/main" val="3677173412"/>
                  </a:ext>
                </a:extLst>
              </a:tr>
              <a:tr h="250776">
                <a:tc>
                  <a:txBody>
                    <a:bodyPr/>
                    <a:lstStyle/>
                    <a:p>
                      <a:pPr marL="268288" indent="0" algn="l" rtl="0" fontAlgn="ctr"/>
                      <a:r>
                        <a:rPr lang="en-GB" sz="900" b="0" i="0" u="none" strike="noStrike">
                          <a:solidFill>
                            <a:srgbClr val="000000"/>
                          </a:solidFill>
                          <a:effectLst/>
                          <a:latin typeface="+mn-lt"/>
                        </a:rPr>
                        <a:t>Total Current Assets</a:t>
                      </a:r>
                    </a:p>
                  </a:txBody>
                  <a:tcPr marL="160735" marR="3572" marT="3572" marB="0" anchor="ctr">
                    <a:noFill/>
                  </a:tcPr>
                </a:tc>
                <a:tc>
                  <a:txBody>
                    <a:bodyPr/>
                    <a:lstStyle/>
                    <a:p>
                      <a:pPr algn="ctr" rtl="0" fontAlgn="ctr"/>
                      <a:r>
                        <a:rPr lang="en-GB" sz="900" b="0" i="0" u="none" strike="noStrike">
                          <a:solidFill>
                            <a:srgbClr val="0070C0"/>
                          </a:solidFill>
                          <a:effectLst/>
                          <a:latin typeface="+mn-lt"/>
                        </a:rPr>
                        <a:t>1,322</a:t>
                      </a:r>
                    </a:p>
                  </a:txBody>
                  <a:tcPr marL="3572" marR="3572" marT="3572" marB="0" anchor="ctr">
                    <a:noFill/>
                  </a:tcPr>
                </a:tc>
                <a:tc>
                  <a:txBody>
                    <a:bodyPr/>
                    <a:lstStyle/>
                    <a:p>
                      <a:pPr algn="ctr" rtl="0" fontAlgn="ctr"/>
                      <a:r>
                        <a:rPr lang="en-GB" sz="900" b="0" i="0" u="none" strike="noStrike">
                          <a:solidFill>
                            <a:schemeClr val="accent6"/>
                          </a:solidFill>
                          <a:effectLst/>
                          <a:latin typeface="+mn-lt"/>
                        </a:rPr>
                        <a:t>7,586</a:t>
                      </a:r>
                    </a:p>
                  </a:txBody>
                  <a:tcPr marL="3572" marR="3572" marT="3572" marB="0" anchor="ctr">
                    <a:noFill/>
                  </a:tcPr>
                </a:tc>
                <a:tc>
                  <a:txBody>
                    <a:bodyPr/>
                    <a:lstStyle/>
                    <a:p>
                      <a:pPr algn="l" rtl="0" fontAlgn="ctr"/>
                      <a:r>
                        <a:rPr lang="en-GB" sz="900" u="sng" strike="noStrike">
                          <a:effectLst/>
                          <a:latin typeface="+mn-lt"/>
                        </a:rPr>
                        <a:t>Long-term debt</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r>
                        <a:rPr lang="en-GB" sz="900" u="none" strike="noStrike">
                          <a:solidFill>
                            <a:srgbClr val="0070C0"/>
                          </a:solidFill>
                          <a:effectLst/>
                          <a:latin typeface="+mn-lt"/>
                        </a:rPr>
                        <a:t>2,983</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8,117</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134353942"/>
                  </a:ext>
                </a:extLst>
              </a:tr>
              <a:tr h="250776">
                <a:tc>
                  <a:txBody>
                    <a:bodyPr/>
                    <a:lstStyle/>
                    <a:p>
                      <a:pPr algn="l" rtl="0" fontAlgn="ctr"/>
                      <a:r>
                        <a:rPr lang="en-GB" sz="900" u="sng" strike="noStrike">
                          <a:effectLst/>
                          <a:latin typeface="+mn-lt"/>
                        </a:rPr>
                        <a:t>Property and equipment, net</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r>
                        <a:rPr lang="en-GB" sz="900" u="none" strike="noStrike">
                          <a:solidFill>
                            <a:srgbClr val="0070C0"/>
                          </a:solidFill>
                          <a:effectLst/>
                          <a:latin typeface="+mn-lt"/>
                        </a:rPr>
                        <a:t>9,598</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20,351</a:t>
                      </a:r>
                      <a:endParaRPr lang="en-GB" sz="900" b="0" i="0" u="none" strike="noStrike">
                        <a:solidFill>
                          <a:schemeClr val="accent6"/>
                        </a:solidFill>
                        <a:effectLst/>
                        <a:latin typeface="+mn-lt"/>
                      </a:endParaRPr>
                    </a:p>
                  </a:txBody>
                  <a:tcPr marL="3572" marR="3572" marT="3572" marB="0" anchor="ctr">
                    <a:noFill/>
                  </a:tcPr>
                </a:tc>
                <a:tc>
                  <a:txBody>
                    <a:bodyPr/>
                    <a:lstStyle/>
                    <a:p>
                      <a:pPr algn="l" rtl="0" fontAlgn="ctr"/>
                      <a:r>
                        <a:rPr lang="en-GB" sz="900" u="sng" strike="noStrike">
                          <a:effectLst/>
                          <a:latin typeface="+mn-lt"/>
                        </a:rPr>
                        <a:t>Shareholders’ equity</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r>
                        <a:rPr lang="en-GB" sz="900" u="none" strike="noStrike">
                          <a:solidFill>
                            <a:srgbClr val="0070C0"/>
                          </a:solidFill>
                          <a:effectLst/>
                          <a:latin typeface="+mn-lt"/>
                        </a:rPr>
                        <a:t>3,012</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3,705</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4020407800"/>
                  </a:ext>
                </a:extLst>
              </a:tr>
              <a:tr h="250776">
                <a:tc>
                  <a:txBody>
                    <a:bodyPr/>
                    <a:lstStyle/>
                    <a:p>
                      <a:pPr algn="l" rtl="0" fontAlgn="ctr"/>
                      <a:r>
                        <a:rPr lang="en-GB" sz="900" u="sng" strike="noStrike">
                          <a:effectLst/>
                          <a:latin typeface="+mn-lt"/>
                        </a:rPr>
                        <a:t>Other assets</a:t>
                      </a:r>
                      <a:endParaRPr lang="en-GB" sz="900" b="0" i="0" u="sng" strike="noStrike">
                        <a:solidFill>
                          <a:srgbClr val="000000"/>
                        </a:solidFill>
                        <a:effectLst/>
                        <a:latin typeface="+mn-lt"/>
                      </a:endParaRPr>
                    </a:p>
                  </a:txBody>
                  <a:tcPr marL="3572" marR="3572" marT="3572" marB="0" anchor="ctr">
                    <a:noFill/>
                  </a:tcPr>
                </a:tc>
                <a:tc>
                  <a:txBody>
                    <a:bodyPr/>
                    <a:lstStyle/>
                    <a:p>
                      <a:pPr algn="ctr" rtl="0" fontAlgn="ctr"/>
                      <a:r>
                        <a:rPr lang="en-GB" sz="900" u="none" strike="noStrike">
                          <a:solidFill>
                            <a:srgbClr val="0070C0"/>
                          </a:solidFill>
                          <a:effectLst/>
                          <a:latin typeface="+mn-lt"/>
                        </a:rPr>
                        <a:t>-</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a:t>
                      </a:r>
                      <a:endParaRPr lang="en-GB" sz="900" b="0" i="0" u="none" strike="noStrike">
                        <a:solidFill>
                          <a:schemeClr val="accent6"/>
                        </a:solidFill>
                        <a:effectLst/>
                        <a:latin typeface="+mn-lt"/>
                      </a:endParaRPr>
                    </a:p>
                  </a:txBody>
                  <a:tcPr marL="3572" marR="3572" marT="3572" marB="0" anchor="ctr">
                    <a:noFill/>
                  </a:tcPr>
                </a:tc>
                <a:tc>
                  <a:txBody>
                    <a:bodyPr/>
                    <a:lstStyle/>
                    <a:p>
                      <a:pPr algn="l" rtl="0" fontAlgn="ctr"/>
                      <a:r>
                        <a:rPr lang="en-GB" sz="900" u="none" strike="noStrike">
                          <a:effectLst/>
                          <a:latin typeface="+mn-lt"/>
                        </a:rPr>
                        <a:t>Retained Earnings</a:t>
                      </a:r>
                      <a:endParaRPr lang="en-GB" sz="900" b="0" i="0" u="none" strike="noStrike">
                        <a:solidFill>
                          <a:srgbClr val="000000"/>
                        </a:solidFill>
                        <a:effectLst/>
                        <a:latin typeface="+mn-lt"/>
                      </a:endParaRPr>
                    </a:p>
                  </a:txBody>
                  <a:tcPr marL="160735" marR="3572" marT="3572" marB="0" anchor="ctr">
                    <a:noFill/>
                  </a:tcPr>
                </a:tc>
                <a:tc>
                  <a:txBody>
                    <a:bodyPr/>
                    <a:lstStyle/>
                    <a:p>
                      <a:pPr algn="ctr" rtl="0" fontAlgn="ctr"/>
                      <a:r>
                        <a:rPr lang="en-GB" sz="900" u="none" strike="noStrike">
                          <a:solidFill>
                            <a:srgbClr val="0070C0"/>
                          </a:solidFill>
                          <a:effectLst/>
                          <a:latin typeface="+mn-lt"/>
                        </a:rPr>
                        <a:t>1,529</a:t>
                      </a:r>
                      <a:endParaRPr lang="en-GB" sz="900" b="0" i="0" u="none" strike="noStrike">
                        <a:solidFill>
                          <a:srgbClr val="0070C0"/>
                        </a:solidFill>
                        <a:effectLst/>
                        <a:latin typeface="+mn-lt"/>
                      </a:endParaRPr>
                    </a:p>
                  </a:txBody>
                  <a:tcPr marL="3572" marR="3572" marT="3572" marB="0" anchor="ctr">
                    <a:noFill/>
                  </a:tcPr>
                </a:tc>
                <a:tc>
                  <a:txBody>
                    <a:bodyPr/>
                    <a:lstStyle/>
                    <a:p>
                      <a:pPr algn="ctr" rtl="0" fontAlgn="ctr"/>
                      <a:r>
                        <a:rPr lang="en-GB" sz="900" u="none" strike="noStrike">
                          <a:solidFill>
                            <a:schemeClr val="accent6"/>
                          </a:solidFill>
                          <a:effectLst/>
                          <a:latin typeface="+mn-lt"/>
                        </a:rPr>
                        <a:t>4,068</a:t>
                      </a:r>
                      <a:endParaRPr lang="en-GB" sz="900" b="0" i="0" u="none" strike="noStrike">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3453947344"/>
                  </a:ext>
                </a:extLst>
              </a:tr>
              <a:tr h="251540">
                <a:tc>
                  <a:txBody>
                    <a:bodyPr/>
                    <a:lstStyle/>
                    <a:p>
                      <a:pPr marL="0" indent="0" algn="l" rtl="0" fontAlgn="ctr"/>
                      <a:r>
                        <a:rPr lang="en-GB" sz="900" b="1" u="none" strike="noStrike" dirty="0">
                          <a:effectLst/>
                          <a:latin typeface="+mn-lt"/>
                        </a:rPr>
                        <a:t>Total Assets</a:t>
                      </a:r>
                      <a:endParaRPr lang="en-GB" sz="900" b="1" i="0" u="none" strike="noStrike" dirty="0">
                        <a:solidFill>
                          <a:srgbClr val="000000"/>
                        </a:solidFill>
                        <a:effectLst/>
                        <a:latin typeface="+mn-lt"/>
                      </a:endParaRPr>
                    </a:p>
                  </a:txBody>
                  <a:tcPr marL="482204" marR="3572" marT="3572" marB="0" anchor="ctr">
                    <a:noFill/>
                  </a:tcPr>
                </a:tc>
                <a:tc>
                  <a:txBody>
                    <a:bodyPr/>
                    <a:lstStyle/>
                    <a:p>
                      <a:pPr algn="ctr" rtl="0" fontAlgn="ctr"/>
                      <a:r>
                        <a:rPr lang="en-GB" sz="900" b="1" u="none" strike="noStrike">
                          <a:solidFill>
                            <a:srgbClr val="0070C0"/>
                          </a:solidFill>
                          <a:effectLst/>
                          <a:latin typeface="+mn-lt"/>
                        </a:rPr>
                        <a:t>10,920</a:t>
                      </a:r>
                      <a:endParaRPr lang="en-GB" sz="900" b="1" i="0" u="none" strike="noStrike">
                        <a:solidFill>
                          <a:srgbClr val="0070C0"/>
                        </a:solidFill>
                        <a:effectLst/>
                        <a:latin typeface="+mn-lt"/>
                      </a:endParaRPr>
                    </a:p>
                  </a:txBody>
                  <a:tcPr marL="3572" marR="3572" marT="3572" marB="0" anchor="ctr">
                    <a:noFill/>
                  </a:tcPr>
                </a:tc>
                <a:tc>
                  <a:txBody>
                    <a:bodyPr/>
                    <a:lstStyle/>
                    <a:p>
                      <a:pPr algn="ctr" rtl="0" fontAlgn="ctr"/>
                      <a:r>
                        <a:rPr lang="en-GB" sz="900" b="1" u="none" strike="noStrike" dirty="0">
                          <a:solidFill>
                            <a:schemeClr val="accent6"/>
                          </a:solidFill>
                          <a:effectLst/>
                          <a:latin typeface="+mn-lt"/>
                        </a:rPr>
                        <a:t>27,937</a:t>
                      </a:r>
                      <a:endParaRPr lang="en-GB" sz="900" b="1" i="0" u="none" strike="noStrike" dirty="0">
                        <a:solidFill>
                          <a:schemeClr val="accent6"/>
                        </a:solidFill>
                        <a:effectLst/>
                        <a:latin typeface="+mn-lt"/>
                      </a:endParaRPr>
                    </a:p>
                  </a:txBody>
                  <a:tcPr marL="3572" marR="3572" marT="3572" marB="0" anchor="ctr">
                    <a:noFill/>
                  </a:tcPr>
                </a:tc>
                <a:tc>
                  <a:txBody>
                    <a:bodyPr/>
                    <a:lstStyle/>
                    <a:p>
                      <a:pPr marL="0" indent="0" algn="l" rtl="0" fontAlgn="ctr"/>
                      <a:r>
                        <a:rPr lang="en-GB" sz="900" b="1" u="none" strike="noStrike" dirty="0">
                          <a:effectLst/>
                          <a:latin typeface="+mn-lt"/>
                        </a:rPr>
                        <a:t>Total Liabilities and Equity</a:t>
                      </a:r>
                      <a:endParaRPr lang="en-GB" sz="900" b="1" i="0" u="none" strike="noStrike" dirty="0">
                        <a:solidFill>
                          <a:srgbClr val="000000"/>
                        </a:solidFill>
                        <a:effectLst/>
                        <a:latin typeface="+mn-lt"/>
                      </a:endParaRPr>
                    </a:p>
                  </a:txBody>
                  <a:tcPr marL="267891" marR="3572" marT="3572" marB="0" anchor="ctr">
                    <a:noFill/>
                  </a:tcPr>
                </a:tc>
                <a:tc>
                  <a:txBody>
                    <a:bodyPr/>
                    <a:lstStyle/>
                    <a:p>
                      <a:pPr algn="ctr" rtl="0" fontAlgn="ctr"/>
                      <a:r>
                        <a:rPr lang="en-GB" sz="900" b="1" u="none" strike="noStrike">
                          <a:solidFill>
                            <a:srgbClr val="0070C0"/>
                          </a:solidFill>
                          <a:effectLst/>
                          <a:latin typeface="+mn-lt"/>
                        </a:rPr>
                        <a:t>10,920</a:t>
                      </a:r>
                      <a:endParaRPr lang="en-GB" sz="900" b="1" i="0" u="none" strike="noStrike">
                        <a:solidFill>
                          <a:srgbClr val="0070C0"/>
                        </a:solidFill>
                        <a:effectLst/>
                        <a:latin typeface="+mn-lt"/>
                      </a:endParaRPr>
                    </a:p>
                  </a:txBody>
                  <a:tcPr marL="3572" marR="3572" marT="3572" marB="0" anchor="ctr">
                    <a:noFill/>
                  </a:tcPr>
                </a:tc>
                <a:tc>
                  <a:txBody>
                    <a:bodyPr/>
                    <a:lstStyle/>
                    <a:p>
                      <a:pPr algn="ctr" rtl="0" fontAlgn="ctr"/>
                      <a:r>
                        <a:rPr lang="en-GB" sz="900" b="1" u="none" strike="noStrike" dirty="0">
                          <a:solidFill>
                            <a:schemeClr val="accent6"/>
                          </a:solidFill>
                          <a:effectLst/>
                          <a:latin typeface="+mn-lt"/>
                        </a:rPr>
                        <a:t>27,937</a:t>
                      </a:r>
                      <a:endParaRPr lang="en-GB" sz="900" b="1" i="0" u="none" strike="noStrike" dirty="0">
                        <a:solidFill>
                          <a:schemeClr val="accent6"/>
                        </a:solidFill>
                        <a:effectLst/>
                        <a:latin typeface="+mn-lt"/>
                      </a:endParaRPr>
                    </a:p>
                  </a:txBody>
                  <a:tcPr marL="3572" marR="3572" marT="3572" marB="0" anchor="ctr">
                    <a:noFill/>
                  </a:tcPr>
                </a:tc>
                <a:extLst>
                  <a:ext uri="{0D108BD9-81ED-4DB2-BD59-A6C34878D82A}">
                    <a16:rowId xmlns:a16="http://schemas.microsoft.com/office/drawing/2014/main" val="2570137678"/>
                  </a:ext>
                </a:extLst>
              </a:tr>
            </a:tbl>
          </a:graphicData>
        </a:graphic>
      </p:graphicFrame>
    </p:spTree>
    <p:extLst>
      <p:ext uri="{BB962C8B-B14F-4D97-AF65-F5344CB8AC3E}">
        <p14:creationId xmlns:p14="http://schemas.microsoft.com/office/powerpoint/2010/main" val="246936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 y="366892"/>
            <a:ext cx="8051292" cy="673199"/>
          </a:xfrm>
        </p:spPr>
        <p:txBody>
          <a:bodyPr>
            <a:noAutofit/>
          </a:bodyPr>
          <a:lstStyle/>
          <a:p>
            <a:r>
              <a:rPr lang="en-GB" sz="3600" dirty="0">
                <a:solidFill>
                  <a:srgbClr val="16818D"/>
                </a:solidFill>
              </a:rPr>
              <a:t>Cross Sectional Analysis – Morrison’s vs Sainsbury’s</a:t>
            </a:r>
          </a:p>
        </p:txBody>
      </p:sp>
      <p:sp>
        <p:nvSpPr>
          <p:cNvPr id="3" name="Content Placeholder 2"/>
          <p:cNvSpPr>
            <a:spLocks noGrp="1"/>
          </p:cNvSpPr>
          <p:nvPr>
            <p:ph idx="1"/>
          </p:nvPr>
        </p:nvSpPr>
        <p:spPr>
          <a:xfrm>
            <a:off x="513869" y="1688208"/>
            <a:ext cx="7032308" cy="373244"/>
          </a:xfrm>
          <a:noFill/>
          <a:ln>
            <a:noFill/>
          </a:ln>
        </p:spPr>
        <p:txBody>
          <a:bodyPr>
            <a:noAutofit/>
          </a:bodyPr>
          <a:lstStyle/>
          <a:p>
            <a:pPr marL="0" indent="0">
              <a:spcBef>
                <a:spcPts val="1350"/>
              </a:spcBef>
              <a:buClr>
                <a:srgbClr val="C00000"/>
              </a:buClr>
              <a:buNone/>
              <a:tabLst>
                <a:tab pos="502742" algn="l"/>
              </a:tabLst>
            </a:pPr>
            <a:r>
              <a:rPr lang="en-GB" sz="4950" dirty="0">
                <a:solidFill>
                  <a:schemeClr val="accent1"/>
                </a:solidFill>
              </a:rPr>
              <a:t>IS</a:t>
            </a:r>
          </a:p>
        </p:txBody>
      </p:sp>
      <p:sp>
        <p:nvSpPr>
          <p:cNvPr id="4" name="Slide Number Placeholder 3"/>
          <p:cNvSpPr>
            <a:spLocks noGrp="1"/>
          </p:cNvSpPr>
          <p:nvPr>
            <p:ph type="sldNum" sz="quarter" idx="12"/>
          </p:nvPr>
        </p:nvSpPr>
        <p:spPr>
          <a:xfrm>
            <a:off x="7546177" y="5140274"/>
            <a:ext cx="509600" cy="332922"/>
          </a:xfrm>
          <a:ln w="12700"/>
        </p:spPr>
        <p:txBody>
          <a:bodyPr/>
          <a:lstStyle/>
          <a:p>
            <a:fld id="{0F99C4FB-888A-4D12-A1C4-C744D94026CD}" type="slidenum">
              <a:rPr lang="en-GB" sz="1013">
                <a:solidFill>
                  <a:schemeClr val="tx1">
                    <a:lumMod val="50000"/>
                    <a:lumOff val="50000"/>
                  </a:schemeClr>
                </a:solidFill>
              </a:rPr>
              <a:t>8</a:t>
            </a:fld>
            <a:endParaRPr lang="en-GB" sz="1013">
              <a:solidFill>
                <a:schemeClr val="tx1">
                  <a:lumMod val="50000"/>
                  <a:lumOff val="50000"/>
                </a:schemeClr>
              </a:solidFill>
            </a:endParaRPr>
          </a:p>
        </p:txBody>
      </p:sp>
      <p:graphicFrame>
        <p:nvGraphicFramePr>
          <p:cNvPr id="6" name="Table 5">
            <a:extLst>
              <a:ext uri="{FF2B5EF4-FFF2-40B4-BE49-F238E27FC236}">
                <a16:creationId xmlns:a16="http://schemas.microsoft.com/office/drawing/2014/main" id="{0BED12CC-9557-4B24-8845-2777142F17C9}"/>
              </a:ext>
            </a:extLst>
          </p:cNvPr>
          <p:cNvGraphicFramePr>
            <a:graphicFrameLocks noGrp="1"/>
          </p:cNvGraphicFramePr>
          <p:nvPr>
            <p:extLst>
              <p:ext uri="{D42A27DB-BD31-4B8C-83A1-F6EECF244321}">
                <p14:modId xmlns:p14="http://schemas.microsoft.com/office/powerpoint/2010/main" val="2679714210"/>
              </p:ext>
            </p:extLst>
          </p:nvPr>
        </p:nvGraphicFramePr>
        <p:xfrm>
          <a:off x="1071082" y="2709569"/>
          <a:ext cx="6093205" cy="3179567"/>
        </p:xfrm>
        <a:graphic>
          <a:graphicData uri="http://schemas.openxmlformats.org/drawingml/2006/table">
            <a:tbl>
              <a:tblPr>
                <a:tableStyleId>{5C22544A-7EE6-4342-B048-85BDC9FD1C3A}</a:tableStyleId>
              </a:tblPr>
              <a:tblGrid>
                <a:gridCol w="3543251">
                  <a:extLst>
                    <a:ext uri="{9D8B030D-6E8A-4147-A177-3AD203B41FA5}">
                      <a16:colId xmlns:a16="http://schemas.microsoft.com/office/drawing/2014/main" val="4003395771"/>
                    </a:ext>
                  </a:extLst>
                </a:gridCol>
                <a:gridCol w="1274977">
                  <a:extLst>
                    <a:ext uri="{9D8B030D-6E8A-4147-A177-3AD203B41FA5}">
                      <a16:colId xmlns:a16="http://schemas.microsoft.com/office/drawing/2014/main" val="2047649248"/>
                    </a:ext>
                  </a:extLst>
                </a:gridCol>
                <a:gridCol w="1274977">
                  <a:extLst>
                    <a:ext uri="{9D8B030D-6E8A-4147-A177-3AD203B41FA5}">
                      <a16:colId xmlns:a16="http://schemas.microsoft.com/office/drawing/2014/main" val="1222362997"/>
                    </a:ext>
                  </a:extLst>
                </a:gridCol>
              </a:tblGrid>
              <a:tr h="274041">
                <a:tc>
                  <a:txBody>
                    <a:bodyPr/>
                    <a:lstStyle/>
                    <a:p>
                      <a:pPr algn="l" fontAlgn="b"/>
                      <a:r>
                        <a:rPr lang="en-GB" sz="1100" u="none" strike="noStrike">
                          <a:effectLst/>
                        </a:rPr>
                        <a:t> </a:t>
                      </a:r>
                      <a:endParaRPr lang="en-GB" sz="1100" b="0" i="0" u="none" strike="noStrike">
                        <a:solidFill>
                          <a:srgbClr val="000000"/>
                        </a:solidFill>
                        <a:effectLst/>
                        <a:latin typeface="Calibri" panose="020F0502020204030204" pitchFamily="34" charset="0"/>
                      </a:endParaRPr>
                    </a:p>
                  </a:txBody>
                  <a:tcPr marL="3572" marR="3572" marT="3572" marB="0" anchor="b">
                    <a:noFill/>
                  </a:tcPr>
                </a:tc>
                <a:tc gridSpan="2">
                  <a:txBody>
                    <a:bodyPr/>
                    <a:lstStyle/>
                    <a:p>
                      <a:pPr algn="ctr" fontAlgn="b"/>
                      <a:r>
                        <a:rPr lang="en-GB" sz="1100" b="1" u="none" strike="noStrike">
                          <a:effectLst/>
                        </a:rPr>
                        <a:t>2020 (£m)</a:t>
                      </a:r>
                      <a:endParaRPr lang="en-GB" sz="1100" b="1" i="0" u="none" strike="noStrike">
                        <a:solidFill>
                          <a:srgbClr val="000000"/>
                        </a:solidFill>
                        <a:effectLst/>
                        <a:latin typeface="Calibri" panose="020F0502020204030204" pitchFamily="34" charset="0"/>
                      </a:endParaRPr>
                    </a:p>
                  </a:txBody>
                  <a:tcPr marL="3572" marR="3572" marT="3572" marB="0" anchor="b">
                    <a:noFill/>
                  </a:tcPr>
                </a:tc>
                <a:tc hMerge="1">
                  <a:txBody>
                    <a:bodyPr/>
                    <a:lstStyle/>
                    <a:p>
                      <a:endParaRPr lang="en-GB"/>
                    </a:p>
                  </a:txBody>
                  <a:tcPr/>
                </a:tc>
                <a:extLst>
                  <a:ext uri="{0D108BD9-81ED-4DB2-BD59-A6C34878D82A}">
                    <a16:rowId xmlns:a16="http://schemas.microsoft.com/office/drawing/2014/main" val="2185082430"/>
                  </a:ext>
                </a:extLst>
              </a:tr>
              <a:tr h="274041">
                <a:tc>
                  <a:txBody>
                    <a:bodyPr/>
                    <a:lstStyle/>
                    <a:p>
                      <a:pPr algn="l" fontAlgn="b"/>
                      <a:r>
                        <a:rPr lang="en-GB" sz="1100" u="none" strike="noStrike">
                          <a:effectLst/>
                        </a:rPr>
                        <a:t> </a:t>
                      </a:r>
                      <a:endParaRPr lang="en-GB" sz="1100" b="0" i="0" u="none" strike="noStrike">
                        <a:solidFill>
                          <a:srgbClr val="000000"/>
                        </a:solidFill>
                        <a:effectLst/>
                        <a:latin typeface="Calibri" panose="020F0502020204030204" pitchFamily="34" charset="0"/>
                      </a:endParaRPr>
                    </a:p>
                  </a:txBody>
                  <a:tcPr marL="3572" marR="3572" marT="3572" marB="0" anchor="b">
                    <a:noFill/>
                  </a:tcPr>
                </a:tc>
                <a:tc>
                  <a:txBody>
                    <a:bodyPr/>
                    <a:lstStyle/>
                    <a:p>
                      <a:pPr algn="ctr" rtl="0" fontAlgn="ctr"/>
                      <a:r>
                        <a:rPr lang="en-GB" sz="1100" b="1" u="none" strike="noStrike">
                          <a:solidFill>
                            <a:srgbClr val="0070C0"/>
                          </a:solidFill>
                          <a:effectLst/>
                        </a:rPr>
                        <a:t>Morrisons</a:t>
                      </a:r>
                      <a:endParaRPr lang="en-GB" sz="1100" b="1"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b="1" u="none" strike="noStrike">
                          <a:solidFill>
                            <a:schemeClr val="accent6"/>
                          </a:solidFill>
                          <a:effectLst/>
                        </a:rPr>
                        <a:t>Sainsbury's</a:t>
                      </a:r>
                      <a:endParaRPr lang="en-GB" sz="1100" b="1"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455694293"/>
                  </a:ext>
                </a:extLst>
              </a:tr>
              <a:tr h="274041">
                <a:tc>
                  <a:txBody>
                    <a:bodyPr/>
                    <a:lstStyle/>
                    <a:p>
                      <a:pPr algn="l" rtl="0" fontAlgn="ctr"/>
                      <a:r>
                        <a:rPr lang="en-GB" sz="1100" u="none" strike="noStrike">
                          <a:effectLst/>
                        </a:rPr>
                        <a:t>Sales</a:t>
                      </a:r>
                      <a:endParaRPr lang="en-GB" sz="1100" b="0" i="0" u="none" strike="noStrike">
                        <a:solidFill>
                          <a:srgbClr val="00000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rgbClr val="0070C0"/>
                          </a:solidFill>
                          <a:effectLst/>
                        </a:rPr>
                        <a:t>17,536</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28,993</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2918781195"/>
                  </a:ext>
                </a:extLst>
              </a:tr>
              <a:tr h="274041">
                <a:tc>
                  <a:txBody>
                    <a:bodyPr/>
                    <a:lstStyle/>
                    <a:p>
                      <a:pPr algn="l" rtl="0" fontAlgn="ctr"/>
                      <a:r>
                        <a:rPr lang="en-GB" sz="1100" u="none" strike="noStrike">
                          <a:effectLst/>
                        </a:rPr>
                        <a:t>– Cost of goods sold</a:t>
                      </a:r>
                      <a:endParaRPr lang="en-GB" sz="1100" b="0" i="0" u="none" strike="noStrike">
                        <a:solidFill>
                          <a:srgbClr val="000000"/>
                        </a:solidFill>
                        <a:effectLst/>
                        <a:latin typeface="Calibri" panose="020F0502020204030204" pitchFamily="34" charset="0"/>
                      </a:endParaRPr>
                    </a:p>
                  </a:txBody>
                  <a:tcPr marL="160735" marR="3572" marT="3572" marB="0" anchor="ctr">
                    <a:noFill/>
                  </a:tcPr>
                </a:tc>
                <a:tc>
                  <a:txBody>
                    <a:bodyPr/>
                    <a:lstStyle/>
                    <a:p>
                      <a:pPr algn="ctr" rtl="0" fontAlgn="ctr"/>
                      <a:r>
                        <a:rPr lang="en-GB" sz="1100" u="none" strike="noStrike" dirty="0">
                          <a:solidFill>
                            <a:srgbClr val="0070C0"/>
                          </a:solidFill>
                          <a:effectLst/>
                        </a:rPr>
                        <a:t>16,907</a:t>
                      </a:r>
                      <a:endParaRPr lang="en-GB" sz="1100" b="0" i="0" u="none" strike="noStrike" dirty="0">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26,977</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1977763275"/>
                  </a:ext>
                </a:extLst>
              </a:tr>
              <a:tr h="274041">
                <a:tc>
                  <a:txBody>
                    <a:bodyPr/>
                    <a:lstStyle/>
                    <a:p>
                      <a:pPr algn="l" rtl="0" fontAlgn="ctr"/>
                      <a:r>
                        <a:rPr lang="en-GB" sz="1100" u="none" strike="noStrike">
                          <a:effectLst/>
                        </a:rPr>
                        <a:t>Gross Profit</a:t>
                      </a:r>
                      <a:endParaRPr lang="en-GB" sz="1100" b="0" i="0" u="none" strike="noStrike">
                        <a:solidFill>
                          <a:srgbClr val="00000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rgbClr val="0070C0"/>
                          </a:solidFill>
                          <a:effectLst/>
                        </a:rPr>
                        <a:t>629</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2,016</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97176750"/>
                  </a:ext>
                </a:extLst>
              </a:tr>
              <a:tr h="439157">
                <a:tc>
                  <a:txBody>
                    <a:bodyPr/>
                    <a:lstStyle/>
                    <a:p>
                      <a:pPr algn="l" rtl="0" fontAlgn="ctr"/>
                      <a:r>
                        <a:rPr lang="en-GB" sz="1100" u="none" strike="noStrike">
                          <a:effectLst/>
                        </a:rPr>
                        <a:t>– Selling, administrative and other expenses</a:t>
                      </a:r>
                      <a:endParaRPr lang="en-GB" sz="1100" b="0" i="0" u="none" strike="noStrike">
                        <a:solidFill>
                          <a:srgbClr val="000000"/>
                        </a:solidFill>
                        <a:effectLst/>
                        <a:latin typeface="Calibri" panose="020F0502020204030204" pitchFamily="34" charset="0"/>
                      </a:endParaRPr>
                    </a:p>
                  </a:txBody>
                  <a:tcPr marL="160735" marR="3572" marT="3572" marB="0" anchor="ctr">
                    <a:noFill/>
                  </a:tcPr>
                </a:tc>
                <a:tc>
                  <a:txBody>
                    <a:bodyPr/>
                    <a:lstStyle/>
                    <a:p>
                      <a:pPr algn="ctr" rtl="0" fontAlgn="ctr"/>
                      <a:r>
                        <a:rPr lang="en-GB" sz="1100" u="none" strike="noStrike">
                          <a:solidFill>
                            <a:srgbClr val="0070C0"/>
                          </a:solidFill>
                          <a:effectLst/>
                        </a:rPr>
                        <a:t>174</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1,366</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666586547"/>
                  </a:ext>
                </a:extLst>
              </a:tr>
              <a:tr h="274041">
                <a:tc>
                  <a:txBody>
                    <a:bodyPr/>
                    <a:lstStyle/>
                    <a:p>
                      <a:pPr algn="l" rtl="0" fontAlgn="ctr"/>
                      <a:r>
                        <a:rPr lang="en-GB" sz="1100" u="none" strike="noStrike">
                          <a:effectLst/>
                        </a:rPr>
                        <a:t>Earnings Before Interest and Taxes (EBIT)</a:t>
                      </a:r>
                      <a:endParaRPr lang="en-GB" sz="1100" b="0" i="0" u="none" strike="noStrike">
                        <a:solidFill>
                          <a:srgbClr val="00000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rgbClr val="0070C0"/>
                          </a:solidFill>
                          <a:effectLst/>
                        </a:rPr>
                        <a:t>455</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650</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3290507437"/>
                  </a:ext>
                </a:extLst>
              </a:tr>
              <a:tr h="274041">
                <a:tc>
                  <a:txBody>
                    <a:bodyPr/>
                    <a:lstStyle/>
                    <a:p>
                      <a:pPr algn="l" rtl="0" fontAlgn="ctr"/>
                      <a:r>
                        <a:rPr lang="en-GB" sz="1100" u="none" strike="noStrike">
                          <a:effectLst/>
                        </a:rPr>
                        <a:t>– Interest expenses</a:t>
                      </a:r>
                      <a:endParaRPr lang="en-GB" sz="1100" b="0" i="0" u="none" strike="noStrike">
                        <a:solidFill>
                          <a:srgbClr val="000000"/>
                        </a:solidFill>
                        <a:effectLst/>
                        <a:latin typeface="Calibri" panose="020F0502020204030204" pitchFamily="34" charset="0"/>
                      </a:endParaRPr>
                    </a:p>
                  </a:txBody>
                  <a:tcPr marL="160735" marR="3572" marT="3572" marB="0" anchor="ctr">
                    <a:noFill/>
                  </a:tcPr>
                </a:tc>
                <a:tc>
                  <a:txBody>
                    <a:bodyPr/>
                    <a:lstStyle/>
                    <a:p>
                      <a:pPr algn="ctr" rtl="0" fontAlgn="ctr"/>
                      <a:r>
                        <a:rPr lang="en-GB" sz="1100" u="none" strike="noStrike">
                          <a:solidFill>
                            <a:srgbClr val="0070C0"/>
                          </a:solidFill>
                          <a:effectLst/>
                        </a:rPr>
                        <a:t>20</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395</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2356076969"/>
                  </a:ext>
                </a:extLst>
              </a:tr>
              <a:tr h="274041">
                <a:tc>
                  <a:txBody>
                    <a:bodyPr/>
                    <a:lstStyle/>
                    <a:p>
                      <a:pPr algn="l" rtl="0" fontAlgn="ctr"/>
                      <a:r>
                        <a:rPr lang="en-GB" sz="1100" u="none" strike="noStrike">
                          <a:effectLst/>
                        </a:rPr>
                        <a:t>Earnings Before Taxes (EBT)</a:t>
                      </a:r>
                      <a:endParaRPr lang="en-GB" sz="1100" b="0" i="0" u="none" strike="noStrike">
                        <a:solidFill>
                          <a:srgbClr val="00000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rgbClr val="0070C0"/>
                          </a:solidFill>
                          <a:effectLst/>
                        </a:rPr>
                        <a:t>435</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255</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3963999641"/>
                  </a:ext>
                </a:extLst>
              </a:tr>
              <a:tr h="274041">
                <a:tc>
                  <a:txBody>
                    <a:bodyPr/>
                    <a:lstStyle/>
                    <a:p>
                      <a:pPr algn="l" rtl="0" fontAlgn="ctr"/>
                      <a:r>
                        <a:rPr lang="en-GB" sz="1100" u="none" strike="noStrike">
                          <a:effectLst/>
                        </a:rPr>
                        <a:t>– Taxes</a:t>
                      </a:r>
                      <a:endParaRPr lang="en-GB" sz="1100" b="0" i="0" u="none" strike="noStrike">
                        <a:solidFill>
                          <a:srgbClr val="000000"/>
                        </a:solidFill>
                        <a:effectLst/>
                        <a:latin typeface="Calibri" panose="020F0502020204030204" pitchFamily="34" charset="0"/>
                      </a:endParaRPr>
                    </a:p>
                  </a:txBody>
                  <a:tcPr marL="160735" marR="3572" marT="3572" marB="0" anchor="ctr">
                    <a:noFill/>
                  </a:tcPr>
                </a:tc>
                <a:tc>
                  <a:txBody>
                    <a:bodyPr/>
                    <a:lstStyle/>
                    <a:p>
                      <a:pPr algn="ctr" rtl="0" fontAlgn="ctr"/>
                      <a:r>
                        <a:rPr lang="en-GB" sz="1100" u="none" strike="noStrike">
                          <a:solidFill>
                            <a:srgbClr val="0070C0"/>
                          </a:solidFill>
                          <a:effectLst/>
                        </a:rPr>
                        <a:t>87</a:t>
                      </a:r>
                      <a:endParaRPr lang="en-GB" sz="1100" b="0"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u="none" strike="noStrike">
                          <a:solidFill>
                            <a:schemeClr val="accent6"/>
                          </a:solidFill>
                          <a:effectLst/>
                        </a:rPr>
                        <a:t>103</a:t>
                      </a:r>
                      <a:endParaRPr lang="en-GB" sz="1100" b="0" i="0" u="none" strike="noStrike">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1542415509"/>
                  </a:ext>
                </a:extLst>
              </a:tr>
              <a:tr h="274041">
                <a:tc>
                  <a:txBody>
                    <a:bodyPr/>
                    <a:lstStyle/>
                    <a:p>
                      <a:pPr algn="l" rtl="0" fontAlgn="ctr"/>
                      <a:r>
                        <a:rPr lang="en-GB" sz="1100" b="1" u="none" strike="noStrike">
                          <a:effectLst/>
                        </a:rPr>
                        <a:t>Net Income</a:t>
                      </a:r>
                      <a:endParaRPr lang="en-GB" sz="1100" b="1" i="0" u="none" strike="noStrike">
                        <a:solidFill>
                          <a:srgbClr val="000000"/>
                        </a:solidFill>
                        <a:effectLst/>
                        <a:latin typeface="Calibri" panose="020F0502020204030204" pitchFamily="34" charset="0"/>
                      </a:endParaRPr>
                    </a:p>
                  </a:txBody>
                  <a:tcPr marL="3572" marR="3572" marT="3572" marB="0" anchor="ctr">
                    <a:noFill/>
                  </a:tcPr>
                </a:tc>
                <a:tc>
                  <a:txBody>
                    <a:bodyPr/>
                    <a:lstStyle/>
                    <a:p>
                      <a:pPr algn="ctr" rtl="0" fontAlgn="ctr"/>
                      <a:r>
                        <a:rPr lang="en-GB" sz="1100" b="1" u="none" strike="noStrike">
                          <a:solidFill>
                            <a:srgbClr val="0070C0"/>
                          </a:solidFill>
                          <a:effectLst/>
                        </a:rPr>
                        <a:t>348</a:t>
                      </a:r>
                      <a:endParaRPr lang="en-GB" sz="1100" b="1" i="0" u="none" strike="noStrike">
                        <a:solidFill>
                          <a:srgbClr val="0070C0"/>
                        </a:solidFill>
                        <a:effectLst/>
                        <a:latin typeface="Calibri" panose="020F0502020204030204" pitchFamily="34" charset="0"/>
                      </a:endParaRPr>
                    </a:p>
                  </a:txBody>
                  <a:tcPr marL="3572" marR="3572" marT="3572" marB="0" anchor="ctr">
                    <a:noFill/>
                  </a:tcPr>
                </a:tc>
                <a:tc>
                  <a:txBody>
                    <a:bodyPr/>
                    <a:lstStyle/>
                    <a:p>
                      <a:pPr algn="ctr" rtl="0" fontAlgn="ctr"/>
                      <a:r>
                        <a:rPr lang="en-GB" sz="1100" b="1" u="none" strike="noStrike" dirty="0">
                          <a:solidFill>
                            <a:schemeClr val="accent6"/>
                          </a:solidFill>
                          <a:effectLst/>
                        </a:rPr>
                        <a:t>152</a:t>
                      </a:r>
                      <a:endParaRPr lang="en-GB" sz="1100" b="1" i="0" u="none" strike="noStrike" dirty="0">
                        <a:solidFill>
                          <a:schemeClr val="accent6"/>
                        </a:solidFill>
                        <a:effectLst/>
                        <a:latin typeface="Calibri" panose="020F0502020204030204" pitchFamily="34" charset="0"/>
                      </a:endParaRPr>
                    </a:p>
                  </a:txBody>
                  <a:tcPr marL="3572" marR="3572" marT="3572" marB="0" anchor="ctr">
                    <a:noFill/>
                  </a:tcPr>
                </a:tc>
                <a:extLst>
                  <a:ext uri="{0D108BD9-81ED-4DB2-BD59-A6C34878D82A}">
                    <a16:rowId xmlns:a16="http://schemas.microsoft.com/office/drawing/2014/main" val="943564195"/>
                  </a:ext>
                </a:extLst>
              </a:tr>
            </a:tbl>
          </a:graphicData>
        </a:graphic>
      </p:graphicFrame>
    </p:spTree>
    <p:extLst>
      <p:ext uri="{BB962C8B-B14F-4D97-AF65-F5344CB8AC3E}">
        <p14:creationId xmlns:p14="http://schemas.microsoft.com/office/powerpoint/2010/main" val="6617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08912" cy="980139"/>
          </a:xfrm>
        </p:spPr>
        <p:txBody>
          <a:bodyPr>
            <a:normAutofit/>
          </a:bodyPr>
          <a:lstStyle/>
          <a:p>
            <a:r>
              <a:rPr lang="en-GB" sz="4700" b="1" dirty="0">
                <a:solidFill>
                  <a:srgbClr val="16818D"/>
                </a:solidFill>
                <a:latin typeface="Arial" panose="020B0604020202020204" pitchFamily="34" charset="0"/>
                <a:cs typeface="Arial" panose="020B0604020202020204" pitchFamily="34" charset="0"/>
              </a:rPr>
              <a:t>Liquidity Ratios</a:t>
            </a:r>
          </a:p>
        </p:txBody>
      </p:sp>
      <p:sp>
        <p:nvSpPr>
          <p:cNvPr id="7" name="Content Placeholder 6">
            <a:extLst>
              <a:ext uri="{FF2B5EF4-FFF2-40B4-BE49-F238E27FC236}">
                <a16:creationId xmlns:a16="http://schemas.microsoft.com/office/drawing/2014/main" id="{A688D67C-13F6-62DD-E763-4693B1F9B01A}"/>
              </a:ext>
            </a:extLst>
          </p:cNvPr>
          <p:cNvSpPr>
            <a:spLocks noGrp="1"/>
          </p:cNvSpPr>
          <p:nvPr>
            <p:ph idx="1"/>
          </p:nvPr>
        </p:nvSpPr>
        <p:spPr/>
        <p:txBody>
          <a:bodyPr/>
          <a:lstStyle/>
          <a:p>
            <a:pPr marL="0" indent="0">
              <a:buNone/>
            </a:pPr>
            <a:r>
              <a:rPr lang="en-GB"/>
              <a:t> </a:t>
            </a:r>
          </a:p>
        </p:txBody>
      </p:sp>
      <p:sp>
        <p:nvSpPr>
          <p:cNvPr id="4" name="Slide Number Placeholder 3"/>
          <p:cNvSpPr>
            <a:spLocks noGrp="1"/>
          </p:cNvSpPr>
          <p:nvPr>
            <p:ph type="sldNum" sz="quarter" idx="12"/>
          </p:nvPr>
        </p:nvSpPr>
        <p:spPr>
          <a:xfrm>
            <a:off x="7546177" y="5140274"/>
            <a:ext cx="509600" cy="332922"/>
          </a:xfrm>
          <a:ln w="12700"/>
        </p:spPr>
        <p:txBody>
          <a:bodyPr/>
          <a:lstStyle/>
          <a:p>
            <a:fld id="{0F99C4FB-888A-4D12-A1C4-C744D94026CD}" type="slidenum">
              <a:rPr lang="en-GB" sz="1013">
                <a:solidFill>
                  <a:schemeClr val="tx1">
                    <a:lumMod val="50000"/>
                    <a:lumOff val="50000"/>
                  </a:schemeClr>
                </a:solidFill>
              </a:rPr>
              <a:t>9</a:t>
            </a:fld>
            <a:endParaRPr lang="en-GB" sz="1013">
              <a:solidFill>
                <a:schemeClr val="tx1">
                  <a:lumMod val="50000"/>
                  <a:lumOff val="50000"/>
                </a:schemeClr>
              </a:solidFill>
            </a:endParaRP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9912F6F9-8AFF-B2AF-D251-0AAAA51A79FA}"/>
                  </a:ext>
                </a:extLst>
              </p:cNvPr>
              <p:cNvSpPr txBox="1">
                <a:spLocks/>
              </p:cNvSpPr>
              <p:nvPr/>
            </p:nvSpPr>
            <p:spPr>
              <a:xfrm>
                <a:off x="827584" y="3068960"/>
                <a:ext cx="7704856" cy="1242138"/>
              </a:xfrm>
              <a:prstGeom prst="rect">
                <a:avLst/>
              </a:prstGeom>
              <a:noFill/>
              <a:ln>
                <a:noFill/>
              </a:ln>
            </p:spPr>
            <p:txBody>
              <a:bodyPr vert="horz" lIns="51435" tIns="25718" rIns="51435" bIns="25718"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2147" indent="0" algn="ctr">
                  <a:spcBef>
                    <a:spcPts val="1013"/>
                  </a:spcBef>
                  <a:buClr>
                    <a:srgbClr val="C00000"/>
                  </a:buClr>
                  <a:buNone/>
                  <a:tabLst>
                    <a:tab pos="654547" algn="l"/>
                  </a:tabLst>
                </a:pPr>
                <a14:m>
                  <m:oMath xmlns:m="http://schemas.openxmlformats.org/officeDocument/2006/math">
                    <m:r>
                      <m:rPr>
                        <m:sty m:val="p"/>
                      </m:rPr>
                      <a:rPr lang="en-GB" sz="1200">
                        <a:solidFill>
                          <a:schemeClr val="accent5">
                            <a:lumMod val="75000"/>
                          </a:schemeClr>
                        </a:solidFill>
                        <a:latin typeface="Cambria Math" panose="02040503050406030204" pitchFamily="18" charset="0"/>
                      </a:rPr>
                      <m:t>Acid</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Test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Ratio</m:t>
                    </m:r>
                    <m:r>
                      <a:rPr lang="en-GB" sz="1200">
                        <a:solidFill>
                          <a:schemeClr val="accent5">
                            <a:lumMod val="75000"/>
                          </a:schemeClr>
                        </a:solidFill>
                        <a:latin typeface="Cambria Math" panose="02040503050406030204" pitchFamily="18" charset="0"/>
                      </a:rPr>
                      <m:t>=</m:t>
                    </m:r>
                    <m:f>
                      <m:fPr>
                        <m:ctrlPr>
                          <a:rPr lang="en-GB" sz="1200" i="1">
                            <a:solidFill>
                              <a:schemeClr val="accent5">
                                <a:lumMod val="75000"/>
                              </a:schemeClr>
                            </a:solidFill>
                            <a:latin typeface="Cambria Math" panose="02040503050406030204" pitchFamily="18" charset="0"/>
                          </a:rPr>
                        </m:ctrlPr>
                      </m:fPr>
                      <m:num>
                        <m:r>
                          <m:rPr>
                            <m:sty m:val="p"/>
                          </m:rPr>
                          <a:rPr lang="en-GB" sz="1200">
                            <a:solidFill>
                              <a:schemeClr val="accent5">
                                <a:lumMod val="75000"/>
                              </a:schemeClr>
                            </a:solidFill>
                            <a:latin typeface="Cambria Math" panose="02040503050406030204" pitchFamily="18" charset="0"/>
                          </a:rPr>
                          <m:t>Current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Assets</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Inventory</m:t>
                        </m:r>
                      </m:num>
                      <m:den>
                        <m:r>
                          <m:rPr>
                            <m:sty m:val="p"/>
                          </m:rPr>
                          <a:rPr lang="en-GB" sz="1200">
                            <a:solidFill>
                              <a:schemeClr val="accent5">
                                <a:lumMod val="75000"/>
                              </a:schemeClr>
                            </a:solidFill>
                            <a:latin typeface="Cambria Math" panose="02040503050406030204" pitchFamily="18" charset="0"/>
                          </a:rPr>
                          <m:t>Current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Liabilities</m:t>
                        </m:r>
                      </m:den>
                    </m:f>
                  </m:oMath>
                </a14:m>
                <a:r>
                  <a:rPr lang="en-GB" sz="1200" dirty="0">
                    <a:solidFill>
                      <a:srgbClr val="7030A0"/>
                    </a:solidFill>
                  </a:rPr>
                  <a:t> </a:t>
                </a:r>
                <a:r>
                  <a:rPr lang="en-GB" sz="1200" dirty="0">
                    <a:solidFill>
                      <a:schemeClr val="accent1"/>
                    </a:solidFill>
                  </a:rPr>
                  <a:t>= (1322-660)/3396 = 0.19</a:t>
                </a:r>
                <a:r>
                  <a:rPr lang="en-GB" sz="1200" dirty="0">
                    <a:solidFill>
                      <a:srgbClr val="7030A0"/>
                    </a:solidFill>
                  </a:rPr>
                  <a:t> </a:t>
                </a:r>
                <a:r>
                  <a:rPr lang="en-GB" sz="1200" dirty="0">
                    <a:solidFill>
                      <a:schemeClr val="accent6"/>
                    </a:solidFill>
                  </a:rPr>
                  <a:t>vs 0.49</a:t>
                </a:r>
              </a:p>
              <a:p>
                <a:pPr marL="32147" indent="0">
                  <a:spcBef>
                    <a:spcPts val="1013"/>
                  </a:spcBef>
                  <a:buClr>
                    <a:srgbClr val="C00000"/>
                  </a:buClr>
                  <a:buNone/>
                  <a:tabLst>
                    <a:tab pos="654547" algn="l"/>
                  </a:tabLst>
                </a:pPr>
                <a:r>
                  <a:rPr lang="en-GB" sz="1200" dirty="0"/>
                  <a:t>The quick ratio indicates that</a:t>
                </a:r>
                <a:r>
                  <a:rPr lang="en-GB" sz="1200" dirty="0">
                    <a:solidFill>
                      <a:schemeClr val="accent4"/>
                    </a:solidFill>
                  </a:rPr>
                  <a:t> </a:t>
                </a:r>
                <a:r>
                  <a:rPr lang="en-GB" sz="1200" dirty="0">
                    <a:solidFill>
                      <a:schemeClr val="accent6"/>
                    </a:solidFill>
                  </a:rPr>
                  <a:t>Sainsbury’s</a:t>
                </a:r>
                <a:r>
                  <a:rPr lang="en-GB" sz="1200" dirty="0">
                    <a:solidFill>
                      <a:schemeClr val="accent4"/>
                    </a:solidFill>
                  </a:rPr>
                  <a:t> </a:t>
                </a:r>
                <a:r>
                  <a:rPr lang="en-GB" sz="1200" dirty="0"/>
                  <a:t>is in a better position to pay its current liabilities than</a:t>
                </a:r>
                <a:r>
                  <a:rPr lang="en-GB" sz="1200" dirty="0">
                    <a:solidFill>
                      <a:schemeClr val="accent1"/>
                    </a:solidFill>
                  </a:rPr>
                  <a:t> Morrison’s </a:t>
                </a:r>
                <a:r>
                  <a:rPr lang="en-GB" sz="1200" dirty="0"/>
                  <a:t>with a low quick ratio, using the more liquid portion of its current assets.</a:t>
                </a:r>
              </a:p>
              <a:p>
                <a:pPr marL="32147" indent="0">
                  <a:spcBef>
                    <a:spcPts val="1013"/>
                  </a:spcBef>
                  <a:buClr>
                    <a:srgbClr val="C00000"/>
                  </a:buClr>
                  <a:buNone/>
                  <a:tabLst>
                    <a:tab pos="654547" algn="l"/>
                  </a:tabLst>
                </a:pPr>
                <a:endParaRPr lang="en-GB" sz="900" dirty="0">
                  <a:solidFill>
                    <a:srgbClr val="7030A0"/>
                  </a:solidFill>
                </a:endParaRPr>
              </a:p>
              <a:p>
                <a:pPr>
                  <a:spcBef>
                    <a:spcPts val="1350"/>
                  </a:spcBef>
                  <a:buClr>
                    <a:srgbClr val="C00000"/>
                  </a:buClr>
                  <a:buBlip>
                    <a:blip r:embed="rId3">
                      <a:extLst>
                        <a:ext uri="{837473B0-CC2E-450A-ABE3-18F120FF3D39}">
                          <a1611:picAttrSrcUrl xmlns:a1611="http://schemas.microsoft.com/office/drawing/2016/11/main" r:id="rId4"/>
                        </a:ext>
                      </a:extLst>
                    </a:blip>
                  </a:buBlip>
                  <a:tabLst>
                    <a:tab pos="502742" algn="l"/>
                  </a:tabLst>
                </a:pPr>
                <a:endParaRPr lang="en-GB" sz="900" dirty="0"/>
              </a:p>
            </p:txBody>
          </p:sp>
        </mc:Choice>
        <mc:Fallback>
          <p:sp>
            <p:nvSpPr>
              <p:cNvPr id="5" name="Content Placeholder 2">
                <a:extLst>
                  <a:ext uri="{FF2B5EF4-FFF2-40B4-BE49-F238E27FC236}">
                    <a16:creationId xmlns:a16="http://schemas.microsoft.com/office/drawing/2014/main" id="{9912F6F9-8AFF-B2AF-D251-0AAAA51A79FA}"/>
                  </a:ext>
                </a:extLst>
              </p:cNvPr>
              <p:cNvSpPr txBox="1">
                <a:spLocks noRot="1" noChangeAspect="1" noMove="1" noResize="1" noEditPoints="1" noAdjustHandles="1" noChangeArrowheads="1" noChangeShapeType="1" noTextEdit="1"/>
              </p:cNvSpPr>
              <p:nvPr/>
            </p:nvSpPr>
            <p:spPr>
              <a:xfrm>
                <a:off x="827584" y="3068960"/>
                <a:ext cx="7704856" cy="1242138"/>
              </a:xfrm>
              <a:prstGeom prst="rect">
                <a:avLst/>
              </a:prstGeom>
              <a:blipFill>
                <a:blip r:embed="rId5"/>
                <a:stretch>
                  <a:fillRect l="-158"/>
                </a:stretch>
              </a:blipFill>
              <a:ln>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 name="Content Placeholder 2"/>
              <p:cNvSpPr txBox="1">
                <a:spLocks/>
              </p:cNvSpPr>
              <p:nvPr/>
            </p:nvSpPr>
            <p:spPr>
              <a:xfrm>
                <a:off x="827584" y="4279092"/>
                <a:ext cx="7560840" cy="1722364"/>
              </a:xfrm>
              <a:noFill/>
              <a:ln>
                <a:noFill/>
              </a:ln>
            </p:spPr>
            <p:txBody>
              <a:bodyPr>
                <a:noAutofit/>
              </a:bodyPr>
              <a:lst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marL="0" lvl="1" indent="0" algn="ctr">
                  <a:lnSpc>
                    <a:spcPct val="150000"/>
                  </a:lnSpc>
                  <a:spcBef>
                    <a:spcPts val="1013"/>
                  </a:spcBef>
                  <a:buClr>
                    <a:srgbClr val="C00000"/>
                  </a:buClr>
                  <a:buNone/>
                  <a:tabLst>
                    <a:tab pos="502742" algn="l"/>
                  </a:tabLst>
                </a:pPr>
                <a14:m>
                  <m:oMath xmlns:m="http://schemas.openxmlformats.org/officeDocument/2006/math">
                    <m:r>
                      <m:rPr>
                        <m:sty m:val="p"/>
                      </m:rPr>
                      <a:rPr lang="en-GB" sz="1200">
                        <a:solidFill>
                          <a:schemeClr val="accent5">
                            <a:lumMod val="75000"/>
                          </a:schemeClr>
                        </a:solidFill>
                        <a:latin typeface="Cambria Math" panose="02040503050406030204" pitchFamily="18" charset="0"/>
                      </a:rPr>
                      <m:t>Interest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Coverage</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Ratio</m:t>
                    </m:r>
                    <m:r>
                      <a:rPr lang="en-GB" sz="1200">
                        <a:solidFill>
                          <a:schemeClr val="accent5">
                            <a:lumMod val="75000"/>
                          </a:schemeClr>
                        </a:solidFill>
                        <a:latin typeface="Cambria Math" panose="02040503050406030204" pitchFamily="18" charset="0"/>
                      </a:rPr>
                      <m:t>=</m:t>
                    </m:r>
                    <m:f>
                      <m:fPr>
                        <m:ctrlPr>
                          <a:rPr lang="en-GB" sz="1200" i="1">
                            <a:solidFill>
                              <a:schemeClr val="accent5">
                                <a:lumMod val="75000"/>
                              </a:schemeClr>
                            </a:solidFill>
                            <a:latin typeface="Cambria Math" panose="02040503050406030204" pitchFamily="18" charset="0"/>
                          </a:rPr>
                        </m:ctrlPr>
                      </m:fPr>
                      <m:num>
                        <m:r>
                          <m:rPr>
                            <m:sty m:val="p"/>
                          </m:rPr>
                          <a:rPr lang="en-GB" sz="1200">
                            <a:solidFill>
                              <a:schemeClr val="accent5">
                                <a:lumMod val="75000"/>
                              </a:schemeClr>
                            </a:solidFill>
                            <a:latin typeface="Cambria Math" panose="02040503050406030204" pitchFamily="18" charset="0"/>
                          </a:rPr>
                          <m:t>EBIT</m:t>
                        </m:r>
                      </m:num>
                      <m:den>
                        <m:r>
                          <m:rPr>
                            <m:sty m:val="p"/>
                          </m:rPr>
                          <a:rPr lang="en-GB" sz="1200">
                            <a:solidFill>
                              <a:schemeClr val="accent5">
                                <a:lumMod val="75000"/>
                              </a:schemeClr>
                            </a:solidFill>
                            <a:latin typeface="Cambria Math" panose="02040503050406030204" pitchFamily="18" charset="0"/>
                          </a:rPr>
                          <m:t>Interest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Expenses</m:t>
                        </m:r>
                      </m:den>
                    </m:f>
                  </m:oMath>
                </a14:m>
                <a:r>
                  <a:rPr lang="en-GB" sz="1200" dirty="0">
                    <a:solidFill>
                      <a:schemeClr val="accent5">
                        <a:lumMod val="75000"/>
                      </a:schemeClr>
                    </a:solidFill>
                  </a:rPr>
                  <a:t> = </a:t>
                </a:r>
                <a:r>
                  <a:rPr lang="en-GB" sz="1200" dirty="0" err="1">
                    <a:solidFill>
                      <a:srgbClr val="2F5597"/>
                    </a:solidFill>
                  </a:rPr>
                  <a:t>eg.</a:t>
                </a:r>
                <a:r>
                  <a:rPr lang="en-GB" sz="1200" dirty="0">
                    <a:solidFill>
                      <a:srgbClr val="2F5597"/>
                    </a:solidFill>
                  </a:rPr>
                  <a:t> 22.75 </a:t>
                </a:r>
                <a:r>
                  <a:rPr lang="en-GB" sz="1200" dirty="0">
                    <a:solidFill>
                      <a:schemeClr val="accent5">
                        <a:lumMod val="75000"/>
                      </a:schemeClr>
                    </a:solidFill>
                  </a:rPr>
                  <a:t>vs </a:t>
                </a:r>
                <a:r>
                  <a:rPr lang="en-GB" sz="1200" dirty="0">
                    <a:solidFill>
                      <a:schemeClr val="accent6"/>
                    </a:solidFill>
                  </a:rPr>
                  <a:t>1.65</a:t>
                </a:r>
              </a:p>
              <a:p>
                <a:pPr marL="0" lvl="1" indent="0">
                  <a:lnSpc>
                    <a:spcPct val="150000"/>
                  </a:lnSpc>
                  <a:spcBef>
                    <a:spcPts val="1013"/>
                  </a:spcBef>
                  <a:buClr>
                    <a:srgbClr val="C00000"/>
                  </a:buClr>
                  <a:buNone/>
                  <a:tabLst>
                    <a:tab pos="502742" algn="l"/>
                  </a:tabLst>
                </a:pPr>
                <a:r>
                  <a:rPr lang="en-GB" sz="1200" dirty="0">
                    <a:solidFill>
                      <a:schemeClr val="accent1"/>
                    </a:solidFill>
                  </a:rPr>
                  <a:t>Morrison’s</a:t>
                </a:r>
                <a:r>
                  <a:rPr lang="en-GB" sz="1200" dirty="0"/>
                  <a:t> interest expenses are covered 22.75 times over. </a:t>
                </a:r>
                <a:r>
                  <a:rPr lang="en-GB" sz="1200" dirty="0">
                    <a:solidFill>
                      <a:schemeClr val="accent6"/>
                    </a:solidFill>
                  </a:rPr>
                  <a:t>Sainsbury’s</a:t>
                </a:r>
                <a:r>
                  <a:rPr lang="en-GB" sz="1200" dirty="0"/>
                  <a:t> interest expenses are covered </a:t>
                </a:r>
                <a:r>
                  <a:rPr lang="en-GB" sz="1200" dirty="0">
                    <a:solidFill>
                      <a:schemeClr val="accent6"/>
                    </a:solidFill>
                  </a:rPr>
                  <a:t>1.65 times </a:t>
                </a:r>
                <a:r>
                  <a:rPr lang="en-GB" sz="1200" dirty="0"/>
                  <a:t>over. We can argue that both companies have no problems paying their debt out of their earnings.</a:t>
                </a:r>
              </a:p>
              <a:p>
                <a:pPr marL="0" lvl="1" indent="0">
                  <a:lnSpc>
                    <a:spcPct val="150000"/>
                  </a:lnSpc>
                  <a:spcBef>
                    <a:spcPts val="1013"/>
                  </a:spcBef>
                  <a:buClr>
                    <a:srgbClr val="C00000"/>
                  </a:buClr>
                  <a:buNone/>
                  <a:tabLst>
                    <a:tab pos="502742" algn="l"/>
                  </a:tabLst>
                </a:pPr>
                <a:endParaRPr lang="en-GB" sz="1200" dirty="0">
                  <a:solidFill>
                    <a:schemeClr val="accent5">
                      <a:lumMod val="75000"/>
                    </a:schemeClr>
                  </a:solidFill>
                </a:endParaRPr>
              </a:p>
              <a:p>
                <a:pPr marL="0" lvl="1" indent="0">
                  <a:lnSpc>
                    <a:spcPct val="150000"/>
                  </a:lnSpc>
                  <a:spcBef>
                    <a:spcPts val="1013"/>
                  </a:spcBef>
                  <a:buClr>
                    <a:srgbClr val="C00000"/>
                  </a:buClr>
                  <a:buNone/>
                  <a:tabLst>
                    <a:tab pos="502742" algn="l"/>
                  </a:tabLst>
                </a:pPr>
                <a:endParaRPr lang="en-GB" sz="1200" dirty="0">
                  <a:solidFill>
                    <a:schemeClr val="accent5">
                      <a:lumMod val="75000"/>
                    </a:schemeClr>
                  </a:solidFill>
                </a:endParaRPr>
              </a:p>
              <a:p>
                <a:pPr marL="0" lvl="1" indent="0">
                  <a:spcBef>
                    <a:spcPts val="1013"/>
                  </a:spcBef>
                  <a:buClr>
                    <a:srgbClr val="C00000"/>
                  </a:buClr>
                  <a:buNone/>
                  <a:tabLst>
                    <a:tab pos="502742" algn="l"/>
                  </a:tabLst>
                </a:pPr>
                <a:endParaRPr lang="en-GB" sz="1200" i="1" dirty="0">
                  <a:solidFill>
                    <a:srgbClr val="C00000"/>
                  </a:solidFill>
                  <a:latin typeface="Cambria Math" panose="02040503050406030204" pitchFamily="18" charset="0"/>
                  <a:ea typeface="Cambria Math" panose="02040503050406030204" pitchFamily="18" charset="0"/>
                </a:endParaRPr>
              </a:p>
            </p:txBody>
          </p:sp>
        </mc:Choice>
        <mc:Fallback>
          <p:sp>
            <p:nvSpPr>
              <p:cNvPr id="8" name="Content Placeholder 2"/>
              <p:cNvSpPr txBox="1">
                <a:spLocks noRot="1" noChangeAspect="1" noMove="1" noResize="1" noEditPoints="1" noAdjustHandles="1" noChangeArrowheads="1" noChangeShapeType="1" noTextEdit="1"/>
              </p:cNvSpPr>
              <p:nvPr/>
            </p:nvSpPr>
            <p:spPr>
              <a:xfrm>
                <a:off x="827584" y="4279092"/>
                <a:ext cx="7560840" cy="1722364"/>
              </a:xfr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DAA1D26-0822-647E-7D8D-BD65EFC4786A}"/>
                  </a:ext>
                </a:extLst>
              </p:cNvPr>
              <p:cNvSpPr txBox="1">
                <a:spLocks/>
              </p:cNvSpPr>
              <p:nvPr/>
            </p:nvSpPr>
            <p:spPr>
              <a:xfrm>
                <a:off x="827584" y="1466782"/>
                <a:ext cx="7704856" cy="1242138"/>
              </a:xfrm>
              <a:noFill/>
              <a:ln>
                <a:noFill/>
              </a:ln>
            </p:spPr>
            <p:txBody>
              <a:bodyPr>
                <a:noAutofit/>
              </a:bodyPr>
              <a:lst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marL="0" indent="0">
                  <a:spcBef>
                    <a:spcPts val="1013"/>
                  </a:spcBef>
                  <a:buClr>
                    <a:srgbClr val="C00000"/>
                  </a:buClr>
                  <a:buNone/>
                  <a:tabLst>
                    <a:tab pos="654547" algn="l"/>
                  </a:tabLst>
                </a:pPr>
                <a14:m>
                  <m:oMathPara xmlns:m="http://schemas.openxmlformats.org/officeDocument/2006/math">
                    <m:oMathParaPr>
                      <m:jc m:val="centerGroup"/>
                    </m:oMathParaPr>
                    <m:oMath xmlns:m="http://schemas.openxmlformats.org/officeDocument/2006/math">
                      <m:r>
                        <m:rPr>
                          <m:sty m:val="p"/>
                        </m:rPr>
                        <a:rPr lang="en-GB" sz="1200">
                          <a:solidFill>
                            <a:schemeClr val="accent5">
                              <a:lumMod val="75000"/>
                            </a:schemeClr>
                          </a:solidFill>
                          <a:latin typeface="Cambria Math" panose="02040503050406030204" pitchFamily="18" charset="0"/>
                        </a:rPr>
                        <m:t>Current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Ratio</m:t>
                      </m:r>
                      <m:r>
                        <a:rPr lang="en-GB" sz="1200">
                          <a:solidFill>
                            <a:schemeClr val="accent5">
                              <a:lumMod val="75000"/>
                            </a:schemeClr>
                          </a:solidFill>
                          <a:latin typeface="Cambria Math" panose="02040503050406030204" pitchFamily="18" charset="0"/>
                        </a:rPr>
                        <m:t>=</m:t>
                      </m:r>
                      <m:f>
                        <m:fPr>
                          <m:ctrlPr>
                            <a:rPr lang="en-GB" sz="1200" i="1">
                              <a:solidFill>
                                <a:schemeClr val="accent5">
                                  <a:lumMod val="75000"/>
                                </a:schemeClr>
                              </a:solidFill>
                              <a:latin typeface="Cambria Math" panose="02040503050406030204" pitchFamily="18" charset="0"/>
                            </a:rPr>
                          </m:ctrlPr>
                        </m:fPr>
                        <m:num>
                          <m:r>
                            <m:rPr>
                              <m:sty m:val="p"/>
                            </m:rPr>
                            <a:rPr lang="en-GB" sz="1200">
                              <a:solidFill>
                                <a:schemeClr val="accent5">
                                  <a:lumMod val="75000"/>
                                </a:schemeClr>
                              </a:solidFill>
                              <a:latin typeface="Cambria Math" panose="02040503050406030204" pitchFamily="18" charset="0"/>
                            </a:rPr>
                            <m:t>Current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Assets</m:t>
                          </m:r>
                        </m:num>
                        <m:den>
                          <m:r>
                            <m:rPr>
                              <m:sty m:val="p"/>
                            </m:rPr>
                            <a:rPr lang="en-GB" sz="1200">
                              <a:solidFill>
                                <a:schemeClr val="accent5">
                                  <a:lumMod val="75000"/>
                                </a:schemeClr>
                              </a:solidFill>
                              <a:latin typeface="Cambria Math" panose="02040503050406030204" pitchFamily="18" charset="0"/>
                            </a:rPr>
                            <m:t>Current</m:t>
                          </m:r>
                          <m:r>
                            <a:rPr lang="en-GB" sz="1200">
                              <a:solidFill>
                                <a:schemeClr val="accent5">
                                  <a:lumMod val="75000"/>
                                </a:schemeClr>
                              </a:solidFill>
                              <a:latin typeface="Cambria Math" panose="02040503050406030204" pitchFamily="18" charset="0"/>
                            </a:rPr>
                            <m:t> </m:t>
                          </m:r>
                          <m:r>
                            <m:rPr>
                              <m:sty m:val="p"/>
                            </m:rPr>
                            <a:rPr lang="en-GB" sz="1200">
                              <a:solidFill>
                                <a:schemeClr val="accent5">
                                  <a:lumMod val="75000"/>
                                </a:schemeClr>
                              </a:solidFill>
                              <a:latin typeface="Cambria Math" panose="02040503050406030204" pitchFamily="18" charset="0"/>
                            </a:rPr>
                            <m:t>Liabilities</m:t>
                          </m:r>
                        </m:den>
                      </m:f>
                      <m:r>
                        <a:rPr lang="en-GB" sz="1200" i="1">
                          <a:solidFill>
                            <a:schemeClr val="accent5">
                              <a:lumMod val="75000"/>
                            </a:schemeClr>
                          </a:solidFill>
                          <a:latin typeface="Cambria Math" panose="02040503050406030204" pitchFamily="18" charset="0"/>
                        </a:rPr>
                        <m:t>=</m:t>
                      </m:r>
                      <m:f>
                        <m:fPr>
                          <m:ctrlPr>
                            <a:rPr lang="en-GB" sz="1200" i="1">
                              <a:solidFill>
                                <a:schemeClr val="accent1"/>
                              </a:solidFill>
                              <a:latin typeface="Cambria Math" panose="02040503050406030204" pitchFamily="18" charset="0"/>
                            </a:rPr>
                          </m:ctrlPr>
                        </m:fPr>
                        <m:num>
                          <m:r>
                            <a:rPr lang="en-GB" sz="1200" i="1">
                              <a:solidFill>
                                <a:schemeClr val="accent1"/>
                              </a:solidFill>
                              <a:latin typeface="Cambria Math" panose="02040503050406030204" pitchFamily="18" charset="0"/>
                            </a:rPr>
                            <m:t>1322</m:t>
                          </m:r>
                        </m:num>
                        <m:den>
                          <m:r>
                            <a:rPr lang="en-GB" sz="1200" i="1">
                              <a:solidFill>
                                <a:schemeClr val="accent1"/>
                              </a:solidFill>
                              <a:latin typeface="Cambria Math" panose="02040503050406030204" pitchFamily="18" charset="0"/>
                            </a:rPr>
                            <m:t>3396</m:t>
                          </m:r>
                        </m:den>
                      </m:f>
                      <m:r>
                        <a:rPr lang="en-GB" sz="1200" i="1">
                          <a:solidFill>
                            <a:schemeClr val="accent1"/>
                          </a:solidFill>
                          <a:latin typeface="Cambria Math" panose="02040503050406030204" pitchFamily="18" charset="0"/>
                        </a:rPr>
                        <m:t>=0.39 </m:t>
                      </m:r>
                      <m:r>
                        <a:rPr lang="en-GB" sz="1200" i="1">
                          <a:solidFill>
                            <a:schemeClr val="accent5">
                              <a:lumMod val="75000"/>
                            </a:schemeClr>
                          </a:solidFill>
                          <a:latin typeface="Cambria Math" panose="02040503050406030204" pitchFamily="18" charset="0"/>
                        </a:rPr>
                        <m:t>𝑣𝑠</m:t>
                      </m:r>
                      <m:r>
                        <a:rPr lang="en-GB" sz="1200" i="1">
                          <a:solidFill>
                            <a:schemeClr val="accent5">
                              <a:lumMod val="75000"/>
                            </a:schemeClr>
                          </a:solidFill>
                          <a:latin typeface="Cambria Math" panose="02040503050406030204" pitchFamily="18" charset="0"/>
                        </a:rPr>
                        <m:t> 0.63</m:t>
                      </m:r>
                    </m:oMath>
                  </m:oMathPara>
                </a14:m>
                <a:endParaRPr lang="en-GB" sz="1200" dirty="0">
                  <a:solidFill>
                    <a:schemeClr val="accent6"/>
                  </a:solidFill>
                </a:endParaRPr>
              </a:p>
              <a:p>
                <a:pPr marL="0" indent="0">
                  <a:spcBef>
                    <a:spcPts val="1013"/>
                  </a:spcBef>
                  <a:buClr>
                    <a:srgbClr val="C00000"/>
                  </a:buClr>
                  <a:buNone/>
                  <a:tabLst>
                    <a:tab pos="654547" algn="l"/>
                  </a:tabLst>
                </a:pPr>
                <a:endParaRPr lang="en-GB" sz="1200" dirty="0">
                  <a:solidFill>
                    <a:schemeClr val="accent6"/>
                  </a:solidFill>
                </a:endParaRPr>
              </a:p>
              <a:p>
                <a:pPr marL="0" indent="0">
                  <a:spcBef>
                    <a:spcPts val="338"/>
                  </a:spcBef>
                  <a:buClr>
                    <a:srgbClr val="C00000"/>
                  </a:buClr>
                  <a:buNone/>
                  <a:tabLst>
                    <a:tab pos="502742" algn="l"/>
                  </a:tabLst>
                </a:pPr>
                <a:r>
                  <a:rPr lang="en-GB" sz="1200" dirty="0">
                    <a:solidFill>
                      <a:schemeClr val="tx2">
                        <a:lumMod val="60000"/>
                        <a:lumOff val="40000"/>
                      </a:schemeClr>
                    </a:solidFill>
                  </a:rPr>
                  <a:t>Morrison’s current ratio is 0.39 </a:t>
                </a:r>
                <a14:m>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oMath>
                </a14:m>
                <a:r>
                  <a:rPr lang="en-GB" sz="1200" dirty="0">
                    <a:solidFill>
                      <a:schemeClr val="accent5">
                        <a:lumMod val="75000"/>
                      </a:schemeClr>
                    </a:solidFill>
                  </a:rPr>
                  <a:t> </a:t>
                </a:r>
                <a:r>
                  <a:rPr lang="en-GB" sz="1200" dirty="0"/>
                  <a:t>For each £1 in current liabilities, Morrison’s has £0.39 to pay off its debt. </a:t>
                </a:r>
              </a:p>
              <a:p>
                <a:pPr marL="0" indent="0">
                  <a:spcBef>
                    <a:spcPts val="338"/>
                  </a:spcBef>
                  <a:buClr>
                    <a:srgbClr val="C00000"/>
                  </a:buClr>
                  <a:buNone/>
                  <a:tabLst>
                    <a:tab pos="502742" algn="l"/>
                  </a:tabLst>
                </a:pPr>
                <a:r>
                  <a:rPr lang="en-GB" sz="1200" dirty="0">
                    <a:solidFill>
                      <a:schemeClr val="accent6"/>
                    </a:solidFill>
                  </a:rPr>
                  <a:t>Sainsbury’s current ratio 0.63 </a:t>
                </a:r>
                <a14:m>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oMath>
                </a14:m>
                <a:r>
                  <a:rPr lang="en-GB" sz="1200" dirty="0">
                    <a:solidFill>
                      <a:schemeClr val="accent5">
                        <a:lumMod val="75000"/>
                      </a:schemeClr>
                    </a:solidFill>
                  </a:rPr>
                  <a:t> </a:t>
                </a:r>
                <a:r>
                  <a:rPr lang="en-GB" sz="1200" dirty="0"/>
                  <a:t>For each £1 in current liabilities, </a:t>
                </a:r>
                <a:r>
                  <a:rPr lang="en-GB" sz="1200" dirty="0">
                    <a:solidFill>
                      <a:schemeClr val="accent6"/>
                    </a:solidFill>
                  </a:rPr>
                  <a:t>Sainsbury’s</a:t>
                </a:r>
                <a:r>
                  <a:rPr lang="en-GB" sz="1200" dirty="0"/>
                  <a:t> has £0.63 to pay off its debt. </a:t>
                </a:r>
              </a:p>
              <a:p>
                <a:pPr marL="0" indent="0">
                  <a:spcBef>
                    <a:spcPts val="338"/>
                  </a:spcBef>
                  <a:buClr>
                    <a:srgbClr val="C00000"/>
                  </a:buClr>
                  <a:buNone/>
                  <a:tabLst>
                    <a:tab pos="502742" algn="l"/>
                  </a:tabLst>
                </a:pPr>
                <a14:m>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 </m:t>
                    </m:r>
                  </m:oMath>
                </a14:m>
                <a:r>
                  <a:rPr lang="en-GB" sz="1200" dirty="0"/>
                  <a:t>Therefore, Sainsbury’s current ratio is higher than Morrison’s, which means its liquidity is better.</a:t>
                </a:r>
              </a:p>
              <a:p>
                <a:pPr marL="0" indent="0">
                  <a:spcBef>
                    <a:spcPts val="1013"/>
                  </a:spcBef>
                  <a:buClr>
                    <a:srgbClr val="C00000"/>
                  </a:buClr>
                  <a:buNone/>
                  <a:tabLst>
                    <a:tab pos="654547" algn="l"/>
                  </a:tabLst>
                </a:pPr>
                <a:endParaRPr lang="en-GB" sz="825" dirty="0">
                  <a:solidFill>
                    <a:srgbClr val="7030A0"/>
                  </a:solidFill>
                </a:endParaRPr>
              </a:p>
            </p:txBody>
          </p:sp>
        </mc:Choice>
        <mc:Fallback>
          <p:sp>
            <p:nvSpPr>
              <p:cNvPr id="3" name="Content Placeholder 2">
                <a:extLst>
                  <a:ext uri="{FF2B5EF4-FFF2-40B4-BE49-F238E27FC236}">
                    <a16:creationId xmlns:a16="http://schemas.microsoft.com/office/drawing/2014/main" id="{DDAA1D26-0822-647E-7D8D-BD65EFC4786A}"/>
                  </a:ext>
                </a:extLst>
              </p:cNvPr>
              <p:cNvSpPr txBox="1">
                <a:spLocks noRot="1" noChangeAspect="1" noMove="1" noResize="1" noEditPoints="1" noAdjustHandles="1" noChangeArrowheads="1" noChangeShapeType="1" noTextEdit="1"/>
              </p:cNvSpPr>
              <p:nvPr/>
            </p:nvSpPr>
            <p:spPr>
              <a:xfrm>
                <a:off x="827584" y="1466782"/>
                <a:ext cx="7704856" cy="1242138"/>
              </a:xfrm>
              <a:blipFill>
                <a:blip r:embed="rId7"/>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2215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741980" y="572741"/>
            <a:ext cx="6135152" cy="674191"/>
          </a:xfrm>
        </p:spPr>
        <p:txBody>
          <a:bodyPr/>
          <a:lstStyle/>
          <a:p>
            <a:r>
              <a:rPr lang="en-GB" sz="4600" b="1" dirty="0">
                <a:latin typeface="Arial" panose="020B0604020202020204" pitchFamily="34" charset="0"/>
                <a:cs typeface="Arial" panose="020B0604020202020204" pitchFamily="34" charset="0"/>
              </a:rPr>
              <a:t>Liquidity Ratios</a:t>
            </a:r>
          </a:p>
          <a:p>
            <a:endParaRPr lang="en-GB" sz="3000" b="1" dirty="0">
              <a:solidFill>
                <a:schemeClr val="tx1"/>
              </a:solidFill>
              <a:latin typeface="Arial" panose="020B0604020202020204" pitchFamily="34" charset="0"/>
              <a:ea typeface="ＭＳ Ｐゴシック" charset="0"/>
              <a:cs typeface="Arial" panose="020B0604020202020204" pitchFamily="34" charset="0"/>
            </a:endParaRPr>
          </a:p>
        </p:txBody>
      </p:sp>
      <p:sp>
        <p:nvSpPr>
          <p:cNvPr id="5" name="Rectangle 4"/>
          <p:cNvSpPr/>
          <p:nvPr/>
        </p:nvSpPr>
        <p:spPr>
          <a:xfrm>
            <a:off x="957128" y="4149080"/>
            <a:ext cx="7704856" cy="584775"/>
          </a:xfrm>
          <a:prstGeom prst="rect">
            <a:avLst/>
          </a:prstGeom>
        </p:spPr>
        <p:txBody>
          <a:bodyPr wrap="square">
            <a:spAutoFit/>
          </a:bodyPr>
          <a:lstStyle/>
          <a:p>
            <a:pPr marL="365760" indent="-256032" eaLnBrk="1" hangingPunct="1">
              <a:spcBef>
                <a:spcPts val="400"/>
              </a:spcBef>
              <a:spcAft>
                <a:spcPts val="0"/>
              </a:spcAft>
              <a:buClr>
                <a:schemeClr val="accent1"/>
              </a:buClr>
              <a:buSzPct val="68000"/>
              <a:buNone/>
            </a:pPr>
            <a:r>
              <a:rPr lang="en-GB" sz="3200" dirty="0">
                <a:latin typeface="+mn-lt"/>
                <a:ea typeface="+mn-ea"/>
              </a:rPr>
              <a:t>	</a:t>
            </a:r>
          </a:p>
        </p:txBody>
      </p:sp>
      <p:graphicFrame>
        <p:nvGraphicFramePr>
          <p:cNvPr id="7" name="Object 3">
            <a:extLst>
              <a:ext uri="{FF2B5EF4-FFF2-40B4-BE49-F238E27FC236}">
                <a16:creationId xmlns:a16="http://schemas.microsoft.com/office/drawing/2014/main" id="{75DBE47B-9A3D-4929-8DE3-0B509E0468D1}"/>
              </a:ext>
            </a:extLst>
          </p:cNvPr>
          <p:cNvGraphicFramePr>
            <a:graphicFrameLocks noGrp="1" noChangeAspect="1"/>
          </p:cNvGraphicFramePr>
          <p:nvPr>
            <p:ph type="tbl" idx="1"/>
          </p:nvPr>
        </p:nvGraphicFramePr>
        <p:xfrm>
          <a:off x="481013" y="1879600"/>
          <a:ext cx="7943850" cy="4132263"/>
        </p:xfrm>
        <a:graphic>
          <a:graphicData uri="http://schemas.openxmlformats.org/presentationml/2006/ole">
            <mc:AlternateContent xmlns:mc="http://schemas.openxmlformats.org/markup-compatibility/2006">
              <mc:Choice xmlns:v="urn:schemas-microsoft-com:vml" Requires="v">
                <p:oleObj name="Document" r:id="rId2" imgW="8162383" imgH="4245932" progId="Word.Document.8">
                  <p:embed/>
                </p:oleObj>
              </mc:Choice>
              <mc:Fallback>
                <p:oleObj name="Document" r:id="rId2" imgW="8162383" imgH="4245932" progId="Word.Document.8">
                  <p:embed/>
                  <p:pic>
                    <p:nvPicPr>
                      <p:cNvPr id="7" name="Object 3">
                        <a:extLst>
                          <a:ext uri="{FF2B5EF4-FFF2-40B4-BE49-F238E27FC236}">
                            <a16:creationId xmlns:a16="http://schemas.microsoft.com/office/drawing/2014/main" id="{75DBE47B-9A3D-4929-8DE3-0B509E0468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1879600"/>
                        <a:ext cx="7943850" cy="413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258576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92176" y="332656"/>
            <a:ext cx="6955086" cy="1366120"/>
          </a:xfrm>
        </p:spPr>
        <p:txBody>
          <a:bodyPr/>
          <a:lstStyle/>
          <a:p>
            <a:pPr algn="ctr"/>
            <a:r>
              <a:rPr lang="en-GB" b="1" dirty="0">
                <a:latin typeface="Arial" panose="020B0604020202020204" pitchFamily="34" charset="0"/>
                <a:cs typeface="Arial" panose="020B0604020202020204" pitchFamily="34" charset="0"/>
              </a:rPr>
              <a:t>Summary of Liquidity Ratios </a:t>
            </a:r>
          </a:p>
        </p:txBody>
      </p:sp>
      <p:sp>
        <p:nvSpPr>
          <p:cNvPr id="6" name="Rectangle 3">
            <a:extLst>
              <a:ext uri="{FF2B5EF4-FFF2-40B4-BE49-F238E27FC236}">
                <a16:creationId xmlns:a16="http://schemas.microsoft.com/office/drawing/2014/main" id="{E5A88EB5-8D45-423A-B2BF-6104ACA40A0D}"/>
              </a:ext>
            </a:extLst>
          </p:cNvPr>
          <p:cNvSpPr txBox="1">
            <a:spLocks noRot="1" noChangeArrowheads="1"/>
          </p:cNvSpPr>
          <p:nvPr/>
        </p:nvSpPr>
        <p:spPr>
          <a:xfrm>
            <a:off x="301625" y="1760138"/>
            <a:ext cx="8540750" cy="4422775"/>
          </a:xfrm>
          <a:prstGeom prst="rect">
            <a:avLst/>
          </a:prstGeom>
        </p:spPr>
        <p:txBody>
          <a:bodyPr/>
          <a:lstStyle>
            <a:lvl1pPr marL="454025" indent="-454025" algn="l" defTabSz="606425"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algn="just" eaLnBrk="1" hangingPunct="1">
              <a:defRPr/>
            </a:pPr>
            <a:r>
              <a:rPr lang="en-GB" sz="2800" dirty="0">
                <a:latin typeface="Arial" panose="020B0604020202020204" pitchFamily="34" charset="0"/>
                <a:cs typeface="Arial" panose="020B0604020202020204" pitchFamily="34" charset="0"/>
              </a:rPr>
              <a:t>There appears to have been an alarming decline in liquidity.</a:t>
            </a:r>
          </a:p>
          <a:p>
            <a:pPr algn="just" eaLnBrk="1" hangingPunct="1">
              <a:defRPr/>
            </a:pPr>
            <a:r>
              <a:rPr lang="en-GB" sz="2800" dirty="0">
                <a:latin typeface="Arial" panose="020B0604020202020204" pitchFamily="34" charset="0"/>
                <a:cs typeface="Arial" panose="020B0604020202020204" pitchFamily="34" charset="0"/>
              </a:rPr>
              <a:t>This may be planned and linked to expansion in non-current assets. </a:t>
            </a:r>
          </a:p>
          <a:p>
            <a:pPr algn="just" eaLnBrk="1" hangingPunct="1">
              <a:defRPr/>
            </a:pPr>
            <a:r>
              <a:rPr lang="en-GB" sz="2800" dirty="0">
                <a:latin typeface="Arial" panose="020B0604020202020204" pitchFamily="34" charset="0"/>
                <a:cs typeface="Arial" panose="020B0604020202020204" pitchFamily="34" charset="0"/>
              </a:rPr>
              <a:t>Liquidity may improve in the future but in the mean time creditors may become anxious.</a:t>
            </a:r>
          </a:p>
          <a:p>
            <a:pPr algn="just" eaLnBrk="1" hangingPunct="1">
              <a:defRPr/>
            </a:pPr>
            <a:r>
              <a:rPr lang="en-GB" sz="2800" dirty="0">
                <a:latin typeface="Arial" panose="020B0604020202020204" pitchFamily="34" charset="0"/>
                <a:cs typeface="Arial" panose="020B0604020202020204" pitchFamily="34" charset="0"/>
              </a:rPr>
              <a:t>This anxiety could lead to problems that may cause further problems for Alexis.</a:t>
            </a:r>
          </a:p>
          <a:p>
            <a:pPr algn="just" eaLnBrk="1" hangingPunct="1">
              <a:defRPr/>
            </a:pPr>
            <a:r>
              <a:rPr lang="en-GB" sz="2800" dirty="0">
                <a:latin typeface="Arial" panose="020B0604020202020204" pitchFamily="34" charset="0"/>
                <a:cs typeface="Arial" panose="020B0604020202020204" pitchFamily="34" charset="0"/>
              </a:rPr>
              <a:t>Falling liquidity could be a sign of </a:t>
            </a:r>
            <a:r>
              <a:rPr lang="en-GB" sz="2800" b="1" dirty="0">
                <a:latin typeface="Arial" panose="020B0604020202020204" pitchFamily="34" charset="0"/>
                <a:cs typeface="Arial" panose="020B0604020202020204" pitchFamily="34" charset="0"/>
              </a:rPr>
              <a:t>overtrading.</a:t>
            </a:r>
            <a:endParaRPr 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96893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76FC4E-C423-43DD-A063-DA6203B5DAAC}"/>
              </a:ext>
            </a:extLst>
          </p:cNvPr>
          <p:cNvSpPr>
            <a:spLocks noGrp="1"/>
          </p:cNvSpPr>
          <p:nvPr>
            <p:ph type="body" sz="quarter" idx="10"/>
          </p:nvPr>
        </p:nvSpPr>
        <p:spPr>
          <a:xfrm>
            <a:off x="892176" y="332656"/>
            <a:ext cx="7784280" cy="1366120"/>
          </a:xfrm>
        </p:spPr>
        <p:txBody>
          <a:bodyPr/>
          <a:lstStyle/>
          <a:p>
            <a:r>
              <a:rPr lang="en-GB" sz="3600" b="1" dirty="0">
                <a:latin typeface="Arial" panose="020B0604020202020204" pitchFamily="34" charset="0"/>
                <a:cs typeface="Arial" panose="020B0604020202020204" pitchFamily="34" charset="0"/>
              </a:rPr>
              <a:t>Sector Examples of CR and ATR</a:t>
            </a:r>
          </a:p>
        </p:txBody>
      </p:sp>
      <p:graphicFrame>
        <p:nvGraphicFramePr>
          <p:cNvPr id="5" name="Object 4">
            <a:extLst>
              <a:ext uri="{FF2B5EF4-FFF2-40B4-BE49-F238E27FC236}">
                <a16:creationId xmlns:a16="http://schemas.microsoft.com/office/drawing/2014/main" id="{7C98659F-D764-4E07-9818-B591DF9C78F9}"/>
              </a:ext>
            </a:extLst>
          </p:cNvPr>
          <p:cNvGraphicFramePr>
            <a:graphicFrameLocks noChangeAspect="1"/>
          </p:cNvGraphicFramePr>
          <p:nvPr>
            <p:extLst>
              <p:ext uri="{D42A27DB-BD31-4B8C-83A1-F6EECF244321}">
                <p14:modId xmlns:p14="http://schemas.microsoft.com/office/powerpoint/2010/main" val="3290289506"/>
              </p:ext>
            </p:extLst>
          </p:nvPr>
        </p:nvGraphicFramePr>
        <p:xfrm>
          <a:off x="301625" y="1726824"/>
          <a:ext cx="8540750" cy="4418012"/>
        </p:xfrm>
        <a:graphic>
          <a:graphicData uri="http://schemas.openxmlformats.org/presentationml/2006/ole">
            <mc:AlternateContent xmlns:mc="http://schemas.openxmlformats.org/markup-compatibility/2006">
              <mc:Choice xmlns:v="urn:schemas-microsoft-com:vml" Requires="v">
                <p:oleObj name="Chart" r:id="rId2" imgW="8543849" imgH="4419600" progId="MSGraph.Chart.8">
                  <p:embed followColorScheme="full"/>
                </p:oleObj>
              </mc:Choice>
              <mc:Fallback>
                <p:oleObj name="Chart" r:id="rId2" imgW="8543849" imgH="4419600" progId="MSGraph.Chart.8">
                  <p:embed followColorScheme="full"/>
                  <p:pic>
                    <p:nvPicPr>
                      <p:cNvPr id="5" name="Object 4">
                        <a:extLst>
                          <a:ext uri="{FF2B5EF4-FFF2-40B4-BE49-F238E27FC236}">
                            <a16:creationId xmlns:a16="http://schemas.microsoft.com/office/drawing/2014/main" id="{7C98659F-D764-4E07-9818-B591DF9C78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 y="1726824"/>
                        <a:ext cx="8540750" cy="441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6802633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F1C29-0FCD-FD0D-B953-8A3BA84C7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5B92F-04CF-0225-0903-2005B328A7EB}"/>
              </a:ext>
            </a:extLst>
          </p:cNvPr>
          <p:cNvSpPr>
            <a:spLocks noGrp="1"/>
          </p:cNvSpPr>
          <p:nvPr>
            <p:ph type="title"/>
          </p:nvPr>
        </p:nvSpPr>
        <p:spPr>
          <a:xfrm>
            <a:off x="467544" y="404664"/>
            <a:ext cx="8208912" cy="980139"/>
          </a:xfrm>
        </p:spPr>
        <p:txBody>
          <a:bodyPr>
            <a:normAutofit/>
          </a:bodyPr>
          <a:lstStyle/>
          <a:p>
            <a:pPr algn="l"/>
            <a:r>
              <a:rPr lang="en-GB" sz="4700" b="1" dirty="0">
                <a:solidFill>
                  <a:srgbClr val="16818D"/>
                </a:solidFill>
                <a:latin typeface="Arial" panose="020B0604020202020204" pitchFamily="34" charset="0"/>
                <a:cs typeface="Arial" panose="020B0604020202020204" pitchFamily="34" charset="0"/>
              </a:rPr>
              <a:t>Efficiency Ratios</a:t>
            </a:r>
          </a:p>
        </p:txBody>
      </p:sp>
      <p:sp>
        <p:nvSpPr>
          <p:cNvPr id="7" name="Content Placeholder 6">
            <a:extLst>
              <a:ext uri="{FF2B5EF4-FFF2-40B4-BE49-F238E27FC236}">
                <a16:creationId xmlns:a16="http://schemas.microsoft.com/office/drawing/2014/main" id="{F70BBFAD-302A-F15D-B168-9DDFF7C29770}"/>
              </a:ext>
            </a:extLst>
          </p:cNvPr>
          <p:cNvSpPr>
            <a:spLocks noGrp="1"/>
          </p:cNvSpPr>
          <p:nvPr>
            <p:ph idx="1"/>
          </p:nvPr>
        </p:nvSpPr>
        <p:spPr/>
        <p:txBody>
          <a:bodyPr/>
          <a:lstStyle/>
          <a:p>
            <a:pPr marL="0" indent="0">
              <a:buNone/>
            </a:pPr>
            <a:r>
              <a:rPr lang="en-GB"/>
              <a:t> </a:t>
            </a:r>
          </a:p>
        </p:txBody>
      </p:sp>
      <p:sp>
        <p:nvSpPr>
          <p:cNvPr id="4" name="Slide Number Placeholder 3">
            <a:extLst>
              <a:ext uri="{FF2B5EF4-FFF2-40B4-BE49-F238E27FC236}">
                <a16:creationId xmlns:a16="http://schemas.microsoft.com/office/drawing/2014/main" id="{1D90AAA4-CF40-1E21-1ED1-0FA2DDE11F4F}"/>
              </a:ext>
            </a:extLst>
          </p:cNvPr>
          <p:cNvSpPr>
            <a:spLocks noGrp="1"/>
          </p:cNvSpPr>
          <p:nvPr>
            <p:ph type="sldNum" sz="quarter" idx="12"/>
          </p:nvPr>
        </p:nvSpPr>
        <p:spPr>
          <a:xfrm>
            <a:off x="7546177" y="5140274"/>
            <a:ext cx="509600" cy="332922"/>
          </a:xfrm>
          <a:ln w="12700"/>
        </p:spPr>
        <p:txBody>
          <a:bodyPr/>
          <a:lstStyle/>
          <a:p>
            <a:fld id="{0F99C4FB-888A-4D12-A1C4-C744D94026CD}" type="slidenum">
              <a:rPr lang="en-GB" sz="1013">
                <a:solidFill>
                  <a:schemeClr val="tx1">
                    <a:lumMod val="50000"/>
                    <a:lumOff val="50000"/>
                  </a:schemeClr>
                </a:solidFill>
              </a:rPr>
              <a:t>13</a:t>
            </a:fld>
            <a:endParaRPr lang="en-GB" sz="1013">
              <a:solidFill>
                <a:schemeClr val="tx1">
                  <a:lumMod val="50000"/>
                  <a:lumOff val="50000"/>
                </a:schemeClr>
              </a:solidFill>
            </a:endParaRPr>
          </a:p>
        </p:txBody>
      </p:sp>
      <p:sp>
        <p:nvSpPr>
          <p:cNvPr id="9" name="TextBox 8">
            <a:extLst>
              <a:ext uri="{FF2B5EF4-FFF2-40B4-BE49-F238E27FC236}">
                <a16:creationId xmlns:a16="http://schemas.microsoft.com/office/drawing/2014/main" id="{6D017339-DDF4-0142-2143-176F22DCB94F}"/>
              </a:ext>
            </a:extLst>
          </p:cNvPr>
          <p:cNvSpPr txBox="1"/>
          <p:nvPr/>
        </p:nvSpPr>
        <p:spPr>
          <a:xfrm>
            <a:off x="899592" y="1556792"/>
            <a:ext cx="7344816" cy="4616648"/>
          </a:xfrm>
          <a:prstGeom prst="rect">
            <a:avLst/>
          </a:prstGeom>
          <a:noFill/>
        </p:spPr>
        <p:txBody>
          <a:bodyPr wrap="square">
            <a:spAutoFit/>
          </a:bodyPr>
          <a:lstStyle/>
          <a:p>
            <a:r>
              <a:rPr lang="en-GB" sz="1200" b="1" dirty="0">
                <a:latin typeface="Arial" panose="020B0604020202020204" pitchFamily="34" charset="0"/>
                <a:cs typeface="Arial" panose="020B0604020202020204" pitchFamily="34" charset="0"/>
              </a:rPr>
              <a:t>Average inventories turnover period (days)</a:t>
            </a:r>
          </a:p>
          <a:p>
            <a:pPr marL="0" lvl="1" indent="0" algn="just"/>
            <a:r>
              <a:rPr lang="en-GB" sz="1200" dirty="0">
                <a:latin typeface="Arial" panose="020B0604020202020204" pitchFamily="34" charset="0"/>
                <a:cs typeface="Arial" panose="020B0604020202020204" pitchFamily="34" charset="0"/>
              </a:rPr>
              <a:t>This ratio measures the average period for which inventories are being held. A business would normally prefer a short turnover period as it often a significant investment for a business.</a:t>
            </a:r>
          </a:p>
          <a:p>
            <a:pPr marL="0" lvl="1" indent="0" algn="just"/>
            <a:endParaRPr lang="en-GB" sz="1200" dirty="0">
              <a:latin typeface="Arial" panose="020B0604020202020204" pitchFamily="34" charset="0"/>
              <a:cs typeface="Arial" panose="020B0604020202020204" pitchFamily="34" charset="0"/>
            </a:endParaRPr>
          </a:p>
          <a:p>
            <a:pPr indent="-369888"/>
            <a:r>
              <a:rPr lang="en-GB" sz="1200" b="1" dirty="0">
                <a:latin typeface="Arial" panose="020B0604020202020204" pitchFamily="34" charset="0"/>
                <a:cs typeface="Arial" panose="020B0604020202020204" pitchFamily="34" charset="0"/>
              </a:rPr>
              <a:t>Average settlement period for trade receivables (days)</a:t>
            </a:r>
          </a:p>
          <a:p>
            <a:pPr algn="just"/>
            <a:r>
              <a:rPr lang="en-GB" sz="1200" dirty="0">
                <a:latin typeface="Arial" panose="020B0604020202020204" pitchFamily="34" charset="0"/>
                <a:cs typeface="Arial" panose="020B0604020202020204" pitchFamily="34" charset="0"/>
              </a:rPr>
              <a:t>This ratio calculates how long, on average, credit customers take to pay the amounts they owe to a business. A business would normally prefer a shorter period. Except for retailers, selling on credit is the norm. Speed of payment can have a significant effect on cash flow</a:t>
            </a:r>
          </a:p>
          <a:p>
            <a:pPr algn="just"/>
            <a:endParaRPr lang="en-GB" sz="1200" dirty="0">
              <a:latin typeface="Arial" panose="020B0604020202020204" pitchFamily="34" charset="0"/>
              <a:cs typeface="Arial" panose="020B0604020202020204" pitchFamily="34" charset="0"/>
            </a:endParaRPr>
          </a:p>
          <a:p>
            <a:pPr algn="just"/>
            <a:r>
              <a:rPr lang="en-GB" sz="1200" b="1" dirty="0">
                <a:latin typeface="Arial" panose="020B0604020202020204" pitchFamily="34" charset="0"/>
                <a:cs typeface="Arial" panose="020B0604020202020204" pitchFamily="34" charset="0"/>
              </a:rPr>
              <a:t>Average settlement period for trade payables</a:t>
            </a:r>
          </a:p>
          <a:p>
            <a:pPr algn="just"/>
            <a:r>
              <a:rPr lang="en-GB" sz="1200" dirty="0">
                <a:latin typeface="Arial" panose="020B0604020202020204" pitchFamily="34" charset="0"/>
                <a:cs typeface="Arial" panose="020B0604020202020204" pitchFamily="34" charset="0"/>
              </a:rPr>
              <a:t>This ratio measures how long, on average, a business takes to pay those who have supplied goods and services on credit. Trade payables provide a free source of finance, therefore some businesses attempt to increase this ratio. Beware a loss of goodwill of suppliers </a:t>
            </a:r>
          </a:p>
          <a:p>
            <a:pPr algn="just"/>
            <a:endParaRPr lang="en-GB" sz="1200" dirty="0">
              <a:latin typeface="Arial" panose="020B0604020202020204" pitchFamily="34" charset="0"/>
              <a:cs typeface="Arial" panose="020B0604020202020204" pitchFamily="34" charset="0"/>
            </a:endParaRPr>
          </a:p>
          <a:p>
            <a:pPr algn="just"/>
            <a:r>
              <a:rPr lang="en-GB" sz="1200" b="1" dirty="0">
                <a:latin typeface="Arial" panose="020B0604020202020204" pitchFamily="34" charset="0"/>
                <a:cs typeface="Arial" panose="020B0604020202020204" pitchFamily="34" charset="0"/>
              </a:rPr>
              <a:t>Sales revenue to capital employed</a:t>
            </a:r>
          </a:p>
          <a:p>
            <a:pPr algn="just"/>
            <a:r>
              <a:rPr lang="en-GB" sz="1200" dirty="0">
                <a:latin typeface="Arial" panose="020B0604020202020204" pitchFamily="34" charset="0"/>
                <a:cs typeface="Arial" panose="020B0604020202020204" pitchFamily="34" charset="0"/>
              </a:rPr>
              <a:t>How effectively the assets of the business are being used to generate sales revenue. Generally, a higher ratio is preferred as this suggests that assets are being used more productively in the generation of revenue. However, a very high ratio may indicate ‘overtrading on its assets’.</a:t>
            </a:r>
          </a:p>
          <a:p>
            <a:pPr algn="just"/>
            <a:endParaRPr lang="en-GB" sz="1200" b="1" dirty="0">
              <a:latin typeface="Arial" panose="020B0604020202020204" pitchFamily="34" charset="0"/>
              <a:cs typeface="Arial" panose="020B0604020202020204" pitchFamily="34" charset="0"/>
            </a:endParaRPr>
          </a:p>
          <a:p>
            <a:pPr algn="just"/>
            <a:endParaRPr lang="en-GB" sz="1200" dirty="0">
              <a:latin typeface="Arial" panose="020B0604020202020204" pitchFamily="34" charset="0"/>
              <a:cs typeface="Arial" panose="020B0604020202020204" pitchFamily="34" charset="0"/>
            </a:endParaRPr>
          </a:p>
          <a:p>
            <a:pPr algn="just"/>
            <a:endParaRPr lang="en-GB" sz="1200" dirty="0">
              <a:latin typeface="Arial" panose="020B0604020202020204" pitchFamily="34" charset="0"/>
              <a:cs typeface="Arial" panose="020B0604020202020204" pitchFamily="34" charset="0"/>
            </a:endParaRPr>
          </a:p>
          <a:p>
            <a:pPr marL="85725" lvl="1" indent="0" algn="just"/>
            <a:endParaRPr lang="en-GB" sz="1200" b="1" dirty="0">
              <a:latin typeface="Arial" panose="020B0604020202020204" pitchFamily="34" charset="0"/>
              <a:cs typeface="Arial" panose="020B0604020202020204" pitchFamily="34" charset="0"/>
            </a:endParaRPr>
          </a:p>
          <a:p>
            <a:pPr marL="542925" lvl="1"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a:p>
            <a:pPr algn="ctr"/>
            <a:r>
              <a:rPr lang="en-GB"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89108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59E76A-A4C5-D81F-3870-FBEE7B9913B5}"/>
              </a:ext>
            </a:extLst>
          </p:cNvPr>
          <p:cNvSpPr>
            <a:spLocks noGrp="1"/>
          </p:cNvSpPr>
          <p:nvPr>
            <p:ph type="body" sz="quarter" idx="10"/>
          </p:nvPr>
        </p:nvSpPr>
        <p:spPr>
          <a:xfrm>
            <a:off x="864070" y="560968"/>
            <a:ext cx="6515621" cy="1366120"/>
          </a:xfrm>
        </p:spPr>
        <p:txBody>
          <a:bodyPr/>
          <a:lstStyle/>
          <a:p>
            <a:pPr>
              <a:spcBef>
                <a:spcPct val="0"/>
              </a:spcBef>
            </a:pPr>
            <a:r>
              <a:rPr lang="en-GB" sz="4700" b="1" dirty="0">
                <a:latin typeface="Arial" panose="020B0604020202020204" pitchFamily="34" charset="0"/>
                <a:ea typeface="ＭＳ Ｐゴシック" charset="0"/>
                <a:cs typeface="Arial" panose="020B0604020202020204" pitchFamily="34" charset="0"/>
              </a:rPr>
              <a:t>EFFICIENCY RATIOS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B8F4432-9517-1F65-2F01-6E286BF4A42E}"/>
                  </a:ext>
                </a:extLst>
              </p:cNvPr>
              <p:cNvSpPr txBox="1"/>
              <p:nvPr/>
            </p:nvSpPr>
            <p:spPr>
              <a:xfrm>
                <a:off x="899590" y="1962484"/>
                <a:ext cx="5958409" cy="385170"/>
              </a:xfrm>
              <a:prstGeom prst="rect">
                <a:avLst/>
              </a:prstGeom>
              <a:noFill/>
            </p:spPr>
            <p:txBody>
              <a:bodyPr wrap="square">
                <a:spAutoFit/>
              </a:bodyPr>
              <a:lstStyle/>
              <a:p>
                <a:pPr marL="0" lvl="1" indent="0">
                  <a:spcBef>
                    <a:spcPts val="450"/>
                  </a:spcBef>
                  <a:buClr>
                    <a:srgbClr val="C00000"/>
                  </a:buClr>
                  <a:buNone/>
                  <a:tabLst>
                    <a:tab pos="670322" algn="l"/>
                  </a:tabLst>
                </a:pPr>
                <a:r>
                  <a:rPr lang="en-GB" sz="1200" b="1" dirty="0">
                    <a:solidFill>
                      <a:schemeClr val="accent5">
                        <a:lumMod val="75000"/>
                      </a:schemeClr>
                    </a:solidFill>
                  </a:rPr>
                  <a:t>Average Inventory turnover period = </a:t>
                </a:r>
                <a14:m>
                  <m:oMath xmlns:m="http://schemas.openxmlformats.org/officeDocument/2006/math">
                    <m:f>
                      <m:fPr>
                        <m:ctrlPr>
                          <a:rPr lang="en-GB" sz="1200" b="1" i="1">
                            <a:solidFill>
                              <a:schemeClr val="accent5">
                                <a:lumMod val="75000"/>
                              </a:schemeClr>
                            </a:solidFill>
                            <a:latin typeface="Cambria Math" panose="02040503050406030204" pitchFamily="18" charset="0"/>
                          </a:rPr>
                        </m:ctrlPr>
                      </m:fPr>
                      <m:num>
                        <m:r>
                          <a:rPr lang="en-GB" sz="1200" b="1" i="1" smtClean="0">
                            <a:solidFill>
                              <a:schemeClr val="accent5">
                                <a:lumMod val="75000"/>
                              </a:schemeClr>
                            </a:solidFill>
                            <a:latin typeface="Cambria Math" panose="02040503050406030204" pitchFamily="18" charset="0"/>
                          </a:rPr>
                          <m:t>𝑨𝒗𝒆𝒓𝒂𝒈𝒆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𝑰𝒏𝒗𝒆𝒏𝒕𝒐𝒓𝒊𝒆𝒔</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𝒉𝒆𝒍𝒅</m:t>
                        </m:r>
                      </m:num>
                      <m:den>
                        <m:r>
                          <a:rPr lang="en-GB" sz="1200" b="1" i="1">
                            <a:solidFill>
                              <a:schemeClr val="accent5">
                                <a:lumMod val="75000"/>
                              </a:schemeClr>
                            </a:solidFill>
                            <a:latin typeface="Cambria Math" panose="02040503050406030204" pitchFamily="18" charset="0"/>
                          </a:rPr>
                          <m:t>𝑪𝒐𝒔𝒕</m:t>
                        </m:r>
                        <m:r>
                          <a:rPr lang="en-GB" sz="1200" b="1" i="1">
                            <a:solidFill>
                              <a:schemeClr val="accent5">
                                <a:lumMod val="75000"/>
                              </a:schemeClr>
                            </a:solidFill>
                            <a:latin typeface="Cambria Math" panose="02040503050406030204" pitchFamily="18" charset="0"/>
                          </a:rPr>
                          <m:t> </m:t>
                        </m:r>
                        <m:r>
                          <a:rPr lang="en-GB" sz="1200" b="1" i="1">
                            <a:solidFill>
                              <a:schemeClr val="accent5">
                                <a:lumMod val="75000"/>
                              </a:schemeClr>
                            </a:solidFill>
                            <a:latin typeface="Cambria Math" panose="02040503050406030204" pitchFamily="18" charset="0"/>
                          </a:rPr>
                          <m:t>𝒐𝒇</m:t>
                        </m:r>
                        <m:r>
                          <a:rPr lang="en-GB" sz="1200" b="1" i="1">
                            <a:solidFill>
                              <a:schemeClr val="accent5">
                                <a:lumMod val="75000"/>
                              </a:schemeClr>
                            </a:solidFill>
                            <a:latin typeface="Cambria Math" panose="02040503050406030204" pitchFamily="18" charset="0"/>
                          </a:rPr>
                          <m:t> </m:t>
                        </m:r>
                        <m:r>
                          <a:rPr lang="en-GB" sz="1200" b="1" i="1">
                            <a:solidFill>
                              <a:schemeClr val="accent5">
                                <a:lumMod val="75000"/>
                              </a:schemeClr>
                            </a:solidFill>
                            <a:latin typeface="Cambria Math" panose="02040503050406030204" pitchFamily="18" charset="0"/>
                          </a:rPr>
                          <m:t>𝑮𝒐𝒐𝒅𝒔</m:t>
                        </m:r>
                        <m:r>
                          <a:rPr lang="en-GB" sz="1200" b="1" i="1">
                            <a:solidFill>
                              <a:schemeClr val="accent5">
                                <a:lumMod val="75000"/>
                              </a:schemeClr>
                            </a:solidFill>
                            <a:latin typeface="Cambria Math" panose="02040503050406030204" pitchFamily="18" charset="0"/>
                          </a:rPr>
                          <m:t> </m:t>
                        </m:r>
                        <m:r>
                          <a:rPr lang="en-GB" sz="1200" b="1" i="1">
                            <a:solidFill>
                              <a:schemeClr val="accent5">
                                <a:lumMod val="75000"/>
                              </a:schemeClr>
                            </a:solidFill>
                            <a:latin typeface="Cambria Math" panose="02040503050406030204" pitchFamily="18" charset="0"/>
                          </a:rPr>
                          <m:t>𝑺𝒐𝒍𝒅</m:t>
                        </m:r>
                      </m:den>
                    </m:f>
                    <m:r>
                      <a:rPr lang="en-GB" sz="1200" b="0" i="0" smtClean="0">
                        <a:solidFill>
                          <a:schemeClr val="accent5">
                            <a:lumMod val="75000"/>
                          </a:schemeClr>
                        </a:solidFill>
                        <a:latin typeface="Cambria Math" panose="02040503050406030204" pitchFamily="18" charset="0"/>
                      </a:rPr>
                      <m:t> </m:t>
                    </m:r>
                  </m:oMath>
                </a14:m>
                <a:r>
                  <a:rPr lang="en-GB" sz="1200" dirty="0">
                    <a:solidFill>
                      <a:schemeClr val="accent5">
                        <a:lumMod val="75000"/>
                      </a:schemeClr>
                    </a:solidFill>
                  </a:rPr>
                  <a:t>x 365</a:t>
                </a:r>
                <a:endParaRPr lang="en-GB" sz="1600" dirty="0">
                  <a:solidFill>
                    <a:schemeClr val="accent6">
                      <a:lumMod val="75000"/>
                    </a:schemeClr>
                  </a:solidFill>
                  <a:cs typeface="ＭＳ Ｐゴシック" charset="0"/>
                </a:endParaRPr>
              </a:p>
            </p:txBody>
          </p:sp>
        </mc:Choice>
        <mc:Fallback>
          <p:sp>
            <p:nvSpPr>
              <p:cNvPr id="5" name="TextBox 4">
                <a:extLst>
                  <a:ext uri="{FF2B5EF4-FFF2-40B4-BE49-F238E27FC236}">
                    <a16:creationId xmlns:a16="http://schemas.microsoft.com/office/drawing/2014/main" id="{0B8F4432-9517-1F65-2F01-6E286BF4A42E}"/>
                  </a:ext>
                </a:extLst>
              </p:cNvPr>
              <p:cNvSpPr txBox="1">
                <a:spLocks noRot="1" noChangeAspect="1" noMove="1" noResize="1" noEditPoints="1" noAdjustHandles="1" noChangeArrowheads="1" noChangeShapeType="1" noTextEdit="1"/>
              </p:cNvSpPr>
              <p:nvPr/>
            </p:nvSpPr>
            <p:spPr>
              <a:xfrm>
                <a:off x="899590" y="1962484"/>
                <a:ext cx="5958409" cy="385170"/>
              </a:xfrm>
              <a:prstGeom prst="rect">
                <a:avLst/>
              </a:prstGeom>
              <a:blipFill>
                <a:blip r:embed="rId3"/>
                <a:stretch>
                  <a:fillRect l="-102" b="-158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516594A-5F05-0F04-A7E9-406323C92E0E}"/>
                  </a:ext>
                </a:extLst>
              </p:cNvPr>
              <p:cNvSpPr txBox="1"/>
              <p:nvPr/>
            </p:nvSpPr>
            <p:spPr>
              <a:xfrm>
                <a:off x="899590" y="2633026"/>
                <a:ext cx="5958409" cy="361894"/>
              </a:xfrm>
              <a:prstGeom prst="rect">
                <a:avLst/>
              </a:prstGeom>
              <a:noFill/>
            </p:spPr>
            <p:txBody>
              <a:bodyPr wrap="square">
                <a:spAutoFit/>
              </a:bodyPr>
              <a:lstStyle/>
              <a:p>
                <a:pPr marL="0" lvl="1" indent="0">
                  <a:spcBef>
                    <a:spcPts val="450"/>
                  </a:spcBef>
                  <a:buClr>
                    <a:srgbClr val="C00000"/>
                  </a:buClr>
                  <a:buNone/>
                  <a:tabLst>
                    <a:tab pos="670322" algn="l"/>
                  </a:tabLst>
                </a:pPr>
                <a:r>
                  <a:rPr lang="en-GB" sz="1200" b="1" dirty="0">
                    <a:solidFill>
                      <a:schemeClr val="accent5">
                        <a:lumMod val="75000"/>
                      </a:schemeClr>
                    </a:solidFill>
                  </a:rPr>
                  <a:t>Average Settlement period for Trade Receivables  = </a:t>
                </a:r>
                <a14:m>
                  <m:oMath xmlns:m="http://schemas.openxmlformats.org/officeDocument/2006/math">
                    <m:f>
                      <m:fPr>
                        <m:ctrlPr>
                          <a:rPr lang="en-GB" sz="1200" b="1" i="1">
                            <a:solidFill>
                              <a:schemeClr val="accent5">
                                <a:lumMod val="75000"/>
                              </a:schemeClr>
                            </a:solidFill>
                            <a:latin typeface="Cambria Math" panose="02040503050406030204" pitchFamily="18" charset="0"/>
                          </a:rPr>
                        </m:ctrlPr>
                      </m:fPr>
                      <m:num>
                        <m:r>
                          <a:rPr lang="en-GB" sz="1200" b="1" i="1" smtClean="0">
                            <a:solidFill>
                              <a:schemeClr val="accent5">
                                <a:lumMod val="75000"/>
                              </a:schemeClr>
                            </a:solidFill>
                            <a:latin typeface="Cambria Math" panose="02040503050406030204" pitchFamily="18" charset="0"/>
                          </a:rPr>
                          <m:t>𝑨𝒗𝒆𝒓𝒂𝒈𝒆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𝑻𝒓𝒂𝒅𝒆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𝑹𝒆𝒄𝒆𝒊𝒗𝒂𝒃𝒍𝒆𝒔</m:t>
                        </m:r>
                      </m:num>
                      <m:den>
                        <m:r>
                          <a:rPr lang="en-GB" sz="1200" b="1" i="1">
                            <a:solidFill>
                              <a:schemeClr val="accent5">
                                <a:lumMod val="75000"/>
                              </a:schemeClr>
                            </a:solidFill>
                            <a:latin typeface="Cambria Math" panose="02040503050406030204" pitchFamily="18" charset="0"/>
                          </a:rPr>
                          <m:t>𝑪</m:t>
                        </m:r>
                        <m:r>
                          <a:rPr lang="en-GB" sz="1200" b="1" i="1" smtClean="0">
                            <a:solidFill>
                              <a:schemeClr val="accent5">
                                <a:lumMod val="75000"/>
                              </a:schemeClr>
                            </a:solidFill>
                            <a:latin typeface="Cambria Math" panose="02040503050406030204" pitchFamily="18" charset="0"/>
                          </a:rPr>
                          <m:t>𝒓𝒆𝒅𝒊𝒕</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𝒔𝒂𝒍𝒆𝒔</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𝒓𝒆𝒗𝒆𝒏𝒖𝒆</m:t>
                        </m:r>
                      </m:den>
                    </m:f>
                    <m:r>
                      <a:rPr lang="en-GB" sz="1200" b="0" i="0" smtClean="0">
                        <a:solidFill>
                          <a:schemeClr val="accent5">
                            <a:lumMod val="75000"/>
                          </a:schemeClr>
                        </a:solidFill>
                        <a:latin typeface="Cambria Math" panose="02040503050406030204" pitchFamily="18" charset="0"/>
                      </a:rPr>
                      <m:t> </m:t>
                    </m:r>
                  </m:oMath>
                </a14:m>
                <a:r>
                  <a:rPr lang="en-GB" sz="1200" dirty="0">
                    <a:solidFill>
                      <a:schemeClr val="accent5">
                        <a:lumMod val="75000"/>
                      </a:schemeClr>
                    </a:solidFill>
                  </a:rPr>
                  <a:t>x 365</a:t>
                </a:r>
                <a:endParaRPr lang="en-GB" sz="1600" dirty="0">
                  <a:solidFill>
                    <a:schemeClr val="accent6">
                      <a:lumMod val="75000"/>
                    </a:schemeClr>
                  </a:solidFill>
                  <a:cs typeface="ＭＳ Ｐゴシック" charset="0"/>
                </a:endParaRPr>
              </a:p>
            </p:txBody>
          </p:sp>
        </mc:Choice>
        <mc:Fallback>
          <p:sp>
            <p:nvSpPr>
              <p:cNvPr id="7" name="TextBox 6">
                <a:extLst>
                  <a:ext uri="{FF2B5EF4-FFF2-40B4-BE49-F238E27FC236}">
                    <a16:creationId xmlns:a16="http://schemas.microsoft.com/office/drawing/2014/main" id="{6516594A-5F05-0F04-A7E9-406323C92E0E}"/>
                  </a:ext>
                </a:extLst>
              </p:cNvPr>
              <p:cNvSpPr txBox="1">
                <a:spLocks noRot="1" noChangeAspect="1" noMove="1" noResize="1" noEditPoints="1" noAdjustHandles="1" noChangeArrowheads="1" noChangeShapeType="1" noTextEdit="1"/>
              </p:cNvSpPr>
              <p:nvPr/>
            </p:nvSpPr>
            <p:spPr>
              <a:xfrm>
                <a:off x="899590" y="2633026"/>
                <a:ext cx="5958409" cy="361894"/>
              </a:xfrm>
              <a:prstGeom prst="rect">
                <a:avLst/>
              </a:prstGeom>
              <a:blipFill>
                <a:blip r:embed="rId4"/>
                <a:stretch>
                  <a:fillRect l="-10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8D2819B-C8E2-F792-94A8-9307E325A04F}"/>
                  </a:ext>
                </a:extLst>
              </p:cNvPr>
              <p:cNvSpPr txBox="1"/>
              <p:nvPr/>
            </p:nvSpPr>
            <p:spPr>
              <a:xfrm>
                <a:off x="899590" y="3469358"/>
                <a:ext cx="5958409" cy="361894"/>
              </a:xfrm>
              <a:prstGeom prst="rect">
                <a:avLst/>
              </a:prstGeom>
              <a:noFill/>
            </p:spPr>
            <p:txBody>
              <a:bodyPr wrap="square">
                <a:spAutoFit/>
              </a:bodyPr>
              <a:lstStyle/>
              <a:p>
                <a:pPr marL="0" lvl="1" indent="0">
                  <a:spcBef>
                    <a:spcPts val="450"/>
                  </a:spcBef>
                  <a:buClr>
                    <a:srgbClr val="C00000"/>
                  </a:buClr>
                  <a:buNone/>
                  <a:tabLst>
                    <a:tab pos="670322" algn="l"/>
                  </a:tabLst>
                </a:pPr>
                <a:r>
                  <a:rPr lang="en-GB" sz="1200" b="1" dirty="0">
                    <a:solidFill>
                      <a:schemeClr val="accent5">
                        <a:lumMod val="75000"/>
                      </a:schemeClr>
                    </a:solidFill>
                  </a:rPr>
                  <a:t>Average Settlement period for Trade Payables  = </a:t>
                </a:r>
                <a14:m>
                  <m:oMath xmlns:m="http://schemas.openxmlformats.org/officeDocument/2006/math">
                    <m:f>
                      <m:fPr>
                        <m:ctrlPr>
                          <a:rPr lang="en-GB" sz="1200" b="1" i="1">
                            <a:solidFill>
                              <a:schemeClr val="accent5">
                                <a:lumMod val="75000"/>
                              </a:schemeClr>
                            </a:solidFill>
                            <a:latin typeface="Cambria Math" panose="02040503050406030204" pitchFamily="18" charset="0"/>
                          </a:rPr>
                        </m:ctrlPr>
                      </m:fPr>
                      <m:num>
                        <m:r>
                          <a:rPr lang="en-GB" sz="1200" b="1" i="1" smtClean="0">
                            <a:solidFill>
                              <a:schemeClr val="accent5">
                                <a:lumMod val="75000"/>
                              </a:schemeClr>
                            </a:solidFill>
                            <a:latin typeface="Cambria Math" panose="02040503050406030204" pitchFamily="18" charset="0"/>
                          </a:rPr>
                          <m:t>𝑨𝒗𝒆𝒓𝒂𝒈𝒆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𝑻𝒓𝒂𝒅𝒆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𝑷𝒂𝒚𝒂𝒃𝒍𝒆𝒔</m:t>
                        </m:r>
                      </m:num>
                      <m:den>
                        <m:r>
                          <a:rPr lang="en-GB" sz="1200" b="1" i="1">
                            <a:solidFill>
                              <a:schemeClr val="accent5">
                                <a:lumMod val="75000"/>
                              </a:schemeClr>
                            </a:solidFill>
                            <a:latin typeface="Cambria Math" panose="02040503050406030204" pitchFamily="18" charset="0"/>
                          </a:rPr>
                          <m:t>𝑪</m:t>
                        </m:r>
                        <m:r>
                          <a:rPr lang="en-GB" sz="1200" b="1" i="1" smtClean="0">
                            <a:solidFill>
                              <a:schemeClr val="accent5">
                                <a:lumMod val="75000"/>
                              </a:schemeClr>
                            </a:solidFill>
                            <a:latin typeface="Cambria Math" panose="02040503050406030204" pitchFamily="18" charset="0"/>
                          </a:rPr>
                          <m:t>𝒓𝒆𝒅𝒊𝒕</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𝑷𝒖𝒓𝒄𝒉𝒂𝒔𝒆𝒔</m:t>
                        </m:r>
                      </m:den>
                    </m:f>
                    <m:r>
                      <a:rPr lang="en-GB" sz="1200" b="0" i="0" smtClean="0">
                        <a:solidFill>
                          <a:schemeClr val="accent5">
                            <a:lumMod val="75000"/>
                          </a:schemeClr>
                        </a:solidFill>
                        <a:latin typeface="Cambria Math" panose="02040503050406030204" pitchFamily="18" charset="0"/>
                      </a:rPr>
                      <m:t> </m:t>
                    </m:r>
                  </m:oMath>
                </a14:m>
                <a:r>
                  <a:rPr lang="en-GB" sz="1200" dirty="0">
                    <a:solidFill>
                      <a:schemeClr val="accent5">
                        <a:lumMod val="75000"/>
                      </a:schemeClr>
                    </a:solidFill>
                  </a:rPr>
                  <a:t>x 365</a:t>
                </a:r>
                <a:endParaRPr lang="en-GB" sz="1600" dirty="0">
                  <a:solidFill>
                    <a:schemeClr val="accent6">
                      <a:lumMod val="75000"/>
                    </a:schemeClr>
                  </a:solidFill>
                  <a:cs typeface="ＭＳ Ｐゴシック" charset="0"/>
                </a:endParaRPr>
              </a:p>
            </p:txBody>
          </p:sp>
        </mc:Choice>
        <mc:Fallback>
          <p:sp>
            <p:nvSpPr>
              <p:cNvPr id="8" name="TextBox 7">
                <a:extLst>
                  <a:ext uri="{FF2B5EF4-FFF2-40B4-BE49-F238E27FC236}">
                    <a16:creationId xmlns:a16="http://schemas.microsoft.com/office/drawing/2014/main" id="{F8D2819B-C8E2-F792-94A8-9307E325A04F}"/>
                  </a:ext>
                </a:extLst>
              </p:cNvPr>
              <p:cNvSpPr txBox="1">
                <a:spLocks noRot="1" noChangeAspect="1" noMove="1" noResize="1" noEditPoints="1" noAdjustHandles="1" noChangeArrowheads="1" noChangeShapeType="1" noTextEdit="1"/>
              </p:cNvSpPr>
              <p:nvPr/>
            </p:nvSpPr>
            <p:spPr>
              <a:xfrm>
                <a:off x="899590" y="3469358"/>
                <a:ext cx="5958409" cy="361894"/>
              </a:xfrm>
              <a:prstGeom prst="rect">
                <a:avLst/>
              </a:prstGeom>
              <a:blipFill>
                <a:blip r:embed="rId5"/>
                <a:stretch>
                  <a:fillRect l="-10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E735F1C-76F7-53FD-10C6-5DFD9A0C3573}"/>
                  </a:ext>
                </a:extLst>
              </p:cNvPr>
              <p:cNvSpPr txBox="1"/>
              <p:nvPr/>
            </p:nvSpPr>
            <p:spPr>
              <a:xfrm>
                <a:off x="923502" y="4285139"/>
                <a:ext cx="5958409" cy="385555"/>
              </a:xfrm>
              <a:prstGeom prst="rect">
                <a:avLst/>
              </a:prstGeom>
              <a:noFill/>
            </p:spPr>
            <p:txBody>
              <a:bodyPr wrap="square">
                <a:spAutoFit/>
              </a:bodyPr>
              <a:lstStyle/>
              <a:p>
                <a:pPr marL="0" lvl="1" indent="0">
                  <a:spcBef>
                    <a:spcPts val="450"/>
                  </a:spcBef>
                  <a:buClr>
                    <a:srgbClr val="C00000"/>
                  </a:buClr>
                  <a:buNone/>
                  <a:tabLst>
                    <a:tab pos="670322" algn="l"/>
                  </a:tabLst>
                </a:pPr>
                <a:r>
                  <a:rPr lang="en-GB" sz="1200" b="1" dirty="0">
                    <a:solidFill>
                      <a:schemeClr val="accent5">
                        <a:lumMod val="75000"/>
                      </a:schemeClr>
                    </a:solidFill>
                  </a:rPr>
                  <a:t>Sales Revenue to Capital Employed= </a:t>
                </a:r>
                <a14:m>
                  <m:oMath xmlns:m="http://schemas.openxmlformats.org/officeDocument/2006/math">
                    <m:f>
                      <m:fPr>
                        <m:ctrlPr>
                          <a:rPr lang="en-GB" sz="1200" b="1" i="1">
                            <a:solidFill>
                              <a:schemeClr val="accent5">
                                <a:lumMod val="75000"/>
                              </a:schemeClr>
                            </a:solidFill>
                            <a:latin typeface="Cambria Math" panose="02040503050406030204" pitchFamily="18" charset="0"/>
                          </a:rPr>
                        </m:ctrlPr>
                      </m:fPr>
                      <m:num>
                        <m:r>
                          <a:rPr lang="en-GB" sz="1200" b="1" i="1" smtClean="0">
                            <a:solidFill>
                              <a:schemeClr val="accent5">
                                <a:lumMod val="75000"/>
                              </a:schemeClr>
                            </a:solidFill>
                            <a:latin typeface="Cambria Math" panose="02040503050406030204" pitchFamily="18" charset="0"/>
                          </a:rPr>
                          <m:t>𝑺𝒂𝒍𝒆𝒔</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𝑹𝒆𝒗𝒆𝒏𝒖𝒆</m:t>
                        </m:r>
                      </m:num>
                      <m:den>
                        <m:r>
                          <a:rPr lang="en-GB" sz="1200" b="1" i="1" smtClean="0">
                            <a:solidFill>
                              <a:schemeClr val="accent5">
                                <a:lumMod val="75000"/>
                              </a:schemeClr>
                            </a:solidFill>
                            <a:latin typeface="Cambria Math" panose="02040503050406030204" pitchFamily="18" charset="0"/>
                          </a:rPr>
                          <m:t>𝑨𝒗𝒆𝒓𝒂𝒈𝒆</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𝑪𝒂𝒑𝒊𝒕𝒂𝒍</m:t>
                        </m:r>
                        <m:r>
                          <a:rPr lang="en-GB" sz="1200" b="1" i="1" smtClean="0">
                            <a:solidFill>
                              <a:schemeClr val="accent5">
                                <a:lumMod val="75000"/>
                              </a:schemeClr>
                            </a:solidFill>
                            <a:latin typeface="Cambria Math" panose="02040503050406030204" pitchFamily="18" charset="0"/>
                          </a:rPr>
                          <m:t> </m:t>
                        </m:r>
                        <m:r>
                          <a:rPr lang="en-GB" sz="1200" b="1" i="1" smtClean="0">
                            <a:solidFill>
                              <a:schemeClr val="accent5">
                                <a:lumMod val="75000"/>
                              </a:schemeClr>
                            </a:solidFill>
                            <a:latin typeface="Cambria Math" panose="02040503050406030204" pitchFamily="18" charset="0"/>
                          </a:rPr>
                          <m:t>𝑬𝒎𝒑𝒍𝒐𝒚𝒆𝒅</m:t>
                        </m:r>
                      </m:den>
                    </m:f>
                    <m:r>
                      <a:rPr lang="en-GB" sz="1200" b="0" i="0" smtClean="0">
                        <a:solidFill>
                          <a:schemeClr val="accent5">
                            <a:lumMod val="75000"/>
                          </a:schemeClr>
                        </a:solidFill>
                        <a:latin typeface="Cambria Math" panose="02040503050406030204" pitchFamily="18" charset="0"/>
                      </a:rPr>
                      <m:t> </m:t>
                    </m:r>
                  </m:oMath>
                </a14:m>
                <a:endParaRPr lang="en-GB" sz="1600" dirty="0">
                  <a:solidFill>
                    <a:schemeClr val="accent6">
                      <a:lumMod val="75000"/>
                    </a:schemeClr>
                  </a:solidFill>
                  <a:cs typeface="ＭＳ Ｐゴシック" charset="0"/>
                </a:endParaRPr>
              </a:p>
            </p:txBody>
          </p:sp>
        </mc:Choice>
        <mc:Fallback>
          <p:sp>
            <p:nvSpPr>
              <p:cNvPr id="11" name="TextBox 10">
                <a:extLst>
                  <a:ext uri="{FF2B5EF4-FFF2-40B4-BE49-F238E27FC236}">
                    <a16:creationId xmlns:a16="http://schemas.microsoft.com/office/drawing/2014/main" id="{BE735F1C-76F7-53FD-10C6-5DFD9A0C3573}"/>
                  </a:ext>
                </a:extLst>
              </p:cNvPr>
              <p:cNvSpPr txBox="1">
                <a:spLocks noRot="1" noChangeAspect="1" noMove="1" noResize="1" noEditPoints="1" noAdjustHandles="1" noChangeArrowheads="1" noChangeShapeType="1" noTextEdit="1"/>
              </p:cNvSpPr>
              <p:nvPr/>
            </p:nvSpPr>
            <p:spPr>
              <a:xfrm>
                <a:off x="923502" y="4285139"/>
                <a:ext cx="5958409" cy="385555"/>
              </a:xfrm>
              <a:prstGeom prst="rect">
                <a:avLst/>
              </a:prstGeom>
              <a:blipFill>
                <a:blip r:embed="rId6"/>
                <a:stretch>
                  <a:fillRect b="-3175"/>
                </a:stretch>
              </a:blipFill>
            </p:spPr>
            <p:txBody>
              <a:bodyPr/>
              <a:lstStyle/>
              <a:p>
                <a:r>
                  <a:rPr lang="en-GB">
                    <a:noFill/>
                  </a:rPr>
                  <a:t> </a:t>
                </a:r>
              </a:p>
            </p:txBody>
          </p:sp>
        </mc:Fallback>
      </mc:AlternateContent>
    </p:spTree>
    <p:extLst>
      <p:ext uri="{BB962C8B-B14F-4D97-AF65-F5344CB8AC3E}">
        <p14:creationId xmlns:p14="http://schemas.microsoft.com/office/powerpoint/2010/main" val="347808257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83568" y="476672"/>
            <a:ext cx="7272809" cy="1366120"/>
          </a:xfrm>
        </p:spPr>
        <p:txBody>
          <a:bodyPr/>
          <a:lstStyle/>
          <a:p>
            <a:pPr algn="ctr"/>
            <a:r>
              <a:rPr lang="en-GB" b="1" dirty="0">
                <a:latin typeface="Arial" panose="020B0604020202020204" pitchFamily="34" charset="0"/>
                <a:cs typeface="Arial" panose="020B0604020202020204" pitchFamily="34" charset="0"/>
              </a:rPr>
              <a:t>Summary of Efficiency Ratios</a:t>
            </a:r>
          </a:p>
        </p:txBody>
      </p:sp>
      <p:graphicFrame>
        <p:nvGraphicFramePr>
          <p:cNvPr id="4" name="Object 3">
            <a:extLst>
              <a:ext uri="{FF2B5EF4-FFF2-40B4-BE49-F238E27FC236}">
                <a16:creationId xmlns:a16="http://schemas.microsoft.com/office/drawing/2014/main" id="{40227B97-49D0-4008-9F50-DC433FF4A3CD}"/>
              </a:ext>
            </a:extLst>
          </p:cNvPr>
          <p:cNvGraphicFramePr>
            <a:graphicFrameLocks noChangeAspect="1"/>
          </p:cNvGraphicFramePr>
          <p:nvPr>
            <p:extLst>
              <p:ext uri="{D42A27DB-BD31-4B8C-83A1-F6EECF244321}">
                <p14:modId xmlns:p14="http://schemas.microsoft.com/office/powerpoint/2010/main" val="2529062079"/>
              </p:ext>
            </p:extLst>
          </p:nvPr>
        </p:nvGraphicFramePr>
        <p:xfrm>
          <a:off x="251520" y="2060849"/>
          <a:ext cx="6518966" cy="3384376"/>
        </p:xfrm>
        <a:graphic>
          <a:graphicData uri="http://schemas.openxmlformats.org/presentationml/2006/ole">
            <mc:AlternateContent xmlns:mc="http://schemas.openxmlformats.org/markup-compatibility/2006">
              <mc:Choice xmlns:v="urn:schemas-microsoft-com:vml" Requires="v">
                <p:oleObj name="Document" r:id="rId3" imgW="8860032" imgH="5674384" progId="Word.Document.8">
                  <p:embed/>
                </p:oleObj>
              </mc:Choice>
              <mc:Fallback>
                <p:oleObj name="Document" r:id="rId3" imgW="8860032" imgH="5674384" progId="Word.Document.8">
                  <p:embed/>
                  <p:pic>
                    <p:nvPicPr>
                      <p:cNvPr id="4" name="Object 3">
                        <a:extLst>
                          <a:ext uri="{FF2B5EF4-FFF2-40B4-BE49-F238E27FC236}">
                            <a16:creationId xmlns:a16="http://schemas.microsoft.com/office/drawing/2014/main" id="{40227B97-49D0-4008-9F50-DC433FF4A3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060849"/>
                        <a:ext cx="6518966" cy="338437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01507980"/>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A3E2-A28F-FDC7-E23A-78A14628B10B}"/>
            </a:ext>
          </a:extLst>
        </p:cNvPr>
        <p:cNvGrpSpPr/>
        <p:nvPr/>
      </p:nvGrpSpPr>
      <p:grpSpPr>
        <a:xfrm>
          <a:off x="0" y="0"/>
          <a:ext cx="0" cy="0"/>
          <a:chOff x="0" y="0"/>
          <a:chExt cx="0" cy="0"/>
        </a:xfrm>
      </p:grpSpPr>
      <p:sp>
        <p:nvSpPr>
          <p:cNvPr id="13319" name="Title 1">
            <a:extLst>
              <a:ext uri="{FF2B5EF4-FFF2-40B4-BE49-F238E27FC236}">
                <a16:creationId xmlns:a16="http://schemas.microsoft.com/office/drawing/2014/main" id="{2F05CE75-A456-5D93-6E87-C28B14245456}"/>
              </a:ext>
            </a:extLst>
          </p:cNvPr>
          <p:cNvSpPr>
            <a:spLocks noGrp="1"/>
          </p:cNvSpPr>
          <p:nvPr>
            <p:ph type="title"/>
          </p:nvPr>
        </p:nvSpPr>
        <p:spPr>
          <a:xfrm>
            <a:off x="892515" y="1376773"/>
            <a:ext cx="7886700" cy="646548"/>
          </a:xfrm>
        </p:spPr>
        <p:txBody>
          <a:bodyPr/>
          <a:lstStyle/>
          <a:p>
            <a:pPr algn="l"/>
            <a:r>
              <a:rPr lang="en-US" sz="4800" dirty="0"/>
              <a:t>Learning Outcomes Covered</a:t>
            </a:r>
          </a:p>
        </p:txBody>
      </p:sp>
      <p:graphicFrame>
        <p:nvGraphicFramePr>
          <p:cNvPr id="13315" name="Text Placeholder 1">
            <a:extLst>
              <a:ext uri="{FF2B5EF4-FFF2-40B4-BE49-F238E27FC236}">
                <a16:creationId xmlns:a16="http://schemas.microsoft.com/office/drawing/2014/main" id="{74E768B4-7B38-0849-44E2-030D0F021B8E}"/>
              </a:ext>
            </a:extLst>
          </p:cNvPr>
          <p:cNvGraphicFramePr/>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877400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pPr algn="l"/>
            <a:r>
              <a:rPr lang="en-GB" dirty="0"/>
              <a:t>Next Week</a:t>
            </a:r>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899592" y="3317479"/>
            <a:ext cx="6515620" cy="994172"/>
          </a:xfrm>
        </p:spPr>
        <p:txBody>
          <a:bodyPr/>
          <a:lstStyle/>
          <a:p>
            <a:r>
              <a:rPr lang="en-GB" sz="2800">
                <a:latin typeface="Segoe Sans"/>
              </a:rPr>
              <a:t>Time Value of Money</a:t>
            </a:r>
            <a:endParaRPr lang="en-GB" sz="2800" dirty="0">
              <a:latin typeface="Segoe Sans"/>
            </a:endParaRPr>
          </a:p>
        </p:txBody>
      </p:sp>
    </p:spTree>
    <p:extLst>
      <p:ext uri="{BB962C8B-B14F-4D97-AF65-F5344CB8AC3E}">
        <p14:creationId xmlns:p14="http://schemas.microsoft.com/office/powerpoint/2010/main" val="1668558411"/>
      </p:ext>
    </p:extLst>
  </p:cSld>
  <p:clrMapOvr>
    <a:masterClrMapping/>
  </p:clrMapOvr>
  <p:transition spd="slow">
    <p:fade/>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7A4E903709FA74392B6F63AA50CE992" ma:contentTypeVersion="0" ma:contentTypeDescription="Create a new document." ma:contentTypeScope="" ma:versionID="10ad2728254fe930ef29179decbc218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946021-02CC-48AA-AA57-3616FDDD66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7203E09C-7838-4864-AF78-6995CCA2E42C}">
  <ds:schemaRefs>
    <ds:schemaRef ds:uri="http://schemas.microsoft.com/sharepoint/v3/contenttype/forms"/>
  </ds:schemaRefs>
</ds:datastoreItem>
</file>

<file path=customXml/itemProps3.xml><?xml version="1.0" encoding="utf-8"?>
<ds:datastoreItem xmlns:ds="http://schemas.openxmlformats.org/officeDocument/2006/customXml" ds:itemID="{C603DE42-1944-4150-9782-9DB24E33D84A}">
  <ds:schemaRefs>
    <ds:schemaRef ds:uri="http://purl.org/dc/terms/"/>
    <ds:schemaRef ds:uri="http://schemas.openxmlformats.org/package/2006/metadata/core-properties"/>
    <ds:schemaRef ds:uri="http://purl.org/dc/dcmitype/"/>
    <ds:schemaRef ds:uri="http://purl.org/dc/elements/1.1/"/>
    <ds:schemaRef ds:uri="http://schemas.microsoft.com/office/2006/metadata/properties"/>
    <ds:schemaRef ds:uri="http://schemas.microsoft.com/office/2006/documentManagement/types"/>
    <ds:schemaRef ds:uri="http://www.w3.org/XML/1998/namespa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28337</TotalTime>
  <Words>1350</Words>
  <Application>Microsoft Office PowerPoint</Application>
  <PresentationFormat>On-screen Show (4:3)</PresentationFormat>
  <Paragraphs>230</Paragraphs>
  <Slides>17</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17</vt:i4>
      </vt:variant>
    </vt:vector>
  </HeadingPairs>
  <TitlesOfParts>
    <vt:vector size="28" baseType="lpstr">
      <vt:lpstr>MS PGothic</vt:lpstr>
      <vt:lpstr>Arial</vt:lpstr>
      <vt:lpstr>Calibri</vt:lpstr>
      <vt:lpstr>Cambria Math</vt:lpstr>
      <vt:lpstr>Courier New</vt:lpstr>
      <vt:lpstr>Georgia</vt:lpstr>
      <vt:lpstr>Segoe Sans</vt:lpstr>
      <vt:lpstr>Tahoma</vt:lpstr>
      <vt:lpstr>Custom Design</vt:lpstr>
      <vt:lpstr>Document</vt:lpstr>
      <vt:lpstr>Chart</vt:lpstr>
      <vt:lpstr>UMET9G-30-1  Accounting &amp; Finance for Decision Making  Financial Analysis – part 2; Efficiency, Gearing and Liquidity Ratios </vt:lpstr>
      <vt:lpstr>Recap</vt:lpstr>
      <vt:lpstr>Learning Outcomes</vt:lpstr>
      <vt:lpstr>PowerPoint Presentation</vt:lpstr>
      <vt:lpstr>PowerPoint Presentation</vt:lpstr>
      <vt:lpstr>PowerPoint Presentation</vt:lpstr>
      <vt:lpstr>Financial Statements Cross Sectional Analysis – Morrison’s vs Sainsbury’s</vt:lpstr>
      <vt:lpstr>Cross Sectional Analysis – Morrison’s vs Sainsbury’s</vt:lpstr>
      <vt:lpstr>Liquidity Ratios</vt:lpstr>
      <vt:lpstr>PowerPoint Presentation</vt:lpstr>
      <vt:lpstr>PowerPoint Presentation</vt:lpstr>
      <vt:lpstr>PowerPoint Presentation</vt:lpstr>
      <vt:lpstr>Efficiency Ratios</vt:lpstr>
      <vt:lpstr>PowerPoint Presentation</vt:lpstr>
      <vt:lpstr>PowerPoint Presentation</vt:lpstr>
      <vt:lpstr>Learning Outcomes Covered</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Demelza Pilgrim</cp:lastModifiedBy>
  <cp:revision>251</cp:revision>
  <cp:lastPrinted>2019-11-11T14:53:50Z</cp:lastPrinted>
  <dcterms:created xsi:type="dcterms:W3CDTF">2016-04-27T08:33:48Z</dcterms:created>
  <dcterms:modified xsi:type="dcterms:W3CDTF">2025-08-14T14:52:43Z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0x01010047A4E903709FA74392B6F63AA50CE992</vt:lpwstr>
  </property>
  <property fmtid="{D5CDD505-2E9C-101B-9397-08002B2CF9AE}" pid="3" name="_dlc_DocIdItemGuid">
    <vt:lpwstr>58f81ddd-b618-4063-9f46-722d50b1c5ae</vt:lpwstr>
  </property>
  <property fmtid="{D5CDD505-2E9C-101B-9397-08002B2CF9AE}" pid="4" name="_dlc_DocId">
    <vt:lpwstr>NAYYJSKVSPAS-2-505</vt:lpwstr>
  </property>
  <property fmtid="{D5CDD505-2E9C-101B-9397-08002B2CF9AE}" pid="5" name="Document Type">
    <vt:lpwstr>Main Issue</vt:lpwstr>
  </property>
  <property fmtid="{D5CDD505-2E9C-101B-9397-08002B2CF9AE}" pid="6" name="_dlc_DocIdUrl">
    <vt:lpwstr>https://docs.uwe.ac.uk/ou/Communications/_layouts/15/DocIdRedir.aspx?ID=NAYYJSKVSPAS-2-505NAYYJSKVSPAS-2-505</vt:lpwstr>
  </property>
</Properties>
</file>