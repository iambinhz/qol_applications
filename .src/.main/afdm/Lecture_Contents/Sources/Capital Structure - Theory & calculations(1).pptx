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4"/>
    <p:sldMasterId id="2147484027" r:id="rId5"/>
    <p:sldMasterId id="2147483660" r:id="rId6"/>
  </p:sldMasterIdLst>
  <p:notesMasterIdLst>
    <p:notesMasterId r:id="rId32"/>
  </p:notesMasterIdLst>
  <p:handoutMasterIdLst>
    <p:handoutMasterId r:id="rId33"/>
  </p:handoutMasterIdLst>
  <p:sldIdLst>
    <p:sldId id="462" r:id="rId7"/>
    <p:sldId id="259" r:id="rId8"/>
    <p:sldId id="388" r:id="rId9"/>
    <p:sldId id="569" r:id="rId10"/>
    <p:sldId id="418" r:id="rId11"/>
    <p:sldId id="465" r:id="rId12"/>
    <p:sldId id="466" r:id="rId13"/>
    <p:sldId id="467" r:id="rId14"/>
    <p:sldId id="468" r:id="rId15"/>
    <p:sldId id="469" r:id="rId16"/>
    <p:sldId id="470" r:id="rId17"/>
    <p:sldId id="471" r:id="rId18"/>
    <p:sldId id="472" r:id="rId19"/>
    <p:sldId id="473" r:id="rId20"/>
    <p:sldId id="572" r:id="rId21"/>
    <p:sldId id="565" r:id="rId22"/>
    <p:sldId id="570" r:id="rId23"/>
    <p:sldId id="571" r:id="rId24"/>
    <p:sldId id="387" r:id="rId25"/>
    <p:sldId id="475" r:id="rId26"/>
    <p:sldId id="566" r:id="rId27"/>
    <p:sldId id="455" r:id="rId28"/>
    <p:sldId id="573" r:id="rId29"/>
    <p:sldId id="574" r:id="rId30"/>
    <p:sldId id="464" r:id="rId31"/>
  </p:sldIdLst>
  <p:sldSz cx="9144000" cy="6858000" type="screen4x3"/>
  <p:notesSz cx="9144000" cy="6858000"/>
  <p:custDataLst>
    <p:tags r:id="rId34"/>
  </p:custDataLst>
  <p:defaultTextStyle>
    <a:defPPr>
      <a:defRPr lang="en-US"/>
    </a:defPPr>
    <a:lvl1pPr algn="l" rtl="0" eaLnBrk="0" fontAlgn="base" hangingPunct="0">
      <a:spcBef>
        <a:spcPct val="0"/>
      </a:spcBef>
      <a:spcAft>
        <a:spcPct val="0"/>
      </a:spcAft>
      <a:defRPr kern="1200">
        <a:solidFill>
          <a:schemeClr val="tx1"/>
        </a:solidFill>
        <a:latin typeface="Arial" charset="0"/>
        <a:ea typeface="ＭＳ Ｐゴシック" charset="-128"/>
        <a:cs typeface="+mn-cs"/>
      </a:defRPr>
    </a:lvl1pPr>
    <a:lvl2pPr marL="4556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2pPr>
    <a:lvl3pPr marL="9128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3pPr>
    <a:lvl4pPr marL="13700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4pPr>
    <a:lvl5pPr marL="18272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5pPr>
    <a:lvl6pPr marL="2286000" algn="l" defTabSz="914400" rtl="0" eaLnBrk="1" latinLnBrk="0" hangingPunct="1">
      <a:defRPr kern="1200">
        <a:solidFill>
          <a:schemeClr val="tx1"/>
        </a:solidFill>
        <a:latin typeface="Arial" charset="0"/>
        <a:ea typeface="ＭＳ Ｐゴシック" charset="-128"/>
        <a:cs typeface="+mn-cs"/>
      </a:defRPr>
    </a:lvl6pPr>
    <a:lvl7pPr marL="2743200" algn="l" defTabSz="914400" rtl="0" eaLnBrk="1" latinLnBrk="0" hangingPunct="1">
      <a:defRPr kern="1200">
        <a:solidFill>
          <a:schemeClr val="tx1"/>
        </a:solidFill>
        <a:latin typeface="Arial" charset="0"/>
        <a:ea typeface="ＭＳ Ｐゴシック" charset="-128"/>
        <a:cs typeface="+mn-cs"/>
      </a:defRPr>
    </a:lvl7pPr>
    <a:lvl8pPr marL="3200400" algn="l" defTabSz="914400" rtl="0" eaLnBrk="1" latinLnBrk="0" hangingPunct="1">
      <a:defRPr kern="1200">
        <a:solidFill>
          <a:schemeClr val="tx1"/>
        </a:solidFill>
        <a:latin typeface="Arial" charset="0"/>
        <a:ea typeface="ＭＳ Ｐゴシック" charset="-128"/>
        <a:cs typeface="+mn-cs"/>
      </a:defRPr>
    </a:lvl8pPr>
    <a:lvl9pPr marL="3657600" algn="l" defTabSz="914400" rtl="0" eaLnBrk="1" latinLnBrk="0" hangingPunct="1">
      <a:defRPr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4" orient="horz" pos="3838">
          <p15:clr>
            <a:srgbClr val="A4A3A4"/>
          </p15:clr>
        </p15:guide>
        <p15:guide id="5" pos="2880">
          <p15:clr>
            <a:srgbClr val="A4A3A4"/>
          </p15:clr>
        </p15:guide>
        <p15:guide id="7" pos="5103">
          <p15:clr>
            <a:srgbClr val="A4A3A4"/>
          </p15:clr>
        </p15:guide>
        <p15:guide id="12" pos="65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1C9DAC"/>
    <a:srgbClr val="7A7392"/>
    <a:srgbClr val="C64096"/>
    <a:srgbClr val="1A9DAC"/>
    <a:srgbClr val="16818D"/>
    <a:srgbClr val="598752"/>
    <a:srgbClr val="6DA463"/>
    <a:srgbClr val="A65C45"/>
    <a:srgbClr val="CC7054"/>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1D62C0-A3D6-4BDF-B9CC-16D0D8DF4990}" v="1" dt="2026-02-05T16:49:42.3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358" autoAdjust="0"/>
  </p:normalViewPr>
  <p:slideViewPr>
    <p:cSldViewPr snapToGrid="0">
      <p:cViewPr varScale="1">
        <p:scale>
          <a:sx n="81" d="100"/>
          <a:sy n="81" d="100"/>
        </p:scale>
        <p:origin x="2484" y="84"/>
      </p:cViewPr>
      <p:guideLst>
        <p:guide orient="horz" pos="3838"/>
        <p:guide pos="2880"/>
        <p:guide pos="5103"/>
        <p:guide pos="657"/>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microsoft.com/office/2016/11/relationships/changesInfo" Target="changesInfos/changesInfo1.xml"/><Relationship Id="rId21" Type="http://schemas.openxmlformats.org/officeDocument/2006/relationships/slide" Target="slides/slide15.xml"/><Relationship Id="rId34" Type="http://schemas.openxmlformats.org/officeDocument/2006/relationships/tags" Target="tags/tag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notesMaster" Target="notesMasters/notesMaster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presProps" Target="presProps.xml"/><Relationship Id="rId8" Type="http://schemas.openxmlformats.org/officeDocument/2006/relationships/slide" Target="slides/slide2.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nan Aslam" userId="cc74c580-e775-4d2a-9644-400d69739476" providerId="ADAL" clId="{7066C9FE-E3F5-424A-83F0-818FB6975CF2}"/>
    <pc:docChg chg="addSld modSld">
      <pc:chgData name="Adnan Aslam" userId="cc74c580-e775-4d2a-9644-400d69739476" providerId="ADAL" clId="{7066C9FE-E3F5-424A-83F0-818FB6975CF2}" dt="2026-02-05T16:51:10.439" v="21" actId="20577"/>
      <pc:docMkLst>
        <pc:docMk/>
      </pc:docMkLst>
      <pc:sldChg chg="modSp mod">
        <pc:chgData name="Adnan Aslam" userId="cc74c580-e775-4d2a-9644-400d69739476" providerId="ADAL" clId="{7066C9FE-E3F5-424A-83F0-818FB6975CF2}" dt="2026-02-05T16:48:38.212" v="5" actId="20577"/>
        <pc:sldMkLst>
          <pc:docMk/>
          <pc:sldMk cId="916755648" sldId="462"/>
        </pc:sldMkLst>
        <pc:spChg chg="mod">
          <ac:chgData name="Adnan Aslam" userId="cc74c580-e775-4d2a-9644-400d69739476" providerId="ADAL" clId="{7066C9FE-E3F5-424A-83F0-818FB6975CF2}" dt="2026-02-05T16:48:38.212" v="5" actId="20577"/>
          <ac:spMkLst>
            <pc:docMk/>
            <pc:sldMk cId="916755648" sldId="462"/>
            <ac:spMk id="4" creationId="{FA5FC82F-1F0B-4D11-BC78-0C43FDE0F394}"/>
          </ac:spMkLst>
        </pc:spChg>
        <pc:spChg chg="mod">
          <ac:chgData name="Adnan Aslam" userId="cc74c580-e775-4d2a-9644-400d69739476" providerId="ADAL" clId="{7066C9FE-E3F5-424A-83F0-818FB6975CF2}" dt="2026-02-05T16:41:04.271" v="2" actId="20577"/>
          <ac:spMkLst>
            <pc:docMk/>
            <pc:sldMk cId="916755648" sldId="462"/>
            <ac:spMk id="6" creationId="{4A40E439-7964-4999-89C0-DBC132DF1138}"/>
          </ac:spMkLst>
        </pc:spChg>
      </pc:sldChg>
      <pc:sldChg chg="modSp add mod">
        <pc:chgData name="Adnan Aslam" userId="cc74c580-e775-4d2a-9644-400d69739476" providerId="ADAL" clId="{7066C9FE-E3F5-424A-83F0-818FB6975CF2}" dt="2026-02-05T16:51:10.439" v="21" actId="20577"/>
        <pc:sldMkLst>
          <pc:docMk/>
          <pc:sldMk cId="1668558411" sldId="574"/>
        </pc:sldMkLst>
        <pc:spChg chg="mod">
          <ac:chgData name="Adnan Aslam" userId="cc74c580-e775-4d2a-9644-400d69739476" providerId="ADAL" clId="{7066C9FE-E3F5-424A-83F0-818FB6975CF2}" dt="2026-02-05T16:51:10.439" v="21" actId="20577"/>
          <ac:spMkLst>
            <pc:docMk/>
            <pc:sldMk cId="1668558411" sldId="574"/>
            <ac:spMk id="3" creationId="{7393D38A-6D63-08BB-0FBC-2882D1231479}"/>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uweacuk-my.sharepoint.com/personal/bouchra_benzennou_uwe_ac_uk/Documents/2021/B1/ITF/Draft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Bouch\Dropbox\Cov%20Uni\WACC%20gearing.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uweacuk-my.sharepoint.com/personal/bouchra_benzennou_uwe_ac_uk/Documents/2021/B1/ITF/Drafts.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920" b="1" i="0" u="none" strike="noStrike" kern="1200" cap="all" baseline="0">
                <a:solidFill>
                  <a:schemeClr val="tx1">
                    <a:lumMod val="65000"/>
                    <a:lumOff val="35000"/>
                  </a:schemeClr>
                </a:solidFill>
                <a:latin typeface="+mn-lt"/>
                <a:ea typeface="+mn-ea"/>
                <a:cs typeface="+mn-cs"/>
              </a:defRPr>
            </a:pPr>
            <a:r>
              <a:rPr lang="en-GB" cap="small" baseline="0" dirty="0"/>
              <a:t>GE Capital Structure in Sweden</a:t>
            </a:r>
          </a:p>
        </c:rich>
      </c:tx>
      <c:layout>
        <c:manualLayout>
          <c:xMode val="edge"/>
          <c:yMode val="edge"/>
          <c:x val="0.14227099425274428"/>
          <c:y val="2.6963986729472231E-2"/>
        </c:manualLayout>
      </c:layout>
      <c:overlay val="0"/>
      <c:spPr>
        <a:noFill/>
        <a:ln>
          <a:noFill/>
        </a:ln>
        <a:effectLst/>
      </c:spPr>
      <c:txPr>
        <a:bodyPr rot="0" spcFirstLastPara="1" vertOverflow="ellipsis" vert="horz" wrap="square" anchor="ctr" anchorCtr="1"/>
        <a:lstStyle/>
        <a:p>
          <a:pPr>
            <a:defRPr sz="1920" b="1" i="0" u="none" strike="noStrike" kern="1200" cap="all"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29824043514698179"/>
          <c:y val="0.13691915742614374"/>
          <c:w val="0.40351930839648553"/>
          <c:h val="0.68181593107816874"/>
        </c:manualLayout>
      </c:layout>
      <c:pieChart>
        <c:varyColors val="1"/>
        <c:ser>
          <c:idx val="0"/>
          <c:order val="0"/>
          <c:explosion val="1"/>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4055-46C5-BC0B-4B1193954754}"/>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4055-46C5-BC0B-4B1193954754}"/>
              </c:ext>
            </c:extLst>
          </c:dPt>
          <c:dLbls>
            <c:dLbl>
              <c:idx val="0"/>
              <c:spPr>
                <a:noFill/>
                <a:ln>
                  <a:noFill/>
                </a:ln>
                <a:effectLst/>
              </c:spPr>
              <c:txPr>
                <a:bodyPr rot="0" spcFirstLastPara="1" vertOverflow="ellipsis" vert="horz" wrap="square" anchor="ctr" anchorCtr="1"/>
                <a:lstStyle/>
                <a:p>
                  <a:pPr>
                    <a:defRPr sz="18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1-4055-46C5-BC0B-4B1193954754}"/>
                </c:ext>
              </c:extLst>
            </c:dLbl>
            <c:dLbl>
              <c:idx val="1"/>
              <c:spPr>
                <a:noFill/>
                <a:ln>
                  <a:noFill/>
                </a:ln>
                <a:effectLst/>
              </c:spPr>
              <c:txPr>
                <a:bodyPr rot="0" spcFirstLastPara="1" vertOverflow="ellipsis" vert="horz" wrap="square" anchor="ctr" anchorCtr="1"/>
                <a:lstStyle/>
                <a:p>
                  <a:pPr>
                    <a:defRPr sz="1800" b="1" i="0" u="none" strike="noStrike" kern="1200" spc="0" baseline="0">
                      <a:solidFill>
                        <a:schemeClr val="accent2"/>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3-4055-46C5-BC0B-4B1193954754}"/>
                </c:ext>
              </c:extLst>
            </c:dLbl>
            <c:spPr>
              <a:noFill/>
              <a:ln>
                <a:noFill/>
              </a:ln>
              <a:effectLst/>
            </c:spPr>
            <c:txPr>
              <a:bodyPr rot="0" spcFirstLastPara="1" vertOverflow="ellipsis" vert="horz" wrap="square" anchor="ctr" anchorCtr="1"/>
              <a:lstStyle/>
              <a:p>
                <a:pPr>
                  <a:defRPr sz="18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Lecture7!$B$52:$B$53</c:f>
              <c:strCache>
                <c:ptCount val="2"/>
                <c:pt idx="0">
                  <c:v>Equity</c:v>
                </c:pt>
                <c:pt idx="1">
                  <c:v>Debt</c:v>
                </c:pt>
              </c:strCache>
            </c:strRef>
          </c:cat>
          <c:val>
            <c:numRef>
              <c:f>Lecture7!$C$52:$C$53</c:f>
              <c:numCache>
                <c:formatCode>0%</c:formatCode>
                <c:ptCount val="2"/>
                <c:pt idx="0">
                  <c:v>0.58597564945634484</c:v>
                </c:pt>
                <c:pt idx="1">
                  <c:v>0.41402435054365516</c:v>
                </c:pt>
              </c:numCache>
            </c:numRef>
          </c:val>
          <c:extLst>
            <c:ext xmlns:c16="http://schemas.microsoft.com/office/drawing/2014/chart" uri="{C3380CC4-5D6E-409C-BE32-E72D297353CC}">
              <c16:uniqueId val="{00000004-4055-46C5-BC0B-4B1193954754}"/>
            </c:ext>
          </c:extLst>
        </c:ser>
        <c:dLbls>
          <c:dLblPos val="outEnd"/>
          <c:showLegendKey val="0"/>
          <c:showVal val="0"/>
          <c:showCatName val="0"/>
          <c:showSerName val="0"/>
          <c:showPercent val="1"/>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600"/>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1312868054647136E-2"/>
          <c:y val="3.496821196793938E-2"/>
          <c:w val="0.72431351649205522"/>
          <c:h val="0.83225345720974697"/>
        </c:manualLayout>
      </c:layout>
      <c:lineChart>
        <c:grouping val="standard"/>
        <c:varyColors val="0"/>
        <c:ser>
          <c:idx val="0"/>
          <c:order val="0"/>
          <c:tx>
            <c:strRef>
              <c:f>Sheet1!$B$2</c:f>
              <c:strCache>
                <c:ptCount val="1"/>
                <c:pt idx="0">
                  <c:v>Ke</c:v>
                </c:pt>
              </c:strCache>
            </c:strRef>
          </c:tx>
          <c:spPr>
            <a:ln w="19050" cap="rnd">
              <a:solidFill>
                <a:schemeClr val="accent1">
                  <a:lumMod val="75000"/>
                </a:schemeClr>
              </a:solidFill>
              <a:round/>
            </a:ln>
            <a:effectLst/>
          </c:spPr>
          <c:marker>
            <c:symbol val="none"/>
          </c:marker>
          <c:cat>
            <c:numRef>
              <c:f>Sheet1!$H$3:$H$23</c:f>
              <c:numCache>
                <c:formatCode>General</c:formatCode>
                <c:ptCount val="21"/>
                <c:pt idx="0">
                  <c:v>0</c:v>
                </c:pt>
                <c:pt idx="1">
                  <c:v>5</c:v>
                </c:pt>
                <c:pt idx="2">
                  <c:v>10</c:v>
                </c:pt>
                <c:pt idx="3">
                  <c:v>15.000000000000002</c:v>
                </c:pt>
                <c:pt idx="4">
                  <c:v>20</c:v>
                </c:pt>
                <c:pt idx="5">
                  <c:v>25</c:v>
                </c:pt>
                <c:pt idx="6">
                  <c:v>30</c:v>
                </c:pt>
                <c:pt idx="7">
                  <c:v>35</c:v>
                </c:pt>
                <c:pt idx="8">
                  <c:v>40</c:v>
                </c:pt>
                <c:pt idx="9">
                  <c:v>44.999999999999993</c:v>
                </c:pt>
                <c:pt idx="10">
                  <c:v>49.999999999999993</c:v>
                </c:pt>
                <c:pt idx="11">
                  <c:v>54.999999999999993</c:v>
                </c:pt>
                <c:pt idx="12">
                  <c:v>60</c:v>
                </c:pt>
                <c:pt idx="13">
                  <c:v>65</c:v>
                </c:pt>
                <c:pt idx="14">
                  <c:v>70</c:v>
                </c:pt>
                <c:pt idx="15">
                  <c:v>75.000000000000014</c:v>
                </c:pt>
                <c:pt idx="16">
                  <c:v>80.000000000000014</c:v>
                </c:pt>
                <c:pt idx="17">
                  <c:v>85.000000000000014</c:v>
                </c:pt>
                <c:pt idx="18">
                  <c:v>90.000000000000028</c:v>
                </c:pt>
                <c:pt idx="19">
                  <c:v>95.000000000000028</c:v>
                </c:pt>
                <c:pt idx="20">
                  <c:v>100.00000000000003</c:v>
                </c:pt>
              </c:numCache>
            </c:numRef>
          </c:cat>
          <c:val>
            <c:numRef>
              <c:f>Sheet1!$B$3:$B$23</c:f>
              <c:numCache>
                <c:formatCode>0.00%</c:formatCode>
                <c:ptCount val="21"/>
                <c:pt idx="0">
                  <c:v>0.15</c:v>
                </c:pt>
                <c:pt idx="1">
                  <c:v>0.15</c:v>
                </c:pt>
                <c:pt idx="2">
                  <c:v>0.15</c:v>
                </c:pt>
                <c:pt idx="3">
                  <c:v>0.15</c:v>
                </c:pt>
                <c:pt idx="4">
                  <c:v>0.15</c:v>
                </c:pt>
                <c:pt idx="5">
                  <c:v>0.15</c:v>
                </c:pt>
                <c:pt idx="6">
                  <c:v>0.15</c:v>
                </c:pt>
                <c:pt idx="7">
                  <c:v>0.15</c:v>
                </c:pt>
                <c:pt idx="8">
                  <c:v>0.15</c:v>
                </c:pt>
                <c:pt idx="9">
                  <c:v>0.15074999999999997</c:v>
                </c:pt>
                <c:pt idx="10">
                  <c:v>0.15150374999999996</c:v>
                </c:pt>
                <c:pt idx="11">
                  <c:v>0.15226126874999996</c:v>
                </c:pt>
                <c:pt idx="12">
                  <c:v>0.15302257509374995</c:v>
                </c:pt>
                <c:pt idx="13">
                  <c:v>0.15378768796921868</c:v>
                </c:pt>
                <c:pt idx="14">
                  <c:v>0.15455662640906476</c:v>
                </c:pt>
                <c:pt idx="15">
                  <c:v>0.15610219267315539</c:v>
                </c:pt>
                <c:pt idx="16">
                  <c:v>0.15922423652661849</c:v>
                </c:pt>
                <c:pt idx="17">
                  <c:v>0.16240872125715086</c:v>
                </c:pt>
                <c:pt idx="18">
                  <c:v>0.16565689568229389</c:v>
                </c:pt>
                <c:pt idx="19">
                  <c:v>0.16897003359593976</c:v>
                </c:pt>
                <c:pt idx="20">
                  <c:v>0.17234943426785856</c:v>
                </c:pt>
              </c:numCache>
            </c:numRef>
          </c:val>
          <c:smooth val="0"/>
          <c:extLst>
            <c:ext xmlns:c16="http://schemas.microsoft.com/office/drawing/2014/chart" uri="{C3380CC4-5D6E-409C-BE32-E72D297353CC}">
              <c16:uniqueId val="{00000000-086D-40A0-A655-C61BEB5A966E}"/>
            </c:ext>
          </c:extLst>
        </c:ser>
        <c:ser>
          <c:idx val="1"/>
          <c:order val="1"/>
          <c:tx>
            <c:strRef>
              <c:f>Sheet1!$C$2</c:f>
              <c:strCache>
                <c:ptCount val="1"/>
                <c:pt idx="0">
                  <c:v>Kd</c:v>
                </c:pt>
              </c:strCache>
            </c:strRef>
          </c:tx>
          <c:spPr>
            <a:ln w="19050" cap="rnd">
              <a:solidFill>
                <a:schemeClr val="accent2"/>
              </a:solidFill>
              <a:round/>
            </a:ln>
            <a:effectLst/>
          </c:spPr>
          <c:marker>
            <c:symbol val="none"/>
          </c:marker>
          <c:cat>
            <c:numRef>
              <c:f>Sheet1!$H$3:$H$23</c:f>
              <c:numCache>
                <c:formatCode>General</c:formatCode>
                <c:ptCount val="21"/>
                <c:pt idx="0">
                  <c:v>0</c:v>
                </c:pt>
                <c:pt idx="1">
                  <c:v>5</c:v>
                </c:pt>
                <c:pt idx="2">
                  <c:v>10</c:v>
                </c:pt>
                <c:pt idx="3">
                  <c:v>15.000000000000002</c:v>
                </c:pt>
                <c:pt idx="4">
                  <c:v>20</c:v>
                </c:pt>
                <c:pt idx="5">
                  <c:v>25</c:v>
                </c:pt>
                <c:pt idx="6">
                  <c:v>30</c:v>
                </c:pt>
                <c:pt idx="7">
                  <c:v>35</c:v>
                </c:pt>
                <c:pt idx="8">
                  <c:v>40</c:v>
                </c:pt>
                <c:pt idx="9">
                  <c:v>44.999999999999993</c:v>
                </c:pt>
                <c:pt idx="10">
                  <c:v>49.999999999999993</c:v>
                </c:pt>
                <c:pt idx="11">
                  <c:v>54.999999999999993</c:v>
                </c:pt>
                <c:pt idx="12">
                  <c:v>60</c:v>
                </c:pt>
                <c:pt idx="13">
                  <c:v>65</c:v>
                </c:pt>
                <c:pt idx="14">
                  <c:v>70</c:v>
                </c:pt>
                <c:pt idx="15">
                  <c:v>75.000000000000014</c:v>
                </c:pt>
                <c:pt idx="16">
                  <c:v>80.000000000000014</c:v>
                </c:pt>
                <c:pt idx="17">
                  <c:v>85.000000000000014</c:v>
                </c:pt>
                <c:pt idx="18">
                  <c:v>90.000000000000028</c:v>
                </c:pt>
                <c:pt idx="19">
                  <c:v>95.000000000000028</c:v>
                </c:pt>
                <c:pt idx="20">
                  <c:v>100.00000000000003</c:v>
                </c:pt>
              </c:numCache>
            </c:numRef>
          </c:cat>
          <c:val>
            <c:numRef>
              <c:f>Sheet1!$C$3:$C$23</c:f>
              <c:numCache>
                <c:formatCode>0.00%</c:formatCode>
                <c:ptCount val="21"/>
                <c:pt idx="0" formatCode="0%">
                  <c:v>0.1</c:v>
                </c:pt>
                <c:pt idx="1">
                  <c:v>0.10020000000000001</c:v>
                </c:pt>
                <c:pt idx="2">
                  <c:v>0.10040040000000001</c:v>
                </c:pt>
                <c:pt idx="3">
                  <c:v>0.10060120080000001</c:v>
                </c:pt>
                <c:pt idx="4">
                  <c:v>0.10080240320160001</c:v>
                </c:pt>
                <c:pt idx="5">
                  <c:v>0.10100400800800322</c:v>
                </c:pt>
                <c:pt idx="6">
                  <c:v>0.10120601602401923</c:v>
                </c:pt>
                <c:pt idx="7">
                  <c:v>0.10140842805606727</c:v>
                </c:pt>
                <c:pt idx="8">
                  <c:v>0.1016112449121794</c:v>
                </c:pt>
                <c:pt idx="9">
                  <c:v>0.10201768989182812</c:v>
                </c:pt>
                <c:pt idx="10">
                  <c:v>0.10242576065139543</c:v>
                </c:pt>
                <c:pt idx="11">
                  <c:v>0.10324516673660659</c:v>
                </c:pt>
                <c:pt idx="12">
                  <c:v>0.10407112807049945</c:v>
                </c:pt>
                <c:pt idx="13">
                  <c:v>0.10490369709506345</c:v>
                </c:pt>
                <c:pt idx="14">
                  <c:v>0.10574292667182396</c:v>
                </c:pt>
                <c:pt idx="15">
                  <c:v>0.10658887008519854</c:v>
                </c:pt>
                <c:pt idx="16">
                  <c:v>0.10765475878605053</c:v>
                </c:pt>
                <c:pt idx="17">
                  <c:v>0.10873130637391104</c:v>
                </c:pt>
                <c:pt idx="18">
                  <c:v>0.10981861943765016</c:v>
                </c:pt>
                <c:pt idx="19">
                  <c:v>0.11091680563202666</c:v>
                </c:pt>
                <c:pt idx="20">
                  <c:v>0.11202597368834692</c:v>
                </c:pt>
              </c:numCache>
            </c:numRef>
          </c:val>
          <c:smooth val="0"/>
          <c:extLst>
            <c:ext xmlns:c16="http://schemas.microsoft.com/office/drawing/2014/chart" uri="{C3380CC4-5D6E-409C-BE32-E72D297353CC}">
              <c16:uniqueId val="{00000001-086D-40A0-A655-C61BEB5A966E}"/>
            </c:ext>
          </c:extLst>
        </c:ser>
        <c:ser>
          <c:idx val="5"/>
          <c:order val="2"/>
          <c:tx>
            <c:strRef>
              <c:f>Sheet1!$G$2</c:f>
              <c:strCache>
                <c:ptCount val="1"/>
                <c:pt idx="0">
                  <c:v>WACC</c:v>
                </c:pt>
              </c:strCache>
            </c:strRef>
          </c:tx>
          <c:spPr>
            <a:ln w="28575" cap="rnd">
              <a:solidFill>
                <a:schemeClr val="tx2">
                  <a:lumMod val="75000"/>
                </a:schemeClr>
              </a:solidFill>
              <a:round/>
            </a:ln>
            <a:effectLst/>
          </c:spPr>
          <c:marker>
            <c:symbol val="none"/>
          </c:marker>
          <c:cat>
            <c:numRef>
              <c:f>Sheet1!$H$3:$H$23</c:f>
              <c:numCache>
                <c:formatCode>General</c:formatCode>
                <c:ptCount val="21"/>
                <c:pt idx="0">
                  <c:v>0</c:v>
                </c:pt>
                <c:pt idx="1">
                  <c:v>5</c:v>
                </c:pt>
                <c:pt idx="2">
                  <c:v>10</c:v>
                </c:pt>
                <c:pt idx="3">
                  <c:v>15.000000000000002</c:v>
                </c:pt>
                <c:pt idx="4">
                  <c:v>20</c:v>
                </c:pt>
                <c:pt idx="5">
                  <c:v>25</c:v>
                </c:pt>
                <c:pt idx="6">
                  <c:v>30</c:v>
                </c:pt>
                <c:pt idx="7">
                  <c:v>35</c:v>
                </c:pt>
                <c:pt idx="8">
                  <c:v>40</c:v>
                </c:pt>
                <c:pt idx="9">
                  <c:v>44.999999999999993</c:v>
                </c:pt>
                <c:pt idx="10">
                  <c:v>49.999999999999993</c:v>
                </c:pt>
                <c:pt idx="11">
                  <c:v>54.999999999999993</c:v>
                </c:pt>
                <c:pt idx="12">
                  <c:v>60</c:v>
                </c:pt>
                <c:pt idx="13">
                  <c:v>65</c:v>
                </c:pt>
                <c:pt idx="14">
                  <c:v>70</c:v>
                </c:pt>
                <c:pt idx="15">
                  <c:v>75.000000000000014</c:v>
                </c:pt>
                <c:pt idx="16">
                  <c:v>80.000000000000014</c:v>
                </c:pt>
                <c:pt idx="17">
                  <c:v>85.000000000000014</c:v>
                </c:pt>
                <c:pt idx="18">
                  <c:v>90.000000000000028</c:v>
                </c:pt>
                <c:pt idx="19">
                  <c:v>95.000000000000028</c:v>
                </c:pt>
                <c:pt idx="20">
                  <c:v>100.00000000000003</c:v>
                </c:pt>
              </c:numCache>
            </c:numRef>
          </c:cat>
          <c:val>
            <c:numRef>
              <c:f>Sheet1!$G$3:$G$23</c:f>
              <c:numCache>
                <c:formatCode>0.00%</c:formatCode>
                <c:ptCount val="21"/>
                <c:pt idx="0">
                  <c:v>0.15</c:v>
                </c:pt>
                <c:pt idx="1">
                  <c:v>0.14762857142857141</c:v>
                </c:pt>
                <c:pt idx="2">
                  <c:v>0.14549094545454547</c:v>
                </c:pt>
                <c:pt idx="3">
                  <c:v>0.1435566783652174</c:v>
                </c:pt>
                <c:pt idx="4">
                  <c:v>0.14180040053359999</c:v>
                </c:pt>
                <c:pt idx="5">
                  <c:v>0.14020080160160064</c:v>
                </c:pt>
                <c:pt idx="6">
                  <c:v>0.13873984985169674</c:v>
                </c:pt>
                <c:pt idx="7">
                  <c:v>0.13740218505157298</c:v>
                </c:pt>
                <c:pt idx="8">
                  <c:v>0.13617464140347982</c:v>
                </c:pt>
                <c:pt idx="9">
                  <c:v>0.13562617962160178</c:v>
                </c:pt>
                <c:pt idx="10">
                  <c:v>0.1351444202171318</c:v>
                </c:pt>
                <c:pt idx="11">
                  <c:v>0.1348684583581507</c:v>
                </c:pt>
                <c:pt idx="12">
                  <c:v>0.134665782460031</c:v>
                </c:pt>
                <c:pt idx="13">
                  <c:v>0.13453035823091511</c:v>
                </c:pt>
                <c:pt idx="14">
                  <c:v>0.13445686769373033</c:v>
                </c:pt>
                <c:pt idx="15">
                  <c:v>0.13488219727831674</c:v>
                </c:pt>
                <c:pt idx="16">
                  <c:v>0.13630446864192161</c:v>
                </c:pt>
                <c:pt idx="17">
                  <c:v>0.13774612522971635</c:v>
                </c:pt>
                <c:pt idx="18">
                  <c:v>0.13920718588219949</c:v>
                </c:pt>
                <c:pt idx="19">
                  <c:v>0.14068769176736673</c:v>
                </c:pt>
                <c:pt idx="20">
                  <c:v>0.14218770397810276</c:v>
                </c:pt>
              </c:numCache>
            </c:numRef>
          </c:val>
          <c:smooth val="0"/>
          <c:extLst>
            <c:ext xmlns:c16="http://schemas.microsoft.com/office/drawing/2014/chart" uri="{C3380CC4-5D6E-409C-BE32-E72D297353CC}">
              <c16:uniqueId val="{00000002-086D-40A0-A655-C61BEB5A966E}"/>
            </c:ext>
          </c:extLst>
        </c:ser>
        <c:ser>
          <c:idx val="2"/>
          <c:order val="3"/>
          <c:spPr>
            <a:ln w="19050" cap="rnd">
              <a:solidFill>
                <a:schemeClr val="accent3"/>
              </a:solidFill>
              <a:prstDash val="dash"/>
              <a:round/>
            </a:ln>
            <a:effectLst/>
          </c:spPr>
          <c:marker>
            <c:symbol val="none"/>
          </c:marker>
          <c:cat>
            <c:numRef>
              <c:f>Sheet1!$H$3:$H$23</c:f>
              <c:numCache>
                <c:formatCode>General</c:formatCode>
                <c:ptCount val="21"/>
                <c:pt idx="0">
                  <c:v>0</c:v>
                </c:pt>
                <c:pt idx="1">
                  <c:v>5</c:v>
                </c:pt>
                <c:pt idx="2">
                  <c:v>10</c:v>
                </c:pt>
                <c:pt idx="3">
                  <c:v>15.000000000000002</c:v>
                </c:pt>
                <c:pt idx="4">
                  <c:v>20</c:v>
                </c:pt>
                <c:pt idx="5">
                  <c:v>25</c:v>
                </c:pt>
                <c:pt idx="6">
                  <c:v>30</c:v>
                </c:pt>
                <c:pt idx="7">
                  <c:v>35</c:v>
                </c:pt>
                <c:pt idx="8">
                  <c:v>40</c:v>
                </c:pt>
                <c:pt idx="9">
                  <c:v>44.999999999999993</c:v>
                </c:pt>
                <c:pt idx="10">
                  <c:v>49.999999999999993</c:v>
                </c:pt>
                <c:pt idx="11">
                  <c:v>54.999999999999993</c:v>
                </c:pt>
                <c:pt idx="12">
                  <c:v>60</c:v>
                </c:pt>
                <c:pt idx="13">
                  <c:v>65</c:v>
                </c:pt>
                <c:pt idx="14">
                  <c:v>70</c:v>
                </c:pt>
                <c:pt idx="15">
                  <c:v>75.000000000000014</c:v>
                </c:pt>
                <c:pt idx="16">
                  <c:v>80.000000000000014</c:v>
                </c:pt>
                <c:pt idx="17">
                  <c:v>85.000000000000014</c:v>
                </c:pt>
                <c:pt idx="18">
                  <c:v>90.000000000000028</c:v>
                </c:pt>
                <c:pt idx="19">
                  <c:v>95.000000000000028</c:v>
                </c:pt>
                <c:pt idx="20">
                  <c:v>100.00000000000003</c:v>
                </c:pt>
              </c:numCache>
            </c:numRef>
          </c:cat>
          <c:val>
            <c:numRef>
              <c:f>Sheet1!$I$3:$I$23</c:f>
              <c:numCache>
                <c:formatCode>0%</c:formatCode>
                <c:ptCount val="21"/>
                <c:pt idx="0">
                  <c:v>0.15</c:v>
                </c:pt>
                <c:pt idx="1">
                  <c:v>0.15</c:v>
                </c:pt>
                <c:pt idx="2">
                  <c:v>0.15</c:v>
                </c:pt>
                <c:pt idx="3">
                  <c:v>0.15</c:v>
                </c:pt>
                <c:pt idx="4">
                  <c:v>0.15</c:v>
                </c:pt>
                <c:pt idx="5">
                  <c:v>0.15</c:v>
                </c:pt>
                <c:pt idx="6">
                  <c:v>0.15</c:v>
                </c:pt>
                <c:pt idx="7">
                  <c:v>0.15</c:v>
                </c:pt>
                <c:pt idx="8">
                  <c:v>0.15</c:v>
                </c:pt>
                <c:pt idx="9">
                  <c:v>0.15</c:v>
                </c:pt>
                <c:pt idx="10">
                  <c:v>0.15</c:v>
                </c:pt>
                <c:pt idx="11">
                  <c:v>0.15</c:v>
                </c:pt>
                <c:pt idx="12">
                  <c:v>0.15</c:v>
                </c:pt>
                <c:pt idx="13">
                  <c:v>0.15</c:v>
                </c:pt>
                <c:pt idx="14">
                  <c:v>0.15</c:v>
                </c:pt>
                <c:pt idx="15">
                  <c:v>0.15</c:v>
                </c:pt>
                <c:pt idx="16">
                  <c:v>0.15</c:v>
                </c:pt>
                <c:pt idx="17">
                  <c:v>0.15</c:v>
                </c:pt>
                <c:pt idx="18">
                  <c:v>0.15</c:v>
                </c:pt>
                <c:pt idx="19">
                  <c:v>0.15</c:v>
                </c:pt>
                <c:pt idx="20">
                  <c:v>0.15</c:v>
                </c:pt>
              </c:numCache>
            </c:numRef>
          </c:val>
          <c:smooth val="0"/>
          <c:extLst>
            <c:ext xmlns:c16="http://schemas.microsoft.com/office/drawing/2014/chart" uri="{C3380CC4-5D6E-409C-BE32-E72D297353CC}">
              <c16:uniqueId val="{00000003-086D-40A0-A655-C61BEB5A966E}"/>
            </c:ext>
          </c:extLst>
        </c:ser>
        <c:ser>
          <c:idx val="3"/>
          <c:order val="4"/>
          <c:spPr>
            <a:ln w="19050" cap="rnd">
              <a:solidFill>
                <a:schemeClr val="bg2">
                  <a:lumMod val="75000"/>
                </a:schemeClr>
              </a:solidFill>
              <a:prstDash val="dash"/>
              <a:round/>
            </a:ln>
            <a:effectLst/>
          </c:spPr>
          <c:marker>
            <c:symbol val="none"/>
          </c:marker>
          <c:cat>
            <c:numRef>
              <c:f>Sheet1!$H$3:$H$23</c:f>
              <c:numCache>
                <c:formatCode>General</c:formatCode>
                <c:ptCount val="21"/>
                <c:pt idx="0">
                  <c:v>0</c:v>
                </c:pt>
                <c:pt idx="1">
                  <c:v>5</c:v>
                </c:pt>
                <c:pt idx="2">
                  <c:v>10</c:v>
                </c:pt>
                <c:pt idx="3">
                  <c:v>15.000000000000002</c:v>
                </c:pt>
                <c:pt idx="4">
                  <c:v>20</c:v>
                </c:pt>
                <c:pt idx="5">
                  <c:v>25</c:v>
                </c:pt>
                <c:pt idx="6">
                  <c:v>30</c:v>
                </c:pt>
                <c:pt idx="7">
                  <c:v>35</c:v>
                </c:pt>
                <c:pt idx="8">
                  <c:v>40</c:v>
                </c:pt>
                <c:pt idx="9">
                  <c:v>44.999999999999993</c:v>
                </c:pt>
                <c:pt idx="10">
                  <c:v>49.999999999999993</c:v>
                </c:pt>
                <c:pt idx="11">
                  <c:v>54.999999999999993</c:v>
                </c:pt>
                <c:pt idx="12">
                  <c:v>60</c:v>
                </c:pt>
                <c:pt idx="13">
                  <c:v>65</c:v>
                </c:pt>
                <c:pt idx="14">
                  <c:v>70</c:v>
                </c:pt>
                <c:pt idx="15">
                  <c:v>75.000000000000014</c:v>
                </c:pt>
                <c:pt idx="16">
                  <c:v>80.000000000000014</c:v>
                </c:pt>
                <c:pt idx="17">
                  <c:v>85.000000000000014</c:v>
                </c:pt>
                <c:pt idx="18">
                  <c:v>90.000000000000028</c:v>
                </c:pt>
                <c:pt idx="19">
                  <c:v>95.000000000000028</c:v>
                </c:pt>
                <c:pt idx="20">
                  <c:v>100.00000000000003</c:v>
                </c:pt>
              </c:numCache>
            </c:numRef>
          </c:cat>
          <c:val>
            <c:numRef>
              <c:f>Sheet1!$J$3:$J$23</c:f>
              <c:numCache>
                <c:formatCode>0%</c:formatCode>
                <c:ptCount val="21"/>
                <c:pt idx="0">
                  <c:v>0.1</c:v>
                </c:pt>
                <c:pt idx="1">
                  <c:v>0.1</c:v>
                </c:pt>
                <c:pt idx="2">
                  <c:v>0.1</c:v>
                </c:pt>
                <c:pt idx="3">
                  <c:v>0.1</c:v>
                </c:pt>
                <c:pt idx="4">
                  <c:v>0.1</c:v>
                </c:pt>
                <c:pt idx="5">
                  <c:v>0.1</c:v>
                </c:pt>
                <c:pt idx="6">
                  <c:v>0.1</c:v>
                </c:pt>
                <c:pt idx="7">
                  <c:v>0.1</c:v>
                </c:pt>
                <c:pt idx="8">
                  <c:v>0.1</c:v>
                </c:pt>
                <c:pt idx="9">
                  <c:v>0.1</c:v>
                </c:pt>
                <c:pt idx="10">
                  <c:v>0.1</c:v>
                </c:pt>
                <c:pt idx="11">
                  <c:v>0.1</c:v>
                </c:pt>
                <c:pt idx="12">
                  <c:v>0.1</c:v>
                </c:pt>
                <c:pt idx="13">
                  <c:v>0.1</c:v>
                </c:pt>
                <c:pt idx="14">
                  <c:v>0.1</c:v>
                </c:pt>
                <c:pt idx="15">
                  <c:v>0.1</c:v>
                </c:pt>
                <c:pt idx="16">
                  <c:v>0.1</c:v>
                </c:pt>
                <c:pt idx="17">
                  <c:v>0.1</c:v>
                </c:pt>
                <c:pt idx="18">
                  <c:v>0.1</c:v>
                </c:pt>
                <c:pt idx="19">
                  <c:v>0.1</c:v>
                </c:pt>
                <c:pt idx="20">
                  <c:v>0.1</c:v>
                </c:pt>
              </c:numCache>
            </c:numRef>
          </c:val>
          <c:smooth val="0"/>
          <c:extLst>
            <c:ext xmlns:c16="http://schemas.microsoft.com/office/drawing/2014/chart" uri="{C3380CC4-5D6E-409C-BE32-E72D297353CC}">
              <c16:uniqueId val="{00000004-086D-40A0-A655-C61BEB5A966E}"/>
            </c:ext>
          </c:extLst>
        </c:ser>
        <c:dLbls>
          <c:showLegendKey val="0"/>
          <c:showVal val="0"/>
          <c:showCatName val="0"/>
          <c:showSerName val="0"/>
          <c:showPercent val="0"/>
          <c:showBubbleSize val="0"/>
        </c:dLbls>
        <c:smooth val="0"/>
        <c:axId val="419892432"/>
        <c:axId val="419895712"/>
      </c:lineChart>
      <c:catAx>
        <c:axId val="41989243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2000" dirty="0"/>
                  <a:t>D/E</a:t>
                </a:r>
              </a:p>
            </c:rich>
          </c:tx>
          <c:layout>
            <c:manualLayout>
              <c:xMode val="edge"/>
              <c:yMode val="edge"/>
              <c:x val="0.80683210128978244"/>
              <c:y val="0.82701848809666545"/>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22225" cap="flat" cmpd="sng" algn="ctr">
            <a:solidFill>
              <a:schemeClr val="tx1">
                <a:lumMod val="75000"/>
                <a:lumOff val="25000"/>
              </a:schemeClr>
            </a:solidFill>
            <a:round/>
            <a:tailEnd type="arrow"/>
          </a:ln>
          <a:effectLst/>
        </c:spPr>
        <c:txPr>
          <a:bodyPr rot="-60000000" spcFirstLastPara="1" vertOverflow="ellipsis" vert="horz" wrap="square" anchor="ctr" anchorCtr="1"/>
          <a:lstStyle/>
          <a:p>
            <a:pPr>
              <a:defRPr sz="100" b="0" i="0" u="none" strike="noStrike" kern="1200" baseline="0">
                <a:solidFill>
                  <a:schemeClr val="tx1">
                    <a:lumMod val="65000"/>
                    <a:lumOff val="35000"/>
                  </a:schemeClr>
                </a:solidFill>
                <a:latin typeface="+mn-lt"/>
                <a:ea typeface="+mn-ea"/>
                <a:cs typeface="+mn-cs"/>
              </a:defRPr>
            </a:pPr>
            <a:endParaRPr lang="en-US"/>
          </a:p>
        </c:txPr>
        <c:crossAx val="419895712"/>
        <c:crossesAt val="8.0000000000000016E-2"/>
        <c:auto val="1"/>
        <c:lblAlgn val="ctr"/>
        <c:lblOffset val="100"/>
        <c:noMultiLvlLbl val="0"/>
      </c:catAx>
      <c:valAx>
        <c:axId val="419895712"/>
        <c:scaling>
          <c:orientation val="minMax"/>
          <c:min val="8.0000000000000016E-2"/>
        </c:scaling>
        <c:delete val="0"/>
        <c:axPos val="l"/>
        <c:majorGridlines>
          <c:spPr>
            <a:ln w="9525" cap="flat" cmpd="sng" algn="ctr">
              <a:no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2000" dirty="0"/>
                  <a:t>Cost</a:t>
                </a:r>
                <a:r>
                  <a:rPr lang="en-US" sz="2000" baseline="0" dirty="0"/>
                  <a:t> of Capital (%)</a:t>
                </a:r>
                <a:endParaRPr lang="en-US" sz="2000" dirty="0"/>
              </a:p>
            </c:rich>
          </c:tx>
          <c:layout>
            <c:manualLayout>
              <c:xMode val="edge"/>
              <c:yMode val="edge"/>
              <c:x val="1.7883662278089664E-2"/>
              <c:y val="0.25411251954602904"/>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w="22225">
            <a:solidFill>
              <a:schemeClr val="tx1">
                <a:lumMod val="75000"/>
                <a:lumOff val="25000"/>
              </a:schemeClr>
            </a:solidFill>
            <a:tailEnd type="arrow"/>
          </a:ln>
          <a:effectLst/>
        </c:spPr>
        <c:txPr>
          <a:bodyPr rot="-60000000" spcFirstLastPara="1" vertOverflow="ellipsis" vert="horz" wrap="square" anchor="ctr" anchorCtr="1"/>
          <a:lstStyle/>
          <a:p>
            <a:pPr>
              <a:defRPr sz="100" b="0" i="0" u="none" strike="noStrike" kern="1200" baseline="0">
                <a:solidFill>
                  <a:schemeClr val="tx1">
                    <a:lumMod val="65000"/>
                    <a:lumOff val="35000"/>
                  </a:schemeClr>
                </a:solidFill>
                <a:latin typeface="+mn-lt"/>
                <a:ea typeface="+mn-ea"/>
                <a:cs typeface="+mn-cs"/>
              </a:defRPr>
            </a:pPr>
            <a:endParaRPr lang="en-US"/>
          </a:p>
        </c:txPr>
        <c:crossAx val="419892432"/>
        <c:crosses val="autoZero"/>
        <c:crossBetween val="midCat"/>
        <c:majorUnit val="2.0000000000000004E-2"/>
      </c:valAx>
      <c:spPr>
        <a:noFill/>
        <a:ln>
          <a:noFill/>
          <a:prstDash val="dash"/>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3983044900136149E-2"/>
          <c:y val="0.16184837275457528"/>
          <c:w val="0.87659924862333383"/>
          <c:h val="0.68340828741436566"/>
        </c:manualLayout>
      </c:layout>
      <c:barChart>
        <c:barDir val="col"/>
        <c:grouping val="clustered"/>
        <c:varyColors val="0"/>
        <c:ser>
          <c:idx val="0"/>
          <c:order val="0"/>
          <c:tx>
            <c:strRef>
              <c:f>Lecture7!$C$3</c:f>
              <c:strCache>
                <c:ptCount val="1"/>
                <c:pt idx="0">
                  <c:v>2016</c:v>
                </c:pt>
              </c:strCache>
            </c:strRef>
          </c:tx>
          <c:spPr>
            <a:solidFill>
              <a:schemeClr val="accent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6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Lecture7!$B$4:$B$6</c:f>
              <c:strCache>
                <c:ptCount val="3"/>
                <c:pt idx="0">
                  <c:v>British Petroleum</c:v>
                </c:pt>
                <c:pt idx="1">
                  <c:v>ExxonMobil</c:v>
                </c:pt>
                <c:pt idx="2">
                  <c:v>Shell</c:v>
                </c:pt>
              </c:strCache>
            </c:strRef>
          </c:cat>
          <c:val>
            <c:numRef>
              <c:f>Lecture7!$C$4:$C$6</c:f>
              <c:numCache>
                <c:formatCode>_-* #,##0_-;\-* #,##0_-;_-* "-"??_-;_-@_-</c:formatCode>
                <c:ptCount val="3"/>
                <c:pt idx="0">
                  <c:v>58300</c:v>
                </c:pt>
                <c:pt idx="1">
                  <c:v>42762</c:v>
                </c:pt>
                <c:pt idx="2">
                  <c:v>92476</c:v>
                </c:pt>
              </c:numCache>
            </c:numRef>
          </c:val>
          <c:extLst>
            <c:ext xmlns:c16="http://schemas.microsoft.com/office/drawing/2014/chart" uri="{C3380CC4-5D6E-409C-BE32-E72D297353CC}">
              <c16:uniqueId val="{00000000-593F-4671-803F-6C389F0192BE}"/>
            </c:ext>
          </c:extLst>
        </c:ser>
        <c:ser>
          <c:idx val="1"/>
          <c:order val="1"/>
          <c:tx>
            <c:strRef>
              <c:f>Lecture7!$D$3</c:f>
              <c:strCache>
                <c:ptCount val="1"/>
                <c:pt idx="0">
                  <c:v>2017</c:v>
                </c:pt>
              </c:strCache>
            </c:strRef>
          </c:tx>
          <c:spPr>
            <a:solidFill>
              <a:schemeClr val="accent2"/>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6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Lecture7!$B$4:$B$6</c:f>
              <c:strCache>
                <c:ptCount val="3"/>
                <c:pt idx="0">
                  <c:v>British Petroleum</c:v>
                </c:pt>
                <c:pt idx="1">
                  <c:v>ExxonMobil</c:v>
                </c:pt>
                <c:pt idx="2">
                  <c:v>Shell</c:v>
                </c:pt>
              </c:strCache>
            </c:strRef>
          </c:cat>
          <c:val>
            <c:numRef>
              <c:f>Lecture7!$D$4:$D$6</c:f>
              <c:numCache>
                <c:formatCode>_-* #,##0_-;\-* #,##0_-;_-* "-"??_-;_-@_-</c:formatCode>
                <c:ptCount val="3"/>
                <c:pt idx="0">
                  <c:v>63230</c:v>
                </c:pt>
                <c:pt idx="1">
                  <c:v>42336</c:v>
                </c:pt>
                <c:pt idx="2">
                  <c:v>85665</c:v>
                </c:pt>
              </c:numCache>
            </c:numRef>
          </c:val>
          <c:extLst>
            <c:ext xmlns:c16="http://schemas.microsoft.com/office/drawing/2014/chart" uri="{C3380CC4-5D6E-409C-BE32-E72D297353CC}">
              <c16:uniqueId val="{00000001-593F-4671-803F-6C389F0192BE}"/>
            </c:ext>
          </c:extLst>
        </c:ser>
        <c:ser>
          <c:idx val="2"/>
          <c:order val="2"/>
          <c:tx>
            <c:strRef>
              <c:f>Lecture7!$E$3</c:f>
              <c:strCache>
                <c:ptCount val="1"/>
                <c:pt idx="0">
                  <c:v>2018</c:v>
                </c:pt>
              </c:strCache>
            </c:strRef>
          </c:tx>
          <c:spPr>
            <a:solidFill>
              <a:schemeClr val="accent3"/>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6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Lecture7!$B$4:$B$6</c:f>
              <c:strCache>
                <c:ptCount val="3"/>
                <c:pt idx="0">
                  <c:v>British Petroleum</c:v>
                </c:pt>
                <c:pt idx="1">
                  <c:v>ExxonMobil</c:v>
                </c:pt>
                <c:pt idx="2">
                  <c:v>Shell</c:v>
                </c:pt>
              </c:strCache>
            </c:strRef>
          </c:cat>
          <c:val>
            <c:numRef>
              <c:f>Lecture7!$E$4:$E$6</c:f>
              <c:numCache>
                <c:formatCode>_-* #,##0_-;\-* #,##0_-;_-* "-"??_-;_-@_-</c:formatCode>
                <c:ptCount val="3"/>
                <c:pt idx="0">
                  <c:v>65799</c:v>
                </c:pt>
                <c:pt idx="1">
                  <c:v>37796</c:v>
                </c:pt>
                <c:pt idx="2">
                  <c:v>76824</c:v>
                </c:pt>
              </c:numCache>
            </c:numRef>
          </c:val>
          <c:extLst>
            <c:ext xmlns:c16="http://schemas.microsoft.com/office/drawing/2014/chart" uri="{C3380CC4-5D6E-409C-BE32-E72D297353CC}">
              <c16:uniqueId val="{00000002-593F-4671-803F-6C389F0192BE}"/>
            </c:ext>
          </c:extLst>
        </c:ser>
        <c:ser>
          <c:idx val="3"/>
          <c:order val="3"/>
          <c:tx>
            <c:strRef>
              <c:f>Lecture7!$F$3</c:f>
              <c:strCache>
                <c:ptCount val="1"/>
                <c:pt idx="0">
                  <c:v>2019</c:v>
                </c:pt>
              </c:strCache>
            </c:strRef>
          </c:tx>
          <c:spPr>
            <a:solidFill>
              <a:schemeClr val="accent4"/>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6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Lecture7!$B$4:$B$6</c:f>
              <c:strCache>
                <c:ptCount val="3"/>
                <c:pt idx="0">
                  <c:v>British Petroleum</c:v>
                </c:pt>
                <c:pt idx="1">
                  <c:v>ExxonMobil</c:v>
                </c:pt>
                <c:pt idx="2">
                  <c:v>Shell</c:v>
                </c:pt>
              </c:strCache>
            </c:strRef>
          </c:cat>
          <c:val>
            <c:numRef>
              <c:f>Lecture7!$F$4:$F$6</c:f>
              <c:numCache>
                <c:formatCode>_-* #,##0_-;\-* #,##0_-;_-* "-"??_-;_-@_-</c:formatCode>
                <c:ptCount val="3"/>
                <c:pt idx="0">
                  <c:v>67724</c:v>
                </c:pt>
                <c:pt idx="1">
                  <c:v>36920</c:v>
                </c:pt>
                <c:pt idx="2">
                  <c:v>96424</c:v>
                </c:pt>
              </c:numCache>
            </c:numRef>
          </c:val>
          <c:extLst>
            <c:ext xmlns:c16="http://schemas.microsoft.com/office/drawing/2014/chart" uri="{C3380CC4-5D6E-409C-BE32-E72D297353CC}">
              <c16:uniqueId val="{00000003-593F-4671-803F-6C389F0192BE}"/>
            </c:ext>
          </c:extLst>
        </c:ser>
        <c:dLbls>
          <c:dLblPos val="outEnd"/>
          <c:showLegendKey val="0"/>
          <c:showVal val="1"/>
          <c:showCatName val="0"/>
          <c:showSerName val="0"/>
          <c:showPercent val="0"/>
          <c:showBubbleSize val="0"/>
        </c:dLbls>
        <c:gapWidth val="500"/>
        <c:overlap val="-90"/>
        <c:axId val="1682854671"/>
        <c:axId val="1679777055"/>
      </c:barChart>
      <c:catAx>
        <c:axId val="1682854671"/>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cap="all" spc="120" normalizeH="0" baseline="0">
                <a:solidFill>
                  <a:schemeClr val="tx1">
                    <a:lumMod val="65000"/>
                    <a:lumOff val="35000"/>
                  </a:schemeClr>
                </a:solidFill>
                <a:latin typeface="+mn-lt"/>
                <a:ea typeface="+mn-ea"/>
                <a:cs typeface="+mn-cs"/>
              </a:defRPr>
            </a:pPr>
            <a:endParaRPr lang="en-US"/>
          </a:p>
        </c:txPr>
        <c:crossAx val="1679777055"/>
        <c:crosses val="autoZero"/>
        <c:auto val="1"/>
        <c:lblAlgn val="ctr"/>
        <c:lblOffset val="100"/>
        <c:noMultiLvlLbl val="0"/>
      </c:catAx>
      <c:valAx>
        <c:axId val="1679777055"/>
        <c:scaling>
          <c:orientation val="minMax"/>
        </c:scaling>
        <c:delete val="1"/>
        <c:axPos val="l"/>
        <c:title>
          <c:tx>
            <c:rich>
              <a:bodyPr rot="-5400000" spcFirstLastPara="1" vertOverflow="ellipsis" vert="horz" wrap="square" anchor="ctr" anchorCtr="1"/>
              <a:lstStyle/>
              <a:p>
                <a:pPr>
                  <a:defRPr sz="1600" b="0" i="0" u="none" strike="noStrike" kern="1200" cap="all" baseline="0">
                    <a:solidFill>
                      <a:schemeClr val="tx1">
                        <a:lumMod val="65000"/>
                        <a:lumOff val="35000"/>
                      </a:schemeClr>
                    </a:solidFill>
                    <a:latin typeface="+mn-lt"/>
                    <a:ea typeface="+mn-ea"/>
                    <a:cs typeface="+mn-cs"/>
                  </a:defRPr>
                </a:pPr>
                <a:r>
                  <a:rPr lang="en-GB"/>
                  <a:t>TOTAL DEBT ($million)</a:t>
                </a:r>
              </a:p>
            </c:rich>
          </c:tx>
          <c:overlay val="0"/>
          <c:spPr>
            <a:noFill/>
            <a:ln>
              <a:noFill/>
            </a:ln>
            <a:effectLst/>
          </c:spPr>
          <c:txPr>
            <a:bodyPr rot="-5400000" spcFirstLastPara="1" vertOverflow="ellipsis" vert="horz" wrap="square" anchor="ctr" anchorCtr="1"/>
            <a:lstStyle/>
            <a:p>
              <a:pPr>
                <a:defRPr sz="1600" b="0" i="0" u="none" strike="noStrike" kern="1200" cap="all" baseline="0">
                  <a:solidFill>
                    <a:schemeClr val="tx1">
                      <a:lumMod val="65000"/>
                      <a:lumOff val="35000"/>
                    </a:schemeClr>
                  </a:solidFill>
                  <a:latin typeface="+mn-lt"/>
                  <a:ea typeface="+mn-ea"/>
                  <a:cs typeface="+mn-cs"/>
                </a:defRPr>
              </a:pPr>
              <a:endParaRPr lang="en-US"/>
            </a:p>
          </c:txPr>
        </c:title>
        <c:numFmt formatCode="_-* #,##0_-;\-* #,##0_-;_-* &quot;-&quot;??_-;_-@_-" sourceLinked="1"/>
        <c:majorTickMark val="none"/>
        <c:minorTickMark val="none"/>
        <c:tickLblPos val="nextTo"/>
        <c:crossAx val="1682854671"/>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6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800"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43CF07-9307-6C48-9A7D-CFB6D27789B3}"/>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3757DB75-BAF4-B743-9A92-74B92A91E0A3}"/>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B22C6B3-A39F-7849-8137-15C55F281F8E}"/>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DA11F245-9DFC-A14D-946D-EB14F66A9135}" type="slidenum">
              <a:rPr lang="en-US" smtClean="0"/>
              <a:t>‹#›</a:t>
            </a:fld>
            <a:endParaRPr lang="en-US"/>
          </a:p>
        </p:txBody>
      </p:sp>
    </p:spTree>
    <p:extLst>
      <p:ext uri="{BB962C8B-B14F-4D97-AF65-F5344CB8AC3E}">
        <p14:creationId xmlns:p14="http://schemas.microsoft.com/office/powerpoint/2010/main" val="12879025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ea typeface="ＭＳ Ｐゴシック" charset="0"/>
                <a:cs typeface="ＭＳ Ｐゴシック" charset="0"/>
              </a:defRPr>
            </a:lvl1pPr>
          </a:lstStyle>
          <a:p>
            <a:pPr>
              <a:defRPr/>
            </a:pPr>
            <a:endParaRPr lang="en-US"/>
          </a:p>
        </p:txBody>
      </p:sp>
      <p:sp>
        <p:nvSpPr>
          <p:cNvPr id="11267" name="Rectangle 3"/>
          <p:cNvSpPr>
            <a:spLocks noGrp="1" noChangeArrowheads="1"/>
          </p:cNvSpPr>
          <p:nvPr>
            <p:ph type="dt" idx="1"/>
          </p:nvPr>
        </p:nvSpPr>
        <p:spPr bwMode="auto">
          <a:xfrm>
            <a:off x="5180013"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ea typeface="ＭＳ Ｐゴシック" charset="0"/>
                <a:cs typeface="ＭＳ Ｐゴシック" charset="0"/>
              </a:defRPr>
            </a:lvl1pPr>
          </a:lstStyle>
          <a:p>
            <a:pPr>
              <a:defRPr/>
            </a:pPr>
            <a:endParaRPr lang="en-US"/>
          </a:p>
        </p:txBody>
      </p:sp>
      <p:sp>
        <p:nvSpPr>
          <p:cNvPr id="12292" name="Rectangle 4"/>
          <p:cNvSpPr>
            <a:spLocks noGrp="1" noRot="1" noChangeAspect="1" noChangeArrowheads="1" noTextEdit="1"/>
          </p:cNvSpPr>
          <p:nvPr>
            <p:ph type="sldImg" idx="2"/>
          </p:nvPr>
        </p:nvSpPr>
        <p:spPr bwMode="auto">
          <a:xfrm>
            <a:off x="2857500" y="514350"/>
            <a:ext cx="3429000" cy="25717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1269" name="Rectangle 5"/>
          <p:cNvSpPr>
            <a:spLocks noGrp="1" noChangeArrowheads="1"/>
          </p:cNvSpPr>
          <p:nvPr>
            <p:ph type="body" sz="quarter" idx="3"/>
          </p:nvPr>
        </p:nvSpPr>
        <p:spPr bwMode="auto">
          <a:xfrm>
            <a:off x="914400" y="3257550"/>
            <a:ext cx="7315200" cy="30861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270" name="Rectangle 6"/>
          <p:cNvSpPr>
            <a:spLocks noGrp="1" noChangeArrowheads="1"/>
          </p:cNvSpPr>
          <p:nvPr>
            <p:ph type="ftr" sz="quarter" idx="4"/>
          </p:nvPr>
        </p:nvSpPr>
        <p:spPr bwMode="auto">
          <a:xfrm>
            <a:off x="0" y="6513513"/>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ea typeface="ＭＳ Ｐゴシック" charset="0"/>
                <a:cs typeface="ＭＳ Ｐゴシック" charset="0"/>
              </a:defRPr>
            </a:lvl1pPr>
          </a:lstStyle>
          <a:p>
            <a:pPr>
              <a:defRPr/>
            </a:pPr>
            <a:endParaRPr lang="en-US"/>
          </a:p>
        </p:txBody>
      </p:sp>
      <p:sp>
        <p:nvSpPr>
          <p:cNvPr id="11271" name="Rectangle 7"/>
          <p:cNvSpPr>
            <a:spLocks noGrp="1" noChangeArrowheads="1"/>
          </p:cNvSpPr>
          <p:nvPr>
            <p:ph type="sldNum" sz="quarter" idx="5"/>
          </p:nvPr>
        </p:nvSpPr>
        <p:spPr bwMode="auto">
          <a:xfrm>
            <a:off x="5180013" y="6513513"/>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85360570-2B09-DB43-BBE0-DA076DA911F1}" type="slidenum">
              <a:rPr lang="en-US" altLang="en-US"/>
              <a:pPr>
                <a:defRPr/>
              </a:pPr>
              <a:t>‹#›</a:t>
            </a:fld>
            <a:endParaRPr lang="en-US" altLang="en-US"/>
          </a:p>
        </p:txBody>
      </p:sp>
    </p:spTree>
    <p:extLst>
      <p:ext uri="{BB962C8B-B14F-4D97-AF65-F5344CB8AC3E}">
        <p14:creationId xmlns:p14="http://schemas.microsoft.com/office/powerpoint/2010/main" val="2004877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5613"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2813"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0013"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7213"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5943" algn="l" defTabSz="914378" rtl="0" eaLnBrk="1" latinLnBrk="0" hangingPunct="1">
      <a:defRPr sz="1200" kern="1200">
        <a:solidFill>
          <a:schemeClr val="tx1"/>
        </a:solidFill>
        <a:latin typeface="+mn-lt"/>
        <a:ea typeface="+mn-ea"/>
        <a:cs typeface="+mn-cs"/>
      </a:defRPr>
    </a:lvl6pPr>
    <a:lvl7pPr marL="2743132" algn="l" defTabSz="914378" rtl="0" eaLnBrk="1" latinLnBrk="0" hangingPunct="1">
      <a:defRPr sz="1200" kern="1200">
        <a:solidFill>
          <a:schemeClr val="tx1"/>
        </a:solidFill>
        <a:latin typeface="+mn-lt"/>
        <a:ea typeface="+mn-ea"/>
        <a:cs typeface="+mn-cs"/>
      </a:defRPr>
    </a:lvl7pPr>
    <a:lvl8pPr marL="3200320" algn="l" defTabSz="914378" rtl="0" eaLnBrk="1" latinLnBrk="0" hangingPunct="1">
      <a:defRPr sz="1200" kern="1200">
        <a:solidFill>
          <a:schemeClr val="tx1"/>
        </a:solidFill>
        <a:latin typeface="+mn-lt"/>
        <a:ea typeface="+mn-ea"/>
        <a:cs typeface="+mn-cs"/>
      </a:defRPr>
    </a:lvl8pPr>
    <a:lvl9pPr marL="3657509" algn="l" defTabSz="914378"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1</a:t>
            </a:fld>
            <a:endParaRPr lang="en-US" altLang="en-US"/>
          </a:p>
        </p:txBody>
      </p:sp>
    </p:spTree>
    <p:extLst>
      <p:ext uri="{BB962C8B-B14F-4D97-AF65-F5344CB8AC3E}">
        <p14:creationId xmlns:p14="http://schemas.microsoft.com/office/powerpoint/2010/main" val="1172060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2</a:t>
            </a:fld>
            <a:endParaRPr lang="en-US" altLang="en-US"/>
          </a:p>
        </p:txBody>
      </p:sp>
    </p:spTree>
    <p:extLst>
      <p:ext uri="{BB962C8B-B14F-4D97-AF65-F5344CB8AC3E}">
        <p14:creationId xmlns:p14="http://schemas.microsoft.com/office/powerpoint/2010/main" val="27135910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NOTE: The figures for these charts were taken from the company’s balance sheets, it is NOT the market value of the equity or the market value of the debt. This is for illustrative purposes. Book value of equity (shareholder’s equity on the balance sheet) often differs substantially from the </a:t>
            </a:r>
            <a:r>
              <a:rPr lang="en-GB" b="1" dirty="0"/>
              <a:t>market value of equity</a:t>
            </a:r>
            <a:r>
              <a:rPr lang="en-GB" dirty="0"/>
              <a:t> (market capitalisation). This is because the book value of equity reflects historical costs, while market value reflects investor expectations and future growth potential.</a:t>
            </a:r>
          </a:p>
          <a:p>
            <a:endParaRPr lang="en-GB" dirty="0"/>
          </a:p>
          <a:p>
            <a:endParaRPr lang="en-GB" dirty="0"/>
          </a:p>
        </p:txBody>
      </p:sp>
      <p:sp>
        <p:nvSpPr>
          <p:cNvPr id="4" name="Slide Number Placeholder 3"/>
          <p:cNvSpPr>
            <a:spLocks noGrp="1"/>
          </p:cNvSpPr>
          <p:nvPr>
            <p:ph type="sldNum" sz="quarter" idx="10"/>
          </p:nvPr>
        </p:nvSpPr>
        <p:spPr/>
        <p:txBody>
          <a:bodyPr/>
          <a:lstStyle/>
          <a:p>
            <a:fld id="{60A34707-E474-48EA-B54D-5816D1580940}" type="slidenum">
              <a:rPr lang="en-GB" smtClean="0"/>
              <a:t>3</a:t>
            </a:fld>
            <a:endParaRPr lang="en-GB"/>
          </a:p>
        </p:txBody>
      </p:sp>
    </p:spTree>
    <p:extLst>
      <p:ext uri="{BB962C8B-B14F-4D97-AF65-F5344CB8AC3E}">
        <p14:creationId xmlns:p14="http://schemas.microsoft.com/office/powerpoint/2010/main" val="22004449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65E86294-451E-497D-A27E-67A16BE01FFB}" type="slidenum">
              <a:rPr lang="en-GB" smtClean="0"/>
              <a:t>5</a:t>
            </a:fld>
            <a:endParaRPr lang="en-GB"/>
          </a:p>
        </p:txBody>
      </p:sp>
    </p:spTree>
    <p:extLst>
      <p:ext uri="{BB962C8B-B14F-4D97-AF65-F5344CB8AC3E}">
        <p14:creationId xmlns:p14="http://schemas.microsoft.com/office/powerpoint/2010/main" val="25230488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F5EFC-E455-F8AD-9B91-C8E997500F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722721-1380-27B6-65EF-60F5DB47F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D2A9F0-4646-89DD-C94E-1AAF7C68A765}"/>
              </a:ext>
            </a:extLst>
          </p:cNvPr>
          <p:cNvSpPr>
            <a:spLocks noGrp="1"/>
          </p:cNvSpPr>
          <p:nvPr>
            <p:ph type="body" idx="1"/>
          </p:nvPr>
        </p:nvSpPr>
        <p:spPr/>
        <p:txBody>
          <a:bodyPr/>
          <a:lstStyle/>
          <a:p>
            <a:r>
              <a:rPr lang="en-GB" dirty="0"/>
              <a:t>WACC = Weighting of debt x cost of debt PLUS weighting of equity x cost of equity</a:t>
            </a:r>
          </a:p>
          <a:p>
            <a:endParaRPr lang="en-GB" dirty="0"/>
          </a:p>
          <a:p>
            <a:r>
              <a:rPr lang="en-GB" dirty="0"/>
              <a:t>We expect a given rate of return based on how much our financing costs us. So this impacts all our investment decision.</a:t>
            </a:r>
          </a:p>
          <a:p>
            <a:endParaRPr lang="en-GB" dirty="0"/>
          </a:p>
          <a:p>
            <a:r>
              <a:rPr lang="en-GB" dirty="0"/>
              <a:t>A high WACC – discounts CF’s at a greater rate so reduces the present value of future cash flows.</a:t>
            </a:r>
          </a:p>
          <a:p>
            <a:endParaRPr lang="en-GB"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4E155B29-DFD0-640B-59C7-87E7CA621070}"/>
              </a:ext>
            </a:extLst>
          </p:cNvPr>
          <p:cNvSpPr>
            <a:spLocks noGrp="1"/>
          </p:cNvSpPr>
          <p:nvPr>
            <p:ph type="sldNum" sz="quarter" idx="5"/>
          </p:nvPr>
        </p:nvSpPr>
        <p:spPr/>
        <p:txBody>
          <a:bodyPr/>
          <a:lstStyle/>
          <a:p>
            <a:fld id="{65E86294-451E-497D-A27E-67A16BE01FFB}" type="slidenum">
              <a:rPr lang="en-GB" smtClean="0"/>
              <a:t>6</a:t>
            </a:fld>
            <a:endParaRPr lang="en-GB"/>
          </a:p>
        </p:txBody>
      </p:sp>
    </p:spTree>
    <p:extLst>
      <p:ext uri="{BB962C8B-B14F-4D97-AF65-F5344CB8AC3E}">
        <p14:creationId xmlns:p14="http://schemas.microsoft.com/office/powerpoint/2010/main" val="2308262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BF75D-C6C5-0262-C3DD-8EDA60A1C9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870535-277E-9AE0-8C41-F0EAE2B72A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72F41E-DB74-0DCD-FF13-D4DCA3F5C0EA}"/>
              </a:ext>
            </a:extLst>
          </p:cNvPr>
          <p:cNvSpPr>
            <a:spLocks noGrp="1"/>
          </p:cNvSpPr>
          <p:nvPr>
            <p:ph type="body" idx="1"/>
          </p:nvPr>
        </p:nvSpPr>
        <p:spPr/>
        <p:txBody>
          <a:bodyPr/>
          <a:lstStyle/>
          <a:p>
            <a:r>
              <a:rPr lang="en-GB" dirty="0"/>
              <a:t>Note: Coupon rate vs YTM</a:t>
            </a:r>
          </a:p>
          <a:p>
            <a:r>
              <a:rPr lang="en-GB" dirty="0"/>
              <a:t>Gordon Model</a:t>
            </a:r>
          </a:p>
          <a:p>
            <a:r>
              <a:rPr lang="en-GB" dirty="0"/>
              <a:t>Cost of debt: need to account for the tax saving</a:t>
            </a:r>
          </a:p>
          <a:p>
            <a:endParaRPr lang="en-GB"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86E7371E-D8AE-173E-511A-E0D5663D6CE9}"/>
              </a:ext>
            </a:extLst>
          </p:cNvPr>
          <p:cNvSpPr>
            <a:spLocks noGrp="1"/>
          </p:cNvSpPr>
          <p:nvPr>
            <p:ph type="sldNum" sz="quarter" idx="5"/>
          </p:nvPr>
        </p:nvSpPr>
        <p:spPr/>
        <p:txBody>
          <a:bodyPr/>
          <a:lstStyle/>
          <a:p>
            <a:fld id="{65E86294-451E-497D-A27E-67A16BE01FFB}" type="slidenum">
              <a:rPr lang="en-GB" smtClean="0"/>
              <a:t>7</a:t>
            </a:fld>
            <a:endParaRPr lang="en-GB"/>
          </a:p>
        </p:txBody>
      </p:sp>
    </p:spTree>
    <p:extLst>
      <p:ext uri="{BB962C8B-B14F-4D97-AF65-F5344CB8AC3E}">
        <p14:creationId xmlns:p14="http://schemas.microsoft.com/office/powerpoint/2010/main" val="11491643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F1587-E3B8-5118-5293-12ADFE6CB8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303187-3F47-1596-3F84-09831853AB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D688B7-AF33-AD1D-1A88-4753C16748B6}"/>
              </a:ext>
            </a:extLst>
          </p:cNvPr>
          <p:cNvSpPr>
            <a:spLocks noGrp="1"/>
          </p:cNvSpPr>
          <p:nvPr>
            <p:ph type="body" idx="1"/>
          </p:nvPr>
        </p:nvSpPr>
        <p:spPr/>
        <p:txBody>
          <a:bodyPr/>
          <a:lstStyle/>
          <a:p>
            <a:endParaRPr lang="en-GB"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2131C779-8F06-73F6-3D3D-A4B05290B5D3}"/>
              </a:ext>
            </a:extLst>
          </p:cNvPr>
          <p:cNvSpPr>
            <a:spLocks noGrp="1"/>
          </p:cNvSpPr>
          <p:nvPr>
            <p:ph type="sldNum" sz="quarter" idx="5"/>
          </p:nvPr>
        </p:nvSpPr>
        <p:spPr/>
        <p:txBody>
          <a:bodyPr/>
          <a:lstStyle/>
          <a:p>
            <a:fld id="{65E86294-451E-497D-A27E-67A16BE01FFB}" type="slidenum">
              <a:rPr lang="en-GB" smtClean="0"/>
              <a:t>8</a:t>
            </a:fld>
            <a:endParaRPr lang="en-GB"/>
          </a:p>
        </p:txBody>
      </p:sp>
    </p:spTree>
    <p:extLst>
      <p:ext uri="{BB962C8B-B14F-4D97-AF65-F5344CB8AC3E}">
        <p14:creationId xmlns:p14="http://schemas.microsoft.com/office/powerpoint/2010/main" val="11676203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A296F-E0A3-8088-600F-A0580C10F9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3BEED6-A99D-BE54-99CC-7157984B11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C7E3BA-F686-14A2-67CB-0AC9107759F0}"/>
              </a:ext>
            </a:extLst>
          </p:cNvPr>
          <p:cNvSpPr>
            <a:spLocks noGrp="1"/>
          </p:cNvSpPr>
          <p:nvPr>
            <p:ph type="body" idx="1"/>
          </p:nvPr>
        </p:nvSpPr>
        <p:spPr/>
        <p:txBody>
          <a:bodyPr/>
          <a:lstStyle/>
          <a:p>
            <a:endParaRPr lang="en-GB"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863E2CD8-A345-AE91-221E-FBEE357A8963}"/>
              </a:ext>
            </a:extLst>
          </p:cNvPr>
          <p:cNvSpPr>
            <a:spLocks noGrp="1"/>
          </p:cNvSpPr>
          <p:nvPr>
            <p:ph type="sldNum" sz="quarter" idx="5"/>
          </p:nvPr>
        </p:nvSpPr>
        <p:spPr/>
        <p:txBody>
          <a:bodyPr/>
          <a:lstStyle/>
          <a:p>
            <a:fld id="{65E86294-451E-497D-A27E-67A16BE01FFB}" type="slidenum">
              <a:rPr lang="en-GB" smtClean="0"/>
              <a:t>9</a:t>
            </a:fld>
            <a:endParaRPr lang="en-GB"/>
          </a:p>
        </p:txBody>
      </p:sp>
    </p:spTree>
    <p:extLst>
      <p:ext uri="{BB962C8B-B14F-4D97-AF65-F5344CB8AC3E}">
        <p14:creationId xmlns:p14="http://schemas.microsoft.com/office/powerpoint/2010/main" val="4910818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923E0-533A-3A56-B910-B71F9377A8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3F8A50-8DF2-7E0E-18A8-64D074C448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DD74ED-DE7F-4CE8-583B-58DEA1039494}"/>
              </a:ext>
            </a:extLst>
          </p:cNvPr>
          <p:cNvSpPr>
            <a:spLocks noGrp="1"/>
          </p:cNvSpPr>
          <p:nvPr>
            <p:ph type="body" idx="1"/>
          </p:nvPr>
        </p:nvSpPr>
        <p:spPr/>
        <p:txBody>
          <a:bodyPr/>
          <a:lstStyle/>
          <a:p>
            <a:endParaRPr lang="en-GB"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2B69E889-1B36-F299-3DA9-5D7CF6B21D61}"/>
              </a:ext>
            </a:extLst>
          </p:cNvPr>
          <p:cNvSpPr>
            <a:spLocks noGrp="1"/>
          </p:cNvSpPr>
          <p:nvPr>
            <p:ph type="sldNum" sz="quarter" idx="5"/>
          </p:nvPr>
        </p:nvSpPr>
        <p:spPr/>
        <p:txBody>
          <a:bodyPr/>
          <a:lstStyle/>
          <a:p>
            <a:fld id="{65E86294-451E-497D-A27E-67A16BE01FFB}" type="slidenum">
              <a:rPr lang="en-GB" smtClean="0"/>
              <a:t>10</a:t>
            </a:fld>
            <a:endParaRPr lang="en-GB"/>
          </a:p>
        </p:txBody>
      </p:sp>
    </p:spTree>
    <p:extLst>
      <p:ext uri="{BB962C8B-B14F-4D97-AF65-F5344CB8AC3E}">
        <p14:creationId xmlns:p14="http://schemas.microsoft.com/office/powerpoint/2010/main" val="14614392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591F1-CAB3-BE9D-79A7-5A9A80BC4E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A80411-625A-19B0-91D3-7A5CA33C67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D5B6D7-BF91-FB45-50D3-734192D2601E}"/>
              </a:ext>
            </a:extLst>
          </p:cNvPr>
          <p:cNvSpPr>
            <a:spLocks noGrp="1"/>
          </p:cNvSpPr>
          <p:nvPr>
            <p:ph type="body" idx="1"/>
          </p:nvPr>
        </p:nvSpPr>
        <p:spPr/>
        <p:txBody>
          <a:bodyPr/>
          <a:lstStyle/>
          <a:p>
            <a:endParaRPr lang="en-GB"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CC89E4B4-0A68-7419-AA62-71C0F2B7496F}"/>
              </a:ext>
            </a:extLst>
          </p:cNvPr>
          <p:cNvSpPr>
            <a:spLocks noGrp="1"/>
          </p:cNvSpPr>
          <p:nvPr>
            <p:ph type="sldNum" sz="quarter" idx="5"/>
          </p:nvPr>
        </p:nvSpPr>
        <p:spPr/>
        <p:txBody>
          <a:bodyPr/>
          <a:lstStyle/>
          <a:p>
            <a:fld id="{65E86294-451E-497D-A27E-67A16BE01FFB}" type="slidenum">
              <a:rPr lang="en-GB" smtClean="0"/>
              <a:t>11</a:t>
            </a:fld>
            <a:endParaRPr lang="en-GB"/>
          </a:p>
        </p:txBody>
      </p:sp>
    </p:spTree>
    <p:extLst>
      <p:ext uri="{BB962C8B-B14F-4D97-AF65-F5344CB8AC3E}">
        <p14:creationId xmlns:p14="http://schemas.microsoft.com/office/powerpoint/2010/main" val="41397486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281CC-A591-CBB3-2FCF-8C45ADCF87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7B4E56-6717-8C4E-7D8F-1F03F545E8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BD74AF-3268-84F6-44A6-57D16CB46631}"/>
              </a:ext>
            </a:extLst>
          </p:cNvPr>
          <p:cNvSpPr>
            <a:spLocks noGrp="1"/>
          </p:cNvSpPr>
          <p:nvPr>
            <p:ph type="body" idx="1"/>
          </p:nvPr>
        </p:nvSpPr>
        <p:spPr/>
        <p:txBody>
          <a:bodyPr/>
          <a:lstStyle/>
          <a:p>
            <a:endParaRPr lang="en-GB"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C33BB4C6-4478-5F28-1C26-589D7D8D79EF}"/>
              </a:ext>
            </a:extLst>
          </p:cNvPr>
          <p:cNvSpPr>
            <a:spLocks noGrp="1"/>
          </p:cNvSpPr>
          <p:nvPr>
            <p:ph type="sldNum" sz="quarter" idx="5"/>
          </p:nvPr>
        </p:nvSpPr>
        <p:spPr/>
        <p:txBody>
          <a:bodyPr/>
          <a:lstStyle/>
          <a:p>
            <a:fld id="{65E86294-451E-497D-A27E-67A16BE01FFB}" type="slidenum">
              <a:rPr lang="en-GB" smtClean="0"/>
              <a:t>12</a:t>
            </a:fld>
            <a:endParaRPr lang="en-GB"/>
          </a:p>
        </p:txBody>
      </p:sp>
    </p:spTree>
    <p:extLst>
      <p:ext uri="{BB962C8B-B14F-4D97-AF65-F5344CB8AC3E}">
        <p14:creationId xmlns:p14="http://schemas.microsoft.com/office/powerpoint/2010/main" val="2178821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EFEF4-D9CD-43DF-DACE-8C4E70CC55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BA86A0-1A65-AD10-343D-96DB21D3A5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E835DF-E71A-6869-E4C1-A65E7303629E}"/>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Key difference is risk. Debtholders don’t carry as much risk. So general rule is that the cost of debt is a lot lower than the cost of equity. So why do we fund activities through equity?</a:t>
            </a:r>
          </a:p>
          <a:p>
            <a:endParaRPr lang="en-GB"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804B54A6-E8A1-C9C1-D500-325DD22AD051}"/>
              </a:ext>
            </a:extLst>
          </p:cNvPr>
          <p:cNvSpPr>
            <a:spLocks noGrp="1"/>
          </p:cNvSpPr>
          <p:nvPr>
            <p:ph type="sldNum" sz="quarter" idx="5"/>
          </p:nvPr>
        </p:nvSpPr>
        <p:spPr/>
        <p:txBody>
          <a:bodyPr/>
          <a:lstStyle/>
          <a:p>
            <a:fld id="{65E86294-451E-497D-A27E-67A16BE01FFB}" type="slidenum">
              <a:rPr lang="en-GB" smtClean="0"/>
              <a:t>13</a:t>
            </a:fld>
            <a:endParaRPr lang="en-GB"/>
          </a:p>
        </p:txBody>
      </p:sp>
    </p:spTree>
    <p:extLst>
      <p:ext uri="{BB962C8B-B14F-4D97-AF65-F5344CB8AC3E}">
        <p14:creationId xmlns:p14="http://schemas.microsoft.com/office/powerpoint/2010/main" val="10714067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185C6-AF8C-ED95-144D-0705AEF6F2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99F94B-D678-CE46-439E-55DFE53976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776482-E880-2DCF-9B68-F34F318004C2}"/>
              </a:ext>
            </a:extLst>
          </p:cNvPr>
          <p:cNvSpPr>
            <a:spLocks noGrp="1"/>
          </p:cNvSpPr>
          <p:nvPr>
            <p:ph type="body" idx="1"/>
          </p:nvPr>
        </p:nvSpPr>
        <p:spPr/>
        <p:txBody>
          <a:bodyPr/>
          <a:lstStyle/>
          <a:p>
            <a:endParaRPr lang="en-GB"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692F5C29-1884-7F44-40B2-CC2E7A2357AC}"/>
              </a:ext>
            </a:extLst>
          </p:cNvPr>
          <p:cNvSpPr>
            <a:spLocks noGrp="1"/>
          </p:cNvSpPr>
          <p:nvPr>
            <p:ph type="sldNum" sz="quarter" idx="5"/>
          </p:nvPr>
        </p:nvSpPr>
        <p:spPr/>
        <p:txBody>
          <a:bodyPr/>
          <a:lstStyle/>
          <a:p>
            <a:fld id="{65E86294-451E-497D-A27E-67A16BE01FFB}" type="slidenum">
              <a:rPr lang="en-GB" smtClean="0"/>
              <a:t>14</a:t>
            </a:fld>
            <a:endParaRPr lang="en-GB"/>
          </a:p>
        </p:txBody>
      </p:sp>
    </p:spTree>
    <p:extLst>
      <p:ext uri="{BB962C8B-B14F-4D97-AF65-F5344CB8AC3E}">
        <p14:creationId xmlns:p14="http://schemas.microsoft.com/office/powerpoint/2010/main" val="10743201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032C9-77DF-34F4-74F3-B526AA3007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4E627F-196D-8C6F-D49E-F8BAE3A9FF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BE45E4-0BD5-5E40-2808-C6E9B4C0DB4D}"/>
              </a:ext>
            </a:extLst>
          </p:cNvPr>
          <p:cNvSpPr>
            <a:spLocks noGrp="1"/>
          </p:cNvSpPr>
          <p:nvPr>
            <p:ph type="body" idx="1"/>
          </p:nvPr>
        </p:nvSpPr>
        <p:spPr/>
        <p:txBody>
          <a:bodyPr/>
          <a:lstStyle/>
          <a:p>
            <a:r>
              <a:rPr lang="en-GB" dirty="0"/>
              <a:t>Risks of Leverage</a:t>
            </a:r>
          </a:p>
          <a:p>
            <a:r>
              <a:rPr lang="en-GB" dirty="0"/>
              <a:t>Greater exposure to interest rate rises</a:t>
            </a:r>
          </a:p>
          <a:p>
            <a:r>
              <a:rPr lang="en-GB" dirty="0"/>
              <a:t>Increased risk of default and bankruptcy</a:t>
            </a:r>
          </a:p>
          <a:p>
            <a:r>
              <a:rPr lang="en-GB" dirty="0"/>
              <a:t>Can lead to lower credit ratings and restricted flexibility</a:t>
            </a:r>
          </a:p>
        </p:txBody>
      </p:sp>
      <p:sp>
        <p:nvSpPr>
          <p:cNvPr id="4" name="Slide Number Placeholder 3">
            <a:extLst>
              <a:ext uri="{FF2B5EF4-FFF2-40B4-BE49-F238E27FC236}">
                <a16:creationId xmlns:a16="http://schemas.microsoft.com/office/drawing/2014/main" id="{B03A176B-C9DF-A739-1367-27EF0D0C1E19}"/>
              </a:ext>
            </a:extLst>
          </p:cNvPr>
          <p:cNvSpPr>
            <a:spLocks noGrp="1"/>
          </p:cNvSpPr>
          <p:nvPr>
            <p:ph type="sldNum" sz="quarter" idx="10"/>
          </p:nvPr>
        </p:nvSpPr>
        <p:spPr/>
        <p:txBody>
          <a:bodyPr/>
          <a:lstStyle/>
          <a:p>
            <a:fld id="{60A34707-E474-48EA-B54D-5816D1580940}" type="slidenum">
              <a:rPr lang="en-GB" smtClean="0"/>
              <a:t>15</a:t>
            </a:fld>
            <a:endParaRPr lang="en-GB"/>
          </a:p>
        </p:txBody>
      </p:sp>
    </p:spTree>
    <p:extLst>
      <p:ext uri="{BB962C8B-B14F-4D97-AF65-F5344CB8AC3E}">
        <p14:creationId xmlns:p14="http://schemas.microsoft.com/office/powerpoint/2010/main" val="33622135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WACC is crucial to capital budgeting, identifying the most profitable investments to create value. </a:t>
            </a:r>
          </a:p>
          <a:p>
            <a:br>
              <a:rPr lang="en-GB" dirty="0"/>
            </a:br>
            <a:r>
              <a:rPr lang="en-GB" b="0" i="0" dirty="0">
                <a:solidFill>
                  <a:srgbClr val="464646"/>
                </a:solidFill>
                <a:effectLst/>
                <a:latin typeface="Segoe UI" panose="020B0502040204020203" pitchFamily="34" charset="0"/>
              </a:rPr>
              <a:t>The WACC must be calculated first before making any capital budgeting decisions. It tells us how much it will cost us to raise capital. So we must know this before we can apply the investment decision rules and understand whether the project is profitable or not. The optimal capital structure is the structure that minimises the weighted average cost of capital. That is the structure for which the cost of debt and the cost of equity, given their respective weightings, are minimised.</a:t>
            </a:r>
            <a:endParaRPr lang="en-GB" b="0" i="0" dirty="0">
              <a:solidFill>
                <a:srgbClr val="767676"/>
              </a:solidFill>
              <a:effectLst/>
              <a:latin typeface="Segoe UI" panose="020B0502040204020203" pitchFamily="34" charset="0"/>
            </a:endParaRPr>
          </a:p>
          <a:p>
            <a:pPr algn="r">
              <a:buFont typeface="Arial" panose="020B0604020202020204" pitchFamily="34" charset="0"/>
              <a:buNone/>
            </a:pPr>
            <a:endParaRPr lang="en-GB" b="0" i="0" dirty="0">
              <a:solidFill>
                <a:srgbClr val="464646"/>
              </a:solidFill>
              <a:effectLst/>
              <a:latin typeface="Segoe UI" panose="020B0502040204020203" pitchFamily="34" charset="0"/>
            </a:endParaRPr>
          </a:p>
          <a:p>
            <a:pPr algn="l">
              <a:buFont typeface="Arial" panose="020B0604020202020204" pitchFamily="34" charset="0"/>
              <a:buNone/>
            </a:pPr>
            <a:r>
              <a:rPr lang="en-GB" b="0" i="0" dirty="0">
                <a:solidFill>
                  <a:srgbClr val="464646"/>
                </a:solidFill>
                <a:effectLst/>
                <a:latin typeface="Segoe UI" panose="020B0502040204020203" pitchFamily="34" charset="0"/>
              </a:rPr>
              <a:t>The chart shows the costs of equity and debt, as well as the weighted average cost of capital, at different capital structures (measured as the amount of debt over the amount of equity).You can see here as we increase debt, we have lower costs of capital as the debt is much cheaper than equity. Up to a certain point where the cost of equity is going to adapt itself to account for the increased leverage, as the shareholder perceives the higher business risk.</a:t>
            </a:r>
            <a:endParaRPr lang="en-GB" b="0" i="0" dirty="0">
              <a:solidFill>
                <a:srgbClr val="767676"/>
              </a:solidFill>
              <a:effectLst/>
              <a:latin typeface="Segoe UI" panose="020B0502040204020203" pitchFamily="34" charset="0"/>
            </a:endParaRPr>
          </a:p>
          <a:p>
            <a:pPr algn="l">
              <a:buFont typeface="Arial" panose="020B0604020202020204" pitchFamily="34" charset="0"/>
              <a:buNone/>
            </a:pPr>
            <a:r>
              <a:rPr lang="en-GB" b="0" i="0" dirty="0">
                <a:solidFill>
                  <a:srgbClr val="464646"/>
                </a:solidFill>
                <a:effectLst/>
                <a:latin typeface="Segoe UI" panose="020B0502040204020203" pitchFamily="34" charset="0"/>
              </a:rPr>
              <a:t>At the same time, higher leverage will mean that we have higher financial risk as a debt holder and so debtholders will require a higher return. From that point on was the WACC is going to start increasing as both equity and debt holders will increase their required rates of return. </a:t>
            </a:r>
          </a:p>
          <a:p>
            <a:pPr algn="l">
              <a:buFont typeface="Arial" panose="020B0604020202020204" pitchFamily="34" charset="0"/>
              <a:buNone/>
            </a:pPr>
            <a:endParaRPr lang="en-GB" b="0" i="0" dirty="0">
              <a:solidFill>
                <a:srgbClr val="464646"/>
              </a:solidFill>
              <a:effectLst/>
              <a:latin typeface="Segoe UI" panose="020B0502040204020203" pitchFamily="34" charset="0"/>
            </a:endParaRPr>
          </a:p>
          <a:p>
            <a:pPr algn="l">
              <a:buFont typeface="Arial" panose="020B0604020202020204" pitchFamily="34" charset="0"/>
              <a:buChar char="•"/>
            </a:pPr>
            <a:endParaRPr lang="en-GB" b="0" i="0" dirty="0">
              <a:solidFill>
                <a:srgbClr val="464646"/>
              </a:solidFill>
              <a:effectLst/>
              <a:latin typeface="Segoe UI" panose="020B0502040204020203" pitchFamily="34" charset="0"/>
            </a:endParaRPr>
          </a:p>
          <a:p>
            <a:endParaRPr lang="en-GB" dirty="0"/>
          </a:p>
        </p:txBody>
      </p:sp>
      <p:sp>
        <p:nvSpPr>
          <p:cNvPr id="4" name="Slide Number Placeholder 3"/>
          <p:cNvSpPr>
            <a:spLocks noGrp="1"/>
          </p:cNvSpPr>
          <p:nvPr>
            <p:ph type="sldNum" sz="quarter" idx="10"/>
          </p:nvPr>
        </p:nvSpPr>
        <p:spPr/>
        <p:txBody>
          <a:bodyPr/>
          <a:lstStyle/>
          <a:p>
            <a:fld id="{60A34707-E474-48EA-B54D-5816D1580940}" type="slidenum">
              <a:rPr lang="en-GB" smtClean="0"/>
              <a:t>16</a:t>
            </a:fld>
            <a:endParaRPr lang="en-GB"/>
          </a:p>
        </p:txBody>
      </p:sp>
    </p:spTree>
    <p:extLst>
      <p:ext uri="{BB962C8B-B14F-4D97-AF65-F5344CB8AC3E}">
        <p14:creationId xmlns:p14="http://schemas.microsoft.com/office/powerpoint/2010/main" val="13096198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3E43C-9219-0DB0-0B32-49B7B4ECBC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46504E-581D-AEDE-080F-B32BD1D745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31E2F5-20A1-337D-A24E-04BA1D0FC641}"/>
              </a:ext>
            </a:extLst>
          </p:cNvPr>
          <p:cNvSpPr>
            <a:spLocks noGrp="1"/>
          </p:cNvSpPr>
          <p:nvPr>
            <p:ph type="body" idx="1"/>
          </p:nvPr>
        </p:nvSpPr>
        <p:spPr/>
        <p:txBody>
          <a:bodyPr/>
          <a:lstStyle/>
          <a:p>
            <a:endParaRPr lang="en-GB"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A10A980B-4E08-4F9E-100F-DC417B9C647B}"/>
              </a:ext>
            </a:extLst>
          </p:cNvPr>
          <p:cNvSpPr>
            <a:spLocks noGrp="1"/>
          </p:cNvSpPr>
          <p:nvPr>
            <p:ph type="sldNum" sz="quarter" idx="5"/>
          </p:nvPr>
        </p:nvSpPr>
        <p:spPr/>
        <p:txBody>
          <a:bodyPr/>
          <a:lstStyle/>
          <a:p>
            <a:fld id="{65E86294-451E-497D-A27E-67A16BE01FFB}" type="slidenum">
              <a:rPr lang="en-GB" smtClean="0"/>
              <a:t>17</a:t>
            </a:fld>
            <a:endParaRPr lang="en-GB"/>
          </a:p>
        </p:txBody>
      </p:sp>
    </p:spTree>
    <p:extLst>
      <p:ext uri="{BB962C8B-B14F-4D97-AF65-F5344CB8AC3E}">
        <p14:creationId xmlns:p14="http://schemas.microsoft.com/office/powerpoint/2010/main" val="13444161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CAC7C-205F-E7CC-60D6-147D1CE77A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304010-1269-9414-5201-49A65DDFCC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22DC8F-99E2-8742-D803-90236D3F913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4259070-3710-69E8-65FB-53130C91DF79}"/>
              </a:ext>
            </a:extLst>
          </p:cNvPr>
          <p:cNvSpPr>
            <a:spLocks noGrp="1"/>
          </p:cNvSpPr>
          <p:nvPr>
            <p:ph type="sldNum" sz="quarter" idx="10"/>
          </p:nvPr>
        </p:nvSpPr>
        <p:spPr/>
        <p:txBody>
          <a:bodyPr/>
          <a:lstStyle/>
          <a:p>
            <a:fld id="{60A34707-E474-48EA-B54D-5816D1580940}" type="slidenum">
              <a:rPr lang="en-GB" smtClean="0"/>
              <a:t>18</a:t>
            </a:fld>
            <a:endParaRPr lang="en-GB"/>
          </a:p>
        </p:txBody>
      </p:sp>
    </p:spTree>
    <p:extLst>
      <p:ext uri="{BB962C8B-B14F-4D97-AF65-F5344CB8AC3E}">
        <p14:creationId xmlns:p14="http://schemas.microsoft.com/office/powerpoint/2010/main" val="31058592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GB" b="0" i="0" dirty="0">
                <a:solidFill>
                  <a:srgbClr val="464646"/>
                </a:solidFill>
                <a:effectLst/>
                <a:latin typeface="Segoe UI" panose="020B0502040204020203" pitchFamily="34" charset="0"/>
              </a:rPr>
              <a:t>BP – they were increasing in debt as they were below their optimal value.</a:t>
            </a:r>
          </a:p>
          <a:p>
            <a:pPr algn="l">
              <a:buFont typeface="Arial" panose="020B0604020202020204" pitchFamily="34" charset="0"/>
              <a:buNone/>
            </a:pPr>
            <a:r>
              <a:rPr lang="en-GB" b="0" i="0" dirty="0">
                <a:solidFill>
                  <a:srgbClr val="464646"/>
                </a:solidFill>
                <a:effectLst/>
                <a:latin typeface="Segoe UI" panose="020B0502040204020203" pitchFamily="34" charset="0"/>
              </a:rPr>
              <a:t>Exxon - were decreasing debt as they were above the optimal value</a:t>
            </a:r>
          </a:p>
          <a:p>
            <a:pPr algn="l">
              <a:buFont typeface="Arial" panose="020B0604020202020204" pitchFamily="34" charset="0"/>
              <a:buNone/>
            </a:pPr>
            <a:r>
              <a:rPr lang="en-GB" b="0" i="0" dirty="0">
                <a:solidFill>
                  <a:srgbClr val="464646"/>
                </a:solidFill>
                <a:effectLst/>
                <a:latin typeface="Segoe UI" panose="020B0502040204020203" pitchFamily="34" charset="0"/>
              </a:rPr>
              <a:t>Shell – were above their optimal value so they were decreasing debt but then they passed the optimal value and were then increasing debt levels.</a:t>
            </a:r>
            <a:endParaRPr lang="en-GB" b="0" i="0" dirty="0">
              <a:solidFill>
                <a:srgbClr val="767676"/>
              </a:solidFill>
              <a:effectLst/>
              <a:latin typeface="Segoe UI" panose="020B0502040204020203" pitchFamily="34" charset="0"/>
            </a:endParaRPr>
          </a:p>
          <a:p>
            <a:pPr algn="l">
              <a:buFont typeface="Arial" panose="020B0604020202020204" pitchFamily="34" charset="0"/>
              <a:buNone/>
            </a:pPr>
            <a:endParaRPr lang="en-GB" b="0" i="0" dirty="0">
              <a:solidFill>
                <a:srgbClr val="767676"/>
              </a:solidFill>
              <a:effectLs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b="0" i="0" dirty="0">
                <a:solidFill>
                  <a:srgbClr val="464646"/>
                </a:solidFill>
                <a:effectLst/>
                <a:latin typeface="Segoe UI" panose="020B0502040204020203" pitchFamily="34" charset="0"/>
              </a:rPr>
              <a:t>Companies will keep on gauging its capital structure every year to minimise cost of capital, which is always changing, given the project's profiles, given the economy situation and so on.</a:t>
            </a:r>
          </a:p>
          <a:p>
            <a:pPr algn="l">
              <a:buFont typeface="Arial" panose="020B0604020202020204" pitchFamily="34" charset="0"/>
              <a:buNone/>
            </a:pPr>
            <a:r>
              <a:rPr lang="en-GB" b="0" i="0" dirty="0">
                <a:solidFill>
                  <a:srgbClr val="464646"/>
                </a:solidFill>
                <a:effectLst/>
                <a:latin typeface="Segoe UI" panose="020B0502040204020203" pitchFamily="34" charset="0"/>
              </a:rPr>
              <a:t> </a:t>
            </a:r>
            <a:endParaRPr lang="en-GB" dirty="0"/>
          </a:p>
        </p:txBody>
      </p:sp>
      <p:sp>
        <p:nvSpPr>
          <p:cNvPr id="4" name="Slide Number Placeholder 3"/>
          <p:cNvSpPr>
            <a:spLocks noGrp="1"/>
          </p:cNvSpPr>
          <p:nvPr>
            <p:ph type="sldNum" sz="quarter" idx="10"/>
          </p:nvPr>
        </p:nvSpPr>
        <p:spPr/>
        <p:txBody>
          <a:bodyPr/>
          <a:lstStyle/>
          <a:p>
            <a:fld id="{60A34707-E474-48EA-B54D-5816D1580940}" type="slidenum">
              <a:rPr lang="en-GB" smtClean="0"/>
              <a:t>19</a:t>
            </a:fld>
            <a:endParaRPr lang="en-GB"/>
          </a:p>
        </p:txBody>
      </p:sp>
    </p:spTree>
    <p:extLst>
      <p:ext uri="{BB962C8B-B14F-4D97-AF65-F5344CB8AC3E}">
        <p14:creationId xmlns:p14="http://schemas.microsoft.com/office/powerpoint/2010/main" val="31939394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32BA9-FD8E-7A74-2EAF-0E48BD50A3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04D5FD-FF72-B95C-41EB-B9048C3E37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FD5E58-226F-59AA-BB64-AD1B9E01F935}"/>
              </a:ext>
            </a:extLst>
          </p:cNvPr>
          <p:cNvSpPr>
            <a:spLocks noGrp="1"/>
          </p:cNvSpPr>
          <p:nvPr>
            <p:ph type="body" idx="1"/>
          </p:nvPr>
        </p:nvSpPr>
        <p:spPr/>
        <p:txBody>
          <a:bodyPr/>
          <a:lstStyle/>
          <a:p>
            <a:endParaRPr lang="en-GB"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734D036D-9633-5D1C-D755-A46022430B4E}"/>
              </a:ext>
            </a:extLst>
          </p:cNvPr>
          <p:cNvSpPr>
            <a:spLocks noGrp="1"/>
          </p:cNvSpPr>
          <p:nvPr>
            <p:ph type="sldNum" sz="quarter" idx="5"/>
          </p:nvPr>
        </p:nvSpPr>
        <p:spPr/>
        <p:txBody>
          <a:bodyPr/>
          <a:lstStyle/>
          <a:p>
            <a:fld id="{65E86294-451E-497D-A27E-67A16BE01FFB}" type="slidenum">
              <a:rPr lang="en-GB" smtClean="0"/>
              <a:t>20</a:t>
            </a:fld>
            <a:endParaRPr lang="en-GB"/>
          </a:p>
        </p:txBody>
      </p:sp>
    </p:spTree>
    <p:extLst>
      <p:ext uri="{BB962C8B-B14F-4D97-AF65-F5344CB8AC3E}">
        <p14:creationId xmlns:p14="http://schemas.microsoft.com/office/powerpoint/2010/main" val="15407981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0A34707-E474-48EA-B54D-5816D1580940}" type="slidenum">
              <a:rPr lang="en-GB" smtClean="0"/>
              <a:t>21</a:t>
            </a:fld>
            <a:endParaRPr lang="en-GB"/>
          </a:p>
        </p:txBody>
      </p:sp>
    </p:spTree>
    <p:extLst>
      <p:ext uri="{BB962C8B-B14F-4D97-AF65-F5344CB8AC3E}">
        <p14:creationId xmlns:p14="http://schemas.microsoft.com/office/powerpoint/2010/main" val="9693232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5360570-2B09-DB43-BBE0-DA076DA911F1}" type="slidenum">
              <a:rPr kumimoji="0" lang="en-US" altLang="en-US" sz="1200" b="0" i="0" u="none" strike="noStrike" kern="1200" cap="none" spc="0" normalizeH="0" baseline="0" noProof="0" smtClean="0">
                <a:ln>
                  <a:noFill/>
                </a:ln>
                <a:solidFill>
                  <a:srgbClr val="000000"/>
                </a:solidFill>
                <a:effectLst/>
                <a:uLnTx/>
                <a:uFillTx/>
                <a:latin typeface="Arial"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Tree>
    <p:extLst>
      <p:ext uri="{BB962C8B-B14F-4D97-AF65-F5344CB8AC3E}">
        <p14:creationId xmlns:p14="http://schemas.microsoft.com/office/powerpoint/2010/main" val="26586265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2D1E1-91C5-9BA6-5C63-0703045C61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E84427-6845-ECFD-E912-71C0D89551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6A1CD3-8D8A-726A-CF02-3E613BBE94C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B4AC7A7-3EB6-D403-72EF-9C19E2D023F6}"/>
              </a:ext>
            </a:extLst>
          </p:cNvPr>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5360570-2B09-DB43-BBE0-DA076DA911F1}" type="slidenum">
              <a:rPr kumimoji="0" lang="en-US" altLang="en-US" sz="1200" b="0" i="0" u="none" strike="noStrike" kern="1200" cap="none" spc="0" normalizeH="0" baseline="0" noProof="0" smtClean="0">
                <a:ln>
                  <a:noFill/>
                </a:ln>
                <a:solidFill>
                  <a:srgbClr val="000000"/>
                </a:solidFill>
                <a:effectLst/>
                <a:uLnTx/>
                <a:uFillTx/>
                <a:latin typeface="Arial"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Tree>
    <p:extLst>
      <p:ext uri="{BB962C8B-B14F-4D97-AF65-F5344CB8AC3E}">
        <p14:creationId xmlns:p14="http://schemas.microsoft.com/office/powerpoint/2010/main" val="10717075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A7A708D-0180-424B-8170-B8C7498B3081}" type="slidenum">
              <a:rPr lang="en-GB" smtClean="0"/>
              <a:t>24</a:t>
            </a:fld>
            <a:endParaRPr lang="en-GB"/>
          </a:p>
        </p:txBody>
      </p:sp>
    </p:spTree>
    <p:extLst>
      <p:ext uri="{BB962C8B-B14F-4D97-AF65-F5344CB8AC3E}">
        <p14:creationId xmlns:p14="http://schemas.microsoft.com/office/powerpoint/2010/main" val="18497832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25</a:t>
            </a:fld>
            <a:endParaRPr lang="en-US" altLang="en-US"/>
          </a:p>
        </p:txBody>
      </p:sp>
    </p:spTree>
    <p:extLst>
      <p:ext uri="{BB962C8B-B14F-4D97-AF65-F5344CB8AC3E}">
        <p14:creationId xmlns:p14="http://schemas.microsoft.com/office/powerpoint/2010/main" val="374484305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7A739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E3B5BC-7C7D-A745-8158-A53C466DA14C}"/>
              </a:ext>
            </a:extLst>
          </p:cNvPr>
          <p:cNvSpPr>
            <a:spLocks noGrp="1"/>
          </p:cNvSpPr>
          <p:nvPr>
            <p:ph type="title"/>
          </p:nvPr>
        </p:nvSpPr>
        <p:spPr>
          <a:xfrm>
            <a:off x="2050826" y="1915479"/>
            <a:ext cx="5689524" cy="2089585"/>
          </a:xfrm>
          <a:prstGeom prst="rect">
            <a:avLst/>
          </a:prstGeom>
        </p:spPr>
        <p:txBody>
          <a:bodyPr lIns="0" tIns="0" rIns="0" bIns="0"/>
          <a:lstStyle>
            <a:lvl1pPr>
              <a:defRPr>
                <a:solidFill>
                  <a:schemeClr val="bg1"/>
                </a:solidFill>
              </a:defRPr>
            </a:lvl1pPr>
          </a:lstStyle>
          <a:p>
            <a:r>
              <a:rPr lang="en-US"/>
              <a:t>Click to edit Master title style</a:t>
            </a:r>
          </a:p>
        </p:txBody>
      </p:sp>
      <p:sp>
        <p:nvSpPr>
          <p:cNvPr id="16" name="Text Placeholder 14">
            <a:extLst>
              <a:ext uri="{FF2B5EF4-FFF2-40B4-BE49-F238E27FC236}">
                <a16:creationId xmlns:a16="http://schemas.microsoft.com/office/drawing/2014/main" id="{69EC6F0B-C9B0-464E-ABF8-505FA2B99A36}"/>
              </a:ext>
            </a:extLst>
          </p:cNvPr>
          <p:cNvSpPr>
            <a:spLocks noGrp="1"/>
          </p:cNvSpPr>
          <p:nvPr>
            <p:ph type="body" sz="quarter" idx="15"/>
          </p:nvPr>
        </p:nvSpPr>
        <p:spPr>
          <a:xfrm>
            <a:off x="586421" y="1916832"/>
            <a:ext cx="1219139" cy="269081"/>
          </a:xfrm>
          <a:prstGeom prst="rect">
            <a:avLst/>
          </a:prstGeom>
        </p:spPr>
        <p:txBody>
          <a:bodyPr lIns="0" tIns="0" rIns="0" bIns="0"/>
          <a:lstStyle>
            <a:lvl1pPr marL="0" indent="0" algn="l">
              <a:lnSpc>
                <a:spcPts val="1300"/>
              </a:lnSpc>
              <a:spcBef>
                <a:spcPts val="0"/>
              </a:spcBef>
              <a:buFontTx/>
              <a:buNone/>
              <a:defRPr sz="1600" b="0" i="0">
                <a:solidFill>
                  <a:schemeClr val="bg1"/>
                </a:solidFill>
                <a:latin typeface="+mj-lt"/>
                <a:ea typeface="Tahoma" charset="0"/>
                <a:cs typeface="Tahoma" charset="0"/>
              </a:defRPr>
            </a:lvl1pPr>
          </a:lstStyle>
          <a:p>
            <a:pPr lvl="0"/>
            <a:r>
              <a:rPr lang="en-US"/>
              <a:t>Edit Master text styles</a:t>
            </a:r>
          </a:p>
        </p:txBody>
      </p:sp>
      <p:sp>
        <p:nvSpPr>
          <p:cNvPr id="17" name="Text Placeholder 14">
            <a:extLst>
              <a:ext uri="{FF2B5EF4-FFF2-40B4-BE49-F238E27FC236}">
                <a16:creationId xmlns:a16="http://schemas.microsoft.com/office/drawing/2014/main" id="{C1E2BFEE-0AD7-C548-92B3-DE639BB40C8B}"/>
              </a:ext>
            </a:extLst>
          </p:cNvPr>
          <p:cNvSpPr>
            <a:spLocks noGrp="1"/>
          </p:cNvSpPr>
          <p:nvPr>
            <p:ph type="body" sz="quarter" idx="16"/>
          </p:nvPr>
        </p:nvSpPr>
        <p:spPr>
          <a:xfrm>
            <a:off x="586420" y="2323737"/>
            <a:ext cx="1219139" cy="402300"/>
          </a:xfrm>
          <a:prstGeom prst="rect">
            <a:avLst/>
          </a:prstGeom>
        </p:spPr>
        <p:txBody>
          <a:bodyPr lIns="0" tIns="0" rIns="0" bIns="0"/>
          <a:lstStyle>
            <a:lvl1pPr marL="0" indent="0" algn="l">
              <a:lnSpc>
                <a:spcPts val="1300"/>
              </a:lnSpc>
              <a:spcBef>
                <a:spcPts val="0"/>
              </a:spcBef>
              <a:buFontTx/>
              <a:buNone/>
              <a:defRPr sz="1800" b="1" i="0">
                <a:solidFill>
                  <a:schemeClr val="bg1"/>
                </a:solidFill>
                <a:latin typeface="+mj-lt"/>
                <a:ea typeface="Tahoma" charset="0"/>
                <a:cs typeface="Tahoma" charset="0"/>
              </a:defRPr>
            </a:lvl1pPr>
          </a:lstStyle>
          <a:p>
            <a:pPr lvl="0"/>
            <a:r>
              <a:rPr lang="en-US"/>
              <a:t>Edit Master text styles</a:t>
            </a:r>
          </a:p>
        </p:txBody>
      </p:sp>
      <p:sp>
        <p:nvSpPr>
          <p:cNvPr id="18" name="Text Placeholder 14">
            <a:extLst>
              <a:ext uri="{FF2B5EF4-FFF2-40B4-BE49-F238E27FC236}">
                <a16:creationId xmlns:a16="http://schemas.microsoft.com/office/drawing/2014/main" id="{FE54718D-4C22-E94B-A4C0-C34A3A4257A2}"/>
              </a:ext>
            </a:extLst>
          </p:cNvPr>
          <p:cNvSpPr>
            <a:spLocks noGrp="1"/>
          </p:cNvSpPr>
          <p:nvPr>
            <p:ph type="body" sz="quarter" idx="17"/>
          </p:nvPr>
        </p:nvSpPr>
        <p:spPr>
          <a:xfrm>
            <a:off x="598505" y="2913639"/>
            <a:ext cx="1219139" cy="371345"/>
          </a:xfrm>
          <a:prstGeom prst="rect">
            <a:avLst/>
          </a:prstGeom>
        </p:spPr>
        <p:txBody>
          <a:bodyPr lIns="0" tIns="0" rIns="0" bIns="0"/>
          <a:lstStyle>
            <a:lvl1pPr marL="0" indent="0" algn="l">
              <a:lnSpc>
                <a:spcPts val="1300"/>
              </a:lnSpc>
              <a:spcBef>
                <a:spcPts val="0"/>
              </a:spcBef>
              <a:buFontTx/>
              <a:buNone/>
              <a:defRPr sz="1800" b="1" i="0">
                <a:solidFill>
                  <a:schemeClr val="bg1"/>
                </a:solidFill>
                <a:latin typeface="+mj-lt"/>
                <a:ea typeface="Tahoma" charset="0"/>
                <a:cs typeface="Tahoma" charset="0"/>
              </a:defRPr>
            </a:lvl1pPr>
          </a:lstStyle>
          <a:p>
            <a:pPr lvl="0"/>
            <a:r>
              <a:rPr lang="en-US"/>
              <a:t>Edit Master text styles</a:t>
            </a:r>
          </a:p>
        </p:txBody>
      </p:sp>
      <p:sp>
        <p:nvSpPr>
          <p:cNvPr id="19" name="Text Placeholder 14">
            <a:extLst>
              <a:ext uri="{FF2B5EF4-FFF2-40B4-BE49-F238E27FC236}">
                <a16:creationId xmlns:a16="http://schemas.microsoft.com/office/drawing/2014/main" id="{55B2378F-7E74-5649-B1F7-5BE87863FDAE}"/>
              </a:ext>
            </a:extLst>
          </p:cNvPr>
          <p:cNvSpPr>
            <a:spLocks noGrp="1"/>
          </p:cNvSpPr>
          <p:nvPr>
            <p:ph type="body" sz="quarter" idx="18"/>
          </p:nvPr>
        </p:nvSpPr>
        <p:spPr>
          <a:xfrm>
            <a:off x="598505" y="5373216"/>
            <a:ext cx="1219139" cy="345828"/>
          </a:xfrm>
          <a:prstGeom prst="rect">
            <a:avLst/>
          </a:prstGeom>
        </p:spPr>
        <p:txBody>
          <a:bodyPr lIns="0" tIns="0" rIns="0" bIns="0"/>
          <a:lstStyle>
            <a:lvl1pPr marL="0" indent="0" algn="l">
              <a:lnSpc>
                <a:spcPts val="1300"/>
              </a:lnSpc>
              <a:spcBef>
                <a:spcPts val="0"/>
              </a:spcBef>
              <a:buFontTx/>
              <a:buNone/>
              <a:defRPr sz="1600" b="0" i="0">
                <a:solidFill>
                  <a:schemeClr val="bg1"/>
                </a:solidFill>
                <a:latin typeface="+mn-lt"/>
                <a:ea typeface="Tahoma"/>
                <a:cs typeface="Tahoma"/>
              </a:defRPr>
            </a:lvl1pPr>
          </a:lstStyle>
          <a:p>
            <a:pPr lvl="0"/>
            <a:r>
              <a:rPr lang="en-US"/>
              <a:t>Edit Master text styles</a:t>
            </a:r>
          </a:p>
        </p:txBody>
      </p:sp>
      <p:cxnSp>
        <p:nvCxnSpPr>
          <p:cNvPr id="27" name="Straight Connector 26">
            <a:extLst>
              <a:ext uri="{FF2B5EF4-FFF2-40B4-BE49-F238E27FC236}">
                <a16:creationId xmlns:a16="http://schemas.microsoft.com/office/drawing/2014/main" id="{763A8BFE-74A7-E94B-8A00-4CD70EAFA367}"/>
              </a:ext>
            </a:extLst>
          </p:cNvPr>
          <p:cNvCxnSpPr>
            <a:cxnSpLocks/>
          </p:cNvCxnSpPr>
          <p:nvPr userDrawn="1"/>
        </p:nvCxnSpPr>
        <p:spPr>
          <a:xfrm>
            <a:off x="1919288" y="1916832"/>
            <a:ext cx="0" cy="3802212"/>
          </a:xfrm>
          <a:prstGeom prst="line">
            <a:avLst/>
          </a:prstGeom>
          <a:ln w="6350">
            <a:solidFill>
              <a:schemeClr val="bg1"/>
            </a:solidFill>
          </a:ln>
        </p:spPr>
        <p:style>
          <a:lnRef idx="1">
            <a:schemeClr val="accent2"/>
          </a:lnRef>
          <a:fillRef idx="0">
            <a:schemeClr val="accent2"/>
          </a:fillRef>
          <a:effectRef idx="0">
            <a:schemeClr val="accent2"/>
          </a:effectRef>
          <a:fontRef idx="minor">
            <a:schemeClr val="tx1"/>
          </a:fontRef>
        </p:style>
      </p:cxnSp>
      <p:pic>
        <p:nvPicPr>
          <p:cNvPr id="6" name="Picture 8">
            <a:extLs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27584" y="0"/>
            <a:ext cx="1787872" cy="895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37226853"/>
      </p:ext>
    </p:extLst>
  </p:cSld>
  <p:clrMapOvr>
    <a:masterClrMapping/>
  </p:clrMapOvr>
  <p:transition spd="slow">
    <p:fade/>
  </p:transition>
  <p:extLst>
    <p:ext uri="{DCECCB84-F9BA-43D5-87BE-67443E8EF086}">
      <p15:sldGuideLst xmlns:p15="http://schemas.microsoft.com/office/powerpoint/2012/main">
        <p15:guide id="1" orient="horz" pos="1207" userDrawn="1">
          <p15:clr>
            <a:srgbClr val="FBAE40"/>
          </p15:clr>
        </p15:guide>
        <p15:guide id="2" pos="129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title and sub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E3DBD-28B5-6744-B93D-384D879AF993}"/>
              </a:ext>
            </a:extLst>
          </p:cNvPr>
          <p:cNvSpPr>
            <a:spLocks noGrp="1"/>
          </p:cNvSpPr>
          <p:nvPr>
            <p:ph type="title"/>
          </p:nvPr>
        </p:nvSpPr>
        <p:spPr>
          <a:xfrm>
            <a:off x="899592" y="1974055"/>
            <a:ext cx="6515620" cy="1325563"/>
          </a:xfrm>
          <a:prstGeom prst="rect">
            <a:avLst/>
          </a:prstGeom>
        </p:spPr>
        <p:txBody>
          <a:bodyPr/>
          <a:lstStyle>
            <a:lvl1pPr>
              <a:defRPr>
                <a:solidFill>
                  <a:srgbClr val="7A7392"/>
                </a:solidFill>
              </a:defRPr>
            </a:lvl1pPr>
          </a:lstStyle>
          <a:p>
            <a:r>
              <a:rPr lang="en-US"/>
              <a:t>Click to edit Master title style</a:t>
            </a:r>
          </a:p>
        </p:txBody>
      </p:sp>
      <p:sp>
        <p:nvSpPr>
          <p:cNvPr id="7" name="Text Placeholder 5"/>
          <p:cNvSpPr>
            <a:spLocks noGrp="1"/>
          </p:cNvSpPr>
          <p:nvPr>
            <p:ph type="body" sz="quarter" idx="11"/>
          </p:nvPr>
        </p:nvSpPr>
        <p:spPr>
          <a:xfrm>
            <a:off x="899592" y="4221163"/>
            <a:ext cx="6515620" cy="603104"/>
          </a:xfrm>
          <a:prstGeom prst="rect">
            <a:avLst/>
          </a:prstGeom>
        </p:spPr>
        <p:txBody>
          <a:bodyPr lIns="0" tIns="0" rIns="0" bIns="0"/>
          <a:lstStyle>
            <a:lvl1pPr marL="0" indent="0">
              <a:lnSpc>
                <a:spcPct val="100000"/>
              </a:lnSpc>
              <a:buFontTx/>
              <a:buNone/>
              <a:defRPr sz="1800" b="0" i="0">
                <a:solidFill>
                  <a:schemeClr val="tx1"/>
                </a:solidFill>
                <a:latin typeface="+mn-lt"/>
                <a:ea typeface="Tahoma"/>
                <a:cs typeface="Tahoma"/>
              </a:defRPr>
            </a:lvl1pPr>
          </a:lstStyle>
          <a:p>
            <a:pPr lvl="0"/>
            <a:r>
              <a:rPr lang="en-US"/>
              <a:t>Edit Master text styles</a:t>
            </a:r>
          </a:p>
        </p:txBody>
      </p:sp>
    </p:spTree>
    <p:extLst>
      <p:ext uri="{BB962C8B-B14F-4D97-AF65-F5344CB8AC3E}">
        <p14:creationId xmlns:p14="http://schemas.microsoft.com/office/powerpoint/2010/main" val="192450603"/>
      </p:ext>
    </p:extLst>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ain headings, text and bullet point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64AAA3-E9D4-B544-B77B-0789573E9C02}"/>
              </a:ext>
            </a:extLst>
          </p:cNvPr>
          <p:cNvSpPr>
            <a:spLocks noGrp="1"/>
          </p:cNvSpPr>
          <p:nvPr>
            <p:ph type="title" hasCustomPrompt="1"/>
          </p:nvPr>
        </p:nvSpPr>
        <p:spPr>
          <a:xfrm>
            <a:off x="899591" y="689701"/>
            <a:ext cx="7886700" cy="1011108"/>
          </a:xfrm>
          <a:prstGeom prst="rect">
            <a:avLst/>
          </a:prstGeom>
        </p:spPr>
        <p:txBody>
          <a:bodyPr lIns="0" tIns="0" rIns="0" bIns="0"/>
          <a:lstStyle>
            <a:lvl1pPr>
              <a:defRPr>
                <a:solidFill>
                  <a:srgbClr val="7A7392"/>
                </a:solidFill>
              </a:defRPr>
            </a:lvl1pPr>
          </a:lstStyle>
          <a:p>
            <a:pPr lvl="0"/>
            <a:r>
              <a:rPr lang="en-GB"/>
              <a:t>Click to edit Master text styles</a:t>
            </a:r>
          </a:p>
        </p:txBody>
      </p:sp>
      <p:sp>
        <p:nvSpPr>
          <p:cNvPr id="6" name="Text Placeholder 5"/>
          <p:cNvSpPr>
            <a:spLocks noGrp="1"/>
          </p:cNvSpPr>
          <p:nvPr>
            <p:ph type="body" sz="quarter" idx="11" hasCustomPrompt="1"/>
          </p:nvPr>
        </p:nvSpPr>
        <p:spPr>
          <a:xfrm>
            <a:off x="899591" y="1700808"/>
            <a:ext cx="6551612" cy="4608512"/>
          </a:xfrm>
          <a:prstGeom prst="rect">
            <a:avLst/>
          </a:prstGeom>
        </p:spPr>
        <p:txBody>
          <a:bodyPr lIns="0" tIns="0" rIns="0" bIns="0"/>
          <a:lstStyle>
            <a:lvl1pPr marL="266700" indent="-257175">
              <a:buClr>
                <a:srgbClr val="7A7392"/>
              </a:buClr>
              <a:tabLst/>
              <a:defRPr sz="1800">
                <a:latin typeface="+mn-lt"/>
                <a:ea typeface="Tahoma" panose="020B0604030504040204" pitchFamily="34" charset="0"/>
                <a:cs typeface="Tahoma" panose="020B0604030504040204" pitchFamily="34" charset="0"/>
              </a:defRPr>
            </a:lvl1pPr>
            <a:lvl2pPr marL="541338" indent="-274638">
              <a:buClr>
                <a:srgbClr val="7A7392"/>
              </a:buClr>
              <a:buFont typeface="Courier New" panose="02070309020205020404" pitchFamily="49" charset="0"/>
              <a:buChar char="o"/>
              <a:defRPr sz="1800">
                <a:latin typeface="+mn-lt"/>
                <a:ea typeface="Tahoma" panose="020B0604030504040204" pitchFamily="34" charset="0"/>
                <a:cs typeface="Tahoma" panose="020B0604030504040204" pitchFamily="34" charset="0"/>
              </a:defRPr>
            </a:lvl2pPr>
            <a:lvl3pPr marL="808038" indent="-266700">
              <a:buClr>
                <a:srgbClr val="7A7392"/>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a:defRPr sz="1600">
                <a:latin typeface="Tahoma" panose="020B0604030504040204" pitchFamily="34" charset="0"/>
                <a:ea typeface="Tahoma" panose="020B0604030504040204" pitchFamily="34" charset="0"/>
                <a:cs typeface="Tahoma" panose="020B0604030504040204" pitchFamily="34" charset="0"/>
              </a:defRPr>
            </a:lvl4pPr>
            <a:lvl5pPr>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06912239"/>
      </p:ext>
    </p:extLst>
  </p:cSld>
  <p:clrMapOvr>
    <a:masterClrMapping/>
  </p:clrMapOvr>
  <p:transition spd="slow">
    <p:fade/>
  </p:transition>
  <p:extLst>
    <p:ext uri="{DCECCB84-F9BA-43D5-87BE-67443E8EF086}">
      <p15:sldGuideLst xmlns:p15="http://schemas.microsoft.com/office/powerpoint/2012/main">
        <p15:guide id="1" orient="horz" pos="436" userDrawn="1">
          <p15:clr>
            <a:srgbClr val="FBAE40"/>
          </p15:clr>
        </p15:guide>
        <p15:guide id="2" pos="567"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ain headings, text and numbered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4AA9-9B1B-7D49-821B-E768D4FEE2D2}"/>
              </a:ext>
            </a:extLst>
          </p:cNvPr>
          <p:cNvSpPr>
            <a:spLocks noGrp="1"/>
          </p:cNvSpPr>
          <p:nvPr>
            <p:ph type="title"/>
          </p:nvPr>
        </p:nvSpPr>
        <p:spPr>
          <a:xfrm>
            <a:off x="900113" y="687614"/>
            <a:ext cx="7886700" cy="1012599"/>
          </a:xfrm>
        </p:spPr>
        <p:txBody>
          <a:bodyPr/>
          <a:lstStyle/>
          <a:p>
            <a:r>
              <a:rPr lang="en-US"/>
              <a:t>Click to edit Master title style</a:t>
            </a:r>
          </a:p>
        </p:txBody>
      </p:sp>
      <p:sp>
        <p:nvSpPr>
          <p:cNvPr id="3" name="Text Placeholder 2"/>
          <p:cNvSpPr>
            <a:spLocks noGrp="1"/>
          </p:cNvSpPr>
          <p:nvPr>
            <p:ph type="body" sz="quarter" idx="11" hasCustomPrompt="1"/>
          </p:nvPr>
        </p:nvSpPr>
        <p:spPr>
          <a:xfrm>
            <a:off x="900113" y="1700213"/>
            <a:ext cx="6551612" cy="4465637"/>
          </a:xfrm>
          <a:prstGeom prst="rect">
            <a:avLst/>
          </a:prstGeom>
        </p:spPr>
        <p:txBody>
          <a:bodyPr lIns="0" tIns="0" rIns="0" bIns="0"/>
          <a:lstStyle>
            <a:lvl1pPr marL="266700" indent="-266700">
              <a:buClr>
                <a:srgbClr val="7A7392"/>
              </a:buClr>
              <a:buFont typeface="+mj-lt"/>
              <a:buAutoNum type="arabicPeriod"/>
              <a:defRPr sz="1800">
                <a:latin typeface="+mn-lt"/>
                <a:ea typeface="Tahoma" panose="020B0604030504040204" pitchFamily="34" charset="0"/>
                <a:cs typeface="Tahoma" panose="020B0604030504040204" pitchFamily="34" charset="0"/>
              </a:defRPr>
            </a:lvl1pPr>
            <a:lvl2pPr marL="541338" indent="-274638">
              <a:buClr>
                <a:srgbClr val="7A7392"/>
              </a:buClr>
              <a:buFont typeface="+mj-lt"/>
              <a:buAutoNum type="romanLcPeriod"/>
              <a:defRPr sz="1800">
                <a:latin typeface="+mn-lt"/>
                <a:ea typeface="Tahoma" panose="020B0604030504040204" pitchFamily="34" charset="0"/>
                <a:cs typeface="Tahoma" panose="020B0604030504040204" pitchFamily="34" charset="0"/>
              </a:defRPr>
            </a:lvl2pPr>
            <a:lvl3pPr marL="896938" indent="-266700">
              <a:buClr>
                <a:srgbClr val="7A7392"/>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23431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4pPr>
            <a:lvl5pPr marL="29527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386068825"/>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text sty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D85A6-D158-2E49-90B4-F2441730F410}"/>
              </a:ext>
            </a:extLst>
          </p:cNvPr>
          <p:cNvSpPr>
            <a:spLocks noGrp="1"/>
          </p:cNvSpPr>
          <p:nvPr>
            <p:ph type="title"/>
          </p:nvPr>
        </p:nvSpPr>
        <p:spPr>
          <a:xfrm>
            <a:off x="899591" y="692697"/>
            <a:ext cx="7886700" cy="936104"/>
          </a:xfrm>
        </p:spPr>
        <p:txBody>
          <a:bodyPr/>
          <a:lstStyle/>
          <a:p>
            <a:r>
              <a:rPr lang="en-US"/>
              <a:t>Click to edit Master title style</a:t>
            </a:r>
          </a:p>
        </p:txBody>
      </p:sp>
      <p:sp>
        <p:nvSpPr>
          <p:cNvPr id="6" name="Text Placeholder 5"/>
          <p:cNvSpPr>
            <a:spLocks noGrp="1"/>
          </p:cNvSpPr>
          <p:nvPr>
            <p:ph type="body" sz="quarter" idx="11"/>
          </p:nvPr>
        </p:nvSpPr>
        <p:spPr>
          <a:xfrm>
            <a:off x="899592" y="1628800"/>
            <a:ext cx="3167583"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1800" b="0" i="0" baseline="0">
                <a:solidFill>
                  <a:schemeClr val="tx1"/>
                </a:solidFill>
                <a:latin typeface="+mn-lt"/>
                <a:ea typeface="Tahoma"/>
                <a:cs typeface="Tahoma"/>
              </a:defRPr>
            </a:lvl1pPr>
          </a:lstStyle>
          <a:p>
            <a:pPr lvl="0"/>
            <a:r>
              <a:rPr lang="en-US"/>
              <a:t>Edit Master text styles</a:t>
            </a:r>
          </a:p>
        </p:txBody>
      </p:sp>
      <p:sp>
        <p:nvSpPr>
          <p:cNvPr id="7" name="Text Placeholder 6"/>
          <p:cNvSpPr>
            <a:spLocks noGrp="1"/>
          </p:cNvSpPr>
          <p:nvPr>
            <p:ph type="body" sz="quarter" idx="12"/>
          </p:nvPr>
        </p:nvSpPr>
        <p:spPr>
          <a:xfrm>
            <a:off x="4284663" y="1628800"/>
            <a:ext cx="3167583"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1800" b="0" i="0" baseline="0">
                <a:solidFill>
                  <a:schemeClr val="tx1"/>
                </a:solidFill>
                <a:latin typeface="+mn-lt"/>
                <a:ea typeface="Tahoma"/>
                <a:cs typeface="Tahoma"/>
              </a:defRPr>
            </a:lvl1pPr>
          </a:lstStyle>
          <a:p>
            <a:pPr lvl="0"/>
            <a:r>
              <a:rPr lang="en-US"/>
              <a:t>Edit Master text styles</a:t>
            </a:r>
          </a:p>
        </p:txBody>
      </p:sp>
    </p:spTree>
    <p:extLst>
      <p:ext uri="{BB962C8B-B14F-4D97-AF65-F5344CB8AC3E}">
        <p14:creationId xmlns:p14="http://schemas.microsoft.com/office/powerpoint/2010/main" val="1903622766"/>
      </p:ext>
    </p:extLst>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text style with bullet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A63C3-2B19-3E4C-861A-2B5A52BA7233}"/>
              </a:ext>
            </a:extLst>
          </p:cNvPr>
          <p:cNvSpPr>
            <a:spLocks noGrp="1"/>
          </p:cNvSpPr>
          <p:nvPr>
            <p:ph type="title"/>
          </p:nvPr>
        </p:nvSpPr>
        <p:spPr>
          <a:xfrm>
            <a:off x="899591" y="692697"/>
            <a:ext cx="7886700" cy="936104"/>
          </a:xfrm>
        </p:spPr>
        <p:txBody>
          <a:bodyPr/>
          <a:lstStyle/>
          <a:p>
            <a:r>
              <a:rPr lang="en-US"/>
              <a:t>Click to edit Master title style</a:t>
            </a:r>
          </a:p>
        </p:txBody>
      </p:sp>
      <p:sp>
        <p:nvSpPr>
          <p:cNvPr id="8" name="Text Placeholder 5"/>
          <p:cNvSpPr>
            <a:spLocks noGrp="1"/>
          </p:cNvSpPr>
          <p:nvPr>
            <p:ph type="body" sz="quarter" idx="11" hasCustomPrompt="1"/>
          </p:nvPr>
        </p:nvSpPr>
        <p:spPr>
          <a:xfrm>
            <a:off x="899592" y="1628800"/>
            <a:ext cx="316758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7A7392"/>
              </a:buClr>
              <a:buSzTx/>
              <a:buFont typeface="Arial" panose="020B0604020202020204" pitchFamily="34" charset="0"/>
              <a:buChar char="•"/>
              <a:tabLst/>
              <a:defRPr sz="18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7A7392"/>
              </a:buClr>
              <a:buFont typeface="Courier New" panose="02070309020205020404" pitchFamily="49" charset="0"/>
              <a:buChar char="o"/>
              <a:defRPr sz="1800">
                <a:latin typeface="+mn-lt"/>
                <a:ea typeface="Tahoma" panose="020B0604030504040204" pitchFamily="34" charset="0"/>
                <a:cs typeface="Tahoma" panose="020B0604030504040204" pitchFamily="34" charset="0"/>
              </a:defRPr>
            </a:lvl2pPr>
            <a:lvl3pPr marL="808038" indent="-177800">
              <a:buClr>
                <a:srgbClr val="7A7392"/>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1163638" indent="-301625">
              <a:defRPr sz="1800">
                <a:latin typeface="+mn-lt"/>
                <a:ea typeface="Tahoma" panose="020B0604030504040204" pitchFamily="34" charset="0"/>
                <a:cs typeface="Tahoma" panose="020B0604030504040204" pitchFamily="34" charset="0"/>
              </a:defRPr>
            </a:lvl4pPr>
          </a:lstStyle>
          <a:p>
            <a:pPr lvl="0"/>
            <a:r>
              <a:rPr lang="en-GB"/>
              <a:t>Click to add text</a:t>
            </a:r>
          </a:p>
          <a:p>
            <a:pPr lvl="1"/>
            <a:r>
              <a:rPr lang="en-GB"/>
              <a:t>Second Bullet Point</a:t>
            </a:r>
          </a:p>
          <a:p>
            <a:pPr lvl="2"/>
            <a:r>
              <a:rPr lang="en-GB"/>
              <a:t>Third Bullet Point</a:t>
            </a:r>
          </a:p>
          <a:p>
            <a:pPr lvl="3"/>
            <a:endParaRPr lang="en-GB"/>
          </a:p>
        </p:txBody>
      </p:sp>
      <p:sp>
        <p:nvSpPr>
          <p:cNvPr id="9" name="Text Placeholder 5"/>
          <p:cNvSpPr>
            <a:spLocks noGrp="1"/>
          </p:cNvSpPr>
          <p:nvPr>
            <p:ph type="body" sz="quarter" idx="12" hasCustomPrompt="1"/>
          </p:nvPr>
        </p:nvSpPr>
        <p:spPr>
          <a:xfrm>
            <a:off x="4284663" y="1628800"/>
            <a:ext cx="316758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7A7392"/>
              </a:buClr>
              <a:buSzTx/>
              <a:buFont typeface="Arial" panose="020B0604020202020204" pitchFamily="34" charset="0"/>
              <a:buChar char="•"/>
              <a:tabLst/>
              <a:defRPr sz="18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7A7392"/>
              </a:buClr>
              <a:buFont typeface="Courier New" panose="02070309020205020404" pitchFamily="49" charset="0"/>
              <a:buChar char="o"/>
              <a:defRPr sz="1800">
                <a:latin typeface="+mn-lt"/>
                <a:ea typeface="Tahoma" panose="020B0604030504040204" pitchFamily="34" charset="0"/>
                <a:cs typeface="Tahoma" panose="020B0604030504040204" pitchFamily="34" charset="0"/>
              </a:defRPr>
            </a:lvl2pPr>
            <a:lvl3pPr marL="808038" indent="-177800">
              <a:buClr>
                <a:srgbClr val="7A7392"/>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1163638" indent="-301625">
              <a:defRPr sz="1800">
                <a:latin typeface="+mn-lt"/>
                <a:ea typeface="Tahoma" panose="020B0604030504040204" pitchFamily="34" charset="0"/>
                <a:cs typeface="Tahoma" panose="020B0604030504040204" pitchFamily="34" charset="0"/>
              </a:defRPr>
            </a:lvl4pPr>
          </a:lstStyle>
          <a:p>
            <a:pPr lvl="0"/>
            <a:r>
              <a:rPr lang="en-US"/>
              <a:t>Click to add text</a:t>
            </a:r>
          </a:p>
          <a:p>
            <a:pPr lvl="1"/>
            <a:r>
              <a:rPr lang="en-US"/>
              <a:t>Second Bullet Point</a:t>
            </a:r>
          </a:p>
          <a:p>
            <a:pPr lvl="2"/>
            <a:r>
              <a:rPr lang="en-US"/>
              <a:t>Third Bullet Point</a:t>
            </a:r>
          </a:p>
          <a:p>
            <a:pPr lvl="3"/>
            <a:endParaRPr lang="en-US"/>
          </a:p>
          <a:p>
            <a:pPr lvl="0"/>
            <a:endParaRPr lang="en-GB"/>
          </a:p>
        </p:txBody>
      </p:sp>
    </p:spTree>
    <p:extLst>
      <p:ext uri="{BB962C8B-B14F-4D97-AF65-F5344CB8AC3E}">
        <p14:creationId xmlns:p14="http://schemas.microsoft.com/office/powerpoint/2010/main" val="976455156"/>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text style with numbered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AA39C-6E99-FE4F-B641-F44C7B4B4DB4}"/>
              </a:ext>
            </a:extLst>
          </p:cNvPr>
          <p:cNvSpPr>
            <a:spLocks noGrp="1"/>
          </p:cNvSpPr>
          <p:nvPr>
            <p:ph type="title"/>
          </p:nvPr>
        </p:nvSpPr>
        <p:spPr>
          <a:xfrm>
            <a:off x="899592" y="692697"/>
            <a:ext cx="7886700" cy="936104"/>
          </a:xfrm>
        </p:spPr>
        <p:txBody>
          <a:bodyPr/>
          <a:lstStyle/>
          <a:p>
            <a:r>
              <a:rPr lang="en-US"/>
              <a:t>Click to edit Master title style</a:t>
            </a:r>
          </a:p>
        </p:txBody>
      </p:sp>
      <p:sp>
        <p:nvSpPr>
          <p:cNvPr id="8" name="Text Placeholder 5"/>
          <p:cNvSpPr>
            <a:spLocks noGrp="1"/>
          </p:cNvSpPr>
          <p:nvPr>
            <p:ph type="body" sz="quarter" idx="11" hasCustomPrompt="1"/>
          </p:nvPr>
        </p:nvSpPr>
        <p:spPr>
          <a:xfrm>
            <a:off x="899592" y="1628800"/>
            <a:ext cx="3167583" cy="4536504"/>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7A7392"/>
              </a:buClr>
              <a:buSzTx/>
              <a:buFont typeface="+mj-lt"/>
              <a:buAutoNum type="arabicPeriod"/>
              <a:tabLst/>
              <a:defRPr sz="1800" b="0" i="0" baseline="0">
                <a:solidFill>
                  <a:schemeClr val="tx1"/>
                </a:solidFill>
                <a:latin typeface="+mn-lt"/>
                <a:ea typeface="Tahoma"/>
                <a:cs typeface="Tahoma"/>
              </a:defRPr>
            </a:lvl1pPr>
            <a:lvl2pPr marL="541338" indent="-274638">
              <a:buClr>
                <a:srgbClr val="7A7392"/>
              </a:buClr>
              <a:buFont typeface="+mj-lt"/>
              <a:buAutoNum type="romanLcPeriod"/>
              <a:defRPr sz="1800" baseline="0">
                <a:latin typeface="+mn-lt"/>
                <a:ea typeface="Tahoma" panose="020B0604030504040204" pitchFamily="34" charset="0"/>
                <a:cs typeface="Tahoma" panose="020B0604030504040204" pitchFamily="34" charset="0"/>
              </a:defRPr>
            </a:lvl2pPr>
            <a:lvl3pPr marL="896938" indent="-266700">
              <a:buClr>
                <a:srgbClr val="7A7392"/>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1252538" indent="-285750">
              <a:buFont typeface="Arial" panose="020B0604020202020204" pitchFamily="34" charset="0"/>
              <a:buChar char="̶"/>
              <a:defRPr sz="1400">
                <a:latin typeface="+mn-lt"/>
                <a:ea typeface="Tahoma" panose="020B0604030504040204" pitchFamily="34" charset="0"/>
                <a:cs typeface="Tahoma" panose="020B0604030504040204" pitchFamily="34" charset="0"/>
              </a:defRPr>
            </a:lvl4pPr>
          </a:lstStyle>
          <a:p>
            <a:pPr lvl="0"/>
            <a:r>
              <a:rPr lang="en-GB"/>
              <a:t>Click to add text</a:t>
            </a:r>
          </a:p>
          <a:p>
            <a:pPr lvl="1"/>
            <a:r>
              <a:rPr lang="en-GB"/>
              <a:t>Number Position Number 2</a:t>
            </a:r>
          </a:p>
          <a:p>
            <a:pPr lvl="2"/>
            <a:r>
              <a:rPr lang="en-GB"/>
              <a:t>Number Position Number 3</a:t>
            </a:r>
          </a:p>
          <a:p>
            <a:pPr lvl="3"/>
            <a:endParaRPr lang="en-GB"/>
          </a:p>
          <a:p>
            <a:pPr lvl="3"/>
            <a:endParaRPr lang="en-GB"/>
          </a:p>
        </p:txBody>
      </p:sp>
      <p:sp>
        <p:nvSpPr>
          <p:cNvPr id="9" name="Text Placeholder 5"/>
          <p:cNvSpPr>
            <a:spLocks noGrp="1"/>
          </p:cNvSpPr>
          <p:nvPr>
            <p:ph type="body" sz="quarter" idx="12" hasCustomPrompt="1"/>
          </p:nvPr>
        </p:nvSpPr>
        <p:spPr>
          <a:xfrm>
            <a:off x="4284663" y="1628800"/>
            <a:ext cx="3167583" cy="4536504"/>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7A7392"/>
              </a:buClr>
              <a:buSzTx/>
              <a:buFont typeface="+mj-lt"/>
              <a:buAutoNum type="arabicPeriod"/>
              <a:tabLst/>
              <a:defRPr sz="1800" b="0" i="0" baseline="0">
                <a:solidFill>
                  <a:schemeClr val="tx1"/>
                </a:solidFill>
                <a:latin typeface="+mn-lt"/>
                <a:ea typeface="Tahoma"/>
                <a:cs typeface="Tahoma"/>
              </a:defRPr>
            </a:lvl1pPr>
            <a:lvl2pPr marL="541338" indent="-274638">
              <a:buClr>
                <a:srgbClr val="7A7392"/>
              </a:buClr>
              <a:buFont typeface="+mj-lt"/>
              <a:buAutoNum type="romanLcPeriod"/>
              <a:defRPr sz="1800">
                <a:latin typeface="+mn-lt"/>
                <a:ea typeface="Tahoma" panose="020B0604030504040204" pitchFamily="34" charset="0"/>
                <a:cs typeface="Tahoma" panose="020B0604030504040204" pitchFamily="34" charset="0"/>
              </a:defRPr>
            </a:lvl2pPr>
            <a:lvl3pPr marL="896938" indent="-266700">
              <a:buClr>
                <a:srgbClr val="7A7392"/>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1252538" indent="-285750">
              <a:buFont typeface="Arial" panose="020B0604020202020204" pitchFamily="34" charset="0"/>
              <a:buChar char="̶"/>
              <a:defRPr sz="1400">
                <a:latin typeface="+mn-lt"/>
                <a:ea typeface="Tahoma" panose="020B0604030504040204" pitchFamily="34" charset="0"/>
                <a:cs typeface="Tahoma" panose="020B0604030504040204" pitchFamily="34" charset="0"/>
              </a:defRPr>
            </a:lvl4pPr>
          </a:lstStyle>
          <a:p>
            <a:pPr lvl="0"/>
            <a:r>
              <a:rPr lang="en-GB"/>
              <a:t>Click to add text</a:t>
            </a:r>
          </a:p>
          <a:p>
            <a:pPr lvl="1"/>
            <a:r>
              <a:rPr lang="en-GB"/>
              <a:t>Number Position Number 2</a:t>
            </a:r>
          </a:p>
          <a:p>
            <a:pPr lvl="2"/>
            <a:r>
              <a:rPr lang="en-GB"/>
              <a:t>Number Position Number 3</a:t>
            </a:r>
          </a:p>
          <a:p>
            <a:pPr lvl="3"/>
            <a:endParaRPr lang="en-GB"/>
          </a:p>
        </p:txBody>
      </p:sp>
    </p:spTree>
    <p:extLst>
      <p:ext uri="{BB962C8B-B14F-4D97-AF65-F5344CB8AC3E}">
        <p14:creationId xmlns:p14="http://schemas.microsoft.com/office/powerpoint/2010/main" val="211776518"/>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 and graph posi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0C80B-5DE2-104C-BCD7-114FA55CDFA5}"/>
              </a:ext>
            </a:extLst>
          </p:cNvPr>
          <p:cNvSpPr>
            <a:spLocks noGrp="1"/>
          </p:cNvSpPr>
          <p:nvPr>
            <p:ph type="title"/>
          </p:nvPr>
        </p:nvSpPr>
        <p:spPr>
          <a:xfrm>
            <a:off x="892515" y="692697"/>
            <a:ext cx="7886700" cy="862064"/>
          </a:xfrm>
        </p:spPr>
        <p:txBody>
          <a:bodyPr/>
          <a:lstStyle/>
          <a:p>
            <a:r>
              <a:rPr lang="en-US"/>
              <a:t>Click to edit Master title style</a:t>
            </a:r>
          </a:p>
        </p:txBody>
      </p:sp>
      <p:sp>
        <p:nvSpPr>
          <p:cNvPr id="3" name="Chart Placeholder 2"/>
          <p:cNvSpPr>
            <a:spLocks noGrp="1"/>
          </p:cNvSpPr>
          <p:nvPr>
            <p:ph type="chart" sz="quarter" idx="11"/>
          </p:nvPr>
        </p:nvSpPr>
        <p:spPr>
          <a:xfrm>
            <a:off x="899592" y="1554760"/>
            <a:ext cx="6515620" cy="4538065"/>
          </a:xfrm>
          <a:prstGeom prst="rect">
            <a:avLst/>
          </a:prstGeom>
        </p:spPr>
        <p:txBody>
          <a:bodyPr/>
          <a:lstStyle/>
          <a:p>
            <a:pPr lvl="0"/>
            <a:r>
              <a:rPr lang="en-US" noProof="0"/>
              <a:t>Click icon to add chart</a:t>
            </a:r>
          </a:p>
        </p:txBody>
      </p:sp>
    </p:spTree>
    <p:extLst>
      <p:ext uri="{BB962C8B-B14F-4D97-AF65-F5344CB8AC3E}">
        <p14:creationId xmlns:p14="http://schemas.microsoft.com/office/powerpoint/2010/main" val="947534947"/>
      </p:ext>
    </p:extLst>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arrow column text style with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465AE-FBB8-C547-A863-8ACFC537D477}"/>
              </a:ext>
            </a:extLst>
          </p:cNvPr>
          <p:cNvSpPr>
            <a:spLocks noGrp="1"/>
          </p:cNvSpPr>
          <p:nvPr>
            <p:ph type="title"/>
          </p:nvPr>
        </p:nvSpPr>
        <p:spPr>
          <a:xfrm>
            <a:off x="899591" y="692696"/>
            <a:ext cx="7886700" cy="936103"/>
          </a:xfrm>
        </p:spPr>
        <p:txBody>
          <a:bodyPr/>
          <a:lstStyle/>
          <a:p>
            <a:r>
              <a:rPr lang="en-US"/>
              <a:t>Click to edit Master title style</a:t>
            </a:r>
          </a:p>
        </p:txBody>
      </p:sp>
      <p:sp>
        <p:nvSpPr>
          <p:cNvPr id="6" name="Text Placeholder 5"/>
          <p:cNvSpPr>
            <a:spLocks noGrp="1"/>
          </p:cNvSpPr>
          <p:nvPr>
            <p:ph type="body" sz="quarter" idx="11"/>
          </p:nvPr>
        </p:nvSpPr>
        <p:spPr>
          <a:xfrm>
            <a:off x="899592" y="1628800"/>
            <a:ext cx="3167583"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1800" b="0" i="0" baseline="0">
                <a:solidFill>
                  <a:schemeClr val="tx1"/>
                </a:solidFill>
                <a:latin typeface="+mn-lt"/>
                <a:ea typeface="Tahoma"/>
                <a:cs typeface="Tahoma"/>
              </a:defRPr>
            </a:lvl1pPr>
          </a:lstStyle>
          <a:p>
            <a:pPr lvl="0"/>
            <a:r>
              <a:rPr lang="en-US"/>
              <a:t>Edit Master text styles</a:t>
            </a:r>
          </a:p>
        </p:txBody>
      </p:sp>
      <p:sp>
        <p:nvSpPr>
          <p:cNvPr id="3" name="Chart Placeholder 2"/>
          <p:cNvSpPr>
            <a:spLocks noGrp="1"/>
          </p:cNvSpPr>
          <p:nvPr>
            <p:ph type="chart" sz="quarter" idx="12"/>
          </p:nvPr>
        </p:nvSpPr>
        <p:spPr>
          <a:xfrm>
            <a:off x="4284663" y="1628799"/>
            <a:ext cx="3816350" cy="4464025"/>
          </a:xfrm>
          <a:prstGeom prst="rect">
            <a:avLst/>
          </a:prstGeom>
        </p:spPr>
        <p:txBody>
          <a:bodyPr/>
          <a:lstStyle/>
          <a:p>
            <a:pPr lvl="0"/>
            <a:r>
              <a:rPr lang="en-US" noProof="0"/>
              <a:t>Click icon to add chart</a:t>
            </a:r>
          </a:p>
        </p:txBody>
      </p:sp>
    </p:spTree>
    <p:extLst>
      <p:ext uri="{BB962C8B-B14F-4D97-AF65-F5344CB8AC3E}">
        <p14:creationId xmlns:p14="http://schemas.microsoft.com/office/powerpoint/2010/main" val="1628611724"/>
      </p:ext>
    </p:extLst>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ED979-55B4-3C48-802B-10CF449D32FC}"/>
              </a:ext>
            </a:extLst>
          </p:cNvPr>
          <p:cNvSpPr>
            <a:spLocks noGrp="1"/>
          </p:cNvSpPr>
          <p:nvPr>
            <p:ph type="title"/>
          </p:nvPr>
        </p:nvSpPr>
        <p:spPr>
          <a:xfrm>
            <a:off x="899592" y="692697"/>
            <a:ext cx="7886700" cy="720080"/>
          </a:xfrm>
        </p:spPr>
        <p:txBody>
          <a:bodyPr/>
          <a:lstStyle/>
          <a:p>
            <a:r>
              <a:rPr lang="en-US"/>
              <a:t>Click to edit Master title style</a:t>
            </a:r>
          </a:p>
        </p:txBody>
      </p:sp>
      <p:sp>
        <p:nvSpPr>
          <p:cNvPr id="4" name="Picture Placeholder 12">
            <a:extLst>
              <a:ext uri="{C183D7F6-B498-43B3-948B-1728B52AA6E4}">
                <adec:decorative xmlns:adec="http://schemas.microsoft.com/office/drawing/2017/decorative" val="1"/>
              </a:ext>
            </a:extLst>
          </p:cNvPr>
          <p:cNvSpPr>
            <a:spLocks noGrp="1"/>
          </p:cNvSpPr>
          <p:nvPr>
            <p:ph type="pic" sz="quarter" idx="13"/>
          </p:nvPr>
        </p:nvSpPr>
        <p:spPr>
          <a:xfrm>
            <a:off x="11215" y="1412776"/>
            <a:ext cx="9144000" cy="5951190"/>
          </a:xfrm>
          <a:prstGeom prst="rect">
            <a:avLst/>
          </a:prstGeom>
        </p:spPr>
        <p:txBody>
          <a:bodyPr/>
          <a:lstStyle/>
          <a:p>
            <a:r>
              <a:rPr lang="en-US"/>
              <a:t>Click icon to add picture</a:t>
            </a:r>
          </a:p>
        </p:txBody>
      </p:sp>
    </p:spTree>
    <p:extLst>
      <p:ext uri="{BB962C8B-B14F-4D97-AF65-F5344CB8AC3E}">
        <p14:creationId xmlns:p14="http://schemas.microsoft.com/office/powerpoint/2010/main" val="250680606"/>
      </p:ext>
    </p:extLst>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AD231-0526-BA4B-A751-485A68D4F146}"/>
              </a:ext>
            </a:extLst>
          </p:cNvPr>
          <p:cNvSpPr>
            <a:spLocks noGrp="1"/>
          </p:cNvSpPr>
          <p:nvPr>
            <p:ph type="title"/>
          </p:nvPr>
        </p:nvSpPr>
        <p:spPr>
          <a:xfrm>
            <a:off x="900112" y="692697"/>
            <a:ext cx="7454131" cy="768356"/>
          </a:xfrm>
        </p:spPr>
        <p:txBody>
          <a:bodyPr/>
          <a:lstStyle/>
          <a:p>
            <a:r>
              <a:rPr lang="en-US"/>
              <a:t>Click to edit Master title style</a:t>
            </a:r>
          </a:p>
        </p:txBody>
      </p:sp>
      <p:sp>
        <p:nvSpPr>
          <p:cNvPr id="14" name="Picture Placeholder 12">
            <a:extLst>
              <a:ext uri="{C183D7F6-B498-43B3-948B-1728B52AA6E4}">
                <adec:decorative xmlns:adec="http://schemas.microsoft.com/office/drawing/2017/decorative" val="1"/>
              </a:ext>
            </a:extLst>
          </p:cNvPr>
          <p:cNvSpPr>
            <a:spLocks noGrp="1"/>
          </p:cNvSpPr>
          <p:nvPr>
            <p:ph type="pic" sz="quarter" idx="12"/>
          </p:nvPr>
        </p:nvSpPr>
        <p:spPr>
          <a:xfrm>
            <a:off x="0" y="1461052"/>
            <a:ext cx="3024188" cy="5396948"/>
          </a:xfrm>
          <a:prstGeom prst="rect">
            <a:avLst/>
          </a:prstGeom>
        </p:spPr>
        <p:txBody>
          <a:bodyPr/>
          <a:lstStyle/>
          <a:p>
            <a:r>
              <a:rPr lang="en-US"/>
              <a:t>Click icon to add picture</a:t>
            </a:r>
          </a:p>
        </p:txBody>
      </p:sp>
      <p:sp>
        <p:nvSpPr>
          <p:cNvPr id="15" name="Picture Placeholder 12">
            <a:extLst>
              <a:ext uri="{C183D7F6-B498-43B3-948B-1728B52AA6E4}">
                <adec:decorative xmlns:adec="http://schemas.microsoft.com/office/drawing/2017/decorative" val="1"/>
              </a:ext>
            </a:extLst>
          </p:cNvPr>
          <p:cNvSpPr>
            <a:spLocks noGrp="1"/>
          </p:cNvSpPr>
          <p:nvPr>
            <p:ph type="pic" sz="quarter" idx="13"/>
          </p:nvPr>
        </p:nvSpPr>
        <p:spPr>
          <a:xfrm>
            <a:off x="3059113" y="1461053"/>
            <a:ext cx="3020316" cy="2650572"/>
          </a:xfrm>
          <a:prstGeom prst="rect">
            <a:avLst/>
          </a:prstGeom>
        </p:spPr>
        <p:txBody>
          <a:bodyPr/>
          <a:lstStyle/>
          <a:p>
            <a:r>
              <a:rPr lang="en-US"/>
              <a:t>Click icon to add picture</a:t>
            </a:r>
          </a:p>
        </p:txBody>
      </p:sp>
      <p:sp>
        <p:nvSpPr>
          <p:cNvPr id="17" name="Picture Placeholder 12">
            <a:extLst>
              <a:ext uri="{C183D7F6-B498-43B3-948B-1728B52AA6E4}">
                <adec:decorative xmlns:adec="http://schemas.microsoft.com/office/drawing/2017/decorative" val="1"/>
              </a:ext>
            </a:extLst>
          </p:cNvPr>
          <p:cNvSpPr>
            <a:spLocks noGrp="1"/>
          </p:cNvSpPr>
          <p:nvPr>
            <p:ph type="pic" sz="quarter" idx="14"/>
          </p:nvPr>
        </p:nvSpPr>
        <p:spPr>
          <a:xfrm>
            <a:off x="3059113" y="4149725"/>
            <a:ext cx="3020316" cy="2708275"/>
          </a:xfrm>
          <a:prstGeom prst="rect">
            <a:avLst/>
          </a:prstGeom>
        </p:spPr>
        <p:txBody>
          <a:bodyPr/>
          <a:lstStyle/>
          <a:p>
            <a:r>
              <a:rPr lang="en-US"/>
              <a:t>Click icon to add picture</a:t>
            </a:r>
          </a:p>
        </p:txBody>
      </p:sp>
      <p:sp>
        <p:nvSpPr>
          <p:cNvPr id="13" name="Picture Placeholder 12">
            <a:extLst>
              <a:ext uri="{C183D7F6-B498-43B3-948B-1728B52AA6E4}">
                <adec:decorative xmlns:adec="http://schemas.microsoft.com/office/drawing/2017/decorative" val="1"/>
              </a:ext>
            </a:extLst>
          </p:cNvPr>
          <p:cNvSpPr>
            <a:spLocks noGrp="1"/>
          </p:cNvSpPr>
          <p:nvPr>
            <p:ph type="pic" sz="quarter" idx="11"/>
          </p:nvPr>
        </p:nvSpPr>
        <p:spPr>
          <a:xfrm>
            <a:off x="6118225" y="1461052"/>
            <a:ext cx="3025775" cy="5396948"/>
          </a:xfrm>
          <a:prstGeom prst="rect">
            <a:avLst/>
          </a:prstGeom>
        </p:spPr>
        <p:txBody>
          <a:bodyPr/>
          <a:lstStyle/>
          <a:p>
            <a:r>
              <a:rPr lang="en-US"/>
              <a:t>Click icon to add picture</a:t>
            </a:r>
          </a:p>
        </p:txBody>
      </p:sp>
    </p:spTree>
    <p:extLst>
      <p:ext uri="{BB962C8B-B14F-4D97-AF65-F5344CB8AC3E}">
        <p14:creationId xmlns:p14="http://schemas.microsoft.com/office/powerpoint/2010/main" val="1974219801"/>
      </p:ext>
    </p:extLst>
  </p:cSld>
  <p:clrMapOvr>
    <a:masterClrMapping/>
  </p:clrMapOvr>
  <p:transition spd="slow">
    <p:fade/>
  </p:transition>
  <p:extLst>
    <p:ext uri="{DCECCB84-F9BA-43D5-87BE-67443E8EF086}">
      <p15:sldGuideLst xmlns:p15="http://schemas.microsoft.com/office/powerpoint/2012/main">
        <p15:guide id="1" orient="horz" pos="332" userDrawn="1">
          <p15:clr>
            <a:srgbClr val="FBAE40"/>
          </p15:clr>
        </p15:guide>
        <p15:guide id="2" pos="2880" userDrawn="1">
          <p15:clr>
            <a:srgbClr val="FBAE40"/>
          </p15:clr>
        </p15:guide>
        <p15:guide id="4" pos="3833" userDrawn="1">
          <p15:clr>
            <a:srgbClr val="FBAE40"/>
          </p15:clr>
        </p15:guide>
        <p15:guide id="5" orient="horz" pos="2614" userDrawn="1">
          <p15:clr>
            <a:srgbClr val="FBAE40"/>
          </p15:clr>
        </p15:guide>
        <p15:guide id="6" pos="567" userDrawn="1">
          <p15:clr>
            <a:srgbClr val="FBAE40"/>
          </p15:clr>
        </p15:guide>
        <p15:guide id="8" pos="1927" userDrawn="1">
          <p15:clr>
            <a:srgbClr val="FBAE40"/>
          </p15:clr>
        </p15:guide>
        <p15:guide id="9" pos="3854" userDrawn="1">
          <p15:clr>
            <a:srgbClr val="FBAE40"/>
          </p15:clr>
        </p15:guide>
        <p15:guide id="10" orient="horz" pos="259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E2A74-33A9-1E47-9EBD-B4B8BA3C3C75}"/>
              </a:ext>
            </a:extLst>
          </p:cNvPr>
          <p:cNvSpPr>
            <a:spLocks noGrp="1"/>
          </p:cNvSpPr>
          <p:nvPr>
            <p:ph type="title"/>
          </p:nvPr>
        </p:nvSpPr>
        <p:spPr>
          <a:xfrm>
            <a:off x="458065" y="692697"/>
            <a:ext cx="7886700" cy="768356"/>
          </a:xfrm>
        </p:spPr>
        <p:txBody>
          <a:bodyPr/>
          <a:lstStyle/>
          <a:p>
            <a:r>
              <a:rPr lang="en-US"/>
              <a:t>Click to edit Master title style</a:t>
            </a:r>
          </a:p>
        </p:txBody>
      </p:sp>
      <p:sp>
        <p:nvSpPr>
          <p:cNvPr id="8" name="Text Placeholder 5"/>
          <p:cNvSpPr>
            <a:spLocks noGrp="1"/>
          </p:cNvSpPr>
          <p:nvPr>
            <p:ph type="body" sz="quarter" idx="15" hasCustomPrompt="1"/>
          </p:nvPr>
        </p:nvSpPr>
        <p:spPr>
          <a:xfrm>
            <a:off x="458065" y="1461052"/>
            <a:ext cx="254707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7A7392"/>
              </a:buClr>
              <a:buSzTx/>
              <a:buFont typeface="Arial" panose="020B0604020202020204" pitchFamily="34" charset="0"/>
              <a:buChar char="•"/>
              <a:tabLst/>
              <a:defRPr sz="18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7A7392"/>
              </a:buClr>
              <a:buFont typeface="Courier New" panose="02070309020205020404" pitchFamily="49" charset="0"/>
              <a:buChar char="o"/>
              <a:defRPr sz="1800">
                <a:latin typeface="+mn-lt"/>
                <a:ea typeface="Tahoma" panose="020B0604030504040204" pitchFamily="34" charset="0"/>
                <a:cs typeface="Tahoma" panose="020B0604030504040204" pitchFamily="34" charset="0"/>
              </a:defRPr>
            </a:lvl2pPr>
            <a:lvl3pPr marL="808038" indent="-177800">
              <a:buClr>
                <a:srgbClr val="7A7392"/>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1163638" indent="-301625">
              <a:defRPr sz="1400">
                <a:latin typeface="+mn-lt"/>
                <a:ea typeface="Tahoma" panose="020B0604030504040204" pitchFamily="34" charset="0"/>
                <a:cs typeface="Tahoma" panose="020B0604030504040204" pitchFamily="34" charset="0"/>
              </a:defRPr>
            </a:lvl4pPr>
          </a:lstStyle>
          <a:p>
            <a:pPr lvl="0"/>
            <a:r>
              <a:rPr lang="en-GB"/>
              <a:t>Click to add text</a:t>
            </a:r>
          </a:p>
          <a:p>
            <a:pPr lvl="1"/>
            <a:r>
              <a:rPr lang="en-GB"/>
              <a:t>Second Bullet Point</a:t>
            </a:r>
          </a:p>
          <a:p>
            <a:pPr lvl="2"/>
            <a:r>
              <a:rPr lang="en-GB"/>
              <a:t>Third Bullet Point</a:t>
            </a:r>
          </a:p>
          <a:p>
            <a:pPr lvl="3"/>
            <a:endParaRPr lang="en-GB"/>
          </a:p>
        </p:txBody>
      </p:sp>
      <p:sp>
        <p:nvSpPr>
          <p:cNvPr id="5" name="Picture Placeholder 12">
            <a:extLst>
              <a:ext uri="{C183D7F6-B498-43B3-948B-1728B52AA6E4}">
                <adec:decorative xmlns:adec="http://schemas.microsoft.com/office/drawing/2017/decorative" val="1"/>
              </a:ext>
            </a:extLst>
          </p:cNvPr>
          <p:cNvSpPr>
            <a:spLocks noGrp="1"/>
          </p:cNvSpPr>
          <p:nvPr>
            <p:ph type="pic" sz="quarter" idx="11"/>
          </p:nvPr>
        </p:nvSpPr>
        <p:spPr>
          <a:xfrm>
            <a:off x="3041650" y="1461052"/>
            <a:ext cx="3043238" cy="5396948"/>
          </a:xfrm>
          <a:prstGeom prst="rect">
            <a:avLst/>
          </a:prstGeom>
        </p:spPr>
        <p:txBody>
          <a:bodyPr/>
          <a:lstStyle/>
          <a:p>
            <a:r>
              <a:rPr lang="en-US"/>
              <a:t>Click icon to add picture</a:t>
            </a:r>
          </a:p>
        </p:txBody>
      </p:sp>
      <p:sp>
        <p:nvSpPr>
          <p:cNvPr id="7" name="Picture Placeholder 12">
            <a:extLst>
              <a:ext uri="{C183D7F6-B498-43B3-948B-1728B52AA6E4}">
                <adec:decorative xmlns:adec="http://schemas.microsoft.com/office/drawing/2017/decorative" val="1"/>
              </a:ext>
            </a:extLst>
          </p:cNvPr>
          <p:cNvSpPr>
            <a:spLocks noGrp="1"/>
          </p:cNvSpPr>
          <p:nvPr>
            <p:ph type="pic" sz="quarter" idx="14"/>
          </p:nvPr>
        </p:nvSpPr>
        <p:spPr>
          <a:xfrm>
            <a:off x="6121400" y="4146550"/>
            <a:ext cx="3022600" cy="2711450"/>
          </a:xfrm>
          <a:prstGeom prst="rect">
            <a:avLst/>
          </a:prstGeom>
        </p:spPr>
        <p:txBody>
          <a:bodyPr/>
          <a:lstStyle/>
          <a:p>
            <a:r>
              <a:rPr lang="en-US"/>
              <a:t>Click icon to add picture</a:t>
            </a:r>
          </a:p>
        </p:txBody>
      </p:sp>
      <p:sp>
        <p:nvSpPr>
          <p:cNvPr id="6" name="Picture Placeholder 12">
            <a:extLst>
              <a:ext uri="{C183D7F6-B498-43B3-948B-1728B52AA6E4}">
                <adec:decorative xmlns:adec="http://schemas.microsoft.com/office/drawing/2017/decorative" val="1"/>
              </a:ext>
            </a:extLst>
          </p:cNvPr>
          <p:cNvSpPr>
            <a:spLocks noGrp="1"/>
          </p:cNvSpPr>
          <p:nvPr>
            <p:ph type="pic" sz="quarter" idx="13"/>
          </p:nvPr>
        </p:nvSpPr>
        <p:spPr>
          <a:xfrm>
            <a:off x="6121400" y="1461053"/>
            <a:ext cx="3022599" cy="2650572"/>
          </a:xfrm>
          <a:prstGeom prst="rect">
            <a:avLst/>
          </a:prstGeom>
        </p:spPr>
        <p:txBody>
          <a:bodyPr/>
          <a:lstStyle/>
          <a:p>
            <a:r>
              <a:rPr lang="en-US"/>
              <a:t>Click icon to add picture</a:t>
            </a:r>
          </a:p>
        </p:txBody>
      </p:sp>
    </p:spTree>
    <p:extLst>
      <p:ext uri="{BB962C8B-B14F-4D97-AF65-F5344CB8AC3E}">
        <p14:creationId xmlns:p14="http://schemas.microsoft.com/office/powerpoint/2010/main" val="276145381"/>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guide id="3" pos="3856" userDrawn="1">
          <p15:clr>
            <a:srgbClr val="FBAE40"/>
          </p15:clr>
        </p15:guide>
        <p15:guide id="4" pos="3833" userDrawn="1">
          <p15:clr>
            <a:srgbClr val="FBAE40"/>
          </p15:clr>
        </p15:guide>
        <p15:guide id="6" orient="horz" pos="2590" userDrawn="1">
          <p15:clr>
            <a:srgbClr val="FBAE40"/>
          </p15:clr>
        </p15:guide>
        <p15:guide id="7" orient="horz" pos="261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AFF90F4-0461-4994-8ECC-80648A92CC4D}"/>
              </a:ext>
            </a:extLst>
          </p:cNvPr>
          <p:cNvSpPr>
            <a:spLocks noGrp="1"/>
          </p:cNvSpPr>
          <p:nvPr>
            <p:ph type="title"/>
          </p:nvPr>
        </p:nvSpPr>
        <p:spPr>
          <a:xfrm>
            <a:off x="458065" y="692697"/>
            <a:ext cx="7886700" cy="1196976"/>
          </a:xfrm>
        </p:spPr>
        <p:txBody>
          <a:bodyPr/>
          <a:lstStyle/>
          <a:p>
            <a:r>
              <a:rPr lang="en-US"/>
              <a:t>Click to edit Master title style</a:t>
            </a:r>
          </a:p>
        </p:txBody>
      </p:sp>
      <p:sp>
        <p:nvSpPr>
          <p:cNvPr id="13" name="Text Placeholder 12"/>
          <p:cNvSpPr>
            <a:spLocks noGrp="1"/>
          </p:cNvSpPr>
          <p:nvPr>
            <p:ph type="body" sz="quarter" idx="12"/>
          </p:nvPr>
        </p:nvSpPr>
        <p:spPr>
          <a:xfrm>
            <a:off x="1042988" y="1916832"/>
            <a:ext cx="7058025" cy="3528392"/>
          </a:xfrm>
          <a:prstGeom prst="rect">
            <a:avLst/>
          </a:prstGeom>
        </p:spPr>
        <p:txBody>
          <a:bodyPr/>
          <a:lstStyle>
            <a:lvl1pPr marL="0" indent="0">
              <a:lnSpc>
                <a:spcPts val="3600"/>
              </a:lnSpc>
              <a:buNone/>
              <a:defRPr sz="2800" b="0" i="1" baseline="0">
                <a:solidFill>
                  <a:srgbClr val="7A7392"/>
                </a:solidFill>
                <a:latin typeface="+mj-lt"/>
              </a:defRPr>
            </a:lvl1pPr>
            <a:lvl2pPr marL="609600" indent="0">
              <a:lnSpc>
                <a:spcPts val="3600"/>
              </a:lnSpc>
              <a:buNone/>
              <a:defRPr sz="2800" b="0" i="1" baseline="0">
                <a:solidFill>
                  <a:srgbClr val="7A7392"/>
                </a:solidFill>
                <a:latin typeface="+mj-lt"/>
              </a:defRPr>
            </a:lvl2pPr>
            <a:lvl3pPr marL="1219200" indent="0">
              <a:lnSpc>
                <a:spcPts val="3600"/>
              </a:lnSpc>
              <a:buNone/>
              <a:defRPr sz="2800" b="0" i="1" baseline="0">
                <a:solidFill>
                  <a:srgbClr val="7A7392"/>
                </a:solidFill>
                <a:latin typeface="+mj-lt"/>
              </a:defRPr>
            </a:lvl3pPr>
            <a:lvl4pPr marL="1828800" indent="0">
              <a:lnSpc>
                <a:spcPts val="3600"/>
              </a:lnSpc>
              <a:buNone/>
              <a:defRPr sz="2800" b="0" i="1" baseline="0">
                <a:solidFill>
                  <a:srgbClr val="7A7392"/>
                </a:solidFill>
                <a:latin typeface="+mj-lt"/>
              </a:defRPr>
            </a:lvl4pPr>
            <a:lvl5pPr marL="2438400" indent="0">
              <a:lnSpc>
                <a:spcPts val="3600"/>
              </a:lnSpc>
              <a:buNone/>
              <a:defRPr sz="2800" b="0" i="1" baseline="0">
                <a:solidFill>
                  <a:srgbClr val="7A7392"/>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4"/>
          <p:cNvSpPr>
            <a:spLocks noGrp="1"/>
          </p:cNvSpPr>
          <p:nvPr>
            <p:ph type="body" sz="quarter" idx="13"/>
          </p:nvPr>
        </p:nvSpPr>
        <p:spPr>
          <a:xfrm>
            <a:off x="1042988" y="5661025"/>
            <a:ext cx="7058025" cy="1196975"/>
          </a:xfrm>
          <a:prstGeom prst="rect">
            <a:avLst/>
          </a:prstGeom>
        </p:spPr>
        <p:txBody>
          <a:bodyPr/>
          <a:lstStyle>
            <a:lvl1pPr marL="0" indent="0" algn="r">
              <a:lnSpc>
                <a:spcPts val="1800"/>
              </a:lnSpc>
              <a:buNone/>
              <a:defRPr sz="1800" baseline="0">
                <a:solidFill>
                  <a:schemeClr val="tx1"/>
                </a:solidFill>
                <a:latin typeface="+mn-lt"/>
              </a:defRPr>
            </a:lvl1pPr>
            <a:lvl2pPr marL="609600" indent="0" algn="r">
              <a:lnSpc>
                <a:spcPts val="1800"/>
              </a:lnSpc>
              <a:buNone/>
              <a:defRPr sz="1800" baseline="0">
                <a:solidFill>
                  <a:schemeClr val="tx1"/>
                </a:solidFill>
                <a:latin typeface="+mn-lt"/>
              </a:defRPr>
            </a:lvl2pPr>
            <a:lvl3pPr marL="1219200" indent="0" algn="r">
              <a:lnSpc>
                <a:spcPts val="1800"/>
              </a:lnSpc>
              <a:buNone/>
              <a:defRPr sz="1800" baseline="0">
                <a:solidFill>
                  <a:schemeClr val="tx1"/>
                </a:solidFill>
                <a:latin typeface="+mn-lt"/>
              </a:defRPr>
            </a:lvl3pPr>
            <a:lvl4pPr marL="1828800" indent="0" algn="r">
              <a:lnSpc>
                <a:spcPts val="1800"/>
              </a:lnSpc>
              <a:buNone/>
              <a:defRPr sz="1800" baseline="0">
                <a:solidFill>
                  <a:schemeClr val="tx1"/>
                </a:solidFill>
                <a:latin typeface="+mn-lt"/>
              </a:defRPr>
            </a:lvl4pPr>
            <a:lvl5pPr marL="2438400" indent="0" algn="r">
              <a:lnSpc>
                <a:spcPts val="1800"/>
              </a:lnSpc>
              <a:buNone/>
              <a:defRPr sz="1800" baseline="0">
                <a:solidFill>
                  <a:schemeClr val="tx1"/>
                </a:solidFill>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1206941"/>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guide id="3" orient="horz" pos="57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91BB70-497C-4277-BE10-470B42F44DE5}"/>
              </a:ext>
            </a:extLst>
          </p:cNvPr>
          <p:cNvSpPr>
            <a:spLocks noGrp="1"/>
          </p:cNvSpPr>
          <p:nvPr>
            <p:ph type="title"/>
          </p:nvPr>
        </p:nvSpPr>
        <p:spPr/>
        <p:txBody>
          <a:bodyPr/>
          <a:lstStyle/>
          <a:p>
            <a:r>
              <a:rPr lang="en-US"/>
              <a:t>Click to edit Master title style</a:t>
            </a:r>
            <a:endParaRPr lang="en-GB"/>
          </a:p>
        </p:txBody>
      </p:sp>
      <p:sp>
        <p:nvSpPr>
          <p:cNvPr id="9" name="Text Placeholder 12"/>
          <p:cNvSpPr>
            <a:spLocks noGrp="1"/>
          </p:cNvSpPr>
          <p:nvPr>
            <p:ph type="body" sz="quarter" idx="12" hasCustomPrompt="1"/>
          </p:nvPr>
        </p:nvSpPr>
        <p:spPr>
          <a:xfrm>
            <a:off x="215403" y="2852936"/>
            <a:ext cx="4283969" cy="2592288"/>
          </a:xfrm>
          <a:prstGeom prst="rect">
            <a:avLst/>
          </a:prstGeom>
        </p:spPr>
        <p:txBody>
          <a:bodyPr/>
          <a:lstStyle>
            <a:lvl1pPr marL="0" indent="0" algn="r">
              <a:lnSpc>
                <a:spcPts val="9600"/>
              </a:lnSpc>
              <a:buNone/>
              <a:defRPr sz="13000" b="0" i="0" baseline="0">
                <a:solidFill>
                  <a:srgbClr val="7A7392"/>
                </a:solidFill>
                <a:latin typeface="+mj-lt"/>
                <a:ea typeface="Georgia" charset="0"/>
                <a:cs typeface="Georgia" charset="0"/>
              </a:defRPr>
            </a:lvl1pPr>
            <a:lvl2pPr marL="609600" indent="0" algn="r">
              <a:lnSpc>
                <a:spcPts val="3600"/>
              </a:lnSpc>
              <a:buNone/>
              <a:defRPr sz="9600" b="0" i="0" baseline="0">
                <a:solidFill>
                  <a:schemeClr val="bg1"/>
                </a:solidFill>
                <a:latin typeface="Georgia" charset="0"/>
                <a:ea typeface="Georgia" charset="0"/>
                <a:cs typeface="Georgia" charset="0"/>
              </a:defRPr>
            </a:lvl2pPr>
            <a:lvl3pPr marL="1219200" indent="0" algn="r">
              <a:lnSpc>
                <a:spcPts val="3600"/>
              </a:lnSpc>
              <a:buNone/>
              <a:defRPr sz="9600" b="0" i="0" baseline="0">
                <a:solidFill>
                  <a:schemeClr val="bg1"/>
                </a:solidFill>
                <a:latin typeface="Georgia" charset="0"/>
                <a:ea typeface="Georgia" charset="0"/>
                <a:cs typeface="Georgia" charset="0"/>
              </a:defRPr>
            </a:lvl3pPr>
            <a:lvl4pPr marL="1828800" indent="0" algn="r">
              <a:lnSpc>
                <a:spcPts val="3600"/>
              </a:lnSpc>
              <a:buNone/>
              <a:defRPr sz="9600" b="0" i="0" baseline="0">
                <a:solidFill>
                  <a:schemeClr val="bg1"/>
                </a:solidFill>
                <a:latin typeface="Georgia" charset="0"/>
                <a:ea typeface="Georgia" charset="0"/>
                <a:cs typeface="Georgia" charset="0"/>
              </a:defRPr>
            </a:lvl4pPr>
            <a:lvl5pPr marL="2438400" indent="0" algn="r">
              <a:lnSpc>
                <a:spcPts val="3600"/>
              </a:lnSpc>
              <a:buNone/>
              <a:defRPr sz="9600" b="0" i="0" baseline="0">
                <a:solidFill>
                  <a:schemeClr val="bg1"/>
                </a:solidFill>
                <a:latin typeface="Georgia" charset="0"/>
                <a:ea typeface="Georgia" charset="0"/>
                <a:cs typeface="Georgia" charset="0"/>
              </a:defRPr>
            </a:lvl5pPr>
          </a:lstStyle>
          <a:p>
            <a:pPr lvl="0"/>
            <a:r>
              <a:rPr lang="en-GB"/>
              <a:t>100%</a:t>
            </a:r>
          </a:p>
        </p:txBody>
      </p:sp>
      <p:sp>
        <p:nvSpPr>
          <p:cNvPr id="5" name="Text Placeholder 4">
            <a:extLst>
              <a:ext uri="{FF2B5EF4-FFF2-40B4-BE49-F238E27FC236}">
                <a16:creationId xmlns:a16="http://schemas.microsoft.com/office/drawing/2014/main" id="{7219D4CE-1D53-486E-821D-6DD3FBD41AD9}"/>
              </a:ext>
            </a:extLst>
          </p:cNvPr>
          <p:cNvSpPr>
            <a:spLocks noGrp="1"/>
          </p:cNvSpPr>
          <p:nvPr>
            <p:ph type="body" sz="quarter" idx="15"/>
          </p:nvPr>
        </p:nvSpPr>
        <p:spPr>
          <a:xfrm>
            <a:off x="4859338" y="2852738"/>
            <a:ext cx="3656012" cy="2592387"/>
          </a:xfrm>
          <a:prstGeom prst="rect">
            <a:avLst/>
          </a:prstGeom>
        </p:spPr>
        <p:txBody>
          <a:bodyPr/>
          <a:lstStyle>
            <a:lvl1pPr>
              <a:defRPr sz="1800">
                <a:solidFill>
                  <a:srgbClr val="7A7392"/>
                </a:solidFill>
              </a:defRPr>
            </a:lvl1pPr>
            <a:lvl2pPr marL="609600" indent="0">
              <a:buNone/>
              <a:defRPr sz="1800">
                <a:solidFill>
                  <a:srgbClr val="7A7392"/>
                </a:solidFill>
              </a:defRPr>
            </a:lvl2pPr>
            <a:lvl3pPr marL="1219200" indent="0">
              <a:buNone/>
              <a:defRPr sz="1800">
                <a:solidFill>
                  <a:srgbClr val="7A7392"/>
                </a:solidFill>
              </a:defRPr>
            </a:lvl3pPr>
            <a:lvl4pPr marL="1828800" indent="0">
              <a:buNone/>
              <a:defRPr sz="1800">
                <a:solidFill>
                  <a:srgbClr val="7A7392"/>
                </a:solidFill>
              </a:defRPr>
            </a:lvl4pPr>
            <a:lvl5pPr marL="2438400" indent="0">
              <a:buNone/>
              <a:defRPr sz="1800">
                <a:solidFill>
                  <a:srgbClr val="7A739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ext Placeholder 14"/>
          <p:cNvSpPr>
            <a:spLocks noGrp="1"/>
          </p:cNvSpPr>
          <p:nvPr>
            <p:ph type="body" sz="quarter" idx="14"/>
          </p:nvPr>
        </p:nvSpPr>
        <p:spPr>
          <a:xfrm>
            <a:off x="970980" y="5661025"/>
            <a:ext cx="7129412" cy="648295"/>
          </a:xfrm>
          <a:prstGeom prst="rect">
            <a:avLst/>
          </a:prstGeom>
        </p:spPr>
        <p:txBody>
          <a:bodyPr/>
          <a:lstStyle>
            <a:lvl1pPr marL="0" indent="0" algn="r">
              <a:lnSpc>
                <a:spcPts val="1400"/>
              </a:lnSpc>
              <a:buNone/>
              <a:defRPr sz="1800" baseline="0">
                <a:solidFill>
                  <a:schemeClr val="tx1"/>
                </a:solidFill>
                <a:latin typeface="Tahoma" charset="0"/>
              </a:defRPr>
            </a:lvl1pPr>
            <a:lvl2pPr marL="609600" indent="0" algn="r">
              <a:lnSpc>
                <a:spcPts val="1400"/>
              </a:lnSpc>
              <a:buNone/>
              <a:defRPr sz="1800" baseline="0">
                <a:solidFill>
                  <a:schemeClr val="tx1"/>
                </a:solidFill>
                <a:latin typeface="Tahoma" charset="0"/>
              </a:defRPr>
            </a:lvl2pPr>
            <a:lvl3pPr marL="1219200" indent="0" algn="r">
              <a:lnSpc>
                <a:spcPts val="1400"/>
              </a:lnSpc>
              <a:buNone/>
              <a:defRPr sz="1800" baseline="0">
                <a:solidFill>
                  <a:schemeClr val="tx1"/>
                </a:solidFill>
                <a:latin typeface="Tahoma" charset="0"/>
              </a:defRPr>
            </a:lvl3pPr>
            <a:lvl4pPr marL="1828800" indent="0" algn="r">
              <a:lnSpc>
                <a:spcPts val="1400"/>
              </a:lnSpc>
              <a:buNone/>
              <a:defRPr sz="1800" baseline="0">
                <a:solidFill>
                  <a:schemeClr val="tx1"/>
                </a:solidFill>
                <a:latin typeface="Tahoma" charset="0"/>
              </a:defRPr>
            </a:lvl4pPr>
            <a:lvl5pPr marL="2438400" indent="0" algn="r">
              <a:lnSpc>
                <a:spcPts val="1400"/>
              </a:lnSpc>
              <a:buNone/>
              <a:defRPr sz="1800" baseline="0">
                <a:solidFill>
                  <a:schemeClr val="tx1"/>
                </a:solidFill>
                <a:latin typeface="Tahoma"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64973426"/>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guide id="3" orient="horz" pos="1842"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EDB84-0680-402A-98AB-12EE75CE418C}"/>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GB"/>
          </a:p>
        </p:txBody>
      </p:sp>
      <p:sp>
        <p:nvSpPr>
          <p:cNvPr id="3" name="Subtitle 2">
            <a:extLst>
              <a:ext uri="{FF2B5EF4-FFF2-40B4-BE49-F238E27FC236}">
                <a16:creationId xmlns:a16="http://schemas.microsoft.com/office/drawing/2014/main" id="{49D61E94-4184-4A75-8052-87B57311C3EB}"/>
              </a:ext>
            </a:extLst>
          </p:cNvPr>
          <p:cNvSpPr>
            <a:spLocks noGrp="1"/>
          </p:cNvSpPr>
          <p:nvPr>
            <p:ph type="subTitle" idx="1"/>
          </p:nvPr>
        </p:nvSpPr>
        <p:spPr>
          <a:xfrm>
            <a:off x="1143000" y="3602038"/>
            <a:ext cx="6858000" cy="1655763"/>
          </a:xfrm>
        </p:spPr>
        <p:txBody>
          <a:bodyPr/>
          <a:lstStyle>
            <a:lvl1pPr marL="0" indent="0" algn="ctr">
              <a:buNone/>
              <a:defRPr sz="1800"/>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8E59ECEE-B2A4-43F6-9DA6-32B50D150F45}"/>
              </a:ext>
            </a:extLst>
          </p:cNvPr>
          <p:cNvSpPr>
            <a:spLocks noGrp="1"/>
          </p:cNvSpPr>
          <p:nvPr>
            <p:ph type="dt" sz="half" idx="10"/>
          </p:nvPr>
        </p:nvSpPr>
        <p:spPr/>
        <p:txBody>
          <a:bodyPr/>
          <a:lstStyle/>
          <a:p>
            <a:fld id="{45BC5923-7DD6-4CB9-BA03-09F03E13C73F}" type="datetimeFigureOut">
              <a:rPr lang="en-GB" smtClean="0"/>
              <a:t>05/02/2026</a:t>
            </a:fld>
            <a:endParaRPr lang="en-GB"/>
          </a:p>
        </p:txBody>
      </p:sp>
      <p:sp>
        <p:nvSpPr>
          <p:cNvPr id="5" name="Footer Placeholder 4">
            <a:extLst>
              <a:ext uri="{FF2B5EF4-FFF2-40B4-BE49-F238E27FC236}">
                <a16:creationId xmlns:a16="http://schemas.microsoft.com/office/drawing/2014/main" id="{A2247872-1786-4B70-A28C-C683FBC7CC2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1B688D4-1792-4818-901D-BB017C81A6C5}"/>
              </a:ext>
            </a:extLst>
          </p:cNvPr>
          <p:cNvSpPr>
            <a:spLocks noGrp="1"/>
          </p:cNvSpPr>
          <p:nvPr>
            <p:ph type="sldNum" sz="quarter" idx="12"/>
          </p:nvPr>
        </p:nvSpPr>
        <p:spPr/>
        <p:txBody>
          <a:bodyPr/>
          <a:lstStyle/>
          <a:p>
            <a:fld id="{EA009E2C-FEE2-4552-B3C5-C1E1B82F92D1}" type="slidenum">
              <a:rPr lang="en-GB" smtClean="0"/>
              <a:t>‹#›</a:t>
            </a:fld>
            <a:endParaRPr lang="en-GB"/>
          </a:p>
        </p:txBody>
      </p:sp>
    </p:spTree>
    <p:extLst>
      <p:ext uri="{BB962C8B-B14F-4D97-AF65-F5344CB8AC3E}">
        <p14:creationId xmlns:p14="http://schemas.microsoft.com/office/powerpoint/2010/main" val="42265965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n-lt"/>
              </a:defRPr>
            </a:lvl1p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0B799B-9597-4660-AA3F-D62B992ECC51}" type="datetimeFigureOut">
              <a:rPr lang="en-GB" smtClean="0"/>
              <a:t>05/02/2026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F53F024-FC8D-49BD-8BC8-CCFD0EDC2B64}" type="slidenum">
              <a:rPr lang="en-GB" smtClean="0"/>
              <a:t>‹#›</a:t>
            </a:fld>
            <a:endParaRPr lang="en-GB"/>
          </a:p>
        </p:txBody>
      </p:sp>
    </p:spTree>
    <p:extLst>
      <p:ext uri="{BB962C8B-B14F-4D97-AF65-F5344CB8AC3E}">
        <p14:creationId xmlns:p14="http://schemas.microsoft.com/office/powerpoint/2010/main" val="24271682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1024FF-3E1E-431F-977E-945DB2535B1A}" type="datetime1">
              <a:rPr lang="en-GB" smtClean="0"/>
              <a:t>05/02/2026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0F99C4FB-888A-4D12-A1C4-C744D94026CD}" type="slidenum">
              <a:rPr lang="en-GB" smtClean="0"/>
              <a:t>‹#›</a:t>
            </a:fld>
            <a:endParaRPr lang="en-GB" dirty="0"/>
          </a:p>
        </p:txBody>
      </p:sp>
    </p:spTree>
    <p:extLst>
      <p:ext uri="{BB962C8B-B14F-4D97-AF65-F5344CB8AC3E}">
        <p14:creationId xmlns:p14="http://schemas.microsoft.com/office/powerpoint/2010/main" val="36655629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1A9DAC"/>
        </a:solidFill>
        <a:effectLst/>
      </p:bgPr>
    </p:bg>
    <p:spTree>
      <p:nvGrpSpPr>
        <p:cNvPr id="1" name=""/>
        <p:cNvGrpSpPr/>
        <p:nvPr/>
      </p:nvGrpSpPr>
      <p:grpSpPr>
        <a:xfrm>
          <a:off x="0" y="0"/>
          <a:ext cx="0" cy="0"/>
          <a:chOff x="0" y="0"/>
          <a:chExt cx="0" cy="0"/>
        </a:xfrm>
      </p:grpSpPr>
      <p:pic>
        <p:nvPicPr>
          <p:cNvPr id="6" name="Picture 8">
            <a:extLs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27584" y="0"/>
            <a:ext cx="1787872" cy="895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a:extLst>
              <a:ext uri="{FF2B5EF4-FFF2-40B4-BE49-F238E27FC236}">
                <a16:creationId xmlns:a16="http://schemas.microsoft.com/office/drawing/2014/main" id="{6FE3B5BC-7C7D-A745-8158-A53C466DA14C}"/>
              </a:ext>
            </a:extLst>
          </p:cNvPr>
          <p:cNvSpPr>
            <a:spLocks noGrp="1"/>
          </p:cNvSpPr>
          <p:nvPr>
            <p:ph type="title"/>
          </p:nvPr>
        </p:nvSpPr>
        <p:spPr>
          <a:xfrm>
            <a:off x="2050826" y="1915479"/>
            <a:ext cx="5689524" cy="2089585"/>
          </a:xfrm>
          <a:prstGeom prst="rect">
            <a:avLst/>
          </a:prstGeom>
        </p:spPr>
        <p:txBody>
          <a:bodyPr lIns="0" tIns="0" rIns="0" bIns="0"/>
          <a:lstStyle>
            <a:lvl1pPr>
              <a:defRPr>
                <a:solidFill>
                  <a:schemeClr val="bg1"/>
                </a:solidFill>
              </a:defRPr>
            </a:lvl1pPr>
          </a:lstStyle>
          <a:p>
            <a:r>
              <a:rPr lang="en-US"/>
              <a:t>Click to edit Master title style</a:t>
            </a:r>
          </a:p>
        </p:txBody>
      </p:sp>
      <p:sp>
        <p:nvSpPr>
          <p:cNvPr id="16" name="Text Placeholder 14">
            <a:extLst>
              <a:ext uri="{FF2B5EF4-FFF2-40B4-BE49-F238E27FC236}">
                <a16:creationId xmlns:a16="http://schemas.microsoft.com/office/drawing/2014/main" id="{69EC6F0B-C9B0-464E-ABF8-505FA2B99A36}"/>
              </a:ext>
            </a:extLst>
          </p:cNvPr>
          <p:cNvSpPr>
            <a:spLocks noGrp="1"/>
          </p:cNvSpPr>
          <p:nvPr>
            <p:ph type="body" sz="quarter" idx="15" hasCustomPrompt="1"/>
          </p:nvPr>
        </p:nvSpPr>
        <p:spPr>
          <a:xfrm>
            <a:off x="586421" y="1916832"/>
            <a:ext cx="1219139" cy="269081"/>
          </a:xfrm>
          <a:prstGeom prst="rect">
            <a:avLst/>
          </a:prstGeom>
        </p:spPr>
        <p:txBody>
          <a:bodyPr lIns="0" tIns="0" rIns="0" bIns="0"/>
          <a:lstStyle>
            <a:lvl1pPr marL="0" indent="0">
              <a:lnSpc>
                <a:spcPts val="1300"/>
              </a:lnSpc>
              <a:spcBef>
                <a:spcPts val="0"/>
              </a:spcBef>
              <a:buFontTx/>
              <a:buNone/>
              <a:defRPr sz="1600" b="0" i="0">
                <a:solidFill>
                  <a:schemeClr val="bg1"/>
                </a:solidFill>
                <a:latin typeface="+mj-lt"/>
                <a:ea typeface="Tahoma" charset="0"/>
                <a:cs typeface="Tahoma" charset="0"/>
              </a:defRPr>
            </a:lvl1pPr>
          </a:lstStyle>
          <a:p>
            <a:pPr lvl="0"/>
            <a:r>
              <a:rPr lang="en-US"/>
              <a:t>Presented by</a:t>
            </a:r>
          </a:p>
        </p:txBody>
      </p:sp>
      <p:sp>
        <p:nvSpPr>
          <p:cNvPr id="17" name="Text Placeholder 14">
            <a:extLst>
              <a:ext uri="{FF2B5EF4-FFF2-40B4-BE49-F238E27FC236}">
                <a16:creationId xmlns:a16="http://schemas.microsoft.com/office/drawing/2014/main" id="{C1E2BFEE-0AD7-C548-92B3-DE639BB40C8B}"/>
              </a:ext>
            </a:extLst>
          </p:cNvPr>
          <p:cNvSpPr>
            <a:spLocks noGrp="1"/>
          </p:cNvSpPr>
          <p:nvPr>
            <p:ph type="body" sz="quarter" idx="16"/>
          </p:nvPr>
        </p:nvSpPr>
        <p:spPr>
          <a:xfrm>
            <a:off x="586420" y="2323737"/>
            <a:ext cx="1219139" cy="402300"/>
          </a:xfrm>
          <a:prstGeom prst="rect">
            <a:avLst/>
          </a:prstGeom>
        </p:spPr>
        <p:txBody>
          <a:bodyPr lIns="0" tIns="0" rIns="0" bIns="0"/>
          <a:lstStyle>
            <a:lvl1pPr marL="0" indent="0">
              <a:lnSpc>
                <a:spcPts val="1300"/>
              </a:lnSpc>
              <a:spcBef>
                <a:spcPts val="0"/>
              </a:spcBef>
              <a:buFontTx/>
              <a:buNone/>
              <a:defRPr sz="1800" b="1" i="0">
                <a:solidFill>
                  <a:schemeClr val="bg1"/>
                </a:solidFill>
                <a:latin typeface="+mj-lt"/>
                <a:ea typeface="Tahoma" charset="0"/>
                <a:cs typeface="Tahoma" charset="0"/>
              </a:defRPr>
            </a:lvl1pPr>
          </a:lstStyle>
          <a:p>
            <a:pPr lvl="0"/>
            <a:r>
              <a:rPr lang="en-US"/>
              <a:t>Edit Master text styles</a:t>
            </a:r>
          </a:p>
        </p:txBody>
      </p:sp>
      <p:sp>
        <p:nvSpPr>
          <p:cNvPr id="18" name="Text Placeholder 14">
            <a:extLst>
              <a:ext uri="{FF2B5EF4-FFF2-40B4-BE49-F238E27FC236}">
                <a16:creationId xmlns:a16="http://schemas.microsoft.com/office/drawing/2014/main" id="{FE54718D-4C22-E94B-A4C0-C34A3A4257A2}"/>
              </a:ext>
            </a:extLst>
          </p:cNvPr>
          <p:cNvSpPr>
            <a:spLocks noGrp="1"/>
          </p:cNvSpPr>
          <p:nvPr>
            <p:ph type="body" sz="quarter" idx="17"/>
          </p:nvPr>
        </p:nvSpPr>
        <p:spPr>
          <a:xfrm>
            <a:off x="598505" y="2913639"/>
            <a:ext cx="1219139" cy="371345"/>
          </a:xfrm>
          <a:prstGeom prst="rect">
            <a:avLst/>
          </a:prstGeom>
        </p:spPr>
        <p:txBody>
          <a:bodyPr lIns="0" tIns="0" rIns="0" bIns="0"/>
          <a:lstStyle>
            <a:lvl1pPr marL="0" indent="0">
              <a:lnSpc>
                <a:spcPts val="1300"/>
              </a:lnSpc>
              <a:spcBef>
                <a:spcPts val="0"/>
              </a:spcBef>
              <a:buFontTx/>
              <a:buNone/>
              <a:defRPr sz="1800" b="1" i="0">
                <a:solidFill>
                  <a:schemeClr val="bg1"/>
                </a:solidFill>
                <a:latin typeface="+mj-lt"/>
                <a:ea typeface="Tahoma" charset="0"/>
                <a:cs typeface="Tahoma" charset="0"/>
              </a:defRPr>
            </a:lvl1pPr>
          </a:lstStyle>
          <a:p>
            <a:pPr lvl="0"/>
            <a:r>
              <a:rPr lang="en-US"/>
              <a:t>Edit Master text styles</a:t>
            </a:r>
          </a:p>
        </p:txBody>
      </p:sp>
      <p:cxnSp>
        <p:nvCxnSpPr>
          <p:cNvPr id="27" name="Straight Connector 26">
            <a:extLst>
              <a:ext uri="{FF2B5EF4-FFF2-40B4-BE49-F238E27FC236}">
                <a16:creationId xmlns:a16="http://schemas.microsoft.com/office/drawing/2014/main" id="{763A8BFE-74A7-E94B-8A00-4CD70EAFA367}"/>
              </a:ext>
            </a:extLst>
          </p:cNvPr>
          <p:cNvCxnSpPr>
            <a:cxnSpLocks/>
          </p:cNvCxnSpPr>
          <p:nvPr userDrawn="1"/>
        </p:nvCxnSpPr>
        <p:spPr>
          <a:xfrm>
            <a:off x="1919288" y="1916832"/>
            <a:ext cx="0" cy="3802212"/>
          </a:xfrm>
          <a:prstGeom prst="line">
            <a:avLst/>
          </a:prstGeom>
          <a:ln w="6350">
            <a:solidFill>
              <a:schemeClr val="bg1"/>
            </a:solidFill>
          </a:ln>
        </p:spPr>
        <p:style>
          <a:lnRef idx="1">
            <a:schemeClr val="accent2"/>
          </a:lnRef>
          <a:fillRef idx="0">
            <a:schemeClr val="accent2"/>
          </a:fillRef>
          <a:effectRef idx="0">
            <a:schemeClr val="accent2"/>
          </a:effectRef>
          <a:fontRef idx="minor">
            <a:schemeClr val="tx1"/>
          </a:fontRef>
        </p:style>
      </p:cxnSp>
      <p:sp>
        <p:nvSpPr>
          <p:cNvPr id="19" name="Text Placeholder 14">
            <a:extLst>
              <a:ext uri="{FF2B5EF4-FFF2-40B4-BE49-F238E27FC236}">
                <a16:creationId xmlns:a16="http://schemas.microsoft.com/office/drawing/2014/main" id="{55B2378F-7E74-5649-B1F7-5BE87863FDAE}"/>
              </a:ext>
            </a:extLst>
          </p:cNvPr>
          <p:cNvSpPr>
            <a:spLocks noGrp="1"/>
          </p:cNvSpPr>
          <p:nvPr>
            <p:ph type="body" sz="quarter" idx="18" hasCustomPrompt="1"/>
          </p:nvPr>
        </p:nvSpPr>
        <p:spPr>
          <a:xfrm>
            <a:off x="598505" y="5373216"/>
            <a:ext cx="1219139" cy="345828"/>
          </a:xfrm>
          <a:prstGeom prst="rect">
            <a:avLst/>
          </a:prstGeom>
        </p:spPr>
        <p:txBody>
          <a:bodyPr lIns="0" tIns="0" rIns="0" bIns="0"/>
          <a:lstStyle>
            <a:lvl1pPr marL="0" indent="0">
              <a:lnSpc>
                <a:spcPts val="1300"/>
              </a:lnSpc>
              <a:spcBef>
                <a:spcPts val="0"/>
              </a:spcBef>
              <a:buFontTx/>
              <a:buNone/>
              <a:defRPr sz="1600" b="0" i="0">
                <a:solidFill>
                  <a:schemeClr val="bg1"/>
                </a:solidFill>
                <a:latin typeface="+mn-lt"/>
                <a:ea typeface="Tahoma"/>
                <a:cs typeface="Tahoma"/>
              </a:defRPr>
            </a:lvl1pPr>
          </a:lstStyle>
          <a:p>
            <a:pPr lvl="0"/>
            <a:r>
              <a:rPr lang="en-US"/>
              <a:t>Presentation date</a:t>
            </a:r>
          </a:p>
        </p:txBody>
      </p:sp>
    </p:spTree>
    <p:extLst>
      <p:ext uri="{BB962C8B-B14F-4D97-AF65-F5344CB8AC3E}">
        <p14:creationId xmlns:p14="http://schemas.microsoft.com/office/powerpoint/2010/main" val="1568629726"/>
      </p:ext>
    </p:extLst>
  </p:cSld>
  <p:clrMapOvr>
    <a:masterClrMapping/>
  </p:clrMapOvr>
  <p:transition spd="slow">
    <p:fade/>
  </p:transition>
  <p:extLst>
    <p:ext uri="{DCECCB84-F9BA-43D5-87BE-67443E8EF086}">
      <p15:sldGuideLst xmlns:p15="http://schemas.microsoft.com/office/powerpoint/2012/main">
        <p15:guide id="1" orient="horz" pos="1207">
          <p15:clr>
            <a:srgbClr val="FBAE40"/>
          </p15:clr>
        </p15:guide>
        <p15:guide id="2" pos="1292">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title and sub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E3DBD-28B5-6744-B93D-384D879AF993}"/>
              </a:ext>
            </a:extLst>
          </p:cNvPr>
          <p:cNvSpPr>
            <a:spLocks noGrp="1"/>
          </p:cNvSpPr>
          <p:nvPr>
            <p:ph type="title"/>
          </p:nvPr>
        </p:nvSpPr>
        <p:spPr>
          <a:xfrm>
            <a:off x="899592" y="1974055"/>
            <a:ext cx="6515620" cy="1325563"/>
          </a:xfrm>
          <a:prstGeom prst="rect">
            <a:avLst/>
          </a:prstGeom>
        </p:spPr>
        <p:txBody>
          <a:bodyPr/>
          <a:lstStyle>
            <a:lvl1pPr>
              <a:defRPr>
                <a:solidFill>
                  <a:srgbClr val="1A9DAC"/>
                </a:solidFill>
              </a:defRPr>
            </a:lvl1pPr>
          </a:lstStyle>
          <a:p>
            <a:r>
              <a:rPr lang="en-US"/>
              <a:t>Click to edit Master title style</a:t>
            </a:r>
          </a:p>
        </p:txBody>
      </p:sp>
      <p:sp>
        <p:nvSpPr>
          <p:cNvPr id="7" name="Text Placeholder 5"/>
          <p:cNvSpPr>
            <a:spLocks noGrp="1"/>
          </p:cNvSpPr>
          <p:nvPr>
            <p:ph type="body" sz="quarter" idx="11"/>
          </p:nvPr>
        </p:nvSpPr>
        <p:spPr>
          <a:xfrm>
            <a:off x="899592" y="4221163"/>
            <a:ext cx="6515620" cy="603104"/>
          </a:xfrm>
          <a:prstGeom prst="rect">
            <a:avLst/>
          </a:prstGeom>
        </p:spPr>
        <p:txBody>
          <a:bodyPr lIns="0" tIns="0" rIns="0" bIns="0"/>
          <a:lstStyle>
            <a:lvl1pPr marL="0" indent="0">
              <a:lnSpc>
                <a:spcPct val="100000"/>
              </a:lnSpc>
              <a:buFontTx/>
              <a:buNone/>
              <a:defRPr sz="1800" b="0" i="0">
                <a:solidFill>
                  <a:schemeClr val="tx1"/>
                </a:solidFill>
                <a:latin typeface="+mn-lt"/>
                <a:ea typeface="Tahoma"/>
                <a:cs typeface="Tahoma"/>
              </a:defRPr>
            </a:lvl1pPr>
          </a:lstStyle>
          <a:p>
            <a:pPr lvl="0"/>
            <a:r>
              <a:rPr lang="en-US"/>
              <a:t>Edit Master text styles</a:t>
            </a:r>
          </a:p>
        </p:txBody>
      </p:sp>
    </p:spTree>
    <p:extLst>
      <p:ext uri="{BB962C8B-B14F-4D97-AF65-F5344CB8AC3E}">
        <p14:creationId xmlns:p14="http://schemas.microsoft.com/office/powerpoint/2010/main" val="3710795650"/>
      </p:ext>
    </p:extLst>
  </p:cSld>
  <p:clrMapOvr>
    <a:masterClrMapping/>
  </p:clrMapOvr>
  <p:transition spd="slow">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Main headings, text and bullet point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64AAA3-E9D4-B544-B77B-0789573E9C02}"/>
              </a:ext>
            </a:extLst>
          </p:cNvPr>
          <p:cNvSpPr>
            <a:spLocks noGrp="1"/>
          </p:cNvSpPr>
          <p:nvPr>
            <p:ph type="title" hasCustomPrompt="1"/>
          </p:nvPr>
        </p:nvSpPr>
        <p:spPr>
          <a:xfrm>
            <a:off x="899591" y="689701"/>
            <a:ext cx="7886700" cy="1011108"/>
          </a:xfrm>
          <a:prstGeom prst="rect">
            <a:avLst/>
          </a:prstGeom>
        </p:spPr>
        <p:txBody>
          <a:bodyPr lIns="0" tIns="0" rIns="0" bIns="0"/>
          <a:lstStyle>
            <a:lvl1pPr>
              <a:defRPr>
                <a:solidFill>
                  <a:srgbClr val="1A9DAC"/>
                </a:solidFill>
              </a:defRPr>
            </a:lvl1pPr>
          </a:lstStyle>
          <a:p>
            <a:pPr lvl="0"/>
            <a:r>
              <a:rPr lang="en-GB"/>
              <a:t>Click to edit Master text styles</a:t>
            </a:r>
          </a:p>
        </p:txBody>
      </p:sp>
      <p:sp>
        <p:nvSpPr>
          <p:cNvPr id="6" name="Text Placeholder 5"/>
          <p:cNvSpPr>
            <a:spLocks noGrp="1"/>
          </p:cNvSpPr>
          <p:nvPr>
            <p:ph type="body" sz="quarter" idx="11" hasCustomPrompt="1"/>
          </p:nvPr>
        </p:nvSpPr>
        <p:spPr>
          <a:xfrm>
            <a:off x="899591" y="1700808"/>
            <a:ext cx="6551612" cy="4608512"/>
          </a:xfrm>
          <a:prstGeom prst="rect">
            <a:avLst/>
          </a:prstGeom>
        </p:spPr>
        <p:txBody>
          <a:bodyPr lIns="0" tIns="0" rIns="0" bIns="0"/>
          <a:lstStyle>
            <a:lvl1pPr marL="266700" indent="-257175">
              <a:buClr>
                <a:srgbClr val="1A9DAC"/>
              </a:buClr>
              <a:tabLst/>
              <a:defRPr sz="1800">
                <a:latin typeface="+mn-lt"/>
                <a:ea typeface="Tahoma" panose="020B0604030504040204" pitchFamily="34" charset="0"/>
                <a:cs typeface="Tahoma" panose="020B0604030504040204" pitchFamily="34" charset="0"/>
              </a:defRPr>
            </a:lvl1pPr>
            <a:lvl2pPr marL="541338" indent="-274638">
              <a:buClr>
                <a:srgbClr val="1A9DAC"/>
              </a:buClr>
              <a:buFont typeface="Courier New" panose="02070309020205020404" pitchFamily="49" charset="0"/>
              <a:buChar char="o"/>
              <a:defRPr sz="1800">
                <a:latin typeface="+mn-lt"/>
                <a:ea typeface="Tahoma" panose="020B0604030504040204" pitchFamily="34" charset="0"/>
                <a:cs typeface="Tahoma" panose="020B0604030504040204" pitchFamily="34" charset="0"/>
              </a:defRPr>
            </a:lvl2pPr>
            <a:lvl3pPr marL="808038" indent="-2667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a:defRPr sz="1600">
                <a:latin typeface="Tahoma" panose="020B0604030504040204" pitchFamily="34" charset="0"/>
                <a:ea typeface="Tahoma" panose="020B0604030504040204" pitchFamily="34" charset="0"/>
                <a:cs typeface="Tahoma" panose="020B0604030504040204" pitchFamily="34" charset="0"/>
              </a:defRPr>
            </a:lvl4pPr>
            <a:lvl5pPr>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103988774"/>
      </p:ext>
    </p:extLst>
  </p:cSld>
  <p:clrMapOvr>
    <a:masterClrMapping/>
  </p:clrMapOvr>
  <p:transition spd="slow">
    <p:fade/>
  </p:transition>
  <p:extLst>
    <p:ext uri="{DCECCB84-F9BA-43D5-87BE-67443E8EF086}">
      <p15:sldGuideLst xmlns:p15="http://schemas.microsoft.com/office/powerpoint/2012/main">
        <p15:guide id="1" orient="horz" pos="436">
          <p15:clr>
            <a:srgbClr val="FBAE40"/>
          </p15:clr>
        </p15:guide>
        <p15:guide id="2" pos="56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Main headings, text and numbered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4AA9-9B1B-7D49-821B-E768D4FEE2D2}"/>
              </a:ext>
            </a:extLst>
          </p:cNvPr>
          <p:cNvSpPr>
            <a:spLocks noGrp="1"/>
          </p:cNvSpPr>
          <p:nvPr>
            <p:ph type="title"/>
          </p:nvPr>
        </p:nvSpPr>
        <p:spPr>
          <a:xfrm>
            <a:off x="900113" y="687614"/>
            <a:ext cx="7886700" cy="1012599"/>
          </a:xfrm>
        </p:spPr>
        <p:txBody>
          <a:bodyPr/>
          <a:lstStyle>
            <a:lvl1pPr>
              <a:defRPr>
                <a:solidFill>
                  <a:srgbClr val="1A9DAC"/>
                </a:solidFill>
              </a:defRPr>
            </a:lvl1pPr>
          </a:lstStyle>
          <a:p>
            <a:r>
              <a:rPr lang="en-US"/>
              <a:t>Click to edit Master title style</a:t>
            </a:r>
          </a:p>
        </p:txBody>
      </p:sp>
      <p:sp>
        <p:nvSpPr>
          <p:cNvPr id="3" name="Text Placeholder 2"/>
          <p:cNvSpPr>
            <a:spLocks noGrp="1"/>
          </p:cNvSpPr>
          <p:nvPr>
            <p:ph type="body" sz="quarter" idx="11"/>
          </p:nvPr>
        </p:nvSpPr>
        <p:spPr>
          <a:xfrm>
            <a:off x="900113" y="1700213"/>
            <a:ext cx="6551612" cy="4465637"/>
          </a:xfrm>
          <a:prstGeom prst="rect">
            <a:avLst/>
          </a:prstGeom>
        </p:spPr>
        <p:txBody>
          <a:bodyPr lIns="0" tIns="0" rIns="0" bIns="0"/>
          <a:lstStyle>
            <a:lvl1pPr marL="266700" indent="-266700">
              <a:buClr>
                <a:srgbClr val="1A9DAC"/>
              </a:buClr>
              <a:buFont typeface="+mj-lt"/>
              <a:buAutoNum type="arabicPeriod"/>
              <a:defRPr sz="1800">
                <a:latin typeface="+mn-lt"/>
                <a:ea typeface="Tahoma" panose="020B0604030504040204" pitchFamily="34" charset="0"/>
                <a:cs typeface="Tahoma" panose="020B0604030504040204" pitchFamily="34" charset="0"/>
              </a:defRPr>
            </a:lvl1pPr>
            <a:lvl2pPr marL="609600" indent="-342900">
              <a:buClr>
                <a:srgbClr val="1A9DAC"/>
              </a:buClr>
              <a:buFont typeface="+mj-lt"/>
              <a:buAutoNum type="romanLcPeriod"/>
              <a:defRPr sz="1800">
                <a:latin typeface="+mn-lt"/>
                <a:ea typeface="Tahoma" panose="020B0604030504040204" pitchFamily="34" charset="0"/>
                <a:cs typeface="Tahoma" panose="020B0604030504040204" pitchFamily="34" charset="0"/>
              </a:defRPr>
            </a:lvl2pPr>
            <a:lvl3pPr marL="915988" marR="0" indent="-285750" algn="l" defTabSz="606425" rtl="0" eaLnBrk="1" fontAlgn="base" latinLnBrk="0" hangingPunct="1">
              <a:lnSpc>
                <a:spcPct val="100000"/>
              </a:lnSpc>
              <a:spcBef>
                <a:spcPct val="20000"/>
              </a:spcBef>
              <a:spcAft>
                <a:spcPct val="0"/>
              </a:spcAft>
              <a:buClr>
                <a:srgbClr val="1A9DAC"/>
              </a:buClr>
              <a:buSzTx/>
              <a:buFont typeface="Arial" panose="020B0604020202020204" pitchFamily="34" charset="0"/>
              <a:buChar char="•"/>
              <a:tabLst/>
              <a:defRPr sz="1800">
                <a:latin typeface="+mn-lt"/>
                <a:ea typeface="Tahoma" panose="020B0604030504040204" pitchFamily="34" charset="0"/>
                <a:cs typeface="Tahoma" panose="020B0604030504040204" pitchFamily="34" charset="0"/>
              </a:defRPr>
            </a:lvl3pPr>
            <a:lvl4pPr marL="23431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4pPr>
            <a:lvl5pPr marL="29527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776229354"/>
      </p:ext>
    </p:extLst>
  </p:cSld>
  <p:clrMapOvr>
    <a:masterClrMapping/>
  </p:clrMapOvr>
  <p:transition spd="slow">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lumn text sty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D85A6-D158-2E49-90B4-F2441730F410}"/>
              </a:ext>
            </a:extLst>
          </p:cNvPr>
          <p:cNvSpPr>
            <a:spLocks noGrp="1"/>
          </p:cNvSpPr>
          <p:nvPr>
            <p:ph type="title"/>
          </p:nvPr>
        </p:nvSpPr>
        <p:spPr>
          <a:xfrm>
            <a:off x="899591" y="692697"/>
            <a:ext cx="7886700" cy="936104"/>
          </a:xfrm>
        </p:spPr>
        <p:txBody>
          <a:bodyPr/>
          <a:lstStyle/>
          <a:p>
            <a:r>
              <a:rPr lang="en-US"/>
              <a:t>Click to edit Master title style</a:t>
            </a:r>
          </a:p>
        </p:txBody>
      </p:sp>
      <p:sp>
        <p:nvSpPr>
          <p:cNvPr id="6" name="Text Placeholder 5"/>
          <p:cNvSpPr>
            <a:spLocks noGrp="1"/>
          </p:cNvSpPr>
          <p:nvPr>
            <p:ph type="body" sz="quarter" idx="11"/>
          </p:nvPr>
        </p:nvSpPr>
        <p:spPr>
          <a:xfrm>
            <a:off x="899592" y="1628800"/>
            <a:ext cx="3167583"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1800" b="0" i="0" baseline="0">
                <a:solidFill>
                  <a:schemeClr val="tx1"/>
                </a:solidFill>
                <a:latin typeface="+mn-lt"/>
                <a:ea typeface="Tahoma"/>
                <a:cs typeface="Tahoma"/>
              </a:defRPr>
            </a:lvl1pPr>
          </a:lstStyle>
          <a:p>
            <a:pPr lvl="0"/>
            <a:r>
              <a:rPr lang="en-US"/>
              <a:t>Edit Master text styles</a:t>
            </a:r>
          </a:p>
        </p:txBody>
      </p:sp>
      <p:sp>
        <p:nvSpPr>
          <p:cNvPr id="7" name="Text Placeholder 6"/>
          <p:cNvSpPr>
            <a:spLocks noGrp="1"/>
          </p:cNvSpPr>
          <p:nvPr>
            <p:ph type="body" sz="quarter" idx="12"/>
          </p:nvPr>
        </p:nvSpPr>
        <p:spPr>
          <a:xfrm>
            <a:off x="4284663" y="1628800"/>
            <a:ext cx="3167583"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1800" b="0" i="0" baseline="0">
                <a:solidFill>
                  <a:schemeClr val="tx1"/>
                </a:solidFill>
                <a:latin typeface="+mn-lt"/>
                <a:ea typeface="Tahoma"/>
                <a:cs typeface="Tahoma"/>
              </a:defRPr>
            </a:lvl1pPr>
          </a:lstStyle>
          <a:p>
            <a:pPr lvl="0"/>
            <a:r>
              <a:rPr lang="en-US"/>
              <a:t>Edit Master text styles</a:t>
            </a:r>
          </a:p>
        </p:txBody>
      </p:sp>
    </p:spTree>
    <p:extLst>
      <p:ext uri="{BB962C8B-B14F-4D97-AF65-F5344CB8AC3E}">
        <p14:creationId xmlns:p14="http://schemas.microsoft.com/office/powerpoint/2010/main" val="94474846"/>
      </p:ext>
    </p:extLst>
  </p:cSld>
  <p:clrMapOvr>
    <a:masterClrMapping/>
  </p:clrMapOvr>
  <p:transition spd="slow">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lumn text style with bullet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A63C3-2B19-3E4C-861A-2B5A52BA7233}"/>
              </a:ext>
            </a:extLst>
          </p:cNvPr>
          <p:cNvSpPr>
            <a:spLocks noGrp="1"/>
          </p:cNvSpPr>
          <p:nvPr>
            <p:ph type="title"/>
          </p:nvPr>
        </p:nvSpPr>
        <p:spPr>
          <a:xfrm>
            <a:off x="899591" y="692697"/>
            <a:ext cx="7886700" cy="936104"/>
          </a:xfrm>
        </p:spPr>
        <p:txBody>
          <a:bodyPr/>
          <a:lstStyle>
            <a:lvl1pPr>
              <a:defRPr>
                <a:solidFill>
                  <a:srgbClr val="1A9DAC"/>
                </a:solidFill>
              </a:defRPr>
            </a:lvl1pPr>
          </a:lstStyle>
          <a:p>
            <a:r>
              <a:rPr lang="en-US"/>
              <a:t>Click to edit Master title style</a:t>
            </a:r>
          </a:p>
        </p:txBody>
      </p:sp>
      <p:sp>
        <p:nvSpPr>
          <p:cNvPr id="8" name="Text Placeholder 5"/>
          <p:cNvSpPr>
            <a:spLocks noGrp="1"/>
          </p:cNvSpPr>
          <p:nvPr>
            <p:ph type="body" sz="quarter" idx="11" hasCustomPrompt="1"/>
          </p:nvPr>
        </p:nvSpPr>
        <p:spPr>
          <a:xfrm>
            <a:off x="899592" y="1628800"/>
            <a:ext cx="316758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A9DAC"/>
              </a:buClr>
              <a:buSzTx/>
              <a:buFont typeface="Arial" panose="020B0604020202020204" pitchFamily="34" charset="0"/>
              <a:buChar char="•"/>
              <a:tabLst/>
              <a:defRPr sz="18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1A9DAC"/>
              </a:buClr>
              <a:buFont typeface="Courier New" panose="02070309020205020404" pitchFamily="49" charset="0"/>
              <a:buChar char="o"/>
              <a:defRPr sz="1800">
                <a:latin typeface="+mn-lt"/>
                <a:ea typeface="Tahoma" panose="020B0604030504040204" pitchFamily="34" charset="0"/>
                <a:cs typeface="Tahoma" panose="020B0604030504040204" pitchFamily="34" charset="0"/>
              </a:defRPr>
            </a:lvl2pPr>
            <a:lvl3pPr marL="808038" indent="-1778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1163638" indent="-301625">
              <a:defRPr sz="1800">
                <a:latin typeface="+mn-lt"/>
                <a:ea typeface="Tahoma" panose="020B0604030504040204" pitchFamily="34" charset="0"/>
                <a:cs typeface="Tahoma" panose="020B0604030504040204" pitchFamily="34" charset="0"/>
              </a:defRPr>
            </a:lvl4pPr>
          </a:lstStyle>
          <a:p>
            <a:pPr lvl="0"/>
            <a:r>
              <a:rPr lang="en-GB"/>
              <a:t>Click to add text</a:t>
            </a:r>
          </a:p>
          <a:p>
            <a:pPr lvl="1"/>
            <a:r>
              <a:rPr lang="en-GB"/>
              <a:t>Second Bullet Point</a:t>
            </a:r>
          </a:p>
          <a:p>
            <a:pPr lvl="2"/>
            <a:r>
              <a:rPr lang="en-GB"/>
              <a:t>Third Bullet Point</a:t>
            </a:r>
          </a:p>
          <a:p>
            <a:pPr lvl="3"/>
            <a:endParaRPr lang="en-GB"/>
          </a:p>
        </p:txBody>
      </p:sp>
      <p:sp>
        <p:nvSpPr>
          <p:cNvPr id="9" name="Text Placeholder 5"/>
          <p:cNvSpPr>
            <a:spLocks noGrp="1"/>
          </p:cNvSpPr>
          <p:nvPr>
            <p:ph type="body" sz="quarter" idx="12" hasCustomPrompt="1"/>
          </p:nvPr>
        </p:nvSpPr>
        <p:spPr>
          <a:xfrm>
            <a:off x="4284663" y="1628800"/>
            <a:ext cx="316758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A9DAC"/>
              </a:buClr>
              <a:buSzTx/>
              <a:buFont typeface="Arial" panose="020B0604020202020204" pitchFamily="34" charset="0"/>
              <a:buChar char="•"/>
              <a:tabLst/>
              <a:defRPr sz="18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1A9DAC"/>
              </a:buClr>
              <a:buFont typeface="Courier New" panose="02070309020205020404" pitchFamily="49" charset="0"/>
              <a:buChar char="o"/>
              <a:defRPr sz="1800">
                <a:latin typeface="+mn-lt"/>
                <a:ea typeface="Tahoma" panose="020B0604030504040204" pitchFamily="34" charset="0"/>
                <a:cs typeface="Tahoma" panose="020B0604030504040204" pitchFamily="34" charset="0"/>
              </a:defRPr>
            </a:lvl2pPr>
            <a:lvl3pPr marL="808038" indent="-1778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1163638" indent="-301625">
              <a:defRPr sz="1800">
                <a:latin typeface="+mn-lt"/>
                <a:ea typeface="Tahoma" panose="020B0604030504040204" pitchFamily="34" charset="0"/>
                <a:cs typeface="Tahoma" panose="020B0604030504040204" pitchFamily="34" charset="0"/>
              </a:defRPr>
            </a:lvl4pPr>
          </a:lstStyle>
          <a:p>
            <a:pPr lvl="0"/>
            <a:r>
              <a:rPr lang="en-US"/>
              <a:t>Click to add text</a:t>
            </a:r>
          </a:p>
          <a:p>
            <a:pPr lvl="1"/>
            <a:r>
              <a:rPr lang="en-US"/>
              <a:t>Second Bullet Point</a:t>
            </a:r>
          </a:p>
          <a:p>
            <a:pPr lvl="2"/>
            <a:r>
              <a:rPr lang="en-US"/>
              <a:t>Third Bullet Point</a:t>
            </a:r>
          </a:p>
          <a:p>
            <a:pPr lvl="3"/>
            <a:endParaRPr lang="en-US"/>
          </a:p>
          <a:p>
            <a:pPr lvl="0"/>
            <a:endParaRPr lang="en-GB"/>
          </a:p>
        </p:txBody>
      </p:sp>
    </p:spTree>
    <p:extLst>
      <p:ext uri="{BB962C8B-B14F-4D97-AF65-F5344CB8AC3E}">
        <p14:creationId xmlns:p14="http://schemas.microsoft.com/office/powerpoint/2010/main" val="787674228"/>
      </p:ext>
    </p:extLst>
  </p:cSld>
  <p:clrMapOvr>
    <a:masterClrMapping/>
  </p:clrMapOvr>
  <p:transition spd="slow">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lumn text style with numbered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AA39C-6E99-FE4F-B641-F44C7B4B4DB4}"/>
              </a:ext>
            </a:extLst>
          </p:cNvPr>
          <p:cNvSpPr>
            <a:spLocks noGrp="1"/>
          </p:cNvSpPr>
          <p:nvPr>
            <p:ph type="title"/>
          </p:nvPr>
        </p:nvSpPr>
        <p:spPr>
          <a:xfrm>
            <a:off x="899592" y="692697"/>
            <a:ext cx="7886700" cy="936104"/>
          </a:xfrm>
        </p:spPr>
        <p:txBody>
          <a:bodyPr/>
          <a:lstStyle>
            <a:lvl1pPr>
              <a:defRPr>
                <a:solidFill>
                  <a:srgbClr val="1A9DAC"/>
                </a:solidFill>
              </a:defRPr>
            </a:lvl1pPr>
          </a:lstStyle>
          <a:p>
            <a:r>
              <a:rPr lang="en-US"/>
              <a:t>Click to edit Master title style</a:t>
            </a:r>
          </a:p>
        </p:txBody>
      </p:sp>
      <p:sp>
        <p:nvSpPr>
          <p:cNvPr id="8" name="Text Placeholder 5"/>
          <p:cNvSpPr>
            <a:spLocks noGrp="1"/>
          </p:cNvSpPr>
          <p:nvPr>
            <p:ph type="body" sz="quarter" idx="11" hasCustomPrompt="1"/>
          </p:nvPr>
        </p:nvSpPr>
        <p:spPr>
          <a:xfrm>
            <a:off x="899592" y="1628800"/>
            <a:ext cx="3167583" cy="4536504"/>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1A9DAC"/>
              </a:buClr>
              <a:buSzTx/>
              <a:buFont typeface="+mj-lt"/>
              <a:buAutoNum type="arabicPeriod"/>
              <a:tabLst/>
              <a:defRPr sz="1800" b="0" i="0" baseline="0">
                <a:solidFill>
                  <a:schemeClr val="tx1"/>
                </a:solidFill>
                <a:latin typeface="+mn-lt"/>
                <a:ea typeface="Tahoma"/>
                <a:cs typeface="Tahoma"/>
              </a:defRPr>
            </a:lvl1pPr>
            <a:lvl2pPr marL="541338" indent="-274638">
              <a:buClr>
                <a:srgbClr val="1A9DAC"/>
              </a:buClr>
              <a:buFont typeface="+mj-lt"/>
              <a:buAutoNum type="romanLcPeriod"/>
              <a:defRPr sz="1800" baseline="0">
                <a:latin typeface="+mn-lt"/>
                <a:ea typeface="Tahoma" panose="020B0604030504040204" pitchFamily="34" charset="0"/>
                <a:cs typeface="Tahoma" panose="020B0604030504040204" pitchFamily="34" charset="0"/>
              </a:defRPr>
            </a:lvl2pPr>
            <a:lvl3pPr marL="896938" indent="-2667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1252538" indent="-285750">
              <a:buFont typeface="Arial" panose="020B0604020202020204" pitchFamily="34" charset="0"/>
              <a:buChar char="̶"/>
              <a:defRPr sz="1400">
                <a:latin typeface="+mn-lt"/>
                <a:ea typeface="Tahoma" panose="020B0604030504040204" pitchFamily="34" charset="0"/>
                <a:cs typeface="Tahoma" panose="020B0604030504040204" pitchFamily="34" charset="0"/>
              </a:defRPr>
            </a:lvl4pPr>
          </a:lstStyle>
          <a:p>
            <a:pPr lvl="0"/>
            <a:r>
              <a:rPr lang="en-GB"/>
              <a:t>Click to add text</a:t>
            </a:r>
          </a:p>
          <a:p>
            <a:pPr lvl="1"/>
            <a:r>
              <a:rPr lang="en-GB"/>
              <a:t>Number Position Number 2</a:t>
            </a:r>
          </a:p>
          <a:p>
            <a:pPr lvl="2"/>
            <a:r>
              <a:rPr lang="en-GB"/>
              <a:t>Number Position Number 3</a:t>
            </a:r>
          </a:p>
          <a:p>
            <a:pPr lvl="3"/>
            <a:endParaRPr lang="en-GB"/>
          </a:p>
          <a:p>
            <a:pPr lvl="3"/>
            <a:endParaRPr lang="en-GB"/>
          </a:p>
        </p:txBody>
      </p:sp>
      <p:sp>
        <p:nvSpPr>
          <p:cNvPr id="9" name="Text Placeholder 5"/>
          <p:cNvSpPr>
            <a:spLocks noGrp="1"/>
          </p:cNvSpPr>
          <p:nvPr>
            <p:ph type="body" sz="quarter" idx="12" hasCustomPrompt="1"/>
          </p:nvPr>
        </p:nvSpPr>
        <p:spPr>
          <a:xfrm>
            <a:off x="4284663" y="1628800"/>
            <a:ext cx="3167583" cy="4536504"/>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1A9DAC"/>
              </a:buClr>
              <a:buSzTx/>
              <a:buFont typeface="+mj-lt"/>
              <a:buAutoNum type="arabicPeriod"/>
              <a:tabLst/>
              <a:defRPr sz="1800" b="0" i="0" baseline="0">
                <a:solidFill>
                  <a:schemeClr val="tx1"/>
                </a:solidFill>
                <a:latin typeface="+mn-lt"/>
                <a:ea typeface="Tahoma"/>
                <a:cs typeface="Tahoma"/>
              </a:defRPr>
            </a:lvl1pPr>
            <a:lvl2pPr marL="541338" indent="-274638">
              <a:buClr>
                <a:srgbClr val="1A9DAC"/>
              </a:buClr>
              <a:buFont typeface="+mj-lt"/>
              <a:buAutoNum type="romanLcPeriod"/>
              <a:defRPr sz="1800">
                <a:latin typeface="+mn-lt"/>
                <a:ea typeface="Tahoma" panose="020B0604030504040204" pitchFamily="34" charset="0"/>
                <a:cs typeface="Tahoma" panose="020B0604030504040204" pitchFamily="34" charset="0"/>
              </a:defRPr>
            </a:lvl2pPr>
            <a:lvl3pPr marL="896938" indent="-2667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966788" indent="0">
              <a:buFont typeface="Arial" panose="020B0604020202020204" pitchFamily="34" charset="0"/>
              <a:buNone/>
              <a:defRPr sz="1400">
                <a:latin typeface="+mn-lt"/>
                <a:ea typeface="Tahoma" panose="020B0604030504040204" pitchFamily="34" charset="0"/>
                <a:cs typeface="Tahoma" panose="020B0604030504040204" pitchFamily="34" charset="0"/>
              </a:defRPr>
            </a:lvl4pPr>
          </a:lstStyle>
          <a:p>
            <a:pPr lvl="0"/>
            <a:r>
              <a:rPr lang="en-GB"/>
              <a:t>Click to add text</a:t>
            </a:r>
          </a:p>
          <a:p>
            <a:pPr lvl="1"/>
            <a:r>
              <a:rPr lang="en-GB"/>
              <a:t>Number Position Number 2</a:t>
            </a:r>
          </a:p>
          <a:p>
            <a:pPr lvl="2"/>
            <a:r>
              <a:rPr lang="en-GB"/>
              <a:t>Number Position Number 3</a:t>
            </a:r>
          </a:p>
          <a:p>
            <a:pPr lvl="0"/>
            <a:endParaRPr lang="en-GB"/>
          </a:p>
        </p:txBody>
      </p:sp>
    </p:spTree>
    <p:extLst>
      <p:ext uri="{BB962C8B-B14F-4D97-AF65-F5344CB8AC3E}">
        <p14:creationId xmlns:p14="http://schemas.microsoft.com/office/powerpoint/2010/main" val="2457941176"/>
      </p:ext>
    </p:extLst>
  </p:cSld>
  <p:clrMapOvr>
    <a:masterClrMapping/>
  </p:clrMapOvr>
  <p:transition spd="slow">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hart and graph posi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0C80B-5DE2-104C-BCD7-114FA55CDFA5}"/>
              </a:ext>
            </a:extLst>
          </p:cNvPr>
          <p:cNvSpPr>
            <a:spLocks noGrp="1"/>
          </p:cNvSpPr>
          <p:nvPr>
            <p:ph type="title"/>
          </p:nvPr>
        </p:nvSpPr>
        <p:spPr>
          <a:xfrm>
            <a:off x="892515" y="692697"/>
            <a:ext cx="7886700" cy="862064"/>
          </a:xfrm>
        </p:spPr>
        <p:txBody>
          <a:bodyPr/>
          <a:lstStyle>
            <a:lvl1pPr>
              <a:defRPr>
                <a:solidFill>
                  <a:srgbClr val="1A9DAC"/>
                </a:solidFill>
              </a:defRPr>
            </a:lvl1pPr>
          </a:lstStyle>
          <a:p>
            <a:r>
              <a:rPr lang="en-US"/>
              <a:t>Click to edit Master title style</a:t>
            </a:r>
          </a:p>
        </p:txBody>
      </p:sp>
      <p:sp>
        <p:nvSpPr>
          <p:cNvPr id="3" name="Chart Placeholder 2"/>
          <p:cNvSpPr>
            <a:spLocks noGrp="1"/>
          </p:cNvSpPr>
          <p:nvPr>
            <p:ph type="chart" sz="quarter" idx="11"/>
          </p:nvPr>
        </p:nvSpPr>
        <p:spPr>
          <a:xfrm>
            <a:off x="899592" y="1554760"/>
            <a:ext cx="6515620" cy="4538065"/>
          </a:xfrm>
          <a:prstGeom prst="rect">
            <a:avLst/>
          </a:prstGeom>
        </p:spPr>
        <p:txBody>
          <a:bodyPr/>
          <a:lstStyle/>
          <a:p>
            <a:pPr lvl="0"/>
            <a:r>
              <a:rPr lang="en-US" noProof="0"/>
              <a:t>Click icon to add chart</a:t>
            </a:r>
          </a:p>
        </p:txBody>
      </p:sp>
    </p:spTree>
    <p:extLst>
      <p:ext uri="{BB962C8B-B14F-4D97-AF65-F5344CB8AC3E}">
        <p14:creationId xmlns:p14="http://schemas.microsoft.com/office/powerpoint/2010/main" val="2470841626"/>
      </p:ext>
    </p:extLst>
  </p:cSld>
  <p:clrMapOvr>
    <a:masterClrMapping/>
  </p:clrMapOvr>
  <p:transition spd="slow">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Narrow column text style with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465AE-FBB8-C547-A863-8ACFC537D477}"/>
              </a:ext>
            </a:extLst>
          </p:cNvPr>
          <p:cNvSpPr>
            <a:spLocks noGrp="1"/>
          </p:cNvSpPr>
          <p:nvPr>
            <p:ph type="title"/>
          </p:nvPr>
        </p:nvSpPr>
        <p:spPr>
          <a:xfrm>
            <a:off x="899591" y="692696"/>
            <a:ext cx="7886700" cy="936103"/>
          </a:xfrm>
        </p:spPr>
        <p:txBody>
          <a:bodyPr/>
          <a:lstStyle>
            <a:lvl1pPr>
              <a:defRPr>
                <a:solidFill>
                  <a:srgbClr val="1A9DAC"/>
                </a:solidFill>
              </a:defRPr>
            </a:lvl1pPr>
          </a:lstStyle>
          <a:p>
            <a:r>
              <a:rPr lang="en-US"/>
              <a:t>Click to edit Master title style</a:t>
            </a:r>
          </a:p>
        </p:txBody>
      </p:sp>
      <p:sp>
        <p:nvSpPr>
          <p:cNvPr id="6" name="Text Placeholder 5"/>
          <p:cNvSpPr>
            <a:spLocks noGrp="1"/>
          </p:cNvSpPr>
          <p:nvPr>
            <p:ph type="body" sz="quarter" idx="11"/>
          </p:nvPr>
        </p:nvSpPr>
        <p:spPr>
          <a:xfrm>
            <a:off x="899592" y="1628800"/>
            <a:ext cx="3312368"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1800" b="0" i="0" baseline="0">
                <a:solidFill>
                  <a:schemeClr val="tx1"/>
                </a:solidFill>
                <a:latin typeface="+mn-lt"/>
                <a:ea typeface="Tahoma"/>
                <a:cs typeface="Tahoma"/>
              </a:defRPr>
            </a:lvl1pPr>
          </a:lstStyle>
          <a:p>
            <a:pPr lvl="0"/>
            <a:r>
              <a:rPr lang="en-US"/>
              <a:t>Edit Master text styles</a:t>
            </a:r>
          </a:p>
        </p:txBody>
      </p:sp>
      <p:sp>
        <p:nvSpPr>
          <p:cNvPr id="3" name="Chart Placeholder 2"/>
          <p:cNvSpPr>
            <a:spLocks noGrp="1"/>
          </p:cNvSpPr>
          <p:nvPr>
            <p:ph type="chart" sz="quarter" idx="12"/>
          </p:nvPr>
        </p:nvSpPr>
        <p:spPr>
          <a:xfrm>
            <a:off x="4284663" y="1628799"/>
            <a:ext cx="3816350" cy="4464025"/>
          </a:xfrm>
          <a:prstGeom prst="rect">
            <a:avLst/>
          </a:prstGeom>
        </p:spPr>
        <p:txBody>
          <a:bodyPr/>
          <a:lstStyle/>
          <a:p>
            <a:pPr lvl="0"/>
            <a:r>
              <a:rPr lang="en-US" noProof="0"/>
              <a:t>Click icon to add chart</a:t>
            </a:r>
          </a:p>
        </p:txBody>
      </p:sp>
    </p:spTree>
    <p:extLst>
      <p:ext uri="{BB962C8B-B14F-4D97-AF65-F5344CB8AC3E}">
        <p14:creationId xmlns:p14="http://schemas.microsoft.com/office/powerpoint/2010/main" val="4141519862"/>
      </p:ext>
    </p:extLst>
  </p:cSld>
  <p:clrMapOvr>
    <a:masterClrMapping/>
  </p:clrMapOvr>
  <p:transition spd="slow">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mag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ED979-55B4-3C48-802B-10CF449D32FC}"/>
              </a:ext>
            </a:extLst>
          </p:cNvPr>
          <p:cNvSpPr>
            <a:spLocks noGrp="1"/>
          </p:cNvSpPr>
          <p:nvPr>
            <p:ph type="title"/>
          </p:nvPr>
        </p:nvSpPr>
        <p:spPr>
          <a:xfrm>
            <a:off x="899592" y="692697"/>
            <a:ext cx="7886700" cy="720080"/>
          </a:xfrm>
        </p:spPr>
        <p:txBody>
          <a:bodyPr/>
          <a:lstStyle>
            <a:lvl1pPr>
              <a:defRPr>
                <a:solidFill>
                  <a:srgbClr val="1A9DAC"/>
                </a:solidFill>
              </a:defRPr>
            </a:lvl1pPr>
          </a:lstStyle>
          <a:p>
            <a:r>
              <a:rPr lang="en-US"/>
              <a:t>Click to edit Master title style</a:t>
            </a:r>
          </a:p>
        </p:txBody>
      </p:sp>
      <p:sp>
        <p:nvSpPr>
          <p:cNvPr id="4" name="Picture Placeholder 12">
            <a:extLst>
              <a:ext uri="{C183D7F6-B498-43B3-948B-1728B52AA6E4}">
                <adec:decorative xmlns:adec="http://schemas.microsoft.com/office/drawing/2017/decorative" val="1"/>
              </a:ext>
            </a:extLst>
          </p:cNvPr>
          <p:cNvSpPr>
            <a:spLocks noGrp="1"/>
          </p:cNvSpPr>
          <p:nvPr>
            <p:ph type="pic" sz="quarter" idx="13"/>
          </p:nvPr>
        </p:nvSpPr>
        <p:spPr>
          <a:xfrm>
            <a:off x="11215" y="1412776"/>
            <a:ext cx="9144000" cy="5951190"/>
          </a:xfrm>
          <a:prstGeom prst="rect">
            <a:avLst/>
          </a:prstGeom>
        </p:spPr>
        <p:txBody>
          <a:bodyPr/>
          <a:lstStyle/>
          <a:p>
            <a:r>
              <a:rPr lang="en-US"/>
              <a:t>Click icon to add picture</a:t>
            </a:r>
          </a:p>
        </p:txBody>
      </p:sp>
    </p:spTree>
    <p:extLst>
      <p:ext uri="{BB962C8B-B14F-4D97-AF65-F5344CB8AC3E}">
        <p14:creationId xmlns:p14="http://schemas.microsoft.com/office/powerpoint/2010/main" val="155807663"/>
      </p:ext>
    </p:extLst>
  </p:cSld>
  <p:clrMapOvr>
    <a:masterClrMapping/>
  </p:clrMapOvr>
  <p:transition spd="slow">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AD231-0526-BA4B-A751-485A68D4F146}"/>
              </a:ext>
            </a:extLst>
          </p:cNvPr>
          <p:cNvSpPr>
            <a:spLocks noGrp="1"/>
          </p:cNvSpPr>
          <p:nvPr>
            <p:ph type="title"/>
          </p:nvPr>
        </p:nvSpPr>
        <p:spPr>
          <a:xfrm>
            <a:off x="900112" y="692697"/>
            <a:ext cx="7454131" cy="768356"/>
          </a:xfrm>
        </p:spPr>
        <p:txBody>
          <a:bodyPr/>
          <a:lstStyle>
            <a:lvl1pPr>
              <a:defRPr>
                <a:solidFill>
                  <a:srgbClr val="1A9DAC"/>
                </a:solidFill>
              </a:defRPr>
            </a:lvl1pPr>
          </a:lstStyle>
          <a:p>
            <a:r>
              <a:rPr lang="en-US"/>
              <a:t>Click to edit Master title style</a:t>
            </a:r>
          </a:p>
        </p:txBody>
      </p:sp>
      <p:sp>
        <p:nvSpPr>
          <p:cNvPr id="14" name="Picture Placeholder 12">
            <a:extLst>
              <a:ext uri="{C183D7F6-B498-43B3-948B-1728B52AA6E4}">
                <adec:decorative xmlns:adec="http://schemas.microsoft.com/office/drawing/2017/decorative" val="1"/>
              </a:ext>
            </a:extLst>
          </p:cNvPr>
          <p:cNvSpPr>
            <a:spLocks noGrp="1"/>
          </p:cNvSpPr>
          <p:nvPr>
            <p:ph type="pic" sz="quarter" idx="12"/>
          </p:nvPr>
        </p:nvSpPr>
        <p:spPr>
          <a:xfrm>
            <a:off x="0" y="1461052"/>
            <a:ext cx="3024188" cy="5396948"/>
          </a:xfrm>
          <a:prstGeom prst="rect">
            <a:avLst/>
          </a:prstGeom>
        </p:spPr>
        <p:txBody>
          <a:bodyPr/>
          <a:lstStyle/>
          <a:p>
            <a:r>
              <a:rPr lang="en-US"/>
              <a:t>Click icon to add picture</a:t>
            </a:r>
          </a:p>
        </p:txBody>
      </p:sp>
      <p:sp>
        <p:nvSpPr>
          <p:cNvPr id="15" name="Picture Placeholder 12">
            <a:extLst>
              <a:ext uri="{C183D7F6-B498-43B3-948B-1728B52AA6E4}">
                <adec:decorative xmlns:adec="http://schemas.microsoft.com/office/drawing/2017/decorative" val="1"/>
              </a:ext>
            </a:extLst>
          </p:cNvPr>
          <p:cNvSpPr>
            <a:spLocks noGrp="1"/>
          </p:cNvSpPr>
          <p:nvPr>
            <p:ph type="pic" sz="quarter" idx="13"/>
          </p:nvPr>
        </p:nvSpPr>
        <p:spPr>
          <a:xfrm>
            <a:off x="3059113" y="1461053"/>
            <a:ext cx="3020316" cy="2650572"/>
          </a:xfrm>
          <a:prstGeom prst="rect">
            <a:avLst/>
          </a:prstGeom>
        </p:spPr>
        <p:txBody>
          <a:bodyPr/>
          <a:lstStyle/>
          <a:p>
            <a:r>
              <a:rPr lang="en-US"/>
              <a:t>Click icon to add picture</a:t>
            </a:r>
          </a:p>
        </p:txBody>
      </p:sp>
      <p:sp>
        <p:nvSpPr>
          <p:cNvPr id="17" name="Picture Placeholder 12">
            <a:extLst>
              <a:ext uri="{C183D7F6-B498-43B3-948B-1728B52AA6E4}">
                <adec:decorative xmlns:adec="http://schemas.microsoft.com/office/drawing/2017/decorative" val="1"/>
              </a:ext>
            </a:extLst>
          </p:cNvPr>
          <p:cNvSpPr>
            <a:spLocks noGrp="1"/>
          </p:cNvSpPr>
          <p:nvPr>
            <p:ph type="pic" sz="quarter" idx="14"/>
          </p:nvPr>
        </p:nvSpPr>
        <p:spPr>
          <a:xfrm>
            <a:off x="3059113" y="4149725"/>
            <a:ext cx="3020316" cy="2708275"/>
          </a:xfrm>
          <a:prstGeom prst="rect">
            <a:avLst/>
          </a:prstGeom>
        </p:spPr>
        <p:txBody>
          <a:bodyPr/>
          <a:lstStyle/>
          <a:p>
            <a:r>
              <a:rPr lang="en-US"/>
              <a:t>Click icon to add picture</a:t>
            </a:r>
          </a:p>
        </p:txBody>
      </p:sp>
      <p:sp>
        <p:nvSpPr>
          <p:cNvPr id="13" name="Picture Placeholder 12">
            <a:extLst>
              <a:ext uri="{C183D7F6-B498-43B3-948B-1728B52AA6E4}">
                <adec:decorative xmlns:adec="http://schemas.microsoft.com/office/drawing/2017/decorative" val="1"/>
              </a:ext>
            </a:extLst>
          </p:cNvPr>
          <p:cNvSpPr>
            <a:spLocks noGrp="1"/>
          </p:cNvSpPr>
          <p:nvPr>
            <p:ph type="pic" sz="quarter" idx="11"/>
          </p:nvPr>
        </p:nvSpPr>
        <p:spPr>
          <a:xfrm>
            <a:off x="6118225" y="1461052"/>
            <a:ext cx="3025775" cy="5396948"/>
          </a:xfrm>
          <a:prstGeom prst="rect">
            <a:avLst/>
          </a:prstGeom>
        </p:spPr>
        <p:txBody>
          <a:bodyPr/>
          <a:lstStyle/>
          <a:p>
            <a:r>
              <a:rPr lang="en-US"/>
              <a:t>Click icon to add picture</a:t>
            </a:r>
          </a:p>
        </p:txBody>
      </p:sp>
    </p:spTree>
    <p:extLst>
      <p:ext uri="{BB962C8B-B14F-4D97-AF65-F5344CB8AC3E}">
        <p14:creationId xmlns:p14="http://schemas.microsoft.com/office/powerpoint/2010/main" val="532783830"/>
      </p:ext>
    </p:extLst>
  </p:cSld>
  <p:clrMapOvr>
    <a:masterClrMapping/>
  </p:clrMapOvr>
  <p:transition spd="slow">
    <p:fade/>
  </p:transition>
  <p:extLst>
    <p:ext uri="{DCECCB84-F9BA-43D5-87BE-67443E8EF086}">
      <p15:sldGuideLst xmlns:p15="http://schemas.microsoft.com/office/powerpoint/2012/main">
        <p15:guide id="1" orient="horz" pos="332">
          <p15:clr>
            <a:srgbClr val="FBAE40"/>
          </p15:clr>
        </p15:guide>
        <p15:guide id="2" pos="2880">
          <p15:clr>
            <a:srgbClr val="FBAE40"/>
          </p15:clr>
        </p15:guide>
        <p15:guide id="4" pos="3833">
          <p15:clr>
            <a:srgbClr val="FBAE40"/>
          </p15:clr>
        </p15:guide>
        <p15:guide id="5" orient="horz" pos="2614">
          <p15:clr>
            <a:srgbClr val="FBAE40"/>
          </p15:clr>
        </p15:guide>
        <p15:guide id="6" pos="567">
          <p15:clr>
            <a:srgbClr val="FBAE40"/>
          </p15:clr>
        </p15:guide>
        <p15:guide id="8" pos="1927">
          <p15:clr>
            <a:srgbClr val="FBAE40"/>
          </p15:clr>
        </p15:guide>
        <p15:guide id="9" pos="3854">
          <p15:clr>
            <a:srgbClr val="FBAE40"/>
          </p15:clr>
        </p15:guide>
        <p15:guide id="10" orient="horz" pos="259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E2A74-33A9-1E47-9EBD-B4B8BA3C3C75}"/>
              </a:ext>
            </a:extLst>
          </p:cNvPr>
          <p:cNvSpPr>
            <a:spLocks noGrp="1"/>
          </p:cNvSpPr>
          <p:nvPr>
            <p:ph type="title"/>
          </p:nvPr>
        </p:nvSpPr>
        <p:spPr>
          <a:xfrm>
            <a:off x="458065" y="692696"/>
            <a:ext cx="7886700" cy="768356"/>
          </a:xfrm>
        </p:spPr>
        <p:txBody>
          <a:bodyPr/>
          <a:lstStyle/>
          <a:p>
            <a:r>
              <a:rPr lang="en-US"/>
              <a:t>Click to edit Master title style</a:t>
            </a:r>
          </a:p>
        </p:txBody>
      </p:sp>
      <p:sp>
        <p:nvSpPr>
          <p:cNvPr id="8" name="Text Placeholder 5"/>
          <p:cNvSpPr>
            <a:spLocks noGrp="1"/>
          </p:cNvSpPr>
          <p:nvPr>
            <p:ph type="body" sz="quarter" idx="15" hasCustomPrompt="1"/>
          </p:nvPr>
        </p:nvSpPr>
        <p:spPr>
          <a:xfrm>
            <a:off x="458065" y="1461052"/>
            <a:ext cx="254707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A9DAC"/>
              </a:buClr>
              <a:buSzTx/>
              <a:buFont typeface="Arial" panose="020B0604020202020204" pitchFamily="34" charset="0"/>
              <a:buChar char="•"/>
              <a:tabLst/>
              <a:defRPr sz="18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1A9DAC"/>
              </a:buClr>
              <a:buFont typeface="Courier New" panose="02070309020205020404" pitchFamily="49" charset="0"/>
              <a:buChar char="o"/>
              <a:defRPr sz="1800">
                <a:latin typeface="+mn-lt"/>
                <a:ea typeface="Tahoma" panose="020B0604030504040204" pitchFamily="34" charset="0"/>
                <a:cs typeface="Tahoma" panose="020B0604030504040204" pitchFamily="34" charset="0"/>
              </a:defRPr>
            </a:lvl2pPr>
            <a:lvl3pPr marL="808038" indent="-1778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1163638" indent="-301625">
              <a:defRPr sz="1400">
                <a:latin typeface="+mn-lt"/>
                <a:ea typeface="Tahoma" panose="020B0604030504040204" pitchFamily="34" charset="0"/>
                <a:cs typeface="Tahoma" panose="020B0604030504040204" pitchFamily="34" charset="0"/>
              </a:defRPr>
            </a:lvl4pPr>
          </a:lstStyle>
          <a:p>
            <a:pPr lvl="0"/>
            <a:r>
              <a:rPr lang="en-GB"/>
              <a:t>Click to add text</a:t>
            </a:r>
          </a:p>
          <a:p>
            <a:pPr lvl="1"/>
            <a:r>
              <a:rPr lang="en-GB"/>
              <a:t>Second Bullet Point</a:t>
            </a:r>
          </a:p>
          <a:p>
            <a:pPr lvl="2"/>
            <a:r>
              <a:rPr lang="en-GB"/>
              <a:t>Third Bullet Point</a:t>
            </a:r>
          </a:p>
          <a:p>
            <a:pPr lvl="3"/>
            <a:endParaRPr lang="en-GB"/>
          </a:p>
        </p:txBody>
      </p:sp>
      <p:sp>
        <p:nvSpPr>
          <p:cNvPr id="5" name="Picture Placeholder 12">
            <a:extLst>
              <a:ext uri="{C183D7F6-B498-43B3-948B-1728B52AA6E4}">
                <adec:decorative xmlns:adec="http://schemas.microsoft.com/office/drawing/2017/decorative" val="1"/>
              </a:ext>
            </a:extLst>
          </p:cNvPr>
          <p:cNvSpPr>
            <a:spLocks noGrp="1"/>
          </p:cNvSpPr>
          <p:nvPr>
            <p:ph type="pic" sz="quarter" idx="11"/>
          </p:nvPr>
        </p:nvSpPr>
        <p:spPr>
          <a:xfrm>
            <a:off x="3041650" y="1461052"/>
            <a:ext cx="3043238" cy="5396948"/>
          </a:xfrm>
          <a:prstGeom prst="rect">
            <a:avLst/>
          </a:prstGeom>
        </p:spPr>
        <p:txBody>
          <a:bodyPr/>
          <a:lstStyle/>
          <a:p>
            <a:r>
              <a:rPr lang="en-US"/>
              <a:t>Click icon to add picture</a:t>
            </a:r>
          </a:p>
        </p:txBody>
      </p:sp>
      <p:sp>
        <p:nvSpPr>
          <p:cNvPr id="6" name="Picture Placeholder 12">
            <a:extLst>
              <a:ext uri="{C183D7F6-B498-43B3-948B-1728B52AA6E4}">
                <adec:decorative xmlns:adec="http://schemas.microsoft.com/office/drawing/2017/decorative" val="1"/>
              </a:ext>
            </a:extLst>
          </p:cNvPr>
          <p:cNvSpPr>
            <a:spLocks noGrp="1"/>
          </p:cNvSpPr>
          <p:nvPr>
            <p:ph type="pic" sz="quarter" idx="13"/>
          </p:nvPr>
        </p:nvSpPr>
        <p:spPr>
          <a:xfrm>
            <a:off x="6121400" y="1461053"/>
            <a:ext cx="3022599" cy="2650572"/>
          </a:xfrm>
          <a:prstGeom prst="rect">
            <a:avLst/>
          </a:prstGeom>
        </p:spPr>
        <p:txBody>
          <a:bodyPr/>
          <a:lstStyle/>
          <a:p>
            <a:r>
              <a:rPr lang="en-US"/>
              <a:t>Click icon to add picture</a:t>
            </a:r>
          </a:p>
        </p:txBody>
      </p:sp>
      <p:sp>
        <p:nvSpPr>
          <p:cNvPr id="7" name="Picture Placeholder 12">
            <a:extLst>
              <a:ext uri="{C183D7F6-B498-43B3-948B-1728B52AA6E4}">
                <adec:decorative xmlns:adec="http://schemas.microsoft.com/office/drawing/2017/decorative" val="1"/>
              </a:ext>
            </a:extLst>
          </p:cNvPr>
          <p:cNvSpPr>
            <a:spLocks noGrp="1"/>
          </p:cNvSpPr>
          <p:nvPr>
            <p:ph type="pic" sz="quarter" idx="14"/>
          </p:nvPr>
        </p:nvSpPr>
        <p:spPr>
          <a:xfrm>
            <a:off x="6121400" y="4146550"/>
            <a:ext cx="3022600" cy="2711450"/>
          </a:xfrm>
          <a:prstGeom prst="rect">
            <a:avLst/>
          </a:prstGeom>
        </p:spPr>
        <p:txBody>
          <a:bodyPr/>
          <a:lstStyle/>
          <a:p>
            <a:r>
              <a:rPr lang="en-US"/>
              <a:t>Click icon to add picture</a:t>
            </a:r>
          </a:p>
        </p:txBody>
      </p:sp>
    </p:spTree>
    <p:extLst>
      <p:ext uri="{BB962C8B-B14F-4D97-AF65-F5344CB8AC3E}">
        <p14:creationId xmlns:p14="http://schemas.microsoft.com/office/powerpoint/2010/main" val="3670319956"/>
      </p:ext>
    </p:extLst>
  </p:cSld>
  <p:clrMapOvr>
    <a:masterClrMapping/>
  </p:clrMapOvr>
  <p:transition spd="slow">
    <p:fade/>
  </p:transition>
  <p:extLst>
    <p:ext uri="{DCECCB84-F9BA-43D5-87BE-67443E8EF086}">
      <p15:sldGuideLst xmlns:p15="http://schemas.microsoft.com/office/powerpoint/2012/main">
        <p15:guide id="1" orient="horz" pos="2160">
          <p15:clr>
            <a:srgbClr val="FBAE40"/>
          </p15:clr>
        </p15:guide>
        <p15:guide id="2" pos="2880">
          <p15:clr>
            <a:srgbClr val="FBAE40"/>
          </p15:clr>
        </p15:guide>
        <p15:guide id="3" pos="3856">
          <p15:clr>
            <a:srgbClr val="FBAE40"/>
          </p15:clr>
        </p15:guide>
        <p15:guide id="4" pos="3833">
          <p15:clr>
            <a:srgbClr val="FBAE40"/>
          </p15:clr>
        </p15:guide>
        <p15:guide id="6" orient="horz" pos="2590">
          <p15:clr>
            <a:srgbClr val="FBAE40"/>
          </p15:clr>
        </p15:guide>
        <p15:guide id="7" orient="horz" pos="2612">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AFF90F4-0461-4994-8ECC-80648A92CC4D}"/>
              </a:ext>
            </a:extLst>
          </p:cNvPr>
          <p:cNvSpPr>
            <a:spLocks noGrp="1"/>
          </p:cNvSpPr>
          <p:nvPr>
            <p:ph type="title"/>
          </p:nvPr>
        </p:nvSpPr>
        <p:spPr>
          <a:xfrm>
            <a:off x="458065" y="692697"/>
            <a:ext cx="7886700" cy="1224136"/>
          </a:xfrm>
        </p:spPr>
        <p:txBody>
          <a:bodyPr/>
          <a:lstStyle/>
          <a:p>
            <a:r>
              <a:rPr lang="en-US"/>
              <a:t>Click to edit Master title style</a:t>
            </a:r>
          </a:p>
        </p:txBody>
      </p:sp>
      <p:sp>
        <p:nvSpPr>
          <p:cNvPr id="13" name="Text Placeholder 12"/>
          <p:cNvSpPr>
            <a:spLocks noGrp="1"/>
          </p:cNvSpPr>
          <p:nvPr>
            <p:ph type="body" sz="quarter" idx="12"/>
          </p:nvPr>
        </p:nvSpPr>
        <p:spPr>
          <a:xfrm>
            <a:off x="1042988" y="1916832"/>
            <a:ext cx="7058025" cy="3528392"/>
          </a:xfrm>
          <a:prstGeom prst="rect">
            <a:avLst/>
          </a:prstGeom>
        </p:spPr>
        <p:txBody>
          <a:bodyPr/>
          <a:lstStyle>
            <a:lvl1pPr marL="0" indent="0">
              <a:lnSpc>
                <a:spcPts val="3600"/>
              </a:lnSpc>
              <a:buNone/>
              <a:defRPr sz="2800" b="0" i="1" baseline="0">
                <a:solidFill>
                  <a:srgbClr val="1A9DAC"/>
                </a:solidFill>
                <a:latin typeface="+mj-lt"/>
              </a:defRPr>
            </a:lvl1pPr>
            <a:lvl2pPr marL="609600" indent="0">
              <a:lnSpc>
                <a:spcPts val="3600"/>
              </a:lnSpc>
              <a:buNone/>
              <a:defRPr sz="2800" b="0" i="1" baseline="0">
                <a:solidFill>
                  <a:srgbClr val="1A9DAC"/>
                </a:solidFill>
                <a:latin typeface="+mj-lt"/>
              </a:defRPr>
            </a:lvl2pPr>
            <a:lvl3pPr marL="1219200" indent="0">
              <a:lnSpc>
                <a:spcPts val="3600"/>
              </a:lnSpc>
              <a:buNone/>
              <a:defRPr sz="2800" b="0" i="1" baseline="0">
                <a:solidFill>
                  <a:srgbClr val="1A9DAC"/>
                </a:solidFill>
                <a:latin typeface="+mj-lt"/>
              </a:defRPr>
            </a:lvl3pPr>
            <a:lvl4pPr marL="1828800" indent="0">
              <a:lnSpc>
                <a:spcPts val="3600"/>
              </a:lnSpc>
              <a:buNone/>
              <a:defRPr sz="2800" b="0" i="1" baseline="0">
                <a:solidFill>
                  <a:srgbClr val="1A9DAC"/>
                </a:solidFill>
                <a:latin typeface="+mj-lt"/>
              </a:defRPr>
            </a:lvl4pPr>
            <a:lvl5pPr marL="2438400" indent="0">
              <a:lnSpc>
                <a:spcPts val="3600"/>
              </a:lnSpc>
              <a:buNone/>
              <a:defRPr sz="2800" b="0" i="1" baseline="0">
                <a:solidFill>
                  <a:srgbClr val="1A9DAC"/>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4"/>
          <p:cNvSpPr>
            <a:spLocks noGrp="1"/>
          </p:cNvSpPr>
          <p:nvPr>
            <p:ph type="body" sz="quarter" idx="13"/>
          </p:nvPr>
        </p:nvSpPr>
        <p:spPr>
          <a:xfrm>
            <a:off x="1042988" y="5661025"/>
            <a:ext cx="7058025" cy="1196975"/>
          </a:xfrm>
          <a:prstGeom prst="rect">
            <a:avLst/>
          </a:prstGeom>
        </p:spPr>
        <p:txBody>
          <a:bodyPr/>
          <a:lstStyle>
            <a:lvl1pPr marL="0" indent="0" algn="r">
              <a:lnSpc>
                <a:spcPts val="1800"/>
              </a:lnSpc>
              <a:buNone/>
              <a:defRPr sz="1800" baseline="0">
                <a:solidFill>
                  <a:schemeClr val="tx1"/>
                </a:solidFill>
                <a:latin typeface="+mn-lt"/>
              </a:defRPr>
            </a:lvl1pPr>
            <a:lvl2pPr marL="609600" indent="0" algn="r">
              <a:lnSpc>
                <a:spcPts val="1800"/>
              </a:lnSpc>
              <a:buNone/>
              <a:defRPr sz="1800" baseline="0">
                <a:solidFill>
                  <a:schemeClr val="tx1"/>
                </a:solidFill>
                <a:latin typeface="+mn-lt"/>
              </a:defRPr>
            </a:lvl2pPr>
            <a:lvl3pPr marL="1219200" indent="0" algn="r">
              <a:lnSpc>
                <a:spcPts val="1800"/>
              </a:lnSpc>
              <a:buNone/>
              <a:defRPr sz="1800" baseline="0">
                <a:solidFill>
                  <a:schemeClr val="tx1"/>
                </a:solidFill>
                <a:latin typeface="+mn-lt"/>
              </a:defRPr>
            </a:lvl3pPr>
            <a:lvl4pPr marL="1828800" indent="0" algn="r">
              <a:lnSpc>
                <a:spcPts val="1800"/>
              </a:lnSpc>
              <a:buNone/>
              <a:defRPr sz="1800" baseline="0">
                <a:solidFill>
                  <a:schemeClr val="tx1"/>
                </a:solidFill>
                <a:latin typeface="+mn-lt"/>
              </a:defRPr>
            </a:lvl4pPr>
            <a:lvl5pPr marL="2438400" indent="0" algn="r">
              <a:lnSpc>
                <a:spcPts val="1800"/>
              </a:lnSpc>
              <a:buNone/>
              <a:defRPr sz="1800" baseline="0">
                <a:solidFill>
                  <a:schemeClr val="tx1"/>
                </a:solidFill>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64409956"/>
      </p:ext>
    </p:extLst>
  </p:cSld>
  <p:clrMapOvr>
    <a:masterClrMapping/>
  </p:clrMapOvr>
  <p:transition spd="slow">
    <p:fade/>
  </p:transition>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572">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BC024-4559-4C02-9AB3-98D956AC73B6}"/>
              </a:ext>
            </a:extLst>
          </p:cNvPr>
          <p:cNvSpPr>
            <a:spLocks noGrp="1"/>
          </p:cNvSpPr>
          <p:nvPr>
            <p:ph type="title"/>
          </p:nvPr>
        </p:nvSpPr>
        <p:spPr/>
        <p:txBody>
          <a:bodyPr/>
          <a:lstStyle/>
          <a:p>
            <a:r>
              <a:rPr lang="en-US"/>
              <a:t>Click to edit Master title style</a:t>
            </a:r>
            <a:endParaRPr lang="en-GB"/>
          </a:p>
        </p:txBody>
      </p:sp>
      <p:sp>
        <p:nvSpPr>
          <p:cNvPr id="4" name="Text Placeholder 3">
            <a:extLst>
              <a:ext uri="{FF2B5EF4-FFF2-40B4-BE49-F238E27FC236}">
                <a16:creationId xmlns:a16="http://schemas.microsoft.com/office/drawing/2014/main" id="{E8E056E6-17B0-445E-93EC-A3A4B42B212F}"/>
              </a:ext>
            </a:extLst>
          </p:cNvPr>
          <p:cNvSpPr>
            <a:spLocks noGrp="1"/>
          </p:cNvSpPr>
          <p:nvPr>
            <p:ph type="body" sz="quarter" idx="10" hasCustomPrompt="1"/>
          </p:nvPr>
        </p:nvSpPr>
        <p:spPr>
          <a:xfrm>
            <a:off x="467544" y="2349500"/>
            <a:ext cx="4104456" cy="2879725"/>
          </a:xfrm>
          <a:prstGeom prst="rect">
            <a:avLst/>
          </a:prstGeom>
        </p:spPr>
        <p:txBody>
          <a:bodyPr/>
          <a:lstStyle>
            <a:lvl1pPr marL="0" indent="0">
              <a:buFont typeface="Arial" panose="020B0604020202020204" pitchFamily="34" charset="0"/>
              <a:buNone/>
              <a:defRPr sz="13000">
                <a:solidFill>
                  <a:srgbClr val="199DAC"/>
                </a:solidFill>
              </a:defRPr>
            </a:lvl1pPr>
            <a:lvl2pPr marL="609600" indent="0">
              <a:buNone/>
              <a:defRPr>
                <a:solidFill>
                  <a:srgbClr val="16818D"/>
                </a:solidFill>
              </a:defRPr>
            </a:lvl2pPr>
            <a:lvl3pPr marL="1219200" indent="0">
              <a:buNone/>
              <a:defRPr>
                <a:solidFill>
                  <a:srgbClr val="16818D"/>
                </a:solidFill>
              </a:defRPr>
            </a:lvl3pPr>
            <a:lvl4pPr marL="1828800" indent="0">
              <a:buNone/>
              <a:defRPr>
                <a:solidFill>
                  <a:srgbClr val="16818D"/>
                </a:solidFill>
              </a:defRPr>
            </a:lvl4pPr>
            <a:lvl5pPr marL="2438400" indent="0">
              <a:buNone/>
              <a:defRPr>
                <a:solidFill>
                  <a:srgbClr val="16818D"/>
                </a:solidFill>
              </a:defRPr>
            </a:lvl5pPr>
          </a:lstStyle>
          <a:p>
            <a:pPr lvl="0"/>
            <a:r>
              <a:rPr lang="en-US"/>
              <a:t>100%</a:t>
            </a:r>
            <a:endParaRPr lang="en-GB"/>
          </a:p>
        </p:txBody>
      </p:sp>
      <p:sp>
        <p:nvSpPr>
          <p:cNvPr id="6" name="Text Placeholder 5">
            <a:extLst>
              <a:ext uri="{FF2B5EF4-FFF2-40B4-BE49-F238E27FC236}">
                <a16:creationId xmlns:a16="http://schemas.microsoft.com/office/drawing/2014/main" id="{0212DBA2-E4CA-4633-9C0C-58EB9F03F1E2}"/>
              </a:ext>
            </a:extLst>
          </p:cNvPr>
          <p:cNvSpPr>
            <a:spLocks noGrp="1"/>
          </p:cNvSpPr>
          <p:nvPr>
            <p:ph type="body" sz="quarter" idx="11"/>
          </p:nvPr>
        </p:nvSpPr>
        <p:spPr>
          <a:xfrm>
            <a:off x="4716016" y="2349500"/>
            <a:ext cx="3672334" cy="2879725"/>
          </a:xfrm>
          <a:prstGeom prst="rect">
            <a:avLst/>
          </a:prstGeom>
        </p:spPr>
        <p:txBody>
          <a:bodyPr/>
          <a:lstStyle>
            <a:lvl1pPr marL="0" indent="0">
              <a:buNone/>
              <a:defRPr sz="1800">
                <a:solidFill>
                  <a:srgbClr val="199DAC"/>
                </a:solidFill>
              </a:defRPr>
            </a:lvl1pPr>
            <a:lvl2pPr marL="609600" indent="0">
              <a:buNone/>
              <a:defRPr sz="1800">
                <a:solidFill>
                  <a:srgbClr val="199DAC"/>
                </a:solidFill>
              </a:defRPr>
            </a:lvl2pPr>
            <a:lvl3pPr marL="1219200" indent="0">
              <a:buNone/>
              <a:defRPr sz="1800">
                <a:solidFill>
                  <a:srgbClr val="199DAC"/>
                </a:solidFill>
              </a:defRPr>
            </a:lvl3pPr>
            <a:lvl4pPr marL="1828800" indent="0">
              <a:buNone/>
              <a:defRPr sz="1800">
                <a:solidFill>
                  <a:srgbClr val="199DAC"/>
                </a:solidFill>
              </a:defRPr>
            </a:lvl4pPr>
            <a:lvl5pPr marL="2438400" indent="0">
              <a:buNone/>
              <a:defRPr sz="1800">
                <a:solidFill>
                  <a:srgbClr val="199DAC"/>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ext Placeholder 7">
            <a:extLst>
              <a:ext uri="{FF2B5EF4-FFF2-40B4-BE49-F238E27FC236}">
                <a16:creationId xmlns:a16="http://schemas.microsoft.com/office/drawing/2014/main" id="{E6D44D0B-0878-42C4-9A43-6D580C188C57}"/>
              </a:ext>
            </a:extLst>
          </p:cNvPr>
          <p:cNvSpPr>
            <a:spLocks noGrp="1"/>
          </p:cNvSpPr>
          <p:nvPr>
            <p:ph type="body" sz="quarter" idx="12"/>
          </p:nvPr>
        </p:nvSpPr>
        <p:spPr>
          <a:xfrm>
            <a:off x="628650" y="5157192"/>
            <a:ext cx="7472363" cy="792162"/>
          </a:xfrm>
          <a:prstGeom prst="rect">
            <a:avLst/>
          </a:prstGeom>
        </p:spPr>
        <p:txBody>
          <a:bodyPr/>
          <a:lstStyle>
            <a:lvl1pPr marL="0" indent="0" algn="r">
              <a:buNone/>
              <a:defRPr sz="1800"/>
            </a:lvl1pPr>
            <a:lvl2pPr marL="609600" indent="0" algn="r">
              <a:buNone/>
              <a:defRPr sz="1800"/>
            </a:lvl2pPr>
            <a:lvl3pPr marL="1219200" indent="0" algn="r">
              <a:buNone/>
              <a:defRPr sz="1800"/>
            </a:lvl3pPr>
            <a:lvl4pPr marL="1828800" indent="0" algn="r">
              <a:buNone/>
              <a:defRPr sz="1800"/>
            </a:lvl4pPr>
            <a:lvl5pPr marL="2438400" indent="0" algn="r">
              <a:buNone/>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11500441"/>
      </p:ext>
    </p:extLst>
  </p:cSld>
  <p:clrMapOvr>
    <a:masterClrMapping/>
  </p:clrMapOvr>
  <p:transition spd="slow">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7DBEE-02FF-41AA-899A-45B724F9E6E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FCA6175-35AA-4423-8B45-0D36968A309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331C334-D21F-42F9-BBC8-A4164B904E41}"/>
              </a:ext>
            </a:extLst>
          </p:cNvPr>
          <p:cNvSpPr>
            <a:spLocks noGrp="1"/>
          </p:cNvSpPr>
          <p:nvPr>
            <p:ph type="dt" sz="half" idx="10"/>
          </p:nvPr>
        </p:nvSpPr>
        <p:spPr/>
        <p:txBody>
          <a:bodyPr/>
          <a:lstStyle/>
          <a:p>
            <a:fld id="{45BC5923-7DD6-4CB9-BA03-09F03E13C73F}" type="datetimeFigureOut">
              <a:rPr lang="en-GB" smtClean="0"/>
              <a:t>05/02/2026</a:t>
            </a:fld>
            <a:endParaRPr lang="en-GB"/>
          </a:p>
        </p:txBody>
      </p:sp>
      <p:sp>
        <p:nvSpPr>
          <p:cNvPr id="5" name="Footer Placeholder 4">
            <a:extLst>
              <a:ext uri="{FF2B5EF4-FFF2-40B4-BE49-F238E27FC236}">
                <a16:creationId xmlns:a16="http://schemas.microsoft.com/office/drawing/2014/main" id="{9E8E66F7-16F4-4C2E-A015-A908766F628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C674782-B222-4999-A2D1-EA12179B0D41}"/>
              </a:ext>
            </a:extLst>
          </p:cNvPr>
          <p:cNvSpPr>
            <a:spLocks noGrp="1"/>
          </p:cNvSpPr>
          <p:nvPr>
            <p:ph type="sldNum" sz="quarter" idx="12"/>
          </p:nvPr>
        </p:nvSpPr>
        <p:spPr/>
        <p:txBody>
          <a:bodyPr/>
          <a:lstStyle/>
          <a:p>
            <a:fld id="{EA009E2C-FEE2-4552-B3C5-C1E1B82F92D1}" type="slidenum">
              <a:rPr lang="en-GB" smtClean="0"/>
              <a:t>‹#›</a:t>
            </a:fld>
            <a:endParaRPr lang="en-GB"/>
          </a:p>
        </p:txBody>
      </p:sp>
    </p:spTree>
    <p:extLst>
      <p:ext uri="{BB962C8B-B14F-4D97-AF65-F5344CB8AC3E}">
        <p14:creationId xmlns:p14="http://schemas.microsoft.com/office/powerpoint/2010/main" val="19974834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1_Section title and sub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E3DBD-28B5-6744-B93D-384D879AF993}"/>
              </a:ext>
            </a:extLst>
          </p:cNvPr>
          <p:cNvSpPr>
            <a:spLocks noGrp="1"/>
          </p:cNvSpPr>
          <p:nvPr>
            <p:ph type="title"/>
          </p:nvPr>
        </p:nvSpPr>
        <p:spPr>
          <a:xfrm>
            <a:off x="899592" y="1974057"/>
            <a:ext cx="6515620" cy="1325563"/>
          </a:xfrm>
          <a:prstGeom prst="rect">
            <a:avLst/>
          </a:prstGeom>
        </p:spPr>
        <p:txBody>
          <a:bodyPr/>
          <a:lstStyle>
            <a:lvl1pPr>
              <a:defRPr>
                <a:solidFill>
                  <a:srgbClr val="1A9DAC"/>
                </a:solidFill>
              </a:defRPr>
            </a:lvl1pPr>
          </a:lstStyle>
          <a:p>
            <a:r>
              <a:rPr lang="en-US"/>
              <a:t>Click to edit Master title style</a:t>
            </a:r>
            <a:endParaRPr lang="en-US" dirty="0"/>
          </a:p>
        </p:txBody>
      </p:sp>
      <p:sp>
        <p:nvSpPr>
          <p:cNvPr id="7" name="Text Placeholder 5"/>
          <p:cNvSpPr>
            <a:spLocks noGrp="1"/>
          </p:cNvSpPr>
          <p:nvPr>
            <p:ph type="body" sz="quarter" idx="11"/>
          </p:nvPr>
        </p:nvSpPr>
        <p:spPr>
          <a:xfrm>
            <a:off x="899592" y="4221163"/>
            <a:ext cx="6515620" cy="603104"/>
          </a:xfrm>
          <a:prstGeom prst="rect">
            <a:avLst/>
          </a:prstGeom>
        </p:spPr>
        <p:txBody>
          <a:bodyPr lIns="0" tIns="0" rIns="0" bIns="0"/>
          <a:lstStyle>
            <a:lvl1pPr marL="0" indent="0">
              <a:lnSpc>
                <a:spcPct val="100000"/>
              </a:lnSpc>
              <a:buFontTx/>
              <a:buNone/>
              <a:defRPr sz="1350" b="0" i="0">
                <a:solidFill>
                  <a:schemeClr val="tx1"/>
                </a:solidFill>
                <a:latin typeface="+mn-lt"/>
                <a:ea typeface="Tahoma"/>
                <a:cs typeface="Tahoma"/>
              </a:defRPr>
            </a:lvl1pPr>
          </a:lstStyle>
          <a:p>
            <a:pPr lvl="0"/>
            <a:r>
              <a:rPr lang="en-US"/>
              <a:t>Click to edit Master text styles</a:t>
            </a:r>
          </a:p>
        </p:txBody>
      </p:sp>
    </p:spTree>
    <p:extLst>
      <p:ext uri="{BB962C8B-B14F-4D97-AF65-F5344CB8AC3E}">
        <p14:creationId xmlns:p14="http://schemas.microsoft.com/office/powerpoint/2010/main" val="2362657539"/>
      </p:ext>
    </p:extLst>
  </p:cSld>
  <p:clrMapOvr>
    <a:masterClrMapping/>
  </p:clrMapOvr>
  <p:transition spd="slow">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3608302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image" Target="../media/image1.jpeg"/><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theme" Target="../theme/theme2.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itle Placeholder 3">
            <a:extLst>
              <a:ext uri="{FF2B5EF4-FFF2-40B4-BE49-F238E27FC236}">
                <a16:creationId xmlns:a16="http://schemas.microsoft.com/office/drawing/2014/main" id="{3631A212-DAA8-B544-9BA8-9F3465AA8AB6}"/>
              </a:ext>
            </a:extLst>
          </p:cNvPr>
          <p:cNvSpPr>
            <a:spLocks noGrp="1"/>
          </p:cNvSpPr>
          <p:nvPr>
            <p:ph type="title"/>
          </p:nvPr>
        </p:nvSpPr>
        <p:spPr>
          <a:xfrm>
            <a:off x="628650" y="692697"/>
            <a:ext cx="7886700" cy="720079"/>
          </a:xfrm>
          <a:prstGeom prst="rect">
            <a:avLst/>
          </a:prstGeom>
        </p:spPr>
        <p:txBody>
          <a:bodyPr vert="horz" lIns="0" tIns="0" rIns="0" bIns="0" rtlCol="0" anchor="t" anchorCtr="0">
            <a:normAutofit/>
          </a:bodyPr>
          <a:lstStyle/>
          <a:p>
            <a:r>
              <a:rPr lang="en-US"/>
              <a:t>Click to edit Master title style</a:t>
            </a:r>
          </a:p>
        </p:txBody>
      </p:sp>
      <p:pic>
        <p:nvPicPr>
          <p:cNvPr id="3" name="Picture 2">
            <a:extLst>
              <a:ext uri="{FF2B5EF4-FFF2-40B4-BE49-F238E27FC236}">
                <a16:creationId xmlns:a16="http://schemas.microsoft.com/office/drawing/2014/main" id="{06D7E385-10D3-CC4C-B8C0-4CD9D91D4F44}"/>
              </a:ext>
              <a:ext uri="{C183D7F6-B498-43B3-948B-1728B52AA6E4}">
                <adec:decorative xmlns:adec="http://schemas.microsoft.com/office/drawing/2017/decorative" val="1"/>
              </a:ext>
            </a:extLst>
          </p:cNvPr>
          <p:cNvPicPr>
            <a:picLocks noChangeAspect="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7236296"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962" r:id="rId1"/>
    <p:sldLayoutId id="2147483963" r:id="rId2"/>
    <p:sldLayoutId id="2147483964" r:id="rId3"/>
    <p:sldLayoutId id="2147483965" r:id="rId4"/>
    <p:sldLayoutId id="2147483966" r:id="rId5"/>
    <p:sldLayoutId id="2147483967" r:id="rId6"/>
    <p:sldLayoutId id="2147483968" r:id="rId7"/>
    <p:sldLayoutId id="2147483969" r:id="rId8"/>
    <p:sldLayoutId id="2147483970" r:id="rId9"/>
    <p:sldLayoutId id="2147483971" r:id="rId10"/>
    <p:sldLayoutId id="2147483972" r:id="rId11"/>
    <p:sldLayoutId id="2147483973" r:id="rId12"/>
    <p:sldLayoutId id="2147483974" r:id="rId13"/>
    <p:sldLayoutId id="2147483975" r:id="rId14"/>
    <p:sldLayoutId id="2147483976" r:id="rId15"/>
    <p:sldLayoutId id="2147483977" r:id="rId16"/>
    <p:sldLayoutId id="2147484043" r:id="rId17"/>
  </p:sldLayoutIdLst>
  <p:transition spd="slow">
    <p:fade/>
  </p:transition>
  <p:txStyles>
    <p:titleStyle>
      <a:lvl1pPr algn="l" defTabSz="606425" rtl="0" eaLnBrk="1" fontAlgn="base" hangingPunct="1">
        <a:spcBef>
          <a:spcPct val="0"/>
        </a:spcBef>
        <a:spcAft>
          <a:spcPct val="0"/>
        </a:spcAft>
        <a:defRPr sz="3600" kern="1200">
          <a:solidFill>
            <a:srgbClr val="7A7392"/>
          </a:solidFill>
          <a:latin typeface="+mj-lt"/>
          <a:ea typeface="ＭＳ Ｐゴシック" charset="0"/>
          <a:cs typeface="ＭＳ Ｐゴシック" charset="0"/>
        </a:defRPr>
      </a:lvl1pPr>
      <a:lvl2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2pPr>
      <a:lvl3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3pPr>
      <a:lvl4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4pPr>
      <a:lvl5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5pPr>
      <a:lvl6pPr marL="609555"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6pPr>
      <a:lvl7pPr marL="1219110"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7pPr>
      <a:lvl8pPr marL="1828664"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8pPr>
      <a:lvl9pPr marL="2438218"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9pPr>
    </p:titleStyle>
    <p:bodyStyle>
      <a:lvl1pPr marL="454025" indent="-454025" algn="l" defTabSz="606425" rtl="0" eaLnBrk="1" fontAlgn="base" hangingPunct="1">
        <a:spcBef>
          <a:spcPct val="20000"/>
        </a:spcBef>
        <a:spcAft>
          <a:spcPct val="0"/>
        </a:spcAft>
        <a:buFont typeface="Arial" charset="0"/>
        <a:buChar char="•"/>
        <a:defRPr sz="4200" kern="1200">
          <a:solidFill>
            <a:schemeClr val="tx1"/>
          </a:solidFill>
          <a:latin typeface="+mn-lt"/>
          <a:ea typeface="ＭＳ Ｐゴシック" charset="0"/>
          <a:cs typeface="ＭＳ Ｐゴシック" charset="0"/>
        </a:defRPr>
      </a:lvl1pPr>
      <a:lvl2pPr marL="987425" indent="-377825" algn="l" defTabSz="606425" rtl="0" eaLnBrk="1" fontAlgn="base" hangingPunct="1">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825" indent="-301625" algn="l" defTabSz="606425" rtl="0" eaLnBrk="1" fontAlgn="base" hangingPunct="1">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4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400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548" indent="-304776" algn="l" defTabSz="609555" rtl="0" eaLnBrk="1" latinLnBrk="0" hangingPunct="1">
        <a:spcBef>
          <a:spcPct val="20000"/>
        </a:spcBef>
        <a:buFont typeface="Arial"/>
        <a:buChar char="•"/>
        <a:defRPr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55" rtl="0" eaLnBrk="1" latinLnBrk="0" hangingPunct="1">
        <a:defRPr sz="2400" kern="1200">
          <a:solidFill>
            <a:schemeClr val="tx1"/>
          </a:solidFill>
          <a:latin typeface="+mn-lt"/>
          <a:ea typeface="+mn-ea"/>
          <a:cs typeface="+mn-cs"/>
        </a:defRPr>
      </a:lvl1pPr>
      <a:lvl2pPr marL="609555" algn="l" defTabSz="609555" rtl="0" eaLnBrk="1" latinLnBrk="0" hangingPunct="1">
        <a:defRPr sz="2400" kern="1200">
          <a:solidFill>
            <a:schemeClr val="tx1"/>
          </a:solidFill>
          <a:latin typeface="+mn-lt"/>
          <a:ea typeface="+mn-ea"/>
          <a:cs typeface="+mn-cs"/>
        </a:defRPr>
      </a:lvl2pPr>
      <a:lvl3pPr marL="1219110" algn="l" defTabSz="609555" rtl="0" eaLnBrk="1" latinLnBrk="0" hangingPunct="1">
        <a:defRPr sz="2400" kern="1200">
          <a:solidFill>
            <a:schemeClr val="tx1"/>
          </a:solidFill>
          <a:latin typeface="+mn-lt"/>
          <a:ea typeface="+mn-ea"/>
          <a:cs typeface="+mn-cs"/>
        </a:defRPr>
      </a:lvl3pPr>
      <a:lvl4pPr marL="1828664" algn="l" defTabSz="609555" rtl="0" eaLnBrk="1" latinLnBrk="0" hangingPunct="1">
        <a:defRPr sz="2400" kern="1200">
          <a:solidFill>
            <a:schemeClr val="tx1"/>
          </a:solidFill>
          <a:latin typeface="+mn-lt"/>
          <a:ea typeface="+mn-ea"/>
          <a:cs typeface="+mn-cs"/>
        </a:defRPr>
      </a:lvl4pPr>
      <a:lvl5pPr marL="2438218" algn="l" defTabSz="609555" rtl="0" eaLnBrk="1" latinLnBrk="0" hangingPunct="1">
        <a:defRPr sz="2400" kern="1200">
          <a:solidFill>
            <a:schemeClr val="tx1"/>
          </a:solidFill>
          <a:latin typeface="+mn-lt"/>
          <a:ea typeface="+mn-ea"/>
          <a:cs typeface="+mn-cs"/>
        </a:defRPr>
      </a:lvl5pPr>
      <a:lvl6pPr marL="3047772" algn="l" defTabSz="609555" rtl="0" eaLnBrk="1" latinLnBrk="0" hangingPunct="1">
        <a:defRPr sz="2400" kern="1200">
          <a:solidFill>
            <a:schemeClr val="tx1"/>
          </a:solidFill>
          <a:latin typeface="+mn-lt"/>
          <a:ea typeface="+mn-ea"/>
          <a:cs typeface="+mn-cs"/>
        </a:defRPr>
      </a:lvl6pPr>
      <a:lvl7pPr marL="3657327" algn="l" defTabSz="609555" rtl="0" eaLnBrk="1" latinLnBrk="0" hangingPunct="1">
        <a:defRPr sz="2400" kern="1200">
          <a:solidFill>
            <a:schemeClr val="tx1"/>
          </a:solidFill>
          <a:latin typeface="+mn-lt"/>
          <a:ea typeface="+mn-ea"/>
          <a:cs typeface="+mn-cs"/>
        </a:defRPr>
      </a:lvl7pPr>
      <a:lvl8pPr marL="4266880" algn="l" defTabSz="609555" rtl="0" eaLnBrk="1" latinLnBrk="0" hangingPunct="1">
        <a:defRPr sz="2400" kern="1200">
          <a:solidFill>
            <a:schemeClr val="tx1"/>
          </a:solidFill>
          <a:latin typeface="+mn-lt"/>
          <a:ea typeface="+mn-ea"/>
          <a:cs typeface="+mn-cs"/>
        </a:defRPr>
      </a:lvl8pPr>
      <a:lvl9pPr marL="4876435" algn="l" defTabSz="609555"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6D7E385-10D3-CC4C-B8C0-4CD9D91D4F44}"/>
              </a:ext>
              <a:ext uri="{C183D7F6-B498-43B3-948B-1728B52AA6E4}">
                <adec:decorative xmlns:adec="http://schemas.microsoft.com/office/drawing/2017/decorative" val="1"/>
              </a:ext>
            </a:extLst>
          </p:cNvPr>
          <p:cNvPicPr>
            <a:picLocks noChangeAspect="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7236296"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Placeholder 3">
            <a:extLst>
              <a:ext uri="{FF2B5EF4-FFF2-40B4-BE49-F238E27FC236}">
                <a16:creationId xmlns:a16="http://schemas.microsoft.com/office/drawing/2014/main" id="{3631A212-DAA8-B544-9BA8-9F3465AA8AB6}"/>
              </a:ext>
            </a:extLst>
          </p:cNvPr>
          <p:cNvSpPr>
            <a:spLocks noGrp="1"/>
          </p:cNvSpPr>
          <p:nvPr>
            <p:ph type="title"/>
          </p:nvPr>
        </p:nvSpPr>
        <p:spPr>
          <a:xfrm>
            <a:off x="628650" y="692696"/>
            <a:ext cx="7886700" cy="1325563"/>
          </a:xfrm>
          <a:prstGeom prst="rect">
            <a:avLst/>
          </a:prstGeom>
        </p:spPr>
        <p:txBody>
          <a:bodyPr vert="horz" lIns="0" tIns="0" rIns="0" bIns="0" rtlCol="0" anchor="t" anchorCtr="0">
            <a:normAutofit/>
          </a:bodyPr>
          <a:lstStyle/>
          <a:p>
            <a:r>
              <a:rPr lang="en-US"/>
              <a:t>Click to edit Master title style</a:t>
            </a:r>
          </a:p>
        </p:txBody>
      </p:sp>
    </p:spTree>
    <p:extLst>
      <p:ext uri="{BB962C8B-B14F-4D97-AF65-F5344CB8AC3E}">
        <p14:creationId xmlns:p14="http://schemas.microsoft.com/office/powerpoint/2010/main" val="2910195427"/>
      </p:ext>
    </p:extLst>
  </p:cSld>
  <p:clrMap bg1="lt1" tx1="dk1" bg2="lt2" tx2="dk2" accent1="accent1" accent2="accent2" accent3="accent3" accent4="accent4" accent5="accent5" accent6="accent6" hlink="hlink" folHlink="folHlink"/>
  <p:sldLayoutIdLst>
    <p:sldLayoutId id="2147484028" r:id="rId1"/>
    <p:sldLayoutId id="2147484029" r:id="rId2"/>
    <p:sldLayoutId id="2147484030" r:id="rId3"/>
    <p:sldLayoutId id="2147484031" r:id="rId4"/>
    <p:sldLayoutId id="2147484032" r:id="rId5"/>
    <p:sldLayoutId id="2147484033" r:id="rId6"/>
    <p:sldLayoutId id="2147484034" r:id="rId7"/>
    <p:sldLayoutId id="2147484035" r:id="rId8"/>
    <p:sldLayoutId id="2147484036" r:id="rId9"/>
    <p:sldLayoutId id="2147484037" r:id="rId10"/>
    <p:sldLayoutId id="2147484038" r:id="rId11"/>
    <p:sldLayoutId id="2147484039" r:id="rId12"/>
    <p:sldLayoutId id="2147484040" r:id="rId13"/>
    <p:sldLayoutId id="2147484041" r:id="rId14"/>
    <p:sldLayoutId id="2147484042" r:id="rId15"/>
    <p:sldLayoutId id="2147484044" r:id="rId16"/>
  </p:sldLayoutIdLst>
  <p:transition spd="slow">
    <p:fade/>
  </p:transition>
  <p:txStyles>
    <p:titleStyle>
      <a:lvl1pPr algn="l" defTabSz="606425" rtl="0" eaLnBrk="1" fontAlgn="base" hangingPunct="1">
        <a:spcBef>
          <a:spcPct val="0"/>
        </a:spcBef>
        <a:spcAft>
          <a:spcPct val="0"/>
        </a:spcAft>
        <a:defRPr sz="3600" kern="1200">
          <a:solidFill>
            <a:srgbClr val="1A9DAC"/>
          </a:solidFill>
          <a:latin typeface="+mj-lt"/>
          <a:ea typeface="ＭＳ Ｐゴシック" charset="0"/>
          <a:cs typeface="ＭＳ Ｐゴシック" charset="0"/>
        </a:defRPr>
      </a:lvl1pPr>
      <a:lvl2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2pPr>
      <a:lvl3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3pPr>
      <a:lvl4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4pPr>
      <a:lvl5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5pPr>
      <a:lvl6pPr marL="609555"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6pPr>
      <a:lvl7pPr marL="1219110"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7pPr>
      <a:lvl8pPr marL="1828664"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8pPr>
      <a:lvl9pPr marL="2438218"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9pPr>
    </p:titleStyle>
    <p:bodyStyle>
      <a:lvl1pPr marL="454025" indent="-454025" algn="l" defTabSz="606425" rtl="0" eaLnBrk="1" fontAlgn="base" hangingPunct="1">
        <a:spcBef>
          <a:spcPct val="20000"/>
        </a:spcBef>
        <a:spcAft>
          <a:spcPct val="0"/>
        </a:spcAft>
        <a:buFont typeface="Arial" charset="0"/>
        <a:buChar char="•"/>
        <a:defRPr sz="4200" kern="1200">
          <a:solidFill>
            <a:schemeClr val="tx1"/>
          </a:solidFill>
          <a:latin typeface="+mn-lt"/>
          <a:ea typeface="ＭＳ Ｐゴシック" charset="0"/>
          <a:cs typeface="ＭＳ Ｐゴシック" charset="0"/>
        </a:defRPr>
      </a:lvl1pPr>
      <a:lvl2pPr marL="987425" indent="-377825" algn="l" defTabSz="606425" rtl="0" eaLnBrk="1" fontAlgn="base" hangingPunct="1">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825" indent="-301625" algn="l" defTabSz="606425" rtl="0" eaLnBrk="1" fontAlgn="base" hangingPunct="1">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4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400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548" indent="-304776" algn="l" defTabSz="609555" rtl="0" eaLnBrk="1" latinLnBrk="0" hangingPunct="1">
        <a:spcBef>
          <a:spcPct val="20000"/>
        </a:spcBef>
        <a:buFont typeface="Arial"/>
        <a:buChar char="•"/>
        <a:defRPr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55" rtl="0" eaLnBrk="1" latinLnBrk="0" hangingPunct="1">
        <a:defRPr sz="2400" kern="1200">
          <a:solidFill>
            <a:schemeClr val="tx1"/>
          </a:solidFill>
          <a:latin typeface="+mn-lt"/>
          <a:ea typeface="+mn-ea"/>
          <a:cs typeface="+mn-cs"/>
        </a:defRPr>
      </a:lvl1pPr>
      <a:lvl2pPr marL="609555" algn="l" defTabSz="609555" rtl="0" eaLnBrk="1" latinLnBrk="0" hangingPunct="1">
        <a:defRPr sz="2400" kern="1200">
          <a:solidFill>
            <a:schemeClr val="tx1"/>
          </a:solidFill>
          <a:latin typeface="+mn-lt"/>
          <a:ea typeface="+mn-ea"/>
          <a:cs typeface="+mn-cs"/>
        </a:defRPr>
      </a:lvl2pPr>
      <a:lvl3pPr marL="1219110" algn="l" defTabSz="609555" rtl="0" eaLnBrk="1" latinLnBrk="0" hangingPunct="1">
        <a:defRPr sz="2400" kern="1200">
          <a:solidFill>
            <a:schemeClr val="tx1"/>
          </a:solidFill>
          <a:latin typeface="+mn-lt"/>
          <a:ea typeface="+mn-ea"/>
          <a:cs typeface="+mn-cs"/>
        </a:defRPr>
      </a:lvl3pPr>
      <a:lvl4pPr marL="1828664" algn="l" defTabSz="609555" rtl="0" eaLnBrk="1" latinLnBrk="0" hangingPunct="1">
        <a:defRPr sz="2400" kern="1200">
          <a:solidFill>
            <a:schemeClr val="tx1"/>
          </a:solidFill>
          <a:latin typeface="+mn-lt"/>
          <a:ea typeface="+mn-ea"/>
          <a:cs typeface="+mn-cs"/>
        </a:defRPr>
      </a:lvl4pPr>
      <a:lvl5pPr marL="2438218" algn="l" defTabSz="609555" rtl="0" eaLnBrk="1" latinLnBrk="0" hangingPunct="1">
        <a:defRPr sz="2400" kern="1200">
          <a:solidFill>
            <a:schemeClr val="tx1"/>
          </a:solidFill>
          <a:latin typeface="+mn-lt"/>
          <a:ea typeface="+mn-ea"/>
          <a:cs typeface="+mn-cs"/>
        </a:defRPr>
      </a:lvl5pPr>
      <a:lvl6pPr marL="3047772" algn="l" defTabSz="609555" rtl="0" eaLnBrk="1" latinLnBrk="0" hangingPunct="1">
        <a:defRPr sz="2400" kern="1200">
          <a:solidFill>
            <a:schemeClr val="tx1"/>
          </a:solidFill>
          <a:latin typeface="+mn-lt"/>
          <a:ea typeface="+mn-ea"/>
          <a:cs typeface="+mn-cs"/>
        </a:defRPr>
      </a:lvl6pPr>
      <a:lvl7pPr marL="3657327" algn="l" defTabSz="609555" rtl="0" eaLnBrk="1" latinLnBrk="0" hangingPunct="1">
        <a:defRPr sz="2400" kern="1200">
          <a:solidFill>
            <a:schemeClr val="tx1"/>
          </a:solidFill>
          <a:latin typeface="+mn-lt"/>
          <a:ea typeface="+mn-ea"/>
          <a:cs typeface="+mn-cs"/>
        </a:defRPr>
      </a:lvl7pPr>
      <a:lvl8pPr marL="4266880" algn="l" defTabSz="609555" rtl="0" eaLnBrk="1" latinLnBrk="0" hangingPunct="1">
        <a:defRPr sz="2400" kern="1200">
          <a:solidFill>
            <a:schemeClr val="tx1"/>
          </a:solidFill>
          <a:latin typeface="+mn-lt"/>
          <a:ea typeface="+mn-ea"/>
          <a:cs typeface="+mn-cs"/>
        </a:defRPr>
      </a:lvl8pPr>
      <a:lvl9pPr marL="4876435" algn="l" defTabSz="609555"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2/5/2026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2958832094"/>
      </p:ext>
    </p:extLst>
  </p:cSld>
  <p:clrMap bg1="lt1" tx1="dk1" bg2="lt2" tx2="dk2" accent1="accent1" accent2="accent2" accent3="accent3" accent4="accent4" accent5="accent5" accent6="accent6" hlink="hlink" folHlink="folHlink"/>
  <p:sldLayoutIdLst>
    <p:sldLayoutId id="214748366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16.xml"/><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16.xml"/><Relationship Id="rId4" Type="http://schemas.openxmlformats.org/officeDocument/2006/relationships/image" Target="../media/image7.jpe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16.xml"/><Relationship Id="rId4" Type="http://schemas.openxmlformats.org/officeDocument/2006/relationships/image" Target="../media/image7.jpe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16.xml"/><Relationship Id="rId4" Type="http://schemas.openxmlformats.org/officeDocument/2006/relationships/chart" Target="../charts/chart1.xml"/></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16.xml"/><Relationship Id="rId6" Type="http://schemas.openxmlformats.org/officeDocument/2006/relationships/image" Target="../media/image7.jpeg"/><Relationship Id="rId5" Type="http://schemas.openxmlformats.org/officeDocument/2006/relationships/image" Target="../media/image32.png"/><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16.xml"/><Relationship Id="rId5" Type="http://schemas.openxmlformats.org/officeDocument/2006/relationships/image" Target="../media/image35.png"/><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16.xml"/><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5.xml"/><Relationship Id="rId1" Type="http://schemas.openxmlformats.org/officeDocument/2006/relationships/slideLayout" Target="../slideLayouts/slideLayout17.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22.xml"/><Relationship Id="rId5" Type="http://schemas.openxmlformats.org/officeDocument/2006/relationships/hyperlink" Target="https://pixabay.com/?utm_source=link-attribution&amp;utm_medium=referral&amp;utm_campaign=image&amp;utm_content=3591573" TargetMode="External"/><Relationship Id="rId4" Type="http://schemas.openxmlformats.org/officeDocument/2006/relationships/hyperlink" Target="https://pixabay.com/users/geralt-9301/?utm_source=link-attribution&amp;utm_medium=referral&amp;utm_campaign=image&amp;utm_content=3591573"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3.xml"/></Relationships>
</file>

<file path=ppt/slides/_rels/slide2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4.xml"/><Relationship Id="rId1" Type="http://schemas.openxmlformats.org/officeDocument/2006/relationships/slideLayout" Target="../slideLayouts/slideLayout34.xml"/><Relationship Id="rId4" Type="http://schemas.openxmlformats.org/officeDocument/2006/relationships/hyperlink" Target="mailto:adnan.aslam@uwe.ac.u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F4C6A-CA2E-4C35-8BA5-916C10203F2E}"/>
              </a:ext>
            </a:extLst>
          </p:cNvPr>
          <p:cNvSpPr>
            <a:spLocks noGrp="1"/>
          </p:cNvSpPr>
          <p:nvPr>
            <p:ph type="title"/>
          </p:nvPr>
        </p:nvSpPr>
        <p:spPr>
          <a:xfrm>
            <a:off x="2208093" y="2999058"/>
            <a:ext cx="5689524" cy="2089585"/>
          </a:xfrm>
        </p:spPr>
        <p:txBody>
          <a:bodyPr>
            <a:normAutofit/>
          </a:bodyPr>
          <a:lstStyle/>
          <a:p>
            <a:r>
              <a:rPr lang="en-GB" sz="4400" b="1" dirty="0">
                <a:ea typeface="ＭＳ Ｐゴシック"/>
              </a:rPr>
              <a:t>Capital Structure - Theory &amp; calculations</a:t>
            </a:r>
            <a:endParaRPr lang="en-GB" sz="4400" b="1" dirty="0"/>
          </a:p>
        </p:txBody>
      </p:sp>
      <p:sp>
        <p:nvSpPr>
          <p:cNvPr id="3" name="Text Placeholder 2">
            <a:extLst>
              <a:ext uri="{FF2B5EF4-FFF2-40B4-BE49-F238E27FC236}">
                <a16:creationId xmlns:a16="http://schemas.microsoft.com/office/drawing/2014/main" id="{876BE806-4523-4FEC-B19F-B5D4FF00D6A6}"/>
              </a:ext>
            </a:extLst>
          </p:cNvPr>
          <p:cNvSpPr>
            <a:spLocks noGrp="1"/>
          </p:cNvSpPr>
          <p:nvPr>
            <p:ph type="body" sz="quarter" idx="15"/>
          </p:nvPr>
        </p:nvSpPr>
        <p:spPr>
          <a:xfrm>
            <a:off x="395536" y="1915479"/>
            <a:ext cx="1219139" cy="269081"/>
          </a:xfrm>
        </p:spPr>
        <p:txBody>
          <a:bodyPr/>
          <a:lstStyle/>
          <a:p>
            <a:endParaRPr lang="en-GB"/>
          </a:p>
        </p:txBody>
      </p:sp>
      <p:sp>
        <p:nvSpPr>
          <p:cNvPr id="4" name="Text Placeholder 3">
            <a:extLst>
              <a:ext uri="{FF2B5EF4-FFF2-40B4-BE49-F238E27FC236}">
                <a16:creationId xmlns:a16="http://schemas.microsoft.com/office/drawing/2014/main" id="{FA5FC82F-1F0B-4D11-BC78-0C43FDE0F394}"/>
              </a:ext>
            </a:extLst>
          </p:cNvPr>
          <p:cNvSpPr>
            <a:spLocks noGrp="1"/>
          </p:cNvSpPr>
          <p:nvPr>
            <p:ph type="body" sz="quarter" idx="16"/>
          </p:nvPr>
        </p:nvSpPr>
        <p:spPr>
          <a:xfrm>
            <a:off x="212035" y="2382068"/>
            <a:ext cx="1605609" cy="345828"/>
          </a:xfrm>
        </p:spPr>
        <p:txBody>
          <a:bodyPr/>
          <a:lstStyle/>
          <a:p>
            <a:pPr>
              <a:lnSpc>
                <a:spcPct val="100000"/>
              </a:lnSpc>
            </a:pPr>
            <a:r>
              <a:rPr lang="en-GB" dirty="0"/>
              <a:t>Dr Adnan Aslam</a:t>
            </a:r>
          </a:p>
          <a:p>
            <a:pPr>
              <a:lnSpc>
                <a:spcPct val="100000"/>
              </a:lnSpc>
            </a:pPr>
            <a:endParaRPr lang="en-GB" dirty="0"/>
          </a:p>
          <a:p>
            <a:pPr>
              <a:lnSpc>
                <a:spcPct val="100000"/>
              </a:lnSpc>
            </a:pPr>
            <a:endParaRPr lang="en-GB" dirty="0"/>
          </a:p>
          <a:p>
            <a:pPr>
              <a:lnSpc>
                <a:spcPct val="100000"/>
              </a:lnSpc>
            </a:pPr>
            <a:r>
              <a:rPr lang="en-GB" dirty="0"/>
              <a:t>      Lecture 10</a:t>
            </a:r>
          </a:p>
        </p:txBody>
      </p:sp>
      <p:sp>
        <p:nvSpPr>
          <p:cNvPr id="7" name="Rectangle 6"/>
          <p:cNvSpPr/>
          <p:nvPr/>
        </p:nvSpPr>
        <p:spPr>
          <a:xfrm>
            <a:off x="1987366" y="1915479"/>
            <a:ext cx="7156634" cy="430887"/>
          </a:xfrm>
          <a:prstGeom prst="rect">
            <a:avLst/>
          </a:prstGeom>
        </p:spPr>
        <p:txBody>
          <a:bodyPr wrap="square" lIns="91440" tIns="45720" rIns="91440" bIns="45720" anchor="t">
            <a:spAutoFit/>
          </a:bodyPr>
          <a:lstStyle/>
          <a:p>
            <a:r>
              <a:rPr lang="en-GB" sz="2200" dirty="0">
                <a:solidFill>
                  <a:schemeClr val="bg1"/>
                </a:solidFill>
                <a:latin typeface="+mn-lt"/>
                <a:ea typeface="ＭＳ Ｐゴシック"/>
              </a:rPr>
              <a:t>UMET9G-30-1: Accounting and Finance for Decision Making</a:t>
            </a:r>
            <a:endParaRPr lang="en-GB" sz="2200" dirty="0">
              <a:solidFill>
                <a:schemeClr val="bg1"/>
              </a:solidFill>
              <a:latin typeface="+mn-lt"/>
              <a:ea typeface="ＭＳ Ｐゴシック"/>
              <a:cs typeface="Calibri"/>
            </a:endParaRPr>
          </a:p>
        </p:txBody>
      </p:sp>
      <p:sp>
        <p:nvSpPr>
          <p:cNvPr id="6" name="Text Placeholder 5">
            <a:extLst>
              <a:ext uri="{FF2B5EF4-FFF2-40B4-BE49-F238E27FC236}">
                <a16:creationId xmlns:a16="http://schemas.microsoft.com/office/drawing/2014/main" id="{4A40E439-7964-4999-89C0-DBC132DF1138}"/>
              </a:ext>
            </a:extLst>
          </p:cNvPr>
          <p:cNvSpPr txBox="1">
            <a:spLocks/>
          </p:cNvSpPr>
          <p:nvPr/>
        </p:nvSpPr>
        <p:spPr>
          <a:xfrm>
            <a:off x="598505" y="5373216"/>
            <a:ext cx="1219139" cy="345828"/>
          </a:xfrm>
          <a:prstGeom prst="rect">
            <a:avLst/>
          </a:prstGeom>
        </p:spPr>
        <p:txBody>
          <a:bodyPr lIns="0" tIns="0" rIns="0" bIns="0" anchor="t"/>
          <a:lstStyle>
            <a:lvl1pPr marL="0" indent="0" algn="l" defTabSz="606425" rtl="0" eaLnBrk="1" fontAlgn="base" hangingPunct="1">
              <a:lnSpc>
                <a:spcPts val="1300"/>
              </a:lnSpc>
              <a:spcBef>
                <a:spcPts val="0"/>
              </a:spcBef>
              <a:spcAft>
                <a:spcPct val="0"/>
              </a:spcAft>
              <a:buFontTx/>
              <a:buNone/>
              <a:defRPr sz="1600" b="0" i="0" kern="1200">
                <a:solidFill>
                  <a:schemeClr val="bg1"/>
                </a:solidFill>
                <a:latin typeface="+mn-lt"/>
                <a:ea typeface="Tahoma"/>
                <a:cs typeface="Tahoma"/>
              </a:defRPr>
            </a:lvl1pPr>
            <a:lvl2pPr marL="987425" indent="-377825" algn="l" defTabSz="606425" rtl="0" eaLnBrk="1" fontAlgn="base" hangingPunct="1">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825" indent="-301625" algn="l" defTabSz="606425" rtl="0" eaLnBrk="1" fontAlgn="base" hangingPunct="1">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4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400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548" indent="-304776" algn="l" defTabSz="609555" rtl="0" eaLnBrk="1" latinLnBrk="0" hangingPunct="1">
              <a:spcBef>
                <a:spcPct val="20000"/>
              </a:spcBef>
              <a:buFont typeface="Arial"/>
              <a:buChar char="•"/>
              <a:defRPr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sz="2667" kern="1200">
                <a:solidFill>
                  <a:schemeClr val="tx1"/>
                </a:solidFill>
                <a:latin typeface="+mn-lt"/>
                <a:ea typeface="+mn-ea"/>
                <a:cs typeface="+mn-cs"/>
              </a:defRPr>
            </a:lvl9pPr>
          </a:lstStyle>
          <a:p>
            <a:r>
              <a:rPr lang="en-GB" dirty="0"/>
              <a:t>Feb 2026</a:t>
            </a:r>
          </a:p>
          <a:p>
            <a:endParaRPr lang="en-GB" dirty="0"/>
          </a:p>
        </p:txBody>
      </p:sp>
    </p:spTree>
    <p:extLst>
      <p:ext uri="{BB962C8B-B14F-4D97-AF65-F5344CB8AC3E}">
        <p14:creationId xmlns:p14="http://schemas.microsoft.com/office/powerpoint/2010/main" val="916755648"/>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29CB3-07AE-46B0-9EA3-A7C2336FF877}"/>
              </a:ext>
            </a:extLst>
          </p:cNvPr>
          <p:cNvSpPr>
            <a:spLocks noGrp="1"/>
          </p:cNvSpPr>
          <p:nvPr>
            <p:ph type="title"/>
          </p:nvPr>
        </p:nvSpPr>
        <p:spPr/>
        <p:txBody>
          <a:bodyPr>
            <a:normAutofit/>
          </a:bodyPr>
          <a:lstStyle/>
          <a:p>
            <a:r>
              <a:rPr lang="en-GB" dirty="0">
                <a:solidFill>
                  <a:srgbClr val="1A9DAC"/>
                </a:solidFill>
                <a:ea typeface="ＭＳ Ｐゴシック"/>
                <a:cs typeface="+mn-cs"/>
              </a:rPr>
              <a:t>Learning outcomes</a:t>
            </a:r>
          </a:p>
        </p:txBody>
      </p:sp>
      <p:sp>
        <p:nvSpPr>
          <p:cNvPr id="3" name="Text Placeholder 2">
            <a:extLst>
              <a:ext uri="{FF2B5EF4-FFF2-40B4-BE49-F238E27FC236}">
                <a16:creationId xmlns:a16="http://schemas.microsoft.com/office/drawing/2014/main" id="{6C5278A3-A270-477E-B923-11BF19F6CF95}"/>
              </a:ext>
            </a:extLst>
          </p:cNvPr>
          <p:cNvSpPr>
            <a:spLocks noGrp="1"/>
          </p:cNvSpPr>
          <p:nvPr>
            <p:ph type="body" sz="quarter" idx="11"/>
          </p:nvPr>
        </p:nvSpPr>
        <p:spPr>
          <a:xfrm>
            <a:off x="501724" y="1544595"/>
            <a:ext cx="8285089" cy="4213655"/>
          </a:xfrm>
        </p:spPr>
        <p:txBody>
          <a:bodyPr lIns="0" tIns="0" rIns="0" bIns="0" anchor="t"/>
          <a:lstStyle/>
          <a:p>
            <a:pPr marL="0" indent="0">
              <a:lnSpc>
                <a:spcPct val="150000"/>
              </a:lnSpc>
              <a:buNone/>
            </a:pPr>
            <a:r>
              <a:rPr lang="en-GB" sz="2000" b="1" dirty="0">
                <a:ea typeface="Tahoma"/>
                <a:cs typeface="Tahoma"/>
              </a:rPr>
              <a:t>By the end of the session, students will be able to:</a:t>
            </a:r>
          </a:p>
          <a:p>
            <a:pPr>
              <a:lnSpc>
                <a:spcPct val="150000"/>
              </a:lnSpc>
              <a:buClr>
                <a:srgbClr val="1C9DAC"/>
              </a:buClr>
            </a:pPr>
            <a:r>
              <a:rPr lang="en-GB" sz="2000" dirty="0">
                <a:ea typeface="Tahoma"/>
                <a:cs typeface="Tahoma"/>
              </a:rPr>
              <a:t>Explain the concept and components of the Weighted Average Cost of Capital (WACC).</a:t>
            </a:r>
          </a:p>
          <a:p>
            <a:pPr>
              <a:lnSpc>
                <a:spcPct val="150000"/>
              </a:lnSpc>
              <a:buClr>
                <a:srgbClr val="1C9DAC"/>
              </a:buClr>
            </a:pPr>
            <a:r>
              <a:rPr lang="en-GB" sz="2000" dirty="0">
                <a:ea typeface="Tahoma"/>
                <a:cs typeface="Tahoma"/>
              </a:rPr>
              <a:t>Perform WACC calculations using appropriate market-based data.</a:t>
            </a:r>
          </a:p>
          <a:p>
            <a:pPr>
              <a:lnSpc>
                <a:spcPct val="150000"/>
              </a:lnSpc>
              <a:buClr>
                <a:srgbClr val="1C9DAC"/>
              </a:buClr>
            </a:pPr>
            <a:r>
              <a:rPr lang="en-GB" sz="2000" dirty="0">
                <a:ea typeface="Tahoma"/>
                <a:cs typeface="Tahoma"/>
              </a:rPr>
              <a:t>Assess the effects of capital structure and financial leverage on firm value and shareholder returns.</a:t>
            </a:r>
          </a:p>
          <a:p>
            <a:pPr>
              <a:lnSpc>
                <a:spcPct val="150000"/>
              </a:lnSpc>
              <a:buClr>
                <a:srgbClr val="1C9DAC"/>
              </a:buClr>
            </a:pPr>
            <a:r>
              <a:rPr lang="en-GB" sz="2000" dirty="0">
                <a:ea typeface="Tahoma"/>
                <a:cs typeface="Tahoma"/>
              </a:rPr>
              <a:t>Compare key capital structure theories (Trade-Off and Pecking Order) and their practical relevance.</a:t>
            </a:r>
          </a:p>
        </p:txBody>
      </p:sp>
    </p:spTree>
    <p:extLst>
      <p:ext uri="{BB962C8B-B14F-4D97-AF65-F5344CB8AC3E}">
        <p14:creationId xmlns:p14="http://schemas.microsoft.com/office/powerpoint/2010/main" val="11964038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 y="966888"/>
            <a:ext cx="7886700" cy="634117"/>
          </a:xfrm>
        </p:spPr>
        <p:txBody>
          <a:bodyPr>
            <a:normAutofit/>
          </a:bodyPr>
          <a:lstStyle/>
          <a:p>
            <a:r>
              <a:rPr lang="en-GB" dirty="0"/>
              <a:t>Capital Structure</a:t>
            </a:r>
          </a:p>
        </p:txBody>
      </p:sp>
      <p:sp>
        <p:nvSpPr>
          <p:cNvPr id="3" name="Content Placeholder 2"/>
          <p:cNvSpPr>
            <a:spLocks noGrp="1"/>
          </p:cNvSpPr>
          <p:nvPr>
            <p:ph idx="1"/>
          </p:nvPr>
        </p:nvSpPr>
        <p:spPr>
          <a:xfrm>
            <a:off x="266700" y="1704975"/>
            <a:ext cx="8591550" cy="4005722"/>
          </a:xfrm>
        </p:spPr>
        <p:txBody>
          <a:bodyPr>
            <a:noAutofit/>
          </a:bodyPr>
          <a:lstStyle/>
          <a:p>
            <a:pPr lvl="0">
              <a:buClr>
                <a:srgbClr val="C00000"/>
              </a:buClr>
              <a:buSzPct val="90000"/>
            </a:pPr>
            <a:r>
              <a:rPr lang="en-GB" sz="2000" dirty="0">
                <a:solidFill>
                  <a:schemeClr val="accent5">
                    <a:lumMod val="75000"/>
                  </a:schemeClr>
                </a:solidFill>
              </a:rPr>
              <a:t>Capital structure </a:t>
            </a:r>
            <a:r>
              <a:rPr lang="en-GB" sz="2000" dirty="0"/>
              <a:t>is the mix of equity and debt the company has</a:t>
            </a:r>
          </a:p>
          <a:p>
            <a:pPr lvl="0">
              <a:buClr>
                <a:srgbClr val="C00000"/>
              </a:buClr>
              <a:buSzPct val="90000"/>
            </a:pPr>
            <a:r>
              <a:rPr lang="en-GB" sz="2000" dirty="0"/>
              <a:t>The </a:t>
            </a:r>
            <a:r>
              <a:rPr lang="en-GB" sz="2000" dirty="0">
                <a:solidFill>
                  <a:schemeClr val="accent5">
                    <a:lumMod val="75000"/>
                  </a:schemeClr>
                </a:solidFill>
              </a:rPr>
              <a:t>Pie charts </a:t>
            </a:r>
            <a:r>
              <a:rPr lang="en-GB" sz="2000" dirty="0"/>
              <a:t>illustrate the capital structure of the companies:</a:t>
            </a:r>
          </a:p>
          <a:p>
            <a:pPr lvl="0">
              <a:buClr>
                <a:srgbClr val="C00000"/>
              </a:buClr>
              <a:buSzPct val="90000"/>
            </a:pPr>
            <a:endParaRPr lang="en-GB" sz="2000" dirty="0"/>
          </a:p>
          <a:p>
            <a:pPr lvl="0">
              <a:buClr>
                <a:srgbClr val="C00000"/>
              </a:buClr>
              <a:buSzPct val="90000"/>
            </a:pPr>
            <a:endParaRPr lang="en-GB" sz="2000" dirty="0"/>
          </a:p>
          <a:p>
            <a:pPr marL="0" indent="0">
              <a:buClr>
                <a:srgbClr val="C00000"/>
              </a:buClr>
              <a:buSzPct val="90000"/>
              <a:buNone/>
            </a:pPr>
            <a:endParaRPr lang="en-GB" sz="2000" dirty="0"/>
          </a:p>
          <a:p>
            <a:pPr lvl="0">
              <a:buClr>
                <a:srgbClr val="C00000"/>
              </a:buClr>
              <a:buSzPct val="90000"/>
            </a:pPr>
            <a:endParaRPr lang="en-GB" sz="2000" dirty="0"/>
          </a:p>
          <a:p>
            <a:pPr lvl="0">
              <a:buClr>
                <a:srgbClr val="C00000"/>
              </a:buClr>
              <a:buSzPct val="90000"/>
            </a:pPr>
            <a:endParaRPr lang="en-GB" sz="2000" dirty="0"/>
          </a:p>
          <a:p>
            <a:pPr lvl="0">
              <a:buClr>
                <a:srgbClr val="C00000"/>
              </a:buClr>
              <a:buSzPct val="90000"/>
            </a:pPr>
            <a:endParaRPr lang="en-GB" sz="2000" dirty="0"/>
          </a:p>
          <a:p>
            <a:pPr lvl="0">
              <a:buClr>
                <a:srgbClr val="C00000"/>
              </a:buClr>
              <a:buSzPct val="90000"/>
            </a:pPr>
            <a:endParaRPr lang="en-GB" sz="2000" dirty="0"/>
          </a:p>
          <a:p>
            <a:pPr lvl="0">
              <a:buClr>
                <a:srgbClr val="C00000"/>
              </a:buClr>
              <a:buSzPct val="90000"/>
            </a:pPr>
            <a:endParaRPr lang="en-GB" sz="2000" dirty="0"/>
          </a:p>
          <a:p>
            <a:pPr lvl="0">
              <a:buClr>
                <a:srgbClr val="C00000"/>
              </a:buClr>
              <a:buSzPct val="90000"/>
            </a:pPr>
            <a:r>
              <a:rPr lang="en-GB" sz="2000" dirty="0"/>
              <a:t>A company that has debt in its capital structure is called a </a:t>
            </a:r>
            <a:r>
              <a:rPr lang="en-GB" sz="2000" dirty="0">
                <a:solidFill>
                  <a:srgbClr val="C00000"/>
                </a:solidFill>
              </a:rPr>
              <a:t>leveraged/geared </a:t>
            </a:r>
            <a:r>
              <a:rPr lang="en-GB" sz="2000" dirty="0"/>
              <a:t>company</a:t>
            </a:r>
          </a:p>
          <a:p>
            <a:pPr marL="0" indent="0">
              <a:buClr>
                <a:srgbClr val="C00000"/>
              </a:buClr>
              <a:buSzPct val="90000"/>
              <a:buNone/>
            </a:pPr>
            <a:endParaRPr lang="en-GB" sz="2000" dirty="0"/>
          </a:p>
        </p:txBody>
      </p:sp>
      <p:sp>
        <p:nvSpPr>
          <p:cNvPr id="4" name="Slide Number Placeholder 3"/>
          <p:cNvSpPr>
            <a:spLocks noGrp="1"/>
          </p:cNvSpPr>
          <p:nvPr>
            <p:ph type="sldNum" sz="quarter" idx="12"/>
          </p:nvPr>
        </p:nvSpPr>
        <p:spPr>
          <a:xfrm>
            <a:off x="8548754" y="5710698"/>
            <a:ext cx="679467" cy="405323"/>
          </a:xfrm>
          <a:ln w="12700"/>
        </p:spPr>
        <p:txBody>
          <a:bodyPr/>
          <a:lstStyle/>
          <a:p>
            <a:fld id="{0F99C4FB-888A-4D12-A1C4-C744D94026CD}" type="slidenum">
              <a:rPr lang="en-GB" sz="1350">
                <a:solidFill>
                  <a:schemeClr val="tx1">
                    <a:lumMod val="50000"/>
                    <a:lumOff val="50000"/>
                  </a:schemeClr>
                </a:solidFill>
              </a:rPr>
              <a:t>3</a:t>
            </a:fld>
            <a:endParaRPr lang="en-GB" sz="1350" dirty="0">
              <a:solidFill>
                <a:schemeClr val="tx1">
                  <a:lumMod val="50000"/>
                  <a:lumOff val="50000"/>
                </a:schemeClr>
              </a:solidFill>
            </a:endParaRPr>
          </a:p>
        </p:txBody>
      </p:sp>
      <p:pic>
        <p:nvPicPr>
          <p:cNvPr id="8" name="Picture 7">
            <a:extLst>
              <a:ext uri="{FF2B5EF4-FFF2-40B4-BE49-F238E27FC236}">
                <a16:creationId xmlns:a16="http://schemas.microsoft.com/office/drawing/2014/main" id="{0E623BE1-A93D-D23A-FF65-9A3399848EBC}"/>
              </a:ext>
            </a:extLst>
          </p:cNvPr>
          <p:cNvPicPr>
            <a:picLocks noChangeAspect="1"/>
          </p:cNvPicPr>
          <p:nvPr/>
        </p:nvPicPr>
        <p:blipFill>
          <a:blip r:embed="rId3"/>
          <a:stretch>
            <a:fillRect/>
          </a:stretch>
        </p:blipFill>
        <p:spPr>
          <a:xfrm>
            <a:off x="683879" y="2783655"/>
            <a:ext cx="7757191" cy="2203982"/>
          </a:xfrm>
          <a:prstGeom prst="rect">
            <a:avLst/>
          </a:prstGeom>
        </p:spPr>
      </p:pic>
    </p:spTree>
    <p:extLst>
      <p:ext uri="{BB962C8B-B14F-4D97-AF65-F5344CB8AC3E}">
        <p14:creationId xmlns:p14="http://schemas.microsoft.com/office/powerpoint/2010/main" val="1747271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CDF3B-A673-1CCE-699D-097D241A2168}"/>
              </a:ext>
            </a:extLst>
          </p:cNvPr>
          <p:cNvSpPr>
            <a:spLocks noGrp="1"/>
          </p:cNvSpPr>
          <p:nvPr>
            <p:ph type="title"/>
          </p:nvPr>
        </p:nvSpPr>
        <p:spPr>
          <a:xfrm>
            <a:off x="258536" y="1041603"/>
            <a:ext cx="7886700" cy="994172"/>
          </a:xfrm>
        </p:spPr>
        <p:txBody>
          <a:bodyPr/>
          <a:lstStyle/>
          <a:p>
            <a:r>
              <a:rPr lang="en-GB" dirty="0"/>
              <a:t>Different Structures</a:t>
            </a:r>
          </a:p>
        </p:txBody>
      </p:sp>
      <p:sp>
        <p:nvSpPr>
          <p:cNvPr id="3" name="Content Placeholder 2">
            <a:extLst>
              <a:ext uri="{FF2B5EF4-FFF2-40B4-BE49-F238E27FC236}">
                <a16:creationId xmlns:a16="http://schemas.microsoft.com/office/drawing/2014/main" id="{B233B062-502B-D044-34C2-B053AC7EBA12}"/>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C8E02DDD-7006-31F1-16B6-10D025A195D7}"/>
              </a:ext>
            </a:extLst>
          </p:cNvPr>
          <p:cNvPicPr>
            <a:picLocks noChangeAspect="1"/>
          </p:cNvPicPr>
          <p:nvPr/>
        </p:nvPicPr>
        <p:blipFill>
          <a:blip r:embed="rId2"/>
          <a:stretch>
            <a:fillRect/>
          </a:stretch>
        </p:blipFill>
        <p:spPr>
          <a:xfrm>
            <a:off x="586319" y="1540064"/>
            <a:ext cx="8011416" cy="2295665"/>
          </a:xfrm>
          <a:prstGeom prst="rect">
            <a:avLst/>
          </a:prstGeom>
        </p:spPr>
      </p:pic>
      <p:pic>
        <p:nvPicPr>
          <p:cNvPr id="7" name="Picture 6">
            <a:extLst>
              <a:ext uri="{FF2B5EF4-FFF2-40B4-BE49-F238E27FC236}">
                <a16:creationId xmlns:a16="http://schemas.microsoft.com/office/drawing/2014/main" id="{D5970913-C848-D0D5-B406-EB03E22CA700}"/>
              </a:ext>
            </a:extLst>
          </p:cNvPr>
          <p:cNvPicPr>
            <a:picLocks noChangeAspect="1"/>
          </p:cNvPicPr>
          <p:nvPr/>
        </p:nvPicPr>
        <p:blipFill>
          <a:blip r:embed="rId3"/>
          <a:stretch>
            <a:fillRect/>
          </a:stretch>
        </p:blipFill>
        <p:spPr>
          <a:xfrm>
            <a:off x="586319" y="4053215"/>
            <a:ext cx="8143553" cy="2551413"/>
          </a:xfrm>
          <a:prstGeom prst="rect">
            <a:avLst/>
          </a:prstGeom>
        </p:spPr>
      </p:pic>
    </p:spTree>
    <p:extLst>
      <p:ext uri="{BB962C8B-B14F-4D97-AF65-F5344CB8AC3E}">
        <p14:creationId xmlns:p14="http://schemas.microsoft.com/office/powerpoint/2010/main" val="17285934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C6334-BB41-44A5-879A-3395645954F0}"/>
              </a:ext>
            </a:extLst>
          </p:cNvPr>
          <p:cNvSpPr>
            <a:spLocks noGrp="1"/>
          </p:cNvSpPr>
          <p:nvPr>
            <p:ph type="title"/>
          </p:nvPr>
        </p:nvSpPr>
        <p:spPr>
          <a:xfrm>
            <a:off x="643689" y="776918"/>
            <a:ext cx="7886700" cy="720079"/>
          </a:xfrm>
        </p:spPr>
        <p:txBody>
          <a:bodyPr/>
          <a:lstStyle/>
          <a:p>
            <a:r>
              <a:rPr lang="en-GB" dirty="0">
                <a:solidFill>
                  <a:srgbClr val="1C9DAC"/>
                </a:solidFill>
                <a:ea typeface="ＭＳ Ｐゴシック"/>
              </a:rPr>
              <a:t>Introduction to capital cost concepts</a:t>
            </a:r>
          </a:p>
        </p:txBody>
      </p:sp>
      <p:sp>
        <p:nvSpPr>
          <p:cNvPr id="3" name="Content Placeholder 2">
            <a:extLst>
              <a:ext uri="{FF2B5EF4-FFF2-40B4-BE49-F238E27FC236}">
                <a16:creationId xmlns:a16="http://schemas.microsoft.com/office/drawing/2014/main" id="{F47CD6BA-2CDC-4F04-8C8A-4B68D47EEC65}"/>
              </a:ext>
            </a:extLst>
          </p:cNvPr>
          <p:cNvSpPr>
            <a:spLocks noGrp="1"/>
          </p:cNvSpPr>
          <p:nvPr>
            <p:ph sz="half" idx="1"/>
          </p:nvPr>
        </p:nvSpPr>
        <p:spPr>
          <a:xfrm>
            <a:off x="345989" y="1853513"/>
            <a:ext cx="8365525" cy="4807543"/>
          </a:xfrm>
        </p:spPr>
        <p:txBody>
          <a:bodyPr lIns="91440" tIns="45720" rIns="91440" bIns="45720" anchor="t">
            <a:normAutofit lnSpcReduction="10000"/>
          </a:bodyPr>
          <a:lstStyle/>
          <a:p>
            <a:pPr>
              <a:lnSpc>
                <a:spcPct val="150000"/>
              </a:lnSpc>
              <a:buClr>
                <a:srgbClr val="1C9DAC"/>
              </a:buClr>
            </a:pPr>
            <a:r>
              <a:rPr lang="en-GB" sz="2400" dirty="0"/>
              <a:t>The </a:t>
            </a:r>
            <a:r>
              <a:rPr lang="en-GB" sz="2400" b="1" dirty="0"/>
              <a:t>cost of capital </a:t>
            </a:r>
            <a:r>
              <a:rPr lang="en-GB" sz="2400" dirty="0"/>
              <a:t>is the </a:t>
            </a:r>
            <a:r>
              <a:rPr lang="en-GB" sz="2400" b="1" dirty="0"/>
              <a:t>required return </a:t>
            </a:r>
            <a:r>
              <a:rPr lang="en-GB" sz="2400" dirty="0"/>
              <a:t>a company </a:t>
            </a:r>
            <a:r>
              <a:rPr lang="en-GB" sz="2400" u="sng" dirty="0">
                <a:solidFill>
                  <a:srgbClr val="FF0000"/>
                </a:solidFill>
              </a:rPr>
              <a:t>MUST</a:t>
            </a:r>
            <a:r>
              <a:rPr lang="en-GB" sz="2400" dirty="0"/>
              <a:t> earn on its investments to maintain its market value and attract funding.</a:t>
            </a:r>
          </a:p>
          <a:p>
            <a:pPr marL="0" indent="0">
              <a:lnSpc>
                <a:spcPct val="150000"/>
              </a:lnSpc>
              <a:buClr>
                <a:srgbClr val="1C9DAC"/>
              </a:buClr>
              <a:buNone/>
            </a:pPr>
            <a:endParaRPr lang="en-GB" sz="2400" dirty="0"/>
          </a:p>
          <a:p>
            <a:pPr>
              <a:lnSpc>
                <a:spcPct val="150000"/>
              </a:lnSpc>
              <a:buClr>
                <a:srgbClr val="1C9DAC"/>
              </a:buClr>
            </a:pPr>
            <a:r>
              <a:rPr lang="en-GB" sz="2400" dirty="0">
                <a:ea typeface="ＭＳ Ｐゴシック"/>
              </a:rPr>
              <a:t>Why it matters: </a:t>
            </a:r>
          </a:p>
          <a:p>
            <a:pPr lvl="1">
              <a:lnSpc>
                <a:spcPct val="150000"/>
              </a:lnSpc>
              <a:buClr>
                <a:srgbClr val="1C9DAC"/>
              </a:buClr>
              <a:buFont typeface="Wingdings" panose="05000000000000000000" pitchFamily="2" charset="2"/>
              <a:buChar char="ü"/>
            </a:pPr>
            <a:r>
              <a:rPr lang="en-GB" sz="1900" dirty="0">
                <a:ea typeface="ＭＳ Ｐゴシック"/>
              </a:rPr>
              <a:t>minimum return investors (debt &amp; equity holders) expect</a:t>
            </a:r>
          </a:p>
          <a:p>
            <a:pPr lvl="1">
              <a:lnSpc>
                <a:spcPct val="150000"/>
              </a:lnSpc>
              <a:buClr>
                <a:srgbClr val="1C9DAC"/>
              </a:buClr>
              <a:buFont typeface="Wingdings" panose="05000000000000000000" pitchFamily="2" charset="2"/>
              <a:buChar char="ü"/>
            </a:pPr>
            <a:r>
              <a:rPr lang="en-GB" sz="1900" dirty="0">
                <a:ea typeface="ＭＳ Ｐゴシック"/>
              </a:rPr>
              <a:t>investment decisions and project evaluation</a:t>
            </a:r>
          </a:p>
          <a:p>
            <a:pPr lvl="1">
              <a:lnSpc>
                <a:spcPct val="150000"/>
              </a:lnSpc>
              <a:buClr>
                <a:srgbClr val="1C9DAC"/>
              </a:buClr>
              <a:buFont typeface="Wingdings" panose="05000000000000000000" pitchFamily="2" charset="2"/>
              <a:buChar char="ü"/>
            </a:pPr>
            <a:r>
              <a:rPr lang="en-GB" sz="1900" dirty="0">
                <a:ea typeface="ＭＳ Ｐゴシック"/>
              </a:rPr>
              <a:t>Helps firms evaluate debt vs equity funding</a:t>
            </a:r>
          </a:p>
          <a:p>
            <a:pPr lvl="1">
              <a:lnSpc>
                <a:spcPct val="150000"/>
              </a:lnSpc>
              <a:buClr>
                <a:srgbClr val="1C9DAC"/>
              </a:buClr>
              <a:buFont typeface="Wingdings" panose="05000000000000000000" pitchFamily="2" charset="2"/>
              <a:buChar char="ü"/>
            </a:pPr>
            <a:r>
              <a:rPr lang="en-GB" sz="1900" dirty="0">
                <a:ea typeface="ＭＳ Ｐゴシック"/>
              </a:rPr>
              <a:t>basis of calculating WACC</a:t>
            </a:r>
          </a:p>
        </p:txBody>
      </p:sp>
      <p:pic>
        <p:nvPicPr>
          <p:cNvPr id="5" name="Picture 4" descr="A hand holding a bag of money&#10;&#10;AI-generated content may be incorrect.">
            <a:extLst>
              <a:ext uri="{FF2B5EF4-FFF2-40B4-BE49-F238E27FC236}">
                <a16:creationId xmlns:a16="http://schemas.microsoft.com/office/drawing/2014/main" id="{23B4870B-5AC0-9D80-AFA6-8A1CB0EDF2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74765" y="3339202"/>
            <a:ext cx="1266825" cy="132397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9946079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23A24-E80E-A9CE-E26F-E9BE83938F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1FE3BD-CDC1-6510-B43C-9DDF9629359F}"/>
              </a:ext>
            </a:extLst>
          </p:cNvPr>
          <p:cNvSpPr>
            <a:spLocks noGrp="1"/>
          </p:cNvSpPr>
          <p:nvPr>
            <p:ph type="title"/>
          </p:nvPr>
        </p:nvSpPr>
        <p:spPr>
          <a:xfrm>
            <a:off x="643689" y="776918"/>
            <a:ext cx="7886700" cy="720079"/>
          </a:xfrm>
        </p:spPr>
        <p:txBody>
          <a:bodyPr/>
          <a:lstStyle/>
          <a:p>
            <a:r>
              <a:rPr lang="en-GB" dirty="0">
                <a:solidFill>
                  <a:srgbClr val="1C9DAC"/>
                </a:solidFill>
                <a:ea typeface="ＭＳ Ｐゴシック"/>
              </a:rPr>
              <a:t>Cost of Capital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966D138-9E44-3B96-29EE-B71AC91693BC}"/>
                  </a:ext>
                </a:extLst>
              </p:cNvPr>
              <p:cNvSpPr>
                <a:spLocks noGrp="1"/>
              </p:cNvSpPr>
              <p:nvPr>
                <p:ph sz="half" idx="1"/>
              </p:nvPr>
            </p:nvSpPr>
            <p:spPr>
              <a:xfrm>
                <a:off x="345989" y="1853513"/>
                <a:ext cx="8365525" cy="4309543"/>
              </a:xfrm>
            </p:spPr>
            <p:txBody>
              <a:bodyPr lIns="91440" tIns="45720" rIns="91440" bIns="45720" anchor="t">
                <a:normAutofit fontScale="77500" lnSpcReduction="20000"/>
              </a:bodyPr>
              <a:lstStyle/>
              <a:p>
                <a:pPr>
                  <a:lnSpc>
                    <a:spcPct val="150000"/>
                  </a:lnSpc>
                  <a:buClr>
                    <a:srgbClr val="1C9DAC"/>
                  </a:buClr>
                </a:pPr>
                <a:r>
                  <a:rPr lang="en-GB" sz="2400" dirty="0"/>
                  <a:t>This is given by the Weighted Average Cost of Capital, 𝑊𝐴𝐶𝐶, as:</a:t>
                </a:r>
              </a:p>
              <a:p>
                <a:pPr marL="0" indent="0">
                  <a:lnSpc>
                    <a:spcPct val="150000"/>
                  </a:lnSpc>
                  <a:buClr>
                    <a:srgbClr val="1C9DAC"/>
                  </a:buClr>
                  <a:buNone/>
                </a:pPr>
                <a14:m>
                  <m:oMathPara xmlns:m="http://schemas.openxmlformats.org/officeDocument/2006/math">
                    <m:oMathParaPr>
                      <m:jc m:val="centerGroup"/>
                    </m:oMathParaPr>
                    <m:oMath xmlns:m="http://schemas.openxmlformats.org/officeDocument/2006/math">
                      <m:r>
                        <m:rPr>
                          <m:sty m:val="p"/>
                        </m:rPr>
                        <a:rPr lang="en-GB" sz="2400">
                          <a:solidFill>
                            <a:schemeClr val="accent5">
                              <a:lumMod val="75000"/>
                            </a:schemeClr>
                          </a:solidFill>
                          <a:latin typeface="Cambria Math" panose="02040503050406030204" pitchFamily="18" charset="0"/>
                        </a:rPr>
                        <m:t>WACC</m:t>
                      </m:r>
                      <m:r>
                        <a:rPr lang="en-GB" sz="2400">
                          <a:solidFill>
                            <a:schemeClr val="accent5">
                              <a:lumMod val="75000"/>
                            </a:schemeClr>
                          </a:solidFill>
                          <a:latin typeface="Cambria Math" panose="02040503050406030204" pitchFamily="18" charset="0"/>
                        </a:rPr>
                        <m:t>=</m:t>
                      </m:r>
                      <m:f>
                        <m:fPr>
                          <m:ctrlPr>
                            <a:rPr lang="en-GB" sz="2400" i="1">
                              <a:solidFill>
                                <a:schemeClr val="accent5">
                                  <a:lumMod val="75000"/>
                                </a:schemeClr>
                              </a:solidFill>
                              <a:latin typeface="Cambria Math" panose="02040503050406030204" pitchFamily="18" charset="0"/>
                            </a:rPr>
                          </m:ctrlPr>
                        </m:fPr>
                        <m:num>
                          <m:r>
                            <m:rPr>
                              <m:sty m:val="p"/>
                            </m:rPr>
                            <a:rPr lang="en-GB" sz="2400">
                              <a:solidFill>
                                <a:schemeClr val="accent5">
                                  <a:lumMod val="75000"/>
                                </a:schemeClr>
                              </a:solidFill>
                              <a:latin typeface="Cambria Math" panose="02040503050406030204" pitchFamily="18" charset="0"/>
                            </a:rPr>
                            <m:t>D</m:t>
                          </m:r>
                        </m:num>
                        <m:den>
                          <m:r>
                            <m:rPr>
                              <m:sty m:val="p"/>
                            </m:rPr>
                            <a:rPr lang="en-GB" sz="2400">
                              <a:solidFill>
                                <a:schemeClr val="accent5">
                                  <a:lumMod val="75000"/>
                                </a:schemeClr>
                              </a:solidFill>
                              <a:latin typeface="Cambria Math" panose="02040503050406030204" pitchFamily="18" charset="0"/>
                            </a:rPr>
                            <m:t>E</m:t>
                          </m:r>
                          <m:r>
                            <a:rPr lang="en-GB" sz="2400">
                              <a:solidFill>
                                <a:schemeClr val="accent5">
                                  <a:lumMod val="75000"/>
                                </a:schemeClr>
                              </a:solidFill>
                              <a:latin typeface="Cambria Math" panose="02040503050406030204" pitchFamily="18" charset="0"/>
                            </a:rPr>
                            <m:t>+</m:t>
                          </m:r>
                          <m:r>
                            <m:rPr>
                              <m:sty m:val="p"/>
                            </m:rPr>
                            <a:rPr lang="en-GB" sz="2400">
                              <a:solidFill>
                                <a:schemeClr val="accent5">
                                  <a:lumMod val="75000"/>
                                </a:schemeClr>
                              </a:solidFill>
                              <a:latin typeface="Cambria Math" panose="02040503050406030204" pitchFamily="18" charset="0"/>
                            </a:rPr>
                            <m:t>D</m:t>
                          </m:r>
                        </m:den>
                      </m:f>
                      <m:r>
                        <a:rPr lang="en-GB" sz="2400">
                          <a:solidFill>
                            <a:schemeClr val="accent5">
                              <a:lumMod val="75000"/>
                            </a:schemeClr>
                          </a:solidFill>
                          <a:latin typeface="Cambria Math" panose="02040503050406030204" pitchFamily="18" charset="0"/>
                          <a:ea typeface="Cambria Math" panose="02040503050406030204" pitchFamily="18" charset="0"/>
                        </a:rPr>
                        <m:t>×</m:t>
                      </m:r>
                      <m:sSub>
                        <m:sSubPr>
                          <m:ctrlPr>
                            <a:rPr lang="en-GB" sz="2400" i="1">
                              <a:solidFill>
                                <a:schemeClr val="accent5">
                                  <a:lumMod val="75000"/>
                                </a:schemeClr>
                              </a:solidFill>
                              <a:latin typeface="Cambria Math" panose="02040503050406030204" pitchFamily="18" charset="0"/>
                              <a:ea typeface="Cambria Math" panose="02040503050406030204" pitchFamily="18" charset="0"/>
                            </a:rPr>
                          </m:ctrlPr>
                        </m:sSubPr>
                        <m:e>
                          <m:r>
                            <m:rPr>
                              <m:sty m:val="p"/>
                            </m:rPr>
                            <a:rPr lang="en-GB" sz="2400">
                              <a:solidFill>
                                <a:schemeClr val="accent5">
                                  <a:lumMod val="75000"/>
                                </a:schemeClr>
                              </a:solidFill>
                              <a:latin typeface="Cambria Math" panose="02040503050406030204" pitchFamily="18" charset="0"/>
                              <a:ea typeface="Cambria Math" panose="02040503050406030204" pitchFamily="18" charset="0"/>
                            </a:rPr>
                            <m:t>r</m:t>
                          </m:r>
                        </m:e>
                        <m:sub>
                          <m:r>
                            <m:rPr>
                              <m:sty m:val="p"/>
                            </m:rPr>
                            <a:rPr lang="en-GB" sz="2400">
                              <a:solidFill>
                                <a:schemeClr val="accent5">
                                  <a:lumMod val="75000"/>
                                </a:schemeClr>
                              </a:solidFill>
                              <a:latin typeface="Cambria Math" panose="02040503050406030204" pitchFamily="18" charset="0"/>
                              <a:ea typeface="Cambria Math" panose="02040503050406030204" pitchFamily="18" charset="0"/>
                            </a:rPr>
                            <m:t>D</m:t>
                          </m:r>
                        </m:sub>
                      </m:sSub>
                      <m:r>
                        <a:rPr lang="en-GB" sz="2400">
                          <a:solidFill>
                            <a:schemeClr val="accent5">
                              <a:lumMod val="75000"/>
                            </a:schemeClr>
                          </a:solidFill>
                          <a:latin typeface="Cambria Math" panose="02040503050406030204" pitchFamily="18" charset="0"/>
                          <a:ea typeface="Cambria Math" panose="02040503050406030204" pitchFamily="18" charset="0"/>
                        </a:rPr>
                        <m:t>+</m:t>
                      </m:r>
                      <m:f>
                        <m:fPr>
                          <m:ctrlPr>
                            <a:rPr lang="en-GB" sz="2400" i="1">
                              <a:solidFill>
                                <a:schemeClr val="accent5">
                                  <a:lumMod val="75000"/>
                                </a:schemeClr>
                              </a:solidFill>
                              <a:latin typeface="Cambria Math" panose="02040503050406030204" pitchFamily="18" charset="0"/>
                            </a:rPr>
                          </m:ctrlPr>
                        </m:fPr>
                        <m:num>
                          <m:r>
                            <m:rPr>
                              <m:sty m:val="p"/>
                            </m:rPr>
                            <a:rPr lang="en-GB" sz="2400">
                              <a:solidFill>
                                <a:schemeClr val="accent5">
                                  <a:lumMod val="75000"/>
                                </a:schemeClr>
                              </a:solidFill>
                              <a:latin typeface="Cambria Math" panose="02040503050406030204" pitchFamily="18" charset="0"/>
                            </a:rPr>
                            <m:t>E</m:t>
                          </m:r>
                        </m:num>
                        <m:den>
                          <m:r>
                            <m:rPr>
                              <m:sty m:val="p"/>
                            </m:rPr>
                            <a:rPr lang="en-GB" sz="2400">
                              <a:solidFill>
                                <a:schemeClr val="accent5">
                                  <a:lumMod val="75000"/>
                                </a:schemeClr>
                              </a:solidFill>
                              <a:latin typeface="Cambria Math" panose="02040503050406030204" pitchFamily="18" charset="0"/>
                            </a:rPr>
                            <m:t>E</m:t>
                          </m:r>
                          <m:r>
                            <a:rPr lang="en-GB" sz="2400">
                              <a:solidFill>
                                <a:schemeClr val="accent5">
                                  <a:lumMod val="75000"/>
                                </a:schemeClr>
                              </a:solidFill>
                              <a:latin typeface="Cambria Math" panose="02040503050406030204" pitchFamily="18" charset="0"/>
                            </a:rPr>
                            <m:t>+</m:t>
                          </m:r>
                          <m:r>
                            <m:rPr>
                              <m:sty m:val="p"/>
                            </m:rPr>
                            <a:rPr lang="en-GB" sz="2400">
                              <a:solidFill>
                                <a:schemeClr val="accent5">
                                  <a:lumMod val="75000"/>
                                </a:schemeClr>
                              </a:solidFill>
                              <a:latin typeface="Cambria Math" panose="02040503050406030204" pitchFamily="18" charset="0"/>
                            </a:rPr>
                            <m:t>D</m:t>
                          </m:r>
                        </m:den>
                      </m:f>
                      <m:r>
                        <a:rPr lang="en-GB" sz="2400">
                          <a:solidFill>
                            <a:schemeClr val="accent5">
                              <a:lumMod val="75000"/>
                            </a:schemeClr>
                          </a:solidFill>
                          <a:latin typeface="Cambria Math" panose="02040503050406030204" pitchFamily="18" charset="0"/>
                          <a:ea typeface="Cambria Math" panose="02040503050406030204" pitchFamily="18" charset="0"/>
                        </a:rPr>
                        <m:t>×</m:t>
                      </m:r>
                      <m:sSub>
                        <m:sSubPr>
                          <m:ctrlPr>
                            <a:rPr lang="en-GB" sz="2400" i="1">
                              <a:solidFill>
                                <a:schemeClr val="accent5">
                                  <a:lumMod val="75000"/>
                                </a:schemeClr>
                              </a:solidFill>
                              <a:latin typeface="Cambria Math" panose="02040503050406030204" pitchFamily="18" charset="0"/>
                              <a:ea typeface="Cambria Math" panose="02040503050406030204" pitchFamily="18" charset="0"/>
                            </a:rPr>
                          </m:ctrlPr>
                        </m:sSubPr>
                        <m:e>
                          <m:r>
                            <m:rPr>
                              <m:sty m:val="p"/>
                            </m:rPr>
                            <a:rPr lang="en-GB" sz="2400">
                              <a:solidFill>
                                <a:schemeClr val="accent5">
                                  <a:lumMod val="75000"/>
                                </a:schemeClr>
                              </a:solidFill>
                              <a:latin typeface="Cambria Math" panose="02040503050406030204" pitchFamily="18" charset="0"/>
                              <a:ea typeface="Cambria Math" panose="02040503050406030204" pitchFamily="18" charset="0"/>
                            </a:rPr>
                            <m:t>r</m:t>
                          </m:r>
                        </m:e>
                        <m:sub>
                          <m:r>
                            <m:rPr>
                              <m:sty m:val="p"/>
                            </m:rPr>
                            <a:rPr lang="en-GB" sz="2400">
                              <a:solidFill>
                                <a:schemeClr val="accent5">
                                  <a:lumMod val="75000"/>
                                </a:schemeClr>
                              </a:solidFill>
                              <a:latin typeface="Cambria Math" panose="02040503050406030204" pitchFamily="18" charset="0"/>
                              <a:ea typeface="Cambria Math" panose="02040503050406030204" pitchFamily="18" charset="0"/>
                            </a:rPr>
                            <m:t>E</m:t>
                          </m:r>
                        </m:sub>
                      </m:sSub>
                    </m:oMath>
                  </m:oMathPara>
                </a14:m>
                <a:endParaRPr lang="en-GB" sz="2400" dirty="0">
                  <a:solidFill>
                    <a:schemeClr val="accent5">
                      <a:lumMod val="75000"/>
                    </a:schemeClr>
                  </a:solidFill>
                  <a:cs typeface="Calibri" panose="020F0502020204030204" pitchFamily="34" charset="0"/>
                </a:endParaRPr>
              </a:p>
              <a:p>
                <a:pPr marL="0" indent="0">
                  <a:lnSpc>
                    <a:spcPct val="150000"/>
                  </a:lnSpc>
                  <a:buClr>
                    <a:srgbClr val="1C9DAC"/>
                  </a:buClr>
                  <a:buNone/>
                </a:pPr>
                <a:r>
                  <a:rPr lang="en-GB" sz="2400" dirty="0"/>
                  <a:t>NOTE: </a:t>
                </a:r>
                <a14:m>
                  <m:oMath xmlns:m="http://schemas.openxmlformats.org/officeDocument/2006/math">
                    <m:sSub>
                      <m:sSubPr>
                        <m:ctrlPr>
                          <a:rPr lang="en-GB" sz="2400" i="1">
                            <a:solidFill>
                              <a:schemeClr val="accent5">
                                <a:lumMod val="75000"/>
                              </a:schemeClr>
                            </a:solidFill>
                            <a:latin typeface="Cambria Math" panose="02040503050406030204" pitchFamily="18" charset="0"/>
                            <a:ea typeface="Cambria Math" panose="02040503050406030204" pitchFamily="18" charset="0"/>
                          </a:rPr>
                        </m:ctrlPr>
                      </m:sSubPr>
                      <m:e>
                        <m:r>
                          <m:rPr>
                            <m:sty m:val="p"/>
                          </m:rPr>
                          <a:rPr lang="en-GB" sz="2400">
                            <a:solidFill>
                              <a:schemeClr val="accent5">
                                <a:lumMod val="75000"/>
                              </a:schemeClr>
                            </a:solidFill>
                            <a:latin typeface="Cambria Math" panose="02040503050406030204" pitchFamily="18" charset="0"/>
                            <a:ea typeface="Cambria Math" panose="02040503050406030204" pitchFamily="18" charset="0"/>
                          </a:rPr>
                          <m:t>r</m:t>
                        </m:r>
                      </m:e>
                      <m:sub>
                        <m:r>
                          <m:rPr>
                            <m:sty m:val="p"/>
                          </m:rPr>
                          <a:rPr lang="en-GB" sz="2400">
                            <a:solidFill>
                              <a:schemeClr val="accent5">
                                <a:lumMod val="75000"/>
                              </a:schemeClr>
                            </a:solidFill>
                            <a:latin typeface="Cambria Math" panose="02040503050406030204" pitchFamily="18" charset="0"/>
                            <a:ea typeface="Cambria Math" panose="02040503050406030204" pitchFamily="18" charset="0"/>
                          </a:rPr>
                          <m:t>D</m:t>
                        </m:r>
                      </m:sub>
                    </m:sSub>
                    <m:r>
                      <a:rPr lang="en-GB" sz="2400" i="1">
                        <a:solidFill>
                          <a:schemeClr val="accent5">
                            <a:lumMod val="75000"/>
                          </a:schemeClr>
                        </a:solidFill>
                        <a:latin typeface="Cambria Math" panose="02040503050406030204" pitchFamily="18" charset="0"/>
                        <a:ea typeface="Cambria Math" panose="02040503050406030204" pitchFamily="18" charset="0"/>
                      </a:rPr>
                      <m:t> </m:t>
                    </m:r>
                  </m:oMath>
                </a14:m>
                <a:r>
                  <a:rPr lang="en-GB" sz="2400" dirty="0"/>
                  <a:t>must take into account the tax advantage </a:t>
                </a:r>
              </a:p>
              <a:p>
                <a:pPr marL="0" indent="0">
                  <a:lnSpc>
                    <a:spcPct val="150000"/>
                  </a:lnSpc>
                  <a:buClr>
                    <a:srgbClr val="1C9DAC"/>
                  </a:buClr>
                  <a:buNone/>
                </a:pPr>
                <a:endParaRPr lang="en-GB" sz="2400" dirty="0"/>
              </a:p>
              <a:p>
                <a:pPr>
                  <a:lnSpc>
                    <a:spcPct val="150000"/>
                  </a:lnSpc>
                  <a:buClr>
                    <a:srgbClr val="1C9DAC"/>
                  </a:buClr>
                </a:pPr>
                <a:r>
                  <a:rPr lang="en-GB" sz="2400" dirty="0">
                    <a:ea typeface="ＭＳ Ｐゴシック"/>
                  </a:rPr>
                  <a:t>The WACC represents the appropriate discount rate used for capital budgeting:</a:t>
                </a:r>
              </a:p>
              <a:p>
                <a:pPr lvl="1">
                  <a:lnSpc>
                    <a:spcPct val="150000"/>
                  </a:lnSpc>
                  <a:buClr>
                    <a:srgbClr val="1C9DAC"/>
                  </a:buClr>
                  <a:buFont typeface="Wingdings" panose="05000000000000000000" pitchFamily="2" charset="2"/>
                  <a:buChar char="ü"/>
                </a:pPr>
                <a:r>
                  <a:rPr lang="en-GB" sz="1900" dirty="0">
                    <a:ea typeface="ＭＳ Ｐゴシック"/>
                  </a:rPr>
                  <a:t>DPP</a:t>
                </a:r>
              </a:p>
              <a:p>
                <a:pPr lvl="1">
                  <a:lnSpc>
                    <a:spcPct val="150000"/>
                  </a:lnSpc>
                  <a:buClr>
                    <a:srgbClr val="1C9DAC"/>
                  </a:buClr>
                  <a:buFont typeface="Wingdings" panose="05000000000000000000" pitchFamily="2" charset="2"/>
                  <a:buChar char="ü"/>
                </a:pPr>
                <a:r>
                  <a:rPr lang="en-GB" sz="1900" dirty="0">
                    <a:ea typeface="ＭＳ Ｐゴシック"/>
                  </a:rPr>
                  <a:t>NPV decision rule</a:t>
                </a:r>
              </a:p>
              <a:p>
                <a:pPr lvl="1">
                  <a:lnSpc>
                    <a:spcPct val="150000"/>
                  </a:lnSpc>
                  <a:buClr>
                    <a:srgbClr val="1C9DAC"/>
                  </a:buClr>
                  <a:buFont typeface="Wingdings" panose="05000000000000000000" pitchFamily="2" charset="2"/>
                  <a:buChar char="ü"/>
                </a:pPr>
                <a:r>
                  <a:rPr lang="en-GB" sz="1900" dirty="0">
                    <a:ea typeface="ＭＳ Ｐゴシック"/>
                  </a:rPr>
                  <a:t>IRR decision rule</a:t>
                </a:r>
              </a:p>
              <a:p>
                <a:pPr lvl="1">
                  <a:lnSpc>
                    <a:spcPct val="150000"/>
                  </a:lnSpc>
                  <a:buClr>
                    <a:srgbClr val="1C9DAC"/>
                  </a:buClr>
                  <a:buFont typeface="Wingdings" panose="05000000000000000000" pitchFamily="2" charset="2"/>
                  <a:buChar char="ü"/>
                </a:pPr>
                <a:r>
                  <a:rPr lang="en-GB" sz="1900" dirty="0">
                    <a:ea typeface="ＭＳ Ｐゴシック"/>
                  </a:rPr>
                  <a:t>PI decision rule</a:t>
                </a:r>
              </a:p>
            </p:txBody>
          </p:sp>
        </mc:Choice>
        <mc:Fallback xmlns="">
          <p:sp>
            <p:nvSpPr>
              <p:cNvPr id="3" name="Content Placeholder 2">
                <a:extLst>
                  <a:ext uri="{FF2B5EF4-FFF2-40B4-BE49-F238E27FC236}">
                    <a16:creationId xmlns:a16="http://schemas.microsoft.com/office/drawing/2014/main" id="{E966D138-9E44-3B96-29EE-B71AC91693BC}"/>
                  </a:ext>
                </a:extLst>
              </p:cNvPr>
              <p:cNvSpPr>
                <a:spLocks noGrp="1" noRot="1" noChangeAspect="1" noMove="1" noResize="1" noEditPoints="1" noAdjustHandles="1" noChangeArrowheads="1" noChangeShapeType="1" noTextEdit="1"/>
              </p:cNvSpPr>
              <p:nvPr>
                <p:ph sz="half" idx="1"/>
              </p:nvPr>
            </p:nvSpPr>
            <p:spPr>
              <a:xfrm>
                <a:off x="345989" y="1853513"/>
                <a:ext cx="8365525" cy="4309543"/>
              </a:xfr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EE8C085-2A2C-C5B5-F383-618C8E66B723}"/>
                  </a:ext>
                </a:extLst>
              </p:cNvPr>
              <p:cNvSpPr txBox="1"/>
              <p:nvPr/>
            </p:nvSpPr>
            <p:spPr>
              <a:xfrm>
                <a:off x="5029200" y="4816542"/>
                <a:ext cx="3682313" cy="872034"/>
              </a:xfrm>
              <a:prstGeom prst="rect">
                <a:avLst/>
              </a:prstGeom>
              <a:noFill/>
            </p:spPr>
            <p:txBody>
              <a:bodyPr wrap="square" rtlCol="0">
                <a:spAutoFit/>
              </a:bodyPr>
              <a:lstStyle/>
              <a:p>
                <a:pPr marL="0" indent="0">
                  <a:lnSpc>
                    <a:spcPct val="150000"/>
                  </a:lnSpc>
                  <a:buClr>
                    <a:srgbClr val="C00000"/>
                  </a:buClr>
                  <a:buSzPct val="90000"/>
                  <a:buNone/>
                </a:pPr>
                <a14:m>
                  <m:oMath xmlns:m="http://schemas.openxmlformats.org/officeDocument/2006/math">
                    <m:r>
                      <a:rPr lang="en-GB" i="1">
                        <a:solidFill>
                          <a:srgbClr val="C00000"/>
                        </a:solidFill>
                        <a:latin typeface="Cambria Math" panose="02040503050406030204" pitchFamily="18" charset="0"/>
                        <a:ea typeface="Cambria Math" panose="02040503050406030204" pitchFamily="18" charset="0"/>
                        <a:cs typeface="Calibri" panose="020F0502020204030204" pitchFamily="34" charset="0"/>
                      </a:rPr>
                      <m:t>⇒</m:t>
                    </m:r>
                  </m:oMath>
                </a14:m>
                <a:r>
                  <a:rPr lang="en-GB" dirty="0">
                    <a:solidFill>
                      <a:schemeClr val="accent5">
                        <a:lumMod val="75000"/>
                      </a:schemeClr>
                    </a:solidFill>
                    <a:latin typeface="+mn-lt"/>
                    <a:cs typeface="Calibri" panose="020F0502020204030204" pitchFamily="34" charset="0"/>
                  </a:rPr>
                  <a:t> </a:t>
                </a:r>
                <a:r>
                  <a:rPr lang="en-GB" dirty="0">
                    <a:latin typeface="+mn-lt"/>
                    <a:cs typeface="Calibri" panose="020F0502020204030204" pitchFamily="34" charset="0"/>
                  </a:rPr>
                  <a:t>The company will prefer a lower cost of capital.</a:t>
                </a:r>
              </a:p>
            </p:txBody>
          </p:sp>
        </mc:Choice>
        <mc:Fallback xmlns="">
          <p:sp>
            <p:nvSpPr>
              <p:cNvPr id="4" name="TextBox 3">
                <a:extLst>
                  <a:ext uri="{FF2B5EF4-FFF2-40B4-BE49-F238E27FC236}">
                    <a16:creationId xmlns:a16="http://schemas.microsoft.com/office/drawing/2014/main" id="{4EE8C085-2A2C-C5B5-F383-618C8E66B723}"/>
                  </a:ext>
                </a:extLst>
              </p:cNvPr>
              <p:cNvSpPr txBox="1">
                <a:spLocks noRot="1" noChangeAspect="1" noMove="1" noResize="1" noEditPoints="1" noAdjustHandles="1" noChangeArrowheads="1" noChangeShapeType="1" noTextEdit="1"/>
              </p:cNvSpPr>
              <p:nvPr/>
            </p:nvSpPr>
            <p:spPr>
              <a:xfrm>
                <a:off x="5029200" y="4816542"/>
                <a:ext cx="3682313" cy="872034"/>
              </a:xfrm>
              <a:prstGeom prst="rect">
                <a:avLst/>
              </a:prstGeom>
              <a:blipFill>
                <a:blip r:embed="rId4"/>
                <a:stretch>
                  <a:fillRect l="-1325" b="-11189"/>
                </a:stretch>
              </a:blipFill>
            </p:spPr>
            <p:txBody>
              <a:bodyPr/>
              <a:lstStyle/>
              <a:p>
                <a:r>
                  <a:rPr lang="en-GB">
                    <a:noFill/>
                  </a:rPr>
                  <a:t> </a:t>
                </a:r>
              </a:p>
            </p:txBody>
          </p:sp>
        </mc:Fallback>
      </mc:AlternateContent>
    </p:spTree>
    <p:extLst>
      <p:ext uri="{BB962C8B-B14F-4D97-AF65-F5344CB8AC3E}">
        <p14:creationId xmlns:p14="http://schemas.microsoft.com/office/powerpoint/2010/main" val="1158942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5C74B-40AF-B824-BAE2-4B288BE580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697EE3-ED57-87D4-C8AE-88B8860B1FAC}"/>
              </a:ext>
            </a:extLst>
          </p:cNvPr>
          <p:cNvSpPr>
            <a:spLocks noGrp="1"/>
          </p:cNvSpPr>
          <p:nvPr>
            <p:ph type="title"/>
          </p:nvPr>
        </p:nvSpPr>
        <p:spPr>
          <a:xfrm>
            <a:off x="477435" y="444409"/>
            <a:ext cx="7886700" cy="720079"/>
          </a:xfrm>
        </p:spPr>
        <p:txBody>
          <a:bodyPr/>
          <a:lstStyle/>
          <a:p>
            <a:r>
              <a:rPr lang="en-GB" dirty="0">
                <a:solidFill>
                  <a:srgbClr val="1C9DAC"/>
                </a:solidFill>
                <a:ea typeface="ＭＳ Ｐゴシック"/>
              </a:rPr>
              <a:t>Cost of Capital</a:t>
            </a:r>
          </a:p>
        </p:txBody>
      </p:sp>
      <p:sp>
        <p:nvSpPr>
          <p:cNvPr id="3" name="Content Placeholder 2">
            <a:extLst>
              <a:ext uri="{FF2B5EF4-FFF2-40B4-BE49-F238E27FC236}">
                <a16:creationId xmlns:a16="http://schemas.microsoft.com/office/drawing/2014/main" id="{D2023596-C57E-81EC-E2ED-A17DC9A39708}"/>
              </a:ext>
            </a:extLst>
          </p:cNvPr>
          <p:cNvSpPr>
            <a:spLocks noGrp="1"/>
          </p:cNvSpPr>
          <p:nvPr>
            <p:ph sz="half" idx="1"/>
          </p:nvPr>
        </p:nvSpPr>
        <p:spPr>
          <a:xfrm>
            <a:off x="345989" y="1341913"/>
            <a:ext cx="8365525" cy="5071678"/>
          </a:xfrm>
        </p:spPr>
        <p:txBody>
          <a:bodyPr lIns="91440" tIns="45720" rIns="91440" bIns="45720" anchor="t">
            <a:normAutofit fontScale="92500" lnSpcReduction="20000"/>
          </a:bodyPr>
          <a:lstStyle/>
          <a:p>
            <a:pPr marL="0" indent="0">
              <a:buClr>
                <a:srgbClr val="C00000"/>
              </a:buClr>
              <a:buSzPct val="90000"/>
              <a:buNone/>
            </a:pPr>
            <a:r>
              <a:rPr lang="en-GB" sz="2400" b="1" dirty="0">
                <a:solidFill>
                  <a:schemeClr val="accent5">
                    <a:lumMod val="75000"/>
                  </a:schemeClr>
                </a:solidFill>
                <a:latin typeface="Calibri" panose="020F0502020204030204" pitchFamily="34" charset="0"/>
                <a:cs typeface="Calibri" panose="020F0502020204030204" pitchFamily="34" charset="0"/>
              </a:rPr>
              <a:t>Example 1:</a:t>
            </a:r>
            <a:r>
              <a:rPr lang="en-GB" sz="2400" dirty="0">
                <a:solidFill>
                  <a:schemeClr val="accent5">
                    <a:lumMod val="75000"/>
                  </a:schemeClr>
                </a:solidFill>
                <a:latin typeface="Calibri" panose="020F0502020204030204" pitchFamily="34" charset="0"/>
                <a:cs typeface="Calibri" panose="020F0502020204030204" pitchFamily="34" charset="0"/>
              </a:rPr>
              <a:t> </a:t>
            </a:r>
            <a:r>
              <a:rPr lang="en-GB" sz="2400" dirty="0">
                <a:latin typeface="Calibri" panose="020F0502020204030204" pitchFamily="34" charset="0"/>
                <a:cs typeface="Calibri" panose="020F0502020204030204" pitchFamily="34" charset="0"/>
              </a:rPr>
              <a:t>General Electric wants to invest in new power plant in Sweden. </a:t>
            </a:r>
          </a:p>
          <a:p>
            <a:pPr marL="0" indent="0">
              <a:spcBef>
                <a:spcPts val="600"/>
              </a:spcBef>
              <a:spcAft>
                <a:spcPts val="600"/>
              </a:spcAft>
              <a:buClr>
                <a:srgbClr val="C00000"/>
              </a:buClr>
              <a:buSzPct val="90000"/>
              <a:buNone/>
            </a:pPr>
            <a:r>
              <a:rPr lang="en-GB" sz="2400" dirty="0">
                <a:latin typeface="Calibri" panose="020F0502020204030204" pitchFamily="34" charset="0"/>
                <a:cs typeface="Calibri" panose="020F0502020204030204" pitchFamily="34" charset="0"/>
              </a:rPr>
              <a:t>To finance this project, the company used the following sources of long-term financing:</a:t>
            </a:r>
          </a:p>
          <a:p>
            <a:pPr lvl="1">
              <a:spcBef>
                <a:spcPts val="600"/>
              </a:spcBef>
              <a:spcAft>
                <a:spcPts val="600"/>
              </a:spcAft>
              <a:buClr>
                <a:srgbClr val="C00000"/>
              </a:buClr>
              <a:buSzPct val="90000"/>
              <a:buFont typeface="Calibri" panose="020F0502020204030204" pitchFamily="34" charset="0"/>
              <a:buChar char="─"/>
            </a:pPr>
            <a:r>
              <a:rPr lang="en-GB" sz="2400" dirty="0">
                <a:solidFill>
                  <a:srgbClr val="C00000"/>
                </a:solidFill>
                <a:latin typeface="Calibri" panose="020F0502020204030204" pitchFamily="34" charset="0"/>
                <a:cs typeface="Calibri" panose="020F0502020204030204" pitchFamily="34" charset="0"/>
              </a:rPr>
              <a:t>Equity: </a:t>
            </a:r>
            <a:r>
              <a:rPr lang="en-GB" sz="2400" dirty="0">
                <a:latin typeface="Calibri" panose="020F0502020204030204" pitchFamily="34" charset="0"/>
                <a:cs typeface="Calibri" panose="020F0502020204030204" pitchFamily="34" charset="0"/>
              </a:rPr>
              <a:t>An issue of 100m shares at a price of 90Kr. The GE share is expected to pay a dividend of 5.50Kr next year, which grows by 2.50% per year indefinitely.</a:t>
            </a:r>
          </a:p>
          <a:p>
            <a:pPr lvl="1">
              <a:spcBef>
                <a:spcPts val="600"/>
              </a:spcBef>
              <a:spcAft>
                <a:spcPts val="600"/>
              </a:spcAft>
              <a:buClr>
                <a:srgbClr val="C00000"/>
              </a:buClr>
              <a:buSzPct val="90000"/>
              <a:buFont typeface="Calibri" panose="020F0502020204030204" pitchFamily="34" charset="0"/>
              <a:buChar char="─"/>
            </a:pPr>
            <a:r>
              <a:rPr lang="en-GB" sz="2400" dirty="0">
                <a:solidFill>
                  <a:srgbClr val="C00000"/>
                </a:solidFill>
                <a:latin typeface="Calibri" panose="020F0502020204030204" pitchFamily="34" charset="0"/>
                <a:cs typeface="Calibri" panose="020F0502020204030204" pitchFamily="34" charset="0"/>
              </a:rPr>
              <a:t>Debt:</a:t>
            </a:r>
            <a:r>
              <a:rPr lang="en-GB" sz="2400" dirty="0">
                <a:latin typeface="Calibri" panose="020F0502020204030204" pitchFamily="34" charset="0"/>
                <a:cs typeface="Calibri" panose="020F0502020204030204" pitchFamily="34" charset="0"/>
              </a:rPr>
              <a:t> An issue of 50m bonds maturing in 20 years. The bond carries a coupon of 6% and a yield to maturity of 4%. The face value of the bond is 100Kr.</a:t>
            </a:r>
          </a:p>
          <a:p>
            <a:pPr marL="0" indent="0">
              <a:buClr>
                <a:srgbClr val="C00000"/>
              </a:buClr>
              <a:buSzPct val="90000"/>
              <a:buNone/>
            </a:pPr>
            <a:endParaRPr lang="en-GB" sz="2400" dirty="0">
              <a:latin typeface="Calibri" panose="020F0502020204030204" pitchFamily="34" charset="0"/>
              <a:cs typeface="Calibri" panose="020F0502020204030204" pitchFamily="34" charset="0"/>
            </a:endParaRPr>
          </a:p>
          <a:p>
            <a:pPr marL="0" indent="0">
              <a:buClr>
                <a:srgbClr val="C00000"/>
              </a:buClr>
              <a:buSzPct val="90000"/>
              <a:buNone/>
            </a:pPr>
            <a:r>
              <a:rPr lang="en-GB" sz="2400" dirty="0">
                <a:latin typeface="Calibri" panose="020F0502020204030204" pitchFamily="34" charset="0"/>
                <a:cs typeface="Calibri" panose="020F0502020204030204" pitchFamily="34" charset="0"/>
              </a:rPr>
              <a:t>The corporate tax rate in Sweden is 21.40%.</a:t>
            </a:r>
          </a:p>
          <a:p>
            <a:pPr marL="0" indent="0">
              <a:buClr>
                <a:srgbClr val="C00000"/>
              </a:buClr>
              <a:buSzPct val="90000"/>
              <a:buNone/>
            </a:pPr>
            <a:endParaRPr lang="en-GB" sz="2400" dirty="0">
              <a:latin typeface="Calibri" panose="020F0502020204030204" pitchFamily="34" charset="0"/>
              <a:cs typeface="Calibri" panose="020F0502020204030204" pitchFamily="34" charset="0"/>
            </a:endParaRPr>
          </a:p>
          <a:p>
            <a:pPr marL="0" indent="0">
              <a:buClr>
                <a:srgbClr val="C00000"/>
              </a:buClr>
              <a:buSzPct val="90000"/>
              <a:buNone/>
            </a:pPr>
            <a:r>
              <a:rPr lang="en-GB" sz="2400" dirty="0">
                <a:solidFill>
                  <a:schemeClr val="accent5">
                    <a:lumMod val="75000"/>
                  </a:schemeClr>
                </a:solidFill>
                <a:latin typeface="Calibri" panose="020F0502020204030204" pitchFamily="34" charset="0"/>
                <a:cs typeface="Calibri" panose="020F0502020204030204" pitchFamily="34" charset="0"/>
              </a:rPr>
              <a:t>Question: </a:t>
            </a:r>
            <a:r>
              <a:rPr lang="en-GB" sz="2400" dirty="0">
                <a:latin typeface="Calibri" panose="020F0502020204030204" pitchFamily="34" charset="0"/>
                <a:cs typeface="Calibri" panose="020F0502020204030204" pitchFamily="34" charset="0"/>
              </a:rPr>
              <a:t>How much will the capital raised for this project cost General Electric?</a:t>
            </a:r>
            <a:endParaRPr lang="en-GB" sz="2400" dirty="0">
              <a:solidFill>
                <a:schemeClr val="accent5">
                  <a:lumMod val="75000"/>
                </a:schemeClr>
              </a:solidFill>
              <a:latin typeface="Calibri" panose="020F0502020204030204" pitchFamily="34" charset="0"/>
              <a:cs typeface="Calibri" panose="020F0502020204030204" pitchFamily="34" charset="0"/>
            </a:endParaRPr>
          </a:p>
          <a:p>
            <a:pPr marL="0" indent="0">
              <a:buClr>
                <a:srgbClr val="C00000"/>
              </a:buClr>
              <a:buSzPct val="90000"/>
              <a:buNone/>
            </a:pPr>
            <a:endParaRPr lang="en-GB" sz="2400" dirty="0">
              <a:latin typeface="Calibri" panose="020F0502020204030204" pitchFamily="34" charset="0"/>
              <a:cs typeface="Calibri" panose="020F0502020204030204" pitchFamily="34" charset="0"/>
            </a:endParaRPr>
          </a:p>
          <a:p>
            <a:pPr>
              <a:lnSpc>
                <a:spcPct val="150000"/>
              </a:lnSpc>
              <a:buClr>
                <a:srgbClr val="1C9DAC"/>
              </a:buClr>
            </a:pPr>
            <a:endParaRPr lang="en-GB" sz="1900" dirty="0">
              <a:ea typeface="ＭＳ Ｐゴシック"/>
            </a:endParaRPr>
          </a:p>
        </p:txBody>
      </p:sp>
    </p:spTree>
    <p:extLst>
      <p:ext uri="{BB962C8B-B14F-4D97-AF65-F5344CB8AC3E}">
        <p14:creationId xmlns:p14="http://schemas.microsoft.com/office/powerpoint/2010/main" val="260378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90238-DC73-D521-E631-4A5B7B859B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0ED827-AD7B-B7B3-E7FF-3BE10CCC2C37}"/>
              </a:ext>
            </a:extLst>
          </p:cNvPr>
          <p:cNvSpPr>
            <a:spLocks noGrp="1"/>
          </p:cNvSpPr>
          <p:nvPr>
            <p:ph type="title"/>
          </p:nvPr>
        </p:nvSpPr>
        <p:spPr>
          <a:xfrm>
            <a:off x="432486" y="444409"/>
            <a:ext cx="7886700" cy="720079"/>
          </a:xfrm>
        </p:spPr>
        <p:txBody>
          <a:bodyPr/>
          <a:lstStyle/>
          <a:p>
            <a:r>
              <a:rPr lang="en-GB" dirty="0">
                <a:solidFill>
                  <a:srgbClr val="1C9DAC"/>
                </a:solidFill>
                <a:ea typeface="ＭＳ Ｐゴシック"/>
              </a:rPr>
              <a:t>Cost of Capital – Equity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107921E-9BEA-055A-01E0-9FAD30F8E791}"/>
                  </a:ext>
                </a:extLst>
              </p:cNvPr>
              <p:cNvSpPr>
                <a:spLocks noGrp="1"/>
              </p:cNvSpPr>
              <p:nvPr>
                <p:ph sz="half" idx="1"/>
              </p:nvPr>
            </p:nvSpPr>
            <p:spPr>
              <a:xfrm>
                <a:off x="345989" y="1164488"/>
                <a:ext cx="8365525" cy="5249103"/>
              </a:xfrm>
            </p:spPr>
            <p:txBody>
              <a:bodyPr lIns="91440" tIns="45720" rIns="91440" bIns="45720" anchor="t">
                <a:normAutofit/>
              </a:bodyPr>
              <a:lstStyle/>
              <a:p>
                <a:pPr marL="0" indent="0">
                  <a:buClr>
                    <a:srgbClr val="C00000"/>
                  </a:buClr>
                  <a:buSzPct val="90000"/>
                  <a:buNone/>
                </a:pPr>
                <a:r>
                  <a:rPr lang="en-GB" sz="1600" dirty="0">
                    <a:cs typeface="Calibri" panose="020F0502020204030204" pitchFamily="34" charset="0"/>
                  </a:rPr>
                  <a:t>The </a:t>
                </a:r>
                <a:r>
                  <a:rPr lang="en-GB" sz="1600" b="1" u="sng" dirty="0">
                    <a:cs typeface="Calibri" panose="020F0502020204030204" pitchFamily="34" charset="0"/>
                  </a:rPr>
                  <a:t>total value of the equity</a:t>
                </a:r>
                <a:r>
                  <a:rPr lang="en-GB" sz="1600" dirty="0">
                    <a:cs typeface="Calibri" panose="020F0502020204030204" pitchFamily="34" charset="0"/>
                  </a:rPr>
                  <a:t> issue is:     </a:t>
                </a:r>
                <a14:m>
                  <m:oMath xmlns:m="http://schemas.openxmlformats.org/officeDocument/2006/math">
                    <m:r>
                      <m:rPr>
                        <m:sty m:val="p"/>
                      </m:rPr>
                      <a:rPr lang="en-GB" sz="1600">
                        <a:latin typeface="Cambria Math" panose="02040503050406030204" pitchFamily="18" charset="0"/>
                        <a:cs typeface="Calibri" panose="020F0502020204030204" pitchFamily="34" charset="0"/>
                      </a:rPr>
                      <m:t>Equity</m:t>
                    </m:r>
                    <m:r>
                      <a:rPr lang="en-GB" sz="1600" i="1">
                        <a:latin typeface="Cambria Math" panose="02040503050406030204" pitchFamily="18" charset="0"/>
                        <a:cs typeface="Calibri" panose="020F0502020204030204" pitchFamily="34" charset="0"/>
                      </a:rPr>
                      <m:t>=100,000,000</m:t>
                    </m:r>
                    <m:r>
                      <a:rPr lang="en-GB" sz="1600" i="1">
                        <a:latin typeface="Cambria Math" panose="02040503050406030204" pitchFamily="18" charset="0"/>
                        <a:ea typeface="Cambria Math" panose="02040503050406030204" pitchFamily="18" charset="0"/>
                        <a:cs typeface="Calibri" panose="020F0502020204030204" pitchFamily="34" charset="0"/>
                      </a:rPr>
                      <m:t>×90=9,000,000,000</m:t>
                    </m:r>
                    <m:r>
                      <m:rPr>
                        <m:sty m:val="p"/>
                      </m:rPr>
                      <a:rPr lang="en-GB" sz="1600">
                        <a:latin typeface="Cambria Math" panose="02040503050406030204" pitchFamily="18" charset="0"/>
                        <a:ea typeface="Cambria Math" panose="02040503050406030204" pitchFamily="18" charset="0"/>
                        <a:cs typeface="Calibri" panose="020F0502020204030204" pitchFamily="34" charset="0"/>
                      </a:rPr>
                      <m:t>Kr</m:t>
                    </m:r>
                  </m:oMath>
                </a14:m>
                <a:endParaRPr lang="en-GB" sz="1600" dirty="0">
                  <a:cs typeface="Calibri" panose="020F0502020204030204" pitchFamily="34" charset="0"/>
                </a:endParaRPr>
              </a:p>
              <a:p>
                <a:pPr marL="0" indent="0">
                  <a:buClr>
                    <a:srgbClr val="C00000"/>
                  </a:buClr>
                  <a:buSzPct val="90000"/>
                  <a:buNone/>
                </a:pPr>
                <a:endParaRPr lang="en-GB" sz="1600" dirty="0">
                  <a:cs typeface="Calibri" panose="020F0502020204030204" pitchFamily="34" charset="0"/>
                </a:endParaRPr>
              </a:p>
              <a:p>
                <a:pPr marL="0" indent="0">
                  <a:buClr>
                    <a:srgbClr val="C00000"/>
                  </a:buClr>
                  <a:buSzPct val="90000"/>
                  <a:buNone/>
                </a:pPr>
                <a:r>
                  <a:rPr lang="en-GB" sz="1600" dirty="0">
                    <a:cs typeface="Calibri" panose="020F0502020204030204" pitchFamily="34" charset="0"/>
                  </a:rPr>
                  <a:t>The equity issue is:</a:t>
                </a:r>
              </a:p>
              <a:p>
                <a:pPr lvl="1">
                  <a:lnSpc>
                    <a:spcPct val="100000"/>
                  </a:lnSpc>
                  <a:spcBef>
                    <a:spcPts val="600"/>
                  </a:spcBef>
                  <a:spcAft>
                    <a:spcPts val="600"/>
                  </a:spcAft>
                  <a:buClr>
                    <a:srgbClr val="C00000"/>
                  </a:buClr>
                  <a:buSzPct val="90000"/>
                  <a:buFont typeface="Calibri" panose="020F0502020204030204" pitchFamily="34" charset="0"/>
                  <a:buChar char="─"/>
                </a:pPr>
                <a:r>
                  <a:rPr lang="en-GB" sz="1600" dirty="0">
                    <a:cs typeface="Calibri" panose="020F0502020204030204" pitchFamily="34" charset="0"/>
                  </a:rPr>
                  <a:t>The price of shares issued: </a:t>
                </a:r>
                <a14:m>
                  <m:oMath xmlns:m="http://schemas.openxmlformats.org/officeDocument/2006/math">
                    <m:r>
                      <a:rPr lang="en-GB" sz="1600" i="1">
                        <a:solidFill>
                          <a:schemeClr val="accent5">
                            <a:lumMod val="75000"/>
                          </a:schemeClr>
                        </a:solidFill>
                        <a:latin typeface="Cambria Math" panose="02040503050406030204" pitchFamily="18" charset="0"/>
                        <a:cs typeface="Calibri" panose="020F0502020204030204" pitchFamily="34" charset="0"/>
                      </a:rPr>
                      <m:t>90</m:t>
                    </m:r>
                    <m:r>
                      <m:rPr>
                        <m:sty m:val="p"/>
                      </m:rPr>
                      <a:rPr lang="en-GB" sz="1600">
                        <a:solidFill>
                          <a:schemeClr val="accent5">
                            <a:lumMod val="75000"/>
                          </a:schemeClr>
                        </a:solidFill>
                        <a:latin typeface="Cambria Math" panose="02040503050406030204" pitchFamily="18" charset="0"/>
                        <a:cs typeface="Calibri" panose="020F0502020204030204" pitchFamily="34" charset="0"/>
                      </a:rPr>
                      <m:t>Kr</m:t>
                    </m:r>
                  </m:oMath>
                </a14:m>
                <a:endParaRPr lang="en-GB" sz="1600" dirty="0">
                  <a:solidFill>
                    <a:schemeClr val="accent5">
                      <a:lumMod val="75000"/>
                    </a:schemeClr>
                  </a:solidFill>
                  <a:cs typeface="Calibri" panose="020F0502020204030204" pitchFamily="34" charset="0"/>
                </a:endParaRPr>
              </a:p>
              <a:p>
                <a:pPr lvl="1">
                  <a:lnSpc>
                    <a:spcPct val="100000"/>
                  </a:lnSpc>
                  <a:spcBef>
                    <a:spcPts val="600"/>
                  </a:spcBef>
                  <a:spcAft>
                    <a:spcPts val="600"/>
                  </a:spcAft>
                  <a:buClr>
                    <a:srgbClr val="C00000"/>
                  </a:buClr>
                  <a:buSzPct val="90000"/>
                  <a:buFont typeface="Calibri" panose="020F0502020204030204" pitchFamily="34" charset="0"/>
                  <a:buChar char="─"/>
                </a:pPr>
                <a:r>
                  <a:rPr lang="en-GB" sz="1600" dirty="0">
                    <a:cs typeface="Calibri" panose="020F0502020204030204" pitchFamily="34" charset="0"/>
                  </a:rPr>
                  <a:t>Dividend expected next year by each share: </a:t>
                </a:r>
                <a14:m>
                  <m:oMath xmlns:m="http://schemas.openxmlformats.org/officeDocument/2006/math">
                    <m:r>
                      <a:rPr lang="en-GB" sz="1600" i="1">
                        <a:solidFill>
                          <a:schemeClr val="accent5">
                            <a:lumMod val="75000"/>
                          </a:schemeClr>
                        </a:solidFill>
                        <a:latin typeface="Cambria Math" panose="02040503050406030204" pitchFamily="18" charset="0"/>
                        <a:cs typeface="Calibri" panose="020F0502020204030204" pitchFamily="34" charset="0"/>
                      </a:rPr>
                      <m:t>5.50</m:t>
                    </m:r>
                    <m:r>
                      <m:rPr>
                        <m:sty m:val="p"/>
                      </m:rPr>
                      <a:rPr lang="en-GB" sz="1600">
                        <a:solidFill>
                          <a:schemeClr val="accent5">
                            <a:lumMod val="75000"/>
                          </a:schemeClr>
                        </a:solidFill>
                        <a:latin typeface="Cambria Math" panose="02040503050406030204" pitchFamily="18" charset="0"/>
                        <a:cs typeface="Calibri" panose="020F0502020204030204" pitchFamily="34" charset="0"/>
                      </a:rPr>
                      <m:t>Kr</m:t>
                    </m:r>
                  </m:oMath>
                </a14:m>
                <a:endParaRPr lang="en-GB" sz="1600" dirty="0">
                  <a:cs typeface="Calibri" panose="020F0502020204030204" pitchFamily="34" charset="0"/>
                </a:endParaRPr>
              </a:p>
              <a:p>
                <a:pPr lvl="1">
                  <a:lnSpc>
                    <a:spcPct val="100000"/>
                  </a:lnSpc>
                  <a:spcBef>
                    <a:spcPts val="600"/>
                  </a:spcBef>
                  <a:spcAft>
                    <a:spcPts val="600"/>
                  </a:spcAft>
                  <a:buClr>
                    <a:srgbClr val="C00000"/>
                  </a:buClr>
                  <a:buSzPct val="90000"/>
                  <a:buFont typeface="Calibri" panose="020F0502020204030204" pitchFamily="34" charset="0"/>
                  <a:buChar char="─"/>
                </a:pPr>
                <a:r>
                  <a:rPr lang="en-GB" sz="1600" dirty="0">
                    <a:cs typeface="Calibri" panose="020F0502020204030204" pitchFamily="34" charset="0"/>
                  </a:rPr>
                  <a:t>The dividend growth rate is: </a:t>
                </a:r>
                <a14:m>
                  <m:oMath xmlns:m="http://schemas.openxmlformats.org/officeDocument/2006/math">
                    <m:r>
                      <a:rPr lang="en-GB" sz="1600" i="1">
                        <a:solidFill>
                          <a:schemeClr val="accent5">
                            <a:lumMod val="75000"/>
                          </a:schemeClr>
                        </a:solidFill>
                        <a:latin typeface="Cambria Math" panose="02040503050406030204" pitchFamily="18" charset="0"/>
                        <a:cs typeface="Calibri" panose="020F0502020204030204" pitchFamily="34" charset="0"/>
                      </a:rPr>
                      <m:t>2.50%</m:t>
                    </m:r>
                  </m:oMath>
                </a14:m>
                <a:endParaRPr lang="en-GB" sz="1600" dirty="0">
                  <a:solidFill>
                    <a:schemeClr val="accent5">
                      <a:lumMod val="75000"/>
                    </a:schemeClr>
                  </a:solidFill>
                  <a:cs typeface="Calibri" panose="020F0502020204030204" pitchFamily="34" charset="0"/>
                </a:endParaRPr>
              </a:p>
              <a:p>
                <a:pPr marL="0" indent="0">
                  <a:spcBef>
                    <a:spcPts val="600"/>
                  </a:spcBef>
                  <a:spcAft>
                    <a:spcPts val="600"/>
                  </a:spcAft>
                  <a:buClr>
                    <a:srgbClr val="C00000"/>
                  </a:buClr>
                  <a:buSzPct val="90000"/>
                  <a:buNone/>
                </a:pPr>
                <a:r>
                  <a:rPr lang="en-GB" sz="1600" dirty="0">
                    <a:cs typeface="Calibri" panose="020F0502020204030204" pitchFamily="34" charset="0"/>
                  </a:rPr>
                  <a:t>We know the growing perpetuity formula and therefore the Gordon Growth Model: </a:t>
                </a:r>
                <a14:m>
                  <m:oMath xmlns:m="http://schemas.openxmlformats.org/officeDocument/2006/math">
                    <m:r>
                      <a:rPr lang="en-GB" sz="1600" i="1">
                        <a:latin typeface="Cambria Math" panose="02040503050406030204" pitchFamily="18" charset="0"/>
                        <a:cs typeface="Calibri" panose="020F0502020204030204" pitchFamily="34" charset="0"/>
                      </a:rPr>
                      <m:t>𝑃</m:t>
                    </m:r>
                    <m:r>
                      <a:rPr lang="en-GB" sz="1600" i="1">
                        <a:latin typeface="Cambria Math" panose="02040503050406030204" pitchFamily="18" charset="0"/>
                        <a:cs typeface="Calibri" panose="020F0502020204030204" pitchFamily="34" charset="0"/>
                      </a:rPr>
                      <m:t> ₀</m:t>
                    </m:r>
                    <m:r>
                      <a:rPr lang="en-GB" sz="1600">
                        <a:latin typeface="Cambria Math" panose="02040503050406030204" pitchFamily="18" charset="0"/>
                        <a:cs typeface="Calibri" panose="020F0502020204030204" pitchFamily="34" charset="0"/>
                      </a:rPr>
                      <m:t>=</m:t>
                    </m:r>
                    <m:f>
                      <m:fPr>
                        <m:ctrlPr>
                          <a:rPr lang="en-GB" sz="1600" i="1">
                            <a:latin typeface="Cambria Math" panose="02040503050406030204" pitchFamily="18" charset="0"/>
                            <a:cs typeface="Calibri" panose="020F0502020204030204" pitchFamily="34" charset="0"/>
                          </a:rPr>
                        </m:ctrlPr>
                      </m:fPr>
                      <m:num>
                        <m:r>
                          <a:rPr lang="en-GB" sz="1600" i="1">
                            <a:latin typeface="Cambria Math" panose="02040503050406030204" pitchFamily="18" charset="0"/>
                            <a:cs typeface="Calibri" panose="020F0502020204030204" pitchFamily="34" charset="0"/>
                          </a:rPr>
                          <m:t>𝐷</m:t>
                        </m:r>
                        <m:r>
                          <a:rPr lang="en-GB" sz="1600" i="1">
                            <a:latin typeface="Cambria Math" panose="02040503050406030204" pitchFamily="18" charset="0"/>
                            <a:cs typeface="Calibri" panose="020F0502020204030204" pitchFamily="34" charset="0"/>
                          </a:rPr>
                          <m:t>₁</m:t>
                        </m:r>
                      </m:num>
                      <m:den>
                        <m:r>
                          <a:rPr lang="en-GB" sz="1600">
                            <a:latin typeface="Cambria Math" panose="02040503050406030204" pitchFamily="18" charset="0"/>
                            <a:cs typeface="Calibri" panose="020F0502020204030204" pitchFamily="34" charset="0"/>
                          </a:rPr>
                          <m:t>𝑟</m:t>
                        </m:r>
                        <m:r>
                          <a:rPr lang="en-GB" sz="1600">
                            <a:latin typeface="Cambria Math" panose="02040503050406030204" pitchFamily="18" charset="0"/>
                            <a:cs typeface="Calibri" panose="020F0502020204030204" pitchFamily="34" charset="0"/>
                          </a:rPr>
                          <m:t>−</m:t>
                        </m:r>
                        <m:r>
                          <a:rPr lang="en-GB" sz="1600">
                            <a:latin typeface="Cambria Math" panose="02040503050406030204" pitchFamily="18" charset="0"/>
                            <a:cs typeface="Calibri" panose="020F0502020204030204" pitchFamily="34" charset="0"/>
                          </a:rPr>
                          <m:t>𝑔</m:t>
                        </m:r>
                      </m:den>
                    </m:f>
                  </m:oMath>
                </a14:m>
                <a:r>
                  <a:rPr lang="en-GB" sz="1600" dirty="0">
                    <a:cs typeface="Calibri" panose="020F0502020204030204" pitchFamily="34" charset="0"/>
                  </a:rPr>
                  <a:t> </a:t>
                </a:r>
              </a:p>
              <a:p>
                <a:pPr marL="0" lvl="1" indent="0">
                  <a:lnSpc>
                    <a:spcPct val="100000"/>
                  </a:lnSpc>
                  <a:spcBef>
                    <a:spcPts val="600"/>
                  </a:spcBef>
                  <a:spcAft>
                    <a:spcPts val="600"/>
                  </a:spcAft>
                  <a:buClr>
                    <a:srgbClr val="C00000"/>
                  </a:buClr>
                  <a:buSzPct val="90000"/>
                  <a:buNone/>
                </a:pPr>
                <a:r>
                  <a:rPr lang="en-GB" sz="1600" dirty="0">
                    <a:cs typeface="Calibri" panose="020F0502020204030204" pitchFamily="34" charset="0"/>
                  </a:rPr>
                  <a:t>The required rate of return on the GE share is a rearrangement of this to find </a:t>
                </a:r>
                <a14:m>
                  <m:oMath xmlns:m="http://schemas.openxmlformats.org/officeDocument/2006/math">
                    <m:r>
                      <a:rPr lang="en-GB" sz="1600">
                        <a:latin typeface="Cambria Math" panose="02040503050406030204" pitchFamily="18" charset="0"/>
                        <a:cs typeface="Calibri" panose="020F0502020204030204" pitchFamily="34" charset="0"/>
                      </a:rPr>
                      <m:t>𝑟</m:t>
                    </m:r>
                    <m:r>
                      <a:rPr lang="en-GB" sz="1600" i="1">
                        <a:latin typeface="Cambria Math" panose="02040503050406030204" pitchFamily="18" charset="0"/>
                        <a:cs typeface="Calibri" panose="020F0502020204030204" pitchFamily="34" charset="0"/>
                      </a:rPr>
                      <m:t> </m:t>
                    </m:r>
                  </m:oMath>
                </a14:m>
                <a:r>
                  <a:rPr lang="en-GB" sz="1600" dirty="0">
                    <a:cs typeface="Calibri" panose="020F0502020204030204" pitchFamily="34" charset="0"/>
                  </a:rPr>
                  <a:t>: </a:t>
                </a:r>
                <a14:m>
                  <m:oMath xmlns:m="http://schemas.openxmlformats.org/officeDocument/2006/math">
                    <m:sSub>
                      <m:sSubPr>
                        <m:ctrlPr>
                          <a:rPr lang="en-GB" sz="1600" i="1">
                            <a:latin typeface="Cambria Math" panose="02040503050406030204" pitchFamily="18" charset="0"/>
                            <a:cs typeface="Calibri" panose="020F0502020204030204" pitchFamily="34" charset="0"/>
                          </a:rPr>
                        </m:ctrlPr>
                      </m:sSubPr>
                      <m:e>
                        <m:r>
                          <a:rPr lang="en-GB" sz="1600" i="1">
                            <a:latin typeface="Cambria Math" panose="02040503050406030204" pitchFamily="18" charset="0"/>
                            <a:cs typeface="Calibri" panose="020F0502020204030204" pitchFamily="34" charset="0"/>
                          </a:rPr>
                          <m:t>𝑟</m:t>
                        </m:r>
                      </m:e>
                      <m:sub>
                        <m:r>
                          <a:rPr lang="en-GB" sz="1600" i="1">
                            <a:latin typeface="Cambria Math" panose="02040503050406030204" pitchFamily="18" charset="0"/>
                            <a:cs typeface="Calibri" panose="020F0502020204030204" pitchFamily="34" charset="0"/>
                          </a:rPr>
                          <m:t>𝐸</m:t>
                        </m:r>
                      </m:sub>
                    </m:sSub>
                    <m:r>
                      <a:rPr lang="en-GB" sz="1600" i="1">
                        <a:latin typeface="Cambria Math" panose="02040503050406030204" pitchFamily="18" charset="0"/>
                        <a:cs typeface="Calibri" panose="020F0502020204030204" pitchFamily="34" charset="0"/>
                      </a:rPr>
                      <m:t>=</m:t>
                    </m:r>
                    <m:f>
                      <m:fPr>
                        <m:ctrlPr>
                          <a:rPr lang="en-GB" sz="1600" i="1">
                            <a:latin typeface="Cambria Math" panose="02040503050406030204" pitchFamily="18" charset="0"/>
                            <a:cs typeface="Calibri" panose="020F0502020204030204" pitchFamily="34" charset="0"/>
                          </a:rPr>
                        </m:ctrlPr>
                      </m:fPr>
                      <m:num>
                        <m:r>
                          <a:rPr lang="en-GB" sz="1600" i="1">
                            <a:latin typeface="Cambria Math" panose="02040503050406030204" pitchFamily="18" charset="0"/>
                            <a:cs typeface="Calibri" panose="020F0502020204030204" pitchFamily="34" charset="0"/>
                          </a:rPr>
                          <m:t>𝐷</m:t>
                        </m:r>
                        <m:r>
                          <a:rPr lang="en-GB" sz="1600" i="1">
                            <a:latin typeface="Cambria Math" panose="02040503050406030204" pitchFamily="18" charset="0"/>
                            <a:cs typeface="Calibri" panose="020F0502020204030204" pitchFamily="34" charset="0"/>
                          </a:rPr>
                          <m:t>₁</m:t>
                        </m:r>
                      </m:num>
                      <m:den>
                        <m:r>
                          <a:rPr lang="en-GB" sz="1600" i="1">
                            <a:latin typeface="Cambria Math" panose="02040503050406030204" pitchFamily="18" charset="0"/>
                            <a:cs typeface="Calibri" panose="020F0502020204030204" pitchFamily="34" charset="0"/>
                          </a:rPr>
                          <m:t>𝑃</m:t>
                        </m:r>
                        <m:r>
                          <a:rPr lang="en-GB" sz="1600" i="1">
                            <a:latin typeface="Cambria Math" panose="02040503050406030204" pitchFamily="18" charset="0"/>
                            <a:cs typeface="Calibri" panose="020F0502020204030204" pitchFamily="34" charset="0"/>
                          </a:rPr>
                          <m:t>₀</m:t>
                        </m:r>
                      </m:den>
                    </m:f>
                    <m:r>
                      <a:rPr lang="en-GB" sz="1600" i="1">
                        <a:latin typeface="Cambria Math" panose="02040503050406030204" pitchFamily="18" charset="0"/>
                        <a:cs typeface="Calibri" panose="020F0502020204030204" pitchFamily="34" charset="0"/>
                      </a:rPr>
                      <m:t>+</m:t>
                    </m:r>
                    <m:r>
                      <a:rPr lang="en-GB" sz="1600" i="1">
                        <a:latin typeface="Cambria Math" panose="02040503050406030204" pitchFamily="18" charset="0"/>
                        <a:cs typeface="Calibri" panose="020F0502020204030204" pitchFamily="34" charset="0"/>
                      </a:rPr>
                      <m:t>𝑔</m:t>
                    </m:r>
                  </m:oMath>
                </a14:m>
                <a:endParaRPr lang="en-GB" sz="1600" dirty="0">
                  <a:cs typeface="Calibri" panose="020F0502020204030204" pitchFamily="34" charset="0"/>
                </a:endParaRPr>
              </a:p>
              <a:p>
                <a:pPr marL="0" lvl="1" indent="0">
                  <a:lnSpc>
                    <a:spcPct val="150000"/>
                  </a:lnSpc>
                  <a:spcBef>
                    <a:spcPts val="600"/>
                  </a:spcBef>
                  <a:spcAft>
                    <a:spcPts val="600"/>
                  </a:spcAft>
                  <a:buClr>
                    <a:srgbClr val="C00000"/>
                  </a:buClr>
                  <a:buSzPct val="90000"/>
                  <a:buNone/>
                </a:pPr>
                <a14:m>
                  <m:oMathPara xmlns:m="http://schemas.openxmlformats.org/officeDocument/2006/math">
                    <m:oMathParaPr>
                      <m:jc m:val="centerGroup"/>
                    </m:oMathParaPr>
                    <m:oMath xmlns:m="http://schemas.openxmlformats.org/officeDocument/2006/math">
                      <m:sSub>
                        <m:sSubPr>
                          <m:ctrlPr>
                            <a:rPr lang="en-GB" sz="1600" i="1">
                              <a:latin typeface="Cambria Math" panose="02040503050406030204" pitchFamily="18" charset="0"/>
                              <a:cs typeface="Calibri" panose="020F0502020204030204" pitchFamily="34" charset="0"/>
                            </a:rPr>
                          </m:ctrlPr>
                        </m:sSubPr>
                        <m:e>
                          <m:r>
                            <a:rPr lang="en-GB" sz="1600" i="1">
                              <a:latin typeface="Cambria Math" panose="02040503050406030204" pitchFamily="18" charset="0"/>
                              <a:cs typeface="Calibri" panose="020F0502020204030204" pitchFamily="34" charset="0"/>
                            </a:rPr>
                            <m:t>𝑟</m:t>
                          </m:r>
                        </m:e>
                        <m:sub>
                          <m:r>
                            <a:rPr lang="en-GB" sz="1600" i="1">
                              <a:latin typeface="Cambria Math" panose="02040503050406030204" pitchFamily="18" charset="0"/>
                              <a:cs typeface="Calibri" panose="020F0502020204030204" pitchFamily="34" charset="0"/>
                            </a:rPr>
                            <m:t>𝐸</m:t>
                          </m:r>
                        </m:sub>
                      </m:sSub>
                      <m:r>
                        <a:rPr lang="en-GB" sz="1600" i="1">
                          <a:latin typeface="Cambria Math" panose="02040503050406030204" pitchFamily="18" charset="0"/>
                          <a:cs typeface="Calibri" panose="020F0502020204030204" pitchFamily="34" charset="0"/>
                        </a:rPr>
                        <m:t>=</m:t>
                      </m:r>
                      <m:f>
                        <m:fPr>
                          <m:ctrlPr>
                            <a:rPr lang="en-GB" sz="1600" i="1">
                              <a:latin typeface="Cambria Math" panose="02040503050406030204" pitchFamily="18" charset="0"/>
                              <a:cs typeface="Calibri" panose="020F0502020204030204" pitchFamily="34" charset="0"/>
                            </a:rPr>
                          </m:ctrlPr>
                        </m:fPr>
                        <m:num>
                          <m:r>
                            <a:rPr lang="en-GB" sz="1600" i="1">
                              <a:latin typeface="Cambria Math" panose="02040503050406030204" pitchFamily="18" charset="0"/>
                              <a:cs typeface="Calibri" panose="020F0502020204030204" pitchFamily="34" charset="0"/>
                            </a:rPr>
                            <m:t>5.50</m:t>
                          </m:r>
                        </m:num>
                        <m:den>
                          <m:r>
                            <a:rPr lang="en-GB" sz="1600" i="1">
                              <a:latin typeface="Cambria Math" panose="02040503050406030204" pitchFamily="18" charset="0"/>
                              <a:cs typeface="Calibri" panose="020F0502020204030204" pitchFamily="34" charset="0"/>
                            </a:rPr>
                            <m:t>90</m:t>
                          </m:r>
                        </m:den>
                      </m:f>
                      <m:r>
                        <a:rPr lang="en-GB" sz="1600" i="1">
                          <a:latin typeface="Cambria Math" panose="02040503050406030204" pitchFamily="18" charset="0"/>
                          <a:cs typeface="Calibri" panose="020F0502020204030204" pitchFamily="34" charset="0"/>
                        </a:rPr>
                        <m:t>+2.50%=8.61%</m:t>
                      </m:r>
                    </m:oMath>
                  </m:oMathPara>
                </a14:m>
                <a:endParaRPr lang="en-GB" sz="1600" dirty="0">
                  <a:cs typeface="Calibri" panose="020F0502020204030204" pitchFamily="34" charset="0"/>
                </a:endParaRPr>
              </a:p>
              <a:p>
                <a:pPr marL="0" lvl="1" indent="0">
                  <a:lnSpc>
                    <a:spcPct val="150000"/>
                  </a:lnSpc>
                  <a:spcBef>
                    <a:spcPts val="600"/>
                  </a:spcBef>
                  <a:spcAft>
                    <a:spcPts val="600"/>
                  </a:spcAft>
                  <a:buClr>
                    <a:srgbClr val="C00000"/>
                  </a:buClr>
                  <a:buSzPct val="90000"/>
                  <a:buNone/>
                </a:pPr>
                <a:r>
                  <a:rPr lang="en-GB" sz="1600" dirty="0">
                    <a:cs typeface="Calibri" panose="020F0502020204030204" pitchFamily="34" charset="0"/>
                  </a:rPr>
                  <a:t>Equity cost for the project is 9,000,000,000 x 8.61% = 774,900,000 Kr</a:t>
                </a:r>
              </a:p>
            </p:txBody>
          </p:sp>
        </mc:Choice>
        <mc:Fallback xmlns="">
          <p:sp>
            <p:nvSpPr>
              <p:cNvPr id="3" name="Content Placeholder 2">
                <a:extLst>
                  <a:ext uri="{FF2B5EF4-FFF2-40B4-BE49-F238E27FC236}">
                    <a16:creationId xmlns:a16="http://schemas.microsoft.com/office/drawing/2014/main" id="{2107921E-9BEA-055A-01E0-9FAD30F8E791}"/>
                  </a:ext>
                </a:extLst>
              </p:cNvPr>
              <p:cNvSpPr>
                <a:spLocks noGrp="1" noRot="1" noChangeAspect="1" noMove="1" noResize="1" noEditPoints="1" noAdjustHandles="1" noChangeArrowheads="1" noChangeShapeType="1" noTextEdit="1"/>
              </p:cNvSpPr>
              <p:nvPr>
                <p:ph sz="half" idx="1"/>
              </p:nvPr>
            </p:nvSpPr>
            <p:spPr>
              <a:xfrm>
                <a:off x="345989" y="1164488"/>
                <a:ext cx="8365525" cy="5249103"/>
              </a:xfrm>
              <a:blipFill>
                <a:blip r:embed="rId3"/>
                <a:stretch>
                  <a:fillRect/>
                </a:stretch>
              </a:blipFill>
            </p:spPr>
            <p:txBody>
              <a:bodyPr/>
              <a:lstStyle/>
              <a:p>
                <a:r>
                  <a:rPr lang="en-GB">
                    <a:noFill/>
                  </a:rPr>
                  <a:t> </a:t>
                </a:r>
              </a:p>
            </p:txBody>
          </p:sp>
        </mc:Fallback>
      </mc:AlternateContent>
      <p:sp>
        <p:nvSpPr>
          <p:cNvPr id="5" name="Arrow: Down 4">
            <a:extLst>
              <a:ext uri="{FF2B5EF4-FFF2-40B4-BE49-F238E27FC236}">
                <a16:creationId xmlns:a16="http://schemas.microsoft.com/office/drawing/2014/main" id="{9BCFECE2-F5F4-473C-40EB-D7460C75A132}"/>
              </a:ext>
            </a:extLst>
          </p:cNvPr>
          <p:cNvSpPr/>
          <p:nvPr/>
        </p:nvSpPr>
        <p:spPr>
          <a:xfrm rot="16200000">
            <a:off x="3035366" y="2893072"/>
            <a:ext cx="1095063" cy="6300823"/>
          </a:xfrm>
          <a:prstGeom prst="downArrow">
            <a:avLst/>
          </a:prstGeom>
        </p:spPr>
        <p:style>
          <a:lnRef idx="1">
            <a:schemeClr val="accent1"/>
          </a:lnRef>
          <a:fillRef idx="3">
            <a:schemeClr val="accent1"/>
          </a:fillRef>
          <a:effectRef idx="2">
            <a:schemeClr val="accent1"/>
          </a:effectRef>
          <a:fontRef idx="minor">
            <a:schemeClr val="lt1"/>
          </a:fontRef>
        </p:style>
        <p:txBody>
          <a:bodyPr vert="vert" rtlCol="0" anchor="ctr"/>
          <a:lstStyle/>
          <a:p>
            <a:pPr algn="ctr"/>
            <a:r>
              <a:rPr lang="en-GB" sz="1800" b="1" dirty="0">
                <a:cs typeface="Calibri" panose="020F0502020204030204" pitchFamily="34" charset="0"/>
              </a:rPr>
              <a:t>Each 1Kr raised from equity costs the company 0.0861Kr</a:t>
            </a:r>
            <a:endParaRPr lang="en-GB" dirty="0"/>
          </a:p>
        </p:txBody>
      </p:sp>
      <p:pic>
        <p:nvPicPr>
          <p:cNvPr id="6" name="Picture 5" descr="Stacks of gold coins">
            <a:extLst>
              <a:ext uri="{FF2B5EF4-FFF2-40B4-BE49-F238E27FC236}">
                <a16:creationId xmlns:a16="http://schemas.microsoft.com/office/drawing/2014/main" id="{E04C368B-F6A5-A053-925B-121A64A98C9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33310" y="5013646"/>
            <a:ext cx="2366053" cy="1577369"/>
          </a:xfrm>
          <a:prstGeom prst="rect">
            <a:avLst/>
          </a:prstGeom>
        </p:spPr>
      </p:pic>
    </p:spTree>
    <p:extLst>
      <p:ext uri="{BB962C8B-B14F-4D97-AF65-F5344CB8AC3E}">
        <p14:creationId xmlns:p14="http://schemas.microsoft.com/office/powerpoint/2010/main" val="982527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8C61D-3022-75E1-909B-47B003971C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E321FA-6FDB-217C-FE01-B7B44647A36D}"/>
              </a:ext>
            </a:extLst>
          </p:cNvPr>
          <p:cNvSpPr>
            <a:spLocks noGrp="1"/>
          </p:cNvSpPr>
          <p:nvPr>
            <p:ph type="title"/>
          </p:nvPr>
        </p:nvSpPr>
        <p:spPr>
          <a:xfrm>
            <a:off x="441809" y="327654"/>
            <a:ext cx="7886700" cy="720079"/>
          </a:xfrm>
        </p:spPr>
        <p:txBody>
          <a:bodyPr/>
          <a:lstStyle/>
          <a:p>
            <a:r>
              <a:rPr lang="en-GB" dirty="0">
                <a:solidFill>
                  <a:srgbClr val="1C9DAC"/>
                </a:solidFill>
                <a:ea typeface="ＭＳ Ｐゴシック"/>
              </a:rPr>
              <a:t>Cost of Capital – Debt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FA7C4A0-9BD0-76A3-3826-39667F80532E}"/>
                  </a:ext>
                </a:extLst>
              </p:cNvPr>
              <p:cNvSpPr>
                <a:spLocks noGrp="1"/>
              </p:cNvSpPr>
              <p:nvPr>
                <p:ph sz="half" idx="1"/>
              </p:nvPr>
            </p:nvSpPr>
            <p:spPr>
              <a:xfrm>
                <a:off x="345989" y="950025"/>
                <a:ext cx="8489253" cy="5463565"/>
              </a:xfrm>
            </p:spPr>
            <p:txBody>
              <a:bodyPr lIns="91440" tIns="45720" rIns="91440" bIns="45720" anchor="t">
                <a:normAutofit/>
              </a:bodyPr>
              <a:lstStyle/>
              <a:p>
                <a:pPr marL="0" indent="0">
                  <a:buClr>
                    <a:srgbClr val="C00000"/>
                  </a:buClr>
                  <a:buSzPct val="90000"/>
                  <a:buNone/>
                </a:pPr>
                <a:r>
                  <a:rPr lang="en-GB" sz="1600" dirty="0">
                    <a:cs typeface="Calibri" panose="020F0502020204030204" pitchFamily="34" charset="0"/>
                  </a:rPr>
                  <a:t>GE will use debt to partly finance this project. The debt issue is:</a:t>
                </a:r>
              </a:p>
              <a:p>
                <a:pPr marL="0" indent="0">
                  <a:buClr>
                    <a:srgbClr val="C00000"/>
                  </a:buClr>
                  <a:buSzPct val="90000"/>
                  <a:buNone/>
                </a:pPr>
                <a:endParaRPr lang="en-GB" sz="1600" dirty="0">
                  <a:cs typeface="Calibri" panose="020F0502020204030204" pitchFamily="34" charset="0"/>
                </a:endParaRPr>
              </a:p>
              <a:p>
                <a:pPr marL="0" indent="0">
                  <a:buClr>
                    <a:srgbClr val="C00000"/>
                  </a:buClr>
                  <a:buSzPct val="90000"/>
                  <a:buNone/>
                </a:pPr>
                <a:r>
                  <a:rPr lang="en-GB" sz="1600" dirty="0">
                    <a:cs typeface="Calibri" panose="020F0502020204030204" pitchFamily="34" charset="0"/>
                  </a:rPr>
                  <a:t>Number of bonds: </a:t>
                </a:r>
                <a14:m>
                  <m:oMath xmlns:m="http://schemas.openxmlformats.org/officeDocument/2006/math">
                    <m:r>
                      <a:rPr lang="en-GB" sz="1600" i="1">
                        <a:solidFill>
                          <a:schemeClr val="accent5">
                            <a:lumMod val="75000"/>
                          </a:schemeClr>
                        </a:solidFill>
                        <a:latin typeface="Cambria Math" panose="02040503050406030204" pitchFamily="18" charset="0"/>
                        <a:cs typeface="Calibri" panose="020F0502020204030204" pitchFamily="34" charset="0"/>
                      </a:rPr>
                      <m:t>50,000,000 </m:t>
                    </m:r>
                  </m:oMath>
                </a14:m>
                <a:r>
                  <a:rPr lang="en-GB" sz="1600" dirty="0">
                    <a:cs typeface="Calibri" panose="020F0502020204030204" pitchFamily="34" charset="0"/>
                  </a:rPr>
                  <a:t>; Coupon rate: </a:t>
                </a:r>
                <a14:m>
                  <m:oMath xmlns:m="http://schemas.openxmlformats.org/officeDocument/2006/math">
                    <m:r>
                      <a:rPr lang="en-GB" sz="1600" i="1">
                        <a:solidFill>
                          <a:schemeClr val="accent5">
                            <a:lumMod val="75000"/>
                          </a:schemeClr>
                        </a:solidFill>
                        <a:latin typeface="Cambria Math" panose="02040503050406030204" pitchFamily="18" charset="0"/>
                        <a:cs typeface="Calibri" panose="020F0502020204030204" pitchFamily="34" charset="0"/>
                      </a:rPr>
                      <m:t>6% </m:t>
                    </m:r>
                  </m:oMath>
                </a14:m>
                <a:r>
                  <a:rPr lang="en-GB" sz="1600" dirty="0">
                    <a:cs typeface="Calibri" panose="020F0502020204030204" pitchFamily="34" charset="0"/>
                  </a:rPr>
                  <a:t>; YTM: </a:t>
                </a:r>
                <a14:m>
                  <m:oMath xmlns:m="http://schemas.openxmlformats.org/officeDocument/2006/math">
                    <m:r>
                      <a:rPr lang="en-GB" sz="1600" i="1">
                        <a:solidFill>
                          <a:schemeClr val="accent5">
                            <a:lumMod val="75000"/>
                          </a:schemeClr>
                        </a:solidFill>
                        <a:latin typeface="Cambria Math" panose="02040503050406030204" pitchFamily="18" charset="0"/>
                        <a:cs typeface="Calibri" panose="020F0502020204030204" pitchFamily="34" charset="0"/>
                      </a:rPr>
                      <m:t>4%</m:t>
                    </m:r>
                  </m:oMath>
                </a14:m>
                <a:r>
                  <a:rPr lang="en-GB" sz="1600" dirty="0">
                    <a:cs typeface="Calibri" panose="020F0502020204030204" pitchFamily="34" charset="0"/>
                  </a:rPr>
                  <a:t> ; Maturity: </a:t>
                </a:r>
                <a14:m>
                  <m:oMath xmlns:m="http://schemas.openxmlformats.org/officeDocument/2006/math">
                    <m:r>
                      <a:rPr lang="en-GB" sz="1600" i="1">
                        <a:solidFill>
                          <a:schemeClr val="accent5">
                            <a:lumMod val="75000"/>
                          </a:schemeClr>
                        </a:solidFill>
                        <a:latin typeface="Cambria Math" panose="02040503050406030204" pitchFamily="18" charset="0"/>
                        <a:cs typeface="Calibri" panose="020F0502020204030204" pitchFamily="34" charset="0"/>
                      </a:rPr>
                      <m:t>20 </m:t>
                    </m:r>
                    <m:r>
                      <m:rPr>
                        <m:sty m:val="p"/>
                      </m:rPr>
                      <a:rPr lang="en-GB" sz="1600">
                        <a:solidFill>
                          <a:schemeClr val="accent5">
                            <a:lumMod val="75000"/>
                          </a:schemeClr>
                        </a:solidFill>
                        <a:latin typeface="Cambria Math" panose="02040503050406030204" pitchFamily="18" charset="0"/>
                        <a:cs typeface="Calibri" panose="020F0502020204030204" pitchFamily="34" charset="0"/>
                      </a:rPr>
                      <m:t>years</m:t>
                    </m:r>
                  </m:oMath>
                </a14:m>
                <a:r>
                  <a:rPr lang="en-GB" sz="1600" dirty="0">
                    <a:cs typeface="Calibri" panose="020F0502020204030204" pitchFamily="34" charset="0"/>
                  </a:rPr>
                  <a:t>	</a:t>
                </a:r>
              </a:p>
              <a:p>
                <a:pPr marL="0" indent="0">
                  <a:buClr>
                    <a:srgbClr val="C00000"/>
                  </a:buClr>
                  <a:buSzPct val="90000"/>
                  <a:buNone/>
                </a:pPr>
                <a:r>
                  <a:rPr lang="en-GB" sz="1600" dirty="0">
                    <a:cs typeface="Calibri" panose="020F0502020204030204" pitchFamily="34" charset="0"/>
                  </a:rPr>
                  <a:t>Face value: </a:t>
                </a:r>
                <a14:m>
                  <m:oMath xmlns:m="http://schemas.openxmlformats.org/officeDocument/2006/math">
                    <m:r>
                      <a:rPr lang="en-GB" sz="1600" i="1">
                        <a:solidFill>
                          <a:schemeClr val="accent5">
                            <a:lumMod val="75000"/>
                          </a:schemeClr>
                        </a:solidFill>
                        <a:latin typeface="Cambria Math" panose="02040503050406030204" pitchFamily="18" charset="0"/>
                        <a:cs typeface="Calibri" panose="020F0502020204030204" pitchFamily="34" charset="0"/>
                      </a:rPr>
                      <m:t>100</m:t>
                    </m:r>
                    <m:r>
                      <m:rPr>
                        <m:sty m:val="p"/>
                      </m:rPr>
                      <a:rPr lang="en-GB" sz="1600">
                        <a:solidFill>
                          <a:schemeClr val="accent5">
                            <a:lumMod val="75000"/>
                          </a:schemeClr>
                        </a:solidFill>
                        <a:latin typeface="Cambria Math" panose="02040503050406030204" pitchFamily="18" charset="0"/>
                        <a:cs typeface="Calibri" panose="020F0502020204030204" pitchFamily="34" charset="0"/>
                      </a:rPr>
                      <m:t>Kr</m:t>
                    </m:r>
                    <m:r>
                      <a:rPr lang="en-GB" sz="1600">
                        <a:solidFill>
                          <a:schemeClr val="accent5">
                            <a:lumMod val="75000"/>
                          </a:schemeClr>
                        </a:solidFill>
                        <a:latin typeface="Cambria Math" panose="02040503050406030204" pitchFamily="18" charset="0"/>
                        <a:cs typeface="Calibri" panose="020F0502020204030204" pitchFamily="34" charset="0"/>
                      </a:rPr>
                      <m:t> </m:t>
                    </m:r>
                  </m:oMath>
                </a14:m>
                <a:r>
                  <a:rPr lang="en-GB" sz="1600" dirty="0">
                    <a:cs typeface="Calibri" panose="020F0502020204030204" pitchFamily="34" charset="0"/>
                  </a:rPr>
                  <a:t> ; Corporate tax: </a:t>
                </a:r>
                <a14:m>
                  <m:oMath xmlns:m="http://schemas.openxmlformats.org/officeDocument/2006/math">
                    <m:r>
                      <a:rPr lang="en-GB" sz="1600" i="1">
                        <a:solidFill>
                          <a:schemeClr val="accent5">
                            <a:lumMod val="75000"/>
                          </a:schemeClr>
                        </a:solidFill>
                        <a:latin typeface="Cambria Math" panose="02040503050406030204" pitchFamily="18" charset="0"/>
                        <a:cs typeface="Calibri" panose="020F0502020204030204" pitchFamily="34" charset="0"/>
                      </a:rPr>
                      <m:t>21.40%</m:t>
                    </m:r>
                  </m:oMath>
                </a14:m>
                <a:endParaRPr lang="en-GB" sz="1600" dirty="0">
                  <a:cs typeface="Calibri" panose="020F0502020204030204" pitchFamily="34" charset="0"/>
                </a:endParaRPr>
              </a:p>
              <a:p>
                <a:pPr marL="0" indent="0">
                  <a:buClr>
                    <a:srgbClr val="C00000"/>
                  </a:buClr>
                  <a:buSzPct val="90000"/>
                  <a:buNone/>
                </a:pPr>
                <a:endParaRPr lang="en-GB" sz="1600" dirty="0">
                  <a:cs typeface="Calibri" panose="020F0502020204030204" pitchFamily="34" charset="0"/>
                </a:endParaRPr>
              </a:p>
              <a:p>
                <a:pPr marL="0" lvl="1" indent="0">
                  <a:buClr>
                    <a:srgbClr val="C00000"/>
                  </a:buClr>
                  <a:buSzPct val="90000"/>
                  <a:buNone/>
                </a:pPr>
                <a:r>
                  <a:rPr lang="en-GB" sz="1600" dirty="0">
                    <a:cs typeface="Calibri" panose="020F0502020204030204" pitchFamily="34" charset="0"/>
                  </a:rPr>
                  <a:t>To calculate the amount raised we need to calculate the bond price at which it was issued:</a:t>
                </a:r>
              </a:p>
              <a:p>
                <a:pPr marL="0" lvl="1" indent="0">
                  <a:lnSpc>
                    <a:spcPct val="150000"/>
                  </a:lnSpc>
                  <a:buClr>
                    <a:srgbClr val="C00000"/>
                  </a:buClr>
                  <a:buSzPct val="90000"/>
                  <a:buNone/>
                </a:pPr>
                <a14:m>
                  <m:oMathPara xmlns:m="http://schemas.openxmlformats.org/officeDocument/2006/math">
                    <m:oMathParaPr>
                      <m:jc m:val="centerGroup"/>
                    </m:oMathParaPr>
                    <m:oMath xmlns:m="http://schemas.openxmlformats.org/officeDocument/2006/math">
                      <m:sSub>
                        <m:sSubPr>
                          <m:ctrlPr>
                            <a:rPr lang="en-GB" sz="1600" i="1">
                              <a:latin typeface="Cambria Math" panose="02040503050406030204" pitchFamily="18" charset="0"/>
                              <a:cs typeface="Calibri" panose="020F0502020204030204" pitchFamily="34" charset="0"/>
                            </a:rPr>
                          </m:ctrlPr>
                        </m:sSubPr>
                        <m:e>
                          <m:r>
                            <m:rPr>
                              <m:sty m:val="p"/>
                            </m:rPr>
                            <a:rPr lang="en-GB" sz="1600">
                              <a:latin typeface="Cambria Math" panose="02040503050406030204" pitchFamily="18" charset="0"/>
                              <a:cs typeface="Calibri" panose="020F0502020204030204" pitchFamily="34" charset="0"/>
                            </a:rPr>
                            <m:t>B</m:t>
                          </m:r>
                        </m:e>
                        <m:sub>
                          <m:r>
                            <a:rPr lang="en-GB" sz="1600">
                              <a:latin typeface="Cambria Math" panose="02040503050406030204" pitchFamily="18" charset="0"/>
                              <a:cs typeface="Calibri" panose="020F0502020204030204" pitchFamily="34" charset="0"/>
                            </a:rPr>
                            <m:t>0</m:t>
                          </m:r>
                        </m:sub>
                      </m:sSub>
                      <m:r>
                        <a:rPr lang="en-GB" sz="1600" i="1">
                          <a:latin typeface="Cambria Math" panose="02040503050406030204" pitchFamily="18" charset="0"/>
                          <a:cs typeface="Calibri" panose="020F0502020204030204" pitchFamily="34" charset="0"/>
                        </a:rPr>
                        <m:t>=6</m:t>
                      </m:r>
                      <m:r>
                        <a:rPr lang="en-GB" sz="1600" i="1">
                          <a:latin typeface="Cambria Math" panose="02040503050406030204" pitchFamily="18" charset="0"/>
                          <a:ea typeface="Cambria Math" panose="02040503050406030204" pitchFamily="18" charset="0"/>
                          <a:cs typeface="Calibri" panose="020F0502020204030204" pitchFamily="34" charset="0"/>
                        </a:rPr>
                        <m:t>×</m:t>
                      </m:r>
                      <m:f>
                        <m:fPr>
                          <m:ctrlPr>
                            <a:rPr lang="en-GB" sz="1600" i="1">
                              <a:latin typeface="Cambria Math" panose="02040503050406030204" pitchFamily="18" charset="0"/>
                              <a:ea typeface="Cambria Math" panose="02040503050406030204" pitchFamily="18" charset="0"/>
                              <a:cs typeface="Calibri" panose="020F0502020204030204" pitchFamily="34" charset="0"/>
                            </a:rPr>
                          </m:ctrlPr>
                        </m:fPr>
                        <m:num>
                          <m:r>
                            <a:rPr lang="en-GB" sz="1600" i="1">
                              <a:latin typeface="Cambria Math" panose="02040503050406030204" pitchFamily="18" charset="0"/>
                              <a:ea typeface="Cambria Math" panose="02040503050406030204" pitchFamily="18" charset="0"/>
                              <a:cs typeface="Calibri" panose="020F0502020204030204" pitchFamily="34" charset="0"/>
                            </a:rPr>
                            <m:t>1−</m:t>
                          </m:r>
                          <m:sSup>
                            <m:sSupPr>
                              <m:ctrlPr>
                                <a:rPr lang="en-GB" sz="1600" i="1">
                                  <a:latin typeface="Cambria Math" panose="02040503050406030204" pitchFamily="18" charset="0"/>
                                  <a:ea typeface="Cambria Math" panose="02040503050406030204" pitchFamily="18" charset="0"/>
                                  <a:cs typeface="Calibri" panose="020F0502020204030204" pitchFamily="34" charset="0"/>
                                </a:rPr>
                              </m:ctrlPr>
                            </m:sSupPr>
                            <m:e>
                              <m:d>
                                <m:dPr>
                                  <m:ctrlPr>
                                    <a:rPr lang="en-GB" sz="1600" i="1">
                                      <a:latin typeface="Cambria Math" panose="02040503050406030204" pitchFamily="18" charset="0"/>
                                      <a:ea typeface="Cambria Math" panose="02040503050406030204" pitchFamily="18" charset="0"/>
                                      <a:cs typeface="Calibri" panose="020F0502020204030204" pitchFamily="34" charset="0"/>
                                    </a:rPr>
                                  </m:ctrlPr>
                                </m:dPr>
                                <m:e>
                                  <m:r>
                                    <a:rPr lang="en-GB" sz="1600" i="1">
                                      <a:latin typeface="Cambria Math" panose="02040503050406030204" pitchFamily="18" charset="0"/>
                                      <a:ea typeface="Cambria Math" panose="02040503050406030204" pitchFamily="18" charset="0"/>
                                      <a:cs typeface="Calibri" panose="020F0502020204030204" pitchFamily="34" charset="0"/>
                                    </a:rPr>
                                    <m:t>1+4%</m:t>
                                  </m:r>
                                </m:e>
                              </m:d>
                            </m:e>
                            <m:sup>
                              <m:r>
                                <a:rPr lang="en-GB" sz="1600" i="1">
                                  <a:latin typeface="Cambria Math" panose="02040503050406030204" pitchFamily="18" charset="0"/>
                                  <a:ea typeface="Cambria Math" panose="02040503050406030204" pitchFamily="18" charset="0"/>
                                  <a:cs typeface="Calibri" panose="020F0502020204030204" pitchFamily="34" charset="0"/>
                                </a:rPr>
                                <m:t>−20</m:t>
                              </m:r>
                            </m:sup>
                          </m:sSup>
                        </m:num>
                        <m:den>
                          <m:r>
                            <a:rPr lang="en-GB" sz="1600" i="1">
                              <a:latin typeface="Cambria Math" panose="02040503050406030204" pitchFamily="18" charset="0"/>
                              <a:ea typeface="Cambria Math" panose="02040503050406030204" pitchFamily="18" charset="0"/>
                              <a:cs typeface="Calibri" panose="020F0502020204030204" pitchFamily="34" charset="0"/>
                            </a:rPr>
                            <m:t>4%</m:t>
                          </m:r>
                        </m:den>
                      </m:f>
                      <m:r>
                        <a:rPr lang="en-GB" sz="1600" i="1">
                          <a:latin typeface="Cambria Math" panose="02040503050406030204" pitchFamily="18" charset="0"/>
                          <a:ea typeface="Cambria Math" panose="02040503050406030204" pitchFamily="18" charset="0"/>
                          <a:cs typeface="Calibri" panose="020F0502020204030204" pitchFamily="34" charset="0"/>
                        </a:rPr>
                        <m:t>+100×</m:t>
                      </m:r>
                      <m:sSup>
                        <m:sSupPr>
                          <m:ctrlPr>
                            <a:rPr lang="en-GB" sz="1600" i="1">
                              <a:latin typeface="Cambria Math" panose="02040503050406030204" pitchFamily="18" charset="0"/>
                              <a:ea typeface="Cambria Math" panose="02040503050406030204" pitchFamily="18" charset="0"/>
                              <a:cs typeface="Calibri" panose="020F0502020204030204" pitchFamily="34" charset="0"/>
                            </a:rPr>
                          </m:ctrlPr>
                        </m:sSupPr>
                        <m:e>
                          <m:d>
                            <m:dPr>
                              <m:ctrlPr>
                                <a:rPr lang="en-GB" sz="1600" i="1">
                                  <a:latin typeface="Cambria Math" panose="02040503050406030204" pitchFamily="18" charset="0"/>
                                  <a:ea typeface="Cambria Math" panose="02040503050406030204" pitchFamily="18" charset="0"/>
                                  <a:cs typeface="Calibri" panose="020F0502020204030204" pitchFamily="34" charset="0"/>
                                </a:rPr>
                              </m:ctrlPr>
                            </m:dPr>
                            <m:e>
                              <m:r>
                                <a:rPr lang="en-GB" sz="1600" i="1">
                                  <a:latin typeface="Cambria Math" panose="02040503050406030204" pitchFamily="18" charset="0"/>
                                  <a:ea typeface="Cambria Math" panose="02040503050406030204" pitchFamily="18" charset="0"/>
                                  <a:cs typeface="Calibri" panose="020F0502020204030204" pitchFamily="34" charset="0"/>
                                </a:rPr>
                                <m:t>1+4%</m:t>
                              </m:r>
                            </m:e>
                          </m:d>
                        </m:e>
                        <m:sup>
                          <m:r>
                            <a:rPr lang="en-GB" sz="1600" i="1">
                              <a:latin typeface="Cambria Math" panose="02040503050406030204" pitchFamily="18" charset="0"/>
                              <a:ea typeface="Cambria Math" panose="02040503050406030204" pitchFamily="18" charset="0"/>
                              <a:cs typeface="Calibri" panose="020F0502020204030204" pitchFamily="34" charset="0"/>
                            </a:rPr>
                            <m:t>−20</m:t>
                          </m:r>
                        </m:sup>
                      </m:sSup>
                      <m:r>
                        <a:rPr lang="en-GB" sz="1600" i="1">
                          <a:latin typeface="Cambria Math" panose="02040503050406030204" pitchFamily="18" charset="0"/>
                          <a:ea typeface="Cambria Math" panose="02040503050406030204" pitchFamily="18" charset="0"/>
                          <a:cs typeface="Calibri" panose="020F0502020204030204" pitchFamily="34" charset="0"/>
                        </a:rPr>
                        <m:t>=127.18</m:t>
                      </m:r>
                      <m:r>
                        <m:rPr>
                          <m:sty m:val="p"/>
                        </m:rPr>
                        <a:rPr lang="en-GB" sz="1600">
                          <a:latin typeface="Cambria Math" panose="02040503050406030204" pitchFamily="18" charset="0"/>
                          <a:ea typeface="Cambria Math" panose="02040503050406030204" pitchFamily="18" charset="0"/>
                          <a:cs typeface="Calibri" panose="020F0502020204030204" pitchFamily="34" charset="0"/>
                        </a:rPr>
                        <m:t>Kr</m:t>
                      </m:r>
                      <m:r>
                        <a:rPr lang="en-GB" sz="1600" i="1">
                          <a:latin typeface="Cambria Math" panose="02040503050406030204" pitchFamily="18" charset="0"/>
                          <a:cs typeface="Calibri" panose="020F0502020204030204" pitchFamily="34" charset="0"/>
                        </a:rPr>
                        <m:t> </m:t>
                      </m:r>
                    </m:oMath>
                  </m:oMathPara>
                </a14:m>
                <a:endParaRPr lang="en-GB" sz="1600" dirty="0">
                  <a:cs typeface="Calibri" panose="020F0502020204030204" pitchFamily="34" charset="0"/>
                </a:endParaRPr>
              </a:p>
              <a:p>
                <a:pPr marL="0" lvl="1" indent="0">
                  <a:lnSpc>
                    <a:spcPct val="150000"/>
                  </a:lnSpc>
                  <a:buClr>
                    <a:srgbClr val="C00000"/>
                  </a:buClr>
                  <a:buSzPct val="90000"/>
                  <a:buNone/>
                </a:pPr>
                <a:r>
                  <a:rPr lang="en-GB" sz="1600" dirty="0">
                    <a:cs typeface="Calibri" panose="020F0502020204030204" pitchFamily="34" charset="0"/>
                  </a:rPr>
                  <a:t>Then we can calculate the total value of the bond issue:</a:t>
                </a:r>
              </a:p>
              <a:p>
                <a:pPr marL="0" lvl="1" indent="0">
                  <a:lnSpc>
                    <a:spcPct val="150000"/>
                  </a:lnSpc>
                  <a:buClr>
                    <a:srgbClr val="C00000"/>
                  </a:buClr>
                  <a:buSzPct val="90000"/>
                  <a:buNone/>
                </a:pPr>
                <a14:m>
                  <m:oMathPara xmlns:m="http://schemas.openxmlformats.org/officeDocument/2006/math">
                    <m:oMathParaPr>
                      <m:jc m:val="centerGroup"/>
                    </m:oMathParaPr>
                    <m:oMath xmlns:m="http://schemas.openxmlformats.org/officeDocument/2006/math">
                      <m:r>
                        <m:rPr>
                          <m:sty m:val="p"/>
                        </m:rPr>
                        <a:rPr lang="en-GB" sz="1600">
                          <a:latin typeface="Cambria Math" panose="02040503050406030204" pitchFamily="18" charset="0"/>
                          <a:cs typeface="Calibri" panose="020F0502020204030204" pitchFamily="34" charset="0"/>
                        </a:rPr>
                        <m:t>Debt</m:t>
                      </m:r>
                      <m:r>
                        <a:rPr lang="en-GB" sz="1600" i="1">
                          <a:latin typeface="Cambria Math" panose="02040503050406030204" pitchFamily="18" charset="0"/>
                          <a:cs typeface="Calibri" panose="020F0502020204030204" pitchFamily="34" charset="0"/>
                        </a:rPr>
                        <m:t>=</m:t>
                      </m:r>
                      <m:r>
                        <a:rPr lang="en-GB" sz="1600" i="1">
                          <a:latin typeface="Cambria Math" panose="02040503050406030204" pitchFamily="18" charset="0"/>
                          <a:ea typeface="Cambria Math" panose="02040503050406030204" pitchFamily="18" charset="0"/>
                          <a:cs typeface="Calibri" panose="020F0502020204030204" pitchFamily="34" charset="0"/>
                        </a:rPr>
                        <m:t>127.18×50,000,000=6,359,000,000</m:t>
                      </m:r>
                      <m:r>
                        <m:rPr>
                          <m:sty m:val="p"/>
                        </m:rPr>
                        <a:rPr lang="en-GB" sz="1600">
                          <a:latin typeface="Cambria Math" panose="02040503050406030204" pitchFamily="18" charset="0"/>
                          <a:ea typeface="Cambria Math" panose="02040503050406030204" pitchFamily="18" charset="0"/>
                          <a:cs typeface="Calibri" panose="020F0502020204030204" pitchFamily="34" charset="0"/>
                        </a:rPr>
                        <m:t>Kr</m:t>
                      </m:r>
                      <m:r>
                        <a:rPr lang="en-GB" sz="1600" i="1">
                          <a:latin typeface="Cambria Math" panose="02040503050406030204" pitchFamily="18" charset="0"/>
                          <a:cs typeface="Calibri" panose="020F0502020204030204" pitchFamily="34" charset="0"/>
                        </a:rPr>
                        <m:t> </m:t>
                      </m:r>
                    </m:oMath>
                  </m:oMathPara>
                </a14:m>
                <a:endParaRPr lang="en-GB" sz="1600" dirty="0">
                  <a:cs typeface="Calibri" panose="020F0502020204030204" pitchFamily="34" charset="0"/>
                </a:endParaRPr>
              </a:p>
              <a:p>
                <a:pPr marL="0" lvl="1" indent="0">
                  <a:spcBef>
                    <a:spcPts val="600"/>
                  </a:spcBef>
                  <a:spcAft>
                    <a:spcPts val="600"/>
                  </a:spcAft>
                  <a:buClr>
                    <a:srgbClr val="C00000"/>
                  </a:buClr>
                  <a:buSzPct val="90000"/>
                  <a:buNone/>
                </a:pPr>
                <a:r>
                  <a:rPr lang="en-GB" sz="1600" dirty="0">
                    <a:cs typeface="Calibri" panose="020F0502020204030204" pitchFamily="34" charset="0"/>
                  </a:rPr>
                  <a:t>We know the YTM is the </a:t>
                </a:r>
                <a14:m>
                  <m:oMath xmlns:m="http://schemas.openxmlformats.org/officeDocument/2006/math">
                    <m:r>
                      <a:rPr lang="en-GB" sz="1600" i="1">
                        <a:latin typeface="Cambria Math" panose="02040503050406030204" pitchFamily="18" charset="0"/>
                        <a:cs typeface="Calibri" panose="020F0502020204030204" pitchFamily="34" charset="0"/>
                      </a:rPr>
                      <m:t>𝑟</m:t>
                    </m:r>
                  </m:oMath>
                </a14:m>
                <a:r>
                  <a:rPr lang="en-GB" sz="1600" dirty="0">
                    <a:cs typeface="Calibri" panose="020F0502020204030204" pitchFamily="34" charset="0"/>
                  </a:rPr>
                  <a:t>. So we don’t need to calculate that, however, debt has a tax benefit, so we need to adjust the </a:t>
                </a:r>
                <a14:m>
                  <m:oMath xmlns:m="http://schemas.openxmlformats.org/officeDocument/2006/math">
                    <m:r>
                      <a:rPr lang="en-GB" sz="1600" i="1">
                        <a:latin typeface="Cambria Math" panose="02040503050406030204" pitchFamily="18" charset="0"/>
                        <a:cs typeface="Calibri" panose="020F0502020204030204" pitchFamily="34" charset="0"/>
                      </a:rPr>
                      <m:t>𝑟</m:t>
                    </m:r>
                  </m:oMath>
                </a14:m>
                <a:r>
                  <a:rPr lang="en-GB" sz="1600" dirty="0">
                    <a:cs typeface="Calibri" panose="020F0502020204030204" pitchFamily="34" charset="0"/>
                  </a:rPr>
                  <a:t> for this, we call this the after-tax yield to maturity :</a:t>
                </a:r>
                <a14:m>
                  <m:oMath xmlns:m="http://schemas.openxmlformats.org/officeDocument/2006/math">
                    <m:sSub>
                      <m:sSubPr>
                        <m:ctrlPr>
                          <a:rPr lang="en-GB" sz="1600" i="1">
                            <a:solidFill>
                              <a:srgbClr val="C00000"/>
                            </a:solidFill>
                            <a:latin typeface="Cambria Math" panose="02040503050406030204" pitchFamily="18" charset="0"/>
                            <a:cs typeface="Calibri" panose="020F0502020204030204" pitchFamily="34" charset="0"/>
                          </a:rPr>
                        </m:ctrlPr>
                      </m:sSubPr>
                      <m:e>
                        <m:r>
                          <a:rPr lang="en-GB" sz="1600" i="1">
                            <a:solidFill>
                              <a:srgbClr val="C00000"/>
                            </a:solidFill>
                            <a:latin typeface="Cambria Math" panose="02040503050406030204" pitchFamily="18" charset="0"/>
                            <a:cs typeface="Calibri" panose="020F0502020204030204" pitchFamily="34" charset="0"/>
                          </a:rPr>
                          <m:t> </m:t>
                        </m:r>
                        <m:r>
                          <a:rPr lang="en-GB" sz="1600" i="1">
                            <a:solidFill>
                              <a:srgbClr val="C00000"/>
                            </a:solidFill>
                            <a:latin typeface="Cambria Math" panose="02040503050406030204" pitchFamily="18" charset="0"/>
                            <a:cs typeface="Calibri" panose="020F0502020204030204" pitchFamily="34" charset="0"/>
                          </a:rPr>
                          <m:t>𝑟</m:t>
                        </m:r>
                      </m:e>
                      <m:sub>
                        <m:r>
                          <a:rPr lang="en-GB" sz="1600" i="1">
                            <a:solidFill>
                              <a:srgbClr val="C00000"/>
                            </a:solidFill>
                            <a:latin typeface="Cambria Math" panose="02040503050406030204" pitchFamily="18" charset="0"/>
                            <a:cs typeface="Calibri" panose="020F0502020204030204" pitchFamily="34" charset="0"/>
                          </a:rPr>
                          <m:t>𝐷</m:t>
                        </m:r>
                      </m:sub>
                    </m:sSub>
                    <m:r>
                      <a:rPr lang="en-GB" sz="1600" i="1">
                        <a:solidFill>
                          <a:srgbClr val="C00000"/>
                        </a:solidFill>
                        <a:latin typeface="Cambria Math" panose="02040503050406030204" pitchFamily="18" charset="0"/>
                        <a:cs typeface="Calibri" panose="020F0502020204030204" pitchFamily="34" charset="0"/>
                      </a:rPr>
                      <m:t>=</m:t>
                    </m:r>
                    <m:r>
                      <a:rPr lang="en-GB" sz="1600" i="1">
                        <a:solidFill>
                          <a:srgbClr val="C00000"/>
                        </a:solidFill>
                        <a:latin typeface="Cambria Math" panose="02040503050406030204" pitchFamily="18" charset="0"/>
                        <a:cs typeface="Calibri" panose="020F0502020204030204" pitchFamily="34" charset="0"/>
                      </a:rPr>
                      <m:t>𝑦</m:t>
                    </m:r>
                    <m:r>
                      <a:rPr lang="en-GB" sz="1600" i="1">
                        <a:solidFill>
                          <a:srgbClr val="C00000"/>
                        </a:solidFill>
                        <a:latin typeface="Cambria Math" panose="02040503050406030204" pitchFamily="18" charset="0"/>
                        <a:cs typeface="Calibri" panose="020F0502020204030204" pitchFamily="34" charset="0"/>
                      </a:rPr>
                      <m:t>(1−</m:t>
                    </m:r>
                    <m:r>
                      <a:rPr lang="en-GB" sz="1600" i="1">
                        <a:solidFill>
                          <a:srgbClr val="C00000"/>
                        </a:solidFill>
                        <a:latin typeface="Cambria Math" panose="02040503050406030204" pitchFamily="18" charset="0"/>
                        <a:cs typeface="Calibri" panose="020F0502020204030204" pitchFamily="34" charset="0"/>
                      </a:rPr>
                      <m:t>𝑇</m:t>
                    </m:r>
                    <m:r>
                      <a:rPr lang="en-GB" sz="1600" i="1">
                        <a:solidFill>
                          <a:srgbClr val="C00000"/>
                        </a:solidFill>
                        <a:latin typeface="Cambria Math" panose="02040503050406030204" pitchFamily="18" charset="0"/>
                        <a:cs typeface="Calibri" panose="020F0502020204030204" pitchFamily="34" charset="0"/>
                      </a:rPr>
                      <m:t>)</m:t>
                    </m:r>
                  </m:oMath>
                </a14:m>
                <a:endParaRPr lang="en-GB" sz="1600" dirty="0">
                  <a:solidFill>
                    <a:srgbClr val="C00000"/>
                  </a:solidFill>
                  <a:latin typeface="Calibri" panose="020F0502020204030204" pitchFamily="34" charset="0"/>
                  <a:cs typeface="Calibri" panose="020F0502020204030204" pitchFamily="34" charset="0"/>
                </a:endParaRPr>
              </a:p>
              <a:p>
                <a:pPr marL="0" lvl="1" indent="0">
                  <a:lnSpc>
                    <a:spcPct val="150000"/>
                  </a:lnSpc>
                  <a:spcBef>
                    <a:spcPts val="600"/>
                  </a:spcBef>
                  <a:spcAft>
                    <a:spcPts val="600"/>
                  </a:spcAft>
                  <a:buClr>
                    <a:srgbClr val="C00000"/>
                  </a:buClr>
                  <a:buSzPct val="90000"/>
                  <a:buNone/>
                </a:pPr>
                <a14:m>
                  <m:oMathPara xmlns:m="http://schemas.openxmlformats.org/officeDocument/2006/math">
                    <m:oMathParaPr>
                      <m:jc m:val="centerGroup"/>
                    </m:oMathParaPr>
                    <m:oMath xmlns:m="http://schemas.openxmlformats.org/officeDocument/2006/math">
                      <m:sSub>
                        <m:sSubPr>
                          <m:ctrlPr>
                            <a:rPr lang="en-GB" sz="1600" i="1">
                              <a:latin typeface="Cambria Math" panose="02040503050406030204" pitchFamily="18" charset="0"/>
                              <a:cs typeface="Calibri" panose="020F0502020204030204" pitchFamily="34" charset="0"/>
                            </a:rPr>
                          </m:ctrlPr>
                        </m:sSubPr>
                        <m:e>
                          <m:r>
                            <a:rPr lang="en-GB" sz="1600" i="1">
                              <a:latin typeface="Cambria Math" panose="02040503050406030204" pitchFamily="18" charset="0"/>
                              <a:cs typeface="Calibri" panose="020F0502020204030204" pitchFamily="34" charset="0"/>
                            </a:rPr>
                            <m:t>𝑟</m:t>
                          </m:r>
                        </m:e>
                        <m:sub>
                          <m:r>
                            <a:rPr lang="en-GB" sz="1600" i="1">
                              <a:latin typeface="Cambria Math" panose="02040503050406030204" pitchFamily="18" charset="0"/>
                              <a:cs typeface="Calibri" panose="020F0502020204030204" pitchFamily="34" charset="0"/>
                            </a:rPr>
                            <m:t>𝐷</m:t>
                          </m:r>
                        </m:sub>
                      </m:sSub>
                      <m:r>
                        <a:rPr lang="en-GB" sz="1600" i="1">
                          <a:latin typeface="Cambria Math" panose="02040503050406030204" pitchFamily="18" charset="0"/>
                          <a:cs typeface="Calibri" panose="020F0502020204030204" pitchFamily="34" charset="0"/>
                        </a:rPr>
                        <m:t>=4%</m:t>
                      </m:r>
                      <m:r>
                        <a:rPr lang="en-GB" sz="1600" i="1">
                          <a:latin typeface="Cambria Math" panose="02040503050406030204" pitchFamily="18" charset="0"/>
                          <a:ea typeface="Cambria Math" panose="02040503050406030204" pitchFamily="18" charset="0"/>
                          <a:cs typeface="Calibri" panose="020F0502020204030204" pitchFamily="34" charset="0"/>
                        </a:rPr>
                        <m:t>×</m:t>
                      </m:r>
                      <m:d>
                        <m:dPr>
                          <m:ctrlPr>
                            <a:rPr lang="en-GB" sz="1600" i="1">
                              <a:latin typeface="Cambria Math" panose="02040503050406030204" pitchFamily="18" charset="0"/>
                              <a:ea typeface="Cambria Math" panose="02040503050406030204" pitchFamily="18" charset="0"/>
                              <a:cs typeface="Calibri" panose="020F0502020204030204" pitchFamily="34" charset="0"/>
                            </a:rPr>
                          </m:ctrlPr>
                        </m:dPr>
                        <m:e>
                          <m:r>
                            <a:rPr lang="en-GB" sz="1600" i="1">
                              <a:latin typeface="Cambria Math" panose="02040503050406030204" pitchFamily="18" charset="0"/>
                              <a:ea typeface="Cambria Math" panose="02040503050406030204" pitchFamily="18" charset="0"/>
                              <a:cs typeface="Calibri" panose="020F0502020204030204" pitchFamily="34" charset="0"/>
                            </a:rPr>
                            <m:t>1−21.40%</m:t>
                          </m:r>
                        </m:e>
                      </m:d>
                      <m:r>
                        <a:rPr lang="en-GB" sz="1600" i="1">
                          <a:latin typeface="Cambria Math" panose="02040503050406030204" pitchFamily="18" charset="0"/>
                          <a:ea typeface="Cambria Math" panose="02040503050406030204" pitchFamily="18" charset="0"/>
                          <a:cs typeface="Calibri" panose="020F0502020204030204" pitchFamily="34" charset="0"/>
                        </a:rPr>
                        <m:t>=3.14%</m:t>
                      </m:r>
                    </m:oMath>
                  </m:oMathPara>
                </a14:m>
                <a:endParaRPr lang="en-GB" sz="1600" dirty="0">
                  <a:cs typeface="Calibri" panose="020F0502020204030204" pitchFamily="34" charset="0"/>
                </a:endParaRPr>
              </a:p>
              <a:p>
                <a:pPr marL="0" lvl="1" indent="0">
                  <a:lnSpc>
                    <a:spcPct val="150000"/>
                  </a:lnSpc>
                  <a:spcBef>
                    <a:spcPts val="600"/>
                  </a:spcBef>
                  <a:spcAft>
                    <a:spcPts val="600"/>
                  </a:spcAft>
                  <a:buClr>
                    <a:srgbClr val="C00000"/>
                  </a:buClr>
                  <a:buSzPct val="90000"/>
                  <a:buNone/>
                </a:pPr>
                <a:r>
                  <a:rPr lang="en-GB" sz="1600" dirty="0">
                    <a:cs typeface="Calibri" panose="020F0502020204030204" pitchFamily="34" charset="0"/>
                  </a:rPr>
                  <a:t>Cost of the equity for the project is 6,359,000,000 x 3.14% = 199,672,600Kr</a:t>
                </a:r>
              </a:p>
              <a:p>
                <a:pPr marL="0" lvl="1" indent="0">
                  <a:lnSpc>
                    <a:spcPct val="150000"/>
                  </a:lnSpc>
                  <a:spcBef>
                    <a:spcPts val="600"/>
                  </a:spcBef>
                  <a:spcAft>
                    <a:spcPts val="600"/>
                  </a:spcAft>
                  <a:buClr>
                    <a:srgbClr val="C00000"/>
                  </a:buClr>
                  <a:buSzPct val="90000"/>
                  <a:buNone/>
                </a:pPr>
                <a:endParaRPr lang="en-GB" sz="2900" b="1" u="sng" dirty="0">
                  <a:cs typeface="Calibri" panose="020F0502020204030204" pitchFamily="34" charset="0"/>
                </a:endParaRPr>
              </a:p>
              <a:p>
                <a:pPr marL="0" lvl="1" indent="0">
                  <a:lnSpc>
                    <a:spcPct val="150000"/>
                  </a:lnSpc>
                  <a:buClr>
                    <a:srgbClr val="C00000"/>
                  </a:buClr>
                  <a:buSzPct val="90000"/>
                  <a:buNone/>
                </a:pPr>
                <a:endParaRPr lang="en-GB" dirty="0">
                  <a:latin typeface="Calibri" panose="020F0502020204030204" pitchFamily="34" charset="0"/>
                  <a:cs typeface="Calibri" panose="020F0502020204030204" pitchFamily="34" charset="0"/>
                </a:endParaRPr>
              </a:p>
              <a:p>
                <a:pPr marL="0" lvl="1" indent="0">
                  <a:lnSpc>
                    <a:spcPct val="150000"/>
                  </a:lnSpc>
                  <a:buClr>
                    <a:srgbClr val="C00000"/>
                  </a:buClr>
                  <a:buSzPct val="90000"/>
                  <a:buNone/>
                </a:pPr>
                <a:endParaRPr lang="en-GB" dirty="0">
                  <a:latin typeface="Calibri" panose="020F0502020204030204" pitchFamily="34" charset="0"/>
                  <a:cs typeface="Calibri" panose="020F0502020204030204" pitchFamily="34" charset="0"/>
                </a:endParaRPr>
              </a:p>
              <a:p>
                <a:pPr marL="0" indent="0">
                  <a:buClr>
                    <a:srgbClr val="C00000"/>
                  </a:buClr>
                  <a:buSzPct val="90000"/>
                  <a:buNone/>
                </a:pPr>
                <a:endParaRPr lang="en-GB" sz="1600" dirty="0">
                  <a:cs typeface="Calibri" panose="020F0502020204030204" pitchFamily="34" charset="0"/>
                </a:endParaRPr>
              </a:p>
            </p:txBody>
          </p:sp>
        </mc:Choice>
        <mc:Fallback xmlns="">
          <p:sp>
            <p:nvSpPr>
              <p:cNvPr id="3" name="Content Placeholder 2">
                <a:extLst>
                  <a:ext uri="{FF2B5EF4-FFF2-40B4-BE49-F238E27FC236}">
                    <a16:creationId xmlns:a16="http://schemas.microsoft.com/office/drawing/2014/main" id="{9FA7C4A0-9BD0-76A3-3826-39667F80532E}"/>
                  </a:ext>
                </a:extLst>
              </p:cNvPr>
              <p:cNvSpPr>
                <a:spLocks noGrp="1" noRot="1" noChangeAspect="1" noMove="1" noResize="1" noEditPoints="1" noAdjustHandles="1" noChangeArrowheads="1" noChangeShapeType="1" noTextEdit="1"/>
              </p:cNvSpPr>
              <p:nvPr>
                <p:ph sz="half" idx="1"/>
              </p:nvPr>
            </p:nvSpPr>
            <p:spPr>
              <a:xfrm>
                <a:off x="345989" y="950025"/>
                <a:ext cx="8489253" cy="5463565"/>
              </a:xfrm>
              <a:blipFill>
                <a:blip r:embed="rId3"/>
                <a:stretch>
                  <a:fillRect/>
                </a:stretch>
              </a:blipFill>
            </p:spPr>
            <p:txBody>
              <a:bodyPr/>
              <a:lstStyle/>
              <a:p>
                <a:r>
                  <a:rPr lang="en-GB">
                    <a:noFill/>
                  </a:rPr>
                  <a:t> </a:t>
                </a:r>
              </a:p>
            </p:txBody>
          </p:sp>
        </mc:Fallback>
      </mc:AlternateContent>
      <p:sp>
        <p:nvSpPr>
          <p:cNvPr id="4" name="Arrow: Down 3">
            <a:extLst>
              <a:ext uri="{FF2B5EF4-FFF2-40B4-BE49-F238E27FC236}">
                <a16:creationId xmlns:a16="http://schemas.microsoft.com/office/drawing/2014/main" id="{F4562975-AD30-7E8A-1BAD-44633B8D5966}"/>
              </a:ext>
            </a:extLst>
          </p:cNvPr>
          <p:cNvSpPr/>
          <p:nvPr/>
        </p:nvSpPr>
        <p:spPr>
          <a:xfrm rot="16200000">
            <a:off x="3155004" y="3109576"/>
            <a:ext cx="884540" cy="6361346"/>
          </a:xfrm>
          <a:prstGeom prst="downArrow">
            <a:avLst/>
          </a:prstGeom>
        </p:spPr>
        <p:style>
          <a:lnRef idx="1">
            <a:schemeClr val="accent1"/>
          </a:lnRef>
          <a:fillRef idx="3">
            <a:schemeClr val="accent1"/>
          </a:fillRef>
          <a:effectRef idx="2">
            <a:schemeClr val="accent1"/>
          </a:effectRef>
          <a:fontRef idx="minor">
            <a:schemeClr val="lt1"/>
          </a:fontRef>
        </p:style>
        <p:txBody>
          <a:bodyPr vert="vert" rtlCol="0" anchor="ctr"/>
          <a:lstStyle/>
          <a:p>
            <a:pPr algn="ctr"/>
            <a:r>
              <a:rPr lang="en-GB" sz="1800" b="1" dirty="0">
                <a:cs typeface="Calibri" panose="020F0502020204030204" pitchFamily="34" charset="0"/>
              </a:rPr>
              <a:t>Each 1Kr raised from debt costs the company 0.0314Kr</a:t>
            </a:r>
            <a:endParaRPr lang="en-GB" dirty="0"/>
          </a:p>
        </p:txBody>
      </p:sp>
      <p:pic>
        <p:nvPicPr>
          <p:cNvPr id="8" name="Picture 7" descr="Stacks of gold coins">
            <a:extLst>
              <a:ext uri="{FF2B5EF4-FFF2-40B4-BE49-F238E27FC236}">
                <a16:creationId xmlns:a16="http://schemas.microsoft.com/office/drawing/2014/main" id="{88FDAD7A-C36A-6F4D-7D73-AF0A563E756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77947" y="5155150"/>
            <a:ext cx="2366053" cy="1577369"/>
          </a:xfrm>
          <a:prstGeom prst="rect">
            <a:avLst/>
          </a:prstGeom>
        </p:spPr>
      </p:pic>
    </p:spTree>
    <p:extLst>
      <p:ext uri="{BB962C8B-B14F-4D97-AF65-F5344CB8AC3E}">
        <p14:creationId xmlns:p14="http://schemas.microsoft.com/office/powerpoint/2010/main" val="266001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5D27C-D40D-B063-1486-52DBBBDF0C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317988-BA37-0D11-EA9F-A643C6BADC48}"/>
              </a:ext>
            </a:extLst>
          </p:cNvPr>
          <p:cNvSpPr>
            <a:spLocks noGrp="1"/>
          </p:cNvSpPr>
          <p:nvPr>
            <p:ph type="title"/>
          </p:nvPr>
        </p:nvSpPr>
        <p:spPr>
          <a:xfrm>
            <a:off x="441809" y="327654"/>
            <a:ext cx="7886700" cy="720079"/>
          </a:xfrm>
        </p:spPr>
        <p:txBody>
          <a:bodyPr/>
          <a:lstStyle/>
          <a:p>
            <a:r>
              <a:rPr lang="en-GB" dirty="0">
                <a:solidFill>
                  <a:srgbClr val="1C9DAC"/>
                </a:solidFill>
                <a:ea typeface="ＭＳ Ｐゴシック"/>
              </a:rPr>
              <a:t>Cost of Capital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CF1E0C5-38F1-083C-96C2-37EC67906933}"/>
                  </a:ext>
                </a:extLst>
              </p:cNvPr>
              <p:cNvSpPr>
                <a:spLocks noGrp="1"/>
              </p:cNvSpPr>
              <p:nvPr>
                <p:ph sz="half" idx="1"/>
              </p:nvPr>
            </p:nvSpPr>
            <p:spPr>
              <a:xfrm>
                <a:off x="345989" y="950025"/>
                <a:ext cx="8489253" cy="5463565"/>
              </a:xfrm>
            </p:spPr>
            <p:txBody>
              <a:bodyPr lIns="91440" tIns="45720" rIns="91440" bIns="45720" anchor="t">
                <a:normAutofit/>
              </a:bodyPr>
              <a:lstStyle/>
              <a:p>
                <a:pPr marL="0" lvl="0" indent="0">
                  <a:buClr>
                    <a:srgbClr val="C00000"/>
                  </a:buClr>
                  <a:buSzPct val="90000"/>
                  <a:buNone/>
                </a:pPr>
                <a:r>
                  <a:rPr lang="en-GB" sz="1600" dirty="0">
                    <a:solidFill>
                      <a:prstClr val="black"/>
                    </a:solidFill>
                    <a:cs typeface="Calibri" panose="020F0502020204030204" pitchFamily="34" charset="0"/>
                  </a:rPr>
                  <a:t>GE will finance this project using both debt and equity:</a:t>
                </a:r>
              </a:p>
              <a:p>
                <a:pPr marL="457200" lvl="1" indent="0">
                  <a:spcBef>
                    <a:spcPts val="600"/>
                  </a:spcBef>
                  <a:spcAft>
                    <a:spcPts val="600"/>
                  </a:spcAft>
                  <a:buClr>
                    <a:srgbClr val="C00000"/>
                  </a:buClr>
                  <a:buSzPct val="90000"/>
                  <a:buNone/>
                </a:pPr>
                <a:r>
                  <a:rPr lang="en-GB" sz="1600" dirty="0">
                    <a:solidFill>
                      <a:srgbClr val="C00000"/>
                    </a:solidFill>
                    <a:cs typeface="Calibri" panose="020F0502020204030204" pitchFamily="34" charset="0"/>
                  </a:rPr>
                  <a:t>Equity – </a:t>
                </a:r>
                <a:r>
                  <a:rPr lang="en-GB" sz="1600" dirty="0">
                    <a:cs typeface="Calibri" panose="020F0502020204030204" pitchFamily="34" charset="0"/>
                  </a:rPr>
                  <a:t>The total equity raised is: </a:t>
                </a:r>
                <a14:m>
                  <m:oMath xmlns:m="http://schemas.openxmlformats.org/officeDocument/2006/math">
                    <m:r>
                      <a:rPr lang="en-GB" sz="1600" i="1">
                        <a:solidFill>
                          <a:schemeClr val="accent5">
                            <a:lumMod val="75000"/>
                          </a:schemeClr>
                        </a:solidFill>
                        <a:latin typeface="Cambria Math" panose="02040503050406030204" pitchFamily="18" charset="0"/>
                        <a:cs typeface="Calibri" panose="020F0502020204030204" pitchFamily="34" charset="0"/>
                      </a:rPr>
                      <m:t>9,000,0000,000</m:t>
                    </m:r>
                    <m:r>
                      <m:rPr>
                        <m:sty m:val="p"/>
                      </m:rPr>
                      <a:rPr lang="en-GB" sz="1600">
                        <a:solidFill>
                          <a:schemeClr val="accent5">
                            <a:lumMod val="75000"/>
                          </a:schemeClr>
                        </a:solidFill>
                        <a:latin typeface="Cambria Math" panose="02040503050406030204" pitchFamily="18" charset="0"/>
                        <a:cs typeface="Calibri" panose="020F0502020204030204" pitchFamily="34" charset="0"/>
                      </a:rPr>
                      <m:t>Kr</m:t>
                    </m:r>
                  </m:oMath>
                </a14:m>
                <a:endParaRPr lang="en-GB" sz="1600" dirty="0">
                  <a:solidFill>
                    <a:schemeClr val="accent5">
                      <a:lumMod val="75000"/>
                    </a:schemeClr>
                  </a:solidFill>
                  <a:cs typeface="Calibri" panose="020F0502020204030204" pitchFamily="34" charset="0"/>
                </a:endParaRPr>
              </a:p>
              <a:p>
                <a:pPr marL="1520825" lvl="1">
                  <a:spcBef>
                    <a:spcPts val="600"/>
                  </a:spcBef>
                  <a:spcAft>
                    <a:spcPts val="600"/>
                  </a:spcAft>
                  <a:buClr>
                    <a:srgbClr val="C00000"/>
                  </a:buClr>
                  <a:buSzPct val="90000"/>
                  <a:buFont typeface="Calibri" panose="020F0502020204030204" pitchFamily="34" charset="0"/>
                  <a:buChar char="─"/>
                </a:pPr>
                <a:r>
                  <a:rPr lang="en-GB" sz="1600" dirty="0">
                    <a:cs typeface="Calibri" panose="020F0502020204030204" pitchFamily="34" charset="0"/>
                  </a:rPr>
                  <a:t>The cost of equity is: </a:t>
                </a:r>
                <a14:m>
                  <m:oMath xmlns:m="http://schemas.openxmlformats.org/officeDocument/2006/math">
                    <m:sSub>
                      <m:sSubPr>
                        <m:ctrlPr>
                          <a:rPr lang="en-GB" sz="1600" i="1">
                            <a:solidFill>
                              <a:schemeClr val="accent5">
                                <a:lumMod val="75000"/>
                              </a:schemeClr>
                            </a:solidFill>
                            <a:latin typeface="Cambria Math" panose="02040503050406030204" pitchFamily="18" charset="0"/>
                            <a:cs typeface="Calibri" panose="020F0502020204030204" pitchFamily="34" charset="0"/>
                          </a:rPr>
                        </m:ctrlPr>
                      </m:sSubPr>
                      <m:e>
                        <m:r>
                          <a:rPr lang="en-GB" sz="1600" i="1">
                            <a:solidFill>
                              <a:schemeClr val="accent5">
                                <a:lumMod val="75000"/>
                              </a:schemeClr>
                            </a:solidFill>
                            <a:latin typeface="Cambria Math" panose="02040503050406030204" pitchFamily="18" charset="0"/>
                            <a:cs typeface="Calibri" panose="020F0502020204030204" pitchFamily="34" charset="0"/>
                          </a:rPr>
                          <m:t>𝑟</m:t>
                        </m:r>
                      </m:e>
                      <m:sub>
                        <m:r>
                          <a:rPr lang="en-GB" sz="1600" i="1">
                            <a:solidFill>
                              <a:schemeClr val="accent5">
                                <a:lumMod val="75000"/>
                              </a:schemeClr>
                            </a:solidFill>
                            <a:latin typeface="Cambria Math" panose="02040503050406030204" pitchFamily="18" charset="0"/>
                            <a:cs typeface="Calibri" panose="020F0502020204030204" pitchFamily="34" charset="0"/>
                          </a:rPr>
                          <m:t>𝐸</m:t>
                        </m:r>
                      </m:sub>
                    </m:sSub>
                    <m:r>
                      <a:rPr lang="en-GB" sz="1600" i="1">
                        <a:solidFill>
                          <a:schemeClr val="accent5">
                            <a:lumMod val="75000"/>
                          </a:schemeClr>
                        </a:solidFill>
                        <a:latin typeface="Cambria Math" panose="02040503050406030204" pitchFamily="18" charset="0"/>
                        <a:cs typeface="Calibri" panose="020F0502020204030204" pitchFamily="34" charset="0"/>
                      </a:rPr>
                      <m:t>=8.61%</m:t>
                    </m:r>
                  </m:oMath>
                </a14:m>
                <a:r>
                  <a:rPr lang="en-GB" sz="1600" dirty="0">
                    <a:cs typeface="Calibri" panose="020F0502020204030204" pitchFamily="34" charset="0"/>
                  </a:rPr>
                  <a:t> = 774,900,000Kr</a:t>
                </a:r>
              </a:p>
              <a:p>
                <a:pPr marL="457200" lvl="1" indent="0">
                  <a:spcBef>
                    <a:spcPts val="600"/>
                  </a:spcBef>
                  <a:spcAft>
                    <a:spcPts val="600"/>
                  </a:spcAft>
                  <a:buClr>
                    <a:srgbClr val="C00000"/>
                  </a:buClr>
                  <a:buSzPct val="90000"/>
                  <a:buNone/>
                </a:pPr>
                <a:r>
                  <a:rPr lang="en-GB" sz="1600" dirty="0">
                    <a:solidFill>
                      <a:srgbClr val="C00000"/>
                    </a:solidFill>
                    <a:cs typeface="Calibri" panose="020F0502020204030204" pitchFamily="34" charset="0"/>
                  </a:rPr>
                  <a:t>Debt – </a:t>
                </a:r>
                <a:r>
                  <a:rPr lang="en-GB" sz="1600" dirty="0">
                    <a:cs typeface="Calibri" panose="020F0502020204030204" pitchFamily="34" charset="0"/>
                  </a:rPr>
                  <a:t>The total debt raised is:</a:t>
                </a:r>
                <a14:m>
                  <m:oMath xmlns:m="http://schemas.openxmlformats.org/officeDocument/2006/math">
                    <m:r>
                      <a:rPr lang="en-GB" sz="1600">
                        <a:solidFill>
                          <a:prstClr val="black"/>
                        </a:solidFill>
                        <a:latin typeface="Cambria Math" panose="02040503050406030204" pitchFamily="18" charset="0"/>
                        <a:ea typeface="Cambria Math" panose="02040503050406030204" pitchFamily="18" charset="0"/>
                        <a:cs typeface="Calibri" panose="020F0502020204030204" pitchFamily="34" charset="0"/>
                      </a:rPr>
                      <m:t> </m:t>
                    </m:r>
                    <m:r>
                      <a:rPr lang="en-GB" sz="1600" i="1">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t>6,359,000,000</m:t>
                    </m:r>
                    <m:r>
                      <m:rPr>
                        <m:sty m:val="p"/>
                      </m:rPr>
                      <a:rPr lang="en-GB" sz="1600">
                        <a:solidFill>
                          <a:schemeClr val="accent5">
                            <a:lumMod val="75000"/>
                          </a:schemeClr>
                        </a:solidFill>
                        <a:latin typeface="Cambria Math" panose="02040503050406030204" pitchFamily="18" charset="0"/>
                        <a:ea typeface="Cambria Math" panose="02040503050406030204" pitchFamily="18" charset="0"/>
                        <a:cs typeface="Calibri" panose="020F0502020204030204" pitchFamily="34" charset="0"/>
                      </a:rPr>
                      <m:t>K</m:t>
                    </m:r>
                    <m:r>
                      <m:rPr>
                        <m:sty m:val="p"/>
                      </m:rPr>
                      <a:rPr lang="en-GB" sz="1600">
                        <a:solidFill>
                          <a:schemeClr val="accent5">
                            <a:lumMod val="75000"/>
                          </a:schemeClr>
                        </a:solidFill>
                        <a:latin typeface="Cambria Math" panose="02040503050406030204" pitchFamily="18" charset="0"/>
                        <a:cs typeface="Calibri" panose="020F0502020204030204" pitchFamily="34" charset="0"/>
                      </a:rPr>
                      <m:t>r</m:t>
                    </m:r>
                  </m:oMath>
                </a14:m>
                <a:endParaRPr lang="en-GB" sz="1600" dirty="0">
                  <a:solidFill>
                    <a:schemeClr val="accent5">
                      <a:lumMod val="75000"/>
                    </a:schemeClr>
                  </a:solidFill>
                  <a:cs typeface="Calibri" panose="020F0502020204030204" pitchFamily="34" charset="0"/>
                </a:endParaRPr>
              </a:p>
              <a:p>
                <a:pPr marL="1339850" lvl="1">
                  <a:spcBef>
                    <a:spcPts val="600"/>
                  </a:spcBef>
                  <a:spcAft>
                    <a:spcPts val="600"/>
                  </a:spcAft>
                  <a:buClr>
                    <a:srgbClr val="C00000"/>
                  </a:buClr>
                  <a:buSzPct val="90000"/>
                  <a:buFont typeface="Calibri" panose="020F0502020204030204" pitchFamily="34" charset="0"/>
                  <a:buChar char="─"/>
                </a:pPr>
                <a:r>
                  <a:rPr lang="en-GB" sz="1600" dirty="0">
                    <a:cs typeface="Calibri" panose="020F0502020204030204" pitchFamily="34" charset="0"/>
                  </a:rPr>
                  <a:t>The cost of debt is: </a:t>
                </a:r>
                <a14:m>
                  <m:oMath xmlns:m="http://schemas.openxmlformats.org/officeDocument/2006/math">
                    <m:sSub>
                      <m:sSubPr>
                        <m:ctrlPr>
                          <a:rPr lang="en-GB" sz="1600" i="1">
                            <a:solidFill>
                              <a:schemeClr val="accent5">
                                <a:lumMod val="75000"/>
                              </a:schemeClr>
                            </a:solidFill>
                            <a:latin typeface="Cambria Math" panose="02040503050406030204" pitchFamily="18" charset="0"/>
                            <a:cs typeface="Calibri" panose="020F0502020204030204" pitchFamily="34" charset="0"/>
                          </a:rPr>
                        </m:ctrlPr>
                      </m:sSubPr>
                      <m:e>
                        <m:r>
                          <a:rPr lang="en-GB" sz="1600" i="1">
                            <a:solidFill>
                              <a:schemeClr val="accent5">
                                <a:lumMod val="75000"/>
                              </a:schemeClr>
                            </a:solidFill>
                            <a:latin typeface="Cambria Math" panose="02040503050406030204" pitchFamily="18" charset="0"/>
                            <a:cs typeface="Calibri" panose="020F0502020204030204" pitchFamily="34" charset="0"/>
                          </a:rPr>
                          <m:t>𝑟</m:t>
                        </m:r>
                      </m:e>
                      <m:sub>
                        <m:r>
                          <a:rPr lang="en-GB" sz="1600" i="1">
                            <a:solidFill>
                              <a:schemeClr val="accent5">
                                <a:lumMod val="75000"/>
                              </a:schemeClr>
                            </a:solidFill>
                            <a:latin typeface="Cambria Math" panose="02040503050406030204" pitchFamily="18" charset="0"/>
                            <a:cs typeface="Calibri" panose="020F0502020204030204" pitchFamily="34" charset="0"/>
                          </a:rPr>
                          <m:t>𝐷</m:t>
                        </m:r>
                      </m:sub>
                    </m:sSub>
                    <m:r>
                      <a:rPr lang="en-GB" sz="1600" i="1">
                        <a:solidFill>
                          <a:schemeClr val="accent5">
                            <a:lumMod val="75000"/>
                          </a:schemeClr>
                        </a:solidFill>
                        <a:latin typeface="Cambria Math" panose="02040503050406030204" pitchFamily="18" charset="0"/>
                        <a:cs typeface="Calibri" panose="020F0502020204030204" pitchFamily="34" charset="0"/>
                      </a:rPr>
                      <m:t>=3.14%</m:t>
                    </m:r>
                  </m:oMath>
                </a14:m>
                <a:r>
                  <a:rPr lang="en-GB" sz="1600" dirty="0">
                    <a:cs typeface="Calibri" panose="020F0502020204030204" pitchFamily="34" charset="0"/>
                  </a:rPr>
                  <a:t> = 199,672,600Kr</a:t>
                </a:r>
              </a:p>
              <a:p>
                <a:pPr marL="1339850" lvl="1">
                  <a:spcBef>
                    <a:spcPts val="600"/>
                  </a:spcBef>
                  <a:spcAft>
                    <a:spcPts val="600"/>
                  </a:spcAft>
                  <a:buClr>
                    <a:srgbClr val="C00000"/>
                  </a:buClr>
                  <a:buSzPct val="90000"/>
                  <a:buFont typeface="Calibri" panose="020F0502020204030204" pitchFamily="34" charset="0"/>
                  <a:buChar char="─"/>
                </a:pPr>
                <a:endParaRPr lang="en-GB" sz="1600" dirty="0">
                  <a:cs typeface="Calibri" panose="020F0502020204030204" pitchFamily="34" charset="0"/>
                </a:endParaRPr>
              </a:p>
              <a:p>
                <a:pPr marL="0" indent="0">
                  <a:buClr>
                    <a:srgbClr val="C00000"/>
                  </a:buClr>
                  <a:buSzPct val="90000"/>
                  <a:buNone/>
                </a:pPr>
                <a14:m>
                  <m:oMath xmlns:m="http://schemas.openxmlformats.org/officeDocument/2006/math">
                    <m:r>
                      <a:rPr lang="en-GB" sz="1600" i="1" dirty="0">
                        <a:solidFill>
                          <a:srgbClr val="C00000"/>
                        </a:solidFill>
                        <a:latin typeface="Cambria Math" panose="02040503050406030204" pitchFamily="18" charset="0"/>
                        <a:ea typeface="Cambria Math" panose="02040503050406030204" pitchFamily="18" charset="0"/>
                        <a:cs typeface="Calibri" panose="020F0502020204030204" pitchFamily="34" charset="0"/>
                      </a:rPr>
                      <m:t>⇒</m:t>
                    </m:r>
                    <m:r>
                      <a:rPr lang="en-GB" sz="1600" i="1" dirty="0">
                        <a:latin typeface="Cambria Math" panose="02040503050406030204" pitchFamily="18" charset="0"/>
                        <a:cs typeface="Calibri" panose="020F0502020204030204" pitchFamily="34" charset="0"/>
                      </a:rPr>
                      <m:t> </m:t>
                    </m:r>
                  </m:oMath>
                </a14:m>
                <a:r>
                  <a:rPr lang="en-GB" sz="1600" dirty="0">
                    <a:cs typeface="Calibri" panose="020F0502020204030204" pitchFamily="34" charset="0"/>
                  </a:rPr>
                  <a:t>The total capital raised </a:t>
                </a:r>
                <a14:m>
                  <m:oMath xmlns:m="http://schemas.openxmlformats.org/officeDocument/2006/math">
                    <m:r>
                      <a:rPr lang="en-GB" sz="1600" i="1">
                        <a:latin typeface="Cambria Math" panose="02040503050406030204" pitchFamily="18" charset="0"/>
                        <a:cs typeface="Calibri" panose="020F0502020204030204" pitchFamily="34" charset="0"/>
                      </a:rPr>
                      <m:t>=9,000,000,000+6,359,000,000=15,359,000,000</m:t>
                    </m:r>
                    <m:r>
                      <m:rPr>
                        <m:sty m:val="p"/>
                      </m:rPr>
                      <a:rPr lang="en-GB" sz="1600">
                        <a:latin typeface="Cambria Math" panose="02040503050406030204" pitchFamily="18" charset="0"/>
                        <a:cs typeface="Calibri" panose="020F0502020204030204" pitchFamily="34" charset="0"/>
                      </a:rPr>
                      <m:t>Kr</m:t>
                    </m:r>
                  </m:oMath>
                </a14:m>
                <a:r>
                  <a:rPr lang="en-GB" sz="1600" dirty="0">
                    <a:cs typeface="Calibri" panose="020F0502020204030204" pitchFamily="34" charset="0"/>
                  </a:rPr>
                  <a:t> at a total cost of 974,572,600Kr </a:t>
                </a:r>
              </a:p>
              <a:p>
                <a:pPr marL="0" indent="0">
                  <a:spcBef>
                    <a:spcPts val="600"/>
                  </a:spcBef>
                  <a:buNone/>
                </a:pPr>
                <a:endParaRPr lang="en-GB" sz="1600" dirty="0"/>
              </a:p>
              <a:p>
                <a:pPr marL="0" indent="0">
                  <a:spcBef>
                    <a:spcPts val="600"/>
                  </a:spcBef>
                  <a:buNone/>
                </a:pPr>
                <a:endParaRPr lang="en-GB" sz="1600" dirty="0"/>
              </a:p>
              <a:p>
                <a:pPr>
                  <a:spcBef>
                    <a:spcPts val="600"/>
                  </a:spcBef>
                  <a:buClr>
                    <a:srgbClr val="1C9DAC"/>
                  </a:buClr>
                </a:pPr>
                <a:r>
                  <a:rPr lang="en-GB" sz="1600" dirty="0"/>
                  <a:t>The weighting of </a:t>
                </a:r>
                <a:r>
                  <a:rPr lang="en-GB" sz="1600" b="1" dirty="0">
                    <a:solidFill>
                      <a:schemeClr val="accent2"/>
                    </a:solidFill>
                  </a:rPr>
                  <a:t>Debt</a:t>
                </a:r>
                <a:r>
                  <a:rPr lang="en-GB" sz="1600" dirty="0"/>
                  <a:t> is:    </a:t>
                </a:r>
                <a14:m>
                  <m:oMath xmlns:m="http://schemas.openxmlformats.org/officeDocument/2006/math">
                    <m:sSub>
                      <m:sSubPr>
                        <m:ctrlPr>
                          <a:rPr lang="en-GB" sz="1600" i="1">
                            <a:latin typeface="Cambria Math" panose="02040503050406030204" pitchFamily="18" charset="0"/>
                          </a:rPr>
                        </m:ctrlPr>
                      </m:sSubPr>
                      <m:e>
                        <m:r>
                          <a:rPr lang="en-GB" sz="1600" i="1">
                            <a:latin typeface="Cambria Math" panose="02040503050406030204" pitchFamily="18" charset="0"/>
                          </a:rPr>
                          <m:t>𝑤</m:t>
                        </m:r>
                      </m:e>
                      <m:sub>
                        <m:r>
                          <a:rPr lang="en-GB" sz="1600" i="1">
                            <a:latin typeface="Cambria Math" panose="02040503050406030204" pitchFamily="18" charset="0"/>
                          </a:rPr>
                          <m:t>𝐷</m:t>
                        </m:r>
                      </m:sub>
                    </m:sSub>
                    <m:r>
                      <a:rPr lang="en-GB" sz="1600" i="1">
                        <a:latin typeface="Cambria Math" panose="02040503050406030204" pitchFamily="18" charset="0"/>
                      </a:rPr>
                      <m:t>=</m:t>
                    </m:r>
                    <m:f>
                      <m:fPr>
                        <m:ctrlPr>
                          <a:rPr lang="en-GB" sz="1600" i="1">
                            <a:latin typeface="Cambria Math" panose="02040503050406030204" pitchFamily="18" charset="0"/>
                          </a:rPr>
                        </m:ctrlPr>
                      </m:fPr>
                      <m:num>
                        <m:r>
                          <a:rPr lang="en-GB" sz="1600" i="1">
                            <a:latin typeface="Cambria Math" panose="02040503050406030204" pitchFamily="18" charset="0"/>
                          </a:rPr>
                          <m:t>6,359,000,000</m:t>
                        </m:r>
                        <m:r>
                          <a:rPr lang="en-GB" sz="1600" i="1">
                            <a:latin typeface="Cambria Math" panose="02040503050406030204" pitchFamily="18" charset="0"/>
                          </a:rPr>
                          <m:t>𝐾𝑟</m:t>
                        </m:r>
                      </m:num>
                      <m:den>
                        <m:r>
                          <a:rPr lang="en-GB" sz="1600" i="1">
                            <a:latin typeface="Cambria Math" panose="02040503050406030204" pitchFamily="18" charset="0"/>
                            <a:cs typeface="Calibri" panose="020F0502020204030204" pitchFamily="34" charset="0"/>
                          </a:rPr>
                          <m:t>15,359,000,000</m:t>
                        </m:r>
                        <m:r>
                          <m:rPr>
                            <m:sty m:val="p"/>
                          </m:rPr>
                          <a:rPr lang="en-GB" sz="1600">
                            <a:latin typeface="Cambria Math" panose="02040503050406030204" pitchFamily="18" charset="0"/>
                            <a:cs typeface="Calibri" panose="020F0502020204030204" pitchFamily="34" charset="0"/>
                          </a:rPr>
                          <m:t>Kr</m:t>
                        </m:r>
                      </m:den>
                    </m:f>
                    <m:r>
                      <a:rPr lang="en-GB" sz="1600" i="1">
                        <a:latin typeface="Cambria Math" panose="02040503050406030204" pitchFamily="18" charset="0"/>
                      </a:rPr>
                      <m:t>=41%</m:t>
                    </m:r>
                  </m:oMath>
                </a14:m>
                <a:endParaRPr lang="en-GB" sz="1600" dirty="0"/>
              </a:p>
              <a:p>
                <a:pPr>
                  <a:spcBef>
                    <a:spcPts val="600"/>
                  </a:spcBef>
                  <a:buClr>
                    <a:srgbClr val="1C9DAC"/>
                  </a:buClr>
                </a:pPr>
                <a:endParaRPr lang="en-GB" sz="1600" dirty="0"/>
              </a:p>
              <a:p>
                <a:pPr>
                  <a:spcBef>
                    <a:spcPts val="600"/>
                  </a:spcBef>
                  <a:buClr>
                    <a:srgbClr val="1C9DAC"/>
                  </a:buClr>
                </a:pPr>
                <a:r>
                  <a:rPr lang="en-GB" sz="1600" dirty="0"/>
                  <a:t>The weighting of </a:t>
                </a:r>
                <a:r>
                  <a:rPr lang="en-GB" sz="1600" b="1" dirty="0">
                    <a:solidFill>
                      <a:schemeClr val="accent1">
                        <a:lumMod val="75000"/>
                      </a:schemeClr>
                    </a:solidFill>
                  </a:rPr>
                  <a:t>Equity</a:t>
                </a:r>
                <a:r>
                  <a:rPr lang="en-GB" sz="1600" dirty="0"/>
                  <a:t> is:  </a:t>
                </a:r>
                <a14:m>
                  <m:oMath xmlns:m="http://schemas.openxmlformats.org/officeDocument/2006/math">
                    <m:sSub>
                      <m:sSubPr>
                        <m:ctrlPr>
                          <a:rPr lang="en-GB" sz="1600" i="1">
                            <a:latin typeface="Cambria Math" panose="02040503050406030204" pitchFamily="18" charset="0"/>
                          </a:rPr>
                        </m:ctrlPr>
                      </m:sSubPr>
                      <m:e>
                        <m:r>
                          <a:rPr lang="en-GB" sz="1600" i="1">
                            <a:latin typeface="Cambria Math" panose="02040503050406030204" pitchFamily="18" charset="0"/>
                          </a:rPr>
                          <m:t>𝑤</m:t>
                        </m:r>
                      </m:e>
                      <m:sub>
                        <m:r>
                          <a:rPr lang="en-GB" sz="1600" i="1">
                            <a:latin typeface="Cambria Math" panose="02040503050406030204" pitchFamily="18" charset="0"/>
                          </a:rPr>
                          <m:t>𝐸</m:t>
                        </m:r>
                      </m:sub>
                    </m:sSub>
                    <m:r>
                      <a:rPr lang="en-GB" sz="1600" i="1">
                        <a:latin typeface="Cambria Math" panose="02040503050406030204" pitchFamily="18" charset="0"/>
                      </a:rPr>
                      <m:t>=</m:t>
                    </m:r>
                    <m:f>
                      <m:fPr>
                        <m:ctrlPr>
                          <a:rPr lang="en-GB" sz="1600" i="1">
                            <a:latin typeface="Cambria Math" panose="02040503050406030204" pitchFamily="18" charset="0"/>
                          </a:rPr>
                        </m:ctrlPr>
                      </m:fPr>
                      <m:num>
                        <m:r>
                          <a:rPr lang="en-GB" sz="1600" i="1">
                            <a:latin typeface="Cambria Math" panose="02040503050406030204" pitchFamily="18" charset="0"/>
                          </a:rPr>
                          <m:t>9,000,000,000</m:t>
                        </m:r>
                        <m:r>
                          <a:rPr lang="en-GB" sz="1600" i="1">
                            <a:latin typeface="Cambria Math" panose="02040503050406030204" pitchFamily="18" charset="0"/>
                          </a:rPr>
                          <m:t>𝐾𝑟</m:t>
                        </m:r>
                      </m:num>
                      <m:den>
                        <m:r>
                          <a:rPr lang="en-GB" sz="1600" i="1">
                            <a:latin typeface="Cambria Math" panose="02040503050406030204" pitchFamily="18" charset="0"/>
                            <a:cs typeface="Calibri" panose="020F0502020204030204" pitchFamily="34" charset="0"/>
                          </a:rPr>
                          <m:t>15,359,000,000</m:t>
                        </m:r>
                        <m:r>
                          <m:rPr>
                            <m:sty m:val="p"/>
                          </m:rPr>
                          <a:rPr lang="en-GB" sz="1600">
                            <a:latin typeface="Cambria Math" panose="02040503050406030204" pitchFamily="18" charset="0"/>
                            <a:cs typeface="Calibri" panose="020F0502020204030204" pitchFamily="34" charset="0"/>
                          </a:rPr>
                          <m:t>Kr</m:t>
                        </m:r>
                      </m:den>
                    </m:f>
                    <m:r>
                      <a:rPr lang="en-GB" sz="1600" i="1">
                        <a:latin typeface="Cambria Math" panose="02040503050406030204" pitchFamily="18" charset="0"/>
                      </a:rPr>
                      <m:t>=59%</m:t>
                    </m:r>
                  </m:oMath>
                </a14:m>
                <a:endParaRPr lang="en-GB" sz="1600" dirty="0"/>
              </a:p>
              <a:p>
                <a:pPr>
                  <a:spcBef>
                    <a:spcPts val="600"/>
                  </a:spcBef>
                </a:pPr>
                <a:endParaRPr lang="en-GB" sz="1600" dirty="0"/>
              </a:p>
              <a:p>
                <a:pPr marL="0" indent="0">
                  <a:buClr>
                    <a:srgbClr val="C00000"/>
                  </a:buClr>
                  <a:buSzPct val="90000"/>
                  <a:buNone/>
                </a:pPr>
                <a:endParaRPr lang="en-GB" sz="1600" dirty="0">
                  <a:cs typeface="Calibri" panose="020F0502020204030204" pitchFamily="34" charset="0"/>
                </a:endParaRPr>
              </a:p>
            </p:txBody>
          </p:sp>
        </mc:Choice>
        <mc:Fallback xmlns="">
          <p:sp>
            <p:nvSpPr>
              <p:cNvPr id="3" name="Content Placeholder 2">
                <a:extLst>
                  <a:ext uri="{FF2B5EF4-FFF2-40B4-BE49-F238E27FC236}">
                    <a16:creationId xmlns:a16="http://schemas.microsoft.com/office/drawing/2014/main" id="{8CF1E0C5-38F1-083C-96C2-37EC67906933}"/>
                  </a:ext>
                </a:extLst>
              </p:cNvPr>
              <p:cNvSpPr>
                <a:spLocks noGrp="1" noRot="1" noChangeAspect="1" noMove="1" noResize="1" noEditPoints="1" noAdjustHandles="1" noChangeArrowheads="1" noChangeShapeType="1" noTextEdit="1"/>
              </p:cNvSpPr>
              <p:nvPr>
                <p:ph sz="half" idx="1"/>
              </p:nvPr>
            </p:nvSpPr>
            <p:spPr>
              <a:xfrm>
                <a:off x="345989" y="950025"/>
                <a:ext cx="8489253" cy="5463565"/>
              </a:xfrm>
              <a:blipFill>
                <a:blip r:embed="rId3"/>
                <a:stretch>
                  <a:fillRect/>
                </a:stretch>
              </a:blipFill>
            </p:spPr>
            <p:txBody>
              <a:bodyPr/>
              <a:lstStyle/>
              <a:p>
                <a:r>
                  <a:rPr lang="en-GB">
                    <a:noFill/>
                  </a:rPr>
                  <a:t> </a:t>
                </a:r>
              </a:p>
            </p:txBody>
          </p:sp>
        </mc:Fallback>
      </mc:AlternateContent>
      <p:graphicFrame>
        <p:nvGraphicFramePr>
          <p:cNvPr id="6" name="Chart 5">
            <a:extLst>
              <a:ext uri="{FF2B5EF4-FFF2-40B4-BE49-F238E27FC236}">
                <a16:creationId xmlns:a16="http://schemas.microsoft.com/office/drawing/2014/main" id="{3E030483-406E-35D0-0ABB-5FBF3F882206}"/>
              </a:ext>
            </a:extLst>
          </p:cNvPr>
          <p:cNvGraphicFramePr>
            <a:graphicFrameLocks/>
          </p:cNvGraphicFramePr>
          <p:nvPr>
            <p:extLst>
              <p:ext uri="{D42A27DB-BD31-4B8C-83A1-F6EECF244321}">
                <p14:modId xmlns:p14="http://schemas.microsoft.com/office/powerpoint/2010/main" val="1082274366"/>
              </p:ext>
            </p:extLst>
          </p:nvPr>
        </p:nvGraphicFramePr>
        <p:xfrm>
          <a:off x="5130140" y="3912919"/>
          <a:ext cx="4013860" cy="294508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422347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54F5C-DDE9-A521-2236-45B9815F9B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D2EF81-3627-4627-3B25-00C8023C853F}"/>
              </a:ext>
            </a:extLst>
          </p:cNvPr>
          <p:cNvSpPr>
            <a:spLocks noGrp="1"/>
          </p:cNvSpPr>
          <p:nvPr>
            <p:ph type="title"/>
          </p:nvPr>
        </p:nvSpPr>
        <p:spPr>
          <a:xfrm>
            <a:off x="441809" y="327654"/>
            <a:ext cx="7886700" cy="720079"/>
          </a:xfrm>
        </p:spPr>
        <p:txBody>
          <a:bodyPr/>
          <a:lstStyle/>
          <a:p>
            <a:r>
              <a:rPr lang="en-GB" dirty="0">
                <a:solidFill>
                  <a:srgbClr val="1C9DAC"/>
                </a:solidFill>
                <a:ea typeface="ＭＳ Ｐゴシック"/>
              </a:rPr>
              <a:t>Cost of Capital – WACC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0B25EAF-D70F-BF12-1403-CA4CB548A977}"/>
                  </a:ext>
                </a:extLst>
              </p:cNvPr>
              <p:cNvSpPr>
                <a:spLocks noGrp="1"/>
              </p:cNvSpPr>
              <p:nvPr>
                <p:ph sz="half" idx="1"/>
              </p:nvPr>
            </p:nvSpPr>
            <p:spPr>
              <a:xfrm>
                <a:off x="345990" y="950025"/>
                <a:ext cx="8356202" cy="5463565"/>
              </a:xfrm>
            </p:spPr>
            <p:txBody>
              <a:bodyPr lIns="91440" tIns="45720" rIns="91440" bIns="45720" anchor="t">
                <a:normAutofit/>
              </a:bodyPr>
              <a:lstStyle/>
              <a:p>
                <a:pPr>
                  <a:buClr>
                    <a:srgbClr val="1C9DAC"/>
                  </a:buClr>
                  <a:buSzPct val="90000"/>
                  <a:buFont typeface="Wingdings" panose="05000000000000000000" pitchFamily="2" charset="2"/>
                  <a:buChar char="Ø"/>
                </a:pPr>
                <a:r>
                  <a:rPr lang="en-GB" sz="1600" dirty="0">
                    <a:cs typeface="Calibri" panose="020F0502020204030204" pitchFamily="34" charset="0"/>
                  </a:rPr>
                  <a:t>The company is required to pay </a:t>
                </a:r>
                <a14:m>
                  <m:oMath xmlns:m="http://schemas.openxmlformats.org/officeDocument/2006/math">
                    <m:r>
                      <a:rPr lang="en-GB" sz="1600" i="1">
                        <a:solidFill>
                          <a:schemeClr val="accent1">
                            <a:lumMod val="75000"/>
                          </a:schemeClr>
                        </a:solidFill>
                        <a:latin typeface="Cambria Math" panose="02040503050406030204" pitchFamily="18" charset="0"/>
                        <a:cs typeface="Calibri" panose="020F0502020204030204" pitchFamily="34" charset="0"/>
                      </a:rPr>
                      <m:t>8.61%</m:t>
                    </m:r>
                  </m:oMath>
                </a14:m>
                <a:r>
                  <a:rPr lang="en-GB" sz="1600" dirty="0">
                    <a:cs typeface="Calibri" panose="020F0502020204030204" pitchFamily="34" charset="0"/>
                  </a:rPr>
                  <a:t> for each 1Kr raised from </a:t>
                </a:r>
                <a:r>
                  <a:rPr lang="en-GB" sz="1600" dirty="0">
                    <a:solidFill>
                      <a:schemeClr val="accent1">
                        <a:lumMod val="75000"/>
                      </a:schemeClr>
                    </a:solidFill>
                    <a:cs typeface="Calibri" panose="020F0502020204030204" pitchFamily="34" charset="0"/>
                  </a:rPr>
                  <a:t>Equity</a:t>
                </a:r>
              </a:p>
              <a:p>
                <a:pPr>
                  <a:buClr>
                    <a:srgbClr val="1C9DAC"/>
                  </a:buClr>
                  <a:buSzPct val="90000"/>
                  <a:buFont typeface="Wingdings" panose="05000000000000000000" pitchFamily="2" charset="2"/>
                  <a:buChar char="Ø"/>
                </a:pPr>
                <a:r>
                  <a:rPr lang="en-GB" sz="1600" dirty="0">
                    <a:cs typeface="Calibri" panose="020F0502020204030204" pitchFamily="34" charset="0"/>
                  </a:rPr>
                  <a:t> The company is required to pay </a:t>
                </a:r>
                <a14:m>
                  <m:oMath xmlns:m="http://schemas.openxmlformats.org/officeDocument/2006/math">
                    <m:r>
                      <a:rPr lang="en-GB" sz="1600" i="1">
                        <a:solidFill>
                          <a:schemeClr val="accent2"/>
                        </a:solidFill>
                        <a:latin typeface="Cambria Math" panose="02040503050406030204" pitchFamily="18" charset="0"/>
                        <a:cs typeface="Calibri" panose="020F0502020204030204" pitchFamily="34" charset="0"/>
                      </a:rPr>
                      <m:t>3.14%</m:t>
                    </m:r>
                  </m:oMath>
                </a14:m>
                <a:r>
                  <a:rPr lang="en-GB" sz="1600" dirty="0">
                    <a:cs typeface="Calibri" panose="020F0502020204030204" pitchFamily="34" charset="0"/>
                  </a:rPr>
                  <a:t> for each 1Kr raised from </a:t>
                </a:r>
                <a:r>
                  <a:rPr lang="en-GB" sz="1600" dirty="0">
                    <a:solidFill>
                      <a:schemeClr val="accent2"/>
                    </a:solidFill>
                    <a:cs typeface="Calibri" panose="020F0502020204030204" pitchFamily="34" charset="0"/>
                  </a:rPr>
                  <a:t>Debt</a:t>
                </a:r>
              </a:p>
              <a:p>
                <a:pPr marL="0" indent="0">
                  <a:buClr>
                    <a:srgbClr val="C00000"/>
                  </a:buClr>
                  <a:buSzPct val="90000"/>
                  <a:buNone/>
                </a:pPr>
                <a:endParaRPr lang="en-GB" sz="1600" dirty="0">
                  <a:solidFill>
                    <a:schemeClr val="accent2"/>
                  </a:solidFill>
                  <a:cs typeface="Calibri" panose="020F0502020204030204" pitchFamily="34" charset="0"/>
                </a:endParaRPr>
              </a:p>
              <a:p>
                <a:pPr marL="0" indent="0">
                  <a:buClr>
                    <a:srgbClr val="C00000"/>
                  </a:buClr>
                  <a:buSzPct val="90000"/>
                  <a:buNone/>
                </a:pPr>
                <a:r>
                  <a:rPr lang="en-GB" sz="1600" b="1" dirty="0">
                    <a:solidFill>
                      <a:schemeClr val="accent5">
                        <a:lumMod val="75000"/>
                      </a:schemeClr>
                    </a:solidFill>
                    <a:cs typeface="Calibri" panose="020F0502020204030204" pitchFamily="34" charset="0"/>
                  </a:rPr>
                  <a:t>Question: </a:t>
                </a:r>
                <a:r>
                  <a:rPr lang="en-GB" sz="1600" b="1" dirty="0">
                    <a:cs typeface="Calibri" panose="020F0502020204030204" pitchFamily="34" charset="0"/>
                  </a:rPr>
                  <a:t>What is the cost of this capital structure: 41% Debt – 59% Equity?</a:t>
                </a:r>
                <a:endParaRPr lang="en-GB" sz="1600" b="1" dirty="0">
                  <a:solidFill>
                    <a:schemeClr val="accent5">
                      <a:lumMod val="75000"/>
                    </a:schemeClr>
                  </a:solidFill>
                  <a:cs typeface="Calibri" panose="020F0502020204030204" pitchFamily="34" charset="0"/>
                </a:endParaRPr>
              </a:p>
              <a:p>
                <a:pPr marL="0" indent="0">
                  <a:buClr>
                    <a:srgbClr val="C00000"/>
                  </a:buClr>
                  <a:buSzPct val="90000"/>
                  <a:buNone/>
                </a:pPr>
                <a:endParaRPr lang="en-GB" sz="1600" dirty="0">
                  <a:solidFill>
                    <a:srgbClr val="C00000"/>
                  </a:solidFill>
                  <a:latin typeface="Cambria Math" panose="02040503050406030204" pitchFamily="18" charset="0"/>
                  <a:ea typeface="Cambria Math" panose="02040503050406030204" pitchFamily="18" charset="0"/>
                  <a:cs typeface="Calibri" panose="020F0502020204030204" pitchFamily="34" charset="0"/>
                </a:endParaRPr>
              </a:p>
              <a:p>
                <a:pPr marL="0" lvl="1" indent="0">
                  <a:lnSpc>
                    <a:spcPct val="100000"/>
                  </a:lnSpc>
                  <a:buClr>
                    <a:srgbClr val="C00000"/>
                  </a:buClr>
                  <a:buSzPct val="90000"/>
                  <a:buNone/>
                </a:pPr>
                <a:r>
                  <a:rPr lang="en-GB" sz="1800" dirty="0">
                    <a:cs typeface="Calibri" panose="020F0502020204030204" pitchFamily="34" charset="0"/>
                  </a:rPr>
                  <a:t>Knowing that GE capital structure in Sweden is </a:t>
                </a:r>
                <a:r>
                  <a:rPr lang="en-GB" sz="1800" dirty="0">
                    <a:solidFill>
                      <a:srgbClr val="C00000"/>
                    </a:solidFill>
                    <a:cs typeface="Calibri" panose="020F0502020204030204" pitchFamily="34" charset="0"/>
                  </a:rPr>
                  <a:t>41% Debt – 59% Equity</a:t>
                </a:r>
                <a:r>
                  <a:rPr lang="en-GB" sz="1800" dirty="0">
                    <a:cs typeface="Calibri" panose="020F0502020204030204" pitchFamily="34" charset="0"/>
                  </a:rPr>
                  <a:t>, the weighted average cost of capital, </a:t>
                </a:r>
                <a14:m>
                  <m:oMath xmlns:m="http://schemas.openxmlformats.org/officeDocument/2006/math">
                    <m:r>
                      <a:rPr lang="en-GB" sz="1800" i="1">
                        <a:latin typeface="Cambria Math" panose="02040503050406030204" pitchFamily="18" charset="0"/>
                        <a:cs typeface="Calibri" panose="020F0502020204030204" pitchFamily="34" charset="0"/>
                      </a:rPr>
                      <m:t>𝑊𝐴𝐶𝐶</m:t>
                    </m:r>
                    <m:r>
                      <a:rPr lang="en-GB" sz="1800" i="1">
                        <a:latin typeface="Cambria Math" panose="02040503050406030204" pitchFamily="18" charset="0"/>
                        <a:cs typeface="Calibri" panose="020F0502020204030204" pitchFamily="34" charset="0"/>
                      </a:rPr>
                      <m:t>,</m:t>
                    </m:r>
                  </m:oMath>
                </a14:m>
                <a:r>
                  <a:rPr lang="en-GB" sz="1800" dirty="0">
                    <a:cs typeface="Calibri" panose="020F0502020204030204" pitchFamily="34" charset="0"/>
                  </a:rPr>
                  <a:t> is given as:</a:t>
                </a:r>
              </a:p>
              <a:p>
                <a:pPr marL="0" lvl="1" indent="0">
                  <a:lnSpc>
                    <a:spcPct val="200000"/>
                  </a:lnSpc>
                  <a:buClr>
                    <a:srgbClr val="C00000"/>
                  </a:buClr>
                  <a:buSzPct val="90000"/>
                  <a:buNone/>
                </a:pPr>
                <a14:m>
                  <m:oMathPara xmlns:m="http://schemas.openxmlformats.org/officeDocument/2006/math">
                    <m:oMathParaPr>
                      <m:jc m:val="centerGroup"/>
                    </m:oMathParaPr>
                    <m:oMath xmlns:m="http://schemas.openxmlformats.org/officeDocument/2006/math">
                      <m:r>
                        <a:rPr lang="en-GB" sz="1800" i="1">
                          <a:latin typeface="Cambria Math" panose="02040503050406030204" pitchFamily="18" charset="0"/>
                          <a:cs typeface="Calibri" panose="020F0502020204030204" pitchFamily="34" charset="0"/>
                        </a:rPr>
                        <m:t>𝑊𝐴𝐶𝐶</m:t>
                      </m:r>
                      <m:r>
                        <a:rPr lang="en-GB" sz="1800" i="1">
                          <a:latin typeface="Cambria Math" panose="02040503050406030204" pitchFamily="18" charset="0"/>
                          <a:cs typeface="Calibri" panose="020F0502020204030204" pitchFamily="34" charset="0"/>
                        </a:rPr>
                        <m:t>=41%×3.14%+59%×8.61%=6.37%</m:t>
                      </m:r>
                    </m:oMath>
                  </m:oMathPara>
                </a14:m>
                <a:endParaRPr lang="en-GB" sz="1800" dirty="0">
                  <a:solidFill>
                    <a:schemeClr val="accent5">
                      <a:lumMod val="75000"/>
                    </a:schemeClr>
                  </a:solidFill>
                  <a:cs typeface="Calibri" panose="020F0502020204030204" pitchFamily="34" charset="0"/>
                </a:endParaRPr>
              </a:p>
              <a:p>
                <a:pPr marL="0" lvl="1" indent="0">
                  <a:lnSpc>
                    <a:spcPct val="150000"/>
                  </a:lnSpc>
                  <a:buClr>
                    <a:srgbClr val="C00000"/>
                  </a:buClr>
                  <a:buSzPct val="90000"/>
                  <a:buNone/>
                </a:pPr>
                <a:endParaRPr lang="en-GB" sz="1800" dirty="0">
                  <a:cs typeface="Calibri" panose="020F0502020204030204" pitchFamily="34" charset="0"/>
                </a:endParaRPr>
              </a:p>
              <a:p>
                <a:pPr marL="0" indent="0">
                  <a:buClr>
                    <a:srgbClr val="C00000"/>
                  </a:buClr>
                  <a:buSzPct val="90000"/>
                  <a:buNone/>
                </a:pPr>
                <a:endParaRPr lang="en-GB" sz="1600" dirty="0"/>
              </a:p>
              <a:p>
                <a:pPr marL="0" indent="0">
                  <a:buClr>
                    <a:srgbClr val="C00000"/>
                  </a:buClr>
                  <a:buSzPct val="90000"/>
                  <a:buNone/>
                </a:pPr>
                <a:r>
                  <a:rPr lang="en-GB" sz="1600" dirty="0"/>
                  <a:t>So again, we can calculate the total cost of financing the project: </a:t>
                </a:r>
                <a14:m>
                  <m:oMath xmlns:m="http://schemas.openxmlformats.org/officeDocument/2006/math">
                    <m:r>
                      <a:rPr lang="en-GB" sz="1600" i="1">
                        <a:latin typeface="Cambria Math" panose="02040503050406030204" pitchFamily="18" charset="0"/>
                        <a:cs typeface="Calibri" panose="020F0502020204030204" pitchFamily="34" charset="0"/>
                      </a:rPr>
                      <m:t>15,359,000,000</m:t>
                    </m:r>
                    <m:r>
                      <m:rPr>
                        <m:sty m:val="p"/>
                      </m:rPr>
                      <a:rPr lang="en-GB" sz="1600">
                        <a:latin typeface="Cambria Math" panose="02040503050406030204" pitchFamily="18" charset="0"/>
                        <a:cs typeface="Calibri" panose="020F0502020204030204" pitchFamily="34" charset="0"/>
                      </a:rPr>
                      <m:t>Kr</m:t>
                    </m:r>
                  </m:oMath>
                </a14:m>
                <a:r>
                  <a:rPr lang="en-GB" sz="1600" dirty="0"/>
                  <a:t> x 6.37% = 978,368,300Kr </a:t>
                </a:r>
              </a:p>
              <a:p>
                <a:pPr marL="0" indent="0">
                  <a:buClr>
                    <a:srgbClr val="C00000"/>
                  </a:buClr>
                  <a:buSzPct val="90000"/>
                  <a:buNone/>
                </a:pPr>
                <a:endParaRPr lang="en-GB" sz="1600" dirty="0">
                  <a:cs typeface="Calibri" panose="020F0502020204030204" pitchFamily="34" charset="0"/>
                </a:endParaRPr>
              </a:p>
            </p:txBody>
          </p:sp>
        </mc:Choice>
        <mc:Fallback xmlns="">
          <p:sp>
            <p:nvSpPr>
              <p:cNvPr id="3" name="Content Placeholder 2">
                <a:extLst>
                  <a:ext uri="{FF2B5EF4-FFF2-40B4-BE49-F238E27FC236}">
                    <a16:creationId xmlns:a16="http://schemas.microsoft.com/office/drawing/2014/main" id="{60B25EAF-D70F-BF12-1403-CA4CB548A977}"/>
                  </a:ext>
                </a:extLst>
              </p:cNvPr>
              <p:cNvSpPr>
                <a:spLocks noGrp="1" noRot="1" noChangeAspect="1" noMove="1" noResize="1" noEditPoints="1" noAdjustHandles="1" noChangeArrowheads="1" noChangeShapeType="1" noTextEdit="1"/>
              </p:cNvSpPr>
              <p:nvPr>
                <p:ph sz="half" idx="1"/>
              </p:nvPr>
            </p:nvSpPr>
            <p:spPr>
              <a:xfrm>
                <a:off x="345990" y="950025"/>
                <a:ext cx="8356202" cy="5463565"/>
              </a:xfrm>
              <a:blipFill>
                <a:blip r:embed="rId3"/>
                <a:stretch>
                  <a:fillRect/>
                </a:stretch>
              </a:blipFill>
            </p:spPr>
            <p:txBody>
              <a:bodyPr/>
              <a:lstStyle/>
              <a:p>
                <a:r>
                  <a:rPr lang="en-GB">
                    <a:noFill/>
                  </a:rPr>
                  <a:t> </a:t>
                </a:r>
              </a:p>
            </p:txBody>
          </p:sp>
        </mc:Fallback>
      </mc:AlternateContent>
      <p:sp>
        <p:nvSpPr>
          <p:cNvPr id="5" name="Right Brace 4">
            <a:extLst>
              <a:ext uri="{FF2B5EF4-FFF2-40B4-BE49-F238E27FC236}">
                <a16:creationId xmlns:a16="http://schemas.microsoft.com/office/drawing/2014/main" id="{EE5B94A9-DD84-8CF7-E73B-85C62AE1D0E7}"/>
              </a:ext>
            </a:extLst>
          </p:cNvPr>
          <p:cNvSpPr/>
          <p:nvPr/>
        </p:nvSpPr>
        <p:spPr>
          <a:xfrm rot="5400000">
            <a:off x="3666136" y="2961228"/>
            <a:ext cx="80511" cy="1357533"/>
          </a:xfrm>
          <a:prstGeom prst="rightBrace">
            <a:avLst/>
          </a:prstGeom>
          <a:noFill/>
          <a:ln w="1905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7" name="Right Brace 6">
            <a:extLst>
              <a:ext uri="{FF2B5EF4-FFF2-40B4-BE49-F238E27FC236}">
                <a16:creationId xmlns:a16="http://schemas.microsoft.com/office/drawing/2014/main" id="{A1CA997D-AD42-433A-F07A-3D5BAF171ED1}"/>
              </a:ext>
            </a:extLst>
          </p:cNvPr>
          <p:cNvSpPr/>
          <p:nvPr/>
        </p:nvSpPr>
        <p:spPr>
          <a:xfrm rot="5400000">
            <a:off x="5397354" y="2961228"/>
            <a:ext cx="80511" cy="1357533"/>
          </a:xfrm>
          <a:prstGeom prst="rightBrace">
            <a:avLst/>
          </a:prstGeom>
          <a:noFill/>
          <a:ln w="1905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89EE1A2F-6B96-96DD-66AB-8A4DA2170446}"/>
                  </a:ext>
                </a:extLst>
              </p:cNvPr>
              <p:cNvSpPr/>
              <p:nvPr/>
            </p:nvSpPr>
            <p:spPr>
              <a:xfrm>
                <a:off x="3441368" y="3680250"/>
                <a:ext cx="530046"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GB" sz="1600" b="0" i="0" smtClean="0">
                          <a:solidFill>
                            <a:schemeClr val="accent2"/>
                          </a:solidFill>
                          <a:latin typeface="Cambria Math" panose="02040503050406030204" pitchFamily="18" charset="0"/>
                        </a:rPr>
                        <m:t>Debt</m:t>
                      </m:r>
                    </m:oMath>
                  </m:oMathPara>
                </a14:m>
                <a:endParaRPr lang="en-GB" sz="1600" dirty="0"/>
              </a:p>
            </p:txBody>
          </p:sp>
        </mc:Choice>
        <mc:Fallback xmlns="">
          <p:sp>
            <p:nvSpPr>
              <p:cNvPr id="8" name="Rectangle 7">
                <a:extLst>
                  <a:ext uri="{FF2B5EF4-FFF2-40B4-BE49-F238E27FC236}">
                    <a16:creationId xmlns:a16="http://schemas.microsoft.com/office/drawing/2014/main" id="{89EE1A2F-6B96-96DD-66AB-8A4DA2170446}"/>
                  </a:ext>
                </a:extLst>
              </p:cNvPr>
              <p:cNvSpPr>
                <a:spLocks noRot="1" noChangeAspect="1" noMove="1" noResize="1" noEditPoints="1" noAdjustHandles="1" noChangeArrowheads="1" noChangeShapeType="1" noTextEdit="1"/>
              </p:cNvSpPr>
              <p:nvPr/>
            </p:nvSpPr>
            <p:spPr>
              <a:xfrm>
                <a:off x="3441368" y="3680250"/>
                <a:ext cx="530046" cy="338554"/>
              </a:xfrm>
              <a:prstGeom prst="rect">
                <a:avLst/>
              </a:prstGeom>
              <a:blipFill>
                <a:blip r:embed="rId4"/>
                <a:stretch>
                  <a:fillRect r="-930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20805ADB-678C-0970-A4D7-738FE226454E}"/>
                  </a:ext>
                </a:extLst>
              </p:cNvPr>
              <p:cNvSpPr/>
              <p:nvPr/>
            </p:nvSpPr>
            <p:spPr>
              <a:xfrm>
                <a:off x="5026278" y="3680250"/>
                <a:ext cx="822661"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GB" sz="1600" b="0" i="0" smtClean="0">
                          <a:solidFill>
                            <a:schemeClr val="accent1">
                              <a:lumMod val="75000"/>
                            </a:schemeClr>
                          </a:solidFill>
                          <a:latin typeface="Cambria Math" panose="02040503050406030204" pitchFamily="18" charset="0"/>
                        </a:rPr>
                        <m:t>Equity</m:t>
                      </m:r>
                    </m:oMath>
                  </m:oMathPara>
                </a14:m>
                <a:endParaRPr lang="en-GB" dirty="0"/>
              </a:p>
            </p:txBody>
          </p:sp>
        </mc:Choice>
        <mc:Fallback xmlns="">
          <p:sp>
            <p:nvSpPr>
              <p:cNvPr id="9" name="Rectangle 8">
                <a:extLst>
                  <a:ext uri="{FF2B5EF4-FFF2-40B4-BE49-F238E27FC236}">
                    <a16:creationId xmlns:a16="http://schemas.microsoft.com/office/drawing/2014/main" id="{20805ADB-678C-0970-A4D7-738FE226454E}"/>
                  </a:ext>
                </a:extLst>
              </p:cNvPr>
              <p:cNvSpPr>
                <a:spLocks noRot="1" noChangeAspect="1" noMove="1" noResize="1" noEditPoints="1" noAdjustHandles="1" noChangeArrowheads="1" noChangeShapeType="1" noTextEdit="1"/>
              </p:cNvSpPr>
              <p:nvPr/>
            </p:nvSpPr>
            <p:spPr>
              <a:xfrm>
                <a:off x="5026278" y="3680250"/>
                <a:ext cx="822661" cy="338554"/>
              </a:xfrm>
              <a:prstGeom prst="rect">
                <a:avLst/>
              </a:prstGeom>
              <a:blipFill>
                <a:blip r:embed="rId5"/>
                <a:stretch>
                  <a:fillRect b="-10909"/>
                </a:stretch>
              </a:blipFill>
            </p:spPr>
            <p:txBody>
              <a:bodyPr/>
              <a:lstStyle/>
              <a:p>
                <a:r>
                  <a:rPr lang="en-GB">
                    <a:noFill/>
                  </a:rPr>
                  <a:t> </a:t>
                </a:r>
              </a:p>
            </p:txBody>
          </p:sp>
        </mc:Fallback>
      </mc:AlternateContent>
      <p:sp>
        <p:nvSpPr>
          <p:cNvPr id="10" name="Arrow: Down 9">
            <a:extLst>
              <a:ext uri="{FF2B5EF4-FFF2-40B4-BE49-F238E27FC236}">
                <a16:creationId xmlns:a16="http://schemas.microsoft.com/office/drawing/2014/main" id="{CA75543A-A56A-1584-C8BA-15F9BBC3757E}"/>
              </a:ext>
            </a:extLst>
          </p:cNvPr>
          <p:cNvSpPr/>
          <p:nvPr/>
        </p:nvSpPr>
        <p:spPr>
          <a:xfrm rot="16200000">
            <a:off x="3200308" y="2860777"/>
            <a:ext cx="1095063" cy="6094391"/>
          </a:xfrm>
          <a:prstGeom prst="downArrow">
            <a:avLst/>
          </a:prstGeom>
        </p:spPr>
        <p:style>
          <a:lnRef idx="1">
            <a:schemeClr val="accent1"/>
          </a:lnRef>
          <a:fillRef idx="3">
            <a:schemeClr val="accent1"/>
          </a:fillRef>
          <a:effectRef idx="2">
            <a:schemeClr val="accent1"/>
          </a:effectRef>
          <a:fontRef idx="minor">
            <a:schemeClr val="lt1"/>
          </a:fontRef>
        </p:style>
        <p:txBody>
          <a:bodyPr vert="vert" rtlCol="0" anchor="ctr"/>
          <a:lstStyle/>
          <a:p>
            <a:pPr algn="ctr"/>
            <a:r>
              <a:rPr lang="en-GB" sz="1800" b="1" dirty="0">
                <a:cs typeface="Calibri" panose="020F0502020204030204" pitchFamily="34" charset="0"/>
              </a:rPr>
              <a:t>Each 1Kr raised for the project costs the company 0.0637Kr</a:t>
            </a:r>
            <a:endParaRPr lang="en-GB" dirty="0"/>
          </a:p>
        </p:txBody>
      </p:sp>
      <p:pic>
        <p:nvPicPr>
          <p:cNvPr id="11" name="Picture 10" descr="Stacks of gold coins">
            <a:extLst>
              <a:ext uri="{FF2B5EF4-FFF2-40B4-BE49-F238E27FC236}">
                <a16:creationId xmlns:a16="http://schemas.microsoft.com/office/drawing/2014/main" id="{E3AF2215-A32C-002C-EC11-23244CE50AB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77947" y="5119287"/>
            <a:ext cx="2366053" cy="1577369"/>
          </a:xfrm>
          <a:prstGeom prst="rect">
            <a:avLst/>
          </a:prstGeom>
        </p:spPr>
      </p:pic>
    </p:spTree>
    <p:extLst>
      <p:ext uri="{BB962C8B-B14F-4D97-AF65-F5344CB8AC3E}">
        <p14:creationId xmlns:p14="http://schemas.microsoft.com/office/powerpoint/2010/main" val="1005238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p:bldP spid="9" grpId="0"/>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0B249-4818-61FB-E038-58A381BF19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97AFB0-AF7F-4491-21F3-D68126A780FD}"/>
              </a:ext>
            </a:extLst>
          </p:cNvPr>
          <p:cNvSpPr>
            <a:spLocks noGrp="1"/>
          </p:cNvSpPr>
          <p:nvPr>
            <p:ph type="title"/>
          </p:nvPr>
        </p:nvSpPr>
        <p:spPr>
          <a:xfrm>
            <a:off x="441809" y="327654"/>
            <a:ext cx="7886700" cy="720079"/>
          </a:xfrm>
        </p:spPr>
        <p:txBody>
          <a:bodyPr/>
          <a:lstStyle/>
          <a:p>
            <a:r>
              <a:rPr lang="en-GB" dirty="0">
                <a:solidFill>
                  <a:srgbClr val="1C9DAC"/>
                </a:solidFill>
                <a:ea typeface="ＭＳ Ｐゴシック"/>
              </a:rPr>
              <a:t>Cost of Capital – WACC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F390FD5-AD19-1DE9-E8C3-1E365ADDF646}"/>
                  </a:ext>
                </a:extLst>
              </p:cNvPr>
              <p:cNvSpPr>
                <a:spLocks noGrp="1"/>
              </p:cNvSpPr>
              <p:nvPr>
                <p:ph sz="half" idx="1"/>
              </p:nvPr>
            </p:nvSpPr>
            <p:spPr>
              <a:xfrm>
                <a:off x="345990" y="1294410"/>
                <a:ext cx="8356202" cy="5119180"/>
              </a:xfrm>
            </p:spPr>
            <p:txBody>
              <a:bodyPr lIns="91440" tIns="45720" rIns="91440" bIns="45720" anchor="t">
                <a:normAutofit/>
              </a:bodyPr>
              <a:lstStyle/>
              <a:p>
                <a:pPr>
                  <a:buClr>
                    <a:srgbClr val="C00000"/>
                  </a:buClr>
                  <a:buSzPct val="90000"/>
                </a:pPr>
                <a:r>
                  <a:rPr lang="en-GB" sz="2000" dirty="0">
                    <a:latin typeface="Calibri" panose="020F0502020204030204" pitchFamily="34" charset="0"/>
                    <a:cs typeface="Calibri" panose="020F0502020204030204" pitchFamily="34" charset="0"/>
                  </a:rPr>
                  <a:t>The cost of capital is, therefore, the cost of debt and the cost of equity, given their respective weightings.</a:t>
                </a:r>
              </a:p>
              <a:p>
                <a:pPr>
                  <a:buClr>
                    <a:srgbClr val="C00000"/>
                  </a:buClr>
                  <a:buSzPct val="90000"/>
                </a:pPr>
                <a:r>
                  <a:rPr lang="en-GB" sz="2000" dirty="0">
                    <a:latin typeface="Calibri" panose="020F0502020204030204" pitchFamily="34" charset="0"/>
                    <a:cs typeface="Calibri" panose="020F0502020204030204" pitchFamily="34" charset="0"/>
                  </a:rPr>
                  <a:t>This is given by the Weighted Average Cost of Capital, </a:t>
                </a:r>
                <a14:m>
                  <m:oMath xmlns:m="http://schemas.openxmlformats.org/officeDocument/2006/math">
                    <m:r>
                      <a:rPr lang="en-GB" sz="2000" i="1" dirty="0">
                        <a:latin typeface="Cambria Math" panose="02040503050406030204" pitchFamily="18" charset="0"/>
                        <a:cs typeface="Calibri" panose="020F0502020204030204" pitchFamily="34" charset="0"/>
                      </a:rPr>
                      <m:t>𝑊𝐴𝐶𝐶</m:t>
                    </m:r>
                  </m:oMath>
                </a14:m>
                <a:r>
                  <a:rPr lang="en-GB" sz="2000" i="1" dirty="0">
                    <a:latin typeface="Calibri" panose="020F0502020204030204" pitchFamily="34" charset="0"/>
                    <a:cs typeface="Calibri" panose="020F0502020204030204" pitchFamily="34" charset="0"/>
                  </a:rPr>
                  <a:t>,</a:t>
                </a:r>
                <a:r>
                  <a:rPr lang="en-GB" sz="2000" dirty="0">
                    <a:latin typeface="Calibri" panose="020F0502020204030204" pitchFamily="34" charset="0"/>
                    <a:cs typeface="Calibri" panose="020F0502020204030204" pitchFamily="34" charset="0"/>
                  </a:rPr>
                  <a:t> as:</a:t>
                </a:r>
              </a:p>
              <a:p>
                <a:pPr marL="0" indent="0">
                  <a:lnSpc>
                    <a:spcPct val="150000"/>
                  </a:lnSpc>
                  <a:buClr>
                    <a:srgbClr val="C00000"/>
                  </a:buClr>
                  <a:buSzPct val="90000"/>
                  <a:buNone/>
                </a:pPr>
                <a14:m>
                  <m:oMathPara xmlns:m="http://schemas.openxmlformats.org/officeDocument/2006/math">
                    <m:oMathParaPr>
                      <m:jc m:val="centerGroup"/>
                    </m:oMathParaPr>
                    <m:oMath xmlns:m="http://schemas.openxmlformats.org/officeDocument/2006/math">
                      <m:r>
                        <m:rPr>
                          <m:sty m:val="p"/>
                        </m:rPr>
                        <a:rPr lang="en-GB" sz="2000">
                          <a:solidFill>
                            <a:schemeClr val="accent5">
                              <a:lumMod val="75000"/>
                            </a:schemeClr>
                          </a:solidFill>
                          <a:latin typeface="Cambria Math" panose="02040503050406030204" pitchFamily="18" charset="0"/>
                        </a:rPr>
                        <m:t>WACC</m:t>
                      </m:r>
                      <m:r>
                        <a:rPr lang="en-GB" sz="2000">
                          <a:solidFill>
                            <a:schemeClr val="accent5">
                              <a:lumMod val="75000"/>
                            </a:schemeClr>
                          </a:solidFill>
                          <a:latin typeface="Cambria Math" panose="02040503050406030204" pitchFamily="18" charset="0"/>
                        </a:rPr>
                        <m:t>=   </m:t>
                      </m:r>
                      <m:f>
                        <m:fPr>
                          <m:ctrlPr>
                            <a:rPr lang="en-GB" sz="2000" i="1">
                              <a:solidFill>
                                <a:schemeClr val="accent5">
                                  <a:lumMod val="75000"/>
                                </a:schemeClr>
                              </a:solidFill>
                              <a:latin typeface="Cambria Math" panose="02040503050406030204" pitchFamily="18" charset="0"/>
                            </a:rPr>
                          </m:ctrlPr>
                        </m:fPr>
                        <m:num>
                          <m:r>
                            <m:rPr>
                              <m:sty m:val="p"/>
                            </m:rPr>
                            <a:rPr lang="en-GB" sz="2000">
                              <a:solidFill>
                                <a:schemeClr val="accent5">
                                  <a:lumMod val="75000"/>
                                </a:schemeClr>
                              </a:solidFill>
                              <a:latin typeface="Cambria Math" panose="02040503050406030204" pitchFamily="18" charset="0"/>
                            </a:rPr>
                            <m:t>D</m:t>
                          </m:r>
                        </m:num>
                        <m:den>
                          <m:r>
                            <m:rPr>
                              <m:sty m:val="p"/>
                            </m:rPr>
                            <a:rPr lang="en-GB" sz="2000">
                              <a:solidFill>
                                <a:schemeClr val="accent5">
                                  <a:lumMod val="75000"/>
                                </a:schemeClr>
                              </a:solidFill>
                              <a:latin typeface="Cambria Math" panose="02040503050406030204" pitchFamily="18" charset="0"/>
                            </a:rPr>
                            <m:t>E</m:t>
                          </m:r>
                          <m:r>
                            <a:rPr lang="en-GB" sz="2000">
                              <a:solidFill>
                                <a:schemeClr val="accent5">
                                  <a:lumMod val="75000"/>
                                </a:schemeClr>
                              </a:solidFill>
                              <a:latin typeface="Cambria Math" panose="02040503050406030204" pitchFamily="18" charset="0"/>
                            </a:rPr>
                            <m:t>+</m:t>
                          </m:r>
                          <m:r>
                            <m:rPr>
                              <m:sty m:val="p"/>
                            </m:rPr>
                            <a:rPr lang="en-GB" sz="2000">
                              <a:solidFill>
                                <a:schemeClr val="accent5">
                                  <a:lumMod val="75000"/>
                                </a:schemeClr>
                              </a:solidFill>
                              <a:latin typeface="Cambria Math" panose="02040503050406030204" pitchFamily="18" charset="0"/>
                            </a:rPr>
                            <m:t>D</m:t>
                          </m:r>
                        </m:den>
                      </m:f>
                      <m:r>
                        <a:rPr lang="en-GB" sz="2000">
                          <a:solidFill>
                            <a:schemeClr val="accent5">
                              <a:lumMod val="75000"/>
                            </a:schemeClr>
                          </a:solidFill>
                          <a:latin typeface="Cambria Math" panose="02040503050406030204" pitchFamily="18" charset="0"/>
                          <a:ea typeface="Cambria Math" panose="02040503050406030204" pitchFamily="18" charset="0"/>
                        </a:rPr>
                        <m:t>×</m:t>
                      </m:r>
                      <m:sSub>
                        <m:sSubPr>
                          <m:ctrlPr>
                            <a:rPr lang="en-GB" sz="2000" i="1">
                              <a:solidFill>
                                <a:schemeClr val="accent5">
                                  <a:lumMod val="75000"/>
                                </a:schemeClr>
                              </a:solidFill>
                              <a:latin typeface="Cambria Math" panose="02040503050406030204" pitchFamily="18" charset="0"/>
                              <a:ea typeface="Cambria Math" panose="02040503050406030204" pitchFamily="18" charset="0"/>
                            </a:rPr>
                          </m:ctrlPr>
                        </m:sSubPr>
                        <m:e>
                          <m:r>
                            <m:rPr>
                              <m:sty m:val="p"/>
                            </m:rPr>
                            <a:rPr lang="en-GB" sz="2000">
                              <a:solidFill>
                                <a:schemeClr val="accent5">
                                  <a:lumMod val="75000"/>
                                </a:schemeClr>
                              </a:solidFill>
                              <a:latin typeface="Cambria Math" panose="02040503050406030204" pitchFamily="18" charset="0"/>
                              <a:ea typeface="Cambria Math" panose="02040503050406030204" pitchFamily="18" charset="0"/>
                            </a:rPr>
                            <m:t>r</m:t>
                          </m:r>
                        </m:e>
                        <m:sub>
                          <m:r>
                            <m:rPr>
                              <m:sty m:val="p"/>
                            </m:rPr>
                            <a:rPr lang="en-GB" sz="2000">
                              <a:solidFill>
                                <a:schemeClr val="accent5">
                                  <a:lumMod val="75000"/>
                                </a:schemeClr>
                              </a:solidFill>
                              <a:latin typeface="Cambria Math" panose="02040503050406030204" pitchFamily="18" charset="0"/>
                              <a:ea typeface="Cambria Math" panose="02040503050406030204" pitchFamily="18" charset="0"/>
                            </a:rPr>
                            <m:t>D</m:t>
                          </m:r>
                        </m:sub>
                      </m:sSub>
                      <m:r>
                        <a:rPr lang="en-GB" sz="2000" b="0" i="0" smtClean="0">
                          <a:solidFill>
                            <a:schemeClr val="accent5">
                              <a:lumMod val="75000"/>
                            </a:schemeClr>
                          </a:solidFill>
                          <a:latin typeface="Cambria Math" panose="02040503050406030204" pitchFamily="18" charset="0"/>
                          <a:ea typeface="Cambria Math" panose="02040503050406030204" pitchFamily="18" charset="0"/>
                        </a:rPr>
                        <m:t>     </m:t>
                      </m:r>
                      <m:r>
                        <a:rPr lang="en-GB" sz="2000">
                          <a:solidFill>
                            <a:schemeClr val="accent5">
                              <a:lumMod val="75000"/>
                            </a:schemeClr>
                          </a:solidFill>
                          <a:latin typeface="Cambria Math" panose="02040503050406030204" pitchFamily="18" charset="0"/>
                          <a:ea typeface="Cambria Math" panose="02040503050406030204" pitchFamily="18" charset="0"/>
                        </a:rPr>
                        <m:t>+</m:t>
                      </m:r>
                      <m:r>
                        <a:rPr lang="en-GB" sz="2000" b="0" i="0" smtClean="0">
                          <a:solidFill>
                            <a:schemeClr val="accent5">
                              <a:lumMod val="75000"/>
                            </a:schemeClr>
                          </a:solidFill>
                          <a:latin typeface="Cambria Math" panose="02040503050406030204" pitchFamily="18" charset="0"/>
                          <a:ea typeface="Cambria Math" panose="02040503050406030204" pitchFamily="18" charset="0"/>
                        </a:rPr>
                        <m:t>       </m:t>
                      </m:r>
                      <m:f>
                        <m:fPr>
                          <m:ctrlPr>
                            <a:rPr lang="en-GB" sz="2000" i="1">
                              <a:solidFill>
                                <a:schemeClr val="accent5">
                                  <a:lumMod val="75000"/>
                                </a:schemeClr>
                              </a:solidFill>
                              <a:latin typeface="Cambria Math" panose="02040503050406030204" pitchFamily="18" charset="0"/>
                            </a:rPr>
                          </m:ctrlPr>
                        </m:fPr>
                        <m:num>
                          <m:r>
                            <m:rPr>
                              <m:sty m:val="p"/>
                            </m:rPr>
                            <a:rPr lang="en-GB" sz="2000">
                              <a:solidFill>
                                <a:schemeClr val="accent5">
                                  <a:lumMod val="75000"/>
                                </a:schemeClr>
                              </a:solidFill>
                              <a:latin typeface="Cambria Math" panose="02040503050406030204" pitchFamily="18" charset="0"/>
                            </a:rPr>
                            <m:t>E</m:t>
                          </m:r>
                        </m:num>
                        <m:den>
                          <m:r>
                            <m:rPr>
                              <m:sty m:val="p"/>
                            </m:rPr>
                            <a:rPr lang="en-GB" sz="2000">
                              <a:solidFill>
                                <a:schemeClr val="accent5">
                                  <a:lumMod val="75000"/>
                                </a:schemeClr>
                              </a:solidFill>
                              <a:latin typeface="Cambria Math" panose="02040503050406030204" pitchFamily="18" charset="0"/>
                            </a:rPr>
                            <m:t>E</m:t>
                          </m:r>
                          <m:r>
                            <a:rPr lang="en-GB" sz="2000">
                              <a:solidFill>
                                <a:schemeClr val="accent5">
                                  <a:lumMod val="75000"/>
                                </a:schemeClr>
                              </a:solidFill>
                              <a:latin typeface="Cambria Math" panose="02040503050406030204" pitchFamily="18" charset="0"/>
                            </a:rPr>
                            <m:t>+</m:t>
                          </m:r>
                          <m:r>
                            <m:rPr>
                              <m:sty m:val="p"/>
                            </m:rPr>
                            <a:rPr lang="en-GB" sz="2000">
                              <a:solidFill>
                                <a:schemeClr val="accent5">
                                  <a:lumMod val="75000"/>
                                </a:schemeClr>
                              </a:solidFill>
                              <a:latin typeface="Cambria Math" panose="02040503050406030204" pitchFamily="18" charset="0"/>
                            </a:rPr>
                            <m:t>D</m:t>
                          </m:r>
                        </m:den>
                      </m:f>
                      <m:r>
                        <a:rPr lang="en-GB" sz="2000">
                          <a:solidFill>
                            <a:schemeClr val="accent5">
                              <a:lumMod val="75000"/>
                            </a:schemeClr>
                          </a:solidFill>
                          <a:latin typeface="Cambria Math" panose="02040503050406030204" pitchFamily="18" charset="0"/>
                          <a:ea typeface="Cambria Math" panose="02040503050406030204" pitchFamily="18" charset="0"/>
                        </a:rPr>
                        <m:t>×</m:t>
                      </m:r>
                      <m:sSub>
                        <m:sSubPr>
                          <m:ctrlPr>
                            <a:rPr lang="en-GB" sz="2000" i="1">
                              <a:solidFill>
                                <a:schemeClr val="accent5">
                                  <a:lumMod val="75000"/>
                                </a:schemeClr>
                              </a:solidFill>
                              <a:latin typeface="Cambria Math" panose="02040503050406030204" pitchFamily="18" charset="0"/>
                              <a:ea typeface="Cambria Math" panose="02040503050406030204" pitchFamily="18" charset="0"/>
                            </a:rPr>
                          </m:ctrlPr>
                        </m:sSubPr>
                        <m:e>
                          <m:r>
                            <m:rPr>
                              <m:sty m:val="p"/>
                            </m:rPr>
                            <a:rPr lang="en-GB" sz="2000">
                              <a:solidFill>
                                <a:schemeClr val="accent5">
                                  <a:lumMod val="75000"/>
                                </a:schemeClr>
                              </a:solidFill>
                              <a:latin typeface="Cambria Math" panose="02040503050406030204" pitchFamily="18" charset="0"/>
                              <a:ea typeface="Cambria Math" panose="02040503050406030204" pitchFamily="18" charset="0"/>
                            </a:rPr>
                            <m:t>r</m:t>
                          </m:r>
                        </m:e>
                        <m:sub>
                          <m:r>
                            <m:rPr>
                              <m:sty m:val="p"/>
                            </m:rPr>
                            <a:rPr lang="en-GB" sz="2000">
                              <a:solidFill>
                                <a:schemeClr val="accent5">
                                  <a:lumMod val="75000"/>
                                </a:schemeClr>
                              </a:solidFill>
                              <a:latin typeface="Cambria Math" panose="02040503050406030204" pitchFamily="18" charset="0"/>
                              <a:ea typeface="Cambria Math" panose="02040503050406030204" pitchFamily="18" charset="0"/>
                            </a:rPr>
                            <m:t>E</m:t>
                          </m:r>
                        </m:sub>
                      </m:sSub>
                    </m:oMath>
                  </m:oMathPara>
                </a14:m>
                <a:endParaRPr lang="en-GB" sz="2000" dirty="0">
                  <a:solidFill>
                    <a:schemeClr val="accent5">
                      <a:lumMod val="75000"/>
                    </a:schemeClr>
                  </a:solidFill>
                  <a:latin typeface="Calibri" panose="020F0502020204030204" pitchFamily="34" charset="0"/>
                  <a:cs typeface="Calibri" panose="020F0502020204030204" pitchFamily="34" charset="0"/>
                </a:endParaRPr>
              </a:p>
              <a:p>
                <a:pPr marL="0" indent="0">
                  <a:lnSpc>
                    <a:spcPct val="150000"/>
                  </a:lnSpc>
                  <a:buClr>
                    <a:srgbClr val="C00000"/>
                  </a:buClr>
                  <a:buSzPct val="90000"/>
                  <a:buNone/>
                </a:pPr>
                <a:endParaRPr lang="en-GB" sz="1800" dirty="0">
                  <a:solidFill>
                    <a:schemeClr val="accent5">
                      <a:lumMod val="75000"/>
                    </a:schemeClr>
                  </a:solidFill>
                  <a:latin typeface="Calibri" panose="020F0502020204030204" pitchFamily="34" charset="0"/>
                  <a:cs typeface="Calibri" panose="020F0502020204030204" pitchFamily="34" charset="0"/>
                </a:endParaRPr>
              </a:p>
              <a:p>
                <a:pPr marL="0" indent="0">
                  <a:lnSpc>
                    <a:spcPct val="200000"/>
                  </a:lnSpc>
                  <a:buClr>
                    <a:srgbClr val="C00000"/>
                  </a:buClr>
                  <a:buSzPct val="90000"/>
                  <a:buNone/>
                </a:pPr>
                <a:r>
                  <a:rPr lang="en-GB" sz="2000" dirty="0">
                    <a:latin typeface="Calibri" panose="020F0502020204030204" pitchFamily="34" charset="0"/>
                    <a:cs typeface="Calibri" panose="020F0502020204030204" pitchFamily="34" charset="0"/>
                  </a:rPr>
                  <a:t>Where:</a:t>
                </a:r>
              </a:p>
              <a:p>
                <a:pPr marL="0" indent="0">
                  <a:lnSpc>
                    <a:spcPct val="100000"/>
                  </a:lnSpc>
                  <a:buClr>
                    <a:srgbClr val="C00000"/>
                  </a:buClr>
                  <a:buSzPct val="90000"/>
                  <a:buNone/>
                </a:pPr>
                <a14:m>
                  <m:oMath xmlns:m="http://schemas.openxmlformats.org/officeDocument/2006/math">
                    <m:sSub>
                      <m:sSubPr>
                        <m:ctrlPr>
                          <a:rPr lang="en-GB" sz="2000" i="1">
                            <a:latin typeface="Cambria Math" panose="02040503050406030204" pitchFamily="18" charset="0"/>
                          </a:rPr>
                        </m:ctrlPr>
                      </m:sSubPr>
                      <m:e>
                        <m:r>
                          <m:rPr>
                            <m:sty m:val="p"/>
                          </m:rPr>
                          <a:rPr lang="en-GB" sz="2000">
                            <a:latin typeface="Cambria Math" panose="02040503050406030204" pitchFamily="18" charset="0"/>
                          </a:rPr>
                          <m:t>r</m:t>
                        </m:r>
                      </m:e>
                      <m:sub>
                        <m:r>
                          <m:rPr>
                            <m:sty m:val="p"/>
                          </m:rPr>
                          <a:rPr lang="en-GB" sz="2000">
                            <a:latin typeface="Cambria Math" panose="02040503050406030204" pitchFamily="18" charset="0"/>
                          </a:rPr>
                          <m:t>D</m:t>
                        </m:r>
                      </m:sub>
                    </m:sSub>
                  </m:oMath>
                </a14:m>
                <a:r>
                  <a:rPr lang="en-GB" sz="2000" dirty="0">
                    <a:latin typeface="Calibri" panose="020F0502020204030204" pitchFamily="34" charset="0"/>
                    <a:cs typeface="Calibri" panose="020F0502020204030204" pitchFamily="34" charset="0"/>
                  </a:rPr>
                  <a:t>: the return required by bondholders for each £1 borrowed. </a:t>
                </a:r>
                <a14:m>
                  <m:oMath xmlns:m="http://schemas.openxmlformats.org/officeDocument/2006/math">
                    <m:sSub>
                      <m:sSubPr>
                        <m:ctrlPr>
                          <a:rPr lang="en-GB" sz="2000" i="1">
                            <a:solidFill>
                              <a:srgbClr val="C00000"/>
                            </a:solidFill>
                            <a:latin typeface="Cambria Math" panose="02040503050406030204" pitchFamily="18" charset="0"/>
                            <a:cs typeface="Calibri" panose="020F0502020204030204" pitchFamily="34" charset="0"/>
                          </a:rPr>
                        </m:ctrlPr>
                      </m:sSubPr>
                      <m:e>
                        <m:r>
                          <a:rPr lang="en-GB" sz="2000" i="1">
                            <a:solidFill>
                              <a:srgbClr val="C00000"/>
                            </a:solidFill>
                            <a:latin typeface="Cambria Math" panose="02040503050406030204" pitchFamily="18" charset="0"/>
                            <a:cs typeface="Calibri" panose="020F0502020204030204" pitchFamily="34" charset="0"/>
                          </a:rPr>
                          <m:t>𝑟</m:t>
                        </m:r>
                      </m:e>
                      <m:sub>
                        <m:r>
                          <a:rPr lang="en-GB" sz="2000" i="1">
                            <a:solidFill>
                              <a:srgbClr val="C00000"/>
                            </a:solidFill>
                            <a:latin typeface="Cambria Math" panose="02040503050406030204" pitchFamily="18" charset="0"/>
                            <a:cs typeface="Calibri" panose="020F0502020204030204" pitchFamily="34" charset="0"/>
                          </a:rPr>
                          <m:t>𝐷</m:t>
                        </m:r>
                      </m:sub>
                    </m:sSub>
                    <m:r>
                      <a:rPr lang="en-GB" sz="2000" i="1">
                        <a:solidFill>
                          <a:srgbClr val="C00000"/>
                        </a:solidFill>
                        <a:latin typeface="Cambria Math" panose="02040503050406030204" pitchFamily="18" charset="0"/>
                        <a:cs typeface="Calibri" panose="020F0502020204030204" pitchFamily="34" charset="0"/>
                      </a:rPr>
                      <m:t>=</m:t>
                    </m:r>
                    <m:r>
                      <a:rPr lang="en-GB" sz="2000" i="1">
                        <a:solidFill>
                          <a:srgbClr val="C00000"/>
                        </a:solidFill>
                        <a:latin typeface="Cambria Math" panose="02040503050406030204" pitchFamily="18" charset="0"/>
                        <a:cs typeface="Calibri" panose="020F0502020204030204" pitchFamily="34" charset="0"/>
                      </a:rPr>
                      <m:t>𝑦</m:t>
                    </m:r>
                    <m:r>
                      <a:rPr lang="en-GB" sz="2000" i="1">
                        <a:solidFill>
                          <a:srgbClr val="C00000"/>
                        </a:solidFill>
                        <a:latin typeface="Cambria Math" panose="02040503050406030204" pitchFamily="18" charset="0"/>
                        <a:cs typeface="Calibri" panose="020F0502020204030204" pitchFamily="34" charset="0"/>
                      </a:rPr>
                      <m:t>(1−</m:t>
                    </m:r>
                    <m:r>
                      <a:rPr lang="en-GB" sz="2000" i="1">
                        <a:solidFill>
                          <a:srgbClr val="C00000"/>
                        </a:solidFill>
                        <a:latin typeface="Cambria Math" panose="02040503050406030204" pitchFamily="18" charset="0"/>
                        <a:cs typeface="Calibri" panose="020F0502020204030204" pitchFamily="34" charset="0"/>
                      </a:rPr>
                      <m:t>𝑇</m:t>
                    </m:r>
                    <m:r>
                      <a:rPr lang="en-GB" sz="2000" i="1">
                        <a:solidFill>
                          <a:srgbClr val="C00000"/>
                        </a:solidFill>
                        <a:latin typeface="Cambria Math" panose="02040503050406030204" pitchFamily="18" charset="0"/>
                        <a:cs typeface="Calibri" panose="020F0502020204030204" pitchFamily="34" charset="0"/>
                      </a:rPr>
                      <m:t>)</m:t>
                    </m:r>
                  </m:oMath>
                </a14:m>
                <a:endParaRPr lang="en-GB" sz="2000" dirty="0">
                  <a:solidFill>
                    <a:srgbClr val="C00000"/>
                  </a:solidFill>
                  <a:latin typeface="Calibri" panose="020F0502020204030204" pitchFamily="34" charset="0"/>
                  <a:cs typeface="Calibri" panose="020F0502020204030204" pitchFamily="34" charset="0"/>
                </a:endParaRPr>
              </a:p>
              <a:p>
                <a:pPr marL="0" indent="0">
                  <a:lnSpc>
                    <a:spcPct val="100000"/>
                  </a:lnSpc>
                  <a:buClr>
                    <a:srgbClr val="C00000"/>
                  </a:buClr>
                  <a:buSzPct val="90000"/>
                  <a:buNone/>
                </a:pPr>
                <a14:m>
                  <m:oMath xmlns:m="http://schemas.openxmlformats.org/officeDocument/2006/math">
                    <m:sSub>
                      <m:sSubPr>
                        <m:ctrlPr>
                          <a:rPr lang="en-GB" sz="2000" i="1">
                            <a:latin typeface="Cambria Math" panose="02040503050406030204" pitchFamily="18" charset="0"/>
                          </a:rPr>
                        </m:ctrlPr>
                      </m:sSubPr>
                      <m:e>
                        <m:r>
                          <m:rPr>
                            <m:sty m:val="p"/>
                          </m:rPr>
                          <a:rPr lang="en-GB" sz="2000">
                            <a:latin typeface="Cambria Math" panose="02040503050406030204" pitchFamily="18" charset="0"/>
                          </a:rPr>
                          <m:t>r</m:t>
                        </m:r>
                      </m:e>
                      <m:sub>
                        <m:r>
                          <m:rPr>
                            <m:sty m:val="p"/>
                          </m:rPr>
                          <a:rPr lang="en-GB" sz="2000">
                            <a:latin typeface="Cambria Math" panose="02040503050406030204" pitchFamily="18" charset="0"/>
                          </a:rPr>
                          <m:t>E</m:t>
                        </m:r>
                      </m:sub>
                    </m:sSub>
                  </m:oMath>
                </a14:m>
                <a:r>
                  <a:rPr lang="en-GB" sz="2000" dirty="0">
                    <a:latin typeface="Calibri" panose="020F0502020204030204" pitchFamily="34" charset="0"/>
                    <a:cs typeface="Calibri" panose="020F0502020204030204" pitchFamily="34" charset="0"/>
                  </a:rPr>
                  <a:t>: the return required by shareholders for each £1 invested.</a:t>
                </a:r>
              </a:p>
              <a:p>
                <a:pPr marL="0" indent="0">
                  <a:lnSpc>
                    <a:spcPct val="100000"/>
                  </a:lnSpc>
                  <a:buClr>
                    <a:srgbClr val="C00000"/>
                  </a:buClr>
                  <a:buSzPct val="90000"/>
                  <a:buNone/>
                </a:pPr>
                <a14:m>
                  <m:oMath xmlns:m="http://schemas.openxmlformats.org/officeDocument/2006/math">
                    <m:r>
                      <m:rPr>
                        <m:sty m:val="p"/>
                      </m:rPr>
                      <a:rPr lang="en-GB" sz="2000">
                        <a:latin typeface="Cambria Math" panose="02040503050406030204" pitchFamily="18" charset="0"/>
                      </a:rPr>
                      <m:t>D</m:t>
                    </m:r>
                  </m:oMath>
                </a14:m>
                <a:r>
                  <a:rPr lang="en-GB" sz="2000" dirty="0">
                    <a:latin typeface="Calibri" panose="020F0502020204030204" pitchFamily="34" charset="0"/>
                    <a:cs typeface="Calibri" panose="020F0502020204030204" pitchFamily="34" charset="0"/>
                  </a:rPr>
                  <a:t> and </a:t>
                </a:r>
                <a14:m>
                  <m:oMath xmlns:m="http://schemas.openxmlformats.org/officeDocument/2006/math">
                    <m:r>
                      <m:rPr>
                        <m:sty m:val="p"/>
                      </m:rPr>
                      <a:rPr lang="en-GB" sz="2000">
                        <a:latin typeface="Cambria Math" panose="02040503050406030204" pitchFamily="18" charset="0"/>
                      </a:rPr>
                      <m:t>E</m:t>
                    </m:r>
                    <m:r>
                      <a:rPr lang="en-GB" sz="2000">
                        <a:latin typeface="Cambria Math" panose="02040503050406030204" pitchFamily="18" charset="0"/>
                      </a:rPr>
                      <m:t>:</m:t>
                    </m:r>
                  </m:oMath>
                </a14:m>
                <a:r>
                  <a:rPr lang="en-GB" sz="2000" dirty="0">
                    <a:latin typeface="Calibri" panose="020F0502020204030204" pitchFamily="34" charset="0"/>
                    <a:cs typeface="Calibri" panose="020F0502020204030204" pitchFamily="34" charset="0"/>
                  </a:rPr>
                  <a:t> debt and equity, respectively. </a:t>
                </a:r>
                <a14:m>
                  <m:oMath xmlns:m="http://schemas.openxmlformats.org/officeDocument/2006/math">
                    <m:r>
                      <m:rPr>
                        <m:sty m:val="p"/>
                      </m:rPr>
                      <a:rPr lang="en-GB" sz="2000">
                        <a:latin typeface="Cambria Math" panose="02040503050406030204" pitchFamily="18" charset="0"/>
                      </a:rPr>
                      <m:t>D</m:t>
                    </m:r>
                    <m:r>
                      <a:rPr lang="en-GB" sz="2000">
                        <a:latin typeface="Cambria Math" panose="02040503050406030204" pitchFamily="18" charset="0"/>
                      </a:rPr>
                      <m:t>+</m:t>
                    </m:r>
                    <m:r>
                      <m:rPr>
                        <m:sty m:val="p"/>
                      </m:rPr>
                      <a:rPr lang="en-GB" sz="2000">
                        <a:latin typeface="Cambria Math" panose="02040503050406030204" pitchFamily="18" charset="0"/>
                      </a:rPr>
                      <m:t>E</m:t>
                    </m:r>
                  </m:oMath>
                </a14:m>
                <a:r>
                  <a:rPr lang="en-GB" sz="2000" dirty="0">
                    <a:latin typeface="Calibri" panose="020F0502020204030204" pitchFamily="34" charset="0"/>
                    <a:cs typeface="Calibri" panose="020F0502020204030204" pitchFamily="34" charset="0"/>
                  </a:rPr>
                  <a:t> is the total capital invested.</a:t>
                </a:r>
              </a:p>
              <a:p>
                <a:pPr marL="0" indent="0">
                  <a:lnSpc>
                    <a:spcPct val="100000"/>
                  </a:lnSpc>
                  <a:buClr>
                    <a:srgbClr val="C00000"/>
                  </a:buClr>
                  <a:buSzPct val="90000"/>
                  <a:buNone/>
                </a:pPr>
                <a14:m>
                  <m:oMath xmlns:m="http://schemas.openxmlformats.org/officeDocument/2006/math">
                    <m:r>
                      <m:rPr>
                        <m:sty m:val="p"/>
                      </m:rPr>
                      <a:rPr lang="en-GB" sz="2000">
                        <a:latin typeface="Cambria Math" panose="02040503050406030204" pitchFamily="18" charset="0"/>
                        <a:ea typeface="Cambria Math" panose="02040503050406030204" pitchFamily="18" charset="0"/>
                      </a:rPr>
                      <m:t>T</m:t>
                    </m:r>
                  </m:oMath>
                </a14:m>
                <a:r>
                  <a:rPr lang="en-GB" sz="2000" dirty="0">
                    <a:latin typeface="Calibri" panose="020F0502020204030204" pitchFamily="34" charset="0"/>
                    <a:cs typeface="Calibri" panose="020F0502020204030204" pitchFamily="34" charset="0"/>
                  </a:rPr>
                  <a:t>: the corporate tax rate. </a:t>
                </a:r>
              </a:p>
              <a:p>
                <a:pPr marL="0" indent="0">
                  <a:buClr>
                    <a:srgbClr val="C00000"/>
                  </a:buClr>
                  <a:buSzPct val="90000"/>
                  <a:buNone/>
                </a:pPr>
                <a:endParaRPr lang="en-GB" sz="1600" dirty="0">
                  <a:cs typeface="Calibri" panose="020F0502020204030204" pitchFamily="34" charset="0"/>
                </a:endParaRPr>
              </a:p>
            </p:txBody>
          </p:sp>
        </mc:Choice>
        <mc:Fallback xmlns="">
          <p:sp>
            <p:nvSpPr>
              <p:cNvPr id="3" name="Content Placeholder 2">
                <a:extLst>
                  <a:ext uri="{FF2B5EF4-FFF2-40B4-BE49-F238E27FC236}">
                    <a16:creationId xmlns:a16="http://schemas.microsoft.com/office/drawing/2014/main" id="{9F390FD5-AD19-1DE9-E8C3-1E365ADDF646}"/>
                  </a:ext>
                </a:extLst>
              </p:cNvPr>
              <p:cNvSpPr>
                <a:spLocks noGrp="1" noRot="1" noChangeAspect="1" noMove="1" noResize="1" noEditPoints="1" noAdjustHandles="1" noChangeArrowheads="1" noChangeShapeType="1" noTextEdit="1"/>
              </p:cNvSpPr>
              <p:nvPr>
                <p:ph sz="half" idx="1"/>
              </p:nvPr>
            </p:nvSpPr>
            <p:spPr>
              <a:xfrm>
                <a:off x="345990" y="1294410"/>
                <a:ext cx="8356202" cy="5119180"/>
              </a:xfrm>
              <a:blipFill>
                <a:blip r:embed="rId3"/>
                <a:stretch>
                  <a:fillRect/>
                </a:stretch>
              </a:blipFill>
            </p:spPr>
            <p:txBody>
              <a:bodyPr/>
              <a:lstStyle/>
              <a:p>
                <a:r>
                  <a:rPr lang="en-GB">
                    <a:noFill/>
                  </a:rPr>
                  <a:t> </a:t>
                </a:r>
              </a:p>
            </p:txBody>
          </p:sp>
        </mc:Fallback>
      </mc:AlternateContent>
      <p:sp>
        <p:nvSpPr>
          <p:cNvPr id="5" name="Right Brace 4">
            <a:extLst>
              <a:ext uri="{FF2B5EF4-FFF2-40B4-BE49-F238E27FC236}">
                <a16:creationId xmlns:a16="http://schemas.microsoft.com/office/drawing/2014/main" id="{0715AFC3-1155-2C40-B910-3EEA3B555ADA}"/>
              </a:ext>
            </a:extLst>
          </p:cNvPr>
          <p:cNvSpPr/>
          <p:nvPr/>
        </p:nvSpPr>
        <p:spPr>
          <a:xfrm rot="5400000">
            <a:off x="3817385" y="2674386"/>
            <a:ext cx="151695" cy="1357533"/>
          </a:xfrm>
          <a:prstGeom prst="rightBrace">
            <a:avLst/>
          </a:prstGeom>
          <a:noFill/>
          <a:ln w="1905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7" name="Right Brace 6">
            <a:extLst>
              <a:ext uri="{FF2B5EF4-FFF2-40B4-BE49-F238E27FC236}">
                <a16:creationId xmlns:a16="http://schemas.microsoft.com/office/drawing/2014/main" id="{BFF90E9E-B723-83EF-202D-D1488AFD001A}"/>
              </a:ext>
            </a:extLst>
          </p:cNvPr>
          <p:cNvSpPr/>
          <p:nvPr/>
        </p:nvSpPr>
        <p:spPr>
          <a:xfrm rot="5400000">
            <a:off x="6045605" y="2630866"/>
            <a:ext cx="177040" cy="1357533"/>
          </a:xfrm>
          <a:prstGeom prst="rightBrace">
            <a:avLst/>
          </a:prstGeom>
          <a:noFill/>
          <a:ln w="1905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2BE380CB-5B14-578C-3B1B-EA17DF690CAB}"/>
                  </a:ext>
                </a:extLst>
              </p:cNvPr>
              <p:cNvSpPr/>
              <p:nvPr/>
            </p:nvSpPr>
            <p:spPr>
              <a:xfrm>
                <a:off x="3628210" y="3398152"/>
                <a:ext cx="530046"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GB" sz="1600" b="0" i="0" smtClean="0">
                          <a:solidFill>
                            <a:schemeClr val="accent2"/>
                          </a:solidFill>
                          <a:latin typeface="Cambria Math" panose="02040503050406030204" pitchFamily="18" charset="0"/>
                        </a:rPr>
                        <m:t>Debt</m:t>
                      </m:r>
                    </m:oMath>
                  </m:oMathPara>
                </a14:m>
                <a:endParaRPr lang="en-GB" sz="1600" dirty="0"/>
              </a:p>
            </p:txBody>
          </p:sp>
        </mc:Choice>
        <mc:Fallback xmlns="">
          <p:sp>
            <p:nvSpPr>
              <p:cNvPr id="8" name="Rectangle 7">
                <a:extLst>
                  <a:ext uri="{FF2B5EF4-FFF2-40B4-BE49-F238E27FC236}">
                    <a16:creationId xmlns:a16="http://schemas.microsoft.com/office/drawing/2014/main" id="{2BE380CB-5B14-578C-3B1B-EA17DF690CAB}"/>
                  </a:ext>
                </a:extLst>
              </p:cNvPr>
              <p:cNvSpPr>
                <a:spLocks noRot="1" noChangeAspect="1" noMove="1" noResize="1" noEditPoints="1" noAdjustHandles="1" noChangeArrowheads="1" noChangeShapeType="1" noTextEdit="1"/>
              </p:cNvSpPr>
              <p:nvPr/>
            </p:nvSpPr>
            <p:spPr>
              <a:xfrm>
                <a:off x="3628210" y="3398152"/>
                <a:ext cx="530046" cy="338554"/>
              </a:xfrm>
              <a:prstGeom prst="rect">
                <a:avLst/>
              </a:prstGeom>
              <a:blipFill>
                <a:blip r:embed="rId4"/>
                <a:stretch>
                  <a:fillRect r="-804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9E3A4E29-338B-522B-3839-CF167EEBE458}"/>
                  </a:ext>
                </a:extLst>
              </p:cNvPr>
              <p:cNvSpPr/>
              <p:nvPr/>
            </p:nvSpPr>
            <p:spPr>
              <a:xfrm>
                <a:off x="5722794" y="3398152"/>
                <a:ext cx="822661"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GB" sz="1600" b="0" i="0" smtClean="0">
                          <a:solidFill>
                            <a:schemeClr val="accent1">
                              <a:lumMod val="75000"/>
                            </a:schemeClr>
                          </a:solidFill>
                          <a:latin typeface="Cambria Math" panose="02040503050406030204" pitchFamily="18" charset="0"/>
                        </a:rPr>
                        <m:t>Equity</m:t>
                      </m:r>
                    </m:oMath>
                  </m:oMathPara>
                </a14:m>
                <a:endParaRPr lang="en-GB" dirty="0"/>
              </a:p>
            </p:txBody>
          </p:sp>
        </mc:Choice>
        <mc:Fallback xmlns="">
          <p:sp>
            <p:nvSpPr>
              <p:cNvPr id="9" name="Rectangle 8">
                <a:extLst>
                  <a:ext uri="{FF2B5EF4-FFF2-40B4-BE49-F238E27FC236}">
                    <a16:creationId xmlns:a16="http://schemas.microsoft.com/office/drawing/2014/main" id="{9E3A4E29-338B-522B-3839-CF167EEBE458}"/>
                  </a:ext>
                </a:extLst>
              </p:cNvPr>
              <p:cNvSpPr>
                <a:spLocks noRot="1" noChangeAspect="1" noMove="1" noResize="1" noEditPoints="1" noAdjustHandles="1" noChangeArrowheads="1" noChangeShapeType="1" noTextEdit="1"/>
              </p:cNvSpPr>
              <p:nvPr/>
            </p:nvSpPr>
            <p:spPr>
              <a:xfrm>
                <a:off x="5722794" y="3398152"/>
                <a:ext cx="822661" cy="338554"/>
              </a:xfrm>
              <a:prstGeom prst="rect">
                <a:avLst/>
              </a:prstGeom>
              <a:blipFill>
                <a:blip r:embed="rId5"/>
                <a:stretch>
                  <a:fillRect b="-10714"/>
                </a:stretch>
              </a:blipFill>
            </p:spPr>
            <p:txBody>
              <a:bodyPr/>
              <a:lstStyle/>
              <a:p>
                <a:r>
                  <a:rPr lang="en-GB">
                    <a:noFill/>
                  </a:rPr>
                  <a:t> </a:t>
                </a:r>
              </a:p>
            </p:txBody>
          </p:sp>
        </mc:Fallback>
      </mc:AlternateContent>
      <p:sp>
        <p:nvSpPr>
          <p:cNvPr id="4" name="Rectangle 3">
            <a:extLst>
              <a:ext uri="{FF2B5EF4-FFF2-40B4-BE49-F238E27FC236}">
                <a16:creationId xmlns:a16="http://schemas.microsoft.com/office/drawing/2014/main" id="{347A5DB0-06E2-6349-83B6-A4235EAA5185}"/>
              </a:ext>
            </a:extLst>
          </p:cNvPr>
          <p:cNvSpPr/>
          <p:nvPr/>
        </p:nvSpPr>
        <p:spPr>
          <a:xfrm>
            <a:off x="7191779" y="3854000"/>
            <a:ext cx="1510413" cy="369332"/>
          </a:xfrm>
          <a:prstGeom prst="rect">
            <a:avLst/>
          </a:prstGeom>
        </p:spPr>
        <p:txBody>
          <a:bodyPr wrap="none">
            <a:spAutoFit/>
          </a:bodyPr>
          <a:lstStyle/>
          <a:p>
            <a:r>
              <a:rPr lang="en-GB" dirty="0">
                <a:latin typeface="+mn-lt"/>
              </a:rPr>
              <a:t>Tax advantage</a:t>
            </a:r>
          </a:p>
        </p:txBody>
      </p:sp>
      <p:sp>
        <p:nvSpPr>
          <p:cNvPr id="6" name="Right Brace 5">
            <a:extLst>
              <a:ext uri="{FF2B5EF4-FFF2-40B4-BE49-F238E27FC236}">
                <a16:creationId xmlns:a16="http://schemas.microsoft.com/office/drawing/2014/main" id="{37F92A9E-71D5-CA51-2BE9-5CE2FD6D56E8}"/>
              </a:ext>
            </a:extLst>
          </p:cNvPr>
          <p:cNvSpPr/>
          <p:nvPr/>
        </p:nvSpPr>
        <p:spPr>
          <a:xfrm rot="16200000">
            <a:off x="7917988" y="3959597"/>
            <a:ext cx="144403" cy="676639"/>
          </a:xfrm>
          <a:prstGeom prst="rightBrace">
            <a:avLst/>
          </a:prstGeom>
          <a:noFill/>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2190072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p:bldP spid="9" grpId="0"/>
      <p:bldP spid="4" grpId="0"/>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9A9A7-EC74-38D8-642A-F13328AABB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F80A5E-0FB6-D69A-544F-004BEE402945}"/>
              </a:ext>
            </a:extLst>
          </p:cNvPr>
          <p:cNvSpPr>
            <a:spLocks noGrp="1"/>
          </p:cNvSpPr>
          <p:nvPr>
            <p:ph type="title"/>
          </p:nvPr>
        </p:nvSpPr>
        <p:spPr>
          <a:xfrm>
            <a:off x="441809" y="327654"/>
            <a:ext cx="7886700" cy="720079"/>
          </a:xfrm>
        </p:spPr>
        <p:txBody>
          <a:bodyPr/>
          <a:lstStyle/>
          <a:p>
            <a:r>
              <a:rPr lang="en-GB" dirty="0">
                <a:solidFill>
                  <a:srgbClr val="1C9DAC"/>
                </a:solidFill>
                <a:ea typeface="ＭＳ Ｐゴシック"/>
              </a:rPr>
              <a:t>Cost of Capital – WACC</a:t>
            </a:r>
          </a:p>
        </p:txBody>
      </p:sp>
      <mc:AlternateContent xmlns:mc="http://schemas.openxmlformats.org/markup-compatibility/2006" xmlns:a14="http://schemas.microsoft.com/office/drawing/2010/main">
        <mc:Choice Requires="a14">
          <p:graphicFrame>
            <p:nvGraphicFramePr>
              <p:cNvPr id="10" name="Content Placeholder 9">
                <a:extLst>
                  <a:ext uri="{FF2B5EF4-FFF2-40B4-BE49-F238E27FC236}">
                    <a16:creationId xmlns:a16="http://schemas.microsoft.com/office/drawing/2014/main" id="{94345179-2D0A-0169-649E-034763146405}"/>
                  </a:ext>
                </a:extLst>
              </p:cNvPr>
              <p:cNvGraphicFramePr>
                <a:graphicFrameLocks noGrp="1"/>
              </p:cNvGraphicFramePr>
              <p:nvPr>
                <p:ph sz="half" idx="1"/>
                <p:extLst>
                  <p:ext uri="{D42A27DB-BD31-4B8C-83A1-F6EECF244321}">
                    <p14:modId xmlns:p14="http://schemas.microsoft.com/office/powerpoint/2010/main" val="1460959147"/>
                  </p:ext>
                </p:extLst>
              </p:nvPr>
            </p:nvGraphicFramePr>
            <p:xfrm>
              <a:off x="346074" y="1293813"/>
              <a:ext cx="8489167" cy="2708171"/>
            </p:xfrm>
            <a:graphic>
              <a:graphicData uri="http://schemas.openxmlformats.org/drawingml/2006/table">
                <a:tbl>
                  <a:tblPr firstRow="1" bandRow="1">
                    <a:tableStyleId>{2D5ABB26-0587-4C30-8999-92F81FD0307C}</a:tableStyleId>
                  </a:tblPr>
                  <a:tblGrid>
                    <a:gridCol w="2105051">
                      <a:extLst>
                        <a:ext uri="{9D8B030D-6E8A-4147-A177-3AD203B41FA5}">
                          <a16:colId xmlns:a16="http://schemas.microsoft.com/office/drawing/2014/main" val="1934556332"/>
                        </a:ext>
                      </a:extLst>
                    </a:gridCol>
                    <a:gridCol w="3192058">
                      <a:extLst>
                        <a:ext uri="{9D8B030D-6E8A-4147-A177-3AD203B41FA5}">
                          <a16:colId xmlns:a16="http://schemas.microsoft.com/office/drawing/2014/main" val="2247848027"/>
                        </a:ext>
                      </a:extLst>
                    </a:gridCol>
                    <a:gridCol w="3192058">
                      <a:extLst>
                        <a:ext uri="{9D8B030D-6E8A-4147-A177-3AD203B41FA5}">
                          <a16:colId xmlns:a16="http://schemas.microsoft.com/office/drawing/2014/main" val="4029967136"/>
                        </a:ext>
                      </a:extLst>
                    </a:gridCol>
                  </a:tblGrid>
                  <a:tr h="447528">
                    <a:tc>
                      <a:txBody>
                        <a:bodyPr/>
                        <a:lstStyle/>
                        <a:p>
                          <a:pPr algn="ctr"/>
                          <a:endParaRPr lang="en-US" sz="2000" b="1" dirty="0"/>
                        </a:p>
                      </a:txBody>
                      <a:tcPr>
                        <a:lnB w="28575" cap="flat" cmpd="sng" algn="ctr">
                          <a:solidFill>
                            <a:schemeClr val="bg1">
                              <a:lumMod val="50000"/>
                            </a:schemeClr>
                          </a:solidFill>
                          <a:prstDash val="solid"/>
                          <a:round/>
                          <a:headEnd type="none" w="med" len="med"/>
                          <a:tailEnd type="none" w="med" len="med"/>
                        </a:lnB>
                      </a:tcPr>
                    </a:tc>
                    <a:tc>
                      <a:txBody>
                        <a:bodyPr/>
                        <a:lstStyle/>
                        <a:p>
                          <a:pPr algn="ctr"/>
                          <a:r>
                            <a:rPr lang="en-US" sz="2000" b="1" dirty="0"/>
                            <a:t>Debt</a:t>
                          </a:r>
                        </a:p>
                      </a:txBody>
                      <a:tcPr>
                        <a:lnB w="28575" cap="flat" cmpd="sng" algn="ctr">
                          <a:solidFill>
                            <a:schemeClr val="bg1">
                              <a:lumMod val="50000"/>
                            </a:schemeClr>
                          </a:solidFill>
                          <a:prstDash val="solid"/>
                          <a:round/>
                          <a:headEnd type="none" w="med" len="med"/>
                          <a:tailEnd type="none" w="med" len="med"/>
                        </a:lnB>
                      </a:tcPr>
                    </a:tc>
                    <a:tc>
                      <a:txBody>
                        <a:bodyPr/>
                        <a:lstStyle/>
                        <a:p>
                          <a:pPr algn="ctr"/>
                          <a:r>
                            <a:rPr lang="en-US" sz="2000" b="1" dirty="0"/>
                            <a:t>Equity</a:t>
                          </a:r>
                        </a:p>
                      </a:txBody>
                      <a:tcPr>
                        <a:lnB w="285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698169959"/>
                      </a:ext>
                    </a:extLst>
                  </a:tr>
                  <a:tr h="527144">
                    <a:tc>
                      <a:txBody>
                        <a:bodyPr/>
                        <a:lstStyle/>
                        <a:p>
                          <a:pPr algn="l">
                            <a:lnSpc>
                              <a:spcPct val="100000"/>
                            </a:lnSpc>
                          </a:pPr>
                          <a:r>
                            <a:rPr lang="en-US" sz="2000" b="1" dirty="0"/>
                            <a:t>Yearly Obligations</a:t>
                          </a:r>
                        </a:p>
                      </a:txBody>
                      <a:tcPr>
                        <a:lnT w="28575" cap="flat" cmpd="sng" algn="ctr">
                          <a:solidFill>
                            <a:schemeClr val="bg1">
                              <a:lumMod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lnSpc>
                              <a:spcPct val="100000"/>
                            </a:lnSpc>
                          </a:pPr>
                          <a:r>
                            <a:rPr lang="en-US" sz="2000" dirty="0"/>
                            <a:t>Fixed Claim </a:t>
                          </a:r>
                        </a:p>
                      </a:txBody>
                      <a:tcPr>
                        <a:lnT w="28575" cap="flat" cmpd="sng" algn="ctr">
                          <a:solidFill>
                            <a:schemeClr val="bg1">
                              <a:lumMod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lnSpc>
                              <a:spcPct val="100000"/>
                            </a:lnSpc>
                          </a:pPr>
                          <a:r>
                            <a:rPr lang="en-US" sz="2000" dirty="0"/>
                            <a:t>Residual Claim</a:t>
                          </a:r>
                        </a:p>
                      </a:txBody>
                      <a:tcPr>
                        <a:lnT w="28575" cap="flat" cmpd="sng" algn="ctr">
                          <a:solidFill>
                            <a:schemeClr val="bg1">
                              <a:lumMod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134685063"/>
                      </a:ext>
                    </a:extLst>
                  </a:tr>
                  <a:tr h="748894">
                    <a:tc>
                      <a:txBody>
                        <a:bodyPr/>
                        <a:lstStyle/>
                        <a:p>
                          <a:pPr algn="l">
                            <a:lnSpc>
                              <a:spcPct val="100000"/>
                            </a:lnSpc>
                          </a:pPr>
                          <a:r>
                            <a:rPr lang="en-US" sz="2000" b="1" dirty="0"/>
                            <a:t>Priority</a:t>
                          </a:r>
                        </a:p>
                      </a:txBody>
                      <a:tcP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lnSpc>
                              <a:spcPct val="100000"/>
                            </a:lnSpc>
                          </a:pPr>
                          <a:r>
                            <a:rPr lang="en-US" sz="2000" dirty="0"/>
                            <a:t>Highest Priority in Financial Trouble</a:t>
                          </a:r>
                        </a:p>
                      </a:txBody>
                      <a:tcP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lnSpc>
                              <a:spcPct val="100000"/>
                            </a:lnSpc>
                          </a:pPr>
                          <a:r>
                            <a:rPr lang="en-US" sz="2000" dirty="0"/>
                            <a:t>Lowest Priority in Financial Trouble</a:t>
                          </a:r>
                        </a:p>
                      </a:txBody>
                      <a:tcP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686231711"/>
                      </a:ext>
                    </a:extLst>
                  </a:tr>
                  <a:tr h="537077">
                    <a:tc>
                      <a:txBody>
                        <a:bodyPr/>
                        <a:lstStyle/>
                        <a:p>
                          <a:pPr algn="l">
                            <a:lnSpc>
                              <a:spcPct val="100000"/>
                            </a:lnSpc>
                          </a:pPr>
                          <a:r>
                            <a:rPr lang="en-US" sz="2000" b="1" dirty="0"/>
                            <a:t>Repayment</a:t>
                          </a:r>
                        </a:p>
                      </a:txBody>
                      <a:tcP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lnSpc>
                              <a:spcPct val="100000"/>
                            </a:lnSpc>
                          </a:pPr>
                          <a:r>
                            <a:rPr lang="en-US" sz="2000" dirty="0"/>
                            <a:t>Fixed Maturity</a:t>
                          </a:r>
                        </a:p>
                      </a:txBody>
                      <a:tcP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lnSpc>
                              <a:spcPct val="100000"/>
                            </a:lnSpc>
                          </a:pPr>
                          <a:r>
                            <a:rPr lang="en-US" sz="2000" dirty="0"/>
                            <a:t>Infinite</a:t>
                          </a:r>
                        </a:p>
                      </a:txBody>
                      <a:tcP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657300047"/>
                      </a:ext>
                    </a:extLst>
                  </a:tr>
                  <a:tr h="447528">
                    <a:tc>
                      <a:txBody>
                        <a:bodyPr/>
                        <a:lstStyle/>
                        <a:p>
                          <a:pPr algn="l">
                            <a:lnSpc>
                              <a:spcPct val="100000"/>
                            </a:lnSpc>
                          </a:pPr>
                          <a:r>
                            <a:rPr lang="en-US" sz="2000" b="1" dirty="0"/>
                            <a:t>Cost</a:t>
                          </a:r>
                        </a:p>
                      </a:txBody>
                      <a:tcPr>
                        <a:lnT w="12700" cap="flat" cmpd="sng" algn="ctr">
                          <a:solidFill>
                            <a:schemeClr val="bg1">
                              <a:lumMod val="75000"/>
                            </a:schemeClr>
                          </a:solidFill>
                          <a:prstDash val="solid"/>
                          <a:round/>
                          <a:headEnd type="none" w="med" len="med"/>
                          <a:tailEnd type="none" w="med" len="med"/>
                        </a:lnT>
                      </a:tcPr>
                    </a:tc>
                    <a:tc>
                      <a:txBody>
                        <a:bodyP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𝑟</m:t>
                                    </m:r>
                                  </m:e>
                                  <m:sub>
                                    <m:r>
                                      <a:rPr lang="en-GB" sz="2000" b="0" i="1" smtClean="0">
                                        <a:latin typeface="Cambria Math" panose="02040503050406030204" pitchFamily="18" charset="0"/>
                                      </a:rPr>
                                      <m:t>𝐷</m:t>
                                    </m:r>
                                  </m:sub>
                                </m:sSub>
                              </m:oMath>
                            </m:oMathPara>
                          </a14:m>
                          <a:endParaRPr lang="en-US" sz="2000" dirty="0"/>
                        </a:p>
                      </a:txBody>
                      <a:tcPr>
                        <a:lnT w="12700" cap="flat" cmpd="sng" algn="ctr">
                          <a:solidFill>
                            <a:schemeClr val="bg1">
                              <a:lumMod val="75000"/>
                            </a:schemeClr>
                          </a:solidFill>
                          <a:prstDash val="solid"/>
                          <a:round/>
                          <a:headEnd type="none" w="med" len="med"/>
                          <a:tailEnd type="none" w="med" len="med"/>
                        </a:lnT>
                      </a:tcPr>
                    </a:tc>
                    <a:tc>
                      <a:txBody>
                        <a:bodyP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𝑟</m:t>
                                    </m:r>
                                  </m:e>
                                  <m:sub>
                                    <m:r>
                                      <a:rPr lang="en-GB" sz="2000" b="0" i="1" smtClean="0">
                                        <a:latin typeface="Cambria Math" panose="02040503050406030204" pitchFamily="18" charset="0"/>
                                      </a:rPr>
                                      <m:t>𝐸</m:t>
                                    </m:r>
                                  </m:sub>
                                </m:sSub>
                              </m:oMath>
                            </m:oMathPara>
                          </a14:m>
                          <a:endParaRPr lang="en-US" sz="2000" dirty="0"/>
                        </a:p>
                      </a:txBody>
                      <a:tcPr>
                        <a:lnT w="12700" cap="flat" cmpd="sng" algn="ctr">
                          <a:solidFill>
                            <a:schemeClr val="bg1">
                              <a:lumMod val="75000"/>
                            </a:schemeClr>
                          </a:solidFill>
                          <a:prstDash val="solid"/>
                          <a:round/>
                          <a:headEnd type="none" w="med" len="med"/>
                          <a:tailEnd type="none" w="med" len="med"/>
                        </a:lnT>
                      </a:tcPr>
                    </a:tc>
                    <a:extLst>
                      <a:ext uri="{0D108BD9-81ED-4DB2-BD59-A6C34878D82A}">
                        <a16:rowId xmlns:a16="http://schemas.microsoft.com/office/drawing/2014/main" val="3117591648"/>
                      </a:ext>
                    </a:extLst>
                  </a:tr>
                </a:tbl>
              </a:graphicData>
            </a:graphic>
          </p:graphicFrame>
        </mc:Choice>
        <mc:Fallback xmlns="">
          <p:graphicFrame>
            <p:nvGraphicFramePr>
              <p:cNvPr id="10" name="Content Placeholder 9">
                <a:extLst>
                  <a:ext uri="{FF2B5EF4-FFF2-40B4-BE49-F238E27FC236}">
                    <a16:creationId xmlns:a16="http://schemas.microsoft.com/office/drawing/2014/main" id="{94345179-2D0A-0169-649E-034763146405}"/>
                  </a:ext>
                </a:extLst>
              </p:cNvPr>
              <p:cNvGraphicFramePr>
                <a:graphicFrameLocks noGrp="1"/>
              </p:cNvGraphicFramePr>
              <p:nvPr>
                <p:ph sz="half" idx="1"/>
                <p:extLst>
                  <p:ext uri="{D42A27DB-BD31-4B8C-83A1-F6EECF244321}">
                    <p14:modId xmlns:p14="http://schemas.microsoft.com/office/powerpoint/2010/main" val="1460959147"/>
                  </p:ext>
                </p:extLst>
              </p:nvPr>
            </p:nvGraphicFramePr>
            <p:xfrm>
              <a:off x="346074" y="1293813"/>
              <a:ext cx="8489167" cy="2708171"/>
            </p:xfrm>
            <a:graphic>
              <a:graphicData uri="http://schemas.openxmlformats.org/drawingml/2006/table">
                <a:tbl>
                  <a:tblPr firstRow="1" bandRow="1">
                    <a:tableStyleId>{2D5ABB26-0587-4C30-8999-92F81FD0307C}</a:tableStyleId>
                  </a:tblPr>
                  <a:tblGrid>
                    <a:gridCol w="2105051">
                      <a:extLst>
                        <a:ext uri="{9D8B030D-6E8A-4147-A177-3AD203B41FA5}">
                          <a16:colId xmlns:a16="http://schemas.microsoft.com/office/drawing/2014/main" val="1934556332"/>
                        </a:ext>
                      </a:extLst>
                    </a:gridCol>
                    <a:gridCol w="3192058">
                      <a:extLst>
                        <a:ext uri="{9D8B030D-6E8A-4147-A177-3AD203B41FA5}">
                          <a16:colId xmlns:a16="http://schemas.microsoft.com/office/drawing/2014/main" val="2247848027"/>
                        </a:ext>
                      </a:extLst>
                    </a:gridCol>
                    <a:gridCol w="3192058">
                      <a:extLst>
                        <a:ext uri="{9D8B030D-6E8A-4147-A177-3AD203B41FA5}">
                          <a16:colId xmlns:a16="http://schemas.microsoft.com/office/drawing/2014/main" val="4029967136"/>
                        </a:ext>
                      </a:extLst>
                    </a:gridCol>
                  </a:tblGrid>
                  <a:tr h="447528">
                    <a:tc>
                      <a:txBody>
                        <a:bodyPr/>
                        <a:lstStyle/>
                        <a:p>
                          <a:pPr algn="ctr"/>
                          <a:endParaRPr lang="en-US" sz="2000" b="1" dirty="0"/>
                        </a:p>
                      </a:txBody>
                      <a:tcPr>
                        <a:lnB w="28575" cap="flat" cmpd="sng" algn="ctr">
                          <a:solidFill>
                            <a:schemeClr val="bg1">
                              <a:lumMod val="50000"/>
                            </a:schemeClr>
                          </a:solidFill>
                          <a:prstDash val="solid"/>
                          <a:round/>
                          <a:headEnd type="none" w="med" len="med"/>
                          <a:tailEnd type="none" w="med" len="med"/>
                        </a:lnB>
                      </a:tcPr>
                    </a:tc>
                    <a:tc>
                      <a:txBody>
                        <a:bodyPr/>
                        <a:lstStyle/>
                        <a:p>
                          <a:pPr algn="ctr"/>
                          <a:r>
                            <a:rPr lang="en-US" sz="2000" b="1" dirty="0"/>
                            <a:t>Debt</a:t>
                          </a:r>
                        </a:p>
                      </a:txBody>
                      <a:tcPr>
                        <a:lnB w="28575" cap="flat" cmpd="sng" algn="ctr">
                          <a:solidFill>
                            <a:schemeClr val="bg1">
                              <a:lumMod val="50000"/>
                            </a:schemeClr>
                          </a:solidFill>
                          <a:prstDash val="solid"/>
                          <a:round/>
                          <a:headEnd type="none" w="med" len="med"/>
                          <a:tailEnd type="none" w="med" len="med"/>
                        </a:lnB>
                      </a:tcPr>
                    </a:tc>
                    <a:tc>
                      <a:txBody>
                        <a:bodyPr/>
                        <a:lstStyle/>
                        <a:p>
                          <a:pPr algn="ctr"/>
                          <a:r>
                            <a:rPr lang="en-US" sz="2000" b="1" dirty="0"/>
                            <a:t>Equity</a:t>
                          </a:r>
                        </a:p>
                      </a:txBody>
                      <a:tcPr>
                        <a:lnB w="285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698169959"/>
                      </a:ext>
                    </a:extLst>
                  </a:tr>
                  <a:tr h="527144">
                    <a:tc>
                      <a:txBody>
                        <a:bodyPr/>
                        <a:lstStyle/>
                        <a:p>
                          <a:pPr algn="l">
                            <a:lnSpc>
                              <a:spcPct val="100000"/>
                            </a:lnSpc>
                          </a:pPr>
                          <a:r>
                            <a:rPr lang="en-US" sz="2000" b="1" dirty="0"/>
                            <a:t>Yearly Obligations</a:t>
                          </a:r>
                        </a:p>
                      </a:txBody>
                      <a:tcPr>
                        <a:lnT w="28575" cap="flat" cmpd="sng" algn="ctr">
                          <a:solidFill>
                            <a:schemeClr val="bg1">
                              <a:lumMod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lnSpc>
                              <a:spcPct val="100000"/>
                            </a:lnSpc>
                          </a:pPr>
                          <a:r>
                            <a:rPr lang="en-US" sz="2000" dirty="0"/>
                            <a:t>Fixed Claim </a:t>
                          </a:r>
                        </a:p>
                      </a:txBody>
                      <a:tcPr>
                        <a:lnT w="28575" cap="flat" cmpd="sng" algn="ctr">
                          <a:solidFill>
                            <a:schemeClr val="bg1">
                              <a:lumMod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lnSpc>
                              <a:spcPct val="100000"/>
                            </a:lnSpc>
                          </a:pPr>
                          <a:r>
                            <a:rPr lang="en-US" sz="2000" dirty="0"/>
                            <a:t>Residual Claim</a:t>
                          </a:r>
                        </a:p>
                      </a:txBody>
                      <a:tcPr>
                        <a:lnT w="28575" cap="flat" cmpd="sng" algn="ctr">
                          <a:solidFill>
                            <a:schemeClr val="bg1">
                              <a:lumMod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134685063"/>
                      </a:ext>
                    </a:extLst>
                  </a:tr>
                  <a:tr h="748894">
                    <a:tc>
                      <a:txBody>
                        <a:bodyPr/>
                        <a:lstStyle/>
                        <a:p>
                          <a:pPr algn="l">
                            <a:lnSpc>
                              <a:spcPct val="100000"/>
                            </a:lnSpc>
                          </a:pPr>
                          <a:r>
                            <a:rPr lang="en-US" sz="2000" b="1" dirty="0"/>
                            <a:t>Priority</a:t>
                          </a:r>
                        </a:p>
                      </a:txBody>
                      <a:tcP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lnSpc>
                              <a:spcPct val="100000"/>
                            </a:lnSpc>
                          </a:pPr>
                          <a:r>
                            <a:rPr lang="en-US" sz="2000" dirty="0"/>
                            <a:t>Highest Priority in Financial Trouble</a:t>
                          </a:r>
                        </a:p>
                      </a:txBody>
                      <a:tcP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lnSpc>
                              <a:spcPct val="100000"/>
                            </a:lnSpc>
                          </a:pPr>
                          <a:r>
                            <a:rPr lang="en-US" sz="2000" dirty="0"/>
                            <a:t>Lowest Priority in Financial Trouble</a:t>
                          </a:r>
                        </a:p>
                      </a:txBody>
                      <a:tcP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686231711"/>
                      </a:ext>
                    </a:extLst>
                  </a:tr>
                  <a:tr h="537077">
                    <a:tc>
                      <a:txBody>
                        <a:bodyPr/>
                        <a:lstStyle/>
                        <a:p>
                          <a:pPr algn="l">
                            <a:lnSpc>
                              <a:spcPct val="100000"/>
                            </a:lnSpc>
                          </a:pPr>
                          <a:r>
                            <a:rPr lang="en-US" sz="2000" b="1" dirty="0"/>
                            <a:t>Repayment</a:t>
                          </a:r>
                        </a:p>
                      </a:txBody>
                      <a:tcP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lnSpc>
                              <a:spcPct val="100000"/>
                            </a:lnSpc>
                          </a:pPr>
                          <a:r>
                            <a:rPr lang="en-US" sz="2000" dirty="0"/>
                            <a:t>Fixed Maturity</a:t>
                          </a:r>
                        </a:p>
                      </a:txBody>
                      <a:tcP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lnSpc>
                              <a:spcPct val="100000"/>
                            </a:lnSpc>
                          </a:pPr>
                          <a:r>
                            <a:rPr lang="en-US" sz="2000" dirty="0"/>
                            <a:t>Infinite</a:t>
                          </a:r>
                        </a:p>
                      </a:txBody>
                      <a:tcP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657300047"/>
                      </a:ext>
                    </a:extLst>
                  </a:tr>
                  <a:tr h="447528">
                    <a:tc>
                      <a:txBody>
                        <a:bodyPr/>
                        <a:lstStyle/>
                        <a:p>
                          <a:pPr algn="l">
                            <a:lnSpc>
                              <a:spcPct val="100000"/>
                            </a:lnSpc>
                          </a:pPr>
                          <a:r>
                            <a:rPr lang="en-US" sz="2000" b="1" dirty="0"/>
                            <a:t>Cost</a:t>
                          </a:r>
                        </a:p>
                      </a:txBody>
                      <a:tcPr>
                        <a:lnT w="12700" cap="flat" cmpd="sng" algn="ctr">
                          <a:solidFill>
                            <a:schemeClr val="bg1">
                              <a:lumMod val="75000"/>
                            </a:schemeClr>
                          </a:solidFill>
                          <a:prstDash val="solid"/>
                          <a:round/>
                          <a:headEnd type="none" w="med" len="med"/>
                          <a:tailEnd type="none" w="med" len="med"/>
                        </a:lnT>
                      </a:tcPr>
                    </a:tc>
                    <a:tc>
                      <a:txBody>
                        <a:bodyPr/>
                        <a:lstStyle/>
                        <a:p>
                          <a:endParaRPr lang="en-US"/>
                        </a:p>
                      </a:txBody>
                      <a:tcPr>
                        <a:lnT w="12700" cap="flat" cmpd="sng" algn="ctr">
                          <a:solidFill>
                            <a:schemeClr val="bg1">
                              <a:lumMod val="75000"/>
                            </a:schemeClr>
                          </a:solidFill>
                          <a:prstDash val="solid"/>
                          <a:round/>
                          <a:headEnd type="none" w="med" len="med"/>
                          <a:tailEnd type="none" w="med" len="med"/>
                        </a:lnT>
                        <a:blipFill>
                          <a:blip r:embed="rId3"/>
                          <a:stretch>
                            <a:fillRect l="-66031" t="-508108" r="-100382" b="-12162"/>
                          </a:stretch>
                        </a:blipFill>
                      </a:tcPr>
                    </a:tc>
                    <a:tc>
                      <a:txBody>
                        <a:bodyPr/>
                        <a:lstStyle/>
                        <a:p>
                          <a:endParaRPr lang="en-US"/>
                        </a:p>
                      </a:txBody>
                      <a:tcPr>
                        <a:lnT w="12700" cap="flat" cmpd="sng" algn="ctr">
                          <a:solidFill>
                            <a:schemeClr val="bg1">
                              <a:lumMod val="75000"/>
                            </a:schemeClr>
                          </a:solidFill>
                          <a:prstDash val="solid"/>
                          <a:round/>
                          <a:headEnd type="none" w="med" len="med"/>
                          <a:tailEnd type="none" w="med" len="med"/>
                        </a:lnT>
                        <a:blipFill>
                          <a:blip r:embed="rId3"/>
                          <a:stretch>
                            <a:fillRect l="-166031" t="-508108" r="-382" b="-12162"/>
                          </a:stretch>
                        </a:blipFill>
                      </a:tcPr>
                    </a:tc>
                    <a:extLst>
                      <a:ext uri="{0D108BD9-81ED-4DB2-BD59-A6C34878D82A}">
                        <a16:rowId xmlns:a16="http://schemas.microsoft.com/office/drawing/2014/main" val="3117591648"/>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5A9D543-F108-FF08-BC4D-7F74025DA05A}"/>
                  </a:ext>
                </a:extLst>
              </p:cNvPr>
              <p:cNvSpPr txBox="1"/>
              <p:nvPr/>
            </p:nvSpPr>
            <p:spPr>
              <a:xfrm>
                <a:off x="346074" y="4424723"/>
                <a:ext cx="8619796" cy="1477328"/>
              </a:xfrm>
              <a:prstGeom prst="rect">
                <a:avLst/>
              </a:prstGeom>
              <a:noFill/>
            </p:spPr>
            <p:txBody>
              <a:bodyPr wrap="square">
                <a:spAutoFit/>
              </a:bodyPr>
              <a:lstStyle/>
              <a:p>
                <a:pPr marL="12700" lvl="1" indent="0">
                  <a:buClr>
                    <a:srgbClr val="C00000"/>
                  </a:buClr>
                  <a:buSzPct val="90000"/>
                  <a:buNone/>
                </a:pPr>
                <a14:m>
                  <m:oMathPara xmlns:m="http://schemas.openxmlformats.org/officeDocument/2006/math">
                    <m:oMathParaPr>
                      <m:jc m:val="left"/>
                    </m:oMathParaPr>
                    <m:oMath xmlns:m="http://schemas.openxmlformats.org/officeDocument/2006/math">
                      <m:r>
                        <a:rPr lang="en-GB" i="1" dirty="0" smtClean="0">
                          <a:solidFill>
                            <a:srgbClr val="C00000"/>
                          </a:solidFill>
                          <a:latin typeface="Cambria Math" panose="02040503050406030204" pitchFamily="18" charset="0"/>
                          <a:ea typeface="Cambria Math" panose="02040503050406030204" pitchFamily="18" charset="0"/>
                        </a:rPr>
                        <m:t>⇒</m:t>
                      </m:r>
                      <m:r>
                        <m:rPr>
                          <m:nor/>
                        </m:rPr>
                        <a:rPr lang="en-GB" dirty="0">
                          <a:solidFill>
                            <a:prstClr val="black"/>
                          </a:solidFill>
                        </a:rPr>
                        <m:t>Debtholders</m:t>
                      </m:r>
                      <m:r>
                        <m:rPr>
                          <m:nor/>
                        </m:rPr>
                        <a:rPr lang="en-GB" dirty="0">
                          <a:solidFill>
                            <a:prstClr val="black"/>
                          </a:solidFill>
                        </a:rPr>
                        <m:t> </m:t>
                      </m:r>
                      <m:r>
                        <m:rPr>
                          <m:nor/>
                        </m:rPr>
                        <a:rPr lang="en-GB" dirty="0">
                          <a:solidFill>
                            <a:prstClr val="black"/>
                          </a:solidFill>
                        </a:rPr>
                        <m:t>carry</m:t>
                      </m:r>
                      <m:r>
                        <m:rPr>
                          <m:nor/>
                        </m:rPr>
                        <a:rPr lang="en-GB" dirty="0">
                          <a:solidFill>
                            <a:prstClr val="black"/>
                          </a:solidFill>
                        </a:rPr>
                        <m:t> </m:t>
                      </m:r>
                      <m:r>
                        <m:rPr>
                          <m:nor/>
                        </m:rPr>
                        <a:rPr lang="en-GB" dirty="0">
                          <a:solidFill>
                            <a:prstClr val="black"/>
                          </a:solidFill>
                        </a:rPr>
                        <m:t>less</m:t>
                      </m:r>
                      <m:r>
                        <m:rPr>
                          <m:nor/>
                        </m:rPr>
                        <a:rPr lang="en-GB" dirty="0">
                          <a:solidFill>
                            <a:prstClr val="black"/>
                          </a:solidFill>
                        </a:rPr>
                        <m:t> </m:t>
                      </m:r>
                      <m:r>
                        <m:rPr>
                          <m:nor/>
                        </m:rPr>
                        <a:rPr lang="en-GB" dirty="0">
                          <a:solidFill>
                            <a:prstClr val="black"/>
                          </a:solidFill>
                        </a:rPr>
                        <m:t>risk</m:t>
                      </m:r>
                      <m:r>
                        <m:rPr>
                          <m:nor/>
                        </m:rPr>
                        <a:rPr lang="en-GB" dirty="0">
                          <a:solidFill>
                            <a:prstClr val="black"/>
                          </a:solidFill>
                        </a:rPr>
                        <m:t> </m:t>
                      </m:r>
                      <m:r>
                        <m:rPr>
                          <m:nor/>
                        </m:rPr>
                        <a:rPr lang="en-GB" dirty="0">
                          <a:solidFill>
                            <a:prstClr val="black"/>
                          </a:solidFill>
                        </a:rPr>
                        <m:t>than</m:t>
                      </m:r>
                      <m:r>
                        <m:rPr>
                          <m:nor/>
                        </m:rPr>
                        <a:rPr lang="en-GB" dirty="0">
                          <a:solidFill>
                            <a:prstClr val="black"/>
                          </a:solidFill>
                        </a:rPr>
                        <m:t> </m:t>
                      </m:r>
                      <m:r>
                        <m:rPr>
                          <m:nor/>
                        </m:rPr>
                        <a:rPr lang="en-GB" dirty="0">
                          <a:solidFill>
                            <a:prstClr val="black"/>
                          </a:solidFill>
                        </a:rPr>
                        <m:t>equity</m:t>
                      </m:r>
                      <m:r>
                        <m:rPr>
                          <m:nor/>
                        </m:rPr>
                        <a:rPr lang="en-GB" dirty="0">
                          <a:solidFill>
                            <a:prstClr val="black"/>
                          </a:solidFill>
                        </a:rPr>
                        <m:t>−</m:t>
                      </m:r>
                      <m:r>
                        <m:rPr>
                          <m:nor/>
                        </m:rPr>
                        <a:rPr lang="en-GB" dirty="0">
                          <a:solidFill>
                            <a:prstClr val="black"/>
                          </a:solidFill>
                        </a:rPr>
                        <m:t>holders</m:t>
                      </m:r>
                      <m:r>
                        <m:rPr>
                          <m:nor/>
                        </m:rPr>
                        <a:rPr lang="en-GB" dirty="0">
                          <a:solidFill>
                            <a:prstClr val="black"/>
                          </a:solidFill>
                        </a:rPr>
                        <m:t> </m:t>
                      </m:r>
                      <m:r>
                        <a:rPr lang="en-GB" i="1" dirty="0">
                          <a:solidFill>
                            <a:srgbClr val="C00000"/>
                          </a:solidFill>
                          <a:latin typeface="Cambria Math" panose="02040503050406030204" pitchFamily="18" charset="0"/>
                          <a:ea typeface="Cambria Math" panose="02040503050406030204" pitchFamily="18" charset="0"/>
                        </a:rPr>
                        <m:t>⇒</m:t>
                      </m:r>
                      <m:r>
                        <m:rPr>
                          <m:nor/>
                        </m:rPr>
                        <a:rPr lang="en-GB" dirty="0">
                          <a:solidFill>
                            <a:prstClr val="black"/>
                          </a:solidFill>
                        </a:rPr>
                        <m:t> </m:t>
                      </m:r>
                      <m:r>
                        <m:rPr>
                          <m:nor/>
                        </m:rPr>
                        <a:rPr lang="en-GB" dirty="0">
                          <a:solidFill>
                            <a:prstClr val="black"/>
                          </a:solidFill>
                        </a:rPr>
                        <m:t>they</m:t>
                      </m:r>
                      <m:r>
                        <m:rPr>
                          <m:nor/>
                        </m:rPr>
                        <a:rPr lang="en-GB" dirty="0">
                          <a:solidFill>
                            <a:prstClr val="black"/>
                          </a:solidFill>
                        </a:rPr>
                        <m:t> </m:t>
                      </m:r>
                      <m:r>
                        <m:rPr>
                          <m:nor/>
                        </m:rPr>
                        <a:rPr lang="en-GB" dirty="0">
                          <a:solidFill>
                            <a:prstClr val="black"/>
                          </a:solidFill>
                        </a:rPr>
                        <m:t>require</m:t>
                      </m:r>
                      <m:r>
                        <m:rPr>
                          <m:nor/>
                        </m:rPr>
                        <a:rPr lang="en-GB" dirty="0">
                          <a:solidFill>
                            <a:prstClr val="black"/>
                          </a:solidFill>
                        </a:rPr>
                        <m:t> </m:t>
                      </m:r>
                      <m:r>
                        <m:rPr>
                          <m:nor/>
                        </m:rPr>
                        <a:rPr lang="en-GB" dirty="0">
                          <a:solidFill>
                            <a:prstClr val="black"/>
                          </a:solidFill>
                        </a:rPr>
                        <m:t>a</m:t>
                      </m:r>
                      <m:r>
                        <m:rPr>
                          <m:nor/>
                        </m:rPr>
                        <a:rPr lang="en-GB" dirty="0">
                          <a:solidFill>
                            <a:prstClr val="black"/>
                          </a:solidFill>
                        </a:rPr>
                        <m:t> </m:t>
                      </m:r>
                      <m:r>
                        <m:rPr>
                          <m:nor/>
                        </m:rPr>
                        <a:rPr lang="en-GB" dirty="0">
                          <a:solidFill>
                            <a:prstClr val="black"/>
                          </a:solidFill>
                        </a:rPr>
                        <m:t>lower</m:t>
                      </m:r>
                      <m:r>
                        <m:rPr>
                          <m:nor/>
                        </m:rPr>
                        <a:rPr lang="en-GB" dirty="0">
                          <a:solidFill>
                            <a:prstClr val="black"/>
                          </a:solidFill>
                        </a:rPr>
                        <m:t> </m:t>
                      </m:r>
                      <m:r>
                        <m:rPr>
                          <m:nor/>
                        </m:rPr>
                        <a:rPr lang="en-GB" dirty="0">
                          <a:solidFill>
                            <a:prstClr val="black"/>
                          </a:solidFill>
                        </a:rPr>
                        <m:t>return</m:t>
                      </m:r>
                      <m:r>
                        <m:rPr>
                          <m:nor/>
                        </m:rPr>
                        <a:rPr lang="en-GB" dirty="0">
                          <a:solidFill>
                            <a:prstClr val="black"/>
                          </a:solidFill>
                        </a:rPr>
                        <m:t>.</m:t>
                      </m:r>
                    </m:oMath>
                  </m:oMathPara>
                </a14:m>
                <a:endParaRPr lang="en-GB" dirty="0">
                  <a:solidFill>
                    <a:prstClr val="black"/>
                  </a:solidFill>
                </a:endParaRPr>
              </a:p>
              <a:p>
                <a:pPr marL="12700" lvl="1" indent="0">
                  <a:buClr>
                    <a:srgbClr val="C00000"/>
                  </a:buClr>
                  <a:buSzPct val="90000"/>
                  <a:buNone/>
                </a:pPr>
                <a14:m>
                  <m:oMathPara xmlns:m="http://schemas.openxmlformats.org/officeDocument/2006/math">
                    <m:oMathParaPr>
                      <m:jc m:val="centerGroup"/>
                    </m:oMathParaPr>
                    <m:oMath xmlns:m="http://schemas.openxmlformats.org/officeDocument/2006/math">
                      <m:sSub>
                        <m:sSubPr>
                          <m:ctrlPr>
                            <a:rPr lang="en-GB" i="1" dirty="0" smtClean="0">
                              <a:solidFill>
                                <a:prstClr val="black"/>
                              </a:solidFill>
                              <a:latin typeface="Cambria Math" panose="02040503050406030204" pitchFamily="18" charset="0"/>
                            </a:rPr>
                          </m:ctrlPr>
                        </m:sSubPr>
                        <m:e>
                          <m:r>
                            <a:rPr lang="en-GB" b="0" i="1" dirty="0" smtClean="0">
                              <a:solidFill>
                                <a:prstClr val="black"/>
                              </a:solidFill>
                              <a:latin typeface="Cambria Math" panose="02040503050406030204" pitchFamily="18" charset="0"/>
                            </a:rPr>
                            <m:t>𝑟</m:t>
                          </m:r>
                        </m:e>
                        <m:sub>
                          <m:r>
                            <a:rPr lang="en-GB" b="0" i="1" dirty="0" smtClean="0">
                              <a:solidFill>
                                <a:prstClr val="black"/>
                              </a:solidFill>
                              <a:latin typeface="Cambria Math" panose="02040503050406030204" pitchFamily="18" charset="0"/>
                            </a:rPr>
                            <m:t>𝐷</m:t>
                          </m:r>
                        </m:sub>
                      </m:sSub>
                      <m:r>
                        <a:rPr lang="en-GB" i="1" dirty="0">
                          <a:solidFill>
                            <a:prstClr val="black"/>
                          </a:solidFill>
                          <a:latin typeface="Cambria Math" panose="02040503050406030204" pitchFamily="18" charset="0"/>
                        </a:rPr>
                        <m:t>&lt;</m:t>
                      </m:r>
                      <m:sSub>
                        <m:sSubPr>
                          <m:ctrlPr>
                            <a:rPr lang="en-GB" i="1" dirty="0" err="1">
                              <a:solidFill>
                                <a:prstClr val="black"/>
                              </a:solidFill>
                              <a:latin typeface="Cambria Math" panose="02040503050406030204" pitchFamily="18" charset="0"/>
                            </a:rPr>
                          </m:ctrlPr>
                        </m:sSubPr>
                        <m:e>
                          <m:r>
                            <a:rPr lang="en-GB" b="0" i="1" dirty="0" smtClean="0">
                              <a:solidFill>
                                <a:prstClr val="black"/>
                              </a:solidFill>
                              <a:latin typeface="Cambria Math" panose="02040503050406030204" pitchFamily="18" charset="0"/>
                            </a:rPr>
                            <m:t>𝑟</m:t>
                          </m:r>
                        </m:e>
                        <m:sub>
                          <m:r>
                            <a:rPr lang="en-GB" b="0" i="1" dirty="0" smtClean="0">
                              <a:solidFill>
                                <a:prstClr val="black"/>
                              </a:solidFill>
                              <a:latin typeface="Cambria Math" panose="02040503050406030204" pitchFamily="18" charset="0"/>
                            </a:rPr>
                            <m:t>𝐸</m:t>
                          </m:r>
                        </m:sub>
                      </m:sSub>
                    </m:oMath>
                  </m:oMathPara>
                </a14:m>
                <a:endParaRPr lang="en-GB" dirty="0">
                  <a:solidFill>
                    <a:prstClr val="black"/>
                  </a:solidFill>
                </a:endParaRPr>
              </a:p>
              <a:p>
                <a:pPr marL="12700" lvl="1" indent="0">
                  <a:buClr>
                    <a:srgbClr val="C00000"/>
                  </a:buClr>
                  <a:buSzPct val="90000"/>
                  <a:buNone/>
                </a:pPr>
                <a:endParaRPr lang="en-GB" b="1" dirty="0">
                  <a:solidFill>
                    <a:schemeClr val="accent5">
                      <a:lumMod val="75000"/>
                    </a:schemeClr>
                  </a:solidFill>
                </a:endParaRPr>
              </a:p>
              <a:p>
                <a:pPr marL="12700" lvl="1" indent="0">
                  <a:buClr>
                    <a:srgbClr val="C00000"/>
                  </a:buClr>
                  <a:buSzPct val="90000"/>
                  <a:buNone/>
                </a:pPr>
                <a:r>
                  <a:rPr lang="en-GB" b="1" dirty="0">
                    <a:solidFill>
                      <a:schemeClr val="accent5">
                        <a:lumMod val="75000"/>
                      </a:schemeClr>
                    </a:solidFill>
                  </a:rPr>
                  <a:t>Question:  </a:t>
                </a:r>
                <a:r>
                  <a:rPr lang="en-GB" dirty="0"/>
                  <a:t>Does it mean that financial managers always prefer debt over equity?</a:t>
                </a:r>
              </a:p>
              <a:p>
                <a:pPr marL="12700" lvl="1" indent="0">
                  <a:buClr>
                    <a:srgbClr val="C00000"/>
                  </a:buClr>
                  <a:buSzPct val="90000"/>
                  <a:buNone/>
                </a:pPr>
                <a:endParaRPr lang="en-GB" dirty="0">
                  <a:solidFill>
                    <a:prstClr val="black"/>
                  </a:solidFill>
                </a:endParaRPr>
              </a:p>
            </p:txBody>
          </p:sp>
        </mc:Choice>
        <mc:Fallback xmlns="">
          <p:sp>
            <p:nvSpPr>
              <p:cNvPr id="12" name="TextBox 11">
                <a:extLst>
                  <a:ext uri="{FF2B5EF4-FFF2-40B4-BE49-F238E27FC236}">
                    <a16:creationId xmlns:a16="http://schemas.microsoft.com/office/drawing/2014/main" id="{95A9D543-F108-FF08-BC4D-7F74025DA05A}"/>
                  </a:ext>
                </a:extLst>
              </p:cNvPr>
              <p:cNvSpPr txBox="1">
                <a:spLocks noRot="1" noChangeAspect="1" noMove="1" noResize="1" noEditPoints="1" noAdjustHandles="1" noChangeArrowheads="1" noChangeShapeType="1" noTextEdit="1"/>
              </p:cNvSpPr>
              <p:nvPr/>
            </p:nvSpPr>
            <p:spPr>
              <a:xfrm>
                <a:off x="346074" y="4424723"/>
                <a:ext cx="8619796" cy="1477328"/>
              </a:xfrm>
              <a:prstGeom prst="rect">
                <a:avLst/>
              </a:prstGeom>
              <a:blipFill>
                <a:blip r:embed="rId4"/>
                <a:stretch>
                  <a:fillRect l="-495"/>
                </a:stretch>
              </a:blipFill>
            </p:spPr>
            <p:txBody>
              <a:bodyPr/>
              <a:lstStyle/>
              <a:p>
                <a:r>
                  <a:rPr lang="en-GB">
                    <a:noFill/>
                  </a:rPr>
                  <a:t> </a:t>
                </a:r>
              </a:p>
            </p:txBody>
          </p:sp>
        </mc:Fallback>
      </mc:AlternateContent>
    </p:spTree>
    <p:extLst>
      <p:ext uri="{BB962C8B-B14F-4D97-AF65-F5344CB8AC3E}">
        <p14:creationId xmlns:p14="http://schemas.microsoft.com/office/powerpoint/2010/main" val="32809868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79EC3-DB1C-B321-336B-E4F9B9712E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0F0371-9607-2FE2-0248-9DAF35804517}"/>
              </a:ext>
            </a:extLst>
          </p:cNvPr>
          <p:cNvSpPr>
            <a:spLocks noGrp="1"/>
          </p:cNvSpPr>
          <p:nvPr>
            <p:ph type="title"/>
          </p:nvPr>
        </p:nvSpPr>
        <p:spPr>
          <a:xfrm>
            <a:off x="643689" y="776918"/>
            <a:ext cx="7886700" cy="720079"/>
          </a:xfrm>
        </p:spPr>
        <p:txBody>
          <a:bodyPr/>
          <a:lstStyle/>
          <a:p>
            <a:r>
              <a:rPr lang="en-GB" dirty="0">
                <a:solidFill>
                  <a:srgbClr val="1C9DAC"/>
                </a:solidFill>
                <a:ea typeface="ＭＳ Ｐゴシック"/>
              </a:rPr>
              <a:t>Limitations of WACC</a:t>
            </a:r>
          </a:p>
        </p:txBody>
      </p:sp>
      <p:sp>
        <p:nvSpPr>
          <p:cNvPr id="3" name="Content Placeholder 2">
            <a:extLst>
              <a:ext uri="{FF2B5EF4-FFF2-40B4-BE49-F238E27FC236}">
                <a16:creationId xmlns:a16="http://schemas.microsoft.com/office/drawing/2014/main" id="{ACE4A0D5-9A28-3F9E-5462-ABA0A7728B08}"/>
              </a:ext>
            </a:extLst>
          </p:cNvPr>
          <p:cNvSpPr>
            <a:spLocks noGrp="1"/>
          </p:cNvSpPr>
          <p:nvPr>
            <p:ph sz="half" idx="1"/>
          </p:nvPr>
        </p:nvSpPr>
        <p:spPr>
          <a:xfrm>
            <a:off x="345989" y="1853513"/>
            <a:ext cx="8365525" cy="4807543"/>
          </a:xfrm>
        </p:spPr>
        <p:txBody>
          <a:bodyPr lIns="91440" tIns="45720" rIns="91440" bIns="45720" anchor="t">
            <a:normAutofit/>
          </a:bodyPr>
          <a:lstStyle/>
          <a:p>
            <a:pPr lvl="1">
              <a:lnSpc>
                <a:spcPct val="150000"/>
              </a:lnSpc>
              <a:buClr>
                <a:srgbClr val="1C9DAC"/>
              </a:buClr>
              <a:buFont typeface="Wingdings" panose="05000000000000000000" pitchFamily="2" charset="2"/>
              <a:buChar char="§"/>
            </a:pPr>
            <a:r>
              <a:rPr lang="en-GB" sz="2000" dirty="0">
                <a:ea typeface="ＭＳ Ｐゴシック"/>
              </a:rPr>
              <a:t>Assumes constant capital structure (financing mix may change over time)</a:t>
            </a:r>
          </a:p>
          <a:p>
            <a:pPr lvl="1">
              <a:lnSpc>
                <a:spcPct val="150000"/>
              </a:lnSpc>
              <a:buClr>
                <a:srgbClr val="1C9DAC"/>
              </a:buClr>
              <a:buFont typeface="Wingdings" panose="05000000000000000000" pitchFamily="2" charset="2"/>
              <a:buChar char="§"/>
            </a:pPr>
            <a:r>
              <a:rPr lang="en-GB" sz="2000" dirty="0">
                <a:ea typeface="ＭＳ Ｐゴシック"/>
              </a:rPr>
              <a:t>Relies on market values (e.g., private firms)</a:t>
            </a:r>
          </a:p>
          <a:p>
            <a:pPr lvl="1">
              <a:lnSpc>
                <a:spcPct val="150000"/>
              </a:lnSpc>
              <a:buClr>
                <a:srgbClr val="1C9DAC"/>
              </a:buClr>
              <a:buFont typeface="Wingdings" panose="05000000000000000000" pitchFamily="2" charset="2"/>
              <a:buChar char="§"/>
            </a:pPr>
            <a:r>
              <a:rPr lang="en-GB" sz="2000" dirty="0">
                <a:ea typeface="ＭＳ Ｐゴシック"/>
              </a:rPr>
              <a:t>Ignores project-specific risk (reflects firm-wide average, not individual investment risk)</a:t>
            </a:r>
          </a:p>
          <a:p>
            <a:pPr lvl="1">
              <a:lnSpc>
                <a:spcPct val="150000"/>
              </a:lnSpc>
              <a:buClr>
                <a:srgbClr val="1C9DAC"/>
              </a:buClr>
              <a:buFont typeface="Wingdings" panose="05000000000000000000" pitchFamily="2" charset="2"/>
              <a:buChar char="§"/>
            </a:pPr>
            <a:r>
              <a:rPr lang="en-GB" sz="2000" dirty="0">
                <a:ea typeface="ＭＳ Ｐゴシック"/>
              </a:rPr>
              <a:t>Assumes perfect capital markets (no bankruptcy costs, no friction)</a:t>
            </a:r>
          </a:p>
          <a:p>
            <a:pPr lvl="1">
              <a:lnSpc>
                <a:spcPct val="150000"/>
              </a:lnSpc>
              <a:buClr>
                <a:srgbClr val="1C9DAC"/>
              </a:buClr>
              <a:buFont typeface="Wingdings" panose="05000000000000000000" pitchFamily="2" charset="2"/>
              <a:buChar char="§"/>
            </a:pPr>
            <a:r>
              <a:rPr lang="en-GB" sz="2000" dirty="0">
                <a:ea typeface="ＭＳ Ｐゴシック"/>
              </a:rPr>
              <a:t>Not valid for firms with multiple business units (WACC may not reflect the risk profile of diversified operations)</a:t>
            </a:r>
          </a:p>
        </p:txBody>
      </p:sp>
    </p:spTree>
    <p:extLst>
      <p:ext uri="{BB962C8B-B14F-4D97-AF65-F5344CB8AC3E}">
        <p14:creationId xmlns:p14="http://schemas.microsoft.com/office/powerpoint/2010/main" val="27375515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E7C59-F679-6FB6-64D2-3F7736EC52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BDF3F-8078-70F8-A8C5-74F51B6F10BA}"/>
              </a:ext>
            </a:extLst>
          </p:cNvPr>
          <p:cNvSpPr>
            <a:spLocks noGrp="1"/>
          </p:cNvSpPr>
          <p:nvPr>
            <p:ph type="title"/>
          </p:nvPr>
        </p:nvSpPr>
        <p:spPr>
          <a:xfrm>
            <a:off x="278575" y="380356"/>
            <a:ext cx="7886700" cy="634117"/>
          </a:xfrm>
        </p:spPr>
        <p:txBody>
          <a:bodyPr>
            <a:normAutofit/>
          </a:bodyPr>
          <a:lstStyle/>
          <a:p>
            <a:r>
              <a:rPr lang="en-GB" dirty="0"/>
              <a:t>Leverage &amp; Shareholder Returns</a:t>
            </a:r>
          </a:p>
        </p:txBody>
      </p:sp>
      <p:sp>
        <p:nvSpPr>
          <p:cNvPr id="4" name="Slide Number Placeholder 3">
            <a:extLst>
              <a:ext uri="{FF2B5EF4-FFF2-40B4-BE49-F238E27FC236}">
                <a16:creationId xmlns:a16="http://schemas.microsoft.com/office/drawing/2014/main" id="{F0B23018-1967-733A-48A3-5EEC65529A66}"/>
              </a:ext>
            </a:extLst>
          </p:cNvPr>
          <p:cNvSpPr>
            <a:spLocks noGrp="1"/>
          </p:cNvSpPr>
          <p:nvPr>
            <p:ph type="sldNum" sz="quarter" idx="12"/>
          </p:nvPr>
        </p:nvSpPr>
        <p:spPr>
          <a:xfrm>
            <a:off x="8548754" y="5710698"/>
            <a:ext cx="679467" cy="405323"/>
          </a:xfrm>
          <a:ln w="12700"/>
        </p:spPr>
        <p:txBody>
          <a:bodyPr/>
          <a:lstStyle/>
          <a:p>
            <a:fld id="{0F99C4FB-888A-4D12-A1C4-C744D94026CD}" type="slidenum">
              <a:rPr lang="en-GB" sz="1350">
                <a:solidFill>
                  <a:schemeClr val="tx1">
                    <a:lumMod val="50000"/>
                    <a:lumOff val="50000"/>
                  </a:schemeClr>
                </a:solidFill>
              </a:rPr>
              <a:t>15</a:t>
            </a:fld>
            <a:endParaRPr lang="en-GB" sz="1350" dirty="0">
              <a:solidFill>
                <a:schemeClr val="tx1">
                  <a:lumMod val="50000"/>
                  <a:lumOff val="50000"/>
                </a:schemeClr>
              </a:solidFill>
            </a:endParaRPr>
          </a:p>
        </p:txBody>
      </p:sp>
      <p:sp>
        <p:nvSpPr>
          <p:cNvPr id="7" name="TextBox 6">
            <a:extLst>
              <a:ext uri="{FF2B5EF4-FFF2-40B4-BE49-F238E27FC236}">
                <a16:creationId xmlns:a16="http://schemas.microsoft.com/office/drawing/2014/main" id="{C4BB75F4-8A4A-3ABE-B93E-EB1F8AC63286}"/>
              </a:ext>
            </a:extLst>
          </p:cNvPr>
          <p:cNvSpPr txBox="1"/>
          <p:nvPr/>
        </p:nvSpPr>
        <p:spPr>
          <a:xfrm>
            <a:off x="432144" y="1140850"/>
            <a:ext cx="7886699" cy="1200329"/>
          </a:xfrm>
          <a:prstGeom prst="rect">
            <a:avLst/>
          </a:prstGeom>
          <a:noFill/>
        </p:spPr>
        <p:txBody>
          <a:bodyPr wrap="square">
            <a:spAutoFit/>
          </a:bodyPr>
          <a:lstStyle/>
          <a:p>
            <a:r>
              <a:rPr lang="en-GB" dirty="0"/>
              <a:t>Financial Leverage: using borrowed money (debt) to help finance a business or investment.</a:t>
            </a:r>
          </a:p>
          <a:p>
            <a:endParaRPr lang="en-GB" dirty="0"/>
          </a:p>
          <a:p>
            <a:r>
              <a:rPr lang="en-GB" dirty="0"/>
              <a:t>Imagine a company invests </a:t>
            </a:r>
            <a:r>
              <a:rPr lang="en-GB" b="1" dirty="0"/>
              <a:t>£1,000</a:t>
            </a:r>
            <a:r>
              <a:rPr lang="en-GB" dirty="0"/>
              <a:t> and earns </a:t>
            </a:r>
            <a:r>
              <a:rPr lang="en-GB" b="1" dirty="0"/>
              <a:t>10% return</a:t>
            </a:r>
            <a:r>
              <a:rPr lang="en-GB" dirty="0"/>
              <a:t>:</a:t>
            </a:r>
          </a:p>
        </p:txBody>
      </p:sp>
      <p:graphicFrame>
        <p:nvGraphicFramePr>
          <p:cNvPr id="14" name="Table 13">
            <a:extLst>
              <a:ext uri="{FF2B5EF4-FFF2-40B4-BE49-F238E27FC236}">
                <a16:creationId xmlns:a16="http://schemas.microsoft.com/office/drawing/2014/main" id="{E1BCC710-A6F4-6CA0-BDF3-5AF2D42A9EE7}"/>
              </a:ext>
            </a:extLst>
          </p:cNvPr>
          <p:cNvGraphicFramePr>
            <a:graphicFrameLocks noGrp="1"/>
          </p:cNvGraphicFramePr>
          <p:nvPr>
            <p:extLst>
              <p:ext uri="{D42A27DB-BD31-4B8C-83A1-F6EECF244321}">
                <p14:modId xmlns:p14="http://schemas.microsoft.com/office/powerpoint/2010/main" val="698828988"/>
              </p:ext>
            </p:extLst>
          </p:nvPr>
        </p:nvGraphicFramePr>
        <p:xfrm>
          <a:off x="432144" y="2341180"/>
          <a:ext cx="8305872" cy="3973214"/>
        </p:xfrm>
        <a:graphic>
          <a:graphicData uri="http://schemas.openxmlformats.org/drawingml/2006/table">
            <a:tbl>
              <a:tblPr/>
              <a:tblGrid>
                <a:gridCol w="2768624">
                  <a:extLst>
                    <a:ext uri="{9D8B030D-6E8A-4147-A177-3AD203B41FA5}">
                      <a16:colId xmlns:a16="http://schemas.microsoft.com/office/drawing/2014/main" val="2245937804"/>
                    </a:ext>
                  </a:extLst>
                </a:gridCol>
                <a:gridCol w="2768624">
                  <a:extLst>
                    <a:ext uri="{9D8B030D-6E8A-4147-A177-3AD203B41FA5}">
                      <a16:colId xmlns:a16="http://schemas.microsoft.com/office/drawing/2014/main" val="2695040781"/>
                    </a:ext>
                  </a:extLst>
                </a:gridCol>
                <a:gridCol w="2768624">
                  <a:extLst>
                    <a:ext uri="{9D8B030D-6E8A-4147-A177-3AD203B41FA5}">
                      <a16:colId xmlns:a16="http://schemas.microsoft.com/office/drawing/2014/main" val="2229069227"/>
                    </a:ext>
                  </a:extLst>
                </a:gridCol>
              </a:tblGrid>
              <a:tr h="626138">
                <a:tc>
                  <a:txBody>
                    <a:bodyPr/>
                    <a:lstStyle/>
                    <a:p>
                      <a:endParaRPr lang="en-GB" sz="2200"/>
                    </a:p>
                  </a:txBody>
                  <a:tcPr marL="83680" marR="83680" marT="41840" marB="41840" anchor="ctr">
                    <a:lnL>
                      <a:noFill/>
                    </a:lnL>
                    <a:lnR>
                      <a:noFill/>
                    </a:lnR>
                    <a:lnT>
                      <a:noFill/>
                    </a:lnT>
                    <a:lnB>
                      <a:noFill/>
                    </a:lnB>
                    <a:noFill/>
                  </a:tcPr>
                </a:tc>
                <a:tc>
                  <a:txBody>
                    <a:bodyPr/>
                    <a:lstStyle/>
                    <a:p>
                      <a:r>
                        <a:rPr lang="en-GB" sz="2200"/>
                        <a:t>No Debt (Equity Only)</a:t>
                      </a:r>
                    </a:p>
                  </a:txBody>
                  <a:tcPr marL="83680" marR="83680" marT="41840" marB="41840" anchor="ctr">
                    <a:lnL>
                      <a:noFill/>
                    </a:lnL>
                    <a:lnR>
                      <a:noFill/>
                    </a:lnR>
                    <a:lnT>
                      <a:noFill/>
                    </a:lnT>
                    <a:lnB>
                      <a:noFill/>
                    </a:lnB>
                    <a:noFill/>
                  </a:tcPr>
                </a:tc>
                <a:tc>
                  <a:txBody>
                    <a:bodyPr/>
                    <a:lstStyle/>
                    <a:p>
                      <a:r>
                        <a:rPr lang="en-GB" sz="2200"/>
                        <a:t>With Debt (Leverage)</a:t>
                      </a:r>
                    </a:p>
                  </a:txBody>
                  <a:tcPr marL="83680" marR="83680" marT="41840" marB="41840" anchor="ctr">
                    <a:lnL>
                      <a:noFill/>
                    </a:lnL>
                    <a:lnR>
                      <a:noFill/>
                    </a:lnR>
                    <a:lnT>
                      <a:noFill/>
                    </a:lnT>
                    <a:lnB>
                      <a:noFill/>
                    </a:lnB>
                    <a:noFill/>
                  </a:tcPr>
                </a:tc>
                <a:extLst>
                  <a:ext uri="{0D108BD9-81ED-4DB2-BD59-A6C34878D82A}">
                    <a16:rowId xmlns:a16="http://schemas.microsoft.com/office/drawing/2014/main" val="4158062310"/>
                  </a:ext>
                </a:extLst>
              </a:tr>
              <a:tr h="415834">
                <a:tc>
                  <a:txBody>
                    <a:bodyPr/>
                    <a:lstStyle/>
                    <a:p>
                      <a:r>
                        <a:rPr lang="en-GB" sz="2200" dirty="0"/>
                        <a:t>Total Investment</a:t>
                      </a:r>
                    </a:p>
                  </a:txBody>
                  <a:tcPr marL="83680" marR="83680" marT="41840" marB="41840" anchor="ctr">
                    <a:lnL>
                      <a:noFill/>
                    </a:lnL>
                    <a:lnR>
                      <a:noFill/>
                    </a:lnR>
                    <a:lnT>
                      <a:noFill/>
                    </a:lnT>
                    <a:lnB>
                      <a:noFill/>
                    </a:lnB>
                    <a:noFill/>
                  </a:tcPr>
                </a:tc>
                <a:tc>
                  <a:txBody>
                    <a:bodyPr/>
                    <a:lstStyle/>
                    <a:p>
                      <a:r>
                        <a:rPr lang="en-GB" sz="2200"/>
                        <a:t>£1,000</a:t>
                      </a:r>
                    </a:p>
                  </a:txBody>
                  <a:tcPr marL="83680" marR="83680" marT="41840" marB="41840" anchor="ctr">
                    <a:lnL>
                      <a:noFill/>
                    </a:lnL>
                    <a:lnR>
                      <a:noFill/>
                    </a:lnR>
                    <a:lnT>
                      <a:noFill/>
                    </a:lnT>
                    <a:lnB>
                      <a:noFill/>
                    </a:lnB>
                    <a:noFill/>
                  </a:tcPr>
                </a:tc>
                <a:tc>
                  <a:txBody>
                    <a:bodyPr/>
                    <a:lstStyle/>
                    <a:p>
                      <a:r>
                        <a:rPr lang="en-GB" sz="2200"/>
                        <a:t>£1,000</a:t>
                      </a:r>
                    </a:p>
                  </a:txBody>
                  <a:tcPr marL="83680" marR="83680" marT="41840" marB="41840" anchor="ctr">
                    <a:lnL>
                      <a:noFill/>
                    </a:lnL>
                    <a:lnR>
                      <a:noFill/>
                    </a:lnR>
                    <a:lnT>
                      <a:noFill/>
                    </a:lnT>
                    <a:lnB>
                      <a:noFill/>
                    </a:lnB>
                    <a:noFill/>
                  </a:tcPr>
                </a:tc>
                <a:extLst>
                  <a:ext uri="{0D108BD9-81ED-4DB2-BD59-A6C34878D82A}">
                    <a16:rowId xmlns:a16="http://schemas.microsoft.com/office/drawing/2014/main" val="1696140225"/>
                  </a:ext>
                </a:extLst>
              </a:tr>
              <a:tr h="415834">
                <a:tc>
                  <a:txBody>
                    <a:bodyPr/>
                    <a:lstStyle/>
                    <a:p>
                      <a:r>
                        <a:rPr lang="en-GB" sz="2200"/>
                        <a:t>Debt Used</a:t>
                      </a:r>
                    </a:p>
                  </a:txBody>
                  <a:tcPr marL="83680" marR="83680" marT="41840" marB="41840" anchor="ctr">
                    <a:lnL>
                      <a:noFill/>
                    </a:lnL>
                    <a:lnR>
                      <a:noFill/>
                    </a:lnR>
                    <a:lnT>
                      <a:noFill/>
                    </a:lnT>
                    <a:lnB>
                      <a:noFill/>
                    </a:lnB>
                    <a:noFill/>
                  </a:tcPr>
                </a:tc>
                <a:tc>
                  <a:txBody>
                    <a:bodyPr/>
                    <a:lstStyle/>
                    <a:p>
                      <a:r>
                        <a:rPr lang="en-GB" sz="2200"/>
                        <a:t>£0</a:t>
                      </a:r>
                    </a:p>
                  </a:txBody>
                  <a:tcPr marL="83680" marR="83680" marT="41840" marB="41840" anchor="ctr">
                    <a:lnL>
                      <a:noFill/>
                    </a:lnL>
                    <a:lnR>
                      <a:noFill/>
                    </a:lnR>
                    <a:lnT>
                      <a:noFill/>
                    </a:lnT>
                    <a:lnB>
                      <a:noFill/>
                    </a:lnB>
                    <a:noFill/>
                  </a:tcPr>
                </a:tc>
                <a:tc>
                  <a:txBody>
                    <a:bodyPr/>
                    <a:lstStyle/>
                    <a:p>
                      <a:r>
                        <a:rPr lang="en-GB" sz="2200"/>
                        <a:t>£500</a:t>
                      </a:r>
                    </a:p>
                  </a:txBody>
                  <a:tcPr marL="83680" marR="83680" marT="41840" marB="41840" anchor="ctr">
                    <a:lnL>
                      <a:noFill/>
                    </a:lnL>
                    <a:lnR>
                      <a:noFill/>
                    </a:lnR>
                    <a:lnT>
                      <a:noFill/>
                    </a:lnT>
                    <a:lnB>
                      <a:noFill/>
                    </a:lnB>
                    <a:noFill/>
                  </a:tcPr>
                </a:tc>
                <a:extLst>
                  <a:ext uri="{0D108BD9-81ED-4DB2-BD59-A6C34878D82A}">
                    <a16:rowId xmlns:a16="http://schemas.microsoft.com/office/drawing/2014/main" val="2642936506"/>
                  </a:ext>
                </a:extLst>
              </a:tr>
              <a:tr h="415834">
                <a:tc>
                  <a:txBody>
                    <a:bodyPr/>
                    <a:lstStyle/>
                    <a:p>
                      <a:r>
                        <a:rPr lang="en-GB" sz="2200"/>
                        <a:t>Equity Used</a:t>
                      </a:r>
                    </a:p>
                  </a:txBody>
                  <a:tcPr marL="83680" marR="83680" marT="41840" marB="41840" anchor="ctr">
                    <a:lnL>
                      <a:noFill/>
                    </a:lnL>
                    <a:lnR>
                      <a:noFill/>
                    </a:lnR>
                    <a:lnT>
                      <a:noFill/>
                    </a:lnT>
                    <a:lnB>
                      <a:noFill/>
                    </a:lnB>
                    <a:noFill/>
                  </a:tcPr>
                </a:tc>
                <a:tc>
                  <a:txBody>
                    <a:bodyPr/>
                    <a:lstStyle/>
                    <a:p>
                      <a:r>
                        <a:rPr lang="en-GB" sz="2200"/>
                        <a:t>£1,000</a:t>
                      </a:r>
                    </a:p>
                  </a:txBody>
                  <a:tcPr marL="83680" marR="83680" marT="41840" marB="41840" anchor="ctr">
                    <a:lnL>
                      <a:noFill/>
                    </a:lnL>
                    <a:lnR>
                      <a:noFill/>
                    </a:lnR>
                    <a:lnT>
                      <a:noFill/>
                    </a:lnT>
                    <a:lnB>
                      <a:noFill/>
                    </a:lnB>
                    <a:noFill/>
                  </a:tcPr>
                </a:tc>
                <a:tc>
                  <a:txBody>
                    <a:bodyPr/>
                    <a:lstStyle/>
                    <a:p>
                      <a:r>
                        <a:rPr lang="en-GB" sz="2200"/>
                        <a:t>£500</a:t>
                      </a:r>
                    </a:p>
                  </a:txBody>
                  <a:tcPr marL="83680" marR="83680" marT="41840" marB="41840" anchor="ctr">
                    <a:lnL>
                      <a:noFill/>
                    </a:lnL>
                    <a:lnR>
                      <a:noFill/>
                    </a:lnR>
                    <a:lnT>
                      <a:noFill/>
                    </a:lnT>
                    <a:lnB>
                      <a:noFill/>
                    </a:lnB>
                    <a:noFill/>
                  </a:tcPr>
                </a:tc>
                <a:extLst>
                  <a:ext uri="{0D108BD9-81ED-4DB2-BD59-A6C34878D82A}">
                    <a16:rowId xmlns:a16="http://schemas.microsoft.com/office/drawing/2014/main" val="1410253354"/>
                  </a:ext>
                </a:extLst>
              </a:tr>
              <a:tr h="415834">
                <a:tc>
                  <a:txBody>
                    <a:bodyPr/>
                    <a:lstStyle/>
                    <a:p>
                      <a:r>
                        <a:rPr lang="en-GB" sz="2200"/>
                        <a:t>Profit (10%)</a:t>
                      </a:r>
                    </a:p>
                  </a:txBody>
                  <a:tcPr marL="83680" marR="83680" marT="41840" marB="41840" anchor="ctr">
                    <a:lnL>
                      <a:noFill/>
                    </a:lnL>
                    <a:lnR>
                      <a:noFill/>
                    </a:lnR>
                    <a:lnT>
                      <a:noFill/>
                    </a:lnT>
                    <a:lnB>
                      <a:noFill/>
                    </a:lnB>
                    <a:noFill/>
                  </a:tcPr>
                </a:tc>
                <a:tc>
                  <a:txBody>
                    <a:bodyPr/>
                    <a:lstStyle/>
                    <a:p>
                      <a:r>
                        <a:rPr lang="en-GB" sz="2200"/>
                        <a:t>£100</a:t>
                      </a:r>
                    </a:p>
                  </a:txBody>
                  <a:tcPr marL="83680" marR="83680" marT="41840" marB="41840" anchor="ctr">
                    <a:lnL>
                      <a:noFill/>
                    </a:lnL>
                    <a:lnR>
                      <a:noFill/>
                    </a:lnR>
                    <a:lnT>
                      <a:noFill/>
                    </a:lnT>
                    <a:lnB>
                      <a:noFill/>
                    </a:lnB>
                    <a:noFill/>
                  </a:tcPr>
                </a:tc>
                <a:tc>
                  <a:txBody>
                    <a:bodyPr/>
                    <a:lstStyle/>
                    <a:p>
                      <a:r>
                        <a:rPr lang="en-GB" sz="2200"/>
                        <a:t>£100</a:t>
                      </a:r>
                    </a:p>
                  </a:txBody>
                  <a:tcPr marL="83680" marR="83680" marT="41840" marB="41840" anchor="ctr">
                    <a:lnL>
                      <a:noFill/>
                    </a:lnL>
                    <a:lnR>
                      <a:noFill/>
                    </a:lnR>
                    <a:lnT>
                      <a:noFill/>
                    </a:lnT>
                    <a:lnB>
                      <a:noFill/>
                    </a:lnB>
                    <a:noFill/>
                  </a:tcPr>
                </a:tc>
                <a:extLst>
                  <a:ext uri="{0D108BD9-81ED-4DB2-BD59-A6C34878D82A}">
                    <a16:rowId xmlns:a16="http://schemas.microsoft.com/office/drawing/2014/main" val="1908538257"/>
                  </a:ext>
                </a:extLst>
              </a:tr>
              <a:tr h="626138">
                <a:tc>
                  <a:txBody>
                    <a:bodyPr/>
                    <a:lstStyle/>
                    <a:p>
                      <a:r>
                        <a:rPr lang="en-GB" sz="2200" dirty="0"/>
                        <a:t>Interest on Debt (5%)</a:t>
                      </a:r>
                    </a:p>
                  </a:txBody>
                  <a:tcPr marL="83680" marR="83680" marT="41840" marB="41840" anchor="ctr">
                    <a:lnL>
                      <a:noFill/>
                    </a:lnL>
                    <a:lnR>
                      <a:noFill/>
                    </a:lnR>
                    <a:lnT>
                      <a:noFill/>
                    </a:lnT>
                    <a:lnB>
                      <a:noFill/>
                    </a:lnB>
                    <a:noFill/>
                  </a:tcPr>
                </a:tc>
                <a:tc>
                  <a:txBody>
                    <a:bodyPr/>
                    <a:lstStyle/>
                    <a:p>
                      <a:r>
                        <a:rPr lang="en-GB" sz="2200"/>
                        <a:t>£0</a:t>
                      </a:r>
                    </a:p>
                  </a:txBody>
                  <a:tcPr marL="83680" marR="83680" marT="41840" marB="41840" anchor="ctr">
                    <a:lnL>
                      <a:noFill/>
                    </a:lnL>
                    <a:lnR>
                      <a:noFill/>
                    </a:lnR>
                    <a:lnT>
                      <a:noFill/>
                    </a:lnT>
                    <a:lnB>
                      <a:noFill/>
                    </a:lnB>
                    <a:noFill/>
                  </a:tcPr>
                </a:tc>
                <a:tc>
                  <a:txBody>
                    <a:bodyPr/>
                    <a:lstStyle/>
                    <a:p>
                      <a:r>
                        <a:rPr lang="en-GB" sz="2200"/>
                        <a:t>£25</a:t>
                      </a:r>
                    </a:p>
                  </a:txBody>
                  <a:tcPr marL="83680" marR="83680" marT="41840" marB="41840" anchor="ctr">
                    <a:lnL>
                      <a:noFill/>
                    </a:lnL>
                    <a:lnR>
                      <a:noFill/>
                    </a:lnR>
                    <a:lnT>
                      <a:noFill/>
                    </a:lnT>
                    <a:lnB>
                      <a:noFill/>
                    </a:lnB>
                    <a:noFill/>
                  </a:tcPr>
                </a:tc>
                <a:extLst>
                  <a:ext uri="{0D108BD9-81ED-4DB2-BD59-A6C34878D82A}">
                    <a16:rowId xmlns:a16="http://schemas.microsoft.com/office/drawing/2014/main" val="4114630669"/>
                  </a:ext>
                </a:extLst>
              </a:tr>
              <a:tr h="626138">
                <a:tc>
                  <a:txBody>
                    <a:bodyPr/>
                    <a:lstStyle/>
                    <a:p>
                      <a:r>
                        <a:rPr lang="en-GB" sz="2200"/>
                        <a:t>Profit for Shareholders</a:t>
                      </a:r>
                    </a:p>
                  </a:txBody>
                  <a:tcPr marL="83680" marR="83680" marT="41840" marB="41840" anchor="ctr">
                    <a:lnL>
                      <a:noFill/>
                    </a:lnL>
                    <a:lnR>
                      <a:noFill/>
                    </a:lnR>
                    <a:lnT>
                      <a:noFill/>
                    </a:lnT>
                    <a:lnB>
                      <a:noFill/>
                    </a:lnB>
                    <a:noFill/>
                  </a:tcPr>
                </a:tc>
                <a:tc>
                  <a:txBody>
                    <a:bodyPr/>
                    <a:lstStyle/>
                    <a:p>
                      <a:r>
                        <a:rPr lang="en-GB" sz="2200"/>
                        <a:t>£100</a:t>
                      </a:r>
                    </a:p>
                  </a:txBody>
                  <a:tcPr marL="83680" marR="83680" marT="41840" marB="41840" anchor="ctr">
                    <a:lnL>
                      <a:noFill/>
                    </a:lnL>
                    <a:lnR>
                      <a:noFill/>
                    </a:lnR>
                    <a:lnT>
                      <a:noFill/>
                    </a:lnT>
                    <a:lnB>
                      <a:noFill/>
                    </a:lnB>
                    <a:noFill/>
                  </a:tcPr>
                </a:tc>
                <a:tc>
                  <a:txBody>
                    <a:bodyPr/>
                    <a:lstStyle/>
                    <a:p>
                      <a:r>
                        <a:rPr lang="en-GB" sz="2200"/>
                        <a:t>£75</a:t>
                      </a:r>
                    </a:p>
                  </a:txBody>
                  <a:tcPr marL="83680" marR="83680" marT="41840" marB="41840" anchor="ctr">
                    <a:lnL>
                      <a:noFill/>
                    </a:lnL>
                    <a:lnR>
                      <a:noFill/>
                    </a:lnR>
                    <a:lnT>
                      <a:noFill/>
                    </a:lnT>
                    <a:lnB>
                      <a:noFill/>
                    </a:lnB>
                    <a:noFill/>
                  </a:tcPr>
                </a:tc>
                <a:extLst>
                  <a:ext uri="{0D108BD9-81ED-4DB2-BD59-A6C34878D82A}">
                    <a16:rowId xmlns:a16="http://schemas.microsoft.com/office/drawing/2014/main" val="3547433057"/>
                  </a:ext>
                </a:extLst>
              </a:tr>
              <a:tr h="415834">
                <a:tc>
                  <a:txBody>
                    <a:bodyPr/>
                    <a:lstStyle/>
                    <a:p>
                      <a:r>
                        <a:rPr lang="en-GB" sz="2200"/>
                        <a:t>Return on Equity</a:t>
                      </a:r>
                    </a:p>
                  </a:txBody>
                  <a:tcPr marL="83680" marR="83680" marT="41840" marB="41840" anchor="ctr">
                    <a:lnL>
                      <a:noFill/>
                    </a:lnL>
                    <a:lnR>
                      <a:noFill/>
                    </a:lnR>
                    <a:lnT>
                      <a:noFill/>
                    </a:lnT>
                    <a:lnB>
                      <a:noFill/>
                    </a:lnB>
                    <a:noFill/>
                  </a:tcPr>
                </a:tc>
                <a:tc>
                  <a:txBody>
                    <a:bodyPr/>
                    <a:lstStyle/>
                    <a:p>
                      <a:r>
                        <a:rPr lang="en-GB" sz="2200" b="1" dirty="0"/>
                        <a:t>10%</a:t>
                      </a:r>
                      <a:endParaRPr lang="en-GB" sz="2200" dirty="0"/>
                    </a:p>
                  </a:txBody>
                  <a:tcPr marL="83680" marR="83680" marT="41840" marB="41840" anchor="ctr">
                    <a:lnL>
                      <a:noFill/>
                    </a:lnL>
                    <a:lnR>
                      <a:noFill/>
                    </a:lnR>
                    <a:lnT>
                      <a:noFill/>
                    </a:lnT>
                    <a:lnB>
                      <a:noFill/>
                    </a:lnB>
                    <a:noFill/>
                  </a:tcPr>
                </a:tc>
                <a:tc>
                  <a:txBody>
                    <a:bodyPr/>
                    <a:lstStyle/>
                    <a:p>
                      <a:r>
                        <a:rPr lang="en-GB" sz="2200" b="1" dirty="0"/>
                        <a:t>15%</a:t>
                      </a:r>
                      <a:endParaRPr lang="en-GB" sz="2200" dirty="0"/>
                    </a:p>
                  </a:txBody>
                  <a:tcPr marL="83680" marR="83680" marT="41840" marB="41840" anchor="ctr">
                    <a:lnL>
                      <a:noFill/>
                    </a:lnL>
                    <a:lnR>
                      <a:noFill/>
                    </a:lnR>
                    <a:lnT>
                      <a:noFill/>
                    </a:lnT>
                    <a:lnB>
                      <a:noFill/>
                    </a:lnB>
                    <a:noFill/>
                  </a:tcPr>
                </a:tc>
                <a:extLst>
                  <a:ext uri="{0D108BD9-81ED-4DB2-BD59-A6C34878D82A}">
                    <a16:rowId xmlns:a16="http://schemas.microsoft.com/office/drawing/2014/main" val="2358954460"/>
                  </a:ext>
                </a:extLst>
              </a:tr>
            </a:tbl>
          </a:graphicData>
        </a:graphic>
      </p:graphicFrame>
      <p:sp>
        <p:nvSpPr>
          <p:cNvPr id="16" name="TextBox 15">
            <a:extLst>
              <a:ext uri="{FF2B5EF4-FFF2-40B4-BE49-F238E27FC236}">
                <a16:creationId xmlns:a16="http://schemas.microsoft.com/office/drawing/2014/main" id="{DD735020-2455-7052-C7C3-3DD726D3615B}"/>
              </a:ext>
            </a:extLst>
          </p:cNvPr>
          <p:cNvSpPr txBox="1"/>
          <p:nvPr/>
        </p:nvSpPr>
        <p:spPr>
          <a:xfrm>
            <a:off x="701633" y="6314394"/>
            <a:ext cx="7463642" cy="369332"/>
          </a:xfrm>
          <a:prstGeom prst="rect">
            <a:avLst/>
          </a:prstGeom>
          <a:noFill/>
        </p:spPr>
        <p:txBody>
          <a:bodyPr wrap="square">
            <a:spAutoFit/>
          </a:bodyPr>
          <a:lstStyle/>
          <a:p>
            <a:r>
              <a:rPr lang="en-GB" dirty="0"/>
              <a:t>With leverage, </a:t>
            </a:r>
            <a:r>
              <a:rPr lang="en-GB" b="1" dirty="0"/>
              <a:t>the same profit gives a higher return</a:t>
            </a:r>
            <a:r>
              <a:rPr lang="en-GB" dirty="0"/>
              <a:t> to shareholders</a:t>
            </a:r>
          </a:p>
        </p:txBody>
      </p:sp>
    </p:spTree>
    <p:extLst>
      <p:ext uri="{BB962C8B-B14F-4D97-AF65-F5344CB8AC3E}">
        <p14:creationId xmlns:p14="http://schemas.microsoft.com/office/powerpoint/2010/main" val="11723269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 y="966888"/>
            <a:ext cx="7886700" cy="634117"/>
          </a:xfrm>
        </p:spPr>
        <p:txBody>
          <a:bodyPr>
            <a:normAutofit/>
          </a:bodyPr>
          <a:lstStyle/>
          <a:p>
            <a:r>
              <a:rPr lang="en-GB" dirty="0">
                <a:solidFill>
                  <a:srgbClr val="1C9DAC"/>
                </a:solidFill>
                <a:ea typeface="ＭＳ Ｐゴシック"/>
              </a:rPr>
              <a:t>Optimal Capital Structure </a:t>
            </a:r>
            <a:endParaRPr lang="en-GB" dirty="0">
              <a:solidFill>
                <a:srgbClr val="1C9DAC"/>
              </a:solidFill>
            </a:endParaRPr>
          </a:p>
        </p:txBody>
      </p:sp>
      <p:sp>
        <p:nvSpPr>
          <p:cNvPr id="3" name="Content Placeholder 2"/>
          <p:cNvSpPr>
            <a:spLocks noGrp="1"/>
          </p:cNvSpPr>
          <p:nvPr>
            <p:ph idx="1"/>
          </p:nvPr>
        </p:nvSpPr>
        <p:spPr>
          <a:xfrm>
            <a:off x="266700" y="1704975"/>
            <a:ext cx="8591550" cy="4005722"/>
          </a:xfrm>
          <a:noFill/>
          <a:ln>
            <a:noFill/>
          </a:ln>
        </p:spPr>
        <p:txBody>
          <a:bodyPr>
            <a:normAutofit/>
          </a:bodyPr>
          <a:lstStyle/>
          <a:p>
            <a:pPr>
              <a:spcBef>
                <a:spcPts val="900"/>
              </a:spcBef>
              <a:buClr>
                <a:srgbClr val="C00000"/>
              </a:buClr>
              <a:buSzPct val="90000"/>
            </a:pPr>
            <a:r>
              <a:rPr lang="en-GB" sz="1800" dirty="0">
                <a:latin typeface="Calibri" panose="020F0502020204030204" pitchFamily="34" charset="0"/>
                <a:cs typeface="Calibri" panose="020F0502020204030204" pitchFamily="34" charset="0"/>
              </a:rPr>
              <a:t>The </a:t>
            </a:r>
            <a:r>
              <a:rPr lang="en-GB" sz="1800" dirty="0">
                <a:solidFill>
                  <a:schemeClr val="accent5">
                    <a:lumMod val="75000"/>
                  </a:schemeClr>
                </a:solidFill>
                <a:latin typeface="Calibri" panose="020F0502020204030204" pitchFamily="34" charset="0"/>
                <a:cs typeface="Calibri" panose="020F0502020204030204" pitchFamily="34" charset="0"/>
              </a:rPr>
              <a:t>optimal capital structure </a:t>
            </a:r>
            <a:r>
              <a:rPr lang="en-GB" sz="1800" dirty="0">
                <a:latin typeface="Calibri" panose="020F0502020204030204" pitchFamily="34" charset="0"/>
                <a:cs typeface="Calibri" panose="020F0502020204030204" pitchFamily="34" charset="0"/>
              </a:rPr>
              <a:t>is that which minimises the WACC:</a:t>
            </a:r>
          </a:p>
        </p:txBody>
      </p:sp>
      <p:sp>
        <p:nvSpPr>
          <p:cNvPr id="4" name="Slide Number Placeholder 3"/>
          <p:cNvSpPr>
            <a:spLocks noGrp="1"/>
          </p:cNvSpPr>
          <p:nvPr>
            <p:ph type="sldNum" sz="quarter" idx="12"/>
          </p:nvPr>
        </p:nvSpPr>
        <p:spPr>
          <a:xfrm>
            <a:off x="8548754" y="5710698"/>
            <a:ext cx="679467" cy="405323"/>
          </a:xfrm>
          <a:ln w="12700"/>
        </p:spPr>
        <p:txBody>
          <a:bodyPr/>
          <a:lstStyle/>
          <a:p>
            <a:fld id="{0F99C4FB-888A-4D12-A1C4-C744D94026CD}" type="slidenum">
              <a:rPr lang="en-GB" sz="1350">
                <a:solidFill>
                  <a:schemeClr val="tx1">
                    <a:lumMod val="50000"/>
                    <a:lumOff val="50000"/>
                  </a:schemeClr>
                </a:solidFill>
              </a:rPr>
              <a:t>16</a:t>
            </a:fld>
            <a:endParaRPr lang="en-GB" sz="1350" dirty="0">
              <a:solidFill>
                <a:schemeClr val="tx1">
                  <a:lumMod val="50000"/>
                  <a:lumOff val="50000"/>
                </a:schemeClr>
              </a:solidFill>
            </a:endParaRPr>
          </a:p>
        </p:txBody>
      </p:sp>
      <p:graphicFrame>
        <p:nvGraphicFramePr>
          <p:cNvPr id="6" name="Chart 5">
            <a:extLst>
              <a:ext uri="{FF2B5EF4-FFF2-40B4-BE49-F238E27FC236}">
                <a16:creationId xmlns:a16="http://schemas.microsoft.com/office/drawing/2014/main" id="{37B546D1-CDB4-4197-9A27-0F1421391314}"/>
              </a:ext>
            </a:extLst>
          </p:cNvPr>
          <p:cNvGraphicFramePr>
            <a:graphicFrameLocks/>
          </p:cNvGraphicFramePr>
          <p:nvPr>
            <p:extLst>
              <p:ext uri="{D42A27DB-BD31-4B8C-83A1-F6EECF244321}">
                <p14:modId xmlns:p14="http://schemas.microsoft.com/office/powerpoint/2010/main" val="2185254387"/>
              </p:ext>
            </p:extLst>
          </p:nvPr>
        </p:nvGraphicFramePr>
        <p:xfrm>
          <a:off x="2032907" y="2269671"/>
          <a:ext cx="6013282" cy="2996293"/>
        </p:xfrm>
        <a:graphic>
          <a:graphicData uri="http://schemas.openxmlformats.org/drawingml/2006/chart">
            <c:chart xmlns:c="http://schemas.openxmlformats.org/drawingml/2006/chart" xmlns:r="http://schemas.openxmlformats.org/officeDocument/2006/relationships" r:id="rId3"/>
          </a:graphicData>
        </a:graphic>
      </p:graphicFrame>
      <p:cxnSp>
        <p:nvCxnSpPr>
          <p:cNvPr id="7" name="Straight Connector 6">
            <a:extLst>
              <a:ext uri="{FF2B5EF4-FFF2-40B4-BE49-F238E27FC236}">
                <a16:creationId xmlns:a16="http://schemas.microsoft.com/office/drawing/2014/main" id="{D86097DF-2C29-40B0-B7F5-90E9BEE7E471}"/>
              </a:ext>
            </a:extLst>
          </p:cNvPr>
          <p:cNvCxnSpPr/>
          <p:nvPr/>
        </p:nvCxnSpPr>
        <p:spPr>
          <a:xfrm flipV="1">
            <a:off x="5436054" y="3526972"/>
            <a:ext cx="17689" cy="1348468"/>
          </a:xfrm>
          <a:prstGeom prst="line">
            <a:avLst/>
          </a:prstGeom>
          <a:ln w="19050">
            <a:solidFill>
              <a:schemeClr val="bg1">
                <a:lumMod val="65000"/>
              </a:schemeClr>
            </a:solidFill>
            <a:prstDash val="lg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380EAD8-68DA-4209-9665-AB53FA7E1C08}"/>
                  </a:ext>
                </a:extLst>
              </p:cNvPr>
              <p:cNvSpPr txBox="1"/>
              <p:nvPr/>
            </p:nvSpPr>
            <p:spPr>
              <a:xfrm>
                <a:off x="3483429" y="2628559"/>
                <a:ext cx="1726747" cy="253433"/>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1500" dirty="0"/>
                  <a:t>Cost of Equity (</a:t>
                </a:r>
                <a14:m>
                  <m:oMath xmlns:m="http://schemas.openxmlformats.org/officeDocument/2006/math">
                    <m:sSub>
                      <m:sSubPr>
                        <m:ctrlPr>
                          <a:rPr lang="en-GB" sz="1500" i="1" dirty="0">
                            <a:latin typeface="Cambria Math" panose="02040503050406030204" pitchFamily="18" charset="0"/>
                          </a:rPr>
                        </m:ctrlPr>
                      </m:sSubPr>
                      <m:e>
                        <m:r>
                          <a:rPr lang="en-GB" sz="1500" i="1" dirty="0">
                            <a:latin typeface="Cambria Math" panose="02040503050406030204" pitchFamily="18" charset="0"/>
                          </a:rPr>
                          <m:t>𝑟</m:t>
                        </m:r>
                      </m:e>
                      <m:sub>
                        <m:r>
                          <a:rPr lang="en-GB" sz="1500" i="1" dirty="0">
                            <a:latin typeface="Cambria Math" panose="02040503050406030204" pitchFamily="18" charset="0"/>
                          </a:rPr>
                          <m:t>𝐸</m:t>
                        </m:r>
                      </m:sub>
                    </m:sSub>
                  </m:oMath>
                </a14:m>
                <a:r>
                  <a:rPr lang="en-US" sz="1500" dirty="0"/>
                  <a:t>)</a:t>
                </a:r>
              </a:p>
            </p:txBody>
          </p:sp>
        </mc:Choice>
        <mc:Fallback xmlns="">
          <p:sp>
            <p:nvSpPr>
              <p:cNvPr id="8" name="TextBox 7">
                <a:extLst>
                  <a:ext uri="{FF2B5EF4-FFF2-40B4-BE49-F238E27FC236}">
                    <a16:creationId xmlns:a16="http://schemas.microsoft.com/office/drawing/2014/main" id="{3380EAD8-68DA-4209-9665-AB53FA7E1C08}"/>
                  </a:ext>
                </a:extLst>
              </p:cNvPr>
              <p:cNvSpPr txBox="1">
                <a:spLocks noRot="1" noChangeAspect="1" noMove="1" noResize="1" noEditPoints="1" noAdjustHandles="1" noChangeArrowheads="1" noChangeShapeType="1" noTextEdit="1"/>
              </p:cNvSpPr>
              <p:nvPr/>
            </p:nvSpPr>
            <p:spPr>
              <a:xfrm>
                <a:off x="3483429" y="2628559"/>
                <a:ext cx="1726747" cy="253433"/>
              </a:xfrm>
              <a:prstGeom prst="rect">
                <a:avLst/>
              </a:prstGeom>
              <a:blipFill>
                <a:blip r:embed="rId4"/>
                <a:stretch>
                  <a:fillRect l="-1408" t="-4762" b="-52381"/>
                </a:stretch>
              </a:blipFill>
              <a:ln w="9525" cmpd="sng">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7">
                <a:extLst>
                  <a:ext uri="{FF2B5EF4-FFF2-40B4-BE49-F238E27FC236}">
                    <a16:creationId xmlns:a16="http://schemas.microsoft.com/office/drawing/2014/main" id="{9D5924E3-10E0-4A99-B2EF-425672EFFE9B}"/>
                  </a:ext>
                </a:extLst>
              </p:cNvPr>
              <p:cNvSpPr txBox="1"/>
              <p:nvPr/>
            </p:nvSpPr>
            <p:spPr>
              <a:xfrm>
                <a:off x="3483428" y="3820545"/>
                <a:ext cx="1726747" cy="253433"/>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1500" dirty="0"/>
                  <a:t>Cost of Debt (</a:t>
                </a:r>
                <a14:m>
                  <m:oMath xmlns:m="http://schemas.openxmlformats.org/officeDocument/2006/math">
                    <m:sSub>
                      <m:sSubPr>
                        <m:ctrlPr>
                          <a:rPr lang="en-GB" sz="1500" i="1" dirty="0">
                            <a:latin typeface="Cambria Math" panose="02040503050406030204" pitchFamily="18" charset="0"/>
                          </a:rPr>
                        </m:ctrlPr>
                      </m:sSubPr>
                      <m:e>
                        <m:r>
                          <a:rPr lang="en-GB" sz="1500" i="1" dirty="0">
                            <a:latin typeface="Cambria Math" panose="02040503050406030204" pitchFamily="18" charset="0"/>
                          </a:rPr>
                          <m:t>𝑟</m:t>
                        </m:r>
                      </m:e>
                      <m:sub>
                        <m:r>
                          <a:rPr lang="en-GB" sz="1500" i="1" dirty="0">
                            <a:latin typeface="Cambria Math" panose="02040503050406030204" pitchFamily="18" charset="0"/>
                          </a:rPr>
                          <m:t>𝐷</m:t>
                        </m:r>
                      </m:sub>
                    </m:sSub>
                  </m:oMath>
                </a14:m>
                <a:r>
                  <a:rPr lang="en-US" sz="1500" dirty="0"/>
                  <a:t>)</a:t>
                </a:r>
              </a:p>
            </p:txBody>
          </p:sp>
        </mc:Choice>
        <mc:Fallback xmlns="">
          <p:sp>
            <p:nvSpPr>
              <p:cNvPr id="9" name="TextBox 7">
                <a:extLst>
                  <a:ext uri="{FF2B5EF4-FFF2-40B4-BE49-F238E27FC236}">
                    <a16:creationId xmlns:a16="http://schemas.microsoft.com/office/drawing/2014/main" id="{9D5924E3-10E0-4A99-B2EF-425672EFFE9B}"/>
                  </a:ext>
                </a:extLst>
              </p:cNvPr>
              <p:cNvSpPr txBox="1">
                <a:spLocks noRot="1" noChangeAspect="1" noMove="1" noResize="1" noEditPoints="1" noAdjustHandles="1" noChangeArrowheads="1" noChangeShapeType="1" noTextEdit="1"/>
              </p:cNvSpPr>
              <p:nvPr/>
            </p:nvSpPr>
            <p:spPr>
              <a:xfrm>
                <a:off x="3483428" y="3820545"/>
                <a:ext cx="1726747" cy="253433"/>
              </a:xfrm>
              <a:prstGeom prst="rect">
                <a:avLst/>
              </a:prstGeom>
              <a:blipFill>
                <a:blip r:embed="rId5"/>
                <a:stretch>
                  <a:fillRect l="-1408" t="-7317" b="-53659"/>
                </a:stretch>
              </a:blipFill>
              <a:ln w="9525" cmpd="sng">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C946F25-1EBC-419F-BBEE-2F69AA92F324}"/>
                  </a:ext>
                </a:extLst>
              </p:cNvPr>
              <p:cNvSpPr txBox="1"/>
              <p:nvPr/>
            </p:nvSpPr>
            <p:spPr>
              <a:xfrm>
                <a:off x="6196352" y="3576976"/>
                <a:ext cx="686141" cy="253433"/>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en-US" sz="1500" i="1" dirty="0">
                          <a:latin typeface="Cambria Math" panose="02040503050406030204" pitchFamily="18" charset="0"/>
                        </a:rPr>
                        <m:t>𝑊𝐴𝐶𝐶</m:t>
                      </m:r>
                    </m:oMath>
                  </m:oMathPara>
                </a14:m>
                <a:endParaRPr lang="en-US" sz="825" dirty="0"/>
              </a:p>
            </p:txBody>
          </p:sp>
        </mc:Choice>
        <mc:Fallback xmlns="">
          <p:sp>
            <p:nvSpPr>
              <p:cNvPr id="10" name="TextBox 9">
                <a:extLst>
                  <a:ext uri="{FF2B5EF4-FFF2-40B4-BE49-F238E27FC236}">
                    <a16:creationId xmlns:a16="http://schemas.microsoft.com/office/drawing/2014/main" id="{DC946F25-1EBC-419F-BBEE-2F69AA92F324}"/>
                  </a:ext>
                </a:extLst>
              </p:cNvPr>
              <p:cNvSpPr txBox="1">
                <a:spLocks noRot="1" noChangeAspect="1" noMove="1" noResize="1" noEditPoints="1" noAdjustHandles="1" noChangeArrowheads="1" noChangeShapeType="1" noTextEdit="1"/>
              </p:cNvSpPr>
              <p:nvPr/>
            </p:nvSpPr>
            <p:spPr>
              <a:xfrm>
                <a:off x="6196352" y="3576976"/>
                <a:ext cx="686141" cy="253433"/>
              </a:xfrm>
              <a:prstGeom prst="rect">
                <a:avLst/>
              </a:prstGeom>
              <a:blipFill>
                <a:blip r:embed="rId6"/>
                <a:stretch>
                  <a:fillRect b="-14634"/>
                </a:stretch>
              </a:blipFill>
              <a:ln w="9525" cmpd="sng">
                <a:noFill/>
              </a:ln>
            </p:spPr>
            <p:txBody>
              <a:bodyPr/>
              <a:lstStyle/>
              <a:p>
                <a:r>
                  <a:rPr lang="en-GB">
                    <a:noFill/>
                  </a:rPr>
                  <a:t> </a:t>
                </a:r>
              </a:p>
            </p:txBody>
          </p:sp>
        </mc:Fallback>
      </mc:AlternateContent>
      <p:cxnSp>
        <p:nvCxnSpPr>
          <p:cNvPr id="11" name="Straight Connector 10">
            <a:extLst>
              <a:ext uri="{FF2B5EF4-FFF2-40B4-BE49-F238E27FC236}">
                <a16:creationId xmlns:a16="http://schemas.microsoft.com/office/drawing/2014/main" id="{8A2B053C-B0E6-46C3-B493-E62A050DB8ED}"/>
              </a:ext>
            </a:extLst>
          </p:cNvPr>
          <p:cNvCxnSpPr>
            <a:cxnSpLocks/>
          </p:cNvCxnSpPr>
          <p:nvPr/>
        </p:nvCxnSpPr>
        <p:spPr>
          <a:xfrm>
            <a:off x="4980044" y="2903763"/>
            <a:ext cx="103584" cy="130630"/>
          </a:xfrm>
          <a:prstGeom prst="line">
            <a:avLst/>
          </a:prstGeom>
          <a:ln w="19050">
            <a:solidFill>
              <a:schemeClr val="accent1">
                <a:lumMod val="75000"/>
              </a:schemeClr>
            </a:solidFill>
          </a:ln>
        </p:spPr>
        <p:style>
          <a:lnRef idx="1">
            <a:schemeClr val="accent2"/>
          </a:lnRef>
          <a:fillRef idx="0">
            <a:schemeClr val="accent2"/>
          </a:fillRef>
          <a:effectRef idx="0">
            <a:schemeClr val="accent2"/>
          </a:effectRef>
          <a:fontRef idx="minor">
            <a:schemeClr val="tx1"/>
          </a:fontRef>
        </p:style>
      </p:cxnSp>
      <p:cxnSp>
        <p:nvCxnSpPr>
          <p:cNvPr id="12" name="Straight Connector 11">
            <a:extLst>
              <a:ext uri="{FF2B5EF4-FFF2-40B4-BE49-F238E27FC236}">
                <a16:creationId xmlns:a16="http://schemas.microsoft.com/office/drawing/2014/main" id="{9F79B643-6B7D-4113-93AE-22092C3928D8}"/>
              </a:ext>
            </a:extLst>
          </p:cNvPr>
          <p:cNvCxnSpPr>
            <a:cxnSpLocks/>
          </p:cNvCxnSpPr>
          <p:nvPr/>
        </p:nvCxnSpPr>
        <p:spPr>
          <a:xfrm>
            <a:off x="6099359" y="3435463"/>
            <a:ext cx="154485" cy="148661"/>
          </a:xfrm>
          <a:prstGeom prst="line">
            <a:avLst/>
          </a:prstGeom>
          <a:ln w="19050">
            <a:solidFill>
              <a:schemeClr val="tx1"/>
            </a:solidFill>
          </a:ln>
        </p:spPr>
        <p:style>
          <a:lnRef idx="1">
            <a:schemeClr val="accent2"/>
          </a:lnRef>
          <a:fillRef idx="0">
            <a:schemeClr val="accent2"/>
          </a:fillRef>
          <a:effectRef idx="0">
            <a:schemeClr val="accent2"/>
          </a:effectRef>
          <a:fontRef idx="minor">
            <a:schemeClr val="tx1"/>
          </a:fontRef>
        </p:style>
      </p:cxnSp>
      <p:sp>
        <p:nvSpPr>
          <p:cNvPr id="13" name="TextBox 7">
            <a:extLst>
              <a:ext uri="{FF2B5EF4-FFF2-40B4-BE49-F238E27FC236}">
                <a16:creationId xmlns:a16="http://schemas.microsoft.com/office/drawing/2014/main" id="{90C0AF44-0D60-4F88-BFBD-1B791860ADEE}"/>
              </a:ext>
            </a:extLst>
          </p:cNvPr>
          <p:cNvSpPr txBox="1"/>
          <p:nvPr/>
        </p:nvSpPr>
        <p:spPr>
          <a:xfrm>
            <a:off x="4594189" y="4841425"/>
            <a:ext cx="1726747" cy="598742"/>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500" b="1" dirty="0">
                <a:solidFill>
                  <a:schemeClr val="accent5">
                    <a:lumMod val="75000"/>
                  </a:schemeClr>
                </a:solidFill>
              </a:rPr>
              <a:t>Optimal Capital Structure</a:t>
            </a:r>
          </a:p>
        </p:txBody>
      </p:sp>
      <p:cxnSp>
        <p:nvCxnSpPr>
          <p:cNvPr id="19" name="Straight Connector 18">
            <a:extLst>
              <a:ext uri="{FF2B5EF4-FFF2-40B4-BE49-F238E27FC236}">
                <a16:creationId xmlns:a16="http://schemas.microsoft.com/office/drawing/2014/main" id="{BE698278-D9B9-46C1-AA70-0F69F5C52FC7}"/>
              </a:ext>
            </a:extLst>
          </p:cNvPr>
          <p:cNvCxnSpPr>
            <a:cxnSpLocks/>
          </p:cNvCxnSpPr>
          <p:nvPr/>
        </p:nvCxnSpPr>
        <p:spPr>
          <a:xfrm>
            <a:off x="4887686" y="4095749"/>
            <a:ext cx="146956" cy="163288"/>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14" name="Straight Arrow Connector 13">
            <a:extLst>
              <a:ext uri="{FF2B5EF4-FFF2-40B4-BE49-F238E27FC236}">
                <a16:creationId xmlns:a16="http://schemas.microsoft.com/office/drawing/2014/main" id="{DB1A1D43-C771-4FAB-9739-0C99DF36BF11}"/>
              </a:ext>
            </a:extLst>
          </p:cNvPr>
          <p:cNvCxnSpPr/>
          <p:nvPr/>
        </p:nvCxnSpPr>
        <p:spPr>
          <a:xfrm>
            <a:off x="3483428" y="5063182"/>
            <a:ext cx="1188188"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CD3D35E9-B260-411B-AC66-228F21DBE1B3}"/>
              </a:ext>
            </a:extLst>
          </p:cNvPr>
          <p:cNvSpPr txBox="1"/>
          <p:nvPr/>
        </p:nvSpPr>
        <p:spPr>
          <a:xfrm>
            <a:off x="3375772" y="5129251"/>
            <a:ext cx="1403498" cy="646331"/>
          </a:xfrm>
          <a:prstGeom prst="rect">
            <a:avLst/>
          </a:prstGeom>
          <a:noFill/>
        </p:spPr>
        <p:txBody>
          <a:bodyPr wrap="square" rtlCol="0">
            <a:spAutoFit/>
          </a:bodyPr>
          <a:lstStyle/>
          <a:p>
            <a:r>
              <a:rPr lang="en-GB" dirty="0"/>
              <a:t>British Petroleum</a:t>
            </a:r>
          </a:p>
        </p:txBody>
      </p:sp>
      <p:cxnSp>
        <p:nvCxnSpPr>
          <p:cNvPr id="18" name="Straight Arrow Connector 17">
            <a:extLst>
              <a:ext uri="{FF2B5EF4-FFF2-40B4-BE49-F238E27FC236}">
                <a16:creationId xmlns:a16="http://schemas.microsoft.com/office/drawing/2014/main" id="{03CE5A55-EA8D-4D6D-84AE-87DE4656D856}"/>
              </a:ext>
            </a:extLst>
          </p:cNvPr>
          <p:cNvCxnSpPr>
            <a:cxnSpLocks/>
          </p:cNvCxnSpPr>
          <p:nvPr/>
        </p:nvCxnSpPr>
        <p:spPr>
          <a:xfrm flipH="1">
            <a:off x="6253844" y="5063182"/>
            <a:ext cx="1188188"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05F38AAE-CA70-49A7-8DDC-D43A05BD5C4F}"/>
              </a:ext>
            </a:extLst>
          </p:cNvPr>
          <p:cNvSpPr txBox="1"/>
          <p:nvPr/>
        </p:nvSpPr>
        <p:spPr>
          <a:xfrm>
            <a:off x="6196353" y="5119829"/>
            <a:ext cx="1403498" cy="369332"/>
          </a:xfrm>
          <a:prstGeom prst="rect">
            <a:avLst/>
          </a:prstGeom>
          <a:noFill/>
        </p:spPr>
        <p:txBody>
          <a:bodyPr wrap="square" rtlCol="0">
            <a:spAutoFit/>
          </a:bodyPr>
          <a:lstStyle/>
          <a:p>
            <a:pPr algn="ctr"/>
            <a:r>
              <a:rPr lang="en-GB" dirty="0"/>
              <a:t>ExxonMobil</a:t>
            </a:r>
          </a:p>
        </p:txBody>
      </p:sp>
    </p:spTree>
    <p:extLst>
      <p:ext uri="{BB962C8B-B14F-4D97-AF65-F5344CB8AC3E}">
        <p14:creationId xmlns:p14="http://schemas.microsoft.com/office/powerpoint/2010/main" val="1448519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7201C-A182-578D-0976-599FB58788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F8EE9F-FDB8-151F-4C51-BCADB3DEBC03}"/>
              </a:ext>
            </a:extLst>
          </p:cNvPr>
          <p:cNvSpPr>
            <a:spLocks noGrp="1"/>
          </p:cNvSpPr>
          <p:nvPr>
            <p:ph type="title"/>
          </p:nvPr>
        </p:nvSpPr>
        <p:spPr>
          <a:xfrm>
            <a:off x="643689" y="776918"/>
            <a:ext cx="7886700" cy="720079"/>
          </a:xfrm>
        </p:spPr>
        <p:txBody>
          <a:bodyPr/>
          <a:lstStyle/>
          <a:p>
            <a:r>
              <a:rPr lang="en-GB" dirty="0">
                <a:solidFill>
                  <a:srgbClr val="1C9DAC"/>
                </a:solidFill>
                <a:ea typeface="ＭＳ Ｐゴシック"/>
              </a:rPr>
              <a:t>Trade-Off Theory</a:t>
            </a:r>
          </a:p>
        </p:txBody>
      </p:sp>
      <p:graphicFrame>
        <p:nvGraphicFramePr>
          <p:cNvPr id="7" name="Table 6">
            <a:extLst>
              <a:ext uri="{FF2B5EF4-FFF2-40B4-BE49-F238E27FC236}">
                <a16:creationId xmlns:a16="http://schemas.microsoft.com/office/drawing/2014/main" id="{E1DA496F-4BD9-331C-128E-3DFAB11B9640}"/>
              </a:ext>
            </a:extLst>
          </p:cNvPr>
          <p:cNvGraphicFramePr>
            <a:graphicFrameLocks noGrp="1"/>
          </p:cNvGraphicFramePr>
          <p:nvPr>
            <p:extLst>
              <p:ext uri="{D42A27DB-BD31-4B8C-83A1-F6EECF244321}">
                <p14:modId xmlns:p14="http://schemas.microsoft.com/office/powerpoint/2010/main" val="1233408568"/>
              </p:ext>
            </p:extLst>
          </p:nvPr>
        </p:nvGraphicFramePr>
        <p:xfrm>
          <a:off x="628651" y="2422566"/>
          <a:ext cx="7901738" cy="2194560"/>
        </p:xfrm>
        <a:graphic>
          <a:graphicData uri="http://schemas.openxmlformats.org/drawingml/2006/table">
            <a:tbl>
              <a:tblPr/>
              <a:tblGrid>
                <a:gridCol w="3950869">
                  <a:extLst>
                    <a:ext uri="{9D8B030D-6E8A-4147-A177-3AD203B41FA5}">
                      <a16:colId xmlns:a16="http://schemas.microsoft.com/office/drawing/2014/main" val="1426063729"/>
                    </a:ext>
                  </a:extLst>
                </a:gridCol>
                <a:gridCol w="3950869">
                  <a:extLst>
                    <a:ext uri="{9D8B030D-6E8A-4147-A177-3AD203B41FA5}">
                      <a16:colId xmlns:a16="http://schemas.microsoft.com/office/drawing/2014/main" val="1282851915"/>
                    </a:ext>
                  </a:extLst>
                </a:gridCol>
              </a:tblGrid>
              <a:tr h="371994">
                <a:tc>
                  <a:txBody>
                    <a:bodyPr/>
                    <a:lstStyle/>
                    <a:p>
                      <a:pPr marL="0" indent="0">
                        <a:buFont typeface="Arial" panose="020B0604020202020204" pitchFamily="34" charset="0"/>
                        <a:buNone/>
                      </a:pPr>
                      <a:r>
                        <a:rPr lang="en-GB" b="1" dirty="0"/>
                        <a:t>          Benefit of Debt</a:t>
                      </a:r>
                      <a:endParaRPr lang="en-GB" dirty="0"/>
                    </a:p>
                  </a:txBody>
                  <a:tcPr anchor="ctr">
                    <a:lnL>
                      <a:noFill/>
                    </a:lnL>
                    <a:lnR>
                      <a:noFill/>
                    </a:lnR>
                    <a:lnT>
                      <a:noFill/>
                    </a:lnT>
                    <a:lnB>
                      <a:noFill/>
                    </a:lnB>
                    <a:noFill/>
                  </a:tcPr>
                </a:tc>
                <a:tc>
                  <a:txBody>
                    <a:bodyPr/>
                    <a:lstStyle/>
                    <a:p>
                      <a:pPr marL="0" indent="0">
                        <a:buFont typeface="Arial" panose="020B0604020202020204" pitchFamily="34" charset="0"/>
                        <a:buNone/>
                      </a:pPr>
                      <a:r>
                        <a:rPr lang="en-GB" b="1" dirty="0"/>
                        <a:t>           Cost of Debt</a:t>
                      </a:r>
                      <a:endParaRPr lang="en-GB" dirty="0"/>
                    </a:p>
                  </a:txBody>
                  <a:tcPr anchor="ctr">
                    <a:lnL>
                      <a:noFill/>
                    </a:lnL>
                    <a:lnR>
                      <a:noFill/>
                    </a:lnR>
                    <a:lnT>
                      <a:noFill/>
                    </a:lnT>
                    <a:lnB>
                      <a:noFill/>
                    </a:lnB>
                    <a:noFill/>
                  </a:tcPr>
                </a:tc>
                <a:extLst>
                  <a:ext uri="{0D108BD9-81ED-4DB2-BD59-A6C34878D82A}">
                    <a16:rowId xmlns:a16="http://schemas.microsoft.com/office/drawing/2014/main" val="348909277"/>
                  </a:ext>
                </a:extLst>
              </a:tr>
              <a:tr h="371994">
                <a:tc>
                  <a:txBody>
                    <a:bodyPr/>
                    <a:lstStyle/>
                    <a:p>
                      <a:pPr marL="342900" indent="-342900">
                        <a:buFont typeface="Arial" panose="020B0604020202020204" pitchFamily="34" charset="0"/>
                        <a:buChar char="•"/>
                      </a:pPr>
                      <a:r>
                        <a:rPr lang="en-GB" dirty="0"/>
                        <a:t>Tax-deductible interest</a:t>
                      </a:r>
                    </a:p>
                  </a:txBody>
                  <a:tcPr anchor="ctr">
                    <a:lnL>
                      <a:noFill/>
                    </a:lnL>
                    <a:lnR>
                      <a:noFill/>
                    </a:lnR>
                    <a:lnT>
                      <a:noFill/>
                    </a:lnT>
                    <a:lnB>
                      <a:noFill/>
                    </a:lnB>
                    <a:noFill/>
                  </a:tcPr>
                </a:tc>
                <a:tc>
                  <a:txBody>
                    <a:bodyPr/>
                    <a:lstStyle/>
                    <a:p>
                      <a:pPr marL="342900" indent="-342900">
                        <a:buFont typeface="Arial" panose="020B0604020202020204" pitchFamily="34" charset="0"/>
                        <a:buChar char="•"/>
                      </a:pPr>
                      <a:r>
                        <a:rPr lang="en-GB" dirty="0"/>
                        <a:t>Financial distress risk</a:t>
                      </a:r>
                    </a:p>
                  </a:txBody>
                  <a:tcPr anchor="ctr">
                    <a:lnL>
                      <a:noFill/>
                    </a:lnL>
                    <a:lnR>
                      <a:noFill/>
                    </a:lnR>
                    <a:lnT>
                      <a:noFill/>
                    </a:lnT>
                    <a:lnB>
                      <a:noFill/>
                    </a:lnB>
                    <a:noFill/>
                  </a:tcPr>
                </a:tc>
                <a:extLst>
                  <a:ext uri="{0D108BD9-81ED-4DB2-BD59-A6C34878D82A}">
                    <a16:rowId xmlns:a16="http://schemas.microsoft.com/office/drawing/2014/main" val="4174151883"/>
                  </a:ext>
                </a:extLst>
              </a:tr>
              <a:tr h="371994">
                <a:tc>
                  <a:txBody>
                    <a:bodyPr/>
                    <a:lstStyle/>
                    <a:p>
                      <a:pPr marL="342900" indent="-342900">
                        <a:buFont typeface="Arial" panose="020B0604020202020204" pitchFamily="34" charset="0"/>
                        <a:buChar char="•"/>
                      </a:pPr>
                      <a:r>
                        <a:rPr lang="en-GB" dirty="0"/>
                        <a:t>Lower cost than equity</a:t>
                      </a:r>
                    </a:p>
                  </a:txBody>
                  <a:tcPr anchor="ctr">
                    <a:lnL>
                      <a:noFill/>
                    </a:lnL>
                    <a:lnR>
                      <a:noFill/>
                    </a:lnR>
                    <a:lnT>
                      <a:noFill/>
                    </a:lnT>
                    <a:lnB>
                      <a:noFill/>
                    </a:lnB>
                    <a:noFill/>
                  </a:tcPr>
                </a:tc>
                <a:tc>
                  <a:txBody>
                    <a:bodyPr/>
                    <a:lstStyle/>
                    <a:p>
                      <a:pPr marL="342900" indent="-342900">
                        <a:buFont typeface="Arial" panose="020B0604020202020204" pitchFamily="34" charset="0"/>
                        <a:buChar char="•"/>
                      </a:pPr>
                      <a:r>
                        <a:rPr lang="en-GB" dirty="0"/>
                        <a:t>Higher bankruptcy costs</a:t>
                      </a:r>
                    </a:p>
                  </a:txBody>
                  <a:tcPr anchor="ctr">
                    <a:lnL>
                      <a:noFill/>
                    </a:lnL>
                    <a:lnR>
                      <a:noFill/>
                    </a:lnR>
                    <a:lnT>
                      <a:noFill/>
                    </a:lnT>
                    <a:lnB>
                      <a:noFill/>
                    </a:lnB>
                    <a:noFill/>
                  </a:tcPr>
                </a:tc>
                <a:extLst>
                  <a:ext uri="{0D108BD9-81ED-4DB2-BD59-A6C34878D82A}">
                    <a16:rowId xmlns:a16="http://schemas.microsoft.com/office/drawing/2014/main" val="1803797158"/>
                  </a:ext>
                </a:extLst>
              </a:tr>
              <a:tr h="669589">
                <a:tc>
                  <a:txBody>
                    <a:bodyPr/>
                    <a:lstStyle/>
                    <a:p>
                      <a:pPr marL="342900" indent="-342900">
                        <a:buFont typeface="Arial" panose="020B0604020202020204" pitchFamily="34" charset="0"/>
                        <a:buChar char="•"/>
                      </a:pPr>
                      <a:r>
                        <a:rPr lang="en-GB"/>
                        <a:t>Discipline on management</a:t>
                      </a:r>
                    </a:p>
                  </a:txBody>
                  <a:tcPr anchor="ctr">
                    <a:lnL>
                      <a:noFill/>
                    </a:lnL>
                    <a:lnR>
                      <a:noFill/>
                    </a:lnR>
                    <a:lnT>
                      <a:noFill/>
                    </a:lnT>
                    <a:lnB>
                      <a:noFill/>
                    </a:lnB>
                    <a:noFill/>
                  </a:tcPr>
                </a:tc>
                <a:tc>
                  <a:txBody>
                    <a:bodyPr/>
                    <a:lstStyle/>
                    <a:p>
                      <a:pPr marL="342900" indent="-342900">
                        <a:buFont typeface="Arial" panose="020B0604020202020204" pitchFamily="34" charset="0"/>
                        <a:buChar char="•"/>
                      </a:pPr>
                      <a:r>
                        <a:rPr lang="en-GB" dirty="0"/>
                        <a:t>Loss of flexibility and control</a:t>
                      </a:r>
                    </a:p>
                  </a:txBody>
                  <a:tcPr anchor="ctr">
                    <a:lnL>
                      <a:noFill/>
                    </a:lnL>
                    <a:lnR>
                      <a:noFill/>
                    </a:lnR>
                    <a:lnT>
                      <a:noFill/>
                    </a:lnT>
                    <a:lnB>
                      <a:noFill/>
                    </a:lnB>
                    <a:noFill/>
                  </a:tcPr>
                </a:tc>
                <a:extLst>
                  <a:ext uri="{0D108BD9-81ED-4DB2-BD59-A6C34878D82A}">
                    <a16:rowId xmlns:a16="http://schemas.microsoft.com/office/drawing/2014/main" val="3901151345"/>
                  </a:ext>
                </a:extLst>
              </a:tr>
            </a:tbl>
          </a:graphicData>
        </a:graphic>
      </p:graphicFrame>
      <p:sp>
        <p:nvSpPr>
          <p:cNvPr id="10" name="Rectangle 1">
            <a:extLst>
              <a:ext uri="{FF2B5EF4-FFF2-40B4-BE49-F238E27FC236}">
                <a16:creationId xmlns:a16="http://schemas.microsoft.com/office/drawing/2014/main" id="{1BDF0B65-2865-ECDD-B578-006BB5FF4AAB}"/>
              </a:ext>
            </a:extLst>
          </p:cNvPr>
          <p:cNvSpPr>
            <a:spLocks noChangeArrowheads="1"/>
          </p:cNvSpPr>
          <p:nvPr/>
        </p:nvSpPr>
        <p:spPr bwMode="auto">
          <a:xfrm>
            <a:off x="403761" y="1805049"/>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Firms balance the </a:t>
            </a:r>
            <a:r>
              <a:rPr kumimoji="0" lang="en-US" altLang="en-US" sz="1800" b="1" i="0" u="none" strike="noStrike" cap="none" normalizeH="0" baseline="0" dirty="0">
                <a:ln>
                  <a:noFill/>
                </a:ln>
                <a:solidFill>
                  <a:schemeClr val="tx1"/>
                </a:solidFill>
                <a:effectLst/>
                <a:latin typeface="Arial" panose="020B0604020202020204" pitchFamily="34" charset="0"/>
              </a:rPr>
              <a:t>benefits</a:t>
            </a:r>
            <a:r>
              <a:rPr kumimoji="0" lang="en-US" altLang="en-US" sz="1800" b="0" i="0" u="none" strike="noStrike" cap="none" normalizeH="0" baseline="0" dirty="0">
                <a:ln>
                  <a:noFill/>
                </a:ln>
                <a:solidFill>
                  <a:schemeClr val="tx1"/>
                </a:solidFill>
                <a:effectLst/>
                <a:latin typeface="Arial" panose="020B0604020202020204" pitchFamily="34" charset="0"/>
              </a:rPr>
              <a:t> of debt against its </a:t>
            </a:r>
            <a:r>
              <a:rPr kumimoji="0" lang="en-US" altLang="en-US" sz="1800" b="1" i="0" u="none" strike="noStrike" cap="none" normalizeH="0" baseline="0" dirty="0">
                <a:ln>
                  <a:noFill/>
                </a:ln>
                <a:solidFill>
                  <a:schemeClr val="tx1"/>
                </a:solidFill>
                <a:effectLst/>
                <a:latin typeface="Arial" panose="020B0604020202020204" pitchFamily="34" charset="0"/>
              </a:rPr>
              <a:t>costs</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12" name="TextBox 11">
            <a:extLst>
              <a:ext uri="{FF2B5EF4-FFF2-40B4-BE49-F238E27FC236}">
                <a16:creationId xmlns:a16="http://schemas.microsoft.com/office/drawing/2014/main" id="{301A5C07-1552-198A-B56A-9930D70C22E0}"/>
              </a:ext>
            </a:extLst>
          </p:cNvPr>
          <p:cNvSpPr txBox="1"/>
          <p:nvPr/>
        </p:nvSpPr>
        <p:spPr>
          <a:xfrm>
            <a:off x="403761" y="4617126"/>
            <a:ext cx="8039594" cy="2045175"/>
          </a:xfrm>
          <a:prstGeom prst="rect">
            <a:avLst/>
          </a:prstGeom>
          <a:noFill/>
        </p:spPr>
        <p:txBody>
          <a:bodyPr wrap="square">
            <a:spAutoFit/>
          </a:bodyPr>
          <a:lstStyle/>
          <a:p>
            <a:pPr>
              <a:buNone/>
            </a:pPr>
            <a:r>
              <a:rPr lang="en-GB" sz="2000" b="1" dirty="0">
                <a:solidFill>
                  <a:srgbClr val="1C9DAC"/>
                </a:solidFill>
                <a:latin typeface="+mn-lt"/>
              </a:rPr>
              <a:t>Theory Implication</a:t>
            </a:r>
          </a:p>
          <a:p>
            <a:pPr>
              <a:buNone/>
            </a:pPr>
            <a:endParaRPr lang="en-GB" sz="2000" dirty="0">
              <a:latin typeface="+mn-lt"/>
            </a:endParaRPr>
          </a:p>
          <a:p>
            <a:pPr marL="342900" indent="-342900">
              <a:lnSpc>
                <a:spcPct val="150000"/>
              </a:lnSpc>
              <a:buClr>
                <a:srgbClr val="1C9DAC"/>
              </a:buClr>
              <a:buFont typeface="Arial" panose="020B0604020202020204" pitchFamily="34" charset="0"/>
              <a:buChar char="•"/>
            </a:pPr>
            <a:r>
              <a:rPr lang="en-GB" sz="2000" dirty="0">
                <a:latin typeface="+mn-lt"/>
              </a:rPr>
              <a:t>Using some debt lowers WACC → increases value</a:t>
            </a:r>
          </a:p>
          <a:p>
            <a:pPr marL="342900" indent="-342900">
              <a:lnSpc>
                <a:spcPct val="150000"/>
              </a:lnSpc>
              <a:buClr>
                <a:srgbClr val="1C9DAC"/>
              </a:buClr>
              <a:buFont typeface="Arial" panose="020B0604020202020204" pitchFamily="34" charset="0"/>
              <a:buChar char="•"/>
            </a:pPr>
            <a:r>
              <a:rPr lang="en-GB" sz="2000" dirty="0">
                <a:latin typeface="+mn-lt"/>
              </a:rPr>
              <a:t>But too much debt increases WACC due to rising risk</a:t>
            </a:r>
          </a:p>
          <a:p>
            <a:pPr marL="342900" indent="-342900">
              <a:lnSpc>
                <a:spcPct val="150000"/>
              </a:lnSpc>
              <a:buClr>
                <a:srgbClr val="1C9DAC"/>
              </a:buClr>
              <a:buFont typeface="Arial" panose="020B0604020202020204" pitchFamily="34" charset="0"/>
              <a:buChar char="•"/>
            </a:pPr>
            <a:r>
              <a:rPr lang="en-GB" sz="2000" dirty="0">
                <a:latin typeface="+mn-lt"/>
              </a:rPr>
              <a:t>Firm seeks a target range where value is maximised</a:t>
            </a:r>
          </a:p>
        </p:txBody>
      </p:sp>
    </p:spTree>
    <p:extLst>
      <p:ext uri="{BB962C8B-B14F-4D97-AF65-F5344CB8AC3E}">
        <p14:creationId xmlns:p14="http://schemas.microsoft.com/office/powerpoint/2010/main" val="2377537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01051-C269-4E46-E3C9-4DC3F8DEC4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0976DE-D82E-4AA2-FF56-33C975FA6E3B}"/>
              </a:ext>
            </a:extLst>
          </p:cNvPr>
          <p:cNvSpPr>
            <a:spLocks noGrp="1"/>
          </p:cNvSpPr>
          <p:nvPr>
            <p:ph type="title"/>
          </p:nvPr>
        </p:nvSpPr>
        <p:spPr>
          <a:xfrm>
            <a:off x="266700" y="966888"/>
            <a:ext cx="7886700" cy="634117"/>
          </a:xfrm>
        </p:spPr>
        <p:txBody>
          <a:bodyPr>
            <a:normAutofit/>
          </a:bodyPr>
          <a:lstStyle/>
          <a:p>
            <a:r>
              <a:rPr lang="en-GB" dirty="0"/>
              <a:t>Strategic Implications of the Financing Mix</a:t>
            </a:r>
          </a:p>
        </p:txBody>
      </p:sp>
      <p:sp>
        <p:nvSpPr>
          <p:cNvPr id="4" name="Slide Number Placeholder 3">
            <a:extLst>
              <a:ext uri="{FF2B5EF4-FFF2-40B4-BE49-F238E27FC236}">
                <a16:creationId xmlns:a16="http://schemas.microsoft.com/office/drawing/2014/main" id="{7233C591-0809-F503-0A61-FC0E067FA20C}"/>
              </a:ext>
            </a:extLst>
          </p:cNvPr>
          <p:cNvSpPr>
            <a:spLocks noGrp="1"/>
          </p:cNvSpPr>
          <p:nvPr>
            <p:ph type="sldNum" sz="quarter" idx="12"/>
          </p:nvPr>
        </p:nvSpPr>
        <p:spPr>
          <a:xfrm>
            <a:off x="8548754" y="5710698"/>
            <a:ext cx="679467" cy="405323"/>
          </a:xfrm>
          <a:ln w="12700"/>
        </p:spPr>
        <p:txBody>
          <a:bodyPr/>
          <a:lstStyle/>
          <a:p>
            <a:fld id="{0F99C4FB-888A-4D12-A1C4-C744D94026CD}" type="slidenum">
              <a:rPr lang="en-GB" sz="1350">
                <a:solidFill>
                  <a:schemeClr val="tx1">
                    <a:lumMod val="50000"/>
                    <a:lumOff val="50000"/>
                  </a:schemeClr>
                </a:solidFill>
              </a:rPr>
              <a:t>18</a:t>
            </a:fld>
            <a:endParaRPr lang="en-GB" sz="1350" dirty="0">
              <a:solidFill>
                <a:schemeClr val="tx1">
                  <a:lumMod val="50000"/>
                  <a:lumOff val="50000"/>
                </a:schemeClr>
              </a:solidFill>
            </a:endParaRPr>
          </a:p>
        </p:txBody>
      </p:sp>
      <p:graphicFrame>
        <p:nvGraphicFramePr>
          <p:cNvPr id="5" name="Table 4">
            <a:extLst>
              <a:ext uri="{FF2B5EF4-FFF2-40B4-BE49-F238E27FC236}">
                <a16:creationId xmlns:a16="http://schemas.microsoft.com/office/drawing/2014/main" id="{0C4BD6CB-C9BF-56C5-E6B3-97454E5AD5E9}"/>
              </a:ext>
            </a:extLst>
          </p:cNvPr>
          <p:cNvGraphicFramePr>
            <a:graphicFrameLocks noGrp="1"/>
          </p:cNvGraphicFramePr>
          <p:nvPr>
            <p:extLst>
              <p:ext uri="{D42A27DB-BD31-4B8C-83A1-F6EECF244321}">
                <p14:modId xmlns:p14="http://schemas.microsoft.com/office/powerpoint/2010/main" val="502209355"/>
              </p:ext>
            </p:extLst>
          </p:nvPr>
        </p:nvGraphicFramePr>
        <p:xfrm>
          <a:off x="558140" y="1825626"/>
          <a:ext cx="8098971" cy="4351336"/>
        </p:xfrm>
        <a:graphic>
          <a:graphicData uri="http://schemas.openxmlformats.org/drawingml/2006/table">
            <a:tbl>
              <a:tblPr/>
              <a:tblGrid>
                <a:gridCol w="2699657">
                  <a:extLst>
                    <a:ext uri="{9D8B030D-6E8A-4147-A177-3AD203B41FA5}">
                      <a16:colId xmlns:a16="http://schemas.microsoft.com/office/drawing/2014/main" val="458037187"/>
                    </a:ext>
                  </a:extLst>
                </a:gridCol>
                <a:gridCol w="2699657">
                  <a:extLst>
                    <a:ext uri="{9D8B030D-6E8A-4147-A177-3AD203B41FA5}">
                      <a16:colId xmlns:a16="http://schemas.microsoft.com/office/drawing/2014/main" val="3814824507"/>
                    </a:ext>
                  </a:extLst>
                </a:gridCol>
                <a:gridCol w="2699657">
                  <a:extLst>
                    <a:ext uri="{9D8B030D-6E8A-4147-A177-3AD203B41FA5}">
                      <a16:colId xmlns:a16="http://schemas.microsoft.com/office/drawing/2014/main" val="230636376"/>
                    </a:ext>
                  </a:extLst>
                </a:gridCol>
              </a:tblGrid>
              <a:tr h="381696">
                <a:tc>
                  <a:txBody>
                    <a:bodyPr/>
                    <a:lstStyle/>
                    <a:p>
                      <a:r>
                        <a:rPr lang="en-GB" sz="2000" b="1"/>
                        <a:t>Decision Area</a:t>
                      </a:r>
                      <a:endParaRPr lang="en-GB" sz="2000"/>
                    </a:p>
                  </a:txBody>
                  <a:tcPr marL="76339" marR="76339" marT="38170" marB="38170" anchor="ctr">
                    <a:lnL>
                      <a:noFill/>
                    </a:lnL>
                    <a:lnR>
                      <a:noFill/>
                    </a:lnR>
                    <a:lnT>
                      <a:noFill/>
                    </a:lnT>
                    <a:lnB>
                      <a:noFill/>
                    </a:lnB>
                    <a:noFill/>
                  </a:tcPr>
                </a:tc>
                <a:tc>
                  <a:txBody>
                    <a:bodyPr/>
                    <a:lstStyle/>
                    <a:p>
                      <a:r>
                        <a:rPr lang="en-GB" sz="2000" b="1"/>
                        <a:t>Debt-Heavy Mix</a:t>
                      </a:r>
                      <a:endParaRPr lang="en-GB" sz="2000"/>
                    </a:p>
                  </a:txBody>
                  <a:tcPr marL="76339" marR="76339" marT="38170" marB="38170" anchor="ctr">
                    <a:lnL>
                      <a:noFill/>
                    </a:lnL>
                    <a:lnR>
                      <a:noFill/>
                    </a:lnR>
                    <a:lnT>
                      <a:noFill/>
                    </a:lnT>
                    <a:lnB>
                      <a:noFill/>
                    </a:lnB>
                    <a:noFill/>
                  </a:tcPr>
                </a:tc>
                <a:tc>
                  <a:txBody>
                    <a:bodyPr/>
                    <a:lstStyle/>
                    <a:p>
                      <a:r>
                        <a:rPr lang="en-GB" sz="2000" b="1"/>
                        <a:t>Equity-Heavy Mix</a:t>
                      </a:r>
                      <a:endParaRPr lang="en-GB" sz="2000"/>
                    </a:p>
                  </a:txBody>
                  <a:tcPr marL="76339" marR="76339" marT="38170" marB="38170" anchor="ctr">
                    <a:lnL>
                      <a:noFill/>
                    </a:lnL>
                    <a:lnR>
                      <a:noFill/>
                    </a:lnR>
                    <a:lnT>
                      <a:noFill/>
                    </a:lnT>
                    <a:lnB>
                      <a:noFill/>
                    </a:lnB>
                    <a:noFill/>
                  </a:tcPr>
                </a:tc>
                <a:extLst>
                  <a:ext uri="{0D108BD9-81ED-4DB2-BD59-A6C34878D82A}">
                    <a16:rowId xmlns:a16="http://schemas.microsoft.com/office/drawing/2014/main" val="1970914633"/>
                  </a:ext>
                </a:extLst>
              </a:tr>
              <a:tr h="992410">
                <a:tc>
                  <a:txBody>
                    <a:bodyPr/>
                    <a:lstStyle/>
                    <a:p>
                      <a:r>
                        <a:rPr lang="en-GB" sz="2000"/>
                        <a:t>Financial Flexibility</a:t>
                      </a:r>
                    </a:p>
                  </a:txBody>
                  <a:tcPr marL="76339" marR="76339" marT="38170" marB="38170" anchor="ctr">
                    <a:lnL>
                      <a:noFill/>
                    </a:lnL>
                    <a:lnR>
                      <a:noFill/>
                    </a:lnR>
                    <a:lnT>
                      <a:noFill/>
                    </a:lnT>
                    <a:lnB>
                      <a:noFill/>
                    </a:lnB>
                    <a:noFill/>
                  </a:tcPr>
                </a:tc>
                <a:tc>
                  <a:txBody>
                    <a:bodyPr/>
                    <a:lstStyle/>
                    <a:p>
                      <a:r>
                        <a:rPr lang="en-GB" sz="2000" dirty="0"/>
                        <a:t>Limited by repayments &amp; covenants</a:t>
                      </a:r>
                    </a:p>
                  </a:txBody>
                  <a:tcPr marL="76339" marR="76339" marT="38170" marB="38170" anchor="ctr">
                    <a:lnL>
                      <a:noFill/>
                    </a:lnL>
                    <a:lnR>
                      <a:noFill/>
                    </a:lnR>
                    <a:lnT>
                      <a:noFill/>
                    </a:lnT>
                    <a:lnB>
                      <a:noFill/>
                    </a:lnB>
                    <a:noFill/>
                  </a:tcPr>
                </a:tc>
                <a:tc>
                  <a:txBody>
                    <a:bodyPr/>
                    <a:lstStyle/>
                    <a:p>
                      <a:r>
                        <a:rPr lang="en-GB" sz="2000"/>
                        <a:t>Greater, but costlier capital</a:t>
                      </a:r>
                    </a:p>
                  </a:txBody>
                  <a:tcPr marL="76339" marR="76339" marT="38170" marB="38170" anchor="ctr">
                    <a:lnL>
                      <a:noFill/>
                    </a:lnL>
                    <a:lnR>
                      <a:noFill/>
                    </a:lnR>
                    <a:lnT>
                      <a:noFill/>
                    </a:lnT>
                    <a:lnB>
                      <a:noFill/>
                    </a:lnB>
                    <a:noFill/>
                  </a:tcPr>
                </a:tc>
                <a:extLst>
                  <a:ext uri="{0D108BD9-81ED-4DB2-BD59-A6C34878D82A}">
                    <a16:rowId xmlns:a16="http://schemas.microsoft.com/office/drawing/2014/main" val="4205291397"/>
                  </a:ext>
                </a:extLst>
              </a:tr>
              <a:tr h="992410">
                <a:tc>
                  <a:txBody>
                    <a:bodyPr/>
                    <a:lstStyle/>
                    <a:p>
                      <a:r>
                        <a:rPr lang="en-GB" sz="2000"/>
                        <a:t>Control &amp; Ownership</a:t>
                      </a:r>
                    </a:p>
                  </a:txBody>
                  <a:tcPr marL="76339" marR="76339" marT="38170" marB="38170" anchor="ctr">
                    <a:lnL>
                      <a:noFill/>
                    </a:lnL>
                    <a:lnR>
                      <a:noFill/>
                    </a:lnR>
                    <a:lnT>
                      <a:noFill/>
                    </a:lnT>
                    <a:lnB>
                      <a:noFill/>
                    </a:lnB>
                    <a:noFill/>
                  </a:tcPr>
                </a:tc>
                <a:tc>
                  <a:txBody>
                    <a:bodyPr/>
                    <a:lstStyle/>
                    <a:p>
                      <a:r>
                        <a:rPr lang="en-GB" sz="2000"/>
                        <a:t>Retained by existing shareholders</a:t>
                      </a:r>
                    </a:p>
                  </a:txBody>
                  <a:tcPr marL="76339" marR="76339" marT="38170" marB="38170" anchor="ctr">
                    <a:lnL>
                      <a:noFill/>
                    </a:lnL>
                    <a:lnR>
                      <a:noFill/>
                    </a:lnR>
                    <a:lnT>
                      <a:noFill/>
                    </a:lnT>
                    <a:lnB>
                      <a:noFill/>
                    </a:lnB>
                    <a:noFill/>
                  </a:tcPr>
                </a:tc>
                <a:tc>
                  <a:txBody>
                    <a:bodyPr/>
                    <a:lstStyle/>
                    <a:p>
                      <a:r>
                        <a:rPr lang="en-GB" sz="2000" dirty="0"/>
                        <a:t>Dilution of control</a:t>
                      </a:r>
                    </a:p>
                  </a:txBody>
                  <a:tcPr marL="76339" marR="76339" marT="38170" marB="38170" anchor="ctr">
                    <a:lnL>
                      <a:noFill/>
                    </a:lnL>
                    <a:lnR>
                      <a:noFill/>
                    </a:lnR>
                    <a:lnT>
                      <a:noFill/>
                    </a:lnT>
                    <a:lnB>
                      <a:noFill/>
                    </a:lnB>
                    <a:noFill/>
                  </a:tcPr>
                </a:tc>
                <a:extLst>
                  <a:ext uri="{0D108BD9-81ED-4DB2-BD59-A6C34878D82A}">
                    <a16:rowId xmlns:a16="http://schemas.microsoft.com/office/drawing/2014/main" val="3145139450"/>
                  </a:ext>
                </a:extLst>
              </a:tr>
              <a:tr h="992410">
                <a:tc>
                  <a:txBody>
                    <a:bodyPr/>
                    <a:lstStyle/>
                    <a:p>
                      <a:r>
                        <a:rPr lang="en-GB" sz="2000"/>
                        <a:t>Market Signalling</a:t>
                      </a:r>
                    </a:p>
                  </a:txBody>
                  <a:tcPr marL="76339" marR="76339" marT="38170" marB="38170" anchor="ctr">
                    <a:lnL>
                      <a:noFill/>
                    </a:lnL>
                    <a:lnR>
                      <a:noFill/>
                    </a:lnR>
                    <a:lnT>
                      <a:noFill/>
                    </a:lnT>
                    <a:lnB>
                      <a:noFill/>
                    </a:lnB>
                    <a:noFill/>
                  </a:tcPr>
                </a:tc>
                <a:tc>
                  <a:txBody>
                    <a:bodyPr/>
                    <a:lstStyle/>
                    <a:p>
                      <a:r>
                        <a:rPr lang="en-GB" sz="2000"/>
                        <a:t>Confidence (if moderate use)</a:t>
                      </a:r>
                    </a:p>
                  </a:txBody>
                  <a:tcPr marL="76339" marR="76339" marT="38170" marB="38170" anchor="ctr">
                    <a:lnL>
                      <a:noFill/>
                    </a:lnL>
                    <a:lnR>
                      <a:noFill/>
                    </a:lnR>
                    <a:lnT>
                      <a:noFill/>
                    </a:lnT>
                    <a:lnB>
                      <a:noFill/>
                    </a:lnB>
                    <a:noFill/>
                  </a:tcPr>
                </a:tc>
                <a:tc>
                  <a:txBody>
                    <a:bodyPr/>
                    <a:lstStyle/>
                    <a:p>
                      <a:r>
                        <a:rPr lang="en-GB" sz="2000"/>
                        <a:t>Signals conservatism or lack of debt access</a:t>
                      </a:r>
                    </a:p>
                  </a:txBody>
                  <a:tcPr marL="76339" marR="76339" marT="38170" marB="38170" anchor="ctr">
                    <a:lnL>
                      <a:noFill/>
                    </a:lnL>
                    <a:lnR>
                      <a:noFill/>
                    </a:lnR>
                    <a:lnT>
                      <a:noFill/>
                    </a:lnT>
                    <a:lnB>
                      <a:noFill/>
                    </a:lnB>
                    <a:noFill/>
                  </a:tcPr>
                </a:tc>
                <a:extLst>
                  <a:ext uri="{0D108BD9-81ED-4DB2-BD59-A6C34878D82A}">
                    <a16:rowId xmlns:a16="http://schemas.microsoft.com/office/drawing/2014/main" val="1223673929"/>
                  </a:ext>
                </a:extLst>
              </a:tr>
              <a:tr h="992410">
                <a:tc>
                  <a:txBody>
                    <a:bodyPr/>
                    <a:lstStyle/>
                    <a:p>
                      <a:r>
                        <a:rPr lang="en-GB" sz="2000"/>
                        <a:t>Growth Strategy</a:t>
                      </a:r>
                    </a:p>
                  </a:txBody>
                  <a:tcPr marL="76339" marR="76339" marT="38170" marB="38170" anchor="ctr">
                    <a:lnL>
                      <a:noFill/>
                    </a:lnL>
                    <a:lnR>
                      <a:noFill/>
                    </a:lnR>
                    <a:lnT>
                      <a:noFill/>
                    </a:lnT>
                    <a:lnB>
                      <a:noFill/>
                    </a:lnB>
                    <a:noFill/>
                  </a:tcPr>
                </a:tc>
                <a:tc>
                  <a:txBody>
                    <a:bodyPr/>
                    <a:lstStyle/>
                    <a:p>
                      <a:r>
                        <a:rPr lang="en-GB" sz="2000"/>
                        <a:t>Suitable for stable cash flow firms</a:t>
                      </a:r>
                    </a:p>
                  </a:txBody>
                  <a:tcPr marL="76339" marR="76339" marT="38170" marB="38170" anchor="ctr">
                    <a:lnL>
                      <a:noFill/>
                    </a:lnL>
                    <a:lnR>
                      <a:noFill/>
                    </a:lnR>
                    <a:lnT>
                      <a:noFill/>
                    </a:lnT>
                    <a:lnB>
                      <a:noFill/>
                    </a:lnB>
                    <a:noFill/>
                  </a:tcPr>
                </a:tc>
                <a:tc>
                  <a:txBody>
                    <a:bodyPr/>
                    <a:lstStyle/>
                    <a:p>
                      <a:r>
                        <a:rPr lang="en-GB" sz="2000" dirty="0"/>
                        <a:t>Suitable for high-growth or volatile firms</a:t>
                      </a:r>
                    </a:p>
                  </a:txBody>
                  <a:tcPr marL="76339" marR="76339" marT="38170" marB="38170" anchor="ctr">
                    <a:lnL>
                      <a:noFill/>
                    </a:lnL>
                    <a:lnR>
                      <a:noFill/>
                    </a:lnR>
                    <a:lnT>
                      <a:noFill/>
                    </a:lnT>
                    <a:lnB>
                      <a:noFill/>
                    </a:lnB>
                    <a:noFill/>
                  </a:tcPr>
                </a:tc>
                <a:extLst>
                  <a:ext uri="{0D108BD9-81ED-4DB2-BD59-A6C34878D82A}">
                    <a16:rowId xmlns:a16="http://schemas.microsoft.com/office/drawing/2014/main" val="2571067538"/>
                  </a:ext>
                </a:extLst>
              </a:tr>
            </a:tbl>
          </a:graphicData>
        </a:graphic>
      </p:graphicFrame>
    </p:spTree>
    <p:extLst>
      <p:ext uri="{BB962C8B-B14F-4D97-AF65-F5344CB8AC3E}">
        <p14:creationId xmlns:p14="http://schemas.microsoft.com/office/powerpoint/2010/main" val="22515903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 y="966888"/>
            <a:ext cx="7886700" cy="634117"/>
          </a:xfrm>
        </p:spPr>
        <p:txBody>
          <a:bodyPr>
            <a:normAutofit/>
          </a:bodyPr>
          <a:lstStyle/>
          <a:p>
            <a:r>
              <a:rPr lang="en-GB" sz="2800" dirty="0">
                <a:solidFill>
                  <a:srgbClr val="1C9DAC"/>
                </a:solidFill>
              </a:rPr>
              <a:t>Capital Structure: Equity vs Debt</a:t>
            </a:r>
          </a:p>
        </p:txBody>
      </p:sp>
      <p:sp>
        <p:nvSpPr>
          <p:cNvPr id="3" name="Content Placeholder 2"/>
          <p:cNvSpPr>
            <a:spLocks noGrp="1"/>
          </p:cNvSpPr>
          <p:nvPr>
            <p:ph idx="1"/>
          </p:nvPr>
        </p:nvSpPr>
        <p:spPr>
          <a:xfrm>
            <a:off x="266700" y="1704975"/>
            <a:ext cx="8591550" cy="4005722"/>
          </a:xfrm>
        </p:spPr>
        <p:txBody>
          <a:bodyPr>
            <a:normAutofit fontScale="55000" lnSpcReduction="20000"/>
          </a:bodyPr>
          <a:lstStyle/>
          <a:p>
            <a:pPr marL="9525" lvl="1" indent="0">
              <a:buClr>
                <a:srgbClr val="C00000"/>
              </a:buClr>
              <a:buSzPct val="90000"/>
              <a:buNone/>
            </a:pPr>
            <a:r>
              <a:rPr lang="en-GB" dirty="0">
                <a:solidFill>
                  <a:schemeClr val="accent5">
                    <a:lumMod val="75000"/>
                  </a:schemeClr>
                </a:solidFill>
              </a:rPr>
              <a:t>Total Debt of Oil &amp; Gas Companies</a:t>
            </a:r>
          </a:p>
          <a:p>
            <a:pPr marL="9525" lvl="1" indent="0">
              <a:buClr>
                <a:srgbClr val="C00000"/>
              </a:buClr>
              <a:buSzPct val="90000"/>
              <a:buNone/>
            </a:pPr>
            <a:endParaRPr lang="en-GB" dirty="0">
              <a:solidFill>
                <a:schemeClr val="accent5">
                  <a:lumMod val="75000"/>
                </a:schemeClr>
              </a:solidFill>
            </a:endParaRPr>
          </a:p>
          <a:p>
            <a:pPr marL="9525" lvl="1" indent="0">
              <a:buClr>
                <a:srgbClr val="C00000"/>
              </a:buClr>
              <a:buSzPct val="90000"/>
              <a:buNone/>
            </a:pPr>
            <a:endParaRPr lang="en-GB" dirty="0">
              <a:solidFill>
                <a:schemeClr val="accent5">
                  <a:lumMod val="75000"/>
                </a:schemeClr>
              </a:solidFill>
            </a:endParaRPr>
          </a:p>
          <a:p>
            <a:pPr marL="9525" lvl="1" indent="0">
              <a:buClr>
                <a:srgbClr val="C00000"/>
              </a:buClr>
              <a:buSzPct val="90000"/>
              <a:buNone/>
            </a:pPr>
            <a:endParaRPr lang="en-GB" dirty="0">
              <a:solidFill>
                <a:schemeClr val="accent5">
                  <a:lumMod val="75000"/>
                </a:schemeClr>
              </a:solidFill>
            </a:endParaRPr>
          </a:p>
          <a:p>
            <a:pPr marL="9525" lvl="1" indent="0">
              <a:buClr>
                <a:srgbClr val="C00000"/>
              </a:buClr>
              <a:buSzPct val="90000"/>
              <a:buNone/>
            </a:pPr>
            <a:endParaRPr lang="en-GB" dirty="0">
              <a:solidFill>
                <a:schemeClr val="accent5">
                  <a:lumMod val="75000"/>
                </a:schemeClr>
              </a:solidFill>
            </a:endParaRPr>
          </a:p>
          <a:p>
            <a:pPr marL="9525" lvl="1" indent="0">
              <a:buClr>
                <a:srgbClr val="C00000"/>
              </a:buClr>
              <a:buSzPct val="90000"/>
              <a:buNone/>
            </a:pPr>
            <a:endParaRPr lang="en-GB" dirty="0">
              <a:solidFill>
                <a:schemeClr val="accent5">
                  <a:lumMod val="75000"/>
                </a:schemeClr>
              </a:solidFill>
            </a:endParaRPr>
          </a:p>
          <a:p>
            <a:pPr marL="9525" lvl="1" indent="0">
              <a:buClr>
                <a:srgbClr val="C00000"/>
              </a:buClr>
              <a:buSzPct val="90000"/>
              <a:buNone/>
            </a:pPr>
            <a:endParaRPr lang="en-GB" dirty="0">
              <a:solidFill>
                <a:schemeClr val="accent5">
                  <a:lumMod val="75000"/>
                </a:schemeClr>
              </a:solidFill>
            </a:endParaRPr>
          </a:p>
          <a:p>
            <a:pPr marL="9525" lvl="1" indent="0">
              <a:buClr>
                <a:srgbClr val="C00000"/>
              </a:buClr>
              <a:buSzPct val="90000"/>
              <a:buNone/>
            </a:pPr>
            <a:endParaRPr lang="en-GB" dirty="0">
              <a:solidFill>
                <a:schemeClr val="accent5">
                  <a:lumMod val="75000"/>
                </a:schemeClr>
              </a:solidFill>
            </a:endParaRPr>
          </a:p>
          <a:p>
            <a:pPr marL="9525" lvl="1" indent="0">
              <a:buClr>
                <a:srgbClr val="C00000"/>
              </a:buClr>
              <a:buSzPct val="90000"/>
              <a:buNone/>
            </a:pPr>
            <a:endParaRPr lang="en-GB" dirty="0">
              <a:solidFill>
                <a:schemeClr val="accent5">
                  <a:lumMod val="75000"/>
                </a:schemeClr>
              </a:solidFill>
            </a:endParaRPr>
          </a:p>
          <a:p>
            <a:pPr marL="9525" lvl="1" indent="0">
              <a:buClr>
                <a:srgbClr val="C00000"/>
              </a:buClr>
              <a:buSzPct val="90000"/>
              <a:buNone/>
            </a:pPr>
            <a:endParaRPr lang="en-GB" dirty="0">
              <a:solidFill>
                <a:schemeClr val="accent5">
                  <a:lumMod val="75000"/>
                </a:schemeClr>
              </a:solidFill>
            </a:endParaRPr>
          </a:p>
          <a:p>
            <a:pPr marL="9525" lvl="1" indent="0">
              <a:buClr>
                <a:srgbClr val="C00000"/>
              </a:buClr>
              <a:buSzPct val="90000"/>
              <a:buNone/>
            </a:pPr>
            <a:endParaRPr lang="en-GB" dirty="0">
              <a:solidFill>
                <a:schemeClr val="accent5">
                  <a:lumMod val="75000"/>
                </a:schemeClr>
              </a:solidFill>
            </a:endParaRPr>
          </a:p>
          <a:p>
            <a:pPr marL="9525" lvl="1" indent="0">
              <a:buClr>
                <a:srgbClr val="C00000"/>
              </a:buClr>
              <a:buSzPct val="90000"/>
              <a:buNone/>
            </a:pPr>
            <a:endParaRPr lang="en-GB" dirty="0">
              <a:solidFill>
                <a:schemeClr val="accent5">
                  <a:lumMod val="75000"/>
                </a:schemeClr>
              </a:solidFill>
            </a:endParaRPr>
          </a:p>
          <a:p>
            <a:pPr marL="9525" lvl="1" indent="0">
              <a:buClr>
                <a:srgbClr val="C00000"/>
              </a:buClr>
              <a:buSzPct val="90000"/>
              <a:buNone/>
            </a:pPr>
            <a:r>
              <a:rPr lang="en-GB" sz="1200" dirty="0"/>
              <a:t>Source: 2019 Annual Reports</a:t>
            </a:r>
          </a:p>
          <a:p>
            <a:pPr marL="9525" lvl="1" indent="0">
              <a:buClr>
                <a:srgbClr val="C00000"/>
              </a:buClr>
              <a:buSzPct val="90000"/>
              <a:buNone/>
            </a:pPr>
            <a:endParaRPr lang="en-GB" b="1" dirty="0">
              <a:solidFill>
                <a:schemeClr val="accent5">
                  <a:lumMod val="75000"/>
                </a:schemeClr>
              </a:solidFill>
            </a:endParaRPr>
          </a:p>
          <a:p>
            <a:pPr marL="9525" lvl="1" indent="0">
              <a:buClr>
                <a:srgbClr val="C00000"/>
              </a:buClr>
              <a:buSzPct val="90000"/>
              <a:buNone/>
            </a:pPr>
            <a:endParaRPr lang="en-GB" dirty="0">
              <a:solidFill>
                <a:prstClr val="black"/>
              </a:solidFill>
            </a:endParaRPr>
          </a:p>
          <a:p>
            <a:pPr marL="0" indent="0">
              <a:buClr>
                <a:srgbClr val="C00000"/>
              </a:buClr>
              <a:buSzPct val="90000"/>
              <a:buNone/>
            </a:pPr>
            <a:endParaRPr lang="en-GB" sz="1800" dirty="0"/>
          </a:p>
        </p:txBody>
      </p:sp>
      <p:sp>
        <p:nvSpPr>
          <p:cNvPr id="4" name="Slide Number Placeholder 3"/>
          <p:cNvSpPr>
            <a:spLocks noGrp="1"/>
          </p:cNvSpPr>
          <p:nvPr>
            <p:ph type="sldNum" sz="quarter" idx="12"/>
          </p:nvPr>
        </p:nvSpPr>
        <p:spPr>
          <a:xfrm>
            <a:off x="8548754" y="5710698"/>
            <a:ext cx="679467" cy="405323"/>
          </a:xfrm>
          <a:ln w="12700"/>
        </p:spPr>
        <p:txBody>
          <a:bodyPr/>
          <a:lstStyle/>
          <a:p>
            <a:fld id="{0F99C4FB-888A-4D12-A1C4-C744D94026CD}" type="slidenum">
              <a:rPr lang="en-GB" sz="1350">
                <a:solidFill>
                  <a:schemeClr val="tx1">
                    <a:lumMod val="50000"/>
                    <a:lumOff val="50000"/>
                  </a:schemeClr>
                </a:solidFill>
              </a:rPr>
              <a:t>19</a:t>
            </a:fld>
            <a:endParaRPr lang="en-GB" sz="1350" dirty="0">
              <a:solidFill>
                <a:schemeClr val="tx1">
                  <a:lumMod val="50000"/>
                  <a:lumOff val="50000"/>
                </a:schemeClr>
              </a:solidFill>
            </a:endParaRPr>
          </a:p>
        </p:txBody>
      </p:sp>
      <p:graphicFrame>
        <p:nvGraphicFramePr>
          <p:cNvPr id="6" name="Chart 5">
            <a:extLst>
              <a:ext uri="{FF2B5EF4-FFF2-40B4-BE49-F238E27FC236}">
                <a16:creationId xmlns:a16="http://schemas.microsoft.com/office/drawing/2014/main" id="{8F2876F0-73AF-F747-AC7A-6BF890D77AAF}"/>
              </a:ext>
            </a:extLst>
          </p:cNvPr>
          <p:cNvGraphicFramePr>
            <a:graphicFrameLocks/>
          </p:cNvGraphicFramePr>
          <p:nvPr/>
        </p:nvGraphicFramePr>
        <p:xfrm>
          <a:off x="1892413" y="2003201"/>
          <a:ext cx="5359174" cy="340926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896831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7111E-708A-1386-DF56-419816270151}"/>
            </a:ext>
          </a:extLst>
        </p:cNvPr>
        <p:cNvGrpSpPr/>
        <p:nvPr/>
      </p:nvGrpSpPr>
      <p:grpSpPr>
        <a:xfrm>
          <a:off x="0" y="0"/>
          <a:ext cx="0" cy="0"/>
          <a:chOff x="0" y="0"/>
          <a:chExt cx="0" cy="0"/>
        </a:xfrm>
      </p:grpSpPr>
      <p:pic>
        <p:nvPicPr>
          <p:cNvPr id="6" name="Picture 5" descr="A diagram of a company's financial system&#10;&#10;AI-generated content may be incorrect.">
            <a:extLst>
              <a:ext uri="{FF2B5EF4-FFF2-40B4-BE49-F238E27FC236}">
                <a16:creationId xmlns:a16="http://schemas.microsoft.com/office/drawing/2014/main" id="{3DFB815A-4462-5F76-79C9-DD607E7505A8}"/>
              </a:ext>
            </a:extLst>
          </p:cNvPr>
          <p:cNvPicPr>
            <a:picLocks noChangeAspect="1"/>
          </p:cNvPicPr>
          <p:nvPr/>
        </p:nvPicPr>
        <p:blipFill>
          <a:blip r:embed="rId3">
            <a:extLst>
              <a:ext uri="{28A0092B-C50C-407E-A947-70E740481C1C}">
                <a14:useLocalDpi xmlns:a14="http://schemas.microsoft.com/office/drawing/2010/main" val="0"/>
              </a:ext>
            </a:extLst>
          </a:blip>
          <a:srcRect l="13254" t="21659" r="12657" b="15973"/>
          <a:stretch>
            <a:fillRect/>
          </a:stretch>
        </p:blipFill>
        <p:spPr>
          <a:xfrm>
            <a:off x="5225144" y="1679964"/>
            <a:ext cx="3430364" cy="4032981"/>
          </a:xfrm>
          <a:prstGeom prst="rect">
            <a:avLst/>
          </a:prstGeom>
        </p:spPr>
      </p:pic>
      <p:sp>
        <p:nvSpPr>
          <p:cNvPr id="2" name="Title 1">
            <a:extLst>
              <a:ext uri="{FF2B5EF4-FFF2-40B4-BE49-F238E27FC236}">
                <a16:creationId xmlns:a16="http://schemas.microsoft.com/office/drawing/2014/main" id="{05297199-48E4-3AEE-0C9D-A150A621C688}"/>
              </a:ext>
            </a:extLst>
          </p:cNvPr>
          <p:cNvSpPr>
            <a:spLocks noGrp="1"/>
          </p:cNvSpPr>
          <p:nvPr>
            <p:ph type="title"/>
          </p:nvPr>
        </p:nvSpPr>
        <p:spPr>
          <a:xfrm>
            <a:off x="643689" y="776918"/>
            <a:ext cx="7886700" cy="720079"/>
          </a:xfrm>
        </p:spPr>
        <p:txBody>
          <a:bodyPr>
            <a:normAutofit/>
          </a:bodyPr>
          <a:lstStyle/>
          <a:p>
            <a:r>
              <a:rPr lang="en-GB" dirty="0">
                <a:solidFill>
                  <a:srgbClr val="1C9DAC"/>
                </a:solidFill>
                <a:ea typeface="ＭＳ Ｐゴシック"/>
              </a:rPr>
              <a:t>Pecking Order Theory &amp; it’s Relevance</a:t>
            </a:r>
          </a:p>
        </p:txBody>
      </p:sp>
      <p:sp>
        <p:nvSpPr>
          <p:cNvPr id="3" name="Content Placeholder 2">
            <a:extLst>
              <a:ext uri="{FF2B5EF4-FFF2-40B4-BE49-F238E27FC236}">
                <a16:creationId xmlns:a16="http://schemas.microsoft.com/office/drawing/2014/main" id="{ECA70B95-6A41-029B-3F77-F88BE15D5666}"/>
              </a:ext>
            </a:extLst>
          </p:cNvPr>
          <p:cNvSpPr>
            <a:spLocks noGrp="1"/>
          </p:cNvSpPr>
          <p:nvPr>
            <p:ph sz="half" idx="1"/>
          </p:nvPr>
        </p:nvSpPr>
        <p:spPr>
          <a:xfrm>
            <a:off x="345988" y="1496997"/>
            <a:ext cx="6149815" cy="5164059"/>
          </a:xfrm>
        </p:spPr>
        <p:txBody>
          <a:bodyPr lIns="91440" tIns="45720" rIns="91440" bIns="45720" anchor="t">
            <a:normAutofit fontScale="92500"/>
          </a:bodyPr>
          <a:lstStyle/>
          <a:p>
            <a:pPr>
              <a:lnSpc>
                <a:spcPct val="150000"/>
              </a:lnSpc>
              <a:buClr>
                <a:srgbClr val="1C9DAC"/>
              </a:buClr>
            </a:pPr>
            <a:r>
              <a:rPr lang="en-GB" sz="2800" dirty="0">
                <a:solidFill>
                  <a:srgbClr val="FF0000"/>
                </a:solidFill>
                <a:ea typeface="ＭＳ Ｐゴシック"/>
              </a:rPr>
              <a:t>No</a:t>
            </a:r>
            <a:r>
              <a:rPr lang="en-GB" sz="2800" dirty="0">
                <a:ea typeface="ＭＳ Ｐゴシック"/>
              </a:rPr>
              <a:t> search for an </a:t>
            </a:r>
            <a:r>
              <a:rPr lang="en-GB" sz="2800" dirty="0">
                <a:solidFill>
                  <a:srgbClr val="FF0000"/>
                </a:solidFill>
                <a:ea typeface="ＭＳ Ｐゴシック"/>
              </a:rPr>
              <a:t>optimal capital structure</a:t>
            </a:r>
            <a:r>
              <a:rPr lang="en-GB" sz="2800" dirty="0">
                <a:ea typeface="ＭＳ Ｐゴシック"/>
              </a:rPr>
              <a:t> (follow Pecking order)</a:t>
            </a:r>
          </a:p>
          <a:p>
            <a:pPr marL="0" indent="0">
              <a:lnSpc>
                <a:spcPct val="150000"/>
              </a:lnSpc>
              <a:buClr>
                <a:srgbClr val="1C9DAC"/>
              </a:buClr>
              <a:buNone/>
            </a:pPr>
            <a:endParaRPr lang="en-GB" sz="2800" dirty="0">
              <a:ea typeface="ＭＳ Ｐゴシック"/>
            </a:endParaRPr>
          </a:p>
          <a:p>
            <a:pPr>
              <a:lnSpc>
                <a:spcPct val="150000"/>
              </a:lnSpc>
              <a:buClr>
                <a:srgbClr val="1C9DAC"/>
              </a:buClr>
            </a:pPr>
            <a:r>
              <a:rPr lang="en-GB" sz="2800" b="1" dirty="0">
                <a:ea typeface="ＭＳ Ｐゴシック"/>
              </a:rPr>
              <a:t>Justification</a:t>
            </a:r>
          </a:p>
          <a:p>
            <a:pPr marL="1066800" lvl="1" indent="-457200">
              <a:lnSpc>
                <a:spcPct val="150000"/>
              </a:lnSpc>
              <a:buClr>
                <a:srgbClr val="1C9DAC"/>
              </a:buClr>
              <a:buFont typeface="+mj-lt"/>
              <a:buAutoNum type="arabicPeriod"/>
            </a:pPr>
            <a:r>
              <a:rPr lang="en-GB" sz="2000" dirty="0">
                <a:ea typeface="ＭＳ Ｐゴシック"/>
              </a:rPr>
              <a:t>Minimise issue costs</a:t>
            </a:r>
          </a:p>
          <a:p>
            <a:pPr marL="1066800" lvl="1" indent="-457200">
              <a:lnSpc>
                <a:spcPct val="150000"/>
              </a:lnSpc>
              <a:buClr>
                <a:srgbClr val="1C9DAC"/>
              </a:buClr>
              <a:buFont typeface="+mj-lt"/>
              <a:buAutoNum type="arabicPeriod"/>
            </a:pPr>
            <a:r>
              <a:rPr lang="en-GB" sz="2000" dirty="0">
                <a:ea typeface="ＭＳ Ｐゴシック"/>
              </a:rPr>
              <a:t>Minimise the time and expense involved in persuading outside investors</a:t>
            </a:r>
          </a:p>
          <a:p>
            <a:pPr marL="1066800" lvl="1" indent="-457200">
              <a:lnSpc>
                <a:spcPct val="150000"/>
              </a:lnSpc>
              <a:buClr>
                <a:srgbClr val="1C9DAC"/>
              </a:buClr>
              <a:buFont typeface="+mj-lt"/>
              <a:buAutoNum type="arabicPeriod"/>
            </a:pPr>
            <a:r>
              <a:rPr lang="en-GB" sz="2000" dirty="0">
                <a:ea typeface="ＭＳ Ｐゴシック"/>
              </a:rPr>
              <a:t>The existence of asymmetrical information (imbalance in information/wealth transfer effect)</a:t>
            </a:r>
          </a:p>
        </p:txBody>
      </p:sp>
    </p:spTree>
    <p:extLst>
      <p:ext uri="{BB962C8B-B14F-4D97-AF65-F5344CB8AC3E}">
        <p14:creationId xmlns:p14="http://schemas.microsoft.com/office/powerpoint/2010/main" val="35101074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6705" y="646254"/>
            <a:ext cx="7886700" cy="634117"/>
          </a:xfrm>
        </p:spPr>
        <p:txBody>
          <a:bodyPr>
            <a:normAutofit/>
          </a:bodyPr>
          <a:lstStyle/>
          <a:p>
            <a:r>
              <a:rPr lang="en-GB" sz="3200" dirty="0">
                <a:solidFill>
                  <a:srgbClr val="1C9DAC"/>
                </a:solidFill>
              </a:rPr>
              <a:t>Cost of Capital</a:t>
            </a:r>
          </a:p>
        </p:txBody>
      </p:sp>
      <p:sp>
        <p:nvSpPr>
          <p:cNvPr id="3" name="Content Placeholder 2"/>
          <p:cNvSpPr>
            <a:spLocks noGrp="1"/>
          </p:cNvSpPr>
          <p:nvPr>
            <p:ph idx="1"/>
          </p:nvPr>
        </p:nvSpPr>
        <p:spPr>
          <a:xfrm>
            <a:off x="266700" y="1704975"/>
            <a:ext cx="8591550" cy="4005722"/>
          </a:xfrm>
          <a:noFill/>
          <a:ln>
            <a:noFill/>
          </a:ln>
        </p:spPr>
        <p:txBody>
          <a:bodyPr>
            <a:normAutofit/>
          </a:bodyPr>
          <a:lstStyle/>
          <a:p>
            <a:pPr marL="0" indent="0">
              <a:buClr>
                <a:srgbClr val="C00000"/>
              </a:buClr>
              <a:buSzPct val="90000"/>
              <a:buNone/>
            </a:pPr>
            <a:r>
              <a:rPr lang="en-GB" sz="1800" b="1" dirty="0">
                <a:solidFill>
                  <a:schemeClr val="accent5">
                    <a:lumMod val="75000"/>
                  </a:schemeClr>
                </a:solidFill>
                <a:latin typeface="Calibri" panose="020F0502020204030204" pitchFamily="34" charset="0"/>
                <a:cs typeface="Calibri" panose="020F0502020204030204" pitchFamily="34" charset="0"/>
              </a:rPr>
              <a:t>Example 2:</a:t>
            </a:r>
            <a:r>
              <a:rPr lang="en-GB" sz="1800" dirty="0">
                <a:solidFill>
                  <a:schemeClr val="accent5">
                    <a:lumMod val="75000"/>
                  </a:schemeClr>
                </a:solidFill>
                <a:latin typeface="Calibri" panose="020F0502020204030204" pitchFamily="34" charset="0"/>
                <a:cs typeface="Calibri" panose="020F0502020204030204" pitchFamily="34" charset="0"/>
              </a:rPr>
              <a:t> </a:t>
            </a:r>
            <a:r>
              <a:rPr lang="en-GB" sz="1800" dirty="0">
                <a:latin typeface="Calibri" panose="020F0502020204030204" pitchFamily="34" charset="0"/>
                <a:cs typeface="Calibri" panose="020F0502020204030204" pitchFamily="34" charset="0"/>
              </a:rPr>
              <a:t>British Petroleum wants to set up a site in plant in the North Scottish Sea.</a:t>
            </a:r>
          </a:p>
          <a:p>
            <a:pPr marL="0" indent="0">
              <a:spcBef>
                <a:spcPts val="450"/>
              </a:spcBef>
              <a:spcAft>
                <a:spcPts val="450"/>
              </a:spcAft>
              <a:buClr>
                <a:srgbClr val="C00000"/>
              </a:buClr>
              <a:buSzPct val="90000"/>
              <a:buNone/>
            </a:pPr>
            <a:r>
              <a:rPr lang="en-GB" sz="1800" dirty="0">
                <a:latin typeface="Calibri" panose="020F0502020204030204" pitchFamily="34" charset="0"/>
                <a:cs typeface="Calibri" panose="020F0502020204030204" pitchFamily="34" charset="0"/>
              </a:rPr>
              <a:t>To finance this project, the company used the following sources of long-term financing:</a:t>
            </a:r>
          </a:p>
          <a:p>
            <a:pPr lvl="1">
              <a:spcBef>
                <a:spcPts val="450"/>
              </a:spcBef>
              <a:spcAft>
                <a:spcPts val="450"/>
              </a:spcAft>
              <a:buClr>
                <a:srgbClr val="C00000"/>
              </a:buClr>
              <a:buSzPct val="90000"/>
              <a:buFont typeface="Calibri" panose="020F0502020204030204" pitchFamily="34" charset="0"/>
              <a:buChar char="─"/>
            </a:pPr>
            <a:r>
              <a:rPr lang="en-GB" sz="1800" dirty="0">
                <a:solidFill>
                  <a:srgbClr val="C00000"/>
                </a:solidFill>
                <a:latin typeface="Calibri" panose="020F0502020204030204" pitchFamily="34" charset="0"/>
                <a:cs typeface="Calibri" panose="020F0502020204030204" pitchFamily="34" charset="0"/>
              </a:rPr>
              <a:t>Equity: </a:t>
            </a:r>
            <a:r>
              <a:rPr lang="en-GB" sz="1800" dirty="0">
                <a:latin typeface="Calibri" panose="020F0502020204030204" pitchFamily="34" charset="0"/>
                <a:cs typeface="Calibri" panose="020F0502020204030204" pitchFamily="34" charset="0"/>
              </a:rPr>
              <a:t>An issue of 50m shares at a price of £150. The BP share is expected to pay a dividend of £14.50 next, which grows by 1.80% per year indefinitely.</a:t>
            </a:r>
          </a:p>
          <a:p>
            <a:pPr lvl="1">
              <a:spcBef>
                <a:spcPts val="450"/>
              </a:spcBef>
              <a:spcAft>
                <a:spcPts val="450"/>
              </a:spcAft>
              <a:buClr>
                <a:srgbClr val="C00000"/>
              </a:buClr>
              <a:buSzPct val="90000"/>
              <a:buFont typeface="Calibri" panose="020F0502020204030204" pitchFamily="34" charset="0"/>
              <a:buChar char="─"/>
            </a:pPr>
            <a:r>
              <a:rPr lang="en-GB" sz="1800" dirty="0">
                <a:solidFill>
                  <a:srgbClr val="C00000"/>
                </a:solidFill>
                <a:latin typeface="Calibri" panose="020F0502020204030204" pitchFamily="34" charset="0"/>
                <a:cs typeface="Calibri" panose="020F0502020204030204" pitchFamily="34" charset="0"/>
              </a:rPr>
              <a:t>Debt:</a:t>
            </a:r>
            <a:r>
              <a:rPr lang="en-GB" sz="1800" dirty="0">
                <a:latin typeface="Calibri" panose="020F0502020204030204" pitchFamily="34" charset="0"/>
                <a:cs typeface="Calibri" panose="020F0502020204030204" pitchFamily="34" charset="0"/>
              </a:rPr>
              <a:t> An issue of 8m bonds maturing in 15 years at a price of £980. The bond has a yield to maturity of 5.50%.</a:t>
            </a:r>
          </a:p>
          <a:p>
            <a:pPr marL="0" indent="0">
              <a:spcBef>
                <a:spcPts val="450"/>
              </a:spcBef>
              <a:spcAft>
                <a:spcPts val="450"/>
              </a:spcAft>
              <a:buClr>
                <a:srgbClr val="C00000"/>
              </a:buClr>
              <a:buSzPct val="90000"/>
              <a:buNone/>
            </a:pPr>
            <a:endParaRPr lang="en-GB" sz="1800" dirty="0">
              <a:latin typeface="Calibri" panose="020F0502020204030204" pitchFamily="34" charset="0"/>
              <a:cs typeface="Calibri" panose="020F0502020204030204" pitchFamily="34" charset="0"/>
            </a:endParaRPr>
          </a:p>
          <a:p>
            <a:pPr marL="0" indent="0">
              <a:buClr>
                <a:srgbClr val="C00000"/>
              </a:buClr>
              <a:buSzPct val="90000"/>
              <a:buNone/>
            </a:pPr>
            <a:r>
              <a:rPr lang="en-GB" sz="1800" dirty="0">
                <a:latin typeface="Calibri" panose="020F0502020204030204" pitchFamily="34" charset="0"/>
                <a:cs typeface="Calibri" panose="020F0502020204030204" pitchFamily="34" charset="0"/>
              </a:rPr>
              <a:t>The corporate tax rate in Sweden is 19%.</a:t>
            </a:r>
          </a:p>
          <a:p>
            <a:pPr marL="0" indent="0">
              <a:buClr>
                <a:srgbClr val="C00000"/>
              </a:buClr>
              <a:buSzPct val="90000"/>
              <a:buNone/>
            </a:pPr>
            <a:endParaRPr lang="en-GB" sz="1800" dirty="0">
              <a:latin typeface="Calibri" panose="020F0502020204030204" pitchFamily="34" charset="0"/>
              <a:cs typeface="Calibri" panose="020F0502020204030204" pitchFamily="34" charset="0"/>
            </a:endParaRPr>
          </a:p>
          <a:p>
            <a:pPr marL="0" indent="0">
              <a:buClr>
                <a:srgbClr val="C00000"/>
              </a:buClr>
              <a:buSzPct val="90000"/>
              <a:buNone/>
            </a:pPr>
            <a:r>
              <a:rPr lang="en-GB" sz="1800" dirty="0">
                <a:solidFill>
                  <a:schemeClr val="accent5">
                    <a:lumMod val="75000"/>
                  </a:schemeClr>
                </a:solidFill>
                <a:latin typeface="Calibri" panose="020F0502020204030204" pitchFamily="34" charset="0"/>
                <a:cs typeface="Calibri" panose="020F0502020204030204" pitchFamily="34" charset="0"/>
              </a:rPr>
              <a:t>Question: </a:t>
            </a:r>
            <a:r>
              <a:rPr lang="en-GB" sz="1800" dirty="0">
                <a:latin typeface="Calibri" panose="020F0502020204030204" pitchFamily="34" charset="0"/>
                <a:cs typeface="Calibri" panose="020F0502020204030204" pitchFamily="34" charset="0"/>
              </a:rPr>
              <a:t>What is this project’s WACC?</a:t>
            </a:r>
            <a:endParaRPr lang="en-GB" sz="1800" dirty="0">
              <a:solidFill>
                <a:schemeClr val="accent5">
                  <a:lumMod val="75000"/>
                </a:schemeClr>
              </a:solidFill>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a:xfrm>
            <a:off x="8548754" y="5710698"/>
            <a:ext cx="679467" cy="405323"/>
          </a:xfrm>
          <a:ln w="12700"/>
        </p:spPr>
        <p:txBody>
          <a:bodyPr/>
          <a:lstStyle/>
          <a:p>
            <a:fld id="{0F99C4FB-888A-4D12-A1C4-C744D94026CD}" type="slidenum">
              <a:rPr lang="en-GB" sz="1350">
                <a:solidFill>
                  <a:schemeClr val="tx1">
                    <a:lumMod val="50000"/>
                    <a:lumOff val="50000"/>
                  </a:schemeClr>
                </a:solidFill>
              </a:rPr>
              <a:t>21</a:t>
            </a:fld>
            <a:endParaRPr lang="en-GB" sz="1350" dirty="0">
              <a:solidFill>
                <a:schemeClr val="tx1">
                  <a:lumMod val="50000"/>
                  <a:lumOff val="50000"/>
                </a:schemeClr>
              </a:solidFill>
            </a:endParaRPr>
          </a:p>
        </p:txBody>
      </p:sp>
    </p:spTree>
    <p:extLst>
      <p:ext uri="{BB962C8B-B14F-4D97-AF65-F5344CB8AC3E}">
        <p14:creationId xmlns:p14="http://schemas.microsoft.com/office/powerpoint/2010/main" val="34975370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3FD41-8523-470B-80B4-E40F6C370D55}"/>
              </a:ext>
            </a:extLst>
          </p:cNvPr>
          <p:cNvSpPr>
            <a:spLocks noGrp="1"/>
          </p:cNvSpPr>
          <p:nvPr>
            <p:ph type="title"/>
          </p:nvPr>
        </p:nvSpPr>
        <p:spPr>
          <a:xfrm>
            <a:off x="539552" y="300955"/>
            <a:ext cx="7886700" cy="936104"/>
          </a:xfrm>
        </p:spPr>
        <p:txBody>
          <a:bodyPr>
            <a:normAutofit/>
          </a:bodyPr>
          <a:lstStyle/>
          <a:p>
            <a:r>
              <a:rPr lang="en-GB" dirty="0">
                <a:ea typeface="ＭＳ Ｐゴシック"/>
                <a:cs typeface="+mn-cs"/>
              </a:rPr>
              <a:t>Key Takeaways</a:t>
            </a:r>
          </a:p>
        </p:txBody>
      </p:sp>
      <p:sp>
        <p:nvSpPr>
          <p:cNvPr id="8" name="TextBox 7">
            <a:extLst>
              <a:ext uri="{FF2B5EF4-FFF2-40B4-BE49-F238E27FC236}">
                <a16:creationId xmlns:a16="http://schemas.microsoft.com/office/drawing/2014/main" id="{359E29D5-A66A-E23F-6AD3-9ED1B69A4320}"/>
              </a:ext>
            </a:extLst>
          </p:cNvPr>
          <p:cNvSpPr txBox="1"/>
          <p:nvPr/>
        </p:nvSpPr>
        <p:spPr>
          <a:xfrm>
            <a:off x="285008" y="1308311"/>
            <a:ext cx="8502732" cy="3785652"/>
          </a:xfrm>
          <a:prstGeom prst="rect">
            <a:avLst/>
          </a:prstGeom>
          <a:noFill/>
        </p:spPr>
        <p:txBody>
          <a:bodyPr wrap="square">
            <a:spAutoFit/>
          </a:bodyPr>
          <a:lstStyle/>
          <a:p>
            <a:pPr marL="342900" indent="-342900" algn="just">
              <a:buClr>
                <a:srgbClr val="1C9DAC"/>
              </a:buClr>
              <a:buFont typeface="Arial" panose="020B0604020202020204" pitchFamily="34" charset="0"/>
              <a:buChar char="•"/>
            </a:pPr>
            <a:r>
              <a:rPr lang="en-GB" sz="2400" dirty="0">
                <a:latin typeface="+mn-lt"/>
              </a:rPr>
              <a:t>The cost of capital reflects the return expected by investors.</a:t>
            </a:r>
          </a:p>
          <a:p>
            <a:pPr marL="342900" indent="-342900" algn="just">
              <a:buClr>
                <a:srgbClr val="1C9DAC"/>
              </a:buClr>
              <a:buFont typeface="Arial" panose="020B0604020202020204" pitchFamily="34" charset="0"/>
              <a:buChar char="•"/>
            </a:pPr>
            <a:r>
              <a:rPr lang="en-GB" sz="2400" dirty="0">
                <a:latin typeface="+mn-lt"/>
              </a:rPr>
              <a:t>WACC combines the cost of debt and equity into one overall rate.</a:t>
            </a:r>
          </a:p>
          <a:p>
            <a:pPr marL="342900" indent="-342900" algn="just">
              <a:buClr>
                <a:srgbClr val="1C9DAC"/>
              </a:buClr>
              <a:buFont typeface="Arial" panose="020B0604020202020204" pitchFamily="34" charset="0"/>
              <a:buChar char="•"/>
            </a:pPr>
            <a:r>
              <a:rPr lang="en-GB" sz="2400" dirty="0">
                <a:latin typeface="+mn-lt"/>
              </a:rPr>
              <a:t>A firm’s capital structure directly influences its WACC and value.</a:t>
            </a:r>
          </a:p>
          <a:p>
            <a:pPr marL="342900" indent="-342900" algn="just">
              <a:buClr>
                <a:srgbClr val="1C9DAC"/>
              </a:buClr>
              <a:buFont typeface="Arial" panose="020B0604020202020204" pitchFamily="34" charset="0"/>
              <a:buChar char="•"/>
            </a:pPr>
            <a:r>
              <a:rPr lang="en-GB" sz="2400" dirty="0">
                <a:latin typeface="+mn-lt"/>
              </a:rPr>
              <a:t>The trade-off theory weighs tax benefits of debt against financial risk.</a:t>
            </a:r>
          </a:p>
          <a:p>
            <a:pPr marL="342900" indent="-342900" algn="just">
              <a:buClr>
                <a:srgbClr val="1C9DAC"/>
              </a:buClr>
              <a:buFont typeface="Arial" panose="020B0604020202020204" pitchFamily="34" charset="0"/>
              <a:buChar char="•"/>
            </a:pPr>
            <a:r>
              <a:rPr lang="en-GB" sz="2400" dirty="0">
                <a:latin typeface="+mn-lt"/>
              </a:rPr>
              <a:t>The pecking order theory explains firms financing preferences.</a:t>
            </a:r>
          </a:p>
          <a:p>
            <a:pPr marL="342900" indent="-342900" algn="just">
              <a:buClr>
                <a:srgbClr val="1C9DAC"/>
              </a:buClr>
              <a:buFont typeface="Arial" panose="020B0604020202020204" pitchFamily="34" charset="0"/>
              <a:buChar char="•"/>
            </a:pPr>
            <a:r>
              <a:rPr lang="en-GB" sz="2400" dirty="0">
                <a:latin typeface="+mn-lt"/>
              </a:rPr>
              <a:t>Financial leverage can boost returns but also increases risk.</a:t>
            </a:r>
          </a:p>
          <a:p>
            <a:pPr marL="342900" indent="-342900" algn="just">
              <a:buClr>
                <a:srgbClr val="1C9DAC"/>
              </a:buClr>
              <a:buFont typeface="Arial" panose="020B0604020202020204" pitchFamily="34" charset="0"/>
              <a:buChar char="•"/>
            </a:pPr>
            <a:r>
              <a:rPr lang="en-GB" sz="2400" dirty="0">
                <a:latin typeface="+mn-lt"/>
              </a:rPr>
              <a:t>Real-world capital structure decisions adapt theory to practical needs.</a:t>
            </a:r>
          </a:p>
        </p:txBody>
      </p:sp>
    </p:spTree>
    <p:extLst>
      <p:ext uri="{BB962C8B-B14F-4D97-AF65-F5344CB8AC3E}">
        <p14:creationId xmlns:p14="http://schemas.microsoft.com/office/powerpoint/2010/main" val="1181202601"/>
      </p:ext>
    </p:extLst>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EF63F-563D-6F15-6E35-527012BE6082}"/>
            </a:ext>
          </a:extLst>
        </p:cNvPr>
        <p:cNvGrpSpPr/>
        <p:nvPr/>
      </p:nvGrpSpPr>
      <p:grpSpPr>
        <a:xfrm>
          <a:off x="0" y="0"/>
          <a:ext cx="0" cy="0"/>
          <a:chOff x="0" y="0"/>
          <a:chExt cx="0" cy="0"/>
        </a:xfrm>
      </p:grpSpPr>
      <p:pic>
        <p:nvPicPr>
          <p:cNvPr id="6" name="Picture 5" descr="A colourful face in profile with colourful clouds representing the person&amp;#39;s thoughts&#10;&#10;">
            <a:extLst>
              <a:ext uri="{FF2B5EF4-FFF2-40B4-BE49-F238E27FC236}">
                <a16:creationId xmlns:a16="http://schemas.microsoft.com/office/drawing/2014/main" id="{CA16E290-4DED-2565-AD58-C48504DF51D8}"/>
              </a:ext>
            </a:extLst>
          </p:cNvPr>
          <p:cNvPicPr>
            <a:picLocks noChangeAspect="1"/>
          </p:cNvPicPr>
          <p:nvPr/>
        </p:nvPicPr>
        <p:blipFill>
          <a:blip r:embed="rId3"/>
          <a:stretch>
            <a:fillRect/>
          </a:stretch>
        </p:blipFill>
        <p:spPr>
          <a:xfrm>
            <a:off x="5717530" y="3982981"/>
            <a:ext cx="3426470" cy="2344428"/>
          </a:xfrm>
          <a:prstGeom prst="rect">
            <a:avLst/>
          </a:prstGeom>
        </p:spPr>
      </p:pic>
      <p:sp>
        <p:nvSpPr>
          <p:cNvPr id="5" name="Rectangle 4">
            <a:extLst>
              <a:ext uri="{FF2B5EF4-FFF2-40B4-BE49-F238E27FC236}">
                <a16:creationId xmlns:a16="http://schemas.microsoft.com/office/drawing/2014/main" id="{7533E3BD-E764-77C4-8128-EDF68B02753E}"/>
              </a:ext>
            </a:extLst>
          </p:cNvPr>
          <p:cNvSpPr/>
          <p:nvPr/>
        </p:nvSpPr>
        <p:spPr>
          <a:xfrm>
            <a:off x="6127737" y="6327409"/>
            <a:ext cx="3016263" cy="276999"/>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191B26"/>
                </a:solidFill>
                <a:effectLst/>
                <a:uLnTx/>
                <a:uFillTx/>
                <a:latin typeface="Calibri"/>
                <a:ea typeface="ＭＳ Ｐゴシック" charset="-128"/>
                <a:cs typeface="+mn-cs"/>
              </a:rPr>
              <a:t>Image by </a:t>
            </a:r>
            <a:r>
              <a:rPr kumimoji="0" lang="en-GB" sz="1200" b="0" i="0" u="sng" strike="noStrike" kern="1200" cap="none" spc="0" normalizeH="0" baseline="0" noProof="0" err="1">
                <a:ln>
                  <a:noFill/>
                </a:ln>
                <a:solidFill>
                  <a:srgbClr val="191B26"/>
                </a:solidFill>
                <a:effectLst/>
                <a:uLnTx/>
                <a:uFillTx/>
                <a:latin typeface="Calibri"/>
                <a:ea typeface="ＭＳ Ｐゴシック" charset="-128"/>
                <a:cs typeface="+mn-cs"/>
                <a:hlinkClick r:id="rId4"/>
              </a:rPr>
              <a:t>Gerd</a:t>
            </a:r>
            <a:r>
              <a:rPr kumimoji="0" lang="en-GB" sz="1200" b="0" i="0" u="sng" strike="noStrike" kern="1200" cap="none" spc="0" normalizeH="0" baseline="0" noProof="0">
                <a:ln>
                  <a:noFill/>
                </a:ln>
                <a:solidFill>
                  <a:srgbClr val="191B26"/>
                </a:solidFill>
                <a:effectLst/>
                <a:uLnTx/>
                <a:uFillTx/>
                <a:latin typeface="Calibri"/>
                <a:ea typeface="ＭＳ Ｐゴシック" charset="-128"/>
                <a:cs typeface="+mn-cs"/>
                <a:hlinkClick r:id="rId4"/>
              </a:rPr>
              <a:t> </a:t>
            </a:r>
            <a:r>
              <a:rPr kumimoji="0" lang="en-GB" sz="1200" b="0" i="0" u="sng" strike="noStrike" kern="1200" cap="none" spc="0" normalizeH="0" baseline="0" noProof="0" err="1">
                <a:ln>
                  <a:noFill/>
                </a:ln>
                <a:solidFill>
                  <a:srgbClr val="191B26"/>
                </a:solidFill>
                <a:effectLst/>
                <a:uLnTx/>
                <a:uFillTx/>
                <a:latin typeface="Calibri"/>
                <a:ea typeface="ＭＳ Ｐゴシック" charset="-128"/>
                <a:cs typeface="+mn-cs"/>
                <a:hlinkClick r:id="rId4"/>
              </a:rPr>
              <a:t>Altmann</a:t>
            </a:r>
            <a:r>
              <a:rPr kumimoji="0" lang="en-GB" sz="1200" b="0" i="0" u="none" strike="noStrike" kern="1200" cap="none" spc="0" normalizeH="0" baseline="0" noProof="0">
                <a:ln>
                  <a:noFill/>
                </a:ln>
                <a:solidFill>
                  <a:srgbClr val="191B26"/>
                </a:solidFill>
                <a:effectLst/>
                <a:uLnTx/>
                <a:uFillTx/>
                <a:latin typeface="Calibri"/>
                <a:ea typeface="ＭＳ Ｐゴシック" charset="-128"/>
                <a:cs typeface="+mn-cs"/>
              </a:rPr>
              <a:t> from </a:t>
            </a:r>
            <a:r>
              <a:rPr kumimoji="0" lang="en-GB" sz="1200" b="0" i="0" u="sng" strike="noStrike" kern="1200" cap="none" spc="0" normalizeH="0" baseline="0" noProof="0" err="1">
                <a:ln>
                  <a:noFill/>
                </a:ln>
                <a:solidFill>
                  <a:srgbClr val="191B26"/>
                </a:solidFill>
                <a:effectLst/>
                <a:uLnTx/>
                <a:uFillTx/>
                <a:latin typeface="Calibri"/>
                <a:ea typeface="ＭＳ Ｐゴシック" charset="-128"/>
                <a:cs typeface="+mn-cs"/>
                <a:hlinkClick r:id="rId5"/>
              </a:rPr>
              <a:t>Pixabay</a:t>
            </a:r>
            <a:r>
              <a:rPr kumimoji="0" lang="en-GB" sz="1200" b="0" i="0" u="none" strike="noStrike" kern="1200" cap="none" spc="0" normalizeH="0" baseline="0" noProof="0">
                <a:ln>
                  <a:noFill/>
                </a:ln>
                <a:solidFill>
                  <a:srgbClr val="191B26"/>
                </a:solidFill>
                <a:effectLst/>
                <a:uLnTx/>
                <a:uFillTx/>
                <a:latin typeface="Open Sans" panose="020B0606030504020204" pitchFamily="34" charset="0"/>
                <a:ea typeface="ＭＳ Ｐゴシック" charset="-128"/>
                <a:cs typeface="+mn-cs"/>
              </a:rPr>
              <a:t> </a:t>
            </a:r>
            <a:endParaRPr kumimoji="0" lang="en-GB" sz="1200" b="0" i="0" u="none" strike="noStrike" kern="1200" cap="none" spc="0" normalizeH="0" baseline="0" noProof="0">
              <a:ln>
                <a:noFill/>
              </a:ln>
              <a:solidFill>
                <a:prstClr val="black"/>
              </a:solidFill>
              <a:effectLst/>
              <a:uLnTx/>
              <a:uFillTx/>
              <a:latin typeface="Arial" charset="0"/>
              <a:ea typeface="ＭＳ Ｐゴシック" charset="-128"/>
              <a:cs typeface="+mn-cs"/>
            </a:endParaRPr>
          </a:p>
        </p:txBody>
      </p:sp>
      <p:sp>
        <p:nvSpPr>
          <p:cNvPr id="2" name="Title 1">
            <a:extLst>
              <a:ext uri="{FF2B5EF4-FFF2-40B4-BE49-F238E27FC236}">
                <a16:creationId xmlns:a16="http://schemas.microsoft.com/office/drawing/2014/main" id="{9ACC4A85-50BC-36B0-A56C-4FFF51CDA30B}"/>
              </a:ext>
            </a:extLst>
          </p:cNvPr>
          <p:cNvSpPr>
            <a:spLocks noGrp="1"/>
          </p:cNvSpPr>
          <p:nvPr>
            <p:ph type="title"/>
          </p:nvPr>
        </p:nvSpPr>
        <p:spPr>
          <a:xfrm>
            <a:off x="539552" y="300955"/>
            <a:ext cx="7886700" cy="936104"/>
          </a:xfrm>
        </p:spPr>
        <p:txBody>
          <a:bodyPr>
            <a:normAutofit/>
          </a:bodyPr>
          <a:lstStyle/>
          <a:p>
            <a:r>
              <a:rPr lang="en-GB" dirty="0">
                <a:ea typeface="ＭＳ Ｐゴシック"/>
                <a:cs typeface="+mn-cs"/>
              </a:rPr>
              <a:t>Additional Reading</a:t>
            </a:r>
          </a:p>
        </p:txBody>
      </p:sp>
      <p:sp>
        <p:nvSpPr>
          <p:cNvPr id="10" name="TextBox 9">
            <a:extLst>
              <a:ext uri="{FF2B5EF4-FFF2-40B4-BE49-F238E27FC236}">
                <a16:creationId xmlns:a16="http://schemas.microsoft.com/office/drawing/2014/main" id="{09E58475-5FE5-5B4A-B84B-111519663C58}"/>
              </a:ext>
            </a:extLst>
          </p:cNvPr>
          <p:cNvSpPr txBox="1"/>
          <p:nvPr/>
        </p:nvSpPr>
        <p:spPr>
          <a:xfrm>
            <a:off x="539552" y="1189139"/>
            <a:ext cx="7886700" cy="2793842"/>
          </a:xfrm>
          <a:prstGeom prst="rect">
            <a:avLst/>
          </a:prstGeom>
          <a:noFill/>
        </p:spPr>
        <p:txBody>
          <a:bodyPr wrap="square">
            <a:spAutoFit/>
          </a:bodyPr>
          <a:lstStyle/>
          <a:p>
            <a:pPr lvl="0">
              <a:lnSpc>
                <a:spcPct val="150000"/>
              </a:lnSpc>
              <a:defRPr/>
            </a:pPr>
            <a:r>
              <a:rPr kumimoji="0" lang="en-GB" sz="2400" b="0" i="0" u="none" strike="noStrike" kern="1200" cap="none" spc="0" normalizeH="0" baseline="0" noProof="0" dirty="0">
                <a:ln>
                  <a:noFill/>
                </a:ln>
                <a:solidFill>
                  <a:prstClr val="black"/>
                </a:solidFill>
                <a:effectLst/>
                <a:uLnTx/>
                <a:uFillTx/>
                <a:latin typeface="Arial" charset="0"/>
                <a:ea typeface="ＭＳ Ｐゴシック" charset="-128"/>
                <a:cs typeface="+mn-cs"/>
              </a:rPr>
              <a:t>Chapter 13 – Cost of Capital   (</a:t>
            </a:r>
            <a:r>
              <a:rPr lang="en-GB" sz="2400" dirty="0"/>
              <a:t>Hillier, David. </a:t>
            </a:r>
            <a:r>
              <a:rPr lang="en-GB" sz="2400" i="1" dirty="0" err="1"/>
              <a:t>EBook</a:t>
            </a:r>
            <a:r>
              <a:rPr lang="en-GB" sz="2400" i="1" dirty="0"/>
              <a:t> Fundamentals of Corporate Finance 4e</a:t>
            </a:r>
            <a:r>
              <a:rPr lang="en-GB" sz="2400" dirty="0"/>
              <a:t>, McGraw-Hill UK Higher Ed, 2021.)</a:t>
            </a:r>
          </a:p>
          <a:p>
            <a:pPr lvl="0">
              <a:lnSpc>
                <a:spcPct val="150000"/>
              </a:lnSpc>
              <a:defRPr/>
            </a:pPr>
            <a:endParaRPr lang="en-GB" sz="2400" dirty="0">
              <a:solidFill>
                <a:prstClr val="black"/>
              </a:solidFill>
            </a:endParaRPr>
          </a:p>
          <a:p>
            <a:pPr lvl="0">
              <a:lnSpc>
                <a:spcPct val="150000"/>
              </a:lnSpc>
              <a:defRPr/>
            </a:pPr>
            <a:r>
              <a:rPr kumimoji="0" lang="en-GB" sz="2400" b="0" i="0" u="none" strike="noStrike" kern="1200" cap="none" spc="0" normalizeH="0" baseline="0" noProof="0" dirty="0">
                <a:ln>
                  <a:noFill/>
                </a:ln>
                <a:solidFill>
                  <a:prstClr val="black"/>
                </a:solidFill>
                <a:effectLst/>
                <a:uLnTx/>
                <a:uFillTx/>
                <a:latin typeface="Arial" charset="0"/>
                <a:ea typeface="ＭＳ Ｐゴシック" charset="-128"/>
                <a:cs typeface="+mn-cs"/>
              </a:rPr>
              <a:t> </a:t>
            </a:r>
          </a:p>
        </p:txBody>
      </p:sp>
    </p:spTree>
    <p:extLst>
      <p:ext uri="{BB962C8B-B14F-4D97-AF65-F5344CB8AC3E}">
        <p14:creationId xmlns:p14="http://schemas.microsoft.com/office/powerpoint/2010/main" val="1897914418"/>
      </p:ext>
    </p:extLst>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0632B-2FCE-B6ED-C419-427E610D5F4C}"/>
              </a:ext>
            </a:extLst>
          </p:cNvPr>
          <p:cNvSpPr>
            <a:spLocks noGrp="1"/>
          </p:cNvSpPr>
          <p:nvPr>
            <p:ph type="title"/>
          </p:nvPr>
        </p:nvSpPr>
        <p:spPr/>
        <p:txBody>
          <a:bodyPr/>
          <a:lstStyle/>
          <a:p>
            <a:pPr algn="l"/>
            <a:r>
              <a:rPr lang="en-GB" dirty="0"/>
              <a:t>Next Week</a:t>
            </a:r>
          </a:p>
        </p:txBody>
      </p:sp>
      <p:sp>
        <p:nvSpPr>
          <p:cNvPr id="3" name="Text Placeholder 2">
            <a:extLst>
              <a:ext uri="{FF2B5EF4-FFF2-40B4-BE49-F238E27FC236}">
                <a16:creationId xmlns:a16="http://schemas.microsoft.com/office/drawing/2014/main" id="{7393D38A-6D63-08BB-0FBC-2882D1231479}"/>
              </a:ext>
            </a:extLst>
          </p:cNvPr>
          <p:cNvSpPr>
            <a:spLocks noGrp="1"/>
          </p:cNvSpPr>
          <p:nvPr>
            <p:ph type="body" sz="quarter" idx="11"/>
          </p:nvPr>
        </p:nvSpPr>
        <p:spPr>
          <a:xfrm>
            <a:off x="899592" y="3317479"/>
            <a:ext cx="6515620" cy="994172"/>
          </a:xfrm>
        </p:spPr>
        <p:txBody>
          <a:bodyPr/>
          <a:lstStyle/>
          <a:p>
            <a:r>
              <a:rPr lang="en-GB" sz="2800" dirty="0">
                <a:latin typeface="Segoe Sans"/>
              </a:rPr>
              <a:t>Dividend Policy</a:t>
            </a:r>
          </a:p>
        </p:txBody>
      </p:sp>
    </p:spTree>
    <p:extLst>
      <p:ext uri="{BB962C8B-B14F-4D97-AF65-F5344CB8AC3E}">
        <p14:creationId xmlns:p14="http://schemas.microsoft.com/office/powerpoint/2010/main" val="1668558411"/>
      </p:ext>
    </p:extLst>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9EE90CF-9BC2-4DF3-0111-83CC006E8231}"/>
              </a:ext>
            </a:extLst>
          </p:cNvPr>
          <p:cNvSpPr txBox="1">
            <a:spLocks/>
          </p:cNvSpPr>
          <p:nvPr/>
        </p:nvSpPr>
        <p:spPr>
          <a:xfrm>
            <a:off x="2275453" y="1387083"/>
            <a:ext cx="4894067" cy="728941"/>
          </a:xfrm>
          <a:prstGeom prst="rect">
            <a:avLst/>
          </a:prstGeom>
        </p:spPr>
        <p:txBody>
          <a:bodyPr vert="horz" lIns="51435" tIns="25718" rIns="51435" bIns="25718"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5400" dirty="0">
                <a:solidFill>
                  <a:srgbClr val="1A9DAC"/>
                </a:solidFill>
                <a:latin typeface="Calibri"/>
                <a:ea typeface="Calibri"/>
                <a:cs typeface="Calibri"/>
              </a:rPr>
              <a:t>Any Questions??</a:t>
            </a:r>
          </a:p>
        </p:txBody>
      </p:sp>
      <p:pic>
        <p:nvPicPr>
          <p:cNvPr id="5" name="Content Placeholder 4" title="University of the West of England (UWE Bristol) logo">
            <a:extLst>
              <a:ext uri="{FF2B5EF4-FFF2-40B4-BE49-F238E27FC236}">
                <a16:creationId xmlns:a16="http://schemas.microsoft.com/office/drawing/2014/main" id="{51A6B38C-5192-DC97-793D-6B9919BDEA8B}"/>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427418" y="5032"/>
            <a:ext cx="1166332" cy="588386"/>
          </a:xfrm>
          <a:prstGeom prst="rect">
            <a:avLst/>
          </a:prstGeom>
        </p:spPr>
      </p:pic>
      <p:sp>
        <p:nvSpPr>
          <p:cNvPr id="2" name="Slide Number Placeholder 1">
            <a:extLst>
              <a:ext uri="{FF2B5EF4-FFF2-40B4-BE49-F238E27FC236}">
                <a16:creationId xmlns:a16="http://schemas.microsoft.com/office/drawing/2014/main" id="{99B447B4-B2E4-02F7-BA46-84C2032BE266}"/>
              </a:ext>
            </a:extLst>
          </p:cNvPr>
          <p:cNvSpPr>
            <a:spLocks noGrp="1"/>
          </p:cNvSpPr>
          <p:nvPr>
            <p:ph type="sldNum" sz="quarter" idx="12"/>
          </p:nvPr>
        </p:nvSpPr>
        <p:spPr/>
        <p:txBody>
          <a:bodyPr/>
          <a:lstStyle/>
          <a:p>
            <a:fld id="{48F63A3B-78C7-47BE-AE5E-E10140E04643}" type="slidenum">
              <a:rPr lang="en-US" smtClean="0"/>
              <a:t>25</a:t>
            </a:fld>
            <a:endParaRPr lang="en-US" dirty="0"/>
          </a:p>
        </p:txBody>
      </p:sp>
      <p:sp>
        <p:nvSpPr>
          <p:cNvPr id="11" name="Content Placeholder 2">
            <a:extLst>
              <a:ext uri="{FF2B5EF4-FFF2-40B4-BE49-F238E27FC236}">
                <a16:creationId xmlns:a16="http://schemas.microsoft.com/office/drawing/2014/main" id="{41CD6054-C516-679B-E4C5-C54BF9AC7A09}"/>
              </a:ext>
            </a:extLst>
          </p:cNvPr>
          <p:cNvSpPr txBox="1">
            <a:spLocks/>
          </p:cNvSpPr>
          <p:nvPr/>
        </p:nvSpPr>
        <p:spPr>
          <a:xfrm>
            <a:off x="395978" y="1190977"/>
            <a:ext cx="6436942" cy="2990422"/>
          </a:xfrm>
          <a:prstGeom prst="rect">
            <a:avLst/>
          </a:prstGeom>
        </p:spPr>
        <p:txBody>
          <a:bodyPr vert="horz" lIns="51435" tIns="25718" rIns="51435" bIns="25718"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40000"/>
              </a:lnSpc>
              <a:buFont typeface="Wingdings" pitchFamily="2"/>
              <a:buChar char="§"/>
            </a:pPr>
            <a:endParaRPr lang="en-GB" sz="1055" dirty="0"/>
          </a:p>
          <a:p>
            <a:pPr marL="0" indent="0">
              <a:lnSpc>
                <a:spcPct val="70000"/>
              </a:lnSpc>
              <a:buNone/>
            </a:pPr>
            <a:endParaRPr lang="en-GB" sz="1097" dirty="0"/>
          </a:p>
        </p:txBody>
      </p:sp>
      <p:sp>
        <p:nvSpPr>
          <p:cNvPr id="3" name="Title 1">
            <a:extLst>
              <a:ext uri="{FF2B5EF4-FFF2-40B4-BE49-F238E27FC236}">
                <a16:creationId xmlns:a16="http://schemas.microsoft.com/office/drawing/2014/main" id="{0E1E9C50-4117-0E3A-D80D-31DB1C39F299}"/>
              </a:ext>
            </a:extLst>
          </p:cNvPr>
          <p:cNvSpPr txBox="1">
            <a:spLocks/>
          </p:cNvSpPr>
          <p:nvPr/>
        </p:nvSpPr>
        <p:spPr>
          <a:xfrm>
            <a:off x="395979" y="3883230"/>
            <a:ext cx="7976126" cy="2148263"/>
          </a:xfrm>
          <a:prstGeom prst="rect">
            <a:avLst/>
          </a:prstGeom>
        </p:spPr>
        <p:txBody>
          <a:bodyPr vert="horz" lIns="51435" tIns="25718" rIns="51435" bIns="25718"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n-GB" sz="3600" dirty="0">
                <a:latin typeface="Calibri"/>
                <a:ea typeface="Calibri"/>
                <a:cs typeface="Calibri"/>
              </a:rPr>
              <a:t>If you have questions or find any topic challenging, please feel free to contact me: </a:t>
            </a:r>
            <a:r>
              <a:rPr lang="en-GB" sz="3600" dirty="0">
                <a:latin typeface="Calibri"/>
                <a:ea typeface="Calibri"/>
                <a:cs typeface="Calibri"/>
                <a:hlinkClick r:id="rId4"/>
              </a:rPr>
              <a:t>adnan.aslam@uwe.ac.uk</a:t>
            </a:r>
            <a:r>
              <a:rPr lang="en-GB" sz="3600" dirty="0">
                <a:latin typeface="Calibri"/>
                <a:ea typeface="Calibri"/>
                <a:cs typeface="Calibri"/>
              </a:rPr>
              <a:t> to book an appointment or get clarification.</a:t>
            </a:r>
          </a:p>
        </p:txBody>
      </p:sp>
    </p:spTree>
    <p:extLst>
      <p:ext uri="{BB962C8B-B14F-4D97-AF65-F5344CB8AC3E}">
        <p14:creationId xmlns:p14="http://schemas.microsoft.com/office/powerpoint/2010/main" val="21839081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UIDATA" val="&lt;database version=&quot;8.0&quot;&gt;&lt;object type=&quot;1&quot; unique_id=&quot;10001&quot;&gt;&lt;object type=&quot;2&quot; unique_id=&quot;10073&quot;&gt;&lt;object type=&quot;3&quot; unique_id=&quot;10074&quot;&gt;&lt;property id=&quot;20148&quot; value=&quot;5&quot;/&gt;&lt;property id=&quot;20300&quot; value=&quot;Slide 1&quot;/&gt;&lt;property id=&quot;20307&quot; value=&quot;256&quot;/&gt;&lt;/object&gt;&lt;object type=&quot;3&quot; unique_id=&quot;10075&quot;&gt;&lt;property id=&quot;20148&quot; value=&quot;5&quot;/&gt;&lt;property id=&quot;20300&quot; value=&quot;Slide 2&quot;/&gt;&lt;property id=&quot;20307&quot; value=&quot;260&quot;/&gt;&lt;/object&gt;&lt;object type=&quot;3&quot; unique_id=&quot;10076&quot;&gt;&lt;property id=&quot;20148&quot; value=&quot;5&quot;/&gt;&lt;property id=&quot;20300&quot; value=&quot;Slide 3&quot;/&gt;&lt;property id=&quot;20307&quot; value=&quot;267&quot;/&gt;&lt;/object&gt;&lt;object type=&quot;3&quot; unique_id=&quot;10077&quot;&gt;&lt;property id=&quot;20148&quot; value=&quot;5&quot;/&gt;&lt;property id=&quot;20300&quot; value=&quot;Slide 4&quot;/&gt;&lt;property id=&quot;20307&quot; value=&quot;264&quot;/&gt;&lt;/object&gt;&lt;object type=&quot;3&quot; unique_id=&quot;10078&quot;&gt;&lt;property id=&quot;20148&quot; value=&quot;5&quot;/&gt;&lt;property id=&quot;20300&quot; value=&quot;Slide 5&quot;/&gt;&lt;property id=&quot;20307&quot; value=&quot;268&quot;/&gt;&lt;/object&gt;&lt;object type=&quot;3&quot; unique_id=&quot;10079&quot;&gt;&lt;property id=&quot;20148&quot; value=&quot;5&quot;/&gt;&lt;property id=&quot;20300&quot; value=&quot;Slide 6&quot;/&gt;&lt;property id=&quot;20307&quot; value=&quot;265&quot;/&gt;&lt;/object&gt;&lt;object type=&quot;3&quot; unique_id=&quot;10080&quot;&gt;&lt;property id=&quot;20148&quot; value=&quot;5&quot;/&gt;&lt;property id=&quot;20300&quot; value=&quot;Slide 7&quot;/&gt;&lt;property id=&quot;20307&quot; value=&quot;266&quot;/&gt;&lt;/object&gt;&lt;object type=&quot;3&quot; unique_id=&quot;10081&quot;&gt;&lt;property id=&quot;20148&quot; value=&quot;5&quot;/&gt;&lt;property id=&quot;20300&quot; value=&quot;Slide 8&quot;/&gt;&lt;property id=&quot;20307&quot; value=&quot;262&quot;/&gt;&lt;/object&gt;&lt;object type=&quot;3&quot; unique_id=&quot;10082&quot;&gt;&lt;property id=&quot;20148&quot; value=&quot;5&quot;/&gt;&lt;property id=&quot;20300&quot; value=&quot;Slide 9&quot;/&gt;&lt;property id=&quot;20307&quot; value=&quot;269&quot;/&gt;&lt;/object&gt;&lt;object type=&quot;3&quot; unique_id=&quot;10083&quot;&gt;&lt;property id=&quot;20148&quot; value=&quot;5&quot;/&gt;&lt;property id=&quot;20300&quot; value=&quot;Slide 10&quot;/&gt;&lt;property id=&quot;20307&quot; value=&quot;259&quot;/&gt;&lt;/object&gt;&lt;/object&gt;&lt;object type=&quot;8&quot; unique_id=&quot;10095&quot;&gt;&lt;/object&gt;&lt;/object&gt;&lt;/database&gt;"/>
  <p:tag name="MMPROD_NEXTUNIQUEID" val="10009"/>
  <p:tag name="SECTOMILLISECCONVERTED" val="1"/>
</p:tagLst>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PT template LILAC with UWE logo top STANDARD" id="{C765BBB4-1359-4599-AE4D-9DA0589D8CC5}" vid="{15E18D1F-D9DB-4493-ABC7-78D967C3AFBE}"/>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PT template SKY with UWE logo top STANDARD" id="{01FAB0D0-5DBD-47E7-9373-94BA6C7E7835}" vid="{9680083E-B1B9-432B-A860-BC4A0118E283}"/>
    </a:ext>
  </a:extLst>
</a:theme>
</file>

<file path=ppt/theme/theme3.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fd5a8b3d-d6d0-4e85-bc91-0f2ea67db915" xsi:nil="true"/>
    <lcf76f155ced4ddcb4097134ff3c332f xmlns="eb51dbb1-945e-48c0-ad43-4cc2d8ca5bde">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48B7ECDC463274FB2E9D7BD3CDC99BF" ma:contentTypeVersion="12" ma:contentTypeDescription="Create a new document." ma:contentTypeScope="" ma:versionID="c6b06f64be166c2fbaf22037bc43ae18">
  <xsd:schema xmlns:xsd="http://www.w3.org/2001/XMLSchema" xmlns:xs="http://www.w3.org/2001/XMLSchema" xmlns:p="http://schemas.microsoft.com/office/2006/metadata/properties" xmlns:ns2="eb51dbb1-945e-48c0-ad43-4cc2d8ca5bde" xmlns:ns3="fd5a8b3d-d6d0-4e85-bc91-0f2ea67db915" targetNamespace="http://schemas.microsoft.com/office/2006/metadata/properties" ma:root="true" ma:fieldsID="452c1fcc7857535d192919212ff1ea13" ns2:_="" ns3:_="">
    <xsd:import namespace="eb51dbb1-945e-48c0-ad43-4cc2d8ca5bde"/>
    <xsd:import namespace="fd5a8b3d-d6d0-4e85-bc91-0f2ea67db91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b51dbb1-945e-48c0-ad43-4cc2d8ca5bd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a2edd95a-f8c2-4715-9b78-af595b67b1e1"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d5a8b3d-d6d0-4e85-bc91-0f2ea67db915"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ec8386b3-cb8a-4fcd-85cb-5ebbe16d8627}" ma:internalName="TaxCatchAll" ma:showField="CatchAllData" ma:web="ac848bae-8b64-4916-be44-f315075b80e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DA62F14-C651-471A-899A-5CC68EE6556E}">
  <ds:schemaRefs>
    <ds:schemaRef ds:uri="http://schemas.microsoft.com/office/2006/documentManagement/types"/>
    <ds:schemaRef ds:uri="32b32091-d877-46a4-9e5c-3ef7834bfdeb"/>
    <ds:schemaRef ds:uri="http://schemas.microsoft.com/office/2006/metadata/properties"/>
    <ds:schemaRef ds:uri="http://purl.org/dc/terms/"/>
    <ds:schemaRef ds:uri="http://purl.org/dc/dcmitype/"/>
    <ds:schemaRef ds:uri="http://schemas.microsoft.com/office/infopath/2007/PartnerControls"/>
    <ds:schemaRef ds:uri="http://schemas.openxmlformats.org/package/2006/metadata/core-properties"/>
    <ds:schemaRef ds:uri="56c776ca-7706-4741-bd5a-b870b4cf70c1"/>
    <ds:schemaRef ds:uri="http://www.w3.org/XML/1998/namespace"/>
    <ds:schemaRef ds:uri="http://purl.org/dc/elements/1.1/"/>
    <ds:schemaRef ds:uri="fd5a8b3d-d6d0-4e85-bc91-0f2ea67db915"/>
    <ds:schemaRef ds:uri="eb51dbb1-945e-48c0-ad43-4cc2d8ca5bde"/>
  </ds:schemaRefs>
</ds:datastoreItem>
</file>

<file path=customXml/itemProps2.xml><?xml version="1.0" encoding="utf-8"?>
<ds:datastoreItem xmlns:ds="http://schemas.openxmlformats.org/officeDocument/2006/customXml" ds:itemID="{AB6BB595-6EDF-4B5F-80E2-6ECC47DD080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b51dbb1-945e-48c0-ad43-4cc2d8ca5bde"/>
    <ds:schemaRef ds:uri="fd5a8b3d-d6d0-4e85-bc91-0f2ea67db91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1BFF188-4596-40CB-A954-D469E5ABCE99}">
  <ds:schemaRefs>
    <ds:schemaRef ds:uri="http://schemas.microsoft.com/sharepoint/v3/contenttype/forms"/>
  </ds:schemaRefs>
</ds:datastoreItem>
</file>

<file path=docMetadata/LabelInfo.xml><?xml version="1.0" encoding="utf-8"?>
<clbl:labelList xmlns:clbl="http://schemas.microsoft.com/office/2020/mipLabelMetadata">
  <clbl:label id="{0c7fd77c-bf1b-4511-8a0d-ca095442aa9f}" enabled="1" method="Privileged" siteId="{07ef1208-413c-4b5e-9cdd-64ef305754f0}" removed="0"/>
</clbl:labelList>
</file>

<file path=docProps/app.xml><?xml version="1.0" encoding="utf-8"?>
<Properties xmlns="http://schemas.openxmlformats.org/officeDocument/2006/extended-properties" xmlns:vt="http://schemas.openxmlformats.org/officeDocument/2006/docPropsVTypes">
  <Template/>
  <TotalTime>1326</TotalTime>
  <Words>2386</Words>
  <Application>Microsoft Office PowerPoint</Application>
  <PresentationFormat>On-screen Show (4:3)</PresentationFormat>
  <Paragraphs>323</Paragraphs>
  <Slides>25</Slides>
  <Notes>24</Notes>
  <HiddenSlides>0</HiddenSlides>
  <MMClips>0</MMClips>
  <ScaleCrop>false</ScaleCrop>
  <HeadingPairs>
    <vt:vector size="6" baseType="variant">
      <vt:variant>
        <vt:lpstr>Fonts Used</vt:lpstr>
      </vt:variant>
      <vt:variant>
        <vt:i4>12</vt:i4>
      </vt:variant>
      <vt:variant>
        <vt:lpstr>Theme</vt:lpstr>
      </vt:variant>
      <vt:variant>
        <vt:i4>3</vt:i4>
      </vt:variant>
      <vt:variant>
        <vt:lpstr>Slide Titles</vt:lpstr>
      </vt:variant>
      <vt:variant>
        <vt:i4>25</vt:i4>
      </vt:variant>
    </vt:vector>
  </HeadingPairs>
  <TitlesOfParts>
    <vt:vector size="40" baseType="lpstr">
      <vt:lpstr>ＭＳ Ｐゴシック</vt:lpstr>
      <vt:lpstr>Arial</vt:lpstr>
      <vt:lpstr>Calibri</vt:lpstr>
      <vt:lpstr>Calibri Light</vt:lpstr>
      <vt:lpstr>Cambria Math</vt:lpstr>
      <vt:lpstr>Courier New</vt:lpstr>
      <vt:lpstr>Georgia</vt:lpstr>
      <vt:lpstr>Open Sans</vt:lpstr>
      <vt:lpstr>Segoe Sans</vt:lpstr>
      <vt:lpstr>Segoe UI</vt:lpstr>
      <vt:lpstr>Tahoma</vt:lpstr>
      <vt:lpstr>Wingdings</vt:lpstr>
      <vt:lpstr>Custom Design</vt:lpstr>
      <vt:lpstr>1_Custom Design</vt:lpstr>
      <vt:lpstr>Office Theme</vt:lpstr>
      <vt:lpstr>Capital Structure - Theory &amp; calculations</vt:lpstr>
      <vt:lpstr>Learning outcomes</vt:lpstr>
      <vt:lpstr>Capital Structure</vt:lpstr>
      <vt:lpstr>Different Structures</vt:lpstr>
      <vt:lpstr>Introduction to capital cost concepts</vt:lpstr>
      <vt:lpstr>Cost of Capital</vt:lpstr>
      <vt:lpstr>Cost of Capital</vt:lpstr>
      <vt:lpstr>Cost of Capital – Equity </vt:lpstr>
      <vt:lpstr>Cost of Capital – Debt </vt:lpstr>
      <vt:lpstr>Cost of Capital </vt:lpstr>
      <vt:lpstr>Cost of Capital – WACC</vt:lpstr>
      <vt:lpstr>Cost of Capital – WACC</vt:lpstr>
      <vt:lpstr>Cost of Capital – WACC</vt:lpstr>
      <vt:lpstr>Limitations of WACC</vt:lpstr>
      <vt:lpstr>Leverage &amp; Shareholder Returns</vt:lpstr>
      <vt:lpstr>Optimal Capital Structure </vt:lpstr>
      <vt:lpstr>Trade-Off Theory</vt:lpstr>
      <vt:lpstr>Strategic Implications of the Financing Mix</vt:lpstr>
      <vt:lpstr>Capital Structure: Equity vs Debt</vt:lpstr>
      <vt:lpstr>Pecking Order Theory &amp; it’s Relevance</vt:lpstr>
      <vt:lpstr>Cost of Capital</vt:lpstr>
      <vt:lpstr>Key Takeaways</vt:lpstr>
      <vt:lpstr>Additional Reading</vt:lpstr>
      <vt:lpstr>Next Week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Good Academic Practice</dc:title>
  <dc:creator/>
  <cp:lastModifiedBy>Adnan Aslam</cp:lastModifiedBy>
  <cp:revision>205</cp:revision>
  <dcterms:created xsi:type="dcterms:W3CDTF">2022-01-12T13:34:04Z</dcterms:created>
  <dcterms:modified xsi:type="dcterms:W3CDTF">2026-02-05T16:51:15Z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0x010100148B7ECDC463274FB2E9D7BD3CDC99BF</vt:lpwstr>
  </property>
  <property fmtid="{D5CDD505-2E9C-101B-9397-08002B2CF9AE}" pid="3" name="MediaServiceImageTags">
    <vt:lpwstr/>
  </property>
</Properties>
</file>