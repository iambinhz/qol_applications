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5"/>
    <p:sldMasterId id="2147483980" r:id="rId6"/>
  </p:sldMasterIdLst>
  <p:notesMasterIdLst>
    <p:notesMasterId r:id="rId32"/>
  </p:notesMasterIdLst>
  <p:handoutMasterIdLst>
    <p:handoutMasterId r:id="rId33"/>
  </p:handoutMasterIdLst>
  <p:sldIdLst>
    <p:sldId id="585" r:id="rId7"/>
    <p:sldId id="287" r:id="rId8"/>
    <p:sldId id="643" r:id="rId9"/>
    <p:sldId id="382" r:id="rId10"/>
    <p:sldId id="383" r:id="rId11"/>
    <p:sldId id="578" r:id="rId12"/>
    <p:sldId id="562" r:id="rId13"/>
    <p:sldId id="522" r:id="rId14"/>
    <p:sldId id="535" r:id="rId15"/>
    <p:sldId id="577" r:id="rId16"/>
    <p:sldId id="549" r:id="rId17"/>
    <p:sldId id="550" r:id="rId18"/>
    <p:sldId id="565" r:id="rId19"/>
    <p:sldId id="567" r:id="rId20"/>
    <p:sldId id="569" r:id="rId21"/>
    <p:sldId id="570" r:id="rId22"/>
    <p:sldId id="571" r:id="rId23"/>
    <p:sldId id="572" r:id="rId24"/>
    <p:sldId id="573" r:id="rId25"/>
    <p:sldId id="579" r:id="rId26"/>
    <p:sldId id="580" r:id="rId27"/>
    <p:sldId id="581" r:id="rId28"/>
    <p:sldId id="582" r:id="rId29"/>
    <p:sldId id="644" r:id="rId30"/>
    <p:sldId id="462" r:id="rId31"/>
  </p:sldIdLst>
  <p:sldSz cx="9144000" cy="6858000" type="screen4x3"/>
  <p:notesSz cx="6858000" cy="9144000"/>
  <p:custDataLst>
    <p:tags r:id="rId34"/>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Untitled Section" id="{4284EADD-FE41-494D-A42C-2B60CCFC2DE6}">
          <p14:sldIdLst>
            <p14:sldId id="585"/>
            <p14:sldId id="287"/>
            <p14:sldId id="643"/>
            <p14:sldId id="382"/>
            <p14:sldId id="383"/>
            <p14:sldId id="578"/>
            <p14:sldId id="562"/>
            <p14:sldId id="522"/>
            <p14:sldId id="535"/>
            <p14:sldId id="577"/>
            <p14:sldId id="549"/>
            <p14:sldId id="550"/>
            <p14:sldId id="565"/>
            <p14:sldId id="567"/>
            <p14:sldId id="569"/>
            <p14:sldId id="570"/>
            <p14:sldId id="571"/>
            <p14:sldId id="572"/>
            <p14:sldId id="573"/>
            <p14:sldId id="579"/>
            <p14:sldId id="580"/>
            <p14:sldId id="581"/>
            <p14:sldId id="582"/>
            <p14:sldId id="644"/>
            <p14:sldId id="462"/>
          </p14:sldIdLst>
        </p14:section>
      </p14:sectionLst>
    </p:ex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A9DAC"/>
    <a:srgbClr val="199DAC"/>
    <a:srgbClr val="16818D"/>
    <a:srgbClr val="1C9DAC"/>
    <a:srgbClr val="7A7392"/>
    <a:srgbClr val="598752"/>
    <a:srgbClr val="6DA463"/>
    <a:srgbClr val="A65C45"/>
    <a:srgbClr val="CC705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AFE029-3C49-4305-9C98-40C14A3F8E39}" v="141" dt="2025-08-20T15:59:13.6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48" autoAdjust="0"/>
    <p:restoredTop sz="73362" autoAdjust="0"/>
  </p:normalViewPr>
  <p:slideViewPr>
    <p:cSldViewPr showGuides="1">
      <p:cViewPr varScale="1">
        <p:scale>
          <a:sx n="81" d="100"/>
          <a:sy n="81" d="100"/>
        </p:scale>
        <p:origin x="288" y="84"/>
      </p:cViewPr>
      <p:guideLst>
        <p:guide orient="horz" pos="3838"/>
        <p:guide pos="2880"/>
        <p:guide pos="5103"/>
        <p:guide pos="65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183" d="100"/>
          <a:sy n="183" d="100"/>
        </p:scale>
        <p:origin x="208" y="3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6/11/relationships/changesInfo" Target="changesInfos/changesInfo1.xml"/><Relationship Id="rId21" Type="http://schemas.openxmlformats.org/officeDocument/2006/relationships/slide" Target="slides/slide15.xml"/><Relationship Id="rId34" Type="http://schemas.openxmlformats.org/officeDocument/2006/relationships/tags" Target="tags/tag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elza Pilgrim" userId="9b1f39d4-236b-4377-9a8d-dccbd2a774dd" providerId="ADAL" clId="{FD4B8CCE-277E-4A8D-9DED-001A3319DA66}"/>
    <pc:docChg chg="modSld">
      <pc:chgData name="Demelza Pilgrim" userId="9b1f39d4-236b-4377-9a8d-dccbd2a774dd" providerId="ADAL" clId="{FD4B8CCE-277E-4A8D-9DED-001A3319DA66}" dt="2023-11-01T11:04:37.272" v="28"/>
      <pc:docMkLst>
        <pc:docMk/>
      </pc:docMkLst>
      <pc:sldChg chg="addSp delSp modSp mod">
        <pc:chgData name="Demelza Pilgrim" userId="9b1f39d4-236b-4377-9a8d-dccbd2a774dd" providerId="ADAL" clId="{FD4B8CCE-277E-4A8D-9DED-001A3319DA66}" dt="2023-11-01T11:04:37.272" v="28"/>
        <pc:sldMkLst>
          <pc:docMk/>
          <pc:sldMk cId="1898806633" sldId="325"/>
        </pc:sldMkLst>
      </pc:sldChg>
    </pc:docChg>
  </pc:docChgLst>
  <pc:docChgLst>
    <pc:chgData name="Demelza Pilgrim" userId="9b1f39d4-236b-4377-9a8d-dccbd2a774dd" providerId="ADAL" clId="{40AFE029-3C49-4305-9C98-40C14A3F8E39}"/>
    <pc:docChg chg="custSel addSld delSld modSld sldOrd modSection">
      <pc:chgData name="Demelza Pilgrim" userId="9b1f39d4-236b-4377-9a8d-dccbd2a774dd" providerId="ADAL" clId="{40AFE029-3C49-4305-9C98-40C14A3F8E39}" dt="2025-08-20T16:00:34.856" v="358"/>
      <pc:docMkLst>
        <pc:docMk/>
      </pc:docMkLst>
      <pc:sldChg chg="del">
        <pc:chgData name="Demelza Pilgrim" userId="9b1f39d4-236b-4377-9a8d-dccbd2a774dd" providerId="ADAL" clId="{40AFE029-3C49-4305-9C98-40C14A3F8E39}" dt="2025-08-20T15:52:05.299" v="19" actId="47"/>
        <pc:sldMkLst>
          <pc:docMk/>
          <pc:sldMk cId="3764760811" sldId="256"/>
        </pc:sldMkLst>
      </pc:sldChg>
      <pc:sldChg chg="modSp add mod">
        <pc:chgData name="Demelza Pilgrim" userId="9b1f39d4-236b-4377-9a8d-dccbd2a774dd" providerId="ADAL" clId="{40AFE029-3C49-4305-9C98-40C14A3F8E39}" dt="2025-08-20T15:56:51.331" v="191" actId="20577"/>
        <pc:sldMkLst>
          <pc:docMk/>
          <pc:sldMk cId="591890035" sldId="287"/>
        </pc:sldMkLst>
        <pc:spChg chg="mod">
          <ac:chgData name="Demelza Pilgrim" userId="9b1f39d4-236b-4377-9a8d-dccbd2a774dd" providerId="ADAL" clId="{40AFE029-3C49-4305-9C98-40C14A3F8E39}" dt="2025-08-20T15:56:51.331" v="191" actId="20577"/>
          <ac:spMkLst>
            <pc:docMk/>
            <pc:sldMk cId="591890035" sldId="287"/>
            <ac:spMk id="3" creationId="{FF9B3823-0605-807A-5635-4865E10F2BE4}"/>
          </ac:spMkLst>
        </pc:spChg>
      </pc:sldChg>
      <pc:sldChg chg="del">
        <pc:chgData name="Demelza Pilgrim" userId="9b1f39d4-236b-4377-9a8d-dccbd2a774dd" providerId="ADAL" clId="{40AFE029-3C49-4305-9C98-40C14A3F8E39}" dt="2025-08-20T15:58:48.206" v="329" actId="47"/>
        <pc:sldMkLst>
          <pc:docMk/>
          <pc:sldMk cId="1898806633" sldId="325"/>
        </pc:sldMkLst>
      </pc:sldChg>
      <pc:sldChg chg="modSp mod">
        <pc:chgData name="Demelza Pilgrim" userId="9b1f39d4-236b-4377-9a8d-dccbd2a774dd" providerId="ADAL" clId="{40AFE029-3C49-4305-9C98-40C14A3F8E39}" dt="2025-08-20T15:45:47.593" v="16" actId="20577"/>
        <pc:sldMkLst>
          <pc:docMk/>
          <pc:sldMk cId="2434492106" sldId="382"/>
        </pc:sldMkLst>
        <pc:spChg chg="mod">
          <ac:chgData name="Demelza Pilgrim" userId="9b1f39d4-236b-4377-9a8d-dccbd2a774dd" providerId="ADAL" clId="{40AFE029-3C49-4305-9C98-40C14A3F8E39}" dt="2025-08-20T15:45:47.593" v="16" actId="20577"/>
          <ac:spMkLst>
            <pc:docMk/>
            <pc:sldMk cId="2434492106" sldId="382"/>
            <ac:spMk id="2" creationId="{00000000-0000-0000-0000-000000000000}"/>
          </ac:spMkLst>
        </pc:spChg>
      </pc:sldChg>
      <pc:sldChg chg="modSp mod">
        <pc:chgData name="Demelza Pilgrim" userId="9b1f39d4-236b-4377-9a8d-dccbd2a774dd" providerId="ADAL" clId="{40AFE029-3C49-4305-9C98-40C14A3F8E39}" dt="2025-08-20T15:45:41.923" v="9" actId="20577"/>
        <pc:sldMkLst>
          <pc:docMk/>
          <pc:sldMk cId="2167367326" sldId="383"/>
        </pc:sldMkLst>
        <pc:spChg chg="mod">
          <ac:chgData name="Demelza Pilgrim" userId="9b1f39d4-236b-4377-9a8d-dccbd2a774dd" providerId="ADAL" clId="{40AFE029-3C49-4305-9C98-40C14A3F8E39}" dt="2025-08-20T15:45:41.923" v="9" actId="20577"/>
          <ac:spMkLst>
            <pc:docMk/>
            <pc:sldMk cId="2167367326" sldId="383"/>
            <ac:spMk id="2" creationId="{00000000-0000-0000-0000-000000000000}"/>
          </ac:spMkLst>
        </pc:spChg>
      </pc:sldChg>
      <pc:sldChg chg="del">
        <pc:chgData name="Demelza Pilgrim" userId="9b1f39d4-236b-4377-9a8d-dccbd2a774dd" providerId="ADAL" clId="{40AFE029-3C49-4305-9C98-40C14A3F8E39}" dt="2025-08-20T15:45:23.212" v="0" actId="47"/>
        <pc:sldMkLst>
          <pc:docMk/>
          <pc:sldMk cId="378240429" sldId="385"/>
        </pc:sldMkLst>
      </pc:sldChg>
      <pc:sldChg chg="del">
        <pc:chgData name="Demelza Pilgrim" userId="9b1f39d4-236b-4377-9a8d-dccbd2a774dd" providerId="ADAL" clId="{40AFE029-3C49-4305-9C98-40C14A3F8E39}" dt="2025-08-20T15:45:55.271" v="17" actId="47"/>
        <pc:sldMkLst>
          <pc:docMk/>
          <pc:sldMk cId="3109084899" sldId="425"/>
        </pc:sldMkLst>
      </pc:sldChg>
      <pc:sldChg chg="modSp add mod">
        <pc:chgData name="Demelza Pilgrim" userId="9b1f39d4-236b-4377-9a8d-dccbd2a774dd" providerId="ADAL" clId="{40AFE029-3C49-4305-9C98-40C14A3F8E39}" dt="2025-08-20T16:00:04.107" v="354" actId="20577"/>
        <pc:sldMkLst>
          <pc:docMk/>
          <pc:sldMk cId="1668558411" sldId="462"/>
        </pc:sldMkLst>
        <pc:spChg chg="mod">
          <ac:chgData name="Demelza Pilgrim" userId="9b1f39d4-236b-4377-9a8d-dccbd2a774dd" providerId="ADAL" clId="{40AFE029-3C49-4305-9C98-40C14A3F8E39}" dt="2025-08-20T16:00:04.107" v="354" actId="20577"/>
          <ac:spMkLst>
            <pc:docMk/>
            <pc:sldMk cId="1668558411" sldId="462"/>
            <ac:spMk id="3" creationId="{7393D38A-6D63-08BB-0FBC-2882D1231479}"/>
          </ac:spMkLst>
        </pc:spChg>
      </pc:sldChg>
      <pc:sldChg chg="ord">
        <pc:chgData name="Demelza Pilgrim" userId="9b1f39d4-236b-4377-9a8d-dccbd2a774dd" providerId="ADAL" clId="{40AFE029-3C49-4305-9C98-40C14A3F8E39}" dt="2025-08-20T16:00:34.856" v="358"/>
        <pc:sldMkLst>
          <pc:docMk/>
          <pc:sldMk cId="2830346067" sldId="572"/>
        </pc:sldMkLst>
      </pc:sldChg>
      <pc:sldChg chg="ord">
        <pc:chgData name="Demelza Pilgrim" userId="9b1f39d4-236b-4377-9a8d-dccbd2a774dd" providerId="ADAL" clId="{40AFE029-3C49-4305-9C98-40C14A3F8E39}" dt="2025-08-20T16:00:34.856" v="358"/>
        <pc:sldMkLst>
          <pc:docMk/>
          <pc:sldMk cId="3790077308" sldId="573"/>
        </pc:sldMkLst>
      </pc:sldChg>
      <pc:sldChg chg="del">
        <pc:chgData name="Demelza Pilgrim" userId="9b1f39d4-236b-4377-9a8d-dccbd2a774dd" providerId="ADAL" clId="{40AFE029-3C49-4305-9C98-40C14A3F8E39}" dt="2025-08-20T15:45:35.071" v="1" actId="47"/>
        <pc:sldMkLst>
          <pc:docMk/>
          <pc:sldMk cId="1020445196" sldId="583"/>
        </pc:sldMkLst>
      </pc:sldChg>
      <pc:sldChg chg="del">
        <pc:chgData name="Demelza Pilgrim" userId="9b1f39d4-236b-4377-9a8d-dccbd2a774dd" providerId="ADAL" clId="{40AFE029-3C49-4305-9C98-40C14A3F8E39}" dt="2025-08-20T15:59:23.821" v="340" actId="47"/>
        <pc:sldMkLst>
          <pc:docMk/>
          <pc:sldMk cId="1046906250" sldId="584"/>
        </pc:sldMkLst>
      </pc:sldChg>
      <pc:sldChg chg="modSp add mod">
        <pc:chgData name="Demelza Pilgrim" userId="9b1f39d4-236b-4377-9a8d-dccbd2a774dd" providerId="ADAL" clId="{40AFE029-3C49-4305-9C98-40C14A3F8E39}" dt="2025-08-20T15:52:22.478" v="59" actId="20577"/>
        <pc:sldMkLst>
          <pc:docMk/>
          <pc:sldMk cId="2225328066" sldId="585"/>
        </pc:sldMkLst>
        <pc:spChg chg="mod">
          <ac:chgData name="Demelza Pilgrim" userId="9b1f39d4-236b-4377-9a8d-dccbd2a774dd" providerId="ADAL" clId="{40AFE029-3C49-4305-9C98-40C14A3F8E39}" dt="2025-08-20T15:52:22.478" v="59" actId="20577"/>
          <ac:spMkLst>
            <pc:docMk/>
            <pc:sldMk cId="2225328066" sldId="585"/>
            <ac:spMk id="2" creationId="{60EF4C6A-CA2E-4C35-8BA5-916C10203F2E}"/>
          </ac:spMkLst>
        </pc:spChg>
      </pc:sldChg>
      <pc:sldChg chg="modSp add modNotesTx">
        <pc:chgData name="Demelza Pilgrim" userId="9b1f39d4-236b-4377-9a8d-dccbd2a774dd" providerId="ADAL" clId="{40AFE029-3C49-4305-9C98-40C14A3F8E39}" dt="2025-08-20T15:58:44.614" v="328" actId="6549"/>
        <pc:sldMkLst>
          <pc:docMk/>
          <pc:sldMk cId="0" sldId="643"/>
        </pc:sldMkLst>
        <pc:graphicFrameChg chg="mod">
          <ac:chgData name="Demelza Pilgrim" userId="9b1f39d4-236b-4377-9a8d-dccbd2a774dd" providerId="ADAL" clId="{40AFE029-3C49-4305-9C98-40C14A3F8E39}" dt="2025-08-20T15:58:40.397" v="327" actId="20577"/>
          <ac:graphicFrameMkLst>
            <pc:docMk/>
            <pc:sldMk cId="0" sldId="643"/>
            <ac:graphicFrameMk id="13315" creationId="{C2855CC1-6974-FD0F-632A-C97A1652BB10}"/>
          </ac:graphicFrameMkLst>
        </pc:graphicFrameChg>
      </pc:sldChg>
      <pc:sldChg chg="modSp add mod">
        <pc:chgData name="Demelza Pilgrim" userId="9b1f39d4-236b-4377-9a8d-dccbd2a774dd" providerId="ADAL" clId="{40AFE029-3C49-4305-9C98-40C14A3F8E39}" dt="2025-08-20T15:59:02.715" v="338" actId="20577"/>
        <pc:sldMkLst>
          <pc:docMk/>
          <pc:sldMk cId="837165653" sldId="644"/>
        </pc:sldMkLst>
        <pc:spChg chg="mod">
          <ac:chgData name="Demelza Pilgrim" userId="9b1f39d4-236b-4377-9a8d-dccbd2a774dd" providerId="ADAL" clId="{40AFE029-3C49-4305-9C98-40C14A3F8E39}" dt="2025-08-20T15:59:02.715" v="338" actId="20577"/>
          <ac:spMkLst>
            <pc:docMk/>
            <pc:sldMk cId="837165653" sldId="644"/>
            <ac:spMk id="13319" creationId="{11A84ACF-B895-2F86-8DD1-355E38827746}"/>
          </ac:spMkLst>
        </pc:spChg>
      </pc:sldChg>
    </pc:docChg>
  </pc:docChgLst>
  <pc:docChgLst>
    <pc:chgData name="Demelza Pilgrim" userId="9b1f39d4-236b-4377-9a8d-dccbd2a774dd" providerId="ADAL" clId="{3481184A-2490-42FC-A078-47A5A05668FE}"/>
    <pc:docChg chg="custSel modSld modNotesMaster modHandout">
      <pc:chgData name="Demelza Pilgrim" userId="9b1f39d4-236b-4377-9a8d-dccbd2a774dd" providerId="ADAL" clId="{3481184A-2490-42FC-A078-47A5A05668FE}" dt="2024-10-31T13:20:49.848" v="641"/>
      <pc:docMkLst>
        <pc:docMk/>
      </pc:docMkLst>
      <pc:sldChg chg="modSp mod">
        <pc:chgData name="Demelza Pilgrim" userId="9b1f39d4-236b-4377-9a8d-dccbd2a774dd" providerId="ADAL" clId="{3481184A-2490-42FC-A078-47A5A05668FE}" dt="2024-10-14T14:22:06.797" v="1" actId="20577"/>
        <pc:sldMkLst>
          <pc:docMk/>
          <pc:sldMk cId="3764760811" sldId="256"/>
        </pc:sldMkLst>
      </pc:sldChg>
      <pc:sldChg chg="modSp mod">
        <pc:chgData name="Demelza Pilgrim" userId="9b1f39d4-236b-4377-9a8d-dccbd2a774dd" providerId="ADAL" clId="{3481184A-2490-42FC-A078-47A5A05668FE}" dt="2024-10-28T11:57:42.436" v="615" actId="20577"/>
        <pc:sldMkLst>
          <pc:docMk/>
          <pc:sldMk cId="1898806633" sldId="325"/>
        </pc:sldMkLst>
      </pc:sldChg>
      <pc:sldChg chg="modSp mod">
        <pc:chgData name="Demelza Pilgrim" userId="9b1f39d4-236b-4377-9a8d-dccbd2a774dd" providerId="ADAL" clId="{3481184A-2490-42FC-A078-47A5A05668FE}" dt="2024-10-28T12:53:20.459" v="618" actId="1076"/>
        <pc:sldMkLst>
          <pc:docMk/>
          <pc:sldMk cId="3109084899" sldId="425"/>
        </pc:sldMkLst>
      </pc:sldChg>
      <pc:sldChg chg="addSp modSp mod modNotesTx">
        <pc:chgData name="Demelza Pilgrim" userId="9b1f39d4-236b-4377-9a8d-dccbd2a774dd" providerId="ADAL" clId="{3481184A-2490-42FC-A078-47A5A05668FE}" dt="2024-10-14T14:49:44.751" v="597" actId="6549"/>
        <pc:sldMkLst>
          <pc:docMk/>
          <pc:sldMk cId="324172787" sldId="522"/>
        </pc:sldMkLst>
      </pc:sldChg>
      <pc:sldChg chg="modNotes modNotesTx">
        <pc:chgData name="Demelza Pilgrim" userId="9b1f39d4-236b-4377-9a8d-dccbd2a774dd" providerId="ADAL" clId="{3481184A-2490-42FC-A078-47A5A05668FE}" dt="2024-10-28T13:01:12.095" v="639" actId="20577"/>
        <pc:sldMkLst>
          <pc:docMk/>
          <pc:sldMk cId="2568894021" sldId="549"/>
        </pc:sldMkLst>
      </pc:sldChg>
      <pc:sldChg chg="modSp">
        <pc:chgData name="Demelza Pilgrim" userId="9b1f39d4-236b-4377-9a8d-dccbd2a774dd" providerId="ADAL" clId="{3481184A-2490-42FC-A078-47A5A05668FE}" dt="2024-10-28T13:04:12.342" v="640" actId="20577"/>
        <pc:sldMkLst>
          <pc:docMk/>
          <pc:sldMk cId="448459213" sldId="550"/>
        </pc:sldMkLst>
      </pc:sldChg>
      <pc:sldChg chg="modNotes modNotesTx">
        <pc:chgData name="Demelza Pilgrim" userId="9b1f39d4-236b-4377-9a8d-dccbd2a774dd" providerId="ADAL" clId="{3481184A-2490-42FC-A078-47A5A05668FE}" dt="2024-10-28T12:51:35.025" v="617"/>
        <pc:sldMkLst>
          <pc:docMk/>
          <pc:sldMk cId="1396578004" sldId="577"/>
        </pc:sldMkLst>
      </pc:sldChg>
      <pc:sldChg chg="modSp mod">
        <pc:chgData name="Demelza Pilgrim" userId="9b1f39d4-236b-4377-9a8d-dccbd2a774dd" providerId="ADAL" clId="{3481184A-2490-42FC-A078-47A5A05668FE}" dt="2024-10-14T14:59:32.525" v="613" actId="1076"/>
        <pc:sldMkLst>
          <pc:docMk/>
          <pc:sldMk cId="1046906250" sldId="584"/>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5D820D-3F6A-4169-933B-89B3B07AC473}"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EDEBDDA8-C6BE-41AD-9C88-6DCC29B9FC6B}">
      <dgm:prSet custT="1"/>
      <dgm:spPr/>
      <dgm:t>
        <a:bodyPr/>
        <a:lstStyle/>
        <a:p>
          <a:pPr>
            <a:lnSpc>
              <a:spcPct val="100000"/>
            </a:lnSpc>
          </a:pPr>
          <a:r>
            <a:rPr lang="en-GB" sz="1600" dirty="0"/>
            <a:t>What is equity</a:t>
          </a:r>
          <a:endParaRPr lang="en-US" sz="1600" dirty="0">
            <a:latin typeface="Arial" panose="020B0604020202020204" pitchFamily="34" charset="0"/>
            <a:cs typeface="Arial" panose="020B0604020202020204" pitchFamily="34" charset="0"/>
          </a:endParaRPr>
        </a:p>
      </dgm:t>
    </dgm:pt>
    <dgm:pt modelId="{B9154201-B759-466A-B062-DA0D74D8BD6C}" type="parTrans" cxnId="{B75E0ABB-BBC1-48E4-8C86-96B2B612EFF0}">
      <dgm:prSet/>
      <dgm:spPr/>
      <dgm:t>
        <a:bodyPr/>
        <a:lstStyle/>
        <a:p>
          <a:endParaRPr lang="en-US"/>
        </a:p>
      </dgm:t>
    </dgm:pt>
    <dgm:pt modelId="{70076E80-E76B-4BBC-A0F0-817393568234}" type="sibTrans" cxnId="{B75E0ABB-BBC1-48E4-8C86-96B2B612EFF0}">
      <dgm:prSet/>
      <dgm:spPr/>
      <dgm:t>
        <a:bodyPr/>
        <a:lstStyle/>
        <a:p>
          <a:endParaRPr lang="en-US"/>
        </a:p>
      </dgm:t>
    </dgm:pt>
    <dgm:pt modelId="{6FCEFAE3-8161-433C-96FD-675211A5634D}">
      <dgm:prSet custT="1"/>
      <dgm:spPr>
        <a:noFill/>
        <a:ln>
          <a:noFill/>
        </a:ln>
        <a:effectLst/>
      </dgm:spPr>
      <dgm:t>
        <a:bodyPr spcFirstLastPara="0" vert="horz" wrap="square" lIns="75770" tIns="75770" rIns="75770" bIns="75770" numCol="1" spcCol="1270" anchor="ctr" anchorCtr="0"/>
        <a:lstStyle/>
        <a:p>
          <a:pPr marL="0" lvl="0" indent="0" algn="l" defTabSz="844550">
            <a:lnSpc>
              <a:spcPct val="100000"/>
            </a:lnSpc>
            <a:spcBef>
              <a:spcPct val="0"/>
            </a:spcBef>
            <a:spcAft>
              <a:spcPct val="35000"/>
            </a:spcAft>
            <a:buNone/>
          </a:pPr>
          <a:r>
            <a:rPr lang="en-GB" sz="1600" kern="1200" dirty="0"/>
            <a:t>Calculations surrounding share value (using DDM)</a:t>
          </a:r>
          <a:endParaRPr lang="en-US" sz="1600" kern="1200" dirty="0">
            <a:solidFill>
              <a:prstClr val="black">
                <a:hueOff val="0"/>
                <a:satOff val="0"/>
                <a:lumOff val="0"/>
                <a:alphaOff val="0"/>
              </a:prstClr>
            </a:solidFill>
            <a:latin typeface="Calibri"/>
            <a:ea typeface="+mn-ea"/>
            <a:cs typeface="+mn-cs"/>
          </a:endParaRPr>
        </a:p>
      </dgm:t>
    </dgm:pt>
    <dgm:pt modelId="{E86817DB-1B76-45C8-82CF-C2BE7F451B71}" type="parTrans" cxnId="{2C813CBA-5909-427A-809B-31A305DAEF20}">
      <dgm:prSet/>
      <dgm:spPr/>
      <dgm:t>
        <a:bodyPr/>
        <a:lstStyle/>
        <a:p>
          <a:endParaRPr lang="en-US"/>
        </a:p>
      </dgm:t>
    </dgm:pt>
    <dgm:pt modelId="{081FE379-0C72-4144-B3F0-AC4E41F2EAA0}" type="sibTrans" cxnId="{2C813CBA-5909-427A-809B-31A305DAEF20}">
      <dgm:prSet/>
      <dgm:spPr/>
      <dgm:t>
        <a:bodyPr/>
        <a:lstStyle/>
        <a:p>
          <a:endParaRPr lang="en-US"/>
        </a:p>
      </dgm:t>
    </dgm:pt>
    <dgm:pt modelId="{0B7FDDFD-655F-4966-93A7-ACED2D6758D8}">
      <dgm:prSet custT="1"/>
      <dgm:spPr/>
      <dgm:t>
        <a:bodyPr/>
        <a:lstStyle/>
        <a:p>
          <a:pPr marL="0" lvl="0" indent="0" algn="l" defTabSz="844550">
            <a:lnSpc>
              <a:spcPct val="100000"/>
            </a:lnSpc>
            <a:spcBef>
              <a:spcPct val="0"/>
            </a:spcBef>
            <a:spcAft>
              <a:spcPct val="35000"/>
            </a:spcAft>
            <a:buNone/>
          </a:pPr>
          <a:r>
            <a:rPr lang="en-US" sz="1600" kern="1200" dirty="0">
              <a:solidFill>
                <a:prstClr val="black">
                  <a:hueOff val="0"/>
                  <a:satOff val="0"/>
                  <a:lumOff val="0"/>
                  <a:alphaOff val="0"/>
                </a:prstClr>
              </a:solidFill>
              <a:latin typeface="Calibri"/>
              <a:ea typeface="+mn-ea"/>
              <a:cs typeface="+mn-cs"/>
            </a:rPr>
            <a:t>Understanding Rights issues and calculations</a:t>
          </a:r>
          <a:endParaRPr lang="en-GB" sz="1600" kern="1200" dirty="0">
            <a:solidFill>
              <a:prstClr val="black">
                <a:hueOff val="0"/>
                <a:satOff val="0"/>
                <a:lumOff val="0"/>
                <a:alphaOff val="0"/>
              </a:prstClr>
            </a:solidFill>
            <a:latin typeface="Calibri"/>
            <a:ea typeface="+mn-ea"/>
            <a:cs typeface="+mn-cs"/>
          </a:endParaRPr>
        </a:p>
      </dgm:t>
    </dgm:pt>
    <dgm:pt modelId="{258CD603-77CE-4064-9B6B-534C5EBBC6DC}" type="parTrans" cxnId="{9C223AC8-BE62-4707-A47E-7DBCDE2CFA92}">
      <dgm:prSet/>
      <dgm:spPr/>
      <dgm:t>
        <a:bodyPr/>
        <a:lstStyle/>
        <a:p>
          <a:endParaRPr lang="en-US"/>
        </a:p>
      </dgm:t>
    </dgm:pt>
    <dgm:pt modelId="{83F64753-43F2-43F3-80A6-21115A980F6B}" type="sibTrans" cxnId="{9C223AC8-BE62-4707-A47E-7DBCDE2CFA92}">
      <dgm:prSet/>
      <dgm:spPr/>
      <dgm:t>
        <a:bodyPr/>
        <a:lstStyle/>
        <a:p>
          <a:endParaRPr lang="en-US"/>
        </a:p>
      </dgm:t>
    </dgm:pt>
    <dgm:pt modelId="{8F3D7864-A67E-4980-8EEC-F096E4A5A33B}">
      <dgm:prSet custT="1"/>
      <dgm:spPr/>
      <dgm:t>
        <a:bodyPr/>
        <a:lstStyle/>
        <a:p>
          <a:pPr marL="0" lvl="0" indent="0" algn="l" defTabSz="844550">
            <a:lnSpc>
              <a:spcPct val="100000"/>
            </a:lnSpc>
            <a:spcBef>
              <a:spcPct val="0"/>
            </a:spcBef>
            <a:spcAft>
              <a:spcPct val="35000"/>
            </a:spcAft>
            <a:buNone/>
          </a:pPr>
          <a:r>
            <a:rPr lang="en-GB" sz="1600" kern="1200" dirty="0"/>
            <a:t>Types of shares</a:t>
          </a:r>
          <a:endParaRPr lang="en-US" sz="1600" kern="1200" dirty="0">
            <a:solidFill>
              <a:prstClr val="black">
                <a:hueOff val="0"/>
                <a:satOff val="0"/>
                <a:lumOff val="0"/>
                <a:alphaOff val="0"/>
              </a:prstClr>
            </a:solidFill>
            <a:latin typeface="Segoe Sans"/>
            <a:ea typeface="+mn-ea"/>
            <a:cs typeface="+mn-cs"/>
          </a:endParaRPr>
        </a:p>
      </dgm:t>
    </dgm:pt>
    <dgm:pt modelId="{148FEDAC-1DFF-4A8C-B751-90B79D2B38D7}" type="sibTrans" cxnId="{D3F1B6B4-CFFA-4F0C-8151-F35EFDF0B8BB}">
      <dgm:prSet/>
      <dgm:spPr/>
      <dgm:t>
        <a:bodyPr/>
        <a:lstStyle/>
        <a:p>
          <a:endParaRPr lang="en-US"/>
        </a:p>
      </dgm:t>
    </dgm:pt>
    <dgm:pt modelId="{9F1A70AA-84AE-4B3D-8E2C-3BD6C668A859}" type="parTrans" cxnId="{D3F1B6B4-CFFA-4F0C-8151-F35EFDF0B8BB}">
      <dgm:prSet/>
      <dgm:spPr/>
      <dgm:t>
        <a:bodyPr/>
        <a:lstStyle/>
        <a:p>
          <a:endParaRPr lang="en-US"/>
        </a:p>
      </dgm:t>
    </dgm:pt>
    <dgm:pt modelId="{262CDA82-1192-443A-AA18-C2D1343BD67D}" type="pres">
      <dgm:prSet presAssocID="{635D820D-3F6A-4169-933B-89B3B07AC473}" presName="root" presStyleCnt="0">
        <dgm:presLayoutVars>
          <dgm:dir/>
          <dgm:resizeHandles val="exact"/>
        </dgm:presLayoutVars>
      </dgm:prSet>
      <dgm:spPr/>
    </dgm:pt>
    <dgm:pt modelId="{103A7B21-BA1E-4E44-B158-72F7A07E09F7}" type="pres">
      <dgm:prSet presAssocID="{EDEBDDA8-C6BE-41AD-9C88-6DCC29B9FC6B}" presName="compNode" presStyleCnt="0"/>
      <dgm:spPr/>
    </dgm:pt>
    <dgm:pt modelId="{B69CCFB0-6C1F-4790-8677-D5F70B93E05D}" type="pres">
      <dgm:prSet presAssocID="{EDEBDDA8-C6BE-41AD-9C88-6DCC29B9FC6B}" presName="bgRect" presStyleLbl="bgShp" presStyleIdx="0" presStyleCnt="4"/>
      <dgm:spPr/>
    </dgm:pt>
    <dgm:pt modelId="{6AE7B6DA-DCF0-4941-B35E-FED592CAD9C7}" type="pres">
      <dgm:prSet presAssocID="{EDEBDDA8-C6BE-41AD-9C88-6DCC29B9FC6B}"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oardroom with solid fill"/>
        </a:ext>
      </dgm:extLst>
    </dgm:pt>
    <dgm:pt modelId="{29FE1B13-E724-485C-A200-D60CBEE67033}" type="pres">
      <dgm:prSet presAssocID="{EDEBDDA8-C6BE-41AD-9C88-6DCC29B9FC6B}" presName="spaceRect" presStyleCnt="0"/>
      <dgm:spPr/>
    </dgm:pt>
    <dgm:pt modelId="{B7AF9EC2-7666-4444-BBD8-9355F2C63196}" type="pres">
      <dgm:prSet presAssocID="{EDEBDDA8-C6BE-41AD-9C88-6DCC29B9FC6B}" presName="parTx" presStyleLbl="revTx" presStyleIdx="0" presStyleCnt="4" custLinFactNeighborX="-408" custLinFactNeighborY="-197">
        <dgm:presLayoutVars>
          <dgm:chMax val="0"/>
          <dgm:chPref val="0"/>
        </dgm:presLayoutVars>
      </dgm:prSet>
      <dgm:spPr/>
    </dgm:pt>
    <dgm:pt modelId="{D5A2CA2C-F765-4434-A84E-2FD85DAF1E86}" type="pres">
      <dgm:prSet presAssocID="{70076E80-E76B-4BBC-A0F0-817393568234}" presName="sibTrans" presStyleCnt="0"/>
      <dgm:spPr/>
    </dgm:pt>
    <dgm:pt modelId="{E514EAFE-FC11-4B3F-8013-4D4292B72485}" type="pres">
      <dgm:prSet presAssocID="{8F3D7864-A67E-4980-8EEC-F096E4A5A33B}" presName="compNode" presStyleCnt="0"/>
      <dgm:spPr/>
    </dgm:pt>
    <dgm:pt modelId="{61B30C71-B6B1-4EDB-8941-25699A6AA799}" type="pres">
      <dgm:prSet presAssocID="{8F3D7864-A67E-4980-8EEC-F096E4A5A33B}" presName="bgRect" presStyleLbl="bgShp" presStyleIdx="1" presStyleCnt="4"/>
      <dgm:spPr/>
    </dgm:pt>
    <dgm:pt modelId="{06FD45ED-93A9-4CB5-BBC6-41722BB2CC37}" type="pres">
      <dgm:prSet presAssocID="{8F3D7864-A67E-4980-8EEC-F096E4A5A33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arget Audience with solid fill"/>
        </a:ext>
      </dgm:extLst>
    </dgm:pt>
    <dgm:pt modelId="{9B4B4641-26DA-4FEC-B665-84241DB0B22C}" type="pres">
      <dgm:prSet presAssocID="{8F3D7864-A67E-4980-8EEC-F096E4A5A33B}" presName="spaceRect" presStyleCnt="0"/>
      <dgm:spPr/>
    </dgm:pt>
    <dgm:pt modelId="{48B4CC27-4AE8-44EB-98DC-4F45EE52C0EB}" type="pres">
      <dgm:prSet presAssocID="{8F3D7864-A67E-4980-8EEC-F096E4A5A33B}" presName="parTx" presStyleLbl="revTx" presStyleIdx="1" presStyleCnt="4" custLinFactNeighborX="-461" custLinFactNeighborY="-14686">
        <dgm:presLayoutVars>
          <dgm:chMax val="0"/>
          <dgm:chPref val="0"/>
        </dgm:presLayoutVars>
      </dgm:prSet>
      <dgm:spPr/>
    </dgm:pt>
    <dgm:pt modelId="{F684393D-6534-4779-B93F-403378B5349D}" type="pres">
      <dgm:prSet presAssocID="{148FEDAC-1DFF-4A8C-B751-90B79D2B38D7}" presName="sibTrans" presStyleCnt="0"/>
      <dgm:spPr/>
    </dgm:pt>
    <dgm:pt modelId="{0ED59449-DEDB-47C9-87BE-C02FF337188B}" type="pres">
      <dgm:prSet presAssocID="{6FCEFAE3-8161-433C-96FD-675211A5634D}" presName="compNode" presStyleCnt="0"/>
      <dgm:spPr/>
    </dgm:pt>
    <dgm:pt modelId="{D9483691-DD36-405D-BB66-9F59F2F1E989}" type="pres">
      <dgm:prSet presAssocID="{6FCEFAE3-8161-433C-96FD-675211A5634D}" presName="bgRect" presStyleLbl="bgShp" presStyleIdx="2" presStyleCnt="4" custLinFactNeighborY="2954"/>
      <dgm:spPr/>
    </dgm:pt>
    <dgm:pt modelId="{5E20F1DA-74F8-4710-885C-433C2757E97E}" type="pres">
      <dgm:prSet presAssocID="{6FCEFAE3-8161-433C-96FD-675211A5634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ser network with solid fill"/>
        </a:ext>
      </dgm:extLst>
    </dgm:pt>
    <dgm:pt modelId="{1B73FCB2-5DE4-4B2F-A030-B78C1995B2EB}" type="pres">
      <dgm:prSet presAssocID="{6FCEFAE3-8161-433C-96FD-675211A5634D}" presName="spaceRect" presStyleCnt="0"/>
      <dgm:spPr/>
    </dgm:pt>
    <dgm:pt modelId="{D6AAB94E-82BD-4674-9EC8-70CF34F5480A}" type="pres">
      <dgm:prSet presAssocID="{6FCEFAE3-8161-433C-96FD-675211A5634D}" presName="parTx" presStyleLbl="revTx" presStyleIdx="2" presStyleCnt="4" custLinFactNeighborY="-18874">
        <dgm:presLayoutVars>
          <dgm:chMax val="0"/>
          <dgm:chPref val="0"/>
        </dgm:presLayoutVars>
      </dgm:prSet>
      <dgm:spPr>
        <a:xfrm>
          <a:off x="826912" y="1656139"/>
          <a:ext cx="6805935" cy="715941"/>
        </a:xfrm>
        <a:prstGeom prst="rect">
          <a:avLst/>
        </a:prstGeom>
      </dgm:spPr>
    </dgm:pt>
    <dgm:pt modelId="{92BD4CB9-700E-4D5A-8EBF-0A5B80174042}" type="pres">
      <dgm:prSet presAssocID="{081FE379-0C72-4144-B3F0-AC4E41F2EAA0}" presName="sibTrans" presStyleCnt="0"/>
      <dgm:spPr/>
    </dgm:pt>
    <dgm:pt modelId="{131DC94B-195B-497B-9296-A32FBF036EC7}" type="pres">
      <dgm:prSet presAssocID="{0B7FDDFD-655F-4966-93A7-ACED2D6758D8}" presName="compNode" presStyleCnt="0"/>
      <dgm:spPr/>
    </dgm:pt>
    <dgm:pt modelId="{CF075505-E8EA-4669-BABA-401DC8E15F63}" type="pres">
      <dgm:prSet presAssocID="{0B7FDDFD-655F-4966-93A7-ACED2D6758D8}" presName="bgRect" presStyleLbl="bgShp" presStyleIdx="3" presStyleCnt="4" custLinFactNeighborX="-109" custLinFactNeighborY="7790"/>
      <dgm:spPr/>
    </dgm:pt>
    <dgm:pt modelId="{20AA3712-49CF-4236-AB50-E8F4285D1C0B}" type="pres">
      <dgm:prSet presAssocID="{0B7FDDFD-655F-4966-93A7-ACED2D6758D8}" presName="iconRect" presStyleLbl="node1" presStyleIdx="3" presStyleCnt="4" custLinFactNeighborX="-139" custLinFactNeighborY="-36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esk with solid fill"/>
        </a:ext>
      </dgm:extLst>
    </dgm:pt>
    <dgm:pt modelId="{2B860609-9F78-462C-A57A-62C3C1BEF49A}" type="pres">
      <dgm:prSet presAssocID="{0B7FDDFD-655F-4966-93A7-ACED2D6758D8}" presName="spaceRect" presStyleCnt="0"/>
      <dgm:spPr/>
    </dgm:pt>
    <dgm:pt modelId="{0AE4A487-9A78-4477-AD2C-F1EA03B28256}" type="pres">
      <dgm:prSet presAssocID="{0B7FDDFD-655F-4966-93A7-ACED2D6758D8}" presName="parTx" presStyleLbl="revTx" presStyleIdx="3" presStyleCnt="4" custScaleX="95490" custLinFactNeighborX="-1873" custLinFactNeighborY="-2251">
        <dgm:presLayoutVars>
          <dgm:chMax val="0"/>
          <dgm:chPref val="0"/>
        </dgm:presLayoutVars>
      </dgm:prSet>
      <dgm:spPr/>
    </dgm:pt>
  </dgm:ptLst>
  <dgm:cxnLst>
    <dgm:cxn modelId="{075EE424-D9B4-4E46-9665-4C6F4605B129}" type="presOf" srcId="{0B7FDDFD-655F-4966-93A7-ACED2D6758D8}" destId="{0AE4A487-9A78-4477-AD2C-F1EA03B28256}" srcOrd="0" destOrd="0" presId="urn:microsoft.com/office/officeart/2018/2/layout/IconVerticalSolidList"/>
    <dgm:cxn modelId="{0D9EBC52-F8D5-4A84-99DA-3C84F70E032E}" type="presOf" srcId="{8F3D7864-A67E-4980-8EEC-F096E4A5A33B}" destId="{48B4CC27-4AE8-44EB-98DC-4F45EE52C0EB}" srcOrd="0" destOrd="0" presId="urn:microsoft.com/office/officeart/2018/2/layout/IconVerticalSolidList"/>
    <dgm:cxn modelId="{4F1F945A-D164-481A-9009-F98C2D505015}" type="presOf" srcId="{6FCEFAE3-8161-433C-96FD-675211A5634D}" destId="{D6AAB94E-82BD-4674-9EC8-70CF34F5480A}" srcOrd="0" destOrd="0" presId="urn:microsoft.com/office/officeart/2018/2/layout/IconVerticalSolidList"/>
    <dgm:cxn modelId="{33868E94-7799-41F0-B23B-1D6D3C531263}" type="presOf" srcId="{EDEBDDA8-C6BE-41AD-9C88-6DCC29B9FC6B}" destId="{B7AF9EC2-7666-4444-BBD8-9355F2C63196}" srcOrd="0" destOrd="0" presId="urn:microsoft.com/office/officeart/2018/2/layout/IconVerticalSolidList"/>
    <dgm:cxn modelId="{1FCE48A7-2CA1-4F98-9830-092517DC53B3}" type="presOf" srcId="{635D820D-3F6A-4169-933B-89B3B07AC473}" destId="{262CDA82-1192-443A-AA18-C2D1343BD67D}" srcOrd="0" destOrd="0" presId="urn:microsoft.com/office/officeart/2018/2/layout/IconVerticalSolidList"/>
    <dgm:cxn modelId="{D3F1B6B4-CFFA-4F0C-8151-F35EFDF0B8BB}" srcId="{635D820D-3F6A-4169-933B-89B3B07AC473}" destId="{8F3D7864-A67E-4980-8EEC-F096E4A5A33B}" srcOrd="1" destOrd="0" parTransId="{9F1A70AA-84AE-4B3D-8E2C-3BD6C668A859}" sibTransId="{148FEDAC-1DFF-4A8C-B751-90B79D2B38D7}"/>
    <dgm:cxn modelId="{2C813CBA-5909-427A-809B-31A305DAEF20}" srcId="{635D820D-3F6A-4169-933B-89B3B07AC473}" destId="{6FCEFAE3-8161-433C-96FD-675211A5634D}" srcOrd="2" destOrd="0" parTransId="{E86817DB-1B76-45C8-82CF-C2BE7F451B71}" sibTransId="{081FE379-0C72-4144-B3F0-AC4E41F2EAA0}"/>
    <dgm:cxn modelId="{B75E0ABB-BBC1-48E4-8C86-96B2B612EFF0}" srcId="{635D820D-3F6A-4169-933B-89B3B07AC473}" destId="{EDEBDDA8-C6BE-41AD-9C88-6DCC29B9FC6B}" srcOrd="0" destOrd="0" parTransId="{B9154201-B759-466A-B062-DA0D74D8BD6C}" sibTransId="{70076E80-E76B-4BBC-A0F0-817393568234}"/>
    <dgm:cxn modelId="{9C223AC8-BE62-4707-A47E-7DBCDE2CFA92}" srcId="{635D820D-3F6A-4169-933B-89B3B07AC473}" destId="{0B7FDDFD-655F-4966-93A7-ACED2D6758D8}" srcOrd="3" destOrd="0" parTransId="{258CD603-77CE-4064-9B6B-534C5EBBC6DC}" sibTransId="{83F64753-43F2-43F3-80A6-21115A980F6B}"/>
    <dgm:cxn modelId="{21DCF06F-C3EF-4F6D-A62D-35A90CD59FED}" type="presParOf" srcId="{262CDA82-1192-443A-AA18-C2D1343BD67D}" destId="{103A7B21-BA1E-4E44-B158-72F7A07E09F7}" srcOrd="0" destOrd="0" presId="urn:microsoft.com/office/officeart/2018/2/layout/IconVerticalSolidList"/>
    <dgm:cxn modelId="{4B379F65-8981-4924-9B46-A3B537F9D450}" type="presParOf" srcId="{103A7B21-BA1E-4E44-B158-72F7A07E09F7}" destId="{B69CCFB0-6C1F-4790-8677-D5F70B93E05D}" srcOrd="0" destOrd="0" presId="urn:microsoft.com/office/officeart/2018/2/layout/IconVerticalSolidList"/>
    <dgm:cxn modelId="{DB353766-8969-4534-83AF-B43BC4E49965}" type="presParOf" srcId="{103A7B21-BA1E-4E44-B158-72F7A07E09F7}" destId="{6AE7B6DA-DCF0-4941-B35E-FED592CAD9C7}" srcOrd="1" destOrd="0" presId="urn:microsoft.com/office/officeart/2018/2/layout/IconVerticalSolidList"/>
    <dgm:cxn modelId="{6269B74B-1301-4833-9703-D932628A3A3B}" type="presParOf" srcId="{103A7B21-BA1E-4E44-B158-72F7A07E09F7}" destId="{29FE1B13-E724-485C-A200-D60CBEE67033}" srcOrd="2" destOrd="0" presId="urn:microsoft.com/office/officeart/2018/2/layout/IconVerticalSolidList"/>
    <dgm:cxn modelId="{14628E5F-7952-4A71-ACBA-EFC6276CEDD4}" type="presParOf" srcId="{103A7B21-BA1E-4E44-B158-72F7A07E09F7}" destId="{B7AF9EC2-7666-4444-BBD8-9355F2C63196}" srcOrd="3" destOrd="0" presId="urn:microsoft.com/office/officeart/2018/2/layout/IconVerticalSolidList"/>
    <dgm:cxn modelId="{283CA498-7987-47C5-8D49-8756A82686FB}" type="presParOf" srcId="{262CDA82-1192-443A-AA18-C2D1343BD67D}" destId="{D5A2CA2C-F765-4434-A84E-2FD85DAF1E86}" srcOrd="1" destOrd="0" presId="urn:microsoft.com/office/officeart/2018/2/layout/IconVerticalSolidList"/>
    <dgm:cxn modelId="{91EA6BA5-B900-4C79-80B3-96A690F7AD57}" type="presParOf" srcId="{262CDA82-1192-443A-AA18-C2D1343BD67D}" destId="{E514EAFE-FC11-4B3F-8013-4D4292B72485}" srcOrd="2" destOrd="0" presId="urn:microsoft.com/office/officeart/2018/2/layout/IconVerticalSolidList"/>
    <dgm:cxn modelId="{AACC2D05-E9E6-4932-93DB-780CE60FDD29}" type="presParOf" srcId="{E514EAFE-FC11-4B3F-8013-4D4292B72485}" destId="{61B30C71-B6B1-4EDB-8941-25699A6AA799}" srcOrd="0" destOrd="0" presId="urn:microsoft.com/office/officeart/2018/2/layout/IconVerticalSolidList"/>
    <dgm:cxn modelId="{B80BAD75-D809-4911-8F0E-C03DB4EF3503}" type="presParOf" srcId="{E514EAFE-FC11-4B3F-8013-4D4292B72485}" destId="{06FD45ED-93A9-4CB5-BBC6-41722BB2CC37}" srcOrd="1" destOrd="0" presId="urn:microsoft.com/office/officeart/2018/2/layout/IconVerticalSolidList"/>
    <dgm:cxn modelId="{8F9A2F4C-FA5F-411C-8359-A5C03DD1409D}" type="presParOf" srcId="{E514EAFE-FC11-4B3F-8013-4D4292B72485}" destId="{9B4B4641-26DA-4FEC-B665-84241DB0B22C}" srcOrd="2" destOrd="0" presId="urn:microsoft.com/office/officeart/2018/2/layout/IconVerticalSolidList"/>
    <dgm:cxn modelId="{E037BD84-E667-4373-A6F1-B3F3E65C7279}" type="presParOf" srcId="{E514EAFE-FC11-4B3F-8013-4D4292B72485}" destId="{48B4CC27-4AE8-44EB-98DC-4F45EE52C0EB}" srcOrd="3" destOrd="0" presId="urn:microsoft.com/office/officeart/2018/2/layout/IconVerticalSolidList"/>
    <dgm:cxn modelId="{97094181-0CF2-4033-945B-69E9823F3D78}" type="presParOf" srcId="{262CDA82-1192-443A-AA18-C2D1343BD67D}" destId="{F684393D-6534-4779-B93F-403378B5349D}" srcOrd="3" destOrd="0" presId="urn:microsoft.com/office/officeart/2018/2/layout/IconVerticalSolidList"/>
    <dgm:cxn modelId="{E23A5A8E-CB2E-4FDA-8AD2-BDC3EF098ECE}" type="presParOf" srcId="{262CDA82-1192-443A-AA18-C2D1343BD67D}" destId="{0ED59449-DEDB-47C9-87BE-C02FF337188B}" srcOrd="4" destOrd="0" presId="urn:microsoft.com/office/officeart/2018/2/layout/IconVerticalSolidList"/>
    <dgm:cxn modelId="{ACC97681-673D-4D57-A074-5BF69A33231D}" type="presParOf" srcId="{0ED59449-DEDB-47C9-87BE-C02FF337188B}" destId="{D9483691-DD36-405D-BB66-9F59F2F1E989}" srcOrd="0" destOrd="0" presId="urn:microsoft.com/office/officeart/2018/2/layout/IconVerticalSolidList"/>
    <dgm:cxn modelId="{E4C6731B-1E11-42E0-8F2B-D929B7BF6748}" type="presParOf" srcId="{0ED59449-DEDB-47C9-87BE-C02FF337188B}" destId="{5E20F1DA-74F8-4710-885C-433C2757E97E}" srcOrd="1" destOrd="0" presId="urn:microsoft.com/office/officeart/2018/2/layout/IconVerticalSolidList"/>
    <dgm:cxn modelId="{0E24B4D6-EC5D-49D4-8184-81BE0187E8BB}" type="presParOf" srcId="{0ED59449-DEDB-47C9-87BE-C02FF337188B}" destId="{1B73FCB2-5DE4-4B2F-A030-B78C1995B2EB}" srcOrd="2" destOrd="0" presId="urn:microsoft.com/office/officeart/2018/2/layout/IconVerticalSolidList"/>
    <dgm:cxn modelId="{1182BB39-B651-47DD-9581-BD60B78C9020}" type="presParOf" srcId="{0ED59449-DEDB-47C9-87BE-C02FF337188B}" destId="{D6AAB94E-82BD-4674-9EC8-70CF34F5480A}" srcOrd="3" destOrd="0" presId="urn:microsoft.com/office/officeart/2018/2/layout/IconVerticalSolidList"/>
    <dgm:cxn modelId="{4FB3DBDA-14A2-458D-8077-D42FEEEE1D47}" type="presParOf" srcId="{262CDA82-1192-443A-AA18-C2D1343BD67D}" destId="{92BD4CB9-700E-4D5A-8EBF-0A5B80174042}" srcOrd="5" destOrd="0" presId="urn:microsoft.com/office/officeart/2018/2/layout/IconVerticalSolidList"/>
    <dgm:cxn modelId="{DE2C3D9F-EE7C-40AC-94A3-8AE16BFF50BD}" type="presParOf" srcId="{262CDA82-1192-443A-AA18-C2D1343BD67D}" destId="{131DC94B-195B-497B-9296-A32FBF036EC7}" srcOrd="6" destOrd="0" presId="urn:microsoft.com/office/officeart/2018/2/layout/IconVerticalSolidList"/>
    <dgm:cxn modelId="{62E6F1BC-2E4C-45F2-8944-79E026AEA07D}" type="presParOf" srcId="{131DC94B-195B-497B-9296-A32FBF036EC7}" destId="{CF075505-E8EA-4669-BABA-401DC8E15F63}" srcOrd="0" destOrd="0" presId="urn:microsoft.com/office/officeart/2018/2/layout/IconVerticalSolidList"/>
    <dgm:cxn modelId="{C360F8A3-D138-4C6E-87E3-8A4F11BB6A66}" type="presParOf" srcId="{131DC94B-195B-497B-9296-A32FBF036EC7}" destId="{20AA3712-49CF-4236-AB50-E8F4285D1C0B}" srcOrd="1" destOrd="0" presId="urn:microsoft.com/office/officeart/2018/2/layout/IconVerticalSolidList"/>
    <dgm:cxn modelId="{07F8E530-9F36-4A29-A187-0C5E7768D7A5}" type="presParOf" srcId="{131DC94B-195B-497B-9296-A32FBF036EC7}" destId="{2B860609-9F78-462C-A57A-62C3C1BEF49A}" srcOrd="2" destOrd="0" presId="urn:microsoft.com/office/officeart/2018/2/layout/IconVerticalSolidList"/>
    <dgm:cxn modelId="{23D652CF-3805-47CF-83AA-4A4C394309E8}" type="presParOf" srcId="{131DC94B-195B-497B-9296-A32FBF036EC7}" destId="{0AE4A487-9A78-4477-AD2C-F1EA03B282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5D820D-3F6A-4169-933B-89B3B07AC473}"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EDEBDDA8-C6BE-41AD-9C88-6DCC29B9FC6B}">
      <dgm:prSet custT="1"/>
      <dgm:spPr/>
      <dgm:t>
        <a:bodyPr/>
        <a:lstStyle/>
        <a:p>
          <a:pPr>
            <a:lnSpc>
              <a:spcPct val="100000"/>
            </a:lnSpc>
          </a:pPr>
          <a:r>
            <a:rPr lang="en-GB" sz="1600" dirty="0"/>
            <a:t>What is equity</a:t>
          </a:r>
          <a:endParaRPr lang="en-US" sz="1600" dirty="0">
            <a:latin typeface="Arial" panose="020B0604020202020204" pitchFamily="34" charset="0"/>
            <a:cs typeface="Arial" panose="020B0604020202020204" pitchFamily="34" charset="0"/>
          </a:endParaRPr>
        </a:p>
      </dgm:t>
    </dgm:pt>
    <dgm:pt modelId="{B9154201-B759-466A-B062-DA0D74D8BD6C}" type="parTrans" cxnId="{B75E0ABB-BBC1-48E4-8C86-96B2B612EFF0}">
      <dgm:prSet/>
      <dgm:spPr/>
      <dgm:t>
        <a:bodyPr/>
        <a:lstStyle/>
        <a:p>
          <a:endParaRPr lang="en-US"/>
        </a:p>
      </dgm:t>
    </dgm:pt>
    <dgm:pt modelId="{70076E80-E76B-4BBC-A0F0-817393568234}" type="sibTrans" cxnId="{B75E0ABB-BBC1-48E4-8C86-96B2B612EFF0}">
      <dgm:prSet/>
      <dgm:spPr/>
      <dgm:t>
        <a:bodyPr/>
        <a:lstStyle/>
        <a:p>
          <a:endParaRPr lang="en-US"/>
        </a:p>
      </dgm:t>
    </dgm:pt>
    <dgm:pt modelId="{6FCEFAE3-8161-433C-96FD-675211A5634D}">
      <dgm:prSet custT="1"/>
      <dgm:spPr>
        <a:noFill/>
        <a:ln>
          <a:noFill/>
        </a:ln>
        <a:effectLst/>
      </dgm:spPr>
      <dgm:t>
        <a:bodyPr spcFirstLastPara="0" vert="horz" wrap="square" lIns="75770" tIns="75770" rIns="75770" bIns="75770" numCol="1" spcCol="1270" anchor="ctr" anchorCtr="0"/>
        <a:lstStyle/>
        <a:p>
          <a:pPr marL="0" lvl="0" indent="0" algn="l" defTabSz="844550">
            <a:lnSpc>
              <a:spcPct val="100000"/>
            </a:lnSpc>
            <a:spcBef>
              <a:spcPct val="0"/>
            </a:spcBef>
            <a:spcAft>
              <a:spcPct val="35000"/>
            </a:spcAft>
            <a:buNone/>
          </a:pPr>
          <a:r>
            <a:rPr lang="en-GB" sz="1600" kern="1200" dirty="0"/>
            <a:t>Calculations surrounding share value (using DDM)</a:t>
          </a:r>
          <a:endParaRPr lang="en-US" sz="1600" kern="1200" dirty="0">
            <a:solidFill>
              <a:prstClr val="black">
                <a:hueOff val="0"/>
                <a:satOff val="0"/>
                <a:lumOff val="0"/>
                <a:alphaOff val="0"/>
              </a:prstClr>
            </a:solidFill>
            <a:latin typeface="Calibri"/>
            <a:ea typeface="+mn-ea"/>
            <a:cs typeface="+mn-cs"/>
          </a:endParaRPr>
        </a:p>
      </dgm:t>
    </dgm:pt>
    <dgm:pt modelId="{E86817DB-1B76-45C8-82CF-C2BE7F451B71}" type="parTrans" cxnId="{2C813CBA-5909-427A-809B-31A305DAEF20}">
      <dgm:prSet/>
      <dgm:spPr/>
      <dgm:t>
        <a:bodyPr/>
        <a:lstStyle/>
        <a:p>
          <a:endParaRPr lang="en-US"/>
        </a:p>
      </dgm:t>
    </dgm:pt>
    <dgm:pt modelId="{081FE379-0C72-4144-B3F0-AC4E41F2EAA0}" type="sibTrans" cxnId="{2C813CBA-5909-427A-809B-31A305DAEF20}">
      <dgm:prSet/>
      <dgm:spPr/>
      <dgm:t>
        <a:bodyPr/>
        <a:lstStyle/>
        <a:p>
          <a:endParaRPr lang="en-US"/>
        </a:p>
      </dgm:t>
    </dgm:pt>
    <dgm:pt modelId="{0B7FDDFD-655F-4966-93A7-ACED2D6758D8}">
      <dgm:prSet custT="1"/>
      <dgm:spPr/>
      <dgm:t>
        <a:bodyPr/>
        <a:lstStyle/>
        <a:p>
          <a:pPr marL="0" lvl="0" indent="0" algn="l" defTabSz="844550">
            <a:lnSpc>
              <a:spcPct val="100000"/>
            </a:lnSpc>
            <a:spcBef>
              <a:spcPct val="0"/>
            </a:spcBef>
            <a:spcAft>
              <a:spcPct val="35000"/>
            </a:spcAft>
            <a:buNone/>
          </a:pPr>
          <a:r>
            <a:rPr lang="en-US" sz="1600" kern="1200" dirty="0">
              <a:solidFill>
                <a:prstClr val="black">
                  <a:hueOff val="0"/>
                  <a:satOff val="0"/>
                  <a:lumOff val="0"/>
                  <a:alphaOff val="0"/>
                </a:prstClr>
              </a:solidFill>
              <a:latin typeface="Calibri"/>
              <a:ea typeface="+mn-ea"/>
              <a:cs typeface="+mn-cs"/>
            </a:rPr>
            <a:t>Understanding Rights issues and calculations</a:t>
          </a:r>
          <a:endParaRPr lang="en-GB" sz="1600" kern="1200" dirty="0">
            <a:solidFill>
              <a:prstClr val="black">
                <a:hueOff val="0"/>
                <a:satOff val="0"/>
                <a:lumOff val="0"/>
                <a:alphaOff val="0"/>
              </a:prstClr>
            </a:solidFill>
            <a:latin typeface="Calibri"/>
            <a:ea typeface="+mn-ea"/>
            <a:cs typeface="+mn-cs"/>
          </a:endParaRPr>
        </a:p>
      </dgm:t>
    </dgm:pt>
    <dgm:pt modelId="{258CD603-77CE-4064-9B6B-534C5EBBC6DC}" type="parTrans" cxnId="{9C223AC8-BE62-4707-A47E-7DBCDE2CFA92}">
      <dgm:prSet/>
      <dgm:spPr/>
      <dgm:t>
        <a:bodyPr/>
        <a:lstStyle/>
        <a:p>
          <a:endParaRPr lang="en-US"/>
        </a:p>
      </dgm:t>
    </dgm:pt>
    <dgm:pt modelId="{83F64753-43F2-43F3-80A6-21115A980F6B}" type="sibTrans" cxnId="{9C223AC8-BE62-4707-A47E-7DBCDE2CFA92}">
      <dgm:prSet/>
      <dgm:spPr/>
      <dgm:t>
        <a:bodyPr/>
        <a:lstStyle/>
        <a:p>
          <a:endParaRPr lang="en-US"/>
        </a:p>
      </dgm:t>
    </dgm:pt>
    <dgm:pt modelId="{8F3D7864-A67E-4980-8EEC-F096E4A5A33B}">
      <dgm:prSet custT="1"/>
      <dgm:spPr/>
      <dgm:t>
        <a:bodyPr/>
        <a:lstStyle/>
        <a:p>
          <a:pPr marL="0" lvl="0" indent="0" algn="l" defTabSz="844550">
            <a:lnSpc>
              <a:spcPct val="100000"/>
            </a:lnSpc>
            <a:spcBef>
              <a:spcPct val="0"/>
            </a:spcBef>
            <a:spcAft>
              <a:spcPct val="35000"/>
            </a:spcAft>
            <a:buNone/>
          </a:pPr>
          <a:r>
            <a:rPr lang="en-GB" sz="1600" kern="1200" dirty="0"/>
            <a:t>Types of shares</a:t>
          </a:r>
          <a:endParaRPr lang="en-US" sz="1600" kern="1200" dirty="0">
            <a:solidFill>
              <a:prstClr val="black">
                <a:hueOff val="0"/>
                <a:satOff val="0"/>
                <a:lumOff val="0"/>
                <a:alphaOff val="0"/>
              </a:prstClr>
            </a:solidFill>
            <a:latin typeface="Segoe Sans"/>
            <a:ea typeface="+mn-ea"/>
            <a:cs typeface="+mn-cs"/>
          </a:endParaRPr>
        </a:p>
      </dgm:t>
    </dgm:pt>
    <dgm:pt modelId="{148FEDAC-1DFF-4A8C-B751-90B79D2B38D7}" type="sibTrans" cxnId="{D3F1B6B4-CFFA-4F0C-8151-F35EFDF0B8BB}">
      <dgm:prSet/>
      <dgm:spPr/>
      <dgm:t>
        <a:bodyPr/>
        <a:lstStyle/>
        <a:p>
          <a:endParaRPr lang="en-US"/>
        </a:p>
      </dgm:t>
    </dgm:pt>
    <dgm:pt modelId="{9F1A70AA-84AE-4B3D-8E2C-3BD6C668A859}" type="parTrans" cxnId="{D3F1B6B4-CFFA-4F0C-8151-F35EFDF0B8BB}">
      <dgm:prSet/>
      <dgm:spPr/>
      <dgm:t>
        <a:bodyPr/>
        <a:lstStyle/>
        <a:p>
          <a:endParaRPr lang="en-US"/>
        </a:p>
      </dgm:t>
    </dgm:pt>
    <dgm:pt modelId="{262CDA82-1192-443A-AA18-C2D1343BD67D}" type="pres">
      <dgm:prSet presAssocID="{635D820D-3F6A-4169-933B-89B3B07AC473}" presName="root" presStyleCnt="0">
        <dgm:presLayoutVars>
          <dgm:dir/>
          <dgm:resizeHandles val="exact"/>
        </dgm:presLayoutVars>
      </dgm:prSet>
      <dgm:spPr/>
    </dgm:pt>
    <dgm:pt modelId="{103A7B21-BA1E-4E44-B158-72F7A07E09F7}" type="pres">
      <dgm:prSet presAssocID="{EDEBDDA8-C6BE-41AD-9C88-6DCC29B9FC6B}" presName="compNode" presStyleCnt="0"/>
      <dgm:spPr/>
    </dgm:pt>
    <dgm:pt modelId="{B69CCFB0-6C1F-4790-8677-D5F70B93E05D}" type="pres">
      <dgm:prSet presAssocID="{EDEBDDA8-C6BE-41AD-9C88-6DCC29B9FC6B}" presName="bgRect" presStyleLbl="bgShp" presStyleIdx="0" presStyleCnt="4"/>
      <dgm:spPr/>
    </dgm:pt>
    <dgm:pt modelId="{6AE7B6DA-DCF0-4941-B35E-FED592CAD9C7}" type="pres">
      <dgm:prSet presAssocID="{EDEBDDA8-C6BE-41AD-9C88-6DCC29B9FC6B}"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oardroom with solid fill"/>
        </a:ext>
      </dgm:extLst>
    </dgm:pt>
    <dgm:pt modelId="{29FE1B13-E724-485C-A200-D60CBEE67033}" type="pres">
      <dgm:prSet presAssocID="{EDEBDDA8-C6BE-41AD-9C88-6DCC29B9FC6B}" presName="spaceRect" presStyleCnt="0"/>
      <dgm:spPr/>
    </dgm:pt>
    <dgm:pt modelId="{B7AF9EC2-7666-4444-BBD8-9355F2C63196}" type="pres">
      <dgm:prSet presAssocID="{EDEBDDA8-C6BE-41AD-9C88-6DCC29B9FC6B}" presName="parTx" presStyleLbl="revTx" presStyleIdx="0" presStyleCnt="4" custLinFactNeighborX="-408" custLinFactNeighborY="-197">
        <dgm:presLayoutVars>
          <dgm:chMax val="0"/>
          <dgm:chPref val="0"/>
        </dgm:presLayoutVars>
      </dgm:prSet>
      <dgm:spPr/>
    </dgm:pt>
    <dgm:pt modelId="{D5A2CA2C-F765-4434-A84E-2FD85DAF1E86}" type="pres">
      <dgm:prSet presAssocID="{70076E80-E76B-4BBC-A0F0-817393568234}" presName="sibTrans" presStyleCnt="0"/>
      <dgm:spPr/>
    </dgm:pt>
    <dgm:pt modelId="{E514EAFE-FC11-4B3F-8013-4D4292B72485}" type="pres">
      <dgm:prSet presAssocID="{8F3D7864-A67E-4980-8EEC-F096E4A5A33B}" presName="compNode" presStyleCnt="0"/>
      <dgm:spPr/>
    </dgm:pt>
    <dgm:pt modelId="{61B30C71-B6B1-4EDB-8941-25699A6AA799}" type="pres">
      <dgm:prSet presAssocID="{8F3D7864-A67E-4980-8EEC-F096E4A5A33B}" presName="bgRect" presStyleLbl="bgShp" presStyleIdx="1" presStyleCnt="4"/>
      <dgm:spPr/>
    </dgm:pt>
    <dgm:pt modelId="{06FD45ED-93A9-4CB5-BBC6-41722BB2CC37}" type="pres">
      <dgm:prSet presAssocID="{8F3D7864-A67E-4980-8EEC-F096E4A5A33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arget Audience with solid fill"/>
        </a:ext>
      </dgm:extLst>
    </dgm:pt>
    <dgm:pt modelId="{9B4B4641-26DA-4FEC-B665-84241DB0B22C}" type="pres">
      <dgm:prSet presAssocID="{8F3D7864-A67E-4980-8EEC-F096E4A5A33B}" presName="spaceRect" presStyleCnt="0"/>
      <dgm:spPr/>
    </dgm:pt>
    <dgm:pt modelId="{48B4CC27-4AE8-44EB-98DC-4F45EE52C0EB}" type="pres">
      <dgm:prSet presAssocID="{8F3D7864-A67E-4980-8EEC-F096E4A5A33B}" presName="parTx" presStyleLbl="revTx" presStyleIdx="1" presStyleCnt="4" custLinFactNeighborX="-461" custLinFactNeighborY="-14686">
        <dgm:presLayoutVars>
          <dgm:chMax val="0"/>
          <dgm:chPref val="0"/>
        </dgm:presLayoutVars>
      </dgm:prSet>
      <dgm:spPr/>
    </dgm:pt>
    <dgm:pt modelId="{F684393D-6534-4779-B93F-403378B5349D}" type="pres">
      <dgm:prSet presAssocID="{148FEDAC-1DFF-4A8C-B751-90B79D2B38D7}" presName="sibTrans" presStyleCnt="0"/>
      <dgm:spPr/>
    </dgm:pt>
    <dgm:pt modelId="{0ED59449-DEDB-47C9-87BE-C02FF337188B}" type="pres">
      <dgm:prSet presAssocID="{6FCEFAE3-8161-433C-96FD-675211A5634D}" presName="compNode" presStyleCnt="0"/>
      <dgm:spPr/>
    </dgm:pt>
    <dgm:pt modelId="{D9483691-DD36-405D-BB66-9F59F2F1E989}" type="pres">
      <dgm:prSet presAssocID="{6FCEFAE3-8161-433C-96FD-675211A5634D}" presName="bgRect" presStyleLbl="bgShp" presStyleIdx="2" presStyleCnt="4" custLinFactNeighborY="2954"/>
      <dgm:spPr/>
    </dgm:pt>
    <dgm:pt modelId="{5E20F1DA-74F8-4710-885C-433C2757E97E}" type="pres">
      <dgm:prSet presAssocID="{6FCEFAE3-8161-433C-96FD-675211A5634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ser network with solid fill"/>
        </a:ext>
      </dgm:extLst>
    </dgm:pt>
    <dgm:pt modelId="{1B73FCB2-5DE4-4B2F-A030-B78C1995B2EB}" type="pres">
      <dgm:prSet presAssocID="{6FCEFAE3-8161-433C-96FD-675211A5634D}" presName="spaceRect" presStyleCnt="0"/>
      <dgm:spPr/>
    </dgm:pt>
    <dgm:pt modelId="{D6AAB94E-82BD-4674-9EC8-70CF34F5480A}" type="pres">
      <dgm:prSet presAssocID="{6FCEFAE3-8161-433C-96FD-675211A5634D}" presName="parTx" presStyleLbl="revTx" presStyleIdx="2" presStyleCnt="4" custLinFactNeighborY="-18874">
        <dgm:presLayoutVars>
          <dgm:chMax val="0"/>
          <dgm:chPref val="0"/>
        </dgm:presLayoutVars>
      </dgm:prSet>
      <dgm:spPr>
        <a:xfrm>
          <a:off x="826912" y="1656139"/>
          <a:ext cx="6805935" cy="715941"/>
        </a:xfrm>
        <a:prstGeom prst="rect">
          <a:avLst/>
        </a:prstGeom>
      </dgm:spPr>
    </dgm:pt>
    <dgm:pt modelId="{92BD4CB9-700E-4D5A-8EBF-0A5B80174042}" type="pres">
      <dgm:prSet presAssocID="{081FE379-0C72-4144-B3F0-AC4E41F2EAA0}" presName="sibTrans" presStyleCnt="0"/>
      <dgm:spPr/>
    </dgm:pt>
    <dgm:pt modelId="{131DC94B-195B-497B-9296-A32FBF036EC7}" type="pres">
      <dgm:prSet presAssocID="{0B7FDDFD-655F-4966-93A7-ACED2D6758D8}" presName="compNode" presStyleCnt="0"/>
      <dgm:spPr/>
    </dgm:pt>
    <dgm:pt modelId="{CF075505-E8EA-4669-BABA-401DC8E15F63}" type="pres">
      <dgm:prSet presAssocID="{0B7FDDFD-655F-4966-93A7-ACED2D6758D8}" presName="bgRect" presStyleLbl="bgShp" presStyleIdx="3" presStyleCnt="4" custLinFactNeighborX="-109" custLinFactNeighborY="7790"/>
      <dgm:spPr/>
    </dgm:pt>
    <dgm:pt modelId="{20AA3712-49CF-4236-AB50-E8F4285D1C0B}" type="pres">
      <dgm:prSet presAssocID="{0B7FDDFD-655F-4966-93A7-ACED2D6758D8}" presName="iconRect" presStyleLbl="node1" presStyleIdx="3" presStyleCnt="4" custLinFactNeighborX="-139" custLinFactNeighborY="-36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esk with solid fill"/>
        </a:ext>
      </dgm:extLst>
    </dgm:pt>
    <dgm:pt modelId="{2B860609-9F78-462C-A57A-62C3C1BEF49A}" type="pres">
      <dgm:prSet presAssocID="{0B7FDDFD-655F-4966-93A7-ACED2D6758D8}" presName="spaceRect" presStyleCnt="0"/>
      <dgm:spPr/>
    </dgm:pt>
    <dgm:pt modelId="{0AE4A487-9A78-4477-AD2C-F1EA03B28256}" type="pres">
      <dgm:prSet presAssocID="{0B7FDDFD-655F-4966-93A7-ACED2D6758D8}" presName="parTx" presStyleLbl="revTx" presStyleIdx="3" presStyleCnt="4" custScaleX="95490" custLinFactNeighborX="-1873" custLinFactNeighborY="-2251">
        <dgm:presLayoutVars>
          <dgm:chMax val="0"/>
          <dgm:chPref val="0"/>
        </dgm:presLayoutVars>
      </dgm:prSet>
      <dgm:spPr/>
    </dgm:pt>
  </dgm:ptLst>
  <dgm:cxnLst>
    <dgm:cxn modelId="{075EE424-D9B4-4E46-9665-4C6F4605B129}" type="presOf" srcId="{0B7FDDFD-655F-4966-93A7-ACED2D6758D8}" destId="{0AE4A487-9A78-4477-AD2C-F1EA03B28256}" srcOrd="0" destOrd="0" presId="urn:microsoft.com/office/officeart/2018/2/layout/IconVerticalSolidList"/>
    <dgm:cxn modelId="{0D9EBC52-F8D5-4A84-99DA-3C84F70E032E}" type="presOf" srcId="{8F3D7864-A67E-4980-8EEC-F096E4A5A33B}" destId="{48B4CC27-4AE8-44EB-98DC-4F45EE52C0EB}" srcOrd="0" destOrd="0" presId="urn:microsoft.com/office/officeart/2018/2/layout/IconVerticalSolidList"/>
    <dgm:cxn modelId="{4F1F945A-D164-481A-9009-F98C2D505015}" type="presOf" srcId="{6FCEFAE3-8161-433C-96FD-675211A5634D}" destId="{D6AAB94E-82BD-4674-9EC8-70CF34F5480A}" srcOrd="0" destOrd="0" presId="urn:microsoft.com/office/officeart/2018/2/layout/IconVerticalSolidList"/>
    <dgm:cxn modelId="{33868E94-7799-41F0-B23B-1D6D3C531263}" type="presOf" srcId="{EDEBDDA8-C6BE-41AD-9C88-6DCC29B9FC6B}" destId="{B7AF9EC2-7666-4444-BBD8-9355F2C63196}" srcOrd="0" destOrd="0" presId="urn:microsoft.com/office/officeart/2018/2/layout/IconVerticalSolidList"/>
    <dgm:cxn modelId="{1FCE48A7-2CA1-4F98-9830-092517DC53B3}" type="presOf" srcId="{635D820D-3F6A-4169-933B-89B3B07AC473}" destId="{262CDA82-1192-443A-AA18-C2D1343BD67D}" srcOrd="0" destOrd="0" presId="urn:microsoft.com/office/officeart/2018/2/layout/IconVerticalSolidList"/>
    <dgm:cxn modelId="{D3F1B6B4-CFFA-4F0C-8151-F35EFDF0B8BB}" srcId="{635D820D-3F6A-4169-933B-89B3B07AC473}" destId="{8F3D7864-A67E-4980-8EEC-F096E4A5A33B}" srcOrd="1" destOrd="0" parTransId="{9F1A70AA-84AE-4B3D-8E2C-3BD6C668A859}" sibTransId="{148FEDAC-1DFF-4A8C-B751-90B79D2B38D7}"/>
    <dgm:cxn modelId="{2C813CBA-5909-427A-809B-31A305DAEF20}" srcId="{635D820D-3F6A-4169-933B-89B3B07AC473}" destId="{6FCEFAE3-8161-433C-96FD-675211A5634D}" srcOrd="2" destOrd="0" parTransId="{E86817DB-1B76-45C8-82CF-C2BE7F451B71}" sibTransId="{081FE379-0C72-4144-B3F0-AC4E41F2EAA0}"/>
    <dgm:cxn modelId="{B75E0ABB-BBC1-48E4-8C86-96B2B612EFF0}" srcId="{635D820D-3F6A-4169-933B-89B3B07AC473}" destId="{EDEBDDA8-C6BE-41AD-9C88-6DCC29B9FC6B}" srcOrd="0" destOrd="0" parTransId="{B9154201-B759-466A-B062-DA0D74D8BD6C}" sibTransId="{70076E80-E76B-4BBC-A0F0-817393568234}"/>
    <dgm:cxn modelId="{9C223AC8-BE62-4707-A47E-7DBCDE2CFA92}" srcId="{635D820D-3F6A-4169-933B-89B3B07AC473}" destId="{0B7FDDFD-655F-4966-93A7-ACED2D6758D8}" srcOrd="3" destOrd="0" parTransId="{258CD603-77CE-4064-9B6B-534C5EBBC6DC}" sibTransId="{83F64753-43F2-43F3-80A6-21115A980F6B}"/>
    <dgm:cxn modelId="{21DCF06F-C3EF-4F6D-A62D-35A90CD59FED}" type="presParOf" srcId="{262CDA82-1192-443A-AA18-C2D1343BD67D}" destId="{103A7B21-BA1E-4E44-B158-72F7A07E09F7}" srcOrd="0" destOrd="0" presId="urn:microsoft.com/office/officeart/2018/2/layout/IconVerticalSolidList"/>
    <dgm:cxn modelId="{4B379F65-8981-4924-9B46-A3B537F9D450}" type="presParOf" srcId="{103A7B21-BA1E-4E44-B158-72F7A07E09F7}" destId="{B69CCFB0-6C1F-4790-8677-D5F70B93E05D}" srcOrd="0" destOrd="0" presId="urn:microsoft.com/office/officeart/2018/2/layout/IconVerticalSolidList"/>
    <dgm:cxn modelId="{DB353766-8969-4534-83AF-B43BC4E49965}" type="presParOf" srcId="{103A7B21-BA1E-4E44-B158-72F7A07E09F7}" destId="{6AE7B6DA-DCF0-4941-B35E-FED592CAD9C7}" srcOrd="1" destOrd="0" presId="urn:microsoft.com/office/officeart/2018/2/layout/IconVerticalSolidList"/>
    <dgm:cxn modelId="{6269B74B-1301-4833-9703-D932628A3A3B}" type="presParOf" srcId="{103A7B21-BA1E-4E44-B158-72F7A07E09F7}" destId="{29FE1B13-E724-485C-A200-D60CBEE67033}" srcOrd="2" destOrd="0" presId="urn:microsoft.com/office/officeart/2018/2/layout/IconVerticalSolidList"/>
    <dgm:cxn modelId="{14628E5F-7952-4A71-ACBA-EFC6276CEDD4}" type="presParOf" srcId="{103A7B21-BA1E-4E44-B158-72F7A07E09F7}" destId="{B7AF9EC2-7666-4444-BBD8-9355F2C63196}" srcOrd="3" destOrd="0" presId="urn:microsoft.com/office/officeart/2018/2/layout/IconVerticalSolidList"/>
    <dgm:cxn modelId="{283CA498-7987-47C5-8D49-8756A82686FB}" type="presParOf" srcId="{262CDA82-1192-443A-AA18-C2D1343BD67D}" destId="{D5A2CA2C-F765-4434-A84E-2FD85DAF1E86}" srcOrd="1" destOrd="0" presId="urn:microsoft.com/office/officeart/2018/2/layout/IconVerticalSolidList"/>
    <dgm:cxn modelId="{91EA6BA5-B900-4C79-80B3-96A690F7AD57}" type="presParOf" srcId="{262CDA82-1192-443A-AA18-C2D1343BD67D}" destId="{E514EAFE-FC11-4B3F-8013-4D4292B72485}" srcOrd="2" destOrd="0" presId="urn:microsoft.com/office/officeart/2018/2/layout/IconVerticalSolidList"/>
    <dgm:cxn modelId="{AACC2D05-E9E6-4932-93DB-780CE60FDD29}" type="presParOf" srcId="{E514EAFE-FC11-4B3F-8013-4D4292B72485}" destId="{61B30C71-B6B1-4EDB-8941-25699A6AA799}" srcOrd="0" destOrd="0" presId="urn:microsoft.com/office/officeart/2018/2/layout/IconVerticalSolidList"/>
    <dgm:cxn modelId="{B80BAD75-D809-4911-8F0E-C03DB4EF3503}" type="presParOf" srcId="{E514EAFE-FC11-4B3F-8013-4D4292B72485}" destId="{06FD45ED-93A9-4CB5-BBC6-41722BB2CC37}" srcOrd="1" destOrd="0" presId="urn:microsoft.com/office/officeart/2018/2/layout/IconVerticalSolidList"/>
    <dgm:cxn modelId="{8F9A2F4C-FA5F-411C-8359-A5C03DD1409D}" type="presParOf" srcId="{E514EAFE-FC11-4B3F-8013-4D4292B72485}" destId="{9B4B4641-26DA-4FEC-B665-84241DB0B22C}" srcOrd="2" destOrd="0" presId="urn:microsoft.com/office/officeart/2018/2/layout/IconVerticalSolidList"/>
    <dgm:cxn modelId="{E037BD84-E667-4373-A6F1-B3F3E65C7279}" type="presParOf" srcId="{E514EAFE-FC11-4B3F-8013-4D4292B72485}" destId="{48B4CC27-4AE8-44EB-98DC-4F45EE52C0EB}" srcOrd="3" destOrd="0" presId="urn:microsoft.com/office/officeart/2018/2/layout/IconVerticalSolidList"/>
    <dgm:cxn modelId="{97094181-0CF2-4033-945B-69E9823F3D78}" type="presParOf" srcId="{262CDA82-1192-443A-AA18-C2D1343BD67D}" destId="{F684393D-6534-4779-B93F-403378B5349D}" srcOrd="3" destOrd="0" presId="urn:microsoft.com/office/officeart/2018/2/layout/IconVerticalSolidList"/>
    <dgm:cxn modelId="{E23A5A8E-CB2E-4FDA-8AD2-BDC3EF098ECE}" type="presParOf" srcId="{262CDA82-1192-443A-AA18-C2D1343BD67D}" destId="{0ED59449-DEDB-47C9-87BE-C02FF337188B}" srcOrd="4" destOrd="0" presId="urn:microsoft.com/office/officeart/2018/2/layout/IconVerticalSolidList"/>
    <dgm:cxn modelId="{ACC97681-673D-4D57-A074-5BF69A33231D}" type="presParOf" srcId="{0ED59449-DEDB-47C9-87BE-C02FF337188B}" destId="{D9483691-DD36-405D-BB66-9F59F2F1E989}" srcOrd="0" destOrd="0" presId="urn:microsoft.com/office/officeart/2018/2/layout/IconVerticalSolidList"/>
    <dgm:cxn modelId="{E4C6731B-1E11-42E0-8F2B-D929B7BF6748}" type="presParOf" srcId="{0ED59449-DEDB-47C9-87BE-C02FF337188B}" destId="{5E20F1DA-74F8-4710-885C-433C2757E97E}" srcOrd="1" destOrd="0" presId="urn:microsoft.com/office/officeart/2018/2/layout/IconVerticalSolidList"/>
    <dgm:cxn modelId="{0E24B4D6-EC5D-49D4-8184-81BE0187E8BB}" type="presParOf" srcId="{0ED59449-DEDB-47C9-87BE-C02FF337188B}" destId="{1B73FCB2-5DE4-4B2F-A030-B78C1995B2EB}" srcOrd="2" destOrd="0" presId="urn:microsoft.com/office/officeart/2018/2/layout/IconVerticalSolidList"/>
    <dgm:cxn modelId="{1182BB39-B651-47DD-9581-BD60B78C9020}" type="presParOf" srcId="{0ED59449-DEDB-47C9-87BE-C02FF337188B}" destId="{D6AAB94E-82BD-4674-9EC8-70CF34F5480A}" srcOrd="3" destOrd="0" presId="urn:microsoft.com/office/officeart/2018/2/layout/IconVerticalSolidList"/>
    <dgm:cxn modelId="{4FB3DBDA-14A2-458D-8077-D42FEEEE1D47}" type="presParOf" srcId="{262CDA82-1192-443A-AA18-C2D1343BD67D}" destId="{92BD4CB9-700E-4D5A-8EBF-0A5B80174042}" srcOrd="5" destOrd="0" presId="urn:microsoft.com/office/officeart/2018/2/layout/IconVerticalSolidList"/>
    <dgm:cxn modelId="{DE2C3D9F-EE7C-40AC-94A3-8AE16BFF50BD}" type="presParOf" srcId="{262CDA82-1192-443A-AA18-C2D1343BD67D}" destId="{131DC94B-195B-497B-9296-A32FBF036EC7}" srcOrd="6" destOrd="0" presId="urn:microsoft.com/office/officeart/2018/2/layout/IconVerticalSolidList"/>
    <dgm:cxn modelId="{62E6F1BC-2E4C-45F2-8944-79E026AEA07D}" type="presParOf" srcId="{131DC94B-195B-497B-9296-A32FBF036EC7}" destId="{CF075505-E8EA-4669-BABA-401DC8E15F63}" srcOrd="0" destOrd="0" presId="urn:microsoft.com/office/officeart/2018/2/layout/IconVerticalSolidList"/>
    <dgm:cxn modelId="{C360F8A3-D138-4C6E-87E3-8A4F11BB6A66}" type="presParOf" srcId="{131DC94B-195B-497B-9296-A32FBF036EC7}" destId="{20AA3712-49CF-4236-AB50-E8F4285D1C0B}" srcOrd="1" destOrd="0" presId="urn:microsoft.com/office/officeart/2018/2/layout/IconVerticalSolidList"/>
    <dgm:cxn modelId="{07F8E530-9F36-4A29-A187-0C5E7768D7A5}" type="presParOf" srcId="{131DC94B-195B-497B-9296-A32FBF036EC7}" destId="{2B860609-9F78-462C-A57A-62C3C1BEF49A}" srcOrd="2" destOrd="0" presId="urn:microsoft.com/office/officeart/2018/2/layout/IconVerticalSolidList"/>
    <dgm:cxn modelId="{23D652CF-3805-47CF-83AA-4A4C394309E8}" type="presParOf" srcId="{131DC94B-195B-497B-9296-A32FBF036EC7}" destId="{0AE4A487-9A78-4477-AD2C-F1EA03B282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CCFB0-6C1F-4790-8677-D5F70B93E05D}">
      <dsp:nvSpPr>
        <dsp:cNvPr id="0" name=""/>
        <dsp:cNvSpPr/>
      </dsp:nvSpPr>
      <dsp:spPr>
        <a:xfrm>
          <a:off x="0" y="1412"/>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7B6DA-DCF0-4941-B35E-FED592CAD9C7}">
      <dsp:nvSpPr>
        <dsp:cNvPr id="0" name=""/>
        <dsp:cNvSpPr/>
      </dsp:nvSpPr>
      <dsp:spPr>
        <a:xfrm>
          <a:off x="216572" y="162499"/>
          <a:ext cx="393767" cy="39376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AF9EC2-7666-4444-BBD8-9355F2C63196}">
      <dsp:nvSpPr>
        <dsp:cNvPr id="0" name=""/>
        <dsp:cNvSpPr/>
      </dsp:nvSpPr>
      <dsp:spPr>
        <a:xfrm>
          <a:off x="799144" y="2"/>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711200">
            <a:lnSpc>
              <a:spcPct val="100000"/>
            </a:lnSpc>
            <a:spcBef>
              <a:spcPct val="0"/>
            </a:spcBef>
            <a:spcAft>
              <a:spcPct val="35000"/>
            </a:spcAft>
            <a:buNone/>
          </a:pPr>
          <a:r>
            <a:rPr lang="en-GB" sz="1600" kern="1200" dirty="0"/>
            <a:t>What is equity</a:t>
          </a:r>
          <a:endParaRPr lang="en-US" sz="1600" kern="1200" dirty="0">
            <a:latin typeface="Arial" panose="020B0604020202020204" pitchFamily="34" charset="0"/>
            <a:cs typeface="Arial" panose="020B0604020202020204" pitchFamily="34" charset="0"/>
          </a:endParaRPr>
        </a:p>
      </dsp:txBody>
      <dsp:txXfrm>
        <a:off x="799144" y="2"/>
        <a:ext cx="6805935" cy="715941"/>
      </dsp:txXfrm>
    </dsp:sp>
    <dsp:sp modelId="{61B30C71-B6B1-4EDB-8941-25699A6AA799}">
      <dsp:nvSpPr>
        <dsp:cNvPr id="0" name=""/>
        <dsp:cNvSpPr/>
      </dsp:nvSpPr>
      <dsp:spPr>
        <a:xfrm>
          <a:off x="0" y="896339"/>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D45ED-93A9-4CB5-BBC6-41722BB2CC37}">
      <dsp:nvSpPr>
        <dsp:cNvPr id="0" name=""/>
        <dsp:cNvSpPr/>
      </dsp:nvSpPr>
      <dsp:spPr>
        <a:xfrm>
          <a:off x="216572" y="1057426"/>
          <a:ext cx="393767" cy="39376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B4CC27-4AE8-44EB-98DC-4F45EE52C0EB}">
      <dsp:nvSpPr>
        <dsp:cNvPr id="0" name=""/>
        <dsp:cNvSpPr/>
      </dsp:nvSpPr>
      <dsp:spPr>
        <a:xfrm>
          <a:off x="795537" y="791196"/>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GB" sz="1600" kern="1200" dirty="0"/>
            <a:t>Types of shares</a:t>
          </a:r>
          <a:endParaRPr lang="en-US" sz="1600" kern="1200" dirty="0">
            <a:solidFill>
              <a:prstClr val="black">
                <a:hueOff val="0"/>
                <a:satOff val="0"/>
                <a:lumOff val="0"/>
                <a:alphaOff val="0"/>
              </a:prstClr>
            </a:solidFill>
            <a:latin typeface="Segoe Sans"/>
            <a:ea typeface="+mn-ea"/>
            <a:cs typeface="+mn-cs"/>
          </a:endParaRPr>
        </a:p>
      </dsp:txBody>
      <dsp:txXfrm>
        <a:off x="795537" y="791196"/>
        <a:ext cx="6805935" cy="715941"/>
      </dsp:txXfrm>
    </dsp:sp>
    <dsp:sp modelId="{D9483691-DD36-405D-BB66-9F59F2F1E989}">
      <dsp:nvSpPr>
        <dsp:cNvPr id="0" name=""/>
        <dsp:cNvSpPr/>
      </dsp:nvSpPr>
      <dsp:spPr>
        <a:xfrm>
          <a:off x="0" y="1812415"/>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0F1DA-74F8-4710-885C-433C2757E97E}">
      <dsp:nvSpPr>
        <dsp:cNvPr id="0" name=""/>
        <dsp:cNvSpPr/>
      </dsp:nvSpPr>
      <dsp:spPr>
        <a:xfrm>
          <a:off x="216572" y="1952353"/>
          <a:ext cx="393767" cy="39376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AB94E-82BD-4674-9EC8-70CF34F5480A}">
      <dsp:nvSpPr>
        <dsp:cNvPr id="0" name=""/>
        <dsp:cNvSpPr/>
      </dsp:nvSpPr>
      <dsp:spPr>
        <a:xfrm>
          <a:off x="826912" y="1656139"/>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GB" sz="1600" kern="1200" dirty="0"/>
            <a:t>Calculations surrounding share value (using DDM)</a:t>
          </a:r>
          <a:endParaRPr lang="en-US" sz="1600" kern="1200" dirty="0">
            <a:solidFill>
              <a:prstClr val="black">
                <a:hueOff val="0"/>
                <a:satOff val="0"/>
                <a:lumOff val="0"/>
                <a:alphaOff val="0"/>
              </a:prstClr>
            </a:solidFill>
            <a:latin typeface="Calibri"/>
            <a:ea typeface="+mn-ea"/>
            <a:cs typeface="+mn-cs"/>
          </a:endParaRPr>
        </a:p>
      </dsp:txBody>
      <dsp:txXfrm>
        <a:off x="826912" y="1656139"/>
        <a:ext cx="6805935" cy="715941"/>
      </dsp:txXfrm>
    </dsp:sp>
    <dsp:sp modelId="{CF075505-E8EA-4669-BABA-401DC8E15F63}">
      <dsp:nvSpPr>
        <dsp:cNvPr id="0" name=""/>
        <dsp:cNvSpPr/>
      </dsp:nvSpPr>
      <dsp:spPr>
        <a:xfrm>
          <a:off x="0" y="2687606"/>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A3712-49CF-4236-AB50-E8F4285D1C0B}">
      <dsp:nvSpPr>
        <dsp:cNvPr id="0" name=""/>
        <dsp:cNvSpPr/>
      </dsp:nvSpPr>
      <dsp:spPr>
        <a:xfrm>
          <a:off x="216025" y="2845839"/>
          <a:ext cx="393767" cy="393767"/>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E4A487-9A78-4477-AD2C-F1EA03B28256}">
      <dsp:nvSpPr>
        <dsp:cNvPr id="0" name=""/>
        <dsp:cNvSpPr/>
      </dsp:nvSpPr>
      <dsp:spPr>
        <a:xfrm>
          <a:off x="852911" y="2670077"/>
          <a:ext cx="6498987"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US" sz="1600" kern="1200" dirty="0">
              <a:solidFill>
                <a:prstClr val="black">
                  <a:hueOff val="0"/>
                  <a:satOff val="0"/>
                  <a:lumOff val="0"/>
                  <a:alphaOff val="0"/>
                </a:prstClr>
              </a:solidFill>
              <a:latin typeface="Calibri"/>
              <a:ea typeface="+mn-ea"/>
              <a:cs typeface="+mn-cs"/>
            </a:rPr>
            <a:t>Understanding Rights issues and calculations</a:t>
          </a:r>
          <a:endParaRPr lang="en-GB" sz="1600" kern="1200" dirty="0">
            <a:solidFill>
              <a:prstClr val="black">
                <a:hueOff val="0"/>
                <a:satOff val="0"/>
                <a:lumOff val="0"/>
                <a:alphaOff val="0"/>
              </a:prstClr>
            </a:solidFill>
            <a:latin typeface="Calibri"/>
            <a:ea typeface="+mn-ea"/>
            <a:cs typeface="+mn-cs"/>
          </a:endParaRPr>
        </a:p>
      </dsp:txBody>
      <dsp:txXfrm>
        <a:off x="852911" y="2670077"/>
        <a:ext cx="6498987" cy="7159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CCFB0-6C1F-4790-8677-D5F70B93E05D}">
      <dsp:nvSpPr>
        <dsp:cNvPr id="0" name=""/>
        <dsp:cNvSpPr/>
      </dsp:nvSpPr>
      <dsp:spPr>
        <a:xfrm>
          <a:off x="0" y="1412"/>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7B6DA-DCF0-4941-B35E-FED592CAD9C7}">
      <dsp:nvSpPr>
        <dsp:cNvPr id="0" name=""/>
        <dsp:cNvSpPr/>
      </dsp:nvSpPr>
      <dsp:spPr>
        <a:xfrm>
          <a:off x="216572" y="162499"/>
          <a:ext cx="393767" cy="39376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AF9EC2-7666-4444-BBD8-9355F2C63196}">
      <dsp:nvSpPr>
        <dsp:cNvPr id="0" name=""/>
        <dsp:cNvSpPr/>
      </dsp:nvSpPr>
      <dsp:spPr>
        <a:xfrm>
          <a:off x="799144" y="2"/>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711200">
            <a:lnSpc>
              <a:spcPct val="100000"/>
            </a:lnSpc>
            <a:spcBef>
              <a:spcPct val="0"/>
            </a:spcBef>
            <a:spcAft>
              <a:spcPct val="35000"/>
            </a:spcAft>
            <a:buNone/>
          </a:pPr>
          <a:r>
            <a:rPr lang="en-GB" sz="1600" kern="1200" dirty="0"/>
            <a:t>What is equity</a:t>
          </a:r>
          <a:endParaRPr lang="en-US" sz="1600" kern="1200" dirty="0">
            <a:latin typeface="Arial" panose="020B0604020202020204" pitchFamily="34" charset="0"/>
            <a:cs typeface="Arial" panose="020B0604020202020204" pitchFamily="34" charset="0"/>
          </a:endParaRPr>
        </a:p>
      </dsp:txBody>
      <dsp:txXfrm>
        <a:off x="799144" y="2"/>
        <a:ext cx="6805935" cy="715941"/>
      </dsp:txXfrm>
    </dsp:sp>
    <dsp:sp modelId="{61B30C71-B6B1-4EDB-8941-25699A6AA799}">
      <dsp:nvSpPr>
        <dsp:cNvPr id="0" name=""/>
        <dsp:cNvSpPr/>
      </dsp:nvSpPr>
      <dsp:spPr>
        <a:xfrm>
          <a:off x="0" y="896339"/>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D45ED-93A9-4CB5-BBC6-41722BB2CC37}">
      <dsp:nvSpPr>
        <dsp:cNvPr id="0" name=""/>
        <dsp:cNvSpPr/>
      </dsp:nvSpPr>
      <dsp:spPr>
        <a:xfrm>
          <a:off x="216572" y="1057426"/>
          <a:ext cx="393767" cy="39376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B4CC27-4AE8-44EB-98DC-4F45EE52C0EB}">
      <dsp:nvSpPr>
        <dsp:cNvPr id="0" name=""/>
        <dsp:cNvSpPr/>
      </dsp:nvSpPr>
      <dsp:spPr>
        <a:xfrm>
          <a:off x="795537" y="791196"/>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GB" sz="1600" kern="1200" dirty="0"/>
            <a:t>Types of shares</a:t>
          </a:r>
          <a:endParaRPr lang="en-US" sz="1600" kern="1200" dirty="0">
            <a:solidFill>
              <a:prstClr val="black">
                <a:hueOff val="0"/>
                <a:satOff val="0"/>
                <a:lumOff val="0"/>
                <a:alphaOff val="0"/>
              </a:prstClr>
            </a:solidFill>
            <a:latin typeface="Segoe Sans"/>
            <a:ea typeface="+mn-ea"/>
            <a:cs typeface="+mn-cs"/>
          </a:endParaRPr>
        </a:p>
      </dsp:txBody>
      <dsp:txXfrm>
        <a:off x="795537" y="791196"/>
        <a:ext cx="6805935" cy="715941"/>
      </dsp:txXfrm>
    </dsp:sp>
    <dsp:sp modelId="{D9483691-DD36-405D-BB66-9F59F2F1E989}">
      <dsp:nvSpPr>
        <dsp:cNvPr id="0" name=""/>
        <dsp:cNvSpPr/>
      </dsp:nvSpPr>
      <dsp:spPr>
        <a:xfrm>
          <a:off x="0" y="1812415"/>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0F1DA-74F8-4710-885C-433C2757E97E}">
      <dsp:nvSpPr>
        <dsp:cNvPr id="0" name=""/>
        <dsp:cNvSpPr/>
      </dsp:nvSpPr>
      <dsp:spPr>
        <a:xfrm>
          <a:off x="216572" y="1952353"/>
          <a:ext cx="393767" cy="39376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AB94E-82BD-4674-9EC8-70CF34F5480A}">
      <dsp:nvSpPr>
        <dsp:cNvPr id="0" name=""/>
        <dsp:cNvSpPr/>
      </dsp:nvSpPr>
      <dsp:spPr>
        <a:xfrm>
          <a:off x="826912" y="1656139"/>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GB" sz="1600" kern="1200" dirty="0"/>
            <a:t>Calculations surrounding share value (using DDM)</a:t>
          </a:r>
          <a:endParaRPr lang="en-US" sz="1600" kern="1200" dirty="0">
            <a:solidFill>
              <a:prstClr val="black">
                <a:hueOff val="0"/>
                <a:satOff val="0"/>
                <a:lumOff val="0"/>
                <a:alphaOff val="0"/>
              </a:prstClr>
            </a:solidFill>
            <a:latin typeface="Calibri"/>
            <a:ea typeface="+mn-ea"/>
            <a:cs typeface="+mn-cs"/>
          </a:endParaRPr>
        </a:p>
      </dsp:txBody>
      <dsp:txXfrm>
        <a:off x="826912" y="1656139"/>
        <a:ext cx="6805935" cy="715941"/>
      </dsp:txXfrm>
    </dsp:sp>
    <dsp:sp modelId="{CF075505-E8EA-4669-BABA-401DC8E15F63}">
      <dsp:nvSpPr>
        <dsp:cNvPr id="0" name=""/>
        <dsp:cNvSpPr/>
      </dsp:nvSpPr>
      <dsp:spPr>
        <a:xfrm>
          <a:off x="0" y="2687606"/>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A3712-49CF-4236-AB50-E8F4285D1C0B}">
      <dsp:nvSpPr>
        <dsp:cNvPr id="0" name=""/>
        <dsp:cNvSpPr/>
      </dsp:nvSpPr>
      <dsp:spPr>
        <a:xfrm>
          <a:off x="216025" y="2845839"/>
          <a:ext cx="393767" cy="393767"/>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E4A487-9A78-4477-AD2C-F1EA03B28256}">
      <dsp:nvSpPr>
        <dsp:cNvPr id="0" name=""/>
        <dsp:cNvSpPr/>
      </dsp:nvSpPr>
      <dsp:spPr>
        <a:xfrm>
          <a:off x="852911" y="2670077"/>
          <a:ext cx="6498987"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US" sz="1600" kern="1200" dirty="0">
              <a:solidFill>
                <a:prstClr val="black">
                  <a:hueOff val="0"/>
                  <a:satOff val="0"/>
                  <a:lumOff val="0"/>
                  <a:alphaOff val="0"/>
                </a:prstClr>
              </a:solidFill>
              <a:latin typeface="Calibri"/>
              <a:ea typeface="+mn-ea"/>
              <a:cs typeface="+mn-cs"/>
            </a:rPr>
            <a:t>Understanding Rights issues and calculations</a:t>
          </a:r>
          <a:endParaRPr lang="en-GB" sz="1600" kern="1200" dirty="0">
            <a:solidFill>
              <a:prstClr val="black">
                <a:hueOff val="0"/>
                <a:satOff val="0"/>
                <a:lumOff val="0"/>
                <a:alphaOff val="0"/>
              </a:prstClr>
            </a:solidFill>
            <a:latin typeface="Calibri"/>
            <a:ea typeface="+mn-ea"/>
            <a:cs typeface="+mn-cs"/>
          </a:endParaRPr>
        </a:p>
      </dsp:txBody>
      <dsp:txXfrm>
        <a:off x="852911" y="2670077"/>
        <a:ext cx="6498987" cy="71594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2971800" cy="459317"/>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8684685"/>
            <a:ext cx="2971800" cy="45931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3885010" y="8684685"/>
            <a:ext cx="2971800" cy="459316"/>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5:23:44.287"/>
    </inkml:context>
    <inkml:brush xml:id="br0">
      <inkml:brushProperty name="width" value="0.1" units="cm"/>
      <inkml:brushProperty name="height" value="0.1" units="cm"/>
      <inkml:brushProperty name="color" value="#AB008B"/>
    </inkml:brush>
  </inkml:definitions>
  <inkml:trace contextRef="#ctx0" brushRef="#br0">1073 144 24575,'-1'-2'0,"0"1"0,0-1 0,0 1 0,0-1 0,0 1 0,0 0 0,0 0 0,0-1 0,-1 1 0,1 1 0,0-2 0,-1 1 0,1 1 0,-1-2 0,1 1 0,-1 1 0,-1-1 0,-7-5 0,-10-8 0,-1-1 0,-1 3 0,-1 0 0,-42-17 0,31 20 0,1 2 0,-2 0 0,-47-2 0,-107 6 0,168 4 0,-1 0 0,1 1 0,0 1 0,-1 2 0,2-1 0,-1 2 0,1 1 0,-30 15 0,43-18 0,1-1 0,-1 2 0,1 0 0,0 0 0,0 0 0,0 1 0,1 0 0,-1 0 0,-6 11 0,0 4 0,-18 41 0,10-20 0,6-13 0,-71 149 0,70-145 0,6-14 0,1 1 0,0-1 0,2 1 0,-7 32 0,7 8 0,2 1 0,6 69 0,-1-101 0,3-1 0,0 1 0,2-1 0,1 0 0,19 49 0,71 125 0,-82-173 0,12 22 0,2 0 0,52 66 0,-69-103 0,3 0 0,0-1 0,0 0 0,0-1 0,25 14 0,-32-22 0,6 5 0,0-1 0,1-1 0,32 11 0,49 8 0,-80-22 0,20 5 0,1-3 0,0 0 0,-1-2 0,39-1 0,-55-4 0,-1 0 0,-1-1 0,1-1 0,0-1 0,0-1 0,-1-1 0,0 0 0,0-1 0,28-16 0,-35 15 0,1 0 0,-2 0 0,1-1 0,-2-1 0,1 0 0,-1 0 0,-1-1 0,1 1 0,-2-2 0,11-20 0,3-12 0,24-76 0,-40 107 0,6-25 0,-1 0 0,-2-1 0,-1-1 0,1-49 0,-8-160 0,-3 117 0,4 17 0,-3-97 0,2 202 0,-1 1 0,1 0 0,-2-1 0,1 1 0,-2 0 0,1 0 0,-1 0 0,0 1 0,-1-1 0,0 1 0,0-1 0,-1 2 0,0-1 0,-1 0 0,1 1 0,-1 0 0,-12-10 0,3 3-455,2 0 0,-14-18 0,7 5-6371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5:23:46.227"/>
    </inkml:context>
    <inkml:brush xml:id="br0">
      <inkml:brushProperty name="width" value="0.1" units="cm"/>
      <inkml:brushProperty name="height" value="0.1" units="cm"/>
      <inkml:brushProperty name="color" value="#AB008B"/>
    </inkml:brush>
  </inkml:definitions>
  <inkml:trace contextRef="#ctx0" brushRef="#br0">1463 1 24575,'-3'1'0,"0"0"0,-1 0 0,0 1 0,1-1 0,-1 1 0,1-1 0,0 1 0,0 1 0,0-1 0,0 0 0,0 0 0,0 1 0,-1 3 0,-4 1 0,-7 5 0,-18 11 0,-2 0 0,2 1 0,-1-2 0,-1-1 0,0-1 0,-2-2 0,0-2 0,-1-2 0,-1-1 0,-43 8 0,-246 61 0,263-68 0,-12 4 0,43-7 0,1-2 0,-1-1 0,-58 5 0,15-12 193,-25 2-134,89-1-328,-1 0-1,1 0 1,-1 1-1,1 1 1,-17 7-1,13-2-6556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5:23:46.873"/>
    </inkml:context>
    <inkml:brush xml:id="br0">
      <inkml:brushProperty name="width" value="0.1" units="cm"/>
      <inkml:brushProperty name="height" value="0.1" units="cm"/>
      <inkml:brushProperty name="color" value="#AB008B"/>
    </inkml:brush>
  </inkml:definitions>
  <inkml:trace contextRef="#ctx0" brushRef="#br0">324 1 24575,'-2'0'0,"0"1"0,0-1 0,-1 0 0,1 1 0,0 0 0,0 0 0,0 0 0,1 0 0,-2 0 0,2 0 0,-3 1 0,-21 19 0,18-15 0,-14 15 0,-34 40 0,18-19 0,1-3 0,18-21 0,0 1 0,2 0 0,0 2 0,-24 39 0,40-58 0,-2 0 0,1 0 0,0 1 0,0-1 0,0 0 0,1 0 0,-1 1 0,1-1 0,-1 0 0,1 1 0,0-1 0,0 1 0,0-1 0,0 3 0,1-3 0,0 0 0,0-1 0,0 1 0,0-1 0,0 1 0,0-1 0,0 1 0,1-1 0,-1 1 0,0-1 0,1 0 0,-1 0 0,1 0 0,-1 0 0,1 0 0,0 0 0,-1 0 0,1-1 0,2 2 0,27 10 86,1-2-1,0-1 0,35 6 1,104 4-1793,-125-18-5119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5:23:48.829"/>
    </inkml:context>
    <inkml:brush xml:id="br0">
      <inkml:brushProperty name="width" value="0.1" units="cm"/>
      <inkml:brushProperty name="height" value="0.1" units="cm"/>
      <inkml:brushProperty name="color" value="#AB008B"/>
    </inkml:brush>
  </inkml:definitions>
  <inkml:trace contextRef="#ctx0" brushRef="#br0">564 50 24575,'0'-2'0,"0"1"0,-1-1 0,1 1 0,-1-1 0,1 1 0,-1 0 0,1-1 0,0 1 0,-1-1 0,0 1 0,0 0 0,1 0 0,-1-1 0,-1 1 0,2 0 0,-1 0 0,-1 0 0,2 0 0,-2 0 0,1 0 0,0 1 0,-1-1 0,2 0 0,-2 0 0,1 1 0,-1-1 0,-1 0 0,-4-1 0,-2 0 0,2 0 0,-15-2 0,18 4 0,-38-4 0,0 1 0,-1 2 0,-61 7 0,92-4 0,0 0 0,1 0 0,-1 1 0,1 1 0,-17 7 0,21-7 0,1 0 0,-1-1 0,0 2 0,0-1 0,1 2 0,0-2 0,0 2 0,1-1 0,-7 10 0,-1 4 0,1 1 0,1 0 0,1 1 0,1 0 0,0 1 0,1-1 0,2 2 0,-7 35 0,8-16 0,1 0 0,2-1 0,6 81 0,0-96 0,-1-1 0,3 1 0,0-2 0,18 45 0,-6-31 0,0-1 0,30 44 0,-34-60 0,1-1 0,1-1 0,1 1 0,1-2 0,26 22 0,-27-28 0,1 1 0,-1-2 0,2 0 0,-1-1 0,1-1 0,40 12 0,-10-9 0,1-2 0,0-2 0,0-3 0,100-3 0,-133-3 0,0 0 0,-1-1 0,1-1 0,-1 0 0,1-2 0,20-8 0,-26 8 0,-1 1 0,0-2 0,1 0 0,-2-1 0,0 0 0,0 0 0,0-1 0,0 0 0,13-18 0,-11 12 0,-2-1 0,0 0 0,0-1 0,-2 1 0,0-2 0,-1 1 0,-1-1 0,0 0 0,4-34 0,-3-5 0,-5-100 0,-2 131 0,-2 0 0,0 0 0,-2 0 0,0 0 0,-2 1 0,0 0 0,-2 0 0,-1 1 0,-1 0 0,-1 1 0,0 0 0,-2 1 0,0 0 0,-2 2 0,-23-25 0,18 22 0,-1 2 0,-2 1 0,0 0 0,-48-28 0,63 41 0,-1 2 0,0-1 0,0 2 0,-1-1 0,1 1 0,-1 1 0,1-1 0,-2 2 0,2-1 0,-1 2 0,-1 0 0,2 0 0,-1 0 0,-1 2 0,2-1 0,-18 6 0,-49 22-1365,45-17-5461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5:23:49.748"/>
    </inkml:context>
    <inkml:brush xml:id="br0">
      <inkml:brushProperty name="width" value="0.1" units="cm"/>
      <inkml:brushProperty name="height" value="0.1" units="cm"/>
      <inkml:brushProperty name="color" value="#AB008B"/>
    </inkml:brush>
  </inkml:definitions>
  <inkml:trace contextRef="#ctx0" brushRef="#br0">1 0 24575,'4'0'0,"9"5"0,11 0 0,12 0 0,9-1 0,3-1 0,3-2 0,0 1 0,0 6 0,2 3 0,5-2 0,-1-1 0,-9 5 0,-5 1 0,-17-2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5:23:50.430"/>
    </inkml:context>
    <inkml:brush xml:id="br0">
      <inkml:brushProperty name="width" value="0.1" units="cm"/>
      <inkml:brushProperty name="height" value="0.1" units="cm"/>
      <inkml:brushProperty name="color" value="#AB008B"/>
    </inkml:brush>
  </inkml:definitions>
  <inkml:trace contextRef="#ctx0" brushRef="#br0">0 1 24575,'4'1'0,"0"0"0,-1 0 0,0 0 0,0 0 0,1 1 0,-1 0 0,0 0 0,0 0 0,5 4 0,0-1 0,193 138 0,-188-134 0,0 1 0,0 1 0,-1-1 0,-1 1 0,12 15 0,-17-20 0,-2 1 0,1-1 0,-2 2 0,1-1 0,0 0 0,-1 1 0,0-1 0,-1 1 0,0 0 0,1 0 0,0 16 0,-3-20 15,0 0 0,-1 1 0,1-1 0,-1 0-1,0 1 1,0-2 0,-1 1 0,1 1 0,-1-2 0,1 1-1,-1 0 1,-1 0 0,1-1 0,0 1 0,-1-1 0,1 0 0,-1 1-1,0-1 1,0-1 0,-1 1 0,1 0 0,-8 4 0,-1 0-300,-1 0 1,-1-1-1,2 0 1,-3-1-1,-18 5 1,-1-2-6542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388501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8684684"/>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3885010" y="8684684"/>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45720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NOTE TO STUDENTS: Please see last weeks lecture slides and make sure you review them so that you understand how</a:t>
            </a: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a:t>
            </a:fld>
            <a:endParaRPr lang="en-US" altLang="en-US" dirty="0"/>
          </a:p>
        </p:txBody>
      </p:sp>
    </p:spTree>
    <p:extLst>
      <p:ext uri="{BB962C8B-B14F-4D97-AF65-F5344CB8AC3E}">
        <p14:creationId xmlns:p14="http://schemas.microsoft.com/office/powerpoint/2010/main" val="2745746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endParaRPr lang="en-GB"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3</a:t>
            </a:fld>
            <a:endParaRPr lang="en-US" altLang="en-US" dirty="0"/>
          </a:p>
        </p:txBody>
      </p:sp>
    </p:spTree>
    <p:extLst>
      <p:ext uri="{BB962C8B-B14F-4D97-AF65-F5344CB8AC3E}">
        <p14:creationId xmlns:p14="http://schemas.microsoft.com/office/powerpoint/2010/main" val="1943703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0A34707-E474-48EA-B54D-5816D1580940}" type="slidenum">
              <a:rPr lang="en-GB" smtClean="0"/>
              <a:t>4</a:t>
            </a:fld>
            <a:endParaRPr lang="en-GB"/>
          </a:p>
        </p:txBody>
      </p:sp>
    </p:spTree>
    <p:extLst>
      <p:ext uri="{BB962C8B-B14F-4D97-AF65-F5344CB8AC3E}">
        <p14:creationId xmlns:p14="http://schemas.microsoft.com/office/powerpoint/2010/main" val="3508238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Debt – impose restrictions – may require debt holders permission to dispose of secured assets, may prohibit further raising of debt finance, may have power to veto new investments they consider too risky</a:t>
            </a:r>
          </a:p>
        </p:txBody>
      </p:sp>
      <p:sp>
        <p:nvSpPr>
          <p:cNvPr id="4" name="Slide Number Placeholder 3"/>
          <p:cNvSpPr>
            <a:spLocks noGrp="1"/>
          </p:cNvSpPr>
          <p:nvPr>
            <p:ph type="sldNum" sz="quarter" idx="10"/>
          </p:nvPr>
        </p:nvSpPr>
        <p:spPr/>
        <p:txBody>
          <a:bodyPr/>
          <a:lstStyle/>
          <a:p>
            <a:fld id="{60A34707-E474-48EA-B54D-5816D1580940}" type="slidenum">
              <a:rPr lang="en-GB" smtClean="0"/>
              <a:t>5</a:t>
            </a:fld>
            <a:endParaRPr lang="en-GB"/>
          </a:p>
        </p:txBody>
      </p:sp>
    </p:spTree>
    <p:extLst>
      <p:ext uri="{BB962C8B-B14F-4D97-AF65-F5344CB8AC3E}">
        <p14:creationId xmlns:p14="http://schemas.microsoft.com/office/powerpoint/2010/main" val="1094540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5500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nominal value of equity, refers to the value assigned to a company's shares when they are issued. It is the legal minimum price per share that the company has established.</a:t>
            </a:r>
          </a:p>
          <a:p>
            <a:endParaRPr lang="en-GB" dirty="0"/>
          </a:p>
          <a:p>
            <a:r>
              <a:rPr lang="en-GB" dirty="0"/>
              <a:t>Key Points:</a:t>
            </a:r>
          </a:p>
          <a:p>
            <a:r>
              <a:rPr lang="en-GB" dirty="0"/>
              <a:t>1. Nominal Value vs. Market Value:</a:t>
            </a:r>
          </a:p>
          <a:p>
            <a:r>
              <a:rPr lang="en-GB" dirty="0"/>
              <a:t>   - The nominal value is different from the market value of a share, which fluctuates based on supply and demand in the stock market.</a:t>
            </a:r>
          </a:p>
          <a:p>
            <a:r>
              <a:rPr lang="en-GB" dirty="0"/>
              <a:t>   - Nominal value is usually a very small amount (like £1, £0.50, or even £0.01) and has little to do with the actual trading price of the shares.</a:t>
            </a:r>
          </a:p>
          <a:p>
            <a:endParaRPr lang="en-GB" dirty="0"/>
          </a:p>
          <a:p>
            <a:r>
              <a:rPr lang="en-GB" dirty="0"/>
              <a:t>2. Purpose:</a:t>
            </a:r>
          </a:p>
          <a:p>
            <a:r>
              <a:rPr lang="en-GB" dirty="0"/>
              <a:t>   - The primary function of the nominal value is to represent the minimum capital contribution a shareholder makes to the company when they purchase a share. </a:t>
            </a:r>
          </a:p>
          <a:p>
            <a:r>
              <a:rPr lang="en-GB" dirty="0"/>
              <a:t>   - It helps protect creditors by ensuring that a company raises at least a certain amount of capital from its shareholders.</a:t>
            </a:r>
          </a:p>
          <a:p>
            <a:endParaRPr lang="en-GB" dirty="0"/>
          </a:p>
          <a:p>
            <a:r>
              <a:rPr lang="en-GB" dirty="0"/>
              <a:t>3. Impact on Financial Statements:</a:t>
            </a:r>
          </a:p>
          <a:p>
            <a:r>
              <a:rPr lang="en-GB" dirty="0"/>
              <a:t>   - On the company's balance sheet, the nominal value of issued shares is recorded in the share capital section under equity. Any amount received over and above the nominal value when shares are issued is recorded in a separate account called the share premium account.</a:t>
            </a:r>
          </a:p>
          <a:p>
            <a:endParaRPr lang="en-GB" dirty="0"/>
          </a:p>
          <a:p>
            <a:r>
              <a:rPr lang="en-GB" dirty="0"/>
              <a:t>For example, if a company issues 1,000 shares with a nominal value of £1 per share, the nominal value of the equity would be £1,000. If those shares are sold at £5 each, the company would have £1,000 in share capital and £4,000 in share premium.</a:t>
            </a:r>
          </a:p>
          <a:p>
            <a:endParaRPr lang="en-GB" dirty="0"/>
          </a:p>
          <a:p>
            <a:endParaRPr lang="en-GB" dirty="0"/>
          </a:p>
          <a:p>
            <a:r>
              <a:rPr lang="en-GB" b="1" dirty="0"/>
              <a:t>Key Components of SH Equity:</a:t>
            </a:r>
          </a:p>
          <a:p>
            <a:pPr>
              <a:buFont typeface="+mj-lt"/>
              <a:buAutoNum type="arabicPeriod"/>
            </a:pPr>
            <a:r>
              <a:rPr lang="en-GB" b="1" dirty="0"/>
              <a:t>Common Stock</a:t>
            </a:r>
            <a:r>
              <a:rPr lang="en-GB" dirty="0"/>
              <a:t>: Represents the par value of all issued shares of common stock.</a:t>
            </a:r>
          </a:p>
          <a:p>
            <a:pPr>
              <a:buFont typeface="+mj-lt"/>
              <a:buAutoNum type="arabicPeriod"/>
            </a:pPr>
            <a:r>
              <a:rPr lang="en-GB" b="1" dirty="0"/>
              <a:t>Preferred Stock</a:t>
            </a:r>
            <a:r>
              <a:rPr lang="en-GB" dirty="0"/>
              <a:t>: Represents the par value of issued preferred shares, if any.</a:t>
            </a:r>
          </a:p>
          <a:p>
            <a:pPr>
              <a:buFont typeface="+mj-lt"/>
              <a:buAutoNum type="arabicPeriod"/>
            </a:pPr>
            <a:r>
              <a:rPr lang="en-GB" b="1" dirty="0"/>
              <a:t>Retained Earnings</a:t>
            </a:r>
            <a:r>
              <a:rPr lang="en-GB" dirty="0"/>
              <a:t>: Profits that the company has retained or reinvested in the business instead of distributing to shareholders as dividends.</a:t>
            </a:r>
          </a:p>
          <a:p>
            <a:pPr>
              <a:buFont typeface="+mj-lt"/>
              <a:buAutoNum type="arabicPeriod"/>
            </a:pPr>
            <a:r>
              <a:rPr lang="en-GB" b="1" dirty="0"/>
              <a:t>Share Premium</a:t>
            </a:r>
            <a:r>
              <a:rPr lang="en-GB" dirty="0"/>
              <a:t>: The amount received by the company above the nominal or par value of the shares when the company issued stock.</a:t>
            </a:r>
          </a:p>
          <a:p>
            <a:pPr>
              <a:buFont typeface="+mj-lt"/>
              <a:buAutoNum type="arabicPeriod"/>
            </a:pPr>
            <a:r>
              <a:rPr lang="en-GB" b="1" dirty="0"/>
              <a:t>Treasury Stock</a:t>
            </a:r>
            <a:r>
              <a:rPr lang="en-GB" dirty="0"/>
              <a:t> (if applicable): The cost of shares that the company has repurchased from investors, which reduces shareholders’ equity.</a:t>
            </a:r>
          </a:p>
          <a:p>
            <a:pPr>
              <a:buFont typeface="+mj-lt"/>
              <a:buAutoNum type="arabicPeriod"/>
            </a:pPr>
            <a:r>
              <a:rPr lang="en-GB" b="1" dirty="0"/>
              <a:t>Other Comprehensive Income (OCI)</a:t>
            </a:r>
            <a:r>
              <a:rPr lang="en-GB" dirty="0"/>
              <a:t>: Includes unrealized gains and losses from items like foreign currency translation, derivative hedging, and pension liabilities.</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0619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9371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D10852C6-94DD-1BDF-A96B-C13721B4B31C}"/>
              </a:ext>
            </a:extLst>
          </p:cNvPr>
          <p:cNvSpPr>
            <a:spLocks noGrp="1"/>
          </p:cNvSpPr>
          <p:nvPr>
            <p:ph type="body" idx="1"/>
          </p:nvPr>
        </p:nvSpPr>
        <p:spPr/>
        <p:txBody>
          <a:bodyPr/>
          <a:lstStyle/>
          <a:p>
            <a:r>
              <a:rPr lang="en-GB" b="1" dirty="0"/>
              <a:t>Procter &amp; Gamble (PG)</a:t>
            </a:r>
            <a:r>
              <a:rPr lang="en-GB" dirty="0"/>
              <a:t>: Procter &amp; Gamble is another company known for its reliable dividend policy. By increasing its dividend for over 60 consecutive years, it signals to investors that it has a strong business model and cash flow, which helps reinforce investor trust and attracts long-term shareholders.</a:t>
            </a:r>
          </a:p>
          <a:p>
            <a:r>
              <a:rPr lang="en-GB" b="1" dirty="0"/>
              <a:t>Johnson &amp; Johnson (JNJ)</a:t>
            </a:r>
            <a:r>
              <a:rPr lang="en-GB" dirty="0"/>
              <a:t>: Johnson &amp; Johnson has a solid history of dividend growth. In times of market uncertainty, such as during economic recessions, its commitment to maintaining or increasing dividends can reassure investors about the company's financial health and ability to generate profits.</a:t>
            </a:r>
          </a:p>
          <a:p>
            <a:r>
              <a:rPr lang="en-GB" b="1" dirty="0"/>
              <a:t>Apple (AAPL)</a:t>
            </a:r>
            <a:r>
              <a:rPr lang="en-GB" dirty="0"/>
              <a:t>: Although Apple had a long period without dividends, when it resumed paying dividends in 2012 and began to increase them steadily, it </a:t>
            </a:r>
            <a:r>
              <a:rPr lang="en-GB" dirty="0" err="1"/>
              <a:t>signaled</a:t>
            </a:r>
            <a:r>
              <a:rPr lang="en-GB" dirty="0"/>
              <a:t> that the company was generating enough cash to reward shareholders, even while investing heavily in growth.</a:t>
            </a:r>
          </a:p>
          <a:p>
            <a:endParaRPr lang="en-GB" dirty="0"/>
          </a:p>
        </p:txBody>
      </p:sp>
    </p:spTree>
    <p:extLst>
      <p:ext uri="{BB962C8B-B14F-4D97-AF65-F5344CB8AC3E}">
        <p14:creationId xmlns:p14="http://schemas.microsoft.com/office/powerpoint/2010/main" val="2409289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D0E6D24-8B41-C3BB-6BB6-65D570E7141F}"/>
              </a:ext>
            </a:extLst>
          </p:cNvPr>
          <p:cNvSpPr>
            <a:spLocks noGrp="1"/>
          </p:cNvSpPr>
          <p:nvPr>
            <p:ph type="body" idx="1"/>
          </p:nvPr>
        </p:nvSpPr>
        <p:spPr/>
        <p:txBody>
          <a:bodyPr/>
          <a:lstStyle/>
          <a:p>
            <a:r>
              <a:rPr lang="en-GB" dirty="0"/>
              <a:t>During a company's growth phase, dividends are forecasted individually, but once the company reaches maturity and establishes a consistent growth pattern, the GGM can be effectively used for valuation.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7012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6976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17117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6430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1410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1803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5939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a:t>£4 x 0.7 = £2.80</a:t>
            </a:r>
          </a:p>
          <a:p>
            <a:pPr marL="228600" indent="-228600">
              <a:buAutoNum type="arabicPeriod"/>
            </a:pPr>
            <a:r>
              <a:rPr lang="en-GB" dirty="0"/>
              <a:t>£1.12m / £2.8 = 400,000 shares</a:t>
            </a:r>
          </a:p>
          <a:p>
            <a:pPr marL="228600" indent="-228600">
              <a:buAutoNum type="arabicPeriod"/>
            </a:pPr>
            <a:r>
              <a:rPr lang="en-GB" dirty="0"/>
              <a:t>2000000/400000 =  5… 1:5, 1 for 5 rights issue, 1 new share for every 5 existing</a:t>
            </a:r>
          </a:p>
          <a:p>
            <a:pPr marL="228600" indent="-228600">
              <a:buAutoNum type="arabicPeriod"/>
            </a:pPr>
            <a:r>
              <a:rPr lang="en-GB" dirty="0"/>
              <a:t>TERP = weighted average: EXISTING SHARES  5 x £4 = £20</a:t>
            </a:r>
          </a:p>
          <a:p>
            <a:pPr marL="1828800" lvl="4" indent="0">
              <a:buNone/>
            </a:pPr>
            <a:r>
              <a:rPr lang="en-GB" dirty="0"/>
              <a:t>NEW SHARES           1 x £2.8 = £2.80</a:t>
            </a:r>
          </a:p>
          <a:p>
            <a:pPr marL="1828800" lvl="4" indent="0">
              <a:buNone/>
            </a:pPr>
            <a:r>
              <a:rPr lang="en-GB" dirty="0"/>
              <a:t>TOTAL SHARE           6 x ?        = £22.80</a:t>
            </a:r>
          </a:p>
          <a:p>
            <a:pPr marL="1828800" lvl="4" indent="0">
              <a:buNone/>
            </a:pPr>
            <a:r>
              <a:rPr lang="en-GB" dirty="0"/>
              <a:t>TERP  	          ?=22.80/6=£3.80 per share</a:t>
            </a:r>
          </a:p>
        </p:txBody>
      </p:sp>
      <p:sp>
        <p:nvSpPr>
          <p:cNvPr id="4" name="Slide Number Placeholder 3"/>
          <p:cNvSpPr>
            <a:spLocks noGrp="1"/>
          </p:cNvSpPr>
          <p:nvPr>
            <p:ph type="sldNum" sz="quarter" idx="5"/>
          </p:nvPr>
        </p:nvSpPr>
        <p:spPr/>
        <p:txBody>
          <a:bodyPr/>
          <a:lstStyle/>
          <a:p>
            <a:fld id="{A75D0711-3F1D-4CD5-AAB6-758DB7EED022}" type="slidenum">
              <a:rPr lang="en-GB" smtClean="0"/>
              <a:t>21</a:t>
            </a:fld>
            <a:endParaRPr lang="en-GB" dirty="0"/>
          </a:p>
        </p:txBody>
      </p:sp>
    </p:spTree>
    <p:extLst>
      <p:ext uri="{BB962C8B-B14F-4D97-AF65-F5344CB8AC3E}">
        <p14:creationId xmlns:p14="http://schemas.microsoft.com/office/powerpoint/2010/main" val="2921230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a:t>£4 x 0.7 = £2.80</a:t>
            </a:r>
          </a:p>
          <a:p>
            <a:pPr marL="228600" indent="-228600">
              <a:buAutoNum type="arabicPeriod"/>
            </a:pPr>
            <a:r>
              <a:rPr lang="en-GB" dirty="0"/>
              <a:t>£1.12m / £2.8 = 400,000 shares</a:t>
            </a:r>
          </a:p>
          <a:p>
            <a:pPr marL="228600" indent="-228600">
              <a:buAutoNum type="arabicPeriod"/>
            </a:pPr>
            <a:r>
              <a:rPr lang="en-GB" dirty="0"/>
              <a:t>2000000/400000 =  5… 1:5, 1 for 5 rights issue, 1 new share for every 5 existing</a:t>
            </a:r>
          </a:p>
          <a:p>
            <a:pPr marL="228600" indent="-228600">
              <a:buAutoNum type="arabicPeriod"/>
            </a:pPr>
            <a:r>
              <a:rPr lang="en-GB" dirty="0"/>
              <a:t>TERP = weighted average: EXISTING SHARES  5 x £4 = £20</a:t>
            </a:r>
          </a:p>
          <a:p>
            <a:pPr marL="1828800" lvl="4" indent="0">
              <a:buNone/>
            </a:pPr>
            <a:r>
              <a:rPr lang="en-GB" dirty="0"/>
              <a:t>NEW SHARES           1 x £2.8 = £2.80</a:t>
            </a:r>
          </a:p>
          <a:p>
            <a:pPr marL="1828800" lvl="4" indent="0">
              <a:buNone/>
            </a:pPr>
            <a:r>
              <a:rPr lang="en-GB" dirty="0"/>
              <a:t>TOTAL SHARE           6 x ?        = £22.80</a:t>
            </a:r>
          </a:p>
          <a:p>
            <a:pPr marL="1828800" lvl="4" indent="0">
              <a:buNone/>
            </a:pPr>
            <a:r>
              <a:rPr lang="en-GB" dirty="0"/>
              <a:t>TERP  	          ?=22.80/6=£3.80 per share</a:t>
            </a:r>
          </a:p>
          <a:p>
            <a:endParaRPr lang="en-GB" dirty="0"/>
          </a:p>
        </p:txBody>
      </p:sp>
      <p:sp>
        <p:nvSpPr>
          <p:cNvPr id="4" name="Slide Number Placeholder 3"/>
          <p:cNvSpPr>
            <a:spLocks noGrp="1"/>
          </p:cNvSpPr>
          <p:nvPr>
            <p:ph type="sldNum" sz="quarter" idx="5"/>
          </p:nvPr>
        </p:nvSpPr>
        <p:spPr/>
        <p:txBody>
          <a:bodyPr/>
          <a:lstStyle/>
          <a:p>
            <a:fld id="{A75D0711-3F1D-4CD5-AAB6-758DB7EED022}" type="slidenum">
              <a:rPr lang="en-GB" smtClean="0"/>
              <a:t>23</a:t>
            </a:fld>
            <a:endParaRPr lang="en-GB" dirty="0"/>
          </a:p>
        </p:txBody>
      </p:sp>
    </p:spTree>
    <p:extLst>
      <p:ext uri="{BB962C8B-B14F-4D97-AF65-F5344CB8AC3E}">
        <p14:creationId xmlns:p14="http://schemas.microsoft.com/office/powerpoint/2010/main" val="2947489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CF137-79AF-759A-64DF-0DE6F2A1B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880551-CBAE-C53F-1FD0-4E3F2A4A9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37F42-16F5-59F7-4A08-0ACBF1F7EAA4}"/>
              </a:ext>
            </a:extLst>
          </p:cNvPr>
          <p:cNvSpPr>
            <a:spLocks noGrp="1"/>
          </p:cNvSpPr>
          <p:nvPr>
            <p:ph type="body" idx="1"/>
          </p:nvPr>
        </p:nvSpPr>
        <p:spPr/>
        <p:txBody>
          <a:bodyPr/>
          <a:lstStyle/>
          <a:p>
            <a:pPr marL="457200" indent="-457200" algn="just">
              <a:buFont typeface="Arial" panose="020B0604020202020204" pitchFamily="34" charset="0"/>
              <a:buChar char="•"/>
            </a:pPr>
            <a:endParaRPr lang="en-GB"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F21E9F-E486-8288-7765-57653A345F6D}"/>
              </a:ext>
            </a:extLst>
          </p:cNvPr>
          <p:cNvSpPr>
            <a:spLocks noGrp="1"/>
          </p:cNvSpPr>
          <p:nvPr>
            <p:ph type="sldNum" sz="quarter" idx="5"/>
          </p:nvPr>
        </p:nvSpPr>
        <p:spPr/>
        <p:txBody>
          <a:bodyPr/>
          <a:lstStyle/>
          <a:p>
            <a:pPr>
              <a:defRPr/>
            </a:pPr>
            <a:fld id="{85360570-2B09-DB43-BBE0-DA076DA911F1}" type="slidenum">
              <a:rPr lang="en-US" altLang="en-US" smtClean="0"/>
              <a:pPr>
                <a:defRPr/>
              </a:pPr>
              <a:t>24</a:t>
            </a:fld>
            <a:endParaRPr lang="en-US" altLang="en-US" dirty="0"/>
          </a:p>
        </p:txBody>
      </p:sp>
    </p:spTree>
    <p:extLst>
      <p:ext uri="{BB962C8B-B14F-4D97-AF65-F5344CB8AC3E}">
        <p14:creationId xmlns:p14="http://schemas.microsoft.com/office/powerpoint/2010/main" val="9474884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A7A708D-0180-424B-8170-B8C7498B3081}" type="slidenum">
              <a:rPr lang="en-GB" smtClean="0"/>
              <a:t>25</a:t>
            </a:fld>
            <a:endParaRPr lang="en-GB"/>
          </a:p>
        </p:txBody>
      </p:sp>
    </p:spTree>
    <p:extLst>
      <p:ext uri="{BB962C8B-B14F-4D97-AF65-F5344CB8AC3E}">
        <p14:creationId xmlns:p14="http://schemas.microsoft.com/office/powerpoint/2010/main" val="18497832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nSpc>
                <a:spcPts val="1300"/>
              </a:lnSpc>
              <a:spcBef>
                <a:spcPts val="0"/>
              </a:spcBef>
              <a:buFontTx/>
              <a:buNone/>
              <a:defRPr sz="16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7"/>
            <a:ext cx="1219139" cy="402300"/>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5" y="2913639"/>
            <a:ext cx="1219139" cy="371345"/>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Click to 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345828"/>
          </a:xfrm>
          <a:prstGeom prst="rect">
            <a:avLst/>
          </a:prstGeom>
        </p:spPr>
        <p:txBody>
          <a:bodyPr lIns="0" tIns="0" rIns="0" bIns="0"/>
          <a:lstStyle>
            <a:lvl1pPr marL="0" indent="0">
              <a:lnSpc>
                <a:spcPts val="1300"/>
              </a:lnSpc>
              <a:spcBef>
                <a:spcPts val="0"/>
              </a:spcBef>
              <a:buFontTx/>
              <a:buNone/>
              <a:defRPr sz="1600" b="0" i="0">
                <a:solidFill>
                  <a:schemeClr val="bg1"/>
                </a:solidFill>
                <a:latin typeface="+mn-lt"/>
                <a:ea typeface="Tahoma"/>
                <a:cs typeface="Tahoma"/>
              </a:defRPr>
            </a:lvl1pPr>
          </a:lstStyle>
          <a:p>
            <a:pPr lvl="0"/>
            <a:r>
              <a:rPr lang="en-US" dirty="0"/>
              <a:t>Presentation date</a:t>
            </a:r>
          </a:p>
        </p:txBody>
      </p:sp>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1A9DAC"/>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1A9DAC"/>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1A9DAC"/>
              </a:buClr>
              <a:tabLst/>
              <a:defRPr sz="1800">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lvl1pPr>
              <a:defRPr>
                <a:solidFill>
                  <a:srgbClr val="1A9DAC"/>
                </a:solidFill>
              </a:defRPr>
            </a:lvl1pPr>
          </a:lstStyle>
          <a:p>
            <a:r>
              <a:rPr lang="en-US"/>
              <a:t>Click to edit Master title style</a:t>
            </a:r>
            <a:endParaRPr lang="en-US" dirty="0"/>
          </a:p>
        </p:txBody>
      </p:sp>
      <p:sp>
        <p:nvSpPr>
          <p:cNvPr id="3" name="Text Placeholder 2"/>
          <p:cNvSpPr>
            <a:spLocks noGrp="1"/>
          </p:cNvSpPr>
          <p:nvPr>
            <p:ph type="body" sz="quarter" idx="11"/>
          </p:nvPr>
        </p:nvSpPr>
        <p:spPr>
          <a:xfrm>
            <a:off x="900113" y="1700213"/>
            <a:ext cx="6551612" cy="4465637"/>
          </a:xfrm>
          <a:prstGeom prst="rect">
            <a:avLst/>
          </a:prstGeom>
        </p:spPr>
        <p:txBody>
          <a:bodyPr lIns="0" tIns="0" rIns="0" bIns="0"/>
          <a:lstStyle>
            <a:lvl1pPr marL="266700" indent="-266700">
              <a:buClr>
                <a:srgbClr val="1A9DAC"/>
              </a:buClr>
              <a:buFont typeface="+mj-lt"/>
              <a:buAutoNum type="arabicPeriod"/>
              <a:defRPr sz="1800">
                <a:latin typeface="+mn-lt"/>
                <a:ea typeface="Tahoma" panose="020B0604030504040204" pitchFamily="34" charset="0"/>
                <a:cs typeface="Tahoma" panose="020B0604030504040204" pitchFamily="34" charset="0"/>
              </a:defRPr>
            </a:lvl1pPr>
            <a:lvl2pPr marL="609600" indent="-342900">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915988" marR="0" indent="-285750" algn="l" defTabSz="606425" rtl="0" eaLnBrk="1" fontAlgn="base" latinLnBrk="0" hangingPunct="1">
              <a:lnSpc>
                <a:spcPct val="100000"/>
              </a:lnSpc>
              <a:spcBef>
                <a:spcPct val="20000"/>
              </a:spcBef>
              <a:spcAft>
                <a:spcPct val="0"/>
              </a:spcAft>
              <a:buClr>
                <a:srgbClr val="1A9DAC"/>
              </a:buClr>
              <a:buSzTx/>
              <a:buFont typeface="Arial" panose="020B0604020202020204" pitchFamily="34" charset="0"/>
              <a:buChar char="•"/>
              <a:tabLst/>
              <a:defRPr sz="18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Click to 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lvl1pPr>
              <a:defRPr>
                <a:solidFill>
                  <a:srgbClr val="1A9DAC"/>
                </a:solidFill>
              </a:defRPr>
            </a:lvl1p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lvl1pPr>
              <a:defRPr>
                <a:solidFill>
                  <a:srgbClr val="1A9DAC"/>
                </a:solidFill>
              </a:defRPr>
            </a:lvl1p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baseline="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966788" indent="0">
              <a:buFont typeface="Arial" panose="020B0604020202020204" pitchFamily="34" charset="0"/>
              <a:buNone/>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0"/>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lvl1pPr>
              <a:defRPr>
                <a:solidFill>
                  <a:srgbClr val="1A9DAC"/>
                </a:solidFill>
              </a:defRPr>
            </a:lvl1pPr>
          </a:lstStyle>
          <a:p>
            <a:r>
              <a:rPr lang="en-US"/>
              <a:t>Click to edit Master title style</a:t>
            </a:r>
            <a:endParaRPr lang="en-US" dirty="0"/>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lvl1pPr>
              <a:defRPr>
                <a:solidFill>
                  <a:srgbClr val="1A9DAC"/>
                </a:soli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312368"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Click to 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lvl1pPr>
              <a:defRPr>
                <a:solidFill>
                  <a:srgbClr val="1A9DAC"/>
                </a:solidFill>
              </a:defRPr>
            </a:lvl1p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lvl1pPr>
              <a:defRPr>
                <a:solidFill>
                  <a:srgbClr val="1A9DAC"/>
                </a:solidFill>
              </a:defRPr>
            </a:lvl1p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US"/>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US"/>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6"/>
            <a:ext cx="7886700" cy="768356"/>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US"/>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US"/>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224136"/>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1A9DAC"/>
                </a:solidFill>
                <a:latin typeface="+mj-lt"/>
              </a:defRPr>
            </a:lvl1pPr>
            <a:lvl2pPr marL="609600" indent="0">
              <a:lnSpc>
                <a:spcPts val="3600"/>
              </a:lnSpc>
              <a:buNone/>
              <a:defRPr sz="2800" b="0" i="1" baseline="0">
                <a:solidFill>
                  <a:srgbClr val="1A9DAC"/>
                </a:solidFill>
                <a:latin typeface="+mj-lt"/>
              </a:defRPr>
            </a:lvl2pPr>
            <a:lvl3pPr marL="1219200" indent="0">
              <a:lnSpc>
                <a:spcPts val="3600"/>
              </a:lnSpc>
              <a:buNone/>
              <a:defRPr sz="2800" b="0" i="1" baseline="0">
                <a:solidFill>
                  <a:srgbClr val="1A9DAC"/>
                </a:solidFill>
                <a:latin typeface="+mj-lt"/>
              </a:defRPr>
            </a:lvl3pPr>
            <a:lvl4pPr marL="1828800" indent="0">
              <a:lnSpc>
                <a:spcPts val="3600"/>
              </a:lnSpc>
              <a:buNone/>
              <a:defRPr sz="2800" b="0" i="1" baseline="0">
                <a:solidFill>
                  <a:srgbClr val="1A9DAC"/>
                </a:solidFill>
                <a:latin typeface="+mj-lt"/>
              </a:defRPr>
            </a:lvl4pPr>
            <a:lvl5pPr marL="2438400" indent="0">
              <a:lnSpc>
                <a:spcPts val="3600"/>
              </a:lnSpc>
              <a:buNone/>
              <a:defRPr sz="2800" b="0" i="1" baseline="0">
                <a:solidFill>
                  <a:srgbClr val="1A9DAC"/>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C024-4559-4C02-9AB3-98D956AC73B6}"/>
              </a:ext>
            </a:extLst>
          </p:cNvPr>
          <p:cNvSpPr>
            <a:spLocks noGrp="1"/>
          </p:cNvSpPr>
          <p:nvPr>
            <p:ph type="title"/>
          </p:nvPr>
        </p:nvSpPr>
        <p:spPr/>
        <p:txBody>
          <a:bodyPr/>
          <a:lstStyle/>
          <a:p>
            <a:r>
              <a:rPr lang="en-US"/>
              <a:t>Click to edit Master title style</a:t>
            </a:r>
            <a:endParaRPr lang="en-GB" dirty="0"/>
          </a:p>
        </p:txBody>
      </p:sp>
      <p:sp>
        <p:nvSpPr>
          <p:cNvPr id="4" name="Text Placeholder 3">
            <a:extLst>
              <a:ext uri="{FF2B5EF4-FFF2-40B4-BE49-F238E27FC236}">
                <a16:creationId xmlns:a16="http://schemas.microsoft.com/office/drawing/2014/main" id="{E8E056E6-17B0-445E-93EC-A3A4B42B212F}"/>
              </a:ext>
            </a:extLst>
          </p:cNvPr>
          <p:cNvSpPr>
            <a:spLocks noGrp="1"/>
          </p:cNvSpPr>
          <p:nvPr>
            <p:ph type="body" sz="quarter" idx="10" hasCustomPrompt="1"/>
          </p:nvPr>
        </p:nvSpPr>
        <p:spPr>
          <a:xfrm>
            <a:off x="467544" y="2349500"/>
            <a:ext cx="4104456" cy="2879725"/>
          </a:xfrm>
          <a:prstGeom prst="rect">
            <a:avLst/>
          </a:prstGeom>
        </p:spPr>
        <p:txBody>
          <a:bodyPr/>
          <a:lstStyle>
            <a:lvl1pPr marL="0" indent="0">
              <a:buFont typeface="Arial" panose="020B0604020202020204" pitchFamily="34" charset="0"/>
              <a:buNone/>
              <a:defRPr sz="13000">
                <a:solidFill>
                  <a:srgbClr val="199DAC"/>
                </a:solidFill>
              </a:defRPr>
            </a:lvl1pPr>
            <a:lvl2pPr marL="609600" indent="0">
              <a:buNone/>
              <a:defRPr>
                <a:solidFill>
                  <a:srgbClr val="16818D"/>
                </a:solidFill>
              </a:defRPr>
            </a:lvl2pPr>
            <a:lvl3pPr marL="1219200" indent="0">
              <a:buNone/>
              <a:defRPr>
                <a:solidFill>
                  <a:srgbClr val="16818D"/>
                </a:solidFill>
              </a:defRPr>
            </a:lvl3pPr>
            <a:lvl4pPr marL="1828800" indent="0">
              <a:buNone/>
              <a:defRPr>
                <a:solidFill>
                  <a:srgbClr val="16818D"/>
                </a:solidFill>
              </a:defRPr>
            </a:lvl4pPr>
            <a:lvl5pPr marL="2438400" indent="0">
              <a:buNone/>
              <a:defRPr>
                <a:solidFill>
                  <a:srgbClr val="16818D"/>
                </a:solidFill>
              </a:defRPr>
            </a:lvl5pPr>
          </a:lstStyle>
          <a:p>
            <a:pPr lvl="0"/>
            <a:r>
              <a:rPr lang="en-US" dirty="0"/>
              <a:t>100%</a:t>
            </a:r>
            <a:endParaRPr lang="en-GB" dirty="0"/>
          </a:p>
        </p:txBody>
      </p:sp>
      <p:sp>
        <p:nvSpPr>
          <p:cNvPr id="6" name="Text Placeholder 5">
            <a:extLst>
              <a:ext uri="{FF2B5EF4-FFF2-40B4-BE49-F238E27FC236}">
                <a16:creationId xmlns:a16="http://schemas.microsoft.com/office/drawing/2014/main" id="{0212DBA2-E4CA-4633-9C0C-58EB9F03F1E2}"/>
              </a:ext>
            </a:extLst>
          </p:cNvPr>
          <p:cNvSpPr>
            <a:spLocks noGrp="1"/>
          </p:cNvSpPr>
          <p:nvPr>
            <p:ph type="body" sz="quarter" idx="11"/>
          </p:nvPr>
        </p:nvSpPr>
        <p:spPr>
          <a:xfrm>
            <a:off x="4716016" y="2349500"/>
            <a:ext cx="3672334" cy="2879725"/>
          </a:xfrm>
          <a:prstGeom prst="rect">
            <a:avLst/>
          </a:prstGeom>
        </p:spPr>
        <p:txBody>
          <a:bodyPr/>
          <a:lstStyle>
            <a:lvl1pPr marL="0" indent="0">
              <a:buNone/>
              <a:defRPr sz="1800">
                <a:solidFill>
                  <a:srgbClr val="199DAC"/>
                </a:solidFill>
              </a:defRPr>
            </a:lvl1pPr>
            <a:lvl2pPr marL="609600" indent="0">
              <a:buNone/>
              <a:defRPr sz="1800">
                <a:solidFill>
                  <a:srgbClr val="199DAC"/>
                </a:solidFill>
              </a:defRPr>
            </a:lvl2pPr>
            <a:lvl3pPr marL="1219200" indent="0">
              <a:buNone/>
              <a:defRPr sz="1800">
                <a:solidFill>
                  <a:srgbClr val="199DAC"/>
                </a:solidFill>
              </a:defRPr>
            </a:lvl3pPr>
            <a:lvl4pPr marL="1828800" indent="0">
              <a:buNone/>
              <a:defRPr sz="1800">
                <a:solidFill>
                  <a:srgbClr val="199DAC"/>
                </a:solidFill>
              </a:defRPr>
            </a:lvl4pPr>
            <a:lvl5pPr marL="2438400" indent="0">
              <a:buNone/>
              <a:defRPr sz="1800">
                <a:solidFill>
                  <a:srgbClr val="199DA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E6D44D0B-0878-42C4-9A43-6D580C188C57}"/>
              </a:ext>
            </a:extLst>
          </p:cNvPr>
          <p:cNvSpPr>
            <a:spLocks noGrp="1"/>
          </p:cNvSpPr>
          <p:nvPr>
            <p:ph type="body" sz="quarter" idx="12"/>
          </p:nvPr>
        </p:nvSpPr>
        <p:spPr>
          <a:xfrm>
            <a:off x="628650" y="5157192"/>
            <a:ext cx="7472363" cy="792162"/>
          </a:xfrm>
          <a:prstGeom prst="rect">
            <a:avLst/>
          </a:prstGeom>
        </p:spPr>
        <p:txBody>
          <a:bodyPr/>
          <a:lstStyle>
            <a:lvl1pPr marL="0" indent="0" algn="r">
              <a:buNone/>
              <a:defRPr sz="1800"/>
            </a:lvl1pPr>
            <a:lvl2pPr marL="609600" indent="0" algn="r">
              <a:buNone/>
              <a:defRPr sz="1800"/>
            </a:lvl2pPr>
            <a:lvl3pPr marL="1219200" indent="0" algn="r">
              <a:buNone/>
              <a:defRPr sz="1800"/>
            </a:lvl3pPr>
            <a:lvl4pPr marL="1828800" indent="0" algn="r">
              <a:buNone/>
              <a:defRPr sz="1800"/>
            </a:lvl4pPr>
            <a:lvl5pPr marL="2438400" indent="0" algn="r">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465793842"/>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11C444-66CB-4065-B177-AAAB97F07EA1}" type="datetime1">
              <a:rPr lang="en-GB" smtClean="0"/>
              <a:t>20/08/2025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0F99C4FB-888A-4D12-A1C4-C744D94026CD}" type="slidenum">
              <a:rPr lang="en-GB" smtClean="0"/>
              <a:t>‹#›</a:t>
            </a:fld>
            <a:endParaRPr lang="en-GB" dirty="0"/>
          </a:p>
        </p:txBody>
      </p:sp>
    </p:spTree>
    <p:extLst>
      <p:ext uri="{BB962C8B-B14F-4D97-AF65-F5344CB8AC3E}">
        <p14:creationId xmlns:p14="http://schemas.microsoft.com/office/powerpoint/2010/main" val="2151520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1024FF-3E1E-431F-977E-945DB2535B1A}" type="datetime1">
              <a:rPr lang="en-GB" smtClean="0"/>
              <a:t>20/08/2025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0F99C4FB-888A-4D12-A1C4-C744D94026CD}" type="slidenum">
              <a:rPr lang="en-GB" smtClean="0"/>
              <a:t>‹#›</a:t>
            </a:fld>
            <a:endParaRPr lang="en-GB" dirty="0"/>
          </a:p>
        </p:txBody>
      </p:sp>
    </p:spTree>
    <p:extLst>
      <p:ext uri="{BB962C8B-B14F-4D97-AF65-F5344CB8AC3E}">
        <p14:creationId xmlns:p14="http://schemas.microsoft.com/office/powerpoint/2010/main" val="1171816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99C4FB-888A-4D12-A1C4-C744D94026CD}" type="slidenum">
              <a:rPr lang="en-GB" smtClean="0"/>
              <a:pPr/>
              <a:t>‹#›</a:t>
            </a:fld>
            <a:endParaRPr lang="en-GB" dirty="0"/>
          </a:p>
        </p:txBody>
      </p:sp>
    </p:spTree>
    <p:extLst>
      <p:ext uri="{BB962C8B-B14F-4D97-AF65-F5344CB8AC3E}">
        <p14:creationId xmlns:p14="http://schemas.microsoft.com/office/powerpoint/2010/main" val="4172214320"/>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nSpc>
                <a:spcPts val="1300"/>
              </a:lnSpc>
              <a:spcBef>
                <a:spcPts val="0"/>
              </a:spcBef>
              <a:buFontTx/>
              <a:buNone/>
              <a:defRPr sz="16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7"/>
            <a:ext cx="1219139" cy="402300"/>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5" y="2913639"/>
            <a:ext cx="1219139" cy="371345"/>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Click to 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345828"/>
          </a:xfrm>
          <a:prstGeom prst="rect">
            <a:avLst/>
          </a:prstGeom>
        </p:spPr>
        <p:txBody>
          <a:bodyPr lIns="0" tIns="0" rIns="0" bIns="0"/>
          <a:lstStyle>
            <a:lvl1pPr marL="0" indent="0">
              <a:lnSpc>
                <a:spcPts val="1300"/>
              </a:lnSpc>
              <a:spcBef>
                <a:spcPts val="0"/>
              </a:spcBef>
              <a:buFontTx/>
              <a:buNone/>
              <a:defRPr sz="1600" b="0" i="0">
                <a:solidFill>
                  <a:schemeClr val="bg1"/>
                </a:solidFill>
                <a:latin typeface="+mn-lt"/>
                <a:ea typeface="Tahoma"/>
                <a:cs typeface="Tahoma"/>
              </a:defRPr>
            </a:lvl1pPr>
          </a:lstStyle>
          <a:p>
            <a:pPr lvl="0"/>
            <a:r>
              <a:rPr lang="en-US" dirty="0"/>
              <a:t>Presentation date</a:t>
            </a:r>
          </a:p>
        </p:txBody>
      </p:sp>
      <p:pic>
        <p:nvPicPr>
          <p:cNvPr id="2" name="Picture 8">
            <a:extLst>
              <a:ext uri="{FF2B5EF4-FFF2-40B4-BE49-F238E27FC236}">
                <a16:creationId xmlns:a16="http://schemas.microsoft.com/office/drawing/2014/main" id="{2092835B-1522-E877-E0D5-C4684DE1A23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F8EC5FB5-5043-0D72-3864-25C1351BCC24}"/>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56919317"/>
      </p:ext>
    </p:extLst>
  </p:cSld>
  <p:clrMapOvr>
    <a:masterClrMapping/>
  </p:clrMapOvr>
  <p:transition spd="slow">
    <p:fade/>
  </p:transition>
  <p:extLst>
    <p:ext uri="{DCECCB84-F9BA-43D5-87BE-67443E8EF086}">
      <p15:sldGuideLst xmlns:p15="http://schemas.microsoft.com/office/powerpoint/2012/main">
        <p15:guide id="3" orient="horz" pos="1207" userDrawn="1">
          <p15:clr>
            <a:srgbClr val="FBAE40"/>
          </p15:clr>
        </p15:guide>
        <p15:guide id="4" pos="129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1A9DAC"/>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1252373716"/>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1A9DAC"/>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1A9DAC"/>
              </a:buClr>
              <a:tabLst/>
              <a:defRPr sz="1800">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71391298"/>
      </p:ext>
    </p:extLst>
  </p:cSld>
  <p:clrMapOvr>
    <a:masterClrMapping/>
  </p:clrMapOvr>
  <p:transition spd="slow">
    <p:fade/>
  </p:transition>
  <p:extLst>
    <p:ext uri="{DCECCB84-F9BA-43D5-87BE-67443E8EF086}">
      <p15:sldGuideLst xmlns:p15="http://schemas.microsoft.com/office/powerpoint/2012/main">
        <p15:guide id="3" orient="horz" pos="436" userDrawn="1">
          <p15:clr>
            <a:srgbClr val="FBAE40"/>
          </p15:clr>
        </p15:guide>
        <p15:guide id="4" pos="56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lvl1pPr>
              <a:defRPr>
                <a:solidFill>
                  <a:srgbClr val="1A9DAC"/>
                </a:solidFill>
              </a:defRPr>
            </a:lvl1pPr>
          </a:lstStyle>
          <a:p>
            <a:r>
              <a:rPr lang="en-US"/>
              <a:t>Click to edit Master title style</a:t>
            </a:r>
            <a:endParaRPr lang="en-US" dirty="0"/>
          </a:p>
        </p:txBody>
      </p:sp>
      <p:sp>
        <p:nvSpPr>
          <p:cNvPr id="3" name="Text Placeholder 2"/>
          <p:cNvSpPr>
            <a:spLocks noGrp="1"/>
          </p:cNvSpPr>
          <p:nvPr>
            <p:ph type="body" sz="quarter" idx="11"/>
          </p:nvPr>
        </p:nvSpPr>
        <p:spPr>
          <a:xfrm>
            <a:off x="900113" y="1700213"/>
            <a:ext cx="6551612" cy="4465637"/>
          </a:xfrm>
          <a:prstGeom prst="rect">
            <a:avLst/>
          </a:prstGeom>
        </p:spPr>
        <p:txBody>
          <a:bodyPr lIns="0" tIns="0" rIns="0" bIns="0"/>
          <a:lstStyle>
            <a:lvl1pPr marL="266700" indent="-266700">
              <a:buClr>
                <a:srgbClr val="1A9DAC"/>
              </a:buClr>
              <a:buFont typeface="+mj-lt"/>
              <a:buAutoNum type="arabicPeriod"/>
              <a:defRPr sz="1800">
                <a:latin typeface="+mn-lt"/>
                <a:ea typeface="Tahoma" panose="020B0604030504040204" pitchFamily="34" charset="0"/>
                <a:cs typeface="Tahoma" panose="020B0604030504040204" pitchFamily="34" charset="0"/>
              </a:defRPr>
            </a:lvl1pPr>
            <a:lvl2pPr marL="609600" indent="-342900">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915988" marR="0" indent="-285750" algn="l" defTabSz="606425" rtl="0" eaLnBrk="1" fontAlgn="base" latinLnBrk="0" hangingPunct="1">
              <a:lnSpc>
                <a:spcPct val="100000"/>
              </a:lnSpc>
              <a:spcBef>
                <a:spcPct val="20000"/>
              </a:spcBef>
              <a:spcAft>
                <a:spcPct val="0"/>
              </a:spcAft>
              <a:buClr>
                <a:srgbClr val="1A9DAC"/>
              </a:buClr>
              <a:buSzTx/>
              <a:buFont typeface="Arial" panose="020B0604020202020204" pitchFamily="34" charset="0"/>
              <a:buChar char="•"/>
              <a:tabLst/>
              <a:defRPr sz="18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07526699"/>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Click to 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3067788217"/>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lvl1pPr>
              <a:defRPr>
                <a:solidFill>
                  <a:srgbClr val="1A9DAC"/>
                </a:solidFill>
              </a:defRPr>
            </a:lvl1p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3474092189"/>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lvl1pPr>
              <a:defRPr>
                <a:solidFill>
                  <a:srgbClr val="1A9DAC"/>
                </a:solidFill>
              </a:defRPr>
            </a:lvl1p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baseline="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966788" indent="0">
              <a:buFont typeface="Arial" panose="020B0604020202020204" pitchFamily="34" charset="0"/>
              <a:buNone/>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0"/>
            <a:endParaRPr lang="en-GB" dirty="0"/>
          </a:p>
        </p:txBody>
      </p:sp>
    </p:spTree>
    <p:extLst>
      <p:ext uri="{BB962C8B-B14F-4D97-AF65-F5344CB8AC3E}">
        <p14:creationId xmlns:p14="http://schemas.microsoft.com/office/powerpoint/2010/main" val="2020524642"/>
      </p:ext>
    </p:extLst>
  </p:cSld>
  <p:clrMapOvr>
    <a:masterClrMapping/>
  </p:clrMapOvr>
  <p:transition spd="slow">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lvl1pPr>
              <a:defRPr>
                <a:solidFill>
                  <a:srgbClr val="1A9DAC"/>
                </a:solidFill>
              </a:defRPr>
            </a:lvl1pPr>
          </a:lstStyle>
          <a:p>
            <a:r>
              <a:rPr lang="en-US"/>
              <a:t>Click to edit Master title style</a:t>
            </a:r>
            <a:endParaRPr lang="en-US" dirty="0"/>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333904354"/>
      </p:ext>
    </p:extLst>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lvl1pPr>
              <a:defRPr>
                <a:solidFill>
                  <a:srgbClr val="1A9DAC"/>
                </a:soli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312368"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Click to 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3957564264"/>
      </p:ext>
    </p:extLst>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lvl1pPr>
              <a:defRPr>
                <a:solidFill>
                  <a:srgbClr val="1A9DAC"/>
                </a:solidFill>
              </a:defRPr>
            </a:lvl1p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655696534"/>
      </p:ext>
    </p:extLst>
  </p:cSld>
  <p:clrMapOvr>
    <a:masterClrMapping/>
  </p:clrMapOvr>
  <p:transition spd="slow">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lvl1pPr>
              <a:defRPr>
                <a:solidFill>
                  <a:srgbClr val="1A9DAC"/>
                </a:solidFill>
              </a:defRPr>
            </a:lvl1p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US"/>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US"/>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097831834"/>
      </p:ext>
    </p:extLst>
  </p:cSld>
  <p:clrMapOvr>
    <a:masterClrMapping/>
  </p:clrMapOvr>
  <p:transition spd="slow">
    <p:fade/>
  </p:transition>
  <p:extLst>
    <p:ext uri="{DCECCB84-F9BA-43D5-87BE-67443E8EF086}">
      <p15:sldGuideLst xmlns:p15="http://schemas.microsoft.com/office/powerpoint/2012/main">
        <p15:guide id="11" orient="horz" pos="332" userDrawn="1">
          <p15:clr>
            <a:srgbClr val="FBAE40"/>
          </p15:clr>
        </p15:guide>
        <p15:guide id="12" pos="2880" userDrawn="1">
          <p15:clr>
            <a:srgbClr val="FBAE40"/>
          </p15:clr>
        </p15:guide>
        <p15:guide id="13" pos="3833" userDrawn="1">
          <p15:clr>
            <a:srgbClr val="FBAE40"/>
          </p15:clr>
        </p15:guide>
        <p15:guide id="14" orient="horz" pos="2614" userDrawn="1">
          <p15:clr>
            <a:srgbClr val="FBAE40"/>
          </p15:clr>
        </p15:guide>
        <p15:guide id="15" pos="567" userDrawn="1">
          <p15:clr>
            <a:srgbClr val="FBAE40"/>
          </p15:clr>
        </p15:guide>
        <p15:guide id="16" pos="1927" userDrawn="1">
          <p15:clr>
            <a:srgbClr val="FBAE40"/>
          </p15:clr>
        </p15:guide>
        <p15:guide id="17" pos="3854" userDrawn="1">
          <p15:clr>
            <a:srgbClr val="FBAE40"/>
          </p15:clr>
        </p15:guide>
        <p15:guide id="18" orient="horz" pos="259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6"/>
            <a:ext cx="7886700" cy="768356"/>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US"/>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US"/>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133757306"/>
      </p:ext>
    </p:extLst>
  </p:cSld>
  <p:clrMapOvr>
    <a:masterClrMapping/>
  </p:clrMapOvr>
  <p:transition spd="slow">
    <p:fade/>
  </p:transition>
  <p:extLst>
    <p:ext uri="{DCECCB84-F9BA-43D5-87BE-67443E8EF086}">
      <p15:sldGuideLst xmlns:p15="http://schemas.microsoft.com/office/powerpoint/2012/main">
        <p15:guide id="8" orient="horz" pos="2160" userDrawn="1">
          <p15:clr>
            <a:srgbClr val="FBAE40"/>
          </p15:clr>
        </p15:guide>
        <p15:guide id="9" pos="2880" userDrawn="1">
          <p15:clr>
            <a:srgbClr val="FBAE40"/>
          </p15:clr>
        </p15:guide>
        <p15:guide id="10" pos="3856" userDrawn="1">
          <p15:clr>
            <a:srgbClr val="FBAE40"/>
          </p15:clr>
        </p15:guide>
        <p15:guide id="11" pos="3833" userDrawn="1">
          <p15:clr>
            <a:srgbClr val="FBAE40"/>
          </p15:clr>
        </p15:guide>
        <p15:guide id="12" orient="horz" pos="2590" userDrawn="1">
          <p15:clr>
            <a:srgbClr val="FBAE40"/>
          </p15:clr>
        </p15:guide>
        <p15:guide id="13" orient="horz" pos="2612"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224136"/>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1A9DAC"/>
                </a:solidFill>
                <a:latin typeface="+mj-lt"/>
              </a:defRPr>
            </a:lvl1pPr>
            <a:lvl2pPr marL="609600" indent="0">
              <a:lnSpc>
                <a:spcPts val="3600"/>
              </a:lnSpc>
              <a:buNone/>
              <a:defRPr sz="2800" b="0" i="1" baseline="0">
                <a:solidFill>
                  <a:srgbClr val="1A9DAC"/>
                </a:solidFill>
                <a:latin typeface="+mj-lt"/>
              </a:defRPr>
            </a:lvl2pPr>
            <a:lvl3pPr marL="1219200" indent="0">
              <a:lnSpc>
                <a:spcPts val="3600"/>
              </a:lnSpc>
              <a:buNone/>
              <a:defRPr sz="2800" b="0" i="1" baseline="0">
                <a:solidFill>
                  <a:srgbClr val="1A9DAC"/>
                </a:solidFill>
                <a:latin typeface="+mj-lt"/>
              </a:defRPr>
            </a:lvl3pPr>
            <a:lvl4pPr marL="1828800" indent="0">
              <a:lnSpc>
                <a:spcPts val="3600"/>
              </a:lnSpc>
              <a:buNone/>
              <a:defRPr sz="2800" b="0" i="1" baseline="0">
                <a:solidFill>
                  <a:srgbClr val="1A9DAC"/>
                </a:solidFill>
                <a:latin typeface="+mj-lt"/>
              </a:defRPr>
            </a:lvl4pPr>
            <a:lvl5pPr marL="2438400" indent="0">
              <a:lnSpc>
                <a:spcPts val="3600"/>
              </a:lnSpc>
              <a:buNone/>
              <a:defRPr sz="2800" b="0" i="1" baseline="0">
                <a:solidFill>
                  <a:srgbClr val="1A9DAC"/>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90424941"/>
      </p:ext>
    </p:extLst>
  </p:cSld>
  <p:clrMapOvr>
    <a:masterClrMapping/>
  </p:clrMapOvr>
  <p:transition spd="slow">
    <p:fade/>
  </p:transition>
  <p:extLst>
    <p:ext uri="{DCECCB84-F9BA-43D5-87BE-67443E8EF086}">
      <p15:sldGuideLst xmlns:p15="http://schemas.microsoft.com/office/powerpoint/2012/main">
        <p15:guide id="4" orient="horz" pos="2160" userDrawn="1">
          <p15:clr>
            <a:srgbClr val="FBAE40"/>
          </p15:clr>
        </p15:guide>
        <p15:guide id="5" pos="2880" userDrawn="1">
          <p15:clr>
            <a:srgbClr val="FBAE40"/>
          </p15:clr>
        </p15:guide>
        <p15:guide id="6" orient="horz" pos="57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C024-4559-4C02-9AB3-98D956AC73B6}"/>
              </a:ext>
            </a:extLst>
          </p:cNvPr>
          <p:cNvSpPr>
            <a:spLocks noGrp="1"/>
          </p:cNvSpPr>
          <p:nvPr>
            <p:ph type="title"/>
          </p:nvPr>
        </p:nvSpPr>
        <p:spPr/>
        <p:txBody>
          <a:bodyPr/>
          <a:lstStyle/>
          <a:p>
            <a:r>
              <a:rPr lang="en-US"/>
              <a:t>Click to edit Master title style</a:t>
            </a:r>
            <a:endParaRPr lang="en-GB" dirty="0"/>
          </a:p>
        </p:txBody>
      </p:sp>
      <p:sp>
        <p:nvSpPr>
          <p:cNvPr id="4" name="Text Placeholder 3">
            <a:extLst>
              <a:ext uri="{FF2B5EF4-FFF2-40B4-BE49-F238E27FC236}">
                <a16:creationId xmlns:a16="http://schemas.microsoft.com/office/drawing/2014/main" id="{E8E056E6-17B0-445E-93EC-A3A4B42B212F}"/>
              </a:ext>
            </a:extLst>
          </p:cNvPr>
          <p:cNvSpPr>
            <a:spLocks noGrp="1"/>
          </p:cNvSpPr>
          <p:nvPr>
            <p:ph type="body" sz="quarter" idx="10" hasCustomPrompt="1"/>
          </p:nvPr>
        </p:nvSpPr>
        <p:spPr>
          <a:xfrm>
            <a:off x="467544" y="2349500"/>
            <a:ext cx="4104456" cy="2879725"/>
          </a:xfrm>
          <a:prstGeom prst="rect">
            <a:avLst/>
          </a:prstGeom>
        </p:spPr>
        <p:txBody>
          <a:bodyPr/>
          <a:lstStyle>
            <a:lvl1pPr marL="0" indent="0">
              <a:buFont typeface="Arial" panose="020B0604020202020204" pitchFamily="34" charset="0"/>
              <a:buNone/>
              <a:defRPr sz="13000">
                <a:solidFill>
                  <a:srgbClr val="199DAC"/>
                </a:solidFill>
              </a:defRPr>
            </a:lvl1pPr>
            <a:lvl2pPr marL="609600" indent="0">
              <a:buNone/>
              <a:defRPr>
                <a:solidFill>
                  <a:srgbClr val="16818D"/>
                </a:solidFill>
              </a:defRPr>
            </a:lvl2pPr>
            <a:lvl3pPr marL="1219200" indent="0">
              <a:buNone/>
              <a:defRPr>
                <a:solidFill>
                  <a:srgbClr val="16818D"/>
                </a:solidFill>
              </a:defRPr>
            </a:lvl3pPr>
            <a:lvl4pPr marL="1828800" indent="0">
              <a:buNone/>
              <a:defRPr>
                <a:solidFill>
                  <a:srgbClr val="16818D"/>
                </a:solidFill>
              </a:defRPr>
            </a:lvl4pPr>
            <a:lvl5pPr marL="2438400" indent="0">
              <a:buNone/>
              <a:defRPr>
                <a:solidFill>
                  <a:srgbClr val="16818D"/>
                </a:solidFill>
              </a:defRPr>
            </a:lvl5pPr>
          </a:lstStyle>
          <a:p>
            <a:pPr lvl="0"/>
            <a:r>
              <a:rPr lang="en-US" dirty="0"/>
              <a:t>100%</a:t>
            </a:r>
            <a:endParaRPr lang="en-GB" dirty="0"/>
          </a:p>
        </p:txBody>
      </p:sp>
      <p:sp>
        <p:nvSpPr>
          <p:cNvPr id="6" name="Text Placeholder 5">
            <a:extLst>
              <a:ext uri="{FF2B5EF4-FFF2-40B4-BE49-F238E27FC236}">
                <a16:creationId xmlns:a16="http://schemas.microsoft.com/office/drawing/2014/main" id="{0212DBA2-E4CA-4633-9C0C-58EB9F03F1E2}"/>
              </a:ext>
            </a:extLst>
          </p:cNvPr>
          <p:cNvSpPr>
            <a:spLocks noGrp="1"/>
          </p:cNvSpPr>
          <p:nvPr>
            <p:ph type="body" sz="quarter" idx="11"/>
          </p:nvPr>
        </p:nvSpPr>
        <p:spPr>
          <a:xfrm>
            <a:off x="4716016" y="2349500"/>
            <a:ext cx="3672334" cy="2879725"/>
          </a:xfrm>
          <a:prstGeom prst="rect">
            <a:avLst/>
          </a:prstGeom>
        </p:spPr>
        <p:txBody>
          <a:bodyPr/>
          <a:lstStyle>
            <a:lvl1pPr marL="0" indent="0">
              <a:buNone/>
              <a:defRPr sz="1800">
                <a:solidFill>
                  <a:srgbClr val="199DAC"/>
                </a:solidFill>
              </a:defRPr>
            </a:lvl1pPr>
            <a:lvl2pPr marL="609600" indent="0">
              <a:buNone/>
              <a:defRPr sz="1800">
                <a:solidFill>
                  <a:srgbClr val="199DAC"/>
                </a:solidFill>
              </a:defRPr>
            </a:lvl2pPr>
            <a:lvl3pPr marL="1219200" indent="0">
              <a:buNone/>
              <a:defRPr sz="1800">
                <a:solidFill>
                  <a:srgbClr val="199DAC"/>
                </a:solidFill>
              </a:defRPr>
            </a:lvl3pPr>
            <a:lvl4pPr marL="1828800" indent="0">
              <a:buNone/>
              <a:defRPr sz="1800">
                <a:solidFill>
                  <a:srgbClr val="199DAC"/>
                </a:solidFill>
              </a:defRPr>
            </a:lvl4pPr>
            <a:lvl5pPr marL="2438400" indent="0">
              <a:buNone/>
              <a:defRPr sz="1800">
                <a:solidFill>
                  <a:srgbClr val="199DA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E6D44D0B-0878-42C4-9A43-6D580C188C57}"/>
              </a:ext>
            </a:extLst>
          </p:cNvPr>
          <p:cNvSpPr>
            <a:spLocks noGrp="1"/>
          </p:cNvSpPr>
          <p:nvPr>
            <p:ph type="body" sz="quarter" idx="12"/>
          </p:nvPr>
        </p:nvSpPr>
        <p:spPr>
          <a:xfrm>
            <a:off x="628650" y="5157192"/>
            <a:ext cx="7472363" cy="792162"/>
          </a:xfrm>
          <a:prstGeom prst="rect">
            <a:avLst/>
          </a:prstGeom>
        </p:spPr>
        <p:txBody>
          <a:bodyPr/>
          <a:lstStyle>
            <a:lvl1pPr marL="0" indent="0" algn="r">
              <a:buNone/>
              <a:defRPr sz="1800"/>
            </a:lvl1pPr>
            <a:lvl2pPr marL="609600" indent="0" algn="r">
              <a:buNone/>
              <a:defRPr sz="1800"/>
            </a:lvl2pPr>
            <a:lvl3pPr marL="1219200" indent="0" algn="r">
              <a:buNone/>
              <a:defRPr sz="1800"/>
            </a:lvl3pPr>
            <a:lvl4pPr marL="1828800" indent="0" algn="r">
              <a:buNone/>
              <a:defRPr sz="1800"/>
            </a:lvl4pPr>
            <a:lvl5pPr marL="2438400" indent="0" algn="r">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631151904"/>
      </p:ext>
    </p:extLst>
  </p:cSld>
  <p:clrMapOvr>
    <a:masterClrMapping/>
  </p:clrMapOvr>
  <p:transition spd="slow">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1024FF-3E1E-431F-977E-945DB2535B1A}" type="datetime1">
              <a:rPr lang="en-GB" smtClean="0"/>
              <a:t>20/08/2025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0F99C4FB-888A-4D12-A1C4-C744D94026CD}" type="slidenum">
              <a:rPr lang="en-GB" smtClean="0"/>
              <a:t>‹#›</a:t>
            </a:fld>
            <a:endParaRPr lang="en-GB" dirty="0"/>
          </a:p>
        </p:txBody>
      </p:sp>
    </p:spTree>
    <p:extLst>
      <p:ext uri="{BB962C8B-B14F-4D97-AF65-F5344CB8AC3E}">
        <p14:creationId xmlns:p14="http://schemas.microsoft.com/office/powerpoint/2010/main" val="17020325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99C4FB-888A-4D12-A1C4-C744D94026CD}" type="slidenum">
              <a:rPr lang="en-GB" smtClean="0"/>
              <a:pPr/>
              <a:t>‹#›</a:t>
            </a:fld>
            <a:endParaRPr lang="en-GB" dirty="0"/>
          </a:p>
        </p:txBody>
      </p:sp>
    </p:spTree>
    <p:extLst>
      <p:ext uri="{BB962C8B-B14F-4D97-AF65-F5344CB8AC3E}">
        <p14:creationId xmlns:p14="http://schemas.microsoft.com/office/powerpoint/2010/main" val="1109859662"/>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1_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7"/>
            <a:ext cx="6515620" cy="1325563"/>
          </a:xfrm>
          <a:prstGeom prst="rect">
            <a:avLst/>
          </a:prstGeom>
        </p:spPr>
        <p:txBody>
          <a:bodyPr/>
          <a:lstStyle>
            <a:lvl1pPr>
              <a:defRPr>
                <a:solidFill>
                  <a:srgbClr val="1A9DAC"/>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350" b="0" i="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2210651303"/>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1.jpe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6" r:id="rId14"/>
    <p:sldLayoutId id="2147483977" r:id="rId15"/>
    <p:sldLayoutId id="2147483978" r:id="rId16"/>
    <p:sldLayoutId id="2147483979" r:id="rId17"/>
  </p:sldLayoutIdLst>
  <p:transition spd="slow">
    <p:fade/>
  </p:transition>
  <p:txStyles>
    <p:titleStyle>
      <a:lvl1pPr algn="l" defTabSz="606425" rtl="0" eaLnBrk="1" fontAlgn="base" hangingPunct="1">
        <a:spcBef>
          <a:spcPct val="0"/>
        </a:spcBef>
        <a:spcAft>
          <a:spcPct val="0"/>
        </a:spcAft>
        <a:defRPr sz="3600" kern="1200">
          <a:solidFill>
            <a:srgbClr val="1A9DAC"/>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pic>
        <p:nvPicPr>
          <p:cNvPr id="2" name="Picture 1">
            <a:extLst>
              <a:ext uri="{FF2B5EF4-FFF2-40B4-BE49-F238E27FC236}">
                <a16:creationId xmlns:a16="http://schemas.microsoft.com/office/drawing/2014/main" id="{A7550282-292C-20B3-D801-C2539677E5E4}"/>
              </a:ext>
              <a:ext uri="{C183D7F6-B498-43B3-948B-1728B52AA6E4}">
                <adec:decorative xmlns:adec="http://schemas.microsoft.com/office/drawing/2017/decorative" val="1"/>
              </a:ext>
            </a:extLst>
          </p:cNvPr>
          <p:cNvPicPr>
            <a:picLocks noChangeAspect="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3265774"/>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6" r:id="rId15"/>
    <p:sldLayoutId id="2147483997" r:id="rId16"/>
    <p:sldLayoutId id="2147483998" r:id="rId17"/>
  </p:sldLayoutIdLst>
  <p:transition spd="slow">
    <p:fade/>
  </p:transition>
  <p:txStyles>
    <p:titleStyle>
      <a:lvl1pPr algn="l" defTabSz="606425" rtl="0" eaLnBrk="1" fontAlgn="base" hangingPunct="1">
        <a:spcBef>
          <a:spcPct val="0"/>
        </a:spcBef>
        <a:spcAft>
          <a:spcPct val="0"/>
        </a:spcAft>
        <a:defRPr sz="3600" kern="1200">
          <a:solidFill>
            <a:srgbClr val="1A9DAC"/>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7.xml"/><Relationship Id="rId1" Type="http://schemas.openxmlformats.org/officeDocument/2006/relationships/slideLayout" Target="../slideLayouts/slideLayout3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8.xml"/><Relationship Id="rId1" Type="http://schemas.openxmlformats.org/officeDocument/2006/relationships/slideLayout" Target="../slideLayouts/slideLayout3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NULL"/><Relationship Id="rId3" Type="http://schemas.openxmlformats.org/officeDocument/2006/relationships/image" Target="../media/image8.png"/><Relationship Id="rId7" Type="http://schemas.openxmlformats.org/officeDocument/2006/relationships/image" Target="NULL"/><Relationship Id="rId12" Type="http://schemas.openxmlformats.org/officeDocument/2006/relationships/customXml" Target="../ink/ink4.xml"/><Relationship Id="rId17" Type="http://schemas.openxmlformats.org/officeDocument/2006/relationships/image" Target="NULL"/><Relationship Id="rId2" Type="http://schemas.openxmlformats.org/officeDocument/2006/relationships/notesSlide" Target="../notesSlides/notesSlide10.xml"/><Relationship Id="rId16" Type="http://schemas.openxmlformats.org/officeDocument/2006/relationships/customXml" Target="../ink/ink6.xml"/><Relationship Id="rId1" Type="http://schemas.openxmlformats.org/officeDocument/2006/relationships/slideLayout" Target="../slideLayouts/slideLayout32.xml"/><Relationship Id="rId6" Type="http://schemas.openxmlformats.org/officeDocument/2006/relationships/customXml" Target="../ink/ink1.xml"/><Relationship Id="rId11" Type="http://schemas.openxmlformats.org/officeDocument/2006/relationships/image" Target="NULL"/><Relationship Id="rId5" Type="http://schemas.openxmlformats.org/officeDocument/2006/relationships/image" Target="../media/image10.png"/><Relationship Id="rId15" Type="http://schemas.openxmlformats.org/officeDocument/2006/relationships/image" Target="NULL"/><Relationship Id="rId10" Type="http://schemas.openxmlformats.org/officeDocument/2006/relationships/customXml" Target="../ink/ink3.xml"/><Relationship Id="rId4" Type="http://schemas.openxmlformats.org/officeDocument/2006/relationships/image" Target="../media/image90.png"/><Relationship Id="rId9" Type="http://schemas.openxmlformats.org/officeDocument/2006/relationships/image" Target="NULL"/><Relationship Id="rId14" Type="http://schemas.openxmlformats.org/officeDocument/2006/relationships/customXml" Target="../ink/ink5.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3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8.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32.xml"/><Relationship Id="rId6" Type="http://schemas.openxmlformats.org/officeDocument/2006/relationships/image" Target="../media/image19.png"/><Relationship Id="rId11" Type="http://schemas.openxmlformats.org/officeDocument/2006/relationships/image" Target="../media/image35.png"/><Relationship Id="rId5" Type="http://schemas.openxmlformats.org/officeDocument/2006/relationships/image" Target="../media/image30.png"/><Relationship Id="rId10" Type="http://schemas.openxmlformats.org/officeDocument/2006/relationships/image" Target="../media/image34.png"/><Relationship Id="rId4" Type="http://schemas.openxmlformats.org/officeDocument/2006/relationships/image" Target="../media/image29.png"/><Relationship Id="rId9" Type="http://schemas.openxmlformats.org/officeDocument/2006/relationships/image" Target="../media/image33.png"/><Relationship Id="rId1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32.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15.xml"/><Relationship Id="rId16" Type="http://schemas.openxmlformats.org/officeDocument/2006/relationships/image" Target="../media/image53.png"/><Relationship Id="rId1" Type="http://schemas.openxmlformats.org/officeDocument/2006/relationships/slideLayout" Target="../slideLayouts/slideLayout3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1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32.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png"/></Relationships>
</file>

<file path=ppt/slides/_rels/slide19.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17.xml"/><Relationship Id="rId1" Type="http://schemas.openxmlformats.org/officeDocument/2006/relationships/slideLayout" Target="../slideLayouts/slideLayout32.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2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4C6A-CA2E-4C35-8BA5-916C10203F2E}"/>
              </a:ext>
            </a:extLst>
          </p:cNvPr>
          <p:cNvSpPr>
            <a:spLocks noGrp="1"/>
          </p:cNvSpPr>
          <p:nvPr>
            <p:ph type="title"/>
          </p:nvPr>
        </p:nvSpPr>
        <p:spPr>
          <a:xfrm>
            <a:off x="2050826" y="1915479"/>
            <a:ext cx="5689524" cy="3457737"/>
          </a:xfrm>
        </p:spPr>
        <p:txBody>
          <a:bodyPr>
            <a:normAutofit/>
          </a:bodyPr>
          <a:lstStyle/>
          <a:p>
            <a:r>
              <a:rPr lang="en-GB" dirty="0"/>
              <a:t>UMET9G-30-1 </a:t>
            </a:r>
            <a:br>
              <a:rPr lang="en-GB" dirty="0"/>
            </a:br>
            <a:r>
              <a:rPr lang="en-GB" dirty="0"/>
              <a:t>Accounting &amp; Finance for Decision Making</a:t>
            </a:r>
            <a:br>
              <a:rPr lang="en-GB" dirty="0"/>
            </a:br>
            <a:br>
              <a:rPr lang="en-GB" dirty="0"/>
            </a:br>
            <a:r>
              <a:rPr lang="en-GB" dirty="0"/>
              <a:t>Capital Structure - Equity</a:t>
            </a:r>
          </a:p>
        </p:txBody>
      </p:sp>
      <p:sp>
        <p:nvSpPr>
          <p:cNvPr id="3" name="Text Placeholder 2">
            <a:extLst>
              <a:ext uri="{FF2B5EF4-FFF2-40B4-BE49-F238E27FC236}">
                <a16:creationId xmlns:a16="http://schemas.microsoft.com/office/drawing/2014/main" id="{876BE806-4523-4FEC-B19F-B5D4FF00D6A6}"/>
              </a:ext>
            </a:extLst>
          </p:cNvPr>
          <p:cNvSpPr>
            <a:spLocks noGrp="1"/>
          </p:cNvSpPr>
          <p:nvPr>
            <p:ph type="body" sz="quarter" idx="15"/>
          </p:nvPr>
        </p:nvSpPr>
        <p:spPr/>
        <p:txBody>
          <a:bodyPr/>
          <a:lstStyle/>
          <a:p>
            <a:endParaRPr lang="en-GB"/>
          </a:p>
        </p:txBody>
      </p:sp>
      <p:sp>
        <p:nvSpPr>
          <p:cNvPr id="4" name="Text Placeholder 3">
            <a:extLst>
              <a:ext uri="{FF2B5EF4-FFF2-40B4-BE49-F238E27FC236}">
                <a16:creationId xmlns:a16="http://schemas.microsoft.com/office/drawing/2014/main" id="{FA5FC82F-1F0B-4D11-BC78-0C43FDE0F394}"/>
              </a:ext>
            </a:extLst>
          </p:cNvPr>
          <p:cNvSpPr>
            <a:spLocks noGrp="1"/>
          </p:cNvSpPr>
          <p:nvPr>
            <p:ph type="body" sz="quarter" idx="16"/>
          </p:nvPr>
        </p:nvSpPr>
        <p:spPr/>
        <p:txBody>
          <a:bodyPr/>
          <a:lstStyle/>
          <a:p>
            <a:endParaRPr lang="en-GB" dirty="0"/>
          </a:p>
        </p:txBody>
      </p:sp>
      <p:sp>
        <p:nvSpPr>
          <p:cNvPr id="6" name="Text Placeholder 5">
            <a:extLst>
              <a:ext uri="{FF2B5EF4-FFF2-40B4-BE49-F238E27FC236}">
                <a16:creationId xmlns:a16="http://schemas.microsoft.com/office/drawing/2014/main" id="{8AF42F57-4342-4892-B2AD-019DCDCB61B2}"/>
              </a:ext>
            </a:extLst>
          </p:cNvPr>
          <p:cNvSpPr>
            <a:spLocks noGrp="1"/>
          </p:cNvSpPr>
          <p:nvPr>
            <p:ph type="body" sz="quarter" idx="18"/>
          </p:nvPr>
        </p:nvSpPr>
        <p:spPr/>
        <p:txBody>
          <a:bodyPr/>
          <a:lstStyle/>
          <a:p>
            <a:endParaRPr lang="en-GB" dirty="0"/>
          </a:p>
        </p:txBody>
      </p:sp>
      <p:sp>
        <p:nvSpPr>
          <p:cNvPr id="8" name="Text Placeholder 7">
            <a:extLst>
              <a:ext uri="{FF2B5EF4-FFF2-40B4-BE49-F238E27FC236}">
                <a16:creationId xmlns:a16="http://schemas.microsoft.com/office/drawing/2014/main" id="{281E4B29-CE6C-0C79-090A-017CA0F2ADBA}"/>
              </a:ext>
            </a:extLst>
          </p:cNvPr>
          <p:cNvSpPr>
            <a:spLocks noGrp="1"/>
          </p:cNvSpPr>
          <p:nvPr>
            <p:ph type="body" sz="quarter" idx="17"/>
          </p:nvPr>
        </p:nvSpPr>
        <p:spPr/>
        <p:txBody>
          <a:bodyPr/>
          <a:lstStyle/>
          <a:p>
            <a:endParaRPr lang="en-GB"/>
          </a:p>
        </p:txBody>
      </p:sp>
    </p:spTree>
    <p:extLst>
      <p:ext uri="{BB962C8B-B14F-4D97-AF65-F5344CB8AC3E}">
        <p14:creationId xmlns:p14="http://schemas.microsoft.com/office/powerpoint/2010/main" val="2225328066"/>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214CE-3250-F7F0-AE05-421FA0F9E543}"/>
              </a:ext>
            </a:extLst>
          </p:cNvPr>
          <p:cNvSpPr>
            <a:spLocks noGrp="1"/>
          </p:cNvSpPr>
          <p:nvPr>
            <p:ph type="title"/>
          </p:nvPr>
        </p:nvSpPr>
        <p:spPr/>
        <p:txBody>
          <a:bodyPr/>
          <a:lstStyle/>
          <a:p>
            <a:pPr algn="l"/>
            <a:r>
              <a:rPr lang="en-GB" dirty="0"/>
              <a:t>Recap</a:t>
            </a:r>
          </a:p>
        </p:txBody>
      </p:sp>
      <p:sp>
        <p:nvSpPr>
          <p:cNvPr id="3" name="Chart Placeholder 2">
            <a:extLst>
              <a:ext uri="{FF2B5EF4-FFF2-40B4-BE49-F238E27FC236}">
                <a16:creationId xmlns:a16="http://schemas.microsoft.com/office/drawing/2014/main" id="{FF9B3823-0605-807A-5635-4865E10F2BE4}"/>
              </a:ext>
            </a:extLst>
          </p:cNvPr>
          <p:cNvSpPr>
            <a:spLocks noGrp="1"/>
          </p:cNvSpPr>
          <p:nvPr>
            <p:ph type="chart" sz="quarter" idx="11"/>
          </p:nvPr>
        </p:nvSpPr>
        <p:spPr>
          <a:xfrm>
            <a:off x="899591" y="2132855"/>
            <a:ext cx="7560841" cy="4032447"/>
          </a:xfrm>
        </p:spPr>
        <p:txBody>
          <a:bodyPr/>
          <a:lstStyle/>
          <a:p>
            <a:pPr marL="0" indent="0">
              <a:buNone/>
            </a:pPr>
            <a:r>
              <a:rPr lang="en-GB" sz="2400" dirty="0">
                <a:latin typeface="Segoe Sans"/>
              </a:rPr>
              <a:t>Last week we covered:</a:t>
            </a:r>
          </a:p>
          <a:p>
            <a:r>
              <a:rPr lang="en-GB" sz="2400" dirty="0">
                <a:latin typeface="Segoe Sans"/>
              </a:rPr>
              <a:t>Debt as a source of finance</a:t>
            </a:r>
          </a:p>
          <a:p>
            <a:r>
              <a:rPr lang="en-GB" sz="2400" dirty="0">
                <a:latin typeface="Segoe Sans"/>
              </a:rPr>
              <a:t>Key components and types of bond</a:t>
            </a:r>
          </a:p>
          <a:p>
            <a:r>
              <a:rPr lang="en-GB" sz="2400" dirty="0">
                <a:latin typeface="Segoe Sans"/>
              </a:rPr>
              <a:t>Calculations</a:t>
            </a:r>
          </a:p>
          <a:p>
            <a:r>
              <a:rPr lang="en-GB" sz="2400" dirty="0">
                <a:latin typeface="Segoe Sans"/>
              </a:rPr>
              <a:t>Yield to maturity</a:t>
            </a:r>
          </a:p>
        </p:txBody>
      </p:sp>
      <p:pic>
        <p:nvPicPr>
          <p:cNvPr id="5" name="Graphic 4" descr="Clipboard Checked with solid fill">
            <a:extLst>
              <a:ext uri="{FF2B5EF4-FFF2-40B4-BE49-F238E27FC236}">
                <a16:creationId xmlns:a16="http://schemas.microsoft.com/office/drawing/2014/main" id="{295E040E-13B2-6A1F-C2CA-FE2D44F882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885" y="2971800"/>
            <a:ext cx="914400" cy="914400"/>
          </a:xfrm>
          <a:prstGeom prst="rect">
            <a:avLst/>
          </a:prstGeom>
        </p:spPr>
      </p:pic>
    </p:spTree>
    <p:extLst>
      <p:ext uri="{BB962C8B-B14F-4D97-AF65-F5344CB8AC3E}">
        <p14:creationId xmlns:p14="http://schemas.microsoft.com/office/powerpoint/2010/main" val="591890035"/>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Title 1">
            <a:extLst>
              <a:ext uri="{FF2B5EF4-FFF2-40B4-BE49-F238E27FC236}">
                <a16:creationId xmlns:a16="http://schemas.microsoft.com/office/drawing/2014/main" id="{B54CC29E-BA68-10E6-2F39-FA1EBE0C99F6}"/>
              </a:ext>
            </a:extLst>
          </p:cNvPr>
          <p:cNvSpPr>
            <a:spLocks noGrp="1"/>
          </p:cNvSpPr>
          <p:nvPr>
            <p:ph type="title"/>
          </p:nvPr>
        </p:nvSpPr>
        <p:spPr>
          <a:xfrm>
            <a:off x="892515" y="1376773"/>
            <a:ext cx="7886700" cy="646548"/>
          </a:xfrm>
        </p:spPr>
        <p:txBody>
          <a:bodyPr/>
          <a:lstStyle/>
          <a:p>
            <a:pPr algn="l"/>
            <a:r>
              <a:rPr lang="en-US" dirty="0"/>
              <a:t>Learning Outcomes</a:t>
            </a:r>
          </a:p>
        </p:txBody>
      </p:sp>
      <p:graphicFrame>
        <p:nvGraphicFramePr>
          <p:cNvPr id="13315" name="Text Placeholder 1">
            <a:extLst>
              <a:ext uri="{FF2B5EF4-FFF2-40B4-BE49-F238E27FC236}">
                <a16:creationId xmlns:a16="http://schemas.microsoft.com/office/drawing/2014/main" id="{C2855CC1-6974-FD0F-632A-C97A1652BB10}"/>
              </a:ext>
            </a:extLst>
          </p:cNvPr>
          <p:cNvGraphicFramePr/>
          <p:nvPr>
            <p:extLst>
              <p:ext uri="{D42A27DB-BD31-4B8C-83A1-F6EECF244321}">
                <p14:modId xmlns:p14="http://schemas.microsoft.com/office/powerpoint/2010/main" val="3267134903"/>
              </p:ext>
            </p:extLst>
          </p:nvPr>
        </p:nvGraphicFramePr>
        <p:xfrm>
          <a:off x="892515" y="2492896"/>
          <a:ext cx="7632848" cy="3403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pPr>
              <a:buClr>
                <a:srgbClr val="C00000"/>
              </a:buClr>
              <a:buSzPct val="80000"/>
            </a:pPr>
            <a:r>
              <a:rPr lang="en-GB" dirty="0"/>
              <a:t>Recap: Capital Structure – Long-Term Financing</a:t>
            </a:r>
          </a:p>
        </p:txBody>
      </p:sp>
      <p:sp>
        <p:nvSpPr>
          <p:cNvPr id="3" name="Content Placeholder 2"/>
          <p:cNvSpPr>
            <a:spLocks noGrp="1"/>
          </p:cNvSpPr>
          <p:nvPr>
            <p:ph idx="1"/>
          </p:nvPr>
        </p:nvSpPr>
        <p:spPr>
          <a:xfrm>
            <a:off x="266700" y="1704975"/>
            <a:ext cx="8732334" cy="1427125"/>
          </a:xfrm>
        </p:spPr>
        <p:txBody>
          <a:bodyPr>
            <a:normAutofit/>
          </a:bodyPr>
          <a:lstStyle/>
          <a:p>
            <a:pPr marL="0" indent="0">
              <a:buClr>
                <a:srgbClr val="C00000"/>
              </a:buClr>
              <a:buSzPct val="90000"/>
              <a:buNone/>
            </a:pPr>
            <a:r>
              <a:rPr lang="en-GB" sz="1800" b="1" dirty="0">
                <a:solidFill>
                  <a:schemeClr val="accent5">
                    <a:lumMod val="75000"/>
                  </a:schemeClr>
                </a:solidFill>
              </a:rPr>
              <a:t>Reminder:  </a:t>
            </a:r>
            <a:r>
              <a:rPr lang="en-GB" sz="1800" dirty="0"/>
              <a:t>Surveys conducted on CFOs’ financing preference show that:</a:t>
            </a:r>
          </a:p>
          <a:p>
            <a:pPr marL="342900" indent="-342900">
              <a:buClr>
                <a:srgbClr val="C00000"/>
              </a:buClr>
              <a:buSzPct val="90000"/>
              <a:buFont typeface="+mj-lt"/>
              <a:buAutoNum type="arabicPeriod"/>
            </a:pPr>
            <a:r>
              <a:rPr lang="en-GB" sz="1800" dirty="0">
                <a:solidFill>
                  <a:schemeClr val="accent5">
                    <a:lumMod val="75000"/>
                  </a:schemeClr>
                </a:solidFill>
              </a:rPr>
              <a:t>Retained earnings </a:t>
            </a:r>
            <a:r>
              <a:rPr lang="en-GB" sz="1800" dirty="0"/>
              <a:t>are the CFOs first pick when it comes to financing projects;</a:t>
            </a:r>
          </a:p>
          <a:p>
            <a:pPr marL="342900" indent="-342900">
              <a:buClr>
                <a:srgbClr val="C00000"/>
              </a:buClr>
              <a:buSzPct val="90000"/>
              <a:buFont typeface="+mj-lt"/>
              <a:buAutoNum type="arabicPeriod"/>
            </a:pPr>
            <a:r>
              <a:rPr lang="en-GB" sz="1800" dirty="0">
                <a:solidFill>
                  <a:schemeClr val="accent5">
                    <a:lumMod val="75000"/>
                  </a:schemeClr>
                </a:solidFill>
              </a:rPr>
              <a:t>Debt </a:t>
            </a:r>
            <a:r>
              <a:rPr lang="en-GB" sz="1800" dirty="0"/>
              <a:t>is second in-line;</a:t>
            </a:r>
          </a:p>
          <a:p>
            <a:pPr marL="342900" indent="-342900">
              <a:buClr>
                <a:srgbClr val="C00000"/>
              </a:buClr>
              <a:buSzPct val="90000"/>
              <a:buFont typeface="+mj-lt"/>
              <a:buAutoNum type="arabicPeriod"/>
            </a:pPr>
            <a:r>
              <a:rPr lang="en-GB" sz="1800" dirty="0"/>
              <a:t>Then comes </a:t>
            </a:r>
            <a:r>
              <a:rPr lang="en-GB" sz="1800" dirty="0">
                <a:solidFill>
                  <a:schemeClr val="accent5">
                    <a:lumMod val="75000"/>
                  </a:schemeClr>
                </a:solidFill>
              </a:rPr>
              <a:t>equity.</a:t>
            </a:r>
          </a:p>
          <a:p>
            <a:pPr marL="0" indent="0">
              <a:buClr>
                <a:srgbClr val="C00000"/>
              </a:buClr>
              <a:buSzPct val="90000"/>
              <a:buNone/>
            </a:pPr>
            <a:endParaRPr lang="en-GB" sz="1800" dirty="0"/>
          </a:p>
        </p:txBody>
      </p:sp>
      <p:sp>
        <p:nvSpPr>
          <p:cNvPr id="4" name="Slide Number Placeholder 3"/>
          <p:cNvSpPr>
            <a:spLocks noGrp="1"/>
          </p:cNvSpPr>
          <p:nvPr>
            <p:ph type="sldNum" sz="quarter" idx="12"/>
          </p:nvPr>
        </p:nvSpPr>
        <p:spPr>
          <a:xfrm>
            <a:off x="8548754" y="5710698"/>
            <a:ext cx="679467" cy="405323"/>
          </a:xfrm>
          <a:ln w="12700"/>
        </p:spPr>
        <p:txBody>
          <a:bodyPr/>
          <a:lstStyle/>
          <a:p>
            <a:fld id="{0F99C4FB-888A-4D12-A1C4-C744D94026CD}" type="slidenum">
              <a:rPr lang="en-GB" sz="1350">
                <a:solidFill>
                  <a:schemeClr val="tx1">
                    <a:lumMod val="50000"/>
                    <a:lumOff val="50000"/>
                  </a:schemeClr>
                </a:solidFill>
              </a:rPr>
              <a:t>4</a:t>
            </a:fld>
            <a:endParaRPr lang="en-GB" sz="1350" dirty="0">
              <a:solidFill>
                <a:schemeClr val="tx1">
                  <a:lumMod val="50000"/>
                  <a:lumOff val="50000"/>
                </a:schemeClr>
              </a:solidFill>
            </a:endParaRPr>
          </a:p>
        </p:txBody>
      </p:sp>
      <p:sp>
        <p:nvSpPr>
          <p:cNvPr id="9" name="Speech Bubble: Oval 8">
            <a:extLst>
              <a:ext uri="{FF2B5EF4-FFF2-40B4-BE49-F238E27FC236}">
                <a16:creationId xmlns:a16="http://schemas.microsoft.com/office/drawing/2014/main" id="{CFCCE35A-F417-639E-865C-E6E042ED4D9B}"/>
              </a:ext>
            </a:extLst>
          </p:cNvPr>
          <p:cNvSpPr/>
          <p:nvPr/>
        </p:nvSpPr>
        <p:spPr>
          <a:xfrm>
            <a:off x="560674" y="4757439"/>
            <a:ext cx="3881554" cy="1363805"/>
          </a:xfrm>
          <a:prstGeom prst="wedgeEllipseCallout">
            <a:avLst>
              <a:gd name="adj1" fmla="val 2393"/>
              <a:gd name="adj2" fmla="val -175234"/>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1350"/>
              </a:spcBef>
              <a:buClr>
                <a:srgbClr val="C00000"/>
              </a:buClr>
              <a:buSzPct val="90000"/>
            </a:pPr>
            <a:r>
              <a:rPr lang="en-GB" sz="1350" dirty="0">
                <a:ea typeface="Cambria Math" panose="02040503050406030204" pitchFamily="18" charset="0"/>
              </a:rPr>
              <a:t>Equity represents </a:t>
            </a:r>
            <a:r>
              <a:rPr lang="en-GB" sz="1350" dirty="0"/>
              <a:t>an ownership position in a corporation, ordinary shareholders have the right to vote on major decisions</a:t>
            </a:r>
            <a:endParaRPr lang="en-GB" sz="1350" dirty="0">
              <a:ea typeface="Cambria Math" panose="02040503050406030204" pitchFamily="18" charset="0"/>
            </a:endParaRPr>
          </a:p>
        </p:txBody>
      </p:sp>
      <p:sp>
        <p:nvSpPr>
          <p:cNvPr id="10" name="Speech Bubble: Oval 9">
            <a:extLst>
              <a:ext uri="{FF2B5EF4-FFF2-40B4-BE49-F238E27FC236}">
                <a16:creationId xmlns:a16="http://schemas.microsoft.com/office/drawing/2014/main" id="{C2474B50-BE72-6FD9-91C9-42564EC45690}"/>
              </a:ext>
            </a:extLst>
          </p:cNvPr>
          <p:cNvSpPr/>
          <p:nvPr/>
        </p:nvSpPr>
        <p:spPr>
          <a:xfrm>
            <a:off x="4961967" y="4485871"/>
            <a:ext cx="3621359" cy="1363805"/>
          </a:xfrm>
          <a:prstGeom prst="wedgeEllipseCallout">
            <a:avLst>
              <a:gd name="adj1" fmla="val -110510"/>
              <a:gd name="adj2" fmla="val -158292"/>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1350"/>
              </a:spcBef>
              <a:buClr>
                <a:srgbClr val="C00000"/>
              </a:buClr>
              <a:buSzPct val="90000"/>
            </a:pPr>
            <a:r>
              <a:rPr lang="en-GB" sz="1350" dirty="0">
                <a:ea typeface="Cambria Math" panose="02040503050406030204" pitchFamily="18" charset="0"/>
              </a:rPr>
              <a:t>Equity financing </a:t>
            </a:r>
            <a:r>
              <a:rPr lang="en-GB" sz="1350" dirty="0">
                <a:solidFill>
                  <a:schemeClr val="bg1"/>
                </a:solidFill>
                <a:ea typeface="Cambria Math" panose="02040503050406030204" pitchFamily="18" charset="0"/>
              </a:rPr>
              <a:t>refers to raising fresh capital by selling shares </a:t>
            </a:r>
            <a:r>
              <a:rPr lang="en-GB" sz="1350" dirty="0">
                <a:ea typeface="Cambria Math" panose="02040503050406030204" pitchFamily="18" charset="0"/>
              </a:rPr>
              <a:t>of the company</a:t>
            </a:r>
          </a:p>
        </p:txBody>
      </p:sp>
      <p:sp>
        <p:nvSpPr>
          <p:cNvPr id="13" name="Speech Bubble: Oval 12">
            <a:extLst>
              <a:ext uri="{FF2B5EF4-FFF2-40B4-BE49-F238E27FC236}">
                <a16:creationId xmlns:a16="http://schemas.microsoft.com/office/drawing/2014/main" id="{EC855402-B4AA-1BF5-A048-A354AA1D187A}"/>
              </a:ext>
            </a:extLst>
          </p:cNvPr>
          <p:cNvSpPr/>
          <p:nvPr/>
        </p:nvSpPr>
        <p:spPr>
          <a:xfrm>
            <a:off x="4873272" y="2612094"/>
            <a:ext cx="4144415" cy="1177127"/>
          </a:xfrm>
          <a:prstGeom prst="wedgeEllipseCallout">
            <a:avLst>
              <a:gd name="adj1" fmla="val -101241"/>
              <a:gd name="adj2" fmla="val -23345"/>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1350"/>
              </a:spcBef>
              <a:buClr>
                <a:srgbClr val="C00000"/>
              </a:buClr>
              <a:buSzPct val="90000"/>
            </a:pPr>
            <a:r>
              <a:rPr lang="en-GB" sz="1350" dirty="0">
                <a:ea typeface="Cambria Math" panose="02040503050406030204" pitchFamily="18" charset="0"/>
              </a:rPr>
              <a:t>Equity capital is the ordinary share capital in the business – finance raised from the ‘ordinary share holders’</a:t>
            </a:r>
          </a:p>
        </p:txBody>
      </p:sp>
    </p:spTree>
    <p:extLst>
      <p:ext uri="{BB962C8B-B14F-4D97-AF65-F5344CB8AC3E}">
        <p14:creationId xmlns:p14="http://schemas.microsoft.com/office/powerpoint/2010/main" val="2434492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9"/>
            <a:ext cx="7886700" cy="468284"/>
          </a:xfrm>
        </p:spPr>
        <p:txBody>
          <a:bodyPr>
            <a:normAutofit/>
          </a:bodyPr>
          <a:lstStyle/>
          <a:p>
            <a:r>
              <a:rPr lang="en-GB" dirty="0"/>
              <a:t>Recap: Capital Structure: Equity vs Debt</a:t>
            </a:r>
          </a:p>
        </p:txBody>
      </p:sp>
      <p:sp>
        <p:nvSpPr>
          <p:cNvPr id="3" name="Content Placeholder 2"/>
          <p:cNvSpPr>
            <a:spLocks noGrp="1"/>
          </p:cNvSpPr>
          <p:nvPr>
            <p:ph idx="1"/>
          </p:nvPr>
        </p:nvSpPr>
        <p:spPr>
          <a:xfrm>
            <a:off x="266700" y="1704976"/>
            <a:ext cx="8591550" cy="4005722"/>
          </a:xfrm>
        </p:spPr>
        <p:txBody>
          <a:bodyPr>
            <a:normAutofit/>
          </a:bodyPr>
          <a:lstStyle/>
          <a:p>
            <a:pPr marL="9525" lvl="1" indent="0">
              <a:buClr>
                <a:srgbClr val="C00000"/>
              </a:buClr>
              <a:buSzPct val="90000"/>
              <a:buNone/>
            </a:pPr>
            <a:endParaRPr lang="en-GB" dirty="0">
              <a:solidFill>
                <a:prstClr val="black"/>
              </a:solidFill>
            </a:endParaRPr>
          </a:p>
          <a:p>
            <a:pPr marL="9525" lvl="1" indent="0">
              <a:buClr>
                <a:srgbClr val="C00000"/>
              </a:buClr>
              <a:buSzPct val="90000"/>
              <a:buNone/>
            </a:pPr>
            <a:endParaRPr lang="en-GB" dirty="0">
              <a:solidFill>
                <a:prstClr val="black"/>
              </a:solidFill>
            </a:endParaRPr>
          </a:p>
          <a:p>
            <a:pPr marL="9525" lvl="1" indent="0">
              <a:buClr>
                <a:srgbClr val="C00000"/>
              </a:buClr>
              <a:buSzPct val="90000"/>
              <a:buNone/>
            </a:pPr>
            <a:endParaRPr lang="en-GB" dirty="0">
              <a:solidFill>
                <a:prstClr val="black"/>
              </a:solidFill>
            </a:endParaRPr>
          </a:p>
          <a:p>
            <a:pPr marL="9525" lvl="1" indent="0">
              <a:buClr>
                <a:srgbClr val="C00000"/>
              </a:buClr>
              <a:buSzPct val="90000"/>
              <a:buNone/>
            </a:pPr>
            <a:endParaRPr lang="en-GB" dirty="0">
              <a:solidFill>
                <a:prstClr val="black"/>
              </a:solidFill>
            </a:endParaRPr>
          </a:p>
          <a:p>
            <a:pPr marL="9525" lvl="1" indent="0">
              <a:buClr>
                <a:srgbClr val="C00000"/>
              </a:buClr>
              <a:buSzPct val="90000"/>
              <a:buNone/>
            </a:pPr>
            <a:endParaRPr lang="en-GB" dirty="0">
              <a:solidFill>
                <a:prstClr val="black"/>
              </a:solidFill>
            </a:endParaRPr>
          </a:p>
          <a:p>
            <a:pPr marL="9525" lvl="1" indent="0">
              <a:buClr>
                <a:srgbClr val="C00000"/>
              </a:buClr>
              <a:buSzPct val="90000"/>
              <a:buNone/>
            </a:pPr>
            <a:endParaRPr lang="en-GB" dirty="0">
              <a:solidFill>
                <a:prstClr val="black"/>
              </a:solidFill>
            </a:endParaRPr>
          </a:p>
          <a:p>
            <a:pPr marL="9525" lvl="1" indent="0">
              <a:buClr>
                <a:srgbClr val="C00000"/>
              </a:buClr>
              <a:buSzPct val="90000"/>
              <a:buNone/>
            </a:pPr>
            <a:endParaRPr lang="en-GB" dirty="0">
              <a:solidFill>
                <a:prstClr val="black"/>
              </a:solidFill>
            </a:endParaRPr>
          </a:p>
          <a:p>
            <a:pPr marL="9525" lvl="1" indent="0">
              <a:buClr>
                <a:srgbClr val="C00000"/>
              </a:buClr>
              <a:buSzPct val="90000"/>
              <a:buNone/>
            </a:pPr>
            <a:endParaRPr lang="en-GB" dirty="0">
              <a:solidFill>
                <a:prstClr val="black"/>
              </a:solidFill>
            </a:endParaRPr>
          </a:p>
          <a:p>
            <a:pPr marL="9525" lvl="1" indent="0">
              <a:buClr>
                <a:srgbClr val="C00000"/>
              </a:buClr>
              <a:buSzPct val="90000"/>
              <a:buNone/>
            </a:pPr>
            <a:endParaRPr lang="en-GB" sz="2400" dirty="0">
              <a:solidFill>
                <a:prstClr val="black"/>
              </a:solidFill>
            </a:endParaRPr>
          </a:p>
        </p:txBody>
      </p:sp>
      <p:sp>
        <p:nvSpPr>
          <p:cNvPr id="4" name="Slide Number Placeholder 3"/>
          <p:cNvSpPr>
            <a:spLocks noGrp="1"/>
          </p:cNvSpPr>
          <p:nvPr>
            <p:ph type="sldNum" sz="quarter" idx="12"/>
          </p:nvPr>
        </p:nvSpPr>
        <p:spPr>
          <a:xfrm>
            <a:off x="8548754" y="5710698"/>
            <a:ext cx="679467" cy="405323"/>
          </a:xfrm>
          <a:ln w="12700"/>
        </p:spPr>
        <p:txBody>
          <a:bodyPr/>
          <a:lstStyle/>
          <a:p>
            <a:fld id="{0F99C4FB-888A-4D12-A1C4-C744D94026CD}" type="slidenum">
              <a:rPr lang="en-GB" sz="1350">
                <a:solidFill>
                  <a:schemeClr val="tx1">
                    <a:lumMod val="50000"/>
                    <a:lumOff val="50000"/>
                  </a:schemeClr>
                </a:solidFill>
              </a:rPr>
              <a:t>5</a:t>
            </a:fld>
            <a:endParaRPr lang="en-GB" sz="1350" dirty="0">
              <a:solidFill>
                <a:schemeClr val="tx1">
                  <a:lumMod val="50000"/>
                  <a:lumOff val="50000"/>
                </a:schemeClr>
              </a:solidFill>
            </a:endParaRPr>
          </a:p>
        </p:txBody>
      </p:sp>
      <p:graphicFrame>
        <p:nvGraphicFramePr>
          <p:cNvPr id="6" name="Table 5">
            <a:extLst>
              <a:ext uri="{FF2B5EF4-FFF2-40B4-BE49-F238E27FC236}">
                <a16:creationId xmlns:a16="http://schemas.microsoft.com/office/drawing/2014/main" id="{0C75C8CA-6E3D-C646-8BEB-C7ABAA4A5953}"/>
              </a:ext>
            </a:extLst>
          </p:cNvPr>
          <p:cNvGraphicFramePr>
            <a:graphicFrameLocks noGrp="1"/>
          </p:cNvGraphicFramePr>
          <p:nvPr/>
        </p:nvGraphicFramePr>
        <p:xfrm>
          <a:off x="433655" y="1594476"/>
          <a:ext cx="8257641" cy="3718810"/>
        </p:xfrm>
        <a:graphic>
          <a:graphicData uri="http://schemas.openxmlformats.org/drawingml/2006/table">
            <a:tbl>
              <a:tblPr firstRow="1" bandRow="1">
                <a:tableStyleId>{2D5ABB26-0587-4C30-8999-92F81FD0307C}</a:tableStyleId>
              </a:tblPr>
              <a:tblGrid>
                <a:gridCol w="1766621">
                  <a:extLst>
                    <a:ext uri="{9D8B030D-6E8A-4147-A177-3AD203B41FA5}">
                      <a16:colId xmlns:a16="http://schemas.microsoft.com/office/drawing/2014/main" val="4178278427"/>
                    </a:ext>
                  </a:extLst>
                </a:gridCol>
                <a:gridCol w="3178969">
                  <a:extLst>
                    <a:ext uri="{9D8B030D-6E8A-4147-A177-3AD203B41FA5}">
                      <a16:colId xmlns:a16="http://schemas.microsoft.com/office/drawing/2014/main" val="2764440994"/>
                    </a:ext>
                  </a:extLst>
                </a:gridCol>
                <a:gridCol w="3312051">
                  <a:extLst>
                    <a:ext uri="{9D8B030D-6E8A-4147-A177-3AD203B41FA5}">
                      <a16:colId xmlns:a16="http://schemas.microsoft.com/office/drawing/2014/main" val="2393951941"/>
                    </a:ext>
                  </a:extLst>
                </a:gridCol>
              </a:tblGrid>
              <a:tr h="298150">
                <a:tc>
                  <a:txBody>
                    <a:bodyPr/>
                    <a:lstStyle/>
                    <a:p>
                      <a:pPr algn="ctr"/>
                      <a:endParaRPr lang="en-US" sz="1500" b="1" dirty="0"/>
                    </a:p>
                  </a:txBody>
                  <a:tcPr marL="68580" marR="68580" marT="34290" marB="34290">
                    <a:lnB w="28575" cap="flat" cmpd="sng" algn="ctr">
                      <a:solidFill>
                        <a:schemeClr val="bg1">
                          <a:lumMod val="50000"/>
                        </a:schemeClr>
                      </a:solidFill>
                      <a:prstDash val="solid"/>
                      <a:round/>
                      <a:headEnd type="none" w="med" len="med"/>
                      <a:tailEnd type="none" w="med" len="med"/>
                    </a:lnB>
                  </a:tcPr>
                </a:tc>
                <a:tc>
                  <a:txBody>
                    <a:bodyPr/>
                    <a:lstStyle/>
                    <a:p>
                      <a:pPr algn="ctr"/>
                      <a:r>
                        <a:rPr lang="en-US" sz="1500" b="1" dirty="0"/>
                        <a:t>Debt</a:t>
                      </a:r>
                    </a:p>
                  </a:txBody>
                  <a:tcPr marL="68580" marR="68580" marT="34290" marB="34290">
                    <a:lnB w="28575" cap="flat" cmpd="sng" algn="ctr">
                      <a:solidFill>
                        <a:schemeClr val="bg1">
                          <a:lumMod val="50000"/>
                        </a:schemeClr>
                      </a:solidFill>
                      <a:prstDash val="solid"/>
                      <a:round/>
                      <a:headEnd type="none" w="med" len="med"/>
                      <a:tailEnd type="none" w="med" len="med"/>
                    </a:lnB>
                  </a:tcPr>
                </a:tc>
                <a:tc>
                  <a:txBody>
                    <a:bodyPr/>
                    <a:lstStyle/>
                    <a:p>
                      <a:pPr algn="ctr"/>
                      <a:r>
                        <a:rPr lang="en-US" sz="1500" b="1" dirty="0">
                          <a:solidFill>
                            <a:srgbClr val="C00000"/>
                          </a:solidFill>
                        </a:rPr>
                        <a:t>Equity</a:t>
                      </a:r>
                    </a:p>
                  </a:txBody>
                  <a:tcPr marL="68580" marR="68580" marT="34290" marB="34290">
                    <a:lnB w="285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83608040"/>
                  </a:ext>
                </a:extLst>
              </a:tr>
              <a:tr h="754380">
                <a:tc>
                  <a:txBody>
                    <a:bodyPr/>
                    <a:lstStyle/>
                    <a:p>
                      <a:pPr algn="l">
                        <a:lnSpc>
                          <a:spcPct val="100000"/>
                        </a:lnSpc>
                      </a:pPr>
                      <a:r>
                        <a:rPr lang="en-US" sz="1500" b="1" dirty="0"/>
                        <a:t>Yearly Obligations</a:t>
                      </a:r>
                    </a:p>
                  </a:txBody>
                  <a:tcPr marL="68580" marR="68580" marT="34290" marB="34290">
                    <a:lnT w="28575"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dirty="0"/>
                        <a:t>Fixed Claim in form of:</a:t>
                      </a:r>
                    </a:p>
                    <a:p>
                      <a:pPr marL="342900" indent="-342900" algn="l">
                        <a:lnSpc>
                          <a:spcPct val="100000"/>
                        </a:lnSpc>
                        <a:buClr>
                          <a:srgbClr val="C00000"/>
                        </a:buClr>
                        <a:buFont typeface="Calibri" panose="020F0502020204030204" pitchFamily="34" charset="0"/>
                        <a:buChar char="─"/>
                      </a:pPr>
                      <a:r>
                        <a:rPr lang="en-US" sz="1500" dirty="0"/>
                        <a:t>Interest payments</a:t>
                      </a:r>
                    </a:p>
                    <a:p>
                      <a:pPr marL="342900" indent="-342900" algn="l">
                        <a:lnSpc>
                          <a:spcPct val="100000"/>
                        </a:lnSpc>
                        <a:buClr>
                          <a:srgbClr val="C00000"/>
                        </a:buClr>
                        <a:buFont typeface="Calibri" panose="020F0502020204030204" pitchFamily="34" charset="0"/>
                        <a:buChar char="─"/>
                      </a:pPr>
                      <a:r>
                        <a:rPr lang="en-US" sz="1500" dirty="0"/>
                        <a:t>Coupon payments</a:t>
                      </a:r>
                    </a:p>
                  </a:txBody>
                  <a:tcPr marL="68580" marR="68580" marT="34290" marB="34290">
                    <a:lnT w="28575"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b="1" dirty="0">
                          <a:solidFill>
                            <a:srgbClr val="C00000"/>
                          </a:solidFill>
                        </a:rPr>
                        <a:t>Residual Claim in form of:</a:t>
                      </a:r>
                    </a:p>
                    <a:p>
                      <a:pPr marL="342900" indent="-342900" algn="l">
                        <a:lnSpc>
                          <a:spcPct val="100000"/>
                        </a:lnSpc>
                        <a:buClr>
                          <a:srgbClr val="C00000"/>
                        </a:buClr>
                        <a:buFont typeface="Calibri" panose="020F0502020204030204" pitchFamily="34" charset="0"/>
                        <a:buChar char="─"/>
                      </a:pPr>
                      <a:r>
                        <a:rPr lang="en-US" sz="1500" b="1" dirty="0">
                          <a:solidFill>
                            <a:srgbClr val="C00000"/>
                          </a:solidFill>
                        </a:rPr>
                        <a:t>Dividend payments (not fixed)</a:t>
                      </a:r>
                    </a:p>
                    <a:p>
                      <a:pPr algn="l">
                        <a:lnSpc>
                          <a:spcPct val="100000"/>
                        </a:lnSpc>
                      </a:pPr>
                      <a:endParaRPr lang="en-US" sz="1500" b="1" dirty="0">
                        <a:solidFill>
                          <a:srgbClr val="C00000"/>
                        </a:solidFill>
                      </a:endParaRPr>
                    </a:p>
                  </a:txBody>
                  <a:tcPr marL="68580" marR="68580" marT="34290" marB="34290">
                    <a:lnT w="28575"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70706937"/>
                  </a:ext>
                </a:extLst>
              </a:tr>
              <a:tr h="350354">
                <a:tc>
                  <a:txBody>
                    <a:bodyPr/>
                    <a:lstStyle/>
                    <a:p>
                      <a:pPr algn="l">
                        <a:lnSpc>
                          <a:spcPct val="100000"/>
                        </a:lnSpc>
                      </a:pPr>
                      <a:r>
                        <a:rPr lang="en-US" sz="1500" b="1" dirty="0"/>
                        <a:t>Tax Benefits</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dirty="0"/>
                        <a:t>Tax Deductible</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b="1" dirty="0">
                          <a:solidFill>
                            <a:srgbClr val="C00000"/>
                          </a:solidFill>
                        </a:rPr>
                        <a:t>Not Tax Deductible</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84057368"/>
                  </a:ext>
                </a:extLst>
              </a:tr>
              <a:tr h="380777">
                <a:tc>
                  <a:txBody>
                    <a:bodyPr/>
                    <a:lstStyle/>
                    <a:p>
                      <a:pPr algn="l">
                        <a:lnSpc>
                          <a:spcPct val="100000"/>
                        </a:lnSpc>
                      </a:pPr>
                      <a:r>
                        <a:rPr lang="en-US" sz="1500" b="1" dirty="0"/>
                        <a:t>Priority</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dirty="0"/>
                        <a:t>Highest Priority</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b="1" dirty="0">
                          <a:solidFill>
                            <a:srgbClr val="C00000"/>
                          </a:solidFill>
                        </a:rPr>
                        <a:t>Lowest Priority</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21491370"/>
                  </a:ext>
                </a:extLst>
              </a:tr>
              <a:tr h="357809">
                <a:tc>
                  <a:txBody>
                    <a:bodyPr/>
                    <a:lstStyle/>
                    <a:p>
                      <a:pPr algn="l">
                        <a:lnSpc>
                          <a:spcPct val="100000"/>
                        </a:lnSpc>
                      </a:pPr>
                      <a:r>
                        <a:rPr lang="en-US" sz="1500" b="1" dirty="0"/>
                        <a:t>Repayment</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dirty="0"/>
                        <a:t>Fixed Maturity</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b="1" dirty="0">
                          <a:solidFill>
                            <a:srgbClr val="C00000"/>
                          </a:solidFill>
                        </a:rPr>
                        <a:t>Infinite</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10630069"/>
                  </a:ext>
                </a:extLst>
              </a:tr>
              <a:tr h="525780">
                <a:tc>
                  <a:txBody>
                    <a:bodyPr/>
                    <a:lstStyle/>
                    <a:p>
                      <a:pPr algn="l">
                        <a:lnSpc>
                          <a:spcPct val="100000"/>
                        </a:lnSpc>
                      </a:pPr>
                      <a:r>
                        <a:rPr lang="en-US" sz="1500" b="1" dirty="0"/>
                        <a:t>Management Influence</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dirty="0"/>
                        <a:t>No </a:t>
                      </a:r>
                      <a:r>
                        <a:rPr lang="en-US" sz="1500"/>
                        <a:t>Management Control, but may impose restrictions eg disposal</a:t>
                      </a:r>
                      <a:endParaRPr lang="en-US" sz="1500" dirty="0"/>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b="1" dirty="0">
                          <a:solidFill>
                            <a:srgbClr val="C00000"/>
                          </a:solidFill>
                        </a:rPr>
                        <a:t>Management Control – votes. Possibility of takeover bids</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59645716"/>
                  </a:ext>
                </a:extLst>
              </a:tr>
              <a:tr h="525780">
                <a:tc>
                  <a:txBody>
                    <a:bodyPr/>
                    <a:lstStyle/>
                    <a:p>
                      <a:pPr algn="l">
                        <a:lnSpc>
                          <a:spcPct val="100000"/>
                        </a:lnSpc>
                      </a:pPr>
                      <a:r>
                        <a:rPr lang="en-US" sz="1500" b="1" dirty="0"/>
                        <a:t>Arrangement</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dirty="0"/>
                        <a:t>Relatively easy, low issue costs</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b="1" dirty="0">
                          <a:solidFill>
                            <a:srgbClr val="C00000"/>
                          </a:solidFill>
                        </a:rPr>
                        <a:t>Time consuming, higher issue costs for underwriting and distributing shares</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21085816"/>
                  </a:ext>
                </a:extLst>
              </a:tr>
              <a:tr h="525780">
                <a:tc>
                  <a:txBody>
                    <a:bodyPr/>
                    <a:lstStyle/>
                    <a:p>
                      <a:pPr algn="l">
                        <a:lnSpc>
                          <a:spcPct val="100000"/>
                        </a:lnSpc>
                      </a:pPr>
                      <a:r>
                        <a:rPr lang="en-US" sz="1500" b="1" dirty="0"/>
                        <a:t>Other</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dirty="0"/>
                        <a:t>Debtholder may impose restrictions. High debt level insolvency risk</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lnSpc>
                          <a:spcPct val="100000"/>
                        </a:lnSpc>
                      </a:pPr>
                      <a:r>
                        <a:rPr lang="en-US" sz="1500" b="1" dirty="0">
                          <a:solidFill>
                            <a:srgbClr val="C00000"/>
                          </a:solidFill>
                        </a:rPr>
                        <a:t>Public scrutiny and accountability, enhanced status. Cost of reporting.</a:t>
                      </a:r>
                    </a:p>
                  </a:txBody>
                  <a:tcPr marL="68580" marR="68580" marT="34290" marB="3429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95434915"/>
                  </a:ext>
                </a:extLst>
              </a:tr>
            </a:tbl>
          </a:graphicData>
        </a:graphic>
      </p:graphicFrame>
    </p:spTree>
    <p:extLst>
      <p:ext uri="{BB962C8B-B14F-4D97-AF65-F5344CB8AC3E}">
        <p14:creationId xmlns:p14="http://schemas.microsoft.com/office/powerpoint/2010/main" val="2167367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5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5A5BC-9EDF-F445-A039-3A21B759927B}"/>
              </a:ext>
            </a:extLst>
          </p:cNvPr>
          <p:cNvSpPr>
            <a:spLocks noGrp="1"/>
          </p:cNvSpPr>
          <p:nvPr>
            <p:ph type="title"/>
          </p:nvPr>
        </p:nvSpPr>
        <p:spPr>
          <a:xfrm>
            <a:off x="147665" y="977362"/>
            <a:ext cx="6447501" cy="530817"/>
          </a:xfrm>
        </p:spPr>
        <p:txBody>
          <a:bodyPr>
            <a:normAutofit fontScale="90000"/>
          </a:bodyPr>
          <a:lstStyle/>
          <a:p>
            <a:r>
              <a:rPr lang="en-GB" dirty="0"/>
              <a:t>Types of Equity Finance</a:t>
            </a:r>
          </a:p>
        </p:txBody>
      </p:sp>
      <p:sp>
        <p:nvSpPr>
          <p:cNvPr id="3" name="Slide Number Placeholder 2">
            <a:extLst>
              <a:ext uri="{FF2B5EF4-FFF2-40B4-BE49-F238E27FC236}">
                <a16:creationId xmlns:a16="http://schemas.microsoft.com/office/drawing/2014/main" id="{14475C0D-5E4C-36BE-5AA5-3DB519B9E09B}"/>
              </a:ext>
            </a:extLst>
          </p:cNvPr>
          <p:cNvSpPr>
            <a:spLocks noGrp="1"/>
          </p:cNvSpPr>
          <p:nvPr>
            <p:ph type="sldNum" sz="quarter" idx="12"/>
          </p:nvPr>
        </p:nvSpPr>
        <p:spPr/>
        <p:txBody>
          <a:bodyPr/>
          <a:lstStyle/>
          <a:p>
            <a:endParaRPr lang="en-GB" dirty="0"/>
          </a:p>
        </p:txBody>
      </p:sp>
      <p:sp>
        <p:nvSpPr>
          <p:cNvPr id="4" name="TextBox 3">
            <a:extLst>
              <a:ext uri="{FF2B5EF4-FFF2-40B4-BE49-F238E27FC236}">
                <a16:creationId xmlns:a16="http://schemas.microsoft.com/office/drawing/2014/main" id="{AEAD7C4C-7418-B63D-BCDB-BC705282F0DA}"/>
              </a:ext>
            </a:extLst>
          </p:cNvPr>
          <p:cNvSpPr txBox="1"/>
          <p:nvPr/>
        </p:nvSpPr>
        <p:spPr>
          <a:xfrm>
            <a:off x="147665" y="1694158"/>
            <a:ext cx="8384775" cy="4832092"/>
          </a:xfrm>
          <a:prstGeom prst="rect">
            <a:avLst/>
          </a:prstGeom>
          <a:noFill/>
        </p:spPr>
        <p:txBody>
          <a:bodyPr wrap="square" rtlCol="0">
            <a:spAutoFit/>
          </a:bodyPr>
          <a:lstStyle/>
          <a:p>
            <a:pPr marL="257175" indent="-257175">
              <a:buAutoNum type="arabicPeriod"/>
            </a:pPr>
            <a:r>
              <a:rPr lang="en-GB" sz="1400" dirty="0"/>
              <a:t>Retained Earnings</a:t>
            </a:r>
          </a:p>
          <a:p>
            <a:pPr marL="642938" lvl="1" indent="-300038">
              <a:buFont typeface="+mj-lt"/>
              <a:buAutoNum type="romanLcPeriod"/>
            </a:pPr>
            <a:r>
              <a:rPr lang="en-GB" sz="1400" dirty="0"/>
              <a:t> where directors of the company decide to retain and reinvest profits rather than distribute as dividends.</a:t>
            </a:r>
          </a:p>
          <a:p>
            <a:pPr marL="642938" lvl="1" indent="-300038">
              <a:buFont typeface="+mj-lt"/>
              <a:buAutoNum type="romanLcPeriod"/>
            </a:pPr>
            <a:r>
              <a:rPr lang="en-GB" sz="1400" dirty="0"/>
              <a:t>Simplest form of equity finance – avoids issue costs</a:t>
            </a:r>
          </a:p>
          <a:p>
            <a:pPr lvl="1"/>
            <a:endParaRPr lang="en-GB" sz="1400" dirty="0"/>
          </a:p>
          <a:p>
            <a:pPr marL="300038" indent="-300038">
              <a:buFont typeface="+mj-lt"/>
              <a:buAutoNum type="arabicPeriod"/>
            </a:pPr>
            <a:r>
              <a:rPr lang="en-GB" sz="1400" dirty="0"/>
              <a:t>Issue of new shares to new investors</a:t>
            </a:r>
          </a:p>
          <a:p>
            <a:pPr marL="642938" lvl="1" indent="-300038">
              <a:buFont typeface="+mj-lt"/>
              <a:buAutoNum type="romanLcPeriod"/>
            </a:pPr>
            <a:r>
              <a:rPr lang="en-GB" sz="1400" dirty="0"/>
              <a:t>The directors of the company offer new shares to new investors via:</a:t>
            </a:r>
          </a:p>
          <a:p>
            <a:pPr marL="942975" lvl="2" indent="-257175">
              <a:buFont typeface="+mj-lt"/>
              <a:buAutoNum type="alphaLcParenR"/>
            </a:pPr>
            <a:r>
              <a:rPr lang="en-GB" sz="1400" dirty="0"/>
              <a:t>An offer for sale –IPO, Co. sets an issue price and invites public to buy shares issued that price</a:t>
            </a:r>
          </a:p>
          <a:p>
            <a:pPr marL="942975" lvl="2" indent="-257175">
              <a:buFont typeface="+mj-lt"/>
              <a:buAutoNum type="alphaLcParenR"/>
            </a:pPr>
            <a:r>
              <a:rPr lang="en-GB" sz="1400" dirty="0"/>
              <a:t>An offer for sale by tender – a minimum price for shares is set and investors bid for the shares</a:t>
            </a:r>
          </a:p>
          <a:p>
            <a:pPr marL="942975" lvl="2" indent="-257175">
              <a:buFont typeface="+mj-lt"/>
              <a:buAutoNum type="alphaLcParenR"/>
            </a:pPr>
            <a:r>
              <a:rPr lang="en-GB" sz="1400" dirty="0"/>
              <a:t>A placing – shares are sold or ‘placed’ by a merchant bank directly with an institutional investor or a group e.g. a large pension fund</a:t>
            </a:r>
          </a:p>
          <a:p>
            <a:pPr marL="685800" lvl="2" indent="0"/>
            <a:endParaRPr lang="en-GB" sz="1400" dirty="0"/>
          </a:p>
          <a:p>
            <a:pPr marL="300038" indent="-300038">
              <a:buFont typeface="+mj-lt"/>
              <a:buAutoNum type="arabicPeriod"/>
            </a:pPr>
            <a:r>
              <a:rPr lang="en-GB" sz="1400" dirty="0"/>
              <a:t>Rights issue</a:t>
            </a:r>
          </a:p>
          <a:p>
            <a:pPr marL="642938" lvl="1" indent="-300038">
              <a:buFont typeface="+mj-lt"/>
              <a:buAutoNum type="romanLcPeriod"/>
            </a:pPr>
            <a:r>
              <a:rPr lang="en-GB" sz="1400" dirty="0"/>
              <a:t>The existing shareholders are offered the right to buy new shares in proportion to their existing shareholding</a:t>
            </a:r>
          </a:p>
          <a:p>
            <a:pPr marL="642938" lvl="1" indent="-300038">
              <a:buFont typeface="+mj-lt"/>
              <a:buAutoNum type="romanLcPeriod" startAt="2"/>
            </a:pPr>
            <a:r>
              <a:rPr lang="en-GB" sz="1400" dirty="0"/>
              <a:t>Shareholders can take up the rights, sell the rights to another investor OR allow the rights to lapse</a:t>
            </a:r>
          </a:p>
          <a:p>
            <a:pPr marL="642938" lvl="1" indent="-300038">
              <a:buFont typeface="+mj-lt"/>
              <a:buAutoNum type="romanLcPeriod" startAt="2"/>
            </a:pPr>
            <a:endParaRPr lang="en-GB" sz="1400" dirty="0"/>
          </a:p>
          <a:p>
            <a:pPr marL="300038" indent="-300038">
              <a:buFont typeface="+mj-lt"/>
              <a:buAutoNum type="arabicPeriod"/>
            </a:pPr>
            <a:endParaRPr lang="en-GB" sz="1400" dirty="0"/>
          </a:p>
          <a:p>
            <a:pPr marL="257175" indent="-257175">
              <a:buAutoNum type="arabicPeriod"/>
            </a:pPr>
            <a:endParaRPr lang="en-GB" sz="1400" dirty="0"/>
          </a:p>
        </p:txBody>
      </p:sp>
    </p:spTree>
    <p:extLst>
      <p:ext uri="{BB962C8B-B14F-4D97-AF65-F5344CB8AC3E}">
        <p14:creationId xmlns:p14="http://schemas.microsoft.com/office/powerpoint/2010/main" val="1164683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anim calcmode="lin" valueType="num">
                                      <p:cBhvr additive="base">
                                        <p:cTn id="2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additive="base">
                                        <p:cTn id="2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 calcmode="lin" valueType="num">
                                      <p:cBhvr additive="base">
                                        <p:cTn id="3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 calcmode="lin" valueType="num">
                                      <p:cBhvr additive="base">
                                        <p:cTn id="3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anim calcmode="lin" valueType="num">
                                      <p:cBhvr additive="base">
                                        <p:cTn id="4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anim calcmode="lin" valueType="num">
                                      <p:cBhvr additive="base">
                                        <p:cTn id="5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8" end="8"/>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anim calcmode="lin" valueType="num">
                                      <p:cBhvr additive="base">
                                        <p:cTn id="55"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anim calcmode="lin" valueType="num">
                                      <p:cBhvr additive="base">
                                        <p:cTn id="5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t>Main Types of Share</a:t>
            </a:r>
          </a:p>
        </p:txBody>
      </p:sp>
      <p:sp>
        <p:nvSpPr>
          <p:cNvPr id="3" name="Content Placeholder 2"/>
          <p:cNvSpPr>
            <a:spLocks noGrp="1"/>
          </p:cNvSpPr>
          <p:nvPr>
            <p:ph idx="1"/>
          </p:nvPr>
        </p:nvSpPr>
        <p:spPr>
          <a:xfrm>
            <a:off x="266700" y="1704975"/>
            <a:ext cx="7886700" cy="4005722"/>
          </a:xfrm>
        </p:spPr>
        <p:txBody>
          <a:bodyPr>
            <a:normAutofit/>
          </a:bodyPr>
          <a:lstStyle/>
          <a:p>
            <a:pPr>
              <a:buClr>
                <a:srgbClr val="C00000"/>
              </a:buClr>
              <a:buSzPct val="90000"/>
            </a:pPr>
            <a:r>
              <a:rPr lang="en-GB" sz="1800" b="1" dirty="0"/>
              <a:t>Preference shares </a:t>
            </a:r>
            <a:r>
              <a:rPr lang="en-GB" sz="1800" dirty="0"/>
              <a:t>– carry no voting rights, entitle shareholders to a fixed dividend (usually as a % of the value of the share, paid out in priority to ordinary shareholder dividends. May be cumulative or non-cumulative.</a:t>
            </a:r>
          </a:p>
          <a:p>
            <a:pPr marL="0" indent="0">
              <a:buClr>
                <a:srgbClr val="C00000"/>
              </a:buClr>
              <a:buSzPct val="90000"/>
              <a:buNone/>
            </a:pPr>
            <a:endParaRPr lang="en-GB" sz="1800" dirty="0"/>
          </a:p>
          <a:p>
            <a:pPr>
              <a:buClr>
                <a:srgbClr val="C00000"/>
              </a:buClr>
              <a:buSzPct val="90000"/>
            </a:pPr>
            <a:r>
              <a:rPr lang="en-GB" sz="1800" b="1" dirty="0"/>
              <a:t>Ordinary shares </a:t>
            </a:r>
            <a:r>
              <a:rPr lang="en-GB" sz="1800" dirty="0"/>
              <a:t>– most common, carry voting rights , entitles share holders to a non-fixed dividend, paid out after preferred shares. </a:t>
            </a:r>
          </a:p>
          <a:p>
            <a:pPr marL="0" indent="0">
              <a:buClr>
                <a:srgbClr val="C00000"/>
              </a:buClr>
              <a:buSzPct val="90000"/>
              <a:buNone/>
            </a:pPr>
            <a:endParaRPr lang="en-GB" sz="1800" dirty="0"/>
          </a:p>
          <a:p>
            <a:pPr marL="0" indent="0">
              <a:buClr>
                <a:srgbClr val="C00000"/>
              </a:buClr>
              <a:buSzPct val="90000"/>
              <a:buNone/>
            </a:pPr>
            <a:r>
              <a:rPr lang="en-GB" sz="1800" dirty="0"/>
              <a:t>May have different classes of shares within these.</a:t>
            </a:r>
          </a:p>
          <a:p>
            <a:pPr marL="176213" indent="0">
              <a:buClr>
                <a:srgbClr val="C00000"/>
              </a:buClr>
              <a:buSzPct val="90000"/>
              <a:buNone/>
            </a:pPr>
            <a:endParaRPr lang="en-GB" sz="1800" dirty="0"/>
          </a:p>
        </p:txBody>
      </p:sp>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7</a:t>
            </a:fld>
            <a:endParaRPr lang="en-GB" sz="1350" dirty="0">
              <a:solidFill>
                <a:prstClr val="black">
                  <a:lumMod val="50000"/>
                  <a:lumOff val="50000"/>
                </a:prstClr>
              </a:solidFill>
              <a:latin typeface="Calibri" panose="020F0502020204030204"/>
              <a:ea typeface="+mn-ea"/>
            </a:endParaRPr>
          </a:p>
        </p:txBody>
      </p:sp>
    </p:spTree>
    <p:extLst>
      <p:ext uri="{BB962C8B-B14F-4D97-AF65-F5344CB8AC3E}">
        <p14:creationId xmlns:p14="http://schemas.microsoft.com/office/powerpoint/2010/main" val="3212229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836712"/>
            <a:ext cx="7886700" cy="634117"/>
          </a:xfrm>
        </p:spPr>
        <p:txBody>
          <a:bodyPr>
            <a:normAutofit/>
          </a:bodyPr>
          <a:lstStyle/>
          <a:p>
            <a:r>
              <a:rPr lang="en-GB" dirty="0"/>
              <a:t>Equity Value</a:t>
            </a:r>
          </a:p>
        </p:txBody>
      </p:sp>
      <p:sp>
        <p:nvSpPr>
          <p:cNvPr id="3" name="Content Placeholder 2"/>
          <p:cNvSpPr>
            <a:spLocks noGrp="1"/>
          </p:cNvSpPr>
          <p:nvPr>
            <p:ph idx="1"/>
          </p:nvPr>
        </p:nvSpPr>
        <p:spPr>
          <a:xfrm>
            <a:off x="266700" y="1704974"/>
            <a:ext cx="8067514" cy="2476662"/>
          </a:xfrm>
        </p:spPr>
        <p:txBody>
          <a:bodyPr>
            <a:normAutofit/>
          </a:bodyPr>
          <a:lstStyle/>
          <a:p>
            <a:pPr marL="0" indent="0" algn="just">
              <a:spcBef>
                <a:spcPts val="1350"/>
              </a:spcBef>
              <a:buClr>
                <a:srgbClr val="C00000"/>
              </a:buClr>
              <a:buSzPct val="90000"/>
              <a:buNone/>
            </a:pPr>
            <a:endParaRPr lang="en-GB" sz="1800" dirty="0">
              <a:ea typeface="Cambria Math" panose="02040503050406030204" pitchFamily="18" charset="0"/>
            </a:endParaRPr>
          </a:p>
          <a:p>
            <a:pPr marL="0" indent="0" algn="just">
              <a:spcBef>
                <a:spcPts val="1350"/>
              </a:spcBef>
              <a:buClr>
                <a:srgbClr val="C00000"/>
              </a:buClr>
              <a:buSzPct val="90000"/>
              <a:buNone/>
            </a:pPr>
            <a:endParaRPr lang="en-GB" sz="1800" dirty="0"/>
          </a:p>
        </p:txBody>
      </p:sp>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8</a:t>
            </a:fld>
            <a:endParaRPr lang="en-GB" sz="1350" dirty="0">
              <a:solidFill>
                <a:prstClr val="black">
                  <a:lumMod val="50000"/>
                  <a:lumOff val="50000"/>
                </a:prstClr>
              </a:solidFill>
              <a:latin typeface="Calibri" panose="020F0502020204030204"/>
              <a:ea typeface="+mn-ea"/>
            </a:endParaRPr>
          </a:p>
        </p:txBody>
      </p:sp>
      <p:graphicFrame>
        <p:nvGraphicFramePr>
          <p:cNvPr id="9" name="Table 9">
            <a:extLst>
              <a:ext uri="{FF2B5EF4-FFF2-40B4-BE49-F238E27FC236}">
                <a16:creationId xmlns:a16="http://schemas.microsoft.com/office/drawing/2014/main" id="{0490F9A5-7F30-2C57-D5B6-E2491810DD78}"/>
              </a:ext>
            </a:extLst>
          </p:cNvPr>
          <p:cNvGraphicFramePr>
            <a:graphicFrameLocks noGrp="1"/>
          </p:cNvGraphicFramePr>
          <p:nvPr>
            <p:extLst>
              <p:ext uri="{D42A27DB-BD31-4B8C-83A1-F6EECF244321}">
                <p14:modId xmlns:p14="http://schemas.microsoft.com/office/powerpoint/2010/main" val="509788052"/>
              </p:ext>
            </p:extLst>
          </p:nvPr>
        </p:nvGraphicFramePr>
        <p:xfrm>
          <a:off x="502680" y="1170738"/>
          <a:ext cx="8138640" cy="5041400"/>
        </p:xfrm>
        <a:graphic>
          <a:graphicData uri="http://schemas.openxmlformats.org/drawingml/2006/table">
            <a:tbl>
              <a:tblPr firstRow="1" bandRow="1">
                <a:tableStyleId>{5C22544A-7EE6-4342-B048-85BDC9FD1C3A}</a:tableStyleId>
              </a:tblPr>
              <a:tblGrid>
                <a:gridCol w="2594023">
                  <a:extLst>
                    <a:ext uri="{9D8B030D-6E8A-4147-A177-3AD203B41FA5}">
                      <a16:colId xmlns:a16="http://schemas.microsoft.com/office/drawing/2014/main" val="342857966"/>
                    </a:ext>
                  </a:extLst>
                </a:gridCol>
                <a:gridCol w="2831737">
                  <a:extLst>
                    <a:ext uri="{9D8B030D-6E8A-4147-A177-3AD203B41FA5}">
                      <a16:colId xmlns:a16="http://schemas.microsoft.com/office/drawing/2014/main" val="2975392120"/>
                    </a:ext>
                  </a:extLst>
                </a:gridCol>
                <a:gridCol w="2712880">
                  <a:extLst>
                    <a:ext uri="{9D8B030D-6E8A-4147-A177-3AD203B41FA5}">
                      <a16:colId xmlns:a16="http://schemas.microsoft.com/office/drawing/2014/main" val="3389105089"/>
                    </a:ext>
                  </a:extLst>
                </a:gridCol>
              </a:tblGrid>
              <a:tr h="446540">
                <a:tc>
                  <a:txBody>
                    <a:bodyPr/>
                    <a:lstStyle/>
                    <a:p>
                      <a:r>
                        <a:rPr lang="en-GB" sz="1800" dirty="0"/>
                        <a:t>Nominal value</a:t>
                      </a:r>
                    </a:p>
                  </a:txBody>
                  <a:tcPr marL="68580" marR="68580" marT="34290" marB="34290">
                    <a:solidFill>
                      <a:schemeClr val="accent5"/>
                    </a:solidFill>
                  </a:tcPr>
                </a:tc>
                <a:tc>
                  <a:txBody>
                    <a:bodyPr/>
                    <a:lstStyle/>
                    <a:p>
                      <a:pPr algn="ctr"/>
                      <a:r>
                        <a:rPr lang="en-GB" sz="1800" dirty="0"/>
                        <a:t>Book value</a:t>
                      </a:r>
                    </a:p>
                  </a:txBody>
                  <a:tcPr marL="68580" marR="68580" marT="34290" marB="34290">
                    <a:solidFill>
                      <a:schemeClr val="accent5"/>
                    </a:solidFill>
                  </a:tcPr>
                </a:tc>
                <a:tc>
                  <a:txBody>
                    <a:bodyPr/>
                    <a:lstStyle/>
                    <a:p>
                      <a:pPr algn="ctr"/>
                      <a:r>
                        <a:rPr lang="en-GB" sz="1800" dirty="0"/>
                        <a:t>Market value</a:t>
                      </a:r>
                    </a:p>
                  </a:txBody>
                  <a:tcPr marL="68580" marR="68580" marT="34290" marB="34290">
                    <a:solidFill>
                      <a:schemeClr val="accent5"/>
                    </a:solidFill>
                  </a:tcPr>
                </a:tc>
                <a:extLst>
                  <a:ext uri="{0D108BD9-81ED-4DB2-BD59-A6C34878D82A}">
                    <a16:rowId xmlns:a16="http://schemas.microsoft.com/office/drawing/2014/main" val="4130905934"/>
                  </a:ext>
                </a:extLst>
              </a:tr>
              <a:tr h="1440180">
                <a:tc>
                  <a:txBody>
                    <a:bodyPr/>
                    <a:lstStyle/>
                    <a:p>
                      <a:r>
                        <a:rPr lang="en-GB" sz="1800" dirty="0"/>
                        <a:t>The value assigned to a company’s shares when they are issued. It is an arbitrary amount below $1, often $1, $0.50, $0.10, $0.01. Used in </a:t>
                      </a:r>
                      <a:r>
                        <a:rPr lang="en-GB" sz="1800" dirty="0" err="1"/>
                        <a:t>SoFP</a:t>
                      </a:r>
                      <a:endParaRPr lang="en-GB" sz="1800" dirty="0"/>
                    </a:p>
                  </a:txBody>
                  <a:tcPr marL="68580" marR="68580" marT="34290" marB="34290">
                    <a:solidFill>
                      <a:schemeClr val="accent5"/>
                    </a:solidFill>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GB" sz="1800" dirty="0"/>
                        <a:t>The </a:t>
                      </a:r>
                      <a:r>
                        <a:rPr lang="en-GB" sz="1800" b="1" dirty="0"/>
                        <a:t>book value of shares</a:t>
                      </a:r>
                      <a:r>
                        <a:rPr lang="en-GB" sz="1800" dirty="0"/>
                        <a:t>, the value of a company's equity as reported on the </a:t>
                      </a:r>
                      <a:r>
                        <a:rPr lang="en-GB" sz="1800" dirty="0" err="1"/>
                        <a:t>SoFP</a:t>
                      </a:r>
                      <a:r>
                        <a:rPr lang="en-GB" sz="1800" dirty="0"/>
                        <a:t> (TA-TL). To get this per share just divide by the no. of outstanding shares.</a:t>
                      </a:r>
                    </a:p>
                  </a:txBody>
                  <a:tcPr marL="68580" marR="68580" marT="34290" marB="34290">
                    <a:solidFill>
                      <a:schemeClr val="accent5"/>
                    </a:solidFill>
                  </a:tcPr>
                </a:tc>
                <a:tc>
                  <a:txBody>
                    <a:bodyPr/>
                    <a:lstStyle/>
                    <a:p>
                      <a:r>
                        <a:rPr lang="en-GB" sz="1800" dirty="0"/>
                        <a:t>Current value on the stock market.</a:t>
                      </a:r>
                    </a:p>
                  </a:txBody>
                  <a:tcPr marL="68580" marR="68580" marT="34290" marB="34290">
                    <a:solidFill>
                      <a:schemeClr val="accent5"/>
                    </a:solidFill>
                  </a:tcPr>
                </a:tc>
                <a:extLst>
                  <a:ext uri="{0D108BD9-81ED-4DB2-BD59-A6C34878D82A}">
                    <a16:rowId xmlns:a16="http://schemas.microsoft.com/office/drawing/2014/main" val="2195064648"/>
                  </a:ext>
                </a:extLst>
              </a:tr>
              <a:tr h="1440180">
                <a:tc>
                  <a:txBody>
                    <a:bodyPr/>
                    <a:lstStyle/>
                    <a:p>
                      <a:r>
                        <a:rPr lang="en-GB" sz="1800" dirty="0"/>
                        <a:t>Statutory requirement, cannot issue new shares if market price drops below this.</a:t>
                      </a:r>
                    </a:p>
                  </a:txBody>
                  <a:tcPr marL="68580" marR="68580" marT="34290" marB="34290">
                    <a:solidFill>
                      <a:schemeClr val="accent5"/>
                    </a:solidFill>
                  </a:tcPr>
                </a:tc>
                <a:tc>
                  <a:txBody>
                    <a:bodyPr/>
                    <a:lstStyle/>
                    <a:p>
                      <a:r>
                        <a:rPr lang="en-GB" sz="1800" dirty="0"/>
                        <a:t>A measure of the value of the company's assets after all liabilities have been paid, on a per-share basis.</a:t>
                      </a:r>
                    </a:p>
                  </a:txBody>
                  <a:tcPr marL="68580" marR="68580" marT="34290" marB="34290">
                    <a:solidFill>
                      <a:schemeClr val="accent5"/>
                    </a:solidFill>
                  </a:tcPr>
                </a:tc>
                <a:tc>
                  <a:txBody>
                    <a:bodyPr/>
                    <a:lstStyle/>
                    <a:p>
                      <a:r>
                        <a:rPr lang="en-GB" sz="1800" dirty="0"/>
                        <a:t>Market capitalisation = Mkt price x no. of shares in issue.</a:t>
                      </a:r>
                    </a:p>
                  </a:txBody>
                  <a:tcPr marL="68580" marR="68580" marT="34290" marB="34290">
                    <a:solidFill>
                      <a:schemeClr val="accent5"/>
                    </a:solidFill>
                  </a:tcPr>
                </a:tc>
                <a:extLst>
                  <a:ext uri="{0D108BD9-81ED-4DB2-BD59-A6C34878D82A}">
                    <a16:rowId xmlns:a16="http://schemas.microsoft.com/office/drawing/2014/main" val="136016352"/>
                  </a:ext>
                </a:extLst>
              </a:tr>
              <a:tr h="1440180">
                <a:tc>
                  <a:txBody>
                    <a:bodyPr/>
                    <a:lstStyle/>
                    <a:p>
                      <a:endParaRPr lang="en-GB" sz="1800" dirty="0"/>
                    </a:p>
                  </a:txBody>
                  <a:tcPr marL="68580" marR="68580" marT="34290" marB="34290">
                    <a:solidFill>
                      <a:schemeClr val="accent5"/>
                    </a:solidFill>
                  </a:tcPr>
                </a:tc>
                <a:tc>
                  <a:txBody>
                    <a:bodyPr/>
                    <a:lstStyle/>
                    <a:p>
                      <a:endParaRPr lang="en-GB" sz="1800" dirty="0"/>
                    </a:p>
                  </a:txBody>
                  <a:tcPr marL="68580" marR="68580" marT="34290" marB="34290">
                    <a:solidFill>
                      <a:schemeClr val="accent5"/>
                    </a:solidFill>
                  </a:tcPr>
                </a:tc>
                <a:tc>
                  <a:txBody>
                    <a:bodyPr/>
                    <a:lstStyle/>
                    <a:p>
                      <a:endParaRPr lang="en-GB" sz="1800" dirty="0"/>
                    </a:p>
                  </a:txBody>
                  <a:tcPr marL="68580" marR="68580" marT="34290" marB="34290">
                    <a:solidFill>
                      <a:schemeClr val="accent5"/>
                    </a:solidFill>
                  </a:tcPr>
                </a:tc>
                <a:extLst>
                  <a:ext uri="{0D108BD9-81ED-4DB2-BD59-A6C34878D82A}">
                    <a16:rowId xmlns:a16="http://schemas.microsoft.com/office/drawing/2014/main" val="271736525"/>
                  </a:ext>
                </a:extLst>
              </a:tr>
            </a:tbl>
          </a:graphicData>
        </a:graphic>
      </p:graphicFrame>
      <p:sp>
        <p:nvSpPr>
          <p:cNvPr id="6" name="TextBox 5">
            <a:extLst>
              <a:ext uri="{FF2B5EF4-FFF2-40B4-BE49-F238E27FC236}">
                <a16:creationId xmlns:a16="http://schemas.microsoft.com/office/drawing/2014/main" id="{0E7A3B12-8F34-565F-6164-DF23598F92F4}"/>
              </a:ext>
            </a:extLst>
          </p:cNvPr>
          <p:cNvSpPr txBox="1"/>
          <p:nvPr/>
        </p:nvSpPr>
        <p:spPr>
          <a:xfrm>
            <a:off x="1835696" y="5110533"/>
            <a:ext cx="5760640" cy="1200329"/>
          </a:xfrm>
          <a:prstGeom prst="rect">
            <a:avLst/>
          </a:prstGeom>
          <a:noFill/>
        </p:spPr>
        <p:txBody>
          <a:bodyPr wrap="square">
            <a:spAutoFit/>
          </a:bodyPr>
          <a:lstStyle/>
          <a:p>
            <a:pPr algn="ctr"/>
            <a:r>
              <a:rPr lang="en-GB" sz="2400" dirty="0"/>
              <a:t>The difference between the market price at issuance and the nominal value is the </a:t>
            </a:r>
            <a:r>
              <a:rPr lang="en-GB" sz="2400" b="1" u="sng" dirty="0"/>
              <a:t>share premium.</a:t>
            </a:r>
          </a:p>
        </p:txBody>
      </p:sp>
      <p:cxnSp>
        <p:nvCxnSpPr>
          <p:cNvPr id="7" name="Straight Arrow Connector 6">
            <a:extLst>
              <a:ext uri="{FF2B5EF4-FFF2-40B4-BE49-F238E27FC236}">
                <a16:creationId xmlns:a16="http://schemas.microsoft.com/office/drawing/2014/main" id="{52643E9D-7881-3CBA-D682-A9B1BB7F1755}"/>
              </a:ext>
            </a:extLst>
          </p:cNvPr>
          <p:cNvCxnSpPr/>
          <p:nvPr/>
        </p:nvCxnSpPr>
        <p:spPr>
          <a:xfrm>
            <a:off x="2555776" y="5013176"/>
            <a:ext cx="3888432" cy="0"/>
          </a:xfrm>
          <a:prstGeom prst="straightConnector1">
            <a:avLst/>
          </a:prstGeom>
          <a:ln w="762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172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10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t>Share Cash Flows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39001"/>
                <a:ext cx="7252010" cy="1919993"/>
              </a:xfrm>
            </p:spPr>
            <p:txBody>
              <a:bodyPr>
                <a:noAutofit/>
              </a:bodyPr>
              <a:lstStyle/>
              <a:p>
                <a:pPr marL="0" indent="0">
                  <a:spcBef>
                    <a:spcPts val="1350"/>
                  </a:spcBef>
                  <a:buClr>
                    <a:srgbClr val="C00000"/>
                  </a:buClr>
                  <a:buSzPct val="90000"/>
                  <a:buNone/>
                </a:pPr>
                <a:r>
                  <a:rPr lang="en-GB" sz="1600" dirty="0">
                    <a:ea typeface="Cambria Math" panose="02040503050406030204" pitchFamily="18" charset="0"/>
                  </a:rPr>
                  <a:t>Each share has:</a:t>
                </a:r>
              </a:p>
              <a:p>
                <a:pPr lvl="1">
                  <a:spcBef>
                    <a:spcPts val="450"/>
                  </a:spcBef>
                  <a:buClr>
                    <a:srgbClr val="C00000"/>
                  </a:buClr>
                  <a:buSzPct val="90000"/>
                  <a:buFont typeface="Calibri" panose="020F0502020204030204" pitchFamily="34" charset="0"/>
                  <a:buChar char="─"/>
                </a:pPr>
                <a:r>
                  <a:rPr lang="en-GB" sz="1600" dirty="0">
                    <a:ea typeface="Cambria Math" panose="02040503050406030204" pitchFamily="18" charset="0"/>
                  </a:rPr>
                  <a:t>Unknown maturity, unless the company is expected to liquidate</a:t>
                </a:r>
              </a:p>
              <a:p>
                <a:pPr lvl="1">
                  <a:spcBef>
                    <a:spcPts val="450"/>
                  </a:spcBef>
                  <a:buClr>
                    <a:srgbClr val="C00000"/>
                  </a:buClr>
                  <a:buSzPct val="90000"/>
                  <a:buFont typeface="Calibri" panose="020F0502020204030204" pitchFamily="34" charset="0"/>
                  <a:buChar char="─"/>
                </a:pPr>
                <a:r>
                  <a:rPr lang="en-GB" sz="1600" dirty="0">
                    <a:ea typeface="Cambria Math" panose="02040503050406030204" pitchFamily="18" charset="0"/>
                  </a:rPr>
                  <a:t>No requirement to pay the initial share value back</a:t>
                </a:r>
              </a:p>
              <a:p>
                <a:pPr lvl="1">
                  <a:spcBef>
                    <a:spcPts val="450"/>
                  </a:spcBef>
                  <a:buClr>
                    <a:srgbClr val="C00000"/>
                  </a:buClr>
                  <a:buSzPct val="90000"/>
                  <a:buFont typeface="Calibri" panose="020F0502020204030204" pitchFamily="34" charset="0"/>
                  <a:buChar char="─"/>
                </a:pPr>
                <a:r>
                  <a:rPr lang="en-GB" sz="1600" dirty="0">
                    <a:ea typeface="Cambria Math" panose="02040503050406030204" pitchFamily="18" charset="0"/>
                  </a:rPr>
                  <a:t>A dividend, </a:t>
                </a:r>
                <a14:m>
                  <m:oMath xmlns:m="http://schemas.openxmlformats.org/officeDocument/2006/math">
                    <m:r>
                      <a:rPr lang="en-GB" sz="1600">
                        <a:latin typeface="Cambria Math" panose="02040503050406030204" pitchFamily="18" charset="0"/>
                        <a:ea typeface="Cambria Math" panose="02040503050406030204" pitchFamily="18" charset="0"/>
                      </a:rPr>
                      <m:t>𝐷</m:t>
                    </m:r>
                  </m:oMath>
                </a14:m>
                <a:r>
                  <a:rPr lang="en-GB" sz="1600" dirty="0">
                    <a:ea typeface="Cambria Math" panose="02040503050406030204" pitchFamily="18" charset="0"/>
                  </a:rPr>
                  <a:t>, paid periodically as  decided by the </a:t>
                </a:r>
                <a:r>
                  <a:rPr lang="en-GB" sz="1600" dirty="0"/>
                  <a:t>BOD</a:t>
                </a:r>
              </a:p>
              <a:p>
                <a:pPr lvl="2">
                  <a:spcBef>
                    <a:spcPts val="450"/>
                  </a:spcBef>
                  <a:buClr>
                    <a:srgbClr val="C00000"/>
                  </a:buClr>
                  <a:buSzPct val="90000"/>
                  <a:buFont typeface="Calibri" panose="020F0502020204030204" pitchFamily="34" charset="0"/>
                  <a:buChar char="─"/>
                </a:pPr>
                <a:r>
                  <a:rPr lang="en-GB" sz="1600" dirty="0"/>
                  <a:t>The BOD determines the </a:t>
                </a:r>
                <a:r>
                  <a:rPr lang="en-GB" sz="1600" dirty="0">
                    <a:solidFill>
                      <a:srgbClr val="C00000"/>
                    </a:solidFill>
                  </a:rPr>
                  <a:t>dividend </a:t>
                </a:r>
                <a:r>
                  <a:rPr lang="en-GB" sz="1600" dirty="0" err="1">
                    <a:solidFill>
                      <a:srgbClr val="C00000"/>
                    </a:solidFill>
                  </a:rPr>
                  <a:t>payout</a:t>
                </a:r>
                <a:r>
                  <a:rPr lang="en-GB" sz="1600" dirty="0">
                    <a:solidFill>
                      <a:srgbClr val="C00000"/>
                    </a:solidFill>
                  </a:rPr>
                  <a:t> </a:t>
                </a:r>
                <a:r>
                  <a:rPr lang="en-GB" sz="1600" dirty="0"/>
                  <a:t>ratio as a percentage of its earnings</a:t>
                </a:r>
              </a:p>
              <a:p>
                <a:pPr lvl="2">
                  <a:spcBef>
                    <a:spcPts val="450"/>
                  </a:spcBef>
                  <a:buClr>
                    <a:srgbClr val="C00000"/>
                  </a:buClr>
                  <a:buSzPct val="90000"/>
                  <a:buFont typeface="Calibri" panose="020F0502020204030204" pitchFamily="34" charset="0"/>
                  <a:buChar char="─"/>
                </a:pPr>
                <a:r>
                  <a:rPr lang="en-GB" sz="1600" dirty="0"/>
                  <a:t>The BOD determines the timing and magnitude</a:t>
                </a:r>
              </a:p>
              <a:p>
                <a:pPr lvl="2">
                  <a:spcBef>
                    <a:spcPts val="450"/>
                  </a:spcBef>
                  <a:buClr>
                    <a:srgbClr val="C00000"/>
                  </a:buClr>
                  <a:buSzPct val="90000"/>
                  <a:buFont typeface="Calibri" panose="020F0502020204030204" pitchFamily="34" charset="0"/>
                  <a:buChar char="─"/>
                </a:pPr>
                <a:r>
                  <a:rPr lang="en-GB" sz="1600" dirty="0"/>
                  <a:t>Dividends may be Regular cash dividends (most common, remains constant or gradually increases over time) OR Special dividends (a one-time payment, no expectation of continuation)</a:t>
                </a:r>
              </a:p>
              <a:p>
                <a:pPr lvl="3">
                  <a:spcBef>
                    <a:spcPts val="450"/>
                  </a:spcBef>
                  <a:buClr>
                    <a:srgbClr val="C00000"/>
                  </a:buClr>
                  <a:buSzPct val="90000"/>
                </a:pPr>
                <a:endParaRPr lang="en-GB" sz="1400" dirty="0"/>
              </a:p>
              <a:p>
                <a:pPr marL="0" indent="0" algn="just">
                  <a:spcBef>
                    <a:spcPts val="1350"/>
                  </a:spcBef>
                  <a:buClr>
                    <a:srgbClr val="C00000"/>
                  </a:buClr>
                  <a:buSzPct val="90000"/>
                  <a:buNone/>
                </a:pPr>
                <a:endParaRPr lang="en-GB" sz="4400" b="1" dirty="0">
                  <a:solidFill>
                    <a:schemeClr val="accent5">
                      <a:lumMod val="75000"/>
                    </a:schemeClr>
                  </a:solidFill>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39001"/>
                <a:ext cx="7252010" cy="1919993"/>
              </a:xfrm>
              <a:blipFill>
                <a:blip r:embed="rId3"/>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9</a:t>
            </a:fld>
            <a:endParaRPr lang="en-GB" sz="1350" dirty="0">
              <a:solidFill>
                <a:prstClr val="black">
                  <a:lumMod val="50000"/>
                  <a:lumOff val="50000"/>
                </a:prstClr>
              </a:solidFill>
              <a:latin typeface="Calibri" panose="020F0502020204030204"/>
              <a:ea typeface="+mn-ea"/>
            </a:endParaRPr>
          </a:p>
        </p:txBody>
      </p:sp>
      <p:sp>
        <p:nvSpPr>
          <p:cNvPr id="5" name="Content Placeholder 2">
            <a:extLst>
              <a:ext uri="{FF2B5EF4-FFF2-40B4-BE49-F238E27FC236}">
                <a16:creationId xmlns:a16="http://schemas.microsoft.com/office/drawing/2014/main" id="{E6C37761-E9E7-B0CF-DDC7-8D50D323332C}"/>
              </a:ext>
            </a:extLst>
          </p:cNvPr>
          <p:cNvSpPr txBox="1">
            <a:spLocks/>
          </p:cNvSpPr>
          <p:nvPr/>
        </p:nvSpPr>
        <p:spPr>
          <a:xfrm>
            <a:off x="5364201" y="2380902"/>
            <a:ext cx="5906197" cy="1547231"/>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1" indent="0">
              <a:spcBef>
                <a:spcPts val="450"/>
              </a:spcBef>
              <a:spcAft>
                <a:spcPts val="450"/>
              </a:spcAft>
              <a:buClr>
                <a:srgbClr val="C00000"/>
              </a:buClr>
              <a:buSzPct val="90000"/>
              <a:buNone/>
            </a:pPr>
            <a:endParaRPr lang="en-GB" sz="120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F3ED092A-7964-8BD7-3B95-63EAAEA44CFB}"/>
                  </a:ext>
                </a:extLst>
              </p:cNvPr>
              <p:cNvSpPr txBox="1">
                <a:spLocks/>
              </p:cNvSpPr>
              <p:nvPr/>
            </p:nvSpPr>
            <p:spPr>
              <a:xfrm>
                <a:off x="755576" y="4570034"/>
                <a:ext cx="7560840" cy="2123374"/>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Clr>
                    <a:srgbClr val="C00000"/>
                  </a:buClr>
                  <a:buSzPct val="90000"/>
                  <a:buNone/>
                </a:pPr>
                <a14:m>
                  <m:oMathPara xmlns:m="http://schemas.openxmlformats.org/officeDocument/2006/math">
                    <m:oMathParaPr>
                      <m:jc m:val="centerGroup"/>
                    </m:oMathParaPr>
                    <m:oMath xmlns:m="http://schemas.openxmlformats.org/officeDocument/2006/math">
                      <m:r>
                        <a:rPr lang="en-GB" i="1">
                          <a:solidFill>
                            <a:schemeClr val="accent5">
                              <a:lumMod val="75000"/>
                            </a:schemeClr>
                          </a:solidFill>
                          <a:latin typeface="Cambria Math" panose="02040503050406030204" pitchFamily="18" charset="0"/>
                        </a:rPr>
                        <m:t>𝑖𝑓</m:t>
                      </m:r>
                      <m:r>
                        <a:rPr lang="en-GB" i="1">
                          <a:solidFill>
                            <a:schemeClr val="accent5">
                              <a:lumMod val="75000"/>
                            </a:schemeClr>
                          </a:solidFill>
                          <a:latin typeface="Cambria Math" panose="02040503050406030204" pitchFamily="18" charset="0"/>
                        </a:rPr>
                        <m:t> </m:t>
                      </m:r>
                      <m:r>
                        <m:rPr>
                          <m:sty m:val="p"/>
                        </m:rPr>
                        <a:rPr lang="en-GB">
                          <a:solidFill>
                            <a:schemeClr val="accent5">
                              <a:lumMod val="75000"/>
                            </a:schemeClr>
                          </a:solidFill>
                          <a:latin typeface="Cambria Math" panose="02040503050406030204" pitchFamily="18" charset="0"/>
                        </a:rPr>
                        <m:t>EPS</m:t>
                      </m:r>
                      <m:r>
                        <a:rPr lang="en-GB">
                          <a:solidFill>
                            <a:schemeClr val="accent5">
                              <a:lumMod val="75000"/>
                            </a:schemeClr>
                          </a:solidFill>
                          <a:latin typeface="Cambria Math" panose="02040503050406030204" pitchFamily="18" charset="0"/>
                        </a:rPr>
                        <m:t>&gt;0              </m:t>
                      </m:r>
                      <m:r>
                        <m:rPr>
                          <m:sty m:val="p"/>
                        </m:rPr>
                        <a:rPr lang="en-GB">
                          <a:solidFill>
                            <a:schemeClr val="accent5">
                              <a:lumMod val="75000"/>
                            </a:schemeClr>
                          </a:solidFill>
                          <a:latin typeface="Cambria Math" panose="02040503050406030204" pitchFamily="18" charset="0"/>
                        </a:rPr>
                        <m:t>Payout</m:t>
                      </m:r>
                      <m:r>
                        <a:rPr lang="en-GB">
                          <a:solidFill>
                            <a:schemeClr val="accent5">
                              <a:lumMod val="75000"/>
                            </a:schemeClr>
                          </a:solidFill>
                          <a:latin typeface="Cambria Math" panose="02040503050406030204" pitchFamily="18" charset="0"/>
                        </a:rPr>
                        <m:t>=</m:t>
                      </m:r>
                      <m:f>
                        <m:fPr>
                          <m:ctrlPr>
                            <a:rPr lang="en-GB" i="1">
                              <a:solidFill>
                                <a:schemeClr val="accent5">
                                  <a:lumMod val="75000"/>
                                </a:schemeClr>
                              </a:solidFill>
                              <a:latin typeface="Cambria Math" panose="02040503050406030204" pitchFamily="18" charset="0"/>
                            </a:rPr>
                          </m:ctrlPr>
                        </m:fPr>
                        <m:num>
                          <m:r>
                            <m:rPr>
                              <m:sty m:val="p"/>
                            </m:rPr>
                            <a:rPr lang="en-GB">
                              <a:solidFill>
                                <a:schemeClr val="accent5">
                                  <a:lumMod val="75000"/>
                                </a:schemeClr>
                              </a:solidFill>
                              <a:latin typeface="Cambria Math" panose="02040503050406030204" pitchFamily="18" charset="0"/>
                            </a:rPr>
                            <m:t>D</m:t>
                          </m:r>
                        </m:num>
                        <m:den>
                          <m:r>
                            <m:rPr>
                              <m:sty m:val="p"/>
                            </m:rPr>
                            <a:rPr lang="en-GB">
                              <a:solidFill>
                                <a:schemeClr val="accent5">
                                  <a:lumMod val="75000"/>
                                </a:schemeClr>
                              </a:solidFill>
                              <a:latin typeface="Cambria Math" panose="02040503050406030204" pitchFamily="18" charset="0"/>
                            </a:rPr>
                            <m:t>EPS</m:t>
                          </m:r>
                        </m:den>
                      </m:f>
                      <m:r>
                        <a:rPr lang="en-GB" i="1">
                          <a:solidFill>
                            <a:schemeClr val="accent5">
                              <a:lumMod val="75000"/>
                            </a:schemeClr>
                          </a:solidFill>
                          <a:latin typeface="Cambria Math" panose="02040503050406030204" pitchFamily="18" charset="0"/>
                        </a:rPr>
                        <m:t>  </m:t>
                      </m:r>
                    </m:oMath>
                  </m:oMathPara>
                </a14:m>
                <a:endParaRPr lang="en-GB" dirty="0"/>
              </a:p>
              <a:p>
                <a:pPr marL="0" indent="0">
                  <a:lnSpc>
                    <a:spcPct val="150000"/>
                  </a:lnSpc>
                  <a:buClr>
                    <a:srgbClr val="C00000"/>
                  </a:buClr>
                  <a:buSzPct val="90000"/>
                  <a:buNone/>
                </a:pPr>
                <a:r>
                  <a:rPr lang="en-GB" sz="1350" dirty="0"/>
                  <a:t>Where:</a:t>
                </a:r>
              </a:p>
              <a:p>
                <a:pPr marL="0" indent="0">
                  <a:buClr>
                    <a:srgbClr val="C00000"/>
                  </a:buClr>
                  <a:buSzPct val="90000"/>
                  <a:buNone/>
                </a:pPr>
                <a14:m>
                  <m:oMath xmlns:m="http://schemas.openxmlformats.org/officeDocument/2006/math">
                    <m:r>
                      <a:rPr lang="en-GB" sz="1350" i="1">
                        <a:latin typeface="Cambria Math" panose="02040503050406030204" pitchFamily="18" charset="0"/>
                      </a:rPr>
                      <m:t>𝐷</m:t>
                    </m:r>
                  </m:oMath>
                </a14:m>
                <a:r>
                  <a:rPr lang="en-GB" sz="1350" dirty="0"/>
                  <a:t>: the dividend paid out per share</a:t>
                </a:r>
              </a:p>
              <a:p>
                <a:pPr marL="0" indent="0">
                  <a:buClr>
                    <a:srgbClr val="C00000"/>
                  </a:buClr>
                  <a:buSzPct val="90000"/>
                  <a:buNone/>
                </a:pPr>
                <a14:m>
                  <m:oMath xmlns:m="http://schemas.openxmlformats.org/officeDocument/2006/math">
                    <m:r>
                      <a:rPr lang="en-GB" sz="1350" i="1">
                        <a:latin typeface="Cambria Math" panose="02040503050406030204" pitchFamily="18" charset="0"/>
                      </a:rPr>
                      <m:t>𝐸𝑃𝑆</m:t>
                    </m:r>
                    <m:r>
                      <a:rPr lang="en-GB" sz="1350" i="1">
                        <a:latin typeface="Cambria Math" panose="02040503050406030204" pitchFamily="18" charset="0"/>
                      </a:rPr>
                      <m:t>:</m:t>
                    </m:r>
                  </m:oMath>
                </a14:m>
                <a:r>
                  <a:rPr lang="en-GB" sz="1350" dirty="0"/>
                  <a:t> earnings per share calculated as </a:t>
                </a:r>
                <a14:m>
                  <m:oMath xmlns:m="http://schemas.openxmlformats.org/officeDocument/2006/math">
                    <m:f>
                      <m:fPr>
                        <m:ctrlPr>
                          <a:rPr lang="en-GB" sz="1350" i="1">
                            <a:latin typeface="Cambria Math" panose="02040503050406030204" pitchFamily="18" charset="0"/>
                          </a:rPr>
                        </m:ctrlPr>
                      </m:fPr>
                      <m:num>
                        <m:r>
                          <m:rPr>
                            <m:sty m:val="p"/>
                          </m:rPr>
                          <a:rPr lang="en-GB" sz="1350">
                            <a:latin typeface="Cambria Math" panose="02040503050406030204" pitchFamily="18" charset="0"/>
                          </a:rPr>
                          <m:t>Earnings</m:t>
                        </m:r>
                      </m:num>
                      <m:den>
                        <m:r>
                          <m:rPr>
                            <m:sty m:val="p"/>
                          </m:rPr>
                          <a:rPr lang="en-GB" sz="1350">
                            <a:latin typeface="Cambria Math" panose="02040503050406030204" pitchFamily="18" charset="0"/>
                          </a:rPr>
                          <m:t>Total</m:t>
                        </m:r>
                        <m:r>
                          <a:rPr lang="en-GB" sz="1350">
                            <a:latin typeface="Cambria Math" panose="02040503050406030204" pitchFamily="18" charset="0"/>
                          </a:rPr>
                          <m:t> </m:t>
                        </m:r>
                        <m:r>
                          <m:rPr>
                            <m:sty m:val="p"/>
                          </m:rPr>
                          <a:rPr lang="en-GB" sz="1350">
                            <a:latin typeface="Cambria Math" panose="02040503050406030204" pitchFamily="18" charset="0"/>
                          </a:rPr>
                          <m:t>No</m:t>
                        </m:r>
                        <m:r>
                          <a:rPr lang="en-GB" sz="1350">
                            <a:latin typeface="Cambria Math" panose="02040503050406030204" pitchFamily="18" charset="0"/>
                          </a:rPr>
                          <m:t>. </m:t>
                        </m:r>
                        <m:r>
                          <m:rPr>
                            <m:sty m:val="p"/>
                          </m:rPr>
                          <a:rPr lang="en-GB" sz="1350">
                            <a:latin typeface="Cambria Math" panose="02040503050406030204" pitchFamily="18" charset="0"/>
                          </a:rPr>
                          <m:t>of</m:t>
                        </m:r>
                        <m:r>
                          <a:rPr lang="en-GB" sz="1350">
                            <a:latin typeface="Cambria Math" panose="02040503050406030204" pitchFamily="18" charset="0"/>
                          </a:rPr>
                          <m:t> </m:t>
                        </m:r>
                        <m:r>
                          <m:rPr>
                            <m:sty m:val="p"/>
                          </m:rPr>
                          <a:rPr lang="en-GB" sz="1350">
                            <a:latin typeface="Cambria Math" panose="02040503050406030204" pitchFamily="18" charset="0"/>
                          </a:rPr>
                          <m:t>Shares</m:t>
                        </m:r>
                      </m:den>
                    </m:f>
                  </m:oMath>
                </a14:m>
                <a:endParaRPr lang="en-GB" sz="2100" dirty="0"/>
              </a:p>
            </p:txBody>
          </p:sp>
        </mc:Choice>
        <mc:Fallback xmlns="">
          <p:sp>
            <p:nvSpPr>
              <p:cNvPr id="6" name="Content Placeholder 2">
                <a:extLst>
                  <a:ext uri="{FF2B5EF4-FFF2-40B4-BE49-F238E27FC236}">
                    <a16:creationId xmlns:a16="http://schemas.microsoft.com/office/drawing/2014/main" id="{F3ED092A-7964-8BD7-3B95-63EAAEA44CFB}"/>
                  </a:ext>
                </a:extLst>
              </p:cNvPr>
              <p:cNvSpPr txBox="1">
                <a:spLocks noRot="1" noChangeAspect="1" noMove="1" noResize="1" noEditPoints="1" noAdjustHandles="1" noChangeArrowheads="1" noChangeShapeType="1" noTextEdit="1"/>
              </p:cNvSpPr>
              <p:nvPr/>
            </p:nvSpPr>
            <p:spPr>
              <a:xfrm>
                <a:off x="755576" y="4570034"/>
                <a:ext cx="7560840" cy="2123374"/>
              </a:xfrm>
              <a:prstGeom prst="rect">
                <a:avLst/>
              </a:prstGeom>
              <a:blipFill>
                <a:blip r:embed="rId4"/>
                <a:stretch>
                  <a:fillRect l="-484"/>
                </a:stretch>
              </a:blipFill>
            </p:spPr>
            <p:txBody>
              <a:bodyPr/>
              <a:lstStyle/>
              <a:p>
                <a:r>
                  <a:rPr lang="en-GB">
                    <a:noFill/>
                  </a:rPr>
                  <a:t> </a:t>
                </a:r>
              </a:p>
            </p:txBody>
          </p:sp>
        </mc:Fallback>
      </mc:AlternateContent>
    </p:spTree>
    <p:extLst>
      <p:ext uri="{BB962C8B-B14F-4D97-AF65-F5344CB8AC3E}">
        <p14:creationId xmlns:p14="http://schemas.microsoft.com/office/powerpoint/2010/main" val="444491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1000"/>
                                        <p:tgtEl>
                                          <p:spTgt spid="6"/>
                                        </p:tgtEl>
                                      </p:cBhvr>
                                    </p:animEffect>
                                    <p:anim calcmode="lin" valueType="num">
                                      <p:cBhvr>
                                        <p:cTn id="44" dur="1000" fill="hold"/>
                                        <p:tgtEl>
                                          <p:spTgt spid="6"/>
                                        </p:tgtEl>
                                        <p:attrNameLst>
                                          <p:attrName>ppt_x</p:attrName>
                                        </p:attrNameLst>
                                      </p:cBhvr>
                                      <p:tavLst>
                                        <p:tav tm="0">
                                          <p:val>
                                            <p:strVal val="#ppt_x"/>
                                          </p:val>
                                        </p:tav>
                                        <p:tav tm="100000">
                                          <p:val>
                                            <p:strVal val="#ppt_x"/>
                                          </p:val>
                                        </p:tav>
                                      </p:tavLst>
                                    </p:anim>
                                    <p:anim calcmode="lin" valueType="num">
                                      <p:cBhvr>
                                        <p:cTn id="4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t>Share Price – Dividends Signalling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8591550" cy="4005724"/>
              </a:xfrm>
            </p:spPr>
            <p:txBody>
              <a:bodyPr>
                <a:normAutofit/>
              </a:bodyPr>
              <a:lstStyle/>
              <a:p>
                <a:pPr algn="just">
                  <a:spcBef>
                    <a:spcPts val="1350"/>
                  </a:spcBef>
                  <a:buClr>
                    <a:srgbClr val="C00000"/>
                  </a:buClr>
                  <a:buSzPct val="90000"/>
                </a:pPr>
                <a:r>
                  <a:rPr lang="en-GB" sz="1600" dirty="0"/>
                  <a:t>Dividend policy is at the heart of share valuation</a:t>
                </a:r>
              </a:p>
              <a:p>
                <a:pPr algn="just">
                  <a:spcBef>
                    <a:spcPts val="1350"/>
                  </a:spcBef>
                  <a:buClr>
                    <a:srgbClr val="C00000"/>
                  </a:buClr>
                  <a:buSzPct val="90000"/>
                </a:pPr>
                <a:r>
                  <a:rPr lang="en-GB" sz="1600" dirty="0"/>
                  <a:t>Investors use dividends as evidence that the company is generating cashflows</a:t>
                </a:r>
              </a:p>
              <a:p>
                <a:pPr marL="0" indent="0">
                  <a:buClr>
                    <a:srgbClr val="C00000"/>
                  </a:buClr>
                  <a:buSzPct val="90000"/>
                  <a:buNone/>
                </a:pPr>
                <a14:m>
                  <m:oMath xmlns:m="http://schemas.openxmlformats.org/officeDocument/2006/math">
                    <m:r>
                      <a:rPr lang="en-GB" sz="1600" i="1">
                        <a:solidFill>
                          <a:srgbClr val="C00000"/>
                        </a:solidFill>
                        <a:latin typeface="Cambria Math" panose="02040503050406030204" pitchFamily="18" charset="0"/>
                        <a:ea typeface="Cambria Math" panose="02040503050406030204" pitchFamily="18" charset="0"/>
                      </a:rPr>
                      <m:t>⟹</m:t>
                    </m:r>
                  </m:oMath>
                </a14:m>
                <a:r>
                  <a:rPr lang="en-GB" sz="1600" dirty="0"/>
                  <a:t> Companies use dividends to send signals to the market:</a:t>
                </a:r>
              </a:p>
              <a:p>
                <a:pPr lvl="1">
                  <a:buClr>
                    <a:srgbClr val="C00000"/>
                  </a:buClr>
                  <a:buSzPct val="90000"/>
                  <a:buFont typeface="Calibri" panose="020F0502020204030204" pitchFamily="34" charset="0"/>
                  <a:buChar char="─"/>
                </a:pPr>
                <a:r>
                  <a:rPr lang="en-GB" sz="1600" dirty="0"/>
                  <a:t>Increasing the dividend </a:t>
                </a:r>
                <a:r>
                  <a:rPr lang="en-GB" sz="1600" dirty="0" err="1"/>
                  <a:t>payout</a:t>
                </a:r>
                <a:r>
                  <a:rPr lang="en-GB" sz="1600" dirty="0"/>
                  <a:t> is a </a:t>
                </a:r>
                <a:r>
                  <a:rPr lang="en-GB" sz="1600" i="1" dirty="0">
                    <a:solidFill>
                      <a:srgbClr val="00B050"/>
                    </a:solidFill>
                  </a:rPr>
                  <a:t>positive </a:t>
                </a:r>
                <a:r>
                  <a:rPr lang="en-GB" sz="1600" dirty="0"/>
                  <a:t>signal showing confidence about the future earnings</a:t>
                </a:r>
              </a:p>
              <a:p>
                <a:pPr lvl="1">
                  <a:buClr>
                    <a:srgbClr val="C00000"/>
                  </a:buClr>
                  <a:buSzPct val="90000"/>
                  <a:buFont typeface="Calibri" panose="020F0502020204030204" pitchFamily="34" charset="0"/>
                  <a:buChar char="─"/>
                </a:pPr>
                <a:r>
                  <a:rPr lang="en-GB" sz="1600" dirty="0"/>
                  <a:t>Decreasing the dividend </a:t>
                </a:r>
                <a:r>
                  <a:rPr lang="en-GB" sz="1600" dirty="0" err="1"/>
                  <a:t>payout</a:t>
                </a:r>
                <a:r>
                  <a:rPr lang="en-GB" sz="1600" dirty="0"/>
                  <a:t> is a </a:t>
                </a:r>
                <a:r>
                  <a:rPr lang="en-GB" sz="1600" i="1" dirty="0">
                    <a:solidFill>
                      <a:srgbClr val="FF0000"/>
                    </a:solidFill>
                  </a:rPr>
                  <a:t>negative</a:t>
                </a:r>
                <a:r>
                  <a:rPr lang="en-GB" sz="1600" i="1" dirty="0">
                    <a:solidFill>
                      <a:srgbClr val="00B050"/>
                    </a:solidFill>
                  </a:rPr>
                  <a:t> </a:t>
                </a:r>
                <a:r>
                  <a:rPr lang="en-GB" sz="1600" dirty="0"/>
                  <a:t>signal showing lower futures earnings.</a:t>
                </a:r>
                <a:endParaRPr lang="en-GB" sz="1600" dirty="0">
                  <a:solidFill>
                    <a:srgbClr val="00B050"/>
                  </a:solidFill>
                </a:endParaRPr>
              </a:p>
              <a:p>
                <a:pPr marL="0" indent="0" algn="just">
                  <a:spcBef>
                    <a:spcPts val="1350"/>
                  </a:spcBef>
                  <a:buClr>
                    <a:srgbClr val="C00000"/>
                  </a:buClr>
                  <a:buSzPct val="90000"/>
                  <a:buNone/>
                </a:pPr>
                <a:endParaRPr lang="en-GB" sz="1600" i="1" dirty="0">
                  <a:solidFill>
                    <a:schemeClr val="accent5">
                      <a:lumMod val="75000"/>
                    </a:schemeClr>
                  </a:solidFill>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8591550" cy="4005724"/>
              </a:xfrm>
              <a:blipFill>
                <a:blip r:embed="rId3"/>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10</a:t>
            </a:fld>
            <a:endParaRPr lang="en-GB" sz="1350" dirty="0">
              <a:solidFill>
                <a:prstClr val="black">
                  <a:lumMod val="50000"/>
                  <a:lumOff val="50000"/>
                </a:prstClr>
              </a:solidFill>
              <a:latin typeface="Calibri" panose="020F0502020204030204"/>
              <a:ea typeface="+mn-ea"/>
            </a:endParaRPr>
          </a:p>
        </p:txBody>
      </p:sp>
      <p:pic>
        <p:nvPicPr>
          <p:cNvPr id="6" name="Picture 5">
            <a:extLst>
              <a:ext uri="{FF2B5EF4-FFF2-40B4-BE49-F238E27FC236}">
                <a16:creationId xmlns:a16="http://schemas.microsoft.com/office/drawing/2014/main" id="{93260295-74B1-4909-939F-5FDD2D0A29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860" y="3861048"/>
            <a:ext cx="5608298" cy="2364446"/>
          </a:xfrm>
          <a:prstGeom prst="rect">
            <a:avLst/>
          </a:prstGeom>
        </p:spPr>
      </p:pic>
      <p:sp>
        <p:nvSpPr>
          <p:cNvPr id="7" name="TextBox 6">
            <a:extLst>
              <a:ext uri="{FF2B5EF4-FFF2-40B4-BE49-F238E27FC236}">
                <a16:creationId xmlns:a16="http://schemas.microsoft.com/office/drawing/2014/main" id="{7560A8C9-8265-4B7F-8CA6-202734EFDD0D}"/>
              </a:ext>
            </a:extLst>
          </p:cNvPr>
          <p:cNvSpPr txBox="1"/>
          <p:nvPr/>
        </p:nvSpPr>
        <p:spPr>
          <a:xfrm>
            <a:off x="6104909" y="5225950"/>
            <a:ext cx="3099198" cy="738664"/>
          </a:xfrm>
          <a:prstGeom prst="rect">
            <a:avLst/>
          </a:prstGeom>
          <a:noFill/>
        </p:spPr>
        <p:txBody>
          <a:bodyPr wrap="square" rtlCol="0">
            <a:spAutoFit/>
          </a:bodyPr>
          <a:lstStyle/>
          <a:p>
            <a:r>
              <a:rPr lang="en-GB" sz="1400" dirty="0"/>
              <a:t>Total SA 3-Month Share Price vs Dividend </a:t>
            </a:r>
            <a:r>
              <a:rPr lang="en-GB" sz="1400" dirty="0" err="1"/>
              <a:t>Payout</a:t>
            </a:r>
            <a:r>
              <a:rPr lang="en-GB" sz="1400" dirty="0"/>
              <a:t> from November 2017 to 2020</a:t>
            </a:r>
          </a:p>
        </p:txBody>
      </p:sp>
    </p:spTree>
    <p:extLst>
      <p:ext uri="{BB962C8B-B14F-4D97-AF65-F5344CB8AC3E}">
        <p14:creationId xmlns:p14="http://schemas.microsoft.com/office/powerpoint/2010/main" val="139657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p:cTn id="27"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3" end="3"/>
                                            </p:txEl>
                                          </p:spTgt>
                                        </p:tgtEl>
                                      </p:cBhvr>
                                    </p:animEffect>
                                  </p:childTnLst>
                                </p:cTn>
                              </p:par>
                              <p:par>
                                <p:cTn id="31" presetID="31" presetClass="entr" presetSubtype="0"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4"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5"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36" dur="1000"/>
                                        <p:tgtEl>
                                          <p:spTgt spid="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t>Share Price – Gordon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874914"/>
                <a:ext cx="8049716" cy="3930350"/>
              </a:xfrm>
            </p:spPr>
            <p:txBody>
              <a:bodyPr>
                <a:noAutofit/>
              </a:bodyPr>
              <a:lstStyle/>
              <a:p>
                <a:pPr algn="just">
                  <a:spcBef>
                    <a:spcPts val="1350"/>
                  </a:spcBef>
                  <a:buClr>
                    <a:srgbClr val="C00000"/>
                  </a:buClr>
                  <a:buSzPct val="90000"/>
                </a:pPr>
                <a:r>
                  <a:rPr lang="en-GB" sz="1600" dirty="0"/>
                  <a:t>In most applications, the dividends are modelled explicitly until the firm settles into steady-state growth.</a:t>
                </a:r>
              </a:p>
              <a:p>
                <a:pPr algn="just">
                  <a:spcBef>
                    <a:spcPts val="1350"/>
                  </a:spcBef>
                  <a:buClr>
                    <a:srgbClr val="C00000"/>
                  </a:buClr>
                  <a:buSzPct val="90000"/>
                </a:pPr>
                <a:r>
                  <a:rPr lang="en-GB" sz="1600" dirty="0">
                    <a:ea typeface="Cambria Math" panose="02040503050406030204" pitchFamily="18" charset="0"/>
                  </a:rPr>
                  <a:t>The commonly used share valuation at maturity stage is the Gordon Model:  </a:t>
                </a:r>
                <a:endParaRPr lang="en-GB" sz="1600" i="1" dirty="0">
                  <a:solidFill>
                    <a:schemeClr val="accent5">
                      <a:lumMod val="75000"/>
                    </a:schemeClr>
                  </a:solidFill>
                  <a:ea typeface="Cambria Math" panose="02040503050406030204" pitchFamily="18" charset="0"/>
                </a:endParaRPr>
              </a:p>
              <a:p>
                <a:pPr marL="0" indent="0" algn="just">
                  <a:lnSpc>
                    <a:spcPct val="150000"/>
                  </a:lnSpc>
                  <a:spcBef>
                    <a:spcPts val="1350"/>
                  </a:spcBef>
                  <a:buClr>
                    <a:srgbClr val="C00000"/>
                  </a:buClr>
                  <a:buSzPct val="90000"/>
                  <a:buNone/>
                </a:pPr>
                <a14:m>
                  <m:oMathPara xmlns:m="http://schemas.openxmlformats.org/officeDocument/2006/math">
                    <m:oMathParaPr>
                      <m:jc m:val="centerGroup"/>
                    </m:oMathParaPr>
                    <m:oMath xmlns:m="http://schemas.openxmlformats.org/officeDocument/2006/math">
                      <m:sSub>
                        <m:sSubPr>
                          <m:ctrlPr>
                            <a:rPr lang="en-GB" sz="1600" i="1">
                              <a:solidFill>
                                <a:schemeClr val="accent5">
                                  <a:lumMod val="75000"/>
                                </a:schemeClr>
                              </a:solidFill>
                              <a:latin typeface="Cambria Math" panose="02040503050406030204" pitchFamily="18" charset="0"/>
                              <a:ea typeface="Cambria Math" panose="02040503050406030204" pitchFamily="18" charset="0"/>
                            </a:rPr>
                          </m:ctrlPr>
                        </m:sSubPr>
                        <m:e>
                          <m:r>
                            <a:rPr lang="en-GB" sz="1600" i="1">
                              <a:solidFill>
                                <a:schemeClr val="accent5">
                                  <a:lumMod val="75000"/>
                                </a:schemeClr>
                              </a:solidFill>
                              <a:latin typeface="Cambria Math" panose="02040503050406030204" pitchFamily="18" charset="0"/>
                              <a:ea typeface="Cambria Math" panose="02040503050406030204" pitchFamily="18" charset="0"/>
                            </a:rPr>
                            <m:t>𝑃</m:t>
                          </m:r>
                        </m:e>
                        <m:sub>
                          <m:r>
                            <a:rPr lang="en-GB" sz="1600" i="1">
                              <a:solidFill>
                                <a:schemeClr val="accent5">
                                  <a:lumMod val="75000"/>
                                </a:schemeClr>
                              </a:solidFill>
                              <a:latin typeface="Cambria Math" panose="02040503050406030204" pitchFamily="18" charset="0"/>
                              <a:ea typeface="Cambria Math" panose="02040503050406030204" pitchFamily="18" charset="0"/>
                            </a:rPr>
                            <m:t>0</m:t>
                          </m:r>
                        </m:sub>
                      </m:sSub>
                      <m:r>
                        <a:rPr lang="en-GB" sz="1600" i="1">
                          <a:solidFill>
                            <a:schemeClr val="accent5">
                              <a:lumMod val="75000"/>
                            </a:schemeClr>
                          </a:solidFill>
                          <a:latin typeface="Cambria Math" panose="02040503050406030204" pitchFamily="18" charset="0"/>
                          <a:ea typeface="Cambria Math" panose="02040503050406030204" pitchFamily="18" charset="0"/>
                        </a:rPr>
                        <m:t>=</m:t>
                      </m:r>
                      <m:f>
                        <m:fPr>
                          <m:ctrlPr>
                            <a:rPr lang="en-GB" sz="1600" i="1">
                              <a:solidFill>
                                <a:schemeClr val="accent5">
                                  <a:lumMod val="75000"/>
                                </a:schemeClr>
                              </a:solidFill>
                              <a:latin typeface="Cambria Math" panose="02040503050406030204" pitchFamily="18" charset="0"/>
                              <a:ea typeface="Cambria Math" panose="02040503050406030204" pitchFamily="18" charset="0"/>
                            </a:rPr>
                          </m:ctrlPr>
                        </m:fPr>
                        <m:num>
                          <m:sSub>
                            <m:sSubPr>
                              <m:ctrlPr>
                                <a:rPr lang="en-GB" sz="1600" i="1">
                                  <a:solidFill>
                                    <a:schemeClr val="accent5">
                                      <a:lumMod val="75000"/>
                                    </a:schemeClr>
                                  </a:solidFill>
                                  <a:latin typeface="Cambria Math" panose="02040503050406030204" pitchFamily="18" charset="0"/>
                                  <a:ea typeface="Cambria Math" panose="02040503050406030204" pitchFamily="18" charset="0"/>
                                </a:rPr>
                              </m:ctrlPr>
                            </m:sSubPr>
                            <m:e>
                              <m:r>
                                <a:rPr lang="en-GB" sz="1600" i="1">
                                  <a:solidFill>
                                    <a:schemeClr val="accent5">
                                      <a:lumMod val="75000"/>
                                    </a:schemeClr>
                                  </a:solidFill>
                                  <a:latin typeface="Cambria Math" panose="02040503050406030204" pitchFamily="18" charset="0"/>
                                  <a:ea typeface="Cambria Math" panose="02040503050406030204" pitchFamily="18" charset="0"/>
                                </a:rPr>
                                <m:t>𝐷</m:t>
                              </m:r>
                            </m:e>
                            <m:sub>
                              <m:r>
                                <a:rPr lang="en-GB" sz="1600" i="1">
                                  <a:solidFill>
                                    <a:schemeClr val="accent5">
                                      <a:lumMod val="75000"/>
                                    </a:schemeClr>
                                  </a:solidFill>
                                  <a:latin typeface="Cambria Math" panose="02040503050406030204" pitchFamily="18" charset="0"/>
                                  <a:ea typeface="Cambria Math" panose="02040503050406030204" pitchFamily="18" charset="0"/>
                                </a:rPr>
                                <m:t>1</m:t>
                              </m:r>
                            </m:sub>
                          </m:sSub>
                        </m:num>
                        <m:den>
                          <m:r>
                            <a:rPr lang="en-GB" sz="1600" i="1">
                              <a:solidFill>
                                <a:schemeClr val="accent5">
                                  <a:lumMod val="75000"/>
                                </a:schemeClr>
                              </a:solidFill>
                              <a:latin typeface="Cambria Math" panose="02040503050406030204" pitchFamily="18" charset="0"/>
                              <a:ea typeface="Cambria Math" panose="02040503050406030204" pitchFamily="18" charset="0"/>
                            </a:rPr>
                            <m:t>𝑟</m:t>
                          </m:r>
                          <m:r>
                            <a:rPr lang="en-GB" sz="1600" i="1">
                              <a:solidFill>
                                <a:schemeClr val="accent5">
                                  <a:lumMod val="75000"/>
                                </a:schemeClr>
                              </a:solidFill>
                              <a:latin typeface="Cambria Math" panose="02040503050406030204" pitchFamily="18" charset="0"/>
                              <a:ea typeface="Cambria Math" panose="02040503050406030204" pitchFamily="18" charset="0"/>
                            </a:rPr>
                            <m:t>−</m:t>
                          </m:r>
                          <m:r>
                            <a:rPr lang="en-GB" sz="1600" i="1">
                              <a:solidFill>
                                <a:schemeClr val="accent5">
                                  <a:lumMod val="75000"/>
                                </a:schemeClr>
                              </a:solidFill>
                              <a:latin typeface="Cambria Math" panose="02040503050406030204" pitchFamily="18" charset="0"/>
                              <a:ea typeface="Cambria Math" panose="02040503050406030204" pitchFamily="18" charset="0"/>
                            </a:rPr>
                            <m:t>𝑔</m:t>
                          </m:r>
                        </m:den>
                      </m:f>
                    </m:oMath>
                  </m:oMathPara>
                </a14:m>
                <a:endParaRPr lang="en-GB" sz="1600" dirty="0">
                  <a:ea typeface="Cambria Math" panose="02040503050406030204" pitchFamily="18" charset="0"/>
                </a:endParaRPr>
              </a:p>
              <a:p>
                <a:pPr marL="0" lvl="1" indent="0">
                  <a:spcBef>
                    <a:spcPts val="1350"/>
                  </a:spcBef>
                  <a:buClr>
                    <a:srgbClr val="C00000"/>
                  </a:buClr>
                  <a:buSzPct val="90000"/>
                  <a:buNone/>
                </a:pPr>
                <a:r>
                  <a:rPr lang="en-GB" sz="1600" dirty="0">
                    <a:ea typeface="Cambria Math" panose="02040503050406030204" pitchFamily="18" charset="0"/>
                  </a:rPr>
                  <a:t>Where:</a:t>
                </a:r>
              </a:p>
              <a:p>
                <a:pPr marL="0" lvl="1" indent="0">
                  <a:spcBef>
                    <a:spcPts val="1350"/>
                  </a:spcBef>
                  <a:buClr>
                    <a:srgbClr val="C00000"/>
                  </a:buClr>
                  <a:buSzPct val="90000"/>
                  <a:buNone/>
                </a:pPr>
                <a14:m>
                  <m:oMath xmlns:m="http://schemas.openxmlformats.org/officeDocument/2006/math">
                    <m:sSub>
                      <m:sSubPr>
                        <m:ctrlPr>
                          <a:rPr lang="en-GB" sz="1600" b="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𝑃</m:t>
                        </m:r>
                      </m:e>
                      <m:sub>
                        <m:r>
                          <a:rPr lang="en-GB" sz="1600" b="0" i="1" smtClean="0">
                            <a:latin typeface="Cambria Math" panose="02040503050406030204" pitchFamily="18" charset="0"/>
                            <a:ea typeface="Cambria Math" panose="02040503050406030204" pitchFamily="18" charset="0"/>
                          </a:rPr>
                          <m:t>0</m:t>
                        </m:r>
                      </m:sub>
                    </m:sSub>
                    <m:r>
                      <a:rPr lang="en-GB" sz="1600" b="0" i="1" smtClean="0">
                        <a:latin typeface="Cambria Math" panose="02040503050406030204" pitchFamily="18" charset="0"/>
                        <a:ea typeface="Cambria Math" panose="02040503050406030204" pitchFamily="18" charset="0"/>
                      </a:rPr>
                      <m:t>:</m:t>
                    </m:r>
                  </m:oMath>
                </a14:m>
                <a:r>
                  <a:rPr lang="en-GB" sz="1600" b="0" i="1" dirty="0">
                    <a:ea typeface="Cambria Math" panose="02040503050406030204" pitchFamily="18" charset="0"/>
                  </a:rPr>
                  <a:t> </a:t>
                </a:r>
                <a:r>
                  <a:rPr lang="en-GB" sz="1600" b="0" dirty="0">
                    <a:ea typeface="Cambria Math" panose="02040503050406030204" pitchFamily="18" charset="0"/>
                  </a:rPr>
                  <a:t>the share value now</a:t>
                </a:r>
              </a:p>
              <a:p>
                <a:pPr marL="0" lvl="1" indent="0">
                  <a:spcBef>
                    <a:spcPts val="1350"/>
                  </a:spcBef>
                  <a:buClr>
                    <a:srgbClr val="C00000"/>
                  </a:buClr>
                  <a:buSzPct val="90000"/>
                  <a:buNone/>
                </a:pPr>
                <a14:m>
                  <m:oMath xmlns:m="http://schemas.openxmlformats.org/officeDocument/2006/math">
                    <m:sSub>
                      <m:sSubPr>
                        <m:ctrlPr>
                          <a:rPr lang="en-GB" sz="1600" b="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𝐷</m:t>
                        </m:r>
                      </m:e>
                      <m:sub>
                        <m:r>
                          <a:rPr lang="en-GB" sz="1600" b="0" i="1" smtClean="0">
                            <a:latin typeface="Cambria Math" panose="02040503050406030204" pitchFamily="18" charset="0"/>
                            <a:ea typeface="Cambria Math" panose="02040503050406030204" pitchFamily="18" charset="0"/>
                          </a:rPr>
                          <m:t>1</m:t>
                        </m:r>
                      </m:sub>
                    </m:sSub>
                  </m:oMath>
                </a14:m>
                <a:r>
                  <a:rPr lang="en-GB" sz="1600" dirty="0">
                    <a:ea typeface="Cambria Math" panose="02040503050406030204" pitchFamily="18" charset="0"/>
                  </a:rPr>
                  <a:t>: next year’s dividend</a:t>
                </a:r>
              </a:p>
              <a:p>
                <a:pPr marL="0" lvl="1" indent="0">
                  <a:spcBef>
                    <a:spcPts val="1350"/>
                  </a:spcBef>
                  <a:buClr>
                    <a:srgbClr val="C00000"/>
                  </a:buClr>
                  <a:buSzPct val="90000"/>
                  <a:buNone/>
                </a:pPr>
                <a14:m>
                  <m:oMath xmlns:m="http://schemas.openxmlformats.org/officeDocument/2006/math">
                    <m:r>
                      <a:rPr lang="en-GB" sz="1600" b="0" i="1" smtClean="0">
                        <a:latin typeface="Cambria Math" panose="02040503050406030204" pitchFamily="18" charset="0"/>
                        <a:ea typeface="Cambria Math" panose="02040503050406030204" pitchFamily="18" charset="0"/>
                      </a:rPr>
                      <m:t>𝑟</m:t>
                    </m:r>
                  </m:oMath>
                </a14:m>
                <a:r>
                  <a:rPr lang="en-GB" sz="1600" dirty="0">
                    <a:ea typeface="Cambria Math" panose="02040503050406030204" pitchFamily="18" charset="0"/>
                  </a:rPr>
                  <a:t>: the discount rate</a:t>
                </a:r>
              </a:p>
              <a:p>
                <a:pPr marL="0" lvl="1" indent="0">
                  <a:spcBef>
                    <a:spcPts val="1350"/>
                  </a:spcBef>
                  <a:buClr>
                    <a:srgbClr val="C00000"/>
                  </a:buClr>
                  <a:buSzPct val="90000"/>
                  <a:buNone/>
                </a:pPr>
                <a14:m>
                  <m:oMath xmlns:m="http://schemas.openxmlformats.org/officeDocument/2006/math">
                    <m:r>
                      <a:rPr lang="en-GB" sz="1600" b="0" i="1" smtClean="0">
                        <a:latin typeface="Cambria Math" panose="02040503050406030204" pitchFamily="18" charset="0"/>
                        <a:ea typeface="Cambria Math" panose="02040503050406030204" pitchFamily="18" charset="0"/>
                      </a:rPr>
                      <m:t>𝑔</m:t>
                    </m:r>
                  </m:oMath>
                </a14:m>
                <a:r>
                  <a:rPr lang="en-GB" sz="1600" dirty="0">
                    <a:ea typeface="Cambria Math" panose="02040503050406030204" pitchFamily="18" charset="0"/>
                  </a:rPr>
                  <a:t>: the constant growth of the dividends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874914"/>
                <a:ext cx="8049716" cy="3930350"/>
              </a:xfrm>
              <a:blipFill>
                <a:blip r:embed="rId3"/>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11</a:t>
            </a:fld>
            <a:endParaRPr lang="en-GB" sz="1350" dirty="0">
              <a:solidFill>
                <a:prstClr val="black">
                  <a:lumMod val="50000"/>
                  <a:lumOff val="50000"/>
                </a:prstClr>
              </a:solidFill>
              <a:latin typeface="Calibri" panose="020F0502020204030204"/>
              <a:ea typeface="+mn-ea"/>
            </a:endParaRPr>
          </a:p>
        </p:txBody>
      </p:sp>
    </p:spTree>
    <p:extLst>
      <p:ext uri="{BB962C8B-B14F-4D97-AF65-F5344CB8AC3E}">
        <p14:creationId xmlns:p14="http://schemas.microsoft.com/office/powerpoint/2010/main" val="256889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2" end="2"/>
                                            </p:txEl>
                                          </p:spTgt>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p:cTn id="29"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0"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1"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2" dur="1000"/>
                                        <p:tgtEl>
                                          <p:spTgt spid="3">
                                            <p:txEl>
                                              <p:pRg st="3" end="3"/>
                                            </p:txEl>
                                          </p:spTgt>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7"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38" dur="1000"/>
                                        <p:tgtEl>
                                          <p:spTgt spid="3">
                                            <p:txEl>
                                              <p:pRg st="4" end="4"/>
                                            </p:txEl>
                                          </p:spTgt>
                                        </p:tgtEl>
                                      </p:cBhvr>
                                    </p:animEffect>
                                  </p:childTnLst>
                                </p:cTn>
                              </p:par>
                              <p:par>
                                <p:cTn id="39" presetID="31" presetClass="entr" presetSubtype="0" fill="hold" grpId="0" nodeType="with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p:cTn id="41"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2"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43"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44" dur="1000"/>
                                        <p:tgtEl>
                                          <p:spTgt spid="3">
                                            <p:txEl>
                                              <p:pRg st="5" end="5"/>
                                            </p:txEl>
                                          </p:spTgt>
                                        </p:tgtEl>
                                      </p:cBhvr>
                                    </p:animEffect>
                                  </p:childTnLst>
                                </p:cTn>
                              </p:par>
                              <p:par>
                                <p:cTn id="45" presetID="31" presetClass="entr" presetSubtype="0" fill="hold" grpId="0" nodeType="with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 calcmode="lin" valueType="num">
                                      <p:cBhvr>
                                        <p:cTn id="47"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8"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49" dur="10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50" dur="1000"/>
                                        <p:tgtEl>
                                          <p:spTgt spid="3">
                                            <p:txEl>
                                              <p:pRg st="6" end="6"/>
                                            </p:txEl>
                                          </p:spTgt>
                                        </p:tgtEl>
                                      </p:cBhvr>
                                    </p:animEffect>
                                  </p:childTnLst>
                                </p:cTn>
                              </p:par>
                              <p:par>
                                <p:cTn id="51" presetID="31" presetClass="entr" presetSubtype="0" fill="hold" grpId="0" nodeType="with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 calcmode="lin" valueType="num">
                                      <p:cBhvr>
                                        <p:cTn id="53" dur="1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4" dur="1000" fill="hold"/>
                                        <p:tgtEl>
                                          <p:spTgt spid="3">
                                            <p:txEl>
                                              <p:pRg st="7" end="7"/>
                                            </p:txEl>
                                          </p:spTgt>
                                        </p:tgtEl>
                                        <p:attrNameLst>
                                          <p:attrName>ppt_h</p:attrName>
                                        </p:attrNameLst>
                                      </p:cBhvr>
                                      <p:tavLst>
                                        <p:tav tm="0">
                                          <p:val>
                                            <p:fltVal val="0"/>
                                          </p:val>
                                        </p:tav>
                                        <p:tav tm="100000">
                                          <p:val>
                                            <p:strVal val="#ppt_h"/>
                                          </p:val>
                                        </p:tav>
                                      </p:tavLst>
                                    </p:anim>
                                    <p:anim calcmode="lin" valueType="num">
                                      <p:cBhvr>
                                        <p:cTn id="55" dur="1000" fill="hold"/>
                                        <p:tgtEl>
                                          <p:spTgt spid="3">
                                            <p:txEl>
                                              <p:pRg st="7" end="7"/>
                                            </p:txEl>
                                          </p:spTgt>
                                        </p:tgtEl>
                                        <p:attrNameLst>
                                          <p:attrName>style.rotation</p:attrName>
                                        </p:attrNameLst>
                                      </p:cBhvr>
                                      <p:tavLst>
                                        <p:tav tm="0">
                                          <p:val>
                                            <p:fltVal val="90"/>
                                          </p:val>
                                        </p:tav>
                                        <p:tav tm="100000">
                                          <p:val>
                                            <p:fltVal val="0"/>
                                          </p:val>
                                        </p:tav>
                                      </p:tavLst>
                                    </p:anim>
                                    <p:animEffect transition="in" filter="fade">
                                      <p:cBhvr>
                                        <p:cTn id="56"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t>Share Price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5"/>
                <a:ext cx="8591550" cy="2624789"/>
              </a:xfrm>
            </p:spPr>
            <p:txBody>
              <a:bodyPr>
                <a:normAutofit fontScale="32500" lnSpcReduction="20000"/>
              </a:bodyPr>
              <a:lstStyle/>
              <a:p>
                <a:pPr algn="just">
                  <a:spcBef>
                    <a:spcPts val="1350"/>
                  </a:spcBef>
                  <a:buClr>
                    <a:srgbClr val="C00000"/>
                  </a:buClr>
                  <a:buSzPct val="90000"/>
                </a:pPr>
                <a:r>
                  <a:rPr lang="en-GB" dirty="0">
                    <a:ea typeface="Cambria Math" panose="02040503050406030204" pitchFamily="18" charset="0"/>
                  </a:rPr>
                  <a:t>The </a:t>
                </a:r>
                <a:r>
                  <a:rPr lang="en-GB" i="1" dirty="0">
                    <a:ea typeface="Cambria Math" panose="02040503050406030204" pitchFamily="18" charset="0"/>
                  </a:rPr>
                  <a:t>fair </a:t>
                </a:r>
                <a:r>
                  <a:rPr lang="en-GB" dirty="0">
                    <a:ea typeface="Cambria Math" panose="02040503050406030204" pitchFamily="18" charset="0"/>
                  </a:rPr>
                  <a:t>value of a share is:</a:t>
                </a:r>
              </a:p>
              <a:p>
                <a:pPr marL="0" lvl="1" indent="0">
                  <a:spcBef>
                    <a:spcPts val="1350"/>
                  </a:spcBef>
                  <a:buClr>
                    <a:srgbClr val="C00000"/>
                  </a:buClr>
                  <a:buSzPct val="90000"/>
                  <a:buNone/>
                </a:pPr>
                <a14:m>
                  <m:oMathPara xmlns:m="http://schemas.openxmlformats.org/officeDocument/2006/math">
                    <m:oMathParaPr>
                      <m:jc m:val="center"/>
                    </m:oMathParaPr>
                    <m:oMath xmlns:m="http://schemas.openxmlformats.org/officeDocument/2006/math">
                      <m:sSub>
                        <m:sSubPr>
                          <m:ctrlPr>
                            <a:rPr lang="en-GB" b="0" i="1" smtClean="0">
                              <a:solidFill>
                                <a:schemeClr val="tx1"/>
                              </a:solidFill>
                              <a:latin typeface="Cambria Math" panose="02040503050406030204" pitchFamily="18" charset="0"/>
                              <a:ea typeface="Cambria Math" panose="02040503050406030204" pitchFamily="18" charset="0"/>
                            </a:rPr>
                          </m:ctrlPr>
                        </m:sSubPr>
                        <m:e>
                          <m:r>
                            <a:rPr lang="en-GB" b="0" i="1" smtClean="0">
                              <a:solidFill>
                                <a:schemeClr val="tx1"/>
                              </a:solidFill>
                              <a:latin typeface="Cambria Math" panose="02040503050406030204" pitchFamily="18" charset="0"/>
                              <a:ea typeface="Cambria Math" panose="02040503050406030204" pitchFamily="18" charset="0"/>
                            </a:rPr>
                            <m:t>𝑃</m:t>
                          </m:r>
                        </m:e>
                        <m:sub>
                          <m:r>
                            <a:rPr lang="en-GB" b="0" i="1" smtClean="0">
                              <a:solidFill>
                                <a:schemeClr val="tx1"/>
                              </a:solidFill>
                              <a:latin typeface="Cambria Math" panose="02040503050406030204" pitchFamily="18" charset="0"/>
                              <a:ea typeface="Cambria Math" panose="02040503050406030204" pitchFamily="18" charset="0"/>
                            </a:rPr>
                            <m:t>0</m:t>
                          </m:r>
                        </m:sub>
                      </m:sSub>
                      <m:r>
                        <a:rPr lang="en-GB" b="0" i="1" smtClean="0">
                          <a:solidFill>
                            <a:schemeClr val="tx1"/>
                          </a:solidFill>
                          <a:latin typeface="Cambria Math" panose="02040503050406030204" pitchFamily="18" charset="0"/>
                          <a:ea typeface="Cambria Math" panose="02040503050406030204" pitchFamily="18" charset="0"/>
                        </a:rPr>
                        <m:t>=</m:t>
                      </m:r>
                      <m:f>
                        <m:fPr>
                          <m:ctrlPr>
                            <a:rPr lang="en-GB" b="0" i="1" smtClean="0">
                              <a:solidFill>
                                <a:schemeClr val="tx1"/>
                              </a:solidFill>
                              <a:latin typeface="Cambria Math" panose="02040503050406030204" pitchFamily="18" charset="0"/>
                              <a:ea typeface="Cambria Math" panose="02040503050406030204" pitchFamily="18" charset="0"/>
                            </a:rPr>
                          </m:ctrlPr>
                        </m:fPr>
                        <m:num>
                          <m:sSub>
                            <m:sSubPr>
                              <m:ctrlPr>
                                <a:rPr lang="en-GB" b="0" i="1" smtClean="0">
                                  <a:solidFill>
                                    <a:schemeClr val="tx1"/>
                                  </a:solidFill>
                                  <a:latin typeface="Cambria Math" panose="02040503050406030204" pitchFamily="18" charset="0"/>
                                  <a:ea typeface="Cambria Math" panose="02040503050406030204" pitchFamily="18" charset="0"/>
                                </a:rPr>
                              </m:ctrlPr>
                            </m:sSubPr>
                            <m:e>
                              <m:r>
                                <a:rPr lang="en-GB" b="0" i="1" smtClean="0">
                                  <a:solidFill>
                                    <a:schemeClr val="tx1"/>
                                  </a:solidFill>
                                  <a:latin typeface="Cambria Math" panose="02040503050406030204" pitchFamily="18" charset="0"/>
                                  <a:ea typeface="Cambria Math" panose="02040503050406030204" pitchFamily="18" charset="0"/>
                                </a:rPr>
                                <m:t>𝐷</m:t>
                              </m:r>
                            </m:e>
                            <m:sub>
                              <m:r>
                                <a:rPr lang="en-GB" b="0" i="1" smtClean="0">
                                  <a:solidFill>
                                    <a:schemeClr val="tx1"/>
                                  </a:solidFill>
                                  <a:latin typeface="Cambria Math" panose="02040503050406030204" pitchFamily="18" charset="0"/>
                                  <a:ea typeface="Cambria Math" panose="02040503050406030204" pitchFamily="18" charset="0"/>
                                </a:rPr>
                                <m:t>1</m:t>
                              </m:r>
                            </m:sub>
                          </m:sSub>
                        </m:num>
                        <m:den>
                          <m:r>
                            <a:rPr lang="en-GB" b="0" i="1" smtClean="0">
                              <a:solidFill>
                                <a:schemeClr val="tx1"/>
                              </a:solidFill>
                              <a:latin typeface="Cambria Math" panose="02040503050406030204" pitchFamily="18" charset="0"/>
                              <a:ea typeface="Cambria Math" panose="02040503050406030204" pitchFamily="18" charset="0"/>
                            </a:rPr>
                            <m:t>𝑟</m:t>
                          </m:r>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𝑔</m:t>
                          </m:r>
                        </m:den>
                      </m:f>
                    </m:oMath>
                  </m:oMathPara>
                </a14:m>
                <a:endParaRPr lang="en-GB" dirty="0">
                  <a:ea typeface="Cambria Math" panose="02040503050406030204" pitchFamily="18" charset="0"/>
                </a:endParaRPr>
              </a:p>
              <a:p>
                <a:pPr marL="0" lvl="1" indent="0">
                  <a:spcBef>
                    <a:spcPts val="1350"/>
                  </a:spcBef>
                  <a:buClr>
                    <a:srgbClr val="C00000"/>
                  </a:buClr>
                  <a:buSzPct val="90000"/>
                  <a:buNone/>
                </a:pPr>
                <a:endParaRPr lang="en-GB" dirty="0">
                  <a:ea typeface="Cambria Math" panose="02040503050406030204" pitchFamily="18" charset="0"/>
                </a:endParaRPr>
              </a:p>
              <a:p>
                <a:pPr marL="0" lvl="1" indent="0">
                  <a:spcBef>
                    <a:spcPts val="1350"/>
                  </a:spcBef>
                  <a:buClr>
                    <a:srgbClr val="C00000"/>
                  </a:buClr>
                  <a:buSzPct val="90000"/>
                  <a:buNone/>
                </a:pPr>
                <a:endParaRPr lang="en-GB" dirty="0">
                  <a:ea typeface="Cambria Math" panose="02040503050406030204" pitchFamily="18" charset="0"/>
                </a:endParaRPr>
              </a:p>
              <a:p>
                <a:pPr marL="0" lvl="1" indent="0">
                  <a:spcBef>
                    <a:spcPts val="1350"/>
                  </a:spcBef>
                  <a:buClr>
                    <a:srgbClr val="C00000"/>
                  </a:buClr>
                  <a:buSzPct val="90000"/>
                  <a:buNone/>
                </a:pPr>
                <a:endParaRPr lang="en-GB" dirty="0">
                  <a:ea typeface="Cambria Math" panose="02040503050406030204" pitchFamily="18" charset="0"/>
                </a:endParaRPr>
              </a:p>
              <a:p>
                <a:pPr marL="0" lvl="1" indent="0">
                  <a:spcBef>
                    <a:spcPts val="1350"/>
                  </a:spcBef>
                  <a:buClr>
                    <a:srgbClr val="C00000"/>
                  </a:buClr>
                  <a:buSzPct val="90000"/>
                  <a:buNone/>
                </a:pPr>
                <a:r>
                  <a:rPr lang="en-GB" dirty="0">
                    <a:ea typeface="Cambria Math" panose="02040503050406030204" pitchFamily="18" charset="0"/>
                  </a:rPr>
                  <a:t>The importance of the valuation equation is </a:t>
                </a:r>
                <a:r>
                  <a:rPr lang="en-GB">
                    <a:ea typeface="Cambria Math" panose="02040503050406030204" pitchFamily="18" charset="0"/>
                  </a:rPr>
                  <a:t>to determine </a:t>
                </a:r>
                <a14:m>
                  <m:oMath xmlns:m="http://schemas.openxmlformats.org/officeDocument/2006/math">
                    <m:r>
                      <a:rPr lang="en-GB" b="0" i="1" dirty="0" smtClean="0">
                        <a:latin typeface="Cambria Math" panose="02040503050406030204" pitchFamily="18" charset="0"/>
                        <a:ea typeface="Cambria Math" panose="02040503050406030204" pitchFamily="18" charset="0"/>
                      </a:rPr>
                      <m:t>𝑟</m:t>
                    </m:r>
                  </m:oMath>
                </a14:m>
                <a:r>
                  <a:rPr lang="en-GB" dirty="0">
                    <a:ea typeface="Cambria Math" panose="02040503050406030204" pitchFamily="18" charset="0"/>
                  </a:rPr>
                  <a:t>, </a:t>
                </a:r>
                <a:r>
                  <a:rPr lang="en-GB" dirty="0"/>
                  <a:t>the discount rate at which the present value of the dividends is equal to the market price.</a:t>
                </a:r>
              </a:p>
              <a:p>
                <a:pPr marL="0" lvl="1" indent="0">
                  <a:spcBef>
                    <a:spcPts val="1350"/>
                  </a:spcBef>
                  <a:buClr>
                    <a:srgbClr val="C00000"/>
                  </a:buClr>
                  <a:buSzPct val="90000"/>
                  <a:buNone/>
                </a:pPr>
                <a:r>
                  <a:rPr lang="en-GB" dirty="0">
                    <a:ea typeface="Cambria Math" panose="02040503050406030204" pitchFamily="18" charset="0"/>
                  </a:rPr>
                  <a:t>This internal rate is called the </a:t>
                </a:r>
                <a:r>
                  <a:rPr lang="en-GB" dirty="0">
                    <a:solidFill>
                      <a:srgbClr val="C00000"/>
                    </a:solidFill>
                    <a:ea typeface="Cambria Math" panose="02040503050406030204" pitchFamily="18" charset="0"/>
                  </a:rPr>
                  <a:t>required rate of return </a:t>
                </a:r>
                <a:r>
                  <a:rPr lang="en-GB" dirty="0">
                    <a:ea typeface="Cambria Math" panose="02040503050406030204" pitchFamily="18" charset="0"/>
                  </a:rPr>
                  <a:t>on the share = the expected compensation to shareholders for investing in the share.</a:t>
                </a:r>
              </a:p>
              <a:p>
                <a:pPr marL="0" lvl="1" indent="0">
                  <a:spcBef>
                    <a:spcPts val="1350"/>
                  </a:spcBef>
                  <a:buClr>
                    <a:srgbClr val="C00000"/>
                  </a:buClr>
                  <a:buSzPct val="90000"/>
                  <a:buNone/>
                </a:pPr>
                <a:endParaRPr lang="en-GB"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5"/>
                <a:ext cx="8591550" cy="2624789"/>
              </a:xfrm>
              <a:blipFill>
                <a:blip r:embed="rId3"/>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12</a:t>
            </a:fld>
            <a:endParaRPr lang="en-GB" sz="1350" dirty="0">
              <a:solidFill>
                <a:prstClr val="black">
                  <a:lumMod val="50000"/>
                  <a:lumOff val="50000"/>
                </a:prstClr>
              </a:solidFill>
              <a:latin typeface="Calibri" panose="020F0502020204030204"/>
              <a:ea typeface="+mn-ea"/>
            </a:endParaRPr>
          </a:p>
        </p:txBody>
      </p:sp>
      <p:cxnSp>
        <p:nvCxnSpPr>
          <p:cNvPr id="8" name="Straight Arrow Connector 7">
            <a:extLst>
              <a:ext uri="{FF2B5EF4-FFF2-40B4-BE49-F238E27FC236}">
                <a16:creationId xmlns:a16="http://schemas.microsoft.com/office/drawing/2014/main" id="{F0BE83EA-B5C1-4896-BC5B-9ACA0E9078ED}"/>
              </a:ext>
            </a:extLst>
          </p:cNvPr>
          <p:cNvCxnSpPr>
            <a:cxnSpLocks/>
          </p:cNvCxnSpPr>
          <p:nvPr/>
        </p:nvCxnSpPr>
        <p:spPr>
          <a:xfrm flipV="1">
            <a:off x="3608611" y="2321222"/>
            <a:ext cx="436546" cy="38982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2D553E5-8AB0-4729-83E2-2D9D74C8B7B2}"/>
              </a:ext>
            </a:extLst>
          </p:cNvPr>
          <p:cNvCxnSpPr>
            <a:cxnSpLocks/>
          </p:cNvCxnSpPr>
          <p:nvPr/>
        </p:nvCxnSpPr>
        <p:spPr>
          <a:xfrm flipH="1" flipV="1">
            <a:off x="4937966" y="2286975"/>
            <a:ext cx="321755" cy="290783"/>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6BB81F2-AFFB-4ADC-B6AA-52EC31A328D8}"/>
              </a:ext>
            </a:extLst>
          </p:cNvPr>
          <p:cNvCxnSpPr>
            <a:cxnSpLocks/>
          </p:cNvCxnSpPr>
          <p:nvPr/>
        </p:nvCxnSpPr>
        <p:spPr>
          <a:xfrm flipH="1">
            <a:off x="4892114" y="1856611"/>
            <a:ext cx="1766310" cy="136099"/>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E5FB7EC-A073-41D4-88A8-39A3D17BD342}"/>
              </a:ext>
            </a:extLst>
          </p:cNvPr>
          <p:cNvSpPr txBox="1"/>
          <p:nvPr/>
        </p:nvSpPr>
        <p:spPr>
          <a:xfrm>
            <a:off x="3132224" y="2711041"/>
            <a:ext cx="1017872" cy="415498"/>
          </a:xfrm>
          <a:prstGeom prst="rect">
            <a:avLst/>
          </a:prstGeom>
          <a:noFill/>
          <a:ln>
            <a:noFill/>
          </a:ln>
        </p:spPr>
        <p:txBody>
          <a:bodyPr wrap="square" rtlCol="0">
            <a:spAutoFit/>
          </a:bodyPr>
          <a:lstStyle/>
          <a:p>
            <a:pPr algn="ctr"/>
            <a:r>
              <a:rPr lang="en-GB" sz="1050" dirty="0"/>
              <a:t>Observed in the market</a:t>
            </a:r>
          </a:p>
        </p:txBody>
      </p:sp>
      <p:sp>
        <p:nvSpPr>
          <p:cNvPr id="32" name="TextBox 31">
            <a:extLst>
              <a:ext uri="{FF2B5EF4-FFF2-40B4-BE49-F238E27FC236}">
                <a16:creationId xmlns:a16="http://schemas.microsoft.com/office/drawing/2014/main" id="{F42E1486-0F58-4DF3-B61D-012C455366CB}"/>
              </a:ext>
            </a:extLst>
          </p:cNvPr>
          <p:cNvSpPr txBox="1"/>
          <p:nvPr/>
        </p:nvSpPr>
        <p:spPr>
          <a:xfrm>
            <a:off x="4892115" y="2540600"/>
            <a:ext cx="2055338" cy="415498"/>
          </a:xfrm>
          <a:prstGeom prst="rect">
            <a:avLst/>
          </a:prstGeom>
          <a:noFill/>
          <a:ln>
            <a:noFill/>
          </a:ln>
        </p:spPr>
        <p:txBody>
          <a:bodyPr wrap="square" rtlCol="0">
            <a:spAutoFit/>
          </a:bodyPr>
          <a:lstStyle/>
          <a:p>
            <a:pPr algn="ctr"/>
            <a:r>
              <a:rPr lang="en-GB" sz="1050" dirty="0"/>
              <a:t>Depends on Earnings and the </a:t>
            </a:r>
            <a:r>
              <a:rPr lang="en-GB" sz="1050" dirty="0" err="1"/>
              <a:t>payout</a:t>
            </a:r>
            <a:r>
              <a:rPr lang="en-GB" sz="1050" dirty="0"/>
              <a:t> ratio</a:t>
            </a:r>
          </a:p>
        </p:txBody>
      </p:sp>
      <p:sp>
        <p:nvSpPr>
          <p:cNvPr id="33" name="TextBox 32">
            <a:extLst>
              <a:ext uri="{FF2B5EF4-FFF2-40B4-BE49-F238E27FC236}">
                <a16:creationId xmlns:a16="http://schemas.microsoft.com/office/drawing/2014/main" id="{449B5FB6-52D7-4071-936B-471CD4B1B16D}"/>
              </a:ext>
            </a:extLst>
          </p:cNvPr>
          <p:cNvSpPr txBox="1"/>
          <p:nvPr/>
        </p:nvSpPr>
        <p:spPr>
          <a:xfrm>
            <a:off x="6658424" y="1614236"/>
            <a:ext cx="1598033" cy="415498"/>
          </a:xfrm>
          <a:prstGeom prst="rect">
            <a:avLst/>
          </a:prstGeom>
          <a:noFill/>
          <a:ln>
            <a:noFill/>
          </a:ln>
        </p:spPr>
        <p:txBody>
          <a:bodyPr wrap="square" rtlCol="0">
            <a:spAutoFit/>
          </a:bodyPr>
          <a:lstStyle/>
          <a:p>
            <a:pPr algn="ctr"/>
            <a:r>
              <a:rPr lang="en-GB" sz="1050" dirty="0"/>
              <a:t>Determined by the Board of Directors</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4EB9216-6342-428C-9161-3724E3A1C2EB}"/>
                  </a:ext>
                </a:extLst>
              </p:cNvPr>
              <p:cNvSpPr txBox="1"/>
              <p:nvPr/>
            </p:nvSpPr>
            <p:spPr>
              <a:xfrm>
                <a:off x="4437000" y="2058757"/>
                <a:ext cx="270000" cy="392415"/>
              </a:xfrm>
              <a:prstGeom prst="rect">
                <a:avLst/>
              </a:prstGeom>
              <a:solidFill>
                <a:schemeClr val="accent2">
                  <a:lumMod val="20000"/>
                  <a:lumOff val="80000"/>
                </a:schemeClr>
              </a:solidFill>
            </p:spPr>
            <p:txBody>
              <a:bodyPr wrap="square" rtlCol="0" anchor="ctr">
                <a:spAutoFit/>
              </a:bodyPr>
              <a:lstStyle/>
              <a:p>
                <a:pPr/>
                <a14:m>
                  <m:oMathPara xmlns:m="http://schemas.openxmlformats.org/officeDocument/2006/math">
                    <m:oMathParaPr>
                      <m:jc m:val="centerGroup"/>
                    </m:oMathParaPr>
                    <m:oMath xmlns:m="http://schemas.openxmlformats.org/officeDocument/2006/math">
                      <m:r>
                        <a:rPr lang="en-GB" sz="1950" b="1" i="1">
                          <a:solidFill>
                            <a:schemeClr val="accent2">
                              <a:lumMod val="50000"/>
                            </a:schemeClr>
                          </a:solidFill>
                          <a:latin typeface="Cambria Math" panose="02040503050406030204" pitchFamily="18" charset="0"/>
                        </a:rPr>
                        <m:t>𝒓</m:t>
                      </m:r>
                    </m:oMath>
                  </m:oMathPara>
                </a14:m>
                <a:endParaRPr lang="en-GB" sz="1950" b="1" dirty="0">
                  <a:solidFill>
                    <a:schemeClr val="accent2">
                      <a:lumMod val="50000"/>
                    </a:schemeClr>
                  </a:solidFill>
                </a:endParaRPr>
              </a:p>
            </p:txBody>
          </p:sp>
        </mc:Choice>
        <mc:Fallback xmlns="">
          <p:sp>
            <p:nvSpPr>
              <p:cNvPr id="39" name="TextBox 38">
                <a:extLst>
                  <a:ext uri="{FF2B5EF4-FFF2-40B4-BE49-F238E27FC236}">
                    <a16:creationId xmlns:a16="http://schemas.microsoft.com/office/drawing/2014/main" id="{B4EB9216-6342-428C-9161-3724E3A1C2EB}"/>
                  </a:ext>
                </a:extLst>
              </p:cNvPr>
              <p:cNvSpPr txBox="1">
                <a:spLocks noRot="1" noChangeAspect="1" noMove="1" noResize="1" noEditPoints="1" noAdjustHandles="1" noChangeArrowheads="1" noChangeShapeType="1" noTextEdit="1"/>
              </p:cNvSpPr>
              <p:nvPr/>
            </p:nvSpPr>
            <p:spPr>
              <a:xfrm>
                <a:off x="4437000" y="2058757"/>
                <a:ext cx="270000" cy="392415"/>
              </a:xfrm>
              <a:prstGeom prst="rect">
                <a:avLst/>
              </a:prstGeom>
              <a:blipFill>
                <a:blip r:embed="rId4"/>
                <a:stretch>
                  <a:fillRect r="-681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12277F9B-651E-1819-DBB2-E2547441CEF5}"/>
                  </a:ext>
                </a:extLst>
              </p:cNvPr>
              <p:cNvSpPr txBox="1">
                <a:spLocks/>
              </p:cNvSpPr>
              <p:nvPr/>
            </p:nvSpPr>
            <p:spPr>
              <a:xfrm>
                <a:off x="266700" y="4354894"/>
                <a:ext cx="8705850" cy="1536218"/>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214313" lvl="1">
                  <a:spcBef>
                    <a:spcPts val="1350"/>
                  </a:spcBef>
                  <a:buClr>
                    <a:srgbClr val="C00000"/>
                  </a:buClr>
                  <a:buSzPct val="90000"/>
                </a:pPr>
                <a:r>
                  <a:rPr lang="en-GB" sz="1275" dirty="0">
                    <a:ea typeface="Cambria Math" panose="02040503050406030204" pitchFamily="18" charset="0"/>
                  </a:rPr>
                  <a:t>We can extract the required rate of return on a share as:</a:t>
                </a:r>
              </a:p>
              <a:p>
                <a:pPr marL="0" lvl="1" indent="0">
                  <a:lnSpc>
                    <a:spcPct val="150000"/>
                  </a:lnSpc>
                  <a:spcBef>
                    <a:spcPts val="1350"/>
                  </a:spcBef>
                  <a:buClr>
                    <a:srgbClr val="C00000"/>
                  </a:buClr>
                  <a:buSzPct val="90000"/>
                  <a:buNone/>
                </a:pPr>
                <a14:m>
                  <m:oMathPara xmlns:m="http://schemas.openxmlformats.org/officeDocument/2006/math">
                    <m:oMathParaPr>
                      <m:jc m:val="centerGroup"/>
                    </m:oMathParaPr>
                    <m:oMath xmlns:m="http://schemas.openxmlformats.org/officeDocument/2006/math">
                      <m:r>
                        <a:rPr lang="en-GB" sz="1200" i="1">
                          <a:solidFill>
                            <a:schemeClr val="accent5">
                              <a:lumMod val="75000"/>
                            </a:schemeClr>
                          </a:solidFill>
                          <a:latin typeface="Cambria Math" panose="02040503050406030204" pitchFamily="18" charset="0"/>
                          <a:ea typeface="Cambria Math" panose="02040503050406030204" pitchFamily="18" charset="0"/>
                        </a:rPr>
                        <m:t>𝑟</m:t>
                      </m:r>
                      <m:r>
                        <a:rPr lang="en-GB" sz="1200" i="1">
                          <a:solidFill>
                            <a:schemeClr val="accent5">
                              <a:lumMod val="75000"/>
                            </a:schemeClr>
                          </a:solidFill>
                          <a:latin typeface="Cambria Math" panose="02040503050406030204" pitchFamily="18" charset="0"/>
                          <a:ea typeface="Cambria Math" panose="02040503050406030204" pitchFamily="18" charset="0"/>
                        </a:rPr>
                        <m:t>=       </m:t>
                      </m:r>
                      <m:f>
                        <m:fPr>
                          <m:ctrlPr>
                            <a:rPr lang="en-GB" sz="1200" i="1">
                              <a:solidFill>
                                <a:schemeClr val="accent5">
                                  <a:lumMod val="75000"/>
                                </a:schemeClr>
                              </a:solidFill>
                              <a:latin typeface="Cambria Math" panose="02040503050406030204" pitchFamily="18" charset="0"/>
                              <a:ea typeface="Cambria Math" panose="02040503050406030204" pitchFamily="18" charset="0"/>
                            </a:rPr>
                          </m:ctrlPr>
                        </m:fPr>
                        <m:num>
                          <m:sSub>
                            <m:sSubPr>
                              <m:ctrlPr>
                                <a:rPr lang="en-GB" sz="1200" i="1">
                                  <a:solidFill>
                                    <a:schemeClr val="accent5">
                                      <a:lumMod val="75000"/>
                                    </a:schemeClr>
                                  </a:solidFill>
                                  <a:latin typeface="Cambria Math" panose="02040503050406030204" pitchFamily="18" charset="0"/>
                                  <a:ea typeface="Cambria Math" panose="02040503050406030204" pitchFamily="18" charset="0"/>
                                </a:rPr>
                              </m:ctrlPr>
                            </m:sSubPr>
                            <m:e>
                              <m:r>
                                <a:rPr lang="en-GB" sz="1200" i="1">
                                  <a:solidFill>
                                    <a:schemeClr val="accent5">
                                      <a:lumMod val="75000"/>
                                    </a:schemeClr>
                                  </a:solidFill>
                                  <a:latin typeface="Cambria Math" panose="02040503050406030204" pitchFamily="18" charset="0"/>
                                  <a:ea typeface="Cambria Math" panose="02040503050406030204" pitchFamily="18" charset="0"/>
                                </a:rPr>
                                <m:t>𝐷</m:t>
                              </m:r>
                            </m:e>
                            <m:sub>
                              <m:r>
                                <a:rPr lang="en-GB" sz="1200" i="1">
                                  <a:solidFill>
                                    <a:schemeClr val="accent5">
                                      <a:lumMod val="75000"/>
                                    </a:schemeClr>
                                  </a:solidFill>
                                  <a:latin typeface="Cambria Math" panose="02040503050406030204" pitchFamily="18" charset="0"/>
                                  <a:ea typeface="Cambria Math" panose="02040503050406030204" pitchFamily="18" charset="0"/>
                                </a:rPr>
                                <m:t>1</m:t>
                              </m:r>
                            </m:sub>
                          </m:sSub>
                        </m:num>
                        <m:den>
                          <m:sSub>
                            <m:sSubPr>
                              <m:ctrlPr>
                                <a:rPr lang="en-GB" sz="1200" i="1">
                                  <a:solidFill>
                                    <a:schemeClr val="accent5">
                                      <a:lumMod val="75000"/>
                                    </a:schemeClr>
                                  </a:solidFill>
                                  <a:latin typeface="Cambria Math" panose="02040503050406030204" pitchFamily="18" charset="0"/>
                                  <a:ea typeface="Cambria Math" panose="02040503050406030204" pitchFamily="18" charset="0"/>
                                </a:rPr>
                              </m:ctrlPr>
                            </m:sSubPr>
                            <m:e>
                              <m:r>
                                <a:rPr lang="en-GB" sz="1200" i="1">
                                  <a:solidFill>
                                    <a:schemeClr val="accent5">
                                      <a:lumMod val="75000"/>
                                    </a:schemeClr>
                                  </a:solidFill>
                                  <a:latin typeface="Cambria Math" panose="02040503050406030204" pitchFamily="18" charset="0"/>
                                  <a:ea typeface="Cambria Math" panose="02040503050406030204" pitchFamily="18" charset="0"/>
                                </a:rPr>
                                <m:t>𝑃</m:t>
                              </m:r>
                            </m:e>
                            <m:sub>
                              <m:r>
                                <a:rPr lang="en-GB" sz="1200" i="1">
                                  <a:solidFill>
                                    <a:schemeClr val="accent5">
                                      <a:lumMod val="75000"/>
                                    </a:schemeClr>
                                  </a:solidFill>
                                  <a:latin typeface="Cambria Math" panose="02040503050406030204" pitchFamily="18" charset="0"/>
                                  <a:ea typeface="Cambria Math" panose="02040503050406030204" pitchFamily="18" charset="0"/>
                                </a:rPr>
                                <m:t>0</m:t>
                              </m:r>
                            </m:sub>
                          </m:sSub>
                        </m:den>
                      </m:f>
                      <m:r>
                        <a:rPr lang="en-GB" sz="1200" i="1">
                          <a:solidFill>
                            <a:schemeClr val="accent5">
                              <a:lumMod val="75000"/>
                            </a:schemeClr>
                          </a:solidFill>
                          <a:latin typeface="Cambria Math" panose="02040503050406030204" pitchFamily="18" charset="0"/>
                          <a:ea typeface="Cambria Math" panose="02040503050406030204" pitchFamily="18" charset="0"/>
                        </a:rPr>
                        <m:t>     +     </m:t>
                      </m:r>
                      <m:r>
                        <a:rPr lang="en-GB" sz="1200" i="1">
                          <a:solidFill>
                            <a:schemeClr val="accent5">
                              <a:lumMod val="75000"/>
                            </a:schemeClr>
                          </a:solidFill>
                          <a:latin typeface="Cambria Math" panose="02040503050406030204" pitchFamily="18" charset="0"/>
                          <a:ea typeface="Cambria Math" panose="02040503050406030204" pitchFamily="18" charset="0"/>
                        </a:rPr>
                        <m:t>𝑔</m:t>
                      </m:r>
                    </m:oMath>
                  </m:oMathPara>
                </a14:m>
                <a:endParaRPr lang="en-GB" sz="1200" dirty="0">
                  <a:solidFill>
                    <a:schemeClr val="accent5">
                      <a:lumMod val="75000"/>
                    </a:schemeClr>
                  </a:solidFill>
                  <a:ea typeface="Cambria Math" panose="02040503050406030204" pitchFamily="18" charset="0"/>
                </a:endParaRPr>
              </a:p>
            </p:txBody>
          </p:sp>
        </mc:Choice>
        <mc:Fallback xmlns="">
          <p:sp>
            <p:nvSpPr>
              <p:cNvPr id="5" name="Content Placeholder 2">
                <a:extLst>
                  <a:ext uri="{FF2B5EF4-FFF2-40B4-BE49-F238E27FC236}">
                    <a16:creationId xmlns:a16="http://schemas.microsoft.com/office/drawing/2014/main" id="{12277F9B-651E-1819-DBB2-E2547441CEF5}"/>
                  </a:ext>
                </a:extLst>
              </p:cNvPr>
              <p:cNvSpPr txBox="1">
                <a:spLocks noRot="1" noChangeAspect="1" noMove="1" noResize="1" noEditPoints="1" noAdjustHandles="1" noChangeArrowheads="1" noChangeShapeType="1" noTextEdit="1"/>
              </p:cNvSpPr>
              <p:nvPr/>
            </p:nvSpPr>
            <p:spPr>
              <a:xfrm>
                <a:off x="266700" y="4354894"/>
                <a:ext cx="8705850" cy="1536218"/>
              </a:xfrm>
              <a:prstGeom prst="rect">
                <a:avLst/>
              </a:prstGeom>
              <a:blipFill>
                <a:blip r:embed="rId5"/>
                <a:stretch>
                  <a:fillRect l="-210" t="-794"/>
                </a:stretch>
              </a:blipFill>
            </p:spPr>
            <p:txBody>
              <a:bodyPr/>
              <a:lstStyle/>
              <a:p>
                <a:r>
                  <a:rPr lang="en-GB">
                    <a:noFill/>
                  </a:rPr>
                  <a:t> </a:t>
                </a:r>
              </a:p>
            </p:txBody>
          </p:sp>
        </mc:Fallback>
      </mc:AlternateContent>
      <p:sp>
        <p:nvSpPr>
          <p:cNvPr id="6" name="TextBox 5">
            <a:extLst>
              <a:ext uri="{FF2B5EF4-FFF2-40B4-BE49-F238E27FC236}">
                <a16:creationId xmlns:a16="http://schemas.microsoft.com/office/drawing/2014/main" id="{6981D61A-061B-1EF0-144D-7ABCA3EDA19B}"/>
              </a:ext>
            </a:extLst>
          </p:cNvPr>
          <p:cNvSpPr txBox="1"/>
          <p:nvPr/>
        </p:nvSpPr>
        <p:spPr>
          <a:xfrm>
            <a:off x="2100469" y="5105446"/>
            <a:ext cx="2109581" cy="830997"/>
          </a:xfrm>
          <a:prstGeom prst="rect">
            <a:avLst/>
          </a:prstGeom>
          <a:noFill/>
        </p:spPr>
        <p:txBody>
          <a:bodyPr wrap="square" rtlCol="0">
            <a:spAutoFit/>
          </a:bodyPr>
          <a:lstStyle/>
          <a:p>
            <a:r>
              <a:rPr lang="en-GB" sz="1200" dirty="0">
                <a:solidFill>
                  <a:srgbClr val="C00000"/>
                </a:solidFill>
              </a:rPr>
              <a:t>The dividend yield (%)</a:t>
            </a:r>
          </a:p>
          <a:p>
            <a:r>
              <a:rPr lang="en-GB" sz="1200" dirty="0"/>
              <a:t>The gain achieved from the stream of </a:t>
            </a:r>
            <a:r>
              <a:rPr lang="en-GB" sz="1200" b="1" dirty="0">
                <a:solidFill>
                  <a:schemeClr val="accent5">
                    <a:lumMod val="75000"/>
                  </a:schemeClr>
                </a:solidFill>
              </a:rPr>
              <a:t>dividend </a:t>
            </a:r>
            <a:r>
              <a:rPr lang="en-GB" sz="1200" dirty="0"/>
              <a:t>cash flows.</a:t>
            </a:r>
          </a:p>
        </p:txBody>
      </p:sp>
      <p:sp>
        <p:nvSpPr>
          <p:cNvPr id="7" name="TextBox 6">
            <a:extLst>
              <a:ext uri="{FF2B5EF4-FFF2-40B4-BE49-F238E27FC236}">
                <a16:creationId xmlns:a16="http://schemas.microsoft.com/office/drawing/2014/main" id="{EC067773-74D9-5A5A-C88D-69B9EFD78B18}"/>
              </a:ext>
            </a:extLst>
          </p:cNvPr>
          <p:cNvSpPr txBox="1"/>
          <p:nvPr/>
        </p:nvSpPr>
        <p:spPr>
          <a:xfrm>
            <a:off x="5778221" y="4877654"/>
            <a:ext cx="2770533" cy="830997"/>
          </a:xfrm>
          <a:prstGeom prst="rect">
            <a:avLst/>
          </a:prstGeom>
          <a:noFill/>
        </p:spPr>
        <p:txBody>
          <a:bodyPr wrap="square" rtlCol="0">
            <a:spAutoFit/>
          </a:bodyPr>
          <a:lstStyle/>
          <a:p>
            <a:r>
              <a:rPr lang="en-GB" sz="1200" dirty="0">
                <a:solidFill>
                  <a:srgbClr val="C00000"/>
                </a:solidFill>
              </a:rPr>
              <a:t>The capital gain yield (%)</a:t>
            </a:r>
          </a:p>
          <a:p>
            <a:r>
              <a:rPr lang="en-GB" sz="1200" dirty="0"/>
              <a:t>The gain achieved from the growth of </a:t>
            </a:r>
            <a:r>
              <a:rPr lang="en-GB" sz="1200" b="1" dirty="0">
                <a:solidFill>
                  <a:schemeClr val="accent5">
                    <a:lumMod val="75000"/>
                  </a:schemeClr>
                </a:solidFill>
              </a:rPr>
              <a:t>dividends</a:t>
            </a:r>
            <a:r>
              <a:rPr lang="en-GB" sz="1200" dirty="0"/>
              <a:t> as a consequence of the growth of the company’s earnings.</a:t>
            </a:r>
          </a:p>
        </p:txBody>
      </p:sp>
      <p:grpSp>
        <p:nvGrpSpPr>
          <p:cNvPr id="12" name="Group 11">
            <a:extLst>
              <a:ext uri="{FF2B5EF4-FFF2-40B4-BE49-F238E27FC236}">
                <a16:creationId xmlns:a16="http://schemas.microsoft.com/office/drawing/2014/main" id="{642522B1-FF1D-E25C-20C4-FAA077D6E113}"/>
              </a:ext>
            </a:extLst>
          </p:cNvPr>
          <p:cNvGrpSpPr/>
          <p:nvPr/>
        </p:nvGrpSpPr>
        <p:grpSpPr>
          <a:xfrm>
            <a:off x="3739157" y="4677533"/>
            <a:ext cx="1054350" cy="638010"/>
            <a:chOff x="4985543" y="5093710"/>
            <a:chExt cx="1405800" cy="85068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B539F994-8519-EE8C-F0EA-8189DC39E3D8}"/>
                    </a:ext>
                  </a:extLst>
                </p14:cNvPr>
                <p14:cNvContentPartPr/>
                <p14:nvPr/>
              </p14:nvContentPartPr>
              <p14:xfrm>
                <a:off x="5774303" y="5093710"/>
                <a:ext cx="617040" cy="827640"/>
              </p14:xfrm>
            </p:contentPart>
          </mc:Choice>
          <mc:Fallback xmlns="">
            <p:pic>
              <p:nvPicPr>
                <p:cNvPr id="9" name="Ink 8">
                  <a:extLst>
                    <a:ext uri="{FF2B5EF4-FFF2-40B4-BE49-F238E27FC236}">
                      <a16:creationId xmlns:a16="http://schemas.microsoft.com/office/drawing/2014/main" id="{B539F994-8519-EE8C-F0EA-8189DC39E3D8}"/>
                    </a:ext>
                  </a:extLst>
                </p:cNvPr>
                <p:cNvPicPr/>
                <p:nvPr/>
              </p:nvPicPr>
              <p:blipFill>
                <a:blip r:embed="rId7"/>
                <a:stretch>
                  <a:fillRect/>
                </a:stretch>
              </p:blipFill>
              <p:spPr>
                <a:xfrm>
                  <a:off x="5756303" y="5075710"/>
                  <a:ext cx="652680" cy="863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CCC5A12D-0D3D-2D28-620E-73D4EC16CD9C}"/>
                    </a:ext>
                  </a:extLst>
                </p14:cNvPr>
                <p14:cNvContentPartPr/>
                <p14:nvPr/>
              </p14:nvContentPartPr>
              <p14:xfrm>
                <a:off x="5073743" y="5619670"/>
                <a:ext cx="702720" cy="218520"/>
              </p14:xfrm>
            </p:contentPart>
          </mc:Choice>
          <mc:Fallback xmlns="">
            <p:pic>
              <p:nvPicPr>
                <p:cNvPr id="10" name="Ink 9">
                  <a:extLst>
                    <a:ext uri="{FF2B5EF4-FFF2-40B4-BE49-F238E27FC236}">
                      <a16:creationId xmlns:a16="http://schemas.microsoft.com/office/drawing/2014/main" id="{CCC5A12D-0D3D-2D28-620E-73D4EC16CD9C}"/>
                    </a:ext>
                  </a:extLst>
                </p:cNvPr>
                <p:cNvPicPr/>
                <p:nvPr/>
              </p:nvPicPr>
              <p:blipFill>
                <a:blip r:embed="rId9"/>
                <a:stretch>
                  <a:fillRect/>
                </a:stretch>
              </p:blipFill>
              <p:spPr>
                <a:xfrm>
                  <a:off x="5055743" y="5602030"/>
                  <a:ext cx="73836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15104229-8393-C8C2-8703-BDABD2F92B82}"/>
                    </a:ext>
                  </a:extLst>
                </p14:cNvPr>
                <p14:cNvContentPartPr/>
                <p14:nvPr/>
              </p14:nvContentPartPr>
              <p14:xfrm>
                <a:off x="4985543" y="5720110"/>
                <a:ext cx="196200" cy="224280"/>
              </p14:xfrm>
            </p:contentPart>
          </mc:Choice>
          <mc:Fallback xmlns="">
            <p:pic>
              <p:nvPicPr>
                <p:cNvPr id="11" name="Ink 10">
                  <a:extLst>
                    <a:ext uri="{FF2B5EF4-FFF2-40B4-BE49-F238E27FC236}">
                      <a16:creationId xmlns:a16="http://schemas.microsoft.com/office/drawing/2014/main" id="{15104229-8393-C8C2-8703-BDABD2F92B82}"/>
                    </a:ext>
                  </a:extLst>
                </p:cNvPr>
                <p:cNvPicPr/>
                <p:nvPr/>
              </p:nvPicPr>
              <p:blipFill>
                <a:blip r:embed="rId11"/>
                <a:stretch>
                  <a:fillRect/>
                </a:stretch>
              </p:blipFill>
              <p:spPr>
                <a:xfrm>
                  <a:off x="4967903" y="5702470"/>
                  <a:ext cx="231840" cy="259920"/>
                </a:xfrm>
                <a:prstGeom prst="rect">
                  <a:avLst/>
                </a:prstGeom>
              </p:spPr>
            </p:pic>
          </mc:Fallback>
        </mc:AlternateContent>
      </p:grpSp>
      <p:grpSp>
        <p:nvGrpSpPr>
          <p:cNvPr id="18" name="Group 17">
            <a:extLst>
              <a:ext uri="{FF2B5EF4-FFF2-40B4-BE49-F238E27FC236}">
                <a16:creationId xmlns:a16="http://schemas.microsoft.com/office/drawing/2014/main" id="{3B9E096E-B542-7F13-2DFC-C86494C4A42C}"/>
              </a:ext>
            </a:extLst>
          </p:cNvPr>
          <p:cNvGrpSpPr/>
          <p:nvPr/>
        </p:nvGrpSpPr>
        <p:grpSpPr>
          <a:xfrm>
            <a:off x="5108057" y="4769873"/>
            <a:ext cx="713880" cy="451980"/>
            <a:chOff x="6810743" y="5216830"/>
            <a:chExt cx="951840" cy="602640"/>
          </a:xfrm>
        </p:grpSpPr>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2CEAD447-89FC-F476-311A-3123E9F66954}"/>
                    </a:ext>
                  </a:extLst>
                </p14:cNvPr>
                <p14:cNvContentPartPr/>
                <p14:nvPr/>
              </p14:nvContentPartPr>
              <p14:xfrm>
                <a:off x="6810743" y="5216830"/>
                <a:ext cx="528840" cy="550440"/>
              </p14:xfrm>
            </p:contentPart>
          </mc:Choice>
          <mc:Fallback xmlns="">
            <p:pic>
              <p:nvPicPr>
                <p:cNvPr id="14" name="Ink 13">
                  <a:extLst>
                    <a:ext uri="{FF2B5EF4-FFF2-40B4-BE49-F238E27FC236}">
                      <a16:creationId xmlns:a16="http://schemas.microsoft.com/office/drawing/2014/main" id="{2CEAD447-89FC-F476-311A-3123E9F66954}"/>
                    </a:ext>
                  </a:extLst>
                </p:cNvPr>
                <p:cNvPicPr/>
                <p:nvPr/>
              </p:nvPicPr>
              <p:blipFill>
                <a:blip r:embed="rId13"/>
                <a:stretch>
                  <a:fillRect/>
                </a:stretch>
              </p:blipFill>
              <p:spPr>
                <a:xfrm>
                  <a:off x="6793103" y="5198830"/>
                  <a:ext cx="564480" cy="586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91694F0E-DA1D-C933-C5A6-0F95A796787C}"/>
                    </a:ext>
                  </a:extLst>
                </p14:cNvPr>
                <p14:cNvContentPartPr/>
                <p14:nvPr/>
              </p14:nvContentPartPr>
              <p14:xfrm>
                <a:off x="7381703" y="5641990"/>
                <a:ext cx="291960" cy="47880"/>
              </p14:xfrm>
            </p:contentPart>
          </mc:Choice>
          <mc:Fallback xmlns="">
            <p:pic>
              <p:nvPicPr>
                <p:cNvPr id="15" name="Ink 14">
                  <a:extLst>
                    <a:ext uri="{FF2B5EF4-FFF2-40B4-BE49-F238E27FC236}">
                      <a16:creationId xmlns:a16="http://schemas.microsoft.com/office/drawing/2014/main" id="{91694F0E-DA1D-C933-C5A6-0F95A796787C}"/>
                    </a:ext>
                  </a:extLst>
                </p:cNvPr>
                <p:cNvPicPr/>
                <p:nvPr/>
              </p:nvPicPr>
              <p:blipFill>
                <a:blip r:embed="rId15"/>
                <a:stretch>
                  <a:fillRect/>
                </a:stretch>
              </p:blipFill>
              <p:spPr>
                <a:xfrm>
                  <a:off x="7364063" y="5623990"/>
                  <a:ext cx="3276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FBA66F02-BA7C-8E84-C1CD-B1217B919129}"/>
                    </a:ext>
                  </a:extLst>
                </p14:cNvPr>
                <p14:cNvContentPartPr/>
                <p14:nvPr/>
              </p14:nvContentPartPr>
              <p14:xfrm>
                <a:off x="7582943" y="5586190"/>
                <a:ext cx="179640" cy="233280"/>
              </p14:xfrm>
            </p:contentPart>
          </mc:Choice>
          <mc:Fallback xmlns="">
            <p:pic>
              <p:nvPicPr>
                <p:cNvPr id="16" name="Ink 15">
                  <a:extLst>
                    <a:ext uri="{FF2B5EF4-FFF2-40B4-BE49-F238E27FC236}">
                      <a16:creationId xmlns:a16="http://schemas.microsoft.com/office/drawing/2014/main" id="{FBA66F02-BA7C-8E84-C1CD-B1217B919129}"/>
                    </a:ext>
                  </a:extLst>
                </p:cNvPr>
                <p:cNvPicPr/>
                <p:nvPr/>
              </p:nvPicPr>
              <p:blipFill>
                <a:blip r:embed="rId17"/>
                <a:stretch>
                  <a:fillRect/>
                </a:stretch>
              </p:blipFill>
              <p:spPr>
                <a:xfrm>
                  <a:off x="7564943" y="5568550"/>
                  <a:ext cx="215280" cy="268920"/>
                </a:xfrm>
                <a:prstGeom prst="rect">
                  <a:avLst/>
                </a:prstGeom>
              </p:spPr>
            </p:pic>
          </mc:Fallback>
        </mc:AlternateContent>
      </p:grpSp>
    </p:spTree>
    <p:extLst>
      <p:ext uri="{BB962C8B-B14F-4D97-AF65-F5344CB8AC3E}">
        <p14:creationId xmlns:p14="http://schemas.microsoft.com/office/powerpoint/2010/main" val="44845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2" presetClass="entr" presetSubtype="4"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500" fill="hold"/>
                                        <p:tgtEl>
                                          <p:spTgt spid="33"/>
                                        </p:tgtEl>
                                        <p:attrNameLst>
                                          <p:attrName>ppt_x</p:attrName>
                                        </p:attrNameLst>
                                      </p:cBhvr>
                                      <p:tavLst>
                                        <p:tav tm="0">
                                          <p:val>
                                            <p:strVal val="#ppt_x"/>
                                          </p:val>
                                        </p:tav>
                                        <p:tav tm="100000">
                                          <p:val>
                                            <p:strVal val="#ppt_x"/>
                                          </p:val>
                                        </p:tav>
                                      </p:tavLst>
                                    </p:anim>
                                    <p:anim calcmode="lin" valueType="num">
                                      <p:cBhvr additive="base">
                                        <p:cTn id="24" dur="500" fill="hold"/>
                                        <p:tgtEl>
                                          <p:spTgt spid="3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additive="base">
                                        <p:cTn id="4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 calcmode="lin" valueType="num">
                                      <p:cBhvr additive="base">
                                        <p:cTn id="4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par>
                                <p:cTn id="63" presetID="2" presetClass="entr" presetSubtype="4" fill="hold" grpId="0" nodeType="withEffect">
                                  <p:stCondLst>
                                    <p:cond delay="0"/>
                                  </p:stCondLst>
                                  <p:childTnLst>
                                    <p:set>
                                      <p:cBhvr>
                                        <p:cTn id="64" dur="1" fill="hold">
                                          <p:stCondLst>
                                            <p:cond delay="0"/>
                                          </p:stCondLst>
                                        </p:cTn>
                                        <p:tgtEl>
                                          <p:spTgt spid="7"/>
                                        </p:tgtEl>
                                        <p:attrNameLst>
                                          <p:attrName>style.visibility</p:attrName>
                                        </p:attrNameLst>
                                      </p:cBhvr>
                                      <p:to>
                                        <p:strVal val="visible"/>
                                      </p:to>
                                    </p:set>
                                    <p:anim calcmode="lin" valueType="num">
                                      <p:cBhvr additive="base">
                                        <p:cTn id="65" dur="500" fill="hold"/>
                                        <p:tgtEl>
                                          <p:spTgt spid="7"/>
                                        </p:tgtEl>
                                        <p:attrNameLst>
                                          <p:attrName>ppt_x</p:attrName>
                                        </p:attrNameLst>
                                      </p:cBhvr>
                                      <p:tavLst>
                                        <p:tav tm="0">
                                          <p:val>
                                            <p:strVal val="#ppt_x"/>
                                          </p:val>
                                        </p:tav>
                                        <p:tav tm="100000">
                                          <p:val>
                                            <p:strVal val="#ppt_x"/>
                                          </p:val>
                                        </p:tav>
                                      </p:tavLst>
                                    </p:anim>
                                    <p:anim calcmode="lin" valueType="num">
                                      <p:cBhvr additive="base">
                                        <p:cTn id="6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2" grpId="0"/>
      <p:bldP spid="33" grpId="0"/>
      <p:bldP spid="39" grpId="0" animBg="1"/>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266700" y="966888"/>
                <a:ext cx="7886700" cy="634117"/>
              </a:xfrm>
            </p:spPr>
            <p:txBody>
              <a:bodyPr>
                <a:normAutofit/>
              </a:bodyPr>
              <a:lstStyle/>
              <a:p>
                <a:r>
                  <a:rPr lang="en-GB" dirty="0"/>
                  <a:t>Share Value – Constant </a:t>
                </a:r>
                <a14:m>
                  <m:oMath xmlns:m="http://schemas.openxmlformats.org/officeDocument/2006/math">
                    <m:r>
                      <a:rPr lang="en-GB" i="1">
                        <a:latin typeface="Cambria Math" panose="02040503050406030204" pitchFamily="18" charset="0"/>
                      </a:rPr>
                      <m:t>𝐷</m:t>
                    </m:r>
                  </m:oMath>
                </a14:m>
                <a:endParaRPr lang="en-GB"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266700" y="966888"/>
                <a:ext cx="7886700" cy="634117"/>
              </a:xfrm>
              <a:blipFill>
                <a:blip r:embed="rId3"/>
                <a:stretch>
                  <a:fillRect l="-2628" t="-163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8591550" cy="4005724"/>
              </a:xfrm>
            </p:spPr>
            <p:txBody>
              <a:bodyPr>
                <a:normAutofit/>
              </a:bodyPr>
              <a:lstStyle/>
              <a:p>
                <a:pPr marL="0" indent="0" algn="just">
                  <a:spcBef>
                    <a:spcPts val="1350"/>
                  </a:spcBef>
                  <a:buClr>
                    <a:srgbClr val="C00000"/>
                  </a:buClr>
                  <a:buSzPct val="90000"/>
                  <a:buNone/>
                </a:pPr>
                <a:r>
                  <a:rPr lang="en-GB" sz="1800" b="1" dirty="0">
                    <a:solidFill>
                      <a:schemeClr val="accent5">
                        <a:lumMod val="75000"/>
                      </a:schemeClr>
                    </a:solidFill>
                    <a:ea typeface="Cambria Math" panose="02040503050406030204" pitchFamily="18" charset="0"/>
                  </a:rPr>
                  <a:t>Example: </a:t>
                </a:r>
                <a:r>
                  <a:rPr lang="en-GB" sz="1800" dirty="0"/>
                  <a:t>Royal Dutch shares are known to pay a constant dividend of 146.60p per share and are expected to keep paying the same dividend in the future.</a:t>
                </a:r>
              </a:p>
              <a:p>
                <a:pPr marL="0" indent="0" algn="just">
                  <a:spcBef>
                    <a:spcPts val="1350"/>
                  </a:spcBef>
                  <a:buClr>
                    <a:srgbClr val="C00000"/>
                  </a:buClr>
                  <a:buSzPct val="90000"/>
                  <a:buNone/>
                </a:pPr>
                <a:r>
                  <a:rPr lang="en-GB" sz="1800" dirty="0"/>
                  <a:t>Using a discount rate of 8%, what is the </a:t>
                </a:r>
                <a:r>
                  <a:rPr lang="en-GB" sz="1800" i="1" dirty="0"/>
                  <a:t>fair value </a:t>
                </a:r>
                <a:r>
                  <a:rPr lang="en-GB" sz="1800" dirty="0"/>
                  <a:t>of Royal Dutch shares?</a:t>
                </a:r>
              </a:p>
              <a:p>
                <a:pPr marL="0" indent="0" algn="just">
                  <a:spcBef>
                    <a:spcPts val="1350"/>
                  </a:spcBef>
                  <a:buClr>
                    <a:srgbClr val="C00000"/>
                  </a:buClr>
                  <a:buSzPct val="90000"/>
                  <a:buNone/>
                </a:pPr>
                <a:r>
                  <a:rPr lang="en-GB" sz="1800" i="1" dirty="0">
                    <a:ea typeface="Cambria Math" panose="02040503050406030204" pitchFamily="18" charset="0"/>
                  </a:rPr>
                  <a:t>Time line</a:t>
                </a:r>
              </a:p>
              <a:p>
                <a:pPr marL="0" indent="0" algn="just">
                  <a:spcBef>
                    <a:spcPts val="1350"/>
                  </a:spcBef>
                  <a:buClr>
                    <a:srgbClr val="C00000"/>
                  </a:buClr>
                  <a:buSzPct val="90000"/>
                  <a:buNone/>
                </a:pPr>
                <a:endParaRPr lang="en-GB" sz="1800" i="1" dirty="0">
                  <a:ea typeface="Cambria Math" panose="02040503050406030204" pitchFamily="18" charset="0"/>
                </a:endParaRPr>
              </a:p>
              <a:p>
                <a:pPr marL="0" indent="0" algn="just">
                  <a:spcBef>
                    <a:spcPts val="1350"/>
                  </a:spcBef>
                  <a:buClr>
                    <a:srgbClr val="C00000"/>
                  </a:buClr>
                  <a:buSzPct val="90000"/>
                  <a:buNone/>
                </a:pPr>
                <a:endParaRPr lang="en-GB" sz="1800" i="1" dirty="0">
                  <a:ea typeface="Cambria Math" panose="02040503050406030204" pitchFamily="18" charset="0"/>
                </a:endParaRPr>
              </a:p>
              <a:p>
                <a:pPr marL="0" indent="0" algn="just">
                  <a:spcBef>
                    <a:spcPts val="1350"/>
                  </a:spcBef>
                  <a:buClr>
                    <a:srgbClr val="C00000"/>
                  </a:buClr>
                  <a:buSzPct val="90000"/>
                  <a:buNone/>
                </a:pPr>
                <a:endParaRPr lang="en-GB" sz="1800" i="1" dirty="0">
                  <a:ea typeface="Cambria Math" panose="02040503050406030204" pitchFamily="18" charset="0"/>
                </a:endParaRPr>
              </a:p>
              <a:p>
                <a:pPr marL="0" indent="0" algn="just">
                  <a:spcBef>
                    <a:spcPts val="1350"/>
                  </a:spcBef>
                  <a:buClr>
                    <a:srgbClr val="C00000"/>
                  </a:buClr>
                  <a:buSzPct val="90000"/>
                  <a:buNone/>
                </a:pPr>
                <a14:m>
                  <m:oMath xmlns:m="http://schemas.openxmlformats.org/officeDocument/2006/math">
                    <m:r>
                      <a:rPr lang="en-GB" sz="1800" i="1">
                        <a:solidFill>
                          <a:srgbClr val="C00000"/>
                        </a:solidFill>
                        <a:latin typeface="Cambria Math" panose="02040503050406030204" pitchFamily="18" charset="0"/>
                        <a:ea typeface="Cambria Math" panose="02040503050406030204" pitchFamily="18" charset="0"/>
                      </a:rPr>
                      <m:t>⇒</m:t>
                    </m:r>
                  </m:oMath>
                </a14:m>
                <a:r>
                  <a:rPr lang="en-GB" sz="1800" dirty="0">
                    <a:ea typeface="Cambria Math" panose="02040503050406030204" pitchFamily="18" charset="0"/>
                  </a:rPr>
                  <a:t> This is a perpetuity. The </a:t>
                </a:r>
                <a:r>
                  <a:rPr lang="en-GB" sz="1800" i="1" dirty="0">
                    <a:ea typeface="Cambria Math" panose="02040503050406030204" pitchFamily="18" charset="0"/>
                  </a:rPr>
                  <a:t>fair </a:t>
                </a:r>
                <a:r>
                  <a:rPr lang="en-GB" sz="1800" dirty="0">
                    <a:ea typeface="Cambria Math" panose="02040503050406030204" pitchFamily="18" charset="0"/>
                  </a:rPr>
                  <a:t>value of a Royal </a:t>
                </a:r>
                <a:r>
                  <a:rPr lang="en-GB" sz="1800">
                    <a:ea typeface="Cambria Math" panose="02040503050406030204" pitchFamily="18" charset="0"/>
                  </a:rPr>
                  <a:t>Dutch share </a:t>
                </a:r>
                <a:r>
                  <a:rPr lang="en-GB" sz="1800" dirty="0">
                    <a:ea typeface="Cambria Math" panose="02040503050406030204" pitchFamily="18" charset="0"/>
                  </a:rPr>
                  <a:t>is:</a:t>
                </a:r>
              </a:p>
              <a:p>
                <a:pPr marL="0" indent="0" algn="just">
                  <a:spcBef>
                    <a:spcPts val="1350"/>
                  </a:spcBef>
                  <a:buClr>
                    <a:srgbClr val="C00000"/>
                  </a:buClr>
                  <a:buSzPct val="90000"/>
                  <a:buNone/>
                </a:pPr>
                <a14:m>
                  <m:oMathPara xmlns:m="http://schemas.openxmlformats.org/officeDocument/2006/math">
                    <m:oMathParaPr>
                      <m:jc m:val="centerGroup"/>
                    </m:oMathParaPr>
                    <m:oMath xmlns:m="http://schemas.openxmlformats.org/officeDocument/2006/math">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𝑃</m:t>
                          </m:r>
                        </m:e>
                        <m:sub>
                          <m:r>
                            <a:rPr lang="en-GB" sz="1800" i="1">
                              <a:latin typeface="Cambria Math" panose="02040503050406030204" pitchFamily="18" charset="0"/>
                              <a:ea typeface="Cambria Math" panose="02040503050406030204" pitchFamily="18" charset="0"/>
                            </a:rPr>
                            <m:t>0</m:t>
                          </m:r>
                        </m:sub>
                      </m:sSub>
                      <m:r>
                        <a:rPr lang="en-GB" sz="1800" i="1">
                          <a:latin typeface="Cambria Math" panose="02040503050406030204" pitchFamily="18" charset="0"/>
                          <a:ea typeface="Cambria Math" panose="02040503050406030204" pitchFamily="18" charset="0"/>
                        </a:rPr>
                        <m:t>=</m:t>
                      </m:r>
                      <m:f>
                        <m:fPr>
                          <m:ctrlPr>
                            <a:rPr lang="en-GB" sz="1800" i="1">
                              <a:latin typeface="Cambria Math" panose="02040503050406030204" pitchFamily="18" charset="0"/>
                              <a:ea typeface="Cambria Math" panose="02040503050406030204" pitchFamily="18" charset="0"/>
                            </a:rPr>
                          </m:ctrlPr>
                        </m:fPr>
                        <m:num>
                          <m:r>
                            <a:rPr lang="en-GB" sz="1800" i="1">
                              <a:latin typeface="Cambria Math" panose="02040503050406030204" pitchFamily="18" charset="0"/>
                              <a:ea typeface="Cambria Math" panose="02040503050406030204" pitchFamily="18" charset="0"/>
                            </a:rPr>
                            <m:t>146.60</m:t>
                          </m:r>
                        </m:num>
                        <m:den>
                          <m:r>
                            <a:rPr lang="en-GB" sz="1800" i="1">
                              <a:latin typeface="Cambria Math" panose="02040503050406030204" pitchFamily="18" charset="0"/>
                              <a:ea typeface="Cambria Math" panose="02040503050406030204" pitchFamily="18" charset="0"/>
                            </a:rPr>
                            <m:t>8%</m:t>
                          </m:r>
                        </m:den>
                      </m:f>
                      <m:r>
                        <a:rPr lang="en-GB" sz="1800" i="1">
                          <a:latin typeface="Cambria Math" panose="02040503050406030204" pitchFamily="18" charset="0"/>
                          <a:ea typeface="Cambria Math" panose="02040503050406030204" pitchFamily="18" charset="0"/>
                        </a:rPr>
                        <m:t>=1,832.50</m:t>
                      </m:r>
                      <m:r>
                        <a:rPr lang="en-GB" sz="1800" i="1">
                          <a:latin typeface="Cambria Math" panose="02040503050406030204" pitchFamily="18" charset="0"/>
                          <a:ea typeface="Cambria Math" panose="02040503050406030204" pitchFamily="18" charset="0"/>
                        </a:rPr>
                        <m:t>𝑝</m:t>
                      </m:r>
                      <m:r>
                        <a:rPr lang="en-GB" sz="1800" i="1">
                          <a:latin typeface="Cambria Math" panose="02040503050406030204" pitchFamily="18" charset="0"/>
                          <a:ea typeface="Cambria Math" panose="02040503050406030204" pitchFamily="18" charset="0"/>
                        </a:rPr>
                        <m:t> </m:t>
                      </m:r>
                      <m:r>
                        <a:rPr lang="en-GB" sz="1800" i="1">
                          <a:latin typeface="Cambria Math" panose="02040503050406030204" pitchFamily="18" charset="0"/>
                          <a:ea typeface="Cambria Math" panose="02040503050406030204" pitchFamily="18" charset="0"/>
                        </a:rPr>
                        <m:t>𝑜𝑟</m:t>
                      </m:r>
                      <m:r>
                        <a:rPr lang="en-GB" sz="1800" i="1">
                          <a:latin typeface="Cambria Math" panose="02040503050406030204" pitchFamily="18" charset="0"/>
                          <a:ea typeface="Cambria Math" panose="02040503050406030204" pitchFamily="18" charset="0"/>
                        </a:rPr>
                        <m:t> £18.325</m:t>
                      </m:r>
                    </m:oMath>
                  </m:oMathPara>
                </a14:m>
                <a:endParaRPr lang="en-GB" sz="1800"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8591550" cy="4005724"/>
              </a:xfrm>
              <a:blipFill>
                <a:blip r:embed="rId4"/>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13</a:t>
            </a:fld>
            <a:endParaRPr lang="en-GB" sz="1350" dirty="0">
              <a:solidFill>
                <a:prstClr val="black">
                  <a:lumMod val="50000"/>
                  <a:lumOff val="50000"/>
                </a:prstClr>
              </a:solidFill>
              <a:latin typeface="Calibri" panose="020F0502020204030204"/>
              <a:ea typeface="+mn-ea"/>
            </a:endParaRPr>
          </a:p>
        </p:txBody>
      </p:sp>
      <p:cxnSp>
        <p:nvCxnSpPr>
          <p:cNvPr id="6" name="Straight Connector 5">
            <a:extLst>
              <a:ext uri="{FF2B5EF4-FFF2-40B4-BE49-F238E27FC236}">
                <a16:creationId xmlns:a16="http://schemas.microsoft.com/office/drawing/2014/main" id="{CCAEDA38-EEB6-4768-B50D-753BD0EEADB5}"/>
              </a:ext>
            </a:extLst>
          </p:cNvPr>
          <p:cNvCxnSpPr>
            <a:cxnSpLocks/>
          </p:cNvCxnSpPr>
          <p:nvPr/>
        </p:nvCxnSpPr>
        <p:spPr>
          <a:xfrm>
            <a:off x="1099769" y="3573541"/>
            <a:ext cx="6831000" cy="0"/>
          </a:xfrm>
          <a:prstGeom prst="line">
            <a:avLst/>
          </a:prstGeom>
          <a:ln w="28575">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A9AFE66-62AF-4179-896C-CEC2BFB5C97A}"/>
              </a:ext>
            </a:extLst>
          </p:cNvPr>
          <p:cNvCxnSpPr>
            <a:cxnSpLocks/>
          </p:cNvCxnSpPr>
          <p:nvPr/>
        </p:nvCxnSpPr>
        <p:spPr>
          <a:xfrm>
            <a:off x="2904983" y="3447327"/>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AF0506-73E5-4F37-AC68-CE7EBC5536A0}"/>
              </a:ext>
            </a:extLst>
          </p:cNvPr>
          <p:cNvCxnSpPr>
            <a:cxnSpLocks/>
          </p:cNvCxnSpPr>
          <p:nvPr/>
        </p:nvCxnSpPr>
        <p:spPr>
          <a:xfrm>
            <a:off x="4519496" y="3447327"/>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32A1919-CB5D-46B5-A344-74293BAEB14C}"/>
                  </a:ext>
                </a:extLst>
              </p:cNvPr>
              <p:cNvSpPr txBox="1"/>
              <p:nvPr/>
            </p:nvSpPr>
            <p:spPr>
              <a:xfrm>
                <a:off x="769578" y="3818936"/>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=0</m:t>
                      </m:r>
                    </m:oMath>
                  </m:oMathPara>
                </a14:m>
                <a:endParaRPr lang="en-GB" sz="1350" dirty="0">
                  <a:solidFill>
                    <a:prstClr val="black"/>
                  </a:solidFill>
                  <a:latin typeface="Calibri" panose="020F0502020204030204"/>
                  <a:ea typeface="+mn-ea"/>
                </a:endParaRPr>
              </a:p>
            </p:txBody>
          </p:sp>
        </mc:Choice>
        <mc:Fallback xmlns="">
          <p:sp>
            <p:nvSpPr>
              <p:cNvPr id="9" name="TextBox 8">
                <a:extLst>
                  <a:ext uri="{FF2B5EF4-FFF2-40B4-BE49-F238E27FC236}">
                    <a16:creationId xmlns:a16="http://schemas.microsoft.com/office/drawing/2014/main" id="{632A1919-CB5D-46B5-A344-74293BAEB14C}"/>
                  </a:ext>
                </a:extLst>
              </p:cNvPr>
              <p:cNvSpPr txBox="1">
                <a:spLocks noRot="1" noChangeAspect="1" noMove="1" noResize="1" noEditPoints="1" noAdjustHandles="1" noChangeArrowheads="1" noChangeShapeType="1" noTextEdit="1"/>
              </p:cNvSpPr>
              <p:nvPr/>
            </p:nvSpPr>
            <p:spPr>
              <a:xfrm>
                <a:off x="769578" y="3818936"/>
                <a:ext cx="660382" cy="300082"/>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37B08C1-DF22-4866-8293-6B806C2D3DC3}"/>
                  </a:ext>
                </a:extLst>
              </p:cNvPr>
              <p:cNvSpPr txBox="1"/>
              <p:nvPr/>
            </p:nvSpPr>
            <p:spPr>
              <a:xfrm>
                <a:off x="7600578" y="3764825"/>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Cambria Math" panose="02040503050406030204" pitchFamily="18" charset="0"/>
                        </a:rPr>
                        <m:t>∞</m:t>
                      </m:r>
                    </m:oMath>
                  </m:oMathPara>
                </a14:m>
                <a:endParaRPr lang="en-GB" sz="1350" dirty="0">
                  <a:solidFill>
                    <a:prstClr val="black"/>
                  </a:solidFill>
                  <a:latin typeface="Calibri" panose="020F0502020204030204"/>
                  <a:ea typeface="+mn-ea"/>
                </a:endParaRPr>
              </a:p>
            </p:txBody>
          </p:sp>
        </mc:Choice>
        <mc:Fallback xmlns="">
          <p:sp>
            <p:nvSpPr>
              <p:cNvPr id="10" name="TextBox 9">
                <a:extLst>
                  <a:ext uri="{FF2B5EF4-FFF2-40B4-BE49-F238E27FC236}">
                    <a16:creationId xmlns:a16="http://schemas.microsoft.com/office/drawing/2014/main" id="{E37B08C1-DF22-4866-8293-6B806C2D3DC3}"/>
                  </a:ext>
                </a:extLst>
              </p:cNvPr>
              <p:cNvSpPr txBox="1">
                <a:spLocks noRot="1" noChangeAspect="1" noMove="1" noResize="1" noEditPoints="1" noAdjustHandles="1" noChangeArrowheads="1" noChangeShapeType="1" noTextEdit="1"/>
              </p:cNvSpPr>
              <p:nvPr/>
            </p:nvSpPr>
            <p:spPr>
              <a:xfrm>
                <a:off x="7600578" y="3764825"/>
                <a:ext cx="660382" cy="300082"/>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294FF58-FCC7-4799-BAD3-A2D90B36E344}"/>
                  </a:ext>
                </a:extLst>
              </p:cNvPr>
              <p:cNvSpPr txBox="1"/>
              <p:nvPr/>
            </p:nvSpPr>
            <p:spPr>
              <a:xfrm>
                <a:off x="5906551" y="3762427"/>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m:t>
                      </m:r>
                    </m:oMath>
                  </m:oMathPara>
                </a14:m>
                <a:endParaRPr lang="en-GB" sz="1350" dirty="0">
                  <a:solidFill>
                    <a:prstClr val="black"/>
                  </a:solidFill>
                  <a:latin typeface="Calibri" panose="020F0502020204030204"/>
                  <a:ea typeface="+mn-ea"/>
                </a:endParaRPr>
              </a:p>
            </p:txBody>
          </p:sp>
        </mc:Choice>
        <mc:Fallback xmlns="">
          <p:sp>
            <p:nvSpPr>
              <p:cNvPr id="12" name="TextBox 11">
                <a:extLst>
                  <a:ext uri="{FF2B5EF4-FFF2-40B4-BE49-F238E27FC236}">
                    <a16:creationId xmlns:a16="http://schemas.microsoft.com/office/drawing/2014/main" id="{4294FF58-FCC7-4799-BAD3-A2D90B36E344}"/>
                  </a:ext>
                </a:extLst>
              </p:cNvPr>
              <p:cNvSpPr txBox="1">
                <a:spLocks noRot="1" noChangeAspect="1" noMove="1" noResize="1" noEditPoints="1" noAdjustHandles="1" noChangeArrowheads="1" noChangeShapeType="1" noTextEdit="1"/>
              </p:cNvSpPr>
              <p:nvPr/>
            </p:nvSpPr>
            <p:spPr>
              <a:xfrm>
                <a:off x="5906551" y="3762427"/>
                <a:ext cx="630848" cy="300082"/>
              </a:xfrm>
              <a:prstGeom prst="rect">
                <a:avLst/>
              </a:prstGeom>
              <a:blipFill>
                <a:blip r:embed="rId7"/>
                <a:stretch>
                  <a:fillRect/>
                </a:stretch>
              </a:blipFill>
              <a:ln>
                <a:noFill/>
              </a:ln>
            </p:spPr>
            <p:txBody>
              <a:bodyPr/>
              <a:lstStyle/>
              <a:p>
                <a:r>
                  <a:rPr lang="en-GB">
                    <a:noFill/>
                  </a:rPr>
                  <a:t> </a:t>
                </a:r>
              </a:p>
            </p:txBody>
          </p:sp>
        </mc:Fallback>
      </mc:AlternateContent>
      <p:cxnSp>
        <p:nvCxnSpPr>
          <p:cNvPr id="14" name="Straight Connector 13">
            <a:extLst>
              <a:ext uri="{FF2B5EF4-FFF2-40B4-BE49-F238E27FC236}">
                <a16:creationId xmlns:a16="http://schemas.microsoft.com/office/drawing/2014/main" id="{AF4DBBCA-471C-4BE3-B718-A8D1982DA758}"/>
              </a:ext>
            </a:extLst>
          </p:cNvPr>
          <p:cNvCxnSpPr>
            <a:cxnSpLocks/>
          </p:cNvCxnSpPr>
          <p:nvPr/>
        </p:nvCxnSpPr>
        <p:spPr>
          <a:xfrm>
            <a:off x="1101028" y="3429057"/>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1017527-10C6-4417-BBEF-8C512552C766}"/>
                  </a:ext>
                </a:extLst>
              </p:cNvPr>
              <p:cNvSpPr txBox="1"/>
              <p:nvPr/>
            </p:nvSpPr>
            <p:spPr>
              <a:xfrm>
                <a:off x="2501592" y="3812534"/>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=1</m:t>
                      </m:r>
                    </m:oMath>
                  </m:oMathPara>
                </a14:m>
                <a:endParaRPr lang="en-GB" sz="1350" dirty="0">
                  <a:solidFill>
                    <a:prstClr val="black"/>
                  </a:solidFill>
                  <a:latin typeface="Calibri" panose="020F0502020204030204"/>
                  <a:ea typeface="+mn-ea"/>
                </a:endParaRPr>
              </a:p>
            </p:txBody>
          </p:sp>
        </mc:Choice>
        <mc:Fallback xmlns="">
          <p:sp>
            <p:nvSpPr>
              <p:cNvPr id="15" name="TextBox 14">
                <a:extLst>
                  <a:ext uri="{FF2B5EF4-FFF2-40B4-BE49-F238E27FC236}">
                    <a16:creationId xmlns:a16="http://schemas.microsoft.com/office/drawing/2014/main" id="{C1017527-10C6-4417-BBEF-8C512552C766}"/>
                  </a:ext>
                </a:extLst>
              </p:cNvPr>
              <p:cNvSpPr txBox="1">
                <a:spLocks noRot="1" noChangeAspect="1" noMove="1" noResize="1" noEditPoints="1" noAdjustHandles="1" noChangeArrowheads="1" noChangeShapeType="1" noTextEdit="1"/>
              </p:cNvSpPr>
              <p:nvPr/>
            </p:nvSpPr>
            <p:spPr>
              <a:xfrm>
                <a:off x="2501592" y="3812534"/>
                <a:ext cx="630848" cy="300082"/>
              </a:xfrm>
              <a:prstGeom prst="rect">
                <a:avLst/>
              </a:prstGeom>
              <a:blipFill>
                <a:blip r:embed="rId8"/>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DB82E86-2861-449C-89E6-8D8552289E32}"/>
                  </a:ext>
                </a:extLst>
              </p:cNvPr>
              <p:cNvSpPr txBox="1"/>
              <p:nvPr/>
            </p:nvSpPr>
            <p:spPr>
              <a:xfrm>
                <a:off x="4204072" y="3814472"/>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=2</m:t>
                      </m:r>
                    </m:oMath>
                  </m:oMathPara>
                </a14:m>
                <a:endParaRPr lang="en-GB" sz="1350" dirty="0">
                  <a:solidFill>
                    <a:prstClr val="black"/>
                  </a:solidFill>
                  <a:latin typeface="Calibri" panose="020F0502020204030204"/>
                  <a:ea typeface="+mn-ea"/>
                </a:endParaRPr>
              </a:p>
            </p:txBody>
          </p:sp>
        </mc:Choice>
        <mc:Fallback xmlns="">
          <p:sp>
            <p:nvSpPr>
              <p:cNvPr id="16" name="TextBox 15">
                <a:extLst>
                  <a:ext uri="{FF2B5EF4-FFF2-40B4-BE49-F238E27FC236}">
                    <a16:creationId xmlns:a16="http://schemas.microsoft.com/office/drawing/2014/main" id="{BDB82E86-2861-449C-89E6-8D8552289E32}"/>
                  </a:ext>
                </a:extLst>
              </p:cNvPr>
              <p:cNvSpPr txBox="1">
                <a:spLocks noRot="1" noChangeAspect="1" noMove="1" noResize="1" noEditPoints="1" noAdjustHandles="1" noChangeArrowheads="1" noChangeShapeType="1" noTextEdit="1"/>
              </p:cNvSpPr>
              <p:nvPr/>
            </p:nvSpPr>
            <p:spPr>
              <a:xfrm>
                <a:off x="4204072" y="3814472"/>
                <a:ext cx="630848" cy="300082"/>
              </a:xfrm>
              <a:prstGeom prst="rect">
                <a:avLst/>
              </a:prstGeom>
              <a:blipFill>
                <a:blip r:embed="rId9"/>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849ED76-50FB-4392-A405-E40745FE8AD7}"/>
                  </a:ext>
                </a:extLst>
              </p:cNvPr>
              <p:cNvSpPr txBox="1"/>
              <p:nvPr/>
            </p:nvSpPr>
            <p:spPr>
              <a:xfrm>
                <a:off x="4013243" y="3014019"/>
                <a:ext cx="1004052"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146.60</m:t>
                      </m:r>
                      <m:r>
                        <a:rPr lang="en-GB" sz="1500" i="1">
                          <a:latin typeface="Cambria Math" panose="02040503050406030204" pitchFamily="18" charset="0"/>
                        </a:rPr>
                        <m:t>𝑝</m:t>
                      </m:r>
                    </m:oMath>
                  </m:oMathPara>
                </a14:m>
                <a:endParaRPr lang="en-GB" sz="1500" dirty="0"/>
              </a:p>
            </p:txBody>
          </p:sp>
        </mc:Choice>
        <mc:Fallback xmlns="">
          <p:sp>
            <p:nvSpPr>
              <p:cNvPr id="32" name="TextBox 31">
                <a:extLst>
                  <a:ext uri="{FF2B5EF4-FFF2-40B4-BE49-F238E27FC236}">
                    <a16:creationId xmlns:a16="http://schemas.microsoft.com/office/drawing/2014/main" id="{7849ED76-50FB-4392-A405-E40745FE8AD7}"/>
                  </a:ext>
                </a:extLst>
              </p:cNvPr>
              <p:cNvSpPr txBox="1">
                <a:spLocks noRot="1" noChangeAspect="1" noMove="1" noResize="1" noEditPoints="1" noAdjustHandles="1" noChangeArrowheads="1" noChangeShapeType="1" noTextEdit="1"/>
              </p:cNvSpPr>
              <p:nvPr/>
            </p:nvSpPr>
            <p:spPr>
              <a:xfrm>
                <a:off x="4013243" y="3014019"/>
                <a:ext cx="1004052" cy="323165"/>
              </a:xfrm>
              <a:prstGeom prst="rect">
                <a:avLst/>
              </a:prstGeom>
              <a:blipFill>
                <a:blip r:embed="rId10"/>
                <a:stretch>
                  <a:fillRect b="-1132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AC27355-19EA-4BCE-8780-1D5BEC78DBD2}"/>
                  </a:ext>
                </a:extLst>
              </p:cNvPr>
              <p:cNvSpPr txBox="1"/>
              <p:nvPr/>
            </p:nvSpPr>
            <p:spPr>
              <a:xfrm>
                <a:off x="5719949" y="3028168"/>
                <a:ext cx="1004052"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dirty="0">
                          <a:latin typeface="Cambria Math" panose="02040503050406030204" pitchFamily="18" charset="0"/>
                        </a:rPr>
                        <m:t>…</m:t>
                      </m:r>
                    </m:oMath>
                  </m:oMathPara>
                </a14:m>
                <a:endParaRPr lang="en-GB" sz="1500" dirty="0"/>
              </a:p>
            </p:txBody>
          </p:sp>
        </mc:Choice>
        <mc:Fallback xmlns="">
          <p:sp>
            <p:nvSpPr>
              <p:cNvPr id="33" name="TextBox 32">
                <a:extLst>
                  <a:ext uri="{FF2B5EF4-FFF2-40B4-BE49-F238E27FC236}">
                    <a16:creationId xmlns:a16="http://schemas.microsoft.com/office/drawing/2014/main" id="{DAC27355-19EA-4BCE-8780-1D5BEC78DBD2}"/>
                  </a:ext>
                </a:extLst>
              </p:cNvPr>
              <p:cNvSpPr txBox="1">
                <a:spLocks noRot="1" noChangeAspect="1" noMove="1" noResize="1" noEditPoints="1" noAdjustHandles="1" noChangeArrowheads="1" noChangeShapeType="1" noTextEdit="1"/>
              </p:cNvSpPr>
              <p:nvPr/>
            </p:nvSpPr>
            <p:spPr>
              <a:xfrm>
                <a:off x="5719949" y="3028168"/>
                <a:ext cx="1004052" cy="323165"/>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07170BE-0D74-48E7-9E69-EDC063A76ABE}"/>
                  </a:ext>
                </a:extLst>
              </p:cNvPr>
              <p:cNvSpPr txBox="1"/>
              <p:nvPr/>
            </p:nvSpPr>
            <p:spPr>
              <a:xfrm>
                <a:off x="7428743" y="3027651"/>
                <a:ext cx="1004052"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146.60</m:t>
                      </m:r>
                      <m:r>
                        <a:rPr lang="en-GB" sz="1500" i="1">
                          <a:latin typeface="Cambria Math" panose="02040503050406030204" pitchFamily="18" charset="0"/>
                        </a:rPr>
                        <m:t>𝑝</m:t>
                      </m:r>
                    </m:oMath>
                  </m:oMathPara>
                </a14:m>
                <a:endParaRPr lang="en-GB" sz="1500" dirty="0"/>
              </a:p>
            </p:txBody>
          </p:sp>
        </mc:Choice>
        <mc:Fallback xmlns="">
          <p:sp>
            <p:nvSpPr>
              <p:cNvPr id="34" name="TextBox 33">
                <a:extLst>
                  <a:ext uri="{FF2B5EF4-FFF2-40B4-BE49-F238E27FC236}">
                    <a16:creationId xmlns:a16="http://schemas.microsoft.com/office/drawing/2014/main" id="{F07170BE-0D74-48E7-9E69-EDC063A76ABE}"/>
                  </a:ext>
                </a:extLst>
              </p:cNvPr>
              <p:cNvSpPr txBox="1">
                <a:spLocks noRot="1" noChangeAspect="1" noMove="1" noResize="1" noEditPoints="1" noAdjustHandles="1" noChangeArrowheads="1" noChangeShapeType="1" noTextEdit="1"/>
              </p:cNvSpPr>
              <p:nvPr/>
            </p:nvSpPr>
            <p:spPr>
              <a:xfrm>
                <a:off x="7428743" y="3027651"/>
                <a:ext cx="1004052" cy="323165"/>
              </a:xfrm>
              <a:prstGeom prst="rect">
                <a:avLst/>
              </a:prstGeom>
              <a:blipFill>
                <a:blip r:embed="rId12"/>
                <a:stretch>
                  <a:fillRect b="-1132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D4C44E0-F61E-48AC-B864-C8061DF4079B}"/>
                  </a:ext>
                </a:extLst>
              </p:cNvPr>
              <p:cNvSpPr txBox="1"/>
              <p:nvPr/>
            </p:nvSpPr>
            <p:spPr>
              <a:xfrm>
                <a:off x="2402957" y="3034882"/>
                <a:ext cx="1004052"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146.60</m:t>
                      </m:r>
                      <m:r>
                        <a:rPr lang="en-GB" sz="1500" i="1">
                          <a:latin typeface="Cambria Math" panose="02040503050406030204" pitchFamily="18" charset="0"/>
                        </a:rPr>
                        <m:t>𝑝</m:t>
                      </m:r>
                    </m:oMath>
                  </m:oMathPara>
                </a14:m>
                <a:endParaRPr lang="en-GB" sz="1500" dirty="0"/>
              </a:p>
            </p:txBody>
          </p:sp>
        </mc:Choice>
        <mc:Fallback xmlns="">
          <p:sp>
            <p:nvSpPr>
              <p:cNvPr id="37" name="TextBox 36">
                <a:extLst>
                  <a:ext uri="{FF2B5EF4-FFF2-40B4-BE49-F238E27FC236}">
                    <a16:creationId xmlns:a16="http://schemas.microsoft.com/office/drawing/2014/main" id="{4D4C44E0-F61E-48AC-B864-C8061DF4079B}"/>
                  </a:ext>
                </a:extLst>
              </p:cNvPr>
              <p:cNvSpPr txBox="1">
                <a:spLocks noRot="1" noChangeAspect="1" noMove="1" noResize="1" noEditPoints="1" noAdjustHandles="1" noChangeArrowheads="1" noChangeShapeType="1" noTextEdit="1"/>
              </p:cNvSpPr>
              <p:nvPr/>
            </p:nvSpPr>
            <p:spPr>
              <a:xfrm>
                <a:off x="2402957" y="3034882"/>
                <a:ext cx="1004052" cy="323165"/>
              </a:xfrm>
              <a:prstGeom prst="rect">
                <a:avLst/>
              </a:prstGeom>
              <a:blipFill>
                <a:blip r:embed="rId13"/>
                <a:stretch>
                  <a:fillRect b="-11321"/>
                </a:stretch>
              </a:blipFill>
            </p:spPr>
            <p:txBody>
              <a:bodyPr/>
              <a:lstStyle/>
              <a:p>
                <a:r>
                  <a:rPr lang="en-GB">
                    <a:noFill/>
                  </a:rPr>
                  <a:t> </a:t>
                </a:r>
              </a:p>
            </p:txBody>
          </p:sp>
        </mc:Fallback>
      </mc:AlternateContent>
    </p:spTree>
    <p:extLst>
      <p:ext uri="{BB962C8B-B14F-4D97-AF65-F5344CB8AC3E}">
        <p14:creationId xmlns:p14="http://schemas.microsoft.com/office/powerpoint/2010/main" val="3305289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500" fill="hold"/>
                                        <p:tgtEl>
                                          <p:spTgt spid="14"/>
                                        </p:tgtEl>
                                        <p:attrNameLst>
                                          <p:attrName>ppt_w</p:attrName>
                                        </p:attrNameLst>
                                      </p:cBhvr>
                                      <p:tavLst>
                                        <p:tav tm="0">
                                          <p:val>
                                            <p:fltVal val="0"/>
                                          </p:val>
                                        </p:tav>
                                        <p:tav tm="100000">
                                          <p:val>
                                            <p:strVal val="#ppt_w"/>
                                          </p:val>
                                        </p:tav>
                                      </p:tavLst>
                                    </p:anim>
                                    <p:anim calcmode="lin" valueType="num">
                                      <p:cBhvr>
                                        <p:cTn id="19" dur="500" fill="hold"/>
                                        <p:tgtEl>
                                          <p:spTgt spid="14"/>
                                        </p:tgtEl>
                                        <p:attrNameLst>
                                          <p:attrName>ppt_h</p:attrName>
                                        </p:attrNameLst>
                                      </p:cBhvr>
                                      <p:tavLst>
                                        <p:tav tm="0">
                                          <p:val>
                                            <p:fltVal val="0"/>
                                          </p:val>
                                        </p:tav>
                                        <p:tav tm="100000">
                                          <p:val>
                                            <p:strVal val="#ppt_h"/>
                                          </p:val>
                                        </p:tav>
                                      </p:tavLst>
                                    </p:anim>
                                    <p:animEffect transition="in" filter="fade">
                                      <p:cBhvr>
                                        <p:cTn id="20" dur="500"/>
                                        <p:tgtEl>
                                          <p:spTgt spid="14"/>
                                        </p:tgtEl>
                                      </p:cBhvr>
                                    </p:animEffect>
                                  </p:childTnLst>
                                </p:cTn>
                              </p:par>
                              <p:par>
                                <p:cTn id="21" presetID="53" presetClass="entr" presetSubtype="16"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par>
                                <p:cTn id="26" presetID="53" presetClass="entr" presetSubtype="16"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 calcmode="lin" valueType="num">
                                      <p:cBhvr additive="base">
                                        <p:cTn id="47" dur="500" fill="hold"/>
                                        <p:tgtEl>
                                          <p:spTgt spid="37"/>
                                        </p:tgtEl>
                                        <p:attrNameLst>
                                          <p:attrName>ppt_x</p:attrName>
                                        </p:attrNameLst>
                                      </p:cBhvr>
                                      <p:tavLst>
                                        <p:tav tm="0">
                                          <p:val>
                                            <p:strVal val="#ppt_x"/>
                                          </p:val>
                                        </p:tav>
                                        <p:tav tm="100000">
                                          <p:val>
                                            <p:strVal val="#ppt_x"/>
                                          </p:val>
                                        </p:tav>
                                      </p:tavLst>
                                    </p:anim>
                                    <p:anim calcmode="lin" valueType="num">
                                      <p:cBhvr additive="base">
                                        <p:cTn id="4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2"/>
                                        </p:tgtEl>
                                        <p:attrNameLst>
                                          <p:attrName>style.visibility</p:attrName>
                                        </p:attrNameLst>
                                      </p:cBhvr>
                                      <p:to>
                                        <p:strVal val="visible"/>
                                      </p:to>
                                    </p:set>
                                    <p:anim calcmode="lin" valueType="num">
                                      <p:cBhvr additive="base">
                                        <p:cTn id="53" dur="500" fill="hold"/>
                                        <p:tgtEl>
                                          <p:spTgt spid="32"/>
                                        </p:tgtEl>
                                        <p:attrNameLst>
                                          <p:attrName>ppt_x</p:attrName>
                                        </p:attrNameLst>
                                      </p:cBhvr>
                                      <p:tavLst>
                                        <p:tav tm="0">
                                          <p:val>
                                            <p:strVal val="#ppt_x"/>
                                          </p:val>
                                        </p:tav>
                                        <p:tav tm="100000">
                                          <p:val>
                                            <p:strVal val="#ppt_x"/>
                                          </p:val>
                                        </p:tav>
                                      </p:tavLst>
                                    </p:anim>
                                    <p:anim calcmode="lin" valueType="num">
                                      <p:cBhvr additive="base">
                                        <p:cTn id="5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33"/>
                                        </p:tgtEl>
                                        <p:attrNameLst>
                                          <p:attrName>style.visibility</p:attrName>
                                        </p:attrNameLst>
                                      </p:cBhvr>
                                      <p:to>
                                        <p:strVal val="visible"/>
                                      </p:to>
                                    </p:set>
                                    <p:anim calcmode="lin" valueType="num">
                                      <p:cBhvr additive="base">
                                        <p:cTn id="59" dur="500" fill="hold"/>
                                        <p:tgtEl>
                                          <p:spTgt spid="33"/>
                                        </p:tgtEl>
                                        <p:attrNameLst>
                                          <p:attrName>ppt_x</p:attrName>
                                        </p:attrNameLst>
                                      </p:cBhvr>
                                      <p:tavLst>
                                        <p:tav tm="0">
                                          <p:val>
                                            <p:strVal val="#ppt_x"/>
                                          </p:val>
                                        </p:tav>
                                        <p:tav tm="100000">
                                          <p:val>
                                            <p:strVal val="#ppt_x"/>
                                          </p:val>
                                        </p:tav>
                                      </p:tavLst>
                                    </p:anim>
                                    <p:anim calcmode="lin" valueType="num">
                                      <p:cBhvr additive="base">
                                        <p:cTn id="6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anim calcmode="lin" valueType="num">
                                      <p:cBhvr additive="base">
                                        <p:cTn id="65" dur="500" fill="hold"/>
                                        <p:tgtEl>
                                          <p:spTgt spid="34"/>
                                        </p:tgtEl>
                                        <p:attrNameLst>
                                          <p:attrName>ppt_x</p:attrName>
                                        </p:attrNameLst>
                                      </p:cBhvr>
                                      <p:tavLst>
                                        <p:tav tm="0">
                                          <p:val>
                                            <p:strVal val="#ppt_x"/>
                                          </p:val>
                                        </p:tav>
                                        <p:tav tm="100000">
                                          <p:val>
                                            <p:strVal val="#ppt_x"/>
                                          </p:val>
                                        </p:tav>
                                      </p:tavLst>
                                    </p:anim>
                                    <p:anim calcmode="lin" valueType="num">
                                      <p:cBhvr additive="base">
                                        <p:cTn id="6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3">
                                            <p:txEl>
                                              <p:pRg st="6" end="6"/>
                                            </p:txEl>
                                          </p:spTgt>
                                        </p:tgtEl>
                                        <p:attrNameLst>
                                          <p:attrName>style.visibility</p:attrName>
                                        </p:attrNameLst>
                                      </p:cBhvr>
                                      <p:to>
                                        <p:strVal val="visible"/>
                                      </p:to>
                                    </p:set>
                                    <p:anim calcmode="lin" valueType="num">
                                      <p:cBhvr additive="base">
                                        <p:cTn id="7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
                                            <p:txEl>
                                              <p:pRg st="7" end="7"/>
                                            </p:txEl>
                                          </p:spTgt>
                                        </p:tgtEl>
                                        <p:attrNameLst>
                                          <p:attrName>style.visibility</p:attrName>
                                        </p:attrNameLst>
                                      </p:cBhvr>
                                      <p:to>
                                        <p:strVal val="visible"/>
                                      </p:to>
                                    </p:set>
                                    <p:anim calcmode="lin" valueType="num">
                                      <p:cBhvr additive="base">
                                        <p:cTn id="7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5" grpId="0"/>
      <p:bldP spid="16" grpId="0"/>
      <p:bldP spid="32" grpId="0"/>
      <p:bldP spid="33" grpId="0"/>
      <p:bldP spid="34" grpId="0"/>
      <p:bldP spid="3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266700" y="966888"/>
                <a:ext cx="7886700" cy="634117"/>
              </a:xfrm>
            </p:spPr>
            <p:txBody>
              <a:bodyPr>
                <a:normAutofit/>
              </a:bodyPr>
              <a:lstStyle/>
              <a:p>
                <a:r>
                  <a:rPr lang="en-GB" dirty="0"/>
                  <a:t>Share Value – Constant </a:t>
                </a:r>
                <a14:m>
                  <m:oMath xmlns:m="http://schemas.openxmlformats.org/officeDocument/2006/math">
                    <m:r>
                      <a:rPr lang="en-GB" i="1">
                        <a:latin typeface="Cambria Math" panose="02040503050406030204" pitchFamily="18" charset="0"/>
                      </a:rPr>
                      <m:t>𝐷</m:t>
                    </m:r>
                  </m:oMath>
                </a14:m>
                <a:endParaRPr lang="en-GB"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266700" y="966888"/>
                <a:ext cx="7886700" cy="634117"/>
              </a:xfrm>
              <a:blipFill>
                <a:blip r:embed="rId3"/>
                <a:stretch>
                  <a:fillRect l="-2628" t="-163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8591550" cy="4005724"/>
              </a:xfrm>
            </p:spPr>
            <p:txBody>
              <a:bodyPr>
                <a:normAutofit/>
              </a:bodyPr>
              <a:lstStyle/>
              <a:p>
                <a:pPr algn="just">
                  <a:spcBef>
                    <a:spcPts val="1350"/>
                  </a:spcBef>
                  <a:buClr>
                    <a:srgbClr val="C00000"/>
                  </a:buClr>
                  <a:buSzPct val="90000"/>
                </a:pPr>
                <a:r>
                  <a:rPr lang="en-GB" sz="1950" dirty="0">
                    <a:ea typeface="Cambria Math" panose="02040503050406030204" pitchFamily="18" charset="0"/>
                  </a:rPr>
                  <a:t>In this scenario, the </a:t>
                </a:r>
                <a:r>
                  <a:rPr lang="en-GB" sz="1950" i="1" dirty="0">
                    <a:ea typeface="Cambria Math" panose="02040503050406030204" pitchFamily="18" charset="0"/>
                  </a:rPr>
                  <a:t>fair </a:t>
                </a:r>
                <a:r>
                  <a:rPr lang="en-GB" sz="1950" dirty="0">
                    <a:ea typeface="Cambria Math" panose="02040503050406030204" pitchFamily="18" charset="0"/>
                  </a:rPr>
                  <a:t>value of a share is the present value of:</a:t>
                </a:r>
              </a:p>
              <a:p>
                <a:pPr lvl="1">
                  <a:spcBef>
                    <a:spcPts val="450"/>
                  </a:spcBef>
                  <a:buClr>
                    <a:srgbClr val="C00000"/>
                  </a:buClr>
                  <a:buSzPct val="90000"/>
                  <a:buFont typeface="Calibri" panose="020F0502020204030204" pitchFamily="34" charset="0"/>
                  <a:buChar char="─"/>
                </a:pPr>
                <a:r>
                  <a:rPr lang="en-GB" sz="1950" dirty="0">
                    <a:ea typeface="Cambria Math" panose="02040503050406030204" pitchFamily="18" charset="0"/>
                  </a:rPr>
                  <a:t>The perpetuity of dividends, starting from next year’s dividend</a:t>
                </a:r>
                <a14:m>
                  <m:oMath xmlns:m="http://schemas.openxmlformats.org/officeDocument/2006/math">
                    <m:r>
                      <a:rPr lang="en-GB" sz="1950" i="1">
                        <a:latin typeface="Cambria Math" panose="02040503050406030204" pitchFamily="18" charset="0"/>
                        <a:ea typeface="Cambria Math" panose="02040503050406030204" pitchFamily="18" charset="0"/>
                      </a:rPr>
                      <m:t> </m:t>
                    </m:r>
                    <m:sSub>
                      <m:sSubPr>
                        <m:ctrlPr>
                          <a:rPr lang="en-GB" sz="1950" i="1">
                            <a:latin typeface="Cambria Math" panose="02040503050406030204" pitchFamily="18" charset="0"/>
                            <a:ea typeface="Cambria Math" panose="02040503050406030204" pitchFamily="18" charset="0"/>
                          </a:rPr>
                        </m:ctrlPr>
                      </m:sSubPr>
                      <m:e>
                        <m:r>
                          <a:rPr lang="en-GB" sz="1950" i="1">
                            <a:latin typeface="Cambria Math" panose="02040503050406030204" pitchFamily="18" charset="0"/>
                            <a:ea typeface="Cambria Math" panose="02040503050406030204" pitchFamily="18" charset="0"/>
                          </a:rPr>
                          <m:t>𝐷</m:t>
                        </m:r>
                      </m:e>
                      <m:sub>
                        <m:r>
                          <a:rPr lang="en-GB" sz="1950" i="1">
                            <a:latin typeface="Cambria Math" panose="02040503050406030204" pitchFamily="18" charset="0"/>
                            <a:ea typeface="Cambria Math" panose="02040503050406030204" pitchFamily="18" charset="0"/>
                          </a:rPr>
                          <m:t>1</m:t>
                        </m:r>
                      </m:sub>
                    </m:sSub>
                    <m:r>
                      <a:rPr lang="en-GB" sz="1950" i="1">
                        <a:latin typeface="Cambria Math" panose="02040503050406030204" pitchFamily="18" charset="0"/>
                        <a:ea typeface="Cambria Math" panose="02040503050406030204" pitchFamily="18" charset="0"/>
                      </a:rPr>
                      <m:t>.</m:t>
                    </m:r>
                  </m:oMath>
                </a14:m>
                <a:endParaRPr lang="en-GB" sz="1950" dirty="0">
                  <a:ea typeface="Cambria Math" panose="02040503050406030204" pitchFamily="18" charset="0"/>
                </a:endParaRPr>
              </a:p>
              <a:p>
                <a:pPr marL="0" lvl="1" indent="0">
                  <a:spcBef>
                    <a:spcPts val="1350"/>
                  </a:spcBef>
                  <a:buClr>
                    <a:srgbClr val="C00000"/>
                  </a:buClr>
                  <a:buSzPct val="90000"/>
                  <a:buNone/>
                </a:pPr>
                <a:r>
                  <a:rPr lang="en-GB" sz="1950" dirty="0">
                    <a:ea typeface="Cambria Math" panose="02040503050406030204" pitchFamily="18" charset="0"/>
                  </a:rPr>
                  <a:t>at a discount rate </a:t>
                </a:r>
                <a14:m>
                  <m:oMath xmlns:m="http://schemas.openxmlformats.org/officeDocument/2006/math">
                    <m:r>
                      <a:rPr lang="en-GB" sz="1950" i="1">
                        <a:latin typeface="Cambria Math" panose="02040503050406030204" pitchFamily="18" charset="0"/>
                        <a:ea typeface="Cambria Math" panose="02040503050406030204" pitchFamily="18" charset="0"/>
                      </a:rPr>
                      <m:t>𝑟</m:t>
                    </m:r>
                  </m:oMath>
                </a14:m>
                <a:r>
                  <a:rPr lang="en-GB" sz="1950" dirty="0">
                    <a:ea typeface="Cambria Math" panose="02040503050406030204" pitchFamily="18" charset="0"/>
                  </a:rPr>
                  <a:t>.</a:t>
                </a:r>
              </a:p>
              <a:p>
                <a:pPr marL="0" lvl="1" indent="0">
                  <a:spcBef>
                    <a:spcPts val="1350"/>
                  </a:spcBef>
                  <a:buClr>
                    <a:srgbClr val="C00000"/>
                  </a:buClr>
                  <a:buSzPct val="90000"/>
                  <a:buNone/>
                </a:pPr>
                <a14:m>
                  <m:oMathPara xmlns:m="http://schemas.openxmlformats.org/officeDocument/2006/math">
                    <m:oMathParaPr>
                      <m:jc m:val="centerGroup"/>
                    </m:oMathParaPr>
                    <m:oMath xmlns:m="http://schemas.openxmlformats.org/officeDocument/2006/math">
                      <m:sSub>
                        <m:sSubPr>
                          <m:ctrlPr>
                            <a:rPr lang="en-GB" sz="1950" i="1">
                              <a:solidFill>
                                <a:schemeClr val="accent5">
                                  <a:lumMod val="75000"/>
                                </a:schemeClr>
                              </a:solidFill>
                              <a:latin typeface="Cambria Math" panose="02040503050406030204" pitchFamily="18" charset="0"/>
                              <a:ea typeface="Cambria Math" panose="02040503050406030204" pitchFamily="18" charset="0"/>
                            </a:rPr>
                          </m:ctrlPr>
                        </m:sSubPr>
                        <m:e>
                          <m:r>
                            <a:rPr lang="en-GB" sz="1950" i="1">
                              <a:solidFill>
                                <a:schemeClr val="accent5">
                                  <a:lumMod val="75000"/>
                                </a:schemeClr>
                              </a:solidFill>
                              <a:latin typeface="Cambria Math" panose="02040503050406030204" pitchFamily="18" charset="0"/>
                              <a:ea typeface="Cambria Math" panose="02040503050406030204" pitchFamily="18" charset="0"/>
                            </a:rPr>
                            <m:t>𝑃</m:t>
                          </m:r>
                        </m:e>
                        <m:sub>
                          <m:r>
                            <a:rPr lang="en-GB" sz="1950" i="1">
                              <a:solidFill>
                                <a:schemeClr val="accent5">
                                  <a:lumMod val="75000"/>
                                </a:schemeClr>
                              </a:solidFill>
                              <a:latin typeface="Cambria Math" panose="02040503050406030204" pitchFamily="18" charset="0"/>
                              <a:ea typeface="Cambria Math" panose="02040503050406030204" pitchFamily="18" charset="0"/>
                            </a:rPr>
                            <m:t>0</m:t>
                          </m:r>
                        </m:sub>
                      </m:sSub>
                      <m:r>
                        <a:rPr lang="en-GB" sz="1950" i="1">
                          <a:solidFill>
                            <a:schemeClr val="accent5">
                              <a:lumMod val="75000"/>
                            </a:schemeClr>
                          </a:solidFill>
                          <a:latin typeface="Cambria Math" panose="02040503050406030204" pitchFamily="18" charset="0"/>
                          <a:ea typeface="Cambria Math" panose="02040503050406030204" pitchFamily="18" charset="0"/>
                        </a:rPr>
                        <m:t>=</m:t>
                      </m:r>
                      <m:f>
                        <m:fPr>
                          <m:ctrlPr>
                            <a:rPr lang="en-GB" sz="1950" i="1">
                              <a:solidFill>
                                <a:schemeClr val="accent5">
                                  <a:lumMod val="75000"/>
                                </a:schemeClr>
                              </a:solidFill>
                              <a:latin typeface="Cambria Math" panose="02040503050406030204" pitchFamily="18" charset="0"/>
                              <a:ea typeface="Cambria Math" panose="02040503050406030204" pitchFamily="18" charset="0"/>
                            </a:rPr>
                          </m:ctrlPr>
                        </m:fPr>
                        <m:num>
                          <m:sSub>
                            <m:sSubPr>
                              <m:ctrlPr>
                                <a:rPr lang="en-GB" sz="1950" i="1">
                                  <a:solidFill>
                                    <a:schemeClr val="accent5">
                                      <a:lumMod val="75000"/>
                                    </a:schemeClr>
                                  </a:solidFill>
                                  <a:latin typeface="Cambria Math" panose="02040503050406030204" pitchFamily="18" charset="0"/>
                                  <a:ea typeface="Cambria Math" panose="02040503050406030204" pitchFamily="18" charset="0"/>
                                </a:rPr>
                              </m:ctrlPr>
                            </m:sSubPr>
                            <m:e>
                              <m:r>
                                <a:rPr lang="en-GB" sz="1950" i="1">
                                  <a:solidFill>
                                    <a:schemeClr val="accent5">
                                      <a:lumMod val="75000"/>
                                    </a:schemeClr>
                                  </a:solidFill>
                                  <a:latin typeface="Cambria Math" panose="02040503050406030204" pitchFamily="18" charset="0"/>
                                  <a:ea typeface="Cambria Math" panose="02040503050406030204" pitchFamily="18" charset="0"/>
                                </a:rPr>
                                <m:t>𝐷</m:t>
                              </m:r>
                            </m:e>
                            <m:sub>
                              <m:r>
                                <a:rPr lang="en-GB" sz="1950" i="1">
                                  <a:solidFill>
                                    <a:schemeClr val="accent5">
                                      <a:lumMod val="75000"/>
                                    </a:schemeClr>
                                  </a:solidFill>
                                  <a:latin typeface="Cambria Math" panose="02040503050406030204" pitchFamily="18" charset="0"/>
                                  <a:ea typeface="Cambria Math" panose="02040503050406030204" pitchFamily="18" charset="0"/>
                                </a:rPr>
                                <m:t>1</m:t>
                              </m:r>
                            </m:sub>
                          </m:sSub>
                        </m:num>
                        <m:den>
                          <m:r>
                            <a:rPr lang="en-GB" sz="1950" i="1">
                              <a:solidFill>
                                <a:schemeClr val="accent5">
                                  <a:lumMod val="75000"/>
                                </a:schemeClr>
                              </a:solidFill>
                              <a:latin typeface="Cambria Math" panose="02040503050406030204" pitchFamily="18" charset="0"/>
                              <a:ea typeface="Cambria Math" panose="02040503050406030204" pitchFamily="18" charset="0"/>
                            </a:rPr>
                            <m:t>𝑟</m:t>
                          </m:r>
                        </m:den>
                      </m:f>
                    </m:oMath>
                  </m:oMathPara>
                </a14:m>
                <a:endParaRPr lang="en-GB" sz="1950" i="1" dirty="0">
                  <a:ea typeface="Cambria Math" panose="02040503050406030204" pitchFamily="18" charset="0"/>
                </a:endParaRPr>
              </a:p>
              <a:p>
                <a:pPr marL="0" lvl="1" indent="0">
                  <a:spcBef>
                    <a:spcPts val="1350"/>
                  </a:spcBef>
                  <a:buClr>
                    <a:srgbClr val="C00000"/>
                  </a:buClr>
                  <a:buSzPct val="90000"/>
                  <a:buNone/>
                </a:pPr>
                <a:endParaRPr lang="en-GB" sz="1950" dirty="0">
                  <a:solidFill>
                    <a:schemeClr val="accent5">
                      <a:lumMod val="75000"/>
                    </a:schemeClr>
                  </a:solidFill>
                  <a:ea typeface="Cambria Math" panose="02040503050406030204" pitchFamily="18" charset="0"/>
                </a:endParaRPr>
              </a:p>
              <a:p>
                <a:pPr marL="0" indent="0" algn="just">
                  <a:spcBef>
                    <a:spcPts val="1350"/>
                  </a:spcBef>
                  <a:buClr>
                    <a:srgbClr val="C00000"/>
                  </a:buClr>
                  <a:buSzPct val="90000"/>
                  <a:buNone/>
                </a:pPr>
                <a:r>
                  <a:rPr lang="en-GB" sz="1800" b="1" dirty="0">
                    <a:solidFill>
                      <a:schemeClr val="accent5">
                        <a:lumMod val="75000"/>
                      </a:schemeClr>
                    </a:solidFill>
                    <a:ea typeface="Cambria Math" panose="02040503050406030204" pitchFamily="18" charset="0"/>
                  </a:rPr>
                  <a:t>Example: </a:t>
                </a:r>
                <a:r>
                  <a:rPr lang="en-GB" sz="1800" dirty="0"/>
                  <a:t>Imperial shares are known to pay a constant dividend of 206.57p per share and are expected to keep paying the same dividend in the future.</a:t>
                </a:r>
              </a:p>
              <a:p>
                <a:pPr marL="0" indent="0" algn="just">
                  <a:spcBef>
                    <a:spcPts val="1350"/>
                  </a:spcBef>
                  <a:buClr>
                    <a:srgbClr val="C00000"/>
                  </a:buClr>
                  <a:buSzPct val="90000"/>
                  <a:buNone/>
                </a:pPr>
                <a:r>
                  <a:rPr lang="en-GB" sz="1800" dirty="0"/>
                  <a:t>Using a discount rate of 5%, what is the </a:t>
                </a:r>
                <a:r>
                  <a:rPr lang="en-GB" sz="1800" i="1" dirty="0"/>
                  <a:t>fair value </a:t>
                </a:r>
                <a:r>
                  <a:rPr lang="en-GB" sz="1800" dirty="0"/>
                  <a:t>of Imperial Brands A shares?</a:t>
                </a:r>
              </a:p>
              <a:p>
                <a:pPr marL="0" lvl="1" indent="0">
                  <a:spcBef>
                    <a:spcPts val="1350"/>
                  </a:spcBef>
                  <a:buClr>
                    <a:srgbClr val="C00000"/>
                  </a:buClr>
                  <a:buSzPct val="90000"/>
                  <a:buNone/>
                </a:pPr>
                <a:endParaRPr lang="en-GB" sz="1950"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8591550" cy="4005724"/>
              </a:xfrm>
              <a:blipFill>
                <a:blip r:embed="rId4"/>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14</a:t>
            </a:fld>
            <a:endParaRPr lang="en-GB" sz="1350" dirty="0">
              <a:solidFill>
                <a:prstClr val="black">
                  <a:lumMod val="50000"/>
                  <a:lumOff val="50000"/>
                </a:prstClr>
              </a:solidFill>
              <a:latin typeface="Calibri" panose="020F0502020204030204"/>
              <a:ea typeface="+mn-ea"/>
            </a:endParaRPr>
          </a:p>
        </p:txBody>
      </p:sp>
    </p:spTree>
    <p:extLst>
      <p:ext uri="{BB962C8B-B14F-4D97-AF65-F5344CB8AC3E}">
        <p14:creationId xmlns:p14="http://schemas.microsoft.com/office/powerpoint/2010/main" val="3303847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266700" y="966888"/>
                <a:ext cx="7886700" cy="634117"/>
              </a:xfrm>
            </p:spPr>
            <p:txBody>
              <a:bodyPr>
                <a:normAutofit/>
              </a:bodyPr>
              <a:lstStyle/>
              <a:p>
                <a:r>
                  <a:rPr lang="en-GB" dirty="0"/>
                  <a:t>Share Value – Constant Growth </a:t>
                </a:r>
                <a14:m>
                  <m:oMath xmlns:m="http://schemas.openxmlformats.org/officeDocument/2006/math">
                    <m:r>
                      <a:rPr lang="en-GB" i="1">
                        <a:latin typeface="Cambria Math" panose="02040503050406030204" pitchFamily="18" charset="0"/>
                      </a:rPr>
                      <m:t>𝑔</m:t>
                    </m:r>
                  </m:oMath>
                </a14:m>
                <a:endParaRPr lang="en-GB"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266700" y="966888"/>
                <a:ext cx="7886700" cy="634117"/>
              </a:xfrm>
              <a:blipFill>
                <a:blip r:embed="rId3"/>
                <a:stretch>
                  <a:fillRect l="-2628" t="-163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8591550" cy="4005724"/>
              </a:xfrm>
            </p:spPr>
            <p:txBody>
              <a:bodyPr>
                <a:normAutofit/>
              </a:bodyPr>
              <a:lstStyle/>
              <a:p>
                <a:pPr marL="0" lvl="1" indent="0">
                  <a:spcBef>
                    <a:spcPts val="3150"/>
                  </a:spcBef>
                  <a:buClr>
                    <a:srgbClr val="C00000"/>
                  </a:buClr>
                  <a:buSzPct val="90000"/>
                  <a:buNone/>
                </a:pPr>
                <a:r>
                  <a:rPr lang="en-GB" sz="1950" b="1" dirty="0">
                    <a:solidFill>
                      <a:schemeClr val="accent5">
                        <a:lumMod val="75000"/>
                      </a:schemeClr>
                    </a:solidFill>
                    <a:ea typeface="Cambria Math" panose="02040503050406030204" pitchFamily="18" charset="0"/>
                  </a:rPr>
                  <a:t>Example </a:t>
                </a:r>
                <a:r>
                  <a:rPr lang="en-GB" sz="1950" dirty="0">
                    <a:ea typeface="Cambria Math" panose="02040503050406030204" pitchFamily="18" charset="0"/>
                  </a:rPr>
                  <a:t>Total SA is expected to pay out a dividend of €0.66 per share next year, which is expected to grow at 3.10% per year, indefinitely.</a:t>
                </a:r>
              </a:p>
              <a:p>
                <a:pPr marL="0" indent="0" algn="just">
                  <a:spcBef>
                    <a:spcPts val="1350"/>
                  </a:spcBef>
                  <a:buClr>
                    <a:srgbClr val="C00000"/>
                  </a:buClr>
                  <a:buSzPct val="90000"/>
                  <a:buNone/>
                </a:pPr>
                <a:r>
                  <a:rPr lang="en-GB" sz="1800" dirty="0"/>
                  <a:t>Using a discount rate of 6.50%, what is the </a:t>
                </a:r>
                <a:r>
                  <a:rPr lang="en-GB" sz="1800" i="1" dirty="0"/>
                  <a:t>fair value </a:t>
                </a:r>
                <a:r>
                  <a:rPr lang="en-GB" sz="1800" dirty="0"/>
                  <a:t>of Total SA shares?</a:t>
                </a:r>
              </a:p>
              <a:p>
                <a:pPr marL="0" indent="0" algn="just">
                  <a:spcBef>
                    <a:spcPts val="1350"/>
                  </a:spcBef>
                  <a:buClr>
                    <a:srgbClr val="C00000"/>
                  </a:buClr>
                  <a:buSzPct val="90000"/>
                  <a:buNone/>
                </a:pPr>
                <a:r>
                  <a:rPr lang="en-GB" sz="1800" i="1" dirty="0">
                    <a:ea typeface="Cambria Math" panose="02040503050406030204" pitchFamily="18" charset="0"/>
                  </a:rPr>
                  <a:t>Time line</a:t>
                </a:r>
              </a:p>
              <a:p>
                <a:pPr marL="0" indent="0" algn="just">
                  <a:spcBef>
                    <a:spcPts val="1350"/>
                  </a:spcBef>
                  <a:buClr>
                    <a:srgbClr val="C00000"/>
                  </a:buClr>
                  <a:buSzPct val="90000"/>
                  <a:buNone/>
                </a:pPr>
                <a:endParaRPr lang="en-GB" sz="1800" i="1" dirty="0">
                  <a:ea typeface="Cambria Math" panose="02040503050406030204" pitchFamily="18" charset="0"/>
                </a:endParaRPr>
              </a:p>
              <a:p>
                <a:pPr marL="0" indent="0" algn="just">
                  <a:spcBef>
                    <a:spcPts val="1350"/>
                  </a:spcBef>
                  <a:buClr>
                    <a:srgbClr val="C00000"/>
                  </a:buClr>
                  <a:buSzPct val="90000"/>
                  <a:buNone/>
                </a:pPr>
                <a:endParaRPr lang="en-GB" sz="1800" i="1" dirty="0">
                  <a:ea typeface="Cambria Math" panose="02040503050406030204" pitchFamily="18" charset="0"/>
                </a:endParaRPr>
              </a:p>
              <a:p>
                <a:pPr marL="0" indent="0" algn="just">
                  <a:spcBef>
                    <a:spcPts val="1350"/>
                  </a:spcBef>
                  <a:buClr>
                    <a:srgbClr val="C00000"/>
                  </a:buClr>
                  <a:buSzPct val="90000"/>
                  <a:buNone/>
                </a:pPr>
                <a:endParaRPr lang="en-GB" sz="1800" i="1" dirty="0">
                  <a:ea typeface="Cambria Math" panose="02040503050406030204" pitchFamily="18" charset="0"/>
                </a:endParaRPr>
              </a:p>
              <a:p>
                <a:pPr marL="0" indent="0" algn="just">
                  <a:spcBef>
                    <a:spcPts val="1350"/>
                  </a:spcBef>
                  <a:buClr>
                    <a:srgbClr val="C00000"/>
                  </a:buClr>
                  <a:buSzPct val="90000"/>
                  <a:buNone/>
                </a:pPr>
                <a14:m>
                  <m:oMath xmlns:m="http://schemas.openxmlformats.org/officeDocument/2006/math">
                    <m:r>
                      <a:rPr lang="en-GB" sz="1800" i="1">
                        <a:solidFill>
                          <a:srgbClr val="C00000"/>
                        </a:solidFill>
                        <a:latin typeface="Cambria Math" panose="02040503050406030204" pitchFamily="18" charset="0"/>
                        <a:ea typeface="Cambria Math" panose="02040503050406030204" pitchFamily="18" charset="0"/>
                      </a:rPr>
                      <m:t>⇒</m:t>
                    </m:r>
                  </m:oMath>
                </a14:m>
                <a:r>
                  <a:rPr lang="en-GB" sz="1800" dirty="0">
                    <a:ea typeface="Cambria Math" panose="02040503050406030204" pitchFamily="18" charset="0"/>
                  </a:rPr>
                  <a:t> This is a growing perpetuity. The </a:t>
                </a:r>
                <a:r>
                  <a:rPr lang="en-GB" sz="1800" i="1" dirty="0">
                    <a:ea typeface="Cambria Math" panose="02040503050406030204" pitchFamily="18" charset="0"/>
                  </a:rPr>
                  <a:t>fair </a:t>
                </a:r>
                <a:r>
                  <a:rPr lang="en-GB" sz="1800" dirty="0">
                    <a:ea typeface="Cambria Math" panose="02040503050406030204" pitchFamily="18" charset="0"/>
                  </a:rPr>
                  <a:t>value of a Total SA share is:</a:t>
                </a:r>
              </a:p>
              <a:p>
                <a:pPr marL="0" indent="0" algn="just">
                  <a:spcBef>
                    <a:spcPts val="1350"/>
                  </a:spcBef>
                  <a:buClr>
                    <a:srgbClr val="C00000"/>
                  </a:buClr>
                  <a:buSzPct val="90000"/>
                  <a:buNone/>
                </a:pPr>
                <a14:m>
                  <m:oMathPara xmlns:m="http://schemas.openxmlformats.org/officeDocument/2006/math">
                    <m:oMathParaPr>
                      <m:jc m:val="centerGroup"/>
                    </m:oMathParaPr>
                    <m:oMath xmlns:m="http://schemas.openxmlformats.org/officeDocument/2006/math">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𝑃</m:t>
                          </m:r>
                        </m:e>
                        <m:sub>
                          <m:r>
                            <a:rPr lang="en-GB" sz="1800" i="1">
                              <a:latin typeface="Cambria Math" panose="02040503050406030204" pitchFamily="18" charset="0"/>
                              <a:ea typeface="Cambria Math" panose="02040503050406030204" pitchFamily="18" charset="0"/>
                            </a:rPr>
                            <m:t>0</m:t>
                          </m:r>
                        </m:sub>
                      </m:sSub>
                      <m:r>
                        <a:rPr lang="en-GB" sz="1800" i="1">
                          <a:latin typeface="Cambria Math" panose="02040503050406030204" pitchFamily="18" charset="0"/>
                          <a:ea typeface="Cambria Math" panose="02040503050406030204" pitchFamily="18" charset="0"/>
                        </a:rPr>
                        <m:t>=</m:t>
                      </m:r>
                      <m:f>
                        <m:fPr>
                          <m:ctrlPr>
                            <a:rPr lang="en-GB" sz="1800" i="1">
                              <a:latin typeface="Cambria Math" panose="02040503050406030204" pitchFamily="18" charset="0"/>
                              <a:ea typeface="Cambria Math" panose="02040503050406030204" pitchFamily="18" charset="0"/>
                            </a:rPr>
                          </m:ctrlPr>
                        </m:fPr>
                        <m:num>
                          <m:r>
                            <a:rPr lang="en-GB" sz="1800" i="1">
                              <a:latin typeface="Cambria Math" panose="02040503050406030204" pitchFamily="18" charset="0"/>
                              <a:ea typeface="Cambria Math" panose="02040503050406030204" pitchFamily="18" charset="0"/>
                            </a:rPr>
                            <m:t>0.66</m:t>
                          </m:r>
                        </m:num>
                        <m:den>
                          <m:r>
                            <a:rPr lang="en-GB" sz="1800" i="1">
                              <a:latin typeface="Cambria Math" panose="02040503050406030204" pitchFamily="18" charset="0"/>
                              <a:ea typeface="Cambria Math" panose="02040503050406030204" pitchFamily="18" charset="0"/>
                            </a:rPr>
                            <m:t>6.50%−3.10%</m:t>
                          </m:r>
                        </m:den>
                      </m:f>
                      <m:r>
                        <a:rPr lang="en-GB" sz="1800" i="1">
                          <a:latin typeface="Cambria Math" panose="02040503050406030204" pitchFamily="18" charset="0"/>
                          <a:ea typeface="Cambria Math" panose="02040503050406030204" pitchFamily="18" charset="0"/>
                        </a:rPr>
                        <m:t>=€</m:t>
                      </m:r>
                      <m:r>
                        <a:rPr lang="en-GB" sz="1800">
                          <a:latin typeface="Cambria Math" panose="02040503050406030204" pitchFamily="18" charset="0"/>
                          <a:ea typeface="Cambria Math" panose="02040503050406030204" pitchFamily="18" charset="0"/>
                        </a:rPr>
                        <m:t>19.41</m:t>
                      </m:r>
                    </m:oMath>
                  </m:oMathPara>
                </a14:m>
                <a:endParaRPr lang="en-GB" sz="1800"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8591550" cy="4005724"/>
              </a:xfrm>
              <a:blipFill>
                <a:blip r:embed="rId4"/>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15</a:t>
            </a:fld>
            <a:endParaRPr lang="en-GB" sz="1350" dirty="0">
              <a:solidFill>
                <a:prstClr val="black">
                  <a:lumMod val="50000"/>
                  <a:lumOff val="50000"/>
                </a:prstClr>
              </a:solidFill>
              <a:latin typeface="Calibri" panose="020F0502020204030204"/>
              <a:ea typeface="+mn-ea"/>
            </a:endParaRPr>
          </a:p>
        </p:txBody>
      </p:sp>
      <p:cxnSp>
        <p:nvCxnSpPr>
          <p:cNvPr id="6" name="Straight Connector 5">
            <a:extLst>
              <a:ext uri="{FF2B5EF4-FFF2-40B4-BE49-F238E27FC236}">
                <a16:creationId xmlns:a16="http://schemas.microsoft.com/office/drawing/2014/main" id="{CCAEDA38-EEB6-4768-B50D-753BD0EEADB5}"/>
              </a:ext>
            </a:extLst>
          </p:cNvPr>
          <p:cNvCxnSpPr>
            <a:cxnSpLocks/>
          </p:cNvCxnSpPr>
          <p:nvPr/>
        </p:nvCxnSpPr>
        <p:spPr>
          <a:xfrm flipV="1">
            <a:off x="604122" y="3573541"/>
            <a:ext cx="7326647" cy="0"/>
          </a:xfrm>
          <a:prstGeom prst="line">
            <a:avLst/>
          </a:prstGeom>
          <a:ln w="28575">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A9AFE66-62AF-4179-896C-CEC2BFB5C97A}"/>
              </a:ext>
            </a:extLst>
          </p:cNvPr>
          <p:cNvCxnSpPr>
            <a:cxnSpLocks/>
          </p:cNvCxnSpPr>
          <p:nvPr/>
        </p:nvCxnSpPr>
        <p:spPr>
          <a:xfrm>
            <a:off x="2263909" y="3447327"/>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AF0506-73E5-4F37-AC68-CE7EBC5536A0}"/>
              </a:ext>
            </a:extLst>
          </p:cNvPr>
          <p:cNvCxnSpPr>
            <a:cxnSpLocks/>
          </p:cNvCxnSpPr>
          <p:nvPr/>
        </p:nvCxnSpPr>
        <p:spPr>
          <a:xfrm>
            <a:off x="3933044" y="3409661"/>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32A1919-CB5D-46B5-A344-74293BAEB14C}"/>
                  </a:ext>
                </a:extLst>
              </p:cNvPr>
              <p:cNvSpPr txBox="1"/>
              <p:nvPr/>
            </p:nvSpPr>
            <p:spPr>
              <a:xfrm>
                <a:off x="273931" y="3809662"/>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=0</m:t>
                      </m:r>
                    </m:oMath>
                  </m:oMathPara>
                </a14:m>
                <a:endParaRPr lang="en-GB" sz="1350" dirty="0">
                  <a:solidFill>
                    <a:prstClr val="black"/>
                  </a:solidFill>
                  <a:latin typeface="Calibri" panose="020F0502020204030204"/>
                  <a:ea typeface="+mn-ea"/>
                </a:endParaRPr>
              </a:p>
            </p:txBody>
          </p:sp>
        </mc:Choice>
        <mc:Fallback xmlns="">
          <p:sp>
            <p:nvSpPr>
              <p:cNvPr id="9" name="TextBox 8">
                <a:extLst>
                  <a:ext uri="{FF2B5EF4-FFF2-40B4-BE49-F238E27FC236}">
                    <a16:creationId xmlns:a16="http://schemas.microsoft.com/office/drawing/2014/main" id="{632A1919-CB5D-46B5-A344-74293BAEB14C}"/>
                  </a:ext>
                </a:extLst>
              </p:cNvPr>
              <p:cNvSpPr txBox="1">
                <a:spLocks noRot="1" noChangeAspect="1" noMove="1" noResize="1" noEditPoints="1" noAdjustHandles="1" noChangeArrowheads="1" noChangeShapeType="1" noTextEdit="1"/>
              </p:cNvSpPr>
              <p:nvPr/>
            </p:nvSpPr>
            <p:spPr>
              <a:xfrm>
                <a:off x="273931" y="3809662"/>
                <a:ext cx="660382" cy="300082"/>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37B08C1-DF22-4866-8293-6B806C2D3DC3}"/>
                  </a:ext>
                </a:extLst>
              </p:cNvPr>
              <p:cNvSpPr txBox="1"/>
              <p:nvPr/>
            </p:nvSpPr>
            <p:spPr>
              <a:xfrm>
                <a:off x="7600578" y="3764825"/>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Cambria Math" panose="02040503050406030204" pitchFamily="18" charset="0"/>
                        </a:rPr>
                        <m:t>∞</m:t>
                      </m:r>
                    </m:oMath>
                  </m:oMathPara>
                </a14:m>
                <a:endParaRPr lang="en-GB" sz="1350" dirty="0">
                  <a:solidFill>
                    <a:prstClr val="black"/>
                  </a:solidFill>
                  <a:latin typeface="Calibri" panose="020F0502020204030204"/>
                  <a:ea typeface="+mn-ea"/>
                </a:endParaRPr>
              </a:p>
            </p:txBody>
          </p:sp>
        </mc:Choice>
        <mc:Fallback xmlns="">
          <p:sp>
            <p:nvSpPr>
              <p:cNvPr id="10" name="TextBox 9">
                <a:extLst>
                  <a:ext uri="{FF2B5EF4-FFF2-40B4-BE49-F238E27FC236}">
                    <a16:creationId xmlns:a16="http://schemas.microsoft.com/office/drawing/2014/main" id="{E37B08C1-DF22-4866-8293-6B806C2D3DC3}"/>
                  </a:ext>
                </a:extLst>
              </p:cNvPr>
              <p:cNvSpPr txBox="1">
                <a:spLocks noRot="1" noChangeAspect="1" noMove="1" noResize="1" noEditPoints="1" noAdjustHandles="1" noChangeArrowheads="1" noChangeShapeType="1" noTextEdit="1"/>
              </p:cNvSpPr>
              <p:nvPr/>
            </p:nvSpPr>
            <p:spPr>
              <a:xfrm>
                <a:off x="7600578" y="3764825"/>
                <a:ext cx="660382" cy="300082"/>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294FF58-FCC7-4799-BAD3-A2D90B36E344}"/>
                  </a:ext>
                </a:extLst>
              </p:cNvPr>
              <p:cNvSpPr txBox="1"/>
              <p:nvPr/>
            </p:nvSpPr>
            <p:spPr>
              <a:xfrm>
                <a:off x="6687862" y="3764825"/>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m:t>
                      </m:r>
                    </m:oMath>
                  </m:oMathPara>
                </a14:m>
                <a:endParaRPr lang="en-GB" sz="1350" dirty="0">
                  <a:solidFill>
                    <a:prstClr val="black"/>
                  </a:solidFill>
                  <a:latin typeface="Calibri" panose="020F0502020204030204"/>
                  <a:ea typeface="+mn-ea"/>
                </a:endParaRPr>
              </a:p>
            </p:txBody>
          </p:sp>
        </mc:Choice>
        <mc:Fallback xmlns="">
          <p:sp>
            <p:nvSpPr>
              <p:cNvPr id="12" name="TextBox 11">
                <a:extLst>
                  <a:ext uri="{FF2B5EF4-FFF2-40B4-BE49-F238E27FC236}">
                    <a16:creationId xmlns:a16="http://schemas.microsoft.com/office/drawing/2014/main" id="{4294FF58-FCC7-4799-BAD3-A2D90B36E344}"/>
                  </a:ext>
                </a:extLst>
              </p:cNvPr>
              <p:cNvSpPr txBox="1">
                <a:spLocks noRot="1" noChangeAspect="1" noMove="1" noResize="1" noEditPoints="1" noAdjustHandles="1" noChangeArrowheads="1" noChangeShapeType="1" noTextEdit="1"/>
              </p:cNvSpPr>
              <p:nvPr/>
            </p:nvSpPr>
            <p:spPr>
              <a:xfrm>
                <a:off x="6687862" y="3764825"/>
                <a:ext cx="630848" cy="300082"/>
              </a:xfrm>
              <a:prstGeom prst="rect">
                <a:avLst/>
              </a:prstGeom>
              <a:blipFill>
                <a:blip r:embed="rId7"/>
                <a:stretch>
                  <a:fillRect/>
                </a:stretch>
              </a:blipFill>
              <a:ln>
                <a:noFill/>
              </a:ln>
            </p:spPr>
            <p:txBody>
              <a:bodyPr/>
              <a:lstStyle/>
              <a:p>
                <a:r>
                  <a:rPr lang="en-GB">
                    <a:noFill/>
                  </a:rPr>
                  <a:t> </a:t>
                </a:r>
              </a:p>
            </p:txBody>
          </p:sp>
        </mc:Fallback>
      </mc:AlternateContent>
      <p:cxnSp>
        <p:nvCxnSpPr>
          <p:cNvPr id="14" name="Straight Connector 13">
            <a:extLst>
              <a:ext uri="{FF2B5EF4-FFF2-40B4-BE49-F238E27FC236}">
                <a16:creationId xmlns:a16="http://schemas.microsoft.com/office/drawing/2014/main" id="{AF4DBBCA-471C-4BE3-B718-A8D1982DA758}"/>
              </a:ext>
            </a:extLst>
          </p:cNvPr>
          <p:cNvCxnSpPr>
            <a:cxnSpLocks/>
          </p:cNvCxnSpPr>
          <p:nvPr/>
        </p:nvCxnSpPr>
        <p:spPr>
          <a:xfrm>
            <a:off x="604121" y="3409662"/>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1017527-10C6-4417-BBEF-8C512552C766}"/>
                  </a:ext>
                </a:extLst>
              </p:cNvPr>
              <p:cNvSpPr txBox="1"/>
              <p:nvPr/>
            </p:nvSpPr>
            <p:spPr>
              <a:xfrm>
                <a:off x="1961548" y="3809662"/>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=1</m:t>
                      </m:r>
                    </m:oMath>
                  </m:oMathPara>
                </a14:m>
                <a:endParaRPr lang="en-GB" sz="1350" dirty="0">
                  <a:solidFill>
                    <a:prstClr val="black"/>
                  </a:solidFill>
                  <a:latin typeface="Calibri" panose="020F0502020204030204"/>
                  <a:ea typeface="+mn-ea"/>
                </a:endParaRPr>
              </a:p>
            </p:txBody>
          </p:sp>
        </mc:Choice>
        <mc:Fallback xmlns="">
          <p:sp>
            <p:nvSpPr>
              <p:cNvPr id="15" name="TextBox 14">
                <a:extLst>
                  <a:ext uri="{FF2B5EF4-FFF2-40B4-BE49-F238E27FC236}">
                    <a16:creationId xmlns:a16="http://schemas.microsoft.com/office/drawing/2014/main" id="{C1017527-10C6-4417-BBEF-8C512552C766}"/>
                  </a:ext>
                </a:extLst>
              </p:cNvPr>
              <p:cNvSpPr txBox="1">
                <a:spLocks noRot="1" noChangeAspect="1" noMove="1" noResize="1" noEditPoints="1" noAdjustHandles="1" noChangeArrowheads="1" noChangeShapeType="1" noTextEdit="1"/>
              </p:cNvSpPr>
              <p:nvPr/>
            </p:nvSpPr>
            <p:spPr>
              <a:xfrm>
                <a:off x="1961548" y="3809662"/>
                <a:ext cx="630848" cy="300082"/>
              </a:xfrm>
              <a:prstGeom prst="rect">
                <a:avLst/>
              </a:prstGeom>
              <a:blipFill>
                <a:blip r:embed="rId8"/>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DB82E86-2861-449C-89E6-8D8552289E32}"/>
                  </a:ext>
                </a:extLst>
              </p:cNvPr>
              <p:cNvSpPr txBox="1"/>
              <p:nvPr/>
            </p:nvSpPr>
            <p:spPr>
              <a:xfrm>
                <a:off x="3617620" y="3816089"/>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=2</m:t>
                      </m:r>
                    </m:oMath>
                  </m:oMathPara>
                </a14:m>
                <a:endParaRPr lang="en-GB" sz="1350" dirty="0">
                  <a:solidFill>
                    <a:prstClr val="black"/>
                  </a:solidFill>
                  <a:latin typeface="Calibri" panose="020F0502020204030204"/>
                  <a:ea typeface="+mn-ea"/>
                </a:endParaRPr>
              </a:p>
            </p:txBody>
          </p:sp>
        </mc:Choice>
        <mc:Fallback xmlns="">
          <p:sp>
            <p:nvSpPr>
              <p:cNvPr id="16" name="TextBox 15">
                <a:extLst>
                  <a:ext uri="{FF2B5EF4-FFF2-40B4-BE49-F238E27FC236}">
                    <a16:creationId xmlns:a16="http://schemas.microsoft.com/office/drawing/2014/main" id="{BDB82E86-2861-449C-89E6-8D8552289E32}"/>
                  </a:ext>
                </a:extLst>
              </p:cNvPr>
              <p:cNvSpPr txBox="1">
                <a:spLocks noRot="1" noChangeAspect="1" noMove="1" noResize="1" noEditPoints="1" noAdjustHandles="1" noChangeArrowheads="1" noChangeShapeType="1" noTextEdit="1"/>
              </p:cNvSpPr>
              <p:nvPr/>
            </p:nvSpPr>
            <p:spPr>
              <a:xfrm>
                <a:off x="3617620" y="3816089"/>
                <a:ext cx="630848" cy="300082"/>
              </a:xfrm>
              <a:prstGeom prst="rect">
                <a:avLst/>
              </a:prstGeom>
              <a:blipFill>
                <a:blip r:embed="rId9"/>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849ED76-50FB-4392-A405-E40745FE8AD7}"/>
                  </a:ext>
                </a:extLst>
              </p:cNvPr>
              <p:cNvSpPr txBox="1"/>
              <p:nvPr/>
            </p:nvSpPr>
            <p:spPr>
              <a:xfrm>
                <a:off x="2917021" y="3023677"/>
                <a:ext cx="2032046"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€0.66</m:t>
                      </m:r>
                      <m:r>
                        <a:rPr lang="en-GB" sz="1500" i="1">
                          <a:latin typeface="Cambria Math" panose="02040503050406030204" pitchFamily="18" charset="0"/>
                          <a:ea typeface="Cambria Math" panose="02040503050406030204" pitchFamily="18" charset="0"/>
                        </a:rPr>
                        <m:t>×(1+3.10%)</m:t>
                      </m:r>
                    </m:oMath>
                  </m:oMathPara>
                </a14:m>
                <a:endParaRPr lang="en-GB" sz="1500" dirty="0"/>
              </a:p>
            </p:txBody>
          </p:sp>
        </mc:Choice>
        <mc:Fallback xmlns="">
          <p:sp>
            <p:nvSpPr>
              <p:cNvPr id="32" name="TextBox 31">
                <a:extLst>
                  <a:ext uri="{FF2B5EF4-FFF2-40B4-BE49-F238E27FC236}">
                    <a16:creationId xmlns:a16="http://schemas.microsoft.com/office/drawing/2014/main" id="{7849ED76-50FB-4392-A405-E40745FE8AD7}"/>
                  </a:ext>
                </a:extLst>
              </p:cNvPr>
              <p:cNvSpPr txBox="1">
                <a:spLocks noRot="1" noChangeAspect="1" noMove="1" noResize="1" noEditPoints="1" noAdjustHandles="1" noChangeArrowheads="1" noChangeShapeType="1" noTextEdit="1"/>
              </p:cNvSpPr>
              <p:nvPr/>
            </p:nvSpPr>
            <p:spPr>
              <a:xfrm>
                <a:off x="2917021" y="3023677"/>
                <a:ext cx="2032046" cy="323165"/>
              </a:xfrm>
              <a:prstGeom prst="rect">
                <a:avLst/>
              </a:prstGeom>
              <a:blipFill>
                <a:blip r:embed="rId10"/>
                <a:stretch>
                  <a:fillRect b="-132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AC27355-19EA-4BCE-8780-1D5BEC78DBD2}"/>
                  </a:ext>
                </a:extLst>
              </p:cNvPr>
              <p:cNvSpPr txBox="1"/>
              <p:nvPr/>
            </p:nvSpPr>
            <p:spPr>
              <a:xfrm>
                <a:off x="6537399" y="3057021"/>
                <a:ext cx="1004052"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dirty="0">
                          <a:latin typeface="Cambria Math" panose="02040503050406030204" pitchFamily="18" charset="0"/>
                        </a:rPr>
                        <m:t>…</m:t>
                      </m:r>
                    </m:oMath>
                  </m:oMathPara>
                </a14:m>
                <a:endParaRPr lang="en-GB" sz="1500" dirty="0"/>
              </a:p>
            </p:txBody>
          </p:sp>
        </mc:Choice>
        <mc:Fallback xmlns="">
          <p:sp>
            <p:nvSpPr>
              <p:cNvPr id="33" name="TextBox 32">
                <a:extLst>
                  <a:ext uri="{FF2B5EF4-FFF2-40B4-BE49-F238E27FC236}">
                    <a16:creationId xmlns:a16="http://schemas.microsoft.com/office/drawing/2014/main" id="{DAC27355-19EA-4BCE-8780-1D5BEC78DBD2}"/>
                  </a:ext>
                </a:extLst>
              </p:cNvPr>
              <p:cNvSpPr txBox="1">
                <a:spLocks noRot="1" noChangeAspect="1" noMove="1" noResize="1" noEditPoints="1" noAdjustHandles="1" noChangeArrowheads="1" noChangeShapeType="1" noTextEdit="1"/>
              </p:cNvSpPr>
              <p:nvPr/>
            </p:nvSpPr>
            <p:spPr>
              <a:xfrm>
                <a:off x="6537399" y="3057021"/>
                <a:ext cx="1004052" cy="323165"/>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D4C44E0-F61E-48AC-B864-C8061DF4079B}"/>
                  </a:ext>
                </a:extLst>
              </p:cNvPr>
              <p:cNvSpPr txBox="1"/>
              <p:nvPr/>
            </p:nvSpPr>
            <p:spPr>
              <a:xfrm>
                <a:off x="1772936" y="3030746"/>
                <a:ext cx="1004052"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€0.66</m:t>
                      </m:r>
                    </m:oMath>
                  </m:oMathPara>
                </a14:m>
                <a:endParaRPr lang="en-GB" sz="1500" dirty="0"/>
              </a:p>
            </p:txBody>
          </p:sp>
        </mc:Choice>
        <mc:Fallback xmlns="">
          <p:sp>
            <p:nvSpPr>
              <p:cNvPr id="37" name="TextBox 36">
                <a:extLst>
                  <a:ext uri="{FF2B5EF4-FFF2-40B4-BE49-F238E27FC236}">
                    <a16:creationId xmlns:a16="http://schemas.microsoft.com/office/drawing/2014/main" id="{4D4C44E0-F61E-48AC-B864-C8061DF4079B}"/>
                  </a:ext>
                </a:extLst>
              </p:cNvPr>
              <p:cNvSpPr txBox="1">
                <a:spLocks noRot="1" noChangeAspect="1" noMove="1" noResize="1" noEditPoints="1" noAdjustHandles="1" noChangeArrowheads="1" noChangeShapeType="1" noTextEdit="1"/>
              </p:cNvSpPr>
              <p:nvPr/>
            </p:nvSpPr>
            <p:spPr>
              <a:xfrm>
                <a:off x="1772936" y="3030746"/>
                <a:ext cx="1004052" cy="323165"/>
              </a:xfrm>
              <a:prstGeom prst="rect">
                <a:avLst/>
              </a:prstGeom>
              <a:blipFill>
                <a:blip r:embed="rId12"/>
                <a:stretch>
                  <a:fillRect/>
                </a:stretch>
              </a:blipFill>
            </p:spPr>
            <p:txBody>
              <a:bodyPr/>
              <a:lstStyle/>
              <a:p>
                <a:r>
                  <a:rPr lang="en-GB">
                    <a:noFill/>
                  </a:rPr>
                  <a:t> </a:t>
                </a:r>
              </a:p>
            </p:txBody>
          </p:sp>
        </mc:Fallback>
      </mc:AlternateContent>
      <p:cxnSp>
        <p:nvCxnSpPr>
          <p:cNvPr id="18" name="Straight Connector 17">
            <a:extLst>
              <a:ext uri="{FF2B5EF4-FFF2-40B4-BE49-F238E27FC236}">
                <a16:creationId xmlns:a16="http://schemas.microsoft.com/office/drawing/2014/main" id="{623A6249-3EEB-4F0A-8BAB-A6A47DE439F8}"/>
              </a:ext>
            </a:extLst>
          </p:cNvPr>
          <p:cNvCxnSpPr>
            <a:cxnSpLocks/>
          </p:cNvCxnSpPr>
          <p:nvPr/>
        </p:nvCxnSpPr>
        <p:spPr>
          <a:xfrm>
            <a:off x="5591128" y="3429000"/>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68B0EF8-14EA-4A18-8246-3226DCD15884}"/>
                  </a:ext>
                </a:extLst>
              </p:cNvPr>
              <p:cNvSpPr txBox="1"/>
              <p:nvPr/>
            </p:nvSpPr>
            <p:spPr>
              <a:xfrm>
                <a:off x="5275704" y="3818936"/>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=3</m:t>
                      </m:r>
                    </m:oMath>
                  </m:oMathPara>
                </a14:m>
                <a:endParaRPr lang="en-GB" sz="1350" dirty="0">
                  <a:solidFill>
                    <a:prstClr val="black"/>
                  </a:solidFill>
                  <a:latin typeface="Calibri" panose="020F0502020204030204"/>
                  <a:ea typeface="+mn-ea"/>
                </a:endParaRPr>
              </a:p>
            </p:txBody>
          </p:sp>
        </mc:Choice>
        <mc:Fallback xmlns="">
          <p:sp>
            <p:nvSpPr>
              <p:cNvPr id="19" name="TextBox 18">
                <a:extLst>
                  <a:ext uri="{FF2B5EF4-FFF2-40B4-BE49-F238E27FC236}">
                    <a16:creationId xmlns:a16="http://schemas.microsoft.com/office/drawing/2014/main" id="{A68B0EF8-14EA-4A18-8246-3226DCD15884}"/>
                  </a:ext>
                </a:extLst>
              </p:cNvPr>
              <p:cNvSpPr txBox="1">
                <a:spLocks noRot="1" noChangeAspect="1" noMove="1" noResize="1" noEditPoints="1" noAdjustHandles="1" noChangeArrowheads="1" noChangeShapeType="1" noTextEdit="1"/>
              </p:cNvSpPr>
              <p:nvPr/>
            </p:nvSpPr>
            <p:spPr>
              <a:xfrm>
                <a:off x="5275704" y="3818936"/>
                <a:ext cx="630848" cy="300082"/>
              </a:xfrm>
              <a:prstGeom prst="rect">
                <a:avLst/>
              </a:prstGeom>
              <a:blipFill>
                <a:blip r:embed="rId1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BD21D69-198A-443A-9E79-EEBA4959D3A9}"/>
                  </a:ext>
                </a:extLst>
              </p:cNvPr>
              <p:cNvSpPr txBox="1"/>
              <p:nvPr/>
            </p:nvSpPr>
            <p:spPr>
              <a:xfrm>
                <a:off x="4797746" y="3023677"/>
                <a:ext cx="2032046"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€0.66</m:t>
                      </m:r>
                      <m:r>
                        <a:rPr lang="en-GB" sz="1500" i="1">
                          <a:latin typeface="Cambria Math" panose="02040503050406030204" pitchFamily="18" charset="0"/>
                          <a:ea typeface="Cambria Math" panose="02040503050406030204" pitchFamily="18" charset="0"/>
                        </a:rPr>
                        <m:t>×</m:t>
                      </m:r>
                      <m:sSup>
                        <m:sSupPr>
                          <m:ctrlPr>
                            <a:rPr lang="en-GB" sz="1500" i="1">
                              <a:latin typeface="Cambria Math" panose="02040503050406030204" pitchFamily="18" charset="0"/>
                              <a:ea typeface="Cambria Math" panose="02040503050406030204" pitchFamily="18" charset="0"/>
                            </a:rPr>
                          </m:ctrlPr>
                        </m:sSupPr>
                        <m:e>
                          <m:d>
                            <m:dPr>
                              <m:ctrlPr>
                                <a:rPr lang="en-GB" sz="1500" i="1">
                                  <a:latin typeface="Cambria Math" panose="02040503050406030204" pitchFamily="18" charset="0"/>
                                  <a:ea typeface="Cambria Math" panose="02040503050406030204" pitchFamily="18" charset="0"/>
                                </a:rPr>
                              </m:ctrlPr>
                            </m:dPr>
                            <m:e>
                              <m:r>
                                <a:rPr lang="en-GB" sz="1500" i="1">
                                  <a:latin typeface="Cambria Math" panose="02040503050406030204" pitchFamily="18" charset="0"/>
                                  <a:ea typeface="Cambria Math" panose="02040503050406030204" pitchFamily="18" charset="0"/>
                                </a:rPr>
                                <m:t>1+3.10%</m:t>
                              </m:r>
                            </m:e>
                          </m:d>
                        </m:e>
                        <m:sup>
                          <m:r>
                            <a:rPr lang="en-GB" sz="1500" i="1">
                              <a:latin typeface="Cambria Math" panose="02040503050406030204" pitchFamily="18" charset="0"/>
                              <a:ea typeface="Cambria Math" panose="02040503050406030204" pitchFamily="18" charset="0"/>
                            </a:rPr>
                            <m:t>2</m:t>
                          </m:r>
                        </m:sup>
                      </m:sSup>
                    </m:oMath>
                  </m:oMathPara>
                </a14:m>
                <a:endParaRPr lang="en-GB" sz="1500" dirty="0"/>
              </a:p>
            </p:txBody>
          </p:sp>
        </mc:Choice>
        <mc:Fallback xmlns="">
          <p:sp>
            <p:nvSpPr>
              <p:cNvPr id="20" name="TextBox 19">
                <a:extLst>
                  <a:ext uri="{FF2B5EF4-FFF2-40B4-BE49-F238E27FC236}">
                    <a16:creationId xmlns:a16="http://schemas.microsoft.com/office/drawing/2014/main" id="{CBD21D69-198A-443A-9E79-EEBA4959D3A9}"/>
                  </a:ext>
                </a:extLst>
              </p:cNvPr>
              <p:cNvSpPr txBox="1">
                <a:spLocks noRot="1" noChangeAspect="1" noMove="1" noResize="1" noEditPoints="1" noAdjustHandles="1" noChangeArrowheads="1" noChangeShapeType="1" noTextEdit="1"/>
              </p:cNvSpPr>
              <p:nvPr/>
            </p:nvSpPr>
            <p:spPr>
              <a:xfrm>
                <a:off x="4797746" y="3023677"/>
                <a:ext cx="2032046" cy="323165"/>
              </a:xfrm>
              <a:prstGeom prst="rect">
                <a:avLst/>
              </a:prstGeom>
              <a:blipFill>
                <a:blip r:embed="rId1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89506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500" fill="hold"/>
                                        <p:tgtEl>
                                          <p:spTgt spid="14"/>
                                        </p:tgtEl>
                                        <p:attrNameLst>
                                          <p:attrName>ppt_w</p:attrName>
                                        </p:attrNameLst>
                                      </p:cBhvr>
                                      <p:tavLst>
                                        <p:tav tm="0">
                                          <p:val>
                                            <p:fltVal val="0"/>
                                          </p:val>
                                        </p:tav>
                                        <p:tav tm="100000">
                                          <p:val>
                                            <p:strVal val="#ppt_w"/>
                                          </p:val>
                                        </p:tav>
                                      </p:tavLst>
                                    </p:anim>
                                    <p:anim calcmode="lin" valueType="num">
                                      <p:cBhvr>
                                        <p:cTn id="19" dur="500" fill="hold"/>
                                        <p:tgtEl>
                                          <p:spTgt spid="14"/>
                                        </p:tgtEl>
                                        <p:attrNameLst>
                                          <p:attrName>ppt_h</p:attrName>
                                        </p:attrNameLst>
                                      </p:cBhvr>
                                      <p:tavLst>
                                        <p:tav tm="0">
                                          <p:val>
                                            <p:fltVal val="0"/>
                                          </p:val>
                                        </p:tav>
                                        <p:tav tm="100000">
                                          <p:val>
                                            <p:strVal val="#ppt_h"/>
                                          </p:val>
                                        </p:tav>
                                      </p:tavLst>
                                    </p:anim>
                                    <p:animEffect transition="in" filter="fade">
                                      <p:cBhvr>
                                        <p:cTn id="20" dur="500"/>
                                        <p:tgtEl>
                                          <p:spTgt spid="14"/>
                                        </p:tgtEl>
                                      </p:cBhvr>
                                    </p:animEffect>
                                  </p:childTnLst>
                                </p:cTn>
                              </p:par>
                              <p:par>
                                <p:cTn id="21" presetID="53" presetClass="entr" presetSubtype="16"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par>
                                <p:cTn id="26" presetID="53" presetClass="entr" presetSubtype="16"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par>
                                <p:cTn id="31" presetID="53" presetClass="entr" presetSubtype="16"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p:cTn id="33" dur="500" fill="hold"/>
                                        <p:tgtEl>
                                          <p:spTgt spid="18"/>
                                        </p:tgtEl>
                                        <p:attrNameLst>
                                          <p:attrName>ppt_w</p:attrName>
                                        </p:attrNameLst>
                                      </p:cBhvr>
                                      <p:tavLst>
                                        <p:tav tm="0">
                                          <p:val>
                                            <p:fltVal val="0"/>
                                          </p:val>
                                        </p:tav>
                                        <p:tav tm="100000">
                                          <p:val>
                                            <p:strVal val="#ppt_w"/>
                                          </p:val>
                                        </p:tav>
                                      </p:tavLst>
                                    </p:anim>
                                    <p:anim calcmode="lin" valueType="num">
                                      <p:cBhvr>
                                        <p:cTn id="34" dur="500" fill="hold"/>
                                        <p:tgtEl>
                                          <p:spTgt spid="18"/>
                                        </p:tgtEl>
                                        <p:attrNameLst>
                                          <p:attrName>ppt_h</p:attrName>
                                        </p:attrNameLst>
                                      </p:cBhvr>
                                      <p:tavLst>
                                        <p:tav tm="0">
                                          <p:val>
                                            <p:fltVal val="0"/>
                                          </p:val>
                                        </p:tav>
                                        <p:tav tm="100000">
                                          <p:val>
                                            <p:strVal val="#ppt_h"/>
                                          </p:val>
                                        </p:tav>
                                      </p:tavLst>
                                    </p:anim>
                                    <p:animEffect transition="in" filter="fad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7"/>
                                        </p:tgtEl>
                                        <p:attrNameLst>
                                          <p:attrName>style.visibility</p:attrName>
                                        </p:attrNameLst>
                                      </p:cBhvr>
                                      <p:to>
                                        <p:strVal val="visible"/>
                                      </p:to>
                                    </p:set>
                                    <p:anim calcmode="lin" valueType="num">
                                      <p:cBhvr additive="base">
                                        <p:cTn id="54" dur="500" fill="hold"/>
                                        <p:tgtEl>
                                          <p:spTgt spid="37"/>
                                        </p:tgtEl>
                                        <p:attrNameLst>
                                          <p:attrName>ppt_x</p:attrName>
                                        </p:attrNameLst>
                                      </p:cBhvr>
                                      <p:tavLst>
                                        <p:tav tm="0">
                                          <p:val>
                                            <p:strVal val="#ppt_x"/>
                                          </p:val>
                                        </p:tav>
                                        <p:tav tm="100000">
                                          <p:val>
                                            <p:strVal val="#ppt_x"/>
                                          </p:val>
                                        </p:tav>
                                      </p:tavLst>
                                    </p:anim>
                                    <p:anim calcmode="lin" valueType="num">
                                      <p:cBhvr additive="base">
                                        <p:cTn id="55"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 calcmode="lin" valueType="num">
                                      <p:cBhvr additive="base">
                                        <p:cTn id="60" dur="500" fill="hold"/>
                                        <p:tgtEl>
                                          <p:spTgt spid="32"/>
                                        </p:tgtEl>
                                        <p:attrNameLst>
                                          <p:attrName>ppt_x</p:attrName>
                                        </p:attrNameLst>
                                      </p:cBhvr>
                                      <p:tavLst>
                                        <p:tav tm="0">
                                          <p:val>
                                            <p:strVal val="#ppt_x"/>
                                          </p:val>
                                        </p:tav>
                                        <p:tav tm="100000">
                                          <p:val>
                                            <p:strVal val="#ppt_x"/>
                                          </p:val>
                                        </p:tav>
                                      </p:tavLst>
                                    </p:anim>
                                    <p:anim calcmode="lin" valueType="num">
                                      <p:cBhvr additive="base">
                                        <p:cTn id="61"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20"/>
                                        </p:tgtEl>
                                        <p:attrNameLst>
                                          <p:attrName>style.visibility</p:attrName>
                                        </p:attrNameLst>
                                      </p:cBhvr>
                                      <p:to>
                                        <p:strVal val="visible"/>
                                      </p:to>
                                    </p:set>
                                    <p:anim calcmode="lin" valueType="num">
                                      <p:cBhvr additive="base">
                                        <p:cTn id="66" dur="500" fill="hold"/>
                                        <p:tgtEl>
                                          <p:spTgt spid="20"/>
                                        </p:tgtEl>
                                        <p:attrNameLst>
                                          <p:attrName>ppt_x</p:attrName>
                                        </p:attrNameLst>
                                      </p:cBhvr>
                                      <p:tavLst>
                                        <p:tav tm="0">
                                          <p:val>
                                            <p:strVal val="#ppt_x"/>
                                          </p:val>
                                        </p:tav>
                                        <p:tav tm="100000">
                                          <p:val>
                                            <p:strVal val="#ppt_x"/>
                                          </p:val>
                                        </p:tav>
                                      </p:tavLst>
                                    </p:anim>
                                    <p:anim calcmode="lin" valueType="num">
                                      <p:cBhvr additive="base">
                                        <p:cTn id="6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33"/>
                                        </p:tgtEl>
                                        <p:attrNameLst>
                                          <p:attrName>style.visibility</p:attrName>
                                        </p:attrNameLst>
                                      </p:cBhvr>
                                      <p:to>
                                        <p:strVal val="visible"/>
                                      </p:to>
                                    </p:set>
                                    <p:anim calcmode="lin" valueType="num">
                                      <p:cBhvr additive="base">
                                        <p:cTn id="72" dur="500" fill="hold"/>
                                        <p:tgtEl>
                                          <p:spTgt spid="33"/>
                                        </p:tgtEl>
                                        <p:attrNameLst>
                                          <p:attrName>ppt_x</p:attrName>
                                        </p:attrNameLst>
                                      </p:cBhvr>
                                      <p:tavLst>
                                        <p:tav tm="0">
                                          <p:val>
                                            <p:strVal val="#ppt_x"/>
                                          </p:val>
                                        </p:tav>
                                        <p:tav tm="100000">
                                          <p:val>
                                            <p:strVal val="#ppt_x"/>
                                          </p:val>
                                        </p:tav>
                                      </p:tavLst>
                                    </p:anim>
                                    <p:anim calcmode="lin" valueType="num">
                                      <p:cBhvr additive="base">
                                        <p:cTn id="73"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3">
                                            <p:txEl>
                                              <p:pRg st="6" end="6"/>
                                            </p:txEl>
                                          </p:spTgt>
                                        </p:tgtEl>
                                        <p:attrNameLst>
                                          <p:attrName>style.visibility</p:attrName>
                                        </p:attrNameLst>
                                      </p:cBhvr>
                                      <p:to>
                                        <p:strVal val="visible"/>
                                      </p:to>
                                    </p:set>
                                    <p:anim calcmode="lin" valueType="num">
                                      <p:cBhvr additive="base">
                                        <p:cTn id="7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3">
                                            <p:txEl>
                                              <p:pRg st="6" end="6"/>
                                            </p:txEl>
                                          </p:spTgt>
                                        </p:tgtEl>
                                        <p:attrNameLst>
                                          <p:attrName>ppt_y</p:attrName>
                                        </p:attrNameLst>
                                      </p:cBhvr>
                                      <p:tavLst>
                                        <p:tav tm="0">
                                          <p:val>
                                            <p:strVal val="1+#ppt_h/2"/>
                                          </p:val>
                                        </p:tav>
                                        <p:tav tm="100000">
                                          <p:val>
                                            <p:strVal val="#ppt_y"/>
                                          </p:val>
                                        </p:tav>
                                      </p:tavLst>
                                    </p:anim>
                                  </p:childTnLst>
                                </p:cTn>
                              </p:par>
                              <p:par>
                                <p:cTn id="80" presetID="2" presetClass="entr" presetSubtype="4" fill="hold" nodeType="withEffect">
                                  <p:stCondLst>
                                    <p:cond delay="0"/>
                                  </p:stCondLst>
                                  <p:childTnLst>
                                    <p:set>
                                      <p:cBhvr>
                                        <p:cTn id="81" dur="1" fill="hold">
                                          <p:stCondLst>
                                            <p:cond delay="0"/>
                                          </p:stCondLst>
                                        </p:cTn>
                                        <p:tgtEl>
                                          <p:spTgt spid="3">
                                            <p:txEl>
                                              <p:pRg st="7" end="7"/>
                                            </p:txEl>
                                          </p:spTgt>
                                        </p:tgtEl>
                                        <p:attrNameLst>
                                          <p:attrName>style.visibility</p:attrName>
                                        </p:attrNameLst>
                                      </p:cBhvr>
                                      <p:to>
                                        <p:strVal val="visible"/>
                                      </p:to>
                                    </p:set>
                                    <p:anim calcmode="lin" valueType="num">
                                      <p:cBhvr additive="base">
                                        <p:cTn id="82"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5" grpId="0"/>
      <p:bldP spid="16" grpId="0"/>
      <p:bldP spid="32" grpId="0"/>
      <p:bldP spid="33" grpId="0"/>
      <p:bldP spid="37" grpId="0"/>
      <p:bldP spid="19" grpId="0"/>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266700" y="966888"/>
                <a:ext cx="7886700" cy="634117"/>
              </a:xfrm>
            </p:spPr>
            <p:txBody>
              <a:bodyPr>
                <a:normAutofit/>
              </a:bodyPr>
              <a:lstStyle/>
              <a:p>
                <a:r>
                  <a:rPr lang="en-GB" dirty="0"/>
                  <a:t>Share Value – Constant Growth </a:t>
                </a:r>
                <a14:m>
                  <m:oMath xmlns:m="http://schemas.openxmlformats.org/officeDocument/2006/math">
                    <m:r>
                      <a:rPr lang="en-GB" i="1">
                        <a:latin typeface="Cambria Math" panose="02040503050406030204" pitchFamily="18" charset="0"/>
                      </a:rPr>
                      <m:t>𝑔</m:t>
                    </m:r>
                  </m:oMath>
                </a14:m>
                <a:endParaRPr lang="en-GB"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266700" y="966888"/>
                <a:ext cx="7886700" cy="634117"/>
              </a:xfrm>
              <a:blipFill>
                <a:blip r:embed="rId3"/>
                <a:stretch>
                  <a:fillRect l="-2628" t="-163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8591550" cy="4005724"/>
              </a:xfrm>
            </p:spPr>
            <p:txBody>
              <a:bodyPr>
                <a:normAutofit/>
              </a:bodyPr>
              <a:lstStyle/>
              <a:p>
                <a:pPr algn="just">
                  <a:spcBef>
                    <a:spcPts val="1350"/>
                  </a:spcBef>
                  <a:buClr>
                    <a:srgbClr val="C00000"/>
                  </a:buClr>
                  <a:buSzPct val="90000"/>
                </a:pPr>
                <a:r>
                  <a:rPr lang="en-GB" sz="1950" dirty="0">
                    <a:ea typeface="Cambria Math" panose="02040503050406030204" pitchFamily="18" charset="0"/>
                  </a:rPr>
                  <a:t>In this scenario, the </a:t>
                </a:r>
                <a:r>
                  <a:rPr lang="en-GB" sz="1950" i="1" dirty="0">
                    <a:ea typeface="Cambria Math" panose="02040503050406030204" pitchFamily="18" charset="0"/>
                  </a:rPr>
                  <a:t>fair </a:t>
                </a:r>
                <a:r>
                  <a:rPr lang="en-GB" sz="1950" dirty="0">
                    <a:ea typeface="Cambria Math" panose="02040503050406030204" pitchFamily="18" charset="0"/>
                  </a:rPr>
                  <a:t>value of a share is the present value of:</a:t>
                </a:r>
              </a:p>
              <a:p>
                <a:pPr lvl="1">
                  <a:spcBef>
                    <a:spcPts val="450"/>
                  </a:spcBef>
                  <a:buClr>
                    <a:srgbClr val="C00000"/>
                  </a:buClr>
                  <a:buSzPct val="90000"/>
                  <a:buFont typeface="Calibri" panose="020F0502020204030204" pitchFamily="34" charset="0"/>
                  <a:buChar char="─"/>
                </a:pPr>
                <a:r>
                  <a:rPr lang="en-GB" sz="1950" dirty="0">
                    <a:ea typeface="Cambria Math" panose="02040503050406030204" pitchFamily="18" charset="0"/>
                  </a:rPr>
                  <a:t>The perpetuity of dividends, starting from next year’s dividend</a:t>
                </a:r>
                <a14:m>
                  <m:oMath xmlns:m="http://schemas.openxmlformats.org/officeDocument/2006/math">
                    <m:r>
                      <a:rPr lang="en-GB" sz="1950" i="1">
                        <a:latin typeface="Cambria Math" panose="02040503050406030204" pitchFamily="18" charset="0"/>
                        <a:ea typeface="Cambria Math" panose="02040503050406030204" pitchFamily="18" charset="0"/>
                      </a:rPr>
                      <m:t> </m:t>
                    </m:r>
                    <m:sSub>
                      <m:sSubPr>
                        <m:ctrlPr>
                          <a:rPr lang="en-GB" sz="1950" i="1">
                            <a:latin typeface="Cambria Math" panose="02040503050406030204" pitchFamily="18" charset="0"/>
                            <a:ea typeface="Cambria Math" panose="02040503050406030204" pitchFamily="18" charset="0"/>
                          </a:rPr>
                        </m:ctrlPr>
                      </m:sSubPr>
                      <m:e>
                        <m:r>
                          <a:rPr lang="en-GB" sz="1950" i="1">
                            <a:latin typeface="Cambria Math" panose="02040503050406030204" pitchFamily="18" charset="0"/>
                            <a:ea typeface="Cambria Math" panose="02040503050406030204" pitchFamily="18" charset="0"/>
                          </a:rPr>
                          <m:t>𝐷</m:t>
                        </m:r>
                      </m:e>
                      <m:sub>
                        <m:r>
                          <a:rPr lang="en-GB" sz="1950" i="1">
                            <a:latin typeface="Cambria Math" panose="02040503050406030204" pitchFamily="18" charset="0"/>
                            <a:ea typeface="Cambria Math" panose="02040503050406030204" pitchFamily="18" charset="0"/>
                          </a:rPr>
                          <m:t>1</m:t>
                        </m:r>
                      </m:sub>
                    </m:sSub>
                  </m:oMath>
                </a14:m>
                <a:r>
                  <a:rPr lang="en-GB" sz="1950" dirty="0">
                    <a:ea typeface="Cambria Math" panose="02040503050406030204" pitchFamily="18" charset="0"/>
                  </a:rPr>
                  <a:t>, growing at a rate </a:t>
                </a:r>
                <a14:m>
                  <m:oMath xmlns:m="http://schemas.openxmlformats.org/officeDocument/2006/math">
                    <m:r>
                      <a:rPr lang="en-GB" sz="1950" i="1">
                        <a:latin typeface="Cambria Math" panose="02040503050406030204" pitchFamily="18" charset="0"/>
                        <a:ea typeface="Cambria Math" panose="02040503050406030204" pitchFamily="18" charset="0"/>
                      </a:rPr>
                      <m:t>𝑔</m:t>
                    </m:r>
                  </m:oMath>
                </a14:m>
                <a:r>
                  <a:rPr lang="en-GB" sz="1950" dirty="0">
                    <a:ea typeface="Cambria Math" panose="02040503050406030204" pitchFamily="18" charset="0"/>
                  </a:rPr>
                  <a:t>.</a:t>
                </a:r>
              </a:p>
              <a:p>
                <a:pPr marL="0" lvl="1" indent="0">
                  <a:spcBef>
                    <a:spcPts val="1350"/>
                  </a:spcBef>
                  <a:buClr>
                    <a:srgbClr val="C00000"/>
                  </a:buClr>
                  <a:buSzPct val="90000"/>
                  <a:buNone/>
                </a:pPr>
                <a:r>
                  <a:rPr lang="en-GB" sz="1950" dirty="0">
                    <a:ea typeface="Cambria Math" panose="02040503050406030204" pitchFamily="18" charset="0"/>
                  </a:rPr>
                  <a:t>at a discount rate </a:t>
                </a:r>
                <a14:m>
                  <m:oMath xmlns:m="http://schemas.openxmlformats.org/officeDocument/2006/math">
                    <m:r>
                      <a:rPr lang="en-GB" sz="1950" i="1">
                        <a:latin typeface="Cambria Math" panose="02040503050406030204" pitchFamily="18" charset="0"/>
                        <a:ea typeface="Cambria Math" panose="02040503050406030204" pitchFamily="18" charset="0"/>
                      </a:rPr>
                      <m:t>𝑟</m:t>
                    </m:r>
                  </m:oMath>
                </a14:m>
                <a:r>
                  <a:rPr lang="en-GB" sz="1950" dirty="0">
                    <a:ea typeface="Cambria Math" panose="02040503050406030204" pitchFamily="18" charset="0"/>
                  </a:rPr>
                  <a:t>.</a:t>
                </a:r>
              </a:p>
              <a:p>
                <a:pPr marL="0" lvl="1" indent="0">
                  <a:spcBef>
                    <a:spcPts val="1350"/>
                  </a:spcBef>
                  <a:buClr>
                    <a:srgbClr val="C00000"/>
                  </a:buClr>
                  <a:buSzPct val="90000"/>
                  <a:buNone/>
                </a:pPr>
                <a14:m>
                  <m:oMathPara xmlns:m="http://schemas.openxmlformats.org/officeDocument/2006/math">
                    <m:oMathParaPr>
                      <m:jc m:val="centerGroup"/>
                    </m:oMathParaPr>
                    <m:oMath xmlns:m="http://schemas.openxmlformats.org/officeDocument/2006/math">
                      <m:sSub>
                        <m:sSubPr>
                          <m:ctrlPr>
                            <a:rPr lang="en-GB" sz="1950" i="1">
                              <a:solidFill>
                                <a:schemeClr val="accent5">
                                  <a:lumMod val="75000"/>
                                </a:schemeClr>
                              </a:solidFill>
                              <a:latin typeface="Cambria Math" panose="02040503050406030204" pitchFamily="18" charset="0"/>
                              <a:ea typeface="Cambria Math" panose="02040503050406030204" pitchFamily="18" charset="0"/>
                            </a:rPr>
                          </m:ctrlPr>
                        </m:sSubPr>
                        <m:e>
                          <m:r>
                            <a:rPr lang="en-GB" sz="1950" i="1">
                              <a:solidFill>
                                <a:schemeClr val="accent5">
                                  <a:lumMod val="75000"/>
                                </a:schemeClr>
                              </a:solidFill>
                              <a:latin typeface="Cambria Math" panose="02040503050406030204" pitchFamily="18" charset="0"/>
                              <a:ea typeface="Cambria Math" panose="02040503050406030204" pitchFamily="18" charset="0"/>
                            </a:rPr>
                            <m:t>𝑃</m:t>
                          </m:r>
                        </m:e>
                        <m:sub>
                          <m:r>
                            <a:rPr lang="en-GB" sz="1950" i="1">
                              <a:solidFill>
                                <a:schemeClr val="accent5">
                                  <a:lumMod val="75000"/>
                                </a:schemeClr>
                              </a:solidFill>
                              <a:latin typeface="Cambria Math" panose="02040503050406030204" pitchFamily="18" charset="0"/>
                              <a:ea typeface="Cambria Math" panose="02040503050406030204" pitchFamily="18" charset="0"/>
                            </a:rPr>
                            <m:t>0</m:t>
                          </m:r>
                        </m:sub>
                      </m:sSub>
                      <m:r>
                        <a:rPr lang="en-GB" sz="1950" i="1">
                          <a:solidFill>
                            <a:schemeClr val="accent5">
                              <a:lumMod val="75000"/>
                            </a:schemeClr>
                          </a:solidFill>
                          <a:latin typeface="Cambria Math" panose="02040503050406030204" pitchFamily="18" charset="0"/>
                          <a:ea typeface="Cambria Math" panose="02040503050406030204" pitchFamily="18" charset="0"/>
                        </a:rPr>
                        <m:t>=</m:t>
                      </m:r>
                      <m:f>
                        <m:fPr>
                          <m:ctrlPr>
                            <a:rPr lang="en-GB" sz="1950" i="1">
                              <a:solidFill>
                                <a:schemeClr val="accent5">
                                  <a:lumMod val="75000"/>
                                </a:schemeClr>
                              </a:solidFill>
                              <a:latin typeface="Cambria Math" panose="02040503050406030204" pitchFamily="18" charset="0"/>
                              <a:ea typeface="Cambria Math" panose="02040503050406030204" pitchFamily="18" charset="0"/>
                            </a:rPr>
                          </m:ctrlPr>
                        </m:fPr>
                        <m:num>
                          <m:sSub>
                            <m:sSubPr>
                              <m:ctrlPr>
                                <a:rPr lang="en-GB" sz="1950" i="1">
                                  <a:solidFill>
                                    <a:schemeClr val="accent5">
                                      <a:lumMod val="75000"/>
                                    </a:schemeClr>
                                  </a:solidFill>
                                  <a:latin typeface="Cambria Math" panose="02040503050406030204" pitchFamily="18" charset="0"/>
                                  <a:ea typeface="Cambria Math" panose="02040503050406030204" pitchFamily="18" charset="0"/>
                                </a:rPr>
                              </m:ctrlPr>
                            </m:sSubPr>
                            <m:e>
                              <m:r>
                                <a:rPr lang="en-GB" sz="1950" i="1">
                                  <a:solidFill>
                                    <a:schemeClr val="accent5">
                                      <a:lumMod val="75000"/>
                                    </a:schemeClr>
                                  </a:solidFill>
                                  <a:latin typeface="Cambria Math" panose="02040503050406030204" pitchFamily="18" charset="0"/>
                                  <a:ea typeface="Cambria Math" panose="02040503050406030204" pitchFamily="18" charset="0"/>
                                </a:rPr>
                                <m:t>𝐷</m:t>
                              </m:r>
                            </m:e>
                            <m:sub>
                              <m:r>
                                <a:rPr lang="en-GB" sz="1950" i="1">
                                  <a:solidFill>
                                    <a:schemeClr val="accent5">
                                      <a:lumMod val="75000"/>
                                    </a:schemeClr>
                                  </a:solidFill>
                                  <a:latin typeface="Cambria Math" panose="02040503050406030204" pitchFamily="18" charset="0"/>
                                  <a:ea typeface="Cambria Math" panose="02040503050406030204" pitchFamily="18" charset="0"/>
                                </a:rPr>
                                <m:t>1</m:t>
                              </m:r>
                            </m:sub>
                          </m:sSub>
                        </m:num>
                        <m:den>
                          <m:r>
                            <a:rPr lang="en-GB" sz="1950" i="1">
                              <a:solidFill>
                                <a:schemeClr val="accent5">
                                  <a:lumMod val="75000"/>
                                </a:schemeClr>
                              </a:solidFill>
                              <a:latin typeface="Cambria Math" panose="02040503050406030204" pitchFamily="18" charset="0"/>
                              <a:ea typeface="Cambria Math" panose="02040503050406030204" pitchFamily="18" charset="0"/>
                            </a:rPr>
                            <m:t>𝑟</m:t>
                          </m:r>
                          <m:r>
                            <a:rPr lang="en-GB" sz="1950" i="1">
                              <a:solidFill>
                                <a:schemeClr val="accent5">
                                  <a:lumMod val="75000"/>
                                </a:schemeClr>
                              </a:solidFill>
                              <a:latin typeface="Cambria Math" panose="02040503050406030204" pitchFamily="18" charset="0"/>
                              <a:ea typeface="Cambria Math" panose="02040503050406030204" pitchFamily="18" charset="0"/>
                            </a:rPr>
                            <m:t>−</m:t>
                          </m:r>
                          <m:r>
                            <a:rPr lang="en-GB" sz="1950" i="1">
                              <a:solidFill>
                                <a:schemeClr val="accent5">
                                  <a:lumMod val="75000"/>
                                </a:schemeClr>
                              </a:solidFill>
                              <a:latin typeface="Cambria Math" panose="02040503050406030204" pitchFamily="18" charset="0"/>
                              <a:ea typeface="Cambria Math" panose="02040503050406030204" pitchFamily="18" charset="0"/>
                            </a:rPr>
                            <m:t>𝑔</m:t>
                          </m:r>
                        </m:den>
                      </m:f>
                    </m:oMath>
                  </m:oMathPara>
                </a14:m>
                <a:endParaRPr lang="en-GB" sz="1950" i="1" dirty="0">
                  <a:ea typeface="Cambria Math" panose="02040503050406030204" pitchFamily="18" charset="0"/>
                </a:endParaRPr>
              </a:p>
              <a:p>
                <a:pPr marL="0" lvl="1" indent="0">
                  <a:spcBef>
                    <a:spcPts val="1350"/>
                  </a:spcBef>
                  <a:buClr>
                    <a:srgbClr val="C00000"/>
                  </a:buClr>
                  <a:buSzPct val="90000"/>
                  <a:buNone/>
                </a:pPr>
                <a:endParaRPr lang="en-GB" sz="1950" dirty="0">
                  <a:solidFill>
                    <a:schemeClr val="accent5">
                      <a:lumMod val="75000"/>
                    </a:schemeClr>
                  </a:solidFill>
                  <a:ea typeface="Cambria Math" panose="02040503050406030204" pitchFamily="18" charset="0"/>
                </a:endParaRPr>
              </a:p>
              <a:p>
                <a:pPr marL="0" indent="0" algn="just">
                  <a:spcBef>
                    <a:spcPts val="1350"/>
                  </a:spcBef>
                  <a:buClr>
                    <a:srgbClr val="C00000"/>
                  </a:buClr>
                  <a:buSzPct val="90000"/>
                  <a:buNone/>
                </a:pPr>
                <a:r>
                  <a:rPr lang="en-GB" sz="1800" b="1" dirty="0">
                    <a:solidFill>
                      <a:schemeClr val="accent5">
                        <a:lumMod val="75000"/>
                      </a:schemeClr>
                    </a:solidFill>
                    <a:ea typeface="Cambria Math" panose="02040503050406030204" pitchFamily="18" charset="0"/>
                  </a:rPr>
                  <a:t>Example 6: </a:t>
                </a:r>
                <a:r>
                  <a:rPr lang="en-GB" sz="1800" dirty="0"/>
                  <a:t>Imperial Brands shares are expected to pay a dividend of 206.57p per share next year, which will grow indefinitely at a rate of 2%. </a:t>
                </a:r>
              </a:p>
              <a:p>
                <a:pPr marL="0" indent="0" algn="just">
                  <a:spcBef>
                    <a:spcPts val="1350"/>
                  </a:spcBef>
                  <a:buClr>
                    <a:srgbClr val="C00000"/>
                  </a:buClr>
                  <a:buSzPct val="90000"/>
                  <a:buNone/>
                </a:pPr>
                <a:r>
                  <a:rPr lang="en-GB" sz="1800" dirty="0"/>
                  <a:t>Using a discount rate of 5%, what is the </a:t>
                </a:r>
                <a:r>
                  <a:rPr lang="en-GB" sz="1800" i="1" dirty="0"/>
                  <a:t>fair value </a:t>
                </a:r>
                <a:r>
                  <a:rPr lang="en-GB" sz="1800" dirty="0"/>
                  <a:t>of Imperial Brands A shares?</a:t>
                </a:r>
              </a:p>
              <a:p>
                <a:pPr marL="0" lvl="1" indent="0">
                  <a:spcBef>
                    <a:spcPts val="1350"/>
                  </a:spcBef>
                  <a:buClr>
                    <a:srgbClr val="C00000"/>
                  </a:buClr>
                  <a:buSzPct val="90000"/>
                  <a:buNone/>
                </a:pPr>
                <a:endParaRPr lang="en-GB" sz="1950"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8591550" cy="4005724"/>
              </a:xfrm>
              <a:blipFill>
                <a:blip r:embed="rId4"/>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16</a:t>
            </a:fld>
            <a:endParaRPr lang="en-GB" sz="1350" dirty="0">
              <a:solidFill>
                <a:prstClr val="black">
                  <a:lumMod val="50000"/>
                  <a:lumOff val="50000"/>
                </a:prstClr>
              </a:solidFill>
              <a:latin typeface="Calibri" panose="020F0502020204030204"/>
              <a:ea typeface="+mn-ea"/>
            </a:endParaRPr>
          </a:p>
        </p:txBody>
      </p:sp>
    </p:spTree>
    <p:extLst>
      <p:ext uri="{BB962C8B-B14F-4D97-AF65-F5344CB8AC3E}">
        <p14:creationId xmlns:p14="http://schemas.microsoft.com/office/powerpoint/2010/main" val="2631705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t>Share Value – Non-Constant Growth</a:t>
            </a:r>
          </a:p>
        </p:txBody>
      </p:sp>
      <p:sp>
        <p:nvSpPr>
          <p:cNvPr id="3" name="Content Placeholder 2"/>
          <p:cNvSpPr>
            <a:spLocks noGrp="1"/>
          </p:cNvSpPr>
          <p:nvPr>
            <p:ph idx="1"/>
          </p:nvPr>
        </p:nvSpPr>
        <p:spPr>
          <a:xfrm>
            <a:off x="266700" y="1704974"/>
            <a:ext cx="8591550" cy="4005724"/>
          </a:xfrm>
        </p:spPr>
        <p:txBody>
          <a:bodyPr>
            <a:normAutofit/>
          </a:bodyPr>
          <a:lstStyle/>
          <a:p>
            <a:pPr marL="0" lvl="1" indent="0" algn="just">
              <a:spcBef>
                <a:spcPts val="3150"/>
              </a:spcBef>
              <a:buClr>
                <a:srgbClr val="C00000"/>
              </a:buClr>
              <a:buSzPct val="90000"/>
              <a:buNone/>
            </a:pPr>
            <a:r>
              <a:rPr lang="en-GB" sz="1950" b="1" dirty="0">
                <a:solidFill>
                  <a:schemeClr val="accent5">
                    <a:lumMod val="75000"/>
                  </a:schemeClr>
                </a:solidFill>
                <a:ea typeface="Cambria Math" panose="02040503050406030204" pitchFamily="18" charset="0"/>
              </a:rPr>
              <a:t>Example 7: </a:t>
            </a:r>
            <a:r>
              <a:rPr lang="en-GB" sz="1950" dirty="0" err="1">
                <a:ea typeface="Cambria Math" panose="02040503050406030204" pitchFamily="18" charset="0"/>
              </a:rPr>
              <a:t>Reise</a:t>
            </a:r>
            <a:r>
              <a:rPr lang="en-GB" sz="1950" dirty="0">
                <a:ea typeface="Cambria Math" panose="02040503050406030204" pitchFamily="18" charset="0"/>
              </a:rPr>
              <a:t> Plc is expected to pay out a dividend of £0.75, £0.52 and £0.33 per share next three years, respectively, after which the dividend is expected to grow at 2.50% per year, indefinitely. </a:t>
            </a:r>
          </a:p>
          <a:p>
            <a:pPr marL="0" indent="0" algn="just">
              <a:spcBef>
                <a:spcPts val="1350"/>
              </a:spcBef>
              <a:buClr>
                <a:srgbClr val="C00000"/>
              </a:buClr>
              <a:buSzPct val="90000"/>
              <a:buNone/>
            </a:pPr>
            <a:r>
              <a:rPr lang="en-GB" sz="1800" dirty="0"/>
              <a:t>Using a discount rate of 7%, what is the </a:t>
            </a:r>
            <a:r>
              <a:rPr lang="en-GB" sz="1800" i="1" dirty="0"/>
              <a:t>fair value </a:t>
            </a:r>
            <a:r>
              <a:rPr lang="en-GB" sz="1800" dirty="0"/>
              <a:t>of </a:t>
            </a:r>
            <a:r>
              <a:rPr lang="en-GB" sz="1800" dirty="0" err="1"/>
              <a:t>Reise</a:t>
            </a:r>
            <a:r>
              <a:rPr lang="en-GB" sz="1800" dirty="0"/>
              <a:t> Plc shares?</a:t>
            </a:r>
          </a:p>
          <a:p>
            <a:pPr marL="0" indent="0" algn="just">
              <a:spcBef>
                <a:spcPts val="1350"/>
              </a:spcBef>
              <a:buClr>
                <a:srgbClr val="C00000"/>
              </a:buClr>
              <a:buSzPct val="90000"/>
              <a:buNone/>
            </a:pPr>
            <a:r>
              <a:rPr lang="en-GB" sz="1800" i="1" dirty="0">
                <a:ea typeface="Cambria Math" panose="02040503050406030204" pitchFamily="18" charset="0"/>
              </a:rPr>
              <a:t>Time line</a:t>
            </a:r>
          </a:p>
          <a:p>
            <a:pPr marL="0" indent="0" algn="just">
              <a:spcBef>
                <a:spcPts val="1350"/>
              </a:spcBef>
              <a:buClr>
                <a:srgbClr val="C00000"/>
              </a:buClr>
              <a:buSzPct val="90000"/>
              <a:buNone/>
            </a:pPr>
            <a:endParaRPr lang="en-GB" sz="1800" i="1" dirty="0">
              <a:ea typeface="Cambria Math" panose="02040503050406030204" pitchFamily="18" charset="0"/>
            </a:endParaRPr>
          </a:p>
          <a:p>
            <a:pPr marL="0" indent="0" algn="just">
              <a:spcBef>
                <a:spcPts val="1350"/>
              </a:spcBef>
              <a:buClr>
                <a:srgbClr val="C00000"/>
              </a:buClr>
              <a:buSzPct val="90000"/>
              <a:buNone/>
            </a:pPr>
            <a:endParaRPr lang="en-GB" sz="1800" i="1" dirty="0">
              <a:ea typeface="Cambria Math" panose="02040503050406030204" pitchFamily="18" charset="0"/>
            </a:endParaRPr>
          </a:p>
          <a:p>
            <a:pPr marL="0" indent="0" algn="just">
              <a:spcBef>
                <a:spcPts val="1350"/>
              </a:spcBef>
              <a:buClr>
                <a:srgbClr val="C00000"/>
              </a:buClr>
              <a:buSzPct val="90000"/>
              <a:buNone/>
            </a:pPr>
            <a:endParaRPr lang="en-GB" sz="1800" i="1" dirty="0">
              <a:ea typeface="Cambria Math" panose="02040503050406030204" pitchFamily="18" charset="0"/>
            </a:endParaRPr>
          </a:p>
        </p:txBody>
      </p:sp>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17</a:t>
            </a:fld>
            <a:endParaRPr lang="en-GB" sz="1350" dirty="0">
              <a:solidFill>
                <a:prstClr val="black">
                  <a:lumMod val="50000"/>
                  <a:lumOff val="50000"/>
                </a:prstClr>
              </a:solidFill>
              <a:latin typeface="Calibri" panose="020F0502020204030204"/>
              <a:ea typeface="+mn-ea"/>
            </a:endParaRPr>
          </a:p>
        </p:txBody>
      </p:sp>
      <p:cxnSp>
        <p:nvCxnSpPr>
          <p:cNvPr id="6" name="Straight Connector 5">
            <a:extLst>
              <a:ext uri="{FF2B5EF4-FFF2-40B4-BE49-F238E27FC236}">
                <a16:creationId xmlns:a16="http://schemas.microsoft.com/office/drawing/2014/main" id="{CCAEDA38-EEB6-4768-B50D-753BD0EEADB5}"/>
              </a:ext>
            </a:extLst>
          </p:cNvPr>
          <p:cNvCxnSpPr>
            <a:cxnSpLocks/>
          </p:cNvCxnSpPr>
          <p:nvPr/>
        </p:nvCxnSpPr>
        <p:spPr>
          <a:xfrm flipV="1">
            <a:off x="4069255" y="4047710"/>
            <a:ext cx="4819233" cy="0"/>
          </a:xfrm>
          <a:prstGeom prst="line">
            <a:avLst/>
          </a:prstGeom>
          <a:ln w="38100">
            <a:solidFill>
              <a:srgbClr val="0070C0"/>
            </a:solidFill>
            <a:headEnd type="none" w="med" len="med"/>
            <a:tailEnd type="arrow" w="lg" len="lg"/>
          </a:ln>
        </p:spPr>
        <p:style>
          <a:lnRef idx="3">
            <a:schemeClr val="accent6"/>
          </a:lnRef>
          <a:fillRef idx="0">
            <a:schemeClr val="accent6"/>
          </a:fillRef>
          <a:effectRef idx="2">
            <a:schemeClr val="accent6"/>
          </a:effectRef>
          <a:fontRef idx="minor">
            <a:schemeClr val="tx1"/>
          </a:fontRef>
        </p:style>
      </p:cxnSp>
      <p:cxnSp>
        <p:nvCxnSpPr>
          <p:cNvPr id="7" name="Straight Connector 6">
            <a:extLst>
              <a:ext uri="{FF2B5EF4-FFF2-40B4-BE49-F238E27FC236}">
                <a16:creationId xmlns:a16="http://schemas.microsoft.com/office/drawing/2014/main" id="{3A9AFE66-62AF-4179-896C-CEC2BFB5C97A}"/>
              </a:ext>
            </a:extLst>
          </p:cNvPr>
          <p:cNvCxnSpPr>
            <a:cxnSpLocks/>
          </p:cNvCxnSpPr>
          <p:nvPr/>
        </p:nvCxnSpPr>
        <p:spPr>
          <a:xfrm>
            <a:off x="1626177" y="3898624"/>
            <a:ext cx="0" cy="29817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AF0506-73E5-4F37-AC68-CE7EBC5536A0}"/>
              </a:ext>
            </a:extLst>
          </p:cNvPr>
          <p:cNvCxnSpPr>
            <a:cxnSpLocks/>
          </p:cNvCxnSpPr>
          <p:nvPr/>
        </p:nvCxnSpPr>
        <p:spPr>
          <a:xfrm>
            <a:off x="2811563" y="3912389"/>
            <a:ext cx="0" cy="29817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32A1919-CB5D-46B5-A344-74293BAEB14C}"/>
                  </a:ext>
                </a:extLst>
              </p:cNvPr>
              <p:cNvSpPr txBox="1"/>
              <p:nvPr/>
            </p:nvSpPr>
            <p:spPr>
              <a:xfrm>
                <a:off x="31153" y="4279286"/>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rgbClr val="C00000"/>
                          </a:solidFill>
                          <a:latin typeface="Cambria Math" panose="02040503050406030204" pitchFamily="18" charset="0"/>
                          <a:ea typeface="+mn-ea"/>
                        </a:rPr>
                        <m:t>𝑡</m:t>
                      </m:r>
                      <m:r>
                        <a:rPr lang="en-GB" sz="1350" i="1">
                          <a:solidFill>
                            <a:srgbClr val="C00000"/>
                          </a:solidFill>
                          <a:latin typeface="Cambria Math" panose="02040503050406030204" pitchFamily="18" charset="0"/>
                          <a:ea typeface="+mn-ea"/>
                        </a:rPr>
                        <m:t>=0</m:t>
                      </m:r>
                    </m:oMath>
                  </m:oMathPara>
                </a14:m>
                <a:endParaRPr lang="en-GB" sz="1350" dirty="0">
                  <a:solidFill>
                    <a:srgbClr val="C00000"/>
                  </a:solidFill>
                  <a:latin typeface="Calibri" panose="020F0502020204030204"/>
                  <a:ea typeface="+mn-ea"/>
                </a:endParaRPr>
              </a:p>
            </p:txBody>
          </p:sp>
        </mc:Choice>
        <mc:Fallback xmlns="">
          <p:sp>
            <p:nvSpPr>
              <p:cNvPr id="9" name="TextBox 8">
                <a:extLst>
                  <a:ext uri="{FF2B5EF4-FFF2-40B4-BE49-F238E27FC236}">
                    <a16:creationId xmlns:a16="http://schemas.microsoft.com/office/drawing/2014/main" id="{632A1919-CB5D-46B5-A344-74293BAEB14C}"/>
                  </a:ext>
                </a:extLst>
              </p:cNvPr>
              <p:cNvSpPr txBox="1">
                <a:spLocks noRot="1" noChangeAspect="1" noMove="1" noResize="1" noEditPoints="1" noAdjustHandles="1" noChangeArrowheads="1" noChangeShapeType="1" noTextEdit="1"/>
              </p:cNvSpPr>
              <p:nvPr/>
            </p:nvSpPr>
            <p:spPr>
              <a:xfrm>
                <a:off x="31153" y="4279286"/>
                <a:ext cx="660382" cy="300082"/>
              </a:xfrm>
              <a:prstGeom prst="rect">
                <a:avLst/>
              </a:prstGeom>
              <a:blipFill>
                <a:blip r:embed="rId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37B08C1-DF22-4866-8293-6B806C2D3DC3}"/>
                  </a:ext>
                </a:extLst>
              </p:cNvPr>
              <p:cNvSpPr txBox="1"/>
              <p:nvPr/>
            </p:nvSpPr>
            <p:spPr>
              <a:xfrm>
                <a:off x="8508059" y="4199548"/>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chemeClr val="accent1">
                              <a:lumMod val="75000"/>
                            </a:schemeClr>
                          </a:solidFill>
                          <a:latin typeface="Cambria Math" panose="02040503050406030204" pitchFamily="18" charset="0"/>
                          <a:ea typeface="Cambria Math" panose="02040503050406030204" pitchFamily="18" charset="0"/>
                        </a:rPr>
                        <m:t>∞</m:t>
                      </m:r>
                    </m:oMath>
                  </m:oMathPara>
                </a14:m>
                <a:endParaRPr lang="en-GB" sz="1350" dirty="0">
                  <a:solidFill>
                    <a:schemeClr val="accent1">
                      <a:lumMod val="75000"/>
                    </a:schemeClr>
                  </a:solidFill>
                  <a:latin typeface="Calibri" panose="020F0502020204030204"/>
                  <a:ea typeface="+mn-ea"/>
                </a:endParaRPr>
              </a:p>
            </p:txBody>
          </p:sp>
        </mc:Choice>
        <mc:Fallback xmlns="">
          <p:sp>
            <p:nvSpPr>
              <p:cNvPr id="10" name="TextBox 9">
                <a:extLst>
                  <a:ext uri="{FF2B5EF4-FFF2-40B4-BE49-F238E27FC236}">
                    <a16:creationId xmlns:a16="http://schemas.microsoft.com/office/drawing/2014/main" id="{E37B08C1-DF22-4866-8293-6B806C2D3DC3}"/>
                  </a:ext>
                </a:extLst>
              </p:cNvPr>
              <p:cNvSpPr txBox="1">
                <a:spLocks noRot="1" noChangeAspect="1" noMove="1" noResize="1" noEditPoints="1" noAdjustHandles="1" noChangeArrowheads="1" noChangeShapeType="1" noTextEdit="1"/>
              </p:cNvSpPr>
              <p:nvPr/>
            </p:nvSpPr>
            <p:spPr>
              <a:xfrm>
                <a:off x="8508059" y="4199548"/>
                <a:ext cx="660382" cy="300082"/>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294FF58-FCC7-4799-BAD3-A2D90B36E344}"/>
                  </a:ext>
                </a:extLst>
              </p:cNvPr>
              <p:cNvSpPr txBox="1"/>
              <p:nvPr/>
            </p:nvSpPr>
            <p:spPr>
              <a:xfrm>
                <a:off x="7991511" y="4177459"/>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chemeClr val="accent1">
                              <a:lumMod val="75000"/>
                            </a:schemeClr>
                          </a:solidFill>
                          <a:latin typeface="Cambria Math" panose="02040503050406030204" pitchFamily="18" charset="0"/>
                          <a:ea typeface="+mn-ea"/>
                        </a:rPr>
                        <m:t>…</m:t>
                      </m:r>
                    </m:oMath>
                  </m:oMathPara>
                </a14:m>
                <a:endParaRPr lang="en-GB" sz="1350" dirty="0">
                  <a:solidFill>
                    <a:schemeClr val="accent1">
                      <a:lumMod val="75000"/>
                    </a:schemeClr>
                  </a:solidFill>
                  <a:latin typeface="Calibri" panose="020F0502020204030204"/>
                  <a:ea typeface="+mn-ea"/>
                </a:endParaRPr>
              </a:p>
            </p:txBody>
          </p:sp>
        </mc:Choice>
        <mc:Fallback xmlns="">
          <p:sp>
            <p:nvSpPr>
              <p:cNvPr id="12" name="TextBox 11">
                <a:extLst>
                  <a:ext uri="{FF2B5EF4-FFF2-40B4-BE49-F238E27FC236}">
                    <a16:creationId xmlns:a16="http://schemas.microsoft.com/office/drawing/2014/main" id="{4294FF58-FCC7-4799-BAD3-A2D90B36E344}"/>
                  </a:ext>
                </a:extLst>
              </p:cNvPr>
              <p:cNvSpPr txBox="1">
                <a:spLocks noRot="1" noChangeAspect="1" noMove="1" noResize="1" noEditPoints="1" noAdjustHandles="1" noChangeArrowheads="1" noChangeShapeType="1" noTextEdit="1"/>
              </p:cNvSpPr>
              <p:nvPr/>
            </p:nvSpPr>
            <p:spPr>
              <a:xfrm>
                <a:off x="7991511" y="4177459"/>
                <a:ext cx="630848" cy="300082"/>
              </a:xfrm>
              <a:prstGeom prst="rect">
                <a:avLst/>
              </a:prstGeom>
              <a:blipFill>
                <a:blip r:embed="rId5"/>
                <a:stretch>
                  <a:fillRect/>
                </a:stretch>
              </a:blipFill>
              <a:ln>
                <a:noFill/>
              </a:ln>
            </p:spPr>
            <p:txBody>
              <a:bodyPr/>
              <a:lstStyle/>
              <a:p>
                <a:r>
                  <a:rPr lang="en-GB">
                    <a:noFill/>
                  </a:rPr>
                  <a:t> </a:t>
                </a:r>
              </a:p>
            </p:txBody>
          </p:sp>
        </mc:Fallback>
      </mc:AlternateContent>
      <p:cxnSp>
        <p:nvCxnSpPr>
          <p:cNvPr id="14" name="Straight Connector 13">
            <a:extLst>
              <a:ext uri="{FF2B5EF4-FFF2-40B4-BE49-F238E27FC236}">
                <a16:creationId xmlns:a16="http://schemas.microsoft.com/office/drawing/2014/main" id="{AF4DBBCA-471C-4BE3-B718-A8D1982DA758}"/>
              </a:ext>
            </a:extLst>
          </p:cNvPr>
          <p:cNvCxnSpPr>
            <a:cxnSpLocks/>
          </p:cNvCxnSpPr>
          <p:nvPr/>
        </p:nvCxnSpPr>
        <p:spPr>
          <a:xfrm>
            <a:off x="311969" y="3886740"/>
            <a:ext cx="0" cy="29817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1017527-10C6-4417-BBEF-8C512552C766}"/>
                  </a:ext>
                </a:extLst>
              </p:cNvPr>
              <p:cNvSpPr txBox="1"/>
              <p:nvPr/>
            </p:nvSpPr>
            <p:spPr>
              <a:xfrm>
                <a:off x="1310753" y="4279286"/>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rgbClr val="C00000"/>
                          </a:solidFill>
                          <a:latin typeface="Cambria Math" panose="02040503050406030204" pitchFamily="18" charset="0"/>
                          <a:ea typeface="+mn-ea"/>
                        </a:rPr>
                        <m:t>𝑡</m:t>
                      </m:r>
                      <m:r>
                        <a:rPr lang="en-GB" sz="1350" i="1">
                          <a:solidFill>
                            <a:srgbClr val="C00000"/>
                          </a:solidFill>
                          <a:latin typeface="Cambria Math" panose="02040503050406030204" pitchFamily="18" charset="0"/>
                          <a:ea typeface="+mn-ea"/>
                        </a:rPr>
                        <m:t>=1</m:t>
                      </m:r>
                    </m:oMath>
                  </m:oMathPara>
                </a14:m>
                <a:endParaRPr lang="en-GB" sz="1350" dirty="0">
                  <a:solidFill>
                    <a:srgbClr val="C00000"/>
                  </a:solidFill>
                  <a:latin typeface="Calibri" panose="020F0502020204030204"/>
                  <a:ea typeface="+mn-ea"/>
                </a:endParaRPr>
              </a:p>
            </p:txBody>
          </p:sp>
        </mc:Choice>
        <mc:Fallback xmlns="">
          <p:sp>
            <p:nvSpPr>
              <p:cNvPr id="15" name="TextBox 14">
                <a:extLst>
                  <a:ext uri="{FF2B5EF4-FFF2-40B4-BE49-F238E27FC236}">
                    <a16:creationId xmlns:a16="http://schemas.microsoft.com/office/drawing/2014/main" id="{C1017527-10C6-4417-BBEF-8C512552C766}"/>
                  </a:ext>
                </a:extLst>
              </p:cNvPr>
              <p:cNvSpPr txBox="1">
                <a:spLocks noRot="1" noChangeAspect="1" noMove="1" noResize="1" noEditPoints="1" noAdjustHandles="1" noChangeArrowheads="1" noChangeShapeType="1" noTextEdit="1"/>
              </p:cNvSpPr>
              <p:nvPr/>
            </p:nvSpPr>
            <p:spPr>
              <a:xfrm>
                <a:off x="1310753" y="4279286"/>
                <a:ext cx="630848" cy="300082"/>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DB82E86-2861-449C-89E6-8D8552289E32}"/>
                  </a:ext>
                </a:extLst>
              </p:cNvPr>
              <p:cNvSpPr txBox="1"/>
              <p:nvPr/>
            </p:nvSpPr>
            <p:spPr>
              <a:xfrm>
                <a:off x="2533120" y="4279286"/>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rgbClr val="C00000"/>
                          </a:solidFill>
                          <a:latin typeface="Cambria Math" panose="02040503050406030204" pitchFamily="18" charset="0"/>
                          <a:ea typeface="+mn-ea"/>
                        </a:rPr>
                        <m:t>𝑡</m:t>
                      </m:r>
                      <m:r>
                        <a:rPr lang="en-GB" sz="1350" i="1">
                          <a:solidFill>
                            <a:srgbClr val="C00000"/>
                          </a:solidFill>
                          <a:latin typeface="Cambria Math" panose="02040503050406030204" pitchFamily="18" charset="0"/>
                          <a:ea typeface="+mn-ea"/>
                        </a:rPr>
                        <m:t>=2</m:t>
                      </m:r>
                    </m:oMath>
                  </m:oMathPara>
                </a14:m>
                <a:endParaRPr lang="en-GB" sz="1350" dirty="0">
                  <a:solidFill>
                    <a:srgbClr val="C00000"/>
                  </a:solidFill>
                  <a:latin typeface="Calibri" panose="020F0502020204030204"/>
                  <a:ea typeface="+mn-ea"/>
                </a:endParaRPr>
              </a:p>
            </p:txBody>
          </p:sp>
        </mc:Choice>
        <mc:Fallback xmlns="">
          <p:sp>
            <p:nvSpPr>
              <p:cNvPr id="16" name="TextBox 15">
                <a:extLst>
                  <a:ext uri="{FF2B5EF4-FFF2-40B4-BE49-F238E27FC236}">
                    <a16:creationId xmlns:a16="http://schemas.microsoft.com/office/drawing/2014/main" id="{BDB82E86-2861-449C-89E6-8D8552289E32}"/>
                  </a:ext>
                </a:extLst>
              </p:cNvPr>
              <p:cNvSpPr txBox="1">
                <a:spLocks noRot="1" noChangeAspect="1" noMove="1" noResize="1" noEditPoints="1" noAdjustHandles="1" noChangeArrowheads="1" noChangeShapeType="1" noTextEdit="1"/>
              </p:cNvSpPr>
              <p:nvPr/>
            </p:nvSpPr>
            <p:spPr>
              <a:xfrm>
                <a:off x="2533120" y="4279286"/>
                <a:ext cx="630848" cy="300082"/>
              </a:xfrm>
              <a:prstGeom prst="rect">
                <a:avLst/>
              </a:prstGeom>
              <a:blipFill>
                <a:blip r:embed="rId7"/>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849ED76-50FB-4392-A405-E40745FE8AD7}"/>
                  </a:ext>
                </a:extLst>
              </p:cNvPr>
              <p:cNvSpPr txBox="1"/>
              <p:nvPr/>
            </p:nvSpPr>
            <p:spPr>
              <a:xfrm>
                <a:off x="2392758" y="3501693"/>
                <a:ext cx="879686"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solidFill>
                            <a:srgbClr val="C00000"/>
                          </a:solidFill>
                          <a:latin typeface="Cambria Math" panose="02040503050406030204" pitchFamily="18" charset="0"/>
                        </a:rPr>
                        <m:t>£0.52</m:t>
                      </m:r>
                    </m:oMath>
                  </m:oMathPara>
                </a14:m>
                <a:endParaRPr lang="en-GB" sz="1500" dirty="0">
                  <a:solidFill>
                    <a:srgbClr val="C00000"/>
                  </a:solidFill>
                </a:endParaRPr>
              </a:p>
            </p:txBody>
          </p:sp>
        </mc:Choice>
        <mc:Fallback xmlns="">
          <p:sp>
            <p:nvSpPr>
              <p:cNvPr id="32" name="TextBox 31">
                <a:extLst>
                  <a:ext uri="{FF2B5EF4-FFF2-40B4-BE49-F238E27FC236}">
                    <a16:creationId xmlns:a16="http://schemas.microsoft.com/office/drawing/2014/main" id="{7849ED76-50FB-4392-A405-E40745FE8AD7}"/>
                  </a:ext>
                </a:extLst>
              </p:cNvPr>
              <p:cNvSpPr txBox="1">
                <a:spLocks noRot="1" noChangeAspect="1" noMove="1" noResize="1" noEditPoints="1" noAdjustHandles="1" noChangeArrowheads="1" noChangeShapeType="1" noTextEdit="1"/>
              </p:cNvSpPr>
              <p:nvPr/>
            </p:nvSpPr>
            <p:spPr>
              <a:xfrm>
                <a:off x="2392758" y="3501693"/>
                <a:ext cx="879686" cy="323165"/>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AC27355-19EA-4BCE-8780-1D5BEC78DBD2}"/>
                  </a:ext>
                </a:extLst>
              </p:cNvPr>
              <p:cNvSpPr txBox="1"/>
              <p:nvPr/>
            </p:nvSpPr>
            <p:spPr>
              <a:xfrm>
                <a:off x="7804909" y="3539597"/>
                <a:ext cx="1004052"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dirty="0">
                          <a:solidFill>
                            <a:schemeClr val="accent1">
                              <a:lumMod val="75000"/>
                            </a:schemeClr>
                          </a:solidFill>
                          <a:latin typeface="Cambria Math" panose="02040503050406030204" pitchFamily="18" charset="0"/>
                        </a:rPr>
                        <m:t>…</m:t>
                      </m:r>
                    </m:oMath>
                  </m:oMathPara>
                </a14:m>
                <a:endParaRPr lang="en-GB" sz="1500" dirty="0">
                  <a:solidFill>
                    <a:schemeClr val="accent1">
                      <a:lumMod val="75000"/>
                    </a:schemeClr>
                  </a:solidFill>
                </a:endParaRPr>
              </a:p>
            </p:txBody>
          </p:sp>
        </mc:Choice>
        <mc:Fallback xmlns="">
          <p:sp>
            <p:nvSpPr>
              <p:cNvPr id="33" name="TextBox 32">
                <a:extLst>
                  <a:ext uri="{FF2B5EF4-FFF2-40B4-BE49-F238E27FC236}">
                    <a16:creationId xmlns:a16="http://schemas.microsoft.com/office/drawing/2014/main" id="{DAC27355-19EA-4BCE-8780-1D5BEC78DBD2}"/>
                  </a:ext>
                </a:extLst>
              </p:cNvPr>
              <p:cNvSpPr txBox="1">
                <a:spLocks noRot="1" noChangeAspect="1" noMove="1" noResize="1" noEditPoints="1" noAdjustHandles="1" noChangeArrowheads="1" noChangeShapeType="1" noTextEdit="1"/>
              </p:cNvSpPr>
              <p:nvPr/>
            </p:nvSpPr>
            <p:spPr>
              <a:xfrm>
                <a:off x="7804909" y="3539597"/>
                <a:ext cx="1004052" cy="323165"/>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D4C44E0-F61E-48AC-B864-C8061DF4079B}"/>
                  </a:ext>
                </a:extLst>
              </p:cNvPr>
              <p:cNvSpPr txBox="1"/>
              <p:nvPr/>
            </p:nvSpPr>
            <p:spPr>
              <a:xfrm>
                <a:off x="1124151" y="3501693"/>
                <a:ext cx="1004052"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solidFill>
                            <a:srgbClr val="C00000"/>
                          </a:solidFill>
                          <a:latin typeface="Cambria Math" panose="02040503050406030204" pitchFamily="18" charset="0"/>
                        </a:rPr>
                        <m:t>£0.75</m:t>
                      </m:r>
                    </m:oMath>
                  </m:oMathPara>
                </a14:m>
                <a:endParaRPr lang="en-GB" sz="1500" dirty="0">
                  <a:solidFill>
                    <a:srgbClr val="C00000"/>
                  </a:solidFill>
                </a:endParaRPr>
              </a:p>
            </p:txBody>
          </p:sp>
        </mc:Choice>
        <mc:Fallback xmlns="">
          <p:sp>
            <p:nvSpPr>
              <p:cNvPr id="37" name="TextBox 36">
                <a:extLst>
                  <a:ext uri="{FF2B5EF4-FFF2-40B4-BE49-F238E27FC236}">
                    <a16:creationId xmlns:a16="http://schemas.microsoft.com/office/drawing/2014/main" id="{4D4C44E0-F61E-48AC-B864-C8061DF4079B}"/>
                  </a:ext>
                </a:extLst>
              </p:cNvPr>
              <p:cNvSpPr txBox="1">
                <a:spLocks noRot="1" noChangeAspect="1" noMove="1" noResize="1" noEditPoints="1" noAdjustHandles="1" noChangeArrowheads="1" noChangeShapeType="1" noTextEdit="1"/>
              </p:cNvSpPr>
              <p:nvPr/>
            </p:nvSpPr>
            <p:spPr>
              <a:xfrm>
                <a:off x="1124151" y="3501693"/>
                <a:ext cx="1004052" cy="323165"/>
              </a:xfrm>
              <a:prstGeom prst="rect">
                <a:avLst/>
              </a:prstGeom>
              <a:blipFill>
                <a:blip r:embed="rId10"/>
                <a:stretch>
                  <a:fillRect/>
                </a:stretch>
              </a:blipFill>
            </p:spPr>
            <p:txBody>
              <a:bodyPr/>
              <a:lstStyle/>
              <a:p>
                <a:r>
                  <a:rPr lang="en-GB">
                    <a:noFill/>
                  </a:rPr>
                  <a:t> </a:t>
                </a:r>
              </a:p>
            </p:txBody>
          </p:sp>
        </mc:Fallback>
      </mc:AlternateContent>
      <p:cxnSp>
        <p:nvCxnSpPr>
          <p:cNvPr id="18" name="Straight Connector 17">
            <a:extLst>
              <a:ext uri="{FF2B5EF4-FFF2-40B4-BE49-F238E27FC236}">
                <a16:creationId xmlns:a16="http://schemas.microsoft.com/office/drawing/2014/main" id="{623A6249-3EEB-4F0A-8BAB-A6A47DE439F8}"/>
              </a:ext>
            </a:extLst>
          </p:cNvPr>
          <p:cNvCxnSpPr>
            <a:cxnSpLocks/>
          </p:cNvCxnSpPr>
          <p:nvPr/>
        </p:nvCxnSpPr>
        <p:spPr>
          <a:xfrm>
            <a:off x="4069255" y="3912389"/>
            <a:ext cx="0" cy="29817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68B0EF8-14EA-4A18-8246-3226DCD15884}"/>
                  </a:ext>
                </a:extLst>
              </p:cNvPr>
              <p:cNvSpPr txBox="1"/>
              <p:nvPr/>
            </p:nvSpPr>
            <p:spPr>
              <a:xfrm>
                <a:off x="3755488" y="4279286"/>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rgbClr val="C00000"/>
                          </a:solidFill>
                          <a:latin typeface="Cambria Math" panose="02040503050406030204" pitchFamily="18" charset="0"/>
                          <a:ea typeface="+mn-ea"/>
                        </a:rPr>
                        <m:t>𝑡</m:t>
                      </m:r>
                      <m:r>
                        <a:rPr lang="en-GB" sz="1350" i="1">
                          <a:solidFill>
                            <a:srgbClr val="C00000"/>
                          </a:solidFill>
                          <a:latin typeface="Cambria Math" panose="02040503050406030204" pitchFamily="18" charset="0"/>
                          <a:ea typeface="+mn-ea"/>
                        </a:rPr>
                        <m:t>=3</m:t>
                      </m:r>
                    </m:oMath>
                  </m:oMathPara>
                </a14:m>
                <a:endParaRPr lang="en-GB" sz="1350" dirty="0">
                  <a:solidFill>
                    <a:srgbClr val="C00000"/>
                  </a:solidFill>
                  <a:latin typeface="Calibri" panose="020F0502020204030204"/>
                  <a:ea typeface="+mn-ea"/>
                </a:endParaRPr>
              </a:p>
            </p:txBody>
          </p:sp>
        </mc:Choice>
        <mc:Fallback xmlns="">
          <p:sp>
            <p:nvSpPr>
              <p:cNvPr id="19" name="TextBox 18">
                <a:extLst>
                  <a:ext uri="{FF2B5EF4-FFF2-40B4-BE49-F238E27FC236}">
                    <a16:creationId xmlns:a16="http://schemas.microsoft.com/office/drawing/2014/main" id="{A68B0EF8-14EA-4A18-8246-3226DCD15884}"/>
                  </a:ext>
                </a:extLst>
              </p:cNvPr>
              <p:cNvSpPr txBox="1">
                <a:spLocks noRot="1" noChangeAspect="1" noMove="1" noResize="1" noEditPoints="1" noAdjustHandles="1" noChangeArrowheads="1" noChangeShapeType="1" noTextEdit="1"/>
              </p:cNvSpPr>
              <p:nvPr/>
            </p:nvSpPr>
            <p:spPr>
              <a:xfrm>
                <a:off x="3755488" y="4279286"/>
                <a:ext cx="630848" cy="300082"/>
              </a:xfrm>
              <a:prstGeom prst="rect">
                <a:avLst/>
              </a:prstGeom>
              <a:blipFill>
                <a:blip r:embed="rId11"/>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BD21D69-198A-443A-9E79-EEBA4959D3A9}"/>
                  </a:ext>
                </a:extLst>
              </p:cNvPr>
              <p:cNvSpPr txBox="1"/>
              <p:nvPr/>
            </p:nvSpPr>
            <p:spPr>
              <a:xfrm>
                <a:off x="3646604" y="3501693"/>
                <a:ext cx="879686"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solidFill>
                            <a:srgbClr val="C00000"/>
                          </a:solidFill>
                          <a:latin typeface="Cambria Math" panose="02040503050406030204" pitchFamily="18" charset="0"/>
                        </a:rPr>
                        <m:t>£0.33</m:t>
                      </m:r>
                    </m:oMath>
                  </m:oMathPara>
                </a14:m>
                <a:endParaRPr lang="en-GB" sz="1500" dirty="0">
                  <a:solidFill>
                    <a:srgbClr val="C00000"/>
                  </a:solidFill>
                </a:endParaRPr>
              </a:p>
            </p:txBody>
          </p:sp>
        </mc:Choice>
        <mc:Fallback xmlns="">
          <p:sp>
            <p:nvSpPr>
              <p:cNvPr id="20" name="TextBox 19">
                <a:extLst>
                  <a:ext uri="{FF2B5EF4-FFF2-40B4-BE49-F238E27FC236}">
                    <a16:creationId xmlns:a16="http://schemas.microsoft.com/office/drawing/2014/main" id="{CBD21D69-198A-443A-9E79-EEBA4959D3A9}"/>
                  </a:ext>
                </a:extLst>
              </p:cNvPr>
              <p:cNvSpPr txBox="1">
                <a:spLocks noRot="1" noChangeAspect="1" noMove="1" noResize="1" noEditPoints="1" noAdjustHandles="1" noChangeArrowheads="1" noChangeShapeType="1" noTextEdit="1"/>
              </p:cNvSpPr>
              <p:nvPr/>
            </p:nvSpPr>
            <p:spPr>
              <a:xfrm>
                <a:off x="3646604" y="3501693"/>
                <a:ext cx="879686" cy="323165"/>
              </a:xfrm>
              <a:prstGeom prst="rect">
                <a:avLst/>
              </a:prstGeom>
              <a:blipFill>
                <a:blip r:embed="rId12"/>
                <a:stretch>
                  <a:fillRect/>
                </a:stretch>
              </a:blipFill>
            </p:spPr>
            <p:txBody>
              <a:bodyPr/>
              <a:lstStyle/>
              <a:p>
                <a:r>
                  <a:rPr lang="en-GB">
                    <a:noFill/>
                  </a:rPr>
                  <a:t> </a:t>
                </a:r>
              </a:p>
            </p:txBody>
          </p:sp>
        </mc:Fallback>
      </mc:AlternateContent>
      <p:cxnSp>
        <p:nvCxnSpPr>
          <p:cNvPr id="21" name="Straight Connector 20">
            <a:extLst>
              <a:ext uri="{FF2B5EF4-FFF2-40B4-BE49-F238E27FC236}">
                <a16:creationId xmlns:a16="http://schemas.microsoft.com/office/drawing/2014/main" id="{DBB2A47C-5097-4468-B912-DDF307BD265E}"/>
              </a:ext>
            </a:extLst>
          </p:cNvPr>
          <p:cNvCxnSpPr>
            <a:cxnSpLocks/>
          </p:cNvCxnSpPr>
          <p:nvPr/>
        </p:nvCxnSpPr>
        <p:spPr>
          <a:xfrm>
            <a:off x="5274642" y="3912389"/>
            <a:ext cx="0" cy="2981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FBD6AA8-3619-446C-9CD0-F83C9180955F}"/>
                  </a:ext>
                </a:extLst>
              </p:cNvPr>
              <p:cNvSpPr txBox="1"/>
              <p:nvPr/>
            </p:nvSpPr>
            <p:spPr>
              <a:xfrm>
                <a:off x="4977258" y="4279286"/>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chemeClr val="accent1">
                              <a:lumMod val="75000"/>
                            </a:schemeClr>
                          </a:solidFill>
                          <a:latin typeface="Cambria Math" panose="02040503050406030204" pitchFamily="18" charset="0"/>
                          <a:ea typeface="+mn-ea"/>
                        </a:rPr>
                        <m:t>𝑡</m:t>
                      </m:r>
                      <m:r>
                        <a:rPr lang="en-GB" sz="1350" i="1">
                          <a:solidFill>
                            <a:schemeClr val="accent1">
                              <a:lumMod val="75000"/>
                            </a:schemeClr>
                          </a:solidFill>
                          <a:latin typeface="Cambria Math" panose="02040503050406030204" pitchFamily="18" charset="0"/>
                          <a:ea typeface="+mn-ea"/>
                        </a:rPr>
                        <m:t>=4</m:t>
                      </m:r>
                    </m:oMath>
                  </m:oMathPara>
                </a14:m>
                <a:endParaRPr lang="en-GB" sz="1350" dirty="0">
                  <a:solidFill>
                    <a:schemeClr val="accent1">
                      <a:lumMod val="75000"/>
                    </a:schemeClr>
                  </a:solidFill>
                  <a:latin typeface="Calibri" panose="020F0502020204030204"/>
                  <a:ea typeface="+mn-ea"/>
                </a:endParaRPr>
              </a:p>
            </p:txBody>
          </p:sp>
        </mc:Choice>
        <mc:Fallback xmlns="">
          <p:sp>
            <p:nvSpPr>
              <p:cNvPr id="22" name="TextBox 21">
                <a:extLst>
                  <a:ext uri="{FF2B5EF4-FFF2-40B4-BE49-F238E27FC236}">
                    <a16:creationId xmlns:a16="http://schemas.microsoft.com/office/drawing/2014/main" id="{BFBD6AA8-3619-446C-9CD0-F83C9180955F}"/>
                  </a:ext>
                </a:extLst>
              </p:cNvPr>
              <p:cNvSpPr txBox="1">
                <a:spLocks noRot="1" noChangeAspect="1" noMove="1" noResize="1" noEditPoints="1" noAdjustHandles="1" noChangeArrowheads="1" noChangeShapeType="1" noTextEdit="1"/>
              </p:cNvSpPr>
              <p:nvPr/>
            </p:nvSpPr>
            <p:spPr>
              <a:xfrm>
                <a:off x="4977258" y="4279286"/>
                <a:ext cx="630848" cy="300082"/>
              </a:xfrm>
              <a:prstGeom prst="rect">
                <a:avLst/>
              </a:prstGeom>
              <a:blipFill>
                <a:blip r:embed="rId1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02AE6D7-4526-4871-A54D-2D6E6B98E9E5}"/>
                  </a:ext>
                </a:extLst>
              </p:cNvPr>
              <p:cNvSpPr txBox="1"/>
              <p:nvPr/>
            </p:nvSpPr>
            <p:spPr>
              <a:xfrm>
                <a:off x="4276659" y="3291851"/>
                <a:ext cx="2032046" cy="8708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solidFill>
                            <a:schemeClr val="accent1">
                              <a:lumMod val="75000"/>
                            </a:schemeClr>
                          </a:solidFill>
                          <a:latin typeface="Cambria Math" panose="02040503050406030204" pitchFamily="18" charset="0"/>
                        </a:rPr>
                        <m:t>£0.33</m:t>
                      </m:r>
                      <m:r>
                        <a:rPr lang="en-GB" b="0" i="1" smtClean="0">
                          <a:solidFill>
                            <a:schemeClr val="accent1">
                              <a:lumMod val="75000"/>
                            </a:schemeClr>
                          </a:solidFill>
                          <a:latin typeface="Cambria Math" panose="02040503050406030204" pitchFamily="18" charset="0"/>
                          <a:ea typeface="Cambria Math" panose="02040503050406030204" pitchFamily="18" charset="0"/>
                        </a:rPr>
                        <m:t>×</m:t>
                      </m:r>
                      <m:d>
                        <m:dPr>
                          <m:ctrlPr>
                            <a:rPr lang="en-GB" b="0" i="1" smtClean="0">
                              <a:solidFill>
                                <a:schemeClr val="accent1">
                                  <a:lumMod val="75000"/>
                                </a:schemeClr>
                              </a:solidFill>
                              <a:latin typeface="Cambria Math" panose="02040503050406030204" pitchFamily="18" charset="0"/>
                              <a:ea typeface="Cambria Math" panose="02040503050406030204" pitchFamily="18" charset="0"/>
                            </a:rPr>
                          </m:ctrlPr>
                        </m:dPr>
                        <m:e>
                          <m:r>
                            <a:rPr lang="en-GB" b="0" i="1" smtClean="0">
                              <a:solidFill>
                                <a:schemeClr val="accent1">
                                  <a:lumMod val="75000"/>
                                </a:schemeClr>
                              </a:solidFill>
                              <a:latin typeface="Cambria Math" panose="02040503050406030204" pitchFamily="18" charset="0"/>
                              <a:ea typeface="Cambria Math" panose="02040503050406030204" pitchFamily="18" charset="0"/>
                            </a:rPr>
                            <m:t>1+2.5%</m:t>
                          </m:r>
                        </m:e>
                      </m:d>
                    </m:oMath>
                  </m:oMathPara>
                </a14:m>
                <a:endParaRPr lang="en-GB" b="0" i="1" dirty="0">
                  <a:solidFill>
                    <a:schemeClr val="accent1">
                      <a:lumMod val="75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1500" i="1">
                          <a:solidFill>
                            <a:schemeClr val="accent1">
                              <a:lumMod val="75000"/>
                            </a:schemeClr>
                          </a:solidFill>
                          <a:latin typeface="Cambria Math" panose="02040503050406030204" pitchFamily="18" charset="0"/>
                          <a:ea typeface="Cambria Math" panose="02040503050406030204" pitchFamily="18" charset="0"/>
                        </a:rPr>
                        <m:t>=£0.34</m:t>
                      </m:r>
                    </m:oMath>
                  </m:oMathPara>
                </a14:m>
                <a:endParaRPr lang="en-GB" sz="1500" dirty="0">
                  <a:solidFill>
                    <a:schemeClr val="accent1">
                      <a:lumMod val="75000"/>
                    </a:schemeClr>
                  </a:solidFill>
                </a:endParaRPr>
              </a:p>
            </p:txBody>
          </p:sp>
        </mc:Choice>
        <mc:Fallback xmlns="">
          <p:sp>
            <p:nvSpPr>
              <p:cNvPr id="23" name="TextBox 22">
                <a:extLst>
                  <a:ext uri="{FF2B5EF4-FFF2-40B4-BE49-F238E27FC236}">
                    <a16:creationId xmlns:a16="http://schemas.microsoft.com/office/drawing/2014/main" id="{E02AE6D7-4526-4871-A54D-2D6E6B98E9E5}"/>
                  </a:ext>
                </a:extLst>
              </p:cNvPr>
              <p:cNvSpPr txBox="1">
                <a:spLocks noRot="1" noChangeAspect="1" noMove="1" noResize="1" noEditPoints="1" noAdjustHandles="1" noChangeArrowheads="1" noChangeShapeType="1" noTextEdit="1"/>
              </p:cNvSpPr>
              <p:nvPr/>
            </p:nvSpPr>
            <p:spPr>
              <a:xfrm>
                <a:off x="4276659" y="3291851"/>
                <a:ext cx="2032046" cy="870816"/>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CAC015E-2666-4409-9357-BA917C0BA660}"/>
                  </a:ext>
                </a:extLst>
              </p:cNvPr>
              <p:cNvSpPr txBox="1"/>
              <p:nvPr/>
            </p:nvSpPr>
            <p:spPr>
              <a:xfrm>
                <a:off x="6283844" y="4282624"/>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chemeClr val="accent1">
                              <a:lumMod val="75000"/>
                            </a:schemeClr>
                          </a:solidFill>
                          <a:latin typeface="Cambria Math" panose="02040503050406030204" pitchFamily="18" charset="0"/>
                          <a:ea typeface="+mn-ea"/>
                        </a:rPr>
                        <m:t>𝑡</m:t>
                      </m:r>
                      <m:r>
                        <a:rPr lang="en-GB" sz="1350" i="1">
                          <a:solidFill>
                            <a:schemeClr val="accent1">
                              <a:lumMod val="75000"/>
                            </a:schemeClr>
                          </a:solidFill>
                          <a:latin typeface="Cambria Math" panose="02040503050406030204" pitchFamily="18" charset="0"/>
                          <a:ea typeface="+mn-ea"/>
                        </a:rPr>
                        <m:t>=5</m:t>
                      </m:r>
                    </m:oMath>
                  </m:oMathPara>
                </a14:m>
                <a:endParaRPr lang="en-GB" sz="1350" dirty="0">
                  <a:solidFill>
                    <a:schemeClr val="accent1">
                      <a:lumMod val="75000"/>
                    </a:schemeClr>
                  </a:solidFill>
                  <a:latin typeface="Calibri" panose="020F0502020204030204"/>
                  <a:ea typeface="+mn-ea"/>
                </a:endParaRPr>
              </a:p>
            </p:txBody>
          </p:sp>
        </mc:Choice>
        <mc:Fallback xmlns="">
          <p:sp>
            <p:nvSpPr>
              <p:cNvPr id="24" name="TextBox 23">
                <a:extLst>
                  <a:ext uri="{FF2B5EF4-FFF2-40B4-BE49-F238E27FC236}">
                    <a16:creationId xmlns:a16="http://schemas.microsoft.com/office/drawing/2014/main" id="{ACAC015E-2666-4409-9357-BA917C0BA660}"/>
                  </a:ext>
                </a:extLst>
              </p:cNvPr>
              <p:cNvSpPr txBox="1">
                <a:spLocks noRot="1" noChangeAspect="1" noMove="1" noResize="1" noEditPoints="1" noAdjustHandles="1" noChangeArrowheads="1" noChangeShapeType="1" noTextEdit="1"/>
              </p:cNvSpPr>
              <p:nvPr/>
            </p:nvSpPr>
            <p:spPr>
              <a:xfrm>
                <a:off x="6283844" y="4282624"/>
                <a:ext cx="630848" cy="300082"/>
              </a:xfrm>
              <a:prstGeom prst="rect">
                <a:avLst/>
              </a:prstGeom>
              <a:blipFill>
                <a:blip r:embed="rId1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03F7644-827A-4100-A1BA-8D92C339D0A3}"/>
                  </a:ext>
                </a:extLst>
              </p:cNvPr>
              <p:cNvSpPr txBox="1"/>
              <p:nvPr/>
            </p:nvSpPr>
            <p:spPr>
              <a:xfrm>
                <a:off x="5825300" y="3501693"/>
                <a:ext cx="2032046"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solidFill>
                            <a:schemeClr val="accent1">
                              <a:lumMod val="75000"/>
                            </a:schemeClr>
                          </a:solidFill>
                          <a:latin typeface="Cambria Math" panose="02040503050406030204" pitchFamily="18" charset="0"/>
                        </a:rPr>
                        <m:t>£0.34</m:t>
                      </m:r>
                      <m:r>
                        <a:rPr lang="en-GB" sz="1500" i="1">
                          <a:solidFill>
                            <a:schemeClr val="accent1">
                              <a:lumMod val="75000"/>
                            </a:schemeClr>
                          </a:solidFill>
                          <a:latin typeface="Cambria Math" panose="02040503050406030204" pitchFamily="18" charset="0"/>
                          <a:ea typeface="Cambria Math" panose="02040503050406030204" pitchFamily="18" charset="0"/>
                        </a:rPr>
                        <m:t>×</m:t>
                      </m:r>
                      <m:d>
                        <m:dPr>
                          <m:ctrlPr>
                            <a:rPr lang="en-GB" sz="1500" i="1">
                              <a:solidFill>
                                <a:schemeClr val="accent1">
                                  <a:lumMod val="75000"/>
                                </a:schemeClr>
                              </a:solidFill>
                              <a:latin typeface="Cambria Math" panose="02040503050406030204" pitchFamily="18" charset="0"/>
                              <a:ea typeface="Cambria Math" panose="02040503050406030204" pitchFamily="18" charset="0"/>
                            </a:rPr>
                          </m:ctrlPr>
                        </m:dPr>
                        <m:e>
                          <m:r>
                            <a:rPr lang="en-GB" sz="1500" i="1">
                              <a:solidFill>
                                <a:schemeClr val="accent1">
                                  <a:lumMod val="75000"/>
                                </a:schemeClr>
                              </a:solidFill>
                              <a:latin typeface="Cambria Math" panose="02040503050406030204" pitchFamily="18" charset="0"/>
                              <a:ea typeface="Cambria Math" panose="02040503050406030204" pitchFamily="18" charset="0"/>
                            </a:rPr>
                            <m:t>1+2.5%</m:t>
                          </m:r>
                        </m:e>
                      </m:d>
                    </m:oMath>
                  </m:oMathPara>
                </a14:m>
                <a:endParaRPr lang="en-GB" sz="1500" i="1" dirty="0">
                  <a:solidFill>
                    <a:schemeClr val="accent1">
                      <a:lumMod val="75000"/>
                    </a:schemeClr>
                  </a:solidFill>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803F7644-827A-4100-A1BA-8D92C339D0A3}"/>
                  </a:ext>
                </a:extLst>
              </p:cNvPr>
              <p:cNvSpPr txBox="1">
                <a:spLocks noRot="1" noChangeAspect="1" noMove="1" noResize="1" noEditPoints="1" noAdjustHandles="1" noChangeArrowheads="1" noChangeShapeType="1" noTextEdit="1"/>
              </p:cNvSpPr>
              <p:nvPr/>
            </p:nvSpPr>
            <p:spPr>
              <a:xfrm>
                <a:off x="5825300" y="3501693"/>
                <a:ext cx="2032046" cy="323165"/>
              </a:xfrm>
              <a:prstGeom prst="rect">
                <a:avLst/>
              </a:prstGeom>
              <a:blipFill>
                <a:blip r:embed="rId16"/>
                <a:stretch>
                  <a:fillRect/>
                </a:stretch>
              </a:blipFill>
            </p:spPr>
            <p:txBody>
              <a:bodyPr/>
              <a:lstStyle/>
              <a:p>
                <a:r>
                  <a:rPr lang="en-GB">
                    <a:noFill/>
                  </a:rPr>
                  <a:t> </a:t>
                </a:r>
              </a:p>
            </p:txBody>
          </p:sp>
        </mc:Fallback>
      </mc:AlternateContent>
      <p:cxnSp>
        <p:nvCxnSpPr>
          <p:cNvPr id="28" name="Straight Connector 27">
            <a:extLst>
              <a:ext uri="{FF2B5EF4-FFF2-40B4-BE49-F238E27FC236}">
                <a16:creationId xmlns:a16="http://schemas.microsoft.com/office/drawing/2014/main" id="{D93EC91B-9A7A-4846-A01C-801B6EFCDB2E}"/>
              </a:ext>
            </a:extLst>
          </p:cNvPr>
          <p:cNvCxnSpPr>
            <a:cxnSpLocks/>
          </p:cNvCxnSpPr>
          <p:nvPr/>
        </p:nvCxnSpPr>
        <p:spPr>
          <a:xfrm>
            <a:off x="6684924" y="3898623"/>
            <a:ext cx="0" cy="2981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ADC1089-077C-4A53-B44F-10A2C0804B27}"/>
              </a:ext>
            </a:extLst>
          </p:cNvPr>
          <p:cNvCxnSpPr>
            <a:cxnSpLocks/>
          </p:cNvCxnSpPr>
          <p:nvPr/>
        </p:nvCxnSpPr>
        <p:spPr>
          <a:xfrm>
            <a:off x="328445" y="4047710"/>
            <a:ext cx="3740810" cy="0"/>
          </a:xfrm>
          <a:prstGeom prst="line">
            <a:avLst/>
          </a:prstGeom>
          <a:ln w="38100">
            <a:solidFill>
              <a:srgbClr val="C0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sp>
        <p:nvSpPr>
          <p:cNvPr id="30" name="Right Brace 29">
            <a:extLst>
              <a:ext uri="{FF2B5EF4-FFF2-40B4-BE49-F238E27FC236}">
                <a16:creationId xmlns:a16="http://schemas.microsoft.com/office/drawing/2014/main" id="{18F4149E-AAE1-4E09-AEF5-4DC393C5D4B1}"/>
              </a:ext>
            </a:extLst>
          </p:cNvPr>
          <p:cNvSpPr/>
          <p:nvPr/>
        </p:nvSpPr>
        <p:spPr>
          <a:xfrm rot="5400000">
            <a:off x="1966203" y="2857530"/>
            <a:ext cx="324000" cy="392931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1" name="TextBox 30">
            <a:extLst>
              <a:ext uri="{FF2B5EF4-FFF2-40B4-BE49-F238E27FC236}">
                <a16:creationId xmlns:a16="http://schemas.microsoft.com/office/drawing/2014/main" id="{F16529BF-FBB2-4B6B-9A79-CCAE485ABD3D}"/>
              </a:ext>
            </a:extLst>
          </p:cNvPr>
          <p:cNvSpPr txBox="1"/>
          <p:nvPr/>
        </p:nvSpPr>
        <p:spPr>
          <a:xfrm>
            <a:off x="1304336" y="5074891"/>
            <a:ext cx="1789028" cy="646331"/>
          </a:xfrm>
          <a:prstGeom prst="rect">
            <a:avLst/>
          </a:prstGeom>
          <a:noFill/>
        </p:spPr>
        <p:txBody>
          <a:bodyPr wrap="square" rtlCol="0">
            <a:spAutoFit/>
          </a:bodyPr>
          <a:lstStyle/>
          <a:p>
            <a:pPr algn="ctr"/>
            <a:r>
              <a:rPr lang="en-GB" dirty="0">
                <a:solidFill>
                  <a:srgbClr val="C00000"/>
                </a:solidFill>
              </a:rPr>
              <a:t>Non-constant growth</a:t>
            </a:r>
          </a:p>
        </p:txBody>
      </p:sp>
      <p:sp>
        <p:nvSpPr>
          <p:cNvPr id="36" name="Left Brace 35">
            <a:extLst>
              <a:ext uri="{FF2B5EF4-FFF2-40B4-BE49-F238E27FC236}">
                <a16:creationId xmlns:a16="http://schemas.microsoft.com/office/drawing/2014/main" id="{8E772402-A130-4871-9205-12AFEBDA9784}"/>
              </a:ext>
            </a:extLst>
          </p:cNvPr>
          <p:cNvSpPr/>
          <p:nvPr/>
        </p:nvSpPr>
        <p:spPr>
          <a:xfrm rot="16200000" flipV="1">
            <a:off x="6341681" y="2437379"/>
            <a:ext cx="324000" cy="4769613"/>
          </a:xfrm>
          <a:prstGeom prst="leftBrac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8" name="TextBox 37">
            <a:extLst>
              <a:ext uri="{FF2B5EF4-FFF2-40B4-BE49-F238E27FC236}">
                <a16:creationId xmlns:a16="http://schemas.microsoft.com/office/drawing/2014/main" id="{798E8E3E-BBAC-46F4-BD87-2CD27593A3E1}"/>
              </a:ext>
            </a:extLst>
          </p:cNvPr>
          <p:cNvSpPr txBox="1"/>
          <p:nvPr/>
        </p:nvSpPr>
        <p:spPr>
          <a:xfrm>
            <a:off x="5438234" y="5074891"/>
            <a:ext cx="2130893" cy="646331"/>
          </a:xfrm>
          <a:prstGeom prst="rect">
            <a:avLst/>
          </a:prstGeom>
          <a:noFill/>
        </p:spPr>
        <p:txBody>
          <a:bodyPr wrap="square" rtlCol="0">
            <a:spAutoFit/>
          </a:bodyPr>
          <a:lstStyle/>
          <a:p>
            <a:pPr algn="ctr"/>
            <a:r>
              <a:rPr lang="en-GB" dirty="0">
                <a:solidFill>
                  <a:schemeClr val="accent1">
                    <a:lumMod val="75000"/>
                  </a:schemeClr>
                </a:solidFill>
              </a:rPr>
              <a:t>Constant growth @2.5%</a:t>
            </a:r>
          </a:p>
        </p:txBody>
      </p:sp>
      <p:sp>
        <p:nvSpPr>
          <p:cNvPr id="5" name="Rectangle: Rounded Corners 4">
            <a:extLst>
              <a:ext uri="{FF2B5EF4-FFF2-40B4-BE49-F238E27FC236}">
                <a16:creationId xmlns:a16="http://schemas.microsoft.com/office/drawing/2014/main" id="{8C41BFEA-D27A-6D38-C8EC-DA745AE69C6A}"/>
              </a:ext>
            </a:extLst>
          </p:cNvPr>
          <p:cNvSpPr/>
          <p:nvPr/>
        </p:nvSpPr>
        <p:spPr>
          <a:xfrm>
            <a:off x="1124151" y="5949280"/>
            <a:ext cx="6940072" cy="604019"/>
          </a:xfrm>
          <a:prstGeom prst="roundRect">
            <a:avLst/>
          </a:prstGeom>
          <a:solidFill>
            <a:schemeClr val="accent5"/>
          </a:solidFill>
          <a:ln>
            <a:solidFill>
              <a:srgbClr val="1A9DA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t>We will cover these in the tutorial!</a:t>
            </a:r>
          </a:p>
        </p:txBody>
      </p:sp>
    </p:spTree>
    <p:extLst>
      <p:ext uri="{BB962C8B-B14F-4D97-AF65-F5344CB8AC3E}">
        <p14:creationId xmlns:p14="http://schemas.microsoft.com/office/powerpoint/2010/main" val="323535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p:cTn id="11" dur="500" fill="hold"/>
                                        <p:tgtEl>
                                          <p:spTgt spid="34"/>
                                        </p:tgtEl>
                                        <p:attrNameLst>
                                          <p:attrName>ppt_w</p:attrName>
                                        </p:attrNameLst>
                                      </p:cBhvr>
                                      <p:tavLst>
                                        <p:tav tm="0">
                                          <p:val>
                                            <p:fltVal val="0"/>
                                          </p:val>
                                        </p:tav>
                                        <p:tav tm="100000">
                                          <p:val>
                                            <p:strVal val="#ppt_w"/>
                                          </p:val>
                                        </p:tav>
                                      </p:tavLst>
                                    </p:anim>
                                    <p:anim calcmode="lin" valueType="num">
                                      <p:cBhvr>
                                        <p:cTn id="12" dur="500" fill="hold"/>
                                        <p:tgtEl>
                                          <p:spTgt spid="34"/>
                                        </p:tgtEl>
                                        <p:attrNameLst>
                                          <p:attrName>ppt_h</p:attrName>
                                        </p:attrNameLst>
                                      </p:cBhvr>
                                      <p:tavLst>
                                        <p:tav tm="0">
                                          <p:val>
                                            <p:fltVal val="0"/>
                                          </p:val>
                                        </p:tav>
                                        <p:tav tm="100000">
                                          <p:val>
                                            <p:strVal val="#ppt_h"/>
                                          </p:val>
                                        </p:tav>
                                      </p:tavLst>
                                    </p:anim>
                                    <p:animEffect transition="in" filter="fade">
                                      <p:cBhvr>
                                        <p:cTn id="13" dur="500"/>
                                        <p:tgtEl>
                                          <p:spTgt spid="34"/>
                                        </p:tgtEl>
                                      </p:cBhvr>
                                    </p:animEffect>
                                  </p:childTnLst>
                                </p:cTn>
                              </p:par>
                              <p:par>
                                <p:cTn id="14" presetID="53" presetClass="entr" presetSubtype="16"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p:cTn id="23" dur="500" fill="hold"/>
                                        <p:tgtEl>
                                          <p:spTgt spid="14"/>
                                        </p:tgtEl>
                                        <p:attrNameLst>
                                          <p:attrName>ppt_w</p:attrName>
                                        </p:attrNameLst>
                                      </p:cBhvr>
                                      <p:tavLst>
                                        <p:tav tm="0">
                                          <p:val>
                                            <p:fltVal val="0"/>
                                          </p:val>
                                        </p:tav>
                                        <p:tav tm="100000">
                                          <p:val>
                                            <p:strVal val="#ppt_w"/>
                                          </p:val>
                                        </p:tav>
                                      </p:tavLst>
                                    </p:anim>
                                    <p:anim calcmode="lin" valueType="num">
                                      <p:cBhvr>
                                        <p:cTn id="24" dur="500" fill="hold"/>
                                        <p:tgtEl>
                                          <p:spTgt spid="14"/>
                                        </p:tgtEl>
                                        <p:attrNameLst>
                                          <p:attrName>ppt_h</p:attrName>
                                        </p:attrNameLst>
                                      </p:cBhvr>
                                      <p:tavLst>
                                        <p:tav tm="0">
                                          <p:val>
                                            <p:fltVal val="0"/>
                                          </p:val>
                                        </p:tav>
                                        <p:tav tm="100000">
                                          <p:val>
                                            <p:strVal val="#ppt_h"/>
                                          </p:val>
                                        </p:tav>
                                      </p:tavLst>
                                    </p:anim>
                                    <p:animEffect transition="in" filter="fade">
                                      <p:cBhvr>
                                        <p:cTn id="25" dur="500"/>
                                        <p:tgtEl>
                                          <p:spTgt spid="14"/>
                                        </p:tgtEl>
                                      </p:cBhvr>
                                    </p:animEffect>
                                  </p:childTnLst>
                                </p:cTn>
                              </p:par>
                              <p:par>
                                <p:cTn id="26" presetID="53" presetClass="entr" presetSubtype="16"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par>
                                <p:cTn id="31" presetID="53" presetClass="entr" presetSubtype="16"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500" fill="hold"/>
                                        <p:tgtEl>
                                          <p:spTgt spid="8"/>
                                        </p:tgtEl>
                                        <p:attrNameLst>
                                          <p:attrName>ppt_w</p:attrName>
                                        </p:attrNameLst>
                                      </p:cBhvr>
                                      <p:tavLst>
                                        <p:tav tm="0">
                                          <p:val>
                                            <p:fltVal val="0"/>
                                          </p:val>
                                        </p:tav>
                                        <p:tav tm="100000">
                                          <p:val>
                                            <p:strVal val="#ppt_w"/>
                                          </p:val>
                                        </p:tav>
                                      </p:tavLst>
                                    </p:anim>
                                    <p:anim calcmode="lin" valueType="num">
                                      <p:cBhvr>
                                        <p:cTn id="34" dur="500" fill="hold"/>
                                        <p:tgtEl>
                                          <p:spTgt spid="8"/>
                                        </p:tgtEl>
                                        <p:attrNameLst>
                                          <p:attrName>ppt_h</p:attrName>
                                        </p:attrNameLst>
                                      </p:cBhvr>
                                      <p:tavLst>
                                        <p:tav tm="0">
                                          <p:val>
                                            <p:fltVal val="0"/>
                                          </p:val>
                                        </p:tav>
                                        <p:tav tm="100000">
                                          <p:val>
                                            <p:strVal val="#ppt_h"/>
                                          </p:val>
                                        </p:tav>
                                      </p:tavLst>
                                    </p:anim>
                                    <p:animEffect transition="in" filter="fade">
                                      <p:cBhvr>
                                        <p:cTn id="35" dur="500"/>
                                        <p:tgtEl>
                                          <p:spTgt spid="8"/>
                                        </p:tgtEl>
                                      </p:cBhvr>
                                    </p:animEffect>
                                  </p:childTnLst>
                                </p:cTn>
                              </p:par>
                              <p:par>
                                <p:cTn id="36" presetID="53" presetClass="entr" presetSubtype="16"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p:cTn id="38" dur="500" fill="hold"/>
                                        <p:tgtEl>
                                          <p:spTgt spid="18"/>
                                        </p:tgtEl>
                                        <p:attrNameLst>
                                          <p:attrName>ppt_w</p:attrName>
                                        </p:attrNameLst>
                                      </p:cBhvr>
                                      <p:tavLst>
                                        <p:tav tm="0">
                                          <p:val>
                                            <p:fltVal val="0"/>
                                          </p:val>
                                        </p:tav>
                                        <p:tav tm="100000">
                                          <p:val>
                                            <p:strVal val="#ppt_w"/>
                                          </p:val>
                                        </p:tav>
                                      </p:tavLst>
                                    </p:anim>
                                    <p:anim calcmode="lin" valueType="num">
                                      <p:cBhvr>
                                        <p:cTn id="39" dur="500" fill="hold"/>
                                        <p:tgtEl>
                                          <p:spTgt spid="18"/>
                                        </p:tgtEl>
                                        <p:attrNameLst>
                                          <p:attrName>ppt_h</p:attrName>
                                        </p:attrNameLst>
                                      </p:cBhvr>
                                      <p:tavLst>
                                        <p:tav tm="0">
                                          <p:val>
                                            <p:fltVal val="0"/>
                                          </p:val>
                                        </p:tav>
                                        <p:tav tm="100000">
                                          <p:val>
                                            <p:strVal val="#ppt_h"/>
                                          </p:val>
                                        </p:tav>
                                      </p:tavLst>
                                    </p:anim>
                                    <p:animEffect transition="in" filter="fade">
                                      <p:cBhvr>
                                        <p:cTn id="40" dur="500"/>
                                        <p:tgtEl>
                                          <p:spTgt spid="18"/>
                                        </p:tgtEl>
                                      </p:cBhvr>
                                    </p:animEffect>
                                  </p:childTnLst>
                                </p:cTn>
                              </p:par>
                              <p:par>
                                <p:cTn id="41" presetID="53" presetClass="entr" presetSubtype="16"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p:cTn id="43" dur="500" fill="hold"/>
                                        <p:tgtEl>
                                          <p:spTgt spid="21"/>
                                        </p:tgtEl>
                                        <p:attrNameLst>
                                          <p:attrName>ppt_w</p:attrName>
                                        </p:attrNameLst>
                                      </p:cBhvr>
                                      <p:tavLst>
                                        <p:tav tm="0">
                                          <p:val>
                                            <p:fltVal val="0"/>
                                          </p:val>
                                        </p:tav>
                                        <p:tav tm="100000">
                                          <p:val>
                                            <p:strVal val="#ppt_w"/>
                                          </p:val>
                                        </p:tav>
                                      </p:tavLst>
                                    </p:anim>
                                    <p:anim calcmode="lin" valueType="num">
                                      <p:cBhvr>
                                        <p:cTn id="44" dur="500" fill="hold"/>
                                        <p:tgtEl>
                                          <p:spTgt spid="21"/>
                                        </p:tgtEl>
                                        <p:attrNameLst>
                                          <p:attrName>ppt_h</p:attrName>
                                        </p:attrNameLst>
                                      </p:cBhvr>
                                      <p:tavLst>
                                        <p:tav tm="0">
                                          <p:val>
                                            <p:fltVal val="0"/>
                                          </p:val>
                                        </p:tav>
                                        <p:tav tm="100000">
                                          <p:val>
                                            <p:strVal val="#ppt_h"/>
                                          </p:val>
                                        </p:tav>
                                      </p:tavLst>
                                    </p:anim>
                                    <p:animEffect transition="in" filter="fade">
                                      <p:cBhvr>
                                        <p:cTn id="45" dur="500"/>
                                        <p:tgtEl>
                                          <p:spTgt spid="21"/>
                                        </p:tgtEl>
                                      </p:cBhvr>
                                    </p:animEffect>
                                  </p:childTnLst>
                                </p:cTn>
                              </p:par>
                              <p:par>
                                <p:cTn id="46" presetID="53" presetClass="entr" presetSubtype="16" fill="hold" nodeType="withEffect">
                                  <p:stCondLst>
                                    <p:cond delay="0"/>
                                  </p:stCondLst>
                                  <p:childTnLst>
                                    <p:set>
                                      <p:cBhvr>
                                        <p:cTn id="47" dur="1" fill="hold">
                                          <p:stCondLst>
                                            <p:cond delay="0"/>
                                          </p:stCondLst>
                                        </p:cTn>
                                        <p:tgtEl>
                                          <p:spTgt spid="28"/>
                                        </p:tgtEl>
                                        <p:attrNameLst>
                                          <p:attrName>style.visibility</p:attrName>
                                        </p:attrNameLst>
                                      </p:cBhvr>
                                      <p:to>
                                        <p:strVal val="visible"/>
                                      </p:to>
                                    </p:set>
                                    <p:anim calcmode="lin" valueType="num">
                                      <p:cBhvr>
                                        <p:cTn id="48" dur="500" fill="hold"/>
                                        <p:tgtEl>
                                          <p:spTgt spid="28"/>
                                        </p:tgtEl>
                                        <p:attrNameLst>
                                          <p:attrName>ppt_w</p:attrName>
                                        </p:attrNameLst>
                                      </p:cBhvr>
                                      <p:tavLst>
                                        <p:tav tm="0">
                                          <p:val>
                                            <p:fltVal val="0"/>
                                          </p:val>
                                        </p:tav>
                                        <p:tav tm="100000">
                                          <p:val>
                                            <p:strVal val="#ppt_w"/>
                                          </p:val>
                                        </p:tav>
                                      </p:tavLst>
                                    </p:anim>
                                    <p:anim calcmode="lin" valueType="num">
                                      <p:cBhvr>
                                        <p:cTn id="49" dur="500" fill="hold"/>
                                        <p:tgtEl>
                                          <p:spTgt spid="28"/>
                                        </p:tgtEl>
                                        <p:attrNameLst>
                                          <p:attrName>ppt_h</p:attrName>
                                        </p:attrNameLst>
                                      </p:cBhvr>
                                      <p:tavLst>
                                        <p:tav tm="0">
                                          <p:val>
                                            <p:fltVal val="0"/>
                                          </p:val>
                                        </p:tav>
                                        <p:tav tm="100000">
                                          <p:val>
                                            <p:strVal val="#ppt_h"/>
                                          </p:val>
                                        </p:tav>
                                      </p:tavLst>
                                    </p:anim>
                                    <p:animEffect transition="in" filter="fade">
                                      <p:cBhvr>
                                        <p:cTn id="50" dur="500"/>
                                        <p:tgtEl>
                                          <p:spTgt spid="28"/>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30"/>
                                        </p:tgtEl>
                                        <p:attrNameLst>
                                          <p:attrName>style.visibility</p:attrName>
                                        </p:attrNameLst>
                                      </p:cBhvr>
                                      <p:to>
                                        <p:strVal val="visible"/>
                                      </p:to>
                                    </p:set>
                                    <p:anim calcmode="lin" valueType="num">
                                      <p:cBhvr>
                                        <p:cTn id="73" dur="500" fill="hold"/>
                                        <p:tgtEl>
                                          <p:spTgt spid="30"/>
                                        </p:tgtEl>
                                        <p:attrNameLst>
                                          <p:attrName>ppt_w</p:attrName>
                                        </p:attrNameLst>
                                      </p:cBhvr>
                                      <p:tavLst>
                                        <p:tav tm="0">
                                          <p:val>
                                            <p:fltVal val="0"/>
                                          </p:val>
                                        </p:tav>
                                        <p:tav tm="100000">
                                          <p:val>
                                            <p:strVal val="#ppt_w"/>
                                          </p:val>
                                        </p:tav>
                                      </p:tavLst>
                                    </p:anim>
                                    <p:anim calcmode="lin" valueType="num">
                                      <p:cBhvr>
                                        <p:cTn id="74" dur="500" fill="hold"/>
                                        <p:tgtEl>
                                          <p:spTgt spid="30"/>
                                        </p:tgtEl>
                                        <p:attrNameLst>
                                          <p:attrName>ppt_h</p:attrName>
                                        </p:attrNameLst>
                                      </p:cBhvr>
                                      <p:tavLst>
                                        <p:tav tm="0">
                                          <p:val>
                                            <p:fltVal val="0"/>
                                          </p:val>
                                        </p:tav>
                                        <p:tav tm="100000">
                                          <p:val>
                                            <p:strVal val="#ppt_h"/>
                                          </p:val>
                                        </p:tav>
                                      </p:tavLst>
                                    </p:anim>
                                    <p:animEffect transition="in" filter="fade">
                                      <p:cBhvr>
                                        <p:cTn id="75" dur="500"/>
                                        <p:tgtEl>
                                          <p:spTgt spid="30"/>
                                        </p:tgtEl>
                                      </p:cBhvr>
                                    </p:animEffect>
                                  </p:childTnLst>
                                </p:cTn>
                              </p:par>
                            </p:childTnLst>
                          </p:cTn>
                        </p:par>
                        <p:par>
                          <p:cTn id="76" fill="hold">
                            <p:stCondLst>
                              <p:cond delay="500"/>
                            </p:stCondLst>
                            <p:childTnLst>
                              <p:par>
                                <p:cTn id="77" presetID="1" presetClass="entr" presetSubtype="0" fill="hold" grpId="0" nodeType="after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anim calcmode="lin" valueType="num">
                                      <p:cBhvr>
                                        <p:cTn id="83" dur="500" fill="hold"/>
                                        <p:tgtEl>
                                          <p:spTgt spid="36"/>
                                        </p:tgtEl>
                                        <p:attrNameLst>
                                          <p:attrName>ppt_w</p:attrName>
                                        </p:attrNameLst>
                                      </p:cBhvr>
                                      <p:tavLst>
                                        <p:tav tm="0">
                                          <p:val>
                                            <p:fltVal val="0"/>
                                          </p:val>
                                        </p:tav>
                                        <p:tav tm="100000">
                                          <p:val>
                                            <p:strVal val="#ppt_w"/>
                                          </p:val>
                                        </p:tav>
                                      </p:tavLst>
                                    </p:anim>
                                    <p:anim calcmode="lin" valueType="num">
                                      <p:cBhvr>
                                        <p:cTn id="84" dur="500" fill="hold"/>
                                        <p:tgtEl>
                                          <p:spTgt spid="36"/>
                                        </p:tgtEl>
                                        <p:attrNameLst>
                                          <p:attrName>ppt_h</p:attrName>
                                        </p:attrNameLst>
                                      </p:cBhvr>
                                      <p:tavLst>
                                        <p:tav tm="0">
                                          <p:val>
                                            <p:fltVal val="0"/>
                                          </p:val>
                                        </p:tav>
                                        <p:tav tm="100000">
                                          <p:val>
                                            <p:strVal val="#ppt_h"/>
                                          </p:val>
                                        </p:tav>
                                      </p:tavLst>
                                    </p:anim>
                                    <p:animEffect transition="in" filter="fade">
                                      <p:cBhvr>
                                        <p:cTn id="85" dur="500"/>
                                        <p:tgtEl>
                                          <p:spTgt spid="36"/>
                                        </p:tgtEl>
                                      </p:cBhvr>
                                    </p:animEffect>
                                  </p:childTnLst>
                                </p:cTn>
                              </p:par>
                            </p:childTnLst>
                          </p:cTn>
                        </p:par>
                        <p:par>
                          <p:cTn id="86" fill="hold">
                            <p:stCondLst>
                              <p:cond delay="500"/>
                            </p:stCondLst>
                            <p:childTnLst>
                              <p:par>
                                <p:cTn id="87" presetID="1" presetClass="entr" presetSubtype="0" fill="hold" grpId="0" nodeType="afterEffect">
                                  <p:stCondLst>
                                    <p:cond delay="0"/>
                                  </p:stCondLst>
                                  <p:childTnLst>
                                    <p:set>
                                      <p:cBhvr>
                                        <p:cTn id="88" dur="1" fill="hold">
                                          <p:stCondLst>
                                            <p:cond delay="0"/>
                                          </p:stCondLst>
                                        </p:cTn>
                                        <p:tgtEl>
                                          <p:spTgt spid="3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37"/>
                                        </p:tgtEl>
                                        <p:attrNameLst>
                                          <p:attrName>style.visibility</p:attrName>
                                        </p:attrNameLst>
                                      </p:cBhvr>
                                      <p:to>
                                        <p:strVal val="visible"/>
                                      </p:to>
                                    </p:set>
                                    <p:anim calcmode="lin" valueType="num">
                                      <p:cBhvr additive="base">
                                        <p:cTn id="93" dur="500" fill="hold"/>
                                        <p:tgtEl>
                                          <p:spTgt spid="37"/>
                                        </p:tgtEl>
                                        <p:attrNameLst>
                                          <p:attrName>ppt_x</p:attrName>
                                        </p:attrNameLst>
                                      </p:cBhvr>
                                      <p:tavLst>
                                        <p:tav tm="0">
                                          <p:val>
                                            <p:strVal val="#ppt_x"/>
                                          </p:val>
                                        </p:tav>
                                        <p:tav tm="100000">
                                          <p:val>
                                            <p:strVal val="#ppt_x"/>
                                          </p:val>
                                        </p:tav>
                                      </p:tavLst>
                                    </p:anim>
                                    <p:anim calcmode="lin" valueType="num">
                                      <p:cBhvr additive="base">
                                        <p:cTn id="9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32"/>
                                        </p:tgtEl>
                                        <p:attrNameLst>
                                          <p:attrName>style.visibility</p:attrName>
                                        </p:attrNameLst>
                                      </p:cBhvr>
                                      <p:to>
                                        <p:strVal val="visible"/>
                                      </p:to>
                                    </p:set>
                                    <p:anim calcmode="lin" valueType="num">
                                      <p:cBhvr additive="base">
                                        <p:cTn id="99" dur="500" fill="hold"/>
                                        <p:tgtEl>
                                          <p:spTgt spid="32"/>
                                        </p:tgtEl>
                                        <p:attrNameLst>
                                          <p:attrName>ppt_x</p:attrName>
                                        </p:attrNameLst>
                                      </p:cBhvr>
                                      <p:tavLst>
                                        <p:tav tm="0">
                                          <p:val>
                                            <p:strVal val="#ppt_x"/>
                                          </p:val>
                                        </p:tav>
                                        <p:tav tm="100000">
                                          <p:val>
                                            <p:strVal val="#ppt_x"/>
                                          </p:val>
                                        </p:tav>
                                      </p:tavLst>
                                    </p:anim>
                                    <p:anim calcmode="lin" valueType="num">
                                      <p:cBhvr additive="base">
                                        <p:cTn id="10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grpId="0" nodeType="clickEffect">
                                  <p:stCondLst>
                                    <p:cond delay="0"/>
                                  </p:stCondLst>
                                  <p:childTnLst>
                                    <p:set>
                                      <p:cBhvr>
                                        <p:cTn id="104" dur="1" fill="hold">
                                          <p:stCondLst>
                                            <p:cond delay="0"/>
                                          </p:stCondLst>
                                        </p:cTn>
                                        <p:tgtEl>
                                          <p:spTgt spid="20"/>
                                        </p:tgtEl>
                                        <p:attrNameLst>
                                          <p:attrName>style.visibility</p:attrName>
                                        </p:attrNameLst>
                                      </p:cBhvr>
                                      <p:to>
                                        <p:strVal val="visible"/>
                                      </p:to>
                                    </p:set>
                                    <p:anim calcmode="lin" valueType="num">
                                      <p:cBhvr additive="base">
                                        <p:cTn id="105" dur="500" fill="hold"/>
                                        <p:tgtEl>
                                          <p:spTgt spid="20"/>
                                        </p:tgtEl>
                                        <p:attrNameLst>
                                          <p:attrName>ppt_x</p:attrName>
                                        </p:attrNameLst>
                                      </p:cBhvr>
                                      <p:tavLst>
                                        <p:tav tm="0">
                                          <p:val>
                                            <p:strVal val="#ppt_x"/>
                                          </p:val>
                                        </p:tav>
                                        <p:tav tm="100000">
                                          <p:val>
                                            <p:strVal val="#ppt_x"/>
                                          </p:val>
                                        </p:tav>
                                      </p:tavLst>
                                    </p:anim>
                                    <p:anim calcmode="lin" valueType="num">
                                      <p:cBhvr additive="base">
                                        <p:cTn id="10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grpId="0" nodeType="clickEffect">
                                  <p:stCondLst>
                                    <p:cond delay="0"/>
                                  </p:stCondLst>
                                  <p:childTnLst>
                                    <p:set>
                                      <p:cBhvr>
                                        <p:cTn id="110" dur="1" fill="hold">
                                          <p:stCondLst>
                                            <p:cond delay="0"/>
                                          </p:stCondLst>
                                        </p:cTn>
                                        <p:tgtEl>
                                          <p:spTgt spid="23"/>
                                        </p:tgtEl>
                                        <p:attrNameLst>
                                          <p:attrName>style.visibility</p:attrName>
                                        </p:attrNameLst>
                                      </p:cBhvr>
                                      <p:to>
                                        <p:strVal val="visible"/>
                                      </p:to>
                                    </p:set>
                                    <p:anim calcmode="lin" valueType="num">
                                      <p:cBhvr additive="base">
                                        <p:cTn id="111" dur="500" fill="hold"/>
                                        <p:tgtEl>
                                          <p:spTgt spid="23"/>
                                        </p:tgtEl>
                                        <p:attrNameLst>
                                          <p:attrName>ppt_x</p:attrName>
                                        </p:attrNameLst>
                                      </p:cBhvr>
                                      <p:tavLst>
                                        <p:tav tm="0">
                                          <p:val>
                                            <p:strVal val="#ppt_x"/>
                                          </p:val>
                                        </p:tav>
                                        <p:tav tm="100000">
                                          <p:val>
                                            <p:strVal val="#ppt_x"/>
                                          </p:val>
                                        </p:tav>
                                      </p:tavLst>
                                    </p:anim>
                                    <p:anim calcmode="lin" valueType="num">
                                      <p:cBhvr additive="base">
                                        <p:cTn id="11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25"/>
                                        </p:tgtEl>
                                        <p:attrNameLst>
                                          <p:attrName>style.visibility</p:attrName>
                                        </p:attrNameLst>
                                      </p:cBhvr>
                                      <p:to>
                                        <p:strVal val="visible"/>
                                      </p:to>
                                    </p:set>
                                    <p:anim calcmode="lin" valueType="num">
                                      <p:cBhvr additive="base">
                                        <p:cTn id="117" dur="500" fill="hold"/>
                                        <p:tgtEl>
                                          <p:spTgt spid="25"/>
                                        </p:tgtEl>
                                        <p:attrNameLst>
                                          <p:attrName>ppt_x</p:attrName>
                                        </p:attrNameLst>
                                      </p:cBhvr>
                                      <p:tavLst>
                                        <p:tav tm="0">
                                          <p:val>
                                            <p:strVal val="#ppt_x"/>
                                          </p:val>
                                        </p:tav>
                                        <p:tav tm="100000">
                                          <p:val>
                                            <p:strVal val="#ppt_x"/>
                                          </p:val>
                                        </p:tav>
                                      </p:tavLst>
                                    </p:anim>
                                    <p:anim calcmode="lin" valueType="num">
                                      <p:cBhvr additive="base">
                                        <p:cTn id="11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33"/>
                                        </p:tgtEl>
                                        <p:attrNameLst>
                                          <p:attrName>style.visibility</p:attrName>
                                        </p:attrNameLst>
                                      </p:cBhvr>
                                      <p:to>
                                        <p:strVal val="visible"/>
                                      </p:to>
                                    </p:set>
                                    <p:anim calcmode="lin" valueType="num">
                                      <p:cBhvr additive="base">
                                        <p:cTn id="123" dur="500" fill="hold"/>
                                        <p:tgtEl>
                                          <p:spTgt spid="33"/>
                                        </p:tgtEl>
                                        <p:attrNameLst>
                                          <p:attrName>ppt_x</p:attrName>
                                        </p:attrNameLst>
                                      </p:cBhvr>
                                      <p:tavLst>
                                        <p:tav tm="0">
                                          <p:val>
                                            <p:strVal val="#ppt_x"/>
                                          </p:val>
                                        </p:tav>
                                        <p:tav tm="100000">
                                          <p:val>
                                            <p:strVal val="#ppt_x"/>
                                          </p:val>
                                        </p:tav>
                                      </p:tavLst>
                                    </p:anim>
                                    <p:anim calcmode="lin" valueType="num">
                                      <p:cBhvr additive="base">
                                        <p:cTn id="12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5" grpId="0"/>
      <p:bldP spid="16" grpId="0"/>
      <p:bldP spid="32" grpId="0"/>
      <p:bldP spid="33" grpId="0"/>
      <p:bldP spid="37" grpId="0"/>
      <p:bldP spid="19" grpId="0"/>
      <p:bldP spid="20" grpId="0"/>
      <p:bldP spid="22" grpId="0"/>
      <p:bldP spid="23" grpId="0"/>
      <p:bldP spid="24" grpId="0"/>
      <p:bldP spid="25" grpId="0"/>
      <p:bldP spid="30" grpId="0" animBg="1"/>
      <p:bldP spid="31" grpId="0"/>
      <p:bldP spid="36" grpId="0" animBg="1"/>
      <p:bldP spid="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t>Share Value – Non-Constant Growth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8591550" cy="4005724"/>
              </a:xfrm>
            </p:spPr>
            <p:txBody>
              <a:bodyPr>
                <a:normAutofit/>
              </a:bodyPr>
              <a:lstStyle/>
              <a:p>
                <a:pPr marL="257175" lvl="1" indent="-257175" algn="just">
                  <a:spcBef>
                    <a:spcPts val="3150"/>
                  </a:spcBef>
                  <a:spcAft>
                    <a:spcPts val="1350"/>
                  </a:spcAft>
                  <a:buClr>
                    <a:srgbClr val="C00000"/>
                  </a:buClr>
                  <a:buSzPct val="90000"/>
                </a:pPr>
                <a:r>
                  <a:rPr lang="en-GB" sz="1800" dirty="0"/>
                  <a:t>Working our way backwards, we can start by calculating the constant growth dividends:</a:t>
                </a:r>
              </a:p>
              <a:p>
                <a:pPr algn="just">
                  <a:spcBef>
                    <a:spcPts val="0"/>
                  </a:spcBef>
                  <a:buClr>
                    <a:srgbClr val="C00000"/>
                  </a:buClr>
                  <a:buSzPct val="90000"/>
                  <a:buFont typeface="Calibri" panose="020F0502020204030204" pitchFamily="34" charset="0"/>
                  <a:buChar char="─"/>
                </a:pPr>
                <a:r>
                  <a:rPr lang="en-GB" sz="1800" dirty="0">
                    <a:ea typeface="Cambria Math" panose="02040503050406030204" pitchFamily="18" charset="0"/>
                  </a:rPr>
                  <a:t>This is a growing perpetuity starting</a:t>
                </a:r>
              </a:p>
              <a:p>
                <a:pPr marL="0" indent="0" algn="just">
                  <a:spcBef>
                    <a:spcPts val="0"/>
                  </a:spcBef>
                  <a:buClr>
                    <a:srgbClr val="C00000"/>
                  </a:buClr>
                  <a:buSzPct val="90000"/>
                  <a:buNone/>
                </a:pPr>
                <a:r>
                  <a:rPr lang="en-GB" sz="1800" dirty="0">
                    <a:ea typeface="Cambria Math" panose="02040503050406030204" pitchFamily="18" charset="0"/>
                  </a:rPr>
                  <a:t>at time </a:t>
                </a:r>
                <a14:m>
                  <m:oMath xmlns:m="http://schemas.openxmlformats.org/officeDocument/2006/math">
                    <m:r>
                      <a:rPr lang="en-GB" sz="1800" i="1">
                        <a:latin typeface="Cambria Math" panose="02040503050406030204" pitchFamily="18" charset="0"/>
                        <a:ea typeface="Cambria Math" panose="02040503050406030204" pitchFamily="18" charset="0"/>
                      </a:rPr>
                      <m:t>𝑡</m:t>
                    </m:r>
                    <m:r>
                      <a:rPr lang="en-GB" sz="1800" i="1">
                        <a:latin typeface="Cambria Math" panose="02040503050406030204" pitchFamily="18" charset="0"/>
                        <a:ea typeface="Cambria Math" panose="02040503050406030204" pitchFamily="18" charset="0"/>
                      </a:rPr>
                      <m:t>=3</m:t>
                    </m:r>
                  </m:oMath>
                </a14:m>
                <a:r>
                  <a:rPr lang="en-GB" sz="1800" dirty="0">
                    <a:ea typeface="Cambria Math" panose="02040503050406030204" pitchFamily="18" charset="0"/>
                  </a:rPr>
                  <a:t> </a:t>
                </a:r>
              </a:p>
              <a:p>
                <a:pPr marL="0" indent="0" algn="just">
                  <a:spcBef>
                    <a:spcPts val="1350"/>
                  </a:spcBef>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lgn="just">
                  <a:spcBef>
                    <a:spcPts val="1350"/>
                  </a:spcBef>
                  <a:buClr>
                    <a:srgbClr val="C00000"/>
                  </a:buClr>
                  <a:buSzPct val="90000"/>
                  <a:buNone/>
                </a:pPr>
                <a14:m>
                  <m:oMath xmlns:m="http://schemas.openxmlformats.org/officeDocument/2006/math">
                    <m:r>
                      <a:rPr lang="en-GB" sz="1800" i="1">
                        <a:solidFill>
                          <a:srgbClr val="C00000"/>
                        </a:solidFill>
                        <a:latin typeface="Cambria Math" panose="02040503050406030204" pitchFamily="18" charset="0"/>
                        <a:ea typeface="Cambria Math" panose="02040503050406030204" pitchFamily="18" charset="0"/>
                      </a:rPr>
                      <m:t>⇒</m:t>
                    </m:r>
                  </m:oMath>
                </a14:m>
                <a:r>
                  <a:rPr lang="en-GB" sz="1800" i="1" dirty="0">
                    <a:ea typeface="Cambria Math" panose="02040503050406030204" pitchFamily="18" charset="0"/>
                  </a:rPr>
                  <a:t> </a:t>
                </a:r>
                <a:r>
                  <a:rPr lang="en-GB" sz="1800" dirty="0">
                    <a:ea typeface="Cambria Math" panose="02040503050406030204" pitchFamily="18" charset="0"/>
                  </a:rPr>
                  <a:t>The value of this share at the start of the growing perpetuity:</a:t>
                </a:r>
              </a:p>
              <a:p>
                <a:pPr marL="0" indent="0" algn="just">
                  <a:lnSpc>
                    <a:spcPct val="150000"/>
                  </a:lnSpc>
                  <a:spcBef>
                    <a:spcPts val="1350"/>
                  </a:spcBef>
                  <a:buClr>
                    <a:srgbClr val="C00000"/>
                  </a:buClr>
                  <a:buSzPct val="90000"/>
                  <a:buNone/>
                </a:pPr>
                <a14:m>
                  <m:oMathPara xmlns:m="http://schemas.openxmlformats.org/officeDocument/2006/math">
                    <m:oMathParaPr>
                      <m:jc m:val="centerGroup"/>
                    </m:oMathParaPr>
                    <m:oMath xmlns:m="http://schemas.openxmlformats.org/officeDocument/2006/math">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𝑃</m:t>
                          </m:r>
                        </m:e>
                        <m:sub>
                          <m:r>
                            <a:rPr lang="en-GB" sz="1800" i="1">
                              <a:latin typeface="Cambria Math" panose="02040503050406030204" pitchFamily="18" charset="0"/>
                              <a:ea typeface="Cambria Math" panose="02040503050406030204" pitchFamily="18" charset="0"/>
                            </a:rPr>
                            <m:t>3</m:t>
                          </m:r>
                        </m:sub>
                      </m:sSub>
                      <m:r>
                        <a:rPr lang="en-GB" sz="1800" i="1">
                          <a:latin typeface="Cambria Math" panose="02040503050406030204" pitchFamily="18" charset="0"/>
                          <a:ea typeface="Cambria Math" panose="02040503050406030204" pitchFamily="18" charset="0"/>
                        </a:rPr>
                        <m:t>=</m:t>
                      </m:r>
                      <m:f>
                        <m:fPr>
                          <m:ctrlPr>
                            <a:rPr lang="en-GB" sz="1800" i="1">
                              <a:latin typeface="Cambria Math" panose="02040503050406030204" pitchFamily="18" charset="0"/>
                              <a:ea typeface="Cambria Math" panose="02040503050406030204" pitchFamily="18" charset="0"/>
                            </a:rPr>
                          </m:ctrlPr>
                        </m:fPr>
                        <m:num>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𝐷</m:t>
                              </m:r>
                            </m:e>
                            <m:sub>
                              <m:r>
                                <a:rPr lang="en-GB" sz="1800" i="1">
                                  <a:latin typeface="Cambria Math" panose="02040503050406030204" pitchFamily="18" charset="0"/>
                                  <a:ea typeface="Cambria Math" panose="02040503050406030204" pitchFamily="18" charset="0"/>
                                </a:rPr>
                                <m:t>4</m:t>
                              </m:r>
                            </m:sub>
                          </m:sSub>
                        </m:num>
                        <m:den>
                          <m:r>
                            <a:rPr lang="en-GB" sz="1800" i="1">
                              <a:latin typeface="Cambria Math" panose="02040503050406030204" pitchFamily="18" charset="0"/>
                              <a:ea typeface="Cambria Math" panose="02040503050406030204" pitchFamily="18" charset="0"/>
                            </a:rPr>
                            <m:t>𝑟</m:t>
                          </m:r>
                          <m:r>
                            <a:rPr lang="en-GB" sz="1800" i="1">
                              <a:latin typeface="Cambria Math" panose="02040503050406030204" pitchFamily="18" charset="0"/>
                              <a:ea typeface="Cambria Math" panose="02040503050406030204" pitchFamily="18" charset="0"/>
                            </a:rPr>
                            <m:t>−</m:t>
                          </m:r>
                          <m:r>
                            <a:rPr lang="en-GB" sz="1800" i="1">
                              <a:latin typeface="Cambria Math" panose="02040503050406030204" pitchFamily="18" charset="0"/>
                              <a:ea typeface="Cambria Math" panose="02040503050406030204" pitchFamily="18" charset="0"/>
                            </a:rPr>
                            <m:t>𝑔</m:t>
                          </m:r>
                        </m:den>
                      </m:f>
                      <m:r>
                        <a:rPr lang="en-GB" sz="1800" i="1">
                          <a:latin typeface="Cambria Math" panose="02040503050406030204" pitchFamily="18" charset="0"/>
                          <a:ea typeface="Cambria Math" panose="02040503050406030204" pitchFamily="18" charset="0"/>
                        </a:rPr>
                        <m:t>=</m:t>
                      </m:r>
                      <m:f>
                        <m:fPr>
                          <m:ctrlPr>
                            <a:rPr lang="en-GB" sz="1800" i="1">
                              <a:latin typeface="Cambria Math" panose="02040503050406030204" pitchFamily="18" charset="0"/>
                              <a:ea typeface="Cambria Math" panose="02040503050406030204" pitchFamily="18" charset="0"/>
                            </a:rPr>
                          </m:ctrlPr>
                        </m:fPr>
                        <m:num>
                          <m:r>
                            <a:rPr lang="en-GB" sz="1800" i="1">
                              <a:latin typeface="Cambria Math" panose="02040503050406030204" pitchFamily="18" charset="0"/>
                              <a:ea typeface="Cambria Math" panose="02040503050406030204" pitchFamily="18" charset="0"/>
                            </a:rPr>
                            <m:t>0.34</m:t>
                          </m:r>
                        </m:num>
                        <m:den>
                          <m:r>
                            <a:rPr lang="en-GB" sz="1800" i="1">
                              <a:latin typeface="Cambria Math" panose="02040503050406030204" pitchFamily="18" charset="0"/>
                              <a:ea typeface="Cambria Math" panose="02040503050406030204" pitchFamily="18" charset="0"/>
                            </a:rPr>
                            <m:t>7%−2.5%</m:t>
                          </m:r>
                        </m:den>
                      </m:f>
                      <m:r>
                        <a:rPr lang="en-GB" sz="1800" i="1">
                          <a:latin typeface="Cambria Math" panose="02040503050406030204" pitchFamily="18" charset="0"/>
                          <a:ea typeface="Cambria Math" panose="02040503050406030204" pitchFamily="18" charset="0"/>
                        </a:rPr>
                        <m:t>=£7.56</m:t>
                      </m:r>
                    </m:oMath>
                  </m:oMathPara>
                </a14:m>
                <a:endParaRPr lang="en-GB" sz="1800" dirty="0">
                  <a:ea typeface="Cambria Math" panose="02040503050406030204" pitchFamily="18" charset="0"/>
                </a:endParaRPr>
              </a:p>
              <a:p>
                <a:pPr algn="just">
                  <a:spcBef>
                    <a:spcPts val="1350"/>
                  </a:spcBef>
                  <a:buClr>
                    <a:srgbClr val="C00000"/>
                  </a:buClr>
                  <a:buSzPct val="90000"/>
                  <a:buFont typeface="Wingdings" panose="05000000000000000000" pitchFamily="2" charset="2"/>
                  <a:buChar char="§"/>
                </a:pPr>
                <a:r>
                  <a:rPr lang="en-GB" sz="1800" dirty="0">
                    <a:ea typeface="Cambria Math" panose="02040503050406030204" pitchFamily="18" charset="0"/>
                  </a:rPr>
                  <a:t>The value of £7.56 represents the value of all dividends paid out </a:t>
                </a:r>
                <a:r>
                  <a:rPr lang="en-GB" sz="1800" dirty="0">
                    <a:solidFill>
                      <a:srgbClr val="C00000"/>
                    </a:solidFill>
                    <a:ea typeface="Cambria Math" panose="02040503050406030204" pitchFamily="18" charset="0"/>
                  </a:rPr>
                  <a:t>from year 4 until infinity</a:t>
                </a:r>
                <a:r>
                  <a:rPr lang="en-GB" sz="1800" dirty="0">
                    <a:ea typeface="Cambria Math" panose="020405030504060302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8591550" cy="4005724"/>
              </a:xfrm>
              <a:blipFill>
                <a:blip r:embed="rId3"/>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18</a:t>
            </a:fld>
            <a:endParaRPr lang="en-GB" sz="1350" dirty="0">
              <a:solidFill>
                <a:prstClr val="black">
                  <a:lumMod val="50000"/>
                  <a:lumOff val="50000"/>
                </a:prstClr>
              </a:solidFill>
              <a:latin typeface="Calibri" panose="020F0502020204030204"/>
              <a:ea typeface="+mn-ea"/>
            </a:endParaRPr>
          </a:p>
        </p:txBody>
      </p:sp>
      <p:cxnSp>
        <p:nvCxnSpPr>
          <p:cNvPr id="6" name="Straight Connector 5">
            <a:extLst>
              <a:ext uri="{FF2B5EF4-FFF2-40B4-BE49-F238E27FC236}">
                <a16:creationId xmlns:a16="http://schemas.microsoft.com/office/drawing/2014/main" id="{CCAEDA38-EEB6-4768-B50D-753BD0EEADB5}"/>
              </a:ext>
            </a:extLst>
          </p:cNvPr>
          <p:cNvCxnSpPr>
            <a:cxnSpLocks/>
          </p:cNvCxnSpPr>
          <p:nvPr/>
        </p:nvCxnSpPr>
        <p:spPr>
          <a:xfrm flipV="1">
            <a:off x="3989728" y="2691521"/>
            <a:ext cx="4819233" cy="0"/>
          </a:xfrm>
          <a:prstGeom prst="line">
            <a:avLst/>
          </a:prstGeom>
          <a:ln w="38100">
            <a:solidFill>
              <a:srgbClr val="0070C0"/>
            </a:solidFill>
            <a:headEnd type="none" w="med" len="med"/>
            <a:tailEnd type="arrow" w="lg" len="lg"/>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37B08C1-DF22-4866-8293-6B806C2D3DC3}"/>
                  </a:ext>
                </a:extLst>
              </p:cNvPr>
              <p:cNvSpPr txBox="1"/>
              <p:nvPr/>
            </p:nvSpPr>
            <p:spPr>
              <a:xfrm>
                <a:off x="8533465" y="2782301"/>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chemeClr val="accent1">
                              <a:lumMod val="75000"/>
                            </a:schemeClr>
                          </a:solidFill>
                          <a:latin typeface="Cambria Math" panose="02040503050406030204" pitchFamily="18" charset="0"/>
                          <a:ea typeface="Cambria Math" panose="02040503050406030204" pitchFamily="18" charset="0"/>
                        </a:rPr>
                        <m:t>∞</m:t>
                      </m:r>
                    </m:oMath>
                  </m:oMathPara>
                </a14:m>
                <a:endParaRPr lang="en-GB" sz="1350" dirty="0">
                  <a:solidFill>
                    <a:schemeClr val="accent1">
                      <a:lumMod val="75000"/>
                    </a:schemeClr>
                  </a:solidFill>
                  <a:latin typeface="Calibri" panose="020F0502020204030204"/>
                  <a:ea typeface="+mn-ea"/>
                </a:endParaRPr>
              </a:p>
            </p:txBody>
          </p:sp>
        </mc:Choice>
        <mc:Fallback xmlns="">
          <p:sp>
            <p:nvSpPr>
              <p:cNvPr id="10" name="TextBox 9">
                <a:extLst>
                  <a:ext uri="{FF2B5EF4-FFF2-40B4-BE49-F238E27FC236}">
                    <a16:creationId xmlns:a16="http://schemas.microsoft.com/office/drawing/2014/main" id="{E37B08C1-DF22-4866-8293-6B806C2D3DC3}"/>
                  </a:ext>
                </a:extLst>
              </p:cNvPr>
              <p:cNvSpPr txBox="1">
                <a:spLocks noRot="1" noChangeAspect="1" noMove="1" noResize="1" noEditPoints="1" noAdjustHandles="1" noChangeArrowheads="1" noChangeShapeType="1" noTextEdit="1"/>
              </p:cNvSpPr>
              <p:nvPr/>
            </p:nvSpPr>
            <p:spPr>
              <a:xfrm>
                <a:off x="8533465" y="2782301"/>
                <a:ext cx="660382" cy="300082"/>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294FF58-FCC7-4799-BAD3-A2D90B36E344}"/>
                  </a:ext>
                </a:extLst>
              </p:cNvPr>
              <p:cNvSpPr txBox="1"/>
              <p:nvPr/>
            </p:nvSpPr>
            <p:spPr>
              <a:xfrm>
                <a:off x="7848070" y="2782301"/>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chemeClr val="accent1">
                              <a:lumMod val="75000"/>
                            </a:schemeClr>
                          </a:solidFill>
                          <a:latin typeface="Cambria Math" panose="02040503050406030204" pitchFamily="18" charset="0"/>
                          <a:ea typeface="+mn-ea"/>
                        </a:rPr>
                        <m:t>…</m:t>
                      </m:r>
                    </m:oMath>
                  </m:oMathPara>
                </a14:m>
                <a:endParaRPr lang="en-GB" sz="1350" dirty="0">
                  <a:solidFill>
                    <a:schemeClr val="accent1">
                      <a:lumMod val="75000"/>
                    </a:schemeClr>
                  </a:solidFill>
                  <a:latin typeface="Calibri" panose="020F0502020204030204"/>
                  <a:ea typeface="+mn-ea"/>
                </a:endParaRPr>
              </a:p>
            </p:txBody>
          </p:sp>
        </mc:Choice>
        <mc:Fallback xmlns="">
          <p:sp>
            <p:nvSpPr>
              <p:cNvPr id="12" name="TextBox 11">
                <a:extLst>
                  <a:ext uri="{FF2B5EF4-FFF2-40B4-BE49-F238E27FC236}">
                    <a16:creationId xmlns:a16="http://schemas.microsoft.com/office/drawing/2014/main" id="{4294FF58-FCC7-4799-BAD3-A2D90B36E344}"/>
                  </a:ext>
                </a:extLst>
              </p:cNvPr>
              <p:cNvSpPr txBox="1">
                <a:spLocks noRot="1" noChangeAspect="1" noMove="1" noResize="1" noEditPoints="1" noAdjustHandles="1" noChangeArrowheads="1" noChangeShapeType="1" noTextEdit="1"/>
              </p:cNvSpPr>
              <p:nvPr/>
            </p:nvSpPr>
            <p:spPr>
              <a:xfrm>
                <a:off x="7848070" y="2782301"/>
                <a:ext cx="630848" cy="300082"/>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AC27355-19EA-4BCE-8780-1D5BEC78DBD2}"/>
                  </a:ext>
                </a:extLst>
              </p:cNvPr>
              <p:cNvSpPr txBox="1"/>
              <p:nvPr/>
            </p:nvSpPr>
            <p:spPr>
              <a:xfrm>
                <a:off x="7651374" y="2191117"/>
                <a:ext cx="1004052"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dirty="0">
                          <a:solidFill>
                            <a:schemeClr val="accent1">
                              <a:lumMod val="75000"/>
                            </a:schemeClr>
                          </a:solidFill>
                          <a:latin typeface="Cambria Math" panose="02040503050406030204" pitchFamily="18" charset="0"/>
                        </a:rPr>
                        <m:t>…</m:t>
                      </m:r>
                    </m:oMath>
                  </m:oMathPara>
                </a14:m>
                <a:endParaRPr lang="en-GB" sz="1500" dirty="0">
                  <a:solidFill>
                    <a:schemeClr val="accent1">
                      <a:lumMod val="75000"/>
                    </a:schemeClr>
                  </a:solidFill>
                </a:endParaRPr>
              </a:p>
            </p:txBody>
          </p:sp>
        </mc:Choice>
        <mc:Fallback xmlns="">
          <p:sp>
            <p:nvSpPr>
              <p:cNvPr id="33" name="TextBox 32">
                <a:extLst>
                  <a:ext uri="{FF2B5EF4-FFF2-40B4-BE49-F238E27FC236}">
                    <a16:creationId xmlns:a16="http://schemas.microsoft.com/office/drawing/2014/main" id="{DAC27355-19EA-4BCE-8780-1D5BEC78DBD2}"/>
                  </a:ext>
                </a:extLst>
              </p:cNvPr>
              <p:cNvSpPr txBox="1">
                <a:spLocks noRot="1" noChangeAspect="1" noMove="1" noResize="1" noEditPoints="1" noAdjustHandles="1" noChangeArrowheads="1" noChangeShapeType="1" noTextEdit="1"/>
              </p:cNvSpPr>
              <p:nvPr/>
            </p:nvSpPr>
            <p:spPr>
              <a:xfrm>
                <a:off x="7651374" y="2191117"/>
                <a:ext cx="1004052" cy="323165"/>
              </a:xfrm>
              <a:prstGeom prst="rect">
                <a:avLst/>
              </a:prstGeom>
              <a:blipFill>
                <a:blip r:embed="rId6"/>
                <a:stretch>
                  <a:fillRect/>
                </a:stretch>
              </a:blipFill>
            </p:spPr>
            <p:txBody>
              <a:bodyPr/>
              <a:lstStyle/>
              <a:p>
                <a:r>
                  <a:rPr lang="en-GB">
                    <a:noFill/>
                  </a:rPr>
                  <a:t> </a:t>
                </a:r>
              </a:p>
            </p:txBody>
          </p:sp>
        </mc:Fallback>
      </mc:AlternateContent>
      <p:cxnSp>
        <p:nvCxnSpPr>
          <p:cNvPr id="18" name="Straight Connector 17">
            <a:extLst>
              <a:ext uri="{FF2B5EF4-FFF2-40B4-BE49-F238E27FC236}">
                <a16:creationId xmlns:a16="http://schemas.microsoft.com/office/drawing/2014/main" id="{623A6249-3EEB-4F0A-8BAB-A6A47DE439F8}"/>
              </a:ext>
            </a:extLst>
          </p:cNvPr>
          <p:cNvCxnSpPr>
            <a:cxnSpLocks/>
          </p:cNvCxnSpPr>
          <p:nvPr/>
        </p:nvCxnSpPr>
        <p:spPr>
          <a:xfrm>
            <a:off x="3982711" y="2542434"/>
            <a:ext cx="0" cy="298174"/>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68B0EF8-14EA-4A18-8246-3226DCD15884}"/>
                  </a:ext>
                </a:extLst>
              </p:cNvPr>
              <p:cNvSpPr txBox="1"/>
              <p:nvPr/>
            </p:nvSpPr>
            <p:spPr>
              <a:xfrm>
                <a:off x="3674304" y="2865378"/>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chemeClr val="accent1">
                              <a:lumMod val="75000"/>
                            </a:schemeClr>
                          </a:solidFill>
                          <a:latin typeface="Cambria Math" panose="02040503050406030204" pitchFamily="18" charset="0"/>
                          <a:ea typeface="+mn-ea"/>
                        </a:rPr>
                        <m:t>𝑡</m:t>
                      </m:r>
                      <m:r>
                        <a:rPr lang="en-GB" sz="1350" i="1">
                          <a:solidFill>
                            <a:schemeClr val="accent1">
                              <a:lumMod val="75000"/>
                            </a:schemeClr>
                          </a:solidFill>
                          <a:latin typeface="Cambria Math" panose="02040503050406030204" pitchFamily="18" charset="0"/>
                          <a:ea typeface="+mn-ea"/>
                        </a:rPr>
                        <m:t>=3</m:t>
                      </m:r>
                    </m:oMath>
                  </m:oMathPara>
                </a14:m>
                <a:endParaRPr lang="en-GB" sz="1350" dirty="0">
                  <a:solidFill>
                    <a:schemeClr val="accent1">
                      <a:lumMod val="75000"/>
                    </a:schemeClr>
                  </a:solidFill>
                  <a:latin typeface="Calibri" panose="020F0502020204030204"/>
                  <a:ea typeface="+mn-ea"/>
                </a:endParaRPr>
              </a:p>
            </p:txBody>
          </p:sp>
        </mc:Choice>
        <mc:Fallback xmlns="">
          <p:sp>
            <p:nvSpPr>
              <p:cNvPr id="19" name="TextBox 18">
                <a:extLst>
                  <a:ext uri="{FF2B5EF4-FFF2-40B4-BE49-F238E27FC236}">
                    <a16:creationId xmlns:a16="http://schemas.microsoft.com/office/drawing/2014/main" id="{A68B0EF8-14EA-4A18-8246-3226DCD15884}"/>
                  </a:ext>
                </a:extLst>
              </p:cNvPr>
              <p:cNvSpPr txBox="1">
                <a:spLocks noRot="1" noChangeAspect="1" noMove="1" noResize="1" noEditPoints="1" noAdjustHandles="1" noChangeArrowheads="1" noChangeShapeType="1" noTextEdit="1"/>
              </p:cNvSpPr>
              <p:nvPr/>
            </p:nvSpPr>
            <p:spPr>
              <a:xfrm>
                <a:off x="3674304" y="2865378"/>
                <a:ext cx="630848" cy="300082"/>
              </a:xfrm>
              <a:prstGeom prst="rect">
                <a:avLst/>
              </a:prstGeom>
              <a:blipFill>
                <a:blip r:embed="rId7"/>
                <a:stretch>
                  <a:fillRect/>
                </a:stretch>
              </a:blipFill>
              <a:ln>
                <a:noFill/>
              </a:ln>
            </p:spPr>
            <p:txBody>
              <a:bodyPr/>
              <a:lstStyle/>
              <a:p>
                <a:r>
                  <a:rPr lang="en-GB">
                    <a:noFill/>
                  </a:rPr>
                  <a:t> </a:t>
                </a:r>
              </a:p>
            </p:txBody>
          </p:sp>
        </mc:Fallback>
      </mc:AlternateContent>
      <p:cxnSp>
        <p:nvCxnSpPr>
          <p:cNvPr id="21" name="Straight Connector 20">
            <a:extLst>
              <a:ext uri="{FF2B5EF4-FFF2-40B4-BE49-F238E27FC236}">
                <a16:creationId xmlns:a16="http://schemas.microsoft.com/office/drawing/2014/main" id="{DBB2A47C-5097-4468-B912-DDF307BD265E}"/>
              </a:ext>
            </a:extLst>
          </p:cNvPr>
          <p:cNvCxnSpPr>
            <a:cxnSpLocks/>
          </p:cNvCxnSpPr>
          <p:nvPr/>
        </p:nvCxnSpPr>
        <p:spPr>
          <a:xfrm>
            <a:off x="5236115" y="2542434"/>
            <a:ext cx="0" cy="2981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FBD6AA8-3619-446C-9CD0-F83C9180955F}"/>
                  </a:ext>
                </a:extLst>
              </p:cNvPr>
              <p:cNvSpPr txBox="1"/>
              <p:nvPr/>
            </p:nvSpPr>
            <p:spPr>
              <a:xfrm>
                <a:off x="5002664" y="2862040"/>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chemeClr val="accent1">
                              <a:lumMod val="75000"/>
                            </a:schemeClr>
                          </a:solidFill>
                          <a:latin typeface="Cambria Math" panose="02040503050406030204" pitchFamily="18" charset="0"/>
                          <a:ea typeface="+mn-ea"/>
                        </a:rPr>
                        <m:t>𝑡</m:t>
                      </m:r>
                      <m:r>
                        <a:rPr lang="en-GB" sz="1350" i="1">
                          <a:solidFill>
                            <a:schemeClr val="accent1">
                              <a:lumMod val="75000"/>
                            </a:schemeClr>
                          </a:solidFill>
                          <a:latin typeface="Cambria Math" panose="02040503050406030204" pitchFamily="18" charset="0"/>
                          <a:ea typeface="+mn-ea"/>
                        </a:rPr>
                        <m:t>=4</m:t>
                      </m:r>
                    </m:oMath>
                  </m:oMathPara>
                </a14:m>
                <a:endParaRPr lang="en-GB" sz="1350" dirty="0">
                  <a:solidFill>
                    <a:schemeClr val="accent1">
                      <a:lumMod val="75000"/>
                    </a:schemeClr>
                  </a:solidFill>
                  <a:latin typeface="Calibri" panose="020F0502020204030204"/>
                  <a:ea typeface="+mn-ea"/>
                </a:endParaRPr>
              </a:p>
            </p:txBody>
          </p:sp>
        </mc:Choice>
        <mc:Fallback xmlns="">
          <p:sp>
            <p:nvSpPr>
              <p:cNvPr id="22" name="TextBox 21">
                <a:extLst>
                  <a:ext uri="{FF2B5EF4-FFF2-40B4-BE49-F238E27FC236}">
                    <a16:creationId xmlns:a16="http://schemas.microsoft.com/office/drawing/2014/main" id="{BFBD6AA8-3619-446C-9CD0-F83C9180955F}"/>
                  </a:ext>
                </a:extLst>
              </p:cNvPr>
              <p:cNvSpPr txBox="1">
                <a:spLocks noRot="1" noChangeAspect="1" noMove="1" noResize="1" noEditPoints="1" noAdjustHandles="1" noChangeArrowheads="1" noChangeShapeType="1" noTextEdit="1"/>
              </p:cNvSpPr>
              <p:nvPr/>
            </p:nvSpPr>
            <p:spPr>
              <a:xfrm>
                <a:off x="5002664" y="2862040"/>
                <a:ext cx="630848" cy="300082"/>
              </a:xfrm>
              <a:prstGeom prst="rect">
                <a:avLst/>
              </a:prstGeom>
              <a:blipFill>
                <a:blip r:embed="rId8"/>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02AE6D7-4526-4871-A54D-2D6E6B98E9E5}"/>
                  </a:ext>
                </a:extLst>
              </p:cNvPr>
              <p:cNvSpPr txBox="1"/>
              <p:nvPr/>
            </p:nvSpPr>
            <p:spPr>
              <a:xfrm>
                <a:off x="4220092" y="2186913"/>
                <a:ext cx="2032046"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solidFill>
                            <a:schemeClr val="accent1">
                              <a:lumMod val="75000"/>
                            </a:schemeClr>
                          </a:solidFill>
                          <a:latin typeface="Cambria Math" panose="02040503050406030204" pitchFamily="18" charset="0"/>
                          <a:ea typeface="Cambria Math" panose="02040503050406030204" pitchFamily="18" charset="0"/>
                        </a:rPr>
                        <m:t>£0.34</m:t>
                      </m:r>
                    </m:oMath>
                  </m:oMathPara>
                </a14:m>
                <a:endParaRPr lang="en-GB" sz="1500" dirty="0">
                  <a:solidFill>
                    <a:schemeClr val="accent1">
                      <a:lumMod val="75000"/>
                    </a:schemeClr>
                  </a:solidFill>
                </a:endParaRPr>
              </a:p>
            </p:txBody>
          </p:sp>
        </mc:Choice>
        <mc:Fallback xmlns="">
          <p:sp>
            <p:nvSpPr>
              <p:cNvPr id="23" name="TextBox 22">
                <a:extLst>
                  <a:ext uri="{FF2B5EF4-FFF2-40B4-BE49-F238E27FC236}">
                    <a16:creationId xmlns:a16="http://schemas.microsoft.com/office/drawing/2014/main" id="{E02AE6D7-4526-4871-A54D-2D6E6B98E9E5}"/>
                  </a:ext>
                </a:extLst>
              </p:cNvPr>
              <p:cNvSpPr txBox="1">
                <a:spLocks noRot="1" noChangeAspect="1" noMove="1" noResize="1" noEditPoints="1" noAdjustHandles="1" noChangeArrowheads="1" noChangeShapeType="1" noTextEdit="1"/>
              </p:cNvSpPr>
              <p:nvPr/>
            </p:nvSpPr>
            <p:spPr>
              <a:xfrm>
                <a:off x="4220092" y="2186913"/>
                <a:ext cx="2032046" cy="323165"/>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CAC015E-2666-4409-9357-BA917C0BA660}"/>
                  </a:ext>
                </a:extLst>
              </p:cNvPr>
              <p:cNvSpPr txBox="1"/>
              <p:nvPr/>
            </p:nvSpPr>
            <p:spPr>
              <a:xfrm>
                <a:off x="6309250" y="2865378"/>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chemeClr val="accent1">
                              <a:lumMod val="75000"/>
                            </a:schemeClr>
                          </a:solidFill>
                          <a:latin typeface="Cambria Math" panose="02040503050406030204" pitchFamily="18" charset="0"/>
                          <a:ea typeface="+mn-ea"/>
                        </a:rPr>
                        <m:t>𝑡</m:t>
                      </m:r>
                      <m:r>
                        <a:rPr lang="en-GB" sz="1350" i="1">
                          <a:solidFill>
                            <a:schemeClr val="accent1">
                              <a:lumMod val="75000"/>
                            </a:schemeClr>
                          </a:solidFill>
                          <a:latin typeface="Cambria Math" panose="02040503050406030204" pitchFamily="18" charset="0"/>
                          <a:ea typeface="+mn-ea"/>
                        </a:rPr>
                        <m:t>=5</m:t>
                      </m:r>
                    </m:oMath>
                  </m:oMathPara>
                </a14:m>
                <a:endParaRPr lang="en-GB" sz="1350" dirty="0">
                  <a:solidFill>
                    <a:schemeClr val="accent1">
                      <a:lumMod val="75000"/>
                    </a:schemeClr>
                  </a:solidFill>
                  <a:latin typeface="Calibri" panose="020F0502020204030204"/>
                  <a:ea typeface="+mn-ea"/>
                </a:endParaRPr>
              </a:p>
            </p:txBody>
          </p:sp>
        </mc:Choice>
        <mc:Fallback xmlns="">
          <p:sp>
            <p:nvSpPr>
              <p:cNvPr id="24" name="TextBox 23">
                <a:extLst>
                  <a:ext uri="{FF2B5EF4-FFF2-40B4-BE49-F238E27FC236}">
                    <a16:creationId xmlns:a16="http://schemas.microsoft.com/office/drawing/2014/main" id="{ACAC015E-2666-4409-9357-BA917C0BA660}"/>
                  </a:ext>
                </a:extLst>
              </p:cNvPr>
              <p:cNvSpPr txBox="1">
                <a:spLocks noRot="1" noChangeAspect="1" noMove="1" noResize="1" noEditPoints="1" noAdjustHandles="1" noChangeArrowheads="1" noChangeShapeType="1" noTextEdit="1"/>
              </p:cNvSpPr>
              <p:nvPr/>
            </p:nvSpPr>
            <p:spPr>
              <a:xfrm>
                <a:off x="6309250" y="2865378"/>
                <a:ext cx="630848" cy="300082"/>
              </a:xfrm>
              <a:prstGeom prst="rect">
                <a:avLst/>
              </a:prstGeom>
              <a:blipFill>
                <a:blip r:embed="rId10"/>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03F7644-827A-4100-A1BA-8D92C339D0A3}"/>
                  </a:ext>
                </a:extLst>
              </p:cNvPr>
              <p:cNvSpPr txBox="1"/>
              <p:nvPr/>
            </p:nvSpPr>
            <p:spPr>
              <a:xfrm>
                <a:off x="5825300" y="2192205"/>
                <a:ext cx="2032046"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solidFill>
                            <a:schemeClr val="accent1">
                              <a:lumMod val="75000"/>
                            </a:schemeClr>
                          </a:solidFill>
                          <a:latin typeface="Cambria Math" panose="02040503050406030204" pitchFamily="18" charset="0"/>
                        </a:rPr>
                        <m:t>£0.34</m:t>
                      </m:r>
                      <m:r>
                        <a:rPr lang="en-GB" sz="1500" i="1">
                          <a:solidFill>
                            <a:schemeClr val="accent1">
                              <a:lumMod val="75000"/>
                            </a:schemeClr>
                          </a:solidFill>
                          <a:latin typeface="Cambria Math" panose="02040503050406030204" pitchFamily="18" charset="0"/>
                          <a:ea typeface="Cambria Math" panose="02040503050406030204" pitchFamily="18" charset="0"/>
                        </a:rPr>
                        <m:t>×</m:t>
                      </m:r>
                      <m:d>
                        <m:dPr>
                          <m:ctrlPr>
                            <a:rPr lang="en-GB" sz="1500" i="1">
                              <a:solidFill>
                                <a:schemeClr val="accent1">
                                  <a:lumMod val="75000"/>
                                </a:schemeClr>
                              </a:solidFill>
                              <a:latin typeface="Cambria Math" panose="02040503050406030204" pitchFamily="18" charset="0"/>
                              <a:ea typeface="Cambria Math" panose="02040503050406030204" pitchFamily="18" charset="0"/>
                            </a:rPr>
                          </m:ctrlPr>
                        </m:dPr>
                        <m:e>
                          <m:r>
                            <a:rPr lang="en-GB" sz="1500" i="1">
                              <a:solidFill>
                                <a:schemeClr val="accent1">
                                  <a:lumMod val="75000"/>
                                </a:schemeClr>
                              </a:solidFill>
                              <a:latin typeface="Cambria Math" panose="02040503050406030204" pitchFamily="18" charset="0"/>
                              <a:ea typeface="Cambria Math" panose="02040503050406030204" pitchFamily="18" charset="0"/>
                            </a:rPr>
                            <m:t>1+2.5%</m:t>
                          </m:r>
                        </m:e>
                      </m:d>
                    </m:oMath>
                  </m:oMathPara>
                </a14:m>
                <a:endParaRPr lang="en-GB" sz="1500" i="1" dirty="0">
                  <a:solidFill>
                    <a:schemeClr val="accent1">
                      <a:lumMod val="75000"/>
                    </a:schemeClr>
                  </a:solidFill>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803F7644-827A-4100-A1BA-8D92C339D0A3}"/>
                  </a:ext>
                </a:extLst>
              </p:cNvPr>
              <p:cNvSpPr txBox="1">
                <a:spLocks noRot="1" noChangeAspect="1" noMove="1" noResize="1" noEditPoints="1" noAdjustHandles="1" noChangeArrowheads="1" noChangeShapeType="1" noTextEdit="1"/>
              </p:cNvSpPr>
              <p:nvPr/>
            </p:nvSpPr>
            <p:spPr>
              <a:xfrm>
                <a:off x="5825300" y="2192205"/>
                <a:ext cx="2032046" cy="323165"/>
              </a:xfrm>
              <a:prstGeom prst="rect">
                <a:avLst/>
              </a:prstGeom>
              <a:blipFill>
                <a:blip r:embed="rId11"/>
                <a:stretch>
                  <a:fillRect/>
                </a:stretch>
              </a:blipFill>
            </p:spPr>
            <p:txBody>
              <a:bodyPr/>
              <a:lstStyle/>
              <a:p>
                <a:r>
                  <a:rPr lang="en-GB">
                    <a:noFill/>
                  </a:rPr>
                  <a:t> </a:t>
                </a:r>
              </a:p>
            </p:txBody>
          </p:sp>
        </mc:Fallback>
      </mc:AlternateContent>
      <p:cxnSp>
        <p:nvCxnSpPr>
          <p:cNvPr id="28" name="Straight Connector 27">
            <a:extLst>
              <a:ext uri="{FF2B5EF4-FFF2-40B4-BE49-F238E27FC236}">
                <a16:creationId xmlns:a16="http://schemas.microsoft.com/office/drawing/2014/main" id="{D93EC91B-9A7A-4846-A01C-801B6EFCDB2E}"/>
              </a:ext>
            </a:extLst>
          </p:cNvPr>
          <p:cNvCxnSpPr>
            <a:cxnSpLocks/>
          </p:cNvCxnSpPr>
          <p:nvPr/>
        </p:nvCxnSpPr>
        <p:spPr>
          <a:xfrm>
            <a:off x="6623280" y="2542434"/>
            <a:ext cx="0" cy="2981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346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par>
                                <p:cTn id="15" presetID="53" presetClass="entr" presetSubtype="16"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par>
                                <p:cTn id="20" presetID="53" presetClass="entr" presetSubtype="16"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500" fill="hold"/>
                                        <p:tgtEl>
                                          <p:spTgt spid="28"/>
                                        </p:tgtEl>
                                        <p:attrNameLst>
                                          <p:attrName>ppt_w</p:attrName>
                                        </p:attrNameLst>
                                      </p:cBhvr>
                                      <p:tavLst>
                                        <p:tav tm="0">
                                          <p:val>
                                            <p:fltVal val="0"/>
                                          </p:val>
                                        </p:tav>
                                        <p:tav tm="100000">
                                          <p:val>
                                            <p:strVal val="#ppt_w"/>
                                          </p:val>
                                        </p:tav>
                                      </p:tavLst>
                                    </p:anim>
                                    <p:anim calcmode="lin" valueType="num">
                                      <p:cBhvr>
                                        <p:cTn id="23" dur="500" fill="hold"/>
                                        <p:tgtEl>
                                          <p:spTgt spid="28"/>
                                        </p:tgtEl>
                                        <p:attrNameLst>
                                          <p:attrName>ppt_h</p:attrName>
                                        </p:attrNameLst>
                                      </p:cBhvr>
                                      <p:tavLst>
                                        <p:tav tm="0">
                                          <p:val>
                                            <p:fltVal val="0"/>
                                          </p:val>
                                        </p:tav>
                                        <p:tav tm="100000">
                                          <p:val>
                                            <p:strVal val="#ppt_h"/>
                                          </p:val>
                                        </p:tav>
                                      </p:tavLst>
                                    </p:anim>
                                    <p:animEffect transition="in" filter="fade">
                                      <p:cBhvr>
                                        <p:cTn id="24" dur="500"/>
                                        <p:tgtEl>
                                          <p:spTgt spid="28"/>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500" fill="hold"/>
                                        <p:tgtEl>
                                          <p:spTgt spid="23"/>
                                        </p:tgtEl>
                                        <p:attrNameLst>
                                          <p:attrName>ppt_x</p:attrName>
                                        </p:attrNameLst>
                                      </p:cBhvr>
                                      <p:tavLst>
                                        <p:tav tm="0">
                                          <p:val>
                                            <p:strVal val="#ppt_x"/>
                                          </p:val>
                                        </p:tav>
                                        <p:tav tm="100000">
                                          <p:val>
                                            <p:strVal val="#ppt_x"/>
                                          </p:val>
                                        </p:tav>
                                      </p:tavLst>
                                    </p:anim>
                                    <p:anim calcmode="lin" valueType="num">
                                      <p:cBhvr additive="base">
                                        <p:cTn id="4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 calcmode="lin" valueType="num">
                                      <p:cBhvr additive="base">
                                        <p:cTn id="45" dur="500" fill="hold"/>
                                        <p:tgtEl>
                                          <p:spTgt spid="25"/>
                                        </p:tgtEl>
                                        <p:attrNameLst>
                                          <p:attrName>ppt_x</p:attrName>
                                        </p:attrNameLst>
                                      </p:cBhvr>
                                      <p:tavLst>
                                        <p:tav tm="0">
                                          <p:val>
                                            <p:strVal val="#ppt_x"/>
                                          </p:val>
                                        </p:tav>
                                        <p:tav tm="100000">
                                          <p:val>
                                            <p:strVal val="#ppt_x"/>
                                          </p:val>
                                        </p:tav>
                                      </p:tavLst>
                                    </p:anim>
                                    <p:anim calcmode="lin" valueType="num">
                                      <p:cBhvr additive="base">
                                        <p:cTn id="4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anim calcmode="lin" valueType="num">
                                      <p:cBhvr additive="base">
                                        <p:cTn id="51" dur="500" fill="hold"/>
                                        <p:tgtEl>
                                          <p:spTgt spid="33"/>
                                        </p:tgtEl>
                                        <p:attrNameLst>
                                          <p:attrName>ppt_x</p:attrName>
                                        </p:attrNameLst>
                                      </p:cBhvr>
                                      <p:tavLst>
                                        <p:tav tm="0">
                                          <p:val>
                                            <p:strVal val="#ppt_x"/>
                                          </p:val>
                                        </p:tav>
                                        <p:tav tm="100000">
                                          <p:val>
                                            <p:strVal val="#ppt_x"/>
                                          </p:val>
                                        </p:tav>
                                      </p:tavLst>
                                    </p:anim>
                                    <p:anim calcmode="lin" valueType="num">
                                      <p:cBhvr additive="base">
                                        <p:cTn id="5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1" end="1"/>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
                                            <p:txEl>
                                              <p:pRg st="4" end="4"/>
                                            </p:txEl>
                                          </p:spTgt>
                                        </p:tgtEl>
                                        <p:attrNameLst>
                                          <p:attrName>style.visibility</p:attrName>
                                        </p:attrNameLst>
                                      </p:cBhvr>
                                      <p:to>
                                        <p:strVal val="visible"/>
                                      </p:to>
                                    </p:set>
                                    <p:anim calcmode="lin" valueType="num">
                                      <p:cBhvr additive="base">
                                        <p:cTn id="6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5" end="5"/>
                                            </p:txEl>
                                          </p:spTgt>
                                        </p:tgtEl>
                                        <p:attrNameLst>
                                          <p:attrName>style.visibility</p:attrName>
                                        </p:attrNameLst>
                                      </p:cBhvr>
                                      <p:to>
                                        <p:strVal val="visible"/>
                                      </p:to>
                                    </p:set>
                                    <p:anim calcmode="lin" valueType="num">
                                      <p:cBhvr additive="base">
                                        <p:cTn id="6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6" end="6"/>
                                            </p:txEl>
                                          </p:spTgt>
                                        </p:tgtEl>
                                        <p:attrNameLst>
                                          <p:attrName>style.visibility</p:attrName>
                                        </p:attrNameLst>
                                      </p:cBhvr>
                                      <p:to>
                                        <p:strVal val="visible"/>
                                      </p:to>
                                    </p:set>
                                    <p:anim calcmode="lin" valueType="num">
                                      <p:cBhvr additive="base">
                                        <p:cTn id="7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33" grpId="0"/>
      <p:bldP spid="19" grpId="0"/>
      <p:bldP spid="22" grpId="0"/>
      <p:bldP spid="23" grpId="0"/>
      <p:bldP spid="24" grpId="0"/>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t>Share Value – Non-Constant Growth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8591550" cy="4005724"/>
              </a:xfrm>
            </p:spPr>
            <p:txBody>
              <a:bodyPr>
                <a:normAutofit/>
              </a:bodyPr>
              <a:lstStyle/>
              <a:p>
                <a:pPr algn="just">
                  <a:spcBef>
                    <a:spcPts val="1350"/>
                  </a:spcBef>
                  <a:spcAft>
                    <a:spcPts val="1350"/>
                  </a:spcAft>
                  <a:buClr>
                    <a:srgbClr val="C00000"/>
                  </a:buClr>
                  <a:buSzPct val="90000"/>
                </a:pPr>
                <a:r>
                  <a:rPr lang="en-GB" sz="1800" dirty="0">
                    <a:ea typeface="Cambria Math" panose="02040503050406030204" pitchFamily="18" charset="0"/>
                  </a:rPr>
                  <a:t>Now, we can discount back to the present, </a:t>
                </a:r>
                <a14:m>
                  <m:oMath xmlns:m="http://schemas.openxmlformats.org/officeDocument/2006/math">
                    <m:r>
                      <a:rPr lang="en-GB" sz="1800" i="1">
                        <a:latin typeface="Cambria Math" panose="02040503050406030204" pitchFamily="18" charset="0"/>
                        <a:ea typeface="Cambria Math" panose="02040503050406030204" pitchFamily="18" charset="0"/>
                      </a:rPr>
                      <m:t>𝑡</m:t>
                    </m:r>
                    <m:r>
                      <a:rPr lang="en-GB" sz="1800" i="1">
                        <a:latin typeface="Cambria Math" panose="02040503050406030204" pitchFamily="18" charset="0"/>
                        <a:ea typeface="Cambria Math" panose="02040503050406030204" pitchFamily="18" charset="0"/>
                      </a:rPr>
                      <m:t>=0.</m:t>
                    </m:r>
                  </m:oMath>
                </a14:m>
                <a:endParaRPr lang="en-GB" sz="1800" dirty="0">
                  <a:ea typeface="Cambria Math" panose="02040503050406030204" pitchFamily="18" charset="0"/>
                </a:endParaRPr>
              </a:p>
              <a:p>
                <a:pPr algn="just">
                  <a:spcBef>
                    <a:spcPts val="0"/>
                  </a:spcBef>
                  <a:buClr>
                    <a:srgbClr val="C00000"/>
                  </a:buClr>
                  <a:buSzPct val="90000"/>
                  <a:buFont typeface="Calibri" panose="020F0502020204030204" pitchFamily="34" charset="0"/>
                  <a:buChar char="─"/>
                </a:pPr>
                <a:r>
                  <a:rPr lang="en-GB" sz="1800" dirty="0">
                    <a:ea typeface="Cambria Math" panose="02040503050406030204" pitchFamily="18" charset="0"/>
                  </a:rPr>
                  <a:t>This is a series of dividends from years 1 to 3</a:t>
                </a:r>
              </a:p>
              <a:p>
                <a:pPr marL="0" indent="0" algn="just">
                  <a:spcBef>
                    <a:spcPts val="0"/>
                  </a:spcBef>
                  <a:buClr>
                    <a:srgbClr val="C00000"/>
                  </a:buClr>
                  <a:buSzPct val="90000"/>
                  <a:buNone/>
                </a:pPr>
                <a:r>
                  <a:rPr lang="en-GB" sz="1800" dirty="0">
                    <a:ea typeface="Cambria Math" panose="02040503050406030204" pitchFamily="18" charset="0"/>
                  </a:rPr>
                  <a:t>and the price at year 3.</a:t>
                </a:r>
              </a:p>
              <a:p>
                <a:pPr algn="just">
                  <a:spcBef>
                    <a:spcPts val="0"/>
                  </a:spcBef>
                  <a:buClr>
                    <a:srgbClr val="C00000"/>
                  </a:buClr>
                  <a:buSzPct val="90000"/>
                  <a:buFont typeface="Calibri" panose="020F0502020204030204" pitchFamily="34" charset="0"/>
                  <a:buChar char="─"/>
                </a:pPr>
                <a:endParaRPr lang="en-GB" sz="1800" i="1" dirty="0">
                  <a:ea typeface="Cambria Math" panose="02040503050406030204" pitchFamily="18" charset="0"/>
                </a:endParaRPr>
              </a:p>
              <a:p>
                <a:pPr marL="0" indent="0" algn="just">
                  <a:spcBef>
                    <a:spcPts val="0"/>
                  </a:spcBef>
                  <a:buClr>
                    <a:srgbClr val="C00000"/>
                  </a:buClr>
                  <a:buSzPct val="90000"/>
                  <a:buNone/>
                </a:pPr>
                <a:endParaRPr lang="en-GB" sz="1800" i="1" dirty="0">
                  <a:ea typeface="Cambria Math" panose="02040503050406030204" pitchFamily="18" charset="0"/>
                </a:endParaRPr>
              </a:p>
              <a:p>
                <a:pPr marL="0" indent="0" algn="just">
                  <a:spcBef>
                    <a:spcPts val="1350"/>
                  </a:spcBef>
                  <a:buClr>
                    <a:srgbClr val="C00000"/>
                  </a:buClr>
                  <a:buSzPct val="90000"/>
                  <a:buNone/>
                </a:pPr>
                <a:r>
                  <a:rPr lang="en-GB" sz="1800" dirty="0">
                    <a:ea typeface="Cambria Math" panose="02040503050406030204" pitchFamily="18" charset="0"/>
                  </a:rPr>
                  <a:t>The value of this share at time </a:t>
                </a:r>
                <a14:m>
                  <m:oMath xmlns:m="http://schemas.openxmlformats.org/officeDocument/2006/math">
                    <m:r>
                      <a:rPr lang="en-GB" sz="1800" i="1">
                        <a:latin typeface="Cambria Math" panose="02040503050406030204" pitchFamily="18" charset="0"/>
                        <a:ea typeface="Cambria Math" panose="02040503050406030204" pitchFamily="18" charset="0"/>
                      </a:rPr>
                      <m:t>𝑡</m:t>
                    </m:r>
                    <m:r>
                      <a:rPr lang="en-GB" sz="1800" i="1">
                        <a:latin typeface="Cambria Math" panose="02040503050406030204" pitchFamily="18" charset="0"/>
                        <a:ea typeface="Cambria Math" panose="02040503050406030204" pitchFamily="18" charset="0"/>
                      </a:rPr>
                      <m:t>=0</m:t>
                    </m:r>
                  </m:oMath>
                </a14:m>
                <a:r>
                  <a:rPr lang="en-GB" sz="1800" dirty="0">
                    <a:ea typeface="Cambria Math" panose="02040503050406030204" pitchFamily="18" charset="0"/>
                  </a:rPr>
                  <a:t> is the present value of the dividends and the price at time </a:t>
                </a:r>
                <a14:m>
                  <m:oMath xmlns:m="http://schemas.openxmlformats.org/officeDocument/2006/math">
                    <m:r>
                      <a:rPr lang="en-GB" sz="1800" i="1">
                        <a:latin typeface="Cambria Math" panose="02040503050406030204" pitchFamily="18" charset="0"/>
                        <a:ea typeface="Cambria Math" panose="02040503050406030204" pitchFamily="18" charset="0"/>
                      </a:rPr>
                      <m:t>𝑡</m:t>
                    </m:r>
                    <m:r>
                      <a:rPr lang="en-GB" sz="1800" i="1">
                        <a:latin typeface="Cambria Math" panose="02040503050406030204" pitchFamily="18" charset="0"/>
                        <a:ea typeface="Cambria Math" panose="02040503050406030204" pitchFamily="18" charset="0"/>
                      </a:rPr>
                      <m:t>=3</m:t>
                    </m:r>
                    <m:r>
                      <a:rPr lang="en-GB" sz="1800">
                        <a:latin typeface="Cambria Math" panose="02040503050406030204" pitchFamily="18" charset="0"/>
                        <a:ea typeface="Cambria Math" panose="02040503050406030204" pitchFamily="18" charset="0"/>
                      </a:rPr>
                      <m:t>:</m:t>
                    </m:r>
                  </m:oMath>
                </a14:m>
                <a:endParaRPr lang="en-GB" sz="1800" dirty="0">
                  <a:ea typeface="Cambria Math" panose="02040503050406030204" pitchFamily="18" charset="0"/>
                </a:endParaRPr>
              </a:p>
              <a:p>
                <a:pPr marL="0" indent="0" algn="just">
                  <a:lnSpc>
                    <a:spcPct val="150000"/>
                  </a:lnSpc>
                  <a:spcBef>
                    <a:spcPts val="1350"/>
                  </a:spcBef>
                  <a:buClr>
                    <a:srgbClr val="C00000"/>
                  </a:buClr>
                  <a:buSzPct val="90000"/>
                  <a:buNone/>
                </a:pPr>
                <a14:m>
                  <m:oMathPara xmlns:m="http://schemas.openxmlformats.org/officeDocument/2006/math">
                    <m:oMathParaPr>
                      <m:jc m:val="centerGroup"/>
                    </m:oMathParaPr>
                    <m:oMath xmlns:m="http://schemas.openxmlformats.org/officeDocument/2006/math">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𝑃</m:t>
                          </m:r>
                        </m:e>
                        <m:sub>
                          <m:r>
                            <a:rPr lang="en-GB" sz="1800" i="1">
                              <a:latin typeface="Cambria Math" panose="02040503050406030204" pitchFamily="18" charset="0"/>
                              <a:ea typeface="Cambria Math" panose="02040503050406030204" pitchFamily="18" charset="0"/>
                            </a:rPr>
                            <m:t>0</m:t>
                          </m:r>
                        </m:sub>
                      </m:sSub>
                      <m:r>
                        <a:rPr lang="en-GB" sz="1800" i="1">
                          <a:latin typeface="Cambria Math" panose="02040503050406030204" pitchFamily="18" charset="0"/>
                          <a:ea typeface="Cambria Math" panose="02040503050406030204" pitchFamily="18" charset="0"/>
                        </a:rPr>
                        <m:t>=0.75×</m:t>
                      </m:r>
                      <m:sSup>
                        <m:sSupPr>
                          <m:ctrlPr>
                            <a:rPr lang="en-GB" sz="1800" i="1">
                              <a:latin typeface="Cambria Math" panose="02040503050406030204" pitchFamily="18" charset="0"/>
                              <a:ea typeface="Cambria Math" panose="02040503050406030204" pitchFamily="18" charset="0"/>
                            </a:rPr>
                          </m:ctrlPr>
                        </m:sSupPr>
                        <m:e>
                          <m:d>
                            <m:dPr>
                              <m:ctrlPr>
                                <a:rPr lang="en-GB" sz="1800" i="1">
                                  <a:latin typeface="Cambria Math" panose="02040503050406030204" pitchFamily="18" charset="0"/>
                                  <a:ea typeface="Cambria Math" panose="02040503050406030204" pitchFamily="18" charset="0"/>
                                </a:rPr>
                              </m:ctrlPr>
                            </m:dPr>
                            <m:e>
                              <m:r>
                                <a:rPr lang="en-GB" sz="1800" i="1">
                                  <a:latin typeface="Cambria Math" panose="02040503050406030204" pitchFamily="18" charset="0"/>
                                  <a:ea typeface="Cambria Math" panose="02040503050406030204" pitchFamily="18" charset="0"/>
                                </a:rPr>
                                <m:t>1+7%</m:t>
                              </m:r>
                            </m:e>
                          </m:d>
                        </m:e>
                        <m:sup>
                          <m:r>
                            <a:rPr lang="en-GB" sz="1800" i="1">
                              <a:latin typeface="Cambria Math" panose="02040503050406030204" pitchFamily="18" charset="0"/>
                              <a:ea typeface="Cambria Math" panose="02040503050406030204" pitchFamily="18" charset="0"/>
                            </a:rPr>
                            <m:t>−1</m:t>
                          </m:r>
                        </m:sup>
                      </m:sSup>
                      <m:r>
                        <a:rPr lang="en-GB" sz="1800" i="1">
                          <a:latin typeface="Cambria Math" panose="02040503050406030204" pitchFamily="18" charset="0"/>
                          <a:ea typeface="Cambria Math" panose="02040503050406030204" pitchFamily="18" charset="0"/>
                        </a:rPr>
                        <m:t>+£0.52×</m:t>
                      </m:r>
                      <m:sSup>
                        <m:sSupPr>
                          <m:ctrlPr>
                            <a:rPr lang="en-GB" sz="1800" i="1">
                              <a:latin typeface="Cambria Math" panose="02040503050406030204" pitchFamily="18" charset="0"/>
                              <a:ea typeface="Cambria Math" panose="02040503050406030204" pitchFamily="18" charset="0"/>
                            </a:rPr>
                          </m:ctrlPr>
                        </m:sSupPr>
                        <m:e>
                          <m:d>
                            <m:dPr>
                              <m:ctrlPr>
                                <a:rPr lang="en-GB" sz="1800" i="1">
                                  <a:latin typeface="Cambria Math" panose="02040503050406030204" pitchFamily="18" charset="0"/>
                                  <a:ea typeface="Cambria Math" panose="02040503050406030204" pitchFamily="18" charset="0"/>
                                </a:rPr>
                              </m:ctrlPr>
                            </m:dPr>
                            <m:e>
                              <m:r>
                                <a:rPr lang="en-GB" sz="1800" i="1">
                                  <a:latin typeface="Cambria Math" panose="02040503050406030204" pitchFamily="18" charset="0"/>
                                  <a:ea typeface="Cambria Math" panose="02040503050406030204" pitchFamily="18" charset="0"/>
                                </a:rPr>
                                <m:t>1+7%</m:t>
                              </m:r>
                            </m:e>
                          </m:d>
                        </m:e>
                        <m:sup>
                          <m:r>
                            <a:rPr lang="en-GB" sz="1800" i="1">
                              <a:latin typeface="Cambria Math" panose="02040503050406030204" pitchFamily="18" charset="0"/>
                              <a:ea typeface="Cambria Math" panose="02040503050406030204" pitchFamily="18" charset="0"/>
                            </a:rPr>
                            <m:t>−2</m:t>
                          </m:r>
                        </m:sup>
                      </m:sSup>
                      <m:r>
                        <a:rPr lang="en-GB" sz="1800" i="1">
                          <a:latin typeface="Cambria Math" panose="02040503050406030204" pitchFamily="18" charset="0"/>
                          <a:ea typeface="Cambria Math" panose="02040503050406030204" pitchFamily="18" charset="0"/>
                        </a:rPr>
                        <m:t>+0.33×</m:t>
                      </m:r>
                      <m:sSup>
                        <m:sSupPr>
                          <m:ctrlPr>
                            <a:rPr lang="en-GB" sz="1800" i="1">
                              <a:latin typeface="Cambria Math" panose="02040503050406030204" pitchFamily="18" charset="0"/>
                              <a:ea typeface="Cambria Math" panose="02040503050406030204" pitchFamily="18" charset="0"/>
                            </a:rPr>
                          </m:ctrlPr>
                        </m:sSupPr>
                        <m:e>
                          <m:d>
                            <m:dPr>
                              <m:ctrlPr>
                                <a:rPr lang="en-GB" sz="1800" i="1">
                                  <a:latin typeface="Cambria Math" panose="02040503050406030204" pitchFamily="18" charset="0"/>
                                  <a:ea typeface="Cambria Math" panose="02040503050406030204" pitchFamily="18" charset="0"/>
                                </a:rPr>
                              </m:ctrlPr>
                            </m:dPr>
                            <m:e>
                              <m:r>
                                <a:rPr lang="en-GB" sz="1800" i="1">
                                  <a:latin typeface="Cambria Math" panose="02040503050406030204" pitchFamily="18" charset="0"/>
                                  <a:ea typeface="Cambria Math" panose="02040503050406030204" pitchFamily="18" charset="0"/>
                                </a:rPr>
                                <m:t>1+7%</m:t>
                              </m:r>
                            </m:e>
                          </m:d>
                        </m:e>
                        <m:sup>
                          <m:r>
                            <a:rPr lang="en-GB" sz="1800" i="1">
                              <a:latin typeface="Cambria Math" panose="02040503050406030204" pitchFamily="18" charset="0"/>
                              <a:ea typeface="Cambria Math" panose="02040503050406030204" pitchFamily="18" charset="0"/>
                            </a:rPr>
                            <m:t>−3</m:t>
                          </m:r>
                        </m:sup>
                      </m:sSup>
                    </m:oMath>
                  </m:oMathPara>
                </a14:m>
                <a:endParaRPr lang="en-GB" sz="1800" i="1" dirty="0">
                  <a:latin typeface="Cambria Math" panose="02040503050406030204" pitchFamily="18" charset="0"/>
                  <a:ea typeface="Cambria Math" panose="02040503050406030204" pitchFamily="18" charset="0"/>
                </a:endParaRPr>
              </a:p>
              <a:p>
                <a:pPr marL="1348979" indent="-208360" algn="just">
                  <a:lnSpc>
                    <a:spcPct val="150000"/>
                  </a:lnSpc>
                  <a:spcBef>
                    <a:spcPts val="1350"/>
                  </a:spcBef>
                  <a:buClr>
                    <a:srgbClr val="C00000"/>
                  </a:buClr>
                  <a:buSzPct val="90000"/>
                  <a:buNone/>
                </a:pPr>
                <a14:m>
                  <m:oMathPara xmlns:m="http://schemas.openxmlformats.org/officeDocument/2006/math">
                    <m:oMathParaPr>
                      <m:jc m:val="left"/>
                    </m:oMathParaPr>
                    <m:oMath xmlns:m="http://schemas.openxmlformats.org/officeDocument/2006/math">
                      <m:r>
                        <a:rPr lang="en-GB" sz="1800" i="1">
                          <a:latin typeface="Cambria Math" panose="02040503050406030204" pitchFamily="18" charset="0"/>
                          <a:ea typeface="Cambria Math" panose="02040503050406030204" pitchFamily="18" charset="0"/>
                        </a:rPr>
                        <m:t>+7.56×</m:t>
                      </m:r>
                      <m:sSup>
                        <m:sSupPr>
                          <m:ctrlPr>
                            <a:rPr lang="en-GB" sz="1800" i="1">
                              <a:latin typeface="Cambria Math" panose="02040503050406030204" pitchFamily="18" charset="0"/>
                              <a:ea typeface="Cambria Math" panose="02040503050406030204" pitchFamily="18" charset="0"/>
                            </a:rPr>
                          </m:ctrlPr>
                        </m:sSupPr>
                        <m:e>
                          <m:d>
                            <m:dPr>
                              <m:ctrlPr>
                                <a:rPr lang="en-GB" sz="1800" i="1">
                                  <a:latin typeface="Cambria Math" panose="02040503050406030204" pitchFamily="18" charset="0"/>
                                  <a:ea typeface="Cambria Math" panose="02040503050406030204" pitchFamily="18" charset="0"/>
                                </a:rPr>
                              </m:ctrlPr>
                            </m:dPr>
                            <m:e>
                              <m:r>
                                <a:rPr lang="en-GB" sz="1800" i="1">
                                  <a:latin typeface="Cambria Math" panose="02040503050406030204" pitchFamily="18" charset="0"/>
                                  <a:ea typeface="Cambria Math" panose="02040503050406030204" pitchFamily="18" charset="0"/>
                                </a:rPr>
                                <m:t>1+7%</m:t>
                              </m:r>
                            </m:e>
                          </m:d>
                        </m:e>
                        <m:sup>
                          <m:r>
                            <a:rPr lang="en-GB" sz="1800" i="1">
                              <a:latin typeface="Cambria Math" panose="02040503050406030204" pitchFamily="18" charset="0"/>
                              <a:ea typeface="Cambria Math" panose="02040503050406030204" pitchFamily="18" charset="0"/>
                            </a:rPr>
                            <m:t>−3</m:t>
                          </m:r>
                        </m:sup>
                      </m:sSup>
                      <m:r>
                        <a:rPr lang="en-GB" sz="1800" i="1">
                          <a:latin typeface="Cambria Math" panose="02040503050406030204" pitchFamily="18" charset="0"/>
                          <a:ea typeface="Cambria Math" panose="02040503050406030204" pitchFamily="18" charset="0"/>
                        </a:rPr>
                        <m:t>=£7.60</m:t>
                      </m:r>
                    </m:oMath>
                  </m:oMathPara>
                </a14:m>
                <a:endParaRPr lang="en-GB" sz="1800" dirty="0">
                  <a:ea typeface="Cambria Math" panose="02040503050406030204" pitchFamily="18" charset="0"/>
                </a:endParaRPr>
              </a:p>
              <a:p>
                <a:pPr algn="just">
                  <a:spcBef>
                    <a:spcPts val="1350"/>
                  </a:spcBef>
                  <a:buClr>
                    <a:srgbClr val="C00000"/>
                  </a:buClr>
                  <a:buSzPct val="90000"/>
                  <a:buFont typeface="Wingdings" panose="05000000000000000000" pitchFamily="2" charset="2"/>
                  <a:buChar char="§"/>
                </a:pPr>
                <a:r>
                  <a:rPr lang="en-GB" sz="1800" dirty="0">
                    <a:ea typeface="Cambria Math" panose="02040503050406030204" pitchFamily="18" charset="0"/>
                  </a:rPr>
                  <a:t>The value of £7.60 represents the value of all dividends paid out </a:t>
                </a:r>
                <a:r>
                  <a:rPr lang="en-GB" sz="1800" dirty="0">
                    <a:solidFill>
                      <a:srgbClr val="C00000"/>
                    </a:solidFill>
                    <a:ea typeface="Cambria Math" panose="02040503050406030204" pitchFamily="18" charset="0"/>
                  </a:rPr>
                  <a:t>from year 1 until infinity</a:t>
                </a:r>
                <a:r>
                  <a:rPr lang="en-GB" sz="1800" dirty="0">
                    <a:ea typeface="Cambria Math" panose="02040503050406030204" pitchFamily="18" charset="0"/>
                  </a:rPr>
                  <a:t>.</a:t>
                </a:r>
              </a:p>
              <a:p>
                <a:pPr marL="0" indent="0" algn="just">
                  <a:spcBef>
                    <a:spcPts val="0"/>
                  </a:spcBef>
                  <a:buClr>
                    <a:srgbClr val="C00000"/>
                  </a:buClr>
                  <a:buSzPct val="90000"/>
                  <a:buNone/>
                </a:pPr>
                <a:endParaRPr lang="en-GB" sz="1800" i="1"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8591550" cy="4005724"/>
              </a:xfrm>
              <a:blipFill>
                <a:blip r:embed="rId3"/>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19</a:t>
            </a:fld>
            <a:endParaRPr lang="en-GB" sz="1350" dirty="0">
              <a:solidFill>
                <a:prstClr val="black">
                  <a:lumMod val="50000"/>
                  <a:lumOff val="50000"/>
                </a:prstClr>
              </a:solidFill>
              <a:latin typeface="Calibri" panose="020F0502020204030204"/>
              <a:ea typeface="+mn-ea"/>
            </a:endParaRPr>
          </a:p>
        </p:txBody>
      </p:sp>
      <p:cxnSp>
        <p:nvCxnSpPr>
          <p:cNvPr id="7" name="Straight Connector 6">
            <a:extLst>
              <a:ext uri="{FF2B5EF4-FFF2-40B4-BE49-F238E27FC236}">
                <a16:creationId xmlns:a16="http://schemas.microsoft.com/office/drawing/2014/main" id="{3A9AFE66-62AF-4179-896C-CEC2BFB5C97A}"/>
              </a:ext>
            </a:extLst>
          </p:cNvPr>
          <p:cNvCxnSpPr>
            <a:cxnSpLocks/>
          </p:cNvCxnSpPr>
          <p:nvPr/>
        </p:nvCxnSpPr>
        <p:spPr>
          <a:xfrm>
            <a:off x="6167024" y="2336029"/>
            <a:ext cx="0" cy="29817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AF0506-73E5-4F37-AC68-CE7EBC5536A0}"/>
              </a:ext>
            </a:extLst>
          </p:cNvPr>
          <p:cNvCxnSpPr>
            <a:cxnSpLocks/>
          </p:cNvCxnSpPr>
          <p:nvPr/>
        </p:nvCxnSpPr>
        <p:spPr>
          <a:xfrm>
            <a:off x="7352410" y="2349794"/>
            <a:ext cx="0" cy="29817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32A1919-CB5D-46B5-A344-74293BAEB14C}"/>
                  </a:ext>
                </a:extLst>
              </p:cNvPr>
              <p:cNvSpPr txBox="1"/>
              <p:nvPr/>
            </p:nvSpPr>
            <p:spPr>
              <a:xfrm>
                <a:off x="4572000" y="2730457"/>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rgbClr val="C00000"/>
                          </a:solidFill>
                          <a:latin typeface="Cambria Math" panose="02040503050406030204" pitchFamily="18" charset="0"/>
                          <a:ea typeface="+mn-ea"/>
                        </a:rPr>
                        <m:t>𝑡</m:t>
                      </m:r>
                      <m:r>
                        <a:rPr lang="en-GB" sz="1350" i="1">
                          <a:solidFill>
                            <a:srgbClr val="C00000"/>
                          </a:solidFill>
                          <a:latin typeface="Cambria Math" panose="02040503050406030204" pitchFamily="18" charset="0"/>
                          <a:ea typeface="+mn-ea"/>
                        </a:rPr>
                        <m:t>=0</m:t>
                      </m:r>
                    </m:oMath>
                  </m:oMathPara>
                </a14:m>
                <a:endParaRPr lang="en-GB" sz="1350" dirty="0">
                  <a:solidFill>
                    <a:srgbClr val="C00000"/>
                  </a:solidFill>
                  <a:latin typeface="Calibri" panose="020F0502020204030204"/>
                  <a:ea typeface="+mn-ea"/>
                </a:endParaRPr>
              </a:p>
            </p:txBody>
          </p:sp>
        </mc:Choice>
        <mc:Fallback xmlns="">
          <p:sp>
            <p:nvSpPr>
              <p:cNvPr id="9" name="TextBox 8">
                <a:extLst>
                  <a:ext uri="{FF2B5EF4-FFF2-40B4-BE49-F238E27FC236}">
                    <a16:creationId xmlns:a16="http://schemas.microsoft.com/office/drawing/2014/main" id="{632A1919-CB5D-46B5-A344-74293BAEB14C}"/>
                  </a:ext>
                </a:extLst>
              </p:cNvPr>
              <p:cNvSpPr txBox="1">
                <a:spLocks noRot="1" noChangeAspect="1" noMove="1" noResize="1" noEditPoints="1" noAdjustHandles="1" noChangeArrowheads="1" noChangeShapeType="1" noTextEdit="1"/>
              </p:cNvSpPr>
              <p:nvPr/>
            </p:nvSpPr>
            <p:spPr>
              <a:xfrm>
                <a:off x="4572000" y="2730457"/>
                <a:ext cx="660382" cy="300082"/>
              </a:xfrm>
              <a:prstGeom prst="rect">
                <a:avLst/>
              </a:prstGeom>
              <a:blipFill>
                <a:blip r:embed="rId4"/>
                <a:stretch>
                  <a:fillRect/>
                </a:stretch>
              </a:blipFill>
              <a:ln>
                <a:noFill/>
              </a:ln>
            </p:spPr>
            <p:txBody>
              <a:bodyPr/>
              <a:lstStyle/>
              <a:p>
                <a:r>
                  <a:rPr lang="en-GB">
                    <a:noFill/>
                  </a:rPr>
                  <a:t> </a:t>
                </a:r>
              </a:p>
            </p:txBody>
          </p:sp>
        </mc:Fallback>
      </mc:AlternateContent>
      <p:cxnSp>
        <p:nvCxnSpPr>
          <p:cNvPr id="14" name="Straight Connector 13">
            <a:extLst>
              <a:ext uri="{FF2B5EF4-FFF2-40B4-BE49-F238E27FC236}">
                <a16:creationId xmlns:a16="http://schemas.microsoft.com/office/drawing/2014/main" id="{AF4DBBCA-471C-4BE3-B718-A8D1982DA758}"/>
              </a:ext>
            </a:extLst>
          </p:cNvPr>
          <p:cNvCxnSpPr>
            <a:cxnSpLocks/>
          </p:cNvCxnSpPr>
          <p:nvPr/>
        </p:nvCxnSpPr>
        <p:spPr>
          <a:xfrm>
            <a:off x="4852816" y="2337911"/>
            <a:ext cx="0" cy="29817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1017527-10C6-4417-BBEF-8C512552C766}"/>
                  </a:ext>
                </a:extLst>
              </p:cNvPr>
              <p:cNvSpPr txBox="1"/>
              <p:nvPr/>
            </p:nvSpPr>
            <p:spPr>
              <a:xfrm>
                <a:off x="5851600" y="2730457"/>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rgbClr val="C00000"/>
                          </a:solidFill>
                          <a:latin typeface="Cambria Math" panose="02040503050406030204" pitchFamily="18" charset="0"/>
                          <a:ea typeface="+mn-ea"/>
                        </a:rPr>
                        <m:t>𝑡</m:t>
                      </m:r>
                      <m:r>
                        <a:rPr lang="en-GB" sz="1350" i="1">
                          <a:solidFill>
                            <a:srgbClr val="C00000"/>
                          </a:solidFill>
                          <a:latin typeface="Cambria Math" panose="02040503050406030204" pitchFamily="18" charset="0"/>
                          <a:ea typeface="+mn-ea"/>
                        </a:rPr>
                        <m:t>=1</m:t>
                      </m:r>
                    </m:oMath>
                  </m:oMathPara>
                </a14:m>
                <a:endParaRPr lang="en-GB" sz="1350" dirty="0">
                  <a:solidFill>
                    <a:srgbClr val="C00000"/>
                  </a:solidFill>
                  <a:latin typeface="Calibri" panose="020F0502020204030204"/>
                  <a:ea typeface="+mn-ea"/>
                </a:endParaRPr>
              </a:p>
            </p:txBody>
          </p:sp>
        </mc:Choice>
        <mc:Fallback xmlns="">
          <p:sp>
            <p:nvSpPr>
              <p:cNvPr id="15" name="TextBox 14">
                <a:extLst>
                  <a:ext uri="{FF2B5EF4-FFF2-40B4-BE49-F238E27FC236}">
                    <a16:creationId xmlns:a16="http://schemas.microsoft.com/office/drawing/2014/main" id="{C1017527-10C6-4417-BBEF-8C512552C766}"/>
                  </a:ext>
                </a:extLst>
              </p:cNvPr>
              <p:cNvSpPr txBox="1">
                <a:spLocks noRot="1" noChangeAspect="1" noMove="1" noResize="1" noEditPoints="1" noAdjustHandles="1" noChangeArrowheads="1" noChangeShapeType="1" noTextEdit="1"/>
              </p:cNvSpPr>
              <p:nvPr/>
            </p:nvSpPr>
            <p:spPr>
              <a:xfrm>
                <a:off x="5851600" y="2730457"/>
                <a:ext cx="630848" cy="300082"/>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DB82E86-2861-449C-89E6-8D8552289E32}"/>
                  </a:ext>
                </a:extLst>
              </p:cNvPr>
              <p:cNvSpPr txBox="1"/>
              <p:nvPr/>
            </p:nvSpPr>
            <p:spPr>
              <a:xfrm>
                <a:off x="7073968" y="2730457"/>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rgbClr val="C00000"/>
                          </a:solidFill>
                          <a:latin typeface="Cambria Math" panose="02040503050406030204" pitchFamily="18" charset="0"/>
                          <a:ea typeface="+mn-ea"/>
                        </a:rPr>
                        <m:t>𝑡</m:t>
                      </m:r>
                      <m:r>
                        <a:rPr lang="en-GB" sz="1350" i="1">
                          <a:solidFill>
                            <a:srgbClr val="C00000"/>
                          </a:solidFill>
                          <a:latin typeface="Cambria Math" panose="02040503050406030204" pitchFamily="18" charset="0"/>
                          <a:ea typeface="+mn-ea"/>
                        </a:rPr>
                        <m:t>=2</m:t>
                      </m:r>
                    </m:oMath>
                  </m:oMathPara>
                </a14:m>
                <a:endParaRPr lang="en-GB" sz="1350" dirty="0">
                  <a:solidFill>
                    <a:srgbClr val="C00000"/>
                  </a:solidFill>
                  <a:latin typeface="Calibri" panose="020F0502020204030204"/>
                  <a:ea typeface="+mn-ea"/>
                </a:endParaRPr>
              </a:p>
            </p:txBody>
          </p:sp>
        </mc:Choice>
        <mc:Fallback xmlns="">
          <p:sp>
            <p:nvSpPr>
              <p:cNvPr id="16" name="TextBox 15">
                <a:extLst>
                  <a:ext uri="{FF2B5EF4-FFF2-40B4-BE49-F238E27FC236}">
                    <a16:creationId xmlns:a16="http://schemas.microsoft.com/office/drawing/2014/main" id="{BDB82E86-2861-449C-89E6-8D8552289E32}"/>
                  </a:ext>
                </a:extLst>
              </p:cNvPr>
              <p:cNvSpPr txBox="1">
                <a:spLocks noRot="1" noChangeAspect="1" noMove="1" noResize="1" noEditPoints="1" noAdjustHandles="1" noChangeArrowheads="1" noChangeShapeType="1" noTextEdit="1"/>
              </p:cNvSpPr>
              <p:nvPr/>
            </p:nvSpPr>
            <p:spPr>
              <a:xfrm>
                <a:off x="7073968" y="2730457"/>
                <a:ext cx="630848" cy="300082"/>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849ED76-50FB-4392-A405-E40745FE8AD7}"/>
                  </a:ext>
                </a:extLst>
              </p:cNvPr>
              <p:cNvSpPr txBox="1"/>
              <p:nvPr/>
            </p:nvSpPr>
            <p:spPr>
              <a:xfrm>
                <a:off x="6933605" y="1952864"/>
                <a:ext cx="879686"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solidFill>
                            <a:srgbClr val="C00000"/>
                          </a:solidFill>
                          <a:latin typeface="Cambria Math" panose="02040503050406030204" pitchFamily="18" charset="0"/>
                        </a:rPr>
                        <m:t>£0.52</m:t>
                      </m:r>
                    </m:oMath>
                  </m:oMathPara>
                </a14:m>
                <a:endParaRPr lang="en-GB" sz="1500" dirty="0">
                  <a:solidFill>
                    <a:srgbClr val="C00000"/>
                  </a:solidFill>
                </a:endParaRPr>
              </a:p>
            </p:txBody>
          </p:sp>
        </mc:Choice>
        <mc:Fallback xmlns="">
          <p:sp>
            <p:nvSpPr>
              <p:cNvPr id="32" name="TextBox 31">
                <a:extLst>
                  <a:ext uri="{FF2B5EF4-FFF2-40B4-BE49-F238E27FC236}">
                    <a16:creationId xmlns:a16="http://schemas.microsoft.com/office/drawing/2014/main" id="{7849ED76-50FB-4392-A405-E40745FE8AD7}"/>
                  </a:ext>
                </a:extLst>
              </p:cNvPr>
              <p:cNvSpPr txBox="1">
                <a:spLocks noRot="1" noChangeAspect="1" noMove="1" noResize="1" noEditPoints="1" noAdjustHandles="1" noChangeArrowheads="1" noChangeShapeType="1" noTextEdit="1"/>
              </p:cNvSpPr>
              <p:nvPr/>
            </p:nvSpPr>
            <p:spPr>
              <a:xfrm>
                <a:off x="6933605" y="1952864"/>
                <a:ext cx="879686" cy="323165"/>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D4C44E0-F61E-48AC-B864-C8061DF4079B}"/>
                  </a:ext>
                </a:extLst>
              </p:cNvPr>
              <p:cNvSpPr txBox="1"/>
              <p:nvPr/>
            </p:nvSpPr>
            <p:spPr>
              <a:xfrm>
                <a:off x="5664998" y="1952864"/>
                <a:ext cx="1004052"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solidFill>
                            <a:srgbClr val="C00000"/>
                          </a:solidFill>
                          <a:latin typeface="Cambria Math" panose="02040503050406030204" pitchFamily="18" charset="0"/>
                        </a:rPr>
                        <m:t>£0.75</m:t>
                      </m:r>
                    </m:oMath>
                  </m:oMathPara>
                </a14:m>
                <a:endParaRPr lang="en-GB" sz="1500" dirty="0">
                  <a:solidFill>
                    <a:srgbClr val="C00000"/>
                  </a:solidFill>
                </a:endParaRPr>
              </a:p>
            </p:txBody>
          </p:sp>
        </mc:Choice>
        <mc:Fallback xmlns="">
          <p:sp>
            <p:nvSpPr>
              <p:cNvPr id="37" name="TextBox 36">
                <a:extLst>
                  <a:ext uri="{FF2B5EF4-FFF2-40B4-BE49-F238E27FC236}">
                    <a16:creationId xmlns:a16="http://schemas.microsoft.com/office/drawing/2014/main" id="{4D4C44E0-F61E-48AC-B864-C8061DF4079B}"/>
                  </a:ext>
                </a:extLst>
              </p:cNvPr>
              <p:cNvSpPr txBox="1">
                <a:spLocks noRot="1" noChangeAspect="1" noMove="1" noResize="1" noEditPoints="1" noAdjustHandles="1" noChangeArrowheads="1" noChangeShapeType="1" noTextEdit="1"/>
              </p:cNvSpPr>
              <p:nvPr/>
            </p:nvSpPr>
            <p:spPr>
              <a:xfrm>
                <a:off x="5664998" y="1952864"/>
                <a:ext cx="1004052" cy="323165"/>
              </a:xfrm>
              <a:prstGeom prst="rect">
                <a:avLst/>
              </a:prstGeom>
              <a:blipFill>
                <a:blip r:embed="rId8"/>
                <a:stretch>
                  <a:fillRect/>
                </a:stretch>
              </a:blipFill>
            </p:spPr>
            <p:txBody>
              <a:bodyPr/>
              <a:lstStyle/>
              <a:p>
                <a:r>
                  <a:rPr lang="en-GB">
                    <a:noFill/>
                  </a:rPr>
                  <a:t> </a:t>
                </a:r>
              </a:p>
            </p:txBody>
          </p:sp>
        </mc:Fallback>
      </mc:AlternateContent>
      <p:cxnSp>
        <p:nvCxnSpPr>
          <p:cNvPr id="18" name="Straight Connector 17">
            <a:extLst>
              <a:ext uri="{FF2B5EF4-FFF2-40B4-BE49-F238E27FC236}">
                <a16:creationId xmlns:a16="http://schemas.microsoft.com/office/drawing/2014/main" id="{623A6249-3EEB-4F0A-8BAB-A6A47DE439F8}"/>
              </a:ext>
            </a:extLst>
          </p:cNvPr>
          <p:cNvCxnSpPr>
            <a:cxnSpLocks/>
          </p:cNvCxnSpPr>
          <p:nvPr/>
        </p:nvCxnSpPr>
        <p:spPr>
          <a:xfrm>
            <a:off x="8610102" y="2349794"/>
            <a:ext cx="0" cy="29817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68B0EF8-14EA-4A18-8246-3226DCD15884}"/>
                  </a:ext>
                </a:extLst>
              </p:cNvPr>
              <p:cNvSpPr txBox="1"/>
              <p:nvPr/>
            </p:nvSpPr>
            <p:spPr>
              <a:xfrm>
                <a:off x="8296335" y="2730457"/>
                <a:ext cx="630848"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srgbClr val="C00000"/>
                          </a:solidFill>
                          <a:latin typeface="Cambria Math" panose="02040503050406030204" pitchFamily="18" charset="0"/>
                          <a:ea typeface="+mn-ea"/>
                        </a:rPr>
                        <m:t>𝑡</m:t>
                      </m:r>
                      <m:r>
                        <a:rPr lang="en-GB" sz="1350" i="1">
                          <a:solidFill>
                            <a:srgbClr val="C00000"/>
                          </a:solidFill>
                          <a:latin typeface="Cambria Math" panose="02040503050406030204" pitchFamily="18" charset="0"/>
                          <a:ea typeface="+mn-ea"/>
                        </a:rPr>
                        <m:t>=3</m:t>
                      </m:r>
                    </m:oMath>
                  </m:oMathPara>
                </a14:m>
                <a:endParaRPr lang="en-GB" sz="1350" dirty="0">
                  <a:solidFill>
                    <a:srgbClr val="C00000"/>
                  </a:solidFill>
                  <a:latin typeface="Calibri" panose="020F0502020204030204"/>
                  <a:ea typeface="+mn-ea"/>
                </a:endParaRPr>
              </a:p>
            </p:txBody>
          </p:sp>
        </mc:Choice>
        <mc:Fallback xmlns="">
          <p:sp>
            <p:nvSpPr>
              <p:cNvPr id="19" name="TextBox 18">
                <a:extLst>
                  <a:ext uri="{FF2B5EF4-FFF2-40B4-BE49-F238E27FC236}">
                    <a16:creationId xmlns:a16="http://schemas.microsoft.com/office/drawing/2014/main" id="{A68B0EF8-14EA-4A18-8246-3226DCD15884}"/>
                  </a:ext>
                </a:extLst>
              </p:cNvPr>
              <p:cNvSpPr txBox="1">
                <a:spLocks noRot="1" noChangeAspect="1" noMove="1" noResize="1" noEditPoints="1" noAdjustHandles="1" noChangeArrowheads="1" noChangeShapeType="1" noTextEdit="1"/>
              </p:cNvSpPr>
              <p:nvPr/>
            </p:nvSpPr>
            <p:spPr>
              <a:xfrm>
                <a:off x="8296335" y="2730457"/>
                <a:ext cx="630848" cy="300082"/>
              </a:xfrm>
              <a:prstGeom prst="rect">
                <a:avLst/>
              </a:prstGeom>
              <a:blipFill>
                <a:blip r:embed="rId9"/>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BD21D69-198A-443A-9E79-EEBA4959D3A9}"/>
                  </a:ext>
                </a:extLst>
              </p:cNvPr>
              <p:cNvSpPr txBox="1"/>
              <p:nvPr/>
            </p:nvSpPr>
            <p:spPr>
              <a:xfrm>
                <a:off x="8187451" y="1952864"/>
                <a:ext cx="879686"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solidFill>
                            <a:srgbClr val="C00000"/>
                          </a:solidFill>
                          <a:latin typeface="Cambria Math" panose="02040503050406030204" pitchFamily="18" charset="0"/>
                        </a:rPr>
                        <m:t>£0.33</m:t>
                      </m:r>
                    </m:oMath>
                  </m:oMathPara>
                </a14:m>
                <a:endParaRPr lang="en-GB" sz="1500" dirty="0">
                  <a:solidFill>
                    <a:srgbClr val="C00000"/>
                  </a:solidFill>
                </a:endParaRPr>
              </a:p>
            </p:txBody>
          </p:sp>
        </mc:Choice>
        <mc:Fallback xmlns="">
          <p:sp>
            <p:nvSpPr>
              <p:cNvPr id="20" name="TextBox 19">
                <a:extLst>
                  <a:ext uri="{FF2B5EF4-FFF2-40B4-BE49-F238E27FC236}">
                    <a16:creationId xmlns:a16="http://schemas.microsoft.com/office/drawing/2014/main" id="{CBD21D69-198A-443A-9E79-EEBA4959D3A9}"/>
                  </a:ext>
                </a:extLst>
              </p:cNvPr>
              <p:cNvSpPr txBox="1">
                <a:spLocks noRot="1" noChangeAspect="1" noMove="1" noResize="1" noEditPoints="1" noAdjustHandles="1" noChangeArrowheads="1" noChangeShapeType="1" noTextEdit="1"/>
              </p:cNvSpPr>
              <p:nvPr/>
            </p:nvSpPr>
            <p:spPr>
              <a:xfrm>
                <a:off x="8187451" y="1952864"/>
                <a:ext cx="879686" cy="323165"/>
              </a:xfrm>
              <a:prstGeom prst="rect">
                <a:avLst/>
              </a:prstGeom>
              <a:blipFill>
                <a:blip r:embed="rId10"/>
                <a:stretch>
                  <a:fillRect/>
                </a:stretch>
              </a:blipFill>
            </p:spPr>
            <p:txBody>
              <a:bodyPr/>
              <a:lstStyle/>
              <a:p>
                <a:r>
                  <a:rPr lang="en-GB">
                    <a:noFill/>
                  </a:rPr>
                  <a:t> </a:t>
                </a:r>
              </a:p>
            </p:txBody>
          </p:sp>
        </mc:Fallback>
      </mc:AlternateContent>
      <p:cxnSp>
        <p:nvCxnSpPr>
          <p:cNvPr id="34" name="Straight Connector 33">
            <a:extLst>
              <a:ext uri="{FF2B5EF4-FFF2-40B4-BE49-F238E27FC236}">
                <a16:creationId xmlns:a16="http://schemas.microsoft.com/office/drawing/2014/main" id="{3ADC1089-077C-4A53-B44F-10A2C0804B27}"/>
              </a:ext>
            </a:extLst>
          </p:cNvPr>
          <p:cNvCxnSpPr>
            <a:cxnSpLocks/>
          </p:cNvCxnSpPr>
          <p:nvPr/>
        </p:nvCxnSpPr>
        <p:spPr>
          <a:xfrm>
            <a:off x="4869292" y="2498881"/>
            <a:ext cx="3740810" cy="0"/>
          </a:xfrm>
          <a:prstGeom prst="line">
            <a:avLst/>
          </a:prstGeom>
          <a:ln w="38100">
            <a:solidFill>
              <a:srgbClr val="C0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5DA61D6-F1E9-47DD-9606-919CA154DD50}"/>
                  </a:ext>
                </a:extLst>
              </p:cNvPr>
              <p:cNvSpPr txBox="1"/>
              <p:nvPr/>
            </p:nvSpPr>
            <p:spPr>
              <a:xfrm>
                <a:off x="7611271" y="1497820"/>
                <a:ext cx="2032046"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solidFill>
                            <a:schemeClr val="accent1">
                              <a:lumMod val="75000"/>
                            </a:schemeClr>
                          </a:solidFill>
                          <a:latin typeface="Cambria Math" panose="02040503050406030204" pitchFamily="18" charset="0"/>
                          <a:ea typeface="Cambria Math" panose="02040503050406030204" pitchFamily="18" charset="0"/>
                        </a:rPr>
                        <m:t>£7.56</m:t>
                      </m:r>
                    </m:oMath>
                  </m:oMathPara>
                </a14:m>
                <a:endParaRPr lang="en-GB" sz="1500" dirty="0">
                  <a:solidFill>
                    <a:schemeClr val="accent1">
                      <a:lumMod val="75000"/>
                    </a:schemeClr>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1500" i="1">
                          <a:solidFill>
                            <a:schemeClr val="accent1">
                              <a:lumMod val="75000"/>
                            </a:schemeClr>
                          </a:solidFill>
                          <a:latin typeface="Cambria Math" panose="02040503050406030204" pitchFamily="18" charset="0"/>
                        </a:rPr>
                        <m:t>+</m:t>
                      </m:r>
                    </m:oMath>
                  </m:oMathPara>
                </a14:m>
                <a:endParaRPr lang="en-GB" sz="1500" dirty="0">
                  <a:solidFill>
                    <a:schemeClr val="accent1">
                      <a:lumMod val="75000"/>
                    </a:schemeClr>
                  </a:solidFill>
                </a:endParaRPr>
              </a:p>
            </p:txBody>
          </p:sp>
        </mc:Choice>
        <mc:Fallback xmlns="">
          <p:sp>
            <p:nvSpPr>
              <p:cNvPr id="35" name="TextBox 34">
                <a:extLst>
                  <a:ext uri="{FF2B5EF4-FFF2-40B4-BE49-F238E27FC236}">
                    <a16:creationId xmlns:a16="http://schemas.microsoft.com/office/drawing/2014/main" id="{55DA61D6-F1E9-47DD-9606-919CA154DD50}"/>
                  </a:ext>
                </a:extLst>
              </p:cNvPr>
              <p:cNvSpPr txBox="1">
                <a:spLocks noRot="1" noChangeAspect="1" noMove="1" noResize="1" noEditPoints="1" noAdjustHandles="1" noChangeArrowheads="1" noChangeShapeType="1" noTextEdit="1"/>
              </p:cNvSpPr>
              <p:nvPr/>
            </p:nvSpPr>
            <p:spPr>
              <a:xfrm>
                <a:off x="7611271" y="1497820"/>
                <a:ext cx="2032046" cy="553998"/>
              </a:xfrm>
              <a:prstGeom prst="rect">
                <a:avLst/>
              </a:prstGeom>
              <a:blipFill>
                <a:blip r:embed="rId1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79007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fltVal val="0"/>
                                          </p:val>
                                        </p:tav>
                                        <p:tav tm="100000">
                                          <p:val>
                                            <p:strVal val="#ppt_h"/>
                                          </p:val>
                                        </p:tav>
                                      </p:tavLst>
                                    </p:anim>
                                    <p:animEffect transition="in" filter="fade">
                                      <p:cBhvr>
                                        <p:cTn id="9" dur="500"/>
                                        <p:tgtEl>
                                          <p:spTgt spid="34"/>
                                        </p:tgtEl>
                                      </p:cBhvr>
                                    </p:animEffect>
                                  </p:childTnLst>
                                </p:cTn>
                              </p:par>
                              <p:par>
                                <p:cTn id="10" presetID="53" presetClass="entr" presetSubtype="16"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fltVal val="0"/>
                                          </p:val>
                                        </p:tav>
                                        <p:tav tm="100000">
                                          <p:val>
                                            <p:strVal val="#ppt_w"/>
                                          </p:val>
                                        </p:tav>
                                      </p:tavLst>
                                    </p:anim>
                                    <p:anim calcmode="lin" valueType="num">
                                      <p:cBhvr>
                                        <p:cTn id="13" dur="500" fill="hold"/>
                                        <p:tgtEl>
                                          <p:spTgt spid="14"/>
                                        </p:tgtEl>
                                        <p:attrNameLst>
                                          <p:attrName>ppt_h</p:attrName>
                                        </p:attrNameLst>
                                      </p:cBhvr>
                                      <p:tavLst>
                                        <p:tav tm="0">
                                          <p:val>
                                            <p:fltVal val="0"/>
                                          </p:val>
                                        </p:tav>
                                        <p:tav tm="100000">
                                          <p:val>
                                            <p:strVal val="#ppt_h"/>
                                          </p:val>
                                        </p:tav>
                                      </p:tavLst>
                                    </p:anim>
                                    <p:animEffect transition="in" filter="fade">
                                      <p:cBhvr>
                                        <p:cTn id="14" dur="500"/>
                                        <p:tgtEl>
                                          <p:spTgt spid="14"/>
                                        </p:tgtEl>
                                      </p:cBhvr>
                                    </p:animEffect>
                                  </p:childTnLst>
                                </p:cTn>
                              </p:par>
                              <p:par>
                                <p:cTn id="15" presetID="53" presetClass="entr" presetSubtype="16"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anim calcmode="lin" valueType="num">
                                      <p:cBhvr additive="base">
                                        <p:cTn id="42" dur="500" fill="hold"/>
                                        <p:tgtEl>
                                          <p:spTgt spid="37"/>
                                        </p:tgtEl>
                                        <p:attrNameLst>
                                          <p:attrName>ppt_x</p:attrName>
                                        </p:attrNameLst>
                                      </p:cBhvr>
                                      <p:tavLst>
                                        <p:tav tm="0">
                                          <p:val>
                                            <p:strVal val="#ppt_x"/>
                                          </p:val>
                                        </p:tav>
                                        <p:tav tm="100000">
                                          <p:val>
                                            <p:strVal val="#ppt_x"/>
                                          </p:val>
                                        </p:tav>
                                      </p:tavLst>
                                    </p:anim>
                                    <p:anim calcmode="lin" valueType="num">
                                      <p:cBhvr additive="base">
                                        <p:cTn id="43"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2"/>
                                        </p:tgtEl>
                                        <p:attrNameLst>
                                          <p:attrName>style.visibility</p:attrName>
                                        </p:attrNameLst>
                                      </p:cBhvr>
                                      <p:to>
                                        <p:strVal val="visible"/>
                                      </p:to>
                                    </p:set>
                                    <p:anim calcmode="lin" valueType="num">
                                      <p:cBhvr additive="base">
                                        <p:cTn id="48" dur="500" fill="hold"/>
                                        <p:tgtEl>
                                          <p:spTgt spid="32"/>
                                        </p:tgtEl>
                                        <p:attrNameLst>
                                          <p:attrName>ppt_x</p:attrName>
                                        </p:attrNameLst>
                                      </p:cBhvr>
                                      <p:tavLst>
                                        <p:tav tm="0">
                                          <p:val>
                                            <p:strVal val="#ppt_x"/>
                                          </p:val>
                                        </p:tav>
                                        <p:tav tm="100000">
                                          <p:val>
                                            <p:strVal val="#ppt_x"/>
                                          </p:val>
                                        </p:tav>
                                      </p:tavLst>
                                    </p:anim>
                                    <p:anim calcmode="lin" valueType="num">
                                      <p:cBhvr additive="base">
                                        <p:cTn id="49"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0"/>
                                        </p:tgtEl>
                                        <p:attrNameLst>
                                          <p:attrName>style.visibility</p:attrName>
                                        </p:attrNameLst>
                                      </p:cBhvr>
                                      <p:to>
                                        <p:strVal val="visible"/>
                                      </p:to>
                                    </p:set>
                                    <p:anim calcmode="lin" valueType="num">
                                      <p:cBhvr additive="base">
                                        <p:cTn id="54" dur="500" fill="hold"/>
                                        <p:tgtEl>
                                          <p:spTgt spid="20"/>
                                        </p:tgtEl>
                                        <p:attrNameLst>
                                          <p:attrName>ppt_x</p:attrName>
                                        </p:attrNameLst>
                                      </p:cBhvr>
                                      <p:tavLst>
                                        <p:tav tm="0">
                                          <p:val>
                                            <p:strVal val="#ppt_x"/>
                                          </p:val>
                                        </p:tav>
                                        <p:tav tm="100000">
                                          <p:val>
                                            <p:strVal val="#ppt_x"/>
                                          </p:val>
                                        </p:tav>
                                      </p:tavLst>
                                    </p:anim>
                                    <p:anim calcmode="lin" valueType="num">
                                      <p:cBhvr additive="base">
                                        <p:cTn id="5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35"/>
                                        </p:tgtEl>
                                        <p:attrNameLst>
                                          <p:attrName>style.visibility</p:attrName>
                                        </p:attrNameLst>
                                      </p:cBhvr>
                                      <p:to>
                                        <p:strVal val="visible"/>
                                      </p:to>
                                    </p:set>
                                    <p:anim calcmode="lin" valueType="num">
                                      <p:cBhvr additive="base">
                                        <p:cTn id="60" dur="500" fill="hold"/>
                                        <p:tgtEl>
                                          <p:spTgt spid="35"/>
                                        </p:tgtEl>
                                        <p:attrNameLst>
                                          <p:attrName>ppt_x</p:attrName>
                                        </p:attrNameLst>
                                      </p:cBhvr>
                                      <p:tavLst>
                                        <p:tav tm="0">
                                          <p:val>
                                            <p:strVal val="#ppt_x"/>
                                          </p:val>
                                        </p:tav>
                                        <p:tav tm="100000">
                                          <p:val>
                                            <p:strVal val="#ppt_x"/>
                                          </p:val>
                                        </p:tav>
                                      </p:tavLst>
                                    </p:anim>
                                    <p:anim calcmode="lin" valueType="num">
                                      <p:cBhvr additive="base">
                                        <p:cTn id="61"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3">
                                            <p:txEl>
                                              <p:pRg st="1" end="1"/>
                                            </p:txEl>
                                          </p:spTgt>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3">
                                            <p:txEl>
                                              <p:pRg st="5" end="5"/>
                                            </p:txEl>
                                          </p:spTgt>
                                        </p:tgtEl>
                                        <p:attrNameLst>
                                          <p:attrName>style.visibility</p:attrName>
                                        </p:attrNameLst>
                                      </p:cBhvr>
                                      <p:to>
                                        <p:strVal val="visible"/>
                                      </p:to>
                                    </p:set>
                                    <p:anim calcmode="lin" valueType="num">
                                      <p:cBhvr additive="base">
                                        <p:cTn id="7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3">
                                            <p:txEl>
                                              <p:pRg st="5" end="5"/>
                                            </p:txEl>
                                          </p:spTgt>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3">
                                            <p:txEl>
                                              <p:pRg st="6" end="6"/>
                                            </p:txEl>
                                          </p:spTgt>
                                        </p:tgtEl>
                                        <p:attrNameLst>
                                          <p:attrName>style.visibility</p:attrName>
                                        </p:attrNameLst>
                                      </p:cBhvr>
                                      <p:to>
                                        <p:strVal val="visible"/>
                                      </p:to>
                                    </p:set>
                                    <p:anim calcmode="lin" valueType="num">
                                      <p:cBhvr additive="base">
                                        <p:cTn id="7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3">
                                            <p:txEl>
                                              <p:pRg st="6" end="6"/>
                                            </p:txEl>
                                          </p:spTgt>
                                        </p:tgtEl>
                                        <p:attrNameLst>
                                          <p:attrName>ppt_y</p:attrName>
                                        </p:attrNameLst>
                                      </p:cBhvr>
                                      <p:tavLst>
                                        <p:tav tm="0">
                                          <p:val>
                                            <p:strVal val="1+#ppt_h/2"/>
                                          </p:val>
                                        </p:tav>
                                        <p:tav tm="100000">
                                          <p:val>
                                            <p:strVal val="#ppt_y"/>
                                          </p:val>
                                        </p:tav>
                                      </p:tavLst>
                                    </p:anim>
                                  </p:childTnLst>
                                </p:cTn>
                              </p:par>
                              <p:par>
                                <p:cTn id="78" presetID="2" presetClass="entr" presetSubtype="4" fill="hold" nodeType="withEffect">
                                  <p:stCondLst>
                                    <p:cond delay="0"/>
                                  </p:stCondLst>
                                  <p:childTnLst>
                                    <p:set>
                                      <p:cBhvr>
                                        <p:cTn id="79" dur="1" fill="hold">
                                          <p:stCondLst>
                                            <p:cond delay="0"/>
                                          </p:stCondLst>
                                        </p:cTn>
                                        <p:tgtEl>
                                          <p:spTgt spid="3">
                                            <p:txEl>
                                              <p:pRg st="7" end="7"/>
                                            </p:txEl>
                                          </p:spTgt>
                                        </p:tgtEl>
                                        <p:attrNameLst>
                                          <p:attrName>style.visibility</p:attrName>
                                        </p:attrNameLst>
                                      </p:cBhvr>
                                      <p:to>
                                        <p:strVal val="visible"/>
                                      </p:to>
                                    </p:set>
                                    <p:anim calcmode="lin" valueType="num">
                                      <p:cBhvr additive="base">
                                        <p:cTn id="8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nodeType="clickEffect">
                                  <p:stCondLst>
                                    <p:cond delay="0"/>
                                  </p:stCondLst>
                                  <p:childTnLst>
                                    <p:set>
                                      <p:cBhvr>
                                        <p:cTn id="85" dur="1" fill="hold">
                                          <p:stCondLst>
                                            <p:cond delay="0"/>
                                          </p:stCondLst>
                                        </p:cTn>
                                        <p:tgtEl>
                                          <p:spTgt spid="3">
                                            <p:txEl>
                                              <p:pRg st="8" end="8"/>
                                            </p:txEl>
                                          </p:spTgt>
                                        </p:tgtEl>
                                        <p:attrNameLst>
                                          <p:attrName>style.visibility</p:attrName>
                                        </p:attrNameLst>
                                      </p:cBhvr>
                                      <p:to>
                                        <p:strVal val="visible"/>
                                      </p:to>
                                    </p:set>
                                    <p:anim calcmode="lin" valueType="num">
                                      <p:cBhvr additive="base">
                                        <p:cTn id="86"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16" grpId="0"/>
      <p:bldP spid="32" grpId="0"/>
      <p:bldP spid="37" grpId="0"/>
      <p:bldP spid="19" grpId="0"/>
      <p:bldP spid="20" grpId="0"/>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DA77D-948F-3D06-A9CD-C6CF512C688E}"/>
              </a:ext>
            </a:extLst>
          </p:cNvPr>
          <p:cNvSpPr>
            <a:spLocks noGrp="1"/>
          </p:cNvSpPr>
          <p:nvPr>
            <p:ph type="title"/>
          </p:nvPr>
        </p:nvSpPr>
        <p:spPr>
          <a:xfrm>
            <a:off x="229031" y="974429"/>
            <a:ext cx="6447501" cy="495300"/>
          </a:xfrm>
        </p:spPr>
        <p:txBody>
          <a:bodyPr/>
          <a:lstStyle/>
          <a:p>
            <a:r>
              <a:rPr lang="en-GB" dirty="0"/>
              <a:t>Rights Issue</a:t>
            </a:r>
          </a:p>
        </p:txBody>
      </p:sp>
      <p:sp>
        <p:nvSpPr>
          <p:cNvPr id="3" name="Content Placeholder 2">
            <a:extLst>
              <a:ext uri="{FF2B5EF4-FFF2-40B4-BE49-F238E27FC236}">
                <a16:creationId xmlns:a16="http://schemas.microsoft.com/office/drawing/2014/main" id="{2111C94C-6526-9417-60DA-D05B7400D068}"/>
              </a:ext>
            </a:extLst>
          </p:cNvPr>
          <p:cNvSpPr>
            <a:spLocks noGrp="1"/>
          </p:cNvSpPr>
          <p:nvPr>
            <p:ph idx="1"/>
          </p:nvPr>
        </p:nvSpPr>
        <p:spPr>
          <a:xfrm>
            <a:off x="350555" y="1752277"/>
            <a:ext cx="8181885" cy="4629051"/>
          </a:xfrm>
        </p:spPr>
        <p:txBody>
          <a:bodyPr/>
          <a:lstStyle/>
          <a:p>
            <a:r>
              <a:rPr lang="en-GB" sz="2000" dirty="0"/>
              <a:t>The company aims to raise additional funds from existing shareholders</a:t>
            </a:r>
          </a:p>
          <a:p>
            <a:r>
              <a:rPr lang="en-GB" sz="2000" dirty="0"/>
              <a:t>Existing shareholders are offered the ‘right’ to buy new shares in proportion to their existing shareholding</a:t>
            </a:r>
          </a:p>
          <a:p>
            <a:r>
              <a:rPr lang="en-GB" sz="2000" dirty="0"/>
              <a:t>Shareholders have three main options:</a:t>
            </a:r>
          </a:p>
          <a:p>
            <a:pPr lvl="1"/>
            <a:r>
              <a:rPr lang="en-GB" sz="1800" dirty="0"/>
              <a:t>Take up the rights</a:t>
            </a:r>
          </a:p>
          <a:p>
            <a:pPr lvl="1"/>
            <a:r>
              <a:rPr lang="en-GB" sz="1800" dirty="0"/>
              <a:t>Sell the rights to another investor</a:t>
            </a:r>
          </a:p>
          <a:p>
            <a:pPr lvl="1"/>
            <a:r>
              <a:rPr lang="en-GB" sz="1800" dirty="0"/>
              <a:t>Allow the rights to lapse</a:t>
            </a:r>
          </a:p>
          <a:p>
            <a:pPr lvl="1"/>
            <a:endParaRPr lang="en-GB" sz="1800" dirty="0"/>
          </a:p>
          <a:p>
            <a:pPr marL="0" indent="0">
              <a:buNone/>
            </a:pPr>
            <a:r>
              <a:rPr lang="en-GB" sz="2000" dirty="0"/>
              <a:t>How do we value a rights issue?</a:t>
            </a:r>
          </a:p>
        </p:txBody>
      </p:sp>
    </p:spTree>
    <p:extLst>
      <p:ext uri="{BB962C8B-B14F-4D97-AF65-F5344CB8AC3E}">
        <p14:creationId xmlns:p14="http://schemas.microsoft.com/office/powerpoint/2010/main" val="82630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6"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down)">
                                      <p:cBhvr>
                                        <p:cTn id="37" dur="580">
                                          <p:stCondLst>
                                            <p:cond delay="0"/>
                                          </p:stCondLst>
                                        </p:cTn>
                                        <p:tgtEl>
                                          <p:spTgt spid="3">
                                            <p:txEl>
                                              <p:pRg st="7" end="7"/>
                                            </p:txEl>
                                          </p:spTgt>
                                        </p:tgtEl>
                                      </p:cBhvr>
                                    </p:animEffect>
                                    <p:anim calcmode="lin" valueType="num">
                                      <p:cBhvr>
                                        <p:cTn id="38"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43" dur="26">
                                          <p:stCondLst>
                                            <p:cond delay="650"/>
                                          </p:stCondLst>
                                        </p:cTn>
                                        <p:tgtEl>
                                          <p:spTgt spid="3">
                                            <p:txEl>
                                              <p:pRg st="7" end="7"/>
                                            </p:txEl>
                                          </p:spTgt>
                                        </p:tgtEl>
                                      </p:cBhvr>
                                      <p:to x="100000" y="60000"/>
                                    </p:animScale>
                                    <p:animScale>
                                      <p:cBhvr>
                                        <p:cTn id="44" dur="166" decel="50000">
                                          <p:stCondLst>
                                            <p:cond delay="676"/>
                                          </p:stCondLst>
                                        </p:cTn>
                                        <p:tgtEl>
                                          <p:spTgt spid="3">
                                            <p:txEl>
                                              <p:pRg st="7" end="7"/>
                                            </p:txEl>
                                          </p:spTgt>
                                        </p:tgtEl>
                                      </p:cBhvr>
                                      <p:to x="100000" y="100000"/>
                                    </p:animScale>
                                    <p:animScale>
                                      <p:cBhvr>
                                        <p:cTn id="45" dur="26">
                                          <p:stCondLst>
                                            <p:cond delay="1312"/>
                                          </p:stCondLst>
                                        </p:cTn>
                                        <p:tgtEl>
                                          <p:spTgt spid="3">
                                            <p:txEl>
                                              <p:pRg st="7" end="7"/>
                                            </p:txEl>
                                          </p:spTgt>
                                        </p:tgtEl>
                                      </p:cBhvr>
                                      <p:to x="100000" y="80000"/>
                                    </p:animScale>
                                    <p:animScale>
                                      <p:cBhvr>
                                        <p:cTn id="46" dur="166" decel="50000">
                                          <p:stCondLst>
                                            <p:cond delay="1338"/>
                                          </p:stCondLst>
                                        </p:cTn>
                                        <p:tgtEl>
                                          <p:spTgt spid="3">
                                            <p:txEl>
                                              <p:pRg st="7" end="7"/>
                                            </p:txEl>
                                          </p:spTgt>
                                        </p:tgtEl>
                                      </p:cBhvr>
                                      <p:to x="100000" y="100000"/>
                                    </p:animScale>
                                    <p:animScale>
                                      <p:cBhvr>
                                        <p:cTn id="47" dur="26">
                                          <p:stCondLst>
                                            <p:cond delay="1642"/>
                                          </p:stCondLst>
                                        </p:cTn>
                                        <p:tgtEl>
                                          <p:spTgt spid="3">
                                            <p:txEl>
                                              <p:pRg st="7" end="7"/>
                                            </p:txEl>
                                          </p:spTgt>
                                        </p:tgtEl>
                                      </p:cBhvr>
                                      <p:to x="100000" y="90000"/>
                                    </p:animScale>
                                    <p:animScale>
                                      <p:cBhvr>
                                        <p:cTn id="48" dur="166" decel="50000">
                                          <p:stCondLst>
                                            <p:cond delay="1668"/>
                                          </p:stCondLst>
                                        </p:cTn>
                                        <p:tgtEl>
                                          <p:spTgt spid="3">
                                            <p:txEl>
                                              <p:pRg st="7" end="7"/>
                                            </p:txEl>
                                          </p:spTgt>
                                        </p:tgtEl>
                                      </p:cBhvr>
                                      <p:to x="100000" y="100000"/>
                                    </p:animScale>
                                    <p:animScale>
                                      <p:cBhvr>
                                        <p:cTn id="49" dur="26">
                                          <p:stCondLst>
                                            <p:cond delay="1808"/>
                                          </p:stCondLst>
                                        </p:cTn>
                                        <p:tgtEl>
                                          <p:spTgt spid="3">
                                            <p:txEl>
                                              <p:pRg st="7" end="7"/>
                                            </p:txEl>
                                          </p:spTgt>
                                        </p:tgtEl>
                                      </p:cBhvr>
                                      <p:to x="100000" y="95000"/>
                                    </p:animScale>
                                    <p:animScale>
                                      <p:cBhvr>
                                        <p:cTn id="50"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CF601-781B-A124-8476-E7A7FBD3F5CE}"/>
              </a:ext>
            </a:extLst>
          </p:cNvPr>
          <p:cNvSpPr>
            <a:spLocks noGrp="1"/>
          </p:cNvSpPr>
          <p:nvPr>
            <p:ph type="title"/>
          </p:nvPr>
        </p:nvSpPr>
        <p:spPr>
          <a:xfrm>
            <a:off x="243682" y="974429"/>
            <a:ext cx="6447501" cy="554334"/>
          </a:xfrm>
        </p:spPr>
        <p:txBody>
          <a:bodyPr/>
          <a:lstStyle/>
          <a:p>
            <a:r>
              <a:rPr lang="en-GB" dirty="0"/>
              <a:t>Rights Issue - Example</a:t>
            </a:r>
          </a:p>
        </p:txBody>
      </p:sp>
      <p:sp>
        <p:nvSpPr>
          <p:cNvPr id="3" name="Content Placeholder 2">
            <a:extLst>
              <a:ext uri="{FF2B5EF4-FFF2-40B4-BE49-F238E27FC236}">
                <a16:creationId xmlns:a16="http://schemas.microsoft.com/office/drawing/2014/main" id="{F47B1BFF-E060-A511-C31D-2ABB5C01D2EE}"/>
              </a:ext>
            </a:extLst>
          </p:cNvPr>
          <p:cNvSpPr>
            <a:spLocks noGrp="1"/>
          </p:cNvSpPr>
          <p:nvPr>
            <p:ph idx="1"/>
          </p:nvPr>
        </p:nvSpPr>
        <p:spPr>
          <a:xfrm>
            <a:off x="350044" y="1800226"/>
            <a:ext cx="6605458" cy="1185862"/>
          </a:xfrm>
        </p:spPr>
        <p:txBody>
          <a:bodyPr>
            <a:normAutofit fontScale="32500" lnSpcReduction="20000"/>
          </a:bodyPr>
          <a:lstStyle/>
          <a:p>
            <a:pPr marL="0" indent="0">
              <a:buNone/>
            </a:pPr>
            <a:r>
              <a:rPr lang="en-GB" dirty="0"/>
              <a:t>Herbivore PLC is a vegan product distributor. Herbivore has 2 million ordinary shares in issue. Each share is currently trading at £4 on the stock market.</a:t>
            </a:r>
          </a:p>
          <a:p>
            <a:pPr marL="0" indent="0">
              <a:buNone/>
            </a:pPr>
            <a:r>
              <a:rPr lang="en-GB" dirty="0"/>
              <a:t>They need to raise £1.12m of new finance to invest in a new renewable product line. It plans to raise the finance by selling new to shares to existing shareholders at a 30% discount to the current market price.</a:t>
            </a:r>
          </a:p>
          <a:p>
            <a:endParaRPr lang="en-GB" dirty="0"/>
          </a:p>
        </p:txBody>
      </p:sp>
      <p:sp>
        <p:nvSpPr>
          <p:cNvPr id="4" name="TextBox 3">
            <a:extLst>
              <a:ext uri="{FF2B5EF4-FFF2-40B4-BE49-F238E27FC236}">
                <a16:creationId xmlns:a16="http://schemas.microsoft.com/office/drawing/2014/main" id="{9FBDCCCD-7E9A-2BAB-02F7-4D45DFA6D6EF}"/>
              </a:ext>
            </a:extLst>
          </p:cNvPr>
          <p:cNvSpPr txBox="1"/>
          <p:nvPr/>
        </p:nvSpPr>
        <p:spPr>
          <a:xfrm>
            <a:off x="428626" y="3154501"/>
            <a:ext cx="6422231" cy="2862322"/>
          </a:xfrm>
          <a:prstGeom prst="rect">
            <a:avLst/>
          </a:prstGeom>
          <a:noFill/>
        </p:spPr>
        <p:txBody>
          <a:bodyPr wrap="square" rtlCol="0">
            <a:spAutoFit/>
          </a:bodyPr>
          <a:lstStyle/>
          <a:p>
            <a:pPr marL="257175" indent="-257175">
              <a:buAutoNum type="arabicPeriod"/>
            </a:pPr>
            <a:r>
              <a:rPr lang="en-GB" dirty="0"/>
              <a:t>What is the rights issue price?</a:t>
            </a:r>
          </a:p>
          <a:p>
            <a:pPr marL="257175" indent="-257175">
              <a:buAutoNum type="arabicPeriod"/>
            </a:pPr>
            <a:endParaRPr lang="en-GB" dirty="0"/>
          </a:p>
          <a:p>
            <a:pPr marL="257175" indent="-257175">
              <a:buAutoNum type="arabicPeriod"/>
            </a:pPr>
            <a:endParaRPr lang="en-GB" dirty="0"/>
          </a:p>
          <a:p>
            <a:pPr marL="257175" indent="-257175">
              <a:buAutoNum type="arabicPeriod"/>
            </a:pPr>
            <a:r>
              <a:rPr lang="en-GB" dirty="0"/>
              <a:t>How many new shares will be issued?</a:t>
            </a:r>
          </a:p>
          <a:p>
            <a:pPr marL="257175" indent="-257175">
              <a:buAutoNum type="arabicPeriod"/>
            </a:pPr>
            <a:endParaRPr lang="en-GB" dirty="0"/>
          </a:p>
          <a:p>
            <a:pPr marL="257175" indent="-257175">
              <a:buAutoNum type="arabicPeriod"/>
            </a:pPr>
            <a:endParaRPr lang="en-GB" dirty="0"/>
          </a:p>
          <a:p>
            <a:pPr marL="257175" indent="-257175">
              <a:buAutoNum type="arabicPeriod"/>
            </a:pPr>
            <a:r>
              <a:rPr lang="en-GB" dirty="0"/>
              <a:t>What are the terms of the rights issue?</a:t>
            </a:r>
          </a:p>
          <a:p>
            <a:pPr marL="257175" indent="-257175">
              <a:buAutoNum type="arabicPeriod"/>
            </a:pPr>
            <a:endParaRPr lang="en-GB" dirty="0"/>
          </a:p>
          <a:p>
            <a:pPr marL="257175" indent="-257175">
              <a:buAutoNum type="arabicPeriod"/>
            </a:pPr>
            <a:endParaRPr lang="en-GB" dirty="0"/>
          </a:p>
          <a:p>
            <a:pPr marL="257175" indent="-257175">
              <a:buAutoNum type="arabicPeriod"/>
            </a:pPr>
            <a:r>
              <a:rPr lang="en-GB" dirty="0"/>
              <a:t>What is the Theoretical Ex-rights price (TERP)?</a:t>
            </a:r>
          </a:p>
        </p:txBody>
      </p:sp>
    </p:spTree>
    <p:extLst>
      <p:ext uri="{BB962C8B-B14F-4D97-AF65-F5344CB8AC3E}">
        <p14:creationId xmlns:p14="http://schemas.microsoft.com/office/powerpoint/2010/main" val="2752466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wipe(down)">
                                      <p:cBhvr>
                                        <p:cTn id="15" dur="580">
                                          <p:stCondLst>
                                            <p:cond delay="0"/>
                                          </p:stCondLst>
                                        </p:cTn>
                                        <p:tgtEl>
                                          <p:spTgt spid="4">
                                            <p:txEl>
                                              <p:pRg st="0" end="0"/>
                                            </p:txEl>
                                          </p:spTgt>
                                        </p:tgtEl>
                                      </p:cBhvr>
                                    </p:animEffect>
                                    <p:anim calcmode="lin" valueType="num">
                                      <p:cBhvr>
                                        <p:cTn id="16"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21" dur="26">
                                          <p:stCondLst>
                                            <p:cond delay="650"/>
                                          </p:stCondLst>
                                        </p:cTn>
                                        <p:tgtEl>
                                          <p:spTgt spid="4">
                                            <p:txEl>
                                              <p:pRg st="0" end="0"/>
                                            </p:txEl>
                                          </p:spTgt>
                                        </p:tgtEl>
                                      </p:cBhvr>
                                      <p:to x="100000" y="60000"/>
                                    </p:animScale>
                                    <p:animScale>
                                      <p:cBhvr>
                                        <p:cTn id="22" dur="166" decel="50000">
                                          <p:stCondLst>
                                            <p:cond delay="676"/>
                                          </p:stCondLst>
                                        </p:cTn>
                                        <p:tgtEl>
                                          <p:spTgt spid="4">
                                            <p:txEl>
                                              <p:pRg st="0" end="0"/>
                                            </p:txEl>
                                          </p:spTgt>
                                        </p:tgtEl>
                                      </p:cBhvr>
                                      <p:to x="100000" y="100000"/>
                                    </p:animScale>
                                    <p:animScale>
                                      <p:cBhvr>
                                        <p:cTn id="23" dur="26">
                                          <p:stCondLst>
                                            <p:cond delay="1312"/>
                                          </p:stCondLst>
                                        </p:cTn>
                                        <p:tgtEl>
                                          <p:spTgt spid="4">
                                            <p:txEl>
                                              <p:pRg st="0" end="0"/>
                                            </p:txEl>
                                          </p:spTgt>
                                        </p:tgtEl>
                                      </p:cBhvr>
                                      <p:to x="100000" y="80000"/>
                                    </p:animScale>
                                    <p:animScale>
                                      <p:cBhvr>
                                        <p:cTn id="24" dur="166" decel="50000">
                                          <p:stCondLst>
                                            <p:cond delay="1338"/>
                                          </p:stCondLst>
                                        </p:cTn>
                                        <p:tgtEl>
                                          <p:spTgt spid="4">
                                            <p:txEl>
                                              <p:pRg st="0" end="0"/>
                                            </p:txEl>
                                          </p:spTgt>
                                        </p:tgtEl>
                                      </p:cBhvr>
                                      <p:to x="100000" y="100000"/>
                                    </p:animScale>
                                    <p:animScale>
                                      <p:cBhvr>
                                        <p:cTn id="25" dur="26">
                                          <p:stCondLst>
                                            <p:cond delay="1642"/>
                                          </p:stCondLst>
                                        </p:cTn>
                                        <p:tgtEl>
                                          <p:spTgt spid="4">
                                            <p:txEl>
                                              <p:pRg st="0" end="0"/>
                                            </p:txEl>
                                          </p:spTgt>
                                        </p:tgtEl>
                                      </p:cBhvr>
                                      <p:to x="100000" y="90000"/>
                                    </p:animScale>
                                    <p:animScale>
                                      <p:cBhvr>
                                        <p:cTn id="26" dur="166" decel="50000">
                                          <p:stCondLst>
                                            <p:cond delay="1668"/>
                                          </p:stCondLst>
                                        </p:cTn>
                                        <p:tgtEl>
                                          <p:spTgt spid="4">
                                            <p:txEl>
                                              <p:pRg st="0" end="0"/>
                                            </p:txEl>
                                          </p:spTgt>
                                        </p:tgtEl>
                                      </p:cBhvr>
                                      <p:to x="100000" y="100000"/>
                                    </p:animScale>
                                    <p:animScale>
                                      <p:cBhvr>
                                        <p:cTn id="27" dur="26">
                                          <p:stCondLst>
                                            <p:cond delay="1808"/>
                                          </p:stCondLst>
                                        </p:cTn>
                                        <p:tgtEl>
                                          <p:spTgt spid="4">
                                            <p:txEl>
                                              <p:pRg st="0" end="0"/>
                                            </p:txEl>
                                          </p:spTgt>
                                        </p:tgtEl>
                                      </p:cBhvr>
                                      <p:to x="100000" y="95000"/>
                                    </p:animScale>
                                    <p:animScale>
                                      <p:cBhvr>
                                        <p:cTn id="28" dur="166" decel="50000">
                                          <p:stCondLst>
                                            <p:cond delay="1834"/>
                                          </p:stCondLst>
                                        </p:cTn>
                                        <p:tgtEl>
                                          <p:spTgt spid="4">
                                            <p:txEl>
                                              <p:pRg st="0" end="0"/>
                                            </p:txEl>
                                          </p:spTgt>
                                        </p:tgtEl>
                                      </p:cBhvr>
                                      <p:to x="100000" y="100000"/>
                                    </p:animScale>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animEffect transition="in" filter="wipe(down)">
                                      <p:cBhvr>
                                        <p:cTn id="33" dur="580">
                                          <p:stCondLst>
                                            <p:cond delay="0"/>
                                          </p:stCondLst>
                                        </p:cTn>
                                        <p:tgtEl>
                                          <p:spTgt spid="4">
                                            <p:txEl>
                                              <p:pRg st="3" end="3"/>
                                            </p:txEl>
                                          </p:spTgt>
                                        </p:tgtEl>
                                      </p:cBhvr>
                                    </p:animEffect>
                                    <p:anim calcmode="lin" valueType="num">
                                      <p:cBhvr>
                                        <p:cTn id="34" dur="1822" tmFilter="0,0; 0.14,0.36; 0.43,0.73; 0.71,0.91; 1.0,1.0">
                                          <p:stCondLst>
                                            <p:cond delay="0"/>
                                          </p:stCondLst>
                                        </p:cTn>
                                        <p:tgtEl>
                                          <p:spTgt spid="4">
                                            <p:txEl>
                                              <p:pRg st="3" end="3"/>
                                            </p:txEl>
                                          </p:spTgt>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4">
                                            <p:txEl>
                                              <p:pRg st="3" end="3"/>
                                            </p:txEl>
                                          </p:spTgt>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4">
                                            <p:txEl>
                                              <p:pRg st="3" end="3"/>
                                            </p:txEl>
                                          </p:spTgt>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4">
                                            <p:txEl>
                                              <p:pRg st="3" end="3"/>
                                            </p:txEl>
                                          </p:spTgt>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4">
                                            <p:txEl>
                                              <p:pRg st="3" end="3"/>
                                            </p:txEl>
                                          </p:spTgt>
                                        </p:tgtEl>
                                        <p:attrNameLst>
                                          <p:attrName>ppt_y</p:attrName>
                                        </p:attrNameLst>
                                      </p:cBhvr>
                                      <p:tavLst>
                                        <p:tav tm="0" fmla="#ppt_y-sin(pi*$)/81">
                                          <p:val>
                                            <p:fltVal val="0"/>
                                          </p:val>
                                        </p:tav>
                                        <p:tav tm="100000">
                                          <p:val>
                                            <p:fltVal val="1"/>
                                          </p:val>
                                        </p:tav>
                                      </p:tavLst>
                                    </p:anim>
                                    <p:animScale>
                                      <p:cBhvr>
                                        <p:cTn id="39" dur="26">
                                          <p:stCondLst>
                                            <p:cond delay="650"/>
                                          </p:stCondLst>
                                        </p:cTn>
                                        <p:tgtEl>
                                          <p:spTgt spid="4">
                                            <p:txEl>
                                              <p:pRg st="3" end="3"/>
                                            </p:txEl>
                                          </p:spTgt>
                                        </p:tgtEl>
                                      </p:cBhvr>
                                      <p:to x="100000" y="60000"/>
                                    </p:animScale>
                                    <p:animScale>
                                      <p:cBhvr>
                                        <p:cTn id="40" dur="166" decel="50000">
                                          <p:stCondLst>
                                            <p:cond delay="676"/>
                                          </p:stCondLst>
                                        </p:cTn>
                                        <p:tgtEl>
                                          <p:spTgt spid="4">
                                            <p:txEl>
                                              <p:pRg st="3" end="3"/>
                                            </p:txEl>
                                          </p:spTgt>
                                        </p:tgtEl>
                                      </p:cBhvr>
                                      <p:to x="100000" y="100000"/>
                                    </p:animScale>
                                    <p:animScale>
                                      <p:cBhvr>
                                        <p:cTn id="41" dur="26">
                                          <p:stCondLst>
                                            <p:cond delay="1312"/>
                                          </p:stCondLst>
                                        </p:cTn>
                                        <p:tgtEl>
                                          <p:spTgt spid="4">
                                            <p:txEl>
                                              <p:pRg st="3" end="3"/>
                                            </p:txEl>
                                          </p:spTgt>
                                        </p:tgtEl>
                                      </p:cBhvr>
                                      <p:to x="100000" y="80000"/>
                                    </p:animScale>
                                    <p:animScale>
                                      <p:cBhvr>
                                        <p:cTn id="42" dur="166" decel="50000">
                                          <p:stCondLst>
                                            <p:cond delay="1338"/>
                                          </p:stCondLst>
                                        </p:cTn>
                                        <p:tgtEl>
                                          <p:spTgt spid="4">
                                            <p:txEl>
                                              <p:pRg st="3" end="3"/>
                                            </p:txEl>
                                          </p:spTgt>
                                        </p:tgtEl>
                                      </p:cBhvr>
                                      <p:to x="100000" y="100000"/>
                                    </p:animScale>
                                    <p:animScale>
                                      <p:cBhvr>
                                        <p:cTn id="43" dur="26">
                                          <p:stCondLst>
                                            <p:cond delay="1642"/>
                                          </p:stCondLst>
                                        </p:cTn>
                                        <p:tgtEl>
                                          <p:spTgt spid="4">
                                            <p:txEl>
                                              <p:pRg st="3" end="3"/>
                                            </p:txEl>
                                          </p:spTgt>
                                        </p:tgtEl>
                                      </p:cBhvr>
                                      <p:to x="100000" y="90000"/>
                                    </p:animScale>
                                    <p:animScale>
                                      <p:cBhvr>
                                        <p:cTn id="44" dur="166" decel="50000">
                                          <p:stCondLst>
                                            <p:cond delay="1668"/>
                                          </p:stCondLst>
                                        </p:cTn>
                                        <p:tgtEl>
                                          <p:spTgt spid="4">
                                            <p:txEl>
                                              <p:pRg st="3" end="3"/>
                                            </p:txEl>
                                          </p:spTgt>
                                        </p:tgtEl>
                                      </p:cBhvr>
                                      <p:to x="100000" y="100000"/>
                                    </p:animScale>
                                    <p:animScale>
                                      <p:cBhvr>
                                        <p:cTn id="45" dur="26">
                                          <p:stCondLst>
                                            <p:cond delay="1808"/>
                                          </p:stCondLst>
                                        </p:cTn>
                                        <p:tgtEl>
                                          <p:spTgt spid="4">
                                            <p:txEl>
                                              <p:pRg st="3" end="3"/>
                                            </p:txEl>
                                          </p:spTgt>
                                        </p:tgtEl>
                                      </p:cBhvr>
                                      <p:to x="100000" y="95000"/>
                                    </p:animScale>
                                    <p:animScale>
                                      <p:cBhvr>
                                        <p:cTn id="46" dur="166" decel="50000">
                                          <p:stCondLst>
                                            <p:cond delay="1834"/>
                                          </p:stCondLst>
                                        </p:cTn>
                                        <p:tgtEl>
                                          <p:spTgt spid="4">
                                            <p:txEl>
                                              <p:pRg st="3" end="3"/>
                                            </p:txEl>
                                          </p:spTgt>
                                        </p:tgtEl>
                                      </p:cBhvr>
                                      <p:to x="100000" y="100000"/>
                                    </p:animScale>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nodeType="clickEffect">
                                  <p:stCondLst>
                                    <p:cond delay="0"/>
                                  </p:stCondLst>
                                  <p:childTnLst>
                                    <p:set>
                                      <p:cBhvr>
                                        <p:cTn id="50" dur="1" fill="hold">
                                          <p:stCondLst>
                                            <p:cond delay="0"/>
                                          </p:stCondLst>
                                        </p:cTn>
                                        <p:tgtEl>
                                          <p:spTgt spid="4">
                                            <p:txEl>
                                              <p:pRg st="6" end="6"/>
                                            </p:txEl>
                                          </p:spTgt>
                                        </p:tgtEl>
                                        <p:attrNameLst>
                                          <p:attrName>style.visibility</p:attrName>
                                        </p:attrNameLst>
                                      </p:cBhvr>
                                      <p:to>
                                        <p:strVal val="visible"/>
                                      </p:to>
                                    </p:set>
                                    <p:animEffect transition="in" filter="wipe(down)">
                                      <p:cBhvr>
                                        <p:cTn id="51" dur="580">
                                          <p:stCondLst>
                                            <p:cond delay="0"/>
                                          </p:stCondLst>
                                        </p:cTn>
                                        <p:tgtEl>
                                          <p:spTgt spid="4">
                                            <p:txEl>
                                              <p:pRg st="6" end="6"/>
                                            </p:txEl>
                                          </p:spTgt>
                                        </p:tgtEl>
                                      </p:cBhvr>
                                    </p:animEffect>
                                    <p:anim calcmode="lin" valueType="num">
                                      <p:cBhvr>
                                        <p:cTn id="52" dur="1822" tmFilter="0,0; 0.14,0.36; 0.43,0.73; 0.71,0.91; 1.0,1.0">
                                          <p:stCondLst>
                                            <p:cond delay="0"/>
                                          </p:stCondLst>
                                        </p:cTn>
                                        <p:tgtEl>
                                          <p:spTgt spid="4">
                                            <p:txEl>
                                              <p:pRg st="6" end="6"/>
                                            </p:txEl>
                                          </p:spTgt>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4">
                                            <p:txEl>
                                              <p:pRg st="6" end="6"/>
                                            </p:txEl>
                                          </p:spTgt>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4">
                                            <p:txEl>
                                              <p:pRg st="6" end="6"/>
                                            </p:txEl>
                                          </p:spTgt>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4">
                                            <p:txEl>
                                              <p:pRg st="6" end="6"/>
                                            </p:txEl>
                                          </p:spTgt>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4">
                                            <p:txEl>
                                              <p:pRg st="6" end="6"/>
                                            </p:txEl>
                                          </p:spTgt>
                                        </p:tgtEl>
                                        <p:attrNameLst>
                                          <p:attrName>ppt_y</p:attrName>
                                        </p:attrNameLst>
                                      </p:cBhvr>
                                      <p:tavLst>
                                        <p:tav tm="0" fmla="#ppt_y-sin(pi*$)/81">
                                          <p:val>
                                            <p:fltVal val="0"/>
                                          </p:val>
                                        </p:tav>
                                        <p:tav tm="100000">
                                          <p:val>
                                            <p:fltVal val="1"/>
                                          </p:val>
                                        </p:tav>
                                      </p:tavLst>
                                    </p:anim>
                                    <p:animScale>
                                      <p:cBhvr>
                                        <p:cTn id="57" dur="26">
                                          <p:stCondLst>
                                            <p:cond delay="650"/>
                                          </p:stCondLst>
                                        </p:cTn>
                                        <p:tgtEl>
                                          <p:spTgt spid="4">
                                            <p:txEl>
                                              <p:pRg st="6" end="6"/>
                                            </p:txEl>
                                          </p:spTgt>
                                        </p:tgtEl>
                                      </p:cBhvr>
                                      <p:to x="100000" y="60000"/>
                                    </p:animScale>
                                    <p:animScale>
                                      <p:cBhvr>
                                        <p:cTn id="58" dur="166" decel="50000">
                                          <p:stCondLst>
                                            <p:cond delay="676"/>
                                          </p:stCondLst>
                                        </p:cTn>
                                        <p:tgtEl>
                                          <p:spTgt spid="4">
                                            <p:txEl>
                                              <p:pRg st="6" end="6"/>
                                            </p:txEl>
                                          </p:spTgt>
                                        </p:tgtEl>
                                      </p:cBhvr>
                                      <p:to x="100000" y="100000"/>
                                    </p:animScale>
                                    <p:animScale>
                                      <p:cBhvr>
                                        <p:cTn id="59" dur="26">
                                          <p:stCondLst>
                                            <p:cond delay="1312"/>
                                          </p:stCondLst>
                                        </p:cTn>
                                        <p:tgtEl>
                                          <p:spTgt spid="4">
                                            <p:txEl>
                                              <p:pRg st="6" end="6"/>
                                            </p:txEl>
                                          </p:spTgt>
                                        </p:tgtEl>
                                      </p:cBhvr>
                                      <p:to x="100000" y="80000"/>
                                    </p:animScale>
                                    <p:animScale>
                                      <p:cBhvr>
                                        <p:cTn id="60" dur="166" decel="50000">
                                          <p:stCondLst>
                                            <p:cond delay="1338"/>
                                          </p:stCondLst>
                                        </p:cTn>
                                        <p:tgtEl>
                                          <p:spTgt spid="4">
                                            <p:txEl>
                                              <p:pRg st="6" end="6"/>
                                            </p:txEl>
                                          </p:spTgt>
                                        </p:tgtEl>
                                      </p:cBhvr>
                                      <p:to x="100000" y="100000"/>
                                    </p:animScale>
                                    <p:animScale>
                                      <p:cBhvr>
                                        <p:cTn id="61" dur="26">
                                          <p:stCondLst>
                                            <p:cond delay="1642"/>
                                          </p:stCondLst>
                                        </p:cTn>
                                        <p:tgtEl>
                                          <p:spTgt spid="4">
                                            <p:txEl>
                                              <p:pRg st="6" end="6"/>
                                            </p:txEl>
                                          </p:spTgt>
                                        </p:tgtEl>
                                      </p:cBhvr>
                                      <p:to x="100000" y="90000"/>
                                    </p:animScale>
                                    <p:animScale>
                                      <p:cBhvr>
                                        <p:cTn id="62" dur="166" decel="50000">
                                          <p:stCondLst>
                                            <p:cond delay="1668"/>
                                          </p:stCondLst>
                                        </p:cTn>
                                        <p:tgtEl>
                                          <p:spTgt spid="4">
                                            <p:txEl>
                                              <p:pRg st="6" end="6"/>
                                            </p:txEl>
                                          </p:spTgt>
                                        </p:tgtEl>
                                      </p:cBhvr>
                                      <p:to x="100000" y="100000"/>
                                    </p:animScale>
                                    <p:animScale>
                                      <p:cBhvr>
                                        <p:cTn id="63" dur="26">
                                          <p:stCondLst>
                                            <p:cond delay="1808"/>
                                          </p:stCondLst>
                                        </p:cTn>
                                        <p:tgtEl>
                                          <p:spTgt spid="4">
                                            <p:txEl>
                                              <p:pRg st="6" end="6"/>
                                            </p:txEl>
                                          </p:spTgt>
                                        </p:tgtEl>
                                      </p:cBhvr>
                                      <p:to x="100000" y="95000"/>
                                    </p:animScale>
                                    <p:animScale>
                                      <p:cBhvr>
                                        <p:cTn id="64" dur="166" decel="50000">
                                          <p:stCondLst>
                                            <p:cond delay="1834"/>
                                          </p:stCondLst>
                                        </p:cTn>
                                        <p:tgtEl>
                                          <p:spTgt spid="4">
                                            <p:txEl>
                                              <p:pRg st="6" end="6"/>
                                            </p:txEl>
                                          </p:spTgt>
                                        </p:tgtEl>
                                      </p:cBhvr>
                                      <p:to x="100000" y="100000"/>
                                    </p:animScale>
                                  </p:childTnLst>
                                </p:cTn>
                              </p:par>
                            </p:childTnLst>
                          </p:cTn>
                        </p:par>
                      </p:childTnLst>
                    </p:cTn>
                  </p:par>
                  <p:par>
                    <p:cTn id="65" fill="hold">
                      <p:stCondLst>
                        <p:cond delay="indefinite"/>
                      </p:stCondLst>
                      <p:childTnLst>
                        <p:par>
                          <p:cTn id="66" fill="hold">
                            <p:stCondLst>
                              <p:cond delay="0"/>
                            </p:stCondLst>
                            <p:childTnLst>
                              <p:par>
                                <p:cTn id="67" presetID="26" presetClass="entr" presetSubtype="0" fill="hold" nodeType="clickEffect">
                                  <p:stCondLst>
                                    <p:cond delay="0"/>
                                  </p:stCondLst>
                                  <p:childTnLst>
                                    <p:set>
                                      <p:cBhvr>
                                        <p:cTn id="68" dur="1" fill="hold">
                                          <p:stCondLst>
                                            <p:cond delay="0"/>
                                          </p:stCondLst>
                                        </p:cTn>
                                        <p:tgtEl>
                                          <p:spTgt spid="4">
                                            <p:txEl>
                                              <p:pRg st="9" end="9"/>
                                            </p:txEl>
                                          </p:spTgt>
                                        </p:tgtEl>
                                        <p:attrNameLst>
                                          <p:attrName>style.visibility</p:attrName>
                                        </p:attrNameLst>
                                      </p:cBhvr>
                                      <p:to>
                                        <p:strVal val="visible"/>
                                      </p:to>
                                    </p:set>
                                    <p:animEffect transition="in" filter="wipe(down)">
                                      <p:cBhvr>
                                        <p:cTn id="69" dur="580">
                                          <p:stCondLst>
                                            <p:cond delay="0"/>
                                          </p:stCondLst>
                                        </p:cTn>
                                        <p:tgtEl>
                                          <p:spTgt spid="4">
                                            <p:txEl>
                                              <p:pRg st="9" end="9"/>
                                            </p:txEl>
                                          </p:spTgt>
                                        </p:tgtEl>
                                      </p:cBhvr>
                                    </p:animEffect>
                                    <p:anim calcmode="lin" valueType="num">
                                      <p:cBhvr>
                                        <p:cTn id="70" dur="1822" tmFilter="0,0; 0.14,0.36; 0.43,0.73; 0.71,0.91; 1.0,1.0">
                                          <p:stCondLst>
                                            <p:cond delay="0"/>
                                          </p:stCondLst>
                                        </p:cTn>
                                        <p:tgtEl>
                                          <p:spTgt spid="4">
                                            <p:txEl>
                                              <p:pRg st="9" end="9"/>
                                            </p:txEl>
                                          </p:spTgt>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4">
                                            <p:txEl>
                                              <p:pRg st="9" end="9"/>
                                            </p:txEl>
                                          </p:spTgt>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4">
                                            <p:txEl>
                                              <p:pRg st="9" end="9"/>
                                            </p:txEl>
                                          </p:spTgt>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4">
                                            <p:txEl>
                                              <p:pRg st="9" end="9"/>
                                            </p:txEl>
                                          </p:spTgt>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4">
                                            <p:txEl>
                                              <p:pRg st="9" end="9"/>
                                            </p:txEl>
                                          </p:spTgt>
                                        </p:tgtEl>
                                        <p:attrNameLst>
                                          <p:attrName>ppt_y</p:attrName>
                                        </p:attrNameLst>
                                      </p:cBhvr>
                                      <p:tavLst>
                                        <p:tav tm="0" fmla="#ppt_y-sin(pi*$)/81">
                                          <p:val>
                                            <p:fltVal val="0"/>
                                          </p:val>
                                        </p:tav>
                                        <p:tav tm="100000">
                                          <p:val>
                                            <p:fltVal val="1"/>
                                          </p:val>
                                        </p:tav>
                                      </p:tavLst>
                                    </p:anim>
                                    <p:animScale>
                                      <p:cBhvr>
                                        <p:cTn id="75" dur="26">
                                          <p:stCondLst>
                                            <p:cond delay="650"/>
                                          </p:stCondLst>
                                        </p:cTn>
                                        <p:tgtEl>
                                          <p:spTgt spid="4">
                                            <p:txEl>
                                              <p:pRg st="9" end="9"/>
                                            </p:txEl>
                                          </p:spTgt>
                                        </p:tgtEl>
                                      </p:cBhvr>
                                      <p:to x="100000" y="60000"/>
                                    </p:animScale>
                                    <p:animScale>
                                      <p:cBhvr>
                                        <p:cTn id="76" dur="166" decel="50000">
                                          <p:stCondLst>
                                            <p:cond delay="676"/>
                                          </p:stCondLst>
                                        </p:cTn>
                                        <p:tgtEl>
                                          <p:spTgt spid="4">
                                            <p:txEl>
                                              <p:pRg st="9" end="9"/>
                                            </p:txEl>
                                          </p:spTgt>
                                        </p:tgtEl>
                                      </p:cBhvr>
                                      <p:to x="100000" y="100000"/>
                                    </p:animScale>
                                    <p:animScale>
                                      <p:cBhvr>
                                        <p:cTn id="77" dur="26">
                                          <p:stCondLst>
                                            <p:cond delay="1312"/>
                                          </p:stCondLst>
                                        </p:cTn>
                                        <p:tgtEl>
                                          <p:spTgt spid="4">
                                            <p:txEl>
                                              <p:pRg st="9" end="9"/>
                                            </p:txEl>
                                          </p:spTgt>
                                        </p:tgtEl>
                                      </p:cBhvr>
                                      <p:to x="100000" y="80000"/>
                                    </p:animScale>
                                    <p:animScale>
                                      <p:cBhvr>
                                        <p:cTn id="78" dur="166" decel="50000">
                                          <p:stCondLst>
                                            <p:cond delay="1338"/>
                                          </p:stCondLst>
                                        </p:cTn>
                                        <p:tgtEl>
                                          <p:spTgt spid="4">
                                            <p:txEl>
                                              <p:pRg st="9" end="9"/>
                                            </p:txEl>
                                          </p:spTgt>
                                        </p:tgtEl>
                                      </p:cBhvr>
                                      <p:to x="100000" y="100000"/>
                                    </p:animScale>
                                    <p:animScale>
                                      <p:cBhvr>
                                        <p:cTn id="79" dur="26">
                                          <p:stCondLst>
                                            <p:cond delay="1642"/>
                                          </p:stCondLst>
                                        </p:cTn>
                                        <p:tgtEl>
                                          <p:spTgt spid="4">
                                            <p:txEl>
                                              <p:pRg st="9" end="9"/>
                                            </p:txEl>
                                          </p:spTgt>
                                        </p:tgtEl>
                                      </p:cBhvr>
                                      <p:to x="100000" y="90000"/>
                                    </p:animScale>
                                    <p:animScale>
                                      <p:cBhvr>
                                        <p:cTn id="80" dur="166" decel="50000">
                                          <p:stCondLst>
                                            <p:cond delay="1668"/>
                                          </p:stCondLst>
                                        </p:cTn>
                                        <p:tgtEl>
                                          <p:spTgt spid="4">
                                            <p:txEl>
                                              <p:pRg st="9" end="9"/>
                                            </p:txEl>
                                          </p:spTgt>
                                        </p:tgtEl>
                                      </p:cBhvr>
                                      <p:to x="100000" y="100000"/>
                                    </p:animScale>
                                    <p:animScale>
                                      <p:cBhvr>
                                        <p:cTn id="81" dur="26">
                                          <p:stCondLst>
                                            <p:cond delay="1808"/>
                                          </p:stCondLst>
                                        </p:cTn>
                                        <p:tgtEl>
                                          <p:spTgt spid="4">
                                            <p:txEl>
                                              <p:pRg st="9" end="9"/>
                                            </p:txEl>
                                          </p:spTgt>
                                        </p:tgtEl>
                                      </p:cBhvr>
                                      <p:to x="100000" y="95000"/>
                                    </p:animScale>
                                    <p:animScale>
                                      <p:cBhvr>
                                        <p:cTn id="82" dur="166" decel="50000">
                                          <p:stCondLst>
                                            <p:cond delay="1834"/>
                                          </p:stCondLst>
                                        </p:cTn>
                                        <p:tgtEl>
                                          <p:spTgt spid="4">
                                            <p:txEl>
                                              <p:pRg st="9" end="9"/>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CF601-781B-A124-8476-E7A7FBD3F5CE}"/>
              </a:ext>
            </a:extLst>
          </p:cNvPr>
          <p:cNvSpPr>
            <a:spLocks noGrp="1"/>
          </p:cNvSpPr>
          <p:nvPr>
            <p:ph type="title"/>
          </p:nvPr>
        </p:nvSpPr>
        <p:spPr>
          <a:xfrm>
            <a:off x="243682" y="974429"/>
            <a:ext cx="6447501" cy="554334"/>
          </a:xfrm>
        </p:spPr>
        <p:txBody>
          <a:bodyPr/>
          <a:lstStyle/>
          <a:p>
            <a:r>
              <a:rPr lang="en-GB" dirty="0"/>
              <a:t>TERP</a:t>
            </a:r>
          </a:p>
        </p:txBody>
      </p:sp>
      <p:sp>
        <p:nvSpPr>
          <p:cNvPr id="3" name="Content Placeholder 2">
            <a:extLst>
              <a:ext uri="{FF2B5EF4-FFF2-40B4-BE49-F238E27FC236}">
                <a16:creationId xmlns:a16="http://schemas.microsoft.com/office/drawing/2014/main" id="{F47B1BFF-E060-A511-C31D-2ABB5C01D2EE}"/>
              </a:ext>
            </a:extLst>
          </p:cNvPr>
          <p:cNvSpPr>
            <a:spLocks noGrp="1"/>
          </p:cNvSpPr>
          <p:nvPr>
            <p:ph idx="1"/>
          </p:nvPr>
        </p:nvSpPr>
        <p:spPr>
          <a:xfrm>
            <a:off x="243682" y="1841898"/>
            <a:ext cx="6447501" cy="2910580"/>
          </a:xfrm>
        </p:spPr>
        <p:txBody>
          <a:bodyPr>
            <a:normAutofit/>
          </a:bodyPr>
          <a:lstStyle/>
          <a:p>
            <a:pPr>
              <a:buFont typeface="Wingdings" panose="05000000000000000000" pitchFamily="2" charset="2"/>
              <a:buChar char="Ø"/>
            </a:pPr>
            <a:r>
              <a:rPr lang="en-GB" sz="1500" dirty="0"/>
              <a:t>The TERP = price at which the shares are EXPECTED TO SETTLE at in a rational market, following the rights issue</a:t>
            </a:r>
          </a:p>
          <a:p>
            <a:pPr>
              <a:buFont typeface="Wingdings" panose="05000000000000000000" pitchFamily="2" charset="2"/>
              <a:buChar char="Ø"/>
            </a:pPr>
            <a:endParaRPr lang="en-GB" sz="1500" dirty="0"/>
          </a:p>
          <a:p>
            <a:pPr>
              <a:buFont typeface="Wingdings" panose="05000000000000000000" pitchFamily="2" charset="2"/>
              <a:buChar char="Ø"/>
            </a:pPr>
            <a:r>
              <a:rPr lang="en-GB" sz="1500" dirty="0"/>
              <a:t>Its just the weighted average of the pre rights share price and the price at which the new shares are issued</a:t>
            </a:r>
          </a:p>
          <a:p>
            <a:pPr>
              <a:buFont typeface="Wingdings" panose="05000000000000000000" pitchFamily="2" charset="2"/>
              <a:buChar char="Ø"/>
            </a:pPr>
            <a:endParaRPr lang="en-GB" sz="1500" dirty="0"/>
          </a:p>
          <a:p>
            <a:pPr>
              <a:buFont typeface="Wingdings" panose="05000000000000000000" pitchFamily="2" charset="2"/>
              <a:buChar char="Ø"/>
            </a:pPr>
            <a:r>
              <a:rPr lang="en-GB" sz="1500" dirty="0"/>
              <a:t>Its Theoretical and the actuals share price following the issue will depend on shareholders perception of the RI, the investors hope the actual share price rises above the TERP.</a:t>
            </a:r>
          </a:p>
        </p:txBody>
      </p:sp>
    </p:spTree>
    <p:extLst>
      <p:ext uri="{BB962C8B-B14F-4D97-AF65-F5344CB8AC3E}">
        <p14:creationId xmlns:p14="http://schemas.microsoft.com/office/powerpoint/2010/main" val="87988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CF601-781B-A124-8476-E7A7FBD3F5CE}"/>
              </a:ext>
            </a:extLst>
          </p:cNvPr>
          <p:cNvSpPr>
            <a:spLocks noGrp="1"/>
          </p:cNvSpPr>
          <p:nvPr>
            <p:ph type="title"/>
          </p:nvPr>
        </p:nvSpPr>
        <p:spPr>
          <a:xfrm>
            <a:off x="243682" y="974429"/>
            <a:ext cx="6447501" cy="554334"/>
          </a:xfrm>
        </p:spPr>
        <p:txBody>
          <a:bodyPr/>
          <a:lstStyle/>
          <a:p>
            <a:r>
              <a:rPr lang="en-GB" dirty="0"/>
              <a:t>Rights issue - Options</a:t>
            </a:r>
          </a:p>
        </p:txBody>
      </p:sp>
      <p:sp>
        <p:nvSpPr>
          <p:cNvPr id="3" name="Content Placeholder 2">
            <a:extLst>
              <a:ext uri="{FF2B5EF4-FFF2-40B4-BE49-F238E27FC236}">
                <a16:creationId xmlns:a16="http://schemas.microsoft.com/office/drawing/2014/main" id="{F47B1BFF-E060-A511-C31D-2ABB5C01D2EE}"/>
              </a:ext>
            </a:extLst>
          </p:cNvPr>
          <p:cNvSpPr>
            <a:spLocks noGrp="1"/>
          </p:cNvSpPr>
          <p:nvPr>
            <p:ph idx="1"/>
          </p:nvPr>
        </p:nvSpPr>
        <p:spPr>
          <a:xfrm>
            <a:off x="243681" y="1680991"/>
            <a:ext cx="7333573" cy="3826319"/>
          </a:xfrm>
        </p:spPr>
        <p:txBody>
          <a:bodyPr>
            <a:normAutofit fontScale="47500" lnSpcReduction="20000"/>
          </a:bodyPr>
          <a:lstStyle/>
          <a:p>
            <a:pPr marL="0" indent="0">
              <a:buNone/>
            </a:pPr>
            <a:r>
              <a:rPr lang="en-GB" dirty="0"/>
              <a:t>Calculate the impact on your wealth if you owned 5% of the shares before the RI, that is 100,000 shares worth £400,000.</a:t>
            </a:r>
          </a:p>
          <a:p>
            <a:pPr>
              <a:buFont typeface="Wingdings" panose="05000000000000000000" pitchFamily="2" charset="2"/>
              <a:buChar char="§"/>
            </a:pPr>
            <a:r>
              <a:rPr lang="en-GB" b="1" dirty="0"/>
              <a:t>Sales of the rights </a:t>
            </a:r>
          </a:p>
          <a:p>
            <a:pPr marL="600075" lvl="2" indent="0">
              <a:buNone/>
            </a:pPr>
            <a:r>
              <a:rPr lang="en-GB" dirty="0"/>
              <a:t>The value of the rights = TERP – Rights issue price = £3.80-£2.80= £1</a:t>
            </a:r>
          </a:p>
          <a:p>
            <a:pPr marL="600075" lvl="2" indent="0">
              <a:buNone/>
            </a:pPr>
            <a:r>
              <a:rPr lang="en-GB" dirty="0"/>
              <a:t>So an investor would be prepared to pay up to £1 to the current shareholder and £2.80 to the company, to buy the share. </a:t>
            </a:r>
          </a:p>
          <a:p>
            <a:pPr marL="600075" lvl="2" indent="0">
              <a:buNone/>
            </a:pPr>
            <a:r>
              <a:rPr lang="en-GB" dirty="0"/>
              <a:t>New value of wealth is 100,000 x £3.80 + 20,000 x £1 =£400,000</a:t>
            </a:r>
          </a:p>
          <a:p>
            <a:pPr marL="942975" lvl="3" indent="0">
              <a:buNone/>
            </a:pPr>
            <a:endParaRPr lang="en-GB" dirty="0"/>
          </a:p>
          <a:p>
            <a:pPr>
              <a:buFont typeface="Wingdings" panose="05000000000000000000" pitchFamily="2" charset="2"/>
              <a:buChar char="§"/>
            </a:pPr>
            <a:r>
              <a:rPr lang="en-GB" dirty="0"/>
              <a:t>Take up the rights </a:t>
            </a:r>
          </a:p>
          <a:p>
            <a:pPr marL="685800" lvl="2" indent="0">
              <a:buNone/>
            </a:pPr>
            <a:r>
              <a:rPr lang="en-GB" dirty="0"/>
              <a:t>Original wealth = 5% x 2m = 100,000 x £4 = £400,000</a:t>
            </a:r>
          </a:p>
          <a:p>
            <a:pPr marL="685800" lvl="2" indent="0">
              <a:buNone/>
            </a:pPr>
            <a:r>
              <a:rPr lang="en-GB" dirty="0"/>
              <a:t> After RI = 100,000 + 20,000 = 120,000 shares x £3.80 = £400,000</a:t>
            </a:r>
          </a:p>
          <a:p>
            <a:pPr marL="300038" indent="-214313">
              <a:buFont typeface="Wingdings" panose="05000000000000000000" pitchFamily="2" charset="2"/>
              <a:buChar char="§"/>
            </a:pPr>
            <a:endParaRPr lang="en-GB" dirty="0"/>
          </a:p>
          <a:p>
            <a:pPr marL="300038" indent="-214313">
              <a:buFont typeface="Wingdings" panose="05000000000000000000" pitchFamily="2" charset="2"/>
              <a:buChar char="§"/>
            </a:pPr>
            <a:r>
              <a:rPr lang="en-GB" dirty="0"/>
              <a:t>Allow to lapse</a:t>
            </a:r>
          </a:p>
          <a:p>
            <a:pPr marL="685800" lvl="2" indent="0">
              <a:buNone/>
            </a:pPr>
            <a:r>
              <a:rPr lang="en-GB" dirty="0"/>
              <a:t>100,000 x £3.80 = £380,000</a:t>
            </a:r>
          </a:p>
          <a:p>
            <a:pPr marL="1028700" lvl="3" indent="0">
              <a:buNone/>
            </a:pPr>
            <a:endParaRPr lang="en-GB" dirty="0"/>
          </a:p>
          <a:p>
            <a:pPr marL="1028700" lvl="3" indent="0">
              <a:buNone/>
            </a:pPr>
            <a:endParaRPr lang="en-GB" dirty="0"/>
          </a:p>
          <a:p>
            <a:pPr>
              <a:buFont typeface="Wingdings" panose="05000000000000000000" pitchFamily="2" charset="2"/>
              <a:buChar char="§"/>
            </a:pPr>
            <a:endParaRPr lang="en-GB" dirty="0"/>
          </a:p>
          <a:p>
            <a:pPr marL="0" indent="0">
              <a:buNone/>
            </a:pPr>
            <a:endParaRPr lang="en-GB" dirty="0"/>
          </a:p>
          <a:p>
            <a:endParaRPr lang="en-GB" dirty="0"/>
          </a:p>
        </p:txBody>
      </p:sp>
    </p:spTree>
    <p:extLst>
      <p:ext uri="{BB962C8B-B14F-4D97-AF65-F5344CB8AC3E}">
        <p14:creationId xmlns:p14="http://schemas.microsoft.com/office/powerpoint/2010/main" val="2664797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 calcmode="lin" valueType="num">
                                      <p:cBhvr additive="base">
                                        <p:cTn id="3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1000"/>
                                        <p:tgtEl>
                                          <p:spTgt spid="3">
                                            <p:txEl>
                                              <p:pRg st="7" end="7"/>
                                            </p:txEl>
                                          </p:spTgt>
                                        </p:tgtEl>
                                      </p:cBhvr>
                                    </p:animEffect>
                                    <p:anim calcmode="lin" valueType="num">
                                      <p:cBhvr>
                                        <p:cTn id="4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1000"/>
                                        <p:tgtEl>
                                          <p:spTgt spid="3">
                                            <p:txEl>
                                              <p:pRg st="8" end="8"/>
                                            </p:txEl>
                                          </p:spTgt>
                                        </p:tgtEl>
                                      </p:cBhvr>
                                    </p:animEffect>
                                    <p:anim calcmode="lin" valueType="num">
                                      <p:cBhvr>
                                        <p:cTn id="4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 calcmode="lin" valueType="num">
                                      <p:cBhvr additive="base">
                                        <p:cTn id="52"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Effect transition="in" filter="fade">
                                      <p:cBhvr>
                                        <p:cTn id="58" dur="1000"/>
                                        <p:tgtEl>
                                          <p:spTgt spid="3">
                                            <p:txEl>
                                              <p:pRg st="11" end="11"/>
                                            </p:txEl>
                                          </p:spTgt>
                                        </p:tgtEl>
                                      </p:cBhvr>
                                    </p:animEffect>
                                    <p:anim calcmode="lin" valueType="num">
                                      <p:cBhvr>
                                        <p:cTn id="59"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ECB42-762E-2B57-E3FC-CFCAB1679780}"/>
            </a:ext>
          </a:extLst>
        </p:cNvPr>
        <p:cNvGrpSpPr/>
        <p:nvPr/>
      </p:nvGrpSpPr>
      <p:grpSpPr>
        <a:xfrm>
          <a:off x="0" y="0"/>
          <a:ext cx="0" cy="0"/>
          <a:chOff x="0" y="0"/>
          <a:chExt cx="0" cy="0"/>
        </a:xfrm>
      </p:grpSpPr>
      <p:sp>
        <p:nvSpPr>
          <p:cNvPr id="13319" name="Title 1">
            <a:extLst>
              <a:ext uri="{FF2B5EF4-FFF2-40B4-BE49-F238E27FC236}">
                <a16:creationId xmlns:a16="http://schemas.microsoft.com/office/drawing/2014/main" id="{11A84ACF-B895-2F86-8DD1-355E38827746}"/>
              </a:ext>
            </a:extLst>
          </p:cNvPr>
          <p:cNvSpPr>
            <a:spLocks noGrp="1"/>
          </p:cNvSpPr>
          <p:nvPr>
            <p:ph type="title"/>
          </p:nvPr>
        </p:nvSpPr>
        <p:spPr>
          <a:xfrm>
            <a:off x="892515" y="1376773"/>
            <a:ext cx="7886700" cy="646548"/>
          </a:xfrm>
        </p:spPr>
        <p:txBody>
          <a:bodyPr/>
          <a:lstStyle/>
          <a:p>
            <a:pPr algn="l"/>
            <a:r>
              <a:rPr lang="en-US" dirty="0"/>
              <a:t>Learning Outcomes Covered</a:t>
            </a:r>
          </a:p>
        </p:txBody>
      </p:sp>
      <p:graphicFrame>
        <p:nvGraphicFramePr>
          <p:cNvPr id="13315" name="Text Placeholder 1">
            <a:extLst>
              <a:ext uri="{FF2B5EF4-FFF2-40B4-BE49-F238E27FC236}">
                <a16:creationId xmlns:a16="http://schemas.microsoft.com/office/drawing/2014/main" id="{5446AB20-B06B-7125-59CE-F969FEE33AD1}"/>
              </a:ext>
            </a:extLst>
          </p:cNvPr>
          <p:cNvGraphicFramePr/>
          <p:nvPr/>
        </p:nvGraphicFramePr>
        <p:xfrm>
          <a:off x="892515" y="2492896"/>
          <a:ext cx="7632848" cy="3403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7165653"/>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0632B-2FCE-B6ED-C419-427E610D5F4C}"/>
              </a:ext>
            </a:extLst>
          </p:cNvPr>
          <p:cNvSpPr>
            <a:spLocks noGrp="1"/>
          </p:cNvSpPr>
          <p:nvPr>
            <p:ph type="title"/>
          </p:nvPr>
        </p:nvSpPr>
        <p:spPr/>
        <p:txBody>
          <a:bodyPr/>
          <a:lstStyle/>
          <a:p>
            <a:pPr algn="l"/>
            <a:r>
              <a:rPr lang="en-GB" dirty="0"/>
              <a:t>Next Week</a:t>
            </a:r>
          </a:p>
        </p:txBody>
      </p:sp>
      <p:sp>
        <p:nvSpPr>
          <p:cNvPr id="3" name="Text Placeholder 2">
            <a:extLst>
              <a:ext uri="{FF2B5EF4-FFF2-40B4-BE49-F238E27FC236}">
                <a16:creationId xmlns:a16="http://schemas.microsoft.com/office/drawing/2014/main" id="{7393D38A-6D63-08BB-0FBC-2882D1231479}"/>
              </a:ext>
            </a:extLst>
          </p:cNvPr>
          <p:cNvSpPr>
            <a:spLocks noGrp="1"/>
          </p:cNvSpPr>
          <p:nvPr>
            <p:ph type="body" sz="quarter" idx="11"/>
          </p:nvPr>
        </p:nvSpPr>
        <p:spPr>
          <a:xfrm>
            <a:off x="899592" y="3317479"/>
            <a:ext cx="6515620" cy="994172"/>
          </a:xfrm>
        </p:spPr>
        <p:txBody>
          <a:bodyPr/>
          <a:lstStyle/>
          <a:p>
            <a:r>
              <a:rPr lang="en-GB" sz="2800" dirty="0">
                <a:latin typeface="Segoe Sans"/>
              </a:rPr>
              <a:t>WINTER BREAK</a:t>
            </a:r>
          </a:p>
        </p:txBody>
      </p:sp>
    </p:spTree>
    <p:extLst>
      <p:ext uri="{BB962C8B-B14F-4D97-AF65-F5344CB8AC3E}">
        <p14:creationId xmlns:p14="http://schemas.microsoft.com/office/powerpoint/2010/main" val="1668558411"/>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 template sky standard" id="{FAFD7E7B-6604-474F-B2AC-65277B75DAFC}" vid="{767162DD-F454-4E7C-BE43-B759DEAC2942}"/>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 template sky standard" id="{FAFD7E7B-6604-474F-B2AC-65277B75DAFC}" vid="{767162DD-F454-4E7C-BE43-B759DEAC2942}"/>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2FC3F4283AECA48BCBDDFCF4103160C" ma:contentTypeVersion="2" ma:contentTypeDescription="Create a new document." ma:contentTypeScope="" ma:versionID="71a29f68b18f52e7e0b329625759c092">
  <xsd:schema xmlns:xsd="http://www.w3.org/2001/XMLSchema" xmlns:xs="http://www.w3.org/2001/XMLSchema" xmlns:p="http://schemas.microsoft.com/office/2006/metadata/properties" xmlns:ns2="037ba92a-5764-4297-b5f7-6ea117412624" xmlns:ns3="3a4ab234-afbc-41ab-b2db-358d80304e46" targetNamespace="http://schemas.microsoft.com/office/2006/metadata/properties" ma:root="true" ma:fieldsID="a458c3587d291faf4ca1653387720a89" ns2:_="" ns3:_="">
    <xsd:import namespace="037ba92a-5764-4297-b5f7-6ea117412624"/>
    <xsd:import namespace="3a4ab234-afbc-41ab-b2db-358d80304e46"/>
    <xsd:element name="properties">
      <xsd:complexType>
        <xsd:sequence>
          <xsd:element name="documentManagement">
            <xsd:complexType>
              <xsd:all>
                <xsd:element ref="ns2:_dlc_DocId" minOccurs="0"/>
                <xsd:element ref="ns2:_dlc_DocIdUrl" minOccurs="0"/>
                <xsd:element ref="ns2:_dlc_DocIdPersistId" minOccurs="0"/>
                <xsd:element ref="ns3:Document_x0020_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7ba92a-5764-4297-b5f7-6ea11741262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3a4ab234-afbc-41ab-b2db-358d80304e46" elementFormDefault="qualified">
    <xsd:import namespace="http://schemas.microsoft.com/office/2006/documentManagement/types"/>
    <xsd:import namespace="http://schemas.microsoft.com/office/infopath/2007/PartnerControls"/>
    <xsd:element name="Document_x0020_Type" ma:index="11" nillable="true" ma:displayName="Document Type" ma:default="Main Issue" ma:description="Specify type of document to help with filtered views" ma:format="Dropdown" ma:internalName="Document_x0020_Type">
      <xsd:simpleType>
        <xsd:restriction base="dms:Choice">
          <xsd:enumeration value="Main Issue"/>
          <xsd:enumeration value="Supporting"/>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ocument_x0020_Type xmlns="3a4ab234-afbc-41ab-b2db-358d80304e46">Main Issue</Document_x0020_Type>
    <_dlc_DocId xmlns="037ba92a-5764-4297-b5f7-6ea117412624">NAYYJSKVSPAS-2-1608</_dlc_DocId>
    <_dlc_DocIdUrl xmlns="037ba92a-5764-4297-b5f7-6ea117412624">
      <Url>https://docs.uwe.ac.uk/ou/Communications/_layouts/15/DocIdRedir.aspx?ID=NAYYJSKVSPAS-2-1608</Url>
      <Description>NAYYJSKVSPAS-2-1608</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8277BB-DC5E-47BA-8CA9-13DFAB3B24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37ba92a-5764-4297-b5f7-6ea117412624"/>
    <ds:schemaRef ds:uri="3a4ab234-afbc-41ab-b2db-358d80304e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D2D201-97C8-4E70-BF77-76D11DC8600F}">
  <ds:schemaRefs>
    <ds:schemaRef ds:uri="037ba92a-5764-4297-b5f7-6ea117412624"/>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http://purl.org/dc/terms/"/>
    <ds:schemaRef ds:uri="http://schemas.microsoft.com/office/2006/metadata/properties"/>
    <ds:schemaRef ds:uri="3a4ab234-afbc-41ab-b2db-358d80304e46"/>
    <ds:schemaRef ds:uri="http://www.w3.org/XML/1998/namespace"/>
    <ds:schemaRef ds:uri="http://purl.org/dc/elements/1.1/"/>
  </ds:schemaRefs>
</ds:datastoreItem>
</file>

<file path=customXml/itemProps3.xml><?xml version="1.0" encoding="utf-8"?>
<ds:datastoreItem xmlns:ds="http://schemas.openxmlformats.org/officeDocument/2006/customXml" ds:itemID="{1F364826-19C1-4551-92C2-A6C074B09DC4}">
  <ds:schemaRefs>
    <ds:schemaRef ds:uri="http://schemas.microsoft.com/sharepoint/events"/>
  </ds:schemaRefs>
</ds:datastoreItem>
</file>

<file path=customXml/itemProps4.xml><?xml version="1.0" encoding="utf-8"?>
<ds:datastoreItem xmlns:ds="http://schemas.openxmlformats.org/officeDocument/2006/customXml" ds:itemID="{AC5552B4-89B5-4F8D-B1E4-E0A34EA58D5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Equity Lecture</Template>
  <TotalTime>5519</TotalTime>
  <Words>3008</Words>
  <Application>Microsoft Office PowerPoint</Application>
  <PresentationFormat>On-screen Show (4:3)</PresentationFormat>
  <Paragraphs>369</Paragraphs>
  <Slides>25</Slides>
  <Notes>21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25</vt:i4>
      </vt:variant>
    </vt:vector>
  </HeadingPairs>
  <TitlesOfParts>
    <vt:vector size="34" baseType="lpstr">
      <vt:lpstr>Arial</vt:lpstr>
      <vt:lpstr>Calibri</vt:lpstr>
      <vt:lpstr>Cambria Math</vt:lpstr>
      <vt:lpstr>Courier New</vt:lpstr>
      <vt:lpstr>Segoe Sans</vt:lpstr>
      <vt:lpstr>Tahoma</vt:lpstr>
      <vt:lpstr>Wingdings</vt:lpstr>
      <vt:lpstr>Custom Design</vt:lpstr>
      <vt:lpstr>1_Custom Design</vt:lpstr>
      <vt:lpstr>UMET9G-30-1  Accounting &amp; Finance for Decision Making  Capital Structure - Equity</vt:lpstr>
      <vt:lpstr>Recap</vt:lpstr>
      <vt:lpstr>Learning Outcomes</vt:lpstr>
      <vt:lpstr>Recap: Capital Structure – Long-Term Financing</vt:lpstr>
      <vt:lpstr>Recap: Capital Structure: Equity vs Debt</vt:lpstr>
      <vt:lpstr>Types of Equity Finance</vt:lpstr>
      <vt:lpstr>Main Types of Share</vt:lpstr>
      <vt:lpstr>Equity Value</vt:lpstr>
      <vt:lpstr>Share Cash Flows</vt:lpstr>
      <vt:lpstr>Share Price – Dividends Signalling</vt:lpstr>
      <vt:lpstr>Share Price – Gordon Model</vt:lpstr>
      <vt:lpstr>Share Price</vt:lpstr>
      <vt:lpstr>Share Value – Constant D</vt:lpstr>
      <vt:lpstr>Share Value – Constant D</vt:lpstr>
      <vt:lpstr>Share Value – Constant Growth g</vt:lpstr>
      <vt:lpstr>Share Value – Constant Growth g</vt:lpstr>
      <vt:lpstr>Share Value – Non-Constant Growth</vt:lpstr>
      <vt:lpstr>Share Value – Non-Constant Growth</vt:lpstr>
      <vt:lpstr>Share Value – Non-Constant Growth</vt:lpstr>
      <vt:lpstr>Rights Issue</vt:lpstr>
      <vt:lpstr>Rights Issue - Example</vt:lpstr>
      <vt:lpstr>TERP</vt:lpstr>
      <vt:lpstr>Rights issue - Options</vt:lpstr>
      <vt:lpstr>Learning Outcomes Covered</vt:lpstr>
      <vt:lpstr>Next Week</vt:lpstr>
    </vt:vector>
  </TitlesOfParts>
  <Company>UWE Bristol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Capital Structure – Equity </dc:title>
  <dc:creator>Demelza Pilgrim</dc:creator>
  <cp:lastModifiedBy>Demelza Pilgrim</cp:lastModifiedBy>
  <cp:revision>1</cp:revision>
  <cp:lastPrinted>2016-09-22T10:08:48Z</cp:lastPrinted>
  <dcterms:created xsi:type="dcterms:W3CDTF">2023-10-28T19:28:59Z</dcterms:created>
  <dcterms:modified xsi:type="dcterms:W3CDTF">2025-08-20T16:00:39Z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0x01010072FC3F4283AECA48BCBDDFCF4103160C</vt:lpwstr>
  </property>
  <property fmtid="{D5CDD505-2E9C-101B-9397-08002B2CF9AE}" pid="3" name="xd_Signature">
    <vt:bool>false</vt:bool>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dlc_DocIdItemGuid">
    <vt:lpwstr>0beaf668-18bc-407e-89e0-ef66d74dcf56</vt:lpwstr>
  </property>
</Properties>
</file>