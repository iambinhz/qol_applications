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30"/>
  </p:notesMasterIdLst>
  <p:handoutMasterIdLst>
    <p:handoutMasterId r:id="rId31"/>
  </p:handoutMasterIdLst>
  <p:sldIdLst>
    <p:sldId id="256" r:id="rId5"/>
    <p:sldId id="287" r:id="rId6"/>
    <p:sldId id="535" r:id="rId7"/>
    <p:sldId id="534" r:id="rId8"/>
    <p:sldId id="524" r:id="rId9"/>
    <p:sldId id="270" r:id="rId10"/>
    <p:sldId id="271" r:id="rId11"/>
    <p:sldId id="272" r:id="rId12"/>
    <p:sldId id="499" r:id="rId13"/>
    <p:sldId id="527" r:id="rId14"/>
    <p:sldId id="472" r:id="rId15"/>
    <p:sldId id="503" r:id="rId16"/>
    <p:sldId id="505" r:id="rId17"/>
    <p:sldId id="506" r:id="rId18"/>
    <p:sldId id="508" r:id="rId19"/>
    <p:sldId id="512" r:id="rId20"/>
    <p:sldId id="514" r:id="rId21"/>
    <p:sldId id="515" r:id="rId22"/>
    <p:sldId id="518" r:id="rId23"/>
    <p:sldId id="528" r:id="rId24"/>
    <p:sldId id="530" r:id="rId25"/>
    <p:sldId id="533" r:id="rId26"/>
    <p:sldId id="531" r:id="rId27"/>
    <p:sldId id="536" r:id="rId28"/>
    <p:sldId id="462" r:id="rId29"/>
  </p:sldIdLst>
  <p:sldSz cx="9144000" cy="6858000" type="screen4x3"/>
  <p:notesSz cx="6669088" cy="9926638"/>
  <p:custDataLst>
    <p:tags r:id="rId32"/>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Untitled Section" id="{4284EADD-FE41-494D-A42C-2B60CCFC2DE6}">
          <p14:sldIdLst>
            <p14:sldId id="256"/>
            <p14:sldId id="287"/>
            <p14:sldId id="535"/>
            <p14:sldId id="534"/>
            <p14:sldId id="524"/>
            <p14:sldId id="270"/>
            <p14:sldId id="271"/>
            <p14:sldId id="272"/>
            <p14:sldId id="499"/>
            <p14:sldId id="527"/>
            <p14:sldId id="472"/>
            <p14:sldId id="503"/>
            <p14:sldId id="505"/>
            <p14:sldId id="506"/>
            <p14:sldId id="508"/>
            <p14:sldId id="512"/>
            <p14:sldId id="514"/>
            <p14:sldId id="515"/>
            <p14:sldId id="518"/>
            <p14:sldId id="528"/>
            <p14:sldId id="530"/>
            <p14:sldId id="533"/>
            <p14:sldId id="531"/>
            <p14:sldId id="536"/>
            <p14:sldId id="462"/>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99DAC"/>
    <a:srgbClr val="1A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65A72B-AD90-49DA-8690-9DE932BF3705}" v="178" dt="2025-08-14T15:43:55.5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418"/>
  </p:normalViewPr>
  <p:slideViewPr>
    <p:cSldViewPr showGuides="1">
      <p:cViewPr varScale="1">
        <p:scale>
          <a:sx n="80" d="100"/>
          <a:sy n="80" d="100"/>
        </p:scale>
        <p:origin x="96" y="426"/>
      </p:cViewPr>
      <p:guideLst>
        <p:guide orient="horz" pos="3838"/>
        <p:guide pos="2880"/>
        <p:guide pos="5103"/>
        <p:guide pos="657"/>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183" d="100"/>
          <a:sy n="183" d="100"/>
        </p:scale>
        <p:origin x="208" y="3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lza Pilgrim" userId="9b1f39d4-236b-4377-9a8d-dccbd2a774dd" providerId="ADAL" clId="{08B0B65E-BB13-4F26-9FC8-A5E12D3C7C8C}"/>
    <pc:docChg chg="modSld">
      <pc:chgData name="Demelza Pilgrim" userId="9b1f39d4-236b-4377-9a8d-dccbd2a774dd" providerId="ADAL" clId="{08B0B65E-BB13-4F26-9FC8-A5E12D3C7C8C}" dt="2024-10-17T12:34:50.185" v="0" actId="6549"/>
      <pc:docMkLst>
        <pc:docMk/>
      </pc:docMkLst>
      <pc:sldChg chg="modSp">
        <pc:chgData name="Demelza Pilgrim" userId="9b1f39d4-236b-4377-9a8d-dccbd2a774dd" providerId="ADAL" clId="{08B0B65E-BB13-4F26-9FC8-A5E12D3C7C8C}" dt="2024-10-17T12:34:50.185" v="0" actId="6549"/>
        <pc:sldMkLst>
          <pc:docMk/>
          <pc:sldMk cId="965057282" sldId="270"/>
        </pc:sldMkLst>
      </pc:sldChg>
    </pc:docChg>
  </pc:docChgLst>
  <pc:docChgLst>
    <pc:chgData name="Demelza Pilgrim" userId="9b1f39d4-236b-4377-9a8d-dccbd2a774dd" providerId="ADAL" clId="{FD65A72B-AD90-49DA-8690-9DE932BF3705}"/>
    <pc:docChg chg="undo custSel addSld delSld modSld modSection">
      <pc:chgData name="Demelza Pilgrim" userId="9b1f39d4-236b-4377-9a8d-dccbd2a774dd" providerId="ADAL" clId="{FD65A72B-AD90-49DA-8690-9DE932BF3705}" dt="2025-08-14T15:44:18.787" v="354" actId="20577"/>
      <pc:docMkLst>
        <pc:docMk/>
      </pc:docMkLst>
      <pc:sldChg chg="addSp delSp modSp mod">
        <pc:chgData name="Demelza Pilgrim" userId="9b1f39d4-236b-4377-9a8d-dccbd2a774dd" providerId="ADAL" clId="{FD65A72B-AD90-49DA-8690-9DE932BF3705}" dt="2025-08-14T15:32:28.390" v="8" actId="22"/>
        <pc:sldMkLst>
          <pc:docMk/>
          <pc:sldMk cId="3228679702" sldId="256"/>
        </pc:sldMkLst>
        <pc:spChg chg="mod">
          <ac:chgData name="Demelza Pilgrim" userId="9b1f39d4-236b-4377-9a8d-dccbd2a774dd" providerId="ADAL" clId="{FD65A72B-AD90-49DA-8690-9DE932BF3705}" dt="2025-08-14T15:32:09.573" v="4" actId="20577"/>
          <ac:spMkLst>
            <pc:docMk/>
            <pc:sldMk cId="3228679702" sldId="256"/>
            <ac:spMk id="2" creationId="{8584D975-E46C-4FBD-9BFF-3391E890B713}"/>
          </ac:spMkLst>
        </pc:spChg>
        <pc:spChg chg="mod">
          <ac:chgData name="Demelza Pilgrim" userId="9b1f39d4-236b-4377-9a8d-dccbd2a774dd" providerId="ADAL" clId="{FD65A72B-AD90-49DA-8690-9DE932BF3705}" dt="2025-08-14T15:32:14.182" v="5" actId="6549"/>
          <ac:spMkLst>
            <pc:docMk/>
            <pc:sldMk cId="3228679702" sldId="256"/>
            <ac:spMk id="4" creationId="{26DD503E-D58C-4CF4-9AF1-A463BA5351B5}"/>
          </ac:spMkLst>
        </pc:spChg>
        <pc:spChg chg="mod">
          <ac:chgData name="Demelza Pilgrim" userId="9b1f39d4-236b-4377-9a8d-dccbd2a774dd" providerId="ADAL" clId="{FD65A72B-AD90-49DA-8690-9DE932BF3705}" dt="2025-08-14T15:32:18.307" v="6" actId="6549"/>
          <ac:spMkLst>
            <pc:docMk/>
            <pc:sldMk cId="3228679702" sldId="256"/>
            <ac:spMk id="6" creationId="{D54F8BEE-7710-42A4-AA6A-772F79F04529}"/>
          </ac:spMkLst>
        </pc:spChg>
        <pc:spChg chg="add del">
          <ac:chgData name="Demelza Pilgrim" userId="9b1f39d4-236b-4377-9a8d-dccbd2a774dd" providerId="ADAL" clId="{FD65A72B-AD90-49DA-8690-9DE932BF3705}" dt="2025-08-14T15:32:28.390" v="8" actId="22"/>
          <ac:spMkLst>
            <pc:docMk/>
            <pc:sldMk cId="3228679702" sldId="256"/>
            <ac:spMk id="8" creationId="{A1E5FF72-590F-2591-A6B3-71033CB411F1}"/>
          </ac:spMkLst>
        </pc:spChg>
      </pc:sldChg>
      <pc:sldChg chg="del">
        <pc:chgData name="Demelza Pilgrim" userId="9b1f39d4-236b-4377-9a8d-dccbd2a774dd" providerId="ADAL" clId="{FD65A72B-AD90-49DA-8690-9DE932BF3705}" dt="2025-08-14T15:40:38.435" v="144" actId="47"/>
        <pc:sldMkLst>
          <pc:docMk/>
          <pc:sldMk cId="1719998758" sldId="258"/>
        </pc:sldMkLst>
      </pc:sldChg>
      <pc:sldChg chg="modSp add mod">
        <pc:chgData name="Demelza Pilgrim" userId="9b1f39d4-236b-4377-9a8d-dccbd2a774dd" providerId="ADAL" clId="{FD65A72B-AD90-49DA-8690-9DE932BF3705}" dt="2025-08-14T15:40:07.808" v="140" actId="20577"/>
        <pc:sldMkLst>
          <pc:docMk/>
          <pc:sldMk cId="591890035" sldId="287"/>
        </pc:sldMkLst>
        <pc:spChg chg="mod">
          <ac:chgData name="Demelza Pilgrim" userId="9b1f39d4-236b-4377-9a8d-dccbd2a774dd" providerId="ADAL" clId="{FD65A72B-AD90-49DA-8690-9DE932BF3705}" dt="2025-08-14T15:40:07.808" v="140" actId="20577"/>
          <ac:spMkLst>
            <pc:docMk/>
            <pc:sldMk cId="591890035" sldId="287"/>
            <ac:spMk id="3" creationId="{FF9B3823-0605-807A-5635-4865E10F2BE4}"/>
          </ac:spMkLst>
        </pc:spChg>
      </pc:sldChg>
      <pc:sldChg chg="modSp add mod">
        <pc:chgData name="Demelza Pilgrim" userId="9b1f39d4-236b-4377-9a8d-dccbd2a774dd" providerId="ADAL" clId="{FD65A72B-AD90-49DA-8690-9DE932BF3705}" dt="2025-08-14T15:44:18.787" v="354" actId="20577"/>
        <pc:sldMkLst>
          <pc:docMk/>
          <pc:sldMk cId="1668558411" sldId="462"/>
        </pc:sldMkLst>
        <pc:spChg chg="mod">
          <ac:chgData name="Demelza Pilgrim" userId="9b1f39d4-236b-4377-9a8d-dccbd2a774dd" providerId="ADAL" clId="{FD65A72B-AD90-49DA-8690-9DE932BF3705}" dt="2025-08-14T15:44:18.787" v="354" actId="20577"/>
          <ac:spMkLst>
            <pc:docMk/>
            <pc:sldMk cId="1668558411" sldId="462"/>
            <ac:spMk id="3" creationId="{7393D38A-6D63-08BB-0FBC-2882D1231479}"/>
          </ac:spMkLst>
        </pc:spChg>
      </pc:sldChg>
      <pc:sldChg chg="modSp mod">
        <pc:chgData name="Demelza Pilgrim" userId="9b1f39d4-236b-4377-9a8d-dccbd2a774dd" providerId="ADAL" clId="{FD65A72B-AD90-49DA-8690-9DE932BF3705}" dt="2025-08-14T15:32:07.629" v="2" actId="27636"/>
        <pc:sldMkLst>
          <pc:docMk/>
          <pc:sldMk cId="1268492068" sldId="524"/>
        </pc:sldMkLst>
        <pc:spChg chg="mod">
          <ac:chgData name="Demelza Pilgrim" userId="9b1f39d4-236b-4377-9a8d-dccbd2a774dd" providerId="ADAL" clId="{FD65A72B-AD90-49DA-8690-9DE932BF3705}" dt="2025-08-14T15:32:07.629" v="2" actId="27636"/>
          <ac:spMkLst>
            <pc:docMk/>
            <pc:sldMk cId="1268492068" sldId="524"/>
            <ac:spMk id="4" creationId="{9C1BEA48-5988-1868-8C99-544570DFE959}"/>
          </ac:spMkLst>
        </pc:spChg>
      </pc:sldChg>
      <pc:sldChg chg="del">
        <pc:chgData name="Demelza Pilgrim" userId="9b1f39d4-236b-4377-9a8d-dccbd2a774dd" providerId="ADAL" clId="{FD65A72B-AD90-49DA-8690-9DE932BF3705}" dt="2025-08-14T15:43:47.147" v="330" actId="47"/>
        <pc:sldMkLst>
          <pc:docMk/>
          <pc:sldMk cId="3523664881" sldId="529"/>
        </pc:sldMkLst>
      </pc:sldChg>
      <pc:sldChg chg="modSp mod">
        <pc:chgData name="Demelza Pilgrim" userId="9b1f39d4-236b-4377-9a8d-dccbd2a774dd" providerId="ADAL" clId="{FD65A72B-AD90-49DA-8690-9DE932BF3705}" dt="2025-08-14T15:43:12.105" v="320" actId="1076"/>
        <pc:sldMkLst>
          <pc:docMk/>
          <pc:sldMk cId="4033833479" sldId="531"/>
        </pc:sldMkLst>
        <pc:spChg chg="mod">
          <ac:chgData name="Demelza Pilgrim" userId="9b1f39d4-236b-4377-9a8d-dccbd2a774dd" providerId="ADAL" clId="{FD65A72B-AD90-49DA-8690-9DE932BF3705}" dt="2025-08-14T15:42:58.008" v="317" actId="14100"/>
          <ac:spMkLst>
            <pc:docMk/>
            <pc:sldMk cId="4033833479" sldId="531"/>
            <ac:spMk id="2" creationId="{14973F81-771C-50E8-D104-86447797FAB6}"/>
          </ac:spMkLst>
        </pc:spChg>
        <pc:spChg chg="mod">
          <ac:chgData name="Demelza Pilgrim" userId="9b1f39d4-236b-4377-9a8d-dccbd2a774dd" providerId="ADAL" clId="{FD65A72B-AD90-49DA-8690-9DE932BF3705}" dt="2025-08-14T15:43:01.814" v="318" actId="14100"/>
          <ac:spMkLst>
            <pc:docMk/>
            <pc:sldMk cId="4033833479" sldId="531"/>
            <ac:spMk id="5" creationId="{93256616-C448-0DFE-F2A2-5A3C3A1E2B99}"/>
          </ac:spMkLst>
        </pc:spChg>
        <pc:spChg chg="mod">
          <ac:chgData name="Demelza Pilgrim" userId="9b1f39d4-236b-4377-9a8d-dccbd2a774dd" providerId="ADAL" clId="{FD65A72B-AD90-49DA-8690-9DE932BF3705}" dt="2025-08-14T15:43:06.884" v="319" actId="1076"/>
          <ac:spMkLst>
            <pc:docMk/>
            <pc:sldMk cId="4033833479" sldId="531"/>
            <ac:spMk id="6" creationId="{B3159C9E-4B25-50F8-1F40-70EB91D76E19}"/>
          </ac:spMkLst>
        </pc:spChg>
        <pc:spChg chg="mod">
          <ac:chgData name="Demelza Pilgrim" userId="9b1f39d4-236b-4377-9a8d-dccbd2a774dd" providerId="ADAL" clId="{FD65A72B-AD90-49DA-8690-9DE932BF3705}" dt="2025-08-14T15:43:12.105" v="320" actId="1076"/>
          <ac:spMkLst>
            <pc:docMk/>
            <pc:sldMk cId="4033833479" sldId="531"/>
            <ac:spMk id="7" creationId="{614777C8-E514-7DC9-785E-412DE4A02D4A}"/>
          </ac:spMkLst>
        </pc:spChg>
      </pc:sldChg>
      <pc:sldChg chg="modSp add mod modNotesTx">
        <pc:chgData name="Demelza Pilgrim" userId="9b1f39d4-236b-4377-9a8d-dccbd2a774dd" providerId="ADAL" clId="{FD65A72B-AD90-49DA-8690-9DE932BF3705}" dt="2025-08-14T15:42:35.973" v="316" actId="6549"/>
        <pc:sldMkLst>
          <pc:docMk/>
          <pc:sldMk cId="0" sldId="535"/>
        </pc:sldMkLst>
        <pc:spChg chg="mod">
          <ac:chgData name="Demelza Pilgrim" userId="9b1f39d4-236b-4377-9a8d-dccbd2a774dd" providerId="ADAL" clId="{FD65A72B-AD90-49DA-8690-9DE932BF3705}" dt="2025-08-14T15:40:23.058" v="142" actId="27636"/>
          <ac:spMkLst>
            <pc:docMk/>
            <pc:sldMk cId="0" sldId="535"/>
            <ac:spMk id="13319" creationId="{B54CC29E-BA68-10E6-2F39-FA1EBE0C99F6}"/>
          </ac:spMkLst>
        </pc:spChg>
        <pc:graphicFrameChg chg="mod">
          <ac:chgData name="Demelza Pilgrim" userId="9b1f39d4-236b-4377-9a8d-dccbd2a774dd" providerId="ADAL" clId="{FD65A72B-AD90-49DA-8690-9DE932BF3705}" dt="2025-08-14T15:42:32.971" v="315"/>
          <ac:graphicFrameMkLst>
            <pc:docMk/>
            <pc:sldMk cId="0" sldId="535"/>
            <ac:graphicFrameMk id="13315" creationId="{C2855CC1-6974-FD0F-632A-C97A1652BB10}"/>
          </ac:graphicFrameMkLst>
        </pc:graphicFrameChg>
      </pc:sldChg>
      <pc:sldChg chg="modSp add mod">
        <pc:chgData name="Demelza Pilgrim" userId="9b1f39d4-236b-4377-9a8d-dccbd2a774dd" providerId="ADAL" clId="{FD65A72B-AD90-49DA-8690-9DE932BF3705}" dt="2025-08-14T15:43:35.040" v="329" actId="20577"/>
        <pc:sldMkLst>
          <pc:docMk/>
          <pc:sldMk cId="482322773" sldId="536"/>
        </pc:sldMkLst>
        <pc:spChg chg="mod">
          <ac:chgData name="Demelza Pilgrim" userId="9b1f39d4-236b-4377-9a8d-dccbd2a774dd" providerId="ADAL" clId="{FD65A72B-AD90-49DA-8690-9DE932BF3705}" dt="2025-08-14T15:43:35.040" v="329" actId="20577"/>
          <ac:spMkLst>
            <pc:docMk/>
            <pc:sldMk cId="482322773" sldId="536"/>
            <ac:spMk id="13319" creationId="{CDD80918-1CA0-1AD9-1745-E25D304ABF83}"/>
          </ac:spMkLst>
        </pc:spChg>
      </pc:sldChg>
    </pc:docChg>
  </pc:docChgLst>
  <pc:docChgLst>
    <pc:chgData name="Demelza Pilgrim" userId="9b1f39d4-236b-4377-9a8d-dccbd2a774dd" providerId="ADAL" clId="{26395C02-16CD-4D7E-87C3-990190C04505}"/>
    <pc:docChg chg="modSld modNotesMaster modHandout">
      <pc:chgData name="Demelza Pilgrim" userId="9b1f39d4-236b-4377-9a8d-dccbd2a774dd" providerId="ADAL" clId="{26395C02-16CD-4D7E-87C3-990190C04505}" dt="2024-10-03T08:12:08.699" v="5"/>
      <pc:docMkLst>
        <pc:docMk/>
      </pc:docMkLst>
      <pc:sldChg chg="modSp modAnim">
        <pc:chgData name="Demelza Pilgrim" userId="9b1f39d4-236b-4377-9a8d-dccbd2a774dd" providerId="ADAL" clId="{26395C02-16CD-4D7E-87C3-990190C04505}" dt="2024-10-01T13:47:37.502" v="3" actId="20577"/>
        <pc:sldMkLst>
          <pc:docMk/>
          <pc:sldMk cId="3523664881" sldId="52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kern="1200" dirty="0">
              <a:solidFill>
                <a:prstClr val="black">
                  <a:hueOff val="0"/>
                  <a:satOff val="0"/>
                  <a:lumOff val="0"/>
                  <a:alphaOff val="0"/>
                </a:prstClr>
              </a:solidFill>
              <a:latin typeface="Calibri Light" panose="020F0302020204030204"/>
              <a:ea typeface="+mn-ea"/>
              <a:cs typeface="+mn-cs"/>
            </a:rPr>
            <a:t>Calculations surrounding multiple cashflows</a:t>
          </a:r>
          <a:endParaRPr lang="en-GB" sz="1600" kern="1200" dirty="0">
            <a:latin typeface="Arial" panose="020B0604020202020204" pitchFamily="34" charset="0"/>
            <a:cs typeface="Arial" panose="020B0604020202020204" pitchFamily="34" charset="0"/>
          </a:endParaRPr>
        </a:p>
        <a:p>
          <a:pPr>
            <a:lnSpc>
              <a:spcPct val="100000"/>
            </a:lnSpc>
          </a:pPr>
          <a:endParaRPr lang="en-US" sz="1600" kern="12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t>Calculations for growing annuities and perpetuities</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Calculations for annuities and perpetuities</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4810" custLinFactNeighborY="59275"/>
      <dgm:spPr/>
    </dgm:pt>
    <dgm:pt modelId="{20AA3712-49CF-4236-AB50-E8F4285D1C0B}" type="pres">
      <dgm:prSet presAssocID="{0B7FDDFD-655F-4966-93A7-ACED2D6758D8}" presName="iconRect" presStyleLbl="node1" presStyleIdx="3" presStyleCnt="4" custLinFactNeighborX="-139" custLinFactNeighborY="-366"/>
      <dgm:spPr/>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kern="1200" dirty="0">
              <a:solidFill>
                <a:prstClr val="black">
                  <a:hueOff val="0"/>
                  <a:satOff val="0"/>
                  <a:lumOff val="0"/>
                  <a:alphaOff val="0"/>
                </a:prstClr>
              </a:solidFill>
              <a:latin typeface="Calibri Light" panose="020F0302020204030204"/>
              <a:ea typeface="+mn-ea"/>
              <a:cs typeface="+mn-cs"/>
            </a:rPr>
            <a:t>Calculations surrounding multiple cashflows</a:t>
          </a:r>
          <a:endParaRPr lang="en-GB" sz="1600" kern="1200" dirty="0">
            <a:latin typeface="Arial" panose="020B0604020202020204" pitchFamily="34" charset="0"/>
            <a:cs typeface="Arial" panose="020B0604020202020204" pitchFamily="34" charset="0"/>
          </a:endParaRPr>
        </a:p>
        <a:p>
          <a:pPr>
            <a:lnSpc>
              <a:spcPct val="100000"/>
            </a:lnSpc>
          </a:pPr>
          <a:endParaRPr lang="en-US" sz="1600" kern="12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t>Calculations for growing annuities and perpetuities</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Calculations for annuities and perpetuities</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4810" custLinFactNeighborY="59275"/>
      <dgm:spPr/>
    </dgm:pt>
    <dgm:pt modelId="{20AA3712-49CF-4236-AB50-E8F4285D1C0B}" type="pres">
      <dgm:prSet presAssocID="{0B7FDDFD-655F-4966-93A7-ACED2D6758D8}" presName="iconRect" presStyleLbl="node1" presStyleIdx="3" presStyleCnt="4" custLinFactNeighborX="-139" custLinFactNeighborY="-366"/>
      <dgm:spPr/>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3073"/>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09804" y="159126"/>
          <a:ext cx="381835" cy="38146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01444" y="148853"/>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711200">
            <a:lnSpc>
              <a:spcPct val="100000"/>
            </a:lnSpc>
            <a:spcBef>
              <a:spcPct val="0"/>
            </a:spcBef>
            <a:spcAft>
              <a:spcPct val="35000"/>
            </a:spcAft>
            <a:buNone/>
          </a:pPr>
          <a:r>
            <a:rPr lang="en-GB" sz="1600" kern="1200" dirty="0">
              <a:solidFill>
                <a:prstClr val="black">
                  <a:hueOff val="0"/>
                  <a:satOff val="0"/>
                  <a:lumOff val="0"/>
                  <a:alphaOff val="0"/>
                </a:prstClr>
              </a:solidFill>
              <a:latin typeface="Calibri Light" panose="020F0302020204030204"/>
              <a:ea typeface="+mn-ea"/>
              <a:cs typeface="+mn-cs"/>
            </a:rPr>
            <a:t>Calculations surrounding multiple cashflows</a:t>
          </a:r>
          <a:endParaRPr lang="en-GB" sz="160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01444" y="148853"/>
        <a:ext cx="6819061" cy="715242"/>
      </dsp:txXfrm>
    </dsp:sp>
    <dsp:sp modelId="{61B30C71-B6B1-4EDB-8941-25699A6AA799}">
      <dsp:nvSpPr>
        <dsp:cNvPr id="0" name=""/>
        <dsp:cNvSpPr/>
      </dsp:nvSpPr>
      <dsp:spPr>
        <a:xfrm>
          <a:off x="0" y="897126"/>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09804" y="1053179"/>
          <a:ext cx="381835" cy="3814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70008" y="869052"/>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for annuities and perpetuities</a:t>
          </a:r>
          <a:endParaRPr lang="en-US" sz="1600" kern="1200" dirty="0">
            <a:solidFill>
              <a:prstClr val="black">
                <a:hueOff val="0"/>
                <a:satOff val="0"/>
                <a:lumOff val="0"/>
                <a:alphaOff val="0"/>
              </a:prstClr>
            </a:solidFill>
            <a:latin typeface="Segoe Sans"/>
            <a:ea typeface="+mn-ea"/>
            <a:cs typeface="+mn-cs"/>
          </a:endParaRPr>
        </a:p>
      </dsp:txBody>
      <dsp:txXfrm>
        <a:off x="770008" y="869052"/>
        <a:ext cx="6819061" cy="715242"/>
      </dsp:txXfrm>
    </dsp:sp>
    <dsp:sp modelId="{D9483691-DD36-405D-BB66-9F59F2F1E989}">
      <dsp:nvSpPr>
        <dsp:cNvPr id="0" name=""/>
        <dsp:cNvSpPr/>
      </dsp:nvSpPr>
      <dsp:spPr>
        <a:xfrm>
          <a:off x="0" y="17911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09804" y="1947232"/>
          <a:ext cx="381835" cy="3814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01444" y="1804239"/>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for growing annuities and perpetuities</a:t>
          </a:r>
          <a:endParaRPr lang="en-US" sz="1600" kern="1200" dirty="0">
            <a:solidFill>
              <a:prstClr val="black">
                <a:hueOff val="0"/>
                <a:satOff val="0"/>
                <a:lumOff val="0"/>
                <a:alphaOff val="0"/>
              </a:prstClr>
            </a:solidFill>
            <a:latin typeface="Segoe Sans"/>
            <a:ea typeface="+mn-ea"/>
            <a:cs typeface="+mn-cs"/>
          </a:endParaRPr>
        </a:p>
      </dsp:txBody>
      <dsp:txXfrm>
        <a:off x="801444" y="1804239"/>
        <a:ext cx="6819061" cy="715242"/>
      </dsp:txXfrm>
    </dsp:sp>
    <dsp:sp modelId="{CF075505-E8EA-4669-BABA-401DC8E15F63}">
      <dsp:nvSpPr>
        <dsp:cNvPr id="0" name=""/>
        <dsp:cNvSpPr/>
      </dsp:nvSpPr>
      <dsp:spPr>
        <a:xfrm>
          <a:off x="0" y="27099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09273" y="2839889"/>
          <a:ext cx="381835" cy="381462"/>
        </a:xfrm>
        <a:prstGeom prst="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27493" y="2669132"/>
          <a:ext cx="651152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endParaRPr lang="en-GB" sz="1600" kern="1200" dirty="0">
            <a:solidFill>
              <a:prstClr val="black">
                <a:hueOff val="0"/>
                <a:satOff val="0"/>
                <a:lumOff val="0"/>
                <a:alphaOff val="0"/>
              </a:prstClr>
            </a:solidFill>
            <a:latin typeface="Segoe Sans"/>
            <a:ea typeface="+mn-ea"/>
            <a:cs typeface="+mn-cs"/>
          </a:endParaRPr>
        </a:p>
      </dsp:txBody>
      <dsp:txXfrm>
        <a:off x="827493" y="2669132"/>
        <a:ext cx="6511521" cy="7152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3073"/>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09804" y="159126"/>
          <a:ext cx="381835" cy="38146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01444" y="148853"/>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711200">
            <a:lnSpc>
              <a:spcPct val="100000"/>
            </a:lnSpc>
            <a:spcBef>
              <a:spcPct val="0"/>
            </a:spcBef>
            <a:spcAft>
              <a:spcPct val="35000"/>
            </a:spcAft>
            <a:buNone/>
          </a:pPr>
          <a:r>
            <a:rPr lang="en-GB" sz="1600" kern="1200" dirty="0">
              <a:solidFill>
                <a:prstClr val="black">
                  <a:hueOff val="0"/>
                  <a:satOff val="0"/>
                  <a:lumOff val="0"/>
                  <a:alphaOff val="0"/>
                </a:prstClr>
              </a:solidFill>
              <a:latin typeface="Calibri Light" panose="020F0302020204030204"/>
              <a:ea typeface="+mn-ea"/>
              <a:cs typeface="+mn-cs"/>
            </a:rPr>
            <a:t>Calculations surrounding multiple cashflows</a:t>
          </a:r>
          <a:endParaRPr lang="en-GB" sz="160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01444" y="148853"/>
        <a:ext cx="6819061" cy="715242"/>
      </dsp:txXfrm>
    </dsp:sp>
    <dsp:sp modelId="{61B30C71-B6B1-4EDB-8941-25699A6AA799}">
      <dsp:nvSpPr>
        <dsp:cNvPr id="0" name=""/>
        <dsp:cNvSpPr/>
      </dsp:nvSpPr>
      <dsp:spPr>
        <a:xfrm>
          <a:off x="0" y="897126"/>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09804" y="1053179"/>
          <a:ext cx="381835" cy="3814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70008" y="869052"/>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for annuities and perpetuities</a:t>
          </a:r>
          <a:endParaRPr lang="en-US" sz="1600" kern="1200" dirty="0">
            <a:solidFill>
              <a:prstClr val="black">
                <a:hueOff val="0"/>
                <a:satOff val="0"/>
                <a:lumOff val="0"/>
                <a:alphaOff val="0"/>
              </a:prstClr>
            </a:solidFill>
            <a:latin typeface="Segoe Sans"/>
            <a:ea typeface="+mn-ea"/>
            <a:cs typeface="+mn-cs"/>
          </a:endParaRPr>
        </a:p>
      </dsp:txBody>
      <dsp:txXfrm>
        <a:off x="770008" y="869052"/>
        <a:ext cx="6819061" cy="715242"/>
      </dsp:txXfrm>
    </dsp:sp>
    <dsp:sp modelId="{D9483691-DD36-405D-BB66-9F59F2F1E989}">
      <dsp:nvSpPr>
        <dsp:cNvPr id="0" name=""/>
        <dsp:cNvSpPr/>
      </dsp:nvSpPr>
      <dsp:spPr>
        <a:xfrm>
          <a:off x="0" y="17911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09804" y="1947232"/>
          <a:ext cx="381835" cy="3814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01444" y="1804239"/>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Calculations for growing annuities and perpetuities</a:t>
          </a:r>
          <a:endParaRPr lang="en-US" sz="1600" kern="1200" dirty="0">
            <a:solidFill>
              <a:prstClr val="black">
                <a:hueOff val="0"/>
                <a:satOff val="0"/>
                <a:lumOff val="0"/>
                <a:alphaOff val="0"/>
              </a:prstClr>
            </a:solidFill>
            <a:latin typeface="Segoe Sans"/>
            <a:ea typeface="+mn-ea"/>
            <a:cs typeface="+mn-cs"/>
          </a:endParaRPr>
        </a:p>
      </dsp:txBody>
      <dsp:txXfrm>
        <a:off x="801444" y="1804239"/>
        <a:ext cx="6819061" cy="715242"/>
      </dsp:txXfrm>
    </dsp:sp>
    <dsp:sp modelId="{CF075505-E8EA-4669-BABA-401DC8E15F63}">
      <dsp:nvSpPr>
        <dsp:cNvPr id="0" name=""/>
        <dsp:cNvSpPr/>
      </dsp:nvSpPr>
      <dsp:spPr>
        <a:xfrm>
          <a:off x="0" y="27099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09273" y="2839889"/>
          <a:ext cx="381835" cy="381462"/>
        </a:xfrm>
        <a:prstGeom prst="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27493" y="2669132"/>
          <a:ext cx="651152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endParaRPr lang="en-GB" sz="1600" kern="1200" dirty="0">
            <a:solidFill>
              <a:prstClr val="black">
                <a:hueOff val="0"/>
                <a:satOff val="0"/>
                <a:lumOff val="0"/>
                <a:alphaOff val="0"/>
              </a:prstClr>
            </a:solidFill>
            <a:latin typeface="Segoe Sans"/>
            <a:ea typeface="+mn-ea"/>
            <a:cs typeface="+mn-cs"/>
          </a:endParaRPr>
        </a:p>
      </dsp:txBody>
      <dsp:txXfrm>
        <a:off x="827493" y="2669132"/>
        <a:ext cx="6511521" cy="7152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1"/>
            <a:ext cx="2889938" cy="498630"/>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9428010"/>
            <a:ext cx="2889938" cy="498629"/>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3777993" y="9428010"/>
            <a:ext cx="2889938" cy="498629"/>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889938"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3777993" y="0"/>
            <a:ext cx="2889938"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854075" y="744538"/>
            <a:ext cx="4960938"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666909" y="4715153"/>
            <a:ext cx="533527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9428009"/>
            <a:ext cx="2889938"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3777993" y="9428009"/>
            <a:ext cx="2889938"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TO STUDENTS: Please see last weeks lecture slides and make sure you review them so that you understand how you will be assessed and what resources we provide to support you in success.</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dirty="0"/>
          </a:p>
        </p:txBody>
      </p:sp>
    </p:spTree>
    <p:extLst>
      <p:ext uri="{BB962C8B-B14F-4D97-AF65-F5344CB8AC3E}">
        <p14:creationId xmlns:p14="http://schemas.microsoft.com/office/powerpoint/2010/main" val="274574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dirty="0"/>
          </a:p>
        </p:txBody>
      </p:sp>
    </p:spTree>
    <p:extLst>
      <p:ext uri="{BB962C8B-B14F-4D97-AF65-F5344CB8AC3E}">
        <p14:creationId xmlns:p14="http://schemas.microsoft.com/office/powerpoint/2010/main" val="194370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Compounding</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6</a:t>
            </a:fld>
            <a:endParaRPr lang="en-US" altLang="en-US" dirty="0"/>
          </a:p>
        </p:txBody>
      </p:sp>
    </p:spTree>
    <p:extLst>
      <p:ext uri="{BB962C8B-B14F-4D97-AF65-F5344CB8AC3E}">
        <p14:creationId xmlns:p14="http://schemas.microsoft.com/office/powerpoint/2010/main" val="1246385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Discounting</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8</a:t>
            </a:fld>
            <a:endParaRPr lang="en-US" altLang="en-US" dirty="0"/>
          </a:p>
        </p:txBody>
      </p:sp>
    </p:spTree>
    <p:extLst>
      <p:ext uri="{BB962C8B-B14F-4D97-AF65-F5344CB8AC3E}">
        <p14:creationId xmlns:p14="http://schemas.microsoft.com/office/powerpoint/2010/main" val="3402163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spcAft>
                <a:spcPts val="900"/>
              </a:spcAft>
              <a:buClr>
                <a:srgbClr val="C00000"/>
              </a:buClr>
              <a:buSzPct val="90000"/>
            </a:pPr>
            <a:r>
              <a:rPr lang="en-GB" b="1" dirty="0">
                <a:solidFill>
                  <a:srgbClr val="4472C4">
                    <a:lumMod val="75000"/>
                  </a:srgbClr>
                </a:solidFill>
                <a:ea typeface="Cambria Math" panose="02040503050406030204" pitchFamily="18" charset="0"/>
              </a:rPr>
              <a:t>Example of PV of multiple cash flows – Future dividends</a:t>
            </a:r>
            <a:endParaRPr lang="en-GB" b="1" dirty="0">
              <a:solidFill>
                <a:prstClr val="black"/>
              </a:solidFill>
              <a:ea typeface="Cambria Math" panose="02040503050406030204" pitchFamily="18" charset="0"/>
            </a:endParaRPr>
          </a:p>
          <a:p>
            <a:pPr marL="0" lvl="1" indent="0">
              <a:spcAft>
                <a:spcPts val="900"/>
              </a:spcAft>
              <a:buClr>
                <a:srgbClr val="C00000"/>
              </a:buClr>
              <a:buSzPct val="90000"/>
            </a:pPr>
            <a:r>
              <a:rPr lang="en-GB" dirty="0">
                <a:solidFill>
                  <a:prstClr val="black"/>
                </a:solidFill>
                <a:ea typeface="Cambria Math" panose="02040503050406030204" pitchFamily="18" charset="0"/>
              </a:rPr>
              <a:t>You hold a number of shares in a company which will cease its operations in 5 years. The company will pay you the following dividends: £200 in year 1; £140 in year 2; £112 in year 3; £230 in year 4; and a final dividend of £300 in year 5. Using a discount rate of 5%, what is the present value of your future dividends?</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9794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933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979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GB" sz="1200" i="1" smtClean="0">
                          <a:latin typeface="Cambria Math" panose="02040503050406030204" pitchFamily="18" charset="0"/>
                          <a:ea typeface="Cambria Math" panose="02040503050406030204" pitchFamily="18" charset="0"/>
                        </a:rPr>
                        <m:t>𝐹𝑉</m:t>
                      </m:r>
                      <m:r>
                        <a:rPr lang="en-GB" sz="1200" i="1" smtClean="0">
                          <a:latin typeface="Cambria Math" panose="02040503050406030204" pitchFamily="18" charset="0"/>
                          <a:ea typeface="Cambria Math" panose="02040503050406030204" pitchFamily="18" charset="0"/>
                        </a:rPr>
                        <m:t>=2,000×</m:t>
                      </m:r>
                      <m:f>
                        <m:fPr>
                          <m:ctrlPr>
                            <a:rPr lang="en-GB" sz="1200" i="1">
                              <a:latin typeface="Cambria Math" panose="02040503050406030204" pitchFamily="18" charset="0"/>
                              <a:ea typeface="Cambria Math" panose="02040503050406030204" pitchFamily="18" charset="0"/>
                            </a:rPr>
                          </m:ctrlPr>
                        </m:fPr>
                        <m:num>
                          <m:d>
                            <m:dPr>
                              <m:ctrlPr>
                                <a:rPr lang="en-GB" sz="1200" i="1">
                                  <a:latin typeface="Cambria Math" panose="02040503050406030204" pitchFamily="18" charset="0"/>
                                  <a:ea typeface="Cambria Math" panose="02040503050406030204" pitchFamily="18" charset="0"/>
                                </a:rPr>
                              </m:ctrlPr>
                            </m:dPr>
                            <m:e>
                              <m:sSup>
                                <m:sSupPr>
                                  <m:ctrlPr>
                                    <a:rPr lang="en-GB" sz="1200" i="1">
                                      <a:latin typeface="Cambria Math" panose="02040503050406030204" pitchFamily="18" charset="0"/>
                                    </a:rPr>
                                  </m:ctrlPr>
                                </m:sSupPr>
                                <m:e>
                                  <m:d>
                                    <m:dPr>
                                      <m:ctrlPr>
                                        <a:rPr lang="en-GB" sz="1200" i="1">
                                          <a:latin typeface="Cambria Math" panose="02040503050406030204" pitchFamily="18" charset="0"/>
                                        </a:rPr>
                                      </m:ctrlPr>
                                    </m:dPr>
                                    <m:e>
                                      <m:r>
                                        <a:rPr lang="en-GB" sz="1200" i="1">
                                          <a:latin typeface="Cambria Math" panose="02040503050406030204" pitchFamily="18" charset="0"/>
                                        </a:rPr>
                                        <m:t>1+7%</m:t>
                                      </m:r>
                                    </m:e>
                                  </m:d>
                                </m:e>
                                <m:sup>
                                  <m:r>
                                    <a:rPr lang="en-GB" sz="1200" i="1">
                                      <a:latin typeface="Cambria Math" panose="02040503050406030204" pitchFamily="18" charset="0"/>
                                    </a:rPr>
                                    <m:t>20</m:t>
                                  </m:r>
                                </m:sup>
                              </m:sSup>
                              <m:r>
                                <a:rPr lang="en-GB" sz="1200" i="1">
                                  <a:latin typeface="Cambria Math" panose="02040503050406030204" pitchFamily="18" charset="0"/>
                                  <a:ea typeface="Cambria Math" panose="02040503050406030204" pitchFamily="18" charset="0"/>
                                </a:rPr>
                                <m:t>−1</m:t>
                              </m:r>
                            </m:e>
                          </m:d>
                        </m:num>
                        <m:den>
                          <m:r>
                            <a:rPr lang="en-GB" sz="1200" i="1">
                              <a:latin typeface="Cambria Math" panose="02040503050406030204" pitchFamily="18" charset="0"/>
                              <a:ea typeface="Cambria Math" panose="02040503050406030204" pitchFamily="18" charset="0"/>
                            </a:rPr>
                            <m:t>7%</m:t>
                          </m:r>
                        </m:den>
                      </m:f>
                      <m:r>
                        <a:rPr lang="en-GB" sz="1200" i="1">
                          <a:latin typeface="Cambria Math" panose="02040503050406030204" pitchFamily="18" charset="0"/>
                          <a:ea typeface="Cambria Math" panose="02040503050406030204" pitchFamily="18" charset="0"/>
                        </a:rPr>
                        <m:t>=£81,990.98</m:t>
                      </m:r>
                    </m:oMath>
                  </m:oMathPara>
                </a14:m>
                <a:endParaRPr lang="en-GB" sz="1200" dirty="0">
                  <a:ea typeface="Cambria Math" panose="02040503050406030204" pitchFamily="18" charset="0"/>
                </a:endParaRPr>
              </a:p>
              <a:p>
                <a:endParaRPr lang="en-GB"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i="0">
                    <a:latin typeface="Cambria Math" panose="02040503050406030204" pitchFamily="18" charset="0"/>
                    <a:ea typeface="Cambria Math" panose="02040503050406030204" pitchFamily="18" charset="0"/>
                  </a:rPr>
                  <a:t>𝐹𝑉=2,000×(((</a:t>
                </a:r>
                <a:r>
                  <a:rPr lang="en-GB" sz="1200" i="0">
                    <a:latin typeface="Cambria Math" panose="02040503050406030204" pitchFamily="18" charset="0"/>
                  </a:rPr>
                  <a:t>1+7%)^20</a:t>
                </a:r>
                <a:r>
                  <a:rPr lang="en-GB" sz="1200" i="0">
                    <a:latin typeface="Cambria Math" panose="02040503050406030204" pitchFamily="18" charset="0"/>
                    <a:ea typeface="Cambria Math" panose="02040503050406030204" pitchFamily="18" charset="0"/>
                  </a:rPr>
                  <a:t>−1))/(7%)=£81,990.98</a:t>
                </a:r>
                <a:endParaRPr lang="en-GB" sz="1200" dirty="0">
                  <a:ea typeface="Cambria Math" panose="02040503050406030204" pitchFamily="18" charset="0"/>
                </a:endParaRPr>
              </a:p>
              <a:p>
                <a:endParaRPr lang="en-GB" dirty="0"/>
              </a:p>
            </p:txBody>
          </p:sp>
        </mc:Fallback>
      </mc:AlternateContent>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478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0910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9491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852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1458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222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6479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spcAft>
                <a:spcPts val="900"/>
              </a:spcAft>
              <a:buClr>
                <a:srgbClr val="C00000"/>
              </a:buClr>
              <a:buSzPct val="90000"/>
              <a:buNone/>
            </a:pPr>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21</a:t>
            </a:fld>
            <a:endParaRPr lang="en-US" altLang="en-US" dirty="0"/>
          </a:p>
        </p:txBody>
      </p:sp>
    </p:spTree>
    <p:extLst>
      <p:ext uri="{BB962C8B-B14F-4D97-AF65-F5344CB8AC3E}">
        <p14:creationId xmlns:p14="http://schemas.microsoft.com/office/powerpoint/2010/main" val="4066290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 will be the monthly rate and t should be the months.1126.16</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22</a:t>
            </a:fld>
            <a:endParaRPr lang="en-US" altLang="en-US" dirty="0"/>
          </a:p>
        </p:txBody>
      </p:sp>
    </p:spTree>
    <p:extLst>
      <p:ext uri="{BB962C8B-B14F-4D97-AF65-F5344CB8AC3E}">
        <p14:creationId xmlns:p14="http://schemas.microsoft.com/office/powerpoint/2010/main" val="3252694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189B4-4996-C975-992E-6BE2EA2BF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26F43-D7F6-7507-48BA-DCE3BC0FF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A21C1-00D4-B377-774F-F1CA8652F1BA}"/>
              </a:ext>
            </a:extLst>
          </p:cNvPr>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2C3D0D1-F669-A8F9-443A-BCDF54823D93}"/>
              </a:ext>
            </a:extLst>
          </p:cNvPr>
          <p:cNvSpPr>
            <a:spLocks noGrp="1"/>
          </p:cNvSpPr>
          <p:nvPr>
            <p:ph type="sldNum" sz="quarter" idx="5"/>
          </p:nvPr>
        </p:nvSpPr>
        <p:spPr/>
        <p:txBody>
          <a:bodyPr/>
          <a:lstStyle/>
          <a:p>
            <a:pPr>
              <a:defRPr/>
            </a:pPr>
            <a:fld id="{85360570-2B09-DB43-BBE0-DA076DA911F1}" type="slidenum">
              <a:rPr lang="en-US" altLang="en-US" smtClean="0"/>
              <a:pPr>
                <a:defRPr/>
              </a:pPr>
              <a:t>24</a:t>
            </a:fld>
            <a:endParaRPr lang="en-US" altLang="en-US" dirty="0"/>
          </a:p>
        </p:txBody>
      </p:sp>
    </p:spTree>
    <p:extLst>
      <p:ext uri="{BB962C8B-B14F-4D97-AF65-F5344CB8AC3E}">
        <p14:creationId xmlns:p14="http://schemas.microsoft.com/office/powerpoint/2010/main" val="3446077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7A708D-0180-424B-8170-B8C7498B3081}" type="slidenum">
              <a:rPr lang="en-GB" smtClean="0"/>
              <a:t>25</a:t>
            </a:fld>
            <a:endParaRPr lang="en-GB"/>
          </a:p>
        </p:txBody>
      </p:sp>
    </p:spTree>
    <p:extLst>
      <p:ext uri="{BB962C8B-B14F-4D97-AF65-F5344CB8AC3E}">
        <p14:creationId xmlns:p14="http://schemas.microsoft.com/office/powerpoint/2010/main" val="1849783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support.panopto.com/s/article/Navigate-the-Viewer" TargetMode="External"/><Relationship Id="rId2" Type="http://schemas.openxmlformats.org/officeDocument/2006/relationships/hyperlink" Target="https://support.panopto.com/s/article/End-user-configurable-caption-styling"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ct val="1000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589902"/>
          </a:xfrm>
          <a:prstGeom prst="rect">
            <a:avLst/>
          </a:prstGeom>
        </p:spPr>
        <p:txBody>
          <a:bodyPr lIns="0" tIns="0" rIns="0" bIns="0"/>
          <a:lstStyle>
            <a:lvl1pPr marL="0" indent="0">
              <a:lnSpc>
                <a:spcPct val="1000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3206843"/>
            <a:ext cx="1219139" cy="589902"/>
          </a:xfrm>
          <a:prstGeom prst="rect">
            <a:avLst/>
          </a:prstGeom>
        </p:spPr>
        <p:txBody>
          <a:bodyPr lIns="0" tIns="0" rIns="0" bIns="0"/>
          <a:lstStyle>
            <a:lvl1pPr marL="0" indent="0">
              <a:lnSpc>
                <a:spcPct val="1000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ct val="1000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200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20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tioning advic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Captions are available for this resource</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2000">
                <a:latin typeface="+mn-lt"/>
                <a:ea typeface="Tahoma" panose="020B0604030504040204" pitchFamily="34" charset="0"/>
                <a:cs typeface="Tahoma" panose="020B0604030504040204" pitchFamily="34" charset="0"/>
              </a:defRPr>
            </a:lvl1pPr>
            <a:lvl2pPr marL="266700" indent="0">
              <a:buClr>
                <a:srgbClr val="1A9DAC"/>
              </a:buClr>
              <a:buFont typeface="Courier New" panose="02070309020205020404" pitchFamily="49" charset="0"/>
              <a:buNone/>
              <a:defRPr sz="2000">
                <a:latin typeface="+mn-lt"/>
                <a:ea typeface="Tahoma" panose="020B0604030504040204" pitchFamily="34" charset="0"/>
                <a:cs typeface="Tahoma" panose="020B0604030504040204" pitchFamily="34" charset="0"/>
              </a:defRPr>
            </a:lvl2pPr>
            <a:lvl3pPr marL="541338" indent="0">
              <a:buClr>
                <a:srgbClr val="1A9DAC"/>
              </a:buClr>
              <a:buFont typeface="Arial" panose="020B0604020202020204" pitchFamily="34" charset="0"/>
              <a:buNone/>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r>
              <a:rPr lang="en-GB" dirty="0"/>
              <a:t>This video has been automatically captioned by a machine. </a:t>
            </a:r>
          </a:p>
          <a:p>
            <a:r>
              <a:rPr lang="en-GB" dirty="0"/>
              <a:t>We believe this captioning will be more than 75% accurate. </a:t>
            </a:r>
          </a:p>
          <a:p>
            <a:r>
              <a:rPr lang="en-GB" dirty="0"/>
              <a:t>To see the captions click on “CC” on the bottom right of the video viewer. You can choose </a:t>
            </a:r>
            <a:r>
              <a:rPr lang="en-GB" u="sng" dirty="0">
                <a:hlinkClick r:id="rId2"/>
              </a:rPr>
              <a:t>how these captions appear</a:t>
            </a:r>
            <a:r>
              <a:rPr lang="en-GB" dirty="0"/>
              <a:t>. </a:t>
            </a:r>
          </a:p>
          <a:p>
            <a:r>
              <a:rPr lang="en-GB" dirty="0"/>
              <a:t>When refreshing your knowledge you can skip to the relevant section of video or captions using a </a:t>
            </a:r>
            <a:r>
              <a:rPr lang="en-GB" dirty="0">
                <a:hlinkClick r:id="rId3"/>
              </a:rPr>
              <a:t>key word search</a:t>
            </a:r>
            <a:r>
              <a:rPr lang="en-GB" dirty="0"/>
              <a:t>. </a:t>
            </a:r>
          </a:p>
          <a:p>
            <a:pPr marL="9525" indent="0">
              <a:buNone/>
            </a:pPr>
            <a:endParaRPr lang="en-GB" dirty="0"/>
          </a:p>
          <a:p>
            <a:r>
              <a:rPr lang="en-GB" dirty="0"/>
              <a:t>Provision of this captioning does not impact on your rights to request additional support or higher accuracy captions via Disability Services. </a:t>
            </a:r>
          </a:p>
          <a:p>
            <a:r>
              <a:rPr lang="en-GB" dirty="0"/>
              <a:t>Feedback on the captions should initially be given to the session lead. </a:t>
            </a:r>
          </a:p>
          <a:p>
            <a:pPr lvl="0"/>
            <a:endParaRPr lang="en-US" dirty="0"/>
          </a:p>
        </p:txBody>
      </p:sp>
    </p:spTree>
    <p:extLst>
      <p:ext uri="{BB962C8B-B14F-4D97-AF65-F5344CB8AC3E}">
        <p14:creationId xmlns:p14="http://schemas.microsoft.com/office/powerpoint/2010/main" val="3092194434"/>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US"/>
              <a:t>Click to edit Master title style</a:t>
            </a:r>
            <a:endParaRPr lang="en-US" dirty="0"/>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20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20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4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20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2000" b="0" i="0" baseline="0">
                <a:solidFill>
                  <a:schemeClr val="tx1"/>
                </a:solidFill>
                <a:latin typeface="+mn-lt"/>
                <a:ea typeface="Tahoma"/>
                <a:cs typeface="Tahoma"/>
              </a:defRPr>
            </a:lvl1pPr>
            <a:lvl2pPr marL="541338" indent="-274638">
              <a:buClr>
                <a:srgbClr val="1A9DAC"/>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2000" b="0" i="0" baseline="0">
                <a:solidFill>
                  <a:schemeClr val="tx1"/>
                </a:solidFill>
                <a:latin typeface="+mn-lt"/>
                <a:ea typeface="Tahoma"/>
                <a:cs typeface="Tahoma"/>
              </a:defRPr>
            </a:lvl1pPr>
            <a:lvl2pPr marL="541338" indent="-274638">
              <a:buClr>
                <a:srgbClr val="1A9DAC"/>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2000">
                <a:solidFill>
                  <a:srgbClr val="199DAC"/>
                </a:solidFill>
              </a:defRPr>
            </a:lvl1pPr>
            <a:lvl2pPr marL="609600" indent="0">
              <a:buNone/>
              <a:defRPr sz="2000">
                <a:solidFill>
                  <a:srgbClr val="199DAC"/>
                </a:solidFill>
              </a:defRPr>
            </a:lvl2pPr>
            <a:lvl3pPr marL="1219200" indent="0">
              <a:buNone/>
              <a:defRPr sz="2000">
                <a:solidFill>
                  <a:srgbClr val="199DAC"/>
                </a:solidFill>
              </a:defRPr>
            </a:lvl3pPr>
            <a:lvl4pPr marL="1828800" indent="0">
              <a:buNone/>
              <a:defRPr sz="2000">
                <a:solidFill>
                  <a:srgbClr val="199DAC"/>
                </a:solidFill>
              </a:defRPr>
            </a:lvl4pPr>
            <a:lvl5pPr marL="2438400" indent="0">
              <a:buNone/>
              <a:defRPr sz="2000">
                <a:solidFill>
                  <a:srgbClr val="199DA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A64CA-6E76-49F9-8BF2-0F9DF08F737B}" type="datetimeFigureOut">
              <a:rPr lang="en-GB" smtClean="0"/>
              <a:t>14/08/2025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B38B850-B74B-425F-8733-0CC105AAD35D}" type="slidenum">
              <a:rPr lang="en-GB" smtClean="0"/>
              <a:t>‹#›</a:t>
            </a:fld>
            <a:endParaRPr lang="en-GB" dirty="0"/>
          </a:p>
        </p:txBody>
      </p:sp>
    </p:spTree>
    <p:extLst>
      <p:ext uri="{BB962C8B-B14F-4D97-AF65-F5344CB8AC3E}">
        <p14:creationId xmlns:p14="http://schemas.microsoft.com/office/powerpoint/2010/main" val="3443584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7"/>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35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33821144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92088"/>
          </a:xfrm>
          <a:prstGeom prst="rect">
            <a:avLst/>
          </a:prstGeom>
        </p:spPr>
        <p:txBody>
          <a:bodyPr vert="horz" lIns="0" tIns="0" rIns="0" bIns="0" rtlCol="0" anchor="t" anchorCtr="0">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77"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 id="2147483973" r:id="rId13"/>
    <p:sldLayoutId id="2147483974" r:id="rId14"/>
    <p:sldLayoutId id="2147483976" r:id="rId15"/>
    <p:sldLayoutId id="2147483978" r:id="rId16"/>
    <p:sldLayoutId id="2147483979" r:id="rId17"/>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hyperlink" Target="https://creativecommons.org/licenses/by-sa/3.0/" TargetMode="External"/><Relationship Id="rId4" Type="http://schemas.openxmlformats.org/officeDocument/2006/relationships/hyperlink" Target="https://allthetropes.org/wiki/Back_to_the_Future_(fil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2.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6.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5.png"/><Relationship Id="rId2" Type="http://schemas.openxmlformats.org/officeDocument/2006/relationships/notesSlide" Target="../notesSlides/notesSlide3.xml"/><Relationship Id="rId16" Type="http://schemas.openxmlformats.org/officeDocument/2006/relationships/image" Target="../media/image136.png"/><Relationship Id="rId20" Type="http://schemas.openxmlformats.org/officeDocument/2006/relationships/image" Target="../media/image140.png"/><Relationship Id="rId1" Type="http://schemas.openxmlformats.org/officeDocument/2006/relationships/slideLayout" Target="../slideLayouts/slideLayout16.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4.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s>
</file>

<file path=ppt/slides/_rels/slide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4.xml"/><Relationship Id="rId16" Type="http://schemas.openxmlformats.org/officeDocument/2006/relationships/image" Target="../media/image162.png"/><Relationship Id="rId1" Type="http://schemas.openxmlformats.org/officeDocument/2006/relationships/slideLayout" Target="../slideLayouts/slideLayout16.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65.png"/></Relationships>
</file>

<file path=ppt/slides/_rels/slide1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16.xml"/><Relationship Id="rId5" Type="http://schemas.openxmlformats.org/officeDocument/2006/relationships/image" Target="../media/image169.png"/><Relationship Id="rId4" Type="http://schemas.openxmlformats.org/officeDocument/2006/relationships/image" Target="../media/image168.png"/></Relationships>
</file>

<file path=ppt/slides/_rels/slide11.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18" Type="http://schemas.openxmlformats.org/officeDocument/2006/relationships/image" Target="../media/image183.png"/><Relationship Id="rId3" Type="http://schemas.openxmlformats.org/officeDocument/2006/relationships/image" Target="../media/image170.png"/><Relationship Id="rId21" Type="http://schemas.openxmlformats.org/officeDocument/2006/relationships/image" Target="../media/image186.png"/><Relationship Id="rId7" Type="http://schemas.openxmlformats.org/officeDocument/2006/relationships/image" Target="../media/image172.png"/><Relationship Id="rId12" Type="http://schemas.openxmlformats.org/officeDocument/2006/relationships/image" Target="../media/image177.png"/><Relationship Id="rId17" Type="http://schemas.openxmlformats.org/officeDocument/2006/relationships/image" Target="../media/image182.png"/><Relationship Id="rId2" Type="http://schemas.openxmlformats.org/officeDocument/2006/relationships/notesSlide" Target="../notesSlides/notesSlide6.xml"/><Relationship Id="rId16" Type="http://schemas.openxmlformats.org/officeDocument/2006/relationships/image" Target="../media/image181.png"/><Relationship Id="rId20" Type="http://schemas.openxmlformats.org/officeDocument/2006/relationships/image" Target="../media/image185.png"/><Relationship Id="rId1" Type="http://schemas.openxmlformats.org/officeDocument/2006/relationships/slideLayout" Target="../slideLayouts/slideLayout16.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410.png"/><Relationship Id="rId15" Type="http://schemas.openxmlformats.org/officeDocument/2006/relationships/image" Target="../media/image180.png"/><Relationship Id="rId10" Type="http://schemas.openxmlformats.org/officeDocument/2006/relationships/image" Target="../media/image175.png"/><Relationship Id="rId19" Type="http://schemas.openxmlformats.org/officeDocument/2006/relationships/image" Target="../media/image184.png"/><Relationship Id="rId4" Type="http://schemas.openxmlformats.org/officeDocument/2006/relationships/image" Target="../media/image1310.png"/><Relationship Id="rId9" Type="http://schemas.openxmlformats.org/officeDocument/2006/relationships/image" Target="../media/image174.png"/><Relationship Id="rId14" Type="http://schemas.openxmlformats.org/officeDocument/2006/relationships/image" Target="../media/image179.png"/></Relationships>
</file>

<file path=ppt/slides/_rels/slide12.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13.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93.png"/></Relationships>
</file>

<file path=ppt/slides/_rels/slide15.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202.png"/><Relationship Id="rId18" Type="http://schemas.openxmlformats.org/officeDocument/2006/relationships/image" Target="../media/image207.png"/><Relationship Id="rId3" Type="http://schemas.openxmlformats.org/officeDocument/2006/relationships/image" Target="../media/image194.png"/><Relationship Id="rId7" Type="http://schemas.openxmlformats.org/officeDocument/2006/relationships/image" Target="../media/image197.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notesSlide" Target="../notesSlides/notesSlide10.xml"/><Relationship Id="rId16" Type="http://schemas.openxmlformats.org/officeDocument/2006/relationships/image" Target="../media/image205.png"/><Relationship Id="rId1" Type="http://schemas.openxmlformats.org/officeDocument/2006/relationships/slideLayout" Target="../slideLayouts/slideLayout16.xml"/><Relationship Id="rId6" Type="http://schemas.openxmlformats.org/officeDocument/2006/relationships/image" Target="../media/image196.png"/><Relationship Id="rId11" Type="http://schemas.openxmlformats.org/officeDocument/2006/relationships/image" Target="../media/image200.png"/><Relationship Id="rId5" Type="http://schemas.openxmlformats.org/officeDocument/2006/relationships/image" Target="../media/image126.png"/><Relationship Id="rId15" Type="http://schemas.openxmlformats.org/officeDocument/2006/relationships/image" Target="../media/image204.png"/><Relationship Id="rId10" Type="http://schemas.openxmlformats.org/officeDocument/2006/relationships/image" Target="../media/image199.png"/><Relationship Id="rId4" Type="http://schemas.openxmlformats.org/officeDocument/2006/relationships/image" Target="../media/image195.png"/><Relationship Id="rId9" Type="http://schemas.openxmlformats.org/officeDocument/2006/relationships/image" Target="../media/image198.png"/><Relationship Id="rId14" Type="http://schemas.openxmlformats.org/officeDocument/2006/relationships/image" Target="../media/image203.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6.xml"/><Relationship Id="rId5" Type="http://schemas.openxmlformats.org/officeDocument/2006/relationships/image" Target="../media/image210.png"/><Relationship Id="rId4" Type="http://schemas.openxmlformats.org/officeDocument/2006/relationships/image" Target="../media/image209.png"/></Relationships>
</file>

<file path=ppt/slides/_rels/slide1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212.png"/></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21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9.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png"/></Relationships>
</file>

<file path=ppt/slides/_rels/slide2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16.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21.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commons.wikimedia.org/wiki/File:Attention_Sign.svg" TargetMode="External"/><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9DA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4D975-E46C-4FBD-9BFF-3391E890B713}"/>
              </a:ext>
            </a:extLst>
          </p:cNvPr>
          <p:cNvSpPr>
            <a:spLocks noGrp="1"/>
          </p:cNvSpPr>
          <p:nvPr>
            <p:ph type="title"/>
          </p:nvPr>
        </p:nvSpPr>
        <p:spPr/>
        <p:txBody>
          <a:bodyPr>
            <a:normAutofit fontScale="90000"/>
          </a:bodyPr>
          <a:lstStyle/>
          <a:p>
            <a:r>
              <a:rPr lang="en-GB" dirty="0"/>
              <a:t>UMET9G-30-1 </a:t>
            </a:r>
            <a:br>
              <a:rPr lang="en-GB" dirty="0"/>
            </a:br>
            <a:r>
              <a:rPr lang="en-GB" dirty="0"/>
              <a:t>Accounting &amp; Finance for Decision Making </a:t>
            </a:r>
            <a:br>
              <a:rPr lang="en-GB" dirty="0"/>
            </a:br>
            <a:br>
              <a:rPr lang="en-GB" dirty="0"/>
            </a:br>
            <a:r>
              <a:rPr lang="en-GB" dirty="0"/>
              <a:t>Time Value of Money - Part 2</a:t>
            </a:r>
          </a:p>
        </p:txBody>
      </p:sp>
      <p:sp>
        <p:nvSpPr>
          <p:cNvPr id="3" name="Text Placeholder 2">
            <a:extLst>
              <a:ext uri="{FF2B5EF4-FFF2-40B4-BE49-F238E27FC236}">
                <a16:creationId xmlns:a16="http://schemas.microsoft.com/office/drawing/2014/main" id="{43A97C58-C14E-4090-A9F8-CF9724DF0481}"/>
              </a:ext>
            </a:extLst>
          </p:cNvPr>
          <p:cNvSpPr>
            <a:spLocks noGrp="1"/>
          </p:cNvSpPr>
          <p:nvPr>
            <p:ph type="body" sz="quarter" idx="15"/>
          </p:nvPr>
        </p:nvSpPr>
        <p:spPr/>
        <p:txBody>
          <a:bodyPr/>
          <a:lstStyle/>
          <a:p>
            <a:r>
              <a:rPr lang="en-GB" sz="1800" dirty="0"/>
              <a:t>Presented</a:t>
            </a:r>
            <a:r>
              <a:rPr lang="en-GB" dirty="0"/>
              <a:t> by</a:t>
            </a:r>
          </a:p>
        </p:txBody>
      </p:sp>
      <p:sp>
        <p:nvSpPr>
          <p:cNvPr id="4" name="Text Placeholder 3">
            <a:extLst>
              <a:ext uri="{FF2B5EF4-FFF2-40B4-BE49-F238E27FC236}">
                <a16:creationId xmlns:a16="http://schemas.microsoft.com/office/drawing/2014/main" id="{26DD503E-D58C-4CF4-9AF1-A463BA5351B5}"/>
              </a:ext>
            </a:extLst>
          </p:cNvPr>
          <p:cNvSpPr>
            <a:spLocks noGrp="1"/>
          </p:cNvSpPr>
          <p:nvPr>
            <p:ph type="body" sz="quarter" idx="16"/>
          </p:nvPr>
        </p:nvSpPr>
        <p:spPr/>
        <p:txBody>
          <a:bodyPr/>
          <a:lstStyle/>
          <a:p>
            <a:endParaRPr lang="en-GB" dirty="0"/>
          </a:p>
        </p:txBody>
      </p:sp>
      <p:sp>
        <p:nvSpPr>
          <p:cNvPr id="5" name="Text Placeholder 4">
            <a:extLst>
              <a:ext uri="{FF2B5EF4-FFF2-40B4-BE49-F238E27FC236}">
                <a16:creationId xmlns:a16="http://schemas.microsoft.com/office/drawing/2014/main" id="{659573A4-DD2F-41F9-BEA3-C0DA2B8E6EA0}"/>
              </a:ext>
            </a:extLst>
          </p:cNvPr>
          <p:cNvSpPr>
            <a:spLocks noGrp="1"/>
          </p:cNvSpPr>
          <p:nvPr>
            <p:ph type="body" sz="quarter" idx="17"/>
          </p:nvPr>
        </p:nvSpPr>
        <p:spPr/>
        <p:txBody>
          <a:bodyPr/>
          <a:lstStyle/>
          <a:p>
            <a:r>
              <a:rPr lang="en-GB" dirty="0"/>
              <a:t>Module Leader</a:t>
            </a:r>
          </a:p>
        </p:txBody>
      </p:sp>
      <p:sp>
        <p:nvSpPr>
          <p:cNvPr id="6" name="Text Placeholder 5">
            <a:extLst>
              <a:ext uri="{FF2B5EF4-FFF2-40B4-BE49-F238E27FC236}">
                <a16:creationId xmlns:a16="http://schemas.microsoft.com/office/drawing/2014/main" id="{D54F8BEE-7710-42A4-AA6A-772F79F04529}"/>
              </a:ext>
            </a:extLst>
          </p:cNvPr>
          <p:cNvSpPr>
            <a:spLocks noGrp="1"/>
          </p:cNvSpPr>
          <p:nvPr>
            <p:ph type="body" sz="quarter" idx="18"/>
          </p:nvPr>
        </p:nvSpPr>
        <p:spPr/>
        <p:txBody>
          <a:bodyPr/>
          <a:lstStyle/>
          <a:p>
            <a:endParaRPr lang="en-GB" dirty="0"/>
          </a:p>
        </p:txBody>
      </p:sp>
    </p:spTree>
    <p:extLst>
      <p:ext uri="{BB962C8B-B14F-4D97-AF65-F5344CB8AC3E}">
        <p14:creationId xmlns:p14="http://schemas.microsoft.com/office/powerpoint/2010/main" val="322867970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14CE-3250-F7F0-AE05-421FA0F9E543}"/>
              </a:ext>
            </a:extLst>
          </p:cNvPr>
          <p:cNvSpPr>
            <a:spLocks noGrp="1"/>
          </p:cNvSpPr>
          <p:nvPr>
            <p:ph type="title"/>
          </p:nvPr>
        </p:nvSpPr>
        <p:spPr/>
        <p:txBody>
          <a:bodyPr/>
          <a:lstStyle/>
          <a:p>
            <a:pPr algn="l"/>
            <a:r>
              <a:rPr lang="en-GB" dirty="0"/>
              <a:t>Recap</a:t>
            </a:r>
          </a:p>
        </p:txBody>
      </p:sp>
      <p:sp>
        <p:nvSpPr>
          <p:cNvPr id="3" name="Chart Placeholder 2">
            <a:extLst>
              <a:ext uri="{FF2B5EF4-FFF2-40B4-BE49-F238E27FC236}">
                <a16:creationId xmlns:a16="http://schemas.microsoft.com/office/drawing/2014/main" id="{FF9B3823-0605-807A-5635-4865E10F2BE4}"/>
              </a:ext>
            </a:extLst>
          </p:cNvPr>
          <p:cNvSpPr>
            <a:spLocks noGrp="1"/>
          </p:cNvSpPr>
          <p:nvPr>
            <p:ph type="chart" sz="quarter" idx="11"/>
          </p:nvPr>
        </p:nvSpPr>
        <p:spPr>
          <a:xfrm>
            <a:off x="899591" y="2132855"/>
            <a:ext cx="7351893" cy="4032447"/>
          </a:xfrm>
        </p:spPr>
        <p:txBody>
          <a:bodyPr/>
          <a:lstStyle/>
          <a:p>
            <a:pPr marL="0" indent="0">
              <a:buNone/>
            </a:pPr>
            <a:r>
              <a:rPr lang="en-GB" sz="3200" dirty="0">
                <a:latin typeface="Segoe Sans"/>
              </a:rPr>
              <a:t>Last weeks session covered:</a:t>
            </a:r>
          </a:p>
          <a:p>
            <a:pPr>
              <a:buFontTx/>
              <a:buChar char="-"/>
            </a:pPr>
            <a:r>
              <a:rPr lang="en-GB" sz="3200" dirty="0">
                <a:latin typeface="Segoe Sans"/>
              </a:rPr>
              <a:t>The concept of time in finance</a:t>
            </a:r>
          </a:p>
          <a:p>
            <a:pPr>
              <a:buFontTx/>
              <a:buChar char="-"/>
            </a:pPr>
            <a:r>
              <a:rPr lang="en-GB" sz="3200" dirty="0">
                <a:latin typeface="Segoe Sans"/>
              </a:rPr>
              <a:t>Simple vs compound interest</a:t>
            </a:r>
          </a:p>
          <a:p>
            <a:pPr>
              <a:buFontTx/>
              <a:buChar char="-"/>
            </a:pPr>
            <a:r>
              <a:rPr lang="en-GB" sz="3200" dirty="0">
                <a:latin typeface="Segoe Sans"/>
              </a:rPr>
              <a:t>Calculation of the present value and the future value of a single cashflow</a:t>
            </a:r>
          </a:p>
        </p:txBody>
      </p:sp>
      <p:pic>
        <p:nvPicPr>
          <p:cNvPr id="5" name="Graphic 4" descr="Clipboard Checked with solid fill">
            <a:extLst>
              <a:ext uri="{FF2B5EF4-FFF2-40B4-BE49-F238E27FC236}">
                <a16:creationId xmlns:a16="http://schemas.microsoft.com/office/drawing/2014/main" id="{295E040E-13B2-6A1F-C2CA-FE2D44F88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85" y="2971800"/>
            <a:ext cx="914400" cy="914400"/>
          </a:xfrm>
          <a:prstGeom prst="rect">
            <a:avLst/>
          </a:prstGeom>
        </p:spPr>
      </p:pic>
    </p:spTree>
    <p:extLst>
      <p:ext uri="{BB962C8B-B14F-4D97-AF65-F5344CB8AC3E}">
        <p14:creationId xmlns:p14="http://schemas.microsoft.com/office/powerpoint/2010/main" val="59189003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itle 1">
            <a:extLst>
              <a:ext uri="{FF2B5EF4-FFF2-40B4-BE49-F238E27FC236}">
                <a16:creationId xmlns:a16="http://schemas.microsoft.com/office/drawing/2014/main" id="{B54CC29E-BA68-10E6-2F39-FA1EBE0C99F6}"/>
              </a:ext>
            </a:extLst>
          </p:cNvPr>
          <p:cNvSpPr>
            <a:spLocks noGrp="1"/>
          </p:cNvSpPr>
          <p:nvPr>
            <p:ph type="title"/>
          </p:nvPr>
        </p:nvSpPr>
        <p:spPr>
          <a:xfrm>
            <a:off x="892515" y="1376773"/>
            <a:ext cx="7886700" cy="646548"/>
          </a:xfrm>
        </p:spPr>
        <p:txBody>
          <a:bodyPr>
            <a:normAutofit/>
          </a:bodyPr>
          <a:lstStyle/>
          <a:p>
            <a:pPr algn="l"/>
            <a:r>
              <a:rPr lang="en-US" dirty="0"/>
              <a:t>Learning Outcomes</a:t>
            </a:r>
          </a:p>
        </p:txBody>
      </p:sp>
      <p:graphicFrame>
        <p:nvGraphicFramePr>
          <p:cNvPr id="13315" name="Text Placeholder 1">
            <a:extLst>
              <a:ext uri="{FF2B5EF4-FFF2-40B4-BE49-F238E27FC236}">
                <a16:creationId xmlns:a16="http://schemas.microsoft.com/office/drawing/2014/main" id="{C2855CC1-6974-FD0F-632A-C97A1652BB10}"/>
              </a:ext>
            </a:extLst>
          </p:cNvPr>
          <p:cNvGraphicFramePr/>
          <p:nvPr>
            <p:extLst>
              <p:ext uri="{D42A27DB-BD31-4B8C-83A1-F6EECF244321}">
                <p14:modId xmlns:p14="http://schemas.microsoft.com/office/powerpoint/2010/main" val="1989808855"/>
              </p:ext>
            </p:extLst>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F336-4816-E642-BA45-9DF5BB563EED}"/>
              </a:ext>
            </a:extLst>
          </p:cNvPr>
          <p:cNvSpPr>
            <a:spLocks noGrp="1"/>
          </p:cNvSpPr>
          <p:nvPr>
            <p:ph type="title"/>
          </p:nvPr>
        </p:nvSpPr>
        <p:spPr/>
        <p:txBody>
          <a:bodyPr/>
          <a:lstStyle/>
          <a:p>
            <a:r>
              <a:rPr lang="en-GB" dirty="0"/>
              <a:t>Recap</a:t>
            </a:r>
          </a:p>
        </p:txBody>
      </p:sp>
      <p:sp>
        <p:nvSpPr>
          <p:cNvPr id="3" name="Text Placeholder 2">
            <a:extLst>
              <a:ext uri="{FF2B5EF4-FFF2-40B4-BE49-F238E27FC236}">
                <a16:creationId xmlns:a16="http://schemas.microsoft.com/office/drawing/2014/main" id="{2B4F59C6-E379-C18A-55A4-AA9E6B2162A5}"/>
              </a:ext>
            </a:extLst>
          </p:cNvPr>
          <p:cNvSpPr>
            <a:spLocks noGrp="1"/>
          </p:cNvSpPr>
          <p:nvPr>
            <p:ph type="body" sz="quarter" idx="11"/>
          </p:nvPr>
        </p:nvSpPr>
        <p:spPr>
          <a:xfrm>
            <a:off x="900113" y="1268759"/>
            <a:ext cx="7886700" cy="4897091"/>
          </a:xfrm>
        </p:spPr>
        <p:txBody>
          <a:bodyPr/>
          <a:lstStyle/>
          <a:p>
            <a:pPr marL="352425" indent="-342900">
              <a:buFont typeface="Arial" panose="020B0604020202020204" pitchFamily="34" charset="0"/>
              <a:buChar char="•"/>
            </a:pPr>
            <a:r>
              <a:rPr lang="en-GB" dirty="0"/>
              <a:t>The concept of time in finance – a basic problem for the Financial Manager is how to determine the value of future cashflows.</a:t>
            </a:r>
          </a:p>
          <a:p>
            <a:pPr marL="352425" indent="-342900">
              <a:buFont typeface="Arial" panose="020B0604020202020204" pitchFamily="34" charset="0"/>
              <a:buChar char="•"/>
            </a:pPr>
            <a:r>
              <a:rPr lang="en-GB" dirty="0"/>
              <a:t>Simple vs Compounding Interest</a:t>
            </a:r>
          </a:p>
          <a:p>
            <a:pPr marL="9525" indent="0">
              <a:buNone/>
            </a:pPr>
            <a:endParaRPr lang="en-GB" dirty="0"/>
          </a:p>
          <a:p>
            <a:pPr marL="9525" indent="0">
              <a:buNone/>
            </a:pPr>
            <a:endParaRPr lang="en-GB" dirty="0"/>
          </a:p>
          <a:p>
            <a:pPr marL="9525" indent="0">
              <a:buNone/>
            </a:pPr>
            <a:endParaRPr lang="en-GB" dirty="0"/>
          </a:p>
          <a:p>
            <a:pPr marL="9525" indent="0">
              <a:buNone/>
            </a:pPr>
            <a:endParaRPr lang="en-GB" dirty="0"/>
          </a:p>
          <a:p>
            <a:pPr marL="9525" indent="0">
              <a:buNone/>
            </a:pPr>
            <a:endParaRPr lang="en-GB" dirty="0"/>
          </a:p>
          <a:p>
            <a:pPr marL="9525" indent="0">
              <a:buNone/>
            </a:pPr>
            <a:endParaRPr lang="en-GB" dirty="0"/>
          </a:p>
          <a:p>
            <a:pPr marL="9525" indent="0">
              <a:buNone/>
            </a:pPr>
            <a:endParaRPr lang="en-GB" dirty="0"/>
          </a:p>
          <a:p>
            <a:pPr marL="352425" indent="-342900">
              <a:buFont typeface="Wingdings" panose="05000000000000000000" pitchFamily="2" charset="2"/>
              <a:buChar char="§"/>
            </a:pPr>
            <a:r>
              <a:rPr lang="en-GB" dirty="0"/>
              <a:t>The present value and discounting </a:t>
            </a:r>
          </a:p>
          <a:p>
            <a:pPr marL="9525" indent="0">
              <a:buNone/>
            </a:pPr>
            <a:r>
              <a:rPr lang="en-GB" dirty="0"/>
              <a:t>	vs </a:t>
            </a:r>
          </a:p>
          <a:p>
            <a:pPr marL="352425" indent="-342900">
              <a:buFont typeface="Arial" panose="020B0604020202020204" pitchFamily="34" charset="0"/>
              <a:buChar char="•"/>
            </a:pPr>
            <a:r>
              <a:rPr lang="en-GB" dirty="0"/>
              <a:t>The future value and compounding</a:t>
            </a:r>
          </a:p>
          <a:p>
            <a:pPr marL="0" lvl="2" indent="0">
              <a:spcAft>
                <a:spcPts val="900"/>
              </a:spcAft>
              <a:buClr>
                <a:srgbClr val="C00000"/>
              </a:buClr>
              <a:buSzPct val="90000"/>
              <a:buNone/>
            </a:pPr>
            <a:endParaRPr lang="en-GB" dirty="0"/>
          </a:p>
        </p:txBody>
      </p:sp>
      <p:pic>
        <p:nvPicPr>
          <p:cNvPr id="5" name="Picture 4">
            <a:extLst>
              <a:ext uri="{FF2B5EF4-FFF2-40B4-BE49-F238E27FC236}">
                <a16:creationId xmlns:a16="http://schemas.microsoft.com/office/drawing/2014/main" id="{293759C5-50DD-EE3D-9300-5041575FD3ED}"/>
              </a:ext>
            </a:extLst>
          </p:cNvPr>
          <p:cNvPicPr>
            <a:picLocks noChangeAspect="1"/>
          </p:cNvPicPr>
          <p:nvPr/>
        </p:nvPicPr>
        <p:blipFill>
          <a:blip r:embed="rId2"/>
          <a:stretch>
            <a:fillRect/>
          </a:stretch>
        </p:blipFill>
        <p:spPr>
          <a:xfrm>
            <a:off x="900113" y="2465081"/>
            <a:ext cx="3669224" cy="1756007"/>
          </a:xfrm>
          <a:prstGeom prst="rect">
            <a:avLst/>
          </a:prstGeom>
        </p:spPr>
      </p:pic>
      <p:pic>
        <p:nvPicPr>
          <p:cNvPr id="7" name="Picture 6" descr="A car with a clock and text&#10;&#10;Description automatically generated">
            <a:extLst>
              <a:ext uri="{FF2B5EF4-FFF2-40B4-BE49-F238E27FC236}">
                <a16:creationId xmlns:a16="http://schemas.microsoft.com/office/drawing/2014/main" id="{6BE1521D-38D9-BA9B-B4B4-6087D442728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77879" y="4221088"/>
            <a:ext cx="1958617" cy="2448272"/>
          </a:xfrm>
          <a:prstGeom prst="rect">
            <a:avLst/>
          </a:prstGeom>
        </p:spPr>
      </p:pic>
      <p:sp>
        <p:nvSpPr>
          <p:cNvPr id="8" name="TextBox 7">
            <a:extLst>
              <a:ext uri="{FF2B5EF4-FFF2-40B4-BE49-F238E27FC236}">
                <a16:creationId xmlns:a16="http://schemas.microsoft.com/office/drawing/2014/main" id="{D4E7239D-CB36-82C6-1D8C-27B5D94DC316}"/>
              </a:ext>
            </a:extLst>
          </p:cNvPr>
          <p:cNvSpPr txBox="1"/>
          <p:nvPr/>
        </p:nvSpPr>
        <p:spPr>
          <a:xfrm>
            <a:off x="8460432" y="7214004"/>
            <a:ext cx="883345" cy="461665"/>
          </a:xfrm>
          <a:prstGeom prst="rect">
            <a:avLst/>
          </a:prstGeom>
          <a:noFill/>
        </p:spPr>
        <p:txBody>
          <a:bodyPr wrap="square" rtlCol="0">
            <a:spAutoFit/>
          </a:bodyPr>
          <a:lstStyle/>
          <a:p>
            <a:r>
              <a:rPr lang="en-GB" sz="600" dirty="0">
                <a:hlinkClick r:id="rId4" tooltip="https://allthetropes.org/wiki/Back_to_the_Future_(film)"/>
              </a:rPr>
              <a:t>This Photo</a:t>
            </a:r>
            <a:r>
              <a:rPr lang="en-GB" sz="600" dirty="0"/>
              <a:t> by Unknown Author is licensed under </a:t>
            </a:r>
            <a:r>
              <a:rPr lang="en-GB" sz="600" dirty="0">
                <a:hlinkClick r:id="rId5" tooltip="https://creativecommons.org/licenses/by-sa/3.0/"/>
              </a:rPr>
              <a:t>CC BY-SA</a:t>
            </a:r>
            <a:endParaRPr lang="en-GB" sz="600" dirty="0"/>
          </a:p>
        </p:txBody>
      </p:sp>
      <p:pic>
        <p:nvPicPr>
          <p:cNvPr id="10" name="Picture 9">
            <a:extLst>
              <a:ext uri="{FF2B5EF4-FFF2-40B4-BE49-F238E27FC236}">
                <a16:creationId xmlns:a16="http://schemas.microsoft.com/office/drawing/2014/main" id="{4F4A4618-299D-FDB3-E3AB-384720581901}"/>
              </a:ext>
            </a:extLst>
          </p:cNvPr>
          <p:cNvPicPr>
            <a:picLocks noChangeAspect="1"/>
          </p:cNvPicPr>
          <p:nvPr/>
        </p:nvPicPr>
        <p:blipFill>
          <a:blip r:embed="rId6"/>
          <a:stretch>
            <a:fillRect/>
          </a:stretch>
        </p:blipFill>
        <p:spPr>
          <a:xfrm>
            <a:off x="5112569" y="2348880"/>
            <a:ext cx="2915815" cy="1742947"/>
          </a:xfrm>
          <a:prstGeom prst="rect">
            <a:avLst/>
          </a:prstGeom>
        </p:spPr>
      </p:pic>
    </p:spTree>
    <p:extLst>
      <p:ext uri="{BB962C8B-B14F-4D97-AF65-F5344CB8AC3E}">
        <p14:creationId xmlns:p14="http://schemas.microsoft.com/office/powerpoint/2010/main" val="1563855500"/>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9970-FED6-1E57-421C-8BB75459FD4A}"/>
              </a:ext>
            </a:extLst>
          </p:cNvPr>
          <p:cNvSpPr>
            <a:spLocks noGrp="1"/>
          </p:cNvSpPr>
          <p:nvPr>
            <p:ph type="title"/>
          </p:nvPr>
        </p:nvSpPr>
        <p:spPr/>
        <p:txBody>
          <a:bodyPr/>
          <a:lstStyle/>
          <a:p>
            <a:r>
              <a:rPr lang="en-GB" dirty="0"/>
              <a:t>TVM formulae - Roundup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828D71-AA1F-B950-4C7A-4BF4EE74BF6F}"/>
                  </a:ext>
                </a:extLst>
              </p:cNvPr>
              <p:cNvSpPr>
                <a:spLocks noGrp="1"/>
              </p:cNvSpPr>
              <p:nvPr>
                <p:ph idx="1"/>
              </p:nvPr>
            </p:nvSpPr>
            <p:spPr>
              <a:xfrm>
                <a:off x="628649" y="1556793"/>
                <a:ext cx="7471743" cy="1252154"/>
              </a:xfrm>
            </p:spPr>
            <p:txBody>
              <a:bodyPr>
                <a:normAutofit/>
              </a:bodyPr>
              <a:lstStyle/>
              <a:p>
                <a:pPr marL="600075" lvl="2" indent="-257175">
                  <a:spcAft>
                    <a:spcPts val="900"/>
                  </a:spcAft>
                  <a:buClr>
                    <a:srgbClr val="C00000"/>
                  </a:buClr>
                  <a:buSzPct val="90000"/>
                  <a:buFont typeface="Calibri" panose="020F0502020204030204" pitchFamily="34" charset="0"/>
                  <a:buChar char="─"/>
                </a:pPr>
                <a:r>
                  <a:rPr lang="en-GB" sz="1600" dirty="0">
                    <a:solidFill>
                      <a:schemeClr val="bg1">
                        <a:lumMod val="75000"/>
                      </a:schemeClr>
                    </a:solidFill>
                  </a:rPr>
                  <a:t>Simple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bg1">
                              <a:lumMod val="75000"/>
                            </a:schemeClr>
                          </a:solidFill>
                          <a:latin typeface="Cambria Math" panose="02040503050406030204" pitchFamily="18" charset="0"/>
                        </a:rPr>
                        <m:t>𝐹𝑉</m:t>
                      </m:r>
                      <m:r>
                        <a:rPr lang="en-GB" sz="1600" i="1">
                          <a:solidFill>
                            <a:schemeClr val="bg1">
                              <a:lumMod val="75000"/>
                            </a:schemeClr>
                          </a:solidFill>
                          <a:latin typeface="Cambria Math" panose="02040503050406030204" pitchFamily="18" charset="0"/>
                        </a:rPr>
                        <m:t>=</m:t>
                      </m:r>
                      <m:r>
                        <a:rPr lang="en-GB" sz="1600" i="1">
                          <a:solidFill>
                            <a:schemeClr val="bg1">
                              <a:lumMod val="75000"/>
                            </a:schemeClr>
                          </a:solidFill>
                          <a:latin typeface="Cambria Math" panose="02040503050406030204" pitchFamily="18" charset="0"/>
                        </a:rPr>
                        <m:t>𝑃𝑉</m:t>
                      </m:r>
                      <m:r>
                        <a:rPr lang="en-GB" sz="1600" i="1">
                          <a:solidFill>
                            <a:schemeClr val="bg1">
                              <a:lumMod val="75000"/>
                            </a:schemeClr>
                          </a:solidFill>
                          <a:latin typeface="Cambria Math" panose="02040503050406030204" pitchFamily="18" charset="0"/>
                          <a:ea typeface="Cambria Math" panose="02040503050406030204" pitchFamily="18" charset="0"/>
                        </a:rPr>
                        <m:t>×</m:t>
                      </m:r>
                      <m:d>
                        <m:dPr>
                          <m:ctrlPr>
                            <a:rPr lang="en-GB" sz="1600" i="1">
                              <a:solidFill>
                                <a:schemeClr val="bg1">
                                  <a:lumMod val="75000"/>
                                </a:schemeClr>
                              </a:solidFill>
                              <a:latin typeface="Cambria Math" panose="02040503050406030204" pitchFamily="18" charset="0"/>
                            </a:rPr>
                          </m:ctrlPr>
                        </m:dPr>
                        <m:e>
                          <m:r>
                            <a:rPr lang="en-GB" sz="1600" i="1">
                              <a:solidFill>
                                <a:schemeClr val="bg1">
                                  <a:lumMod val="75000"/>
                                </a:schemeClr>
                              </a:solidFill>
                              <a:latin typeface="Cambria Math" panose="02040503050406030204" pitchFamily="18" charset="0"/>
                            </a:rPr>
                            <m:t>1+</m:t>
                          </m:r>
                          <m:r>
                            <a:rPr lang="en-GB" sz="1600" i="1">
                              <a:solidFill>
                                <a:schemeClr val="bg1">
                                  <a:lumMod val="75000"/>
                                </a:schemeClr>
                              </a:solidFill>
                              <a:latin typeface="Cambria Math" panose="02040503050406030204" pitchFamily="18" charset="0"/>
                              <a:ea typeface="Cambria Math" panose="02040503050406030204" pitchFamily="18" charset="0"/>
                            </a:rPr>
                            <m:t>𝑟𝑡</m:t>
                          </m:r>
                        </m:e>
                      </m:d>
                    </m:oMath>
                  </m:oMathPara>
                </a14:m>
                <a:endParaRPr lang="en-GB" sz="1600" dirty="0">
                  <a:solidFill>
                    <a:schemeClr val="bg1">
                      <a:lumMod val="75000"/>
                    </a:schemeClr>
                  </a:solidFill>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bg1">
                              <a:lumMod val="75000"/>
                            </a:schemeClr>
                          </a:solidFill>
                          <a:latin typeface="Cambria Math" panose="02040503050406030204" pitchFamily="18" charset="0"/>
                        </a:rPr>
                        <m:t>𝑃𝑉</m:t>
                      </m:r>
                      <m:r>
                        <a:rPr lang="en-GB" sz="1600" i="1">
                          <a:solidFill>
                            <a:schemeClr val="bg1">
                              <a:lumMod val="75000"/>
                            </a:schemeClr>
                          </a:solidFill>
                          <a:latin typeface="Cambria Math" panose="02040503050406030204" pitchFamily="18" charset="0"/>
                        </a:rPr>
                        <m:t>=</m:t>
                      </m:r>
                      <m:r>
                        <a:rPr lang="en-GB" sz="1600" i="1">
                          <a:solidFill>
                            <a:schemeClr val="bg1">
                              <a:lumMod val="75000"/>
                            </a:schemeClr>
                          </a:solidFill>
                          <a:latin typeface="Cambria Math" panose="02040503050406030204" pitchFamily="18" charset="0"/>
                        </a:rPr>
                        <m:t>𝐹𝑉</m:t>
                      </m:r>
                      <m:r>
                        <a:rPr lang="en-GB" sz="1600" i="1">
                          <a:solidFill>
                            <a:schemeClr val="bg1">
                              <a:lumMod val="75000"/>
                            </a:schemeClr>
                          </a:solidFill>
                          <a:latin typeface="Cambria Math" panose="02040503050406030204" pitchFamily="18" charset="0"/>
                        </a:rPr>
                        <m:t>×</m:t>
                      </m:r>
                      <m:sSup>
                        <m:sSupPr>
                          <m:ctrlPr>
                            <a:rPr lang="en-GB" sz="1600" i="1">
                              <a:solidFill>
                                <a:schemeClr val="bg1">
                                  <a:lumMod val="75000"/>
                                </a:schemeClr>
                              </a:solidFill>
                              <a:latin typeface="Cambria Math" panose="02040503050406030204" pitchFamily="18" charset="0"/>
                            </a:rPr>
                          </m:ctrlPr>
                        </m:sSupPr>
                        <m:e>
                          <m:d>
                            <m:dPr>
                              <m:ctrlPr>
                                <a:rPr lang="en-GB" sz="1600" i="1">
                                  <a:solidFill>
                                    <a:schemeClr val="bg1">
                                      <a:lumMod val="75000"/>
                                    </a:schemeClr>
                                  </a:solidFill>
                                  <a:latin typeface="Cambria Math" panose="02040503050406030204" pitchFamily="18" charset="0"/>
                                </a:rPr>
                              </m:ctrlPr>
                            </m:dPr>
                            <m:e>
                              <m:r>
                                <a:rPr lang="en-GB" sz="1600" i="1">
                                  <a:solidFill>
                                    <a:schemeClr val="bg1">
                                      <a:lumMod val="75000"/>
                                    </a:schemeClr>
                                  </a:solidFill>
                                  <a:latin typeface="Cambria Math" panose="02040503050406030204" pitchFamily="18" charset="0"/>
                                </a:rPr>
                                <m:t>1+</m:t>
                              </m:r>
                              <m:r>
                                <a:rPr lang="en-GB" sz="1600" i="1">
                                  <a:solidFill>
                                    <a:schemeClr val="bg1">
                                      <a:lumMod val="75000"/>
                                    </a:schemeClr>
                                  </a:solidFill>
                                  <a:latin typeface="Cambria Math" panose="02040503050406030204" pitchFamily="18" charset="0"/>
                                </a:rPr>
                                <m:t>𝑟𝑡</m:t>
                              </m:r>
                            </m:e>
                          </m:d>
                        </m:e>
                        <m:sup>
                          <m:r>
                            <a:rPr lang="en-GB" sz="1600" i="1">
                              <a:solidFill>
                                <a:schemeClr val="bg1">
                                  <a:lumMod val="75000"/>
                                </a:schemeClr>
                              </a:solidFill>
                              <a:latin typeface="Cambria Math" panose="02040503050406030204" pitchFamily="18" charset="0"/>
                            </a:rPr>
                            <m:t>−1</m:t>
                          </m:r>
                        </m:sup>
                      </m:sSup>
                    </m:oMath>
                  </m:oMathPara>
                </a14:m>
                <a:endParaRPr lang="en-GB" sz="1600" i="1" dirty="0">
                  <a:solidFill>
                    <a:schemeClr val="accent5">
                      <a:lumMod val="75000"/>
                    </a:schemeClr>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6828D71-AA1F-B950-4C7A-4BF4EE74BF6F}"/>
                  </a:ext>
                </a:extLst>
              </p:cNvPr>
              <p:cNvSpPr>
                <a:spLocks noGrp="1" noRot="1" noChangeAspect="1" noMove="1" noResize="1" noEditPoints="1" noAdjustHandles="1" noChangeArrowheads="1" noChangeShapeType="1" noTextEdit="1"/>
              </p:cNvSpPr>
              <p:nvPr>
                <p:ph idx="1"/>
              </p:nvPr>
            </p:nvSpPr>
            <p:spPr>
              <a:xfrm>
                <a:off x="628649" y="1556793"/>
                <a:ext cx="7471743" cy="1252154"/>
              </a:xfrm>
              <a:blipFill>
                <a:blip r:embed="rId2"/>
                <a:stretch>
                  <a:fillRect t="-388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9C1BEA48-5988-1868-8C99-544570DFE959}"/>
                  </a:ext>
                </a:extLst>
              </p:cNvPr>
              <p:cNvSpPr txBox="1">
                <a:spLocks/>
              </p:cNvSpPr>
              <p:nvPr/>
            </p:nvSpPr>
            <p:spPr>
              <a:xfrm>
                <a:off x="649052" y="2707630"/>
                <a:ext cx="7923448" cy="3457674"/>
              </a:xfrm>
              <a:prstGeom prst="rect">
                <a:avLst/>
              </a:prstGeom>
            </p:spPr>
            <p:txBody>
              <a:bodyPr vert="horz" lIns="68580" tIns="34290" rIns="68580" bIns="3429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600075" lvl="2" indent="-257175">
                  <a:spcAft>
                    <a:spcPts val="900"/>
                  </a:spcAft>
                  <a:buClr>
                    <a:srgbClr val="C00000"/>
                  </a:buClr>
                  <a:buSzPct val="90000"/>
                  <a:buFont typeface="Calibri" panose="020F0502020204030204" pitchFamily="34" charset="0"/>
                  <a:buChar char="─"/>
                </a:pPr>
                <a:r>
                  <a:rPr lang="en-GB" sz="1800" dirty="0"/>
                  <a:t>Compound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800" i="1">
                              <a:solidFill>
                                <a:srgbClr val="C00000"/>
                              </a:solidFill>
                              <a:latin typeface="Cambria Math" panose="02040503050406030204" pitchFamily="18" charset="0"/>
                              <a:ea typeface="Cambria Math" panose="02040503050406030204" pitchFamily="18" charset="0"/>
                            </a:rPr>
                            <m:t>𝑡</m:t>
                          </m:r>
                        </m:sup>
                      </m:sSup>
                    </m:oMath>
                  </m:oMathPara>
                </a14:m>
                <a:endParaRPr lang="en-GB" sz="18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rPr>
                                <m:t>𝑟</m:t>
                              </m:r>
                            </m:e>
                          </m:d>
                        </m:e>
                        <m:sup>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𝑡</m:t>
                          </m:r>
                        </m:sup>
                      </m:sSup>
                    </m:oMath>
                  </m:oMathPara>
                </a14:m>
                <a:endParaRPr lang="en-GB" sz="1800" i="1" dirty="0">
                  <a:solidFill>
                    <a:schemeClr val="accent5">
                      <a:lumMod val="75000"/>
                    </a:schemeClr>
                  </a:solidFill>
                  <a:latin typeface="Cambria Math" panose="02040503050406030204" pitchFamily="18"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sSup>
                        <m:sSupPr>
                          <m:ctrlPr>
                            <a:rPr lang="en-GB" sz="1800" i="1">
                              <a:solidFill>
                                <a:schemeClr val="tx1"/>
                              </a:solidFill>
                              <a:latin typeface="Cambria Math" panose="02040503050406030204" pitchFamily="18" charset="0"/>
                            </a:rPr>
                          </m:ctrlPr>
                        </m:sSupPr>
                        <m:e>
                          <m:r>
                            <a:rPr lang="en-GB" sz="1800" i="1">
                              <a:solidFill>
                                <a:schemeClr val="tx1"/>
                              </a:solidFill>
                              <a:latin typeface="Cambria Math" panose="02040503050406030204" pitchFamily="18" charset="0"/>
                            </a:rPr>
                            <m:t>𝑟</m:t>
                          </m:r>
                          <m:r>
                            <a:rPr lang="en-GB" sz="1800" i="1">
                              <a:solidFill>
                                <a:schemeClr val="tx1"/>
                              </a:solidFill>
                              <a:latin typeface="Cambria Math" panose="02040503050406030204" pitchFamily="18" charset="0"/>
                            </a:rPr>
                            <m:t>=</m:t>
                          </m:r>
                          <m:d>
                            <m:dPr>
                              <m:ctrlPr>
                                <a:rPr lang="en-GB" sz="1800" i="1">
                                  <a:solidFill>
                                    <a:schemeClr val="tx1"/>
                                  </a:solidFill>
                                  <a:latin typeface="Cambria Math" panose="02040503050406030204" pitchFamily="18" charset="0"/>
                                </a:rPr>
                              </m:ctrlPr>
                            </m:dPr>
                            <m:e>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𝐹𝑉</m:t>
                                  </m:r>
                                </m:num>
                                <m:den>
                                  <m:r>
                                    <a:rPr lang="en-GB" sz="1800" i="1">
                                      <a:solidFill>
                                        <a:schemeClr val="tx1"/>
                                      </a:solidFill>
                                      <a:latin typeface="Cambria Math" panose="02040503050406030204" pitchFamily="18" charset="0"/>
                                    </a:rPr>
                                    <m:t>𝑃𝑉</m:t>
                                  </m:r>
                                </m:den>
                              </m:f>
                            </m:e>
                          </m:d>
                        </m:e>
                        <m:sup>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1</m:t>
                              </m:r>
                            </m:num>
                            <m:den>
                              <m:r>
                                <a:rPr lang="en-GB" sz="1800" i="1">
                                  <a:solidFill>
                                    <a:schemeClr val="tx1"/>
                                  </a:solidFill>
                                  <a:latin typeface="Cambria Math" panose="02040503050406030204" pitchFamily="18" charset="0"/>
                                </a:rPr>
                                <m:t>𝑡</m:t>
                              </m:r>
                            </m:den>
                          </m:f>
                        </m:sup>
                      </m:sSup>
                    </m:oMath>
                  </m:oMathPara>
                </a14:m>
                <a:endParaRPr lang="en-GB" sz="1800" i="1" dirty="0">
                  <a:solidFill>
                    <a:schemeClr val="accent5">
                      <a:lumMod val="75000"/>
                    </a:schemeClr>
                  </a:solidFill>
                  <a:latin typeface="Cambria Math" panose="02040503050406030204" pitchFamily="18"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tx1"/>
                          </a:solidFill>
                          <a:latin typeface="Cambria Math" panose="02040503050406030204" pitchFamily="18" charset="0"/>
                          <a:ea typeface="Cambria Math" panose="02040503050406030204" pitchFamily="18" charset="0"/>
                        </a:rPr>
                        <m:t>𝑡</m:t>
                      </m:r>
                      <m:r>
                        <a:rPr lang="en-GB" sz="1800" i="1">
                          <a:solidFill>
                            <a:schemeClr val="tx1"/>
                          </a:solidFill>
                          <a:latin typeface="Cambria Math" panose="02040503050406030204" pitchFamily="18" charset="0"/>
                          <a:ea typeface="Cambria Math" panose="02040503050406030204" pitchFamily="18" charset="0"/>
                        </a:rPr>
                        <m:t>=</m:t>
                      </m:r>
                      <m:f>
                        <m:fPr>
                          <m:ctrlPr>
                            <a:rPr lang="en-GB" sz="1800" i="1">
                              <a:solidFill>
                                <a:schemeClr val="tx1"/>
                              </a:solidFill>
                              <a:latin typeface="Cambria Math" panose="02040503050406030204" pitchFamily="18" charset="0"/>
                            </a:rPr>
                          </m:ctrlPr>
                        </m:fPr>
                        <m:num>
                          <m:func>
                            <m:funcPr>
                              <m:ctrlPr>
                                <a:rPr lang="en-GB" sz="1800" i="1">
                                  <a:solidFill>
                                    <a:schemeClr val="tx1"/>
                                  </a:solidFill>
                                  <a:latin typeface="Cambria Math" panose="02040503050406030204" pitchFamily="18" charset="0"/>
                                </a:rPr>
                              </m:ctrlPr>
                            </m:funcPr>
                            <m:fName>
                              <m:r>
                                <m:rPr>
                                  <m:sty m:val="p"/>
                                </m:rPr>
                                <a:rPr lang="en-GB" sz="1800">
                                  <a:solidFill>
                                    <a:schemeClr val="tx1"/>
                                  </a:solidFill>
                                  <a:latin typeface="Cambria Math" panose="02040503050406030204" pitchFamily="18" charset="0"/>
                                </a:rPr>
                                <m:t>ln</m:t>
                              </m:r>
                            </m:fName>
                            <m:e>
                              <m:d>
                                <m:dPr>
                                  <m:ctrlPr>
                                    <a:rPr lang="en-GB" sz="1800" i="1">
                                      <a:solidFill>
                                        <a:schemeClr val="tx1"/>
                                      </a:solidFill>
                                      <a:latin typeface="Cambria Math" panose="02040503050406030204" pitchFamily="18" charset="0"/>
                                    </a:rPr>
                                  </m:ctrlPr>
                                </m:dPr>
                                <m:e>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𝐹𝑉</m:t>
                                      </m:r>
                                    </m:num>
                                    <m:den>
                                      <m:r>
                                        <a:rPr lang="en-GB" sz="1800" i="1">
                                          <a:solidFill>
                                            <a:schemeClr val="tx1"/>
                                          </a:solidFill>
                                          <a:latin typeface="Cambria Math" panose="02040503050406030204" pitchFamily="18" charset="0"/>
                                        </a:rPr>
                                        <m:t>𝑃𝑉</m:t>
                                      </m:r>
                                    </m:den>
                                  </m:f>
                                </m:e>
                              </m:d>
                            </m:e>
                          </m:func>
                        </m:num>
                        <m:den>
                          <m:r>
                            <m:rPr>
                              <m:sty m:val="p"/>
                            </m:rPr>
                            <a:rPr lang="en-GB" sz="1800">
                              <a:solidFill>
                                <a:schemeClr val="tx1"/>
                              </a:solidFill>
                              <a:latin typeface="Cambria Math" panose="02040503050406030204" pitchFamily="18" charset="0"/>
                            </a:rPr>
                            <m:t>ln</m:t>
                          </m:r>
                          <m:r>
                            <a:rPr lang="en-GB" sz="1800" i="1">
                              <a:solidFill>
                                <a:schemeClr val="tx1"/>
                              </a:solidFill>
                              <a:latin typeface="Cambria Math" panose="02040503050406030204" pitchFamily="18" charset="0"/>
                            </a:rPr>
                            <m:t>⁡(1+</m:t>
                          </m:r>
                          <m:r>
                            <a:rPr lang="en-GB" sz="1800" i="1">
                              <a:solidFill>
                                <a:schemeClr val="tx1"/>
                              </a:solidFill>
                              <a:latin typeface="Cambria Math" panose="02040503050406030204" pitchFamily="18" charset="0"/>
                            </a:rPr>
                            <m:t>𝑟</m:t>
                          </m:r>
                          <m:r>
                            <a:rPr lang="en-GB" sz="1800" i="1">
                              <a:solidFill>
                                <a:schemeClr val="tx1"/>
                              </a:solidFill>
                              <a:latin typeface="Cambria Math" panose="02040503050406030204" pitchFamily="18" charset="0"/>
                            </a:rPr>
                            <m:t>)</m:t>
                          </m:r>
                        </m:den>
                      </m:f>
                    </m:oMath>
                  </m:oMathPara>
                </a14:m>
                <a:endParaRPr lang="en-GB" sz="1800" i="1" dirty="0">
                  <a:solidFill>
                    <a:schemeClr val="accent5">
                      <a:lumMod val="75000"/>
                    </a:schemeClr>
                  </a:solidFill>
                  <a:latin typeface="Cambria Math" panose="02040503050406030204" pitchFamily="18" charset="0"/>
                </a:endParaRPr>
              </a:p>
              <a:p>
                <a:pPr marL="0" indent="0">
                  <a:buNone/>
                </a:pPr>
                <a:r>
                  <a:rPr lang="en-GB" dirty="0"/>
                  <a:t>-	Continuous compounding</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accent5">
                              <a:lumMod val="75000"/>
                            </a:schemeClr>
                          </a:solidFill>
                          <a:latin typeface="Cambria Math" panose="02040503050406030204" pitchFamily="18" charset="0"/>
                        </a:rPr>
                        <m:t>𝐹𝑉</m:t>
                      </m:r>
                      <m:r>
                        <a:rPr lang="en-GB" sz="1600" i="1">
                          <a:solidFill>
                            <a:schemeClr val="accent5">
                              <a:lumMod val="75000"/>
                            </a:schemeClr>
                          </a:solidFill>
                          <a:latin typeface="Cambria Math" panose="02040503050406030204" pitchFamily="18" charset="0"/>
                        </a:rPr>
                        <m:t>=</m:t>
                      </m:r>
                      <m:r>
                        <a:rPr lang="en-GB" sz="1600" i="1">
                          <a:solidFill>
                            <a:schemeClr val="accent5">
                              <a:lumMod val="75000"/>
                            </a:schemeClr>
                          </a:solidFill>
                          <a:latin typeface="Cambria Math" panose="02040503050406030204" pitchFamily="18" charset="0"/>
                        </a:rPr>
                        <m:t>𝑃𝑉</m:t>
                      </m:r>
                      <m:r>
                        <a:rPr lang="en-GB" sz="16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600" i="1">
                              <a:solidFill>
                                <a:schemeClr val="accent5">
                                  <a:lumMod val="75000"/>
                                </a:schemeClr>
                              </a:solidFill>
                              <a:latin typeface="Cambria Math" panose="02040503050406030204" pitchFamily="18" charset="0"/>
                              <a:ea typeface="Cambria Math" panose="02040503050406030204" pitchFamily="18" charset="0"/>
                            </a:rPr>
                          </m:ctrlPr>
                        </m:sSupPr>
                        <m:e>
                          <m:r>
                            <a:rPr lang="en-GB" sz="1600" i="1">
                              <a:solidFill>
                                <a:schemeClr val="accent5">
                                  <a:lumMod val="75000"/>
                                </a:schemeClr>
                              </a:solidFill>
                              <a:latin typeface="Cambria Math" panose="02040503050406030204" pitchFamily="18" charset="0"/>
                              <a:ea typeface="Cambria Math" panose="02040503050406030204" pitchFamily="18" charset="0"/>
                            </a:rPr>
                            <m:t>𝑒</m:t>
                          </m:r>
                        </m:e>
                        <m:sup>
                          <m:r>
                            <a:rPr lang="en-GB" sz="16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6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𝐹𝑉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r>
                            <a:rPr lang="en-GB" i="1">
                              <a:solidFill>
                                <a:schemeClr val="accent5">
                                  <a:lumMod val="75000"/>
                                </a:schemeClr>
                              </a:solidFill>
                              <a:latin typeface="Cambria Math" panose="02040503050406030204" pitchFamily="18" charset="0"/>
                              <a:ea typeface="Cambria Math" panose="02040503050406030204" pitchFamily="18" charset="0"/>
                            </a:rPr>
                            <m:t>𝑒</m:t>
                          </m:r>
                        </m:e>
                        <m:sup>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800" i="1" dirty="0">
                  <a:solidFill>
                    <a:schemeClr val="accent5">
                      <a:lumMod val="75000"/>
                    </a:schemeClr>
                  </a:solidFill>
                  <a:latin typeface="Cambria Math" panose="02040503050406030204" pitchFamily="18" charset="0"/>
                </a:endParaRPr>
              </a:p>
            </p:txBody>
          </p:sp>
        </mc:Choice>
        <mc:Fallback>
          <p:sp>
            <p:nvSpPr>
              <p:cNvPr id="4" name="Content Placeholder 2">
                <a:extLst>
                  <a:ext uri="{FF2B5EF4-FFF2-40B4-BE49-F238E27FC236}">
                    <a16:creationId xmlns:a16="http://schemas.microsoft.com/office/drawing/2014/main" id="{9C1BEA48-5988-1868-8C99-544570DFE959}"/>
                  </a:ext>
                </a:extLst>
              </p:cNvPr>
              <p:cNvSpPr txBox="1">
                <a:spLocks noRot="1" noChangeAspect="1" noMove="1" noResize="1" noEditPoints="1" noAdjustHandles="1" noChangeArrowheads="1" noChangeShapeType="1" noTextEdit="1"/>
              </p:cNvSpPr>
              <p:nvPr/>
            </p:nvSpPr>
            <p:spPr>
              <a:xfrm>
                <a:off x="649052" y="2707630"/>
                <a:ext cx="7923448" cy="3457674"/>
              </a:xfrm>
              <a:prstGeom prst="rect">
                <a:avLst/>
              </a:prstGeom>
              <a:blipFill>
                <a:blip r:embed="rId3"/>
                <a:stretch>
                  <a:fillRect l="-538" t="-1764"/>
                </a:stretch>
              </a:blipFill>
            </p:spPr>
            <p:txBody>
              <a:bodyPr/>
              <a:lstStyle/>
              <a:p>
                <a:r>
                  <a:rPr lang="en-GB">
                    <a:noFill/>
                  </a:rPr>
                  <a:t> </a:t>
                </a:r>
              </a:p>
            </p:txBody>
          </p:sp>
        </mc:Fallback>
      </mc:AlternateContent>
      <p:sp>
        <p:nvSpPr>
          <p:cNvPr id="11" name="Content Placeholder 2">
            <a:extLst>
              <a:ext uri="{FF2B5EF4-FFF2-40B4-BE49-F238E27FC236}">
                <a16:creationId xmlns:a16="http://schemas.microsoft.com/office/drawing/2014/main" id="{AAA1A048-E952-CEED-4726-400227868A6D}"/>
              </a:ext>
            </a:extLst>
          </p:cNvPr>
          <p:cNvSpPr txBox="1">
            <a:spLocks/>
          </p:cNvSpPr>
          <p:nvPr/>
        </p:nvSpPr>
        <p:spPr>
          <a:xfrm>
            <a:off x="1331640" y="5494371"/>
            <a:ext cx="4104456" cy="864096"/>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GB" i="1" dirty="0">
              <a:solidFill>
                <a:schemeClr val="accent5">
                  <a:lumMod val="75000"/>
                </a:schemeClr>
              </a:solidFill>
              <a:latin typeface="Cambria Math" panose="02040503050406030204" pitchFamily="18" charset="0"/>
            </a:endParaRPr>
          </a:p>
        </p:txBody>
      </p:sp>
    </p:spTree>
    <p:extLst>
      <p:ext uri="{BB962C8B-B14F-4D97-AF65-F5344CB8AC3E}">
        <p14:creationId xmlns:p14="http://schemas.microsoft.com/office/powerpoint/2010/main" val="126849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fltVal val="0"/>
                                          </p:val>
                                        </p:tav>
                                        <p:tav tm="100000">
                                          <p:val>
                                            <p:strVal val="#ppt_w"/>
                                          </p:val>
                                        </p:tav>
                                      </p:tavLst>
                                    </p:anim>
                                    <p:anim calcmode="lin" valueType="num">
                                      <p:cBhvr>
                                        <p:cTn id="30" dur="1000" fill="hold"/>
                                        <p:tgtEl>
                                          <p:spTgt spid="4"/>
                                        </p:tgtEl>
                                        <p:attrNameLst>
                                          <p:attrName>ppt_h</p:attrName>
                                        </p:attrNameLst>
                                      </p:cBhvr>
                                      <p:tavLst>
                                        <p:tav tm="0">
                                          <p:val>
                                            <p:fltVal val="0"/>
                                          </p:val>
                                        </p:tav>
                                        <p:tav tm="100000">
                                          <p:val>
                                            <p:strVal val="#ppt_h"/>
                                          </p:val>
                                        </p:tav>
                                      </p:tavLst>
                                    </p:anim>
                                    <p:anim calcmode="lin" valueType="num">
                                      <p:cBhvr>
                                        <p:cTn id="31" dur="1000" fill="hold"/>
                                        <p:tgtEl>
                                          <p:spTgt spid="4"/>
                                        </p:tgtEl>
                                        <p:attrNameLst>
                                          <p:attrName>style.rotation</p:attrName>
                                        </p:attrNameLst>
                                      </p:cBhvr>
                                      <p:tavLst>
                                        <p:tav tm="0">
                                          <p:val>
                                            <p:fltVal val="90"/>
                                          </p:val>
                                        </p:tav>
                                        <p:tav tm="100000">
                                          <p:val>
                                            <p:fltVal val="0"/>
                                          </p:val>
                                        </p:tav>
                                      </p:tavLst>
                                    </p:anim>
                                    <p:animEffect transition="in" filter="fade">
                                      <p:cBhvr>
                                        <p:cTn id="32" dur="1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25ED-46D7-11D1-00A0-8A661C8C92C8}"/>
              </a:ext>
            </a:extLst>
          </p:cNvPr>
          <p:cNvSpPr>
            <a:spLocks noGrp="1"/>
          </p:cNvSpPr>
          <p:nvPr>
            <p:ph type="title"/>
          </p:nvPr>
        </p:nvSpPr>
        <p:spPr>
          <a:xfrm>
            <a:off x="361206" y="502502"/>
            <a:ext cx="6375879" cy="502067"/>
          </a:xfrm>
        </p:spPr>
        <p:txBody>
          <a:bodyPr>
            <a:normAutofit fontScale="90000"/>
          </a:bodyPr>
          <a:lstStyle/>
          <a:p>
            <a:r>
              <a:rPr lang="en-GB" dirty="0"/>
              <a:t>Multiple cash flows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10FCC4-F35F-FF41-1A14-2DBD80C530F1}"/>
                  </a:ext>
                </a:extLst>
              </p:cNvPr>
              <p:cNvSpPr txBox="1"/>
              <p:nvPr/>
            </p:nvSpPr>
            <p:spPr>
              <a:xfrm>
                <a:off x="378826" y="1233384"/>
                <a:ext cx="7306707" cy="646331"/>
              </a:xfrm>
              <a:prstGeom prst="rect">
                <a:avLst/>
              </a:prstGeom>
              <a:noFill/>
            </p:spPr>
            <p:txBody>
              <a:bodyPr wrap="square">
                <a:spAutoFit/>
              </a:bodyPr>
              <a:lstStyle/>
              <a:p>
                <a:pPr marL="0" lvl="1" indent="0">
                  <a:spcAft>
                    <a:spcPts val="900"/>
                  </a:spcAft>
                  <a:buClr>
                    <a:srgbClr val="C00000"/>
                  </a:buClr>
                  <a:buSzPct val="90000"/>
                </a:pPr>
                <a:r>
                  <a:rPr lang="en-GB" dirty="0">
                    <a:solidFill>
                      <a:prstClr val="black"/>
                    </a:solidFill>
                    <a:ea typeface="Cambria Math" panose="02040503050406030204" pitchFamily="18" charset="0"/>
                  </a:rPr>
                  <a:t>We could use the future value of each deposit separately. </a:t>
                </a:r>
                <a14:m>
                  <m:oMath xmlns:m="http://schemas.openxmlformats.org/officeDocument/2006/math">
                    <m:r>
                      <a:rPr lang="en-GB" i="1">
                        <a:solidFill>
                          <a:schemeClr val="accent5">
                            <a:lumMod val="75000"/>
                          </a:schemeClr>
                        </a:solidFill>
                        <a:latin typeface="Cambria Math" panose="02040503050406030204" pitchFamily="18" charset="0"/>
                      </a:rPr>
                      <m:t>𝐹𝑉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i="1">
                                <a:solidFill>
                                  <a:schemeClr val="accent5">
                                    <a:lumMod val="75000"/>
                                  </a:schemeClr>
                                </a:solidFill>
                                <a:latin typeface="Cambria Math" panose="02040503050406030204" pitchFamily="18" charset="0"/>
                              </a:rPr>
                            </m:ctrlPr>
                          </m:dPr>
                          <m:e>
                            <m:r>
                              <a:rPr lang="en-GB" i="1">
                                <a:solidFill>
                                  <a:schemeClr val="accent5">
                                    <a:lumMod val="75000"/>
                                  </a:schemeClr>
                                </a:solidFill>
                                <a:latin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e>
                        </m:d>
                      </m:e>
                      <m:sup>
                        <m:r>
                          <a:rPr lang="en-GB" i="1">
                            <a:solidFill>
                              <a:srgbClr val="C00000"/>
                            </a:solidFill>
                            <a:latin typeface="Cambria Math" panose="02040503050406030204" pitchFamily="18" charset="0"/>
                            <a:ea typeface="Cambria Math" panose="02040503050406030204" pitchFamily="18" charset="0"/>
                          </a:rPr>
                          <m:t>𝑡</m:t>
                        </m:r>
                      </m:sup>
                    </m:sSup>
                  </m:oMath>
                </a14:m>
                <a:endParaRPr lang="en-GB" dirty="0">
                  <a:solidFill>
                    <a:prstClr val="black"/>
                  </a:solidFill>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B110FCC4-F35F-FF41-1A14-2DBD80C530F1}"/>
                  </a:ext>
                </a:extLst>
              </p:cNvPr>
              <p:cNvSpPr txBox="1">
                <a:spLocks noRot="1" noChangeAspect="1" noMove="1" noResize="1" noEditPoints="1" noAdjustHandles="1" noChangeArrowheads="1" noChangeShapeType="1" noTextEdit="1"/>
              </p:cNvSpPr>
              <p:nvPr/>
            </p:nvSpPr>
            <p:spPr>
              <a:xfrm>
                <a:off x="378826" y="1233384"/>
                <a:ext cx="7306707" cy="646331"/>
              </a:xfrm>
              <a:prstGeom prst="rect">
                <a:avLst/>
              </a:prstGeom>
              <a:blipFill>
                <a:blip r:embed="rId3"/>
                <a:stretch>
                  <a:fillRect l="-667" t="-4717"/>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13D13452-035C-C340-8E01-422A163763FB}"/>
              </a:ext>
            </a:extLst>
          </p:cNvPr>
          <p:cNvGrpSpPr/>
          <p:nvPr/>
        </p:nvGrpSpPr>
        <p:grpSpPr>
          <a:xfrm>
            <a:off x="269215" y="3596469"/>
            <a:ext cx="7421063" cy="696627"/>
            <a:chOff x="976449" y="5426398"/>
            <a:chExt cx="9894751" cy="928835"/>
          </a:xfrm>
        </p:grpSpPr>
        <p:cxnSp>
          <p:nvCxnSpPr>
            <p:cNvPr id="7" name="Straight Connector 6">
              <a:extLst>
                <a:ext uri="{FF2B5EF4-FFF2-40B4-BE49-F238E27FC236}">
                  <a16:creationId xmlns:a16="http://schemas.microsoft.com/office/drawing/2014/main" id="{CA8C7FE4-58DF-7BED-23C7-C1BC3FAA6A19}"/>
                </a:ext>
              </a:extLst>
            </p:cNvPr>
            <p:cNvCxnSpPr/>
            <p:nvPr/>
          </p:nvCxnSpPr>
          <p:spPr>
            <a:xfrm>
              <a:off x="1426458" y="5427871"/>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1997600-135B-64BF-8378-731C852A815D}"/>
                </a:ext>
              </a:extLst>
            </p:cNvPr>
            <p:cNvCxnSpPr>
              <a:cxnSpLocks/>
            </p:cNvCxnSpPr>
            <p:nvPr/>
          </p:nvCxnSpPr>
          <p:spPr>
            <a:xfrm>
              <a:off x="1417990" y="5625181"/>
              <a:ext cx="900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8E48B7-4695-7CCD-227E-96FCAD682548}"/>
                </a:ext>
              </a:extLst>
            </p:cNvPr>
            <p:cNvCxnSpPr/>
            <p:nvPr/>
          </p:nvCxnSpPr>
          <p:spPr>
            <a:xfrm>
              <a:off x="3219921"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2E6D70-ECEE-40E1-0BA6-3DFDF5DA234B}"/>
                </a:ext>
              </a:extLst>
            </p:cNvPr>
            <p:cNvCxnSpPr/>
            <p:nvPr/>
          </p:nvCxnSpPr>
          <p:spPr>
            <a:xfrm>
              <a:off x="5023137"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34850E5-8D74-4681-622E-38801A01A56B}"/>
                </a:ext>
              </a:extLst>
            </p:cNvPr>
            <p:cNvCxnSpPr/>
            <p:nvPr/>
          </p:nvCxnSpPr>
          <p:spPr>
            <a:xfrm>
              <a:off x="6826355"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465F5CE-5AEF-0989-CC10-8184BDD409E9}"/>
                </a:ext>
              </a:extLst>
            </p:cNvPr>
            <p:cNvCxnSpPr/>
            <p:nvPr/>
          </p:nvCxnSpPr>
          <p:spPr>
            <a:xfrm>
              <a:off x="8628651"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DB7D8E1-2926-F5FA-EFA6-3D8267DEA5CB}"/>
                </a:ext>
              </a:extLst>
            </p:cNvPr>
            <p:cNvCxnSpPr/>
            <p:nvPr/>
          </p:nvCxnSpPr>
          <p:spPr>
            <a:xfrm>
              <a:off x="10430946"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487B885-9BEE-C09B-6DCF-72E719D4FF58}"/>
                    </a:ext>
                  </a:extLst>
                </p:cNvPr>
                <p:cNvSpPr txBox="1"/>
                <p:nvPr/>
              </p:nvSpPr>
              <p:spPr>
                <a:xfrm>
                  <a:off x="976449" y="5946657"/>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47" name="TextBox 46">
                  <a:extLst>
                    <a:ext uri="{FF2B5EF4-FFF2-40B4-BE49-F238E27FC236}">
                      <a16:creationId xmlns:a16="http://schemas.microsoft.com/office/drawing/2014/main" id="{C487B885-9BEE-C09B-6DCF-72E719D4FF58}"/>
                    </a:ext>
                  </a:extLst>
                </p:cNvPr>
                <p:cNvSpPr txBox="1">
                  <a:spLocks noRot="1" noChangeAspect="1" noMove="1" noResize="1" noEditPoints="1" noAdjustHandles="1" noChangeArrowheads="1" noChangeShapeType="1" noTextEdit="1"/>
                </p:cNvSpPr>
                <p:nvPr/>
              </p:nvSpPr>
              <p:spPr>
                <a:xfrm>
                  <a:off x="976449" y="5946657"/>
                  <a:ext cx="880509" cy="400109"/>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D27506EE-1FFF-4E65-4CE4-B09150DBFED9}"/>
                    </a:ext>
                  </a:extLst>
                </p:cNvPr>
                <p:cNvSpPr txBox="1"/>
                <p:nvPr/>
              </p:nvSpPr>
              <p:spPr>
                <a:xfrm>
                  <a:off x="2779666" y="5949858"/>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48" name="TextBox 47">
                  <a:extLst>
                    <a:ext uri="{FF2B5EF4-FFF2-40B4-BE49-F238E27FC236}">
                      <a16:creationId xmlns:a16="http://schemas.microsoft.com/office/drawing/2014/main" id="{D27506EE-1FFF-4E65-4CE4-B09150DBFED9}"/>
                    </a:ext>
                  </a:extLst>
                </p:cNvPr>
                <p:cNvSpPr txBox="1">
                  <a:spLocks noRot="1" noChangeAspect="1" noMove="1" noResize="1" noEditPoints="1" noAdjustHandles="1" noChangeArrowheads="1" noChangeShapeType="1" noTextEdit="1"/>
                </p:cNvSpPr>
                <p:nvPr/>
              </p:nvSpPr>
              <p:spPr>
                <a:xfrm>
                  <a:off x="2779666" y="5949858"/>
                  <a:ext cx="880509" cy="400109"/>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D300960-5FC5-19FE-63B5-A3DC63A26359}"/>
                    </a:ext>
                  </a:extLst>
                </p:cNvPr>
                <p:cNvSpPr txBox="1"/>
                <p:nvPr/>
              </p:nvSpPr>
              <p:spPr>
                <a:xfrm>
                  <a:off x="4582882" y="5949858"/>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49" name="TextBox 48">
                  <a:extLst>
                    <a:ext uri="{FF2B5EF4-FFF2-40B4-BE49-F238E27FC236}">
                      <a16:creationId xmlns:a16="http://schemas.microsoft.com/office/drawing/2014/main" id="{AD300960-5FC5-19FE-63B5-A3DC63A26359}"/>
                    </a:ext>
                  </a:extLst>
                </p:cNvPr>
                <p:cNvSpPr txBox="1">
                  <a:spLocks noRot="1" noChangeAspect="1" noMove="1" noResize="1" noEditPoints="1" noAdjustHandles="1" noChangeArrowheads="1" noChangeShapeType="1" noTextEdit="1"/>
                </p:cNvSpPr>
                <p:nvPr/>
              </p:nvSpPr>
              <p:spPr>
                <a:xfrm>
                  <a:off x="4582882" y="5949858"/>
                  <a:ext cx="880509" cy="400109"/>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74232B4-2E37-0E3B-13FC-F9C8C3B1E443}"/>
                    </a:ext>
                  </a:extLst>
                </p:cNvPr>
                <p:cNvSpPr txBox="1"/>
                <p:nvPr/>
              </p:nvSpPr>
              <p:spPr>
                <a:xfrm>
                  <a:off x="6386100" y="5955124"/>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50" name="TextBox 49">
                  <a:extLst>
                    <a:ext uri="{FF2B5EF4-FFF2-40B4-BE49-F238E27FC236}">
                      <a16:creationId xmlns:a16="http://schemas.microsoft.com/office/drawing/2014/main" id="{974232B4-2E37-0E3B-13FC-F9C8C3B1E443}"/>
                    </a:ext>
                  </a:extLst>
                </p:cNvPr>
                <p:cNvSpPr txBox="1">
                  <a:spLocks noRot="1" noChangeAspect="1" noMove="1" noResize="1" noEditPoints="1" noAdjustHandles="1" noChangeArrowheads="1" noChangeShapeType="1" noTextEdit="1"/>
                </p:cNvSpPr>
                <p:nvPr/>
              </p:nvSpPr>
              <p:spPr>
                <a:xfrm>
                  <a:off x="6386100" y="5955124"/>
                  <a:ext cx="880509" cy="400109"/>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A6073B6-5BE8-6BC6-7A7D-FE0EBD7D6F92}"/>
                    </a:ext>
                  </a:extLst>
                </p:cNvPr>
                <p:cNvSpPr txBox="1"/>
                <p:nvPr/>
              </p:nvSpPr>
              <p:spPr>
                <a:xfrm>
                  <a:off x="8188396" y="5946657"/>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=4</m:t>
                        </m:r>
                      </m:oMath>
                    </m:oMathPara>
                  </a14:m>
                  <a:endParaRPr lang="en-GB" sz="1350" dirty="0">
                    <a:solidFill>
                      <a:prstClr val="black"/>
                    </a:solidFill>
                    <a:latin typeface="Calibri" panose="020F0502020204030204"/>
                    <a:ea typeface="+mn-ea"/>
                  </a:endParaRPr>
                </a:p>
              </p:txBody>
            </p:sp>
          </mc:Choice>
          <mc:Fallback xmlns="">
            <p:sp>
              <p:nvSpPr>
                <p:cNvPr id="51" name="TextBox 50">
                  <a:extLst>
                    <a:ext uri="{FF2B5EF4-FFF2-40B4-BE49-F238E27FC236}">
                      <a16:creationId xmlns:a16="http://schemas.microsoft.com/office/drawing/2014/main" id="{BA6073B6-5BE8-6BC6-7A7D-FE0EBD7D6F92}"/>
                    </a:ext>
                  </a:extLst>
                </p:cNvPr>
                <p:cNvSpPr txBox="1">
                  <a:spLocks noRot="1" noChangeAspect="1" noMove="1" noResize="1" noEditPoints="1" noAdjustHandles="1" noChangeArrowheads="1" noChangeShapeType="1" noTextEdit="1"/>
                </p:cNvSpPr>
                <p:nvPr/>
              </p:nvSpPr>
              <p:spPr>
                <a:xfrm>
                  <a:off x="8188396" y="5946657"/>
                  <a:ext cx="880509" cy="400109"/>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CF40C78-2788-564E-6ED3-96C71DFE4C18}"/>
                    </a:ext>
                  </a:extLst>
                </p:cNvPr>
                <p:cNvSpPr txBox="1"/>
                <p:nvPr/>
              </p:nvSpPr>
              <p:spPr>
                <a:xfrm>
                  <a:off x="9990691" y="5955124"/>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=5</m:t>
                        </m:r>
                      </m:oMath>
                    </m:oMathPara>
                  </a14:m>
                  <a:endParaRPr lang="en-GB" sz="1350" dirty="0">
                    <a:solidFill>
                      <a:prstClr val="black"/>
                    </a:solidFill>
                    <a:latin typeface="Calibri" panose="020F0502020204030204"/>
                    <a:ea typeface="+mn-ea"/>
                  </a:endParaRPr>
                </a:p>
              </p:txBody>
            </p:sp>
          </mc:Choice>
          <mc:Fallback xmlns="">
            <p:sp>
              <p:nvSpPr>
                <p:cNvPr id="52" name="TextBox 51">
                  <a:extLst>
                    <a:ext uri="{FF2B5EF4-FFF2-40B4-BE49-F238E27FC236}">
                      <a16:creationId xmlns:a16="http://schemas.microsoft.com/office/drawing/2014/main" id="{ACF40C78-2788-564E-6ED3-96C71DFE4C18}"/>
                    </a:ext>
                  </a:extLst>
                </p:cNvPr>
                <p:cNvSpPr txBox="1">
                  <a:spLocks noRot="1" noChangeAspect="1" noMove="1" noResize="1" noEditPoints="1" noAdjustHandles="1" noChangeArrowheads="1" noChangeShapeType="1" noTextEdit="1"/>
                </p:cNvSpPr>
                <p:nvPr/>
              </p:nvSpPr>
              <p:spPr>
                <a:xfrm>
                  <a:off x="9990691" y="5955124"/>
                  <a:ext cx="880509" cy="400109"/>
                </a:xfrm>
                <a:prstGeom prst="rect">
                  <a:avLst/>
                </a:prstGeom>
                <a:blipFill>
                  <a:blip r:embed="rId9"/>
                  <a:stretch>
                    <a:fillRect/>
                  </a:stretch>
                </a:blipFill>
                <a:ln>
                  <a:noFill/>
                </a:ln>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4E5F6243-AEA7-CD97-A887-D0F38AF912AD}"/>
              </a:ext>
            </a:extLst>
          </p:cNvPr>
          <p:cNvGrpSpPr/>
          <p:nvPr/>
        </p:nvGrpSpPr>
        <p:grpSpPr>
          <a:xfrm>
            <a:off x="100774" y="2005900"/>
            <a:ext cx="7852724" cy="1509858"/>
            <a:chOff x="715997" y="3384895"/>
            <a:chExt cx="10470299" cy="2013143"/>
          </a:xfrm>
        </p:grpSpPr>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05F7443-F3FD-8A28-652B-4B71002135A1}"/>
                    </a:ext>
                  </a:extLst>
                </p:cNvPr>
                <p:cNvSpPr txBox="1"/>
                <p:nvPr/>
              </p:nvSpPr>
              <p:spPr>
                <a:xfrm>
                  <a:off x="715997" y="4967151"/>
                  <a:ext cx="1401411"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£200</m:t>
                        </m:r>
                      </m:oMath>
                    </m:oMathPara>
                  </a14:m>
                  <a:endParaRPr lang="en-GB" sz="1500" dirty="0"/>
                </a:p>
              </p:txBody>
            </p:sp>
          </mc:Choice>
          <mc:Fallback xmlns="">
            <p:sp>
              <p:nvSpPr>
                <p:cNvPr id="54" name="TextBox 53">
                  <a:extLst>
                    <a:ext uri="{FF2B5EF4-FFF2-40B4-BE49-F238E27FC236}">
                      <a16:creationId xmlns:a16="http://schemas.microsoft.com/office/drawing/2014/main" id="{305F7443-F3FD-8A28-652B-4B71002135A1}"/>
                    </a:ext>
                  </a:extLst>
                </p:cNvPr>
                <p:cNvSpPr txBox="1">
                  <a:spLocks noRot="1" noChangeAspect="1" noMove="1" noResize="1" noEditPoints="1" noAdjustHandles="1" noChangeArrowheads="1" noChangeShapeType="1" noTextEdit="1"/>
                </p:cNvSpPr>
                <p:nvPr/>
              </p:nvSpPr>
              <p:spPr>
                <a:xfrm>
                  <a:off x="715997" y="4967151"/>
                  <a:ext cx="1401411" cy="430887"/>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1B8118C-9EF2-2B4C-4930-9879A507E59A}"/>
                    </a:ext>
                  </a:extLst>
                </p:cNvPr>
                <p:cNvSpPr txBox="1"/>
                <p:nvPr/>
              </p:nvSpPr>
              <p:spPr>
                <a:xfrm>
                  <a:off x="5463392" y="3384895"/>
                  <a:ext cx="1401411" cy="3721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5</m:t>
                            </m:r>
                          </m:sup>
                        </m:sSup>
                      </m:oMath>
                    </m:oMathPara>
                  </a14:m>
                  <a:endParaRPr lang="en-GB" sz="1200" dirty="0">
                    <a:solidFill>
                      <a:srgbClr val="C00000"/>
                    </a:solidFill>
                  </a:endParaRPr>
                </a:p>
              </p:txBody>
            </p:sp>
          </mc:Choice>
          <mc:Fallback xmlns="">
            <p:sp>
              <p:nvSpPr>
                <p:cNvPr id="55" name="TextBox 54">
                  <a:extLst>
                    <a:ext uri="{FF2B5EF4-FFF2-40B4-BE49-F238E27FC236}">
                      <a16:creationId xmlns:a16="http://schemas.microsoft.com/office/drawing/2014/main" id="{11B8118C-9EF2-2B4C-4930-9879A507E59A}"/>
                    </a:ext>
                  </a:extLst>
                </p:cNvPr>
                <p:cNvSpPr txBox="1">
                  <a:spLocks noRot="1" noChangeAspect="1" noMove="1" noResize="1" noEditPoints="1" noAdjustHandles="1" noChangeArrowheads="1" noChangeShapeType="1" noTextEdit="1"/>
                </p:cNvSpPr>
                <p:nvPr/>
              </p:nvSpPr>
              <p:spPr>
                <a:xfrm>
                  <a:off x="5463392" y="3384895"/>
                  <a:ext cx="1401411" cy="372153"/>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A9DC2389-D539-FE9B-42C4-2D9CBD6CFB44}"/>
                    </a:ext>
                  </a:extLst>
                </p:cNvPr>
                <p:cNvSpPr txBox="1"/>
                <p:nvPr/>
              </p:nvSpPr>
              <p:spPr>
                <a:xfrm>
                  <a:off x="9784885" y="3542430"/>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£232</m:t>
                        </m:r>
                      </m:oMath>
                    </m:oMathPara>
                  </a14:m>
                  <a:endParaRPr lang="en-GB" sz="1500" dirty="0"/>
                </a:p>
              </p:txBody>
            </p:sp>
          </mc:Choice>
          <mc:Fallback xmlns="">
            <p:sp>
              <p:nvSpPr>
                <p:cNvPr id="56" name="TextBox 55">
                  <a:extLst>
                    <a:ext uri="{FF2B5EF4-FFF2-40B4-BE49-F238E27FC236}">
                      <a16:creationId xmlns:a16="http://schemas.microsoft.com/office/drawing/2014/main" id="{A9DC2389-D539-FE9B-42C4-2D9CBD6CFB44}"/>
                    </a:ext>
                  </a:extLst>
                </p:cNvPr>
                <p:cNvSpPr txBox="1">
                  <a:spLocks noRot="1" noChangeAspect="1" noMove="1" noResize="1" noEditPoints="1" noAdjustHandles="1" noChangeArrowheads="1" noChangeShapeType="1" noTextEdit="1"/>
                </p:cNvSpPr>
                <p:nvPr/>
              </p:nvSpPr>
              <p:spPr>
                <a:xfrm>
                  <a:off x="9784885" y="3542430"/>
                  <a:ext cx="1401411" cy="430886"/>
                </a:xfrm>
                <a:prstGeom prst="rect">
                  <a:avLst/>
                </a:prstGeom>
                <a:blipFill>
                  <a:blip r:embed="rId12"/>
                  <a:stretch>
                    <a:fillRect/>
                  </a:stretch>
                </a:blipFill>
              </p:spPr>
              <p:txBody>
                <a:bodyPr/>
                <a:lstStyle/>
                <a:p>
                  <a:r>
                    <a:rPr lang="en-GB">
                      <a:noFill/>
                    </a:rPr>
                    <a:t> </a:t>
                  </a:r>
                </a:p>
              </p:txBody>
            </p:sp>
          </mc:Fallback>
        </mc:AlternateContent>
        <p:cxnSp>
          <p:nvCxnSpPr>
            <p:cNvPr id="57" name="Connector: Elbow 56">
              <a:extLst>
                <a:ext uri="{FF2B5EF4-FFF2-40B4-BE49-F238E27FC236}">
                  <a16:creationId xmlns:a16="http://schemas.microsoft.com/office/drawing/2014/main" id="{D082E82F-A128-364C-F973-6C366980FB78}"/>
                </a:ext>
              </a:extLst>
            </p:cNvPr>
            <p:cNvCxnSpPr>
              <a:cxnSpLocks/>
              <a:stCxn id="54" idx="0"/>
            </p:cNvCxnSpPr>
            <p:nvPr/>
          </p:nvCxnSpPr>
          <p:spPr>
            <a:xfrm rot="5400000" flipH="1" flipV="1">
              <a:off x="5155569" y="-5062"/>
              <a:ext cx="1233347" cy="8711080"/>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C2FA7989-E3F4-FD78-D085-7C94133B94ED}"/>
              </a:ext>
            </a:extLst>
          </p:cNvPr>
          <p:cNvGrpSpPr/>
          <p:nvPr/>
        </p:nvGrpSpPr>
        <p:grpSpPr>
          <a:xfrm>
            <a:off x="1426289" y="2334598"/>
            <a:ext cx="6496724" cy="1240598"/>
            <a:chOff x="2519214" y="3743908"/>
            <a:chExt cx="8662299" cy="1654130"/>
          </a:xfrm>
        </p:grpSpPr>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C50D2B1-A245-E493-6DFD-182B35F97409}"/>
                    </a:ext>
                  </a:extLst>
                </p:cNvPr>
                <p:cNvSpPr txBox="1"/>
                <p:nvPr/>
              </p:nvSpPr>
              <p:spPr>
                <a:xfrm>
                  <a:off x="2519214" y="4967151"/>
                  <a:ext cx="1401411"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£300</m:t>
                        </m:r>
                      </m:oMath>
                    </m:oMathPara>
                  </a14:m>
                  <a:endParaRPr lang="en-GB" sz="1500" dirty="0"/>
                </a:p>
              </p:txBody>
            </p:sp>
          </mc:Choice>
          <mc:Fallback xmlns="">
            <p:sp>
              <p:nvSpPr>
                <p:cNvPr id="59" name="TextBox 58">
                  <a:extLst>
                    <a:ext uri="{FF2B5EF4-FFF2-40B4-BE49-F238E27FC236}">
                      <a16:creationId xmlns:a16="http://schemas.microsoft.com/office/drawing/2014/main" id="{6C50D2B1-A245-E493-6DFD-182B35F97409}"/>
                    </a:ext>
                  </a:extLst>
                </p:cNvPr>
                <p:cNvSpPr txBox="1">
                  <a:spLocks noRot="1" noChangeAspect="1" noMove="1" noResize="1" noEditPoints="1" noAdjustHandles="1" noChangeArrowheads="1" noChangeShapeType="1" noTextEdit="1"/>
                </p:cNvSpPr>
                <p:nvPr/>
              </p:nvSpPr>
              <p:spPr>
                <a:xfrm>
                  <a:off x="2519214" y="4967151"/>
                  <a:ext cx="1401411" cy="43088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071F410-B5F9-869B-66ED-8AEF798359E4}"/>
                    </a:ext>
                  </a:extLst>
                </p:cNvPr>
                <p:cNvSpPr txBox="1"/>
                <p:nvPr/>
              </p:nvSpPr>
              <p:spPr>
                <a:xfrm>
                  <a:off x="6267638" y="3743908"/>
                  <a:ext cx="14014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4</m:t>
                            </m:r>
                          </m:sup>
                        </m:sSup>
                      </m:oMath>
                    </m:oMathPara>
                  </a14:m>
                  <a:endParaRPr lang="en-GB" sz="1200" dirty="0">
                    <a:solidFill>
                      <a:srgbClr val="C00000"/>
                    </a:solidFill>
                  </a:endParaRPr>
                </a:p>
              </p:txBody>
            </p:sp>
          </mc:Choice>
          <mc:Fallback xmlns="">
            <p:sp>
              <p:nvSpPr>
                <p:cNvPr id="60" name="TextBox 59">
                  <a:extLst>
                    <a:ext uri="{FF2B5EF4-FFF2-40B4-BE49-F238E27FC236}">
                      <a16:creationId xmlns:a16="http://schemas.microsoft.com/office/drawing/2014/main" id="{A071F410-B5F9-869B-66ED-8AEF798359E4}"/>
                    </a:ext>
                  </a:extLst>
                </p:cNvPr>
                <p:cNvSpPr txBox="1">
                  <a:spLocks noRot="1" noChangeAspect="1" noMove="1" noResize="1" noEditPoints="1" noAdjustHandles="1" noChangeArrowheads="1" noChangeShapeType="1" noTextEdit="1"/>
                </p:cNvSpPr>
                <p:nvPr/>
              </p:nvSpPr>
              <p:spPr>
                <a:xfrm>
                  <a:off x="6267638" y="3743908"/>
                  <a:ext cx="1401411" cy="369332"/>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638CCCF-63B6-77D6-A13D-EE8D31DDD2C6}"/>
                    </a:ext>
                  </a:extLst>
                </p:cNvPr>
                <p:cNvSpPr txBox="1"/>
                <p:nvPr/>
              </p:nvSpPr>
              <p:spPr>
                <a:xfrm>
                  <a:off x="9780102" y="3874545"/>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£338</m:t>
                        </m:r>
                      </m:oMath>
                    </m:oMathPara>
                  </a14:m>
                  <a:endParaRPr lang="en-GB" sz="1500" dirty="0"/>
                </a:p>
              </p:txBody>
            </p:sp>
          </mc:Choice>
          <mc:Fallback xmlns="">
            <p:sp>
              <p:nvSpPr>
                <p:cNvPr id="61" name="TextBox 60">
                  <a:extLst>
                    <a:ext uri="{FF2B5EF4-FFF2-40B4-BE49-F238E27FC236}">
                      <a16:creationId xmlns:a16="http://schemas.microsoft.com/office/drawing/2014/main" id="{F638CCCF-63B6-77D6-A13D-EE8D31DDD2C6}"/>
                    </a:ext>
                  </a:extLst>
                </p:cNvPr>
                <p:cNvSpPr txBox="1">
                  <a:spLocks noRot="1" noChangeAspect="1" noMove="1" noResize="1" noEditPoints="1" noAdjustHandles="1" noChangeArrowheads="1" noChangeShapeType="1" noTextEdit="1"/>
                </p:cNvSpPr>
                <p:nvPr/>
              </p:nvSpPr>
              <p:spPr>
                <a:xfrm>
                  <a:off x="9780102" y="3874545"/>
                  <a:ext cx="1401411" cy="430886"/>
                </a:xfrm>
                <a:prstGeom prst="rect">
                  <a:avLst/>
                </a:prstGeom>
                <a:blipFill>
                  <a:blip r:embed="rId15"/>
                  <a:stretch>
                    <a:fillRect/>
                  </a:stretch>
                </a:blipFill>
              </p:spPr>
              <p:txBody>
                <a:bodyPr/>
                <a:lstStyle/>
                <a:p>
                  <a:r>
                    <a:rPr lang="en-GB">
                      <a:noFill/>
                    </a:rPr>
                    <a:t> </a:t>
                  </a:r>
                </a:p>
              </p:txBody>
            </p:sp>
          </mc:Fallback>
        </mc:AlternateContent>
        <p:cxnSp>
          <p:nvCxnSpPr>
            <p:cNvPr id="62" name="Connector: Elbow 61">
              <a:extLst>
                <a:ext uri="{FF2B5EF4-FFF2-40B4-BE49-F238E27FC236}">
                  <a16:creationId xmlns:a16="http://schemas.microsoft.com/office/drawing/2014/main" id="{6D77FC67-6537-556C-0723-488477BF7491}"/>
                </a:ext>
              </a:extLst>
            </p:cNvPr>
            <p:cNvCxnSpPr>
              <a:cxnSpLocks/>
            </p:cNvCxnSpPr>
            <p:nvPr/>
          </p:nvCxnSpPr>
          <p:spPr>
            <a:xfrm rot="5400000" flipH="1" flipV="1">
              <a:off x="6217240" y="1066446"/>
              <a:ext cx="903387" cy="6898024"/>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D5C0BDFE-70E5-B0B5-1C87-C79C5857093D}"/>
              </a:ext>
            </a:extLst>
          </p:cNvPr>
          <p:cNvGrpSpPr/>
          <p:nvPr/>
        </p:nvGrpSpPr>
        <p:grpSpPr>
          <a:xfrm>
            <a:off x="2778701" y="2596279"/>
            <a:ext cx="5161701" cy="978918"/>
            <a:chOff x="4322431" y="4092815"/>
            <a:chExt cx="6882268" cy="1305223"/>
          </a:xfrm>
        </p:grpSpPr>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E423AC2-70F3-403F-CCD6-A49874BDB913}"/>
                    </a:ext>
                  </a:extLst>
                </p:cNvPr>
                <p:cNvSpPr txBox="1"/>
                <p:nvPr/>
              </p:nvSpPr>
              <p:spPr>
                <a:xfrm>
                  <a:off x="4322431" y="4967151"/>
                  <a:ext cx="1401411"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£120</m:t>
                        </m:r>
                      </m:oMath>
                    </m:oMathPara>
                  </a14:m>
                  <a:endParaRPr lang="en-GB" sz="1500" dirty="0"/>
                </a:p>
              </p:txBody>
            </p:sp>
          </mc:Choice>
          <mc:Fallback xmlns="">
            <p:sp>
              <p:nvSpPr>
                <p:cNvPr id="64" name="TextBox 63">
                  <a:extLst>
                    <a:ext uri="{FF2B5EF4-FFF2-40B4-BE49-F238E27FC236}">
                      <a16:creationId xmlns:a16="http://schemas.microsoft.com/office/drawing/2014/main" id="{2E423AC2-70F3-403F-CCD6-A49874BDB913}"/>
                    </a:ext>
                  </a:extLst>
                </p:cNvPr>
                <p:cNvSpPr txBox="1">
                  <a:spLocks noRot="1" noChangeAspect="1" noMove="1" noResize="1" noEditPoints="1" noAdjustHandles="1" noChangeArrowheads="1" noChangeShapeType="1" noTextEdit="1"/>
                </p:cNvSpPr>
                <p:nvPr/>
              </p:nvSpPr>
              <p:spPr>
                <a:xfrm>
                  <a:off x="4322431" y="4967151"/>
                  <a:ext cx="1401411" cy="430887"/>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1DA1AF0C-7F64-DC85-32F4-D68A9FF1BCDE}"/>
                    </a:ext>
                  </a:extLst>
                </p:cNvPr>
                <p:cNvSpPr txBox="1"/>
                <p:nvPr/>
              </p:nvSpPr>
              <p:spPr>
                <a:xfrm>
                  <a:off x="7064530" y="4092815"/>
                  <a:ext cx="14014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3</m:t>
                            </m:r>
                          </m:sup>
                        </m:sSup>
                      </m:oMath>
                    </m:oMathPara>
                  </a14:m>
                  <a:endParaRPr lang="en-GB" sz="1200" dirty="0">
                    <a:solidFill>
                      <a:srgbClr val="C00000"/>
                    </a:solidFill>
                  </a:endParaRPr>
                </a:p>
              </p:txBody>
            </p:sp>
          </mc:Choice>
          <mc:Fallback xmlns="">
            <p:sp>
              <p:nvSpPr>
                <p:cNvPr id="65" name="TextBox 64">
                  <a:extLst>
                    <a:ext uri="{FF2B5EF4-FFF2-40B4-BE49-F238E27FC236}">
                      <a16:creationId xmlns:a16="http://schemas.microsoft.com/office/drawing/2014/main" id="{1DA1AF0C-7F64-DC85-32F4-D68A9FF1BCDE}"/>
                    </a:ext>
                  </a:extLst>
                </p:cNvPr>
                <p:cNvSpPr txBox="1">
                  <a:spLocks noRot="1" noChangeAspect="1" noMove="1" noResize="1" noEditPoints="1" noAdjustHandles="1" noChangeArrowheads="1" noChangeShapeType="1" noTextEdit="1"/>
                </p:cNvSpPr>
                <p:nvPr/>
              </p:nvSpPr>
              <p:spPr>
                <a:xfrm>
                  <a:off x="7064530" y="4092815"/>
                  <a:ext cx="1401411" cy="369332"/>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DCE9894-1990-D617-9434-A4888C775E76}"/>
                    </a:ext>
                  </a:extLst>
                </p:cNvPr>
                <p:cNvSpPr txBox="1"/>
                <p:nvPr/>
              </p:nvSpPr>
              <p:spPr>
                <a:xfrm>
                  <a:off x="9803288" y="4236099"/>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£131</m:t>
                        </m:r>
                      </m:oMath>
                    </m:oMathPara>
                  </a14:m>
                  <a:endParaRPr lang="en-GB" sz="1500" dirty="0"/>
                </a:p>
              </p:txBody>
            </p:sp>
          </mc:Choice>
          <mc:Fallback xmlns="">
            <p:sp>
              <p:nvSpPr>
                <p:cNvPr id="66" name="TextBox 65">
                  <a:extLst>
                    <a:ext uri="{FF2B5EF4-FFF2-40B4-BE49-F238E27FC236}">
                      <a16:creationId xmlns:a16="http://schemas.microsoft.com/office/drawing/2014/main" id="{DDCE9894-1990-D617-9434-A4888C775E76}"/>
                    </a:ext>
                  </a:extLst>
                </p:cNvPr>
                <p:cNvSpPr txBox="1">
                  <a:spLocks noRot="1" noChangeAspect="1" noMove="1" noResize="1" noEditPoints="1" noAdjustHandles="1" noChangeArrowheads="1" noChangeShapeType="1" noTextEdit="1"/>
                </p:cNvSpPr>
                <p:nvPr/>
              </p:nvSpPr>
              <p:spPr>
                <a:xfrm>
                  <a:off x="9803288" y="4236099"/>
                  <a:ext cx="1401411" cy="430886"/>
                </a:xfrm>
                <a:prstGeom prst="rect">
                  <a:avLst/>
                </a:prstGeom>
                <a:blipFill>
                  <a:blip r:embed="rId18"/>
                  <a:stretch>
                    <a:fillRect/>
                  </a:stretch>
                </a:blipFill>
              </p:spPr>
              <p:txBody>
                <a:bodyPr/>
                <a:lstStyle/>
                <a:p>
                  <a:r>
                    <a:rPr lang="en-GB">
                      <a:noFill/>
                    </a:rPr>
                    <a:t> </a:t>
                  </a:r>
                </a:p>
              </p:txBody>
            </p:sp>
          </mc:Fallback>
        </mc:AlternateContent>
        <p:cxnSp>
          <p:nvCxnSpPr>
            <p:cNvPr id="67" name="Connector: Elbow 66">
              <a:extLst>
                <a:ext uri="{FF2B5EF4-FFF2-40B4-BE49-F238E27FC236}">
                  <a16:creationId xmlns:a16="http://schemas.microsoft.com/office/drawing/2014/main" id="{C969036E-7F43-8EFB-5AA9-CC2F99D5C910}"/>
                </a:ext>
              </a:extLst>
            </p:cNvPr>
            <p:cNvCxnSpPr>
              <a:cxnSpLocks/>
            </p:cNvCxnSpPr>
            <p:nvPr/>
          </p:nvCxnSpPr>
          <p:spPr>
            <a:xfrm rot="5400000" flipH="1" flipV="1">
              <a:off x="7309964" y="2149331"/>
              <a:ext cx="530995" cy="5104646"/>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520ECCEB-9C90-0AA0-3AB7-3C2A264AB8A4}"/>
              </a:ext>
            </a:extLst>
          </p:cNvPr>
          <p:cNvGrpSpPr/>
          <p:nvPr/>
        </p:nvGrpSpPr>
        <p:grpSpPr>
          <a:xfrm>
            <a:off x="4131114" y="2833887"/>
            <a:ext cx="3804995" cy="741306"/>
            <a:chOff x="6125648" y="4409629"/>
            <a:chExt cx="5073326" cy="988409"/>
          </a:xfrm>
        </p:grpSpPr>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390D4C7-F0A0-DD68-AEB1-A5466833BBB0}"/>
                    </a:ext>
                  </a:extLst>
                </p:cNvPr>
                <p:cNvSpPr txBox="1"/>
                <p:nvPr/>
              </p:nvSpPr>
              <p:spPr>
                <a:xfrm>
                  <a:off x="6125648" y="4967151"/>
                  <a:ext cx="1401410"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£450</m:t>
                        </m:r>
                      </m:oMath>
                    </m:oMathPara>
                  </a14:m>
                  <a:endParaRPr lang="en-GB" sz="1500" dirty="0"/>
                </a:p>
              </p:txBody>
            </p:sp>
          </mc:Choice>
          <mc:Fallback xmlns="">
            <p:sp>
              <p:nvSpPr>
                <p:cNvPr id="69" name="TextBox 68">
                  <a:extLst>
                    <a:ext uri="{FF2B5EF4-FFF2-40B4-BE49-F238E27FC236}">
                      <a16:creationId xmlns:a16="http://schemas.microsoft.com/office/drawing/2014/main" id="{B390D4C7-F0A0-DD68-AEB1-A5466833BBB0}"/>
                    </a:ext>
                  </a:extLst>
                </p:cNvPr>
                <p:cNvSpPr txBox="1">
                  <a:spLocks noRot="1" noChangeAspect="1" noMove="1" noResize="1" noEditPoints="1" noAdjustHandles="1" noChangeArrowheads="1" noChangeShapeType="1" noTextEdit="1"/>
                </p:cNvSpPr>
                <p:nvPr/>
              </p:nvSpPr>
              <p:spPr>
                <a:xfrm>
                  <a:off x="6125648" y="4967151"/>
                  <a:ext cx="1401410" cy="430887"/>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F1A68860-72DF-4313-C527-2263744758A2}"/>
                    </a:ext>
                  </a:extLst>
                </p:cNvPr>
                <p:cNvSpPr txBox="1"/>
                <p:nvPr/>
              </p:nvSpPr>
              <p:spPr>
                <a:xfrm>
                  <a:off x="7927944" y="4409629"/>
                  <a:ext cx="14014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2</m:t>
                            </m:r>
                          </m:sup>
                        </m:sSup>
                      </m:oMath>
                    </m:oMathPara>
                  </a14:m>
                  <a:endParaRPr lang="en-GB" sz="1200" dirty="0">
                    <a:solidFill>
                      <a:srgbClr val="C00000"/>
                    </a:solidFill>
                  </a:endParaRPr>
                </a:p>
              </p:txBody>
            </p:sp>
          </mc:Choice>
          <mc:Fallback xmlns="">
            <p:sp>
              <p:nvSpPr>
                <p:cNvPr id="70" name="TextBox 69">
                  <a:extLst>
                    <a:ext uri="{FF2B5EF4-FFF2-40B4-BE49-F238E27FC236}">
                      <a16:creationId xmlns:a16="http://schemas.microsoft.com/office/drawing/2014/main" id="{F1A68860-72DF-4313-C527-2263744758A2}"/>
                    </a:ext>
                  </a:extLst>
                </p:cNvPr>
                <p:cNvSpPr txBox="1">
                  <a:spLocks noRot="1" noChangeAspect="1" noMove="1" noResize="1" noEditPoints="1" noAdjustHandles="1" noChangeArrowheads="1" noChangeShapeType="1" noTextEdit="1"/>
                </p:cNvSpPr>
                <p:nvPr/>
              </p:nvSpPr>
              <p:spPr>
                <a:xfrm>
                  <a:off x="7927944" y="4409629"/>
                  <a:ext cx="1401410" cy="369332"/>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8A69FB9-E491-FE77-B135-061A2E5AB08A}"/>
                    </a:ext>
                  </a:extLst>
                </p:cNvPr>
                <p:cNvSpPr txBox="1"/>
                <p:nvPr/>
              </p:nvSpPr>
              <p:spPr>
                <a:xfrm>
                  <a:off x="9797564" y="4564792"/>
                  <a:ext cx="1401410"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£477</m:t>
                        </m:r>
                      </m:oMath>
                    </m:oMathPara>
                  </a14:m>
                  <a:endParaRPr lang="en-GB" sz="1500" dirty="0"/>
                </a:p>
              </p:txBody>
            </p:sp>
          </mc:Choice>
          <mc:Fallback xmlns="">
            <p:sp>
              <p:nvSpPr>
                <p:cNvPr id="71" name="TextBox 70">
                  <a:extLst>
                    <a:ext uri="{FF2B5EF4-FFF2-40B4-BE49-F238E27FC236}">
                      <a16:creationId xmlns:a16="http://schemas.microsoft.com/office/drawing/2014/main" id="{08A69FB9-E491-FE77-B135-061A2E5AB08A}"/>
                    </a:ext>
                  </a:extLst>
                </p:cNvPr>
                <p:cNvSpPr txBox="1">
                  <a:spLocks noRot="1" noChangeAspect="1" noMove="1" noResize="1" noEditPoints="1" noAdjustHandles="1" noChangeArrowheads="1" noChangeShapeType="1" noTextEdit="1"/>
                </p:cNvSpPr>
                <p:nvPr/>
              </p:nvSpPr>
              <p:spPr>
                <a:xfrm>
                  <a:off x="9797564" y="4564792"/>
                  <a:ext cx="1401410" cy="430887"/>
                </a:xfrm>
                <a:prstGeom prst="rect">
                  <a:avLst/>
                </a:prstGeom>
                <a:blipFill>
                  <a:blip r:embed="rId21"/>
                  <a:stretch>
                    <a:fillRect/>
                  </a:stretch>
                </a:blipFill>
              </p:spPr>
              <p:txBody>
                <a:bodyPr/>
                <a:lstStyle/>
                <a:p>
                  <a:r>
                    <a:rPr lang="en-GB">
                      <a:noFill/>
                    </a:rPr>
                    <a:t> </a:t>
                  </a:r>
                </a:p>
              </p:txBody>
            </p:sp>
          </mc:Fallback>
        </mc:AlternateContent>
        <p:cxnSp>
          <p:nvCxnSpPr>
            <p:cNvPr id="72" name="Connector: Elbow 71">
              <a:extLst>
                <a:ext uri="{FF2B5EF4-FFF2-40B4-BE49-F238E27FC236}">
                  <a16:creationId xmlns:a16="http://schemas.microsoft.com/office/drawing/2014/main" id="{5A7FC531-DF34-1EB9-BA3F-2262494981EB}"/>
                </a:ext>
              </a:extLst>
            </p:cNvPr>
            <p:cNvCxnSpPr>
              <a:cxnSpLocks/>
              <a:stCxn id="69" idx="0"/>
            </p:cNvCxnSpPr>
            <p:nvPr/>
          </p:nvCxnSpPr>
          <p:spPr>
            <a:xfrm rot="5400000" flipH="1" flipV="1">
              <a:off x="8369930" y="3231555"/>
              <a:ext cx="192020" cy="3279174"/>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79C089DF-1F63-83D6-9CF0-8D14F6B7D7A9}"/>
              </a:ext>
            </a:extLst>
          </p:cNvPr>
          <p:cNvGrpSpPr/>
          <p:nvPr/>
        </p:nvGrpSpPr>
        <p:grpSpPr>
          <a:xfrm>
            <a:off x="5482837" y="3096304"/>
            <a:ext cx="2455301" cy="478892"/>
            <a:chOff x="7927944" y="4759515"/>
            <a:chExt cx="3273735" cy="638522"/>
          </a:xfrm>
        </p:grpSpPr>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ECEFE242-1B39-1713-6A70-F40383504639}"/>
                    </a:ext>
                  </a:extLst>
                </p:cNvPr>
                <p:cNvSpPr txBox="1"/>
                <p:nvPr/>
              </p:nvSpPr>
              <p:spPr>
                <a:xfrm>
                  <a:off x="7927944" y="4967151"/>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£200</m:t>
                        </m:r>
                      </m:oMath>
                    </m:oMathPara>
                  </a14:m>
                  <a:endParaRPr lang="en-GB" sz="1500" dirty="0"/>
                </a:p>
              </p:txBody>
            </p:sp>
          </mc:Choice>
          <mc:Fallback xmlns="">
            <p:sp>
              <p:nvSpPr>
                <p:cNvPr id="74" name="TextBox 73">
                  <a:extLst>
                    <a:ext uri="{FF2B5EF4-FFF2-40B4-BE49-F238E27FC236}">
                      <a16:creationId xmlns:a16="http://schemas.microsoft.com/office/drawing/2014/main" id="{ECEFE242-1B39-1713-6A70-F40383504639}"/>
                    </a:ext>
                  </a:extLst>
                </p:cNvPr>
                <p:cNvSpPr txBox="1">
                  <a:spLocks noRot="1" noChangeAspect="1" noMove="1" noResize="1" noEditPoints="1" noAdjustHandles="1" noChangeArrowheads="1" noChangeShapeType="1" noTextEdit="1"/>
                </p:cNvSpPr>
                <p:nvPr/>
              </p:nvSpPr>
              <p:spPr>
                <a:xfrm>
                  <a:off x="7927944" y="4967151"/>
                  <a:ext cx="1401411" cy="430886"/>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B14DBF37-DF9C-B150-A698-F89D01ECF91F}"/>
                    </a:ext>
                  </a:extLst>
                </p:cNvPr>
                <p:cNvSpPr txBox="1"/>
                <p:nvPr/>
              </p:nvSpPr>
              <p:spPr>
                <a:xfrm>
                  <a:off x="8793291" y="4759515"/>
                  <a:ext cx="14014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1</m:t>
                            </m:r>
                          </m:sup>
                        </m:sSup>
                      </m:oMath>
                    </m:oMathPara>
                  </a14:m>
                  <a:endParaRPr lang="en-GB" sz="1200" dirty="0">
                    <a:solidFill>
                      <a:srgbClr val="C00000"/>
                    </a:solidFill>
                  </a:endParaRPr>
                </a:p>
              </p:txBody>
            </p:sp>
          </mc:Choice>
          <mc:Fallback xmlns="">
            <p:sp>
              <p:nvSpPr>
                <p:cNvPr id="75" name="TextBox 74">
                  <a:extLst>
                    <a:ext uri="{FF2B5EF4-FFF2-40B4-BE49-F238E27FC236}">
                      <a16:creationId xmlns:a16="http://schemas.microsoft.com/office/drawing/2014/main" id="{B14DBF37-DF9C-B150-A698-F89D01ECF91F}"/>
                    </a:ext>
                  </a:extLst>
                </p:cNvPr>
                <p:cNvSpPr txBox="1">
                  <a:spLocks noRot="1" noChangeAspect="1" noMove="1" noResize="1" noEditPoints="1" noAdjustHandles="1" noChangeArrowheads="1" noChangeShapeType="1" noTextEdit="1"/>
                </p:cNvSpPr>
                <p:nvPr/>
              </p:nvSpPr>
              <p:spPr>
                <a:xfrm>
                  <a:off x="8793291" y="4759515"/>
                  <a:ext cx="1401411" cy="369332"/>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D228A20-B35F-A8B2-34B3-73E76D268874}"/>
                    </a:ext>
                  </a:extLst>
                </p:cNvPr>
                <p:cNvSpPr txBox="1"/>
                <p:nvPr/>
              </p:nvSpPr>
              <p:spPr>
                <a:xfrm>
                  <a:off x="9800268" y="4913855"/>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£206</m:t>
                        </m:r>
                      </m:oMath>
                    </m:oMathPara>
                  </a14:m>
                  <a:endParaRPr lang="en-GB" sz="1500" dirty="0"/>
                </a:p>
              </p:txBody>
            </p:sp>
          </mc:Choice>
          <mc:Fallback xmlns="">
            <p:sp>
              <p:nvSpPr>
                <p:cNvPr id="76" name="TextBox 75">
                  <a:extLst>
                    <a:ext uri="{FF2B5EF4-FFF2-40B4-BE49-F238E27FC236}">
                      <a16:creationId xmlns:a16="http://schemas.microsoft.com/office/drawing/2014/main" id="{CD228A20-B35F-A8B2-34B3-73E76D268874}"/>
                    </a:ext>
                  </a:extLst>
                </p:cNvPr>
                <p:cNvSpPr txBox="1">
                  <a:spLocks noRot="1" noChangeAspect="1" noMove="1" noResize="1" noEditPoints="1" noAdjustHandles="1" noChangeArrowheads="1" noChangeShapeType="1" noTextEdit="1"/>
                </p:cNvSpPr>
                <p:nvPr/>
              </p:nvSpPr>
              <p:spPr>
                <a:xfrm>
                  <a:off x="9800268" y="4913855"/>
                  <a:ext cx="1401411" cy="430886"/>
                </a:xfrm>
                <a:prstGeom prst="rect">
                  <a:avLst/>
                </a:prstGeom>
                <a:blipFill>
                  <a:blip r:embed="rId24"/>
                  <a:stretch>
                    <a:fillRect/>
                  </a:stretch>
                </a:blipFill>
              </p:spPr>
              <p:txBody>
                <a:bodyPr/>
                <a:lstStyle/>
                <a:p>
                  <a:r>
                    <a:rPr lang="en-GB">
                      <a:noFill/>
                    </a:rPr>
                    <a:t> </a:t>
                  </a:r>
                </a:p>
              </p:txBody>
            </p:sp>
          </mc:Fallback>
        </mc:AlternateContent>
        <p:cxnSp>
          <p:nvCxnSpPr>
            <p:cNvPr id="77" name="Connector: Elbow 76">
              <a:extLst>
                <a:ext uri="{FF2B5EF4-FFF2-40B4-BE49-F238E27FC236}">
                  <a16:creationId xmlns:a16="http://schemas.microsoft.com/office/drawing/2014/main" id="{101F4776-C5BC-6178-CFEE-DA9B46D8D416}"/>
                </a:ext>
              </a:extLst>
            </p:cNvPr>
            <p:cNvCxnSpPr>
              <a:cxnSpLocks/>
            </p:cNvCxnSpPr>
            <p:nvPr/>
          </p:nvCxnSpPr>
          <p:spPr>
            <a:xfrm>
              <a:off x="8991107" y="5109041"/>
              <a:ext cx="1126839" cy="1772"/>
            </a:xfrm>
            <a:prstGeom prst="bentConnector3">
              <a:avLst>
                <a:gd name="adj1" fmla="val 50000"/>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83" name="Group 82">
            <a:extLst>
              <a:ext uri="{FF2B5EF4-FFF2-40B4-BE49-F238E27FC236}">
                <a16:creationId xmlns:a16="http://schemas.microsoft.com/office/drawing/2014/main" id="{3CA4432A-2DB1-F5A0-3BC4-6EC7EBA68B29}"/>
              </a:ext>
            </a:extLst>
          </p:cNvPr>
          <p:cNvGrpSpPr/>
          <p:nvPr/>
        </p:nvGrpSpPr>
        <p:grpSpPr>
          <a:xfrm>
            <a:off x="7772898" y="2158697"/>
            <a:ext cx="1191590" cy="1370027"/>
            <a:chOff x="10871200" y="3409958"/>
            <a:chExt cx="1588786" cy="1826703"/>
          </a:xfrm>
        </p:grpSpPr>
        <p:sp>
          <p:nvSpPr>
            <p:cNvPr id="84" name="Right Brace 83">
              <a:extLst>
                <a:ext uri="{FF2B5EF4-FFF2-40B4-BE49-F238E27FC236}">
                  <a16:creationId xmlns:a16="http://schemas.microsoft.com/office/drawing/2014/main" id="{97D1F194-1A48-07B5-F3E2-4D7522081EA1}"/>
                </a:ext>
              </a:extLst>
            </p:cNvPr>
            <p:cNvSpPr/>
            <p:nvPr/>
          </p:nvSpPr>
          <p:spPr>
            <a:xfrm>
              <a:off x="10871200" y="3409958"/>
              <a:ext cx="359587" cy="1826703"/>
            </a:xfrm>
            <a:prstGeom prst="rightBrac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0D861D78-0116-78CE-7A98-F1B6C645E247}"/>
                    </a:ext>
                  </a:extLst>
                </p:cNvPr>
                <p:cNvSpPr txBox="1"/>
                <p:nvPr/>
              </p:nvSpPr>
              <p:spPr>
                <a:xfrm>
                  <a:off x="11058575" y="4123254"/>
                  <a:ext cx="1401411"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b="1" i="1">
                            <a:latin typeface="Cambria Math" panose="02040503050406030204" pitchFamily="18" charset="0"/>
                          </a:rPr>
                          <m:t>£</m:t>
                        </m:r>
                        <m:r>
                          <a:rPr lang="en-GB" sz="1500" b="1" i="1">
                            <a:latin typeface="Cambria Math" panose="02040503050406030204" pitchFamily="18" charset="0"/>
                          </a:rPr>
                          <m:t>𝟏</m:t>
                        </m:r>
                        <m:r>
                          <a:rPr lang="en-GB" sz="1500" b="1" i="1">
                            <a:latin typeface="Cambria Math" panose="02040503050406030204" pitchFamily="18" charset="0"/>
                          </a:rPr>
                          <m:t>,</m:t>
                        </m:r>
                        <m:r>
                          <a:rPr lang="en-GB" sz="1500" b="1" i="1">
                            <a:latin typeface="Cambria Math" panose="02040503050406030204" pitchFamily="18" charset="0"/>
                          </a:rPr>
                          <m:t>𝟑𝟖𝟒</m:t>
                        </m:r>
                      </m:oMath>
                    </m:oMathPara>
                  </a14:m>
                  <a:endParaRPr lang="en-GB" sz="1500" b="1" dirty="0"/>
                </a:p>
              </p:txBody>
            </p:sp>
          </mc:Choice>
          <mc:Fallback xmlns="">
            <p:sp>
              <p:nvSpPr>
                <p:cNvPr id="85" name="TextBox 84">
                  <a:extLst>
                    <a:ext uri="{FF2B5EF4-FFF2-40B4-BE49-F238E27FC236}">
                      <a16:creationId xmlns:a16="http://schemas.microsoft.com/office/drawing/2014/main" id="{0D861D78-0116-78CE-7A98-F1B6C645E247}"/>
                    </a:ext>
                  </a:extLst>
                </p:cNvPr>
                <p:cNvSpPr txBox="1">
                  <a:spLocks noRot="1" noChangeAspect="1" noMove="1" noResize="1" noEditPoints="1" noAdjustHandles="1" noChangeArrowheads="1" noChangeShapeType="1" noTextEdit="1"/>
                </p:cNvSpPr>
                <p:nvPr/>
              </p:nvSpPr>
              <p:spPr>
                <a:xfrm>
                  <a:off x="11058575" y="4123254"/>
                  <a:ext cx="1401411" cy="430887"/>
                </a:xfrm>
                <a:prstGeom prst="rect">
                  <a:avLst/>
                </a:prstGeom>
                <a:blipFill>
                  <a:blip r:embed="rId2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3758B57-52E0-A28C-3280-FDF10878A3E7}"/>
                  </a:ext>
                </a:extLst>
              </p:cNvPr>
              <p:cNvSpPr txBox="1"/>
              <p:nvPr/>
            </p:nvSpPr>
            <p:spPr>
              <a:xfrm>
                <a:off x="269215" y="4447605"/>
                <a:ext cx="8317340" cy="1703480"/>
              </a:xfrm>
              <a:prstGeom prst="rect">
                <a:avLst/>
              </a:prstGeom>
              <a:noFill/>
            </p:spPr>
            <p:txBody>
              <a:bodyPr wrap="square">
                <a:spAutoFit/>
              </a:bodyPr>
              <a:lstStyle/>
              <a:p>
                <a:pPr indent="-342900">
                  <a:spcAft>
                    <a:spcPts val="900"/>
                  </a:spcAft>
                  <a:buClr>
                    <a:srgbClr val="C00000"/>
                  </a:buClr>
                  <a:buSzPct val="90000"/>
                </a:pPr>
                <a:r>
                  <a:rPr lang="en-GB" dirty="0">
                    <a:ea typeface="Cambria Math" panose="02040503050406030204" pitchFamily="18" charset="0"/>
                  </a:rPr>
                  <a:t>Therefore, the future value of multiple cash flows is the </a:t>
                </a:r>
                <a:r>
                  <a:rPr lang="en-GB" i="1" dirty="0">
                    <a:ea typeface="Cambria Math" panose="02040503050406030204" pitchFamily="18" charset="0"/>
                  </a:rPr>
                  <a:t>sum </a:t>
                </a:r>
                <a:r>
                  <a:rPr lang="en-GB" dirty="0">
                    <a:ea typeface="Cambria Math" panose="02040503050406030204" pitchFamily="18" charset="0"/>
                  </a:rPr>
                  <a:t>of the future value of each cash flow, separately:</a:t>
                </a:r>
              </a:p>
              <a:p>
                <a:pPr indent="-342900">
                  <a:spcAft>
                    <a:spcPts val="900"/>
                  </a:spcAft>
                  <a:buClr>
                    <a:srgbClr val="C00000"/>
                  </a:buClr>
                  <a:buSzPct val="90000"/>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𝐹𝑉</m:t>
                      </m:r>
                      <m:r>
                        <a:rPr lang="en-GB" b="0" i="1" smtClean="0">
                          <a:latin typeface="Cambria Math" panose="02040503050406030204" pitchFamily="18" charset="0"/>
                          <a:ea typeface="Cambria Math" panose="02040503050406030204" pitchFamily="18" charset="0"/>
                        </a:rPr>
                        <m:t>=200</m:t>
                      </m:r>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1+3%</m:t>
                              </m:r>
                            </m:e>
                          </m:d>
                        </m:e>
                        <m:sup>
                          <m:r>
                            <a:rPr lang="en-GB" b="0" i="1" smtClean="0">
                              <a:latin typeface="Cambria Math" panose="02040503050406030204" pitchFamily="18" charset="0"/>
                              <a:ea typeface="Cambria Math" panose="02040503050406030204" pitchFamily="18" charset="0"/>
                            </a:rPr>
                            <m:t>5</m:t>
                          </m:r>
                        </m:sup>
                      </m:sSup>
                      <m:r>
                        <a:rPr lang="en-GB" b="0" i="1" smtClean="0">
                          <a:latin typeface="Cambria Math" panose="02040503050406030204" pitchFamily="18" charset="0"/>
                          <a:ea typeface="Cambria Math" panose="02040503050406030204" pitchFamily="18" charset="0"/>
                        </a:rPr>
                        <m:t>+300</m:t>
                      </m:r>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1+3%</m:t>
                              </m:r>
                            </m:e>
                          </m:d>
                        </m:e>
                        <m:sup>
                          <m:r>
                            <a:rPr lang="en-GB" b="0" i="1" smtClean="0">
                              <a:latin typeface="Cambria Math" panose="02040503050406030204" pitchFamily="18" charset="0"/>
                              <a:ea typeface="Cambria Math" panose="02040503050406030204" pitchFamily="18" charset="0"/>
                            </a:rPr>
                            <m:t>4</m:t>
                          </m:r>
                        </m:sup>
                      </m:sSup>
                      <m:r>
                        <a:rPr lang="en-GB" b="0" i="1" smtClean="0">
                          <a:latin typeface="Cambria Math" panose="02040503050406030204" pitchFamily="18" charset="0"/>
                          <a:ea typeface="Cambria Math" panose="02040503050406030204" pitchFamily="18" charset="0"/>
                        </a:rPr>
                        <m:t>+120</m:t>
                      </m:r>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1+3%</m:t>
                              </m:r>
                            </m:e>
                          </m:d>
                        </m:e>
                        <m:sup>
                          <m:r>
                            <a:rPr lang="en-GB" b="0" i="1" smtClean="0">
                              <a:latin typeface="Cambria Math" panose="02040503050406030204" pitchFamily="18" charset="0"/>
                              <a:ea typeface="Cambria Math" panose="02040503050406030204" pitchFamily="18" charset="0"/>
                            </a:rPr>
                            <m:t>3</m:t>
                          </m:r>
                        </m:sup>
                      </m:sSup>
                      <m:r>
                        <a:rPr lang="en-GB" b="0" i="1" smtClean="0">
                          <a:latin typeface="Cambria Math" panose="02040503050406030204" pitchFamily="18" charset="0"/>
                          <a:ea typeface="Cambria Math" panose="02040503050406030204" pitchFamily="18" charset="0"/>
                        </a:rPr>
                        <m:t>+450</m:t>
                      </m:r>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1+3%</m:t>
                              </m:r>
                            </m:e>
                          </m:d>
                        </m:e>
                        <m:sup>
                          <m:r>
                            <a:rPr lang="en-GB" b="0" i="1" smtClean="0">
                              <a:latin typeface="Cambria Math" panose="02040503050406030204" pitchFamily="18" charset="0"/>
                              <a:ea typeface="Cambria Math" panose="02040503050406030204" pitchFamily="18" charset="0"/>
                            </a:rPr>
                            <m:t>2</m:t>
                          </m:r>
                        </m:sup>
                      </m:sSup>
                      <m:r>
                        <a:rPr lang="en-GB" b="0" i="1" smtClean="0">
                          <a:latin typeface="Cambria Math" panose="02040503050406030204" pitchFamily="18" charset="0"/>
                          <a:ea typeface="Cambria Math" panose="02040503050406030204" pitchFamily="18" charset="0"/>
                        </a:rPr>
                        <m:t>+200</m:t>
                      </m:r>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1+3%</m:t>
                              </m:r>
                            </m:e>
                          </m:d>
                        </m:e>
                        <m:sup>
                          <m:r>
                            <a:rPr lang="en-GB" b="0" i="1" smtClean="0">
                              <a:latin typeface="Cambria Math" panose="02040503050406030204" pitchFamily="18" charset="0"/>
                              <a:ea typeface="Cambria Math" panose="02040503050406030204" pitchFamily="18" charset="0"/>
                            </a:rPr>
                            <m:t>1</m:t>
                          </m:r>
                        </m:sup>
                      </m:sSup>
                      <m:r>
                        <a:rPr lang="en-GB" sz="1350" i="1">
                          <a:latin typeface="Cambria Math" panose="02040503050406030204" pitchFamily="18" charset="0"/>
                          <a:ea typeface="Cambria Math" panose="02040503050406030204" pitchFamily="18" charset="0"/>
                        </a:rPr>
                        <m:t>=£1,384</m:t>
                      </m:r>
                    </m:oMath>
                  </m:oMathPara>
                </a14:m>
                <a:endParaRPr lang="en-GB" sz="1350" dirty="0">
                  <a:ea typeface="Cambria Math" panose="02040503050406030204" pitchFamily="18" charset="0"/>
                </a:endParaRPr>
              </a:p>
            </p:txBody>
          </p:sp>
        </mc:Choice>
        <mc:Fallback xmlns="">
          <p:sp>
            <p:nvSpPr>
              <p:cNvPr id="87" name="TextBox 86">
                <a:extLst>
                  <a:ext uri="{FF2B5EF4-FFF2-40B4-BE49-F238E27FC236}">
                    <a16:creationId xmlns:a16="http://schemas.microsoft.com/office/drawing/2014/main" id="{03758B57-52E0-A28C-3280-FDF10878A3E7}"/>
                  </a:ext>
                </a:extLst>
              </p:cNvPr>
              <p:cNvSpPr txBox="1">
                <a:spLocks noRot="1" noChangeAspect="1" noMove="1" noResize="1" noEditPoints="1" noAdjustHandles="1" noChangeArrowheads="1" noChangeShapeType="1" noTextEdit="1"/>
              </p:cNvSpPr>
              <p:nvPr/>
            </p:nvSpPr>
            <p:spPr>
              <a:xfrm>
                <a:off x="269215" y="4447605"/>
                <a:ext cx="8317340" cy="1703480"/>
              </a:xfrm>
              <a:prstGeom prst="rect">
                <a:avLst/>
              </a:prstGeom>
              <a:blipFill>
                <a:blip r:embed="rId26"/>
                <a:stretch>
                  <a:fillRect l="-586" t="-2151"/>
                </a:stretch>
              </a:blipFill>
            </p:spPr>
            <p:txBody>
              <a:bodyPr/>
              <a:lstStyle/>
              <a:p>
                <a:r>
                  <a:rPr lang="en-GB">
                    <a:noFill/>
                  </a:rPr>
                  <a:t> </a:t>
                </a:r>
              </a:p>
            </p:txBody>
          </p:sp>
        </mc:Fallback>
      </mc:AlternateContent>
    </p:spTree>
    <p:extLst>
      <p:ext uri="{BB962C8B-B14F-4D97-AF65-F5344CB8AC3E}">
        <p14:creationId xmlns:p14="http://schemas.microsoft.com/office/powerpoint/2010/main" val="96505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25ED-46D7-11D1-00A0-8A661C8C92C8}"/>
              </a:ext>
            </a:extLst>
          </p:cNvPr>
          <p:cNvSpPr>
            <a:spLocks noGrp="1"/>
          </p:cNvSpPr>
          <p:nvPr>
            <p:ph type="title"/>
          </p:nvPr>
        </p:nvSpPr>
        <p:spPr>
          <a:xfrm>
            <a:off x="378605" y="1073365"/>
            <a:ext cx="6375879" cy="598273"/>
          </a:xfrm>
        </p:spPr>
        <p:txBody>
          <a:bodyPr>
            <a:normAutofit/>
          </a:bodyPr>
          <a:lstStyle/>
          <a:p>
            <a:r>
              <a:rPr lang="en-GB" dirty="0"/>
              <a:t>Multiple cash flows - FV</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F02273-42A3-4B77-89D3-5DF32C16A297}"/>
                  </a:ext>
                </a:extLst>
              </p:cNvPr>
              <p:cNvSpPr txBox="1"/>
              <p:nvPr/>
            </p:nvSpPr>
            <p:spPr>
              <a:xfrm>
                <a:off x="378605" y="1799406"/>
                <a:ext cx="8044486" cy="1749005"/>
              </a:xfrm>
              <a:prstGeom prst="rect">
                <a:avLst/>
              </a:prstGeom>
              <a:noFill/>
            </p:spPr>
            <p:txBody>
              <a:bodyPr wrap="square">
                <a:spAutoFit/>
              </a:bodyPr>
              <a:lstStyle/>
              <a:p>
                <a:pPr marL="257175" lvl="1" indent="-257175">
                  <a:spcAft>
                    <a:spcPts val="900"/>
                  </a:spcAft>
                  <a:buClr>
                    <a:srgbClr val="C00000"/>
                  </a:buClr>
                  <a:buSzPct val="90000"/>
                </a:pPr>
                <a:r>
                  <a:rPr lang="en-GB" dirty="0"/>
                  <a:t>The generalisation of the future value of multiple cash flows is:</a:t>
                </a: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𝐹𝑉</m:t>
                      </m:r>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0</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r>
                            <a:rPr lang="en-GB" b="0" i="1" smtClean="0">
                              <a:solidFill>
                                <a:schemeClr val="accent5">
                                  <a:lumMod val="75000"/>
                                </a:schemeClr>
                              </a:solidFill>
                              <a:latin typeface="Cambria Math" panose="02040503050406030204" pitchFamily="18" charset="0"/>
                              <a:ea typeface="Cambria Math" panose="02040503050406030204" pitchFamily="18" charset="0"/>
                            </a:rPr>
                            <m:t>−1</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2</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r>
                            <a:rPr lang="en-GB" b="0" i="1" smtClean="0">
                              <a:solidFill>
                                <a:schemeClr val="accent5">
                                  <a:lumMod val="75000"/>
                                </a:schemeClr>
                              </a:solidFill>
                              <a:latin typeface="Cambria Math" panose="02040503050406030204" pitchFamily="18" charset="0"/>
                              <a:ea typeface="Cambria Math" panose="02040503050406030204" pitchFamily="18" charset="0"/>
                            </a:rPr>
                            <m:t>−2</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𝑚</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𝑚</m:t>
                          </m:r>
                        </m:sup>
                      </m:sSup>
                    </m:oMath>
                  </m:oMathPara>
                </a14:m>
                <a:endParaRPr lang="en-GB" dirty="0">
                  <a:solidFill>
                    <a:prstClr val="black"/>
                  </a:solidFill>
                  <a:ea typeface="Cambria Math" panose="02040503050406030204" pitchFamily="18" charset="0"/>
                </a:endParaRP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𝐹𝑉</m:t>
                      </m:r>
                      <m:r>
                        <a:rPr lang="en-GB" b="0" i="1" smtClean="0">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b="0" i="1" smtClean="0">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b="0" i="1" smtClean="0">
                              <a:solidFill>
                                <a:schemeClr val="accent5">
                                  <a:lumMod val="75000"/>
                                </a:schemeClr>
                              </a:solidFill>
                              <a:latin typeface="Cambria Math" panose="02040503050406030204" pitchFamily="18" charset="0"/>
                              <a:ea typeface="Cambria Math" panose="02040503050406030204" pitchFamily="18" charset="0"/>
                            </a:rPr>
                            <m:t>𝑖</m:t>
                          </m:r>
                          <m:r>
                            <a:rPr lang="en-GB" b="0" i="1" smtClean="0">
                              <a:solidFill>
                                <a:schemeClr val="accent5">
                                  <a:lumMod val="75000"/>
                                </a:schemeClr>
                              </a:solidFill>
                              <a:latin typeface="Cambria Math" panose="02040503050406030204" pitchFamily="18" charset="0"/>
                              <a:ea typeface="Cambria Math" panose="02040503050406030204" pitchFamily="18" charset="0"/>
                            </a:rPr>
                            <m:t>=0</m:t>
                          </m:r>
                        </m:sub>
                        <m:sup>
                          <m:r>
                            <a:rPr lang="en-GB" b="0" i="1" smtClean="0">
                              <a:solidFill>
                                <a:schemeClr val="accent5">
                                  <a:lumMod val="75000"/>
                                </a:schemeClr>
                              </a:solidFill>
                              <a:latin typeface="Cambria Math" panose="02040503050406030204" pitchFamily="18" charset="0"/>
                              <a:ea typeface="Cambria Math" panose="02040503050406030204" pitchFamily="18" charset="0"/>
                            </a:rPr>
                            <m:t>𝑚</m:t>
                          </m:r>
                        </m:sup>
                        <m:e>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𝑖</m:t>
                              </m:r>
                            </m:sup>
                          </m:sSup>
                        </m:e>
                      </m:nary>
                    </m:oMath>
                  </m:oMathPara>
                </a14:m>
                <a:endParaRPr lang="en-GB" dirty="0"/>
              </a:p>
            </p:txBody>
          </p:sp>
        </mc:Choice>
        <mc:Fallback xmlns="">
          <p:sp>
            <p:nvSpPr>
              <p:cNvPr id="6" name="TextBox 5">
                <a:extLst>
                  <a:ext uri="{FF2B5EF4-FFF2-40B4-BE49-F238E27FC236}">
                    <a16:creationId xmlns:a16="http://schemas.microsoft.com/office/drawing/2014/main" id="{9BF02273-42A3-4B77-89D3-5DF32C16A297}"/>
                  </a:ext>
                </a:extLst>
              </p:cNvPr>
              <p:cNvSpPr txBox="1">
                <a:spLocks noRot="1" noChangeAspect="1" noMove="1" noResize="1" noEditPoints="1" noAdjustHandles="1" noChangeArrowheads="1" noChangeShapeType="1" noTextEdit="1"/>
              </p:cNvSpPr>
              <p:nvPr/>
            </p:nvSpPr>
            <p:spPr>
              <a:xfrm>
                <a:off x="378605" y="1799406"/>
                <a:ext cx="8044486" cy="1749005"/>
              </a:xfrm>
              <a:prstGeom prst="rect">
                <a:avLst/>
              </a:prstGeom>
              <a:blipFill>
                <a:blip r:embed="rId2"/>
                <a:stretch>
                  <a:fillRect l="-606" t="-17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8CCCA0-D705-AA5D-5992-20572042E44A}"/>
                  </a:ext>
                </a:extLst>
              </p:cNvPr>
              <p:cNvSpPr txBox="1"/>
              <p:nvPr/>
            </p:nvSpPr>
            <p:spPr>
              <a:xfrm>
                <a:off x="378604" y="3325489"/>
                <a:ext cx="4586288" cy="369332"/>
              </a:xfrm>
              <a:prstGeom prst="rect">
                <a:avLst/>
              </a:prstGeom>
              <a:noFill/>
            </p:spPr>
            <p:txBody>
              <a:bodyPr wrap="square">
                <a:spAutoFit/>
              </a:bodyPr>
              <a:lstStyle/>
              <a:p>
                <a:pPr marL="0" lvl="1" indent="0">
                  <a:spcAft>
                    <a:spcPts val="900"/>
                  </a:spcAft>
                  <a:buClr>
                    <a:srgbClr val="C00000"/>
                  </a:buClr>
                  <a:buSzPct val="90000"/>
                </a:pPr>
                <a:r>
                  <a:rPr lang="en-GB" dirty="0">
                    <a:ea typeface="Cambria Math" panose="02040503050406030204" pitchFamily="18" charset="0"/>
                  </a:rPr>
                  <a:t>Where </a:t>
                </a:r>
                <a14:m>
                  <m:oMath xmlns:m="http://schemas.openxmlformats.org/officeDocument/2006/math">
                    <m:r>
                      <a:rPr lang="en-GB"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i="1">
                            <a:solidFill>
                              <a:schemeClr val="accent5">
                                <a:lumMod val="75000"/>
                              </a:schemeClr>
                            </a:solidFill>
                            <a:latin typeface="Cambria Math" panose="02040503050406030204" pitchFamily="18" charset="0"/>
                            <a:ea typeface="Cambria Math" panose="02040503050406030204" pitchFamily="18" charset="0"/>
                          </a:rPr>
                        </m:ctrlPr>
                      </m:sSubPr>
                      <m:e>
                        <m:r>
                          <a:rPr lang="en-GB" i="1">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𝑖</m:t>
                        </m:r>
                      </m:sub>
                    </m:sSub>
                  </m:oMath>
                </a14:m>
                <a:r>
                  <a:rPr lang="en-GB" dirty="0">
                    <a:ea typeface="Cambria Math" panose="02040503050406030204" pitchFamily="18" charset="0"/>
                  </a:rPr>
                  <a:t>: the cash flow in year </a:t>
                </a:r>
                <a14:m>
                  <m:oMath xmlns:m="http://schemas.openxmlformats.org/officeDocument/2006/math">
                    <m:r>
                      <a:rPr lang="en-GB" b="0" i="1" smtClean="0">
                        <a:latin typeface="Cambria Math" panose="02040503050406030204" pitchFamily="18" charset="0"/>
                        <a:ea typeface="Cambria Math" panose="02040503050406030204" pitchFamily="18" charset="0"/>
                      </a:rPr>
                      <m:t>𝑖</m:t>
                    </m:r>
                  </m:oMath>
                </a14:m>
                <a:r>
                  <a:rPr lang="en-GB" dirty="0">
                    <a:ea typeface="Cambria Math" panose="02040503050406030204" pitchFamily="18" charset="0"/>
                  </a:rPr>
                  <a:t>.</a:t>
                </a:r>
              </a:p>
            </p:txBody>
          </p:sp>
        </mc:Choice>
        <mc:Fallback xmlns="">
          <p:sp>
            <p:nvSpPr>
              <p:cNvPr id="9" name="TextBox 8">
                <a:extLst>
                  <a:ext uri="{FF2B5EF4-FFF2-40B4-BE49-F238E27FC236}">
                    <a16:creationId xmlns:a16="http://schemas.microsoft.com/office/drawing/2014/main" id="{D18CCCA0-D705-AA5D-5992-20572042E44A}"/>
                  </a:ext>
                </a:extLst>
              </p:cNvPr>
              <p:cNvSpPr txBox="1">
                <a:spLocks noRot="1" noChangeAspect="1" noMove="1" noResize="1" noEditPoints="1" noAdjustHandles="1" noChangeArrowheads="1" noChangeShapeType="1" noTextEdit="1"/>
              </p:cNvSpPr>
              <p:nvPr/>
            </p:nvSpPr>
            <p:spPr>
              <a:xfrm>
                <a:off x="378604" y="3325489"/>
                <a:ext cx="4586288" cy="369332"/>
              </a:xfrm>
              <a:prstGeom prst="rect">
                <a:avLst/>
              </a:prstGeom>
              <a:blipFill>
                <a:blip r:embed="rId3"/>
                <a:stretch>
                  <a:fillRect l="-1064" t="-10000" b="-26667"/>
                </a:stretch>
              </a:blipFill>
            </p:spPr>
            <p:txBody>
              <a:bodyPr/>
              <a:lstStyle/>
              <a:p>
                <a:r>
                  <a:rPr lang="en-GB">
                    <a:noFill/>
                  </a:rPr>
                  <a:t> </a:t>
                </a:r>
              </a:p>
            </p:txBody>
          </p:sp>
        </mc:Fallback>
      </mc:AlternateContent>
    </p:spTree>
    <p:extLst>
      <p:ext uri="{BB962C8B-B14F-4D97-AF65-F5344CB8AC3E}">
        <p14:creationId xmlns:p14="http://schemas.microsoft.com/office/powerpoint/2010/main" val="392742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F85A7-50BC-282B-EDFA-4390BC37EB43}"/>
              </a:ext>
            </a:extLst>
          </p:cNvPr>
          <p:cNvSpPr>
            <a:spLocks noGrp="1"/>
          </p:cNvSpPr>
          <p:nvPr>
            <p:ph type="title"/>
          </p:nvPr>
        </p:nvSpPr>
        <p:spPr>
          <a:xfrm>
            <a:off x="508267" y="669421"/>
            <a:ext cx="6447501" cy="585788"/>
          </a:xfrm>
        </p:spPr>
        <p:txBody>
          <a:bodyPr>
            <a:normAutofit/>
          </a:bodyPr>
          <a:lstStyle/>
          <a:p>
            <a:r>
              <a:rPr lang="en-GB" dirty="0"/>
              <a:t>Multiple cash flows - PV</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9199AEA-63B1-933B-21D6-0789FE611B11}"/>
                  </a:ext>
                </a:extLst>
              </p:cNvPr>
              <p:cNvSpPr txBox="1">
                <a:spLocks noGrp="1"/>
              </p:cNvSpPr>
              <p:nvPr>
                <p:ph idx="1"/>
              </p:nvPr>
            </p:nvSpPr>
            <p:spPr>
              <a:xfrm>
                <a:off x="508267" y="1510560"/>
                <a:ext cx="7975324" cy="1732782"/>
              </a:xfrm>
              <a:prstGeom prst="rect">
                <a:avLst/>
              </a:prstGeom>
              <a:noFill/>
            </p:spPr>
            <p:txBody>
              <a:bodyPr wrap="square">
                <a:spAutoFit/>
              </a:bodyPr>
              <a:lstStyle/>
              <a:p>
                <a:pPr marL="0" lvl="1" indent="0">
                  <a:spcAft>
                    <a:spcPts val="900"/>
                  </a:spcAft>
                  <a:buClr>
                    <a:srgbClr val="C00000"/>
                  </a:buClr>
                  <a:buSzPct val="90000"/>
                  <a:buNone/>
                </a:pPr>
                <a:r>
                  <a:rPr lang="en-GB" sz="1600" b="1" dirty="0">
                    <a:solidFill>
                      <a:srgbClr val="4472C4">
                        <a:lumMod val="75000"/>
                      </a:srgbClr>
                    </a:solidFill>
                    <a:latin typeface="Arial" panose="020B0604020202020204" pitchFamily="34" charset="0"/>
                    <a:ea typeface="Cambria Math" panose="02040503050406030204" pitchFamily="18" charset="0"/>
                    <a:cs typeface="Arial" panose="020B0604020202020204" pitchFamily="34" charset="0"/>
                  </a:rPr>
                  <a:t>Example – future costs</a:t>
                </a:r>
                <a:r>
                  <a:rPr lang="en-GB" sz="1600" b="1" dirty="0">
                    <a:solidFill>
                      <a:prstClr val="black"/>
                    </a:solidFill>
                    <a:latin typeface="Arial" panose="020B0604020202020204" pitchFamily="34" charset="0"/>
                    <a:ea typeface="Cambria Math" panose="02040503050406030204" pitchFamily="18" charset="0"/>
                    <a:cs typeface="Arial" panose="020B0604020202020204" pitchFamily="34" charset="0"/>
                  </a:rPr>
                  <a:t> </a:t>
                </a:r>
              </a:p>
              <a:p>
                <a:pPr marL="0" lvl="1" indent="0">
                  <a:spcAft>
                    <a:spcPts val="900"/>
                  </a:spcAft>
                  <a:buClr>
                    <a:srgbClr val="C00000"/>
                  </a:buClr>
                  <a:buSzPct val="90000"/>
                  <a:buNone/>
                </a:pPr>
                <a:r>
                  <a:rPr lang="en-GB" sz="1600" dirty="0">
                    <a:solidFill>
                      <a:prstClr val="black"/>
                    </a:solidFill>
                    <a:latin typeface="Arial" panose="020B0604020202020204" pitchFamily="34" charset="0"/>
                    <a:ea typeface="Cambria Math" panose="02040503050406030204" pitchFamily="18" charset="0"/>
                    <a:cs typeface="Arial" panose="020B0604020202020204" pitchFamily="34" charset="0"/>
                  </a:rPr>
                  <a:t>You are planning to sign up for a professional qualification course next year. You will need to pay $1,000 one year from now, $1500 in 2 years and $2,000 in 3 years. How much should you deposit today in a savings account which pays a 4% interest rate to cover the course fees?</a:t>
                </a:r>
              </a:p>
              <a:p>
                <a:pPr marL="0" lvl="1" indent="0">
                  <a:spcAft>
                    <a:spcPts val="900"/>
                  </a:spcAft>
                  <a:buClr>
                    <a:srgbClr val="C00000"/>
                  </a:buClr>
                  <a:buSzPct val="90000"/>
                  <a:buNone/>
                </a:pPr>
                <a:r>
                  <a:rPr lang="en-GB" sz="1600" dirty="0">
                    <a:solidFill>
                      <a:prstClr val="black"/>
                    </a:solidFill>
                    <a:latin typeface="Arial" panose="020B0604020202020204" pitchFamily="34" charset="0"/>
                    <a:ea typeface="Cambria Math" panose="02040503050406030204" pitchFamily="18" charset="0"/>
                    <a:cs typeface="Arial" panose="020B0604020202020204" pitchFamily="34" charset="0"/>
                  </a:rPr>
                  <a:t>Calculate the PV of each payment separately  </a:t>
                </a:r>
                <a14:m>
                  <m:oMath xmlns:m="http://schemas.openxmlformats.org/officeDocument/2006/math">
                    <m:r>
                      <a:rPr lang="en-GB" sz="1600" i="1">
                        <a:solidFill>
                          <a:schemeClr val="accent5">
                            <a:lumMod val="75000"/>
                          </a:schemeClr>
                        </a:solidFill>
                        <a:latin typeface="Cambria Math" panose="02040503050406030204" pitchFamily="18" charset="0"/>
                      </a:rPr>
                      <m:t>𝑃𝑉</m:t>
                    </m:r>
                    <m:r>
                      <a:rPr lang="en-GB" sz="1600" i="1">
                        <a:solidFill>
                          <a:schemeClr val="accent5">
                            <a:lumMod val="75000"/>
                          </a:schemeClr>
                        </a:solidFill>
                        <a:latin typeface="Cambria Math" panose="02040503050406030204" pitchFamily="18" charset="0"/>
                      </a:rPr>
                      <m:t>=</m:t>
                    </m:r>
                    <m:r>
                      <a:rPr lang="en-GB" sz="1600" i="1">
                        <a:solidFill>
                          <a:schemeClr val="accent5">
                            <a:lumMod val="75000"/>
                          </a:schemeClr>
                        </a:solidFill>
                        <a:latin typeface="Cambria Math" panose="02040503050406030204" pitchFamily="18" charset="0"/>
                        <a:ea typeface="Cambria Math" panose="02040503050406030204" pitchFamily="18" charset="0"/>
                      </a:rPr>
                      <m:t>𝐹𝑉</m:t>
                    </m:r>
                    <m:r>
                      <a:rPr lang="en-GB" sz="16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6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600" i="1">
                                <a:solidFill>
                                  <a:schemeClr val="accent5">
                                    <a:lumMod val="75000"/>
                                  </a:schemeClr>
                                </a:solidFill>
                                <a:latin typeface="Cambria Math" panose="02040503050406030204" pitchFamily="18" charset="0"/>
                                <a:ea typeface="Cambria Math" panose="02040503050406030204" pitchFamily="18" charset="0"/>
                              </a:rPr>
                            </m:ctrlPr>
                          </m:dPr>
                          <m:e>
                            <m:r>
                              <a:rPr lang="en-GB" sz="1600" i="1">
                                <a:solidFill>
                                  <a:schemeClr val="accent5">
                                    <a:lumMod val="75000"/>
                                  </a:schemeClr>
                                </a:solidFill>
                                <a:latin typeface="Cambria Math" panose="02040503050406030204" pitchFamily="18" charset="0"/>
                                <a:ea typeface="Cambria Math" panose="02040503050406030204" pitchFamily="18" charset="0"/>
                              </a:rPr>
                              <m:t>1+</m:t>
                            </m:r>
                            <m:r>
                              <a:rPr lang="en-GB" sz="1600"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600" b="0" i="1" smtClean="0">
                            <a:solidFill>
                              <a:schemeClr val="accent5">
                                <a:lumMod val="75000"/>
                              </a:schemeClr>
                            </a:solidFill>
                            <a:latin typeface="Cambria Math" panose="02040503050406030204" pitchFamily="18" charset="0"/>
                            <a:ea typeface="Cambria Math" panose="02040503050406030204" pitchFamily="18" charset="0"/>
                          </a:rPr>
                          <m:t>−</m:t>
                        </m:r>
                        <m:r>
                          <a:rPr lang="en-GB" sz="1600" i="1">
                            <a:solidFill>
                              <a:schemeClr val="accent5">
                                <a:lumMod val="75000"/>
                              </a:schemeClr>
                            </a:solidFill>
                            <a:latin typeface="Cambria Math" panose="02040503050406030204" pitchFamily="18" charset="0"/>
                            <a:ea typeface="Cambria Math" panose="02040503050406030204" pitchFamily="18" charset="0"/>
                          </a:rPr>
                          <m:t>𝑡</m:t>
                        </m:r>
                      </m:sup>
                    </m:sSup>
                  </m:oMath>
                </a14:m>
                <a:endParaRPr lang="en-GB" sz="1600" dirty="0">
                  <a:solidFill>
                    <a:prstClr val="black"/>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4" name="Content Placeholder 3">
                <a:extLst>
                  <a:ext uri="{FF2B5EF4-FFF2-40B4-BE49-F238E27FC236}">
                    <a16:creationId xmlns:a16="http://schemas.microsoft.com/office/drawing/2014/main" id="{69199AEA-63B1-933B-21D6-0789FE611B11}"/>
                  </a:ext>
                </a:extLst>
              </p:cNvPr>
              <p:cNvSpPr txBox="1">
                <a:spLocks noGrp="1" noRot="1" noChangeAspect="1" noMove="1" noResize="1" noEditPoints="1" noAdjustHandles="1" noChangeArrowheads="1" noChangeShapeType="1" noTextEdit="1"/>
              </p:cNvSpPr>
              <p:nvPr>
                <p:ph idx="1"/>
              </p:nvPr>
            </p:nvSpPr>
            <p:spPr>
              <a:xfrm>
                <a:off x="508267" y="1510560"/>
                <a:ext cx="7975324" cy="1732782"/>
              </a:xfrm>
              <a:prstGeom prst="rect">
                <a:avLst/>
              </a:prstGeom>
              <a:blipFill>
                <a:blip r:embed="rId3"/>
                <a:stretch>
                  <a:fillRect l="-382" t="-3169" b="-3873"/>
                </a:stretch>
              </a:blipFill>
            </p:spPr>
            <p:txBody>
              <a:bodyPr/>
              <a:lstStyle/>
              <a:p>
                <a:r>
                  <a:rPr lang="en-GB">
                    <a:noFill/>
                  </a:rPr>
                  <a:t> </a:t>
                </a:r>
              </a:p>
            </p:txBody>
          </p:sp>
        </mc:Fallback>
      </mc:AlternateContent>
      <p:grpSp>
        <p:nvGrpSpPr>
          <p:cNvPr id="6" name="Group 5">
            <a:extLst>
              <a:ext uri="{FF2B5EF4-FFF2-40B4-BE49-F238E27FC236}">
                <a16:creationId xmlns:a16="http://schemas.microsoft.com/office/drawing/2014/main" id="{3EC48BD9-F80F-A923-650C-49D9319E549C}"/>
              </a:ext>
            </a:extLst>
          </p:cNvPr>
          <p:cNvGrpSpPr/>
          <p:nvPr/>
        </p:nvGrpSpPr>
        <p:grpSpPr>
          <a:xfrm>
            <a:off x="819112" y="4927053"/>
            <a:ext cx="7664479" cy="609565"/>
            <a:chOff x="1092149" y="5426397"/>
            <a:chExt cx="10219305" cy="812752"/>
          </a:xfrm>
        </p:grpSpPr>
        <p:cxnSp>
          <p:nvCxnSpPr>
            <p:cNvPr id="7" name="Straight Connector 6">
              <a:extLst>
                <a:ext uri="{FF2B5EF4-FFF2-40B4-BE49-F238E27FC236}">
                  <a16:creationId xmlns:a16="http://schemas.microsoft.com/office/drawing/2014/main" id="{21F1EE94-1C46-5956-9144-158627CA2B9D}"/>
                </a:ext>
              </a:extLst>
            </p:cNvPr>
            <p:cNvCxnSpPr/>
            <p:nvPr/>
          </p:nvCxnSpPr>
          <p:spPr>
            <a:xfrm>
              <a:off x="1490158"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9C30F6B-91A1-6AD9-FDDA-AACF5AE69750}"/>
                </a:ext>
              </a:extLst>
            </p:cNvPr>
            <p:cNvCxnSpPr>
              <a:cxnSpLocks/>
            </p:cNvCxnSpPr>
            <p:nvPr/>
          </p:nvCxnSpPr>
          <p:spPr>
            <a:xfrm>
              <a:off x="1494698" y="5625180"/>
              <a:ext cx="933879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324205-1572-3711-1F98-B166890AD5BD}"/>
                </a:ext>
              </a:extLst>
            </p:cNvPr>
            <p:cNvCxnSpPr/>
            <p:nvPr/>
          </p:nvCxnSpPr>
          <p:spPr>
            <a:xfrm>
              <a:off x="4649325" y="5426397"/>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8C634C7-B839-3844-3F3C-68C70D6D8760}"/>
                </a:ext>
              </a:extLst>
            </p:cNvPr>
            <p:cNvCxnSpPr/>
            <p:nvPr/>
          </p:nvCxnSpPr>
          <p:spPr>
            <a:xfrm>
              <a:off x="7743157" y="5426397"/>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14C57D-B4B1-A2D8-E911-E522EF232578}"/>
                </a:ext>
              </a:extLst>
            </p:cNvPr>
            <p:cNvCxnSpPr/>
            <p:nvPr/>
          </p:nvCxnSpPr>
          <p:spPr>
            <a:xfrm>
              <a:off x="10833495" y="5426397"/>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7F570F-C977-B1DD-3C6F-2190FBE7F66E}"/>
                    </a:ext>
                  </a:extLst>
                </p:cNvPr>
                <p:cNvSpPr txBox="1"/>
                <p:nvPr/>
              </p:nvSpPr>
              <p:spPr>
                <a:xfrm>
                  <a:off x="1092149" y="5834791"/>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107F570F-C977-B1DD-3C6F-2190FBE7F66E}"/>
                    </a:ext>
                  </a:extLst>
                </p:cNvPr>
                <p:cNvSpPr txBox="1">
                  <a:spLocks noRot="1" noChangeAspect="1" noMove="1" noResize="1" noEditPoints="1" noAdjustHandles="1" noChangeArrowheads="1" noChangeShapeType="1" noTextEdit="1"/>
                </p:cNvSpPr>
                <p:nvPr/>
              </p:nvSpPr>
              <p:spPr>
                <a:xfrm>
                  <a:off x="1092149" y="5834791"/>
                  <a:ext cx="880509" cy="400109"/>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2D5987-A3D0-FFE8-3118-57086A76EE76}"/>
                    </a:ext>
                  </a:extLst>
                </p:cNvPr>
                <p:cNvSpPr txBox="1"/>
                <p:nvPr/>
              </p:nvSpPr>
              <p:spPr>
                <a:xfrm>
                  <a:off x="4205081" y="5833370"/>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3" name="TextBox 12">
                  <a:extLst>
                    <a:ext uri="{FF2B5EF4-FFF2-40B4-BE49-F238E27FC236}">
                      <a16:creationId xmlns:a16="http://schemas.microsoft.com/office/drawing/2014/main" id="{F02D5987-A3D0-FFE8-3118-57086A76EE76}"/>
                    </a:ext>
                  </a:extLst>
                </p:cNvPr>
                <p:cNvSpPr txBox="1">
                  <a:spLocks noRot="1" noChangeAspect="1" noMove="1" noResize="1" noEditPoints="1" noAdjustHandles="1" noChangeArrowheads="1" noChangeShapeType="1" noTextEdit="1"/>
                </p:cNvSpPr>
                <p:nvPr/>
              </p:nvSpPr>
              <p:spPr>
                <a:xfrm>
                  <a:off x="4205081" y="5833370"/>
                  <a:ext cx="880509" cy="400109"/>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82CF20F-6DF1-F48A-CEEC-5DA3E7C0666C}"/>
                    </a:ext>
                  </a:extLst>
                </p:cNvPr>
                <p:cNvSpPr txBox="1"/>
                <p:nvPr/>
              </p:nvSpPr>
              <p:spPr>
                <a:xfrm>
                  <a:off x="7318013" y="5833370"/>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4" name="TextBox 13">
                  <a:extLst>
                    <a:ext uri="{FF2B5EF4-FFF2-40B4-BE49-F238E27FC236}">
                      <a16:creationId xmlns:a16="http://schemas.microsoft.com/office/drawing/2014/main" id="{982CF20F-6DF1-F48A-CEEC-5DA3E7C0666C}"/>
                    </a:ext>
                  </a:extLst>
                </p:cNvPr>
                <p:cNvSpPr txBox="1">
                  <a:spLocks noRot="1" noChangeAspect="1" noMove="1" noResize="1" noEditPoints="1" noAdjustHandles="1" noChangeArrowheads="1" noChangeShapeType="1" noTextEdit="1"/>
                </p:cNvSpPr>
                <p:nvPr/>
              </p:nvSpPr>
              <p:spPr>
                <a:xfrm>
                  <a:off x="7318013" y="5833370"/>
                  <a:ext cx="880509" cy="400109"/>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EDF5E18-BADB-A772-3564-7F8624E21D2C}"/>
                    </a:ext>
                  </a:extLst>
                </p:cNvPr>
                <p:cNvSpPr txBox="1"/>
                <p:nvPr/>
              </p:nvSpPr>
              <p:spPr>
                <a:xfrm>
                  <a:off x="10430945" y="5839040"/>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FEDF5E18-BADB-A772-3564-7F8624E21D2C}"/>
                    </a:ext>
                  </a:extLst>
                </p:cNvPr>
                <p:cNvSpPr txBox="1">
                  <a:spLocks noRot="1" noChangeAspect="1" noMove="1" noResize="1" noEditPoints="1" noAdjustHandles="1" noChangeArrowheads="1" noChangeShapeType="1" noTextEdit="1"/>
                </p:cNvSpPr>
                <p:nvPr/>
              </p:nvSpPr>
              <p:spPr>
                <a:xfrm>
                  <a:off x="10430945" y="5839040"/>
                  <a:ext cx="880509" cy="400109"/>
                </a:xfrm>
                <a:prstGeom prst="rect">
                  <a:avLst/>
                </a:prstGeom>
                <a:blipFill>
                  <a:blip r:embed="rId7"/>
                  <a:stretch>
                    <a:fillRect/>
                  </a:stretch>
                </a:blipFill>
                <a:ln>
                  <a:noFill/>
                </a:ln>
              </p:spPr>
              <p:txBody>
                <a:bodyPr/>
                <a:lstStyle/>
                <a:p>
                  <a:r>
                    <a:rPr lang="en-GB">
                      <a:noFill/>
                    </a:rPr>
                    <a:t> </a:t>
                  </a:r>
                </a:p>
              </p:txBody>
            </p:sp>
          </mc:Fallback>
        </mc:AlternateContent>
      </p:grpSp>
      <p:grpSp>
        <p:nvGrpSpPr>
          <p:cNvPr id="3" name="Group 2">
            <a:extLst>
              <a:ext uri="{FF2B5EF4-FFF2-40B4-BE49-F238E27FC236}">
                <a16:creationId xmlns:a16="http://schemas.microsoft.com/office/drawing/2014/main" id="{FC8969F0-C124-CE13-54FC-9E99E57C4498}"/>
              </a:ext>
            </a:extLst>
          </p:cNvPr>
          <p:cNvGrpSpPr/>
          <p:nvPr/>
        </p:nvGrpSpPr>
        <p:grpSpPr>
          <a:xfrm>
            <a:off x="406401" y="4249403"/>
            <a:ext cx="3609519" cy="648398"/>
            <a:chOff x="541868" y="4522866"/>
            <a:chExt cx="4812692" cy="86453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D60793-FA71-0E98-0B0B-FB8CA4E33FC1}"/>
                    </a:ext>
                  </a:extLst>
                </p:cNvPr>
                <p:cNvSpPr txBox="1"/>
                <p:nvPr/>
              </p:nvSpPr>
              <p:spPr>
                <a:xfrm>
                  <a:off x="3953149" y="4956509"/>
                  <a:ext cx="1401411"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$1,000</m:t>
                        </m:r>
                      </m:oMath>
                    </m:oMathPara>
                  </a14:m>
                  <a:endParaRPr lang="en-GB" sz="1500" dirty="0"/>
                </a:p>
              </p:txBody>
            </p:sp>
          </mc:Choice>
          <mc:Fallback xmlns="">
            <p:sp>
              <p:nvSpPr>
                <p:cNvPr id="5" name="TextBox 4">
                  <a:extLst>
                    <a:ext uri="{FF2B5EF4-FFF2-40B4-BE49-F238E27FC236}">
                      <a16:creationId xmlns:a16="http://schemas.microsoft.com/office/drawing/2014/main" id="{31D60793-FA71-0E98-0B0B-FB8CA4E33FC1}"/>
                    </a:ext>
                  </a:extLst>
                </p:cNvPr>
                <p:cNvSpPr txBox="1">
                  <a:spLocks noRot="1" noChangeAspect="1" noMove="1" noResize="1" noEditPoints="1" noAdjustHandles="1" noChangeArrowheads="1" noChangeShapeType="1" noTextEdit="1"/>
                </p:cNvSpPr>
                <p:nvPr/>
              </p:nvSpPr>
              <p:spPr>
                <a:xfrm>
                  <a:off x="3953149" y="4956509"/>
                  <a:ext cx="1401411" cy="430887"/>
                </a:xfrm>
                <a:prstGeom prst="rect">
                  <a:avLst/>
                </a:prstGeom>
                <a:blipFill>
                  <a:blip r:embed="rId8"/>
                  <a:stretch>
                    <a:fillRect b="-377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AB788BD-2D18-BD61-C88A-CF87DDA5978D}"/>
                    </a:ext>
                  </a:extLst>
                </p:cNvPr>
                <p:cNvSpPr txBox="1"/>
                <p:nvPr/>
              </p:nvSpPr>
              <p:spPr>
                <a:xfrm>
                  <a:off x="2439435" y="4731997"/>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1+4%</m:t>
                                </m:r>
                              </m:e>
                            </m:d>
                          </m:e>
                          <m:sup>
                            <m:r>
                              <a:rPr lang="en-GB" sz="1200" i="1">
                                <a:solidFill>
                                  <a:srgbClr val="C00000"/>
                                </a:solidFill>
                                <a:latin typeface="Cambria Math" panose="02040503050406030204" pitchFamily="18" charset="0"/>
                                <a:ea typeface="Cambria Math" panose="02040503050406030204" pitchFamily="18" charset="0"/>
                              </a:rPr>
                              <m:t>−1</m:t>
                            </m:r>
                          </m:sup>
                        </m:sSup>
                      </m:oMath>
                    </m:oMathPara>
                  </a14:m>
                  <a:endParaRPr lang="en-GB" sz="1200" dirty="0">
                    <a:solidFill>
                      <a:srgbClr val="C00000"/>
                    </a:solidFill>
                  </a:endParaRPr>
                </a:p>
              </p:txBody>
            </p:sp>
          </mc:Choice>
          <mc:Fallback xmlns="">
            <p:sp>
              <p:nvSpPr>
                <p:cNvPr id="16" name="TextBox 15">
                  <a:extLst>
                    <a:ext uri="{FF2B5EF4-FFF2-40B4-BE49-F238E27FC236}">
                      <a16:creationId xmlns:a16="http://schemas.microsoft.com/office/drawing/2014/main" id="{CAB788BD-2D18-BD61-C88A-CF87DDA5978D}"/>
                    </a:ext>
                  </a:extLst>
                </p:cNvPr>
                <p:cNvSpPr txBox="1">
                  <a:spLocks noRot="1" noChangeAspect="1" noMove="1" noResize="1" noEditPoints="1" noAdjustHandles="1" noChangeArrowheads="1" noChangeShapeType="1" noTextEdit="1"/>
                </p:cNvSpPr>
                <p:nvPr/>
              </p:nvSpPr>
              <p:spPr>
                <a:xfrm>
                  <a:off x="2439435" y="4731997"/>
                  <a:ext cx="1401411" cy="609910"/>
                </a:xfrm>
                <a:prstGeom prst="rect">
                  <a:avLst/>
                </a:prstGeom>
                <a:blipFill>
                  <a:blip r:embed="rId9"/>
                  <a:stretch>
                    <a:fillRect t="-64000" r="-6358" b="-101333"/>
                  </a:stretch>
                </a:blipFill>
              </p:spPr>
              <p:txBody>
                <a:bodyPr/>
                <a:lstStyle/>
                <a:p>
                  <a:r>
                    <a:rPr lang="en-GB">
                      <a:noFill/>
                    </a:rPr>
                    <a:t> </a:t>
                  </a:r>
                </a:p>
              </p:txBody>
            </p:sp>
          </mc:Fallback>
        </mc:AlternateContent>
        <p:cxnSp>
          <p:nvCxnSpPr>
            <p:cNvPr id="17" name="Connector: Elbow 16">
              <a:extLst>
                <a:ext uri="{FF2B5EF4-FFF2-40B4-BE49-F238E27FC236}">
                  <a16:creationId xmlns:a16="http://schemas.microsoft.com/office/drawing/2014/main" id="{3D3D4D8E-D57B-DE33-8DDF-E05D6B7DAC96}"/>
                </a:ext>
              </a:extLst>
            </p:cNvPr>
            <p:cNvCxnSpPr>
              <a:cxnSpLocks/>
              <a:stCxn id="5" idx="0"/>
            </p:cNvCxnSpPr>
            <p:nvPr/>
          </p:nvCxnSpPr>
          <p:spPr>
            <a:xfrm rot="16200000" flipV="1">
              <a:off x="3039785" y="3342439"/>
              <a:ext cx="213859" cy="3014281"/>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50B08C8-B98A-7366-2914-79F74B248194}"/>
                    </a:ext>
                  </a:extLst>
                </p:cNvPr>
                <p:cNvSpPr txBox="1"/>
                <p:nvPr/>
              </p:nvSpPr>
              <p:spPr>
                <a:xfrm>
                  <a:off x="541868" y="4522866"/>
                  <a:ext cx="1479636"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$962</m:t>
                        </m:r>
                      </m:oMath>
                    </m:oMathPara>
                  </a14:m>
                  <a:endParaRPr lang="en-GB" sz="1500" dirty="0"/>
                </a:p>
              </p:txBody>
            </p:sp>
          </mc:Choice>
          <mc:Fallback xmlns="">
            <p:sp>
              <p:nvSpPr>
                <p:cNvPr id="18" name="TextBox 17">
                  <a:extLst>
                    <a:ext uri="{FF2B5EF4-FFF2-40B4-BE49-F238E27FC236}">
                      <a16:creationId xmlns:a16="http://schemas.microsoft.com/office/drawing/2014/main" id="{550B08C8-B98A-7366-2914-79F74B248194}"/>
                    </a:ext>
                  </a:extLst>
                </p:cNvPr>
                <p:cNvSpPr txBox="1">
                  <a:spLocks noRot="1" noChangeAspect="1" noMove="1" noResize="1" noEditPoints="1" noAdjustHandles="1" noChangeArrowheads="1" noChangeShapeType="1" noTextEdit="1"/>
                </p:cNvSpPr>
                <p:nvPr/>
              </p:nvSpPr>
              <p:spPr>
                <a:xfrm>
                  <a:off x="541868" y="4522866"/>
                  <a:ext cx="1479636" cy="430886"/>
                </a:xfrm>
                <a:prstGeom prst="rect">
                  <a:avLst/>
                </a:prstGeom>
                <a:blipFill>
                  <a:blip r:embed="rId10"/>
                  <a:stretch>
                    <a:fillRect b="-3774"/>
                  </a:stretch>
                </a:blipFill>
              </p:spPr>
              <p:txBody>
                <a:bodyPr/>
                <a:lstStyle/>
                <a:p>
                  <a:r>
                    <a:rPr lang="en-GB">
                      <a:noFill/>
                    </a:rPr>
                    <a:t> </a:t>
                  </a:r>
                </a:p>
              </p:txBody>
            </p:sp>
          </mc:Fallback>
        </mc:AlternateContent>
      </p:grpSp>
      <p:grpSp>
        <p:nvGrpSpPr>
          <p:cNvPr id="19" name="Group 18">
            <a:extLst>
              <a:ext uri="{FF2B5EF4-FFF2-40B4-BE49-F238E27FC236}">
                <a16:creationId xmlns:a16="http://schemas.microsoft.com/office/drawing/2014/main" id="{5B41E078-C1F6-C9EE-8FB4-110D5052E3B3}"/>
              </a:ext>
            </a:extLst>
          </p:cNvPr>
          <p:cNvGrpSpPr/>
          <p:nvPr/>
        </p:nvGrpSpPr>
        <p:grpSpPr>
          <a:xfrm>
            <a:off x="338636" y="3906230"/>
            <a:ext cx="6008789" cy="999018"/>
            <a:chOff x="451514" y="4065305"/>
            <a:chExt cx="8011719" cy="1332023"/>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ECD93B0-F0CF-7303-41DE-1C6D95CC585D}"/>
                    </a:ext>
                  </a:extLst>
                </p:cNvPr>
                <p:cNvSpPr txBox="1"/>
                <p:nvPr/>
              </p:nvSpPr>
              <p:spPr>
                <a:xfrm>
                  <a:off x="7061822" y="4966442"/>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$1,500</m:t>
                        </m:r>
                      </m:oMath>
                    </m:oMathPara>
                  </a14:m>
                  <a:endParaRPr lang="en-GB" sz="1500" dirty="0"/>
                </a:p>
              </p:txBody>
            </p:sp>
          </mc:Choice>
          <mc:Fallback xmlns="">
            <p:sp>
              <p:nvSpPr>
                <p:cNvPr id="20" name="TextBox 19">
                  <a:extLst>
                    <a:ext uri="{FF2B5EF4-FFF2-40B4-BE49-F238E27FC236}">
                      <a16:creationId xmlns:a16="http://schemas.microsoft.com/office/drawing/2014/main" id="{8ECD93B0-F0CF-7303-41DE-1C6D95CC585D}"/>
                    </a:ext>
                  </a:extLst>
                </p:cNvPr>
                <p:cNvSpPr txBox="1">
                  <a:spLocks noRot="1" noChangeAspect="1" noMove="1" noResize="1" noEditPoints="1" noAdjustHandles="1" noChangeArrowheads="1" noChangeShapeType="1" noTextEdit="1"/>
                </p:cNvSpPr>
                <p:nvPr/>
              </p:nvSpPr>
              <p:spPr>
                <a:xfrm>
                  <a:off x="7061822" y="4966442"/>
                  <a:ext cx="1401411" cy="430886"/>
                </a:xfrm>
                <a:prstGeom prst="rect">
                  <a:avLst/>
                </a:prstGeom>
                <a:blipFill>
                  <a:blip r:embed="rId11"/>
                  <a:stretch>
                    <a:fillRect b="-18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03D9787-D9E9-8D14-47D2-C0F3BB36EC44}"/>
                    </a:ext>
                  </a:extLst>
                </p:cNvPr>
                <p:cNvSpPr txBox="1"/>
                <p:nvPr/>
              </p:nvSpPr>
              <p:spPr>
                <a:xfrm>
                  <a:off x="4000343" y="4258700"/>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1+4%</m:t>
                                </m:r>
                              </m:e>
                            </m:d>
                          </m:e>
                          <m:sup>
                            <m:r>
                              <a:rPr lang="en-GB" sz="1200" i="1">
                                <a:solidFill>
                                  <a:srgbClr val="C00000"/>
                                </a:solidFill>
                                <a:latin typeface="Cambria Math" panose="02040503050406030204" pitchFamily="18" charset="0"/>
                                <a:ea typeface="Cambria Math" panose="02040503050406030204" pitchFamily="18" charset="0"/>
                              </a:rPr>
                              <m:t>−2</m:t>
                            </m:r>
                          </m:sup>
                        </m:sSup>
                      </m:oMath>
                    </m:oMathPara>
                  </a14:m>
                  <a:endParaRPr lang="en-GB" sz="1200" dirty="0">
                    <a:solidFill>
                      <a:srgbClr val="C00000"/>
                    </a:solidFill>
                  </a:endParaRPr>
                </a:p>
              </p:txBody>
            </p:sp>
          </mc:Choice>
          <mc:Fallback xmlns="">
            <p:sp>
              <p:nvSpPr>
                <p:cNvPr id="21" name="TextBox 20">
                  <a:extLst>
                    <a:ext uri="{FF2B5EF4-FFF2-40B4-BE49-F238E27FC236}">
                      <a16:creationId xmlns:a16="http://schemas.microsoft.com/office/drawing/2014/main" id="{203D9787-D9E9-8D14-47D2-C0F3BB36EC44}"/>
                    </a:ext>
                  </a:extLst>
                </p:cNvPr>
                <p:cNvSpPr txBox="1">
                  <a:spLocks noRot="1" noChangeAspect="1" noMove="1" noResize="1" noEditPoints="1" noAdjustHandles="1" noChangeArrowheads="1" noChangeShapeType="1" noTextEdit="1"/>
                </p:cNvSpPr>
                <p:nvPr/>
              </p:nvSpPr>
              <p:spPr>
                <a:xfrm>
                  <a:off x="4000343" y="4258700"/>
                  <a:ext cx="1401411" cy="609910"/>
                </a:xfrm>
                <a:prstGeom prst="rect">
                  <a:avLst/>
                </a:prstGeom>
                <a:blipFill>
                  <a:blip r:embed="rId12"/>
                  <a:stretch>
                    <a:fillRect t="-64000" r="-6358" b="-101333"/>
                  </a:stretch>
                </a:blipFill>
              </p:spPr>
              <p:txBody>
                <a:bodyPr/>
                <a:lstStyle/>
                <a:p>
                  <a:r>
                    <a:rPr lang="en-GB">
                      <a:noFill/>
                    </a:rPr>
                    <a:t> </a:t>
                  </a:r>
                </a:p>
              </p:txBody>
            </p:sp>
          </mc:Fallback>
        </mc:AlternateContent>
        <p:cxnSp>
          <p:nvCxnSpPr>
            <p:cNvPr id="22" name="Connector: Elbow 21">
              <a:extLst>
                <a:ext uri="{FF2B5EF4-FFF2-40B4-BE49-F238E27FC236}">
                  <a16:creationId xmlns:a16="http://schemas.microsoft.com/office/drawing/2014/main" id="{59D8F9BF-12A6-ACF0-6AE9-0F16AA602E74}"/>
                </a:ext>
              </a:extLst>
            </p:cNvPr>
            <p:cNvCxnSpPr>
              <a:cxnSpLocks/>
              <a:stCxn id="20" idx="0"/>
            </p:cNvCxnSpPr>
            <p:nvPr/>
          </p:nvCxnSpPr>
          <p:spPr>
            <a:xfrm rot="16200000" flipV="1">
              <a:off x="4343318" y="1547232"/>
              <a:ext cx="715463" cy="6122955"/>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09A73F0-A184-2FAD-ACB1-625F9CBF5D0F}"/>
                    </a:ext>
                  </a:extLst>
                </p:cNvPr>
                <p:cNvSpPr txBox="1"/>
                <p:nvPr/>
              </p:nvSpPr>
              <p:spPr>
                <a:xfrm>
                  <a:off x="451514" y="4065305"/>
                  <a:ext cx="1479636"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$1,387</m:t>
                        </m:r>
                      </m:oMath>
                    </m:oMathPara>
                  </a14:m>
                  <a:endParaRPr lang="en-GB" sz="1500" dirty="0"/>
                </a:p>
              </p:txBody>
            </p:sp>
          </mc:Choice>
          <mc:Fallback xmlns="">
            <p:sp>
              <p:nvSpPr>
                <p:cNvPr id="23" name="TextBox 22">
                  <a:extLst>
                    <a:ext uri="{FF2B5EF4-FFF2-40B4-BE49-F238E27FC236}">
                      <a16:creationId xmlns:a16="http://schemas.microsoft.com/office/drawing/2014/main" id="{509A73F0-A184-2FAD-ACB1-625F9CBF5D0F}"/>
                    </a:ext>
                  </a:extLst>
                </p:cNvPr>
                <p:cNvSpPr txBox="1">
                  <a:spLocks noRot="1" noChangeAspect="1" noMove="1" noResize="1" noEditPoints="1" noAdjustHandles="1" noChangeArrowheads="1" noChangeShapeType="1" noTextEdit="1"/>
                </p:cNvSpPr>
                <p:nvPr/>
              </p:nvSpPr>
              <p:spPr>
                <a:xfrm>
                  <a:off x="451514" y="4065305"/>
                  <a:ext cx="1479636" cy="430886"/>
                </a:xfrm>
                <a:prstGeom prst="rect">
                  <a:avLst/>
                </a:prstGeom>
                <a:blipFill>
                  <a:blip r:embed="rId13"/>
                  <a:stretch>
                    <a:fillRect b="-1887"/>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3F376F68-F6BF-3FD7-80A5-68EF94282303}"/>
              </a:ext>
            </a:extLst>
          </p:cNvPr>
          <p:cNvGrpSpPr/>
          <p:nvPr/>
        </p:nvGrpSpPr>
        <p:grpSpPr>
          <a:xfrm>
            <a:off x="338923" y="3537474"/>
            <a:ext cx="8340006" cy="1347882"/>
            <a:chOff x="451897" y="3573632"/>
            <a:chExt cx="11120008" cy="1797175"/>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95801E-8B30-38B2-E8C9-E8E018A2FB13}"/>
                    </a:ext>
                  </a:extLst>
                </p:cNvPr>
                <p:cNvSpPr txBox="1"/>
                <p:nvPr/>
              </p:nvSpPr>
              <p:spPr>
                <a:xfrm>
                  <a:off x="5688816" y="3767027"/>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1+4%</m:t>
                                </m:r>
                              </m:e>
                            </m:d>
                          </m:e>
                          <m:sup>
                            <m:r>
                              <a:rPr lang="en-GB" sz="1200" i="1">
                                <a:solidFill>
                                  <a:srgbClr val="C00000"/>
                                </a:solidFill>
                                <a:latin typeface="Cambria Math" panose="02040503050406030204" pitchFamily="18" charset="0"/>
                                <a:ea typeface="Cambria Math" panose="02040503050406030204" pitchFamily="18" charset="0"/>
                              </a:rPr>
                              <m:t>−3</m:t>
                            </m:r>
                          </m:sup>
                        </m:sSup>
                      </m:oMath>
                    </m:oMathPara>
                  </a14:m>
                  <a:endParaRPr lang="en-GB" sz="1200" dirty="0">
                    <a:solidFill>
                      <a:srgbClr val="C00000"/>
                    </a:solidFill>
                  </a:endParaRPr>
                </a:p>
              </p:txBody>
            </p:sp>
          </mc:Choice>
          <mc:Fallback xmlns="">
            <p:sp>
              <p:nvSpPr>
                <p:cNvPr id="25" name="TextBox 24">
                  <a:extLst>
                    <a:ext uri="{FF2B5EF4-FFF2-40B4-BE49-F238E27FC236}">
                      <a16:creationId xmlns:a16="http://schemas.microsoft.com/office/drawing/2014/main" id="{FE95801E-8B30-38B2-E8C9-E8E018A2FB13}"/>
                    </a:ext>
                  </a:extLst>
                </p:cNvPr>
                <p:cNvSpPr txBox="1">
                  <a:spLocks noRot="1" noChangeAspect="1" noMove="1" noResize="1" noEditPoints="1" noAdjustHandles="1" noChangeArrowheads="1" noChangeShapeType="1" noTextEdit="1"/>
                </p:cNvSpPr>
                <p:nvPr/>
              </p:nvSpPr>
              <p:spPr>
                <a:xfrm>
                  <a:off x="5688816" y="3767027"/>
                  <a:ext cx="1401411" cy="609910"/>
                </a:xfrm>
                <a:prstGeom prst="rect">
                  <a:avLst/>
                </a:prstGeom>
                <a:blipFill>
                  <a:blip r:embed="rId14"/>
                  <a:stretch>
                    <a:fillRect t="-64000" r="-6395" b="-101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CA028B7-52AE-A65A-1EF2-D6A58085AD60}"/>
                    </a:ext>
                  </a:extLst>
                </p:cNvPr>
                <p:cNvSpPr txBox="1"/>
                <p:nvPr/>
              </p:nvSpPr>
              <p:spPr>
                <a:xfrm>
                  <a:off x="451897" y="3573632"/>
                  <a:ext cx="1479636"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$1,778</m:t>
                        </m:r>
                      </m:oMath>
                    </m:oMathPara>
                  </a14:m>
                  <a:endParaRPr lang="en-GB" sz="1500" dirty="0"/>
                </a:p>
              </p:txBody>
            </p:sp>
          </mc:Choice>
          <mc:Fallback xmlns="">
            <p:sp>
              <p:nvSpPr>
                <p:cNvPr id="26" name="TextBox 25">
                  <a:extLst>
                    <a:ext uri="{FF2B5EF4-FFF2-40B4-BE49-F238E27FC236}">
                      <a16:creationId xmlns:a16="http://schemas.microsoft.com/office/drawing/2014/main" id="{0CA028B7-52AE-A65A-1EF2-D6A58085AD60}"/>
                    </a:ext>
                  </a:extLst>
                </p:cNvPr>
                <p:cNvSpPr txBox="1">
                  <a:spLocks noRot="1" noChangeAspect="1" noMove="1" noResize="1" noEditPoints="1" noAdjustHandles="1" noChangeArrowheads="1" noChangeShapeType="1" noTextEdit="1"/>
                </p:cNvSpPr>
                <p:nvPr/>
              </p:nvSpPr>
              <p:spPr>
                <a:xfrm>
                  <a:off x="451897" y="3573632"/>
                  <a:ext cx="1479636" cy="430886"/>
                </a:xfrm>
                <a:prstGeom prst="rect">
                  <a:avLst/>
                </a:prstGeom>
                <a:blipFill>
                  <a:blip r:embed="rId15"/>
                  <a:stretch>
                    <a:fillRect b="-377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3B716FF-A22C-7135-A762-6D10DADD3331}"/>
                    </a:ext>
                  </a:extLst>
                </p:cNvPr>
                <p:cNvSpPr txBox="1"/>
                <p:nvPr/>
              </p:nvSpPr>
              <p:spPr>
                <a:xfrm>
                  <a:off x="10170494" y="4939921"/>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$2,000</m:t>
                        </m:r>
                      </m:oMath>
                    </m:oMathPara>
                  </a14:m>
                  <a:endParaRPr lang="en-GB" sz="1500" dirty="0"/>
                </a:p>
              </p:txBody>
            </p:sp>
          </mc:Choice>
          <mc:Fallback xmlns="">
            <p:sp>
              <p:nvSpPr>
                <p:cNvPr id="27" name="TextBox 26">
                  <a:extLst>
                    <a:ext uri="{FF2B5EF4-FFF2-40B4-BE49-F238E27FC236}">
                      <a16:creationId xmlns:a16="http://schemas.microsoft.com/office/drawing/2014/main" id="{A3B716FF-A22C-7135-A762-6D10DADD3331}"/>
                    </a:ext>
                  </a:extLst>
                </p:cNvPr>
                <p:cNvSpPr txBox="1">
                  <a:spLocks noRot="1" noChangeAspect="1" noMove="1" noResize="1" noEditPoints="1" noAdjustHandles="1" noChangeArrowheads="1" noChangeShapeType="1" noTextEdit="1"/>
                </p:cNvSpPr>
                <p:nvPr/>
              </p:nvSpPr>
              <p:spPr>
                <a:xfrm>
                  <a:off x="10170494" y="4939921"/>
                  <a:ext cx="1401411" cy="430886"/>
                </a:xfrm>
                <a:prstGeom prst="rect">
                  <a:avLst/>
                </a:prstGeom>
                <a:blipFill>
                  <a:blip r:embed="rId16"/>
                  <a:stretch>
                    <a:fillRect b="-3774"/>
                  </a:stretch>
                </a:blipFill>
              </p:spPr>
              <p:txBody>
                <a:bodyPr/>
                <a:lstStyle/>
                <a:p>
                  <a:r>
                    <a:rPr lang="en-GB">
                      <a:noFill/>
                    </a:rPr>
                    <a:t> </a:t>
                  </a:r>
                </a:p>
              </p:txBody>
            </p:sp>
          </mc:Fallback>
        </mc:AlternateContent>
        <p:cxnSp>
          <p:nvCxnSpPr>
            <p:cNvPr id="28" name="Connector: Elbow 27">
              <a:extLst>
                <a:ext uri="{FF2B5EF4-FFF2-40B4-BE49-F238E27FC236}">
                  <a16:creationId xmlns:a16="http://schemas.microsoft.com/office/drawing/2014/main" id="{0159ECA5-81D8-AF35-ED41-1C3BF39A8D73}"/>
                </a:ext>
              </a:extLst>
            </p:cNvPr>
            <p:cNvCxnSpPr>
              <a:cxnSpLocks/>
            </p:cNvCxnSpPr>
            <p:nvPr/>
          </p:nvCxnSpPr>
          <p:spPr>
            <a:xfrm rot="10800000">
              <a:off x="1639572" y="3753888"/>
              <a:ext cx="9231630" cy="1232283"/>
            </a:xfrm>
            <a:prstGeom prst="bentConnector3">
              <a:avLst>
                <a:gd name="adj1" fmla="val 16"/>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6B9361A7-D9B7-F4C1-01A4-C1C38AAD842D}"/>
              </a:ext>
            </a:extLst>
          </p:cNvPr>
          <p:cNvGrpSpPr/>
          <p:nvPr/>
        </p:nvGrpSpPr>
        <p:grpSpPr>
          <a:xfrm>
            <a:off x="-11808" y="5546282"/>
            <a:ext cx="1417257" cy="367485"/>
            <a:chOff x="29579" y="4907882"/>
            <a:chExt cx="1889675" cy="489979"/>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EA0B6CB-EAA3-25E0-C95F-A116C90E80F3}"/>
                    </a:ext>
                  </a:extLst>
                </p:cNvPr>
                <p:cNvSpPr txBox="1"/>
                <p:nvPr/>
              </p:nvSpPr>
              <p:spPr>
                <a:xfrm>
                  <a:off x="29579" y="4966975"/>
                  <a:ext cx="1889675"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sz="1500" b="1" i="1" smtClean="0">
                            <a:latin typeface="Cambria Math" panose="02040503050406030204" pitchFamily="18" charset="0"/>
                          </a:rPr>
                          <m:t>Σ</m:t>
                        </m:r>
                        <m:r>
                          <a:rPr lang="en-GB" sz="1500" b="1" i="1">
                            <a:latin typeface="Cambria Math" panose="02040503050406030204" pitchFamily="18" charset="0"/>
                          </a:rPr>
                          <m:t>=$</m:t>
                        </m:r>
                        <m:r>
                          <a:rPr lang="en-GB" sz="1500" b="1" i="1">
                            <a:latin typeface="Cambria Math" panose="02040503050406030204" pitchFamily="18" charset="0"/>
                          </a:rPr>
                          <m:t>𝟒</m:t>
                        </m:r>
                        <m:r>
                          <a:rPr lang="en-GB" sz="1500" b="1" i="1">
                            <a:latin typeface="Cambria Math" panose="02040503050406030204" pitchFamily="18" charset="0"/>
                          </a:rPr>
                          <m:t>,</m:t>
                        </m:r>
                        <m:r>
                          <a:rPr lang="en-GB" sz="1500" b="1" i="1">
                            <a:latin typeface="Cambria Math" panose="02040503050406030204" pitchFamily="18" charset="0"/>
                          </a:rPr>
                          <m:t>𝟏𝟐𝟔</m:t>
                        </m:r>
                      </m:oMath>
                    </m:oMathPara>
                  </a14:m>
                  <a:endParaRPr lang="en-GB" sz="1500" b="1" dirty="0"/>
                </a:p>
              </p:txBody>
            </p:sp>
          </mc:Choice>
          <mc:Fallback xmlns="">
            <p:sp>
              <p:nvSpPr>
                <p:cNvPr id="30" name="TextBox 29">
                  <a:extLst>
                    <a:ext uri="{FF2B5EF4-FFF2-40B4-BE49-F238E27FC236}">
                      <a16:creationId xmlns:a16="http://schemas.microsoft.com/office/drawing/2014/main" id="{AEA0B6CB-EAA3-25E0-C95F-A116C90E80F3}"/>
                    </a:ext>
                  </a:extLst>
                </p:cNvPr>
                <p:cNvSpPr txBox="1">
                  <a:spLocks noRot="1" noChangeAspect="1" noMove="1" noResize="1" noEditPoints="1" noAdjustHandles="1" noChangeArrowheads="1" noChangeShapeType="1" noTextEdit="1"/>
                </p:cNvSpPr>
                <p:nvPr/>
              </p:nvSpPr>
              <p:spPr>
                <a:xfrm>
                  <a:off x="29579" y="4966975"/>
                  <a:ext cx="1889675" cy="430886"/>
                </a:xfrm>
                <a:prstGeom prst="rect">
                  <a:avLst/>
                </a:prstGeom>
                <a:blipFill>
                  <a:blip r:embed="rId17"/>
                  <a:stretch>
                    <a:fillRect b="-3774"/>
                  </a:stretch>
                </a:blipFill>
              </p:spPr>
              <p:txBody>
                <a:bodyPr/>
                <a:lstStyle/>
                <a:p>
                  <a:r>
                    <a:rPr lang="en-GB">
                      <a:noFill/>
                    </a:rPr>
                    <a:t> </a:t>
                  </a:r>
                </a:p>
              </p:txBody>
            </p:sp>
          </mc:Fallback>
        </mc:AlternateContent>
        <p:cxnSp>
          <p:nvCxnSpPr>
            <p:cNvPr id="31" name="Straight Connector 30">
              <a:extLst>
                <a:ext uri="{FF2B5EF4-FFF2-40B4-BE49-F238E27FC236}">
                  <a16:creationId xmlns:a16="http://schemas.microsoft.com/office/drawing/2014/main" id="{A54AC043-C901-4318-35FC-604353B89719}"/>
                </a:ext>
              </a:extLst>
            </p:cNvPr>
            <p:cNvCxnSpPr/>
            <p:nvPr/>
          </p:nvCxnSpPr>
          <p:spPr>
            <a:xfrm>
              <a:off x="234600" y="4907882"/>
              <a:ext cx="1479636" cy="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1679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Multiple Cash Flows – PV</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5"/>
                <a:ext cx="8591550" cy="762398"/>
              </a:xfrm>
            </p:spPr>
            <p:txBody>
              <a:bodyPr>
                <a:normAutofit lnSpcReduction="10000"/>
              </a:bodyPr>
              <a:lstStyle/>
              <a:p>
                <a:pPr marL="0" lvl="1" indent="0">
                  <a:spcAft>
                    <a:spcPts val="900"/>
                  </a:spcAft>
                  <a:buClr>
                    <a:srgbClr val="C00000"/>
                  </a:buClr>
                  <a:buSzPct val="90000"/>
                  <a:buNone/>
                </a:pPr>
                <a:r>
                  <a:rPr lang="en-GB" sz="1350" dirty="0"/>
                  <a:t>This is the same as:</a:t>
                </a: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50" i="1">
                          <a:latin typeface="Cambria Math" panose="02040503050406030204" pitchFamily="18" charset="0"/>
                          <a:ea typeface="Cambria Math" panose="02040503050406030204" pitchFamily="18" charset="0"/>
                        </a:rPr>
                        <m:t>𝑃𝑉</m:t>
                      </m:r>
                      <m:r>
                        <a:rPr lang="en-GB" sz="1650" i="1">
                          <a:latin typeface="Cambria Math" panose="02040503050406030204" pitchFamily="18" charset="0"/>
                          <a:ea typeface="Cambria Math" panose="02040503050406030204" pitchFamily="18" charset="0"/>
                        </a:rPr>
                        <m:t>=1,000×</m:t>
                      </m:r>
                      <m:sSup>
                        <m:sSupPr>
                          <m:ctrlPr>
                            <a:rPr lang="en-GB" sz="1650" i="1">
                              <a:latin typeface="Cambria Math" panose="02040503050406030204" pitchFamily="18" charset="0"/>
                              <a:ea typeface="Cambria Math" panose="02040503050406030204" pitchFamily="18" charset="0"/>
                            </a:rPr>
                          </m:ctrlPr>
                        </m:sSupPr>
                        <m:e>
                          <m:d>
                            <m:dPr>
                              <m:ctrlPr>
                                <a:rPr lang="en-GB" sz="1650" i="1">
                                  <a:latin typeface="Cambria Math" panose="02040503050406030204" pitchFamily="18" charset="0"/>
                                  <a:ea typeface="Cambria Math" panose="02040503050406030204" pitchFamily="18" charset="0"/>
                                </a:rPr>
                              </m:ctrlPr>
                            </m:dPr>
                            <m:e>
                              <m:r>
                                <a:rPr lang="en-GB" sz="1650" i="1">
                                  <a:latin typeface="Cambria Math" panose="02040503050406030204" pitchFamily="18" charset="0"/>
                                  <a:ea typeface="Cambria Math" panose="02040503050406030204" pitchFamily="18" charset="0"/>
                                </a:rPr>
                                <m:t>1+4%</m:t>
                              </m:r>
                            </m:e>
                          </m:d>
                        </m:e>
                        <m:sup>
                          <m:r>
                            <a:rPr lang="en-GB" sz="1650" i="1">
                              <a:latin typeface="Cambria Math" panose="02040503050406030204" pitchFamily="18" charset="0"/>
                              <a:ea typeface="Cambria Math" panose="02040503050406030204" pitchFamily="18" charset="0"/>
                            </a:rPr>
                            <m:t>−1</m:t>
                          </m:r>
                        </m:sup>
                      </m:sSup>
                      <m:r>
                        <a:rPr lang="en-GB" sz="1650" i="1">
                          <a:latin typeface="Cambria Math" panose="02040503050406030204" pitchFamily="18" charset="0"/>
                          <a:ea typeface="Cambria Math" panose="02040503050406030204" pitchFamily="18" charset="0"/>
                        </a:rPr>
                        <m:t>+1,500×</m:t>
                      </m:r>
                      <m:sSup>
                        <m:sSupPr>
                          <m:ctrlPr>
                            <a:rPr lang="en-GB" sz="1650" i="1">
                              <a:latin typeface="Cambria Math" panose="02040503050406030204" pitchFamily="18" charset="0"/>
                              <a:ea typeface="Cambria Math" panose="02040503050406030204" pitchFamily="18" charset="0"/>
                            </a:rPr>
                          </m:ctrlPr>
                        </m:sSupPr>
                        <m:e>
                          <m:d>
                            <m:dPr>
                              <m:ctrlPr>
                                <a:rPr lang="en-GB" sz="1650" i="1">
                                  <a:latin typeface="Cambria Math" panose="02040503050406030204" pitchFamily="18" charset="0"/>
                                  <a:ea typeface="Cambria Math" panose="02040503050406030204" pitchFamily="18" charset="0"/>
                                </a:rPr>
                              </m:ctrlPr>
                            </m:dPr>
                            <m:e>
                              <m:r>
                                <a:rPr lang="en-GB" sz="1650" i="1">
                                  <a:latin typeface="Cambria Math" panose="02040503050406030204" pitchFamily="18" charset="0"/>
                                  <a:ea typeface="Cambria Math" panose="02040503050406030204" pitchFamily="18" charset="0"/>
                                </a:rPr>
                                <m:t>1+4%</m:t>
                              </m:r>
                            </m:e>
                          </m:d>
                        </m:e>
                        <m:sup>
                          <m:r>
                            <a:rPr lang="en-GB" sz="1650" i="1">
                              <a:latin typeface="Cambria Math" panose="02040503050406030204" pitchFamily="18" charset="0"/>
                              <a:ea typeface="Cambria Math" panose="02040503050406030204" pitchFamily="18" charset="0"/>
                            </a:rPr>
                            <m:t>−2</m:t>
                          </m:r>
                        </m:sup>
                      </m:sSup>
                      <m:r>
                        <a:rPr lang="en-GB" sz="1650" i="1">
                          <a:latin typeface="Cambria Math" panose="02040503050406030204" pitchFamily="18" charset="0"/>
                          <a:ea typeface="Cambria Math" panose="02040503050406030204" pitchFamily="18" charset="0"/>
                        </a:rPr>
                        <m:t>+2,000×</m:t>
                      </m:r>
                      <m:sSup>
                        <m:sSupPr>
                          <m:ctrlPr>
                            <a:rPr lang="en-GB" sz="1650" i="1">
                              <a:latin typeface="Cambria Math" panose="02040503050406030204" pitchFamily="18" charset="0"/>
                              <a:ea typeface="Cambria Math" panose="02040503050406030204" pitchFamily="18" charset="0"/>
                            </a:rPr>
                          </m:ctrlPr>
                        </m:sSupPr>
                        <m:e>
                          <m:d>
                            <m:dPr>
                              <m:ctrlPr>
                                <a:rPr lang="en-GB" sz="1650" i="1">
                                  <a:latin typeface="Cambria Math" panose="02040503050406030204" pitchFamily="18" charset="0"/>
                                  <a:ea typeface="Cambria Math" panose="02040503050406030204" pitchFamily="18" charset="0"/>
                                </a:rPr>
                              </m:ctrlPr>
                            </m:dPr>
                            <m:e>
                              <m:r>
                                <a:rPr lang="en-GB" sz="1650" i="1">
                                  <a:latin typeface="Cambria Math" panose="02040503050406030204" pitchFamily="18" charset="0"/>
                                  <a:ea typeface="Cambria Math" panose="02040503050406030204" pitchFamily="18" charset="0"/>
                                </a:rPr>
                                <m:t>1+4%</m:t>
                              </m:r>
                            </m:e>
                          </m:d>
                        </m:e>
                        <m:sup>
                          <m:r>
                            <a:rPr lang="en-GB" sz="1650" i="1">
                              <a:latin typeface="Cambria Math" panose="02040503050406030204" pitchFamily="18" charset="0"/>
                              <a:ea typeface="Cambria Math" panose="02040503050406030204" pitchFamily="18" charset="0"/>
                            </a:rPr>
                            <m:t>−3</m:t>
                          </m:r>
                        </m:sup>
                      </m:sSup>
                      <m:r>
                        <a:rPr lang="en-GB" sz="1650" i="1">
                          <a:latin typeface="Cambria Math" panose="02040503050406030204" pitchFamily="18" charset="0"/>
                          <a:ea typeface="Cambria Math" panose="02040503050406030204" pitchFamily="18" charset="0"/>
                        </a:rPr>
                        <m:t>=$4,126</m:t>
                      </m:r>
                    </m:oMath>
                  </m:oMathPara>
                </a14:m>
                <a:endParaRPr lang="en-GB" sz="1650" dirty="0">
                  <a:ea typeface="Cambria Math" panose="02040503050406030204" pitchFamily="18" charset="0"/>
                </a:endParaRPr>
              </a:p>
              <a:p>
                <a:pPr marL="257175" lvl="1" indent="-257175">
                  <a:spcAft>
                    <a:spcPts val="900"/>
                  </a:spcAft>
                  <a:buClr>
                    <a:srgbClr val="C00000"/>
                  </a:buClr>
                  <a:buSzPct val="90000"/>
                </a:pPr>
                <a:endParaRPr lang="en-GB" dirty="0">
                  <a:solidFill>
                    <a:prstClr val="black"/>
                  </a:solidFill>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5"/>
                <a:ext cx="8591550" cy="762398"/>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9</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AEAD48-5904-56EA-86FF-AC44E4178FC5}"/>
                  </a:ext>
                </a:extLst>
              </p:cNvPr>
              <p:cNvSpPr txBox="1"/>
              <p:nvPr/>
            </p:nvSpPr>
            <p:spPr>
              <a:xfrm>
                <a:off x="285750" y="2457268"/>
                <a:ext cx="7893844" cy="2437399"/>
              </a:xfrm>
              <a:prstGeom prst="rect">
                <a:avLst/>
              </a:prstGeom>
              <a:noFill/>
            </p:spPr>
            <p:txBody>
              <a:bodyPr wrap="square">
                <a:spAutoFit/>
              </a:bodyPr>
              <a:lstStyle/>
              <a:p>
                <a:pPr marL="257175" lvl="1" indent="-257175">
                  <a:spcAft>
                    <a:spcPts val="900"/>
                  </a:spcAft>
                  <a:buClr>
                    <a:srgbClr val="C00000"/>
                  </a:buClr>
                  <a:buSzPct val="90000"/>
                </a:pPr>
                <a:r>
                  <a:rPr lang="en-GB" dirty="0"/>
                  <a:t>The generalisation of the future value of multiple cash flows is:</a:t>
                </a: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𝑃𝑉</m:t>
                      </m:r>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−1</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2</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−2</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3</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−3</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𝑡</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𝑡</m:t>
                          </m:r>
                        </m:sup>
                      </m:sSup>
                    </m:oMath>
                  </m:oMathPara>
                </a14:m>
                <a:endParaRPr lang="en-GB" dirty="0">
                  <a:solidFill>
                    <a:prstClr val="black"/>
                  </a:solidFill>
                  <a:ea typeface="Cambria Math" panose="02040503050406030204" pitchFamily="18" charset="0"/>
                </a:endParaRP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𝑃𝑉</m:t>
                      </m:r>
                      <m:r>
                        <a:rPr lang="en-GB" b="0" i="1" smtClean="0">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b="0" i="1" smtClean="0">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b="0" i="1" smtClean="0">
                              <a:solidFill>
                                <a:schemeClr val="accent5">
                                  <a:lumMod val="75000"/>
                                </a:schemeClr>
                              </a:solidFill>
                              <a:latin typeface="Cambria Math" panose="02040503050406030204" pitchFamily="18" charset="0"/>
                              <a:ea typeface="Cambria Math" panose="02040503050406030204" pitchFamily="18" charset="0"/>
                            </a:rPr>
                            <m:t>𝑖</m:t>
                          </m:r>
                          <m:r>
                            <a:rPr lang="en-GB" b="0" i="1" smtClean="0">
                              <a:solidFill>
                                <a:schemeClr val="accent5">
                                  <a:lumMod val="75000"/>
                                </a:schemeClr>
                              </a:solidFill>
                              <a:latin typeface="Cambria Math" panose="02040503050406030204" pitchFamily="18" charset="0"/>
                              <a:ea typeface="Cambria Math" panose="02040503050406030204" pitchFamily="18" charset="0"/>
                            </a:rPr>
                            <m:t>=1</m:t>
                          </m:r>
                        </m:sub>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sup>
                        <m:e>
                          <m:r>
                            <a:rPr lang="en-GB"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b="0" i="1" smtClean="0">
                                  <a:solidFill>
                                    <a:schemeClr val="accent5">
                                      <a:lumMod val="75000"/>
                                    </a:schemeClr>
                                  </a:solidFill>
                                  <a:latin typeface="Cambria Math" panose="02040503050406030204" pitchFamily="18" charset="0"/>
                                  <a:ea typeface="Cambria Math" panose="02040503050406030204" pitchFamily="18" charset="0"/>
                                </a:rPr>
                                <m:t>𝑖</m:t>
                              </m:r>
                            </m:sup>
                          </m:sSup>
                        </m:e>
                      </m:nary>
                    </m:oMath>
                  </m:oMathPara>
                </a14:m>
                <a:endParaRPr lang="en-GB" dirty="0"/>
              </a:p>
              <a:p>
                <a:pPr marL="0" lvl="1" indent="0">
                  <a:spcAft>
                    <a:spcPts val="900"/>
                  </a:spcAft>
                  <a:buClr>
                    <a:srgbClr val="C00000"/>
                  </a:buClr>
                  <a:buSzPct val="90000"/>
                </a:pPr>
                <a:r>
                  <a:rPr lang="en-GB" dirty="0">
                    <a:ea typeface="Cambria Math" panose="02040503050406030204" pitchFamily="18" charset="0"/>
                  </a:rPr>
                  <a:t>Where </a:t>
                </a:r>
                <a14:m>
                  <m:oMath xmlns:m="http://schemas.openxmlformats.org/officeDocument/2006/math">
                    <m:r>
                      <a:rPr lang="en-GB"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i="1">
                            <a:solidFill>
                              <a:schemeClr val="accent5">
                                <a:lumMod val="75000"/>
                              </a:schemeClr>
                            </a:solidFill>
                            <a:latin typeface="Cambria Math" panose="02040503050406030204" pitchFamily="18" charset="0"/>
                            <a:ea typeface="Cambria Math" panose="02040503050406030204" pitchFamily="18" charset="0"/>
                          </a:rPr>
                        </m:ctrlPr>
                      </m:sSubPr>
                      <m:e>
                        <m:r>
                          <a:rPr lang="en-GB" i="1">
                            <a:solidFill>
                              <a:schemeClr val="accent5">
                                <a:lumMod val="75000"/>
                              </a:schemeClr>
                            </a:solidFill>
                            <a:latin typeface="Cambria Math" panose="02040503050406030204" pitchFamily="18" charset="0"/>
                            <a:ea typeface="Cambria Math" panose="02040503050406030204" pitchFamily="18" charset="0"/>
                          </a:rPr>
                          <m:t>𝐹</m:t>
                        </m:r>
                      </m:e>
                      <m:sub>
                        <m:r>
                          <a:rPr lang="en-GB" b="0" i="1" smtClean="0">
                            <a:solidFill>
                              <a:schemeClr val="accent5">
                                <a:lumMod val="75000"/>
                              </a:schemeClr>
                            </a:solidFill>
                            <a:latin typeface="Cambria Math" panose="02040503050406030204" pitchFamily="18" charset="0"/>
                            <a:ea typeface="Cambria Math" panose="02040503050406030204" pitchFamily="18" charset="0"/>
                          </a:rPr>
                          <m:t>𝑖</m:t>
                        </m:r>
                      </m:sub>
                    </m:sSub>
                  </m:oMath>
                </a14:m>
                <a:r>
                  <a:rPr lang="en-GB" dirty="0">
                    <a:ea typeface="Cambria Math" panose="02040503050406030204" pitchFamily="18" charset="0"/>
                  </a:rPr>
                  <a:t>: the cash flow in year </a:t>
                </a:r>
                <a14:m>
                  <m:oMath xmlns:m="http://schemas.openxmlformats.org/officeDocument/2006/math">
                    <m:r>
                      <a:rPr lang="en-GB" b="0" i="1" smtClean="0">
                        <a:latin typeface="Cambria Math" panose="02040503050406030204" pitchFamily="18" charset="0"/>
                        <a:ea typeface="Cambria Math" panose="02040503050406030204" pitchFamily="18" charset="0"/>
                      </a:rPr>
                      <m:t>𝑖</m:t>
                    </m:r>
                  </m:oMath>
                </a14:m>
                <a:r>
                  <a:rPr lang="en-GB" dirty="0">
                    <a:ea typeface="Cambria Math" panose="02040503050406030204" pitchFamily="18" charset="0"/>
                  </a:rPr>
                  <a:t>.</a:t>
                </a:r>
              </a:p>
              <a:p>
                <a:pPr marL="0" lvl="1" indent="0">
                  <a:spcAft>
                    <a:spcPts val="900"/>
                  </a:spcAft>
                  <a:buClr>
                    <a:srgbClr val="C00000"/>
                  </a:buClr>
                  <a:buSzPct val="90000"/>
                </a:pPr>
                <a:endParaRPr lang="en-GB" dirty="0"/>
              </a:p>
            </p:txBody>
          </p:sp>
        </mc:Choice>
        <mc:Fallback xmlns="">
          <p:sp>
            <p:nvSpPr>
              <p:cNvPr id="6" name="TextBox 5">
                <a:extLst>
                  <a:ext uri="{FF2B5EF4-FFF2-40B4-BE49-F238E27FC236}">
                    <a16:creationId xmlns:a16="http://schemas.microsoft.com/office/drawing/2014/main" id="{90AEAD48-5904-56EA-86FF-AC44E4178FC5}"/>
                  </a:ext>
                </a:extLst>
              </p:cNvPr>
              <p:cNvSpPr txBox="1">
                <a:spLocks noRot="1" noChangeAspect="1" noMove="1" noResize="1" noEditPoints="1" noAdjustHandles="1" noChangeArrowheads="1" noChangeShapeType="1" noTextEdit="1"/>
              </p:cNvSpPr>
              <p:nvPr/>
            </p:nvSpPr>
            <p:spPr>
              <a:xfrm>
                <a:off x="285750" y="2457268"/>
                <a:ext cx="7893844" cy="2437399"/>
              </a:xfrm>
              <a:prstGeom prst="rect">
                <a:avLst/>
              </a:prstGeom>
              <a:blipFill>
                <a:blip r:embed="rId4"/>
                <a:stretch>
                  <a:fillRect l="-695" t="-1250"/>
                </a:stretch>
              </a:blipFill>
            </p:spPr>
            <p:txBody>
              <a:bodyPr/>
              <a:lstStyle/>
              <a:p>
                <a:r>
                  <a:rPr lang="en-GB">
                    <a:noFill/>
                  </a:rPr>
                  <a:t> </a:t>
                </a:r>
              </a:p>
            </p:txBody>
          </p:sp>
        </mc:Fallback>
      </mc:AlternateContent>
    </p:spTree>
    <p:extLst>
      <p:ext uri="{BB962C8B-B14F-4D97-AF65-F5344CB8AC3E}">
        <p14:creationId xmlns:p14="http://schemas.microsoft.com/office/powerpoint/2010/main" val="266991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25ED-46D7-11D1-00A0-8A661C8C92C8}"/>
              </a:ext>
            </a:extLst>
          </p:cNvPr>
          <p:cNvSpPr>
            <a:spLocks noGrp="1"/>
          </p:cNvSpPr>
          <p:nvPr>
            <p:ph type="title"/>
          </p:nvPr>
        </p:nvSpPr>
        <p:spPr>
          <a:xfrm>
            <a:off x="323528" y="357480"/>
            <a:ext cx="6447501" cy="623248"/>
          </a:xfrm>
        </p:spPr>
        <p:txBody>
          <a:bodyPr>
            <a:normAutofit/>
          </a:bodyPr>
          <a:lstStyle/>
          <a:p>
            <a:r>
              <a:rPr lang="en-GB" dirty="0"/>
              <a:t>TVM recap</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36CA475-1BCA-DBBE-27DA-2394494BE3FB}"/>
                  </a:ext>
                </a:extLst>
              </p:cNvPr>
              <p:cNvSpPr txBox="1">
                <a:spLocks/>
              </p:cNvSpPr>
              <p:nvPr/>
            </p:nvSpPr>
            <p:spPr>
              <a:xfrm>
                <a:off x="4718801" y="2132856"/>
                <a:ext cx="4104456" cy="2736304"/>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1400" dirty="0">
                    <a:solidFill>
                      <a:schemeClr val="tx1">
                        <a:lumMod val="85000"/>
                        <a:lumOff val="15000"/>
                      </a:schemeClr>
                    </a:solidFill>
                    <a:latin typeface="Arial" panose="020B0604020202020204" pitchFamily="34" charset="0"/>
                    <a:cs typeface="Arial" panose="020B0604020202020204" pitchFamily="34" charset="0"/>
                  </a:rPr>
                  <a:t>Continuous compounding</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𝐹𝑉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r>
                            <a:rPr lang="en-GB" i="1">
                              <a:solidFill>
                                <a:schemeClr val="accent5">
                                  <a:lumMod val="75000"/>
                                </a:schemeClr>
                              </a:solidFill>
                              <a:latin typeface="Cambria Math" panose="02040503050406030204" pitchFamily="18" charset="0"/>
                              <a:ea typeface="Cambria Math" panose="02040503050406030204" pitchFamily="18" charset="0"/>
                            </a:rPr>
                            <m:t>𝑒</m:t>
                          </m:r>
                        </m:e>
                        <m:sup>
                          <m:r>
                            <a:rPr lang="en-GB"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dirty="0">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400" i="1">
                          <a:solidFill>
                            <a:schemeClr val="accent5">
                              <a:lumMod val="75000"/>
                            </a:schemeClr>
                          </a:solidFill>
                          <a:latin typeface="Cambria Math" panose="02040503050406030204" pitchFamily="18" charset="0"/>
                        </a:rPr>
                        <m:t>𝑃𝑉</m:t>
                      </m:r>
                      <m:r>
                        <a:rPr lang="en-GB" sz="1400" i="1">
                          <a:solidFill>
                            <a:schemeClr val="accent5">
                              <a:lumMod val="75000"/>
                            </a:schemeClr>
                          </a:solidFill>
                          <a:latin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𝐹𝑉</m:t>
                      </m:r>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r>
                            <a:rPr lang="en-GB" sz="1400" i="1">
                              <a:solidFill>
                                <a:schemeClr val="accent5">
                                  <a:lumMod val="75000"/>
                                </a:schemeClr>
                              </a:solidFill>
                              <a:latin typeface="Cambria Math" panose="02040503050406030204" pitchFamily="18" charset="0"/>
                              <a:ea typeface="Cambria Math" panose="02040503050406030204" pitchFamily="18" charset="0"/>
                            </a:rPr>
                            <m:t>𝑒</m:t>
                          </m:r>
                        </m:e>
                        <m: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400" i="1" dirty="0">
                  <a:solidFill>
                    <a:schemeClr val="accent5">
                      <a:lumMod val="75000"/>
                    </a:schemeClr>
                  </a:solidFill>
                  <a:latin typeface="Arial" panose="020B0604020202020204" pitchFamily="34" charset="0"/>
                  <a:cs typeface="Arial" panose="020B0604020202020204" pitchFamily="34" charset="0"/>
                </a:endParaRPr>
              </a:p>
            </p:txBody>
          </p:sp>
        </mc:Choice>
        <mc:Fallback xmlns="">
          <p:sp>
            <p:nvSpPr>
              <p:cNvPr id="4" name="Content Placeholder 2">
                <a:extLst>
                  <a:ext uri="{FF2B5EF4-FFF2-40B4-BE49-F238E27FC236}">
                    <a16:creationId xmlns:a16="http://schemas.microsoft.com/office/drawing/2014/main" id="{836CA475-1BCA-DBBE-27DA-2394494BE3FB}"/>
                  </a:ext>
                </a:extLst>
              </p:cNvPr>
              <p:cNvSpPr txBox="1">
                <a:spLocks noRot="1" noChangeAspect="1" noMove="1" noResize="1" noEditPoints="1" noAdjustHandles="1" noChangeArrowheads="1" noChangeShapeType="1" noTextEdit="1"/>
              </p:cNvSpPr>
              <p:nvPr/>
            </p:nvSpPr>
            <p:spPr>
              <a:xfrm>
                <a:off x="4718801" y="2132856"/>
                <a:ext cx="4104456" cy="2736304"/>
              </a:xfrm>
              <a:prstGeom prst="rect">
                <a:avLst/>
              </a:prstGeom>
              <a:blipFill>
                <a:blip r:embed="rId2"/>
                <a:stretch>
                  <a:fillRect l="-1040" t="-8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522597-7E79-B031-6327-C0001330AEE5}"/>
                  </a:ext>
                </a:extLst>
              </p:cNvPr>
              <p:cNvSpPr txBox="1"/>
              <p:nvPr/>
            </p:nvSpPr>
            <p:spPr>
              <a:xfrm>
                <a:off x="323527" y="1048860"/>
                <a:ext cx="7643963" cy="646331"/>
              </a:xfrm>
              <a:prstGeom prst="rect">
                <a:avLst/>
              </a:prstGeom>
              <a:noFill/>
            </p:spPr>
            <p:txBody>
              <a:bodyPr wrap="square">
                <a:spAutoFit/>
              </a:bodyPr>
              <a:lstStyle/>
              <a:p>
                <a:pPr marL="257175" lvl="1" indent="-257175">
                  <a:spcAft>
                    <a:spcPts val="900"/>
                  </a:spcAft>
                  <a:buClr>
                    <a:srgbClr val="C00000"/>
                  </a:buClr>
                  <a:buSzPct val="90000"/>
                </a:pPr>
                <a:r>
                  <a:rPr lang="en-GB" dirty="0"/>
                  <a:t>The future and present values over </a:t>
                </a:r>
                <a14:m>
                  <m:oMath xmlns:m="http://schemas.openxmlformats.org/officeDocument/2006/math">
                    <m:r>
                      <a:rPr lang="en-GB" b="0" i="1" smtClean="0">
                        <a:latin typeface="Cambria Math" panose="02040503050406030204" pitchFamily="18" charset="0"/>
                      </a:rPr>
                      <m:t>𝑡</m:t>
                    </m:r>
                  </m:oMath>
                </a14:m>
                <a:r>
                  <a:rPr lang="en-GB" dirty="0"/>
                  <a:t> years using an </a:t>
                </a:r>
                <a:r>
                  <a:rPr lang="en-GB" i="1" dirty="0"/>
                  <a:t>annual </a:t>
                </a:r>
                <a:r>
                  <a:rPr lang="en-GB" dirty="0"/>
                  <a:t>interest rate, </a:t>
                </a:r>
                <a14:m>
                  <m:oMath xmlns:m="http://schemas.openxmlformats.org/officeDocument/2006/math">
                    <m:r>
                      <a:rPr lang="en-GB" b="0" i="1" dirty="0" smtClean="0">
                        <a:latin typeface="Cambria Math" panose="02040503050406030204" pitchFamily="18" charset="0"/>
                      </a:rPr>
                      <m:t>𝑛</m:t>
                    </m:r>
                  </m:oMath>
                </a14:m>
                <a:r>
                  <a:rPr lang="en-GB" dirty="0"/>
                  <a:t> times in a year:</a:t>
                </a:r>
              </a:p>
            </p:txBody>
          </p:sp>
        </mc:Choice>
        <mc:Fallback xmlns="">
          <p:sp>
            <p:nvSpPr>
              <p:cNvPr id="7" name="TextBox 6">
                <a:extLst>
                  <a:ext uri="{FF2B5EF4-FFF2-40B4-BE49-F238E27FC236}">
                    <a16:creationId xmlns:a16="http://schemas.microsoft.com/office/drawing/2014/main" id="{04522597-7E79-B031-6327-C0001330AEE5}"/>
                  </a:ext>
                </a:extLst>
              </p:cNvPr>
              <p:cNvSpPr txBox="1">
                <a:spLocks noRot="1" noChangeAspect="1" noMove="1" noResize="1" noEditPoints="1" noAdjustHandles="1" noChangeArrowheads="1" noChangeShapeType="1" noTextEdit="1"/>
              </p:cNvSpPr>
              <p:nvPr/>
            </p:nvSpPr>
            <p:spPr>
              <a:xfrm>
                <a:off x="323527" y="1048860"/>
                <a:ext cx="7643963" cy="646331"/>
              </a:xfrm>
              <a:prstGeom prst="rect">
                <a:avLst/>
              </a:prstGeom>
              <a:blipFill>
                <a:blip r:embed="rId3"/>
                <a:stretch>
                  <a:fillRect l="-638" t="-4717"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243DB3D0-96D1-CB12-1E39-BC741F1EA025}"/>
                  </a:ext>
                </a:extLst>
              </p:cNvPr>
              <p:cNvSpPr txBox="1">
                <a:spLocks/>
              </p:cNvSpPr>
              <p:nvPr/>
            </p:nvSpPr>
            <p:spPr>
              <a:xfrm>
                <a:off x="611560" y="2132856"/>
                <a:ext cx="5328592" cy="4248472"/>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lvl="1" indent="-57150">
                  <a:spcAft>
                    <a:spcPts val="900"/>
                  </a:spcAft>
                  <a:buClr>
                    <a:srgbClr val="C00000"/>
                  </a:buClr>
                  <a:buSzPct val="90000"/>
                  <a:buNone/>
                </a:pPr>
                <a:r>
                  <a:rPr lang="en-GB" sz="1400" dirty="0">
                    <a:latin typeface="Arial" panose="020B0604020202020204" pitchFamily="34" charset="0"/>
                    <a:cs typeface="Arial" panose="020B0604020202020204" pitchFamily="34" charset="0"/>
                  </a:rPr>
                  <a:t>Compound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𝐹𝑉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i="1">
                                  <a:solidFill>
                                    <a:schemeClr val="accent5">
                                      <a:lumMod val="75000"/>
                                    </a:schemeClr>
                                  </a:solidFill>
                                  <a:latin typeface="Cambria Math" panose="02040503050406030204" pitchFamily="18" charset="0"/>
                                </a:rPr>
                              </m:ctrlPr>
                            </m:dPr>
                            <m:e>
                              <m:r>
                                <a:rPr lang="en-GB" i="1">
                                  <a:solidFill>
                                    <a:schemeClr val="accent5">
                                      <a:lumMod val="75000"/>
                                    </a:schemeClr>
                                  </a:solidFill>
                                  <a:latin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e>
                          </m:d>
                        </m:e>
                        <m:sup>
                          <m:r>
                            <a:rPr lang="en-GB" i="1">
                              <a:solidFill>
                                <a:srgbClr val="C00000"/>
                              </a:solidFill>
                              <a:latin typeface="Cambria Math" panose="02040503050406030204" pitchFamily="18" charset="0"/>
                              <a:ea typeface="Cambria Math" panose="02040503050406030204" pitchFamily="18" charset="0"/>
                            </a:rPr>
                            <m:t>𝑡</m:t>
                          </m:r>
                        </m:sup>
                      </m:sSup>
                    </m:oMath>
                  </m:oMathPara>
                </a14:m>
                <a:endParaRPr lang="en-GB" dirty="0">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400" i="1">
                          <a:solidFill>
                            <a:schemeClr val="accent5">
                              <a:lumMod val="75000"/>
                            </a:schemeClr>
                          </a:solidFill>
                          <a:latin typeface="Cambria Math" panose="02040503050406030204" pitchFamily="18" charset="0"/>
                        </a:rPr>
                        <m:t>𝑃𝑉</m:t>
                      </m:r>
                      <m:r>
                        <a:rPr lang="en-GB" sz="1400" i="1">
                          <a:solidFill>
                            <a:schemeClr val="accent5">
                              <a:lumMod val="75000"/>
                            </a:schemeClr>
                          </a:solidFill>
                          <a:latin typeface="Cambria Math" panose="02040503050406030204" pitchFamily="18" charset="0"/>
                        </a:rPr>
                        <m:t>=</m:t>
                      </m:r>
                      <m:r>
                        <a:rPr lang="en-GB" sz="1400" i="1">
                          <a:solidFill>
                            <a:schemeClr val="accent5">
                              <a:lumMod val="75000"/>
                            </a:schemeClr>
                          </a:solidFill>
                          <a:latin typeface="Cambria Math" panose="02040503050406030204" pitchFamily="18" charset="0"/>
                        </a:rPr>
                        <m:t>𝐹𝑉</m:t>
                      </m:r>
                      <m:r>
                        <a:rPr lang="en-GB" sz="1400" i="1">
                          <a:solidFill>
                            <a:schemeClr val="accent5">
                              <a:lumMod val="75000"/>
                            </a:schemeClr>
                          </a:solidFill>
                          <a:latin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rPr>
                              </m:ctrlPr>
                            </m:dPr>
                            <m:e>
                              <m:r>
                                <a:rPr lang="en-GB" sz="1400" i="1">
                                  <a:solidFill>
                                    <a:schemeClr val="accent5">
                                      <a:lumMod val="75000"/>
                                    </a:schemeClr>
                                  </a:solidFill>
                                  <a:latin typeface="Cambria Math" panose="02040503050406030204" pitchFamily="18" charset="0"/>
                                </a:rPr>
                                <m:t>1+</m:t>
                              </m:r>
                              <m:r>
                                <a:rPr lang="en-GB" sz="1400" i="1">
                                  <a:solidFill>
                                    <a:schemeClr val="accent5">
                                      <a:lumMod val="75000"/>
                                    </a:schemeClr>
                                  </a:solidFill>
                                  <a:latin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rPr>
                            <m:t>−</m:t>
                          </m:r>
                          <m:r>
                            <a:rPr lang="en-GB" sz="1400" i="1">
                              <a:solidFill>
                                <a:schemeClr val="accent5">
                                  <a:lumMod val="75000"/>
                                </a:schemeClr>
                              </a:solidFill>
                              <a:latin typeface="Cambria Math" panose="02040503050406030204" pitchFamily="18" charset="0"/>
                            </a:rPr>
                            <m:t>𝑡</m:t>
                          </m:r>
                        </m:sup>
                      </m:sSup>
                    </m:oMath>
                  </m:oMathPara>
                </a14:m>
                <a:endParaRPr lang="en-GB" sz="14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sSup>
                        <m:sSupPr>
                          <m:ctrlPr>
                            <a:rPr lang="en-GB" sz="1400" i="1">
                              <a:solidFill>
                                <a:schemeClr val="tx1"/>
                              </a:solidFill>
                              <a:latin typeface="Cambria Math" panose="02040503050406030204" pitchFamily="18" charset="0"/>
                            </a:rPr>
                          </m:ctrlPr>
                        </m:sSupPr>
                        <m:e>
                          <m:r>
                            <a:rPr lang="en-GB" sz="1400" i="1">
                              <a:solidFill>
                                <a:schemeClr val="tx1"/>
                              </a:solidFill>
                              <a:latin typeface="Cambria Math" panose="02040503050406030204" pitchFamily="18" charset="0"/>
                            </a:rPr>
                            <m:t>𝑟</m:t>
                          </m:r>
                          <m:r>
                            <a:rPr lang="en-GB" sz="1400" i="1">
                              <a:solidFill>
                                <a:schemeClr val="tx1"/>
                              </a:solidFill>
                              <a:latin typeface="Cambria Math" panose="02040503050406030204" pitchFamily="18" charset="0"/>
                            </a:rPr>
                            <m:t>=</m:t>
                          </m:r>
                          <m:d>
                            <m:dPr>
                              <m:ctrlPr>
                                <a:rPr lang="en-GB" sz="1400" i="1">
                                  <a:solidFill>
                                    <a:schemeClr val="tx1"/>
                                  </a:solidFill>
                                  <a:latin typeface="Cambria Math" panose="02040503050406030204" pitchFamily="18" charset="0"/>
                                </a:rPr>
                              </m:ctrlPr>
                            </m:dPr>
                            <m:e>
                              <m:f>
                                <m:fPr>
                                  <m:ctrlPr>
                                    <a:rPr lang="en-GB" sz="1400" i="1">
                                      <a:solidFill>
                                        <a:schemeClr val="tx1"/>
                                      </a:solidFill>
                                      <a:latin typeface="Cambria Math" panose="02040503050406030204" pitchFamily="18" charset="0"/>
                                    </a:rPr>
                                  </m:ctrlPr>
                                </m:fPr>
                                <m:num>
                                  <m:r>
                                    <a:rPr lang="en-GB" sz="1400" i="1">
                                      <a:solidFill>
                                        <a:schemeClr val="tx1"/>
                                      </a:solidFill>
                                      <a:latin typeface="Cambria Math" panose="02040503050406030204" pitchFamily="18" charset="0"/>
                                    </a:rPr>
                                    <m:t>𝐹𝑉</m:t>
                                  </m:r>
                                </m:num>
                                <m:den>
                                  <m:r>
                                    <a:rPr lang="en-GB" sz="1400" i="1">
                                      <a:solidFill>
                                        <a:schemeClr val="tx1"/>
                                      </a:solidFill>
                                      <a:latin typeface="Cambria Math" panose="02040503050406030204" pitchFamily="18" charset="0"/>
                                    </a:rPr>
                                    <m:t>𝑃𝑉</m:t>
                                  </m:r>
                                </m:den>
                              </m:f>
                            </m:e>
                          </m:d>
                        </m:e>
                        <m:sup>
                          <m:f>
                            <m:fPr>
                              <m:ctrlPr>
                                <a:rPr lang="en-GB" sz="1400" i="1">
                                  <a:solidFill>
                                    <a:schemeClr val="tx1"/>
                                  </a:solidFill>
                                  <a:latin typeface="Cambria Math" panose="02040503050406030204" pitchFamily="18" charset="0"/>
                                </a:rPr>
                              </m:ctrlPr>
                            </m:fPr>
                            <m:num>
                              <m:r>
                                <a:rPr lang="en-GB" sz="1400" i="1">
                                  <a:solidFill>
                                    <a:schemeClr val="tx1"/>
                                  </a:solidFill>
                                  <a:latin typeface="Cambria Math" panose="02040503050406030204" pitchFamily="18" charset="0"/>
                                </a:rPr>
                                <m:t>1</m:t>
                              </m:r>
                            </m:num>
                            <m:den>
                              <m:r>
                                <a:rPr lang="en-GB" sz="1400" i="1">
                                  <a:solidFill>
                                    <a:schemeClr val="tx1"/>
                                  </a:solidFill>
                                  <a:latin typeface="Cambria Math" panose="02040503050406030204" pitchFamily="18" charset="0"/>
                                </a:rPr>
                                <m:t>𝑡</m:t>
                              </m:r>
                            </m:den>
                          </m:f>
                        </m:sup>
                      </m:sSup>
                    </m:oMath>
                  </m:oMathPara>
                </a14:m>
                <a:endParaRPr lang="en-GB" sz="14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400" i="1">
                          <a:solidFill>
                            <a:schemeClr val="tx1"/>
                          </a:solidFill>
                          <a:latin typeface="Cambria Math" panose="02040503050406030204" pitchFamily="18" charset="0"/>
                          <a:ea typeface="Cambria Math" panose="02040503050406030204" pitchFamily="18" charset="0"/>
                        </a:rPr>
                        <m:t>𝑡</m:t>
                      </m:r>
                      <m:r>
                        <a:rPr lang="en-GB" sz="1400" i="1">
                          <a:solidFill>
                            <a:schemeClr val="tx1"/>
                          </a:solidFill>
                          <a:latin typeface="Cambria Math" panose="02040503050406030204" pitchFamily="18" charset="0"/>
                          <a:ea typeface="Cambria Math" panose="02040503050406030204" pitchFamily="18" charset="0"/>
                        </a:rPr>
                        <m:t>=</m:t>
                      </m:r>
                      <m:f>
                        <m:fPr>
                          <m:ctrlPr>
                            <a:rPr lang="en-GB" sz="1400" i="1">
                              <a:solidFill>
                                <a:schemeClr val="tx1"/>
                              </a:solidFill>
                              <a:latin typeface="Cambria Math" panose="02040503050406030204" pitchFamily="18" charset="0"/>
                            </a:rPr>
                          </m:ctrlPr>
                        </m:fPr>
                        <m:num>
                          <m:func>
                            <m:funcPr>
                              <m:ctrlPr>
                                <a:rPr lang="en-GB" sz="1400" i="1">
                                  <a:solidFill>
                                    <a:schemeClr val="tx1"/>
                                  </a:solidFill>
                                  <a:latin typeface="Cambria Math" panose="02040503050406030204" pitchFamily="18" charset="0"/>
                                </a:rPr>
                              </m:ctrlPr>
                            </m:funcPr>
                            <m:fName>
                              <m:r>
                                <m:rPr>
                                  <m:sty m:val="p"/>
                                </m:rPr>
                                <a:rPr lang="en-GB" sz="1400">
                                  <a:solidFill>
                                    <a:schemeClr val="tx1"/>
                                  </a:solidFill>
                                  <a:latin typeface="Cambria Math" panose="02040503050406030204" pitchFamily="18" charset="0"/>
                                </a:rPr>
                                <m:t>ln</m:t>
                              </m:r>
                            </m:fName>
                            <m:e>
                              <m:d>
                                <m:dPr>
                                  <m:ctrlPr>
                                    <a:rPr lang="en-GB" sz="1400" i="1">
                                      <a:solidFill>
                                        <a:schemeClr val="tx1"/>
                                      </a:solidFill>
                                      <a:latin typeface="Cambria Math" panose="02040503050406030204" pitchFamily="18" charset="0"/>
                                    </a:rPr>
                                  </m:ctrlPr>
                                </m:dPr>
                                <m:e>
                                  <m:f>
                                    <m:fPr>
                                      <m:ctrlPr>
                                        <a:rPr lang="en-GB" sz="1400" i="1">
                                          <a:solidFill>
                                            <a:schemeClr val="tx1"/>
                                          </a:solidFill>
                                          <a:latin typeface="Cambria Math" panose="02040503050406030204" pitchFamily="18" charset="0"/>
                                        </a:rPr>
                                      </m:ctrlPr>
                                    </m:fPr>
                                    <m:num>
                                      <m:r>
                                        <a:rPr lang="en-GB" sz="1400" i="1">
                                          <a:solidFill>
                                            <a:schemeClr val="tx1"/>
                                          </a:solidFill>
                                          <a:latin typeface="Cambria Math" panose="02040503050406030204" pitchFamily="18" charset="0"/>
                                        </a:rPr>
                                        <m:t>𝐹𝑉</m:t>
                                      </m:r>
                                    </m:num>
                                    <m:den>
                                      <m:r>
                                        <a:rPr lang="en-GB" sz="1400" i="1">
                                          <a:solidFill>
                                            <a:schemeClr val="tx1"/>
                                          </a:solidFill>
                                          <a:latin typeface="Cambria Math" panose="02040503050406030204" pitchFamily="18" charset="0"/>
                                        </a:rPr>
                                        <m:t>𝑃𝑉</m:t>
                                      </m:r>
                                    </m:den>
                                  </m:f>
                                </m:e>
                              </m:d>
                            </m:e>
                          </m:func>
                        </m:num>
                        <m:den>
                          <m:r>
                            <m:rPr>
                              <m:sty m:val="p"/>
                            </m:rPr>
                            <a:rPr lang="en-GB" sz="1400">
                              <a:solidFill>
                                <a:schemeClr val="tx1"/>
                              </a:solidFill>
                              <a:latin typeface="Cambria Math" panose="02040503050406030204" pitchFamily="18" charset="0"/>
                            </a:rPr>
                            <m:t>ln</m:t>
                          </m:r>
                          <m:r>
                            <a:rPr lang="en-GB" sz="1400" i="1">
                              <a:solidFill>
                                <a:schemeClr val="tx1"/>
                              </a:solidFill>
                              <a:latin typeface="Cambria Math" panose="02040503050406030204" pitchFamily="18" charset="0"/>
                            </a:rPr>
                            <m:t>⁡(1+</m:t>
                          </m:r>
                          <m:r>
                            <a:rPr lang="en-GB" sz="1400" i="1">
                              <a:solidFill>
                                <a:schemeClr val="tx1"/>
                              </a:solidFill>
                              <a:latin typeface="Cambria Math" panose="02040503050406030204" pitchFamily="18" charset="0"/>
                            </a:rPr>
                            <m:t>𝑟</m:t>
                          </m:r>
                          <m:r>
                            <a:rPr lang="en-GB" sz="1400" i="1">
                              <a:solidFill>
                                <a:schemeClr val="tx1"/>
                              </a:solidFill>
                              <a:latin typeface="Cambria Math" panose="02040503050406030204" pitchFamily="18" charset="0"/>
                            </a:rPr>
                            <m:t>)</m:t>
                          </m:r>
                        </m:den>
                      </m:f>
                    </m:oMath>
                  </m:oMathPara>
                </a14:m>
                <a:endParaRPr lang="en-GB" sz="14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endParaRPr lang="en-GB" sz="14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endParaRPr lang="en-GB" sz="1400" i="1" dirty="0">
                  <a:solidFill>
                    <a:schemeClr val="accent5">
                      <a:lumMod val="75000"/>
                    </a:schemeClr>
                  </a:solidFill>
                  <a:latin typeface="Arial" panose="020B0604020202020204" pitchFamily="34" charset="0"/>
                  <a:cs typeface="Arial" panose="020B0604020202020204" pitchFamily="34" charset="0"/>
                </a:endParaRPr>
              </a:p>
            </p:txBody>
          </p:sp>
        </mc:Choice>
        <mc:Fallback xmlns="">
          <p:sp>
            <p:nvSpPr>
              <p:cNvPr id="6" name="Content Placeholder 2">
                <a:extLst>
                  <a:ext uri="{FF2B5EF4-FFF2-40B4-BE49-F238E27FC236}">
                    <a16:creationId xmlns:a16="http://schemas.microsoft.com/office/drawing/2014/main" id="{243DB3D0-96D1-CB12-1E39-BC741F1EA025}"/>
                  </a:ext>
                </a:extLst>
              </p:cNvPr>
              <p:cNvSpPr txBox="1">
                <a:spLocks noRot="1" noChangeAspect="1" noMove="1" noResize="1" noEditPoints="1" noAdjustHandles="1" noChangeArrowheads="1" noChangeShapeType="1" noTextEdit="1"/>
              </p:cNvSpPr>
              <p:nvPr/>
            </p:nvSpPr>
            <p:spPr>
              <a:xfrm>
                <a:off x="611560" y="2132856"/>
                <a:ext cx="5328592" cy="4248472"/>
              </a:xfrm>
              <a:prstGeom prst="rect">
                <a:avLst/>
              </a:prstGeom>
              <a:blipFill>
                <a:blip r:embed="rId4"/>
                <a:stretch>
                  <a:fillRect l="-686" t="-57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E85222-D35D-66A8-D3DE-9411EA813E40}"/>
                  </a:ext>
                </a:extLst>
              </p:cNvPr>
              <p:cNvSpPr>
                <a:spLocks noGrp="1"/>
              </p:cNvSpPr>
              <p:nvPr>
                <p:ph idx="1"/>
              </p:nvPr>
            </p:nvSpPr>
            <p:spPr>
              <a:xfrm>
                <a:off x="423026" y="4614822"/>
                <a:ext cx="8613470" cy="2126546"/>
              </a:xfrm>
            </p:spPr>
            <p:txBody>
              <a:bodyPr>
                <a:noAutofit/>
              </a:bodyPr>
              <a:lstStyle/>
              <a:p>
                <a:pPr marL="74295" indent="-257175">
                  <a:spcAft>
                    <a:spcPts val="900"/>
                  </a:spcAft>
                  <a:buClr>
                    <a:srgbClr val="C00000"/>
                  </a:buClr>
                  <a:buSzPct val="90000"/>
                </a:pPr>
                <a:r>
                  <a:rPr lang="en-GB" sz="1400" dirty="0">
                    <a:latin typeface="Arial" panose="020B0604020202020204" pitchFamily="34" charset="0"/>
                    <a:ea typeface="Cambria Math" panose="02040503050406030204" pitchFamily="18" charset="0"/>
                    <a:cs typeface="Arial" panose="020B0604020202020204" pitchFamily="34" charset="0"/>
                  </a:rPr>
                  <a:t>Multiple cash flows:</a:t>
                </a:r>
                <a:endParaRPr lang="en-GB" sz="1400" b="0" i="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400" b="0" i="1" smtClean="0">
                          <a:solidFill>
                            <a:schemeClr val="accent5">
                              <a:lumMod val="75000"/>
                            </a:schemeClr>
                          </a:solidFill>
                          <a:latin typeface="Cambria Math" panose="02040503050406030204" pitchFamily="18" charset="0"/>
                          <a:ea typeface="Cambria Math" panose="02040503050406030204" pitchFamily="18" charset="0"/>
                        </a:rPr>
                        <m:t>𝐹𝑉</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sz="1400" i="1">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sz="1400" i="1">
                              <a:solidFill>
                                <a:schemeClr val="accent5">
                                  <a:lumMod val="75000"/>
                                </a:schemeClr>
                              </a:solidFill>
                              <a:latin typeface="Cambria Math" panose="02040503050406030204" pitchFamily="18" charset="0"/>
                              <a:ea typeface="Cambria Math" panose="02040503050406030204" pitchFamily="18" charset="0"/>
                            </a:rPr>
                            <m:t>𝑖</m:t>
                          </m:r>
                          <m:r>
                            <a:rPr lang="en-GB" sz="1400" i="1">
                              <a:solidFill>
                                <a:schemeClr val="accent5">
                                  <a:lumMod val="75000"/>
                                </a:schemeClr>
                              </a:solidFill>
                              <a:latin typeface="Cambria Math" panose="02040503050406030204" pitchFamily="18" charset="0"/>
                              <a:ea typeface="Cambria Math" panose="02040503050406030204" pitchFamily="18" charset="0"/>
                            </a:rPr>
                            <m:t>=0</m:t>
                          </m:r>
                        </m:sub>
                        <m:sup>
                          <m:r>
                            <a:rPr lang="en-GB" sz="1400" i="1">
                              <a:solidFill>
                                <a:schemeClr val="accent5">
                                  <a:lumMod val="75000"/>
                                </a:schemeClr>
                              </a:solidFill>
                              <a:latin typeface="Cambria Math" panose="02040503050406030204" pitchFamily="18" charset="0"/>
                              <a:ea typeface="Cambria Math" panose="02040503050406030204" pitchFamily="18" charset="0"/>
                            </a:rPr>
                            <m:t>𝑚</m:t>
                          </m:r>
                        </m:sup>
                        <m:e>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i="1">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ea typeface="Cambria Math" panose="02040503050406030204" pitchFamily="18" charset="0"/>
                                </a:rPr>
                                <m:t>𝑡</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𝑖</m:t>
                              </m:r>
                            </m:sup>
                          </m:sSup>
                        </m:e>
                      </m:nary>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sz="1400"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0</m:t>
                          </m:r>
                        </m:sub>
                      </m:sSub>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sSup>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sz="1400"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sup>
                      </m:sSup>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sz="1400" b="0" i="1" smtClean="0">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𝑚</m:t>
                          </m:r>
                        </m:sub>
                      </m:sSub>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𝑚</m:t>
                          </m:r>
                        </m:sup>
                      </m:sSup>
                    </m:oMath>
                  </m:oMathPara>
                </a14:m>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400" b="0" i="1" smtClean="0">
                          <a:solidFill>
                            <a:schemeClr val="accent5">
                              <a:lumMod val="75000"/>
                            </a:schemeClr>
                          </a:solidFill>
                          <a:latin typeface="Cambria Math" panose="02040503050406030204" pitchFamily="18" charset="0"/>
                          <a:ea typeface="Cambria Math" panose="02040503050406030204" pitchFamily="18" charset="0"/>
                        </a:rPr>
                        <m:t>𝑃</m:t>
                      </m:r>
                      <m:r>
                        <a:rPr lang="en-GB" sz="1400" i="1">
                          <a:solidFill>
                            <a:schemeClr val="accent5">
                              <a:lumMod val="75000"/>
                            </a:schemeClr>
                          </a:solidFill>
                          <a:latin typeface="Cambria Math" panose="02040503050406030204" pitchFamily="18" charset="0"/>
                          <a:ea typeface="Cambria Math" panose="02040503050406030204" pitchFamily="18" charset="0"/>
                        </a:rPr>
                        <m:t>𝑉</m:t>
                      </m:r>
                      <m:r>
                        <a:rPr lang="en-GB" sz="1400" i="1">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sz="1400" i="1">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sz="1400" i="1">
                              <a:solidFill>
                                <a:schemeClr val="accent5">
                                  <a:lumMod val="75000"/>
                                </a:schemeClr>
                              </a:solidFill>
                              <a:latin typeface="Cambria Math" panose="02040503050406030204" pitchFamily="18" charset="0"/>
                              <a:ea typeface="Cambria Math" panose="02040503050406030204" pitchFamily="18" charset="0"/>
                            </a:rPr>
                            <m:t>𝑖</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sub>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e>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i="1">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𝑖</m:t>
                              </m:r>
                            </m:sup>
                          </m:sSup>
                        </m:e>
                      </m:nary>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smtClean="0">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sup>
                      </m:s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2</m:t>
                          </m:r>
                        </m:sub>
                      </m:sSub>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−2</m:t>
                          </m:r>
                        </m:sup>
                      </m:s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b>
                      </m:sSub>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oMath>
                  </m:oMathPara>
                </a14:m>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spcAft>
                    <a:spcPts val="900"/>
                  </a:spcAft>
                  <a:buClr>
                    <a:srgbClr val="C00000"/>
                  </a:buClr>
                  <a:buSzPct val="90000"/>
                  <a:buNone/>
                </a:pPr>
                <a:r>
                  <a:rPr lang="en-GB" sz="1400" dirty="0">
                    <a:latin typeface="Arial" panose="020B0604020202020204" pitchFamily="34" charset="0"/>
                    <a:ea typeface="Cambria Math" panose="02040503050406030204" pitchFamily="18" charset="0"/>
                    <a:cs typeface="Arial" panose="020B0604020202020204" pitchFamily="34" charset="0"/>
                  </a:rPr>
                  <a:t>Where </a:t>
                </a:r>
                <a14:m>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𝐹</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𝑖</m:t>
                        </m:r>
                      </m:sub>
                    </m:sSub>
                  </m:oMath>
                </a14:m>
                <a:r>
                  <a:rPr lang="en-GB" sz="1400" dirty="0">
                    <a:latin typeface="Arial" panose="020B0604020202020204" pitchFamily="34" charset="0"/>
                    <a:ea typeface="Cambria Math" panose="02040503050406030204" pitchFamily="18" charset="0"/>
                    <a:cs typeface="Arial" panose="020B0604020202020204" pitchFamily="34" charset="0"/>
                  </a:rPr>
                  <a:t>: the cash flow in year </a:t>
                </a:r>
                <a14:m>
                  <m:oMath xmlns:m="http://schemas.openxmlformats.org/officeDocument/2006/math">
                    <m:r>
                      <a:rPr lang="en-GB" sz="1400" b="0" i="1" smtClean="0">
                        <a:latin typeface="Cambria Math" panose="02040503050406030204" pitchFamily="18" charset="0"/>
                        <a:ea typeface="Cambria Math" panose="02040503050406030204" pitchFamily="18" charset="0"/>
                      </a:rPr>
                      <m:t>𝑖</m:t>
                    </m:r>
                  </m:oMath>
                </a14:m>
                <a:r>
                  <a:rPr lang="en-GB" sz="1400" dirty="0">
                    <a:latin typeface="Arial" panose="020B0604020202020204" pitchFamily="34" charset="0"/>
                    <a:ea typeface="Cambria Math" panose="02040503050406030204" pitchFamily="18" charset="0"/>
                    <a:cs typeface="Arial" panose="020B0604020202020204" pitchFamily="34" charset="0"/>
                  </a:rPr>
                  <a:t>.</a:t>
                </a:r>
              </a:p>
            </p:txBody>
          </p:sp>
        </mc:Choice>
        <mc:Fallback xmlns="">
          <p:sp>
            <p:nvSpPr>
              <p:cNvPr id="3" name="Content Placeholder 2">
                <a:extLst>
                  <a:ext uri="{FF2B5EF4-FFF2-40B4-BE49-F238E27FC236}">
                    <a16:creationId xmlns:a16="http://schemas.microsoft.com/office/drawing/2014/main" id="{C7E85222-D35D-66A8-D3DE-9411EA813E40}"/>
                  </a:ext>
                </a:extLst>
              </p:cNvPr>
              <p:cNvSpPr>
                <a:spLocks noGrp="1" noRot="1" noChangeAspect="1" noMove="1" noResize="1" noEditPoints="1" noAdjustHandles="1" noChangeArrowheads="1" noChangeShapeType="1" noTextEdit="1"/>
              </p:cNvSpPr>
              <p:nvPr>
                <p:ph idx="1"/>
              </p:nvPr>
            </p:nvSpPr>
            <p:spPr>
              <a:xfrm>
                <a:off x="423026" y="4614822"/>
                <a:ext cx="8613470" cy="2126546"/>
              </a:xfrm>
              <a:blipFill>
                <a:blip r:embed="rId5"/>
                <a:stretch>
                  <a:fillRect l="-212" t="-2006"/>
                </a:stretch>
              </a:blipFill>
            </p:spPr>
            <p:txBody>
              <a:bodyPr/>
              <a:lstStyle/>
              <a:p>
                <a:r>
                  <a:rPr lang="en-GB">
                    <a:noFill/>
                  </a:rPr>
                  <a:t> </a:t>
                </a:r>
              </a:p>
            </p:txBody>
          </p:sp>
        </mc:Fallback>
      </mc:AlternateContent>
    </p:spTree>
    <p:extLst>
      <p:ext uri="{BB962C8B-B14F-4D97-AF65-F5344CB8AC3E}">
        <p14:creationId xmlns:p14="http://schemas.microsoft.com/office/powerpoint/2010/main" val="137090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fltVal val="0"/>
                                          </p:val>
                                        </p:tav>
                                        <p:tav tm="100000">
                                          <p:val>
                                            <p:strVal val="#ppt_w"/>
                                          </p:val>
                                        </p:tav>
                                      </p:tavLst>
                                    </p:anim>
                                    <p:anim calcmode="lin" valueType="num">
                                      <p:cBhvr>
                                        <p:cTn id="12" dur="1000" fill="hold"/>
                                        <p:tgtEl>
                                          <p:spTgt spid="6"/>
                                        </p:tgtEl>
                                        <p:attrNameLst>
                                          <p:attrName>ppt_h</p:attrName>
                                        </p:attrNameLst>
                                      </p:cBhvr>
                                      <p:tavLst>
                                        <p:tav tm="0">
                                          <p:val>
                                            <p:fltVal val="0"/>
                                          </p:val>
                                        </p:tav>
                                        <p:tav tm="100000">
                                          <p:val>
                                            <p:strVal val="#ppt_h"/>
                                          </p:val>
                                        </p:tav>
                                      </p:tavLst>
                                    </p:anim>
                                    <p:anim calcmode="lin" valueType="num">
                                      <p:cBhvr>
                                        <p:cTn id="13" dur="1000" fill="hold"/>
                                        <p:tgtEl>
                                          <p:spTgt spid="6"/>
                                        </p:tgtEl>
                                        <p:attrNameLst>
                                          <p:attrName>style.rotation</p:attrName>
                                        </p:attrNameLst>
                                      </p:cBhvr>
                                      <p:tavLst>
                                        <p:tav tm="0">
                                          <p:val>
                                            <p:fltVal val="90"/>
                                          </p:val>
                                        </p:tav>
                                        <p:tav tm="100000">
                                          <p:val>
                                            <p:fltVal val="0"/>
                                          </p:val>
                                        </p:tav>
                                      </p:tavLst>
                                    </p:anim>
                                    <p:animEffect transition="in" filter="fade">
                                      <p:cBhvr>
                                        <p:cTn id="14" dur="1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6"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99" y="554805"/>
            <a:ext cx="7886700" cy="634117"/>
          </a:xfrm>
        </p:spPr>
        <p:txBody>
          <a:bodyPr>
            <a:normAutofit/>
          </a:bodyPr>
          <a:lstStyle/>
          <a:p>
            <a:r>
              <a:rPr lang="en-GB" dirty="0"/>
              <a:t>Annuity </a:t>
            </a:r>
          </a:p>
        </p:txBody>
      </p:sp>
      <p:sp>
        <p:nvSpPr>
          <p:cNvPr id="4" name="Slide Number Placeholder 3"/>
          <p:cNvSpPr>
            <a:spLocks noGrp="1"/>
          </p:cNvSpPr>
          <p:nvPr>
            <p:ph type="sldNum" sz="quarter" idx="12"/>
          </p:nvPr>
        </p:nvSpPr>
        <p:spPr>
          <a:xfrm>
            <a:off x="8558253" y="6356542"/>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11</a:t>
            </a:fld>
            <a:endParaRPr lang="en-GB" sz="1350" dirty="0">
              <a:solidFill>
                <a:prstClr val="black">
                  <a:lumMod val="50000"/>
                  <a:lumOff val="50000"/>
                </a:prstClr>
              </a:solidFill>
              <a:latin typeface="Calibri" panose="020F0502020204030204"/>
              <a:ea typeface="+mn-ea"/>
            </a:endParaRPr>
          </a:p>
        </p:txBody>
      </p:sp>
      <p:sp>
        <p:nvSpPr>
          <p:cNvPr id="21" name="TextBox 20">
            <a:extLst>
              <a:ext uri="{FF2B5EF4-FFF2-40B4-BE49-F238E27FC236}">
                <a16:creationId xmlns:a16="http://schemas.microsoft.com/office/drawing/2014/main" id="{4818490B-16A9-D3B0-565D-963ABD12F6CC}"/>
              </a:ext>
            </a:extLst>
          </p:cNvPr>
          <p:cNvSpPr txBox="1"/>
          <p:nvPr/>
        </p:nvSpPr>
        <p:spPr>
          <a:xfrm>
            <a:off x="276199" y="3882563"/>
            <a:ext cx="7721026" cy="276998"/>
          </a:xfrm>
          <a:prstGeom prst="rect">
            <a:avLst/>
          </a:prstGeom>
        </p:spPr>
        <p:txBody>
          <a:bodyPr vert="horz" lIns="68580" tIns="34290" rIns="68580" bIns="34290" rtlCol="0">
            <a:normAutofit fontScale="92500" lnSpcReduction="20000"/>
          </a:bodyPr>
          <a:lstStyle>
            <a:lvl1pPr marL="342900" indent="-342900" defTabSz="457200">
              <a:spcBef>
                <a:spcPts val="1000"/>
              </a:spcBef>
              <a:spcAft>
                <a:spcPts val="0"/>
              </a:spcAft>
              <a:buClr>
                <a:schemeClr val="accent1"/>
              </a:buClr>
              <a:buSzPct val="80000"/>
              <a:buFont typeface="Wingdings 3" charset="2"/>
              <a:buChar char=""/>
              <a:defRPr>
                <a:solidFill>
                  <a:schemeClr val="tx1">
                    <a:lumMod val="75000"/>
                    <a:lumOff val="25000"/>
                  </a:schemeClr>
                </a:solidFill>
              </a:defRPr>
            </a:lvl1pPr>
            <a:lvl2pPr marL="0" lvl="1" indent="0" defTabSz="457200">
              <a:spcBef>
                <a:spcPts val="0"/>
              </a:spcBef>
              <a:spcAft>
                <a:spcPts val="1200"/>
              </a:spcAft>
              <a:buClr>
                <a:srgbClr val="C00000"/>
              </a:buClr>
              <a:buSzPct val="90000"/>
              <a:buFont typeface="Wingdings 3" charset="2"/>
              <a:buNone/>
              <a:defRPr sz="1600">
                <a:solidFill>
                  <a:schemeClr val="tx1">
                    <a:lumMod val="75000"/>
                    <a:lumOff val="25000"/>
                  </a:schemeClr>
                </a:solidFill>
                <a:ea typeface="Cambria Math" panose="02040503050406030204" pitchFamily="18" charset="0"/>
              </a:defRPr>
            </a:lvl2pPr>
            <a:lvl3pPr marL="1143000" indent="-228600" defTabSz="4572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defTabSz="4572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pPr marL="0" indent="0">
              <a:buNone/>
            </a:pPr>
            <a:r>
              <a:rPr lang="en-GB" u="sng" dirty="0">
                <a:solidFill>
                  <a:srgbClr val="C00000"/>
                </a:solidFill>
              </a:rPr>
              <a:t>Cashflow timeline</a:t>
            </a:r>
          </a:p>
        </p:txBody>
      </p:sp>
      <p:grpSp>
        <p:nvGrpSpPr>
          <p:cNvPr id="23" name="Group 22">
            <a:extLst>
              <a:ext uri="{FF2B5EF4-FFF2-40B4-BE49-F238E27FC236}">
                <a16:creationId xmlns:a16="http://schemas.microsoft.com/office/drawing/2014/main" id="{B43A0AFC-4B92-E756-D747-1D98BBBDD1F7}"/>
              </a:ext>
            </a:extLst>
          </p:cNvPr>
          <p:cNvGrpSpPr/>
          <p:nvPr/>
        </p:nvGrpSpPr>
        <p:grpSpPr>
          <a:xfrm>
            <a:off x="828611" y="5208037"/>
            <a:ext cx="7859817" cy="1177363"/>
            <a:chOff x="1092149" y="4939921"/>
            <a:chExt cx="10479756" cy="1569816"/>
          </a:xfrm>
        </p:grpSpPr>
        <p:grpSp>
          <p:nvGrpSpPr>
            <p:cNvPr id="5" name="Group 4">
              <a:extLst>
                <a:ext uri="{FF2B5EF4-FFF2-40B4-BE49-F238E27FC236}">
                  <a16:creationId xmlns:a16="http://schemas.microsoft.com/office/drawing/2014/main" id="{E9D97856-79D0-5DAF-226D-083FF840D41E}"/>
                </a:ext>
              </a:extLst>
            </p:cNvPr>
            <p:cNvGrpSpPr/>
            <p:nvPr/>
          </p:nvGrpSpPr>
          <p:grpSpPr>
            <a:xfrm>
              <a:off x="1092149" y="4963899"/>
              <a:ext cx="10219305" cy="1545838"/>
              <a:chOff x="1092149" y="4963899"/>
              <a:chExt cx="10219305" cy="1545838"/>
            </a:xfrm>
          </p:grpSpPr>
          <p:cxnSp>
            <p:nvCxnSpPr>
              <p:cNvPr id="6" name="Straight Connector 5">
                <a:extLst>
                  <a:ext uri="{FF2B5EF4-FFF2-40B4-BE49-F238E27FC236}">
                    <a16:creationId xmlns:a16="http://schemas.microsoft.com/office/drawing/2014/main" id="{2A2DCB96-AE45-9F1F-F918-706B88101E3A}"/>
                  </a:ext>
                </a:extLst>
              </p:cNvPr>
              <p:cNvCxnSpPr/>
              <p:nvPr/>
            </p:nvCxnSpPr>
            <p:spPr>
              <a:xfrm>
                <a:off x="1490158"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2407A54-0362-45D1-4F6A-5BF581769680}"/>
                  </a:ext>
                </a:extLst>
              </p:cNvPr>
              <p:cNvCxnSpPr>
                <a:cxnSpLocks/>
              </p:cNvCxnSpPr>
              <p:nvPr/>
            </p:nvCxnSpPr>
            <p:spPr>
              <a:xfrm>
                <a:off x="1494698" y="5625180"/>
                <a:ext cx="933879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A2513F-7CB3-A63A-4493-33B111BFA1A2}"/>
                  </a:ext>
                </a:extLst>
              </p:cNvPr>
              <p:cNvCxnSpPr/>
              <p:nvPr/>
            </p:nvCxnSpPr>
            <p:spPr>
              <a:xfrm>
                <a:off x="2930253" y="5435805"/>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26678A-4DC5-3713-4E69-D2B566AB9FB9}"/>
                  </a:ext>
                </a:extLst>
              </p:cNvPr>
              <p:cNvCxnSpPr/>
              <p:nvPr/>
            </p:nvCxnSpPr>
            <p:spPr>
              <a:xfrm>
                <a:off x="4806061" y="5435805"/>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F4C80EE-B9F4-8E3E-FBB5-475042F5515E}"/>
                  </a:ext>
                </a:extLst>
              </p:cNvPr>
              <p:cNvCxnSpPr/>
              <p:nvPr/>
            </p:nvCxnSpPr>
            <p:spPr>
              <a:xfrm>
                <a:off x="10833495" y="5426397"/>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5BC570-7C95-24E6-C9C9-EC2775C88425}"/>
                      </a:ext>
                    </a:extLst>
                  </p:cNvPr>
                  <p:cNvSpPr txBox="1"/>
                  <p:nvPr/>
                </p:nvSpPr>
                <p:spPr>
                  <a:xfrm>
                    <a:off x="1092149" y="5834791"/>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1" name="TextBox 10">
                    <a:extLst>
                      <a:ext uri="{FF2B5EF4-FFF2-40B4-BE49-F238E27FC236}">
                        <a16:creationId xmlns:a16="http://schemas.microsoft.com/office/drawing/2014/main" id="{EA5BC570-7C95-24E6-C9C9-EC2775C88425}"/>
                      </a:ext>
                    </a:extLst>
                  </p:cNvPr>
                  <p:cNvSpPr txBox="1">
                    <a:spLocks noRot="1" noChangeAspect="1" noMove="1" noResize="1" noEditPoints="1" noAdjustHandles="1" noChangeArrowheads="1" noChangeShapeType="1" noTextEdit="1"/>
                  </p:cNvSpPr>
                  <p:nvPr/>
                </p:nvSpPr>
                <p:spPr>
                  <a:xfrm>
                    <a:off x="1092149" y="5834791"/>
                    <a:ext cx="880509" cy="400109"/>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87D0E81-935E-FDC6-020D-E8CF11269295}"/>
                      </a:ext>
                    </a:extLst>
                  </p:cNvPr>
                  <p:cNvSpPr txBox="1"/>
                  <p:nvPr/>
                </p:nvSpPr>
                <p:spPr>
                  <a:xfrm>
                    <a:off x="2489998" y="5807656"/>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2" name="TextBox 11">
                    <a:extLst>
                      <a:ext uri="{FF2B5EF4-FFF2-40B4-BE49-F238E27FC236}">
                        <a16:creationId xmlns:a16="http://schemas.microsoft.com/office/drawing/2014/main" id="{787D0E81-935E-FDC6-020D-E8CF11269295}"/>
                      </a:ext>
                    </a:extLst>
                  </p:cNvPr>
                  <p:cNvSpPr txBox="1">
                    <a:spLocks noRot="1" noChangeAspect="1" noMove="1" noResize="1" noEditPoints="1" noAdjustHandles="1" noChangeArrowheads="1" noChangeShapeType="1" noTextEdit="1"/>
                  </p:cNvSpPr>
                  <p:nvPr/>
                </p:nvSpPr>
                <p:spPr>
                  <a:xfrm>
                    <a:off x="2489998" y="5807656"/>
                    <a:ext cx="880509" cy="400109"/>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ECA0EAB-F909-5244-D269-7D966B4C2352}"/>
                      </a:ext>
                    </a:extLst>
                  </p:cNvPr>
                  <p:cNvSpPr txBox="1"/>
                  <p:nvPr/>
                </p:nvSpPr>
                <p:spPr>
                  <a:xfrm>
                    <a:off x="4365806" y="5807656"/>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3" name="TextBox 12">
                    <a:extLst>
                      <a:ext uri="{FF2B5EF4-FFF2-40B4-BE49-F238E27FC236}">
                        <a16:creationId xmlns:a16="http://schemas.microsoft.com/office/drawing/2014/main" id="{BECA0EAB-F909-5244-D269-7D966B4C2352}"/>
                      </a:ext>
                    </a:extLst>
                  </p:cNvPr>
                  <p:cNvSpPr txBox="1">
                    <a:spLocks noRot="1" noChangeAspect="1" noMove="1" noResize="1" noEditPoints="1" noAdjustHandles="1" noChangeArrowheads="1" noChangeShapeType="1" noTextEdit="1"/>
                  </p:cNvSpPr>
                  <p:nvPr/>
                </p:nvSpPr>
                <p:spPr>
                  <a:xfrm>
                    <a:off x="4365806" y="5807656"/>
                    <a:ext cx="880509" cy="400109"/>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6E105FE-F375-AD27-80F6-64EA453749EB}"/>
                      </a:ext>
                    </a:extLst>
                  </p:cNvPr>
                  <p:cNvSpPr txBox="1"/>
                  <p:nvPr/>
                </p:nvSpPr>
                <p:spPr>
                  <a:xfrm>
                    <a:off x="10430945" y="5839040"/>
                    <a:ext cx="880509" cy="670697"/>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=10</m:t>
                          </m:r>
                        </m:oMath>
                      </m:oMathPara>
                    </a14:m>
                    <a:endParaRPr lang="en-GB" sz="1350" dirty="0">
                      <a:solidFill>
                        <a:prstClr val="black"/>
                      </a:solidFill>
                      <a:latin typeface="Calibri" panose="020F0502020204030204"/>
                      <a:ea typeface="+mn-ea"/>
                    </a:endParaRPr>
                  </a:p>
                </p:txBody>
              </p:sp>
            </mc:Choice>
            <mc:Fallback xmlns="">
              <p:sp>
                <p:nvSpPr>
                  <p:cNvPr id="14" name="TextBox 13">
                    <a:extLst>
                      <a:ext uri="{FF2B5EF4-FFF2-40B4-BE49-F238E27FC236}">
                        <a16:creationId xmlns:a16="http://schemas.microsoft.com/office/drawing/2014/main" id="{26E105FE-F375-AD27-80F6-64EA453749EB}"/>
                      </a:ext>
                    </a:extLst>
                  </p:cNvPr>
                  <p:cNvSpPr txBox="1">
                    <a:spLocks noRot="1" noChangeAspect="1" noMove="1" noResize="1" noEditPoints="1" noAdjustHandles="1" noChangeArrowheads="1" noChangeShapeType="1" noTextEdit="1"/>
                  </p:cNvSpPr>
                  <p:nvPr/>
                </p:nvSpPr>
                <p:spPr>
                  <a:xfrm>
                    <a:off x="10430945" y="5839040"/>
                    <a:ext cx="880509" cy="670697"/>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3135E6A-EC8B-5690-8960-7BC66BCD1966}"/>
                      </a:ext>
                    </a:extLst>
                  </p:cNvPr>
                  <p:cNvSpPr txBox="1"/>
                  <p:nvPr/>
                </p:nvSpPr>
                <p:spPr>
                  <a:xfrm>
                    <a:off x="2230000" y="4984899"/>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£1,000</m:t>
                          </m:r>
                        </m:oMath>
                      </m:oMathPara>
                    </a14:m>
                    <a:endParaRPr lang="en-GB" sz="1500" dirty="0"/>
                  </a:p>
                </p:txBody>
              </p:sp>
            </mc:Choice>
            <mc:Fallback xmlns="">
              <p:sp>
                <p:nvSpPr>
                  <p:cNvPr id="15" name="TextBox 14">
                    <a:extLst>
                      <a:ext uri="{FF2B5EF4-FFF2-40B4-BE49-F238E27FC236}">
                        <a16:creationId xmlns:a16="http://schemas.microsoft.com/office/drawing/2014/main" id="{C3135E6A-EC8B-5690-8960-7BC66BCD1966}"/>
                      </a:ext>
                    </a:extLst>
                  </p:cNvPr>
                  <p:cNvSpPr txBox="1">
                    <a:spLocks noRot="1" noChangeAspect="1" noMove="1" noResize="1" noEditPoints="1" noAdjustHandles="1" noChangeArrowheads="1" noChangeShapeType="1" noTextEdit="1"/>
                  </p:cNvSpPr>
                  <p:nvPr/>
                </p:nvSpPr>
                <p:spPr>
                  <a:xfrm>
                    <a:off x="2230000" y="4984899"/>
                    <a:ext cx="1401411" cy="430886"/>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E4303EF-4613-45BC-2140-C3D0443675A0}"/>
                      </a:ext>
                    </a:extLst>
                  </p:cNvPr>
                  <p:cNvSpPr txBox="1"/>
                  <p:nvPr/>
                </p:nvSpPr>
                <p:spPr>
                  <a:xfrm>
                    <a:off x="4108310" y="4974359"/>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£1,000</m:t>
                          </m:r>
                        </m:oMath>
                      </m:oMathPara>
                    </a14:m>
                    <a:endParaRPr lang="en-GB" sz="1500" dirty="0"/>
                  </a:p>
                </p:txBody>
              </p:sp>
            </mc:Choice>
            <mc:Fallback xmlns="">
              <p:sp>
                <p:nvSpPr>
                  <p:cNvPr id="16" name="TextBox 15">
                    <a:extLst>
                      <a:ext uri="{FF2B5EF4-FFF2-40B4-BE49-F238E27FC236}">
                        <a16:creationId xmlns:a16="http://schemas.microsoft.com/office/drawing/2014/main" id="{4E4303EF-4613-45BC-2140-C3D0443675A0}"/>
                      </a:ext>
                    </a:extLst>
                  </p:cNvPr>
                  <p:cNvSpPr txBox="1">
                    <a:spLocks noRot="1" noChangeAspect="1" noMove="1" noResize="1" noEditPoints="1" noAdjustHandles="1" noChangeArrowheads="1" noChangeShapeType="1" noTextEdit="1"/>
                  </p:cNvSpPr>
                  <p:nvPr/>
                </p:nvSpPr>
                <p:spPr>
                  <a:xfrm>
                    <a:off x="4108310" y="4974359"/>
                    <a:ext cx="1401411" cy="430886"/>
                  </a:xfrm>
                  <a:prstGeom prst="rect">
                    <a:avLst/>
                  </a:prstGeom>
                  <a:blipFill>
                    <a:blip r:embed="rId8"/>
                    <a:stretch>
                      <a:fillRect/>
                    </a:stretch>
                  </a:blipFill>
                </p:spPr>
                <p:txBody>
                  <a:bodyPr/>
                  <a:lstStyle/>
                  <a:p>
                    <a:r>
                      <a:rPr lang="en-GB">
                        <a:noFill/>
                      </a:rPr>
                      <a:t> </a:t>
                    </a:r>
                  </a:p>
                </p:txBody>
              </p:sp>
            </mc:Fallback>
          </mc:AlternateContent>
          <p:cxnSp>
            <p:nvCxnSpPr>
              <p:cNvPr id="17" name="Straight Connector 16">
                <a:extLst>
                  <a:ext uri="{FF2B5EF4-FFF2-40B4-BE49-F238E27FC236}">
                    <a16:creationId xmlns:a16="http://schemas.microsoft.com/office/drawing/2014/main" id="{8B85A2EE-8CBB-9D5B-2F97-625F574AA597}"/>
                  </a:ext>
                </a:extLst>
              </p:cNvPr>
              <p:cNvCxnSpPr>
                <a:cxnSpLocks/>
              </p:cNvCxnSpPr>
              <p:nvPr/>
            </p:nvCxnSpPr>
            <p:spPr>
              <a:xfrm>
                <a:off x="6637083" y="5425345"/>
                <a:ext cx="0" cy="4257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A36922E-EFE2-231E-12E1-B3395BB4D764}"/>
                      </a:ext>
                    </a:extLst>
                  </p:cNvPr>
                  <p:cNvSpPr txBox="1"/>
                  <p:nvPr/>
                </p:nvSpPr>
                <p:spPr>
                  <a:xfrm>
                    <a:off x="6241614" y="5828717"/>
                    <a:ext cx="841131"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8" name="TextBox 17">
                    <a:extLst>
                      <a:ext uri="{FF2B5EF4-FFF2-40B4-BE49-F238E27FC236}">
                        <a16:creationId xmlns:a16="http://schemas.microsoft.com/office/drawing/2014/main" id="{DA36922E-EFE2-231E-12E1-B3395BB4D764}"/>
                      </a:ext>
                    </a:extLst>
                  </p:cNvPr>
                  <p:cNvSpPr txBox="1">
                    <a:spLocks noRot="1" noChangeAspect="1" noMove="1" noResize="1" noEditPoints="1" noAdjustHandles="1" noChangeArrowheads="1" noChangeShapeType="1" noTextEdit="1"/>
                  </p:cNvSpPr>
                  <p:nvPr/>
                </p:nvSpPr>
                <p:spPr>
                  <a:xfrm>
                    <a:off x="6241614" y="5828717"/>
                    <a:ext cx="841131" cy="400109"/>
                  </a:xfrm>
                  <a:prstGeom prst="rect">
                    <a:avLst/>
                  </a:prstGeom>
                  <a:blipFill>
                    <a:blip r:embed="rId9"/>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1791CB6-233F-BF63-2575-3BA57A57B1EF}"/>
                      </a:ext>
                    </a:extLst>
                  </p:cNvPr>
                  <p:cNvSpPr txBox="1"/>
                  <p:nvPr/>
                </p:nvSpPr>
                <p:spPr>
                  <a:xfrm>
                    <a:off x="6002008" y="4963899"/>
                    <a:ext cx="1338736"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£1,000</m:t>
                          </m:r>
                        </m:oMath>
                      </m:oMathPara>
                    </a14:m>
                    <a:endParaRPr lang="en-GB" sz="1500" dirty="0"/>
                  </a:p>
                </p:txBody>
              </p:sp>
            </mc:Choice>
            <mc:Fallback xmlns="">
              <p:sp>
                <p:nvSpPr>
                  <p:cNvPr id="19" name="TextBox 18">
                    <a:extLst>
                      <a:ext uri="{FF2B5EF4-FFF2-40B4-BE49-F238E27FC236}">
                        <a16:creationId xmlns:a16="http://schemas.microsoft.com/office/drawing/2014/main" id="{61791CB6-233F-BF63-2575-3BA57A57B1EF}"/>
                      </a:ext>
                    </a:extLst>
                  </p:cNvPr>
                  <p:cNvSpPr txBox="1">
                    <a:spLocks noRot="1" noChangeAspect="1" noMove="1" noResize="1" noEditPoints="1" noAdjustHandles="1" noChangeArrowheads="1" noChangeShapeType="1" noTextEdit="1"/>
                  </p:cNvSpPr>
                  <p:nvPr/>
                </p:nvSpPr>
                <p:spPr>
                  <a:xfrm>
                    <a:off x="6002008" y="4963899"/>
                    <a:ext cx="1338736" cy="430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0F58BCE-E5A9-0299-F405-7A7185F45BF1}"/>
                      </a:ext>
                    </a:extLst>
                  </p:cNvPr>
                  <p:cNvSpPr txBox="1"/>
                  <p:nvPr/>
                </p:nvSpPr>
                <p:spPr>
                  <a:xfrm>
                    <a:off x="8339819" y="5746412"/>
                    <a:ext cx="841131"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m:t>
                          </m:r>
                        </m:oMath>
                      </m:oMathPara>
                    </a14:m>
                    <a:endParaRPr lang="en-GB" sz="1350" dirty="0">
                      <a:solidFill>
                        <a:prstClr val="black"/>
                      </a:solidFill>
                      <a:latin typeface="Calibri" panose="020F0502020204030204"/>
                      <a:ea typeface="+mn-ea"/>
                    </a:endParaRPr>
                  </a:p>
                </p:txBody>
              </p:sp>
            </mc:Choice>
            <mc:Fallback xmlns="">
              <p:sp>
                <p:nvSpPr>
                  <p:cNvPr id="20" name="TextBox 19">
                    <a:extLst>
                      <a:ext uri="{FF2B5EF4-FFF2-40B4-BE49-F238E27FC236}">
                        <a16:creationId xmlns:a16="http://schemas.microsoft.com/office/drawing/2014/main" id="{20F58BCE-E5A9-0299-F405-7A7185F45BF1}"/>
                      </a:ext>
                    </a:extLst>
                  </p:cNvPr>
                  <p:cNvSpPr txBox="1">
                    <a:spLocks noRot="1" noChangeAspect="1" noMove="1" noResize="1" noEditPoints="1" noAdjustHandles="1" noChangeArrowheads="1" noChangeShapeType="1" noTextEdit="1"/>
                  </p:cNvSpPr>
                  <p:nvPr/>
                </p:nvSpPr>
                <p:spPr>
                  <a:xfrm>
                    <a:off x="8339819" y="5746412"/>
                    <a:ext cx="841131" cy="400109"/>
                  </a:xfrm>
                  <a:prstGeom prst="rect">
                    <a:avLst/>
                  </a:prstGeom>
                  <a:blipFill>
                    <a:blip r:embed="rId11"/>
                    <a:stretch>
                      <a:fillRect/>
                    </a:stretch>
                  </a:blipFill>
                  <a:ln>
                    <a:noFill/>
                  </a:ln>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05E90B6-F504-5B37-508F-7B10E93B18D8}"/>
                    </a:ext>
                  </a:extLst>
                </p:cNvPr>
                <p:cNvSpPr txBox="1"/>
                <p:nvPr/>
              </p:nvSpPr>
              <p:spPr>
                <a:xfrm>
                  <a:off x="10170494" y="4939921"/>
                  <a:ext cx="1401411" cy="430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rPr>
                          <m:t>£1,000</m:t>
                        </m:r>
                      </m:oMath>
                    </m:oMathPara>
                  </a14:m>
                  <a:endParaRPr lang="en-GB" sz="1500" dirty="0"/>
                </a:p>
              </p:txBody>
            </p:sp>
          </mc:Choice>
          <mc:Fallback xmlns="">
            <p:sp>
              <p:nvSpPr>
                <p:cNvPr id="22" name="TextBox 21">
                  <a:extLst>
                    <a:ext uri="{FF2B5EF4-FFF2-40B4-BE49-F238E27FC236}">
                      <a16:creationId xmlns:a16="http://schemas.microsoft.com/office/drawing/2014/main" id="{F05E90B6-F504-5B37-508F-7B10E93B18D8}"/>
                    </a:ext>
                  </a:extLst>
                </p:cNvPr>
                <p:cNvSpPr txBox="1">
                  <a:spLocks noRot="1" noChangeAspect="1" noMove="1" noResize="1" noEditPoints="1" noAdjustHandles="1" noChangeArrowheads="1" noChangeShapeType="1" noTextEdit="1"/>
                </p:cNvSpPr>
                <p:nvPr/>
              </p:nvSpPr>
              <p:spPr>
                <a:xfrm>
                  <a:off x="10170494" y="4939921"/>
                  <a:ext cx="1401411" cy="430886"/>
                </a:xfrm>
                <a:prstGeom prst="rect">
                  <a:avLst/>
                </a:prstGeom>
                <a:blipFill>
                  <a:blip r:embed="rId12"/>
                  <a:stretch>
                    <a:fillRect/>
                  </a:stretch>
                </a:blipFill>
              </p:spPr>
              <p:txBody>
                <a:bodyPr/>
                <a:lstStyle/>
                <a:p>
                  <a:r>
                    <a:rPr lang="en-GB">
                      <a:noFill/>
                    </a:rPr>
                    <a:t> </a:t>
                  </a:r>
                </a:p>
              </p:txBody>
            </p:sp>
          </mc:Fallback>
        </mc:AlternateContent>
      </p:grpSp>
      <p:sp>
        <p:nvSpPr>
          <p:cNvPr id="25" name="TextBox 24">
            <a:extLst>
              <a:ext uri="{FF2B5EF4-FFF2-40B4-BE49-F238E27FC236}">
                <a16:creationId xmlns:a16="http://schemas.microsoft.com/office/drawing/2014/main" id="{D9DBB350-E5B0-CF05-79ED-6C995DE89429}"/>
              </a:ext>
            </a:extLst>
          </p:cNvPr>
          <p:cNvSpPr txBox="1"/>
          <p:nvPr/>
        </p:nvSpPr>
        <p:spPr>
          <a:xfrm>
            <a:off x="276199" y="2654426"/>
            <a:ext cx="8412229" cy="761747"/>
          </a:xfrm>
          <a:prstGeom prst="rect">
            <a:avLst/>
          </a:prstGeom>
          <a:noFill/>
        </p:spPr>
        <p:txBody>
          <a:bodyPr wrap="square">
            <a:spAutoFit/>
          </a:bodyPr>
          <a:lstStyle/>
          <a:p>
            <a:pPr marL="0" lvl="1" indent="0">
              <a:spcBef>
                <a:spcPts val="0"/>
              </a:spcBef>
              <a:spcAft>
                <a:spcPts val="900"/>
              </a:spcAft>
              <a:buClr>
                <a:srgbClr val="C00000"/>
              </a:buClr>
              <a:buSzPct val="90000"/>
            </a:pPr>
            <a:r>
              <a:rPr lang="en-GB" sz="1200" b="1" dirty="0">
                <a:solidFill>
                  <a:srgbClr val="C00000"/>
                </a:solidFill>
                <a:ea typeface="Cambria Math" panose="02040503050406030204" pitchFamily="18" charset="0"/>
              </a:rPr>
              <a:t>Example </a:t>
            </a:r>
          </a:p>
          <a:p>
            <a:pPr marL="0" lvl="1" indent="0">
              <a:spcBef>
                <a:spcPts val="0"/>
              </a:spcBef>
              <a:spcAft>
                <a:spcPts val="900"/>
              </a:spcAft>
              <a:buClr>
                <a:srgbClr val="C00000"/>
              </a:buClr>
              <a:buSzPct val="90000"/>
            </a:pPr>
            <a:r>
              <a:rPr lang="en-GB" sz="1200" dirty="0">
                <a:ea typeface="Cambria Math" panose="02040503050406030204" pitchFamily="18" charset="0"/>
              </a:rPr>
              <a:t>Consider an investment plan which pays out £1k annually for 10 years. Using a discount rate of 5%, What is the value of this investment to you today.</a:t>
            </a:r>
          </a:p>
        </p:txBody>
      </p:sp>
      <p:grpSp>
        <p:nvGrpSpPr>
          <p:cNvPr id="26" name="Group 25">
            <a:extLst>
              <a:ext uri="{FF2B5EF4-FFF2-40B4-BE49-F238E27FC236}">
                <a16:creationId xmlns:a16="http://schemas.microsoft.com/office/drawing/2014/main" id="{D79596CB-7257-4A4E-775D-D0FC0152E33F}"/>
              </a:ext>
            </a:extLst>
          </p:cNvPr>
          <p:cNvGrpSpPr/>
          <p:nvPr/>
        </p:nvGrpSpPr>
        <p:grpSpPr>
          <a:xfrm>
            <a:off x="365860" y="4935426"/>
            <a:ext cx="1841669" cy="615742"/>
            <a:chOff x="475147" y="4576443"/>
            <a:chExt cx="2455559" cy="820989"/>
          </a:xfrm>
        </p:grpSpPr>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A3A30EE-41E3-DBB5-9062-AE750B9FF878}"/>
                    </a:ext>
                  </a:extLst>
                </p:cNvPr>
                <p:cNvSpPr txBox="1"/>
                <p:nvPr/>
              </p:nvSpPr>
              <p:spPr>
                <a:xfrm>
                  <a:off x="1529295" y="4787522"/>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1+5%</m:t>
                                </m:r>
                              </m:e>
                            </m:d>
                          </m:e>
                          <m:sup>
                            <m:r>
                              <a:rPr lang="en-GB" sz="1200" i="1">
                                <a:solidFill>
                                  <a:srgbClr val="C00000"/>
                                </a:solidFill>
                                <a:latin typeface="Cambria Math" panose="02040503050406030204" pitchFamily="18" charset="0"/>
                                <a:ea typeface="Cambria Math" panose="02040503050406030204" pitchFamily="18" charset="0"/>
                              </a:rPr>
                              <m:t>−1</m:t>
                            </m:r>
                          </m:sup>
                        </m:sSup>
                      </m:oMath>
                    </m:oMathPara>
                  </a14:m>
                  <a:endParaRPr lang="en-GB" sz="1200" dirty="0">
                    <a:solidFill>
                      <a:srgbClr val="C00000"/>
                    </a:solidFill>
                  </a:endParaRPr>
                </a:p>
              </p:txBody>
            </p:sp>
          </mc:Choice>
          <mc:Fallback xmlns="">
            <p:sp>
              <p:nvSpPr>
                <p:cNvPr id="27" name="TextBox 26">
                  <a:extLst>
                    <a:ext uri="{FF2B5EF4-FFF2-40B4-BE49-F238E27FC236}">
                      <a16:creationId xmlns:a16="http://schemas.microsoft.com/office/drawing/2014/main" id="{FA3A30EE-41E3-DBB5-9062-AE750B9FF878}"/>
                    </a:ext>
                  </a:extLst>
                </p:cNvPr>
                <p:cNvSpPr txBox="1">
                  <a:spLocks noRot="1" noChangeAspect="1" noMove="1" noResize="1" noEditPoints="1" noAdjustHandles="1" noChangeArrowheads="1" noChangeShapeType="1" noTextEdit="1"/>
                </p:cNvSpPr>
                <p:nvPr/>
              </p:nvSpPr>
              <p:spPr>
                <a:xfrm>
                  <a:off x="1529295" y="4787522"/>
                  <a:ext cx="1401411" cy="609910"/>
                </a:xfrm>
                <a:prstGeom prst="rect">
                  <a:avLst/>
                </a:prstGeom>
                <a:blipFill>
                  <a:blip r:embed="rId13"/>
                  <a:stretch>
                    <a:fillRect t="-64000" r="-6395" b="-101333"/>
                  </a:stretch>
                </a:blipFill>
              </p:spPr>
              <p:txBody>
                <a:bodyPr/>
                <a:lstStyle/>
                <a:p>
                  <a:r>
                    <a:rPr lang="en-GB">
                      <a:noFill/>
                    </a:rPr>
                    <a:t> </a:t>
                  </a:r>
                </a:p>
              </p:txBody>
            </p:sp>
          </mc:Fallback>
        </mc:AlternateContent>
        <p:cxnSp>
          <p:nvCxnSpPr>
            <p:cNvPr id="28" name="Connector: Elbow 27">
              <a:extLst>
                <a:ext uri="{FF2B5EF4-FFF2-40B4-BE49-F238E27FC236}">
                  <a16:creationId xmlns:a16="http://schemas.microsoft.com/office/drawing/2014/main" id="{FD288825-85DC-5731-E4F8-11774815D225}"/>
                </a:ext>
              </a:extLst>
            </p:cNvPr>
            <p:cNvCxnSpPr>
              <a:cxnSpLocks/>
            </p:cNvCxnSpPr>
            <p:nvPr/>
          </p:nvCxnSpPr>
          <p:spPr>
            <a:xfrm rot="16200000" flipV="1">
              <a:off x="2112271" y="4166464"/>
              <a:ext cx="205801" cy="1431069"/>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5D702B5-8F47-8456-C186-AC9C5F2EB871}"/>
                    </a:ext>
                  </a:extLst>
                </p:cNvPr>
                <p:cNvSpPr txBox="1"/>
                <p:nvPr/>
              </p:nvSpPr>
              <p:spPr>
                <a:xfrm>
                  <a:off x="475147" y="4576443"/>
                  <a:ext cx="1134557" cy="4924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£952.38</m:t>
                        </m:r>
                      </m:oMath>
                    </m:oMathPara>
                  </a14:m>
                  <a:endParaRPr lang="en-GB" dirty="0"/>
                </a:p>
              </p:txBody>
            </p:sp>
          </mc:Choice>
          <mc:Fallback xmlns="">
            <p:sp>
              <p:nvSpPr>
                <p:cNvPr id="29" name="TextBox 28">
                  <a:extLst>
                    <a:ext uri="{FF2B5EF4-FFF2-40B4-BE49-F238E27FC236}">
                      <a16:creationId xmlns:a16="http://schemas.microsoft.com/office/drawing/2014/main" id="{25D702B5-8F47-8456-C186-AC9C5F2EB871}"/>
                    </a:ext>
                  </a:extLst>
                </p:cNvPr>
                <p:cNvSpPr txBox="1">
                  <a:spLocks noRot="1" noChangeAspect="1" noMove="1" noResize="1" noEditPoints="1" noAdjustHandles="1" noChangeArrowheads="1" noChangeShapeType="1" noTextEdit="1"/>
                </p:cNvSpPr>
                <p:nvPr/>
              </p:nvSpPr>
              <p:spPr>
                <a:xfrm>
                  <a:off x="475147" y="4576443"/>
                  <a:ext cx="1134557" cy="492442"/>
                </a:xfrm>
                <a:prstGeom prst="rect">
                  <a:avLst/>
                </a:prstGeom>
                <a:blipFill>
                  <a:blip r:embed="rId14"/>
                  <a:stretch>
                    <a:fillRect r="-15714"/>
                  </a:stretch>
                </a:blipFill>
              </p:spPr>
              <p:txBody>
                <a:bodyPr/>
                <a:lstStyle/>
                <a:p>
                  <a:r>
                    <a:rPr lang="en-GB">
                      <a:noFill/>
                    </a:rPr>
                    <a:t> </a:t>
                  </a:r>
                </a:p>
              </p:txBody>
            </p:sp>
          </mc:Fallback>
        </mc:AlternateContent>
      </p:grpSp>
      <p:grpSp>
        <p:nvGrpSpPr>
          <p:cNvPr id="30" name="Group 29">
            <a:extLst>
              <a:ext uri="{FF2B5EF4-FFF2-40B4-BE49-F238E27FC236}">
                <a16:creationId xmlns:a16="http://schemas.microsoft.com/office/drawing/2014/main" id="{26ABEB1C-44D9-A37C-233B-432B9CB45853}"/>
              </a:ext>
            </a:extLst>
          </p:cNvPr>
          <p:cNvGrpSpPr/>
          <p:nvPr/>
        </p:nvGrpSpPr>
        <p:grpSpPr>
          <a:xfrm>
            <a:off x="376721" y="4736622"/>
            <a:ext cx="3239540" cy="616253"/>
            <a:chOff x="489629" y="4311367"/>
            <a:chExt cx="4319387" cy="821670"/>
          </a:xfrm>
        </p:grpSpPr>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B2B2899-D6FA-1A2F-7BD4-464DE7D640C4}"/>
                    </a:ext>
                  </a:extLst>
                </p:cNvPr>
                <p:cNvSpPr txBox="1"/>
                <p:nvPr/>
              </p:nvSpPr>
              <p:spPr>
                <a:xfrm>
                  <a:off x="3401468" y="4523126"/>
                  <a:ext cx="1401411" cy="6099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1+5%</m:t>
                                </m:r>
                              </m:e>
                            </m:d>
                          </m:e>
                          <m:sup>
                            <m:r>
                              <a:rPr lang="en-GB" sz="1200" i="1">
                                <a:solidFill>
                                  <a:srgbClr val="C00000"/>
                                </a:solidFill>
                                <a:latin typeface="Cambria Math" panose="02040503050406030204" pitchFamily="18" charset="0"/>
                                <a:ea typeface="Cambria Math" panose="02040503050406030204" pitchFamily="18" charset="0"/>
                              </a:rPr>
                              <m:t>−2</m:t>
                            </m:r>
                          </m:sup>
                        </m:sSup>
                      </m:oMath>
                    </m:oMathPara>
                  </a14:m>
                  <a:endParaRPr lang="en-GB" sz="1200" dirty="0">
                    <a:solidFill>
                      <a:srgbClr val="C00000"/>
                    </a:solidFill>
                  </a:endParaRPr>
                </a:p>
              </p:txBody>
            </p:sp>
          </mc:Choice>
          <mc:Fallback xmlns="">
            <p:sp>
              <p:nvSpPr>
                <p:cNvPr id="31" name="TextBox 30">
                  <a:extLst>
                    <a:ext uri="{FF2B5EF4-FFF2-40B4-BE49-F238E27FC236}">
                      <a16:creationId xmlns:a16="http://schemas.microsoft.com/office/drawing/2014/main" id="{EB2B2899-D6FA-1A2F-7BD4-464DE7D640C4}"/>
                    </a:ext>
                  </a:extLst>
                </p:cNvPr>
                <p:cNvSpPr txBox="1">
                  <a:spLocks noRot="1" noChangeAspect="1" noMove="1" noResize="1" noEditPoints="1" noAdjustHandles="1" noChangeArrowheads="1" noChangeShapeType="1" noTextEdit="1"/>
                </p:cNvSpPr>
                <p:nvPr/>
              </p:nvSpPr>
              <p:spPr>
                <a:xfrm>
                  <a:off x="3401468" y="4523126"/>
                  <a:ext cx="1401411" cy="609911"/>
                </a:xfrm>
                <a:prstGeom prst="rect">
                  <a:avLst/>
                </a:prstGeom>
                <a:blipFill>
                  <a:blip r:embed="rId15"/>
                  <a:stretch>
                    <a:fillRect t="-64000" r="-6977" b="-101333"/>
                  </a:stretch>
                </a:blipFill>
              </p:spPr>
              <p:txBody>
                <a:bodyPr/>
                <a:lstStyle/>
                <a:p>
                  <a:r>
                    <a:rPr lang="en-GB">
                      <a:noFill/>
                    </a:rPr>
                    <a:t> </a:t>
                  </a:r>
                </a:p>
              </p:txBody>
            </p:sp>
          </mc:Fallback>
        </mc:AlternateContent>
        <p:cxnSp>
          <p:nvCxnSpPr>
            <p:cNvPr id="32" name="Connector: Elbow 31">
              <a:extLst>
                <a:ext uri="{FF2B5EF4-FFF2-40B4-BE49-F238E27FC236}">
                  <a16:creationId xmlns:a16="http://schemas.microsoft.com/office/drawing/2014/main" id="{12805215-41A6-D036-CD68-3348A33CB2F1}"/>
                </a:ext>
              </a:extLst>
            </p:cNvPr>
            <p:cNvCxnSpPr>
              <a:cxnSpLocks/>
            </p:cNvCxnSpPr>
            <p:nvPr/>
          </p:nvCxnSpPr>
          <p:spPr>
            <a:xfrm rot="16200000" flipV="1">
              <a:off x="2925764" y="3091107"/>
              <a:ext cx="457124" cy="3309380"/>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CA480DA-F074-BB18-4E62-3AA08099028D}"/>
                    </a:ext>
                  </a:extLst>
                </p:cNvPr>
                <p:cNvSpPr txBox="1"/>
                <p:nvPr/>
              </p:nvSpPr>
              <p:spPr>
                <a:xfrm>
                  <a:off x="489629" y="4311367"/>
                  <a:ext cx="1134557" cy="4924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£907.03</m:t>
                        </m:r>
                      </m:oMath>
                    </m:oMathPara>
                  </a14:m>
                  <a:endParaRPr lang="en-GB" dirty="0"/>
                </a:p>
              </p:txBody>
            </p:sp>
          </mc:Choice>
          <mc:Fallback xmlns="">
            <p:sp>
              <p:nvSpPr>
                <p:cNvPr id="33" name="TextBox 32">
                  <a:extLst>
                    <a:ext uri="{FF2B5EF4-FFF2-40B4-BE49-F238E27FC236}">
                      <a16:creationId xmlns:a16="http://schemas.microsoft.com/office/drawing/2014/main" id="{8CA480DA-F074-BB18-4E62-3AA08099028D}"/>
                    </a:ext>
                  </a:extLst>
                </p:cNvPr>
                <p:cNvSpPr txBox="1">
                  <a:spLocks noRot="1" noChangeAspect="1" noMove="1" noResize="1" noEditPoints="1" noAdjustHandles="1" noChangeArrowheads="1" noChangeShapeType="1" noTextEdit="1"/>
                </p:cNvSpPr>
                <p:nvPr/>
              </p:nvSpPr>
              <p:spPr>
                <a:xfrm>
                  <a:off x="489629" y="4311367"/>
                  <a:ext cx="1134557" cy="492442"/>
                </a:xfrm>
                <a:prstGeom prst="rect">
                  <a:avLst/>
                </a:prstGeom>
                <a:blipFill>
                  <a:blip r:embed="rId16"/>
                  <a:stretch>
                    <a:fillRect r="-15827"/>
                  </a:stretch>
                </a:blipFill>
              </p:spPr>
              <p:txBody>
                <a:bodyPr/>
                <a:lstStyle/>
                <a:p>
                  <a:r>
                    <a:rPr lang="en-GB">
                      <a:noFill/>
                    </a:rPr>
                    <a:t> </a:t>
                  </a:r>
                </a:p>
              </p:txBody>
            </p:sp>
          </mc:Fallback>
        </mc:AlternateContent>
      </p:grpSp>
      <p:grpSp>
        <p:nvGrpSpPr>
          <p:cNvPr id="34" name="Group 33">
            <a:extLst>
              <a:ext uri="{FF2B5EF4-FFF2-40B4-BE49-F238E27FC236}">
                <a16:creationId xmlns:a16="http://schemas.microsoft.com/office/drawing/2014/main" id="{C2D1498A-6369-1A5B-D7E9-322EA926C353}"/>
              </a:ext>
            </a:extLst>
          </p:cNvPr>
          <p:cNvGrpSpPr/>
          <p:nvPr/>
        </p:nvGrpSpPr>
        <p:grpSpPr>
          <a:xfrm>
            <a:off x="383968" y="4545026"/>
            <a:ext cx="4629064" cy="680993"/>
            <a:chOff x="499291" y="4055909"/>
            <a:chExt cx="6172085" cy="907990"/>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6E67A1B-30F2-B1D9-A91C-157F3C6F4EFF}"/>
                    </a:ext>
                  </a:extLst>
                </p:cNvPr>
                <p:cNvSpPr txBox="1"/>
                <p:nvPr/>
              </p:nvSpPr>
              <p:spPr>
                <a:xfrm>
                  <a:off x="5266141" y="4281648"/>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1+5%</m:t>
                                </m:r>
                              </m:e>
                            </m:d>
                          </m:e>
                          <m:sup>
                            <m:r>
                              <a:rPr lang="en-GB" sz="1200" i="1">
                                <a:solidFill>
                                  <a:srgbClr val="C00000"/>
                                </a:solidFill>
                                <a:latin typeface="Cambria Math" panose="02040503050406030204" pitchFamily="18" charset="0"/>
                                <a:ea typeface="Cambria Math" panose="02040503050406030204" pitchFamily="18" charset="0"/>
                              </a:rPr>
                              <m:t>−3</m:t>
                            </m:r>
                          </m:sup>
                        </m:sSup>
                      </m:oMath>
                    </m:oMathPara>
                  </a14:m>
                  <a:endParaRPr lang="en-GB" sz="1200" dirty="0">
                    <a:solidFill>
                      <a:srgbClr val="C00000"/>
                    </a:solidFill>
                  </a:endParaRPr>
                </a:p>
              </p:txBody>
            </p:sp>
          </mc:Choice>
          <mc:Fallback xmlns="">
            <p:sp>
              <p:nvSpPr>
                <p:cNvPr id="35" name="TextBox 34">
                  <a:extLst>
                    <a:ext uri="{FF2B5EF4-FFF2-40B4-BE49-F238E27FC236}">
                      <a16:creationId xmlns:a16="http://schemas.microsoft.com/office/drawing/2014/main" id="{96E67A1B-30F2-B1D9-A91C-157F3C6F4EFF}"/>
                    </a:ext>
                  </a:extLst>
                </p:cNvPr>
                <p:cNvSpPr txBox="1">
                  <a:spLocks noRot="1" noChangeAspect="1" noMove="1" noResize="1" noEditPoints="1" noAdjustHandles="1" noChangeArrowheads="1" noChangeShapeType="1" noTextEdit="1"/>
                </p:cNvSpPr>
                <p:nvPr/>
              </p:nvSpPr>
              <p:spPr>
                <a:xfrm>
                  <a:off x="5266141" y="4281648"/>
                  <a:ext cx="1401411" cy="609910"/>
                </a:xfrm>
                <a:prstGeom prst="rect">
                  <a:avLst/>
                </a:prstGeom>
                <a:blipFill>
                  <a:blip r:embed="rId17"/>
                  <a:stretch>
                    <a:fillRect t="-64000" r="-6358" b="-101333"/>
                  </a:stretch>
                </a:blipFill>
              </p:spPr>
              <p:txBody>
                <a:bodyPr/>
                <a:lstStyle/>
                <a:p>
                  <a:r>
                    <a:rPr lang="en-GB">
                      <a:noFill/>
                    </a:rPr>
                    <a:t> </a:t>
                  </a:r>
                </a:p>
              </p:txBody>
            </p:sp>
          </mc:Fallback>
        </mc:AlternateContent>
        <p:cxnSp>
          <p:nvCxnSpPr>
            <p:cNvPr id="36" name="Connector: Elbow 35">
              <a:extLst>
                <a:ext uri="{FF2B5EF4-FFF2-40B4-BE49-F238E27FC236}">
                  <a16:creationId xmlns:a16="http://schemas.microsoft.com/office/drawing/2014/main" id="{B14DD9A0-9C72-20FA-4C34-11F2549624AD}"/>
                </a:ext>
              </a:extLst>
            </p:cNvPr>
            <p:cNvCxnSpPr>
              <a:cxnSpLocks/>
            </p:cNvCxnSpPr>
            <p:nvPr/>
          </p:nvCxnSpPr>
          <p:spPr>
            <a:xfrm rot="16200000" flipV="1">
              <a:off x="3754073" y="2046597"/>
              <a:ext cx="692525" cy="5142080"/>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BFB76B6-C128-F053-A49F-8D2287495CD7}"/>
                    </a:ext>
                  </a:extLst>
                </p:cNvPr>
                <p:cNvSpPr txBox="1"/>
                <p:nvPr/>
              </p:nvSpPr>
              <p:spPr>
                <a:xfrm>
                  <a:off x="499291" y="4055909"/>
                  <a:ext cx="1134557" cy="4924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£863.84</m:t>
                        </m:r>
                      </m:oMath>
                    </m:oMathPara>
                  </a14:m>
                  <a:endParaRPr lang="en-GB" dirty="0"/>
                </a:p>
              </p:txBody>
            </p:sp>
          </mc:Choice>
          <mc:Fallback xmlns="">
            <p:sp>
              <p:nvSpPr>
                <p:cNvPr id="37" name="TextBox 36">
                  <a:extLst>
                    <a:ext uri="{FF2B5EF4-FFF2-40B4-BE49-F238E27FC236}">
                      <a16:creationId xmlns:a16="http://schemas.microsoft.com/office/drawing/2014/main" id="{CBFB76B6-C128-F053-A49F-8D2287495CD7}"/>
                    </a:ext>
                  </a:extLst>
                </p:cNvPr>
                <p:cNvSpPr txBox="1">
                  <a:spLocks noRot="1" noChangeAspect="1" noMove="1" noResize="1" noEditPoints="1" noAdjustHandles="1" noChangeArrowheads="1" noChangeShapeType="1" noTextEdit="1"/>
                </p:cNvSpPr>
                <p:nvPr/>
              </p:nvSpPr>
              <p:spPr>
                <a:xfrm>
                  <a:off x="499291" y="4055909"/>
                  <a:ext cx="1134557" cy="492442"/>
                </a:xfrm>
                <a:prstGeom prst="rect">
                  <a:avLst/>
                </a:prstGeom>
                <a:blipFill>
                  <a:blip r:embed="rId18"/>
                  <a:stretch>
                    <a:fillRect r="-15000"/>
                  </a:stretch>
                </a:blipFill>
              </p:spPr>
              <p:txBody>
                <a:bodyPr/>
                <a:lstStyle/>
                <a:p>
                  <a:r>
                    <a:rPr lang="en-GB">
                      <a:noFill/>
                    </a:rPr>
                    <a:t> </a:t>
                  </a:r>
                </a:p>
              </p:txBody>
            </p:sp>
          </mc:Fallback>
        </mc:AlternateContent>
      </p:grpSp>
      <p:grpSp>
        <p:nvGrpSpPr>
          <p:cNvPr id="38" name="Group 37">
            <a:extLst>
              <a:ext uri="{FF2B5EF4-FFF2-40B4-BE49-F238E27FC236}">
                <a16:creationId xmlns:a16="http://schemas.microsoft.com/office/drawing/2014/main" id="{190A0658-2A5E-00AD-D6E5-094EDF730F8D}"/>
              </a:ext>
            </a:extLst>
          </p:cNvPr>
          <p:cNvGrpSpPr/>
          <p:nvPr/>
        </p:nvGrpSpPr>
        <p:grpSpPr>
          <a:xfrm>
            <a:off x="383968" y="4301592"/>
            <a:ext cx="7778935" cy="941132"/>
            <a:chOff x="499291" y="3296680"/>
            <a:chExt cx="10371913" cy="1689493"/>
          </a:xfrm>
        </p:grpSpPr>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1AC45DE-E8A5-0638-8F84-038FA90E95A8}"/>
                    </a:ext>
                  </a:extLst>
                </p:cNvPr>
                <p:cNvSpPr txBox="1"/>
                <p:nvPr/>
              </p:nvSpPr>
              <p:spPr>
                <a:xfrm>
                  <a:off x="9281159" y="3493007"/>
                  <a:ext cx="1578447" cy="4972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1+5%</m:t>
                                </m:r>
                              </m:e>
                            </m:d>
                          </m:e>
                          <m:sup>
                            <m:r>
                              <a:rPr lang="en-GB" sz="1200" i="1">
                                <a:solidFill>
                                  <a:srgbClr val="C00000"/>
                                </a:solidFill>
                                <a:latin typeface="Cambria Math" panose="02040503050406030204" pitchFamily="18" charset="0"/>
                                <a:ea typeface="Cambria Math" panose="02040503050406030204" pitchFamily="18" charset="0"/>
                              </a:rPr>
                              <m:t>−10</m:t>
                            </m:r>
                          </m:sup>
                        </m:sSup>
                      </m:oMath>
                    </m:oMathPara>
                  </a14:m>
                  <a:endParaRPr lang="en-GB" sz="1200" dirty="0">
                    <a:solidFill>
                      <a:srgbClr val="C00000"/>
                    </a:solidFill>
                  </a:endParaRPr>
                </a:p>
              </p:txBody>
            </p:sp>
          </mc:Choice>
          <mc:Fallback xmlns="">
            <p:sp>
              <p:nvSpPr>
                <p:cNvPr id="39" name="TextBox 38">
                  <a:extLst>
                    <a:ext uri="{FF2B5EF4-FFF2-40B4-BE49-F238E27FC236}">
                      <a16:creationId xmlns:a16="http://schemas.microsoft.com/office/drawing/2014/main" id="{41AC45DE-E8A5-0638-8F84-038FA90E95A8}"/>
                    </a:ext>
                  </a:extLst>
                </p:cNvPr>
                <p:cNvSpPr txBox="1">
                  <a:spLocks noRot="1" noChangeAspect="1" noMove="1" noResize="1" noEditPoints="1" noAdjustHandles="1" noChangeArrowheads="1" noChangeShapeType="1" noTextEdit="1"/>
                </p:cNvSpPr>
                <p:nvPr/>
              </p:nvSpPr>
              <p:spPr>
                <a:xfrm>
                  <a:off x="9281159" y="3493007"/>
                  <a:ext cx="1578447" cy="497261"/>
                </a:xfrm>
                <a:prstGeom prst="rect">
                  <a:avLst/>
                </a:prstGeom>
                <a:blipFill>
                  <a:blip r:embed="rId19"/>
                  <a:stretch>
                    <a:fillRect/>
                  </a:stretch>
                </a:blipFill>
              </p:spPr>
              <p:txBody>
                <a:bodyPr/>
                <a:lstStyle/>
                <a:p>
                  <a:r>
                    <a:rPr lang="en-GB">
                      <a:noFill/>
                    </a:rPr>
                    <a:t> </a:t>
                  </a:r>
                </a:p>
              </p:txBody>
            </p:sp>
          </mc:Fallback>
        </mc:AlternateContent>
        <p:cxnSp>
          <p:nvCxnSpPr>
            <p:cNvPr id="40" name="Connector: Elbow 39">
              <a:extLst>
                <a:ext uri="{FF2B5EF4-FFF2-40B4-BE49-F238E27FC236}">
                  <a16:creationId xmlns:a16="http://schemas.microsoft.com/office/drawing/2014/main" id="{AAF51EA2-54CD-0C8A-5045-9F22A4FA76D2}"/>
                </a:ext>
              </a:extLst>
            </p:cNvPr>
            <p:cNvCxnSpPr>
              <a:cxnSpLocks/>
            </p:cNvCxnSpPr>
            <p:nvPr/>
          </p:nvCxnSpPr>
          <p:spPr>
            <a:xfrm rot="10800000">
              <a:off x="1490158" y="3486760"/>
              <a:ext cx="9381046" cy="1499413"/>
            </a:xfrm>
            <a:prstGeom prst="bentConnector3">
              <a:avLst>
                <a:gd name="adj1" fmla="val -4"/>
              </a:avLst>
            </a:prstGeom>
            <a:ln w="12700">
              <a:tailEnd type="arrow"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5D55D05-D2F8-BEDE-4F01-C935F0350786}"/>
                    </a:ext>
                  </a:extLst>
                </p:cNvPr>
                <p:cNvSpPr txBox="1"/>
                <p:nvPr/>
              </p:nvSpPr>
              <p:spPr>
                <a:xfrm>
                  <a:off x="499291" y="3296680"/>
                  <a:ext cx="1134557" cy="66301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£613.91.</m:t>
                        </m:r>
                      </m:oMath>
                    </m:oMathPara>
                  </a14:m>
                  <a:endParaRPr lang="en-GB" dirty="0"/>
                </a:p>
              </p:txBody>
            </p:sp>
          </mc:Choice>
          <mc:Fallback xmlns="">
            <p:sp>
              <p:nvSpPr>
                <p:cNvPr id="41" name="TextBox 40">
                  <a:extLst>
                    <a:ext uri="{FF2B5EF4-FFF2-40B4-BE49-F238E27FC236}">
                      <a16:creationId xmlns:a16="http://schemas.microsoft.com/office/drawing/2014/main" id="{15D55D05-D2F8-BEDE-4F01-C935F0350786}"/>
                    </a:ext>
                  </a:extLst>
                </p:cNvPr>
                <p:cNvSpPr txBox="1">
                  <a:spLocks noRot="1" noChangeAspect="1" noMove="1" noResize="1" noEditPoints="1" noAdjustHandles="1" noChangeArrowheads="1" noChangeShapeType="1" noTextEdit="1"/>
                </p:cNvSpPr>
                <p:nvPr/>
              </p:nvSpPr>
              <p:spPr>
                <a:xfrm>
                  <a:off x="499291" y="3296680"/>
                  <a:ext cx="1134557" cy="663014"/>
                </a:xfrm>
                <a:prstGeom prst="rect">
                  <a:avLst/>
                </a:prstGeom>
                <a:blipFill>
                  <a:blip r:embed="rId20"/>
                  <a:stretch>
                    <a:fillRect r="-15000"/>
                  </a:stretch>
                </a:blipFill>
              </p:spPr>
              <p:txBody>
                <a:bodyPr/>
                <a:lstStyle/>
                <a:p>
                  <a:r>
                    <a:rPr lang="en-GB">
                      <a:noFill/>
                    </a:rPr>
                    <a:t> </a:t>
                  </a:r>
                </a:p>
              </p:txBody>
            </p:sp>
          </mc:Fallback>
        </mc:AlternateContent>
      </p:grpSp>
      <p:sp>
        <p:nvSpPr>
          <p:cNvPr id="43" name="Slide Number Placeholder 3">
            <a:extLst>
              <a:ext uri="{FF2B5EF4-FFF2-40B4-BE49-F238E27FC236}">
                <a16:creationId xmlns:a16="http://schemas.microsoft.com/office/drawing/2014/main" id="{D8D78168-0695-62CF-DD53-895871E4127C}"/>
              </a:ext>
            </a:extLst>
          </p:cNvPr>
          <p:cNvSpPr txBox="1">
            <a:spLocks/>
          </p:cNvSpPr>
          <p:nvPr/>
        </p:nvSpPr>
        <p:spPr>
          <a:xfrm>
            <a:off x="11913373" y="2116034"/>
            <a:ext cx="679467" cy="405323"/>
          </a:xfrm>
          <a:prstGeom prst="rect">
            <a:avLst/>
          </a:prstGeom>
          <a:ln w="12700"/>
        </p:spPr>
        <p:txBody>
          <a:bodyPr vert="horz" lIns="91440" tIns="45720" rIns="91440" bIns="45720" rtlCol="0" anchor="b"/>
          <a:lstStyle>
            <a:defPPr>
              <a:defRPr lang="en-US"/>
            </a:defPPr>
            <a:lvl1pPr algn="r" rtl="0" eaLnBrk="0" fontAlgn="base" hangingPunct="0">
              <a:spcBef>
                <a:spcPct val="0"/>
              </a:spcBef>
              <a:spcAft>
                <a:spcPct val="0"/>
              </a:spcAft>
              <a:defRPr sz="9000" b="0" kern="1200">
                <a:ln>
                  <a:noFill/>
                </a:ln>
                <a:solidFill>
                  <a:schemeClr val="accent1">
                    <a:alpha val="20000"/>
                  </a:schemeClr>
                </a:solidFill>
                <a:latin typeface="+mj-lt"/>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a:lstStyle>
          <a:p>
            <a:pPr algn="ctr" defTabSz="685800" eaLnBrk="1" fontAlgn="auto" hangingPunct="1">
              <a:spcBef>
                <a:spcPts val="0"/>
              </a:spcBef>
              <a:spcAft>
                <a:spcPts val="0"/>
              </a:spcAft>
              <a:defRPr/>
            </a:pPr>
            <a:fld id="{0F99C4FB-888A-4D12-A1C4-C744D94026CD}" type="slidenum">
              <a:rPr lang="en-GB" sz="1350" smtClean="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11</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19CCDC5-3790-7A5E-AA21-2F6C6C04405D}"/>
                  </a:ext>
                </a:extLst>
              </p:cNvPr>
              <p:cNvSpPr txBox="1"/>
              <p:nvPr/>
            </p:nvSpPr>
            <p:spPr>
              <a:xfrm>
                <a:off x="272878" y="1361840"/>
                <a:ext cx="7631558" cy="338554"/>
              </a:xfrm>
              <a:prstGeom prst="rect">
                <a:avLst/>
              </a:prstGeom>
              <a:noFill/>
            </p:spPr>
            <p:txBody>
              <a:bodyPr wrap="square">
                <a:spAutoFit/>
              </a:bodyPr>
              <a:lstStyle/>
              <a:p>
                <a:pPr marL="0" lvl="1" indent="0">
                  <a:spcAft>
                    <a:spcPts val="900"/>
                  </a:spcAft>
                  <a:buClr>
                    <a:srgbClr val="C00000"/>
                  </a:buClr>
                  <a:buSzPct val="90000"/>
                </a:pPr>
                <a:r>
                  <a:rPr lang="en-GB" sz="1600" dirty="0">
                    <a:latin typeface="Arial" panose="020B0604020202020204" pitchFamily="34" charset="0"/>
                    <a:ea typeface="Cambria Math" panose="02040503050406030204" pitchFamily="18" charset="0"/>
                    <a:cs typeface="Arial" panose="020B0604020202020204" pitchFamily="34" charset="0"/>
                  </a:rPr>
                  <a:t>What if the cash flow, </a:t>
                </a:r>
                <a14:m>
                  <m:oMath xmlns:m="http://schemas.openxmlformats.org/officeDocument/2006/math">
                    <m:r>
                      <a:rPr lang="en-GB" sz="16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600" i="1">
                            <a:solidFill>
                              <a:schemeClr val="accent5">
                                <a:lumMod val="75000"/>
                              </a:schemeClr>
                            </a:solidFill>
                            <a:latin typeface="Cambria Math" panose="02040503050406030204" pitchFamily="18" charset="0"/>
                            <a:ea typeface="Cambria Math" panose="02040503050406030204" pitchFamily="18" charset="0"/>
                          </a:rPr>
                        </m:ctrlPr>
                      </m:sSubPr>
                      <m:e>
                        <m:r>
                          <a:rPr lang="en-GB" sz="1600" i="1">
                            <a:solidFill>
                              <a:schemeClr val="accent5">
                                <a:lumMod val="75000"/>
                              </a:schemeClr>
                            </a:solidFill>
                            <a:latin typeface="Cambria Math" panose="02040503050406030204" pitchFamily="18" charset="0"/>
                            <a:ea typeface="Cambria Math" panose="02040503050406030204" pitchFamily="18" charset="0"/>
                          </a:rPr>
                          <m:t>𝐹</m:t>
                        </m:r>
                      </m:e>
                      <m:sub>
                        <m:r>
                          <a:rPr lang="en-GB" sz="1600" i="1">
                            <a:solidFill>
                              <a:schemeClr val="accent5">
                                <a:lumMod val="75000"/>
                              </a:schemeClr>
                            </a:solidFill>
                            <a:latin typeface="Cambria Math" panose="02040503050406030204" pitchFamily="18" charset="0"/>
                            <a:ea typeface="Cambria Math" panose="02040503050406030204" pitchFamily="18" charset="0"/>
                          </a:rPr>
                          <m:t>𝑖</m:t>
                        </m:r>
                      </m:sub>
                    </m:sSub>
                  </m:oMath>
                </a14:m>
                <a:r>
                  <a:rPr lang="en-GB" sz="1600" dirty="0">
                    <a:latin typeface="Arial" panose="020B0604020202020204" pitchFamily="34" charset="0"/>
                    <a:ea typeface="Cambria Math" panose="02040503050406030204" pitchFamily="18" charset="0"/>
                    <a:cs typeface="Arial" panose="020B0604020202020204" pitchFamily="34" charset="0"/>
                  </a:rPr>
                  <a:t>, is </a:t>
                </a:r>
                <a:r>
                  <a:rPr lang="en-GB" sz="1600" b="1" u="sng" dirty="0">
                    <a:latin typeface="Arial" panose="020B0604020202020204" pitchFamily="34" charset="0"/>
                    <a:ea typeface="Cambria Math" panose="02040503050406030204" pitchFamily="18" charset="0"/>
                    <a:cs typeface="Arial" panose="020B0604020202020204" pitchFamily="34" charset="0"/>
                  </a:rPr>
                  <a:t>constant every year (an annuity)</a:t>
                </a:r>
                <a:r>
                  <a:rPr lang="en-GB" sz="1600" dirty="0">
                    <a:latin typeface="Arial" panose="020B0604020202020204" pitchFamily="34" charset="0"/>
                    <a:ea typeface="Cambria Math" panose="02040503050406030204" pitchFamily="18" charset="0"/>
                    <a:cs typeface="Arial" panose="020B0604020202020204" pitchFamily="34" charset="0"/>
                  </a:rPr>
                  <a:t>? </a:t>
                </a:r>
                <a:endParaRPr lang="en-GB" sz="16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C19CCDC5-3790-7A5E-AA21-2F6C6C04405D}"/>
                  </a:ext>
                </a:extLst>
              </p:cNvPr>
              <p:cNvSpPr txBox="1">
                <a:spLocks noRot="1" noChangeAspect="1" noMove="1" noResize="1" noEditPoints="1" noAdjustHandles="1" noChangeArrowheads="1" noChangeShapeType="1" noTextEdit="1"/>
              </p:cNvSpPr>
              <p:nvPr/>
            </p:nvSpPr>
            <p:spPr>
              <a:xfrm>
                <a:off x="272878" y="1361840"/>
                <a:ext cx="7631558" cy="338554"/>
              </a:xfrm>
              <a:prstGeom prst="rect">
                <a:avLst/>
              </a:prstGeom>
              <a:blipFill>
                <a:blip r:embed="rId21"/>
                <a:stretch>
                  <a:fillRect l="-479" t="-5357" b="-21429"/>
                </a:stretch>
              </a:blipFill>
            </p:spPr>
            <p:txBody>
              <a:bodyPr/>
              <a:lstStyle/>
              <a:p>
                <a:r>
                  <a:rPr lang="en-GB">
                    <a:noFill/>
                  </a:rPr>
                  <a:t> </a:t>
                </a:r>
              </a:p>
            </p:txBody>
          </p:sp>
        </mc:Fallback>
      </mc:AlternateContent>
      <p:sp>
        <p:nvSpPr>
          <p:cNvPr id="45" name="Content Placeholder 2">
            <a:extLst>
              <a:ext uri="{FF2B5EF4-FFF2-40B4-BE49-F238E27FC236}">
                <a16:creationId xmlns:a16="http://schemas.microsoft.com/office/drawing/2014/main" id="{6CE76BEE-8AE2-B600-E710-E88D56125081}"/>
              </a:ext>
            </a:extLst>
          </p:cNvPr>
          <p:cNvSpPr txBox="1">
            <a:spLocks/>
          </p:cNvSpPr>
          <p:nvPr/>
        </p:nvSpPr>
        <p:spPr>
          <a:xfrm>
            <a:off x="272878" y="1834338"/>
            <a:ext cx="8591550" cy="104021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lvl="1" indent="0" fontAlgn="auto">
              <a:spcBef>
                <a:spcPts val="0"/>
              </a:spcBef>
              <a:spcAft>
                <a:spcPts val="900"/>
              </a:spcAft>
              <a:buClr>
                <a:srgbClr val="C00000"/>
              </a:buClr>
              <a:buSzPct val="90000"/>
              <a:buFont typeface="Arial" pitchFamily="34" charset="0"/>
              <a:buNone/>
            </a:pPr>
            <a:r>
              <a:rPr lang="en-GB" sz="1600" b="1" dirty="0">
                <a:latin typeface="Arial" panose="020B0604020202020204" pitchFamily="34" charset="0"/>
                <a:ea typeface="Cambria Math" panose="02040503050406030204" pitchFamily="18" charset="0"/>
                <a:cs typeface="Arial" panose="020B0604020202020204" pitchFamily="34" charset="0"/>
              </a:rPr>
              <a:t>Terminology</a:t>
            </a:r>
          </a:p>
          <a:p>
            <a:pPr marL="0" lvl="1" indent="0" fontAlgn="auto">
              <a:spcBef>
                <a:spcPts val="0"/>
              </a:spcBef>
              <a:spcAft>
                <a:spcPts val="900"/>
              </a:spcAft>
              <a:buClr>
                <a:srgbClr val="C00000"/>
              </a:buClr>
              <a:buSzPct val="90000"/>
              <a:buFont typeface="Arial" pitchFamily="34" charset="0"/>
              <a:buNone/>
            </a:pPr>
            <a:r>
              <a:rPr lang="en-GB" sz="1600" dirty="0">
                <a:latin typeface="Arial" panose="020B0604020202020204" pitchFamily="34" charset="0"/>
                <a:ea typeface="Cambria Math" panose="02040503050406030204" pitchFamily="18" charset="0"/>
                <a:cs typeface="Arial" panose="020B0604020202020204" pitchFamily="34" charset="0"/>
              </a:rPr>
              <a:t>Annuity = a constant annual cash flow.</a:t>
            </a:r>
          </a:p>
        </p:txBody>
      </p:sp>
    </p:spTree>
    <p:extLst>
      <p:ext uri="{BB962C8B-B14F-4D97-AF65-F5344CB8AC3E}">
        <p14:creationId xmlns:p14="http://schemas.microsoft.com/office/powerpoint/2010/main" val="1565525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80">
                                          <p:stCondLst>
                                            <p:cond delay="0"/>
                                          </p:stCondLst>
                                        </p:cTn>
                                        <p:tgtEl>
                                          <p:spTgt spid="44"/>
                                        </p:tgtEl>
                                      </p:cBhvr>
                                    </p:animEffect>
                                    <p:anim calcmode="lin" valueType="num">
                                      <p:cBhvr>
                                        <p:cTn id="8"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13" dur="26">
                                          <p:stCondLst>
                                            <p:cond delay="650"/>
                                          </p:stCondLst>
                                        </p:cTn>
                                        <p:tgtEl>
                                          <p:spTgt spid="44"/>
                                        </p:tgtEl>
                                      </p:cBhvr>
                                      <p:to x="100000" y="60000"/>
                                    </p:animScale>
                                    <p:animScale>
                                      <p:cBhvr>
                                        <p:cTn id="14" dur="166" decel="50000">
                                          <p:stCondLst>
                                            <p:cond delay="676"/>
                                          </p:stCondLst>
                                        </p:cTn>
                                        <p:tgtEl>
                                          <p:spTgt spid="44"/>
                                        </p:tgtEl>
                                      </p:cBhvr>
                                      <p:to x="100000" y="100000"/>
                                    </p:animScale>
                                    <p:animScale>
                                      <p:cBhvr>
                                        <p:cTn id="15" dur="26">
                                          <p:stCondLst>
                                            <p:cond delay="1312"/>
                                          </p:stCondLst>
                                        </p:cTn>
                                        <p:tgtEl>
                                          <p:spTgt spid="44"/>
                                        </p:tgtEl>
                                      </p:cBhvr>
                                      <p:to x="100000" y="80000"/>
                                    </p:animScale>
                                    <p:animScale>
                                      <p:cBhvr>
                                        <p:cTn id="16" dur="166" decel="50000">
                                          <p:stCondLst>
                                            <p:cond delay="1338"/>
                                          </p:stCondLst>
                                        </p:cTn>
                                        <p:tgtEl>
                                          <p:spTgt spid="44"/>
                                        </p:tgtEl>
                                      </p:cBhvr>
                                      <p:to x="100000" y="100000"/>
                                    </p:animScale>
                                    <p:animScale>
                                      <p:cBhvr>
                                        <p:cTn id="17" dur="26">
                                          <p:stCondLst>
                                            <p:cond delay="1642"/>
                                          </p:stCondLst>
                                        </p:cTn>
                                        <p:tgtEl>
                                          <p:spTgt spid="44"/>
                                        </p:tgtEl>
                                      </p:cBhvr>
                                      <p:to x="100000" y="90000"/>
                                    </p:animScale>
                                    <p:animScale>
                                      <p:cBhvr>
                                        <p:cTn id="18" dur="166" decel="50000">
                                          <p:stCondLst>
                                            <p:cond delay="1668"/>
                                          </p:stCondLst>
                                        </p:cTn>
                                        <p:tgtEl>
                                          <p:spTgt spid="44"/>
                                        </p:tgtEl>
                                      </p:cBhvr>
                                      <p:to x="100000" y="100000"/>
                                    </p:animScale>
                                    <p:animScale>
                                      <p:cBhvr>
                                        <p:cTn id="19" dur="26">
                                          <p:stCondLst>
                                            <p:cond delay="1808"/>
                                          </p:stCondLst>
                                        </p:cTn>
                                        <p:tgtEl>
                                          <p:spTgt spid="44"/>
                                        </p:tgtEl>
                                      </p:cBhvr>
                                      <p:to x="100000" y="95000"/>
                                    </p:animScale>
                                    <p:animScale>
                                      <p:cBhvr>
                                        <p:cTn id="20" dur="166" decel="50000">
                                          <p:stCondLst>
                                            <p:cond delay="1834"/>
                                          </p:stCondLst>
                                        </p:cTn>
                                        <p:tgtEl>
                                          <p:spTgt spid="4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44" grpId="0"/>
      <p:bldP spid="4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654" y="598965"/>
            <a:ext cx="7886700" cy="634117"/>
          </a:xfrm>
        </p:spPr>
        <p:txBody>
          <a:bodyPr>
            <a:normAutofit/>
          </a:bodyPr>
          <a:lstStyle/>
          <a:p>
            <a:r>
              <a:rPr lang="en-GB" dirty="0"/>
              <a:t>Annuity – PV</a:t>
            </a:r>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12</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8A88EB-F7E5-34C1-0352-735F74E49E7D}"/>
                  </a:ext>
                </a:extLst>
              </p:cNvPr>
              <p:cNvSpPr txBox="1"/>
              <p:nvPr/>
            </p:nvSpPr>
            <p:spPr>
              <a:xfrm>
                <a:off x="308654" y="3344126"/>
                <a:ext cx="7677793" cy="1844031"/>
              </a:xfrm>
              <a:prstGeom prst="rect">
                <a:avLst/>
              </a:prstGeom>
              <a:noFill/>
            </p:spPr>
            <p:txBody>
              <a:bodyPr wrap="square">
                <a:spAutoFit/>
              </a:bodyPr>
              <a:lstStyle/>
              <a:p>
                <a:pPr marL="0" lvl="1" indent="0">
                  <a:spcAft>
                    <a:spcPts val="900"/>
                  </a:spcAft>
                  <a:buClr>
                    <a:srgbClr val="C00000"/>
                  </a:buClr>
                  <a:buSzPct val="90000"/>
                </a:pPr>
                <a:r>
                  <a:rPr lang="en-GB" sz="1400" dirty="0">
                    <a:latin typeface="Arial" panose="020B0604020202020204" pitchFamily="34" charset="0"/>
                    <a:ea typeface="Cambria Math" panose="02040503050406030204" pitchFamily="18" charset="0"/>
                    <a:cs typeface="Arial" panose="020B0604020202020204" pitchFamily="34" charset="0"/>
                  </a:rPr>
                  <a:t>Using algebra to make this into a shorter formula, the PV of an annuity is:</a:t>
                </a: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𝑃𝑉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rgbClr val="C00000"/>
                          </a:solidFill>
                          <a:latin typeface="Cambria Math" panose="02040503050406030204" pitchFamily="18" charset="0"/>
                          <a:ea typeface="Cambria Math" panose="02040503050406030204" pitchFamily="18" charset="0"/>
                        </a:rPr>
                        <m:t>𝐴</m:t>
                      </m:r>
                      <m:r>
                        <a:rPr lang="en-GB" sz="14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i="1">
                                      <a:solidFill>
                                        <a:schemeClr val="accent5">
                                          <a:lumMod val="75000"/>
                                        </a:schemeClr>
                                      </a:solidFill>
                                      <a:latin typeface="Cambria Math" panose="02040503050406030204" pitchFamily="18" charset="0"/>
                                      <a:ea typeface="Cambria Math" panose="02040503050406030204" pitchFamily="18" charset="0"/>
                                    </a:rPr>
                                    <m:t>)</m:t>
                                  </m:r>
                                </m:e>
                                <m: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e>
                          </m:d>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a:p>
                <a:pPr marL="0" lvl="1" indent="0">
                  <a:spcAft>
                    <a:spcPts val="900"/>
                  </a:spcAft>
                  <a:buClr>
                    <a:srgbClr val="C00000"/>
                  </a:buClr>
                  <a:buSzPct val="90000"/>
                </a:pPr>
                <a:r>
                  <a:rPr lang="en-GB" sz="1400" dirty="0">
                    <a:latin typeface="Arial" panose="020B0604020202020204" pitchFamily="34" charset="0"/>
                    <a:ea typeface="Cambria Math" panose="02040503050406030204" pitchFamily="18" charset="0"/>
                    <a:cs typeface="Arial" panose="020B0604020202020204" pitchFamily="34" charset="0"/>
                  </a:rPr>
                  <a:t>Where </a:t>
                </a:r>
              </a:p>
              <a:p>
                <a:pPr marL="0" lvl="1" indent="0">
                  <a:spcAft>
                    <a:spcPts val="900"/>
                  </a:spcAft>
                  <a:buClr>
                    <a:srgbClr val="C00000"/>
                  </a:buClr>
                  <a:buSzPct val="90000"/>
                </a:pPr>
                <a14:m>
                  <m:oMath xmlns:m="http://schemas.openxmlformats.org/officeDocument/2006/math">
                    <m:r>
                      <a:rPr lang="en-GB" sz="1400" b="0" i="1" smtClean="0">
                        <a:solidFill>
                          <a:schemeClr val="accent5">
                            <a:lumMod val="75000"/>
                          </a:schemeClr>
                        </a:solidFill>
                        <a:latin typeface="Cambria Math" panose="02040503050406030204" pitchFamily="18" charset="0"/>
                        <a:ea typeface="Cambria Math" panose="02040503050406030204" pitchFamily="18" charset="0"/>
                      </a:rPr>
                      <m:t>𝐴</m:t>
                    </m:r>
                  </m:oMath>
                </a14:m>
                <a:r>
                  <a:rPr lang="en-GB" sz="1400" dirty="0">
                    <a:latin typeface="Arial" panose="020B0604020202020204" pitchFamily="34" charset="0"/>
                    <a:ea typeface="Cambria Math" panose="02040503050406030204" pitchFamily="18" charset="0"/>
                    <a:cs typeface="Arial" panose="020B0604020202020204" pitchFamily="34" charset="0"/>
                  </a:rPr>
                  <a:t>: the annual cash flow</a:t>
                </a:r>
              </a:p>
              <a:p>
                <a:pPr marL="0" lvl="1" indent="0">
                  <a:spcAft>
                    <a:spcPts val="900"/>
                  </a:spcAft>
                  <a:buClr>
                    <a:srgbClr val="C00000"/>
                  </a:buClr>
                  <a:buSzPct val="90000"/>
                </a:pPr>
                <a:endParaRPr lang="en-GB" sz="1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68A88EB-F7E5-34C1-0352-735F74E49E7D}"/>
                  </a:ext>
                </a:extLst>
              </p:cNvPr>
              <p:cNvSpPr txBox="1">
                <a:spLocks noRot="1" noChangeAspect="1" noMove="1" noResize="1" noEditPoints="1" noAdjustHandles="1" noChangeArrowheads="1" noChangeShapeType="1" noTextEdit="1"/>
              </p:cNvSpPr>
              <p:nvPr/>
            </p:nvSpPr>
            <p:spPr>
              <a:xfrm>
                <a:off x="308654" y="3344126"/>
                <a:ext cx="7677793" cy="1844031"/>
              </a:xfrm>
              <a:prstGeom prst="rect">
                <a:avLst/>
              </a:prstGeom>
              <a:blipFill>
                <a:blip r:embed="rId3"/>
                <a:stretch>
                  <a:fillRect l="-238" t="-6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BF23A8-FE55-2FD5-B1F9-5A1D0058DA31}"/>
                  </a:ext>
                </a:extLst>
              </p:cNvPr>
              <p:cNvSpPr txBox="1"/>
              <p:nvPr/>
            </p:nvSpPr>
            <p:spPr>
              <a:xfrm>
                <a:off x="266700" y="1601005"/>
                <a:ext cx="8132423" cy="969496"/>
              </a:xfrm>
              <a:prstGeom prst="rect">
                <a:avLst/>
              </a:prstGeom>
              <a:noFill/>
            </p:spPr>
            <p:txBody>
              <a:bodyPr wrap="square">
                <a:spAutoFit/>
              </a:bodyPr>
              <a:lstStyle/>
              <a:p>
                <a:pPr marL="0" lvl="1" indent="0">
                  <a:spcAft>
                    <a:spcPts val="900"/>
                  </a:spcAft>
                  <a:buClr>
                    <a:srgbClr val="C00000"/>
                  </a:buClr>
                  <a:buSzPct val="90000"/>
                </a:pPr>
                <a:r>
                  <a:rPr lang="en-GB" sz="1400" dirty="0">
                    <a:ea typeface="Cambria Math" panose="02040503050406030204" pitchFamily="18" charset="0"/>
                  </a:rPr>
                  <a:t>We know…. the PV of multiple cash flows is the </a:t>
                </a:r>
                <a:r>
                  <a:rPr lang="en-GB" sz="1400" i="1" dirty="0">
                    <a:ea typeface="Cambria Math" panose="02040503050406030204" pitchFamily="18" charset="0"/>
                  </a:rPr>
                  <a:t>sum </a:t>
                </a:r>
                <a:r>
                  <a:rPr lang="en-GB" sz="1400" dirty="0">
                    <a:ea typeface="Cambria Math" panose="02040503050406030204" pitchFamily="18" charset="0"/>
                  </a:rPr>
                  <a:t>of the PV of each cash flow, separately. Therefore:</a:t>
                </a:r>
              </a:p>
              <a:p>
                <a:pPr marL="0"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400" i="1">
                          <a:latin typeface="Cambria Math" panose="02040503050406030204" pitchFamily="18" charset="0"/>
                          <a:ea typeface="Cambria Math" panose="02040503050406030204" pitchFamily="18" charset="0"/>
                        </a:rPr>
                        <m:t>𝑃𝑉</m:t>
                      </m:r>
                      <m:r>
                        <a:rPr lang="en-GB" sz="1400" i="1">
                          <a:latin typeface="Cambria Math" panose="02040503050406030204" pitchFamily="18" charset="0"/>
                          <a:ea typeface="Cambria Math" panose="02040503050406030204" pitchFamily="18" charset="0"/>
                        </a:rPr>
                        <m:t>=1,000×</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1+5%</m:t>
                              </m:r>
                            </m:e>
                          </m:d>
                        </m:e>
                        <m:sup>
                          <m:r>
                            <a:rPr lang="en-GB" sz="1400" i="1">
                              <a:latin typeface="Cambria Math" panose="02040503050406030204" pitchFamily="18" charset="0"/>
                              <a:ea typeface="Cambria Math" panose="02040503050406030204" pitchFamily="18" charset="0"/>
                            </a:rPr>
                            <m:t>−1</m:t>
                          </m:r>
                        </m:sup>
                      </m:sSup>
                      <m:r>
                        <a:rPr lang="en-GB" sz="1400" i="1">
                          <a:latin typeface="Cambria Math" panose="02040503050406030204" pitchFamily="18" charset="0"/>
                          <a:ea typeface="Cambria Math" panose="02040503050406030204" pitchFamily="18" charset="0"/>
                        </a:rPr>
                        <m:t>+1,000×</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1+5%</m:t>
                              </m:r>
                            </m:e>
                          </m:d>
                        </m:e>
                        <m:sup>
                          <m:r>
                            <a:rPr lang="en-GB" sz="1400" i="1">
                              <a:latin typeface="Cambria Math" panose="02040503050406030204" pitchFamily="18" charset="0"/>
                              <a:ea typeface="Cambria Math" panose="02040503050406030204" pitchFamily="18" charset="0"/>
                            </a:rPr>
                            <m:t>−2</m:t>
                          </m:r>
                        </m:sup>
                      </m:sSup>
                      <m:r>
                        <a:rPr lang="en-GB" sz="1400" i="1">
                          <a:latin typeface="Cambria Math" panose="02040503050406030204" pitchFamily="18" charset="0"/>
                          <a:ea typeface="Cambria Math" panose="02040503050406030204" pitchFamily="18" charset="0"/>
                        </a:rPr>
                        <m:t>+…+1,000×</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1+5%</m:t>
                              </m:r>
                            </m:e>
                          </m:d>
                        </m:e>
                        <m:sup>
                          <m:r>
                            <a:rPr lang="en-GB" sz="1400" i="1">
                              <a:latin typeface="Cambria Math" panose="02040503050406030204" pitchFamily="18" charset="0"/>
                              <a:ea typeface="Cambria Math" panose="02040503050406030204" pitchFamily="18" charset="0"/>
                            </a:rPr>
                            <m:t>−10</m:t>
                          </m:r>
                        </m:sup>
                      </m:sSup>
                      <m:r>
                        <a:rPr lang="en-GB" sz="1400" i="1">
                          <a:latin typeface="Cambria Math" panose="02040503050406030204" pitchFamily="18" charset="0"/>
                          <a:ea typeface="Cambria Math" panose="02040503050406030204" pitchFamily="18" charset="0"/>
                        </a:rPr>
                        <m:t>=£7,721.73</m:t>
                      </m:r>
                    </m:oMath>
                  </m:oMathPara>
                </a14:m>
                <a:endParaRPr lang="en-GB" dirty="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C7BF23A8-FE55-2FD5-B1F9-5A1D0058DA31}"/>
                  </a:ext>
                </a:extLst>
              </p:cNvPr>
              <p:cNvSpPr txBox="1">
                <a:spLocks noRot="1" noChangeAspect="1" noMove="1" noResize="1" noEditPoints="1" noAdjustHandles="1" noChangeArrowheads="1" noChangeShapeType="1" noTextEdit="1"/>
              </p:cNvSpPr>
              <p:nvPr/>
            </p:nvSpPr>
            <p:spPr>
              <a:xfrm>
                <a:off x="266700" y="1601005"/>
                <a:ext cx="8132423" cy="969496"/>
              </a:xfrm>
              <a:prstGeom prst="rect">
                <a:avLst/>
              </a:prstGeom>
              <a:blipFill>
                <a:blip r:embed="rId4"/>
                <a:stretch>
                  <a:fillRect l="-225" t="-12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1D1DFFC-2903-08AF-B350-CDD21DC7CE5F}"/>
                  </a:ext>
                </a:extLst>
              </p:cNvPr>
              <p:cNvSpPr txBox="1"/>
              <p:nvPr/>
            </p:nvSpPr>
            <p:spPr>
              <a:xfrm>
                <a:off x="308654" y="2779773"/>
                <a:ext cx="7970606" cy="307777"/>
              </a:xfrm>
              <a:prstGeom prst="rect">
                <a:avLst/>
              </a:prstGeom>
              <a:noFill/>
            </p:spPr>
            <p:txBody>
              <a:bodyPr wrap="square">
                <a:spAutoFit/>
              </a:bodyPr>
              <a:lstStyle/>
              <a:p>
                <a:pPr marL="0" lvl="1" indent="0">
                  <a:spcAft>
                    <a:spcPts val="900"/>
                  </a:spcAft>
                  <a:buClr>
                    <a:srgbClr val="C00000"/>
                  </a:buClr>
                  <a:buSzPct val="90000"/>
                </a:pPr>
                <a14:m>
                  <m:oMath xmlns:m="http://schemas.openxmlformats.org/officeDocument/2006/math">
                    <m:r>
                      <m:rPr>
                        <m:sty m:val="p"/>
                      </m:rPr>
                      <a:rPr lang="en-GB" sz="1400" b="0" i="0" smtClean="0">
                        <a:solidFill>
                          <a:srgbClr val="C00000"/>
                        </a:solidFill>
                        <a:latin typeface="Cambria Math" panose="02040503050406030204" pitchFamily="18" charset="0"/>
                        <a:ea typeface="Cambria Math" panose="02040503050406030204" pitchFamily="18" charset="0"/>
                      </a:rPr>
                      <m:t>BUT</m:t>
                    </m:r>
                    <m:r>
                      <a:rPr lang="en-GB" sz="1400" b="0" i="0" smtClean="0">
                        <a:solidFill>
                          <a:srgbClr val="C00000"/>
                        </a:solidFill>
                        <a:latin typeface="Cambria Math" panose="02040503050406030204" pitchFamily="18" charset="0"/>
                        <a:ea typeface="Cambria Math" panose="02040503050406030204" pitchFamily="18" charset="0"/>
                      </a:rPr>
                      <m:t>… </m:t>
                    </m:r>
                  </m:oMath>
                </a14:m>
                <a:r>
                  <a:rPr lang="en-GB" sz="1400" dirty="0">
                    <a:latin typeface="Arial" panose="020B0604020202020204" pitchFamily="34" charset="0"/>
                    <a:ea typeface="Cambria Math" panose="02040503050406030204" pitchFamily="18" charset="0"/>
                    <a:cs typeface="Arial" panose="020B0604020202020204" pitchFamily="34" charset="0"/>
                  </a:rPr>
                  <a:t>this is tedious, and time consuming and what if it was over 50 years or 100 years…</a:t>
                </a:r>
              </a:p>
            </p:txBody>
          </p:sp>
        </mc:Choice>
        <mc:Fallback xmlns="">
          <p:sp>
            <p:nvSpPr>
              <p:cNvPr id="10" name="TextBox 9">
                <a:extLst>
                  <a:ext uri="{FF2B5EF4-FFF2-40B4-BE49-F238E27FC236}">
                    <a16:creationId xmlns:a16="http://schemas.microsoft.com/office/drawing/2014/main" id="{91D1DFFC-2903-08AF-B350-CDD21DC7CE5F}"/>
                  </a:ext>
                </a:extLst>
              </p:cNvPr>
              <p:cNvSpPr txBox="1">
                <a:spLocks noRot="1" noChangeAspect="1" noMove="1" noResize="1" noEditPoints="1" noAdjustHandles="1" noChangeArrowheads="1" noChangeShapeType="1" noTextEdit="1"/>
              </p:cNvSpPr>
              <p:nvPr/>
            </p:nvSpPr>
            <p:spPr>
              <a:xfrm>
                <a:off x="308654" y="2779773"/>
                <a:ext cx="7970606" cy="307777"/>
              </a:xfrm>
              <a:prstGeom prst="rect">
                <a:avLst/>
              </a:prstGeom>
              <a:blipFill>
                <a:blip r:embed="rId5"/>
                <a:stretch>
                  <a:fillRect t="-4000" b="-20000"/>
                </a:stretch>
              </a:blipFill>
            </p:spPr>
            <p:txBody>
              <a:bodyPr/>
              <a:lstStyle/>
              <a:p>
                <a:r>
                  <a:rPr lang="en-GB">
                    <a:noFill/>
                  </a:rPr>
                  <a:t> </a:t>
                </a:r>
              </a:p>
            </p:txBody>
          </p:sp>
        </mc:Fallback>
      </mc:AlternateContent>
      <p:sp>
        <p:nvSpPr>
          <p:cNvPr id="11" name="Lightning Bolt 10">
            <a:extLst>
              <a:ext uri="{FF2B5EF4-FFF2-40B4-BE49-F238E27FC236}">
                <a16:creationId xmlns:a16="http://schemas.microsoft.com/office/drawing/2014/main" id="{34207223-C50F-E5CF-55EB-848FBF3C1377}"/>
              </a:ext>
            </a:extLst>
          </p:cNvPr>
          <p:cNvSpPr/>
          <p:nvPr/>
        </p:nvSpPr>
        <p:spPr>
          <a:xfrm>
            <a:off x="2123728" y="3825780"/>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Lightning Bolt 11">
            <a:extLst>
              <a:ext uri="{FF2B5EF4-FFF2-40B4-BE49-F238E27FC236}">
                <a16:creationId xmlns:a16="http://schemas.microsoft.com/office/drawing/2014/main" id="{9C0200EF-6B0D-446B-0905-94CEE9B097F2}"/>
              </a:ext>
            </a:extLst>
          </p:cNvPr>
          <p:cNvSpPr/>
          <p:nvPr/>
        </p:nvSpPr>
        <p:spPr>
          <a:xfrm>
            <a:off x="5580112" y="3717032"/>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8A8919B-2DEE-1B72-1239-82ECF81E5F2F}"/>
                  </a:ext>
                </a:extLst>
              </p:cNvPr>
              <p:cNvSpPr txBox="1"/>
              <p:nvPr/>
            </p:nvSpPr>
            <p:spPr>
              <a:xfrm>
                <a:off x="2123728" y="5381249"/>
                <a:ext cx="4616604" cy="658898"/>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GB" sz="1800" i="1" smtClean="0">
                          <a:latin typeface="Cambria Math" panose="02040503050406030204" pitchFamily="18" charset="0"/>
                          <a:ea typeface="Cambria Math" panose="02040503050406030204" pitchFamily="18" charset="0"/>
                        </a:rPr>
                        <m:t>=1,000×</m:t>
                      </m:r>
                      <m:f>
                        <m:fPr>
                          <m:ctrlPr>
                            <a:rPr lang="en-GB" sz="1800" i="1">
                              <a:latin typeface="Cambria Math" panose="02040503050406030204" pitchFamily="18" charset="0"/>
                              <a:ea typeface="Cambria Math" panose="02040503050406030204" pitchFamily="18" charset="0"/>
                            </a:rPr>
                          </m:ctrlPr>
                        </m:fPr>
                        <m:num>
                          <m:d>
                            <m:dPr>
                              <m:ctrlPr>
                                <a:rPr lang="en-GB" sz="1800" i="1">
                                  <a:latin typeface="Cambria Math" panose="02040503050406030204" pitchFamily="18" charset="0"/>
                                  <a:ea typeface="Cambria Math" panose="02040503050406030204" pitchFamily="18" charset="0"/>
                                </a:rPr>
                              </m:ctrlPr>
                            </m:dPr>
                            <m:e>
                              <m:r>
                                <a:rPr lang="en-GB" sz="1800" i="1">
                                  <a:latin typeface="Cambria Math" panose="02040503050406030204" pitchFamily="18" charset="0"/>
                                  <a:ea typeface="Cambria Math" panose="02040503050406030204" pitchFamily="18" charset="0"/>
                                </a:rPr>
                                <m:t>1−</m:t>
                              </m:r>
                              <m:sSup>
                                <m:sSupPr>
                                  <m:ctrlPr>
                                    <a:rPr lang="en-GB" sz="1800" i="1">
                                      <a:latin typeface="Cambria Math" panose="02040503050406030204" pitchFamily="18" charset="0"/>
                                      <a:ea typeface="Cambria Math" panose="02040503050406030204" pitchFamily="18" charset="0"/>
                                    </a:rPr>
                                  </m:ctrlPr>
                                </m:sSupPr>
                                <m:e>
                                  <m:r>
                                    <a:rPr lang="en-GB" sz="1800" i="1">
                                      <a:latin typeface="Cambria Math" panose="02040503050406030204" pitchFamily="18" charset="0"/>
                                      <a:ea typeface="Cambria Math" panose="02040503050406030204" pitchFamily="18" charset="0"/>
                                    </a:rPr>
                                    <m:t>(1+5%)</m:t>
                                  </m:r>
                                </m:e>
                                <m:sup>
                                  <m:r>
                                    <a:rPr lang="en-GB" sz="1800" i="1">
                                      <a:latin typeface="Cambria Math" panose="02040503050406030204" pitchFamily="18" charset="0"/>
                                      <a:ea typeface="Cambria Math" panose="02040503050406030204" pitchFamily="18" charset="0"/>
                                    </a:rPr>
                                    <m:t>−10</m:t>
                                  </m:r>
                                </m:sup>
                              </m:sSup>
                            </m:e>
                          </m:d>
                        </m:num>
                        <m:den>
                          <m:r>
                            <a:rPr lang="en-GB" sz="1800" i="1">
                              <a:latin typeface="Cambria Math" panose="02040503050406030204" pitchFamily="18" charset="0"/>
                              <a:ea typeface="Cambria Math" panose="02040503050406030204" pitchFamily="18" charset="0"/>
                            </a:rPr>
                            <m:t>5%</m:t>
                          </m:r>
                        </m:den>
                      </m:f>
                      <m:r>
                        <a:rPr lang="en-GB" sz="1800" i="1">
                          <a:latin typeface="Cambria Math" panose="02040503050406030204" pitchFamily="18" charset="0"/>
                          <a:ea typeface="Cambria Math" panose="02040503050406030204" pitchFamily="18" charset="0"/>
                        </a:rPr>
                        <m:t>=£7,721.73</m:t>
                      </m:r>
                    </m:oMath>
                  </m:oMathPara>
                </a14:m>
                <a:endParaRPr lang="en-GB" sz="1800" dirty="0"/>
              </a:p>
            </p:txBody>
          </p:sp>
        </mc:Choice>
        <mc:Fallback xmlns="">
          <p:sp>
            <p:nvSpPr>
              <p:cNvPr id="7" name="TextBox 6">
                <a:extLst>
                  <a:ext uri="{FF2B5EF4-FFF2-40B4-BE49-F238E27FC236}">
                    <a16:creationId xmlns:a16="http://schemas.microsoft.com/office/drawing/2014/main" id="{18A8919B-2DEE-1B72-1239-82ECF81E5F2F}"/>
                  </a:ext>
                </a:extLst>
              </p:cNvPr>
              <p:cNvSpPr txBox="1">
                <a:spLocks noRot="1" noChangeAspect="1" noMove="1" noResize="1" noEditPoints="1" noAdjustHandles="1" noChangeArrowheads="1" noChangeShapeType="1" noTextEdit="1"/>
              </p:cNvSpPr>
              <p:nvPr/>
            </p:nvSpPr>
            <p:spPr>
              <a:xfrm>
                <a:off x="2123728" y="5381249"/>
                <a:ext cx="4616604" cy="658898"/>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9842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par>
                                <p:cTn id="19" presetID="2" presetClass="entr" presetSubtype="4" fill="hold" grpId="1"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5"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0"/>
                                        <p:tgtEl>
                                          <p:spTgt spid="12"/>
                                        </p:tgtEl>
                                      </p:cBhvr>
                                    </p:animEffect>
                                    <p:anim calcmode="lin" valueType="num">
                                      <p:cBhvr>
                                        <p:cTn id="28" dur="2000" fill="hold"/>
                                        <p:tgtEl>
                                          <p:spTgt spid="12"/>
                                        </p:tgtEl>
                                        <p:attrNameLst>
                                          <p:attrName>ppt_w</p:attrName>
                                        </p:attrNameLst>
                                      </p:cBhvr>
                                      <p:tavLst>
                                        <p:tav tm="0" fmla="#ppt_w*sin(2.5*pi*$)">
                                          <p:val>
                                            <p:fltVal val="0"/>
                                          </p:val>
                                        </p:tav>
                                        <p:tav tm="100000">
                                          <p:val>
                                            <p:fltVal val="1"/>
                                          </p:val>
                                        </p:tav>
                                      </p:tavLst>
                                    </p:anim>
                                    <p:anim calcmode="lin" valueType="num">
                                      <p:cBhvr>
                                        <p:cTn id="29" dur="2000" fill="hold"/>
                                        <p:tgtEl>
                                          <p:spTgt spid="12"/>
                                        </p:tgtEl>
                                        <p:attrNameLst>
                                          <p:attrName>ppt_h</p:attrName>
                                        </p:attrNameLst>
                                      </p:cBhvr>
                                      <p:tavLst>
                                        <p:tav tm="0">
                                          <p:val>
                                            <p:strVal val="#ppt_h"/>
                                          </p:val>
                                        </p:tav>
                                        <p:tav tm="100000">
                                          <p:val>
                                            <p:strVal val="#ppt_h"/>
                                          </p:val>
                                        </p:tav>
                                      </p:tavLst>
                                    </p:anim>
                                  </p:childTnLst>
                                </p:cTn>
                              </p:par>
                              <p:par>
                                <p:cTn id="30" presetID="45"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2000"/>
                                        <p:tgtEl>
                                          <p:spTgt spid="11"/>
                                        </p:tgtEl>
                                      </p:cBhvr>
                                    </p:animEffect>
                                    <p:anim calcmode="lin" valueType="num">
                                      <p:cBhvr>
                                        <p:cTn id="33" dur="2000" fill="hold"/>
                                        <p:tgtEl>
                                          <p:spTgt spid="11"/>
                                        </p:tgtEl>
                                        <p:attrNameLst>
                                          <p:attrName>ppt_w</p:attrName>
                                        </p:attrNameLst>
                                      </p:cBhvr>
                                      <p:tavLst>
                                        <p:tav tm="0" fmla="#ppt_w*sin(2.5*pi*$)">
                                          <p:val>
                                            <p:fltVal val="0"/>
                                          </p:val>
                                        </p:tav>
                                        <p:tav tm="100000">
                                          <p:val>
                                            <p:fltVal val="1"/>
                                          </p:val>
                                        </p:tav>
                                      </p:tavLst>
                                    </p:anim>
                                    <p:anim calcmode="lin" valueType="num">
                                      <p:cBhvr>
                                        <p:cTn id="34" dur="2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10" grpId="0"/>
      <p:bldP spid="11" grpId="0" animBg="1"/>
      <p:bldP spid="12"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627850"/>
            <a:ext cx="7886700" cy="634117"/>
          </a:xfrm>
        </p:spPr>
        <p:txBody>
          <a:bodyPr>
            <a:normAutofit/>
          </a:bodyPr>
          <a:lstStyle/>
          <a:p>
            <a:r>
              <a:rPr lang="en-GB" dirty="0"/>
              <a:t>Annuity  - FV</a:t>
            </a:r>
          </a:p>
        </p:txBody>
      </p:sp>
      <p:sp>
        <p:nvSpPr>
          <p:cNvPr id="3" name="Content Placeholder 2"/>
          <p:cNvSpPr>
            <a:spLocks noGrp="1"/>
          </p:cNvSpPr>
          <p:nvPr>
            <p:ph idx="1"/>
          </p:nvPr>
        </p:nvSpPr>
        <p:spPr>
          <a:xfrm>
            <a:off x="271345" y="1844824"/>
            <a:ext cx="8742666" cy="963203"/>
          </a:xfrm>
        </p:spPr>
        <p:txBody>
          <a:bodyPr>
            <a:noAutofit/>
          </a:bodyPr>
          <a:lstStyle/>
          <a:p>
            <a:pPr marL="0" lvl="1" indent="0">
              <a:spcBef>
                <a:spcPts val="0"/>
              </a:spcBef>
              <a:spcAft>
                <a:spcPts val="900"/>
              </a:spcAft>
              <a:buClr>
                <a:srgbClr val="C00000"/>
              </a:buClr>
              <a:buSzPct val="90000"/>
              <a:buNone/>
            </a:pPr>
            <a:r>
              <a:rPr lang="en-GB" sz="1400" b="1" u="sng"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rPr>
              <a:t>Future Value</a:t>
            </a:r>
            <a:r>
              <a:rPr lang="en-GB" sz="1400" b="1" u="sng" dirty="0">
                <a:latin typeface="Arial" panose="020B0604020202020204" pitchFamily="34" charset="0"/>
                <a:ea typeface="Cambria Math" panose="02040503050406030204" pitchFamily="18" charset="0"/>
                <a:cs typeface="Arial" panose="020B0604020202020204" pitchFamily="34" charset="0"/>
              </a:rPr>
              <a:t> </a:t>
            </a:r>
          </a:p>
          <a:p>
            <a:pPr marL="0" lvl="1" indent="0">
              <a:spcBef>
                <a:spcPts val="0"/>
              </a:spcBef>
              <a:spcAft>
                <a:spcPts val="900"/>
              </a:spcAft>
              <a:buClr>
                <a:srgbClr val="C00000"/>
              </a:buClr>
              <a:buSzPct val="90000"/>
              <a:buNone/>
            </a:pPr>
            <a:r>
              <a:rPr lang="en-GB" sz="1400" dirty="0">
                <a:latin typeface="Arial" panose="020B0604020202020204" pitchFamily="34" charset="0"/>
                <a:cs typeface="Arial" panose="020B0604020202020204" pitchFamily="34" charset="0"/>
              </a:rPr>
              <a:t>You won a prize which pays you yearly £2,000 for the next 20 years. Using a compound rate of 7%, how much would you have received after 20 years?</a:t>
            </a:r>
          </a:p>
          <a:p>
            <a:pPr marL="0" lvl="1" indent="0">
              <a:spcAft>
                <a:spcPts val="900"/>
              </a:spcAft>
              <a:buClr>
                <a:srgbClr val="C00000"/>
              </a:buClr>
              <a:buSzPct val="90000"/>
              <a:buNone/>
            </a:pPr>
            <a:endParaRPr lang="en-GB" sz="1400" dirty="0">
              <a:latin typeface="Arial" panose="020B0604020202020204" pitchFamily="34" charset="0"/>
              <a:ea typeface="Cambria Math" panose="02040503050406030204" pitchFamily="18" charset="0"/>
              <a:cs typeface="Arial" panose="020B0604020202020204" pitchFamily="34" charset="0"/>
            </a:endParaRPr>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400">
                <a:solidFill>
                  <a:prstClr val="black">
                    <a:lumMod val="50000"/>
                    <a:lumOff val="50000"/>
                  </a:prstClr>
                </a:solidFill>
                <a:latin typeface="Arial" panose="020B0604020202020204" pitchFamily="34" charset="0"/>
                <a:ea typeface="+mn-ea"/>
                <a:cs typeface="Arial" panose="020B0604020202020204" pitchFamily="34" charset="0"/>
              </a:rPr>
              <a:pPr algn="ctr" defTabSz="685800" eaLnBrk="1" fontAlgn="auto" hangingPunct="1">
                <a:spcBef>
                  <a:spcPts val="0"/>
                </a:spcBef>
                <a:spcAft>
                  <a:spcPts val="0"/>
                </a:spcAft>
                <a:defRPr/>
              </a:pPr>
              <a:t>13</a:t>
            </a:fld>
            <a:endParaRPr lang="en-GB" sz="1400" dirty="0">
              <a:solidFill>
                <a:prstClr val="black">
                  <a:lumMod val="50000"/>
                  <a:lumOff val="50000"/>
                </a:prstClr>
              </a:solidFill>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97D019-7F00-F8A0-8230-F0296DF26FF6}"/>
                  </a:ext>
                </a:extLst>
              </p:cNvPr>
              <p:cNvSpPr txBox="1"/>
              <p:nvPr/>
            </p:nvSpPr>
            <p:spPr>
              <a:xfrm>
                <a:off x="1741469" y="4205450"/>
                <a:ext cx="4619517" cy="5354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𝐹𝑉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sSup>
                                <m:sSupPr>
                                  <m:ctrlPr>
                                    <a:rPr lang="en-GB" sz="1400" i="1">
                                      <a:solidFill>
                                        <a:schemeClr val="accent5">
                                          <a:lumMod val="75000"/>
                                        </a:schemeClr>
                                      </a:solidFill>
                                      <a:latin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rPr>
                                      </m:ctrlPr>
                                    </m:dPr>
                                    <m:e>
                                      <m:r>
                                        <a:rPr lang="en-GB" sz="1400" i="1">
                                          <a:solidFill>
                                            <a:schemeClr val="accent5">
                                              <a:lumMod val="75000"/>
                                            </a:schemeClr>
                                          </a:solidFill>
                                          <a:latin typeface="Cambria Math" panose="02040503050406030204" pitchFamily="18" charset="0"/>
                                        </a:rPr>
                                        <m:t>1+</m:t>
                                      </m:r>
                                      <m:r>
                                        <a:rPr lang="en-GB" sz="1400" i="1">
                                          <a:solidFill>
                                            <a:schemeClr val="accent5">
                                              <a:lumMod val="75000"/>
                                            </a:schemeClr>
                                          </a:solidFill>
                                          <a:latin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rPr>
                                    <m:t>𝑡</m:t>
                                  </m:r>
                                </m:sup>
                              </m:sSup>
                              <m:r>
                                <a:rPr lang="en-GB" sz="1400" i="1">
                                  <a:solidFill>
                                    <a:schemeClr val="accent5">
                                      <a:lumMod val="75000"/>
                                    </a:schemeClr>
                                  </a:solidFill>
                                  <a:latin typeface="Cambria Math" panose="02040503050406030204" pitchFamily="18" charset="0"/>
                                  <a:ea typeface="Cambria Math" panose="02040503050406030204" pitchFamily="18" charset="0"/>
                                </a:rPr>
                                <m:t>−1</m:t>
                              </m:r>
                            </m:e>
                          </m:d>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den>
                      </m:f>
                      <m:r>
                        <a:rPr lang="en-GB" sz="1400" i="1">
                          <a:solidFill>
                            <a:schemeClr val="accent5">
                              <a:lumMod val="75000"/>
                            </a:schemeClr>
                          </a:solidFill>
                          <a:latin typeface="Cambria Math" panose="02040503050406030204" pitchFamily="18" charset="0"/>
                          <a:ea typeface="Cambria Math" panose="02040503050406030204" pitchFamily="18" charset="0"/>
                        </a:rPr>
                        <m:t> </m:t>
                      </m:r>
                    </m:oMath>
                  </m:oMathPara>
                </a14:m>
                <a:endParaRPr lang="en-GB" sz="1400"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9E97D019-7F00-F8A0-8230-F0296DF26FF6}"/>
                  </a:ext>
                </a:extLst>
              </p:cNvPr>
              <p:cNvSpPr txBox="1">
                <a:spLocks noRot="1" noChangeAspect="1" noMove="1" noResize="1" noEditPoints="1" noAdjustHandles="1" noChangeArrowheads="1" noChangeShapeType="1" noTextEdit="1"/>
              </p:cNvSpPr>
              <p:nvPr/>
            </p:nvSpPr>
            <p:spPr>
              <a:xfrm>
                <a:off x="1741469" y="4205450"/>
                <a:ext cx="4619517" cy="535468"/>
              </a:xfrm>
              <a:prstGeom prst="rect">
                <a:avLst/>
              </a:prstGeom>
              <a:blipFill>
                <a:blip r:embed="rId3"/>
                <a:stretch>
                  <a:fillRect/>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AA600002-41C8-9C71-7AC9-923B906FCCEA}"/>
              </a:ext>
            </a:extLst>
          </p:cNvPr>
          <p:cNvSpPr txBox="1"/>
          <p:nvPr/>
        </p:nvSpPr>
        <p:spPr>
          <a:xfrm>
            <a:off x="266700" y="3707515"/>
            <a:ext cx="8170952" cy="523220"/>
          </a:xfrm>
          <a:prstGeom prst="rect">
            <a:avLst/>
          </a:prstGeom>
          <a:noFill/>
        </p:spPr>
        <p:txBody>
          <a:bodyPr wrap="square" rtlCol="0">
            <a:spAutoFit/>
          </a:bodyPr>
          <a:lstStyle/>
          <a:p>
            <a:r>
              <a:rPr lang="en-GB" sz="1400" dirty="0">
                <a:latin typeface="Arial" panose="020B0604020202020204" pitchFamily="34" charset="0"/>
                <a:cs typeface="Arial" panose="020B0604020202020204" pitchFamily="34" charset="0"/>
              </a:rPr>
              <a:t>Rearranging the PV annuity formula, we get the FV formula for an annuity:</a:t>
            </a:r>
          </a:p>
          <a:p>
            <a:endParaRPr lang="en-GB" sz="1400" dirty="0">
              <a:latin typeface="Arial" panose="020B0604020202020204" pitchFamily="34" charset="0"/>
              <a:cs typeface="Arial" panose="020B0604020202020204" pitchFamily="34" charset="0"/>
            </a:endParaRPr>
          </a:p>
        </p:txBody>
      </p:sp>
      <p:sp>
        <p:nvSpPr>
          <p:cNvPr id="14" name="Lightning Bolt 13">
            <a:extLst>
              <a:ext uri="{FF2B5EF4-FFF2-40B4-BE49-F238E27FC236}">
                <a16:creationId xmlns:a16="http://schemas.microsoft.com/office/drawing/2014/main" id="{8F6CD414-EF66-C2C7-4B9E-5E6A5B7E0E25}"/>
              </a:ext>
            </a:extLst>
          </p:cNvPr>
          <p:cNvSpPr/>
          <p:nvPr/>
        </p:nvSpPr>
        <p:spPr>
          <a:xfrm>
            <a:off x="2157573" y="4242826"/>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latin typeface="Arial" panose="020B0604020202020204" pitchFamily="34" charset="0"/>
              <a:cs typeface="Arial" panose="020B0604020202020204" pitchFamily="34" charset="0"/>
            </a:endParaRPr>
          </a:p>
        </p:txBody>
      </p:sp>
      <p:sp>
        <p:nvSpPr>
          <p:cNvPr id="15" name="Lightning Bolt 14">
            <a:extLst>
              <a:ext uri="{FF2B5EF4-FFF2-40B4-BE49-F238E27FC236}">
                <a16:creationId xmlns:a16="http://schemas.microsoft.com/office/drawing/2014/main" id="{CCCDB371-1116-199B-99D1-0093E2A0F396}"/>
              </a:ext>
            </a:extLst>
          </p:cNvPr>
          <p:cNvSpPr/>
          <p:nvPr/>
        </p:nvSpPr>
        <p:spPr>
          <a:xfrm>
            <a:off x="5057884" y="4232902"/>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176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2000"/>
                                        <p:tgtEl>
                                          <p:spTgt spid="15"/>
                                        </p:tgtEl>
                                      </p:cBhvr>
                                    </p:animEffect>
                                    <p:anim calcmode="lin" valueType="num">
                                      <p:cBhvr>
                                        <p:cTn id="18" dur="2000" fill="hold"/>
                                        <p:tgtEl>
                                          <p:spTgt spid="15"/>
                                        </p:tgtEl>
                                        <p:attrNameLst>
                                          <p:attrName>ppt_w</p:attrName>
                                        </p:attrNameLst>
                                      </p:cBhvr>
                                      <p:tavLst>
                                        <p:tav tm="0" fmla="#ppt_w*sin(2.5*pi*$)">
                                          <p:val>
                                            <p:fltVal val="0"/>
                                          </p:val>
                                        </p:tav>
                                        <p:tav tm="100000">
                                          <p:val>
                                            <p:fltVal val="1"/>
                                          </p:val>
                                        </p:tav>
                                      </p:tavLst>
                                    </p:anim>
                                    <p:anim calcmode="lin" valueType="num">
                                      <p:cBhvr>
                                        <p:cTn id="19" dur="2000" fill="hold"/>
                                        <p:tgtEl>
                                          <p:spTgt spid="15"/>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000"/>
                                        <p:tgtEl>
                                          <p:spTgt spid="14"/>
                                        </p:tgtEl>
                                      </p:cBhvr>
                                    </p:animEffect>
                                    <p:anim calcmode="lin" valueType="num">
                                      <p:cBhvr>
                                        <p:cTn id="23" dur="2000" fill="hold"/>
                                        <p:tgtEl>
                                          <p:spTgt spid="14"/>
                                        </p:tgtEl>
                                        <p:attrNameLst>
                                          <p:attrName>ppt_w</p:attrName>
                                        </p:attrNameLst>
                                      </p:cBhvr>
                                      <p:tavLst>
                                        <p:tav tm="0" fmla="#ppt_w*sin(2.5*pi*$)">
                                          <p:val>
                                            <p:fltVal val="0"/>
                                          </p:val>
                                        </p:tav>
                                        <p:tav tm="100000">
                                          <p:val>
                                            <p:fltVal val="1"/>
                                          </p:val>
                                        </p:tav>
                                      </p:tavLst>
                                    </p:anim>
                                    <p:anim calcmode="lin" valueType="num">
                                      <p:cBhvr>
                                        <p:cTn id="24"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240" y="645590"/>
            <a:ext cx="7886700" cy="634117"/>
          </a:xfrm>
        </p:spPr>
        <p:txBody>
          <a:bodyPr>
            <a:normAutofit/>
          </a:bodyPr>
          <a:lstStyle/>
          <a:p>
            <a:r>
              <a:rPr lang="en-GB" dirty="0"/>
              <a:t>Annuity - recap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2288463"/>
              </a:xfrm>
            </p:spPr>
            <p:txBody>
              <a:bodyPr>
                <a:normAutofit fontScale="40000" lnSpcReduction="20000"/>
              </a:bodyPr>
              <a:lstStyle/>
              <a:p>
                <a:pPr marL="257175" lvl="1" indent="-257175">
                  <a:spcAft>
                    <a:spcPts val="900"/>
                  </a:spcAft>
                  <a:buClr>
                    <a:srgbClr val="C00000"/>
                  </a:buClr>
                  <a:buSzPct val="90000"/>
                </a:pPr>
                <a:r>
                  <a:rPr lang="en-GB" dirty="0">
                    <a:ea typeface="Cambria Math" panose="02040503050406030204" pitchFamily="18" charset="0"/>
                  </a:rPr>
                  <a:t>The future and present values of an annuity are:</a:t>
                </a:r>
                <a:endParaRPr lang="en-GB" b="0" i="1" dirty="0">
                  <a:solidFill>
                    <a:schemeClr val="accent5">
                      <a:lumMod val="75000"/>
                    </a:schemeClr>
                  </a:solidFill>
                  <a:latin typeface="Cambria Math" panose="02040503050406030204" pitchFamily="18" charset="0"/>
                  <a:ea typeface="Cambria Math" panose="02040503050406030204" pitchFamily="18"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𝐹𝑉</m:t>
                      </m:r>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i="1" smtClean="0">
                          <a:solidFill>
                            <a:schemeClr val="accent5">
                              <a:lumMod val="75000"/>
                            </a:schemeClr>
                          </a:solidFill>
                          <a:latin typeface="Cambria Math" panose="02040503050406030204" pitchFamily="18" charset="0"/>
                          <a:ea typeface="Cambria Math" panose="02040503050406030204" pitchFamily="18" charset="0"/>
                        </a:rPr>
                        <m:t>𝐴</m:t>
                      </m:r>
                      <m:r>
                        <a:rPr lang="en-GB"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b="0" i="1" smtClean="0">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𝑡</m:t>
                              </m:r>
                            </m:sup>
                          </m:sSup>
                          <m:r>
                            <a:rPr lang="en-GB" b="0" i="1" smtClean="0">
                              <a:solidFill>
                                <a:schemeClr val="accent5">
                                  <a:lumMod val="75000"/>
                                </a:schemeClr>
                              </a:solidFill>
                              <a:latin typeface="Cambria Math" panose="02040503050406030204" pitchFamily="18" charset="0"/>
                              <a:ea typeface="Cambria Math" panose="02040503050406030204" pitchFamily="18" charset="0"/>
                            </a:rPr>
                            <m:t>−1</m:t>
                          </m:r>
                        </m:num>
                        <m:den>
                          <m:r>
                            <a:rPr lang="en-GB" b="0" i="1" smtClean="0">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dirty="0">
                  <a:solidFill>
                    <a:prstClr val="black"/>
                  </a:solidFill>
                  <a:ea typeface="Cambria Math" panose="02040503050406030204" pitchFamily="18"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b="0" i="1" smtClean="0">
                          <a:solidFill>
                            <a:schemeClr val="accent5">
                              <a:lumMod val="75000"/>
                            </a:schemeClr>
                          </a:solidFill>
                          <a:latin typeface="Cambria Math" panose="02040503050406030204" pitchFamily="18" charset="0"/>
                          <a:ea typeface="Cambria Math" panose="02040503050406030204" pitchFamily="18" charset="0"/>
                        </a:rPr>
                        <m:t>𝑃</m:t>
                      </m:r>
                      <m:r>
                        <a:rPr lang="en-GB" i="1">
                          <a:solidFill>
                            <a:schemeClr val="accent5">
                              <a:lumMod val="75000"/>
                            </a:schemeClr>
                          </a:solidFill>
                          <a:latin typeface="Cambria Math" panose="02040503050406030204" pitchFamily="18" charset="0"/>
                          <a:ea typeface="Cambria Math" panose="02040503050406030204" pitchFamily="18" charset="0"/>
                        </a:rPr>
                        <m:t>𝑉</m:t>
                      </m:r>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𝐴</m:t>
                      </m:r>
                      <m:r>
                        <a:rPr lang="en-GB" i="1">
                          <a:solidFill>
                            <a:schemeClr val="accent5">
                              <a:lumMod val="75000"/>
                            </a:schemeClr>
                          </a:solidFill>
                          <a:latin typeface="Cambria Math" panose="02040503050406030204" pitchFamily="18" charset="0"/>
                          <a:ea typeface="Cambria Math" panose="02040503050406030204" pitchFamily="18" charset="0"/>
                        </a:rPr>
                        <m:t>×</m:t>
                      </m:r>
                      <m:f>
                        <m:fPr>
                          <m:ctrlPr>
                            <a:rPr lang="en-GB" i="1">
                              <a:solidFill>
                                <a:schemeClr val="accent5">
                                  <a:lumMod val="75000"/>
                                </a:schemeClr>
                              </a:solidFill>
                              <a:latin typeface="Cambria Math" panose="02040503050406030204" pitchFamily="18" charset="0"/>
                              <a:ea typeface="Cambria Math" panose="02040503050406030204" pitchFamily="18" charset="0"/>
                            </a:rPr>
                          </m:ctrlPr>
                        </m:fPr>
                        <m:num>
                          <m:r>
                            <a:rPr lang="en-GB" i="1">
                              <a:solidFill>
                                <a:schemeClr val="accent5">
                                  <a:lumMod val="75000"/>
                                </a:schemeClr>
                              </a:solidFill>
                              <a:latin typeface="Cambria Math" panose="02040503050406030204" pitchFamily="18" charset="0"/>
                              <a:ea typeface="Cambria Math" panose="02040503050406030204" pitchFamily="18" charset="0"/>
                            </a:rPr>
                            <m:t>1</m:t>
                          </m:r>
                          <m:r>
                            <a:rPr lang="en-GB" b="0" i="1" smtClean="0">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i="1">
                                      <a:solidFill>
                                        <a:schemeClr val="accent5">
                                          <a:lumMod val="75000"/>
                                        </a:schemeClr>
                                      </a:solidFill>
                                      <a:latin typeface="Cambria Math" panose="02040503050406030204" pitchFamily="18" charset="0"/>
                                      <a:ea typeface="Cambria Math" panose="02040503050406030204" pitchFamily="18" charset="0"/>
                                    </a:rPr>
                                  </m:ctrlPr>
                                </m:dPr>
                                <m:e>
                                  <m:r>
                                    <a:rPr lang="en-GB" i="1">
                                      <a:solidFill>
                                        <a:schemeClr val="accent5">
                                          <a:lumMod val="75000"/>
                                        </a:schemeClr>
                                      </a:solidFill>
                                      <a:latin typeface="Cambria Math" panose="02040503050406030204" pitchFamily="18" charset="0"/>
                                      <a:ea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i="1">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dirty="0">
                  <a:solidFill>
                    <a:prstClr val="black"/>
                  </a:solidFill>
                  <a:ea typeface="Cambria Math" panose="02040503050406030204" pitchFamily="18" charset="0"/>
                </a:endParaRPr>
              </a:p>
              <a:p>
                <a:pPr marL="0" lvl="1" indent="0">
                  <a:spcAft>
                    <a:spcPts val="900"/>
                  </a:spcAft>
                  <a:buClr>
                    <a:srgbClr val="C00000"/>
                  </a:buClr>
                  <a:buSzPct val="90000"/>
                  <a:buNone/>
                </a:pPr>
                <a:r>
                  <a:rPr lang="en-GB" dirty="0">
                    <a:ea typeface="Cambria Math" panose="02040503050406030204" pitchFamily="18" charset="0"/>
                  </a:rPr>
                  <a:t>Where </a:t>
                </a:r>
              </a:p>
              <a:p>
                <a:pPr marL="0" lvl="1" indent="0">
                  <a:spcAft>
                    <a:spcPts val="900"/>
                  </a:spcAft>
                  <a:buClr>
                    <a:srgbClr val="C00000"/>
                  </a:buClr>
                  <a:buSzPct val="90000"/>
                  <a:buNone/>
                </a:pPr>
                <a14:m>
                  <m:oMath xmlns:m="http://schemas.openxmlformats.org/officeDocument/2006/math">
                    <m:r>
                      <a:rPr lang="en-GB" i="1" smtClean="0">
                        <a:solidFill>
                          <a:schemeClr val="accent5">
                            <a:lumMod val="75000"/>
                          </a:schemeClr>
                        </a:solidFill>
                        <a:latin typeface="Cambria Math" panose="02040503050406030204" pitchFamily="18" charset="0"/>
                        <a:ea typeface="Cambria Math" panose="02040503050406030204" pitchFamily="18" charset="0"/>
                      </a:rPr>
                      <m:t>𝐴</m:t>
                    </m:r>
                  </m:oMath>
                </a14:m>
                <a:r>
                  <a:rPr lang="en-GB" dirty="0">
                    <a:ea typeface="Cambria Math" panose="02040503050406030204" pitchFamily="18" charset="0"/>
                  </a:rPr>
                  <a:t>: the constant annual cash flow occurring for </a:t>
                </a:r>
                <a14:m>
                  <m:oMath xmlns:m="http://schemas.openxmlformats.org/officeDocument/2006/math">
                    <m:r>
                      <a:rPr lang="en-GB" b="0" i="1" smtClean="0">
                        <a:latin typeface="Cambria Math" panose="02040503050406030204" pitchFamily="18" charset="0"/>
                        <a:ea typeface="Cambria Math" panose="02040503050406030204" pitchFamily="18" charset="0"/>
                      </a:rPr>
                      <m:t>𝑡</m:t>
                    </m:r>
                  </m:oMath>
                </a14:m>
                <a:r>
                  <a:rPr lang="en-GB" dirty="0">
                    <a:ea typeface="Cambria Math" panose="02040503050406030204" pitchFamily="18" charset="0"/>
                  </a:rPr>
                  <a:t> years.</a:t>
                </a:r>
              </a:p>
              <a:p>
                <a:pPr marL="0" lvl="1" indent="0">
                  <a:spcAft>
                    <a:spcPts val="900"/>
                  </a:spcAft>
                  <a:buClr>
                    <a:srgbClr val="C00000"/>
                  </a:buClr>
                  <a:buSzPct val="90000"/>
                  <a:buNone/>
                </a:pPr>
                <a:endParaRPr lang="en-GB" dirty="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2288463"/>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14</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A9116667-A3DF-D03C-EAAB-B39E5200917D}"/>
                  </a:ext>
                </a:extLst>
              </p:cNvPr>
              <p:cNvSpPr/>
              <p:nvPr/>
            </p:nvSpPr>
            <p:spPr>
              <a:xfrm>
                <a:off x="357597" y="4843971"/>
                <a:ext cx="8409756" cy="864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indent="0" algn="ctr">
                  <a:spcAft>
                    <a:spcPts val="900"/>
                  </a:spcAft>
                  <a:buClr>
                    <a:srgbClr val="C00000"/>
                  </a:buClr>
                  <a:buSzPct val="90000"/>
                </a:pPr>
                <a:r>
                  <a:rPr lang="en-GB" sz="2000" b="1" dirty="0">
                    <a:ea typeface="Cambria Math" panose="02040503050406030204" pitchFamily="18" charset="0"/>
                  </a:rPr>
                  <a:t>What if the constant cash flow, </a:t>
                </a:r>
                <a14:m>
                  <m:oMath xmlns:m="http://schemas.openxmlformats.org/officeDocument/2006/math">
                    <m:r>
                      <a:rPr lang="en-GB" sz="2000" b="1" i="1" smtClean="0">
                        <a:solidFill>
                          <a:schemeClr val="accent5">
                            <a:lumMod val="75000"/>
                          </a:schemeClr>
                        </a:solidFill>
                        <a:latin typeface="Cambria Math" panose="02040503050406030204" pitchFamily="18" charset="0"/>
                        <a:ea typeface="Cambria Math" panose="02040503050406030204" pitchFamily="18" charset="0"/>
                      </a:rPr>
                      <m:t>𝑨</m:t>
                    </m:r>
                  </m:oMath>
                </a14:m>
                <a:r>
                  <a:rPr lang="en-GB" sz="2000" b="1" dirty="0">
                    <a:ea typeface="Cambria Math" panose="02040503050406030204" pitchFamily="18" charset="0"/>
                  </a:rPr>
                  <a:t>, is growing every year by a given rate </a:t>
                </a:r>
                <a14:m>
                  <m:oMath xmlns:m="http://schemas.openxmlformats.org/officeDocument/2006/math">
                    <m:r>
                      <a:rPr lang="en-GB" sz="2000" b="1" i="1" smtClean="0">
                        <a:solidFill>
                          <a:schemeClr val="accent5">
                            <a:lumMod val="75000"/>
                          </a:schemeClr>
                        </a:solidFill>
                        <a:latin typeface="Cambria Math" panose="02040503050406030204" pitchFamily="18" charset="0"/>
                        <a:ea typeface="Cambria Math" panose="02040503050406030204" pitchFamily="18" charset="0"/>
                      </a:rPr>
                      <m:t>𝒈</m:t>
                    </m:r>
                  </m:oMath>
                </a14:m>
                <a:r>
                  <a:rPr lang="en-GB" sz="2000" b="1" dirty="0">
                    <a:ea typeface="Cambria Math" panose="02040503050406030204" pitchFamily="18" charset="0"/>
                  </a:rPr>
                  <a:t>? </a:t>
                </a:r>
              </a:p>
              <a:p>
                <a:pPr marL="0" lvl="1" indent="0" algn="ctr">
                  <a:spcAft>
                    <a:spcPts val="900"/>
                  </a:spcAft>
                  <a:buClr>
                    <a:srgbClr val="C00000"/>
                  </a:buClr>
                  <a:buSzPct val="90000"/>
                </a:pPr>
                <a:r>
                  <a:rPr lang="en-GB" sz="2000" b="1" dirty="0">
                    <a:ea typeface="Cambria Math" panose="02040503050406030204" pitchFamily="18" charset="0"/>
                  </a:rPr>
                  <a:t>This is a  growing annuity.</a:t>
                </a:r>
                <a:endParaRPr lang="en-GB" sz="2000" b="1" dirty="0">
                  <a:solidFill>
                    <a:schemeClr val="accent5">
                      <a:lumMod val="75000"/>
                    </a:schemeClr>
                  </a:solidFill>
                  <a:ea typeface="Cambria Math" panose="02040503050406030204" pitchFamily="18" charset="0"/>
                </a:endParaRPr>
              </a:p>
            </p:txBody>
          </p:sp>
        </mc:Choice>
        <mc:Fallback xmlns="">
          <p:sp>
            <p:nvSpPr>
              <p:cNvPr id="5" name="Rectangle: Rounded Corners 4">
                <a:extLst>
                  <a:ext uri="{FF2B5EF4-FFF2-40B4-BE49-F238E27FC236}">
                    <a16:creationId xmlns:a16="http://schemas.microsoft.com/office/drawing/2014/main" id="{A9116667-A3DF-D03C-EAAB-B39E5200917D}"/>
                  </a:ext>
                </a:extLst>
              </p:cNvPr>
              <p:cNvSpPr>
                <a:spLocks noRot="1" noChangeAspect="1" noMove="1" noResize="1" noEditPoints="1" noAdjustHandles="1" noChangeArrowheads="1" noChangeShapeType="1" noTextEdit="1"/>
              </p:cNvSpPr>
              <p:nvPr/>
            </p:nvSpPr>
            <p:spPr>
              <a:xfrm>
                <a:off x="357597" y="4843971"/>
                <a:ext cx="8409756" cy="864096"/>
              </a:xfrm>
              <a:prstGeom prst="roundRect">
                <a:avLst/>
              </a:prstGeom>
              <a:blipFill>
                <a:blip r:embed="rId4"/>
                <a:stretch>
                  <a:fillRect t="-699" b="-9790"/>
                </a:stretch>
              </a:blipFill>
            </p:spPr>
            <p:txBody>
              <a:bodyPr/>
              <a:lstStyle/>
              <a:p>
                <a:r>
                  <a:rPr lang="en-GB">
                    <a:noFill/>
                  </a:rPr>
                  <a:t> </a:t>
                </a:r>
              </a:p>
            </p:txBody>
          </p:sp>
        </mc:Fallback>
      </mc:AlternateContent>
    </p:spTree>
    <p:extLst>
      <p:ext uri="{BB962C8B-B14F-4D97-AF65-F5344CB8AC3E}">
        <p14:creationId xmlns:p14="http://schemas.microsoft.com/office/powerpoint/2010/main" val="196468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80">
                                          <p:stCondLst>
                                            <p:cond delay="0"/>
                                          </p:stCondLst>
                                        </p:cTn>
                                        <p:tgtEl>
                                          <p:spTgt spid="5"/>
                                        </p:tgtEl>
                                      </p:cBhvr>
                                    </p:animEffect>
                                    <p:anim calcmode="lin" valueType="num">
                                      <p:cBhvr>
                                        <p:cTn id="2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25" dur="26">
                                          <p:stCondLst>
                                            <p:cond delay="650"/>
                                          </p:stCondLst>
                                        </p:cTn>
                                        <p:tgtEl>
                                          <p:spTgt spid="5"/>
                                        </p:tgtEl>
                                      </p:cBhvr>
                                      <p:to x="100000" y="60000"/>
                                    </p:animScale>
                                    <p:animScale>
                                      <p:cBhvr>
                                        <p:cTn id="26" dur="166" decel="50000">
                                          <p:stCondLst>
                                            <p:cond delay="676"/>
                                          </p:stCondLst>
                                        </p:cTn>
                                        <p:tgtEl>
                                          <p:spTgt spid="5"/>
                                        </p:tgtEl>
                                      </p:cBhvr>
                                      <p:to x="100000" y="100000"/>
                                    </p:animScale>
                                    <p:animScale>
                                      <p:cBhvr>
                                        <p:cTn id="27" dur="26">
                                          <p:stCondLst>
                                            <p:cond delay="1312"/>
                                          </p:stCondLst>
                                        </p:cTn>
                                        <p:tgtEl>
                                          <p:spTgt spid="5"/>
                                        </p:tgtEl>
                                      </p:cBhvr>
                                      <p:to x="100000" y="80000"/>
                                    </p:animScale>
                                    <p:animScale>
                                      <p:cBhvr>
                                        <p:cTn id="28" dur="166" decel="50000">
                                          <p:stCondLst>
                                            <p:cond delay="1338"/>
                                          </p:stCondLst>
                                        </p:cTn>
                                        <p:tgtEl>
                                          <p:spTgt spid="5"/>
                                        </p:tgtEl>
                                      </p:cBhvr>
                                      <p:to x="100000" y="100000"/>
                                    </p:animScale>
                                    <p:animScale>
                                      <p:cBhvr>
                                        <p:cTn id="29" dur="26">
                                          <p:stCondLst>
                                            <p:cond delay="1642"/>
                                          </p:stCondLst>
                                        </p:cTn>
                                        <p:tgtEl>
                                          <p:spTgt spid="5"/>
                                        </p:tgtEl>
                                      </p:cBhvr>
                                      <p:to x="100000" y="90000"/>
                                    </p:animScale>
                                    <p:animScale>
                                      <p:cBhvr>
                                        <p:cTn id="30" dur="166" decel="50000">
                                          <p:stCondLst>
                                            <p:cond delay="1668"/>
                                          </p:stCondLst>
                                        </p:cTn>
                                        <p:tgtEl>
                                          <p:spTgt spid="5"/>
                                        </p:tgtEl>
                                      </p:cBhvr>
                                      <p:to x="100000" y="100000"/>
                                    </p:animScale>
                                    <p:animScale>
                                      <p:cBhvr>
                                        <p:cTn id="31" dur="26">
                                          <p:stCondLst>
                                            <p:cond delay="1808"/>
                                          </p:stCondLst>
                                        </p:cTn>
                                        <p:tgtEl>
                                          <p:spTgt spid="5"/>
                                        </p:tgtEl>
                                      </p:cBhvr>
                                      <p:to x="100000" y="95000"/>
                                    </p:animScale>
                                    <p:animScale>
                                      <p:cBhvr>
                                        <p:cTn id="32"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585" y="696605"/>
            <a:ext cx="7886700" cy="634117"/>
          </a:xfrm>
        </p:spPr>
        <p:txBody>
          <a:bodyPr>
            <a:normAutofit/>
          </a:bodyPr>
          <a:lstStyle/>
          <a:p>
            <a:r>
              <a:rPr lang="en-GB" dirty="0"/>
              <a:t>Growing Annuity PV </a:t>
            </a:r>
          </a:p>
        </p:txBody>
      </p:sp>
      <p:sp>
        <p:nvSpPr>
          <p:cNvPr id="3" name="Content Placeholder 2"/>
          <p:cNvSpPr>
            <a:spLocks noGrp="1"/>
          </p:cNvSpPr>
          <p:nvPr>
            <p:ph idx="1"/>
          </p:nvPr>
        </p:nvSpPr>
        <p:spPr>
          <a:xfrm>
            <a:off x="266700" y="1704973"/>
            <a:ext cx="8282054" cy="1295959"/>
          </a:xfrm>
        </p:spPr>
        <p:txBody>
          <a:bodyPr>
            <a:normAutofit/>
          </a:bodyPr>
          <a:lstStyle/>
          <a:p>
            <a:pPr marL="0" lvl="1" indent="0">
              <a:spcBef>
                <a:spcPts val="0"/>
              </a:spcBef>
              <a:spcAft>
                <a:spcPts val="900"/>
              </a:spcAft>
              <a:buClr>
                <a:srgbClr val="C00000"/>
              </a:buClr>
              <a:buSzPct val="90000"/>
              <a:buNone/>
            </a:pPr>
            <a:r>
              <a:rPr lang="en-GB" sz="14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rPr>
              <a:t>Example </a:t>
            </a:r>
            <a:r>
              <a:rPr lang="en-GB" sz="1400" dirty="0">
                <a:latin typeface="Arial" panose="020B0604020202020204" pitchFamily="34" charset="0"/>
                <a:ea typeface="Cambria Math" panose="02040503050406030204" pitchFamily="18" charset="0"/>
                <a:cs typeface="Arial" panose="020B0604020202020204" pitchFamily="34" charset="0"/>
              </a:rPr>
              <a:t>You can choose between apartments starting next year for 10 years.  Using a discount rate of 3%, which apartment has the lowest living costs over the 10 years? </a:t>
            </a:r>
          </a:p>
          <a:p>
            <a:pPr marL="0" lvl="1" indent="0">
              <a:spcBef>
                <a:spcPts val="0"/>
              </a:spcBef>
              <a:spcAft>
                <a:spcPts val="900"/>
              </a:spcAft>
              <a:buClr>
                <a:srgbClr val="C00000"/>
              </a:buClr>
              <a:buSzPct val="90000"/>
            </a:pPr>
            <a:r>
              <a:rPr lang="en-GB" sz="1400" dirty="0">
                <a:solidFill>
                  <a:srgbClr val="C00000"/>
                </a:solidFill>
                <a:latin typeface="Arial" panose="020B0604020202020204" pitchFamily="34" charset="0"/>
                <a:ea typeface="Cambria Math" panose="02040503050406030204" pitchFamily="18" charset="0"/>
                <a:cs typeface="Arial" panose="020B0604020202020204" pitchFamily="34" charset="0"/>
              </a:rPr>
              <a:t>Apt 1:</a:t>
            </a:r>
            <a:r>
              <a:rPr lang="en-GB" sz="1400" dirty="0">
                <a:latin typeface="Arial" panose="020B0604020202020204" pitchFamily="34" charset="0"/>
                <a:ea typeface="Cambria Math" panose="02040503050406030204" pitchFamily="18" charset="0"/>
                <a:cs typeface="Arial" panose="020B0604020202020204" pitchFamily="34" charset="0"/>
              </a:rPr>
              <a:t> the annual costs are £10,000 per year, and will grow by 5% every year.</a:t>
            </a:r>
          </a:p>
          <a:p>
            <a:pPr marL="0" lvl="1" indent="0">
              <a:spcBef>
                <a:spcPts val="0"/>
              </a:spcBef>
              <a:spcAft>
                <a:spcPts val="900"/>
              </a:spcAft>
              <a:buClr>
                <a:srgbClr val="C00000"/>
              </a:buClr>
              <a:buSzPct val="90000"/>
            </a:pPr>
            <a:r>
              <a:rPr lang="en-GB" sz="1400" dirty="0">
                <a:solidFill>
                  <a:srgbClr val="C00000"/>
                </a:solidFill>
                <a:latin typeface="Arial" panose="020B0604020202020204" pitchFamily="34" charset="0"/>
                <a:ea typeface="Cambria Math" panose="02040503050406030204" pitchFamily="18" charset="0"/>
                <a:cs typeface="Arial" panose="020B0604020202020204" pitchFamily="34" charset="0"/>
              </a:rPr>
              <a:t>Apt 2:</a:t>
            </a:r>
            <a:r>
              <a:rPr lang="en-GB" sz="1400" dirty="0">
                <a:latin typeface="Arial" panose="020B0604020202020204" pitchFamily="34" charset="0"/>
                <a:ea typeface="Cambria Math" panose="02040503050406030204" pitchFamily="18" charset="0"/>
                <a:cs typeface="Arial" panose="020B0604020202020204" pitchFamily="34" charset="0"/>
              </a:rPr>
              <a:t> the annual living costs are £12,000 per year, and will grow by 1% every year.</a:t>
            </a:r>
            <a:endParaRPr lang="en-GB" sz="1400"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lvl="1" indent="0">
              <a:spcBef>
                <a:spcPts val="0"/>
              </a:spcBef>
              <a:spcAft>
                <a:spcPts val="900"/>
              </a:spcAft>
              <a:buClr>
                <a:srgbClr val="C00000"/>
              </a:buClr>
              <a:buSzPct val="90000"/>
              <a:buNone/>
            </a:pPr>
            <a:endParaRPr lang="en-GB" sz="1400" dirty="0">
              <a:latin typeface="Arial" panose="020B0604020202020204" pitchFamily="34" charset="0"/>
              <a:ea typeface="Cambria Math" panose="02040503050406030204" pitchFamily="18" charset="0"/>
              <a:cs typeface="Arial" panose="020B0604020202020204" pitchFamily="34" charset="0"/>
            </a:endParaRPr>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15</a:t>
            </a:fld>
            <a:endParaRPr lang="en-GB" sz="1350" dirty="0">
              <a:solidFill>
                <a:prstClr val="black">
                  <a:lumMod val="50000"/>
                  <a:lumOff val="50000"/>
                </a:prstClr>
              </a:solidFill>
              <a:latin typeface="Calibri" panose="020F0502020204030204"/>
              <a:ea typeface="+mn-ea"/>
            </a:endParaRPr>
          </a:p>
        </p:txBody>
      </p:sp>
      <p:sp>
        <p:nvSpPr>
          <p:cNvPr id="8" name="TextBox 7">
            <a:extLst>
              <a:ext uri="{FF2B5EF4-FFF2-40B4-BE49-F238E27FC236}">
                <a16:creationId xmlns:a16="http://schemas.microsoft.com/office/drawing/2014/main" id="{AFF32CA0-2C16-DC08-DFAD-1A5AB5195361}"/>
              </a:ext>
            </a:extLst>
          </p:cNvPr>
          <p:cNvSpPr txBox="1"/>
          <p:nvPr/>
        </p:nvSpPr>
        <p:spPr>
          <a:xfrm>
            <a:off x="253301" y="3229165"/>
            <a:ext cx="7585324" cy="307777"/>
          </a:xfrm>
          <a:prstGeom prst="rect">
            <a:avLst/>
          </a:prstGeom>
          <a:noFill/>
        </p:spPr>
        <p:txBody>
          <a:bodyPr wrap="square">
            <a:spAutoFit/>
          </a:bodyPr>
          <a:lstStyle/>
          <a:p>
            <a:pPr marL="0" lvl="1" algn="ctr">
              <a:spcBef>
                <a:spcPts val="0"/>
              </a:spcBef>
              <a:spcAft>
                <a:spcPts val="900"/>
              </a:spcAft>
              <a:buClr>
                <a:srgbClr val="C00000"/>
              </a:buClr>
              <a:buSzPct val="90000"/>
            </a:pPr>
            <a:r>
              <a:rPr lang="en-GB" sz="1400" u="sng" dirty="0">
                <a:ea typeface="Cambria Math" panose="02040503050406030204" pitchFamily="18" charset="0"/>
              </a:rPr>
              <a:t>Here we have a </a:t>
            </a:r>
            <a:r>
              <a:rPr lang="en-GB" sz="1400" i="1" u="sng" dirty="0">
                <a:solidFill>
                  <a:srgbClr val="C00000"/>
                </a:solidFill>
                <a:ea typeface="Cambria Math" panose="02040503050406030204" pitchFamily="18" charset="0"/>
              </a:rPr>
              <a:t>growing</a:t>
            </a:r>
            <a:r>
              <a:rPr lang="en-GB" sz="1400" i="1" u="sng" dirty="0">
                <a:ea typeface="Cambria Math" panose="02040503050406030204" pitchFamily="18" charset="0"/>
              </a:rPr>
              <a:t> annuity. </a:t>
            </a:r>
            <a:endParaRPr lang="en-GB" sz="1400" u="sng" dirty="0">
              <a:ea typeface="Cambria Math" panose="02040503050406030204" pitchFamily="18" charset="0"/>
            </a:endParaRPr>
          </a:p>
        </p:txBody>
      </p:sp>
      <p:grpSp>
        <p:nvGrpSpPr>
          <p:cNvPr id="25" name="Group 24">
            <a:extLst>
              <a:ext uri="{FF2B5EF4-FFF2-40B4-BE49-F238E27FC236}">
                <a16:creationId xmlns:a16="http://schemas.microsoft.com/office/drawing/2014/main" id="{40756156-E05A-1465-2E8E-2CFDA0B843FD}"/>
              </a:ext>
            </a:extLst>
          </p:cNvPr>
          <p:cNvGrpSpPr/>
          <p:nvPr/>
        </p:nvGrpSpPr>
        <p:grpSpPr>
          <a:xfrm>
            <a:off x="884276" y="4871435"/>
            <a:ext cx="7664479" cy="1094605"/>
            <a:chOff x="1092149" y="5050265"/>
            <a:chExt cx="10219305" cy="1459473"/>
          </a:xfrm>
        </p:grpSpPr>
        <p:cxnSp>
          <p:nvCxnSpPr>
            <p:cNvPr id="9" name="Straight Connector 8">
              <a:extLst>
                <a:ext uri="{FF2B5EF4-FFF2-40B4-BE49-F238E27FC236}">
                  <a16:creationId xmlns:a16="http://schemas.microsoft.com/office/drawing/2014/main" id="{04E107E6-D992-B863-149B-78EFC04216D8}"/>
                </a:ext>
              </a:extLst>
            </p:cNvPr>
            <p:cNvCxnSpPr/>
            <p:nvPr/>
          </p:nvCxnSpPr>
          <p:spPr>
            <a:xfrm>
              <a:off x="1490158" y="542639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71A125A-8120-720F-FE66-3DFCEB01E1F6}"/>
                </a:ext>
              </a:extLst>
            </p:cNvPr>
            <p:cNvCxnSpPr>
              <a:cxnSpLocks/>
            </p:cNvCxnSpPr>
            <p:nvPr/>
          </p:nvCxnSpPr>
          <p:spPr>
            <a:xfrm>
              <a:off x="1494698" y="5625180"/>
              <a:ext cx="933879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0364028-95C0-1E46-4711-449B22AF5B05}"/>
                </a:ext>
              </a:extLst>
            </p:cNvPr>
            <p:cNvCxnSpPr/>
            <p:nvPr/>
          </p:nvCxnSpPr>
          <p:spPr>
            <a:xfrm>
              <a:off x="3401468" y="541321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75317C1-A737-EF89-BB0A-B5FC54600BA0}"/>
                </a:ext>
              </a:extLst>
            </p:cNvPr>
            <p:cNvCxnSpPr/>
            <p:nvPr/>
          </p:nvCxnSpPr>
          <p:spPr>
            <a:xfrm>
              <a:off x="5433382" y="5413218"/>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14690CA-5783-7BBE-598A-731D8615408F}"/>
                </a:ext>
              </a:extLst>
            </p:cNvPr>
            <p:cNvCxnSpPr/>
            <p:nvPr/>
          </p:nvCxnSpPr>
          <p:spPr>
            <a:xfrm>
              <a:off x="10833495" y="5426397"/>
              <a:ext cx="0" cy="3975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3991D09-5C99-C426-D4D9-8B0A062DA86A}"/>
                    </a:ext>
                  </a:extLst>
                </p:cNvPr>
                <p:cNvSpPr txBox="1"/>
                <p:nvPr/>
              </p:nvSpPr>
              <p:spPr>
                <a:xfrm>
                  <a:off x="1092149" y="5834791"/>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4" name="TextBox 13">
                  <a:extLst>
                    <a:ext uri="{FF2B5EF4-FFF2-40B4-BE49-F238E27FC236}">
                      <a16:creationId xmlns:a16="http://schemas.microsoft.com/office/drawing/2014/main" id="{43991D09-5C99-C426-D4D9-8B0A062DA86A}"/>
                    </a:ext>
                  </a:extLst>
                </p:cNvPr>
                <p:cNvSpPr txBox="1">
                  <a:spLocks noRot="1" noChangeAspect="1" noMove="1" noResize="1" noEditPoints="1" noAdjustHandles="1" noChangeArrowheads="1" noChangeShapeType="1" noTextEdit="1"/>
                </p:cNvSpPr>
                <p:nvPr/>
              </p:nvSpPr>
              <p:spPr>
                <a:xfrm>
                  <a:off x="1092149" y="5834791"/>
                  <a:ext cx="880509" cy="400109"/>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6DC3F43-34CE-F264-C5A3-E094EAFE8DBE}"/>
                    </a:ext>
                  </a:extLst>
                </p:cNvPr>
                <p:cNvSpPr txBox="1"/>
                <p:nvPr/>
              </p:nvSpPr>
              <p:spPr>
                <a:xfrm>
                  <a:off x="2916436" y="5851118"/>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96DC3F43-34CE-F264-C5A3-E094EAFE8DBE}"/>
                    </a:ext>
                  </a:extLst>
                </p:cNvPr>
                <p:cNvSpPr txBox="1">
                  <a:spLocks noRot="1" noChangeAspect="1" noMove="1" noResize="1" noEditPoints="1" noAdjustHandles="1" noChangeArrowheads="1" noChangeShapeType="1" noTextEdit="1"/>
                </p:cNvSpPr>
                <p:nvPr/>
              </p:nvSpPr>
              <p:spPr>
                <a:xfrm>
                  <a:off x="2916436" y="5851118"/>
                  <a:ext cx="880509" cy="400109"/>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526CBC9-C604-7054-C12F-D03A1A79F0C6}"/>
                    </a:ext>
                  </a:extLst>
                </p:cNvPr>
                <p:cNvSpPr txBox="1"/>
                <p:nvPr/>
              </p:nvSpPr>
              <p:spPr>
                <a:xfrm>
                  <a:off x="5015230" y="5832842"/>
                  <a:ext cx="880509"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0526CBC9-C604-7054-C12F-D03A1A79F0C6}"/>
                    </a:ext>
                  </a:extLst>
                </p:cNvPr>
                <p:cNvSpPr txBox="1">
                  <a:spLocks noRot="1" noChangeAspect="1" noMove="1" noResize="1" noEditPoints="1" noAdjustHandles="1" noChangeArrowheads="1" noChangeShapeType="1" noTextEdit="1"/>
                </p:cNvSpPr>
                <p:nvPr/>
              </p:nvSpPr>
              <p:spPr>
                <a:xfrm>
                  <a:off x="5015230" y="5832842"/>
                  <a:ext cx="880509" cy="400109"/>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257B6AF-A217-4344-2680-E577C57DC619}"/>
                    </a:ext>
                  </a:extLst>
                </p:cNvPr>
                <p:cNvSpPr txBox="1"/>
                <p:nvPr/>
              </p:nvSpPr>
              <p:spPr>
                <a:xfrm>
                  <a:off x="10430945" y="5839041"/>
                  <a:ext cx="880509" cy="670697"/>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=10</m:t>
                        </m:r>
                      </m:oMath>
                    </m:oMathPara>
                  </a14:m>
                  <a:endParaRPr lang="en-GB" sz="1350" dirty="0">
                    <a:solidFill>
                      <a:prstClr val="black"/>
                    </a:solidFill>
                    <a:latin typeface="Calibri" panose="020F0502020204030204"/>
                    <a:ea typeface="+mn-ea"/>
                  </a:endParaRPr>
                </a:p>
              </p:txBody>
            </p:sp>
          </mc:Choice>
          <mc:Fallback xmlns="">
            <p:sp>
              <p:nvSpPr>
                <p:cNvPr id="17" name="TextBox 16">
                  <a:extLst>
                    <a:ext uri="{FF2B5EF4-FFF2-40B4-BE49-F238E27FC236}">
                      <a16:creationId xmlns:a16="http://schemas.microsoft.com/office/drawing/2014/main" id="{9257B6AF-A217-4344-2680-E577C57DC619}"/>
                    </a:ext>
                  </a:extLst>
                </p:cNvPr>
                <p:cNvSpPr txBox="1">
                  <a:spLocks noRot="1" noChangeAspect="1" noMove="1" noResize="1" noEditPoints="1" noAdjustHandles="1" noChangeArrowheads="1" noChangeShapeType="1" noTextEdit="1"/>
                </p:cNvSpPr>
                <p:nvPr/>
              </p:nvSpPr>
              <p:spPr>
                <a:xfrm>
                  <a:off x="10430945" y="5839041"/>
                  <a:ext cx="880509" cy="670697"/>
                </a:xfrm>
                <a:prstGeom prst="rect">
                  <a:avLst/>
                </a:prstGeom>
                <a:blipFill>
                  <a:blip r:embed="rId6"/>
                  <a:stretch>
                    <a:fillRect/>
                  </a:stretch>
                </a:blipFill>
                <a:ln>
                  <a:noFill/>
                </a:ln>
              </p:spPr>
              <p:txBody>
                <a:bodyPr/>
                <a:lstStyle/>
                <a:p>
                  <a:r>
                    <a:rPr lang="en-GB">
                      <a:noFill/>
                    </a:rPr>
                    <a:t> </a:t>
                  </a:r>
                </a:p>
              </p:txBody>
            </p:sp>
          </mc:Fallback>
        </mc:AlternateContent>
        <p:cxnSp>
          <p:nvCxnSpPr>
            <p:cNvPr id="19" name="Straight Connector 18">
              <a:extLst>
                <a:ext uri="{FF2B5EF4-FFF2-40B4-BE49-F238E27FC236}">
                  <a16:creationId xmlns:a16="http://schemas.microsoft.com/office/drawing/2014/main" id="{318D68AF-EF78-D042-F5F7-A4A2AB3D6E84}"/>
                </a:ext>
              </a:extLst>
            </p:cNvPr>
            <p:cNvCxnSpPr>
              <a:cxnSpLocks/>
            </p:cNvCxnSpPr>
            <p:nvPr/>
          </p:nvCxnSpPr>
          <p:spPr>
            <a:xfrm>
              <a:off x="7487688" y="5427543"/>
              <a:ext cx="0" cy="4257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2F800A8-DF81-5BFD-4666-5162696CF044}"/>
                    </a:ext>
                  </a:extLst>
                </p:cNvPr>
                <p:cNvSpPr txBox="1"/>
                <p:nvPr/>
              </p:nvSpPr>
              <p:spPr>
                <a:xfrm>
                  <a:off x="7110979" y="5832842"/>
                  <a:ext cx="841131"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20" name="TextBox 19">
                  <a:extLst>
                    <a:ext uri="{FF2B5EF4-FFF2-40B4-BE49-F238E27FC236}">
                      <a16:creationId xmlns:a16="http://schemas.microsoft.com/office/drawing/2014/main" id="{72F800A8-DF81-5BFD-4666-5162696CF044}"/>
                    </a:ext>
                  </a:extLst>
                </p:cNvPr>
                <p:cNvSpPr txBox="1">
                  <a:spLocks noRot="1" noChangeAspect="1" noMove="1" noResize="1" noEditPoints="1" noAdjustHandles="1" noChangeArrowheads="1" noChangeShapeType="1" noTextEdit="1"/>
                </p:cNvSpPr>
                <p:nvPr/>
              </p:nvSpPr>
              <p:spPr>
                <a:xfrm>
                  <a:off x="7110979" y="5832842"/>
                  <a:ext cx="841131" cy="400109"/>
                </a:xfrm>
                <a:prstGeom prst="rect">
                  <a:avLst/>
                </a:prstGeom>
                <a:blipFill>
                  <a:blip r:embed="rId7"/>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76DD1A-A8B6-3409-009B-4790571FF2C9}"/>
                    </a:ext>
                  </a:extLst>
                </p:cNvPr>
                <p:cNvSpPr txBox="1"/>
                <p:nvPr/>
              </p:nvSpPr>
              <p:spPr>
                <a:xfrm>
                  <a:off x="8339819" y="5746412"/>
                  <a:ext cx="841131" cy="400109"/>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m:t>
                        </m:r>
                      </m:oMath>
                    </m:oMathPara>
                  </a14:m>
                  <a:endParaRPr lang="en-GB" sz="1350" dirty="0">
                    <a:solidFill>
                      <a:prstClr val="black"/>
                    </a:solidFill>
                    <a:latin typeface="Calibri" panose="020F0502020204030204"/>
                    <a:ea typeface="+mn-ea"/>
                  </a:endParaRPr>
                </a:p>
              </p:txBody>
            </p:sp>
          </mc:Choice>
          <mc:Fallback xmlns="">
            <p:sp>
              <p:nvSpPr>
                <p:cNvPr id="22" name="TextBox 21">
                  <a:extLst>
                    <a:ext uri="{FF2B5EF4-FFF2-40B4-BE49-F238E27FC236}">
                      <a16:creationId xmlns:a16="http://schemas.microsoft.com/office/drawing/2014/main" id="{CE76DD1A-A8B6-3409-009B-4790571FF2C9}"/>
                    </a:ext>
                  </a:extLst>
                </p:cNvPr>
                <p:cNvSpPr txBox="1">
                  <a:spLocks noRot="1" noChangeAspect="1" noMove="1" noResize="1" noEditPoints="1" noAdjustHandles="1" noChangeArrowheads="1" noChangeShapeType="1" noTextEdit="1"/>
                </p:cNvSpPr>
                <p:nvPr/>
              </p:nvSpPr>
              <p:spPr>
                <a:xfrm>
                  <a:off x="8339819" y="5746412"/>
                  <a:ext cx="841131" cy="400109"/>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F52FF9C-CCE4-2492-3DD9-1E86BD49729A}"/>
                    </a:ext>
                  </a:extLst>
                </p:cNvPr>
                <p:cNvSpPr txBox="1"/>
                <p:nvPr/>
              </p:nvSpPr>
              <p:spPr>
                <a:xfrm>
                  <a:off x="2700760" y="5050265"/>
                  <a:ext cx="1401411" cy="492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£10,000</m:t>
                        </m:r>
                      </m:oMath>
                    </m:oMathPara>
                  </a14:m>
                  <a:endParaRPr lang="en-GB" dirty="0"/>
                </a:p>
              </p:txBody>
            </p:sp>
          </mc:Choice>
          <mc:Fallback xmlns="">
            <p:sp>
              <p:nvSpPr>
                <p:cNvPr id="23" name="TextBox 22">
                  <a:extLst>
                    <a:ext uri="{FF2B5EF4-FFF2-40B4-BE49-F238E27FC236}">
                      <a16:creationId xmlns:a16="http://schemas.microsoft.com/office/drawing/2014/main" id="{5F52FF9C-CCE4-2492-3DD9-1E86BD49729A}"/>
                    </a:ext>
                  </a:extLst>
                </p:cNvPr>
                <p:cNvSpPr txBox="1">
                  <a:spLocks noRot="1" noChangeAspect="1" noMove="1" noResize="1" noEditPoints="1" noAdjustHandles="1" noChangeArrowheads="1" noChangeShapeType="1" noTextEdit="1"/>
                </p:cNvSpPr>
                <p:nvPr/>
              </p:nvSpPr>
              <p:spPr>
                <a:xfrm>
                  <a:off x="2700760" y="5050265"/>
                  <a:ext cx="1401411" cy="492443"/>
                </a:xfrm>
                <a:prstGeom prst="rect">
                  <a:avLst/>
                </a:prstGeom>
                <a:blipFill>
                  <a:blip r:embed="rId9"/>
                  <a:stretch>
                    <a:fillRect/>
                  </a:stretch>
                </a:blipFill>
              </p:spPr>
              <p:txBody>
                <a:bodyPr/>
                <a:lstStyle/>
                <a:p>
                  <a:r>
                    <a:rPr lang="en-GB">
                      <a:noFill/>
                    </a:rPr>
                    <a:t> </a:t>
                  </a:r>
                </a:p>
              </p:txBody>
            </p:sp>
          </mc:Fallback>
        </mc:AlternateContent>
      </p:grpSp>
      <p:sp>
        <p:nvSpPr>
          <p:cNvPr id="24" name="TextBox 23">
            <a:extLst>
              <a:ext uri="{FF2B5EF4-FFF2-40B4-BE49-F238E27FC236}">
                <a16:creationId xmlns:a16="http://schemas.microsoft.com/office/drawing/2014/main" id="{D715F56E-C3F2-55A0-75CC-90B6C3A0065E}"/>
              </a:ext>
            </a:extLst>
          </p:cNvPr>
          <p:cNvSpPr txBox="1"/>
          <p:nvPr/>
        </p:nvSpPr>
        <p:spPr>
          <a:xfrm>
            <a:off x="253301" y="3464706"/>
            <a:ext cx="7585324" cy="307777"/>
          </a:xfrm>
          <a:prstGeom prst="rect">
            <a:avLst/>
          </a:prstGeom>
          <a:noFill/>
        </p:spPr>
        <p:txBody>
          <a:bodyPr wrap="square">
            <a:spAutoFit/>
          </a:bodyPr>
          <a:lstStyle/>
          <a:p>
            <a:pPr marL="0" lvl="1">
              <a:spcBef>
                <a:spcPts val="0"/>
              </a:spcBef>
              <a:spcAft>
                <a:spcPts val="900"/>
              </a:spcAft>
              <a:buClr>
                <a:srgbClr val="C00000"/>
              </a:buClr>
              <a:buSzPct val="90000"/>
            </a:pPr>
            <a:r>
              <a:rPr lang="en-GB" sz="1400" i="1" u="sng" dirty="0">
                <a:ea typeface="Cambria Math" panose="02040503050406030204" pitchFamily="18" charset="0"/>
              </a:rPr>
              <a:t>Apt 1 timeline</a:t>
            </a:r>
            <a:endParaRPr lang="en-GB" sz="1400" u="sng" dirty="0">
              <a:ea typeface="Cambria Math" panose="02040503050406030204" pitchFamily="18" charset="0"/>
            </a:endParaRPr>
          </a:p>
        </p:txBody>
      </p:sp>
      <p:grpSp>
        <p:nvGrpSpPr>
          <p:cNvPr id="28" name="Group 27">
            <a:extLst>
              <a:ext uri="{FF2B5EF4-FFF2-40B4-BE49-F238E27FC236}">
                <a16:creationId xmlns:a16="http://schemas.microsoft.com/office/drawing/2014/main" id="{951524F0-0BCF-0A5F-CD15-B08C9D321160}"/>
              </a:ext>
            </a:extLst>
          </p:cNvPr>
          <p:cNvGrpSpPr/>
          <p:nvPr/>
        </p:nvGrpSpPr>
        <p:grpSpPr>
          <a:xfrm>
            <a:off x="2616265" y="4590033"/>
            <a:ext cx="1557519" cy="703237"/>
            <a:chOff x="3401468" y="4494300"/>
            <a:chExt cx="2076692" cy="937649"/>
          </a:xfrm>
        </p:grpSpPr>
        <p:sp>
          <p:nvSpPr>
            <p:cNvPr id="26" name="Arc 25">
              <a:extLst>
                <a:ext uri="{FF2B5EF4-FFF2-40B4-BE49-F238E27FC236}">
                  <a16:creationId xmlns:a16="http://schemas.microsoft.com/office/drawing/2014/main" id="{78FE8D5D-D5FC-9596-BB14-9D06FFB2303C}"/>
                </a:ext>
              </a:extLst>
            </p:cNvPr>
            <p:cNvSpPr/>
            <p:nvPr/>
          </p:nvSpPr>
          <p:spPr>
            <a:xfrm rot="10800000" flipV="1">
              <a:off x="3401468" y="4494300"/>
              <a:ext cx="2076692" cy="937649"/>
            </a:xfrm>
            <a:prstGeom prst="arc">
              <a:avLst>
                <a:gd name="adj1" fmla="val 11179031"/>
                <a:gd name="adj2" fmla="val 21332142"/>
              </a:avLst>
            </a:prstGeom>
            <a:ln w="19050">
              <a:headEnd type="arrow" w="lg" len="lg"/>
              <a:tailEnd type="none"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5B6CEE5D-1EA2-1826-9152-16A5AE766366}"/>
                    </a:ext>
                  </a:extLst>
                </p:cNvPr>
                <p:cNvSpPr/>
                <p:nvPr/>
              </p:nvSpPr>
              <p:spPr>
                <a:xfrm>
                  <a:off x="3787575" y="4559759"/>
                  <a:ext cx="132121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i="1">
                            <a:solidFill>
                              <a:schemeClr val="accent5">
                                <a:lumMod val="75000"/>
                              </a:schemeClr>
                            </a:solidFill>
                            <a:latin typeface="Cambria Math" panose="02040503050406030204" pitchFamily="18" charset="0"/>
                            <a:ea typeface="Cambria Math" panose="02040503050406030204" pitchFamily="18" charset="0"/>
                          </a:rPr>
                          <m:t>×(1+5%)</m:t>
                        </m:r>
                      </m:oMath>
                    </m:oMathPara>
                  </a14:m>
                  <a:endParaRPr lang="en-GB" sz="1200" dirty="0"/>
                </a:p>
              </p:txBody>
            </p:sp>
          </mc:Choice>
          <mc:Fallback xmlns="">
            <p:sp>
              <p:nvSpPr>
                <p:cNvPr id="27" name="Rectangle 26">
                  <a:extLst>
                    <a:ext uri="{FF2B5EF4-FFF2-40B4-BE49-F238E27FC236}">
                      <a16:creationId xmlns:a16="http://schemas.microsoft.com/office/drawing/2014/main" id="{5B6CEE5D-1EA2-1826-9152-16A5AE766366}"/>
                    </a:ext>
                  </a:extLst>
                </p:cNvPr>
                <p:cNvSpPr>
                  <a:spLocks noRot="1" noChangeAspect="1" noMove="1" noResize="1" noEditPoints="1" noAdjustHandles="1" noChangeArrowheads="1" noChangeShapeType="1" noTextEdit="1"/>
                </p:cNvSpPr>
                <p:nvPr/>
              </p:nvSpPr>
              <p:spPr>
                <a:xfrm>
                  <a:off x="3787575" y="4559759"/>
                  <a:ext cx="1321216" cy="369332"/>
                </a:xfrm>
                <a:prstGeom prst="rect">
                  <a:avLst/>
                </a:prstGeom>
                <a:blipFill>
                  <a:blip r:embed="rId10"/>
                  <a:stretch>
                    <a:fillRect b="-11111"/>
                  </a:stretch>
                </a:blipFill>
              </p:spPr>
              <p:txBody>
                <a:bodyPr/>
                <a:lstStyle/>
                <a:p>
                  <a:r>
                    <a:rPr lang="en-GB">
                      <a:noFill/>
                    </a:rPr>
                    <a:t> </a:t>
                  </a:r>
                </a:p>
              </p:txBody>
            </p:sp>
          </mc:Fallback>
        </mc:AlternateContent>
      </p:grpSp>
      <p:grpSp>
        <p:nvGrpSpPr>
          <p:cNvPr id="29" name="Group 28">
            <a:extLst>
              <a:ext uri="{FF2B5EF4-FFF2-40B4-BE49-F238E27FC236}">
                <a16:creationId xmlns:a16="http://schemas.microsoft.com/office/drawing/2014/main" id="{C29A9D30-E09F-C8E9-59EA-0D726DB07526}"/>
              </a:ext>
            </a:extLst>
          </p:cNvPr>
          <p:cNvGrpSpPr/>
          <p:nvPr/>
        </p:nvGrpSpPr>
        <p:grpSpPr>
          <a:xfrm>
            <a:off x="4229278" y="4616635"/>
            <a:ext cx="1557519" cy="703237"/>
            <a:chOff x="3401468" y="4494300"/>
            <a:chExt cx="2076692" cy="937649"/>
          </a:xfrm>
        </p:grpSpPr>
        <p:sp>
          <p:nvSpPr>
            <p:cNvPr id="30" name="Arc 29">
              <a:extLst>
                <a:ext uri="{FF2B5EF4-FFF2-40B4-BE49-F238E27FC236}">
                  <a16:creationId xmlns:a16="http://schemas.microsoft.com/office/drawing/2014/main" id="{B67C951C-D4B8-89D9-3A91-409EE075B16E}"/>
                </a:ext>
              </a:extLst>
            </p:cNvPr>
            <p:cNvSpPr/>
            <p:nvPr/>
          </p:nvSpPr>
          <p:spPr>
            <a:xfrm rot="10800000" flipV="1">
              <a:off x="3401468" y="4494300"/>
              <a:ext cx="2076692" cy="937649"/>
            </a:xfrm>
            <a:prstGeom prst="arc">
              <a:avLst>
                <a:gd name="adj1" fmla="val 11179031"/>
                <a:gd name="adj2" fmla="val 21332142"/>
              </a:avLst>
            </a:prstGeom>
            <a:ln w="19050">
              <a:headEnd type="arrow" w="lg" len="lg"/>
              <a:tailEnd type="none"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E71CD0C-52DE-48A7-2A57-93B5AEB5A57B}"/>
                    </a:ext>
                  </a:extLst>
                </p:cNvPr>
                <p:cNvSpPr/>
                <p:nvPr/>
              </p:nvSpPr>
              <p:spPr>
                <a:xfrm>
                  <a:off x="3787575" y="4559759"/>
                  <a:ext cx="132121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i="1">
                            <a:solidFill>
                              <a:schemeClr val="accent5">
                                <a:lumMod val="75000"/>
                              </a:schemeClr>
                            </a:solidFill>
                            <a:latin typeface="Cambria Math" panose="02040503050406030204" pitchFamily="18" charset="0"/>
                            <a:ea typeface="Cambria Math" panose="02040503050406030204" pitchFamily="18" charset="0"/>
                          </a:rPr>
                          <m:t>×(1+5%)</m:t>
                        </m:r>
                      </m:oMath>
                    </m:oMathPara>
                  </a14:m>
                  <a:endParaRPr lang="en-GB" sz="1200" dirty="0"/>
                </a:p>
              </p:txBody>
            </p:sp>
          </mc:Choice>
          <mc:Fallback xmlns="">
            <p:sp>
              <p:nvSpPr>
                <p:cNvPr id="31" name="Rectangle 30">
                  <a:extLst>
                    <a:ext uri="{FF2B5EF4-FFF2-40B4-BE49-F238E27FC236}">
                      <a16:creationId xmlns:a16="http://schemas.microsoft.com/office/drawing/2014/main" id="{EE71CD0C-52DE-48A7-2A57-93B5AEB5A57B}"/>
                    </a:ext>
                  </a:extLst>
                </p:cNvPr>
                <p:cNvSpPr>
                  <a:spLocks noRot="1" noChangeAspect="1" noMove="1" noResize="1" noEditPoints="1" noAdjustHandles="1" noChangeArrowheads="1" noChangeShapeType="1" noTextEdit="1"/>
                </p:cNvSpPr>
                <p:nvPr/>
              </p:nvSpPr>
              <p:spPr>
                <a:xfrm>
                  <a:off x="3787575" y="4559759"/>
                  <a:ext cx="1321216" cy="369332"/>
                </a:xfrm>
                <a:prstGeom prst="rect">
                  <a:avLst/>
                </a:prstGeom>
                <a:blipFill>
                  <a:blip r:embed="rId11"/>
                  <a:stretch>
                    <a:fillRect b="-8696"/>
                  </a:stretch>
                </a:blipFill>
              </p:spPr>
              <p:txBody>
                <a:bodyPr/>
                <a:lstStyle/>
                <a:p>
                  <a:r>
                    <a:rPr lang="en-GB">
                      <a:noFill/>
                    </a:rPr>
                    <a:t> </a:t>
                  </a:r>
                </a:p>
              </p:txBody>
            </p:sp>
          </mc:Fallback>
        </mc:AlternateContent>
      </p:grpSp>
      <p:grpSp>
        <p:nvGrpSpPr>
          <p:cNvPr id="32" name="Group 31">
            <a:extLst>
              <a:ext uri="{FF2B5EF4-FFF2-40B4-BE49-F238E27FC236}">
                <a16:creationId xmlns:a16="http://schemas.microsoft.com/office/drawing/2014/main" id="{A1D4D035-ADB0-DC66-D852-83CBAC900EBC}"/>
              </a:ext>
            </a:extLst>
          </p:cNvPr>
          <p:cNvGrpSpPr/>
          <p:nvPr/>
        </p:nvGrpSpPr>
        <p:grpSpPr>
          <a:xfrm>
            <a:off x="6632766" y="4585869"/>
            <a:ext cx="1557519" cy="703237"/>
            <a:chOff x="3401468" y="4494300"/>
            <a:chExt cx="2076692" cy="937649"/>
          </a:xfrm>
        </p:grpSpPr>
        <p:sp>
          <p:nvSpPr>
            <p:cNvPr id="33" name="Arc 32">
              <a:extLst>
                <a:ext uri="{FF2B5EF4-FFF2-40B4-BE49-F238E27FC236}">
                  <a16:creationId xmlns:a16="http://schemas.microsoft.com/office/drawing/2014/main" id="{BCFEBC87-B02B-42B9-BAA5-F91E9593652A}"/>
                </a:ext>
              </a:extLst>
            </p:cNvPr>
            <p:cNvSpPr/>
            <p:nvPr/>
          </p:nvSpPr>
          <p:spPr>
            <a:xfrm rot="10800000" flipV="1">
              <a:off x="3401468" y="4494300"/>
              <a:ext cx="2076692" cy="937649"/>
            </a:xfrm>
            <a:prstGeom prst="arc">
              <a:avLst>
                <a:gd name="adj1" fmla="val 11179031"/>
                <a:gd name="adj2" fmla="val 21332142"/>
              </a:avLst>
            </a:prstGeom>
            <a:ln w="19050">
              <a:headEnd type="arrow" w="lg" len="lg"/>
              <a:tailEnd type="none"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AE09857F-59D4-FB84-591F-9777F36B855E}"/>
                    </a:ext>
                  </a:extLst>
                </p:cNvPr>
                <p:cNvSpPr/>
                <p:nvPr/>
              </p:nvSpPr>
              <p:spPr>
                <a:xfrm>
                  <a:off x="3787575" y="4559759"/>
                  <a:ext cx="132121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200" i="1">
                            <a:solidFill>
                              <a:schemeClr val="accent5">
                                <a:lumMod val="75000"/>
                              </a:schemeClr>
                            </a:solidFill>
                            <a:latin typeface="Cambria Math" panose="02040503050406030204" pitchFamily="18" charset="0"/>
                            <a:ea typeface="Cambria Math" panose="02040503050406030204" pitchFamily="18" charset="0"/>
                          </a:rPr>
                          <m:t>×(1+5%)</m:t>
                        </m:r>
                      </m:oMath>
                    </m:oMathPara>
                  </a14:m>
                  <a:endParaRPr lang="en-GB" sz="1200" dirty="0"/>
                </a:p>
              </p:txBody>
            </p:sp>
          </mc:Choice>
          <mc:Fallback xmlns="">
            <p:sp>
              <p:nvSpPr>
                <p:cNvPr id="34" name="Rectangle 33">
                  <a:extLst>
                    <a:ext uri="{FF2B5EF4-FFF2-40B4-BE49-F238E27FC236}">
                      <a16:creationId xmlns:a16="http://schemas.microsoft.com/office/drawing/2014/main" id="{AE09857F-59D4-FB84-591F-9777F36B855E}"/>
                    </a:ext>
                  </a:extLst>
                </p:cNvPr>
                <p:cNvSpPr>
                  <a:spLocks noRot="1" noChangeAspect="1" noMove="1" noResize="1" noEditPoints="1" noAdjustHandles="1" noChangeArrowheads="1" noChangeShapeType="1" noTextEdit="1"/>
                </p:cNvSpPr>
                <p:nvPr/>
              </p:nvSpPr>
              <p:spPr>
                <a:xfrm>
                  <a:off x="3787575" y="4559759"/>
                  <a:ext cx="1321216" cy="369332"/>
                </a:xfrm>
                <a:prstGeom prst="rect">
                  <a:avLst/>
                </a:prstGeom>
                <a:blipFill>
                  <a:blip r:embed="rId10"/>
                  <a:stretch>
                    <a:fillRect b="-8696"/>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2B42B41-959B-734F-5404-23005D7928BA}"/>
                  </a:ext>
                </a:extLst>
              </p:cNvPr>
              <p:cNvSpPr txBox="1"/>
              <p:nvPr/>
            </p:nvSpPr>
            <p:spPr>
              <a:xfrm>
                <a:off x="7476705" y="4919696"/>
                <a:ext cx="1557241" cy="457433"/>
              </a:xfrm>
              <a:prstGeom prst="rect">
                <a:avLst/>
              </a:prstGeom>
              <a:noFill/>
            </p:spPr>
            <p:txBody>
              <a:bodyPr wrap="square" rtlCol="0">
                <a:spAutoFit/>
              </a:bodyPr>
              <a:lstStyle/>
              <a:p>
                <a14:m>
                  <m:oMath xmlns:m="http://schemas.openxmlformats.org/officeDocument/2006/math">
                    <m:r>
                      <a:rPr lang="en-GB" sz="1200" i="1">
                        <a:latin typeface="Cambria Math" panose="02040503050406030204" pitchFamily="18" charset="0"/>
                      </a:rPr>
                      <m:t>£10,000</m:t>
                    </m:r>
                    <m:r>
                      <a:rPr lang="en-GB" sz="12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2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ea typeface="Cambria Math" panose="02040503050406030204" pitchFamily="18" charset="0"/>
                              </a:rPr>
                            </m:ctrlPr>
                          </m:dPr>
                          <m:e>
                            <m:r>
                              <a:rPr lang="en-GB" sz="1200" i="1">
                                <a:solidFill>
                                  <a:schemeClr val="accent5">
                                    <a:lumMod val="75000"/>
                                  </a:schemeClr>
                                </a:solidFill>
                                <a:latin typeface="Cambria Math" panose="02040503050406030204" pitchFamily="18" charset="0"/>
                                <a:ea typeface="Cambria Math" panose="02040503050406030204" pitchFamily="18" charset="0"/>
                              </a:rPr>
                              <m:t>1+5%</m:t>
                            </m:r>
                          </m:e>
                        </m:d>
                      </m:e>
                      <m:sup>
                        <m:r>
                          <a:rPr lang="en-GB" sz="1200">
                            <a:solidFill>
                              <a:schemeClr val="accent5">
                                <a:lumMod val="75000"/>
                              </a:schemeClr>
                            </a:solidFill>
                            <a:latin typeface="Cambria Math" panose="02040503050406030204" pitchFamily="18" charset="0"/>
                            <a:ea typeface="Cambria Math" panose="02040503050406030204" pitchFamily="18" charset="0"/>
                          </a:rPr>
                          <m:t>9</m:t>
                        </m:r>
                      </m:sup>
                    </m:sSup>
                  </m:oMath>
                </a14:m>
                <a:r>
                  <a:rPr lang="en-GB" sz="1200" dirty="0"/>
                  <a:t> </a:t>
                </a:r>
              </a:p>
            </p:txBody>
          </p:sp>
        </mc:Choice>
        <mc:Fallback xmlns="">
          <p:sp>
            <p:nvSpPr>
              <p:cNvPr id="35" name="TextBox 34">
                <a:extLst>
                  <a:ext uri="{FF2B5EF4-FFF2-40B4-BE49-F238E27FC236}">
                    <a16:creationId xmlns:a16="http://schemas.microsoft.com/office/drawing/2014/main" id="{92B42B41-959B-734F-5404-23005D7928BA}"/>
                  </a:ext>
                </a:extLst>
              </p:cNvPr>
              <p:cNvSpPr txBox="1">
                <a:spLocks noRot="1" noChangeAspect="1" noMove="1" noResize="1" noEditPoints="1" noAdjustHandles="1" noChangeArrowheads="1" noChangeShapeType="1" noTextEdit="1"/>
              </p:cNvSpPr>
              <p:nvPr/>
            </p:nvSpPr>
            <p:spPr>
              <a:xfrm>
                <a:off x="7476705" y="4919696"/>
                <a:ext cx="1557241" cy="457433"/>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B9D9591-3803-6554-0EE9-3DC1C344AB8E}"/>
                  </a:ext>
                </a:extLst>
              </p:cNvPr>
              <p:cNvSpPr txBox="1"/>
              <p:nvPr/>
            </p:nvSpPr>
            <p:spPr>
              <a:xfrm>
                <a:off x="3221310" y="4882978"/>
                <a:ext cx="165006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£10,000</m:t>
                      </m:r>
                      <m:r>
                        <a:rPr lang="en-GB" sz="1200" i="1">
                          <a:solidFill>
                            <a:schemeClr val="accent5">
                              <a:lumMod val="75000"/>
                            </a:schemeClr>
                          </a:solidFill>
                          <a:latin typeface="Cambria Math" panose="02040503050406030204" pitchFamily="18" charset="0"/>
                          <a:ea typeface="Cambria Math" panose="02040503050406030204" pitchFamily="18" charset="0"/>
                        </a:rPr>
                        <m:t>×(1+5%)</m:t>
                      </m:r>
                    </m:oMath>
                  </m:oMathPara>
                </a14:m>
                <a:endParaRPr lang="en-GB" sz="1200" dirty="0"/>
              </a:p>
            </p:txBody>
          </p:sp>
        </mc:Choice>
        <mc:Fallback xmlns="">
          <p:sp>
            <p:nvSpPr>
              <p:cNvPr id="36" name="TextBox 35">
                <a:extLst>
                  <a:ext uri="{FF2B5EF4-FFF2-40B4-BE49-F238E27FC236}">
                    <a16:creationId xmlns:a16="http://schemas.microsoft.com/office/drawing/2014/main" id="{AB9D9591-3803-6554-0EE9-3DC1C344AB8E}"/>
                  </a:ext>
                </a:extLst>
              </p:cNvPr>
              <p:cNvSpPr txBox="1">
                <a:spLocks noRot="1" noChangeAspect="1" noMove="1" noResize="1" noEditPoints="1" noAdjustHandles="1" noChangeArrowheads="1" noChangeShapeType="1" noTextEdit="1"/>
              </p:cNvSpPr>
              <p:nvPr/>
            </p:nvSpPr>
            <p:spPr>
              <a:xfrm>
                <a:off x="3221310" y="4882978"/>
                <a:ext cx="1650066" cy="276999"/>
              </a:xfrm>
              <a:prstGeom prst="rect">
                <a:avLst/>
              </a:prstGeom>
              <a:blipFill>
                <a:blip r:embed="rId13"/>
                <a:stretch>
                  <a:fillRect b="-111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25F1477-A982-2127-61DF-E4ED785FC4F0}"/>
                  </a:ext>
                </a:extLst>
              </p:cNvPr>
              <p:cNvSpPr txBox="1"/>
              <p:nvPr/>
            </p:nvSpPr>
            <p:spPr>
              <a:xfrm>
                <a:off x="4975341" y="4878351"/>
                <a:ext cx="1557241" cy="4574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latin typeface="Cambria Math" panose="02040503050406030204" pitchFamily="18" charset="0"/>
                        </a:rPr>
                        <m:t>£10,000</m:t>
                      </m:r>
                      <m:r>
                        <a:rPr lang="en-GB" sz="12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2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ea typeface="Cambria Math" panose="02040503050406030204" pitchFamily="18" charset="0"/>
                                </a:rPr>
                              </m:ctrlPr>
                            </m:dPr>
                            <m:e>
                              <m:r>
                                <a:rPr lang="en-GB" sz="1200" i="1">
                                  <a:solidFill>
                                    <a:schemeClr val="accent5">
                                      <a:lumMod val="75000"/>
                                    </a:schemeClr>
                                  </a:solidFill>
                                  <a:latin typeface="Cambria Math" panose="02040503050406030204" pitchFamily="18" charset="0"/>
                                  <a:ea typeface="Cambria Math" panose="02040503050406030204" pitchFamily="18" charset="0"/>
                                </a:rPr>
                                <m:t>1+5%</m:t>
                              </m:r>
                            </m:e>
                          </m:d>
                        </m:e>
                        <m:sup>
                          <m:r>
                            <a:rPr lang="en-GB" sz="1200" i="1">
                              <a:solidFill>
                                <a:schemeClr val="accent5">
                                  <a:lumMod val="75000"/>
                                </a:schemeClr>
                              </a:solidFill>
                              <a:latin typeface="Cambria Math" panose="02040503050406030204" pitchFamily="18" charset="0"/>
                              <a:ea typeface="Cambria Math" panose="02040503050406030204" pitchFamily="18" charset="0"/>
                            </a:rPr>
                            <m:t>2</m:t>
                          </m:r>
                        </m:sup>
                      </m:sSup>
                    </m:oMath>
                  </m:oMathPara>
                </a14:m>
                <a:endParaRPr lang="en-GB" sz="1200" dirty="0"/>
              </a:p>
            </p:txBody>
          </p:sp>
        </mc:Choice>
        <mc:Fallback xmlns="">
          <p:sp>
            <p:nvSpPr>
              <p:cNvPr id="37" name="TextBox 36">
                <a:extLst>
                  <a:ext uri="{FF2B5EF4-FFF2-40B4-BE49-F238E27FC236}">
                    <a16:creationId xmlns:a16="http://schemas.microsoft.com/office/drawing/2014/main" id="{725F1477-A982-2127-61DF-E4ED785FC4F0}"/>
                  </a:ext>
                </a:extLst>
              </p:cNvPr>
              <p:cNvSpPr txBox="1">
                <a:spLocks noRot="1" noChangeAspect="1" noMove="1" noResize="1" noEditPoints="1" noAdjustHandles="1" noChangeArrowheads="1" noChangeShapeType="1" noTextEdit="1"/>
              </p:cNvSpPr>
              <p:nvPr/>
            </p:nvSpPr>
            <p:spPr>
              <a:xfrm>
                <a:off x="4975341" y="4878351"/>
                <a:ext cx="1557241" cy="457433"/>
              </a:xfrm>
              <a:prstGeom prst="rect">
                <a:avLst/>
              </a:prstGeom>
              <a:blipFill>
                <a:blip r:embed="rId14"/>
                <a:stretch>
                  <a:fillRect/>
                </a:stretch>
              </a:blipFill>
            </p:spPr>
            <p:txBody>
              <a:bodyPr/>
              <a:lstStyle/>
              <a:p>
                <a:r>
                  <a:rPr lang="en-GB">
                    <a:noFill/>
                  </a:rPr>
                  <a:t> </a:t>
                </a:r>
              </a:p>
            </p:txBody>
          </p:sp>
        </mc:Fallback>
      </mc:AlternateContent>
      <p:grpSp>
        <p:nvGrpSpPr>
          <p:cNvPr id="38" name="Group 37">
            <a:extLst>
              <a:ext uri="{FF2B5EF4-FFF2-40B4-BE49-F238E27FC236}">
                <a16:creationId xmlns:a16="http://schemas.microsoft.com/office/drawing/2014/main" id="{7652D9B2-2C1D-E935-27B6-79BC5162E357}"/>
              </a:ext>
            </a:extLst>
          </p:cNvPr>
          <p:cNvGrpSpPr/>
          <p:nvPr/>
        </p:nvGrpSpPr>
        <p:grpSpPr>
          <a:xfrm>
            <a:off x="1144263" y="4410994"/>
            <a:ext cx="1452432" cy="463750"/>
            <a:chOff x="1436814" y="4148600"/>
            <a:chExt cx="1936576" cy="618332"/>
          </a:xfrm>
        </p:grpSpPr>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BAF964A-9271-34BD-BF20-26134EF68E0F}"/>
                    </a:ext>
                  </a:extLst>
                </p:cNvPr>
                <p:cNvSpPr txBox="1"/>
                <p:nvPr/>
              </p:nvSpPr>
              <p:spPr>
                <a:xfrm>
                  <a:off x="1516047" y="4157023"/>
                  <a:ext cx="1401411" cy="6099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−1</m:t>
                            </m:r>
                          </m:sup>
                        </m:sSup>
                      </m:oMath>
                    </m:oMathPara>
                  </a14:m>
                  <a:endParaRPr lang="en-GB" sz="1200" dirty="0">
                    <a:solidFill>
                      <a:srgbClr val="C00000"/>
                    </a:solidFill>
                  </a:endParaRPr>
                </a:p>
              </p:txBody>
            </p:sp>
          </mc:Choice>
          <mc:Fallback xmlns="">
            <p:sp>
              <p:nvSpPr>
                <p:cNvPr id="39" name="TextBox 38">
                  <a:extLst>
                    <a:ext uri="{FF2B5EF4-FFF2-40B4-BE49-F238E27FC236}">
                      <a16:creationId xmlns:a16="http://schemas.microsoft.com/office/drawing/2014/main" id="{CBAF964A-9271-34BD-BF20-26134EF68E0F}"/>
                    </a:ext>
                  </a:extLst>
                </p:cNvPr>
                <p:cNvSpPr txBox="1">
                  <a:spLocks noRot="1" noChangeAspect="1" noMove="1" noResize="1" noEditPoints="1" noAdjustHandles="1" noChangeArrowheads="1" noChangeShapeType="1" noTextEdit="1"/>
                </p:cNvSpPr>
                <p:nvPr/>
              </p:nvSpPr>
              <p:spPr>
                <a:xfrm>
                  <a:off x="1516047" y="4157023"/>
                  <a:ext cx="1401411" cy="609909"/>
                </a:xfrm>
                <a:prstGeom prst="rect">
                  <a:avLst/>
                </a:prstGeom>
                <a:blipFill>
                  <a:blip r:embed="rId15"/>
                  <a:stretch>
                    <a:fillRect t="-64000" r="-6358" b="-101333"/>
                  </a:stretch>
                </a:blipFill>
              </p:spPr>
              <p:txBody>
                <a:bodyPr/>
                <a:lstStyle/>
                <a:p>
                  <a:r>
                    <a:rPr lang="en-GB">
                      <a:noFill/>
                    </a:rPr>
                    <a:t> </a:t>
                  </a:r>
                </a:p>
              </p:txBody>
            </p:sp>
          </mc:Fallback>
        </mc:AlternateContent>
        <p:cxnSp>
          <p:nvCxnSpPr>
            <p:cNvPr id="40" name="Connector: Elbow 39">
              <a:extLst>
                <a:ext uri="{FF2B5EF4-FFF2-40B4-BE49-F238E27FC236}">
                  <a16:creationId xmlns:a16="http://schemas.microsoft.com/office/drawing/2014/main" id="{1A775DD4-1CBC-F53C-5561-2612066046FF}"/>
                </a:ext>
              </a:extLst>
            </p:cNvPr>
            <p:cNvCxnSpPr>
              <a:cxnSpLocks/>
            </p:cNvCxnSpPr>
            <p:nvPr/>
          </p:nvCxnSpPr>
          <p:spPr>
            <a:xfrm rot="16200000" flipV="1">
              <a:off x="2301674" y="3283740"/>
              <a:ext cx="206856" cy="1936576"/>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5475F38D-7063-26CD-B7CA-6DE0B316119C}"/>
              </a:ext>
            </a:extLst>
          </p:cNvPr>
          <p:cNvGrpSpPr/>
          <p:nvPr/>
        </p:nvGrpSpPr>
        <p:grpSpPr>
          <a:xfrm>
            <a:off x="1144262" y="4179051"/>
            <a:ext cx="2970209" cy="457433"/>
            <a:chOff x="1421983" y="3892628"/>
            <a:chExt cx="3960278" cy="609910"/>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8A6F924-E826-D2FF-4743-1323E428192B}"/>
                    </a:ext>
                  </a:extLst>
                </p:cNvPr>
                <p:cNvSpPr txBox="1"/>
                <p:nvPr/>
              </p:nvSpPr>
              <p:spPr>
                <a:xfrm>
                  <a:off x="3388220" y="3892628"/>
                  <a:ext cx="1401410"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−2</m:t>
                            </m:r>
                          </m:sup>
                        </m:sSup>
                      </m:oMath>
                    </m:oMathPara>
                  </a14:m>
                  <a:endParaRPr lang="en-GB" sz="1200" dirty="0">
                    <a:solidFill>
                      <a:srgbClr val="C00000"/>
                    </a:solidFill>
                  </a:endParaRPr>
                </a:p>
              </p:txBody>
            </p:sp>
          </mc:Choice>
          <mc:Fallback xmlns="">
            <p:sp>
              <p:nvSpPr>
                <p:cNvPr id="42" name="TextBox 41">
                  <a:extLst>
                    <a:ext uri="{FF2B5EF4-FFF2-40B4-BE49-F238E27FC236}">
                      <a16:creationId xmlns:a16="http://schemas.microsoft.com/office/drawing/2014/main" id="{08A6F924-E826-D2FF-4743-1323E428192B}"/>
                    </a:ext>
                  </a:extLst>
                </p:cNvPr>
                <p:cNvSpPr txBox="1">
                  <a:spLocks noRot="1" noChangeAspect="1" noMove="1" noResize="1" noEditPoints="1" noAdjustHandles="1" noChangeArrowheads="1" noChangeShapeType="1" noTextEdit="1"/>
                </p:cNvSpPr>
                <p:nvPr/>
              </p:nvSpPr>
              <p:spPr>
                <a:xfrm>
                  <a:off x="3388220" y="3892628"/>
                  <a:ext cx="1401410" cy="609910"/>
                </a:xfrm>
                <a:prstGeom prst="rect">
                  <a:avLst/>
                </a:prstGeom>
                <a:blipFill>
                  <a:blip r:embed="rId16"/>
                  <a:stretch>
                    <a:fillRect t="-64000" r="-6395" b="-101333"/>
                  </a:stretch>
                </a:blipFill>
              </p:spPr>
              <p:txBody>
                <a:bodyPr/>
                <a:lstStyle/>
                <a:p>
                  <a:r>
                    <a:rPr lang="en-GB">
                      <a:noFill/>
                    </a:rPr>
                    <a:t> </a:t>
                  </a:r>
                </a:p>
              </p:txBody>
            </p:sp>
          </mc:Fallback>
        </mc:AlternateContent>
        <p:cxnSp>
          <p:nvCxnSpPr>
            <p:cNvPr id="43" name="Connector: Elbow 42">
              <a:extLst>
                <a:ext uri="{FF2B5EF4-FFF2-40B4-BE49-F238E27FC236}">
                  <a16:creationId xmlns:a16="http://schemas.microsoft.com/office/drawing/2014/main" id="{21ECB2C5-4627-B09E-5E0B-01FE9F1D643A}"/>
                </a:ext>
              </a:extLst>
            </p:cNvPr>
            <p:cNvCxnSpPr>
              <a:cxnSpLocks/>
            </p:cNvCxnSpPr>
            <p:nvPr/>
          </p:nvCxnSpPr>
          <p:spPr>
            <a:xfrm rot="16200000" flipV="1">
              <a:off x="3169434" y="2183183"/>
              <a:ext cx="465376" cy="3960278"/>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C2C88047-26E3-878E-6DBC-2ED0F2FA64ED}"/>
              </a:ext>
            </a:extLst>
          </p:cNvPr>
          <p:cNvGrpSpPr/>
          <p:nvPr/>
        </p:nvGrpSpPr>
        <p:grpSpPr>
          <a:xfrm>
            <a:off x="1144261" y="4010760"/>
            <a:ext cx="4737026" cy="575935"/>
            <a:chOff x="1421984" y="3651149"/>
            <a:chExt cx="6316034" cy="767913"/>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7E1D897-B789-D47F-1F5C-6E38AF32A787}"/>
                    </a:ext>
                  </a:extLst>
                </p:cNvPr>
                <p:cNvSpPr txBox="1"/>
                <p:nvPr/>
              </p:nvSpPr>
              <p:spPr>
                <a:xfrm>
                  <a:off x="5252893" y="3651149"/>
                  <a:ext cx="1401411" cy="6099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−3</m:t>
                            </m:r>
                          </m:sup>
                        </m:sSup>
                      </m:oMath>
                    </m:oMathPara>
                  </a14:m>
                  <a:endParaRPr lang="en-GB" sz="1200" dirty="0">
                    <a:solidFill>
                      <a:srgbClr val="C00000"/>
                    </a:solidFill>
                  </a:endParaRPr>
                </a:p>
              </p:txBody>
            </p:sp>
          </mc:Choice>
          <mc:Fallback xmlns="">
            <p:sp>
              <p:nvSpPr>
                <p:cNvPr id="48" name="TextBox 47">
                  <a:extLst>
                    <a:ext uri="{FF2B5EF4-FFF2-40B4-BE49-F238E27FC236}">
                      <a16:creationId xmlns:a16="http://schemas.microsoft.com/office/drawing/2014/main" id="{77E1D897-B789-D47F-1F5C-6E38AF32A787}"/>
                    </a:ext>
                  </a:extLst>
                </p:cNvPr>
                <p:cNvSpPr txBox="1">
                  <a:spLocks noRot="1" noChangeAspect="1" noMove="1" noResize="1" noEditPoints="1" noAdjustHandles="1" noChangeArrowheads="1" noChangeShapeType="1" noTextEdit="1"/>
                </p:cNvSpPr>
                <p:nvPr/>
              </p:nvSpPr>
              <p:spPr>
                <a:xfrm>
                  <a:off x="5252893" y="3651149"/>
                  <a:ext cx="1401411" cy="609910"/>
                </a:xfrm>
                <a:prstGeom prst="rect">
                  <a:avLst/>
                </a:prstGeom>
                <a:blipFill>
                  <a:blip r:embed="rId17"/>
                  <a:stretch>
                    <a:fillRect t="-64000" r="-6977" b="-101333"/>
                  </a:stretch>
                </a:blipFill>
              </p:spPr>
              <p:txBody>
                <a:bodyPr/>
                <a:lstStyle/>
                <a:p>
                  <a:r>
                    <a:rPr lang="en-GB">
                      <a:noFill/>
                    </a:rPr>
                    <a:t> </a:t>
                  </a:r>
                </a:p>
              </p:txBody>
            </p:sp>
          </mc:Fallback>
        </mc:AlternateContent>
        <p:cxnSp>
          <p:nvCxnSpPr>
            <p:cNvPr id="49" name="Connector: Elbow 48">
              <a:extLst>
                <a:ext uri="{FF2B5EF4-FFF2-40B4-BE49-F238E27FC236}">
                  <a16:creationId xmlns:a16="http://schemas.microsoft.com/office/drawing/2014/main" id="{9C8C3C4A-B30C-2907-538C-3B1976DFD0E7}"/>
                </a:ext>
              </a:extLst>
            </p:cNvPr>
            <p:cNvCxnSpPr>
              <a:cxnSpLocks/>
            </p:cNvCxnSpPr>
            <p:nvPr/>
          </p:nvCxnSpPr>
          <p:spPr>
            <a:xfrm rot="16200000" flipV="1">
              <a:off x="4218758" y="899803"/>
              <a:ext cx="722485" cy="6316034"/>
            </a:xfrm>
            <a:prstGeom prst="bentConnector2">
              <a:avLst/>
            </a:prstGeom>
            <a:ln w="12700">
              <a:tailEnd type="arrow" w="lg" len="lg"/>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EEE41981-5837-066B-9059-FF36949D0200}"/>
              </a:ext>
            </a:extLst>
          </p:cNvPr>
          <p:cNvGrpSpPr/>
          <p:nvPr/>
        </p:nvGrpSpPr>
        <p:grpSpPr>
          <a:xfrm>
            <a:off x="1154501" y="3857067"/>
            <a:ext cx="7035785" cy="1127876"/>
            <a:chOff x="1476910" y="2851840"/>
            <a:chExt cx="9381046" cy="1503835"/>
          </a:xfrm>
        </p:grpSpPr>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9CB3EE1-8F66-E635-D98B-52429D9CCAB9}"/>
                    </a:ext>
                  </a:extLst>
                </p:cNvPr>
                <p:cNvSpPr txBox="1"/>
                <p:nvPr/>
              </p:nvSpPr>
              <p:spPr>
                <a:xfrm>
                  <a:off x="8810627" y="2851840"/>
                  <a:ext cx="15784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m:t>
                        </m:r>
                        <m:sSup>
                          <m:sSupPr>
                            <m:ctrlPr>
                              <a:rPr lang="en-GB" sz="1200" i="1">
                                <a:solidFill>
                                  <a:srgbClr val="C00000"/>
                                </a:solidFill>
                                <a:latin typeface="Cambria Math" panose="02040503050406030204" pitchFamily="18" charset="0"/>
                                <a:ea typeface="Cambria Math" panose="02040503050406030204" pitchFamily="18" charset="0"/>
                              </a:rPr>
                            </m:ctrlPr>
                          </m:sSupPr>
                          <m:e>
                            <m:d>
                              <m:dPr>
                                <m:ctrlPr>
                                  <a:rPr lang="en-GB" sz="1200" i="1">
                                    <a:solidFill>
                                      <a:srgbClr val="C00000"/>
                                    </a:solidFill>
                                    <a:latin typeface="Cambria Math" panose="02040503050406030204" pitchFamily="18" charset="0"/>
                                    <a:ea typeface="Cambria Math" panose="02040503050406030204" pitchFamily="18" charset="0"/>
                                  </a:rPr>
                                </m:ctrlPr>
                              </m:dPr>
                              <m:e>
                                <m:r>
                                  <a:rPr lang="en-GB" sz="1200" i="1">
                                    <a:solidFill>
                                      <a:srgbClr val="C00000"/>
                                    </a:solidFill>
                                    <a:latin typeface="Cambria Math" panose="02040503050406030204" pitchFamily="18" charset="0"/>
                                    <a:ea typeface="Cambria Math" panose="02040503050406030204" pitchFamily="18" charset="0"/>
                                  </a:rPr>
                                  <m:t>1+3%</m:t>
                                </m:r>
                              </m:e>
                            </m:d>
                          </m:e>
                          <m:sup>
                            <m:r>
                              <a:rPr lang="en-GB" sz="1200" i="1">
                                <a:solidFill>
                                  <a:srgbClr val="C00000"/>
                                </a:solidFill>
                                <a:latin typeface="Cambria Math" panose="02040503050406030204" pitchFamily="18" charset="0"/>
                                <a:ea typeface="Cambria Math" panose="02040503050406030204" pitchFamily="18" charset="0"/>
                              </a:rPr>
                              <m:t>−10</m:t>
                            </m:r>
                          </m:sup>
                        </m:sSup>
                      </m:oMath>
                    </m:oMathPara>
                  </a14:m>
                  <a:endParaRPr lang="en-GB" sz="1200" dirty="0">
                    <a:solidFill>
                      <a:srgbClr val="C00000"/>
                    </a:solidFill>
                  </a:endParaRPr>
                </a:p>
              </p:txBody>
            </p:sp>
          </mc:Choice>
          <mc:Fallback xmlns="">
            <p:sp>
              <p:nvSpPr>
                <p:cNvPr id="51" name="TextBox 50">
                  <a:extLst>
                    <a:ext uri="{FF2B5EF4-FFF2-40B4-BE49-F238E27FC236}">
                      <a16:creationId xmlns:a16="http://schemas.microsoft.com/office/drawing/2014/main" id="{39CB3EE1-8F66-E635-D98B-52429D9CCAB9}"/>
                    </a:ext>
                  </a:extLst>
                </p:cNvPr>
                <p:cNvSpPr txBox="1">
                  <a:spLocks noRot="1" noChangeAspect="1" noMove="1" noResize="1" noEditPoints="1" noAdjustHandles="1" noChangeArrowheads="1" noChangeShapeType="1" noTextEdit="1"/>
                </p:cNvSpPr>
                <p:nvPr/>
              </p:nvSpPr>
              <p:spPr>
                <a:xfrm>
                  <a:off x="8810627" y="2851840"/>
                  <a:ext cx="1578447" cy="369332"/>
                </a:xfrm>
                <a:prstGeom prst="rect">
                  <a:avLst/>
                </a:prstGeom>
                <a:blipFill>
                  <a:blip r:embed="rId18"/>
                  <a:stretch>
                    <a:fillRect/>
                  </a:stretch>
                </a:blipFill>
              </p:spPr>
              <p:txBody>
                <a:bodyPr/>
                <a:lstStyle/>
                <a:p>
                  <a:r>
                    <a:rPr lang="en-GB">
                      <a:noFill/>
                    </a:rPr>
                    <a:t> </a:t>
                  </a:r>
                </a:p>
              </p:txBody>
            </p:sp>
          </mc:Fallback>
        </mc:AlternateContent>
        <p:cxnSp>
          <p:nvCxnSpPr>
            <p:cNvPr id="52" name="Connector: Elbow 51">
              <a:extLst>
                <a:ext uri="{FF2B5EF4-FFF2-40B4-BE49-F238E27FC236}">
                  <a16:creationId xmlns:a16="http://schemas.microsoft.com/office/drawing/2014/main" id="{E53880F6-56BD-EAF0-12E3-F8C8A5F1F9CA}"/>
                </a:ext>
              </a:extLst>
            </p:cNvPr>
            <p:cNvCxnSpPr>
              <a:cxnSpLocks/>
            </p:cNvCxnSpPr>
            <p:nvPr/>
          </p:nvCxnSpPr>
          <p:spPr>
            <a:xfrm rot="10800000">
              <a:off x="1476910" y="2856262"/>
              <a:ext cx="9381046" cy="1499413"/>
            </a:xfrm>
            <a:prstGeom prst="bentConnector3">
              <a:avLst>
                <a:gd name="adj1" fmla="val -4"/>
              </a:avLst>
            </a:prstGeom>
            <a:ln w="12700">
              <a:tailEnd type="arrow"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4300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80">
                                          <p:stCondLst>
                                            <p:cond delay="0"/>
                                          </p:stCondLst>
                                        </p:cTn>
                                        <p:tgtEl>
                                          <p:spTgt spid="8"/>
                                        </p:tgtEl>
                                      </p:cBhvr>
                                    </p:animEffect>
                                    <p:anim calcmode="lin" valueType="num">
                                      <p:cBhvr>
                                        <p:cTn id="1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1" dur="26">
                                          <p:stCondLst>
                                            <p:cond delay="650"/>
                                          </p:stCondLst>
                                        </p:cTn>
                                        <p:tgtEl>
                                          <p:spTgt spid="8"/>
                                        </p:tgtEl>
                                      </p:cBhvr>
                                      <p:to x="100000" y="60000"/>
                                    </p:animScale>
                                    <p:animScale>
                                      <p:cBhvr>
                                        <p:cTn id="22" dur="166" decel="50000">
                                          <p:stCondLst>
                                            <p:cond delay="676"/>
                                          </p:stCondLst>
                                        </p:cTn>
                                        <p:tgtEl>
                                          <p:spTgt spid="8"/>
                                        </p:tgtEl>
                                      </p:cBhvr>
                                      <p:to x="100000" y="100000"/>
                                    </p:animScale>
                                    <p:animScale>
                                      <p:cBhvr>
                                        <p:cTn id="23" dur="26">
                                          <p:stCondLst>
                                            <p:cond delay="1312"/>
                                          </p:stCondLst>
                                        </p:cTn>
                                        <p:tgtEl>
                                          <p:spTgt spid="8"/>
                                        </p:tgtEl>
                                      </p:cBhvr>
                                      <p:to x="100000" y="80000"/>
                                    </p:animScale>
                                    <p:animScale>
                                      <p:cBhvr>
                                        <p:cTn id="24" dur="166" decel="50000">
                                          <p:stCondLst>
                                            <p:cond delay="1338"/>
                                          </p:stCondLst>
                                        </p:cTn>
                                        <p:tgtEl>
                                          <p:spTgt spid="8"/>
                                        </p:tgtEl>
                                      </p:cBhvr>
                                      <p:to x="100000" y="100000"/>
                                    </p:animScale>
                                    <p:animScale>
                                      <p:cBhvr>
                                        <p:cTn id="25" dur="26">
                                          <p:stCondLst>
                                            <p:cond delay="1642"/>
                                          </p:stCondLst>
                                        </p:cTn>
                                        <p:tgtEl>
                                          <p:spTgt spid="8"/>
                                        </p:tgtEl>
                                      </p:cBhvr>
                                      <p:to x="100000" y="90000"/>
                                    </p:animScale>
                                    <p:animScale>
                                      <p:cBhvr>
                                        <p:cTn id="26" dur="166" decel="50000">
                                          <p:stCondLst>
                                            <p:cond delay="1668"/>
                                          </p:stCondLst>
                                        </p:cTn>
                                        <p:tgtEl>
                                          <p:spTgt spid="8"/>
                                        </p:tgtEl>
                                      </p:cBhvr>
                                      <p:to x="100000" y="100000"/>
                                    </p:animScale>
                                    <p:animScale>
                                      <p:cBhvr>
                                        <p:cTn id="27" dur="26">
                                          <p:stCondLst>
                                            <p:cond delay="1808"/>
                                          </p:stCondLst>
                                        </p:cTn>
                                        <p:tgtEl>
                                          <p:spTgt spid="8"/>
                                        </p:tgtEl>
                                      </p:cBhvr>
                                      <p:to x="100000" y="95000"/>
                                    </p:animScale>
                                    <p:animScale>
                                      <p:cBhvr>
                                        <p:cTn id="28" dur="166" decel="50000">
                                          <p:stCondLst>
                                            <p:cond delay="1834"/>
                                          </p:stCondLst>
                                        </p:cTn>
                                        <p:tgtEl>
                                          <p:spTgt spid="8"/>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30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4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24" grpId="0"/>
      <p:bldP spid="35"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698925"/>
            <a:ext cx="7886700" cy="634117"/>
          </a:xfrm>
        </p:spPr>
        <p:txBody>
          <a:bodyPr>
            <a:normAutofit/>
          </a:bodyPr>
          <a:lstStyle/>
          <a:p>
            <a:r>
              <a:rPr lang="en-GB" dirty="0"/>
              <a:t>Growing Annuity – Present Value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1040153"/>
              </a:xfrm>
            </p:spPr>
            <p:txBody>
              <a:bodyPr>
                <a:normAutofit fontScale="92500"/>
              </a:bodyPr>
              <a:lstStyle/>
              <a:p>
                <a:pPr marL="0" lvl="1" indent="0">
                  <a:spcAft>
                    <a:spcPts val="900"/>
                  </a:spcAft>
                  <a:buClr>
                    <a:srgbClr val="C00000"/>
                  </a:buClr>
                  <a:buSzPct val="90000"/>
                  <a:buNone/>
                </a:pPr>
                <a:r>
                  <a:rPr lang="en-GB" sz="1400" dirty="0">
                    <a:latin typeface="Arial" panose="020B0604020202020204" pitchFamily="34" charset="0"/>
                    <a:ea typeface="Cambria Math" panose="02040503050406030204" pitchFamily="18" charset="0"/>
                    <a:cs typeface="Arial" panose="020B0604020202020204" pitchFamily="34" charset="0"/>
                  </a:rPr>
                  <a:t>The present value of multiple cash flows is:</a:t>
                </a:r>
              </a:p>
              <a:p>
                <a:pPr marL="0"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400" i="1">
                          <a:latin typeface="Cambria Math" panose="02040503050406030204" pitchFamily="18" charset="0"/>
                          <a:ea typeface="Cambria Math" panose="02040503050406030204" pitchFamily="18" charset="0"/>
                        </a:rPr>
                        <m:t>𝑃𝑉</m:t>
                      </m:r>
                      <m:r>
                        <a:rPr lang="en-GB" sz="1400" i="1">
                          <a:latin typeface="Cambria Math" panose="02040503050406030204" pitchFamily="18" charset="0"/>
                          <a:ea typeface="Cambria Math" panose="02040503050406030204" pitchFamily="18" charset="0"/>
                        </a:rPr>
                        <m:t>=10,000×</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1+3%</m:t>
                              </m:r>
                            </m:e>
                          </m:d>
                        </m:e>
                        <m:sup>
                          <m:r>
                            <a:rPr lang="en-GB" sz="1400" i="1">
                              <a:latin typeface="Cambria Math" panose="02040503050406030204" pitchFamily="18" charset="0"/>
                              <a:ea typeface="Cambria Math" panose="02040503050406030204" pitchFamily="18" charset="0"/>
                            </a:rPr>
                            <m:t>−1</m:t>
                          </m:r>
                        </m:sup>
                      </m:sSup>
                      <m:r>
                        <a:rPr lang="en-GB" sz="1400" i="1">
                          <a:latin typeface="Cambria Math" panose="02040503050406030204" pitchFamily="18" charset="0"/>
                          <a:ea typeface="Cambria Math" panose="02040503050406030204" pitchFamily="18" charset="0"/>
                        </a:rPr>
                        <m:t>+</m:t>
                      </m:r>
                      <m:r>
                        <a:rPr lang="en-GB" sz="1400" i="1">
                          <a:solidFill>
                            <a:srgbClr val="C00000"/>
                          </a:solidFill>
                          <a:latin typeface="Cambria Math" panose="02040503050406030204" pitchFamily="18" charset="0"/>
                          <a:ea typeface="Cambria Math" panose="02040503050406030204" pitchFamily="18" charset="0"/>
                        </a:rPr>
                        <m:t>10,000</m:t>
                      </m:r>
                      <m:r>
                        <a:rPr lang="en-GB" sz="1400" i="1">
                          <a:solidFill>
                            <a:schemeClr val="accent5">
                              <a:lumMod val="75000"/>
                            </a:schemeClr>
                          </a:solidFill>
                          <a:latin typeface="Cambria Math" panose="02040503050406030204" pitchFamily="18" charset="0"/>
                          <a:ea typeface="Cambria Math" panose="02040503050406030204" pitchFamily="18" charset="0"/>
                        </a:rPr>
                        <m:t>×</m:t>
                      </m:r>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1+5%</m:t>
                          </m:r>
                        </m:e>
                      </m:d>
                      <m:r>
                        <a:rPr lang="en-GB" sz="1400" i="1">
                          <a:latin typeface="Cambria Math" panose="02040503050406030204" pitchFamily="18" charset="0"/>
                          <a:ea typeface="Cambria Math" panose="02040503050406030204" pitchFamily="18" charset="0"/>
                        </a:rPr>
                        <m:t>×</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1+3%</m:t>
                              </m:r>
                            </m:e>
                          </m:d>
                        </m:e>
                        <m:sup>
                          <m:r>
                            <a:rPr lang="en-GB" sz="1400" i="1">
                              <a:latin typeface="Cambria Math" panose="02040503050406030204" pitchFamily="18" charset="0"/>
                              <a:ea typeface="Cambria Math" panose="02040503050406030204" pitchFamily="18" charset="0"/>
                            </a:rPr>
                            <m:t>−2</m:t>
                          </m:r>
                        </m:sup>
                      </m:sSup>
                      <m:r>
                        <a:rPr lang="en-GB" sz="1400" i="1">
                          <a:latin typeface="Cambria Math" panose="02040503050406030204" pitchFamily="18" charset="0"/>
                          <a:ea typeface="Cambria Math" panose="02040503050406030204" pitchFamily="18" charset="0"/>
                        </a:rPr>
                        <m:t>+</m:t>
                      </m:r>
                      <m:r>
                        <a:rPr lang="en-GB" sz="1400" i="1">
                          <a:solidFill>
                            <a:srgbClr val="C00000"/>
                          </a:solidFill>
                          <a:latin typeface="Cambria Math" panose="02040503050406030204" pitchFamily="18" charset="0"/>
                          <a:ea typeface="Cambria Math" panose="02040503050406030204" pitchFamily="18" charset="0"/>
                        </a:rPr>
                        <m:t>10,000</m:t>
                      </m:r>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1+5%</m:t>
                              </m:r>
                            </m:e>
                          </m:d>
                        </m:e>
                        <m:sup>
                          <m:r>
                            <a:rPr lang="en-GB" sz="1400" i="1">
                              <a:solidFill>
                                <a:schemeClr val="accent5">
                                  <a:lumMod val="75000"/>
                                </a:schemeClr>
                              </a:solidFill>
                              <a:latin typeface="Cambria Math" panose="02040503050406030204" pitchFamily="18" charset="0"/>
                              <a:ea typeface="Cambria Math" panose="02040503050406030204" pitchFamily="18" charset="0"/>
                            </a:rPr>
                            <m:t>2</m:t>
                          </m:r>
                        </m:sup>
                      </m:sSup>
                      <m:r>
                        <a:rPr lang="en-GB" sz="1400" i="1">
                          <a:latin typeface="Cambria Math" panose="02040503050406030204" pitchFamily="18" charset="0"/>
                          <a:ea typeface="Cambria Math" panose="02040503050406030204" pitchFamily="18" charset="0"/>
                        </a:rPr>
                        <m:t>×</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1+3%</m:t>
                              </m:r>
                            </m:e>
                          </m:d>
                        </m:e>
                        <m:sup>
                          <m:r>
                            <a:rPr lang="en-GB" sz="1400" i="1">
                              <a:latin typeface="Cambria Math" panose="02040503050406030204" pitchFamily="18" charset="0"/>
                              <a:ea typeface="Cambria Math" panose="02040503050406030204" pitchFamily="18" charset="0"/>
                            </a:rPr>
                            <m:t>−3</m:t>
                          </m:r>
                        </m:sup>
                      </m:sSup>
                    </m:oMath>
                  </m:oMathPara>
                </a14:m>
                <a:endParaRPr lang="en-GB" sz="1400" i="1" dirty="0">
                  <a:latin typeface="Arial" panose="020B0604020202020204" pitchFamily="34" charset="0"/>
                  <a:ea typeface="Cambria Math" panose="02040503050406030204" pitchFamily="18" charset="0"/>
                  <a:cs typeface="Arial" panose="020B0604020202020204" pitchFamily="34" charset="0"/>
                </a:endParaRPr>
              </a:p>
              <a:p>
                <a:pPr marL="334566"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400" i="1">
                          <a:latin typeface="Cambria Math" panose="02040503050406030204" pitchFamily="18" charset="0"/>
                          <a:ea typeface="Cambria Math" panose="02040503050406030204" pitchFamily="18" charset="0"/>
                        </a:rPr>
                        <m:t>+…+</m:t>
                      </m:r>
                      <m:r>
                        <a:rPr lang="en-GB" sz="1400" i="1">
                          <a:solidFill>
                            <a:srgbClr val="C00000"/>
                          </a:solidFill>
                          <a:latin typeface="Cambria Math" panose="02040503050406030204" pitchFamily="18" charset="0"/>
                          <a:ea typeface="Cambria Math" panose="02040503050406030204" pitchFamily="18" charset="0"/>
                        </a:rPr>
                        <m:t>10,000</m:t>
                      </m:r>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1+5%</m:t>
                              </m:r>
                            </m:e>
                          </m:d>
                        </m:e>
                        <m:sup>
                          <m:r>
                            <a:rPr lang="en-GB" sz="1400" i="1">
                              <a:solidFill>
                                <a:schemeClr val="accent5">
                                  <a:lumMod val="75000"/>
                                </a:schemeClr>
                              </a:solidFill>
                              <a:latin typeface="Cambria Math" panose="02040503050406030204" pitchFamily="18" charset="0"/>
                              <a:ea typeface="Cambria Math" panose="02040503050406030204" pitchFamily="18" charset="0"/>
                            </a:rPr>
                            <m:t>9</m:t>
                          </m:r>
                        </m:sup>
                      </m:sSup>
                      <m:r>
                        <a:rPr lang="en-GB" sz="1400" i="1">
                          <a:latin typeface="Cambria Math" panose="02040503050406030204" pitchFamily="18" charset="0"/>
                          <a:ea typeface="Cambria Math" panose="02040503050406030204" pitchFamily="18" charset="0"/>
                        </a:rPr>
                        <m:t>×</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1+5%</m:t>
                              </m:r>
                            </m:e>
                          </m:d>
                        </m:e>
                        <m:sup>
                          <m:r>
                            <a:rPr lang="en-GB" sz="1400" i="1">
                              <a:latin typeface="Cambria Math" panose="02040503050406030204" pitchFamily="18" charset="0"/>
                              <a:ea typeface="Cambria Math" panose="02040503050406030204" pitchFamily="18" charset="0"/>
                            </a:rPr>
                            <m:t>−10</m:t>
                          </m:r>
                        </m:sup>
                      </m:sSup>
                      <m:r>
                        <a:rPr lang="en-GB" sz="1400" i="1">
                          <a:latin typeface="Cambria Math" panose="02040503050406030204" pitchFamily="18" charset="0"/>
                          <a:ea typeface="Cambria Math" panose="02040503050406030204" pitchFamily="18" charset="0"/>
                        </a:rPr>
                        <m:t>=£106,025.29</m:t>
                      </m:r>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a:p>
                <a:pPr marL="0" lvl="1" indent="0">
                  <a:lnSpc>
                    <a:spcPct val="110000"/>
                  </a:lnSpc>
                  <a:spcAft>
                    <a:spcPts val="900"/>
                  </a:spcAft>
                  <a:buClr>
                    <a:srgbClr val="C00000"/>
                  </a:buClr>
                  <a:buSzPct val="90000"/>
                  <a:buNone/>
                </a:pPr>
                <a:endParaRPr lang="en-GB" sz="1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1040153"/>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400">
                <a:solidFill>
                  <a:prstClr val="black">
                    <a:lumMod val="50000"/>
                    <a:lumOff val="50000"/>
                  </a:prstClr>
                </a:solidFill>
                <a:latin typeface="Arial" panose="020B0604020202020204" pitchFamily="34" charset="0"/>
                <a:ea typeface="+mn-ea"/>
                <a:cs typeface="Arial" panose="020B0604020202020204" pitchFamily="34" charset="0"/>
              </a:rPr>
              <a:pPr algn="ctr" defTabSz="685800" eaLnBrk="1" fontAlgn="auto" hangingPunct="1">
                <a:spcBef>
                  <a:spcPts val="0"/>
                </a:spcBef>
                <a:spcAft>
                  <a:spcPts val="0"/>
                </a:spcAft>
                <a:defRPr/>
              </a:pPr>
              <a:t>16</a:t>
            </a:fld>
            <a:endParaRPr lang="en-GB" sz="1400" dirty="0">
              <a:solidFill>
                <a:prstClr val="black">
                  <a:lumMod val="50000"/>
                  <a:lumOff val="50000"/>
                </a:prstClr>
              </a:solidFill>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AF14AFB-F8F4-B21D-4213-3FE20198E1E9}"/>
                  </a:ext>
                </a:extLst>
              </p:cNvPr>
              <p:cNvSpPr txBox="1"/>
              <p:nvPr/>
            </p:nvSpPr>
            <p:spPr>
              <a:xfrm>
                <a:off x="266701" y="2854875"/>
                <a:ext cx="8201774" cy="1221488"/>
              </a:xfrm>
              <a:prstGeom prst="rect">
                <a:avLst/>
              </a:prstGeom>
              <a:noFill/>
            </p:spPr>
            <p:txBody>
              <a:bodyPr wrap="square">
                <a:spAutoFit/>
              </a:bodyPr>
              <a:lstStyle/>
              <a:p>
                <a:pPr marL="0" lvl="1" indent="0">
                  <a:spcAft>
                    <a:spcPts val="900"/>
                  </a:spcAft>
                  <a:buClr>
                    <a:srgbClr val="C00000"/>
                  </a:buClr>
                  <a:buSzPct val="90000"/>
                </a:pPr>
                <a:r>
                  <a:rPr lang="en-GB" sz="1400" b="1" u="sng" dirty="0">
                    <a:latin typeface="Arial" panose="020B0604020202020204" pitchFamily="34" charset="0"/>
                    <a:ea typeface="Cambria Math" panose="02040503050406030204" pitchFamily="18" charset="0"/>
                    <a:cs typeface="Arial" panose="020B0604020202020204" pitchFamily="34" charset="0"/>
                  </a:rPr>
                  <a:t>OR</a:t>
                </a:r>
                <a:r>
                  <a:rPr lang="en-GB" sz="1400" dirty="0">
                    <a:latin typeface="Arial" panose="020B0604020202020204" pitchFamily="34" charset="0"/>
                    <a:ea typeface="Cambria Math" panose="02040503050406030204" pitchFamily="18" charset="0"/>
                    <a:cs typeface="Arial" panose="020B0604020202020204" pitchFamily="34" charset="0"/>
                  </a:rPr>
                  <a:t> we can use a formula:</a:t>
                </a:r>
              </a:p>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𝑃𝑉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400" b="0" i="1" smtClean="0">
                                  <a:solidFill>
                                    <a:srgbClr val="C00000"/>
                                  </a:solidFill>
                                  <a:latin typeface="Cambria Math" panose="02040503050406030204" pitchFamily="18" charset="0"/>
                                  <a:ea typeface="Cambria Math" panose="02040503050406030204" pitchFamily="18" charset="0"/>
                                </a:rPr>
                              </m:ctrlPr>
                            </m:sSupPr>
                            <m:e>
                              <m:d>
                                <m:dPr>
                                  <m:ctrlPr>
                                    <a:rPr lang="en-GB" sz="1400" b="0" i="1" smtClean="0">
                                      <a:solidFill>
                                        <a:srgbClr val="C00000"/>
                                      </a:solidFill>
                                      <a:latin typeface="Cambria Math" panose="02040503050406030204" pitchFamily="18" charset="0"/>
                                      <a:ea typeface="Cambria Math" panose="02040503050406030204" pitchFamily="18" charset="0"/>
                                    </a:rPr>
                                  </m:ctrlPr>
                                </m:dPr>
                                <m:e>
                                  <m:r>
                                    <a:rPr lang="en-GB" sz="1400" b="0" i="1" smtClean="0">
                                      <a:solidFill>
                                        <a:srgbClr val="C00000"/>
                                      </a:solidFill>
                                      <a:latin typeface="Cambria Math" panose="02040503050406030204" pitchFamily="18" charset="0"/>
                                      <a:ea typeface="Cambria Math" panose="02040503050406030204" pitchFamily="18" charset="0"/>
                                    </a:rPr>
                                    <m:t>1+</m:t>
                                  </m:r>
                                  <m:r>
                                    <a:rPr lang="en-GB" sz="1400" b="0" i="1" smtClean="0">
                                      <a:solidFill>
                                        <a:srgbClr val="C00000"/>
                                      </a:solidFill>
                                      <a:latin typeface="Cambria Math" panose="02040503050406030204" pitchFamily="18" charset="0"/>
                                      <a:ea typeface="Cambria Math" panose="02040503050406030204" pitchFamily="18" charset="0"/>
                                    </a:rPr>
                                    <m:t>𝑔</m:t>
                                  </m:r>
                                </m:e>
                              </m:d>
                            </m:e>
                            <m:sup>
                              <m:r>
                                <a:rPr lang="en-GB" sz="1400" b="0" i="1" smtClean="0">
                                  <a:solidFill>
                                    <a:srgbClr val="C00000"/>
                                  </a:solidFill>
                                  <a:latin typeface="Cambria Math" panose="02040503050406030204" pitchFamily="18" charset="0"/>
                                  <a:ea typeface="Cambria Math" panose="02040503050406030204" pitchFamily="18" charset="0"/>
                                </a:rPr>
                                <m:t>𝑡</m:t>
                              </m:r>
                            </m:sup>
                          </m:sSup>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b="0" i="1" smtClean="0">
                              <a:solidFill>
                                <a:srgbClr val="C00000"/>
                              </a:solidFill>
                              <a:latin typeface="Cambria Math" panose="02040503050406030204" pitchFamily="18" charset="0"/>
                              <a:ea typeface="Cambria Math" panose="02040503050406030204" pitchFamily="18" charset="0"/>
                            </a:rPr>
                            <m:t>−</m:t>
                          </m:r>
                          <m:r>
                            <a:rPr lang="en-GB" sz="1400" b="0" i="1" smtClean="0">
                              <a:solidFill>
                                <a:srgbClr val="C00000"/>
                              </a:solidFill>
                              <a:latin typeface="Cambria Math" panose="02040503050406030204" pitchFamily="18" charset="0"/>
                              <a:ea typeface="Cambria Math" panose="02040503050406030204" pitchFamily="18" charset="0"/>
                            </a:rPr>
                            <m:t>𝑔</m:t>
                          </m:r>
                        </m:den>
                      </m:f>
                      <m:r>
                        <a:rPr lang="en-GB" sz="1400" b="0" i="1" smtClean="0">
                          <a:solidFill>
                            <a:schemeClr val="accent5">
                              <a:lumMod val="75000"/>
                            </a:schemeClr>
                          </a:solidFill>
                          <a:latin typeface="Cambria Math" panose="02040503050406030204" pitchFamily="18" charset="0"/>
                          <a:ea typeface="Cambria Math" panose="02040503050406030204" pitchFamily="18" charset="0"/>
                        </a:rPr>
                        <m:t>            </m:t>
                      </m:r>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a:p>
                <a:pPr marL="0" lvl="1" indent="0">
                  <a:spcAft>
                    <a:spcPts val="900"/>
                  </a:spcAft>
                  <a:buClr>
                    <a:srgbClr val="C00000"/>
                  </a:buClr>
                  <a:buSzPct val="90000"/>
                </a:pPr>
                <a:r>
                  <a:rPr lang="en-GB" sz="1400" dirty="0">
                    <a:latin typeface="Arial" panose="020B0604020202020204" pitchFamily="34" charset="0"/>
                    <a:ea typeface="Cambria Math" panose="02040503050406030204" pitchFamily="18" charset="0"/>
                    <a:cs typeface="Arial" panose="020B0604020202020204" pitchFamily="34" charset="0"/>
                  </a:rPr>
                  <a:t>Where: </a:t>
                </a:r>
                <a14:m>
                  <m:oMath xmlns:m="http://schemas.openxmlformats.org/officeDocument/2006/math">
                    <m:r>
                      <a:rPr lang="en-GB" sz="1400" i="1">
                        <a:solidFill>
                          <a:srgbClr val="C00000"/>
                        </a:solidFill>
                        <a:latin typeface="Cambria Math" panose="02040503050406030204" pitchFamily="18" charset="0"/>
                        <a:ea typeface="Cambria Math" panose="02040503050406030204" pitchFamily="18" charset="0"/>
                      </a:rPr>
                      <m:t>𝑔</m:t>
                    </m:r>
                  </m:oMath>
                </a14:m>
                <a:r>
                  <a:rPr lang="en-GB" sz="1400" dirty="0">
                    <a:latin typeface="Arial" panose="020B0604020202020204" pitchFamily="34" charset="0"/>
                    <a:ea typeface="Cambria Math" panose="02040503050406030204" pitchFamily="18" charset="0"/>
                    <a:cs typeface="Arial" panose="020B0604020202020204" pitchFamily="34" charset="0"/>
                  </a:rPr>
                  <a:t> is the annuity growth rate.</a:t>
                </a:r>
              </a:p>
            </p:txBody>
          </p:sp>
        </mc:Choice>
        <mc:Fallback xmlns="">
          <p:sp>
            <p:nvSpPr>
              <p:cNvPr id="6" name="TextBox 5">
                <a:extLst>
                  <a:ext uri="{FF2B5EF4-FFF2-40B4-BE49-F238E27FC236}">
                    <a16:creationId xmlns:a16="http://schemas.microsoft.com/office/drawing/2014/main" id="{1AF14AFB-F8F4-B21D-4213-3FE20198E1E9}"/>
                  </a:ext>
                </a:extLst>
              </p:cNvPr>
              <p:cNvSpPr txBox="1">
                <a:spLocks noRot="1" noChangeAspect="1" noMove="1" noResize="1" noEditPoints="1" noAdjustHandles="1" noChangeArrowheads="1" noChangeShapeType="1" noTextEdit="1"/>
              </p:cNvSpPr>
              <p:nvPr/>
            </p:nvSpPr>
            <p:spPr>
              <a:xfrm>
                <a:off x="266701" y="2854875"/>
                <a:ext cx="8201774" cy="1221488"/>
              </a:xfrm>
              <a:prstGeom prst="rect">
                <a:avLst/>
              </a:prstGeom>
              <a:blipFill>
                <a:blip r:embed="rId4"/>
                <a:stretch>
                  <a:fillRect l="-223" t="-498" b="-44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555FEF-27F1-6FB5-0AA1-71E5E7694BAB}"/>
                  </a:ext>
                </a:extLst>
              </p:cNvPr>
              <p:cNvSpPr txBox="1"/>
              <p:nvPr/>
            </p:nvSpPr>
            <p:spPr>
              <a:xfrm>
                <a:off x="2841446" y="4338702"/>
                <a:ext cx="4619517" cy="979242"/>
              </a:xfrm>
              <a:prstGeom prst="rect">
                <a:avLst/>
              </a:prstGeom>
              <a:noFill/>
            </p:spPr>
            <p:txBody>
              <a:bodyPr wrap="square">
                <a:spAutoFit/>
              </a:bodyPr>
              <a:lstStyle/>
              <a:p>
                <a:pPr marL="0" lvl="1" indent="0">
                  <a:spcBef>
                    <a:spcPts val="1350"/>
                  </a:spcBef>
                  <a:spcAft>
                    <a:spcPts val="900"/>
                  </a:spcAft>
                  <a:buClr>
                    <a:srgbClr val="C00000"/>
                  </a:buClr>
                  <a:buSzPct val="90000"/>
                </a:pPr>
                <a14:m>
                  <m:oMathPara xmlns:m="http://schemas.openxmlformats.org/officeDocument/2006/math">
                    <m:oMathParaPr>
                      <m:jc m:val="left"/>
                    </m:oMathParaPr>
                    <m:oMath xmlns:m="http://schemas.openxmlformats.org/officeDocument/2006/math">
                      <m:r>
                        <a:rPr lang="en-GB" sz="1400" i="1">
                          <a:latin typeface="Cambria Math" panose="02040503050406030204" pitchFamily="18" charset="0"/>
                          <a:ea typeface="Cambria Math" panose="02040503050406030204" pitchFamily="18" charset="0"/>
                        </a:rPr>
                        <m:t>𝑃𝑉</m:t>
                      </m:r>
                      <m:r>
                        <a:rPr lang="en-GB" sz="1400" i="1">
                          <a:latin typeface="Cambria Math" panose="02040503050406030204" pitchFamily="18" charset="0"/>
                          <a:ea typeface="Cambria Math" panose="02040503050406030204" pitchFamily="18" charset="0"/>
                        </a:rPr>
                        <m:t>=10,000×</m:t>
                      </m:r>
                      <m:f>
                        <m:fPr>
                          <m:ctrlPr>
                            <a:rPr lang="en-GB" sz="1400" i="1">
                              <a:latin typeface="Cambria Math" panose="02040503050406030204" pitchFamily="18" charset="0"/>
                              <a:ea typeface="Cambria Math" panose="02040503050406030204" pitchFamily="18" charset="0"/>
                            </a:rPr>
                          </m:ctrlPr>
                        </m:fPr>
                        <m:num>
                          <m:r>
                            <a:rPr lang="en-GB" sz="1400" i="1">
                              <a:latin typeface="Cambria Math" panose="02040503050406030204" pitchFamily="18" charset="0"/>
                              <a:ea typeface="Cambria Math" panose="02040503050406030204" pitchFamily="18" charset="0"/>
                            </a:rPr>
                            <m:t>1−</m:t>
                          </m:r>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1+5%</m:t>
                                  </m:r>
                                </m:e>
                              </m:d>
                            </m:e>
                            <m:sup>
                              <m:r>
                                <a:rPr lang="en-GB" sz="1400" i="1">
                                  <a:latin typeface="Cambria Math" panose="02040503050406030204" pitchFamily="18" charset="0"/>
                                  <a:ea typeface="Cambria Math" panose="02040503050406030204" pitchFamily="18" charset="0"/>
                                </a:rPr>
                                <m:t>10</m:t>
                              </m:r>
                            </m:sup>
                          </m:sSup>
                          <m:sSup>
                            <m:sSupPr>
                              <m:ctrlPr>
                                <a:rPr lang="en-GB" sz="1400" i="1">
                                  <a:latin typeface="Cambria Math" panose="02040503050406030204" pitchFamily="18" charset="0"/>
                                  <a:ea typeface="Cambria Math" panose="02040503050406030204" pitchFamily="18" charset="0"/>
                                </a:rPr>
                              </m:ctrlPr>
                            </m:sSupPr>
                            <m:e>
                              <m:d>
                                <m:dPr>
                                  <m:ctrlPr>
                                    <a:rPr lang="en-GB" sz="1400" i="1">
                                      <a:latin typeface="Cambria Math" panose="02040503050406030204" pitchFamily="18" charset="0"/>
                                      <a:ea typeface="Cambria Math" panose="02040503050406030204" pitchFamily="18" charset="0"/>
                                    </a:rPr>
                                  </m:ctrlPr>
                                </m:dPr>
                                <m:e>
                                  <m:r>
                                    <a:rPr lang="en-GB" sz="1400" i="1">
                                      <a:latin typeface="Cambria Math" panose="02040503050406030204" pitchFamily="18" charset="0"/>
                                      <a:ea typeface="Cambria Math" panose="02040503050406030204" pitchFamily="18" charset="0"/>
                                    </a:rPr>
                                    <m:t>1+3%</m:t>
                                  </m:r>
                                </m:e>
                              </m:d>
                            </m:e>
                            <m:sup>
                              <m:r>
                                <a:rPr lang="en-GB" sz="1400" i="1">
                                  <a:latin typeface="Cambria Math" panose="02040503050406030204" pitchFamily="18" charset="0"/>
                                  <a:ea typeface="Cambria Math" panose="02040503050406030204" pitchFamily="18" charset="0"/>
                                </a:rPr>
                                <m:t>−10</m:t>
                              </m:r>
                            </m:sup>
                          </m:sSup>
                        </m:num>
                        <m:den>
                          <m:r>
                            <a:rPr lang="en-GB" sz="1400" i="1">
                              <a:latin typeface="Cambria Math" panose="02040503050406030204" pitchFamily="18" charset="0"/>
                              <a:ea typeface="Cambria Math" panose="02040503050406030204" pitchFamily="18" charset="0"/>
                            </a:rPr>
                            <m:t>3%−5%</m:t>
                          </m:r>
                        </m:den>
                      </m:f>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a:p>
                <a:pPr marL="334566" lvl="1" indent="-334566">
                  <a:spcAft>
                    <a:spcPts val="900"/>
                  </a:spcAft>
                  <a:buClr>
                    <a:srgbClr val="C00000"/>
                  </a:buClr>
                  <a:buSzPct val="90000"/>
                </a:pPr>
                <a14:m>
                  <m:oMathPara xmlns:m="http://schemas.openxmlformats.org/officeDocument/2006/math">
                    <m:oMathParaPr>
                      <m:jc m:val="left"/>
                    </m:oMathParaPr>
                    <m:oMath xmlns:m="http://schemas.openxmlformats.org/officeDocument/2006/math">
                      <m:r>
                        <a:rPr lang="en-GB" sz="1400" i="1">
                          <a:latin typeface="Cambria Math" panose="02040503050406030204" pitchFamily="18" charset="0"/>
                          <a:ea typeface="Cambria Math" panose="02040503050406030204" pitchFamily="18" charset="0"/>
                        </a:rPr>
                        <m:t>=£106,025.29</m:t>
                      </m:r>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555FEF-27F1-6FB5-0AA1-71E5E7694BAB}"/>
                  </a:ext>
                </a:extLst>
              </p:cNvPr>
              <p:cNvSpPr txBox="1">
                <a:spLocks noRot="1" noChangeAspect="1" noMove="1" noResize="1" noEditPoints="1" noAdjustHandles="1" noChangeArrowheads="1" noChangeShapeType="1" noTextEdit="1"/>
              </p:cNvSpPr>
              <p:nvPr/>
            </p:nvSpPr>
            <p:spPr>
              <a:xfrm>
                <a:off x="2841446" y="4338702"/>
                <a:ext cx="4619517" cy="979242"/>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3701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40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40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4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ppt_w</p:attrName>
                                        </p:attrNameLst>
                                      </p:cBhvr>
                                      <p:tavLst>
                                        <p:tav tm="0">
                                          <p:val>
                                            <p:fltVal val="0"/>
                                          </p:val>
                                        </p:tav>
                                        <p:tav tm="100000">
                                          <p:val>
                                            <p:strVal val="#ppt_w"/>
                                          </p:val>
                                        </p:tav>
                                      </p:tavLst>
                                    </p:anim>
                                    <p:anim calcmode="lin" valueType="num">
                                      <p:cBhvr>
                                        <p:cTn id="19" dur="1000" fill="hold"/>
                                        <p:tgtEl>
                                          <p:spTgt spid="6"/>
                                        </p:tgtEl>
                                        <p:attrNameLst>
                                          <p:attrName>ppt_h</p:attrName>
                                        </p:attrNameLst>
                                      </p:cBhvr>
                                      <p:tavLst>
                                        <p:tav tm="0">
                                          <p:val>
                                            <p:fltVal val="0"/>
                                          </p:val>
                                        </p:tav>
                                        <p:tav tm="100000">
                                          <p:val>
                                            <p:strVal val="#ppt_h"/>
                                          </p:val>
                                        </p:tav>
                                      </p:tavLst>
                                    </p:anim>
                                    <p:anim calcmode="lin" valueType="num">
                                      <p:cBhvr>
                                        <p:cTn id="20" dur="1000" fill="hold"/>
                                        <p:tgtEl>
                                          <p:spTgt spid="6"/>
                                        </p:tgtEl>
                                        <p:attrNameLst>
                                          <p:attrName>style.rotation</p:attrName>
                                        </p:attrNameLst>
                                      </p:cBhvr>
                                      <p:tavLst>
                                        <p:tav tm="0">
                                          <p:val>
                                            <p:fltVal val="90"/>
                                          </p:val>
                                        </p:tav>
                                        <p:tav tm="100000">
                                          <p:val>
                                            <p:fltVal val="0"/>
                                          </p:val>
                                        </p:tav>
                                      </p:tavLst>
                                    </p:anim>
                                    <p:animEffect transition="in" filter="fade">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634850"/>
            <a:ext cx="7886700" cy="634117"/>
          </a:xfrm>
        </p:spPr>
        <p:txBody>
          <a:bodyPr>
            <a:normAutofit/>
          </a:bodyPr>
          <a:lstStyle/>
          <a:p>
            <a:r>
              <a:rPr lang="en-GB" dirty="0"/>
              <a:t>Growing Annuity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847512"/>
              </a:xfrm>
            </p:spPr>
            <p:txBody>
              <a:bodyPr>
                <a:noAutofit/>
              </a:bodyPr>
              <a:lstStyle/>
              <a:p>
                <a:pPr marL="0" lvl="1" indent="0">
                  <a:spcAft>
                    <a:spcPts val="900"/>
                  </a:spcAft>
                  <a:buClr>
                    <a:srgbClr val="C00000"/>
                  </a:buClr>
                  <a:buSzPct val="90000"/>
                  <a:buNone/>
                </a:pPr>
                <a:r>
                  <a:rPr lang="en-GB" sz="1400" dirty="0">
                    <a:latin typeface="Arial" panose="020B0604020202020204" pitchFamily="34" charset="0"/>
                    <a:ea typeface="Cambria Math" panose="02040503050406030204" pitchFamily="18" charset="0"/>
                    <a:cs typeface="Arial" panose="020B0604020202020204" pitchFamily="34" charset="0"/>
                  </a:rPr>
                  <a:t>We know, the present value of a growing annuity is</a:t>
                </a: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400" i="1" smtClean="0">
                          <a:solidFill>
                            <a:schemeClr val="accent5">
                              <a:lumMod val="75000"/>
                            </a:schemeClr>
                          </a:solidFill>
                          <a:latin typeface="Cambria Math" panose="02040503050406030204" pitchFamily="18" charset="0"/>
                          <a:ea typeface="Cambria Math" panose="02040503050406030204" pitchFamily="18" charset="0"/>
                        </a:rPr>
                        <m:t>𝑃</m:t>
                      </m:r>
                      <m:r>
                        <a:rPr lang="en-GB" sz="1400" i="1">
                          <a:solidFill>
                            <a:schemeClr val="accent5">
                              <a:lumMod val="75000"/>
                            </a:schemeClr>
                          </a:solidFill>
                          <a:latin typeface="Cambria Math" panose="02040503050406030204" pitchFamily="18" charset="0"/>
                          <a:ea typeface="Cambria Math" panose="02040503050406030204" pitchFamily="18" charset="0"/>
                        </a:rPr>
                        <m:t>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sSup>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den>
                      </m:f>
                      <m:r>
                        <a:rPr lang="en-GB" sz="1400" b="0" i="1" smtClean="0">
                          <a:solidFill>
                            <a:schemeClr val="accent5">
                              <a:lumMod val="75000"/>
                            </a:schemeClr>
                          </a:solidFill>
                          <a:latin typeface="Cambria Math" panose="02040503050406030204" pitchFamily="18" charset="0"/>
                          <a:ea typeface="Cambria Math" panose="02040503050406030204" pitchFamily="18" charset="0"/>
                        </a:rPr>
                        <m:t> </m:t>
                      </m:r>
                    </m:oMath>
                  </m:oMathPara>
                </a14:m>
                <a:endParaRPr lang="en-GB" sz="1400"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a:p>
                <a:pPr marL="0" lvl="1" indent="0">
                  <a:spcAft>
                    <a:spcPts val="900"/>
                  </a:spcAft>
                  <a:buClr>
                    <a:srgbClr val="C00000"/>
                  </a:buClr>
                  <a:buSzPct val="90000"/>
                  <a:buNone/>
                </a:pPr>
                <a:endParaRPr lang="en-GB" sz="1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847512"/>
              </a:xfrm>
              <a:blipFill>
                <a:blip r:embed="rId3"/>
                <a:stretch>
                  <a:fillRect l="-213" t="-5036"/>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17</a:t>
            </a:fld>
            <a:endParaRPr lang="en-GB" sz="1350" dirty="0">
              <a:solidFill>
                <a:prstClr val="black">
                  <a:lumMod val="50000"/>
                  <a:lumOff val="50000"/>
                </a:prstClr>
              </a:solidFill>
              <a:latin typeface="Calibri" panose="020F0502020204030204"/>
              <a:ea typeface="+mn-ea"/>
            </a:endParaRPr>
          </a:p>
        </p:txBody>
      </p:sp>
      <p:sp>
        <p:nvSpPr>
          <p:cNvPr id="8" name="TextBox 7">
            <a:extLst>
              <a:ext uri="{FF2B5EF4-FFF2-40B4-BE49-F238E27FC236}">
                <a16:creationId xmlns:a16="http://schemas.microsoft.com/office/drawing/2014/main" id="{9D98F0EE-C3AF-A5DE-E7BB-94CABA6233F6}"/>
              </a:ext>
            </a:extLst>
          </p:cNvPr>
          <p:cNvSpPr txBox="1"/>
          <p:nvPr/>
        </p:nvSpPr>
        <p:spPr>
          <a:xfrm>
            <a:off x="266700" y="2636696"/>
            <a:ext cx="6736636" cy="307777"/>
          </a:xfrm>
          <a:prstGeom prst="rect">
            <a:avLst/>
          </a:prstGeom>
          <a:noFill/>
        </p:spPr>
        <p:txBody>
          <a:bodyPr wrap="square">
            <a:spAutoFit/>
          </a:bodyPr>
          <a:lstStyle/>
          <a:p>
            <a:pPr marL="0" lvl="1" indent="0">
              <a:spcAft>
                <a:spcPts val="900"/>
              </a:spcAft>
              <a:buClr>
                <a:srgbClr val="C00000"/>
              </a:buClr>
              <a:buSzPct val="90000"/>
            </a:pPr>
            <a:r>
              <a:rPr lang="en-GB" sz="1400" dirty="0">
                <a:ea typeface="Cambria Math" panose="02040503050406030204" pitchFamily="18" charset="0"/>
              </a:rPr>
              <a:t>This can be arranged to formulate the Future Value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7158821-540F-99A6-5A46-C2CAFE77029E}"/>
                  </a:ext>
                </a:extLst>
              </p:cNvPr>
              <p:cNvSpPr txBox="1"/>
              <p:nvPr/>
            </p:nvSpPr>
            <p:spPr>
              <a:xfrm>
                <a:off x="2302054" y="3171011"/>
                <a:ext cx="4619517" cy="675185"/>
              </a:xfrm>
              <a:prstGeom prst="rect">
                <a:avLst/>
              </a:prstGeom>
              <a:noFill/>
            </p:spPr>
            <p:txBody>
              <a:bodyPr wrap="square">
                <a:spAutoFit/>
              </a:bodyPr>
              <a:lstStyle/>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sz="1400" i="1" smtClean="0">
                          <a:solidFill>
                            <a:schemeClr val="accent5">
                              <a:lumMod val="75000"/>
                            </a:schemeClr>
                          </a:solidFill>
                          <a:latin typeface="Cambria Math" panose="02040503050406030204" pitchFamily="18" charset="0"/>
                          <a:ea typeface="Cambria Math" panose="02040503050406030204" pitchFamily="18" charset="0"/>
                        </a:rPr>
                        <m:t>𝐹𝑉</m:t>
                      </m:r>
                      <m:r>
                        <a:rPr lang="en-GB" sz="1400" i="1" smtClean="0">
                          <a:solidFill>
                            <a:schemeClr val="accent5">
                              <a:lumMod val="75000"/>
                            </a:schemeClr>
                          </a:solidFill>
                          <a:latin typeface="Cambria Math" panose="02040503050406030204" pitchFamily="18" charset="0"/>
                          <a:ea typeface="Cambria Math" panose="02040503050406030204" pitchFamily="18" charset="0"/>
                        </a:rPr>
                        <m:t>=</m:t>
                      </m:r>
                      <m:r>
                        <a:rPr lang="en-GB" sz="1400" i="1" smtClean="0">
                          <a:solidFill>
                            <a:schemeClr val="accent5">
                              <a:lumMod val="75000"/>
                            </a:schemeClr>
                          </a:solidFill>
                          <a:latin typeface="Cambria Math" panose="02040503050406030204" pitchFamily="18" charset="0"/>
                          <a:ea typeface="Cambria Math" panose="02040503050406030204" pitchFamily="18" charset="0"/>
                        </a:rPr>
                        <m:t>𝐴</m:t>
                      </m:r>
                      <m:r>
                        <a:rPr lang="en-GB" sz="14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sz="1400" i="1">
                                  <a:solidFill>
                                    <a:srgbClr val="C00000"/>
                                  </a:solidFill>
                                  <a:latin typeface="Cambria Math" panose="02040503050406030204" pitchFamily="18" charset="0"/>
                                </a:rPr>
                              </m:ctrlPr>
                            </m:sSupPr>
                            <m:e>
                              <m:d>
                                <m:dPr>
                                  <m:ctrlPr>
                                    <a:rPr lang="en-GB" sz="1400" i="1">
                                      <a:solidFill>
                                        <a:srgbClr val="C00000"/>
                                      </a:solidFill>
                                      <a:latin typeface="Cambria Math" panose="02040503050406030204" pitchFamily="18" charset="0"/>
                                    </a:rPr>
                                  </m:ctrlPr>
                                </m:dPr>
                                <m:e>
                                  <m:r>
                                    <a:rPr lang="en-GB" sz="1400" i="1">
                                      <a:solidFill>
                                        <a:srgbClr val="C00000"/>
                                      </a:solidFill>
                                      <a:latin typeface="Cambria Math" panose="02040503050406030204" pitchFamily="18" charset="0"/>
                                    </a:rPr>
                                    <m:t>1+</m:t>
                                  </m:r>
                                  <m:r>
                                    <a:rPr lang="en-GB" sz="1400" i="1">
                                      <a:solidFill>
                                        <a:srgbClr val="C00000"/>
                                      </a:solidFill>
                                      <a:latin typeface="Cambria Math" panose="02040503050406030204" pitchFamily="18" charset="0"/>
                                    </a:rPr>
                                    <m:t>𝑟</m:t>
                                  </m:r>
                                </m:e>
                              </m:d>
                            </m:e>
                            <m:sup>
                              <m:r>
                                <a:rPr lang="en-GB" sz="1400" i="1">
                                  <a:solidFill>
                                    <a:srgbClr val="C00000"/>
                                  </a:solidFill>
                                  <a:latin typeface="Cambria Math" panose="02040503050406030204" pitchFamily="18" charset="0"/>
                                </a:rPr>
                                <m:t>𝑡</m:t>
                              </m:r>
                            </m:sup>
                          </m:sSup>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𝑔</m:t>
                                  </m:r>
                                </m:e>
                              </m:d>
                            </m:e>
                            <m:sup>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𝑔</m:t>
                          </m:r>
                        </m:den>
                      </m:f>
                      <m:r>
                        <a:rPr lang="en-GB" sz="1400" b="0" i="1" smtClean="0">
                          <a:solidFill>
                            <a:schemeClr val="accent5">
                              <a:lumMod val="75000"/>
                            </a:schemeClr>
                          </a:solidFill>
                          <a:latin typeface="Cambria Math" panose="02040503050406030204" pitchFamily="18" charset="0"/>
                          <a:ea typeface="Cambria Math" panose="02040503050406030204" pitchFamily="18" charset="0"/>
                        </a:rPr>
                        <m:t>                </m:t>
                      </m:r>
                    </m:oMath>
                  </m:oMathPara>
                </a14:m>
                <a:endParaRPr lang="en-GB" sz="1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C7158821-540F-99A6-5A46-C2CAFE77029E}"/>
                  </a:ext>
                </a:extLst>
              </p:cNvPr>
              <p:cNvSpPr txBox="1">
                <a:spLocks noRot="1" noChangeAspect="1" noMove="1" noResize="1" noEditPoints="1" noAdjustHandles="1" noChangeArrowheads="1" noChangeShapeType="1" noTextEdit="1"/>
              </p:cNvSpPr>
              <p:nvPr/>
            </p:nvSpPr>
            <p:spPr>
              <a:xfrm>
                <a:off x="2302054" y="3171011"/>
                <a:ext cx="4619517" cy="675185"/>
              </a:xfrm>
              <a:prstGeom prst="rect">
                <a:avLst/>
              </a:prstGeom>
              <a:blipFill>
                <a:blip r:embed="rId4"/>
                <a:stretch>
                  <a:fillRect/>
                </a:stretch>
              </a:blipFill>
            </p:spPr>
            <p:txBody>
              <a:bodyPr/>
              <a:lstStyle/>
              <a:p>
                <a:r>
                  <a:rPr lang="en-GB">
                    <a:noFill/>
                  </a:rPr>
                  <a:t> </a:t>
                </a:r>
              </a:p>
            </p:txBody>
          </p:sp>
        </mc:Fallback>
      </mc:AlternateContent>
      <p:sp>
        <p:nvSpPr>
          <p:cNvPr id="11" name="Lightning Bolt 10">
            <a:extLst>
              <a:ext uri="{FF2B5EF4-FFF2-40B4-BE49-F238E27FC236}">
                <a16:creationId xmlns:a16="http://schemas.microsoft.com/office/drawing/2014/main" id="{3E6994B7-CB31-563B-5EA7-8C20019A4D1D}"/>
              </a:ext>
            </a:extLst>
          </p:cNvPr>
          <p:cNvSpPr/>
          <p:nvPr/>
        </p:nvSpPr>
        <p:spPr>
          <a:xfrm>
            <a:off x="2434971" y="3255221"/>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Lightning Bolt 11">
            <a:extLst>
              <a:ext uri="{FF2B5EF4-FFF2-40B4-BE49-F238E27FC236}">
                <a16:creationId xmlns:a16="http://schemas.microsoft.com/office/drawing/2014/main" id="{E5CAA9B0-FE50-C5AF-B6C8-3CDCE7935448}"/>
              </a:ext>
            </a:extLst>
          </p:cNvPr>
          <p:cNvSpPr/>
          <p:nvPr/>
        </p:nvSpPr>
        <p:spPr>
          <a:xfrm>
            <a:off x="5481686" y="3245297"/>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4523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000"/>
                                        <p:tgtEl>
                                          <p:spTgt spid="12"/>
                                        </p:tgtEl>
                                      </p:cBhvr>
                                    </p:animEffect>
                                    <p:anim calcmode="lin" valueType="num">
                                      <p:cBhvr>
                                        <p:cTn id="18" dur="2000" fill="hold"/>
                                        <p:tgtEl>
                                          <p:spTgt spid="12"/>
                                        </p:tgtEl>
                                        <p:attrNameLst>
                                          <p:attrName>ppt_w</p:attrName>
                                        </p:attrNameLst>
                                      </p:cBhvr>
                                      <p:tavLst>
                                        <p:tav tm="0" fmla="#ppt_w*sin(2.5*pi*$)">
                                          <p:val>
                                            <p:fltVal val="0"/>
                                          </p:val>
                                        </p:tav>
                                        <p:tav tm="100000">
                                          <p:val>
                                            <p:fltVal val="1"/>
                                          </p:val>
                                        </p:tav>
                                      </p:tavLst>
                                    </p:anim>
                                    <p:anim calcmode="lin" valueType="num">
                                      <p:cBhvr>
                                        <p:cTn id="19" dur="2000" fill="hold"/>
                                        <p:tgtEl>
                                          <p:spTgt spid="12"/>
                                        </p:tgtEl>
                                        <p:attrNameLst>
                                          <p:attrName>ppt_h</p:attrName>
                                        </p:attrNameLst>
                                      </p:cBhvr>
                                      <p:tavLst>
                                        <p:tav tm="0">
                                          <p:val>
                                            <p:strVal val="#ppt_h"/>
                                          </p:val>
                                        </p:tav>
                                        <p:tav tm="100000">
                                          <p:val>
                                            <p:strVal val="#ppt_h"/>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0"/>
                                        <p:tgtEl>
                                          <p:spTgt spid="11"/>
                                        </p:tgtEl>
                                      </p:cBhvr>
                                    </p:animEffect>
                                    <p:anim calcmode="lin" valueType="num">
                                      <p:cBhvr>
                                        <p:cTn id="23" dur="2000" fill="hold"/>
                                        <p:tgtEl>
                                          <p:spTgt spid="11"/>
                                        </p:tgtEl>
                                        <p:attrNameLst>
                                          <p:attrName>ppt_w</p:attrName>
                                        </p:attrNameLst>
                                      </p:cBhvr>
                                      <p:tavLst>
                                        <p:tav tm="0" fmla="#ppt_w*sin(2.5*pi*$)">
                                          <p:val>
                                            <p:fltVal val="0"/>
                                          </p:val>
                                        </p:tav>
                                        <p:tav tm="100000">
                                          <p:val>
                                            <p:fltVal val="1"/>
                                          </p:val>
                                        </p:tav>
                                      </p:tavLst>
                                    </p:anim>
                                    <p:anim calcmode="lin" valueType="num">
                                      <p:cBhvr>
                                        <p:cTn id="24" dur="2000" fill="hold"/>
                                        <p:tgtEl>
                                          <p:spTgt spid="11"/>
                                        </p:tgtEl>
                                        <p:attrNameLst>
                                          <p:attrName>ppt_h</p:attrName>
                                        </p:attrNameLst>
                                      </p:cBhvr>
                                      <p:tavLst>
                                        <p:tav tm="0">
                                          <p:val>
                                            <p:strVal val="#ppt_h"/>
                                          </p:val>
                                        </p:tav>
                                        <p:tav tm="100000">
                                          <p:val>
                                            <p:strVal val="#ppt_h"/>
                                          </p:val>
                                        </p:tav>
                                      </p:tavLst>
                                    </p:anim>
                                  </p:childTnLst>
                                </p:cTn>
                              </p:par>
                              <p:par>
                                <p:cTn id="25" presetID="3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1000" fill="hold"/>
                                        <p:tgtEl>
                                          <p:spTgt spid="10"/>
                                        </p:tgtEl>
                                        <p:attrNameLst>
                                          <p:attrName>ppt_w</p:attrName>
                                        </p:attrNameLst>
                                      </p:cBhvr>
                                      <p:tavLst>
                                        <p:tav tm="0">
                                          <p:val>
                                            <p:fltVal val="0"/>
                                          </p:val>
                                        </p:tav>
                                        <p:tav tm="100000">
                                          <p:val>
                                            <p:strVal val="#ppt_w"/>
                                          </p:val>
                                        </p:tav>
                                      </p:tavLst>
                                    </p:anim>
                                    <p:anim calcmode="lin" valueType="num">
                                      <p:cBhvr>
                                        <p:cTn id="28" dur="1000" fill="hold"/>
                                        <p:tgtEl>
                                          <p:spTgt spid="10"/>
                                        </p:tgtEl>
                                        <p:attrNameLst>
                                          <p:attrName>ppt_h</p:attrName>
                                        </p:attrNameLst>
                                      </p:cBhvr>
                                      <p:tavLst>
                                        <p:tav tm="0">
                                          <p:val>
                                            <p:fltVal val="0"/>
                                          </p:val>
                                        </p:tav>
                                        <p:tav tm="100000">
                                          <p:val>
                                            <p:strVal val="#ppt_h"/>
                                          </p:val>
                                        </p:tav>
                                      </p:tavLst>
                                    </p:anim>
                                    <p:anim calcmode="lin" valueType="num">
                                      <p:cBhvr>
                                        <p:cTn id="29" dur="1000" fill="hold"/>
                                        <p:tgtEl>
                                          <p:spTgt spid="10"/>
                                        </p:tgtEl>
                                        <p:attrNameLst>
                                          <p:attrName>style.rotation</p:attrName>
                                        </p:attrNameLst>
                                      </p:cBhvr>
                                      <p:tavLst>
                                        <p:tav tm="0">
                                          <p:val>
                                            <p:fltVal val="90"/>
                                          </p:val>
                                        </p:tav>
                                        <p:tav tm="100000">
                                          <p:val>
                                            <p:fltVal val="0"/>
                                          </p:val>
                                        </p:tav>
                                      </p:tavLst>
                                    </p:anim>
                                    <p:animEffect transition="in" filter="fade">
                                      <p:cBhvr>
                                        <p:cTn id="3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0" grpId="0"/>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727" y="640523"/>
            <a:ext cx="7886700" cy="634117"/>
          </a:xfrm>
        </p:spPr>
        <p:txBody>
          <a:bodyPr>
            <a:normAutofit/>
          </a:bodyPr>
          <a:lstStyle/>
          <a:p>
            <a:r>
              <a:rPr lang="en-GB" dirty="0"/>
              <a:t>Annuity recap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3778750" cy="1494785"/>
              </a:xfrm>
            </p:spPr>
            <p:txBody>
              <a:bodyPr>
                <a:normAutofit lnSpcReduction="10000"/>
              </a:bodyPr>
              <a:lstStyle/>
              <a:p>
                <a:pPr marL="42863" lvl="1" indent="0">
                  <a:spcAft>
                    <a:spcPts val="900"/>
                  </a:spcAft>
                  <a:buClr>
                    <a:srgbClr val="C00000"/>
                  </a:buClr>
                  <a:buSzPct val="90000"/>
                  <a:buNone/>
                </a:pPr>
                <a:r>
                  <a:rPr lang="en-GB" sz="1400" dirty="0">
                    <a:latin typeface="Arial" panose="020B0604020202020204" pitchFamily="34" charset="0"/>
                    <a:ea typeface="Cambria Math" panose="02040503050406030204" pitchFamily="18" charset="0"/>
                    <a:cs typeface="Arial" panose="020B0604020202020204" pitchFamily="34" charset="0"/>
                  </a:rPr>
                  <a:t>Constant Annuity</a:t>
                </a:r>
              </a:p>
              <a:p>
                <a:pPr marL="0" lvl="1" indent="0" algn="ctr">
                  <a:spcAft>
                    <a:spcPts val="900"/>
                  </a:spcAft>
                  <a:buClr>
                    <a:srgbClr val="C00000"/>
                  </a:buClr>
                  <a:buSzPct val="90000"/>
                  <a:buNone/>
                </a:pPr>
                <a14:m>
                  <m:oMathPara xmlns:m="http://schemas.openxmlformats.org/officeDocument/2006/math">
                    <m:oMathParaPr>
                      <m:jc m:val="center"/>
                    </m:oMathParaPr>
                    <m:oMath xmlns:m="http://schemas.openxmlformats.org/officeDocument/2006/math">
                      <m:r>
                        <a:rPr lang="en-GB" sz="1400" b="0" i="1" smtClean="0">
                          <a:solidFill>
                            <a:schemeClr val="accent5">
                              <a:lumMod val="75000"/>
                            </a:schemeClr>
                          </a:solidFill>
                          <a:latin typeface="Cambria Math" panose="02040503050406030204" pitchFamily="18" charset="0"/>
                          <a:ea typeface="Cambria Math" panose="02040503050406030204" pitchFamily="18" charset="0"/>
                        </a:rPr>
                        <m:t>𝐹𝑉</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i="1" smtClean="0">
                          <a:solidFill>
                            <a:schemeClr val="accent5">
                              <a:lumMod val="75000"/>
                            </a:schemeClr>
                          </a:solidFill>
                          <a:latin typeface="Cambria Math" panose="02040503050406030204" pitchFamily="18" charset="0"/>
                          <a:ea typeface="Cambria Math" panose="02040503050406030204" pitchFamily="18" charset="0"/>
                        </a:rPr>
                        <m:t>𝐴</m:t>
                      </m:r>
                      <m:r>
                        <a:rPr lang="en-GB" sz="14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sSup>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num>
                        <m:den>
                          <m:r>
                            <a:rPr lang="en-GB" sz="1400" b="0" i="1" smtClean="0">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lgn="ctr">
                  <a:spcAft>
                    <a:spcPts val="900"/>
                  </a:spcAft>
                  <a:buClr>
                    <a:srgbClr val="C00000"/>
                  </a:buClr>
                  <a:buSzPct val="90000"/>
                  <a:buNone/>
                </a:pPr>
                <a14:m>
                  <m:oMathPara xmlns:m="http://schemas.openxmlformats.org/officeDocument/2006/math">
                    <m:oMathParaPr>
                      <m:jc m:val="center"/>
                    </m:oMathParaPr>
                    <m:oMath xmlns:m="http://schemas.openxmlformats.org/officeDocument/2006/math">
                      <m:r>
                        <a:rPr lang="en-GB" sz="1400" b="0" i="1" smtClean="0">
                          <a:solidFill>
                            <a:schemeClr val="accent5">
                              <a:lumMod val="75000"/>
                            </a:schemeClr>
                          </a:solidFill>
                          <a:latin typeface="Cambria Math" panose="02040503050406030204" pitchFamily="18" charset="0"/>
                          <a:ea typeface="Cambria Math" panose="02040503050406030204" pitchFamily="18" charset="0"/>
                        </a:rPr>
                        <m:t>𝑃</m:t>
                      </m:r>
                      <m:r>
                        <a:rPr lang="en-GB" sz="1400" i="1">
                          <a:solidFill>
                            <a:schemeClr val="accent5">
                              <a:lumMod val="75000"/>
                            </a:schemeClr>
                          </a:solidFill>
                          <a:latin typeface="Cambria Math" panose="02040503050406030204" pitchFamily="18" charset="0"/>
                          <a:ea typeface="Cambria Math" panose="02040503050406030204" pitchFamily="18" charset="0"/>
                        </a:rPr>
                        <m:t>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3778750" cy="1494785"/>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18</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431D90A-EC06-FE5C-54B6-F796DF70ADB4}"/>
                  </a:ext>
                </a:extLst>
              </p:cNvPr>
              <p:cNvSpPr txBox="1"/>
              <p:nvPr/>
            </p:nvSpPr>
            <p:spPr>
              <a:xfrm>
                <a:off x="421883" y="3199759"/>
                <a:ext cx="4070493" cy="1588897"/>
              </a:xfrm>
              <a:prstGeom prst="rect">
                <a:avLst/>
              </a:prstGeom>
              <a:noFill/>
            </p:spPr>
            <p:txBody>
              <a:bodyPr wrap="square">
                <a:spAutoFit/>
              </a:bodyPr>
              <a:lstStyle/>
              <a:p>
                <a:pPr marL="0" lvl="1">
                  <a:spcAft>
                    <a:spcPts val="900"/>
                  </a:spcAft>
                  <a:buClr>
                    <a:srgbClr val="C00000"/>
                  </a:buClr>
                  <a:buSzPct val="90000"/>
                </a:pPr>
                <a:r>
                  <a:rPr lang="en-GB" sz="1400" dirty="0">
                    <a:latin typeface="Arial" panose="020B0604020202020204" pitchFamily="34" charset="0"/>
                    <a:ea typeface="Cambria Math" panose="02040503050406030204" pitchFamily="18" charset="0"/>
                    <a:cs typeface="Arial" panose="020B0604020202020204" pitchFamily="34" charset="0"/>
                  </a:rPr>
                  <a:t>Growing Annuity</a:t>
                </a:r>
              </a:p>
              <a:p>
                <a:pPr marL="0" lvl="1" indent="0" algn="ctr">
                  <a:spcAft>
                    <a:spcPts val="900"/>
                  </a:spcAft>
                  <a:buClr>
                    <a:srgbClr val="C00000"/>
                  </a:buClr>
                  <a:buSzPct val="90000"/>
                </a:pPr>
                <a14:m>
                  <m:oMathPara xmlns:m="http://schemas.openxmlformats.org/officeDocument/2006/math">
                    <m:oMathParaPr>
                      <m:jc m:val="center"/>
                    </m:oMathParaPr>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𝐹𝑉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lgn="ctr">
                  <a:spcAft>
                    <a:spcPts val="900"/>
                  </a:spcAft>
                  <a:buClr>
                    <a:srgbClr val="C00000"/>
                  </a:buClr>
                  <a:buSzPct val="90000"/>
                </a:pPr>
                <a14:m>
                  <m:oMathPara xmlns:m="http://schemas.openxmlformats.org/officeDocument/2006/math">
                    <m:oMathParaPr>
                      <m:jc m:val="center"/>
                    </m:oMathParaPr>
                    <m:oMath xmlns:m="http://schemas.openxmlformats.org/officeDocument/2006/math">
                      <m:r>
                        <a:rPr lang="en-GB" sz="1400" i="1">
                          <a:solidFill>
                            <a:schemeClr val="accent5">
                              <a:lumMod val="75000"/>
                            </a:schemeClr>
                          </a:solidFill>
                          <a:latin typeface="Cambria Math" panose="02040503050406030204" pitchFamily="18" charset="0"/>
                          <a:ea typeface="Cambria Math" panose="02040503050406030204" pitchFamily="18" charset="0"/>
                        </a:rPr>
                        <m:t>𝑃𝑉</m:t>
                      </m:r>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𝐴</m:t>
                      </m:r>
                      <m:r>
                        <a:rPr lang="en-GB" sz="1400" i="1">
                          <a:solidFill>
                            <a:schemeClr val="accent5">
                              <a:lumMod val="75000"/>
                            </a:schemeClr>
                          </a:solidFill>
                          <a:latin typeface="Cambria Math" panose="02040503050406030204" pitchFamily="18" charset="0"/>
                          <a:ea typeface="Cambria Math" panose="02040503050406030204" pitchFamily="18" charset="0"/>
                        </a:rPr>
                        <m:t>×</m:t>
                      </m:r>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sSup>
                                <m:sSup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400" b="0" i="1" smtClean="0">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e>
                                  </m:d>
                                </m:e>
                                <m:sup>
                                  <m:r>
                                    <a:rPr lang="en-GB" sz="1400" b="0" i="1" smtClean="0">
                                      <a:solidFill>
                                        <a:schemeClr val="accent5">
                                          <a:lumMod val="75000"/>
                                        </a:schemeClr>
                                      </a:solidFill>
                                      <a:latin typeface="Cambria Math" panose="02040503050406030204" pitchFamily="18" charset="0"/>
                                      <a:ea typeface="Cambria Math" panose="02040503050406030204" pitchFamily="18" charset="0"/>
                                    </a:rPr>
                                    <m:t>𝑡</m:t>
                                  </m:r>
                                </m:sup>
                              </m:sSup>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chemeClr val="accent5">
                                      <a:lumMod val="75000"/>
                                    </a:schemeClr>
                                  </a:solidFill>
                                  <a:latin typeface="Cambria Math" panose="02040503050406030204" pitchFamily="18" charset="0"/>
                                  <a:ea typeface="Cambria Math" panose="02040503050406030204" pitchFamily="18" charset="0"/>
                                </a:rPr>
                                <m:t>−</m:t>
                              </m:r>
                              <m:r>
                                <a:rPr lang="en-GB" sz="14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400" i="1">
                              <a:solidFill>
                                <a:schemeClr val="accent5">
                                  <a:lumMod val="75000"/>
                                </a:schemeClr>
                              </a:solidFill>
                              <a:latin typeface="Cambria Math" panose="02040503050406030204" pitchFamily="18" charset="0"/>
                              <a:ea typeface="Cambria Math" panose="02040503050406030204" pitchFamily="18" charset="0"/>
                            </a:rPr>
                            <m:t>𝑟</m:t>
                          </m:r>
                          <m:r>
                            <a:rPr lang="en-GB" sz="1400" b="0" i="1" smtClean="0">
                              <a:solidFill>
                                <a:schemeClr val="accent5">
                                  <a:lumMod val="75000"/>
                                </a:schemeClr>
                              </a:solidFill>
                              <a:latin typeface="Cambria Math" panose="02040503050406030204" pitchFamily="18" charset="0"/>
                              <a:ea typeface="Cambria Math" panose="02040503050406030204" pitchFamily="18" charset="0"/>
                            </a:rPr>
                            <m:t>−</m:t>
                          </m:r>
                          <m:r>
                            <a:rPr lang="en-GB" sz="1400" b="0" i="1" smtClean="0">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4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1431D90A-EC06-FE5C-54B6-F796DF70ADB4}"/>
                  </a:ext>
                </a:extLst>
              </p:cNvPr>
              <p:cNvSpPr txBox="1">
                <a:spLocks noRot="1" noChangeAspect="1" noMove="1" noResize="1" noEditPoints="1" noAdjustHandles="1" noChangeArrowheads="1" noChangeShapeType="1" noTextEdit="1"/>
              </p:cNvSpPr>
              <p:nvPr/>
            </p:nvSpPr>
            <p:spPr>
              <a:xfrm>
                <a:off x="421883" y="3199759"/>
                <a:ext cx="4070493" cy="1588897"/>
              </a:xfrm>
              <a:prstGeom prst="rect">
                <a:avLst/>
              </a:prstGeom>
              <a:blipFill>
                <a:blip r:embed="rId4"/>
                <a:stretch>
                  <a:fillRect l="-449" t="-766"/>
                </a:stretch>
              </a:blipFill>
            </p:spPr>
            <p:txBody>
              <a:bodyPr/>
              <a:lstStyle/>
              <a:p>
                <a:r>
                  <a:rPr lang="en-GB">
                    <a:noFill/>
                  </a:rPr>
                  <a:t> </a:t>
                </a:r>
              </a:p>
            </p:txBody>
          </p:sp>
        </mc:Fallback>
      </mc:AlternateContent>
      <p:sp>
        <p:nvSpPr>
          <p:cNvPr id="5" name="Rectangle: Rounded Corners 4">
            <a:extLst>
              <a:ext uri="{FF2B5EF4-FFF2-40B4-BE49-F238E27FC236}">
                <a16:creationId xmlns:a16="http://schemas.microsoft.com/office/drawing/2014/main" id="{9685B410-85EA-7A19-4FCB-1A41FA6CF822}"/>
              </a:ext>
            </a:extLst>
          </p:cNvPr>
          <p:cNvSpPr/>
          <p:nvPr/>
        </p:nvSpPr>
        <p:spPr>
          <a:xfrm>
            <a:off x="266700" y="5177807"/>
            <a:ext cx="8409756" cy="864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1" indent="0" algn="ctr">
              <a:spcAft>
                <a:spcPts val="900"/>
              </a:spcAft>
              <a:buClr>
                <a:srgbClr val="C00000"/>
              </a:buClr>
              <a:buSzPct val="90000"/>
            </a:pPr>
            <a:r>
              <a:rPr lang="en-GB" sz="2000" b="1" dirty="0">
                <a:ea typeface="Cambria Math" panose="02040503050406030204" pitchFamily="18" charset="0"/>
              </a:rPr>
              <a:t>What if the annuity goes on forever? This is called a Perpetuity.</a:t>
            </a:r>
            <a:endParaRPr lang="en-GB" sz="2000" b="1" dirty="0">
              <a:solidFill>
                <a:schemeClr val="accent5">
                  <a:lumMod val="75000"/>
                </a:schemeClr>
              </a:solidFill>
              <a:ea typeface="Cambria Math" panose="02040503050406030204" pitchFamily="18" charset="0"/>
            </a:endParaRPr>
          </a:p>
        </p:txBody>
      </p:sp>
    </p:spTree>
    <p:extLst>
      <p:ext uri="{BB962C8B-B14F-4D97-AF65-F5344CB8AC3E}">
        <p14:creationId xmlns:p14="http://schemas.microsoft.com/office/powerpoint/2010/main" val="11605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1" end="1"/>
                                            </p:tx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fltVal val="0"/>
                                          </p:val>
                                        </p:tav>
                                        <p:tav tm="100000">
                                          <p:val>
                                            <p:strVal val="#ppt_w"/>
                                          </p:val>
                                        </p:tav>
                                      </p:tavLst>
                                    </p:anim>
                                    <p:anim calcmode="lin" valueType="num">
                                      <p:cBhvr>
                                        <p:cTn id="28" dur="1000" fill="hold"/>
                                        <p:tgtEl>
                                          <p:spTgt spid="6"/>
                                        </p:tgtEl>
                                        <p:attrNameLst>
                                          <p:attrName>ppt_h</p:attrName>
                                        </p:attrNameLst>
                                      </p:cBhvr>
                                      <p:tavLst>
                                        <p:tav tm="0">
                                          <p:val>
                                            <p:fltVal val="0"/>
                                          </p:val>
                                        </p:tav>
                                        <p:tav tm="100000">
                                          <p:val>
                                            <p:strVal val="#ppt_h"/>
                                          </p:val>
                                        </p:tav>
                                      </p:tavLst>
                                    </p:anim>
                                    <p:anim calcmode="lin" valueType="num">
                                      <p:cBhvr>
                                        <p:cTn id="29" dur="1000" fill="hold"/>
                                        <p:tgtEl>
                                          <p:spTgt spid="6"/>
                                        </p:tgtEl>
                                        <p:attrNameLst>
                                          <p:attrName>style.rotation</p:attrName>
                                        </p:attrNameLst>
                                      </p:cBhvr>
                                      <p:tavLst>
                                        <p:tav tm="0">
                                          <p:val>
                                            <p:fltVal val="90"/>
                                          </p:val>
                                        </p:tav>
                                        <p:tav tm="100000">
                                          <p:val>
                                            <p:fltVal val="0"/>
                                          </p:val>
                                        </p:tav>
                                      </p:tavLst>
                                    </p:anim>
                                    <p:animEffect transition="in" filter="fade">
                                      <p:cBhvr>
                                        <p:cTn id="30" dur="1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80">
                                          <p:stCondLst>
                                            <p:cond delay="0"/>
                                          </p:stCondLst>
                                        </p:cTn>
                                        <p:tgtEl>
                                          <p:spTgt spid="5"/>
                                        </p:tgtEl>
                                      </p:cBhvr>
                                    </p:animEffect>
                                    <p:anim calcmode="lin" valueType="num">
                                      <p:cBhvr>
                                        <p:cTn id="3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1" dur="26">
                                          <p:stCondLst>
                                            <p:cond delay="650"/>
                                          </p:stCondLst>
                                        </p:cTn>
                                        <p:tgtEl>
                                          <p:spTgt spid="5"/>
                                        </p:tgtEl>
                                      </p:cBhvr>
                                      <p:to x="100000" y="60000"/>
                                    </p:animScale>
                                    <p:animScale>
                                      <p:cBhvr>
                                        <p:cTn id="42" dur="166" decel="50000">
                                          <p:stCondLst>
                                            <p:cond delay="676"/>
                                          </p:stCondLst>
                                        </p:cTn>
                                        <p:tgtEl>
                                          <p:spTgt spid="5"/>
                                        </p:tgtEl>
                                      </p:cBhvr>
                                      <p:to x="100000" y="100000"/>
                                    </p:animScale>
                                    <p:animScale>
                                      <p:cBhvr>
                                        <p:cTn id="43" dur="26">
                                          <p:stCondLst>
                                            <p:cond delay="1312"/>
                                          </p:stCondLst>
                                        </p:cTn>
                                        <p:tgtEl>
                                          <p:spTgt spid="5"/>
                                        </p:tgtEl>
                                      </p:cBhvr>
                                      <p:to x="100000" y="80000"/>
                                    </p:animScale>
                                    <p:animScale>
                                      <p:cBhvr>
                                        <p:cTn id="44" dur="166" decel="50000">
                                          <p:stCondLst>
                                            <p:cond delay="1338"/>
                                          </p:stCondLst>
                                        </p:cTn>
                                        <p:tgtEl>
                                          <p:spTgt spid="5"/>
                                        </p:tgtEl>
                                      </p:cBhvr>
                                      <p:to x="100000" y="100000"/>
                                    </p:animScale>
                                    <p:animScale>
                                      <p:cBhvr>
                                        <p:cTn id="45" dur="26">
                                          <p:stCondLst>
                                            <p:cond delay="1642"/>
                                          </p:stCondLst>
                                        </p:cTn>
                                        <p:tgtEl>
                                          <p:spTgt spid="5"/>
                                        </p:tgtEl>
                                      </p:cBhvr>
                                      <p:to x="100000" y="90000"/>
                                    </p:animScale>
                                    <p:animScale>
                                      <p:cBhvr>
                                        <p:cTn id="46" dur="166" decel="50000">
                                          <p:stCondLst>
                                            <p:cond delay="1668"/>
                                          </p:stCondLst>
                                        </p:cTn>
                                        <p:tgtEl>
                                          <p:spTgt spid="5"/>
                                        </p:tgtEl>
                                      </p:cBhvr>
                                      <p:to x="100000" y="100000"/>
                                    </p:animScale>
                                    <p:animScale>
                                      <p:cBhvr>
                                        <p:cTn id="47" dur="26">
                                          <p:stCondLst>
                                            <p:cond delay="1808"/>
                                          </p:stCondLst>
                                        </p:cTn>
                                        <p:tgtEl>
                                          <p:spTgt spid="5"/>
                                        </p:tgtEl>
                                      </p:cBhvr>
                                      <p:to x="100000" y="95000"/>
                                    </p:animScale>
                                    <p:animScale>
                                      <p:cBhvr>
                                        <p:cTn id="48"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a:bodyPr>
          <a:lstStyle/>
          <a:p>
            <a:r>
              <a:rPr lang="en-GB" dirty="0"/>
              <a:t>Perpetuity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66700" y="1704974"/>
                <a:ext cx="8591550" cy="777329"/>
              </a:xfrm>
            </p:spPr>
            <p:txBody>
              <a:bodyPr>
                <a:normAutofit fontScale="40000" lnSpcReduction="20000"/>
              </a:bodyPr>
              <a:lstStyle/>
              <a:p>
                <a:pPr marL="0" lvl="1" indent="0">
                  <a:spcAft>
                    <a:spcPts val="900"/>
                  </a:spcAft>
                  <a:buClr>
                    <a:srgbClr val="C00000"/>
                  </a:buClr>
                  <a:buSzPct val="90000"/>
                  <a:buNone/>
                </a:pPr>
                <a:r>
                  <a:rPr lang="en-GB" dirty="0">
                    <a:ea typeface="Cambria Math" panose="02040503050406030204" pitchFamily="18" charset="0"/>
                  </a:rPr>
                  <a:t>When the annuity occurs indefinitely, this is a </a:t>
                </a:r>
                <a:r>
                  <a:rPr lang="en-GB" dirty="0">
                    <a:solidFill>
                      <a:srgbClr val="C00000"/>
                    </a:solidFill>
                    <a:ea typeface="Cambria Math" panose="02040503050406030204" pitchFamily="18" charset="0"/>
                  </a:rPr>
                  <a:t>perpetuity    </a:t>
                </a:r>
                <a:r>
                  <a:rPr lang="en-GB" dirty="0">
                    <a:ea typeface="Cambria Math" panose="02040503050406030204" pitchFamily="18" charset="0"/>
                  </a:rPr>
                  <a:t> </a:t>
                </a:r>
                <a14:m>
                  <m:oMath xmlns:m="http://schemas.openxmlformats.org/officeDocument/2006/math">
                    <m:r>
                      <a:rPr lang="en-GB" b="0" i="1" dirty="0" smtClean="0">
                        <a:latin typeface="Cambria Math" panose="02040503050406030204" pitchFamily="18" charset="0"/>
                        <a:ea typeface="Cambria Math" panose="02040503050406030204" pitchFamily="18" charset="0"/>
                      </a:rPr>
                      <m:t>𝑡</m:t>
                    </m:r>
                    <m:r>
                      <a:rPr lang="en-GB" b="0" i="1" dirty="0" smtClean="0">
                        <a:latin typeface="Cambria Math" panose="02040503050406030204" pitchFamily="18" charset="0"/>
                        <a:ea typeface="Cambria Math" panose="02040503050406030204" pitchFamily="18" charset="0"/>
                      </a:rPr>
                      <m:t>=∞</m:t>
                    </m:r>
                  </m:oMath>
                </a14:m>
                <a:endParaRPr lang="en-GB" b="0" dirty="0">
                  <a:ea typeface="Cambria Math" panose="02040503050406030204" pitchFamily="18" charset="0"/>
                </a:endParaRPr>
              </a:p>
              <a:p>
                <a:pPr marL="0" lvl="1" indent="0">
                  <a:spcAft>
                    <a:spcPts val="900"/>
                  </a:spcAft>
                  <a:buClr>
                    <a:srgbClr val="C00000"/>
                  </a:buClr>
                  <a:buSzPct val="90000"/>
                  <a:buNone/>
                </a:pPr>
                <a:r>
                  <a:rPr lang="en-GB" dirty="0">
                    <a:ea typeface="Cambria Math" panose="02040503050406030204" pitchFamily="18" charset="0"/>
                  </a:rPr>
                  <a:t>We </a:t>
                </a:r>
                <a:r>
                  <a:rPr lang="en-GB" b="1" u="sng" dirty="0">
                    <a:ea typeface="Cambria Math" panose="02040503050406030204" pitchFamily="18" charset="0"/>
                  </a:rPr>
                  <a:t>cannot</a:t>
                </a:r>
                <a:r>
                  <a:rPr lang="en-GB" dirty="0">
                    <a:ea typeface="Cambria Math" panose="02040503050406030204" pitchFamily="18" charset="0"/>
                  </a:rPr>
                  <a:t> talk about a future value because there is </a:t>
                </a:r>
                <a:r>
                  <a:rPr lang="en-GB" b="1" u="sng" dirty="0">
                    <a:ea typeface="Cambria Math" panose="02040503050406030204" pitchFamily="18" charset="0"/>
                  </a:rPr>
                  <a:t>no end timepoint</a:t>
                </a:r>
                <a:r>
                  <a:rPr lang="en-GB" dirty="0">
                    <a:ea typeface="Cambria Math" panose="02040503050406030204" pitchFamily="18" charset="0"/>
                  </a:rPr>
                  <a:t>.</a:t>
                </a:r>
              </a:p>
              <a:p>
                <a:pPr marL="0" lvl="1" indent="0" algn="ctr">
                  <a:spcAft>
                    <a:spcPts val="900"/>
                  </a:spcAft>
                  <a:buClr>
                    <a:srgbClr val="C00000"/>
                  </a:buClr>
                  <a:buSzPct val="90000"/>
                  <a:buNone/>
                </a:pPr>
                <a:endParaRPr lang="en-GB" dirty="0">
                  <a:solidFill>
                    <a:prstClr val="black"/>
                  </a:solidFill>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66700" y="1704974"/>
                <a:ext cx="8591550" cy="777329"/>
              </a:xfrm>
              <a:blipFill>
                <a:blip r:embed="rId3"/>
                <a:stretch>
                  <a:fillRect/>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19</a:t>
            </a:fld>
            <a:endParaRPr lang="en-GB" sz="1350" dirty="0">
              <a:solidFill>
                <a:prstClr val="black">
                  <a:lumMod val="50000"/>
                  <a:lumOff val="50000"/>
                </a:prstClr>
              </a:solidFill>
              <a:latin typeface="Calibri" panose="020F0502020204030204"/>
              <a:ea typeface="+mn-ea"/>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173ABB-7671-E6B9-7542-37A917DBE49B}"/>
                  </a:ext>
                </a:extLst>
              </p:cNvPr>
              <p:cNvSpPr txBox="1"/>
              <p:nvPr/>
            </p:nvSpPr>
            <p:spPr>
              <a:xfrm>
                <a:off x="266700" y="2651672"/>
                <a:ext cx="4619517" cy="800604"/>
              </a:xfrm>
              <a:prstGeom prst="rect">
                <a:avLst/>
              </a:prstGeom>
              <a:noFill/>
            </p:spPr>
            <p:txBody>
              <a:bodyPr wrap="square">
                <a:spAutoFit/>
              </a:bodyPr>
              <a:lstStyle/>
              <a:p>
                <a:pPr marL="0" lvl="1">
                  <a:spcAft>
                    <a:spcPts val="900"/>
                  </a:spcAft>
                  <a:buClr>
                    <a:srgbClr val="C00000"/>
                  </a:buClr>
                  <a:buSzPct val="90000"/>
                </a:pPr>
                <a:r>
                  <a:rPr lang="en-GB" dirty="0">
                    <a:ea typeface="Cambria Math" panose="02040503050406030204" pitchFamily="18" charset="0"/>
                  </a:rPr>
                  <a:t>Constant Perpetuity</a:t>
                </a:r>
              </a:p>
              <a:p>
                <a:pPr marL="0" lvl="1" indent="0" algn="ctr">
                  <a:spcAft>
                    <a:spcPts val="900"/>
                  </a:spcAft>
                  <a:buClr>
                    <a:srgbClr val="C00000"/>
                  </a:buClr>
                  <a:buSzPct val="90000"/>
                </a:pPr>
                <a14:m>
                  <m:oMath xmlns:m="http://schemas.openxmlformats.org/officeDocument/2006/math">
                    <m:r>
                      <a:rPr lang="en-GB" sz="1350" i="1">
                        <a:solidFill>
                          <a:schemeClr val="accent5">
                            <a:lumMod val="75000"/>
                          </a:schemeClr>
                        </a:solidFill>
                        <a:latin typeface="Cambria Math" panose="02040503050406030204" pitchFamily="18" charset="0"/>
                        <a:ea typeface="Cambria Math" panose="02040503050406030204" pitchFamily="18" charset="0"/>
                      </a:rPr>
                      <m:t>𝑃</m:t>
                    </m:r>
                    <m:r>
                      <a:rPr lang="en-GB" sz="1350" i="1">
                        <a:solidFill>
                          <a:schemeClr val="accent5">
                            <a:lumMod val="75000"/>
                          </a:schemeClr>
                        </a:solidFill>
                        <a:latin typeface="Cambria Math" panose="02040503050406030204" pitchFamily="18" charset="0"/>
                        <a:ea typeface="Cambria Math" panose="02040503050406030204" pitchFamily="18" charset="0"/>
                      </a:rPr>
                      <m:t>=</m:t>
                    </m:r>
                    <m:r>
                      <a:rPr lang="en-GB" sz="1350" i="1">
                        <a:solidFill>
                          <a:schemeClr val="accent5">
                            <a:lumMod val="75000"/>
                          </a:schemeClr>
                        </a:solidFill>
                        <a:latin typeface="Cambria Math" panose="02040503050406030204" pitchFamily="18" charset="0"/>
                        <a:ea typeface="Cambria Math" panose="02040503050406030204" pitchFamily="18" charset="0"/>
                      </a:rPr>
                      <m:t>𝐴</m:t>
                    </m:r>
                    <m:r>
                      <a:rPr lang="en-GB" sz="1350" i="1">
                        <a:solidFill>
                          <a:schemeClr val="accent5">
                            <a:lumMod val="75000"/>
                          </a:schemeClr>
                        </a:solidFill>
                        <a:latin typeface="Cambria Math" panose="02040503050406030204" pitchFamily="18" charset="0"/>
                        <a:ea typeface="Cambria Math" panose="02040503050406030204" pitchFamily="18" charset="0"/>
                      </a:rPr>
                      <m:t>×</m:t>
                    </m:r>
                    <m:f>
                      <m:fPr>
                        <m:ctrlPr>
                          <a:rPr lang="en-GB" sz="1350" i="1">
                            <a:solidFill>
                              <a:schemeClr val="accent5">
                                <a:lumMod val="75000"/>
                              </a:schemeClr>
                            </a:solidFill>
                            <a:latin typeface="Cambria Math" panose="02040503050406030204" pitchFamily="18" charset="0"/>
                            <a:ea typeface="Cambria Math" panose="02040503050406030204" pitchFamily="18" charset="0"/>
                          </a:rPr>
                        </m:ctrlPr>
                      </m:fPr>
                      <m:num>
                        <m:r>
                          <a:rPr lang="en-GB" sz="135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35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350" i="1">
                                    <a:solidFill>
                                      <a:schemeClr val="accent5">
                                        <a:lumMod val="75000"/>
                                      </a:schemeClr>
                                    </a:solidFill>
                                    <a:latin typeface="Cambria Math" panose="02040503050406030204" pitchFamily="18" charset="0"/>
                                    <a:ea typeface="Cambria Math" panose="02040503050406030204" pitchFamily="18" charset="0"/>
                                  </a:rPr>
                                </m:ctrlPr>
                              </m:dPr>
                              <m:e>
                                <m:r>
                                  <a:rPr lang="en-GB" sz="1350" i="1">
                                    <a:solidFill>
                                      <a:schemeClr val="accent5">
                                        <a:lumMod val="75000"/>
                                      </a:schemeClr>
                                    </a:solidFill>
                                    <a:latin typeface="Cambria Math" panose="02040503050406030204" pitchFamily="18" charset="0"/>
                                    <a:ea typeface="Cambria Math" panose="02040503050406030204" pitchFamily="18" charset="0"/>
                                  </a:rPr>
                                  <m:t>1+</m:t>
                                </m:r>
                                <m:r>
                                  <a:rPr lang="en-GB" sz="135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350" i="1">
                                <a:solidFill>
                                  <a:srgbClr val="C00000"/>
                                </a:solidFill>
                                <a:latin typeface="Cambria Math" panose="02040503050406030204" pitchFamily="18" charset="0"/>
                                <a:ea typeface="Cambria Math" panose="02040503050406030204" pitchFamily="18" charset="0"/>
                              </a:rPr>
                              <m:t>−∞</m:t>
                            </m:r>
                          </m:sup>
                        </m:sSup>
                      </m:num>
                      <m:den>
                        <m:r>
                          <a:rPr lang="en-GB" sz="1350" i="1">
                            <a:solidFill>
                              <a:schemeClr val="accent5">
                                <a:lumMod val="75000"/>
                              </a:schemeClr>
                            </a:solidFill>
                            <a:latin typeface="Cambria Math" panose="02040503050406030204" pitchFamily="18" charset="0"/>
                            <a:ea typeface="Cambria Math" panose="02040503050406030204" pitchFamily="18" charset="0"/>
                          </a:rPr>
                          <m:t>𝑟</m:t>
                        </m:r>
                      </m:den>
                    </m:f>
                  </m:oMath>
                </a14:m>
                <a:r>
                  <a:rPr lang="en-GB" sz="1350" dirty="0">
                    <a:solidFill>
                      <a:schemeClr val="accent5">
                        <a:lumMod val="75000"/>
                      </a:schemeClr>
                    </a:solidFill>
                    <a:latin typeface="+mj-lt"/>
                    <a:ea typeface="Cambria Math" panose="02040503050406030204" pitchFamily="18" charset="0"/>
                  </a:rPr>
                  <a:t> </a:t>
                </a:r>
                <a14:m>
                  <m:oMath xmlns:m="http://schemas.openxmlformats.org/officeDocument/2006/math">
                    <m:r>
                      <a:rPr lang="en-GB" sz="1350" i="1">
                        <a:solidFill>
                          <a:schemeClr val="accent5">
                            <a:lumMod val="75000"/>
                          </a:schemeClr>
                        </a:solidFill>
                        <a:latin typeface="Cambria Math" panose="02040503050406030204" pitchFamily="18" charset="0"/>
                        <a:ea typeface="Cambria Math" panose="02040503050406030204" pitchFamily="18" charset="0"/>
                      </a:rPr>
                      <m:t>=</m:t>
                    </m:r>
                    <m:r>
                      <a:rPr lang="en-GB" sz="1350" i="1">
                        <a:solidFill>
                          <a:schemeClr val="accent5">
                            <a:lumMod val="75000"/>
                          </a:schemeClr>
                        </a:solidFill>
                        <a:latin typeface="Cambria Math" panose="02040503050406030204" pitchFamily="18" charset="0"/>
                        <a:ea typeface="Cambria Math" panose="02040503050406030204" pitchFamily="18" charset="0"/>
                      </a:rPr>
                      <m:t>𝐴</m:t>
                    </m:r>
                    <m:r>
                      <a:rPr lang="en-GB" sz="1350" i="1">
                        <a:solidFill>
                          <a:schemeClr val="accent5">
                            <a:lumMod val="75000"/>
                          </a:schemeClr>
                        </a:solidFill>
                        <a:latin typeface="Cambria Math" panose="02040503050406030204" pitchFamily="18" charset="0"/>
                        <a:ea typeface="Cambria Math" panose="02040503050406030204" pitchFamily="18" charset="0"/>
                      </a:rPr>
                      <m:t>×</m:t>
                    </m:r>
                    <m:f>
                      <m:fPr>
                        <m:ctrlPr>
                          <a:rPr lang="en-GB" sz="1350" i="1">
                            <a:solidFill>
                              <a:schemeClr val="accent5">
                                <a:lumMod val="75000"/>
                              </a:schemeClr>
                            </a:solidFill>
                            <a:latin typeface="Cambria Math" panose="02040503050406030204" pitchFamily="18" charset="0"/>
                            <a:ea typeface="Cambria Math" panose="02040503050406030204" pitchFamily="18" charset="0"/>
                          </a:rPr>
                        </m:ctrlPr>
                      </m:fPr>
                      <m:num>
                        <m:r>
                          <a:rPr lang="en-GB" sz="1350" i="1">
                            <a:solidFill>
                              <a:schemeClr val="accent5">
                                <a:lumMod val="75000"/>
                              </a:schemeClr>
                            </a:solidFill>
                            <a:latin typeface="Cambria Math" panose="02040503050406030204" pitchFamily="18" charset="0"/>
                            <a:ea typeface="Cambria Math" panose="02040503050406030204" pitchFamily="18" charset="0"/>
                          </a:rPr>
                          <m:t>1</m:t>
                        </m:r>
                      </m:num>
                      <m:den>
                        <m:r>
                          <a:rPr lang="en-GB" sz="1350" i="1">
                            <a:solidFill>
                              <a:schemeClr val="accent5">
                                <a:lumMod val="75000"/>
                              </a:schemeClr>
                            </a:solidFill>
                            <a:latin typeface="Cambria Math" panose="02040503050406030204" pitchFamily="18" charset="0"/>
                            <a:ea typeface="Cambria Math" panose="02040503050406030204" pitchFamily="18" charset="0"/>
                          </a:rPr>
                          <m:t>𝑟</m:t>
                        </m:r>
                      </m:den>
                    </m:f>
                    <m:r>
                      <a:rPr lang="en-GB" sz="1350" i="1">
                        <a:solidFill>
                          <a:schemeClr val="accent5">
                            <a:lumMod val="75000"/>
                          </a:schemeClr>
                        </a:solidFill>
                        <a:latin typeface="Cambria Math" panose="02040503050406030204" pitchFamily="18" charset="0"/>
                        <a:ea typeface="Cambria Math" panose="02040503050406030204" pitchFamily="18" charset="0"/>
                      </a:rPr>
                      <m:t>=</m:t>
                    </m:r>
                    <m:f>
                      <m:fPr>
                        <m:ctrlPr>
                          <a:rPr lang="en-GB" sz="1350" i="1">
                            <a:solidFill>
                              <a:schemeClr val="accent5">
                                <a:lumMod val="75000"/>
                              </a:schemeClr>
                            </a:solidFill>
                            <a:latin typeface="Cambria Math" panose="02040503050406030204" pitchFamily="18" charset="0"/>
                            <a:ea typeface="Cambria Math" panose="02040503050406030204" pitchFamily="18" charset="0"/>
                          </a:rPr>
                        </m:ctrlPr>
                      </m:fPr>
                      <m:num>
                        <m:r>
                          <a:rPr lang="en-GB" sz="1350" i="1">
                            <a:solidFill>
                              <a:schemeClr val="accent5">
                                <a:lumMod val="75000"/>
                              </a:schemeClr>
                            </a:solidFill>
                            <a:latin typeface="Cambria Math" panose="02040503050406030204" pitchFamily="18" charset="0"/>
                            <a:ea typeface="Cambria Math" panose="02040503050406030204" pitchFamily="18" charset="0"/>
                          </a:rPr>
                          <m:t>𝐴</m:t>
                        </m:r>
                      </m:num>
                      <m:den>
                        <m:r>
                          <a:rPr lang="en-GB" sz="1350" i="1">
                            <a:solidFill>
                              <a:schemeClr val="accent5">
                                <a:lumMod val="75000"/>
                              </a:schemeClr>
                            </a:solidFill>
                            <a:latin typeface="Cambria Math" panose="02040503050406030204" pitchFamily="18" charset="0"/>
                            <a:ea typeface="Cambria Math" panose="02040503050406030204" pitchFamily="18" charset="0"/>
                          </a:rPr>
                          <m:t>𝑟</m:t>
                        </m:r>
                      </m:den>
                    </m:f>
                  </m:oMath>
                </a14:m>
                <a:endParaRPr lang="en-GB" sz="1350" dirty="0">
                  <a:solidFill>
                    <a:prstClr val="black"/>
                  </a:solidFill>
                  <a:latin typeface="+mj-lt"/>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D5173ABB-7671-E6B9-7542-37A917DBE49B}"/>
                  </a:ext>
                </a:extLst>
              </p:cNvPr>
              <p:cNvSpPr txBox="1">
                <a:spLocks noRot="1" noChangeAspect="1" noMove="1" noResize="1" noEditPoints="1" noAdjustHandles="1" noChangeArrowheads="1" noChangeShapeType="1" noTextEdit="1"/>
              </p:cNvSpPr>
              <p:nvPr/>
            </p:nvSpPr>
            <p:spPr>
              <a:xfrm>
                <a:off x="266700" y="2651672"/>
                <a:ext cx="4619517" cy="800604"/>
              </a:xfrm>
              <a:prstGeom prst="rect">
                <a:avLst/>
              </a:prstGeom>
              <a:blipFill>
                <a:blip r:embed="rId4"/>
                <a:stretch>
                  <a:fillRect l="-1187" t="-45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BE92221-232B-9505-0A51-6376A3F31D6F}"/>
                  </a:ext>
                </a:extLst>
              </p:cNvPr>
              <p:cNvSpPr txBox="1"/>
              <p:nvPr/>
            </p:nvSpPr>
            <p:spPr>
              <a:xfrm>
                <a:off x="266700" y="3695140"/>
                <a:ext cx="4619517" cy="938719"/>
              </a:xfrm>
              <a:prstGeom prst="rect">
                <a:avLst/>
              </a:prstGeom>
              <a:noFill/>
            </p:spPr>
            <p:txBody>
              <a:bodyPr wrap="square">
                <a:spAutoFit/>
              </a:bodyPr>
              <a:lstStyle/>
              <a:p>
                <a:pPr marL="0" lvl="1">
                  <a:spcAft>
                    <a:spcPts val="900"/>
                  </a:spcAft>
                  <a:buClr>
                    <a:srgbClr val="C00000"/>
                  </a:buClr>
                  <a:buSzPct val="90000"/>
                </a:pPr>
                <a:r>
                  <a:rPr lang="en-GB" dirty="0">
                    <a:ea typeface="Cambria Math" panose="02040503050406030204" pitchFamily="18" charset="0"/>
                  </a:rPr>
                  <a:t>Growing Perpetuity</a:t>
                </a:r>
              </a:p>
              <a:p>
                <a:pPr marL="0" lvl="1" indent="0" algn="ctr">
                  <a:spcAft>
                    <a:spcPts val="900"/>
                  </a:spcAft>
                  <a:buClr>
                    <a:srgbClr val="C00000"/>
                  </a:buClr>
                  <a:buSzPct val="90000"/>
                </a:pPr>
                <a:r>
                  <a:rPr lang="en-GB" dirty="0">
                    <a:ea typeface="Cambria Math" panose="02040503050406030204" pitchFamily="18" charset="0"/>
                  </a:rPr>
                  <a:t> </a:t>
                </a:r>
                <a14:m>
                  <m:oMath xmlns:m="http://schemas.openxmlformats.org/officeDocument/2006/math">
                    <m:r>
                      <a:rPr lang="en-GB" i="1">
                        <a:solidFill>
                          <a:schemeClr val="accent5">
                            <a:lumMod val="75000"/>
                          </a:schemeClr>
                        </a:solidFill>
                        <a:latin typeface="Cambria Math" panose="02040503050406030204" pitchFamily="18" charset="0"/>
                        <a:ea typeface="Cambria Math" panose="02040503050406030204" pitchFamily="18" charset="0"/>
                      </a:rPr>
                      <m:t>𝑃</m:t>
                    </m:r>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𝐴</m:t>
                    </m:r>
                    <m:r>
                      <a:rPr lang="en-GB" i="1">
                        <a:solidFill>
                          <a:schemeClr val="accent5">
                            <a:lumMod val="75000"/>
                          </a:schemeClr>
                        </a:solidFill>
                        <a:latin typeface="Cambria Math" panose="02040503050406030204" pitchFamily="18" charset="0"/>
                        <a:ea typeface="Cambria Math" panose="02040503050406030204" pitchFamily="18" charset="0"/>
                      </a:rPr>
                      <m:t>×</m:t>
                    </m:r>
                    <m:f>
                      <m:fPr>
                        <m:ctrlPr>
                          <a:rPr lang="en-GB" i="1">
                            <a:solidFill>
                              <a:schemeClr val="accent5">
                                <a:lumMod val="75000"/>
                              </a:schemeClr>
                            </a:solidFill>
                            <a:latin typeface="Cambria Math" panose="02040503050406030204" pitchFamily="18" charset="0"/>
                            <a:ea typeface="Cambria Math" panose="02040503050406030204" pitchFamily="18" charset="0"/>
                          </a:rPr>
                        </m:ctrlPr>
                      </m:fPr>
                      <m:num>
                        <m:r>
                          <a:rPr lang="en-GB" i="1">
                            <a:solidFill>
                              <a:schemeClr val="accent5">
                                <a:lumMod val="75000"/>
                              </a:schemeClr>
                            </a:solidFill>
                            <a:latin typeface="Cambria Math" panose="02040503050406030204" pitchFamily="18" charset="0"/>
                            <a:ea typeface="Cambria Math" panose="02040503050406030204" pitchFamily="18" charset="0"/>
                          </a:rPr>
                          <m:t>1−</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i="1">
                                        <a:solidFill>
                                          <a:schemeClr val="accent5">
                                            <a:lumMod val="75000"/>
                                          </a:schemeClr>
                                        </a:solidFill>
                                        <a:latin typeface="Cambria Math" panose="02040503050406030204" pitchFamily="18" charset="0"/>
                                        <a:ea typeface="Cambria Math" panose="02040503050406030204" pitchFamily="18" charset="0"/>
                                      </a:rPr>
                                    </m:ctrlPr>
                                  </m:dPr>
                                  <m:e>
                                    <m:r>
                                      <a:rPr lang="en-GB" i="1">
                                        <a:solidFill>
                                          <a:schemeClr val="accent5">
                                            <a:lumMod val="75000"/>
                                          </a:schemeClr>
                                        </a:solidFill>
                                        <a:latin typeface="Cambria Math" panose="02040503050406030204" pitchFamily="18" charset="0"/>
                                        <a:ea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𝑔</m:t>
                                    </m:r>
                                  </m:e>
                                </m:d>
                              </m:e>
                              <m:sup>
                                <m:r>
                                  <a:rPr lang="en-GB" i="1">
                                    <a:solidFill>
                                      <a:srgbClr val="C00000"/>
                                    </a:solidFill>
                                    <a:latin typeface="Cambria Math" panose="02040503050406030204" pitchFamily="18" charset="0"/>
                                    <a:ea typeface="Cambria Math" panose="02040503050406030204" pitchFamily="18" charset="0"/>
                                  </a:rPr>
                                  <m:t>∞</m:t>
                                </m:r>
                              </m:sup>
                            </m:sSup>
                            <m:d>
                              <m:dPr>
                                <m:ctrlPr>
                                  <a:rPr lang="en-GB" i="1">
                                    <a:solidFill>
                                      <a:schemeClr val="accent5">
                                        <a:lumMod val="75000"/>
                                      </a:schemeClr>
                                    </a:solidFill>
                                    <a:latin typeface="Cambria Math" panose="02040503050406030204" pitchFamily="18" charset="0"/>
                                    <a:ea typeface="Cambria Math" panose="02040503050406030204" pitchFamily="18" charset="0"/>
                                  </a:rPr>
                                </m:ctrlPr>
                              </m:dPr>
                              <m:e>
                                <m:r>
                                  <a:rPr lang="en-GB" i="1">
                                    <a:solidFill>
                                      <a:schemeClr val="accent5">
                                        <a:lumMod val="75000"/>
                                      </a:schemeClr>
                                    </a:solidFill>
                                    <a:latin typeface="Cambria Math" panose="02040503050406030204" pitchFamily="18" charset="0"/>
                                    <a:ea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e>
                            </m:d>
                          </m:e>
                          <m:sup>
                            <m:r>
                              <a:rPr lang="en-GB" b="0" i="1" smtClean="0">
                                <a:solidFill>
                                  <a:schemeClr val="accent5">
                                    <a:lumMod val="75000"/>
                                  </a:schemeClr>
                                </a:solidFill>
                                <a:latin typeface="Cambria Math" panose="02040503050406030204" pitchFamily="18" charset="0"/>
                                <a:ea typeface="Cambria Math" panose="02040503050406030204" pitchFamily="18" charset="0"/>
                              </a:rPr>
                              <m:t>−</m:t>
                            </m:r>
                            <m:r>
                              <a:rPr lang="en-GB" i="1">
                                <a:solidFill>
                                  <a:srgbClr val="C00000"/>
                                </a:solidFill>
                                <a:latin typeface="Cambria Math" panose="02040503050406030204" pitchFamily="18" charset="0"/>
                                <a:ea typeface="Cambria Math" panose="02040503050406030204" pitchFamily="18" charset="0"/>
                              </a:rPr>
                              <m:t>∞</m:t>
                            </m:r>
                          </m:sup>
                        </m:sSup>
                      </m:num>
                      <m:den>
                        <m:r>
                          <a:rPr lang="en-GB" i="1">
                            <a:solidFill>
                              <a:schemeClr val="accent5">
                                <a:lumMod val="75000"/>
                              </a:schemeClr>
                            </a:solidFill>
                            <a:latin typeface="Cambria Math" panose="02040503050406030204" pitchFamily="18" charset="0"/>
                            <a:ea typeface="Cambria Math" panose="02040503050406030204" pitchFamily="18" charset="0"/>
                          </a:rPr>
                          <m:t>𝑟</m:t>
                        </m:r>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𝑔</m:t>
                        </m:r>
                      </m:den>
                    </m:f>
                    <m:r>
                      <a:rPr lang="en-GB" b="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i="1">
                            <a:solidFill>
                              <a:schemeClr val="accent5">
                                <a:lumMod val="75000"/>
                              </a:schemeClr>
                            </a:solidFill>
                            <a:latin typeface="Cambria Math" panose="02040503050406030204" pitchFamily="18" charset="0"/>
                            <a:ea typeface="Cambria Math" panose="02040503050406030204" pitchFamily="18" charset="0"/>
                          </a:rPr>
                        </m:ctrlPr>
                      </m:fPr>
                      <m:num>
                        <m:r>
                          <a:rPr lang="en-GB" i="1">
                            <a:solidFill>
                              <a:schemeClr val="accent5">
                                <a:lumMod val="75000"/>
                              </a:schemeClr>
                            </a:solidFill>
                            <a:latin typeface="Cambria Math" panose="02040503050406030204" pitchFamily="18" charset="0"/>
                            <a:ea typeface="Cambria Math" panose="02040503050406030204" pitchFamily="18" charset="0"/>
                          </a:rPr>
                          <m:t>𝐴</m:t>
                        </m:r>
                      </m:num>
                      <m:den>
                        <m:r>
                          <a:rPr lang="en-GB" i="1">
                            <a:solidFill>
                              <a:schemeClr val="accent5">
                                <a:lumMod val="75000"/>
                              </a:schemeClr>
                            </a:solidFill>
                            <a:latin typeface="Cambria Math" panose="02040503050406030204" pitchFamily="18" charset="0"/>
                            <a:ea typeface="Cambria Math" panose="02040503050406030204" pitchFamily="18" charset="0"/>
                          </a:rPr>
                          <m:t>𝑟</m:t>
                        </m:r>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𝑔</m:t>
                        </m:r>
                      </m:den>
                    </m:f>
                  </m:oMath>
                </a14:m>
                <a:endParaRPr lang="en-GB" sz="1350" dirty="0">
                  <a:solidFill>
                    <a:prstClr val="black"/>
                  </a:solidFill>
                  <a:latin typeface="+mj-lt"/>
                  <a:ea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4BE92221-232B-9505-0A51-6376A3F31D6F}"/>
                  </a:ext>
                </a:extLst>
              </p:cNvPr>
              <p:cNvSpPr txBox="1">
                <a:spLocks noRot="1" noChangeAspect="1" noMove="1" noResize="1" noEditPoints="1" noAdjustHandles="1" noChangeArrowheads="1" noChangeShapeType="1" noTextEdit="1"/>
              </p:cNvSpPr>
              <p:nvPr/>
            </p:nvSpPr>
            <p:spPr>
              <a:xfrm>
                <a:off x="266700" y="3695140"/>
                <a:ext cx="4619517" cy="938719"/>
              </a:xfrm>
              <a:prstGeom prst="rect">
                <a:avLst/>
              </a:prstGeom>
              <a:blipFill>
                <a:blip r:embed="rId5"/>
                <a:stretch>
                  <a:fillRect l="-1187" t="-3247" b="-1299"/>
                </a:stretch>
              </a:blipFill>
            </p:spPr>
            <p:txBody>
              <a:bodyPr/>
              <a:lstStyle/>
              <a:p>
                <a:r>
                  <a:rPr lang="en-GB">
                    <a:noFill/>
                  </a:rPr>
                  <a:t> </a:t>
                </a:r>
              </a:p>
            </p:txBody>
          </p:sp>
        </mc:Fallback>
      </mc:AlternateContent>
      <p:sp>
        <p:nvSpPr>
          <p:cNvPr id="14" name="Lightning Bolt 13">
            <a:extLst>
              <a:ext uri="{FF2B5EF4-FFF2-40B4-BE49-F238E27FC236}">
                <a16:creationId xmlns:a16="http://schemas.microsoft.com/office/drawing/2014/main" id="{789F4447-0BAF-8686-F007-342473F1F017}"/>
              </a:ext>
            </a:extLst>
          </p:cNvPr>
          <p:cNvSpPr/>
          <p:nvPr/>
        </p:nvSpPr>
        <p:spPr>
          <a:xfrm>
            <a:off x="4497290" y="3064442"/>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Lightning Bolt 14">
            <a:extLst>
              <a:ext uri="{FF2B5EF4-FFF2-40B4-BE49-F238E27FC236}">
                <a16:creationId xmlns:a16="http://schemas.microsoft.com/office/drawing/2014/main" id="{E5539FDA-4AE6-7571-0252-FB4BAC4D596F}"/>
              </a:ext>
            </a:extLst>
          </p:cNvPr>
          <p:cNvSpPr/>
          <p:nvPr/>
        </p:nvSpPr>
        <p:spPr>
          <a:xfrm>
            <a:off x="6516216" y="3011915"/>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Lightning Bolt 15">
            <a:extLst>
              <a:ext uri="{FF2B5EF4-FFF2-40B4-BE49-F238E27FC236}">
                <a16:creationId xmlns:a16="http://schemas.microsoft.com/office/drawing/2014/main" id="{216BDFA4-F088-1FB6-D17B-43EEAEBEB81F}"/>
              </a:ext>
            </a:extLst>
          </p:cNvPr>
          <p:cNvSpPr/>
          <p:nvPr/>
        </p:nvSpPr>
        <p:spPr>
          <a:xfrm>
            <a:off x="4572000" y="4108177"/>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Lightning Bolt 16">
            <a:extLst>
              <a:ext uri="{FF2B5EF4-FFF2-40B4-BE49-F238E27FC236}">
                <a16:creationId xmlns:a16="http://schemas.microsoft.com/office/drawing/2014/main" id="{1E9FD5DE-E98E-E60D-D773-2DB0AD9C364E}"/>
              </a:ext>
            </a:extLst>
          </p:cNvPr>
          <p:cNvSpPr/>
          <p:nvPr/>
        </p:nvSpPr>
        <p:spPr>
          <a:xfrm>
            <a:off x="6979412" y="4091666"/>
            <a:ext cx="770562" cy="440361"/>
          </a:xfrm>
          <a:prstGeom prst="lightningBol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0A58351A-E7C3-AF85-D9B5-3E6B050C4A86}"/>
              </a:ext>
            </a:extLst>
          </p:cNvPr>
          <p:cNvSpPr txBox="1"/>
          <p:nvPr/>
        </p:nvSpPr>
        <p:spPr>
          <a:xfrm>
            <a:off x="255900" y="5029880"/>
            <a:ext cx="8994481" cy="1423467"/>
          </a:xfrm>
          <a:prstGeom prst="rect">
            <a:avLst/>
          </a:prstGeom>
          <a:noFill/>
        </p:spPr>
        <p:txBody>
          <a:bodyPr wrap="square">
            <a:spAutoFit/>
          </a:bodyPr>
          <a:lstStyle/>
          <a:p>
            <a:pPr marL="0" lvl="1" indent="0">
              <a:spcBef>
                <a:spcPts val="0"/>
              </a:spcBef>
              <a:spcAft>
                <a:spcPts val="900"/>
              </a:spcAft>
              <a:buClr>
                <a:srgbClr val="C00000"/>
              </a:buClr>
              <a:buSzPct val="90000"/>
              <a:buNone/>
            </a:pPr>
            <a:r>
              <a:rPr lang="en-GB" sz="16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rPr>
              <a:t>Example </a:t>
            </a:r>
            <a:r>
              <a:rPr lang="en-GB" sz="1600" dirty="0">
                <a:latin typeface="Arial" panose="020B0604020202020204" pitchFamily="34" charset="0"/>
                <a:ea typeface="Cambria Math" panose="02040503050406030204" pitchFamily="18" charset="0"/>
                <a:cs typeface="Arial" panose="020B0604020202020204" pitchFamily="34" charset="0"/>
              </a:rPr>
              <a:t>Your broker suggested two investment plans</a:t>
            </a:r>
            <a:endParaRPr lang="en-GB" sz="1600"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lvl="1" indent="0">
              <a:spcBef>
                <a:spcPts val="0"/>
              </a:spcBef>
              <a:spcAft>
                <a:spcPts val="900"/>
              </a:spcAft>
              <a:buClr>
                <a:srgbClr val="C00000"/>
              </a:buClr>
              <a:buSzPct val="90000"/>
              <a:buNone/>
            </a:pPr>
            <a:r>
              <a:rPr lang="en-GB" sz="1600" dirty="0">
                <a:solidFill>
                  <a:srgbClr val="C00000"/>
                </a:solidFill>
                <a:latin typeface="Arial" panose="020B0604020202020204" pitchFamily="34" charset="0"/>
                <a:ea typeface="Cambria Math" panose="02040503050406030204" pitchFamily="18" charset="0"/>
                <a:cs typeface="Arial" panose="020B0604020202020204" pitchFamily="34" charset="0"/>
              </a:rPr>
              <a:t>Investment 1: </a:t>
            </a:r>
            <a:r>
              <a:rPr lang="en-GB" sz="1600" dirty="0">
                <a:latin typeface="Arial" panose="020B0604020202020204" pitchFamily="34" charset="0"/>
                <a:ea typeface="Cambria Math" panose="02040503050406030204" pitchFamily="18" charset="0"/>
                <a:cs typeface="Arial" panose="020B0604020202020204" pitchFamily="34" charset="0"/>
              </a:rPr>
              <a:t>pays you annually £5,000 forever.</a:t>
            </a:r>
          </a:p>
          <a:p>
            <a:pPr marL="0" lvl="1" indent="0">
              <a:spcBef>
                <a:spcPts val="0"/>
              </a:spcBef>
              <a:spcAft>
                <a:spcPts val="900"/>
              </a:spcAft>
              <a:buClr>
                <a:srgbClr val="C00000"/>
              </a:buClr>
              <a:buSzPct val="90000"/>
              <a:buNone/>
            </a:pPr>
            <a:r>
              <a:rPr lang="en-GB" sz="1600" dirty="0">
                <a:solidFill>
                  <a:srgbClr val="C00000"/>
                </a:solidFill>
                <a:latin typeface="Arial" panose="020B0604020202020204" pitchFamily="34" charset="0"/>
                <a:ea typeface="Cambria Math" panose="02040503050406030204" pitchFamily="18" charset="0"/>
                <a:cs typeface="Arial" panose="020B0604020202020204" pitchFamily="34" charset="0"/>
              </a:rPr>
              <a:t>Investment 2: </a:t>
            </a:r>
            <a:r>
              <a:rPr lang="en-GB" sz="1600" dirty="0">
                <a:latin typeface="Arial" panose="020B0604020202020204" pitchFamily="34" charset="0"/>
                <a:ea typeface="Cambria Math" panose="02040503050406030204" pitchFamily="18" charset="0"/>
                <a:cs typeface="Arial" panose="020B0604020202020204" pitchFamily="34" charset="0"/>
              </a:rPr>
              <a:t>pays you annually £2,000, growing at 1.5% rate forever.</a:t>
            </a:r>
          </a:p>
          <a:p>
            <a:pPr marL="0" lvl="1" indent="0">
              <a:spcBef>
                <a:spcPts val="0"/>
              </a:spcBef>
              <a:spcAft>
                <a:spcPts val="900"/>
              </a:spcAft>
              <a:buClr>
                <a:srgbClr val="C00000"/>
              </a:buClr>
              <a:buSzPct val="90000"/>
              <a:buNone/>
            </a:pPr>
            <a:r>
              <a:rPr lang="en-GB" sz="1600" dirty="0">
                <a:latin typeface="Arial" panose="020B0604020202020204" pitchFamily="34" charset="0"/>
                <a:ea typeface="Cambria Math" panose="02040503050406030204" pitchFamily="18" charset="0"/>
                <a:cs typeface="Arial" panose="020B0604020202020204" pitchFamily="34" charset="0"/>
              </a:rPr>
              <a:t>Using a discount rate of 6%, which investment plan would you choose?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9B3985-CDDC-5909-66B9-70754440C930}"/>
                  </a:ext>
                </a:extLst>
              </p:cNvPr>
              <p:cNvSpPr txBox="1"/>
              <p:nvPr/>
            </p:nvSpPr>
            <p:spPr>
              <a:xfrm>
                <a:off x="5436096" y="3027718"/>
                <a:ext cx="4627756" cy="485582"/>
              </a:xfrm>
              <a:prstGeom prst="rect">
                <a:avLst/>
              </a:prstGeom>
              <a:noFill/>
            </p:spPr>
            <p:txBody>
              <a:bodyPr wrap="square">
                <a:spAutoFit/>
              </a:bodyPr>
              <a:lstStyle/>
              <a:p>
                <a14:m>
                  <m:oMath xmlns:m="http://schemas.openxmlformats.org/officeDocument/2006/math">
                    <m:r>
                      <a:rPr lang="en-GB" sz="1800" i="1" smtClean="0">
                        <a:solidFill>
                          <a:schemeClr val="accent5">
                            <a:lumMod val="75000"/>
                          </a:schemeClr>
                        </a:solidFill>
                        <a:latin typeface="Cambria Math" panose="02040503050406030204" pitchFamily="18" charset="0"/>
                        <a:ea typeface="Cambria Math" panose="02040503050406030204" pitchFamily="18" charset="0"/>
                      </a:rPr>
                      <m:t>𝑃</m:t>
                    </m:r>
                    <m:r>
                      <a:rPr lang="en-GB" sz="18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800" i="1">
                            <a:solidFill>
                              <a:schemeClr val="accent5">
                                <a:lumMod val="75000"/>
                              </a:schemeClr>
                            </a:solidFill>
                            <a:latin typeface="Cambria Math" panose="02040503050406030204" pitchFamily="18" charset="0"/>
                            <a:ea typeface="Cambria Math" panose="02040503050406030204" pitchFamily="18" charset="0"/>
                          </a:rPr>
                        </m:ctrlPr>
                      </m:fPr>
                      <m:num>
                        <m:r>
                          <a:rPr lang="en-GB" sz="1800" i="1">
                            <a:solidFill>
                              <a:schemeClr val="accent5">
                                <a:lumMod val="75000"/>
                              </a:schemeClr>
                            </a:solidFill>
                            <a:latin typeface="Cambria Math" panose="02040503050406030204" pitchFamily="18" charset="0"/>
                            <a:ea typeface="Cambria Math" panose="02040503050406030204" pitchFamily="18" charset="0"/>
                          </a:rPr>
                          <m:t>𝐴</m:t>
                        </m:r>
                      </m:num>
                      <m:den>
                        <m:r>
                          <a:rPr lang="en-GB" sz="1800" i="1">
                            <a:solidFill>
                              <a:schemeClr val="accent5">
                                <a:lumMod val="75000"/>
                              </a:schemeClr>
                            </a:solidFill>
                            <a:latin typeface="Cambria Math" panose="02040503050406030204" pitchFamily="18" charset="0"/>
                            <a:ea typeface="Cambria Math" panose="02040503050406030204" pitchFamily="18" charset="0"/>
                          </a:rPr>
                          <m:t>𝑟</m:t>
                        </m:r>
                      </m:den>
                    </m:f>
                  </m:oMath>
                </a14:m>
                <a:r>
                  <a:rPr lang="en-GB" sz="1800" dirty="0">
                    <a:latin typeface="Arial" panose="020B0604020202020204" pitchFamily="34" charset="0"/>
                    <a:ea typeface="Cambria Math" panose="02040503050406030204" pitchFamily="18" charset="0"/>
                    <a:cs typeface="Arial" panose="020B0604020202020204" pitchFamily="34" charset="0"/>
                  </a:rPr>
                  <a:t> </a:t>
                </a:r>
                <a:endParaRPr lang="en-GB" dirty="0"/>
              </a:p>
            </p:txBody>
          </p:sp>
        </mc:Choice>
        <mc:Fallback xmlns="">
          <p:sp>
            <p:nvSpPr>
              <p:cNvPr id="8" name="TextBox 7">
                <a:extLst>
                  <a:ext uri="{FF2B5EF4-FFF2-40B4-BE49-F238E27FC236}">
                    <a16:creationId xmlns:a16="http://schemas.microsoft.com/office/drawing/2014/main" id="{C79B3985-CDDC-5909-66B9-70754440C930}"/>
                  </a:ext>
                </a:extLst>
              </p:cNvPr>
              <p:cNvSpPr txBox="1">
                <a:spLocks noRot="1" noChangeAspect="1" noMove="1" noResize="1" noEditPoints="1" noAdjustHandles="1" noChangeArrowheads="1" noChangeShapeType="1" noTextEdit="1"/>
              </p:cNvSpPr>
              <p:nvPr/>
            </p:nvSpPr>
            <p:spPr>
              <a:xfrm>
                <a:off x="5436096" y="3027718"/>
                <a:ext cx="4627756" cy="48558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61418BA-9806-2386-7E98-93BB0064CE56}"/>
                  </a:ext>
                </a:extLst>
              </p:cNvPr>
              <p:cNvSpPr txBox="1"/>
              <p:nvPr/>
            </p:nvSpPr>
            <p:spPr>
              <a:xfrm>
                <a:off x="5267851" y="4011154"/>
                <a:ext cx="1953689" cy="6613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i="1" smtClean="0">
                          <a:solidFill>
                            <a:schemeClr val="accent5">
                              <a:lumMod val="75000"/>
                            </a:schemeClr>
                          </a:solidFill>
                          <a:latin typeface="Cambria Math" panose="02040503050406030204" pitchFamily="18" charset="0"/>
                          <a:ea typeface="Cambria Math" panose="02040503050406030204" pitchFamily="18" charset="0"/>
                        </a:rPr>
                        <m:t>𝑃</m:t>
                      </m:r>
                      <m:r>
                        <a:rPr lang="en-GB" sz="18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800" i="1">
                              <a:solidFill>
                                <a:schemeClr val="accent5">
                                  <a:lumMod val="75000"/>
                                </a:schemeClr>
                              </a:solidFill>
                              <a:latin typeface="Cambria Math" panose="02040503050406030204" pitchFamily="18" charset="0"/>
                              <a:ea typeface="Cambria Math" panose="02040503050406030204" pitchFamily="18" charset="0"/>
                            </a:rPr>
                          </m:ctrlPr>
                        </m:fPr>
                        <m:num>
                          <m:r>
                            <a:rPr lang="en-GB" sz="1800" i="1">
                              <a:solidFill>
                                <a:schemeClr val="accent5">
                                  <a:lumMod val="75000"/>
                                </a:schemeClr>
                              </a:solidFill>
                              <a:latin typeface="Cambria Math" panose="02040503050406030204" pitchFamily="18" charset="0"/>
                              <a:ea typeface="Cambria Math" panose="02040503050406030204" pitchFamily="18" charset="0"/>
                            </a:rPr>
                            <m:t>𝐴</m:t>
                          </m:r>
                        </m:num>
                        <m:den>
                          <m:r>
                            <a:rPr lang="en-GB" sz="1800" i="1">
                              <a:solidFill>
                                <a:schemeClr val="accent5">
                                  <a:lumMod val="75000"/>
                                </a:schemeClr>
                              </a:solidFill>
                              <a:latin typeface="Cambria Math" panose="02040503050406030204" pitchFamily="18" charset="0"/>
                              <a:ea typeface="Cambria Math" panose="02040503050406030204" pitchFamily="18" charset="0"/>
                            </a:rPr>
                            <m:t>𝑟</m:t>
                          </m:r>
                          <m:r>
                            <a:rPr lang="en-GB" sz="1800" b="0" i="1" smtClean="0">
                              <a:solidFill>
                                <a:schemeClr val="accent5">
                                  <a:lumMod val="75000"/>
                                </a:schemeClr>
                              </a:solidFill>
                              <a:latin typeface="Cambria Math" panose="02040503050406030204" pitchFamily="18" charset="0"/>
                              <a:ea typeface="Cambria Math" panose="02040503050406030204" pitchFamily="18" charset="0"/>
                            </a:rPr>
                            <m:t>−</m:t>
                          </m:r>
                          <m:r>
                            <a:rPr lang="en-GB" sz="1800" b="0" i="1" smtClean="0">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dirty="0"/>
              </a:p>
            </p:txBody>
          </p:sp>
        </mc:Choice>
        <mc:Fallback xmlns="">
          <p:sp>
            <p:nvSpPr>
              <p:cNvPr id="10" name="TextBox 9">
                <a:extLst>
                  <a:ext uri="{FF2B5EF4-FFF2-40B4-BE49-F238E27FC236}">
                    <a16:creationId xmlns:a16="http://schemas.microsoft.com/office/drawing/2014/main" id="{261418BA-9806-2386-7E98-93BB0064CE56}"/>
                  </a:ext>
                </a:extLst>
              </p:cNvPr>
              <p:cNvSpPr txBox="1">
                <a:spLocks noRot="1" noChangeAspect="1" noMove="1" noResize="1" noEditPoints="1" noAdjustHandles="1" noChangeArrowheads="1" noChangeShapeType="1" noTextEdit="1"/>
              </p:cNvSpPr>
              <p:nvPr/>
            </p:nvSpPr>
            <p:spPr>
              <a:xfrm>
                <a:off x="5267851" y="4011154"/>
                <a:ext cx="1953689" cy="661335"/>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37751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fltVal val="0"/>
                                          </p:val>
                                        </p:tav>
                                        <p:tav tm="100000">
                                          <p:val>
                                            <p:strVal val="#ppt_w"/>
                                          </p:val>
                                        </p:tav>
                                      </p:tavLst>
                                    </p:anim>
                                    <p:anim calcmode="lin" valueType="num">
                                      <p:cBhvr>
                                        <p:cTn id="18" dur="1000" fill="hold"/>
                                        <p:tgtEl>
                                          <p:spTgt spid="14"/>
                                        </p:tgtEl>
                                        <p:attrNameLst>
                                          <p:attrName>ppt_h</p:attrName>
                                        </p:attrNameLst>
                                      </p:cBhvr>
                                      <p:tavLst>
                                        <p:tav tm="0">
                                          <p:val>
                                            <p:fltVal val="0"/>
                                          </p:val>
                                        </p:tav>
                                        <p:tav tm="100000">
                                          <p:val>
                                            <p:strVal val="#ppt_h"/>
                                          </p:val>
                                        </p:tav>
                                      </p:tavLst>
                                    </p:anim>
                                    <p:anim calcmode="lin" valueType="num">
                                      <p:cBhvr>
                                        <p:cTn id="19" dur="1000" fill="hold"/>
                                        <p:tgtEl>
                                          <p:spTgt spid="14"/>
                                        </p:tgtEl>
                                        <p:attrNameLst>
                                          <p:attrName>style.rotation</p:attrName>
                                        </p:attrNameLst>
                                      </p:cBhvr>
                                      <p:tavLst>
                                        <p:tav tm="0">
                                          <p:val>
                                            <p:fltVal val="90"/>
                                          </p:val>
                                        </p:tav>
                                        <p:tav tm="100000">
                                          <p:val>
                                            <p:fltVal val="0"/>
                                          </p:val>
                                        </p:tav>
                                      </p:tavLst>
                                    </p:anim>
                                    <p:animEffect transition="in" filter="fade">
                                      <p:cBhvr>
                                        <p:cTn id="20" dur="1000"/>
                                        <p:tgtEl>
                                          <p:spTgt spid="14"/>
                                        </p:tgtEl>
                                      </p:cBhvr>
                                    </p:animEffect>
                                  </p:childTnLst>
                                </p:cTn>
                              </p:par>
                              <p:par>
                                <p:cTn id="21" presetID="3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1000" fill="hold"/>
                                        <p:tgtEl>
                                          <p:spTgt spid="15"/>
                                        </p:tgtEl>
                                        <p:attrNameLst>
                                          <p:attrName>ppt_w</p:attrName>
                                        </p:attrNameLst>
                                      </p:cBhvr>
                                      <p:tavLst>
                                        <p:tav tm="0">
                                          <p:val>
                                            <p:fltVal val="0"/>
                                          </p:val>
                                        </p:tav>
                                        <p:tav tm="100000">
                                          <p:val>
                                            <p:strVal val="#ppt_w"/>
                                          </p:val>
                                        </p:tav>
                                      </p:tavLst>
                                    </p:anim>
                                    <p:anim calcmode="lin" valueType="num">
                                      <p:cBhvr>
                                        <p:cTn id="24" dur="1000" fill="hold"/>
                                        <p:tgtEl>
                                          <p:spTgt spid="15"/>
                                        </p:tgtEl>
                                        <p:attrNameLst>
                                          <p:attrName>ppt_h</p:attrName>
                                        </p:attrNameLst>
                                      </p:cBhvr>
                                      <p:tavLst>
                                        <p:tav tm="0">
                                          <p:val>
                                            <p:fltVal val="0"/>
                                          </p:val>
                                        </p:tav>
                                        <p:tav tm="100000">
                                          <p:val>
                                            <p:strVal val="#ppt_h"/>
                                          </p:val>
                                        </p:tav>
                                      </p:tavLst>
                                    </p:anim>
                                    <p:anim calcmode="lin" valueType="num">
                                      <p:cBhvr>
                                        <p:cTn id="25" dur="1000" fill="hold"/>
                                        <p:tgtEl>
                                          <p:spTgt spid="15"/>
                                        </p:tgtEl>
                                        <p:attrNameLst>
                                          <p:attrName>style.rotation</p:attrName>
                                        </p:attrNameLst>
                                      </p:cBhvr>
                                      <p:tavLst>
                                        <p:tav tm="0">
                                          <p:val>
                                            <p:fltVal val="90"/>
                                          </p:val>
                                        </p:tav>
                                        <p:tav tm="100000">
                                          <p:val>
                                            <p:fltVal val="0"/>
                                          </p:val>
                                        </p:tav>
                                      </p:tavLst>
                                    </p:anim>
                                    <p:animEffect transition="in" filter="fade">
                                      <p:cBhvr>
                                        <p:cTn id="26" dur="1000"/>
                                        <p:tgtEl>
                                          <p:spTgt spid="15"/>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p:cTn id="41" dur="1000" fill="hold"/>
                                        <p:tgtEl>
                                          <p:spTgt spid="16"/>
                                        </p:tgtEl>
                                        <p:attrNameLst>
                                          <p:attrName>ppt_w</p:attrName>
                                        </p:attrNameLst>
                                      </p:cBhvr>
                                      <p:tavLst>
                                        <p:tav tm="0">
                                          <p:val>
                                            <p:fltVal val="0"/>
                                          </p:val>
                                        </p:tav>
                                        <p:tav tm="100000">
                                          <p:val>
                                            <p:strVal val="#ppt_w"/>
                                          </p:val>
                                        </p:tav>
                                      </p:tavLst>
                                    </p:anim>
                                    <p:anim calcmode="lin" valueType="num">
                                      <p:cBhvr>
                                        <p:cTn id="42" dur="1000" fill="hold"/>
                                        <p:tgtEl>
                                          <p:spTgt spid="16"/>
                                        </p:tgtEl>
                                        <p:attrNameLst>
                                          <p:attrName>ppt_h</p:attrName>
                                        </p:attrNameLst>
                                      </p:cBhvr>
                                      <p:tavLst>
                                        <p:tav tm="0">
                                          <p:val>
                                            <p:fltVal val="0"/>
                                          </p:val>
                                        </p:tav>
                                        <p:tav tm="100000">
                                          <p:val>
                                            <p:strVal val="#ppt_h"/>
                                          </p:val>
                                        </p:tav>
                                      </p:tavLst>
                                    </p:anim>
                                    <p:anim calcmode="lin" valueType="num">
                                      <p:cBhvr>
                                        <p:cTn id="43" dur="1000" fill="hold"/>
                                        <p:tgtEl>
                                          <p:spTgt spid="16"/>
                                        </p:tgtEl>
                                        <p:attrNameLst>
                                          <p:attrName>style.rotation</p:attrName>
                                        </p:attrNameLst>
                                      </p:cBhvr>
                                      <p:tavLst>
                                        <p:tav tm="0">
                                          <p:val>
                                            <p:fltVal val="90"/>
                                          </p:val>
                                        </p:tav>
                                        <p:tav tm="100000">
                                          <p:val>
                                            <p:fltVal val="0"/>
                                          </p:val>
                                        </p:tav>
                                      </p:tavLst>
                                    </p:anim>
                                    <p:animEffect transition="in" filter="fade">
                                      <p:cBhvr>
                                        <p:cTn id="44" dur="1000"/>
                                        <p:tgtEl>
                                          <p:spTgt spid="16"/>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1000" fill="hold"/>
                                        <p:tgtEl>
                                          <p:spTgt spid="17"/>
                                        </p:tgtEl>
                                        <p:attrNameLst>
                                          <p:attrName>ppt_w</p:attrName>
                                        </p:attrNameLst>
                                      </p:cBhvr>
                                      <p:tavLst>
                                        <p:tav tm="0">
                                          <p:val>
                                            <p:fltVal val="0"/>
                                          </p:val>
                                        </p:tav>
                                        <p:tav tm="100000">
                                          <p:val>
                                            <p:strVal val="#ppt_w"/>
                                          </p:val>
                                        </p:tav>
                                      </p:tavLst>
                                    </p:anim>
                                    <p:anim calcmode="lin" valueType="num">
                                      <p:cBhvr>
                                        <p:cTn id="48" dur="1000" fill="hold"/>
                                        <p:tgtEl>
                                          <p:spTgt spid="17"/>
                                        </p:tgtEl>
                                        <p:attrNameLst>
                                          <p:attrName>ppt_h</p:attrName>
                                        </p:attrNameLst>
                                      </p:cBhvr>
                                      <p:tavLst>
                                        <p:tav tm="0">
                                          <p:val>
                                            <p:fltVal val="0"/>
                                          </p:val>
                                        </p:tav>
                                        <p:tav tm="100000">
                                          <p:val>
                                            <p:strVal val="#ppt_h"/>
                                          </p:val>
                                        </p:tav>
                                      </p:tavLst>
                                    </p:anim>
                                    <p:anim calcmode="lin" valueType="num">
                                      <p:cBhvr>
                                        <p:cTn id="49" dur="1000" fill="hold"/>
                                        <p:tgtEl>
                                          <p:spTgt spid="17"/>
                                        </p:tgtEl>
                                        <p:attrNameLst>
                                          <p:attrName>style.rotation</p:attrName>
                                        </p:attrNameLst>
                                      </p:cBhvr>
                                      <p:tavLst>
                                        <p:tav tm="0">
                                          <p:val>
                                            <p:fltVal val="90"/>
                                          </p:val>
                                        </p:tav>
                                        <p:tav tm="100000">
                                          <p:val>
                                            <p:fltVal val="0"/>
                                          </p:val>
                                        </p:tav>
                                      </p:tavLst>
                                    </p:anim>
                                    <p:animEffect transition="in" filter="fade">
                                      <p:cBhvr>
                                        <p:cTn id="50" dur="1000"/>
                                        <p:tgtEl>
                                          <p:spTgt spid="17"/>
                                        </p:tgtEl>
                                      </p:cBhvr>
                                    </p:animEffect>
                                  </p:childTnLst>
                                </p:cTn>
                              </p:par>
                              <p:par>
                                <p:cTn id="51" presetID="3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1000" fill="hold"/>
                                        <p:tgtEl>
                                          <p:spTgt spid="10"/>
                                        </p:tgtEl>
                                        <p:attrNameLst>
                                          <p:attrName>ppt_w</p:attrName>
                                        </p:attrNameLst>
                                      </p:cBhvr>
                                      <p:tavLst>
                                        <p:tav tm="0">
                                          <p:val>
                                            <p:fltVal val="0"/>
                                          </p:val>
                                        </p:tav>
                                        <p:tav tm="100000">
                                          <p:val>
                                            <p:strVal val="#ppt_w"/>
                                          </p:val>
                                        </p:tav>
                                      </p:tavLst>
                                    </p:anim>
                                    <p:anim calcmode="lin" valueType="num">
                                      <p:cBhvr>
                                        <p:cTn id="54" dur="1000" fill="hold"/>
                                        <p:tgtEl>
                                          <p:spTgt spid="10"/>
                                        </p:tgtEl>
                                        <p:attrNameLst>
                                          <p:attrName>ppt_h</p:attrName>
                                        </p:attrNameLst>
                                      </p:cBhvr>
                                      <p:tavLst>
                                        <p:tav tm="0">
                                          <p:val>
                                            <p:fltVal val="0"/>
                                          </p:val>
                                        </p:tav>
                                        <p:tav tm="100000">
                                          <p:val>
                                            <p:strVal val="#ppt_h"/>
                                          </p:val>
                                        </p:tav>
                                      </p:tavLst>
                                    </p:anim>
                                    <p:anim calcmode="lin" valueType="num">
                                      <p:cBhvr>
                                        <p:cTn id="55" dur="1000" fill="hold"/>
                                        <p:tgtEl>
                                          <p:spTgt spid="10"/>
                                        </p:tgtEl>
                                        <p:attrNameLst>
                                          <p:attrName>style.rotation</p:attrName>
                                        </p:attrNameLst>
                                      </p:cBhvr>
                                      <p:tavLst>
                                        <p:tav tm="0">
                                          <p:val>
                                            <p:fltVal val="90"/>
                                          </p:val>
                                        </p:tav>
                                        <p:tav tm="100000">
                                          <p:val>
                                            <p:fltVal val="0"/>
                                          </p:val>
                                        </p:tav>
                                      </p:tavLst>
                                    </p:anim>
                                    <p:animEffect transition="in" filter="fade">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3" grpId="0"/>
      <p:bldP spid="14" grpId="0" animBg="1"/>
      <p:bldP spid="15" grpId="0" animBg="1"/>
      <p:bldP spid="16" grpId="0" animBg="1"/>
      <p:bldP spid="17" grpId="0" animBg="1"/>
      <p:bldP spid="6" grpId="0"/>
      <p:bldP spid="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25ED-46D7-11D1-00A0-8A661C8C92C8}"/>
              </a:ext>
            </a:extLst>
          </p:cNvPr>
          <p:cNvSpPr>
            <a:spLocks noGrp="1"/>
          </p:cNvSpPr>
          <p:nvPr>
            <p:ph type="title"/>
          </p:nvPr>
        </p:nvSpPr>
        <p:spPr>
          <a:xfrm>
            <a:off x="323528" y="357480"/>
            <a:ext cx="6447501" cy="623248"/>
          </a:xfrm>
        </p:spPr>
        <p:txBody>
          <a:bodyPr>
            <a:normAutofit/>
          </a:bodyPr>
          <a:lstStyle/>
          <a:p>
            <a:r>
              <a:rPr lang="en-GB" dirty="0"/>
              <a:t>TVM recap</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36CA475-1BCA-DBBE-27DA-2394494BE3FB}"/>
                  </a:ext>
                </a:extLst>
              </p:cNvPr>
              <p:cNvSpPr txBox="1">
                <a:spLocks/>
              </p:cNvSpPr>
              <p:nvPr/>
            </p:nvSpPr>
            <p:spPr>
              <a:xfrm>
                <a:off x="3101536" y="980728"/>
                <a:ext cx="5934960" cy="2481966"/>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lvl="1" indent="0">
                  <a:spcAft>
                    <a:spcPts val="900"/>
                  </a:spcAft>
                  <a:buClr>
                    <a:srgbClr val="C00000"/>
                  </a:buClr>
                  <a:buSzPct val="90000"/>
                  <a:buNone/>
                </a:pPr>
                <a:endParaRPr lang="en-GB" sz="1000" i="1" dirty="0">
                  <a:solidFill>
                    <a:schemeClr val="accent5">
                      <a:lumMod val="75000"/>
                    </a:schemeClr>
                  </a:solidFill>
                  <a:latin typeface="Arial" panose="020B0604020202020204" pitchFamily="34" charset="0"/>
                  <a:cs typeface="Arial" panose="020B0604020202020204" pitchFamily="34" charset="0"/>
                </a:endParaRPr>
              </a:p>
              <a:p>
                <a:pPr marL="0" indent="0">
                  <a:buNone/>
                </a:pPr>
                <a:r>
                  <a:rPr lang="en-GB" sz="1000" b="1" dirty="0">
                    <a:solidFill>
                      <a:schemeClr val="tx1">
                        <a:lumMod val="85000"/>
                        <a:lumOff val="15000"/>
                      </a:schemeClr>
                    </a:solidFill>
                    <a:latin typeface="Arial" panose="020B0604020202020204" pitchFamily="34" charset="0"/>
                    <a:cs typeface="Arial" panose="020B0604020202020204" pitchFamily="34" charset="0"/>
                  </a:rPr>
                  <a:t>Continuous compounding</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000" i="1">
                          <a:solidFill>
                            <a:schemeClr val="accent5">
                              <a:lumMod val="75000"/>
                            </a:schemeClr>
                          </a:solidFill>
                          <a:latin typeface="Cambria Math" panose="02040503050406030204" pitchFamily="18" charset="0"/>
                        </a:rPr>
                        <m:t>𝐹𝑉</m:t>
                      </m:r>
                      <m:r>
                        <a:rPr lang="en-GB" sz="1000" i="1">
                          <a:solidFill>
                            <a:schemeClr val="accent5">
                              <a:lumMod val="75000"/>
                            </a:schemeClr>
                          </a:solidFill>
                          <a:latin typeface="Cambria Math" panose="02040503050406030204" pitchFamily="18" charset="0"/>
                        </a:rPr>
                        <m:t>=</m:t>
                      </m:r>
                      <m:r>
                        <a:rPr lang="en-GB" sz="1000" i="1">
                          <a:solidFill>
                            <a:schemeClr val="accent5">
                              <a:lumMod val="75000"/>
                            </a:schemeClr>
                          </a:solidFill>
                          <a:latin typeface="Cambria Math" panose="02040503050406030204" pitchFamily="18" charset="0"/>
                        </a:rPr>
                        <m:t>𝑃𝑉</m:t>
                      </m:r>
                      <m:r>
                        <a:rPr lang="en-GB" sz="10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r>
                            <a:rPr lang="en-GB" sz="1000" i="1">
                              <a:solidFill>
                                <a:schemeClr val="accent5">
                                  <a:lumMod val="75000"/>
                                </a:schemeClr>
                              </a:solidFill>
                              <a:latin typeface="Cambria Math" panose="02040503050406030204" pitchFamily="18" charset="0"/>
                              <a:ea typeface="Cambria Math" panose="02040503050406030204" pitchFamily="18" charset="0"/>
                            </a:rPr>
                            <m:t>𝑒</m:t>
                          </m:r>
                        </m:e>
                        <m:sup>
                          <m:r>
                            <a:rPr lang="en-GB" sz="10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000" dirty="0">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000" i="1">
                          <a:solidFill>
                            <a:schemeClr val="accent5">
                              <a:lumMod val="75000"/>
                            </a:schemeClr>
                          </a:solidFill>
                          <a:latin typeface="Cambria Math" panose="02040503050406030204" pitchFamily="18" charset="0"/>
                        </a:rPr>
                        <m:t>𝑃𝑉</m:t>
                      </m:r>
                      <m:r>
                        <a:rPr lang="en-GB" sz="1000" i="1">
                          <a:solidFill>
                            <a:schemeClr val="accent5">
                              <a:lumMod val="75000"/>
                            </a:schemeClr>
                          </a:solidFill>
                          <a:latin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𝐹𝑉</m:t>
                      </m:r>
                      <m:r>
                        <a:rPr lang="en-GB" sz="10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r>
                            <a:rPr lang="en-GB" sz="1000" i="1">
                              <a:solidFill>
                                <a:schemeClr val="accent5">
                                  <a:lumMod val="75000"/>
                                </a:schemeClr>
                              </a:solidFill>
                              <a:latin typeface="Cambria Math" panose="02040503050406030204" pitchFamily="18" charset="0"/>
                              <a:ea typeface="Cambria Math" panose="02040503050406030204" pitchFamily="18" charset="0"/>
                            </a:rPr>
                            <m:t>𝑒</m:t>
                          </m:r>
                        </m:e>
                        <m: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000" i="1" dirty="0">
                  <a:solidFill>
                    <a:schemeClr val="accent5">
                      <a:lumMod val="75000"/>
                    </a:schemeClr>
                  </a:solidFill>
                  <a:latin typeface="Arial" panose="020B0604020202020204" pitchFamily="34" charset="0"/>
                  <a:cs typeface="Arial" panose="020B0604020202020204" pitchFamily="34" charset="0"/>
                </a:endParaRPr>
              </a:p>
              <a:p>
                <a:pPr marL="0" indent="0">
                  <a:spcAft>
                    <a:spcPts val="900"/>
                  </a:spcAft>
                  <a:buClr>
                    <a:srgbClr val="C00000"/>
                  </a:buClr>
                  <a:buSzPct val="90000"/>
                  <a:buNone/>
                </a:pPr>
                <a:r>
                  <a:rPr lang="en-GB" sz="1000" b="1" dirty="0">
                    <a:latin typeface="Arial" panose="020B0604020202020204" pitchFamily="34" charset="0"/>
                    <a:ea typeface="Cambria Math" panose="02040503050406030204" pitchFamily="18" charset="0"/>
                    <a:cs typeface="Arial" panose="020B0604020202020204" pitchFamily="34" charset="0"/>
                  </a:rPr>
                  <a:t>Multiple cash flows:</a:t>
                </a:r>
                <a:endParaRPr lang="en-GB" sz="1000" b="1" i="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𝐹𝑉</m:t>
                      </m:r>
                      <m:r>
                        <a:rPr lang="en-GB" sz="1000" i="1">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sz="1000" i="1">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sz="1000" i="1">
                              <a:solidFill>
                                <a:schemeClr val="accent5">
                                  <a:lumMod val="75000"/>
                                </a:schemeClr>
                              </a:solidFill>
                              <a:latin typeface="Cambria Math" panose="02040503050406030204" pitchFamily="18" charset="0"/>
                              <a:ea typeface="Cambria Math" panose="02040503050406030204" pitchFamily="18" charset="0"/>
                            </a:rPr>
                            <m:t>𝑖</m:t>
                          </m:r>
                          <m:r>
                            <a:rPr lang="en-GB" sz="1000" i="1">
                              <a:solidFill>
                                <a:schemeClr val="accent5">
                                  <a:lumMod val="75000"/>
                                </a:schemeClr>
                              </a:solidFill>
                              <a:latin typeface="Cambria Math" panose="02040503050406030204" pitchFamily="18" charset="0"/>
                              <a:ea typeface="Cambria Math" panose="02040503050406030204" pitchFamily="18" charset="0"/>
                            </a:rPr>
                            <m:t>=0</m:t>
                          </m:r>
                        </m:sub>
                        <m:sup>
                          <m:r>
                            <a:rPr lang="en-GB" sz="1000" i="1">
                              <a:solidFill>
                                <a:schemeClr val="accent5">
                                  <a:lumMod val="75000"/>
                                </a:schemeClr>
                              </a:solidFill>
                              <a:latin typeface="Cambria Math" panose="02040503050406030204" pitchFamily="18" charset="0"/>
                              <a:ea typeface="Cambria Math" panose="02040503050406030204" pitchFamily="18" charset="0"/>
                            </a:rPr>
                            <m:t>𝑚</m:t>
                          </m:r>
                        </m:sup>
                        <m:e>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𝑡</m:t>
                              </m:r>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𝑖</m:t>
                              </m:r>
                            </m:sup>
                          </m:sSup>
                        </m:e>
                      </m:nary>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0</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𝑡</m:t>
                          </m:r>
                        </m:sup>
                      </m:s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𝑡</m:t>
                          </m:r>
                          <m:r>
                            <a:rPr lang="en-GB" sz="1000" i="1">
                              <a:solidFill>
                                <a:schemeClr val="accent5">
                                  <a:lumMod val="75000"/>
                                </a:schemeClr>
                              </a:solidFill>
                              <a:latin typeface="Cambria Math" panose="02040503050406030204" pitchFamily="18" charset="0"/>
                              <a:ea typeface="Cambria Math" panose="02040503050406030204" pitchFamily="18" charset="0"/>
                            </a:rPr>
                            <m:t>−1</m:t>
                          </m:r>
                        </m:sup>
                      </m:s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𝑚</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𝑡</m:t>
                          </m:r>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𝑚</m:t>
                          </m:r>
                        </m:sup>
                      </m:sSup>
                    </m:oMath>
                  </m:oMathPara>
                </a14:m>
                <a:endParaRPr lang="en-GB" sz="10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404813" lvl="1" indent="0">
                  <a:spcAft>
                    <a:spcPts val="900"/>
                  </a:spcAft>
                  <a:buClr>
                    <a:srgbClr val="C00000"/>
                  </a:buClr>
                  <a:buSzPct val="90000"/>
                  <a:buNone/>
                </a:pPr>
                <a14:m>
                  <m:oMathPara xmlns:m="http://schemas.openxmlformats.org/officeDocument/2006/math">
                    <m:oMathParaPr>
                      <m:jc m:val="left"/>
                    </m:oMathParaPr>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𝑃𝑉</m:t>
                      </m:r>
                      <m:r>
                        <a:rPr lang="en-GB" sz="1000" i="1">
                          <a:solidFill>
                            <a:schemeClr val="accent5">
                              <a:lumMod val="75000"/>
                            </a:schemeClr>
                          </a:solidFill>
                          <a:latin typeface="Cambria Math" panose="02040503050406030204" pitchFamily="18" charset="0"/>
                          <a:ea typeface="Cambria Math" panose="02040503050406030204" pitchFamily="18" charset="0"/>
                        </a:rPr>
                        <m:t>=</m:t>
                      </m:r>
                      <m:nary>
                        <m:naryPr>
                          <m:chr m:val="∑"/>
                          <m:ctrlPr>
                            <a:rPr lang="en-GB" sz="1000" i="1">
                              <a:solidFill>
                                <a:schemeClr val="accent5">
                                  <a:lumMod val="75000"/>
                                </a:schemeClr>
                              </a:solidFill>
                              <a:latin typeface="Cambria Math" panose="02040503050406030204" pitchFamily="18" charset="0"/>
                              <a:ea typeface="Cambria Math" panose="02040503050406030204" pitchFamily="18" charset="0"/>
                            </a:rPr>
                          </m:ctrlPr>
                        </m:naryPr>
                        <m:sub>
                          <m:r>
                            <m:rPr>
                              <m:brk m:alnAt="23"/>
                            </m:rPr>
                            <a:rPr lang="en-GB" sz="1000" i="1">
                              <a:solidFill>
                                <a:schemeClr val="accent5">
                                  <a:lumMod val="75000"/>
                                </a:schemeClr>
                              </a:solidFill>
                              <a:latin typeface="Cambria Math" panose="02040503050406030204" pitchFamily="18" charset="0"/>
                              <a:ea typeface="Cambria Math" panose="02040503050406030204" pitchFamily="18" charset="0"/>
                            </a:rPr>
                            <m:t>𝑖</m:t>
                          </m:r>
                          <m:r>
                            <a:rPr lang="en-GB" sz="1000" i="1">
                              <a:solidFill>
                                <a:schemeClr val="accent5">
                                  <a:lumMod val="75000"/>
                                </a:schemeClr>
                              </a:solidFill>
                              <a:latin typeface="Cambria Math" panose="02040503050406030204" pitchFamily="18" charset="0"/>
                              <a:ea typeface="Cambria Math" panose="02040503050406030204" pitchFamily="18" charset="0"/>
                            </a:rPr>
                            <m:t>=1</m:t>
                          </m:r>
                        </m:sub>
                        <m:sup>
                          <m:r>
                            <a:rPr lang="en-GB" sz="1000" i="1">
                              <a:solidFill>
                                <a:schemeClr val="accent5">
                                  <a:lumMod val="75000"/>
                                </a:schemeClr>
                              </a:solidFill>
                              <a:latin typeface="Cambria Math" panose="02040503050406030204" pitchFamily="18" charset="0"/>
                              <a:ea typeface="Cambria Math" panose="02040503050406030204" pitchFamily="18" charset="0"/>
                            </a:rPr>
                            <m:t>𝑡</m:t>
                          </m:r>
                        </m:sup>
                        <m:e>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𝑖</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𝑖</m:t>
                              </m:r>
                            </m:sup>
                          </m:sSup>
                        </m:e>
                      </m:nary>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1</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−1</m:t>
                          </m:r>
                        </m:sup>
                      </m:s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2</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−2</m:t>
                          </m:r>
                        </m:sup>
                      </m:s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𝐶</m:t>
                      </m:r>
                      <m:sSub>
                        <m:sSubPr>
                          <m:ctrlPr>
                            <a:rPr lang="en-GB" sz="1000" i="1">
                              <a:solidFill>
                                <a:schemeClr val="accent5">
                                  <a:lumMod val="75000"/>
                                </a:schemeClr>
                              </a:solidFill>
                              <a:latin typeface="Cambria Math" panose="02040503050406030204" pitchFamily="18" charset="0"/>
                              <a:ea typeface="Cambria Math" panose="02040503050406030204" pitchFamily="18" charset="0"/>
                            </a:rPr>
                          </m:ctrlPr>
                        </m:sSubPr>
                        <m:e>
                          <m:r>
                            <a:rPr lang="en-GB" sz="1000" i="1">
                              <a:solidFill>
                                <a:schemeClr val="accent5">
                                  <a:lumMod val="75000"/>
                                </a:schemeClr>
                              </a:solidFill>
                              <a:latin typeface="Cambria Math" panose="02040503050406030204" pitchFamily="18" charset="0"/>
                              <a:ea typeface="Cambria Math" panose="02040503050406030204" pitchFamily="18" charset="0"/>
                            </a:rPr>
                            <m:t>𝐹</m:t>
                          </m:r>
                        </m:e>
                        <m:sub>
                          <m:r>
                            <a:rPr lang="en-GB" sz="1000" i="1">
                              <a:solidFill>
                                <a:schemeClr val="accent5">
                                  <a:lumMod val="75000"/>
                                </a:schemeClr>
                              </a:solidFill>
                              <a:latin typeface="Cambria Math" panose="02040503050406030204" pitchFamily="18" charset="0"/>
                              <a:ea typeface="Cambria Math" panose="02040503050406030204" pitchFamily="18" charset="0"/>
                            </a:rPr>
                            <m:t>𝑡</m:t>
                          </m:r>
                        </m:sub>
                      </m:sSub>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𝑡</m:t>
                          </m:r>
                        </m:sup>
                      </m:sSup>
                    </m:oMath>
                  </m:oMathPara>
                </a14:m>
                <a:endParaRPr lang="en-GB" sz="10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spcAft>
                    <a:spcPts val="900"/>
                  </a:spcAft>
                  <a:buClr>
                    <a:srgbClr val="C00000"/>
                  </a:buClr>
                  <a:buSzPct val="90000"/>
                  <a:buNone/>
                </a:pPr>
                <a:endParaRPr lang="en-GB" sz="1000" i="1" dirty="0">
                  <a:solidFill>
                    <a:schemeClr val="accent5">
                      <a:lumMod val="75000"/>
                    </a:schemeClr>
                  </a:solidFill>
                  <a:latin typeface="Arial" panose="020B0604020202020204" pitchFamily="34" charset="0"/>
                  <a:cs typeface="Arial" panose="020B0604020202020204" pitchFamily="34" charset="0"/>
                </a:endParaRPr>
              </a:p>
            </p:txBody>
          </p:sp>
        </mc:Choice>
        <mc:Fallback xmlns="">
          <p:sp>
            <p:nvSpPr>
              <p:cNvPr id="4" name="Content Placeholder 2">
                <a:extLst>
                  <a:ext uri="{FF2B5EF4-FFF2-40B4-BE49-F238E27FC236}">
                    <a16:creationId xmlns:a16="http://schemas.microsoft.com/office/drawing/2014/main" id="{836CA475-1BCA-DBBE-27DA-2394494BE3FB}"/>
                  </a:ext>
                </a:extLst>
              </p:cNvPr>
              <p:cNvSpPr txBox="1">
                <a:spLocks noRot="1" noChangeAspect="1" noMove="1" noResize="1" noEditPoints="1" noAdjustHandles="1" noChangeArrowheads="1" noChangeShapeType="1" noTextEdit="1"/>
              </p:cNvSpPr>
              <p:nvPr/>
            </p:nvSpPr>
            <p:spPr>
              <a:xfrm>
                <a:off x="3101536" y="980728"/>
                <a:ext cx="5934960" cy="2481966"/>
              </a:xfrm>
              <a:prstGeom prst="rect">
                <a:avLst/>
              </a:prstGeom>
              <a:blipFill>
                <a:blip r:embed="rId2"/>
                <a:stretch>
                  <a:fillRect l="-2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243DB3D0-96D1-CB12-1E39-BC741F1EA025}"/>
                  </a:ext>
                </a:extLst>
              </p:cNvPr>
              <p:cNvSpPr txBox="1">
                <a:spLocks/>
              </p:cNvSpPr>
              <p:nvPr/>
            </p:nvSpPr>
            <p:spPr>
              <a:xfrm>
                <a:off x="338666" y="1390367"/>
                <a:ext cx="2232248" cy="2481966"/>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lvl="1" indent="-57150">
                  <a:spcAft>
                    <a:spcPts val="900"/>
                  </a:spcAft>
                  <a:buClr>
                    <a:srgbClr val="C00000"/>
                  </a:buClr>
                  <a:buSzPct val="90000"/>
                  <a:buNone/>
                </a:pPr>
                <a:r>
                  <a:rPr lang="en-GB" sz="1000" b="1" dirty="0">
                    <a:latin typeface="Arial" panose="020B0604020202020204" pitchFamily="34" charset="0"/>
                    <a:cs typeface="Arial" panose="020B0604020202020204" pitchFamily="34" charset="0"/>
                  </a:rPr>
                  <a:t>Compound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000" i="1">
                          <a:solidFill>
                            <a:schemeClr val="accent5">
                              <a:lumMod val="75000"/>
                            </a:schemeClr>
                          </a:solidFill>
                          <a:latin typeface="Cambria Math" panose="02040503050406030204" pitchFamily="18" charset="0"/>
                        </a:rPr>
                        <m:t>𝐹𝑉</m:t>
                      </m:r>
                      <m:r>
                        <a:rPr lang="en-GB" sz="1000" i="1">
                          <a:solidFill>
                            <a:schemeClr val="accent5">
                              <a:lumMod val="75000"/>
                            </a:schemeClr>
                          </a:solidFill>
                          <a:latin typeface="Cambria Math" panose="02040503050406030204" pitchFamily="18" charset="0"/>
                        </a:rPr>
                        <m:t>=</m:t>
                      </m:r>
                      <m:r>
                        <a:rPr lang="en-GB" sz="1000" i="1">
                          <a:solidFill>
                            <a:schemeClr val="accent5">
                              <a:lumMod val="75000"/>
                            </a:schemeClr>
                          </a:solidFill>
                          <a:latin typeface="Cambria Math" panose="02040503050406030204" pitchFamily="18" charset="0"/>
                        </a:rPr>
                        <m:t>𝑃𝑉</m:t>
                      </m:r>
                      <m:r>
                        <a:rPr lang="en-GB" sz="10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rPr>
                              </m:ctrlPr>
                            </m:dPr>
                            <m:e>
                              <m:r>
                                <a:rPr lang="en-GB" sz="1000" i="1">
                                  <a:solidFill>
                                    <a:schemeClr val="accent5">
                                      <a:lumMod val="75000"/>
                                    </a:schemeClr>
                                  </a:solidFill>
                                  <a:latin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rgbClr val="C00000"/>
                              </a:solidFill>
                              <a:latin typeface="Cambria Math" panose="02040503050406030204" pitchFamily="18" charset="0"/>
                              <a:ea typeface="Cambria Math" panose="02040503050406030204" pitchFamily="18" charset="0"/>
                            </a:rPr>
                            <m:t>𝑡</m:t>
                          </m:r>
                        </m:sup>
                      </m:sSup>
                    </m:oMath>
                  </m:oMathPara>
                </a14:m>
                <a:endParaRPr lang="en-GB" sz="1000" dirty="0">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 xmlns:m="http://schemas.openxmlformats.org/officeDocument/2006/math">
                    <m:r>
                      <a:rPr lang="en-GB" sz="1000" i="1">
                        <a:solidFill>
                          <a:schemeClr val="accent5">
                            <a:lumMod val="75000"/>
                          </a:schemeClr>
                        </a:solidFill>
                        <a:latin typeface="Cambria Math" panose="02040503050406030204" pitchFamily="18" charset="0"/>
                      </a:rPr>
                      <m:t>𝑃𝑉</m:t>
                    </m:r>
                    <m:r>
                      <a:rPr lang="en-GB" sz="1000" i="1">
                        <a:solidFill>
                          <a:schemeClr val="accent5">
                            <a:lumMod val="75000"/>
                          </a:schemeClr>
                        </a:solidFill>
                        <a:latin typeface="Cambria Math" panose="02040503050406030204" pitchFamily="18" charset="0"/>
                      </a:rPr>
                      <m:t>=</m:t>
                    </m:r>
                    <m:r>
                      <a:rPr lang="en-GB" sz="1000" i="1">
                        <a:solidFill>
                          <a:schemeClr val="accent5">
                            <a:lumMod val="75000"/>
                          </a:schemeClr>
                        </a:solidFill>
                        <a:latin typeface="Cambria Math" panose="02040503050406030204" pitchFamily="18" charset="0"/>
                      </a:rPr>
                      <m:t>𝐹𝑉</m:t>
                    </m:r>
                    <m:r>
                      <a:rPr lang="en-GB" sz="1000" i="1">
                        <a:solidFill>
                          <a:schemeClr val="accent5">
                            <a:lumMod val="75000"/>
                          </a:schemeClr>
                        </a:solidFill>
                        <a:latin typeface="Cambria Math" panose="02040503050406030204" pitchFamily="18" charset="0"/>
                      </a:rPr>
                      <m:t>×</m:t>
                    </m:r>
                    <m:sSup>
                      <m:sSupPr>
                        <m:ctrlPr>
                          <a:rPr lang="en-GB" sz="1000" i="1">
                            <a:solidFill>
                              <a:schemeClr val="accent5">
                                <a:lumMod val="75000"/>
                              </a:schemeClr>
                            </a:solidFill>
                            <a:latin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rPr>
                            </m:ctrlPr>
                          </m:dPr>
                          <m:e>
                            <m:r>
                              <a:rPr lang="en-GB" sz="1000" i="1">
                                <a:solidFill>
                                  <a:schemeClr val="accent5">
                                    <a:lumMod val="75000"/>
                                  </a:schemeClr>
                                </a:solidFill>
                                <a:latin typeface="Cambria Math" panose="02040503050406030204" pitchFamily="18" charset="0"/>
                              </a:rPr>
                              <m:t>1+</m:t>
                            </m:r>
                            <m:r>
                              <a:rPr lang="en-GB" sz="1000" i="1">
                                <a:solidFill>
                                  <a:schemeClr val="accent5">
                                    <a:lumMod val="75000"/>
                                  </a:schemeClr>
                                </a:solidFill>
                                <a:latin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rPr>
                          <m:t>−</m:t>
                        </m:r>
                        <m:r>
                          <a:rPr lang="en-GB" sz="1000" i="1">
                            <a:solidFill>
                              <a:schemeClr val="accent5">
                                <a:lumMod val="75000"/>
                              </a:schemeClr>
                            </a:solidFill>
                            <a:latin typeface="Cambria Math" panose="02040503050406030204" pitchFamily="18" charset="0"/>
                          </a:rPr>
                          <m:t>𝑡</m:t>
                        </m:r>
                      </m:sup>
                    </m:sSup>
                  </m:oMath>
                </a14:m>
                <a:r>
                  <a:rPr lang="en-GB" sz="1000" i="1" dirty="0">
                    <a:solidFill>
                      <a:schemeClr val="accent5">
                        <a:lumMod val="75000"/>
                      </a:schemeClr>
                    </a:solidFill>
                    <a:latin typeface="Arial" panose="020B0604020202020204" pitchFamily="34" charset="0"/>
                    <a:cs typeface="Arial" panose="020B0604020202020204" pitchFamily="34" charset="0"/>
                  </a:rPr>
                  <a:t> or FV/</a:t>
                </a:r>
                <a14:m>
                  <m:oMath xmlns:m="http://schemas.openxmlformats.org/officeDocument/2006/math">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rPr>
                            </m:ctrlPr>
                          </m:dPr>
                          <m:e>
                            <m:r>
                              <a:rPr lang="en-GB" sz="1000" i="1">
                                <a:solidFill>
                                  <a:schemeClr val="accent5">
                                    <a:lumMod val="75000"/>
                                  </a:schemeClr>
                                </a:solidFill>
                                <a:latin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rgbClr val="C00000"/>
                            </a:solidFill>
                            <a:latin typeface="Cambria Math" panose="02040503050406030204" pitchFamily="18" charset="0"/>
                            <a:ea typeface="Cambria Math" panose="02040503050406030204" pitchFamily="18" charset="0"/>
                          </a:rPr>
                          <m:t>𝑡</m:t>
                        </m:r>
                      </m:sup>
                    </m:sSup>
                    <m:r>
                      <a:rPr lang="en-GB" sz="1000" i="1">
                        <a:solidFill>
                          <a:srgbClr val="C00000"/>
                        </a:solidFill>
                        <a:latin typeface="Cambria Math" panose="02040503050406030204" pitchFamily="18" charset="0"/>
                        <a:ea typeface="Cambria Math" panose="02040503050406030204" pitchFamily="18" charset="0"/>
                      </a:rPr>
                      <m:t> </m:t>
                    </m:r>
                  </m:oMath>
                </a14:m>
                <a:endParaRPr lang="en-GB" sz="10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sSup>
                        <m:sSupPr>
                          <m:ctrlPr>
                            <a:rPr lang="en-GB" sz="1000" i="1">
                              <a:solidFill>
                                <a:schemeClr val="tx1"/>
                              </a:solidFill>
                              <a:latin typeface="Cambria Math" panose="02040503050406030204" pitchFamily="18" charset="0"/>
                            </a:rPr>
                          </m:ctrlPr>
                        </m:sSupPr>
                        <m:e>
                          <m:r>
                            <a:rPr lang="en-GB" sz="1000" i="1">
                              <a:solidFill>
                                <a:schemeClr val="tx1"/>
                              </a:solidFill>
                              <a:latin typeface="Cambria Math" panose="02040503050406030204" pitchFamily="18" charset="0"/>
                            </a:rPr>
                            <m:t>𝑟</m:t>
                          </m:r>
                          <m:r>
                            <a:rPr lang="en-GB" sz="1000" i="1">
                              <a:solidFill>
                                <a:schemeClr val="tx1"/>
                              </a:solidFill>
                              <a:latin typeface="Cambria Math" panose="02040503050406030204" pitchFamily="18" charset="0"/>
                            </a:rPr>
                            <m:t>=</m:t>
                          </m:r>
                          <m:d>
                            <m:dPr>
                              <m:ctrlPr>
                                <a:rPr lang="en-GB" sz="1000" i="1">
                                  <a:solidFill>
                                    <a:schemeClr val="tx1"/>
                                  </a:solidFill>
                                  <a:latin typeface="Cambria Math" panose="02040503050406030204" pitchFamily="18" charset="0"/>
                                </a:rPr>
                              </m:ctrlPr>
                            </m:dPr>
                            <m:e>
                              <m:f>
                                <m:fPr>
                                  <m:ctrlPr>
                                    <a:rPr lang="en-GB" sz="1000" i="1">
                                      <a:solidFill>
                                        <a:schemeClr val="tx1"/>
                                      </a:solidFill>
                                      <a:latin typeface="Cambria Math" panose="02040503050406030204" pitchFamily="18" charset="0"/>
                                    </a:rPr>
                                  </m:ctrlPr>
                                </m:fPr>
                                <m:num>
                                  <m:r>
                                    <a:rPr lang="en-GB" sz="1000" i="1">
                                      <a:solidFill>
                                        <a:schemeClr val="tx1"/>
                                      </a:solidFill>
                                      <a:latin typeface="Cambria Math" panose="02040503050406030204" pitchFamily="18" charset="0"/>
                                    </a:rPr>
                                    <m:t>𝐹𝑉</m:t>
                                  </m:r>
                                </m:num>
                                <m:den>
                                  <m:r>
                                    <a:rPr lang="en-GB" sz="1000" i="1">
                                      <a:solidFill>
                                        <a:schemeClr val="tx1"/>
                                      </a:solidFill>
                                      <a:latin typeface="Cambria Math" panose="02040503050406030204" pitchFamily="18" charset="0"/>
                                    </a:rPr>
                                    <m:t>𝑃𝑉</m:t>
                                  </m:r>
                                </m:den>
                              </m:f>
                            </m:e>
                          </m:d>
                        </m:e>
                        <m:sup>
                          <m:f>
                            <m:fPr>
                              <m:ctrlPr>
                                <a:rPr lang="en-GB" sz="1000" i="1">
                                  <a:solidFill>
                                    <a:schemeClr val="tx1"/>
                                  </a:solidFill>
                                  <a:latin typeface="Cambria Math" panose="02040503050406030204" pitchFamily="18" charset="0"/>
                                </a:rPr>
                              </m:ctrlPr>
                            </m:fPr>
                            <m:num>
                              <m:r>
                                <a:rPr lang="en-GB" sz="1000" i="1">
                                  <a:solidFill>
                                    <a:schemeClr val="tx1"/>
                                  </a:solidFill>
                                  <a:latin typeface="Cambria Math" panose="02040503050406030204" pitchFamily="18" charset="0"/>
                                </a:rPr>
                                <m:t>1</m:t>
                              </m:r>
                            </m:num>
                            <m:den>
                              <m:r>
                                <a:rPr lang="en-GB" sz="1000" i="1">
                                  <a:solidFill>
                                    <a:schemeClr val="tx1"/>
                                  </a:solidFill>
                                  <a:latin typeface="Cambria Math" panose="02040503050406030204" pitchFamily="18" charset="0"/>
                                </a:rPr>
                                <m:t>𝑡</m:t>
                              </m:r>
                            </m:den>
                          </m:f>
                        </m:sup>
                      </m:sSup>
                    </m:oMath>
                  </m:oMathPara>
                </a14:m>
                <a:endParaRPr lang="en-GB" sz="10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000" i="1">
                          <a:solidFill>
                            <a:schemeClr val="tx1"/>
                          </a:solidFill>
                          <a:latin typeface="Cambria Math" panose="02040503050406030204" pitchFamily="18" charset="0"/>
                          <a:ea typeface="Cambria Math" panose="02040503050406030204" pitchFamily="18" charset="0"/>
                        </a:rPr>
                        <m:t>𝑡</m:t>
                      </m:r>
                      <m:r>
                        <a:rPr lang="en-GB" sz="1000" i="1">
                          <a:solidFill>
                            <a:schemeClr val="tx1"/>
                          </a:solidFill>
                          <a:latin typeface="Cambria Math" panose="02040503050406030204" pitchFamily="18" charset="0"/>
                          <a:ea typeface="Cambria Math" panose="02040503050406030204" pitchFamily="18" charset="0"/>
                        </a:rPr>
                        <m:t>=</m:t>
                      </m:r>
                      <m:f>
                        <m:fPr>
                          <m:ctrlPr>
                            <a:rPr lang="en-GB" sz="1000" i="1">
                              <a:solidFill>
                                <a:schemeClr val="tx1"/>
                              </a:solidFill>
                              <a:latin typeface="Cambria Math" panose="02040503050406030204" pitchFamily="18" charset="0"/>
                            </a:rPr>
                          </m:ctrlPr>
                        </m:fPr>
                        <m:num>
                          <m:func>
                            <m:funcPr>
                              <m:ctrlPr>
                                <a:rPr lang="en-GB" sz="1000" i="1">
                                  <a:solidFill>
                                    <a:schemeClr val="tx1"/>
                                  </a:solidFill>
                                  <a:latin typeface="Cambria Math" panose="02040503050406030204" pitchFamily="18" charset="0"/>
                                </a:rPr>
                              </m:ctrlPr>
                            </m:funcPr>
                            <m:fName>
                              <m:r>
                                <m:rPr>
                                  <m:sty m:val="p"/>
                                </m:rPr>
                                <a:rPr lang="en-GB" sz="1000">
                                  <a:solidFill>
                                    <a:schemeClr val="tx1"/>
                                  </a:solidFill>
                                  <a:latin typeface="Cambria Math" panose="02040503050406030204" pitchFamily="18" charset="0"/>
                                </a:rPr>
                                <m:t>ln</m:t>
                              </m:r>
                            </m:fName>
                            <m:e>
                              <m:d>
                                <m:dPr>
                                  <m:ctrlPr>
                                    <a:rPr lang="en-GB" sz="1000" i="1">
                                      <a:solidFill>
                                        <a:schemeClr val="tx1"/>
                                      </a:solidFill>
                                      <a:latin typeface="Cambria Math" panose="02040503050406030204" pitchFamily="18" charset="0"/>
                                    </a:rPr>
                                  </m:ctrlPr>
                                </m:dPr>
                                <m:e>
                                  <m:f>
                                    <m:fPr>
                                      <m:ctrlPr>
                                        <a:rPr lang="en-GB" sz="1000" i="1">
                                          <a:solidFill>
                                            <a:schemeClr val="tx1"/>
                                          </a:solidFill>
                                          <a:latin typeface="Cambria Math" panose="02040503050406030204" pitchFamily="18" charset="0"/>
                                        </a:rPr>
                                      </m:ctrlPr>
                                    </m:fPr>
                                    <m:num>
                                      <m:r>
                                        <a:rPr lang="en-GB" sz="1000" i="1">
                                          <a:solidFill>
                                            <a:schemeClr val="tx1"/>
                                          </a:solidFill>
                                          <a:latin typeface="Cambria Math" panose="02040503050406030204" pitchFamily="18" charset="0"/>
                                        </a:rPr>
                                        <m:t>𝐹𝑉</m:t>
                                      </m:r>
                                    </m:num>
                                    <m:den>
                                      <m:r>
                                        <a:rPr lang="en-GB" sz="1000" i="1">
                                          <a:solidFill>
                                            <a:schemeClr val="tx1"/>
                                          </a:solidFill>
                                          <a:latin typeface="Cambria Math" panose="02040503050406030204" pitchFamily="18" charset="0"/>
                                        </a:rPr>
                                        <m:t>𝑃𝑉</m:t>
                                      </m:r>
                                    </m:den>
                                  </m:f>
                                </m:e>
                              </m:d>
                            </m:e>
                          </m:func>
                        </m:num>
                        <m:den>
                          <m:r>
                            <m:rPr>
                              <m:sty m:val="p"/>
                            </m:rPr>
                            <a:rPr lang="en-GB" sz="1000">
                              <a:solidFill>
                                <a:schemeClr val="tx1"/>
                              </a:solidFill>
                              <a:latin typeface="Cambria Math" panose="02040503050406030204" pitchFamily="18" charset="0"/>
                            </a:rPr>
                            <m:t>ln</m:t>
                          </m:r>
                          <m:r>
                            <a:rPr lang="en-GB" sz="1000" i="1">
                              <a:solidFill>
                                <a:schemeClr val="tx1"/>
                              </a:solidFill>
                              <a:latin typeface="Cambria Math" panose="02040503050406030204" pitchFamily="18" charset="0"/>
                            </a:rPr>
                            <m:t>⁡(1+</m:t>
                          </m:r>
                          <m:r>
                            <a:rPr lang="en-GB" sz="1000" i="1">
                              <a:solidFill>
                                <a:schemeClr val="tx1"/>
                              </a:solidFill>
                              <a:latin typeface="Cambria Math" panose="02040503050406030204" pitchFamily="18" charset="0"/>
                            </a:rPr>
                            <m:t>𝑟</m:t>
                          </m:r>
                          <m:r>
                            <a:rPr lang="en-GB" sz="1000" i="1">
                              <a:solidFill>
                                <a:schemeClr val="tx1"/>
                              </a:solidFill>
                              <a:latin typeface="Cambria Math" panose="02040503050406030204" pitchFamily="18" charset="0"/>
                            </a:rPr>
                            <m:t>)</m:t>
                          </m:r>
                        </m:den>
                      </m:f>
                    </m:oMath>
                  </m:oMathPara>
                </a14:m>
                <a:endParaRPr lang="en-GB" sz="10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endParaRPr lang="en-GB" sz="1000" i="1" dirty="0">
                  <a:solidFill>
                    <a:schemeClr val="accent5">
                      <a:lumMod val="75000"/>
                    </a:schemeClr>
                  </a:solidFill>
                  <a:latin typeface="Arial" panose="020B0604020202020204" pitchFamily="34" charset="0"/>
                  <a:cs typeface="Arial" panose="020B0604020202020204" pitchFamily="34" charset="0"/>
                </a:endParaRPr>
              </a:p>
              <a:p>
                <a:pPr marL="0" lvl="1" indent="0">
                  <a:spcAft>
                    <a:spcPts val="900"/>
                  </a:spcAft>
                  <a:buClr>
                    <a:srgbClr val="C00000"/>
                  </a:buClr>
                  <a:buSzPct val="90000"/>
                  <a:buNone/>
                </a:pPr>
                <a:endParaRPr lang="en-GB" sz="1000" i="1" dirty="0">
                  <a:solidFill>
                    <a:schemeClr val="accent5">
                      <a:lumMod val="75000"/>
                    </a:schemeClr>
                  </a:solidFill>
                  <a:latin typeface="Arial" panose="020B0604020202020204" pitchFamily="34" charset="0"/>
                  <a:cs typeface="Arial" panose="020B0604020202020204" pitchFamily="34" charset="0"/>
                </a:endParaRPr>
              </a:p>
            </p:txBody>
          </p:sp>
        </mc:Choice>
        <mc:Fallback xmlns="">
          <p:sp>
            <p:nvSpPr>
              <p:cNvPr id="6" name="Content Placeholder 2">
                <a:extLst>
                  <a:ext uri="{FF2B5EF4-FFF2-40B4-BE49-F238E27FC236}">
                    <a16:creationId xmlns:a16="http://schemas.microsoft.com/office/drawing/2014/main" id="{243DB3D0-96D1-CB12-1E39-BC741F1EA025}"/>
                  </a:ext>
                </a:extLst>
              </p:cNvPr>
              <p:cNvSpPr txBox="1">
                <a:spLocks noRot="1" noChangeAspect="1" noMove="1" noResize="1" noEditPoints="1" noAdjustHandles="1" noChangeArrowheads="1" noChangeShapeType="1" noTextEdit="1"/>
              </p:cNvSpPr>
              <p:nvPr/>
            </p:nvSpPr>
            <p:spPr>
              <a:xfrm>
                <a:off x="338666" y="1390367"/>
                <a:ext cx="2232248" cy="2481966"/>
              </a:xfrm>
              <a:prstGeom prst="rect">
                <a:avLst/>
              </a:prstGeom>
              <a:blipFill>
                <a:blip r:embed="rId3"/>
                <a:stretch>
                  <a:fillRect l="-546" t="-49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16E84D5F-2E8D-5F48-6E1F-00EF9E5E712B}"/>
                  </a:ext>
                </a:extLst>
              </p:cNvPr>
              <p:cNvSpPr txBox="1">
                <a:spLocks/>
              </p:cNvSpPr>
              <p:nvPr/>
            </p:nvSpPr>
            <p:spPr>
              <a:xfrm>
                <a:off x="352301" y="3912828"/>
                <a:ext cx="3072211" cy="1258315"/>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42863" lvl="1" indent="0" fontAlgn="auto">
                  <a:spcAft>
                    <a:spcPts val="900"/>
                  </a:spcAft>
                  <a:buClr>
                    <a:srgbClr val="C00000"/>
                  </a:buClr>
                  <a:buSzPct val="90000"/>
                  <a:buFont typeface="Arial" pitchFamily="34" charset="0"/>
                  <a:buNone/>
                </a:pPr>
                <a:r>
                  <a:rPr lang="en-GB" sz="1000" b="1" dirty="0">
                    <a:latin typeface="Arial" panose="020B0604020202020204" pitchFamily="34" charset="0"/>
                    <a:ea typeface="Cambria Math" panose="02040503050406030204" pitchFamily="18" charset="0"/>
                    <a:cs typeface="Arial" panose="020B0604020202020204" pitchFamily="34" charset="0"/>
                  </a:rPr>
                  <a:t>Constant Annuity</a:t>
                </a:r>
              </a:p>
              <a:p>
                <a:pPr marL="0" lvl="1" indent="0" algn="ctr" fontAlgn="auto">
                  <a:spcAft>
                    <a:spcPts val="900"/>
                  </a:spcAft>
                  <a:buClr>
                    <a:srgbClr val="C00000"/>
                  </a:buClr>
                  <a:buSzPct val="90000"/>
                  <a:buFont typeface="Arial" pitchFamily="34" charset="0"/>
                  <a:buNone/>
                </a:pPr>
                <a14:m>
                  <m:oMathPara xmlns:m="http://schemas.openxmlformats.org/officeDocument/2006/math">
                    <m:oMathParaPr>
                      <m:jc m:val="center"/>
                    </m:oMathParaPr>
                    <m:oMath xmlns:m="http://schemas.openxmlformats.org/officeDocument/2006/math">
                      <m:r>
                        <a:rPr lang="en-GB" sz="1000" i="1" smtClean="0">
                          <a:solidFill>
                            <a:schemeClr val="accent5">
                              <a:lumMod val="75000"/>
                            </a:schemeClr>
                          </a:solidFill>
                          <a:latin typeface="Cambria Math" panose="02040503050406030204" pitchFamily="18" charset="0"/>
                          <a:ea typeface="Cambria Math" panose="02040503050406030204" pitchFamily="18" charset="0"/>
                        </a:rPr>
                        <m:t>𝐹𝑉</m:t>
                      </m:r>
                      <m:r>
                        <a:rPr lang="en-GB" sz="1000" i="1" smtClean="0">
                          <a:solidFill>
                            <a:schemeClr val="accent5">
                              <a:lumMod val="75000"/>
                            </a:schemeClr>
                          </a:solidFill>
                          <a:latin typeface="Cambria Math" panose="02040503050406030204" pitchFamily="18" charset="0"/>
                          <a:ea typeface="Cambria Math" panose="02040503050406030204" pitchFamily="18" charset="0"/>
                        </a:rPr>
                        <m:t>=</m:t>
                      </m:r>
                      <m:r>
                        <a:rPr lang="en-GB" sz="1000" i="1" smtClean="0">
                          <a:solidFill>
                            <a:schemeClr val="accent5">
                              <a:lumMod val="75000"/>
                            </a:schemeClr>
                          </a:solidFill>
                          <a:latin typeface="Cambria Math" panose="02040503050406030204" pitchFamily="18" charset="0"/>
                          <a:ea typeface="Cambria Math" panose="02040503050406030204" pitchFamily="18" charset="0"/>
                        </a:rPr>
                        <m:t>𝐴</m:t>
                      </m:r>
                      <m:r>
                        <a:rPr lang="en-GB" sz="1000" i="1" smtClean="0">
                          <a:solidFill>
                            <a:schemeClr val="accent5">
                              <a:lumMod val="75000"/>
                            </a:schemeClr>
                          </a:solidFill>
                          <a:latin typeface="Cambria Math" panose="02040503050406030204" pitchFamily="18" charset="0"/>
                          <a:ea typeface="Cambria Math" panose="02040503050406030204" pitchFamily="18" charset="0"/>
                        </a:rPr>
                        <m:t>×</m:t>
                      </m:r>
                      <m:f>
                        <m:fPr>
                          <m:ctrlPr>
                            <a:rPr lang="en-GB" sz="1000" i="1" smtClean="0">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sz="100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000" i="1" smtClean="0">
                                      <a:solidFill>
                                        <a:schemeClr val="accent5">
                                          <a:lumMod val="75000"/>
                                        </a:schemeClr>
                                      </a:solidFill>
                                      <a:latin typeface="Cambria Math" panose="02040503050406030204" pitchFamily="18" charset="0"/>
                                      <a:ea typeface="Cambria Math" panose="02040503050406030204" pitchFamily="18" charset="0"/>
                                    </a:rPr>
                                    <m:t>1+</m:t>
                                  </m:r>
                                  <m:r>
                                    <a:rPr lang="en-GB" sz="1000" i="1" smtClean="0">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smtClean="0">
                                  <a:solidFill>
                                    <a:schemeClr val="accent5">
                                      <a:lumMod val="75000"/>
                                    </a:schemeClr>
                                  </a:solidFill>
                                  <a:latin typeface="Cambria Math" panose="02040503050406030204" pitchFamily="18" charset="0"/>
                                  <a:ea typeface="Cambria Math" panose="02040503050406030204" pitchFamily="18" charset="0"/>
                                </a:rPr>
                                <m:t>𝑡</m:t>
                              </m:r>
                            </m:sup>
                          </m:sSup>
                          <m:r>
                            <a:rPr lang="en-GB" sz="1000" i="1" smtClean="0">
                              <a:solidFill>
                                <a:schemeClr val="accent5">
                                  <a:lumMod val="75000"/>
                                </a:schemeClr>
                              </a:solidFill>
                              <a:latin typeface="Cambria Math" panose="02040503050406030204" pitchFamily="18" charset="0"/>
                              <a:ea typeface="Cambria Math" panose="02040503050406030204" pitchFamily="18" charset="0"/>
                            </a:rPr>
                            <m:t>−1</m:t>
                          </m:r>
                        </m:num>
                        <m:den>
                          <m:r>
                            <a:rPr lang="en-GB" sz="1000" i="1" smtClean="0">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0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lgn="ctr" fontAlgn="auto">
                  <a:spcAft>
                    <a:spcPts val="900"/>
                  </a:spcAft>
                  <a:buClr>
                    <a:srgbClr val="C00000"/>
                  </a:buClr>
                  <a:buSzPct val="90000"/>
                  <a:buFont typeface="Arial" pitchFamily="34" charset="0"/>
                  <a:buNone/>
                </a:pPr>
                <a14:m>
                  <m:oMathPara xmlns:m="http://schemas.openxmlformats.org/officeDocument/2006/math">
                    <m:oMathParaPr>
                      <m:jc m:val="center"/>
                    </m:oMathParaPr>
                    <m:oMath xmlns:m="http://schemas.openxmlformats.org/officeDocument/2006/math">
                      <m:r>
                        <a:rPr lang="en-GB" sz="1000" i="1" smtClean="0">
                          <a:solidFill>
                            <a:schemeClr val="accent5">
                              <a:lumMod val="75000"/>
                            </a:schemeClr>
                          </a:solidFill>
                          <a:latin typeface="Cambria Math" panose="02040503050406030204" pitchFamily="18" charset="0"/>
                          <a:ea typeface="Cambria Math" panose="02040503050406030204" pitchFamily="18" charset="0"/>
                        </a:rPr>
                        <m:t>𝑃</m:t>
                      </m:r>
                      <m:r>
                        <a:rPr lang="en-GB" sz="1000" i="1">
                          <a:solidFill>
                            <a:schemeClr val="accent5">
                              <a:lumMod val="75000"/>
                            </a:schemeClr>
                          </a:solidFill>
                          <a:latin typeface="Cambria Math" panose="02040503050406030204" pitchFamily="18" charset="0"/>
                          <a:ea typeface="Cambria Math" panose="02040503050406030204" pitchFamily="18" charset="0"/>
                        </a:rPr>
                        <m:t>𝑉</m:t>
                      </m:r>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𝐴</m:t>
                      </m:r>
                      <m:r>
                        <a:rPr lang="en-GB" sz="1000" i="1">
                          <a:solidFill>
                            <a:schemeClr val="accent5">
                              <a:lumMod val="75000"/>
                            </a:schemeClr>
                          </a:solidFill>
                          <a:latin typeface="Cambria Math" panose="02040503050406030204" pitchFamily="18" charset="0"/>
                          <a:ea typeface="Cambria Math" panose="02040503050406030204" pitchFamily="18" charset="0"/>
                        </a:rPr>
                        <m:t>×</m:t>
                      </m:r>
                      <m:f>
                        <m:fPr>
                          <m:ctrlPr>
                            <a:rPr lang="en-GB" sz="1000" i="1">
                              <a:solidFill>
                                <a:schemeClr val="accent5">
                                  <a:lumMod val="75000"/>
                                </a:schemeClr>
                              </a:solidFill>
                              <a:latin typeface="Cambria Math" panose="02040503050406030204" pitchFamily="18" charset="0"/>
                              <a:ea typeface="Cambria Math" panose="02040503050406030204" pitchFamily="18" charset="0"/>
                            </a:rPr>
                          </m:ctrlPr>
                        </m:fPr>
                        <m:num>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smtClean="0">
                              <a:solidFill>
                                <a:schemeClr val="accent5">
                                  <a:lumMod val="75000"/>
                                </a:schemeClr>
                              </a:solidFill>
                              <a:latin typeface="Cambria Math" panose="02040503050406030204" pitchFamily="18" charset="0"/>
                              <a:ea typeface="Cambria Math" panose="02040503050406030204" pitchFamily="18" charset="0"/>
                            </a:rPr>
                            <m:t>−</m:t>
                          </m:r>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smtClean="0">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000" i="1">
                              <a:solidFill>
                                <a:schemeClr val="accent5">
                                  <a:lumMod val="75000"/>
                                </a:schemeClr>
                              </a:solidFill>
                              <a:latin typeface="Cambria Math" panose="02040503050406030204" pitchFamily="18" charset="0"/>
                              <a:ea typeface="Cambria Math" panose="02040503050406030204" pitchFamily="18" charset="0"/>
                            </a:rPr>
                            <m:t>𝑟</m:t>
                          </m:r>
                        </m:den>
                      </m:f>
                    </m:oMath>
                  </m:oMathPara>
                </a14:m>
                <a:endParaRPr lang="en-GB" sz="1000" dirty="0">
                  <a:solidFill>
                    <a:prstClr val="black"/>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5" name="Content Placeholder 2">
                <a:extLst>
                  <a:ext uri="{FF2B5EF4-FFF2-40B4-BE49-F238E27FC236}">
                    <a16:creationId xmlns:a16="http://schemas.microsoft.com/office/drawing/2014/main" id="{16E84D5F-2E8D-5F48-6E1F-00EF9E5E712B}"/>
                  </a:ext>
                </a:extLst>
              </p:cNvPr>
              <p:cNvSpPr txBox="1">
                <a:spLocks noRot="1" noChangeAspect="1" noMove="1" noResize="1" noEditPoints="1" noAdjustHandles="1" noChangeArrowheads="1" noChangeShapeType="1" noTextEdit="1"/>
              </p:cNvSpPr>
              <p:nvPr/>
            </p:nvSpPr>
            <p:spPr>
              <a:xfrm>
                <a:off x="352301" y="3912828"/>
                <a:ext cx="3072211" cy="1258315"/>
              </a:xfrm>
              <a:prstGeom prst="rect">
                <a:avLst/>
              </a:prstGeom>
              <a:blipFill>
                <a:blip r:embed="rId4"/>
                <a:stretch>
                  <a:fillRect t="-14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F8652D3-E818-E71B-3151-E3641C659259}"/>
                  </a:ext>
                </a:extLst>
              </p:cNvPr>
              <p:cNvSpPr txBox="1"/>
              <p:nvPr/>
            </p:nvSpPr>
            <p:spPr>
              <a:xfrm>
                <a:off x="3101536" y="3912828"/>
                <a:ext cx="4070493" cy="1260345"/>
              </a:xfrm>
              <a:prstGeom prst="rect">
                <a:avLst/>
              </a:prstGeom>
              <a:noFill/>
            </p:spPr>
            <p:txBody>
              <a:bodyPr wrap="square">
                <a:spAutoFit/>
              </a:bodyPr>
              <a:lstStyle/>
              <a:p>
                <a:pPr marL="0" lvl="1">
                  <a:spcAft>
                    <a:spcPts val="900"/>
                  </a:spcAft>
                  <a:buClr>
                    <a:srgbClr val="C00000"/>
                  </a:buClr>
                  <a:buSzPct val="90000"/>
                </a:pPr>
                <a:r>
                  <a:rPr lang="en-GB" sz="1000" b="1" dirty="0">
                    <a:latin typeface="Arial" panose="020B0604020202020204" pitchFamily="34" charset="0"/>
                    <a:ea typeface="Cambria Math" panose="02040503050406030204" pitchFamily="18" charset="0"/>
                    <a:cs typeface="Arial" panose="020B0604020202020204" pitchFamily="34" charset="0"/>
                  </a:rPr>
                  <a:t>Growing Annuity</a:t>
                </a:r>
              </a:p>
              <a:p>
                <a:pPr marL="0" lvl="1" indent="0" algn="ctr">
                  <a:spcAft>
                    <a:spcPts val="900"/>
                  </a:spcAft>
                  <a:buClr>
                    <a:srgbClr val="C00000"/>
                  </a:buClr>
                  <a:buSzPct val="90000"/>
                </a:pPr>
                <a14:m>
                  <m:oMathPara xmlns:m="http://schemas.openxmlformats.org/officeDocument/2006/math">
                    <m:oMathParaPr>
                      <m:jc m:val="center"/>
                    </m:oMathParaPr>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𝐹𝑉</m:t>
                      </m:r>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𝐴</m:t>
                      </m:r>
                      <m:r>
                        <a:rPr lang="en-GB" sz="1000" i="1">
                          <a:solidFill>
                            <a:schemeClr val="accent5">
                              <a:lumMod val="75000"/>
                            </a:schemeClr>
                          </a:solidFill>
                          <a:latin typeface="Cambria Math" panose="02040503050406030204" pitchFamily="18" charset="0"/>
                          <a:ea typeface="Cambria Math" panose="02040503050406030204" pitchFamily="18" charset="0"/>
                        </a:rPr>
                        <m:t>×</m:t>
                      </m:r>
                      <m:f>
                        <m:fPr>
                          <m:ctrlPr>
                            <a:rPr lang="en-GB" sz="1000" i="1">
                              <a:solidFill>
                                <a:schemeClr val="accent5">
                                  <a:lumMod val="75000"/>
                                </a:schemeClr>
                              </a:solidFill>
                              <a:latin typeface="Cambria Math" panose="02040503050406030204" pitchFamily="18" charset="0"/>
                              <a:ea typeface="Cambria Math" panose="02040503050406030204" pitchFamily="18" charset="0"/>
                            </a:rPr>
                          </m:ctrlPr>
                        </m:fPr>
                        <m:num>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𝑡</m:t>
                              </m:r>
                            </m:sup>
                          </m:sSup>
                          <m:r>
                            <a:rPr lang="en-GB" sz="10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0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b="0" i="1" smtClean="0">
                                      <a:solidFill>
                                        <a:schemeClr val="accent5">
                                          <a:lumMod val="75000"/>
                                        </a:schemeClr>
                                      </a:solidFill>
                                      <a:latin typeface="Cambria Math" panose="02040503050406030204" pitchFamily="18" charset="0"/>
                                      <a:ea typeface="Cambria Math" panose="02040503050406030204" pitchFamily="18" charset="0"/>
                                    </a:rPr>
                                    <m:t>+</m:t>
                                  </m:r>
                                  <m:r>
                                    <a:rPr lang="en-GB" sz="1000" b="0" i="1" smtClean="0">
                                      <a:solidFill>
                                        <a:schemeClr val="accent5">
                                          <a:lumMod val="75000"/>
                                        </a:schemeClr>
                                      </a:solidFill>
                                      <a:latin typeface="Cambria Math" panose="02040503050406030204" pitchFamily="18" charset="0"/>
                                      <a:ea typeface="Cambria Math" panose="02040503050406030204" pitchFamily="18" charset="0"/>
                                    </a:rPr>
                                    <m:t>𝑔</m:t>
                                  </m:r>
                                </m:e>
                              </m:d>
                            </m:e>
                            <m:sup>
                              <m:r>
                                <a:rPr lang="en-GB" sz="1000" b="0" i="1" smtClean="0">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000" i="1">
                              <a:solidFill>
                                <a:schemeClr val="accent5">
                                  <a:lumMod val="75000"/>
                                </a:schemeClr>
                              </a:solidFill>
                              <a:latin typeface="Cambria Math" panose="02040503050406030204" pitchFamily="18" charset="0"/>
                              <a:ea typeface="Cambria Math" panose="02040503050406030204" pitchFamily="18" charset="0"/>
                            </a:rPr>
                            <m:t>𝑟</m:t>
                          </m:r>
                          <m:r>
                            <a:rPr lang="en-GB" sz="1000" b="0" i="1" smtClean="0">
                              <a:solidFill>
                                <a:schemeClr val="accent5">
                                  <a:lumMod val="75000"/>
                                </a:schemeClr>
                              </a:solidFill>
                              <a:latin typeface="Cambria Math" panose="02040503050406030204" pitchFamily="18" charset="0"/>
                              <a:ea typeface="Cambria Math" panose="02040503050406030204" pitchFamily="18" charset="0"/>
                            </a:rPr>
                            <m:t>−</m:t>
                          </m:r>
                          <m:r>
                            <a:rPr lang="en-GB" sz="1000" b="0" i="1" smtClean="0">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000"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marL="0" lvl="1" indent="0" algn="ctr">
                  <a:spcAft>
                    <a:spcPts val="900"/>
                  </a:spcAft>
                  <a:buClr>
                    <a:srgbClr val="C00000"/>
                  </a:buClr>
                  <a:buSzPct val="90000"/>
                </a:pPr>
                <a14:m>
                  <m:oMathPara xmlns:m="http://schemas.openxmlformats.org/officeDocument/2006/math">
                    <m:oMathParaPr>
                      <m:jc m:val="center"/>
                    </m:oMathParaPr>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𝑃𝑉</m:t>
                      </m:r>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𝐴</m:t>
                      </m:r>
                      <m:r>
                        <a:rPr lang="en-GB" sz="1000" i="1">
                          <a:solidFill>
                            <a:schemeClr val="accent5">
                              <a:lumMod val="75000"/>
                            </a:schemeClr>
                          </a:solidFill>
                          <a:latin typeface="Cambria Math" panose="02040503050406030204" pitchFamily="18" charset="0"/>
                          <a:ea typeface="Cambria Math" panose="02040503050406030204" pitchFamily="18" charset="0"/>
                        </a:rPr>
                        <m:t>×</m:t>
                      </m:r>
                      <m:f>
                        <m:fPr>
                          <m:ctrlPr>
                            <a:rPr lang="en-GB" sz="1000" i="1">
                              <a:solidFill>
                                <a:schemeClr val="accent5">
                                  <a:lumMod val="75000"/>
                                </a:schemeClr>
                              </a:solidFill>
                              <a:latin typeface="Cambria Math" panose="02040503050406030204" pitchFamily="18" charset="0"/>
                              <a:ea typeface="Cambria Math" panose="02040503050406030204" pitchFamily="18" charset="0"/>
                            </a:rPr>
                          </m:ctrlPr>
                        </m:fPr>
                        <m:num>
                          <m:r>
                            <a:rPr lang="en-GB" sz="1000" i="1">
                              <a:solidFill>
                                <a:schemeClr val="accent5">
                                  <a:lumMod val="75000"/>
                                </a:schemeClr>
                              </a:solidFill>
                              <a:latin typeface="Cambria Math" panose="02040503050406030204" pitchFamily="18" charset="0"/>
                              <a:ea typeface="Cambria Math" panose="02040503050406030204" pitchFamily="18" charset="0"/>
                            </a:rPr>
                            <m:t>1−</m:t>
                          </m:r>
                          <m:sSup>
                            <m:sSupPr>
                              <m:ctrlPr>
                                <a:rPr lang="en-GB" sz="1000" i="1">
                                  <a:solidFill>
                                    <a:schemeClr val="accent5">
                                      <a:lumMod val="75000"/>
                                    </a:schemeClr>
                                  </a:solidFill>
                                  <a:latin typeface="Cambria Math" panose="02040503050406030204" pitchFamily="18" charset="0"/>
                                  <a:ea typeface="Cambria Math" panose="02040503050406030204" pitchFamily="18" charset="0"/>
                                </a:rPr>
                              </m:ctrlPr>
                            </m:sSupPr>
                            <m:e>
                              <m:sSup>
                                <m:sSupPr>
                                  <m:ctrlPr>
                                    <a:rPr lang="en-GB" sz="1000" b="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000" b="0" i="1" smtClean="0">
                                          <a:solidFill>
                                            <a:schemeClr val="accent5">
                                              <a:lumMod val="75000"/>
                                            </a:schemeClr>
                                          </a:solidFill>
                                          <a:latin typeface="Cambria Math" panose="02040503050406030204" pitchFamily="18" charset="0"/>
                                          <a:ea typeface="Cambria Math" panose="02040503050406030204" pitchFamily="18" charset="0"/>
                                        </a:rPr>
                                      </m:ctrlPr>
                                    </m:dPr>
                                    <m:e>
                                      <m:r>
                                        <a:rPr lang="en-GB" sz="1000" b="0" i="1" smtClean="0">
                                          <a:solidFill>
                                            <a:schemeClr val="accent5">
                                              <a:lumMod val="75000"/>
                                            </a:schemeClr>
                                          </a:solidFill>
                                          <a:latin typeface="Cambria Math" panose="02040503050406030204" pitchFamily="18" charset="0"/>
                                          <a:ea typeface="Cambria Math" panose="02040503050406030204" pitchFamily="18" charset="0"/>
                                        </a:rPr>
                                        <m:t>1+</m:t>
                                      </m:r>
                                      <m:r>
                                        <a:rPr lang="en-GB" sz="1000" b="0" i="1" smtClean="0">
                                          <a:solidFill>
                                            <a:schemeClr val="accent5">
                                              <a:lumMod val="75000"/>
                                            </a:schemeClr>
                                          </a:solidFill>
                                          <a:latin typeface="Cambria Math" panose="02040503050406030204" pitchFamily="18" charset="0"/>
                                          <a:ea typeface="Cambria Math" panose="02040503050406030204" pitchFamily="18" charset="0"/>
                                        </a:rPr>
                                        <m:t>𝑔</m:t>
                                      </m:r>
                                    </m:e>
                                  </m:d>
                                </m:e>
                                <m:sup>
                                  <m:r>
                                    <a:rPr lang="en-GB" sz="1000" b="0" i="1" smtClean="0">
                                      <a:solidFill>
                                        <a:schemeClr val="accent5">
                                          <a:lumMod val="75000"/>
                                        </a:schemeClr>
                                      </a:solidFill>
                                      <a:latin typeface="Cambria Math" panose="02040503050406030204" pitchFamily="18" charset="0"/>
                                      <a:ea typeface="Cambria Math" panose="02040503050406030204" pitchFamily="18" charset="0"/>
                                    </a:rPr>
                                    <m:t>𝑡</m:t>
                                  </m:r>
                                </m:sup>
                              </m:sSup>
                              <m:d>
                                <m:dPr>
                                  <m:ctrlPr>
                                    <a:rPr lang="en-GB" sz="1000" i="1">
                                      <a:solidFill>
                                        <a:schemeClr val="accent5">
                                          <a:lumMod val="75000"/>
                                        </a:schemeClr>
                                      </a:solidFill>
                                      <a:latin typeface="Cambria Math" panose="02040503050406030204" pitchFamily="18" charset="0"/>
                                      <a:ea typeface="Cambria Math" panose="02040503050406030204" pitchFamily="18" charset="0"/>
                                    </a:rPr>
                                  </m:ctrlPr>
                                </m:dPr>
                                <m:e>
                                  <m:r>
                                    <a:rPr lang="en-GB" sz="1000" i="1">
                                      <a:solidFill>
                                        <a:schemeClr val="accent5">
                                          <a:lumMod val="75000"/>
                                        </a:schemeClr>
                                      </a:solidFill>
                                      <a:latin typeface="Cambria Math" panose="02040503050406030204" pitchFamily="18" charset="0"/>
                                      <a:ea typeface="Cambria Math" panose="02040503050406030204" pitchFamily="18" charset="0"/>
                                    </a:rPr>
                                    <m:t>1+</m:t>
                                  </m:r>
                                  <m:r>
                                    <a:rPr lang="en-GB" sz="10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000" i="1">
                                  <a:solidFill>
                                    <a:schemeClr val="accent5">
                                      <a:lumMod val="75000"/>
                                    </a:schemeClr>
                                  </a:solidFill>
                                  <a:latin typeface="Cambria Math" panose="02040503050406030204" pitchFamily="18" charset="0"/>
                                  <a:ea typeface="Cambria Math" panose="02040503050406030204" pitchFamily="18" charset="0"/>
                                </a:rPr>
                                <m:t>−</m:t>
                              </m:r>
                              <m:r>
                                <a:rPr lang="en-GB" sz="1000" i="1">
                                  <a:solidFill>
                                    <a:schemeClr val="accent5">
                                      <a:lumMod val="75000"/>
                                    </a:schemeClr>
                                  </a:solidFill>
                                  <a:latin typeface="Cambria Math" panose="02040503050406030204" pitchFamily="18" charset="0"/>
                                  <a:ea typeface="Cambria Math" panose="02040503050406030204" pitchFamily="18" charset="0"/>
                                </a:rPr>
                                <m:t>𝑡</m:t>
                              </m:r>
                            </m:sup>
                          </m:sSup>
                        </m:num>
                        <m:den>
                          <m:r>
                            <a:rPr lang="en-GB" sz="1000" i="1">
                              <a:solidFill>
                                <a:schemeClr val="accent5">
                                  <a:lumMod val="75000"/>
                                </a:schemeClr>
                              </a:solidFill>
                              <a:latin typeface="Cambria Math" panose="02040503050406030204" pitchFamily="18" charset="0"/>
                              <a:ea typeface="Cambria Math" panose="02040503050406030204" pitchFamily="18" charset="0"/>
                            </a:rPr>
                            <m:t>𝑟</m:t>
                          </m:r>
                          <m:r>
                            <a:rPr lang="en-GB" sz="1000" b="0" i="1" smtClean="0">
                              <a:solidFill>
                                <a:schemeClr val="accent5">
                                  <a:lumMod val="75000"/>
                                </a:schemeClr>
                              </a:solidFill>
                              <a:latin typeface="Cambria Math" panose="02040503050406030204" pitchFamily="18" charset="0"/>
                              <a:ea typeface="Cambria Math" panose="02040503050406030204" pitchFamily="18" charset="0"/>
                            </a:rPr>
                            <m:t>−</m:t>
                          </m:r>
                          <m:r>
                            <a:rPr lang="en-GB" sz="1000" b="0" i="1" smtClean="0">
                              <a:solidFill>
                                <a:schemeClr val="accent5">
                                  <a:lumMod val="75000"/>
                                </a:schemeClr>
                              </a:solidFill>
                              <a:latin typeface="Cambria Math" panose="02040503050406030204" pitchFamily="18" charset="0"/>
                              <a:ea typeface="Cambria Math" panose="02040503050406030204" pitchFamily="18" charset="0"/>
                            </a:rPr>
                            <m:t>𝑔</m:t>
                          </m:r>
                        </m:den>
                      </m:f>
                    </m:oMath>
                  </m:oMathPara>
                </a14:m>
                <a:endParaRPr lang="en-GB" sz="10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9F8652D3-E818-E71B-3151-E3641C659259}"/>
                  </a:ext>
                </a:extLst>
              </p:cNvPr>
              <p:cNvSpPr txBox="1">
                <a:spLocks noRot="1" noChangeAspect="1" noMove="1" noResize="1" noEditPoints="1" noAdjustHandles="1" noChangeArrowheads="1" noChangeShapeType="1" noTextEdit="1"/>
              </p:cNvSpPr>
              <p:nvPr/>
            </p:nvSpPr>
            <p:spPr>
              <a:xfrm>
                <a:off x="3101536" y="3912828"/>
                <a:ext cx="4070493" cy="126034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6BF025-C378-0CD2-487B-71D3FE49B7FE}"/>
                  </a:ext>
                </a:extLst>
              </p:cNvPr>
              <p:cNvSpPr txBox="1"/>
              <p:nvPr/>
            </p:nvSpPr>
            <p:spPr>
              <a:xfrm>
                <a:off x="534650" y="5171143"/>
                <a:ext cx="7997790" cy="598497"/>
              </a:xfrm>
              <a:prstGeom prst="rect">
                <a:avLst/>
              </a:prstGeom>
              <a:noFill/>
            </p:spPr>
            <p:txBody>
              <a:bodyPr wrap="square">
                <a:spAutoFit/>
              </a:bodyPr>
              <a:lstStyle/>
              <a:p>
                <a:pPr marL="0" lvl="1" indent="0">
                  <a:spcBef>
                    <a:spcPts val="0"/>
                  </a:spcBef>
                  <a:spcAft>
                    <a:spcPts val="900"/>
                  </a:spcAft>
                  <a:buClr>
                    <a:srgbClr val="C00000"/>
                  </a:buClr>
                  <a:buSzPct val="90000"/>
                </a:pPr>
                <a:r>
                  <a:rPr lang="en-GB" sz="1000" b="1" dirty="0">
                    <a:latin typeface="Arial" panose="020B0604020202020204" pitchFamily="34" charset="0"/>
                    <a:ea typeface="Cambria Math" panose="02040503050406030204" pitchFamily="18" charset="0"/>
                    <a:cs typeface="Arial" panose="020B0604020202020204" pitchFamily="34" charset="0"/>
                  </a:rPr>
                  <a:t>Constant perpetuity		Growing perpetuity </a:t>
                </a:r>
              </a:p>
              <a:p>
                <a:pPr marL="0" lvl="1" indent="0">
                  <a:spcBef>
                    <a:spcPts val="0"/>
                  </a:spcBef>
                  <a:spcAft>
                    <a:spcPts val="900"/>
                  </a:spcAft>
                  <a:buClr>
                    <a:srgbClr val="C00000"/>
                  </a:buClr>
                  <a:buSzPct val="90000"/>
                </a:pPr>
                <a:r>
                  <a:rPr lang="en-GB" sz="1000" b="1"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𝑃</m:t>
                    </m:r>
                    <m:r>
                      <a:rPr lang="en-GB" sz="1000" i="1">
                        <a:solidFill>
                          <a:schemeClr val="accent5">
                            <a:lumMod val="75000"/>
                          </a:schemeClr>
                        </a:solidFill>
                        <a:latin typeface="Cambria Math" panose="02040503050406030204" pitchFamily="18" charset="0"/>
                        <a:ea typeface="Cambria Math" panose="02040503050406030204" pitchFamily="18" charset="0"/>
                      </a:rPr>
                      <m:t>=</m:t>
                    </m:r>
                    <m:f>
                      <m:fPr>
                        <m:ctrlPr>
                          <a:rPr lang="en-GB" sz="1000" i="1">
                            <a:solidFill>
                              <a:schemeClr val="accent5">
                                <a:lumMod val="75000"/>
                              </a:schemeClr>
                            </a:solidFill>
                            <a:latin typeface="Cambria Math" panose="02040503050406030204" pitchFamily="18" charset="0"/>
                            <a:ea typeface="Cambria Math" panose="02040503050406030204" pitchFamily="18" charset="0"/>
                          </a:rPr>
                        </m:ctrlPr>
                      </m:fPr>
                      <m:num>
                        <m:r>
                          <a:rPr lang="en-GB" sz="1000" i="1">
                            <a:solidFill>
                              <a:schemeClr val="accent5">
                                <a:lumMod val="75000"/>
                              </a:schemeClr>
                            </a:solidFill>
                            <a:latin typeface="Cambria Math" panose="02040503050406030204" pitchFamily="18" charset="0"/>
                            <a:ea typeface="Cambria Math" panose="02040503050406030204" pitchFamily="18" charset="0"/>
                          </a:rPr>
                          <m:t>𝐴</m:t>
                        </m:r>
                      </m:num>
                      <m:den>
                        <m:r>
                          <a:rPr lang="en-GB" sz="1000" i="1">
                            <a:solidFill>
                              <a:schemeClr val="accent5">
                                <a:lumMod val="75000"/>
                              </a:schemeClr>
                            </a:solidFill>
                            <a:latin typeface="Cambria Math" panose="02040503050406030204" pitchFamily="18" charset="0"/>
                            <a:ea typeface="Cambria Math" panose="02040503050406030204" pitchFamily="18" charset="0"/>
                          </a:rPr>
                          <m:t>𝑟</m:t>
                        </m:r>
                      </m:den>
                    </m:f>
                  </m:oMath>
                </a14:m>
                <a:r>
                  <a:rPr lang="en-GB" sz="1000" dirty="0">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r>
                      <a:rPr lang="en-GB" sz="1000" i="1">
                        <a:solidFill>
                          <a:schemeClr val="accent5">
                            <a:lumMod val="75000"/>
                          </a:schemeClr>
                        </a:solidFill>
                        <a:latin typeface="Cambria Math" panose="02040503050406030204" pitchFamily="18" charset="0"/>
                        <a:ea typeface="Cambria Math" panose="02040503050406030204" pitchFamily="18" charset="0"/>
                      </a:rPr>
                      <m:t>𝑃</m:t>
                    </m:r>
                    <m:r>
                      <a:rPr lang="en-GB" sz="1000" i="1">
                        <a:solidFill>
                          <a:schemeClr val="accent5">
                            <a:lumMod val="75000"/>
                          </a:schemeClr>
                        </a:solidFill>
                        <a:latin typeface="Cambria Math" panose="02040503050406030204" pitchFamily="18" charset="0"/>
                        <a:ea typeface="Cambria Math" panose="02040503050406030204" pitchFamily="18" charset="0"/>
                      </a:rPr>
                      <m:t>=</m:t>
                    </m:r>
                    <m:f>
                      <m:fPr>
                        <m:ctrlPr>
                          <a:rPr lang="en-GB" sz="1000" i="1">
                            <a:solidFill>
                              <a:schemeClr val="accent5">
                                <a:lumMod val="75000"/>
                              </a:schemeClr>
                            </a:solidFill>
                            <a:latin typeface="Cambria Math" panose="02040503050406030204" pitchFamily="18" charset="0"/>
                            <a:ea typeface="Cambria Math" panose="02040503050406030204" pitchFamily="18" charset="0"/>
                          </a:rPr>
                        </m:ctrlPr>
                      </m:fPr>
                      <m:num>
                        <m:r>
                          <a:rPr lang="en-GB" sz="1000" i="1">
                            <a:solidFill>
                              <a:schemeClr val="accent5">
                                <a:lumMod val="75000"/>
                              </a:schemeClr>
                            </a:solidFill>
                            <a:latin typeface="Cambria Math" panose="02040503050406030204" pitchFamily="18" charset="0"/>
                            <a:ea typeface="Cambria Math" panose="02040503050406030204" pitchFamily="18" charset="0"/>
                          </a:rPr>
                          <m:t>𝐴</m:t>
                        </m:r>
                      </m:num>
                      <m:den>
                        <m:r>
                          <a:rPr lang="en-GB" sz="1000" i="1">
                            <a:solidFill>
                              <a:schemeClr val="accent5">
                                <a:lumMod val="75000"/>
                              </a:schemeClr>
                            </a:solidFill>
                            <a:latin typeface="Cambria Math" panose="02040503050406030204" pitchFamily="18" charset="0"/>
                            <a:ea typeface="Cambria Math" panose="02040503050406030204" pitchFamily="18" charset="0"/>
                          </a:rPr>
                          <m:t>𝑟</m:t>
                        </m:r>
                        <m:r>
                          <a:rPr lang="en-GB" sz="1000" b="0" i="1" smtClean="0">
                            <a:solidFill>
                              <a:schemeClr val="accent5">
                                <a:lumMod val="75000"/>
                              </a:schemeClr>
                            </a:solidFill>
                            <a:latin typeface="Cambria Math" panose="02040503050406030204" pitchFamily="18" charset="0"/>
                            <a:ea typeface="Cambria Math" panose="02040503050406030204" pitchFamily="18" charset="0"/>
                          </a:rPr>
                          <m:t>−</m:t>
                        </m:r>
                        <m:r>
                          <a:rPr lang="en-GB" sz="1000" b="0" i="1" smtClean="0">
                            <a:solidFill>
                              <a:schemeClr val="accent5">
                                <a:lumMod val="75000"/>
                              </a:schemeClr>
                            </a:solidFill>
                            <a:latin typeface="Cambria Math" panose="02040503050406030204" pitchFamily="18" charset="0"/>
                            <a:ea typeface="Cambria Math" panose="02040503050406030204" pitchFamily="18" charset="0"/>
                          </a:rPr>
                          <m:t>𝑔</m:t>
                        </m:r>
                      </m:den>
                    </m:f>
                  </m:oMath>
                </a14:m>
                <a:endParaRPr lang="en-GB" sz="1000"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426BF025-C378-0CD2-487B-71D3FE49B7FE}"/>
                  </a:ext>
                </a:extLst>
              </p:cNvPr>
              <p:cNvSpPr txBox="1">
                <a:spLocks noRot="1" noChangeAspect="1" noMove="1" noResize="1" noEditPoints="1" noAdjustHandles="1" noChangeArrowheads="1" noChangeShapeType="1" noTextEdit="1"/>
              </p:cNvSpPr>
              <p:nvPr/>
            </p:nvSpPr>
            <p:spPr>
              <a:xfrm>
                <a:off x="534650" y="5171143"/>
                <a:ext cx="7997790" cy="598497"/>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87072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 calcmode="lin" valueType="num">
                                      <p:cBhvr>
                                        <p:cTn id="23"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4"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5"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6" dur="1000"/>
                                        <p:tgtEl>
                                          <p:spTgt spid="5">
                                            <p:txEl>
                                              <p:pRg st="0" end="0"/>
                                            </p:txEl>
                                          </p:spTgt>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 calcmode="lin" valueType="num">
                                      <p:cBhvr>
                                        <p:cTn id="29"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30"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31"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32" dur="1000"/>
                                        <p:tgtEl>
                                          <p:spTgt spid="5">
                                            <p:txEl>
                                              <p:pRg st="1" end="1"/>
                                            </p:txEl>
                                          </p:spTgt>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 calcmode="lin" valueType="num">
                                      <p:cBhvr>
                                        <p:cTn id="35"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36"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37" dur="1000" fill="hold"/>
                                        <p:tgtEl>
                                          <p:spTgt spid="5">
                                            <p:txEl>
                                              <p:pRg st="2" end="2"/>
                                            </p:txEl>
                                          </p:spTgt>
                                        </p:tgtEl>
                                        <p:attrNameLst>
                                          <p:attrName>style.rotation</p:attrName>
                                        </p:attrNameLst>
                                      </p:cBhvr>
                                      <p:tavLst>
                                        <p:tav tm="0">
                                          <p:val>
                                            <p:fltVal val="90"/>
                                          </p:val>
                                        </p:tav>
                                        <p:tav tm="100000">
                                          <p:val>
                                            <p:fltVal val="0"/>
                                          </p:val>
                                        </p:tav>
                                      </p:tavLst>
                                    </p:anim>
                                    <p:animEffect transition="in" filter="fade">
                                      <p:cBhvr>
                                        <p:cTn id="38" dur="1000"/>
                                        <p:tgtEl>
                                          <p:spTgt spid="5">
                                            <p:txEl>
                                              <p:pRg st="2" end="2"/>
                                            </p:txEl>
                                          </p:spTgt>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1000" fill="hold"/>
                                        <p:tgtEl>
                                          <p:spTgt spid="8"/>
                                        </p:tgtEl>
                                        <p:attrNameLst>
                                          <p:attrName>ppt_w</p:attrName>
                                        </p:attrNameLst>
                                      </p:cBhvr>
                                      <p:tavLst>
                                        <p:tav tm="0">
                                          <p:val>
                                            <p:fltVal val="0"/>
                                          </p:val>
                                        </p:tav>
                                        <p:tav tm="100000">
                                          <p:val>
                                            <p:strVal val="#ppt_w"/>
                                          </p:val>
                                        </p:tav>
                                      </p:tavLst>
                                    </p:anim>
                                    <p:anim calcmode="lin" valueType="num">
                                      <p:cBhvr>
                                        <p:cTn id="42" dur="1000" fill="hold"/>
                                        <p:tgtEl>
                                          <p:spTgt spid="8"/>
                                        </p:tgtEl>
                                        <p:attrNameLst>
                                          <p:attrName>ppt_h</p:attrName>
                                        </p:attrNameLst>
                                      </p:cBhvr>
                                      <p:tavLst>
                                        <p:tav tm="0">
                                          <p:val>
                                            <p:fltVal val="0"/>
                                          </p:val>
                                        </p:tav>
                                        <p:tav tm="100000">
                                          <p:val>
                                            <p:strVal val="#ppt_h"/>
                                          </p:val>
                                        </p:tav>
                                      </p:tavLst>
                                    </p:anim>
                                    <p:anim calcmode="lin" valueType="num">
                                      <p:cBhvr>
                                        <p:cTn id="43" dur="1000" fill="hold"/>
                                        <p:tgtEl>
                                          <p:spTgt spid="8"/>
                                        </p:tgtEl>
                                        <p:attrNameLst>
                                          <p:attrName>style.rotation</p:attrName>
                                        </p:attrNameLst>
                                      </p:cBhvr>
                                      <p:tavLst>
                                        <p:tav tm="0">
                                          <p:val>
                                            <p:fltVal val="90"/>
                                          </p:val>
                                        </p:tav>
                                        <p:tav tm="100000">
                                          <p:val>
                                            <p:fltVal val="0"/>
                                          </p:val>
                                        </p:tav>
                                      </p:tavLst>
                                    </p:anim>
                                    <p:animEffect transition="in" filter="fade">
                                      <p:cBhvr>
                                        <p:cTn id="44" dur="10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0" fill="hold"/>
                                        <p:tgtEl>
                                          <p:spTgt spid="9"/>
                                        </p:tgtEl>
                                        <p:attrNameLst>
                                          <p:attrName>ppt_w</p:attrName>
                                        </p:attrNameLst>
                                      </p:cBhvr>
                                      <p:tavLst>
                                        <p:tav tm="0">
                                          <p:val>
                                            <p:fltVal val="0"/>
                                          </p:val>
                                        </p:tav>
                                        <p:tav tm="100000">
                                          <p:val>
                                            <p:strVal val="#ppt_w"/>
                                          </p:val>
                                        </p:tav>
                                      </p:tavLst>
                                    </p:anim>
                                    <p:anim calcmode="lin" valueType="num">
                                      <p:cBhvr>
                                        <p:cTn id="50" dur="3000" fill="hold"/>
                                        <p:tgtEl>
                                          <p:spTgt spid="9"/>
                                        </p:tgtEl>
                                        <p:attrNameLst>
                                          <p:attrName>ppt_h</p:attrName>
                                        </p:attrNameLst>
                                      </p:cBhvr>
                                      <p:tavLst>
                                        <p:tav tm="0">
                                          <p:val>
                                            <p:fltVal val="0"/>
                                          </p:val>
                                        </p:tav>
                                        <p:tav tm="100000">
                                          <p:val>
                                            <p:strVal val="#ppt_h"/>
                                          </p:val>
                                        </p:tav>
                                      </p:tavLst>
                                    </p:anim>
                                    <p:anim calcmode="lin" valueType="num">
                                      <p:cBhvr>
                                        <p:cTn id="51" dur="3000" fill="hold"/>
                                        <p:tgtEl>
                                          <p:spTgt spid="9"/>
                                        </p:tgtEl>
                                        <p:attrNameLst>
                                          <p:attrName>style.rotation</p:attrName>
                                        </p:attrNameLst>
                                      </p:cBhvr>
                                      <p:tavLst>
                                        <p:tav tm="0">
                                          <p:val>
                                            <p:fltVal val="90"/>
                                          </p:val>
                                        </p:tav>
                                        <p:tav tm="100000">
                                          <p:val>
                                            <p:fltVal val="0"/>
                                          </p:val>
                                        </p:tav>
                                      </p:tavLst>
                                    </p:anim>
                                    <p:animEffect transition="in" filter="fade">
                                      <p:cBhvr>
                                        <p:cTn id="52"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build="p"/>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5741-AE43-DA76-4DAC-E33AB6ACBC20}"/>
              </a:ext>
            </a:extLst>
          </p:cNvPr>
          <p:cNvSpPr>
            <a:spLocks noGrp="1"/>
          </p:cNvSpPr>
          <p:nvPr>
            <p:ph type="title"/>
          </p:nvPr>
        </p:nvSpPr>
        <p:spPr>
          <a:xfrm>
            <a:off x="772664" y="404664"/>
            <a:ext cx="7886700" cy="1011108"/>
          </a:xfrm>
        </p:spPr>
        <p:txBody>
          <a:bodyPr>
            <a:normAutofit/>
          </a:bodyPr>
          <a:lstStyle/>
          <a:p>
            <a:r>
              <a:rPr lang="en-GB" dirty="0"/>
              <a:t>Compounding periods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FE367C5-DF59-2E46-66F8-441381A67F25}"/>
                  </a:ext>
                </a:extLst>
              </p:cNvPr>
              <p:cNvSpPr>
                <a:spLocks noGrp="1"/>
              </p:cNvSpPr>
              <p:nvPr>
                <p:ph type="body" sz="quarter" idx="11"/>
              </p:nvPr>
            </p:nvSpPr>
            <p:spPr>
              <a:xfrm>
                <a:off x="899589" y="1340768"/>
                <a:ext cx="7632849" cy="5112568"/>
              </a:xfrm>
            </p:spPr>
            <p:txBody>
              <a:bodyPr>
                <a:noAutofit/>
              </a:bodyPr>
              <a:lstStyle/>
              <a:p>
                <a:pPr marL="9525" indent="0">
                  <a:buNone/>
                </a:pPr>
                <a:r>
                  <a:rPr lang="en-GB" sz="1200" dirty="0">
                    <a:latin typeface="Arial" panose="020B0604020202020204" pitchFamily="34" charset="0"/>
                    <a:cs typeface="Arial" panose="020B0604020202020204" pitchFamily="34" charset="0"/>
                  </a:rPr>
                  <a:t>BUT cashflow’s don’t just happen annually and interest is not just calculated compounded annually.</a:t>
                </a:r>
              </a:p>
              <a:p>
                <a:pPr marL="9525" indent="0">
                  <a:buNone/>
                </a:pPr>
                <a:r>
                  <a:rPr lang="en-GB" sz="1200" dirty="0">
                    <a:latin typeface="Arial" panose="020B0604020202020204" pitchFamily="34" charset="0"/>
                    <a:cs typeface="Arial" panose="020B0604020202020204" pitchFamily="34" charset="0"/>
                  </a:rPr>
                  <a:t>Situation 1:</a:t>
                </a:r>
              </a:p>
              <a:p>
                <a:pPr marL="352425" indent="-342900">
                  <a:buAutoNum type="arabicPeriod"/>
                </a:pPr>
                <a:r>
                  <a:rPr lang="en-GB" sz="1200" dirty="0">
                    <a:latin typeface="Arial" panose="020B0604020202020204" pitchFamily="34" charset="0"/>
                    <a:cs typeface="Arial" panose="020B0604020202020204" pitchFamily="34" charset="0"/>
                  </a:rPr>
                  <a:t>Annual interest rates is compounded over n periods </a:t>
                </a:r>
                <a:r>
                  <a:rPr lang="en-GB" sz="1200" dirty="0" err="1">
                    <a:latin typeface="Arial" panose="020B0604020202020204" pitchFamily="34" charset="0"/>
                    <a:cs typeface="Arial" panose="020B0604020202020204" pitchFamily="34" charset="0"/>
                  </a:rPr>
                  <a:t>eg</a:t>
                </a:r>
                <a:r>
                  <a:rPr lang="en-GB" sz="1200" dirty="0">
                    <a:latin typeface="Arial" panose="020B0604020202020204" pitchFamily="34" charset="0"/>
                    <a:cs typeface="Arial" panose="020B0604020202020204" pitchFamily="34" charset="0"/>
                  </a:rPr>
                  <a:t> semi-annually (2 periods in year) or quarterly  (4 periods in year)</a:t>
                </a:r>
              </a:p>
              <a:p>
                <a:pPr marL="9525" indent="0">
                  <a:buNone/>
                </a:pPr>
                <a:r>
                  <a:rPr lang="en-GB" sz="1200" dirty="0">
                    <a:latin typeface="Arial" panose="020B0604020202020204" pitchFamily="34" charset="0"/>
                    <a:cs typeface="Arial" panose="020B0604020202020204" pitchFamily="34" charset="0"/>
                  </a:rPr>
                  <a:t>	Two banks both offer deposit accounts with an annual interest rate of 5%. One compounds annually 	(Bank A)  the other compounds quarterly (Bank B)</a:t>
                </a:r>
              </a:p>
              <a:p>
                <a:pPr marL="9525" indent="0">
                  <a:buNone/>
                </a:pPr>
                <a:r>
                  <a:rPr lang="en-GB" sz="1200" dirty="0">
                    <a:latin typeface="Arial" panose="020B0604020202020204" pitchFamily="34" charset="0"/>
                    <a:cs typeface="Arial" panose="020B0604020202020204" pitchFamily="34" charset="0"/>
                  </a:rPr>
                  <a:t>	</a:t>
                </a:r>
                <a:r>
                  <a:rPr lang="en-GB" sz="1200" b="1" dirty="0">
                    <a:latin typeface="Arial" panose="020B0604020202020204" pitchFamily="34" charset="0"/>
                    <a:cs typeface="Arial" panose="020B0604020202020204" pitchFamily="34" charset="0"/>
                  </a:rPr>
                  <a:t>Bank A</a:t>
                </a:r>
                <a:r>
                  <a:rPr lang="en-GB" sz="1200" dirty="0">
                    <a:latin typeface="Arial" panose="020B0604020202020204" pitchFamily="34" charset="0"/>
                    <a:cs typeface="Arial" panose="020B0604020202020204" pitchFamily="34" charset="0"/>
                  </a:rPr>
                  <a:t>			</a:t>
                </a:r>
                <a:r>
                  <a:rPr lang="en-GB" sz="1200" b="1" dirty="0">
                    <a:latin typeface="Arial" panose="020B0604020202020204" pitchFamily="34" charset="0"/>
                    <a:cs typeface="Arial" panose="020B0604020202020204" pitchFamily="34" charset="0"/>
                  </a:rPr>
                  <a:t>Bank B</a:t>
                </a:r>
                <a:r>
                  <a:rPr lang="en-GB" sz="1200" dirty="0">
                    <a:latin typeface="Arial" panose="020B0604020202020204" pitchFamily="34" charset="0"/>
                    <a:cs typeface="Arial" panose="020B0604020202020204" pitchFamily="34" charset="0"/>
                  </a:rPr>
                  <a:t>	</a:t>
                </a:r>
              </a:p>
              <a:p>
                <a:pPr marL="9525" indent="0">
                  <a:buNone/>
                </a:pPr>
                <a:r>
                  <a:rPr lang="en-GB" sz="1200" dirty="0">
                    <a:latin typeface="Arial" panose="020B0604020202020204" pitchFamily="34" charset="0"/>
                    <a:cs typeface="Arial" panose="020B0604020202020204" pitchFamily="34" charset="0"/>
                  </a:rPr>
                  <a:t>	T0 £1000			T0 £1000</a:t>
                </a:r>
              </a:p>
              <a:p>
                <a:pPr marL="9525" indent="0">
                  <a:buNone/>
                </a:pPr>
                <a:r>
                  <a:rPr lang="en-GB" sz="1200" dirty="0">
                    <a:latin typeface="Arial" panose="020B0604020202020204" pitchFamily="34" charset="0"/>
                    <a:cs typeface="Arial" panose="020B0604020202020204" pitchFamily="34" charset="0"/>
                  </a:rPr>
                  <a:t>				Tq1 £1000 x (1 + (5%/4)) = $1000 x 1.0125 = £1012.5</a:t>
                </a:r>
              </a:p>
              <a:p>
                <a:pPr marL="9525" indent="0">
                  <a:buNone/>
                </a:pPr>
                <a:r>
                  <a:rPr lang="en-GB" sz="1200" dirty="0">
                    <a:latin typeface="Arial" panose="020B0604020202020204" pitchFamily="34" charset="0"/>
                    <a:cs typeface="Arial" panose="020B0604020202020204" pitchFamily="34" charset="0"/>
                  </a:rPr>
                  <a:t>				Tq2 1012.5 x 1.0125 = £1025.16</a:t>
                </a:r>
              </a:p>
              <a:p>
                <a:pPr marL="9525" indent="0">
                  <a:buNone/>
                </a:pPr>
                <a:r>
                  <a:rPr lang="en-GB" sz="1200" dirty="0">
                    <a:latin typeface="Arial" panose="020B0604020202020204" pitchFamily="34" charset="0"/>
                    <a:cs typeface="Arial" panose="020B0604020202020204" pitchFamily="34" charset="0"/>
                  </a:rPr>
                  <a:t>				Tq3 £1025.16 x 1.0125 = £1037.97</a:t>
                </a:r>
              </a:p>
              <a:p>
                <a:pPr marL="9525" indent="0">
                  <a:buNone/>
                </a:pPr>
                <a:r>
                  <a:rPr lang="en-GB" sz="1200" dirty="0">
                    <a:latin typeface="Arial" panose="020B0604020202020204" pitchFamily="34" charset="0"/>
                    <a:cs typeface="Arial" panose="020B0604020202020204" pitchFamily="34" charset="0"/>
                  </a:rPr>
                  <a:t>	 T1 £1000 x 1.05 = £1050		T1 = £1050.95</a:t>
                </a:r>
              </a:p>
              <a:p>
                <a:pPr marL="9525" indent="0">
                  <a:buNone/>
                </a:pPr>
                <a:r>
                  <a:rPr lang="en-GB" sz="1200" dirty="0">
                    <a:latin typeface="Arial" panose="020B0604020202020204" pitchFamily="34" charset="0"/>
                    <a:cs typeface="Arial" panose="020B0604020202020204" pitchFamily="34" charset="0"/>
                  </a:rPr>
                  <a:t>So what is the effective Annual Interest being earned in Bank B? 50.95/1000 = 0.0595 = 5.095% EAR. Can be done using a formula. </a:t>
                </a:r>
              </a:p>
              <a:p>
                <a:pPr marL="9525" indent="0">
                  <a:buNone/>
                </a:pPr>
                <a:r>
                  <a:rPr lang="en-GB" sz="1200" dirty="0">
                    <a:latin typeface="Arial" panose="020B0604020202020204" pitchFamily="34" charset="0"/>
                    <a:cs typeface="Arial" panose="020B0604020202020204" pitchFamily="34" charset="0"/>
                  </a:rPr>
                  <a:t>EAR = </a:t>
                </a:r>
                <a14:m>
                  <m:oMath xmlns:m="http://schemas.openxmlformats.org/officeDocument/2006/math">
                    <m:sSup>
                      <m:sSupPr>
                        <m:ctrlPr>
                          <a:rPr lang="en-GB" sz="1200" i="1" smtClean="0">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rPr>
                            </m:ctrlPr>
                          </m:dPr>
                          <m:e>
                            <m:r>
                              <a:rPr lang="en-GB" sz="1200" i="1">
                                <a:solidFill>
                                  <a:schemeClr val="accent5">
                                    <a:lumMod val="75000"/>
                                  </a:schemeClr>
                                </a:solidFill>
                                <a:latin typeface="Cambria Math" panose="02040503050406030204" pitchFamily="18" charset="0"/>
                              </a:rPr>
                              <m:t>1+</m:t>
                            </m:r>
                            <m:f>
                              <m:fPr>
                                <m:ctrlPr>
                                  <a:rPr lang="en-GB" sz="1200" i="1">
                                    <a:solidFill>
                                      <a:schemeClr val="accent5">
                                        <a:lumMod val="75000"/>
                                      </a:schemeClr>
                                    </a:solidFill>
                                    <a:latin typeface="Cambria Math" panose="02040503050406030204" pitchFamily="18" charset="0"/>
                                    <a:ea typeface="Cambria Math" panose="02040503050406030204" pitchFamily="18" charset="0"/>
                                  </a:rPr>
                                </m:ctrlPr>
                              </m:fPr>
                              <m:num>
                                <m:r>
                                  <a:rPr lang="en-GB" sz="1200" i="1">
                                    <a:solidFill>
                                      <a:schemeClr val="accent5">
                                        <a:lumMod val="75000"/>
                                      </a:schemeClr>
                                    </a:solidFill>
                                    <a:latin typeface="Cambria Math" panose="02040503050406030204" pitchFamily="18" charset="0"/>
                                    <a:ea typeface="Cambria Math" panose="02040503050406030204" pitchFamily="18" charset="0"/>
                                  </a:rPr>
                                  <m:t>𝑟</m:t>
                                </m:r>
                              </m:num>
                              <m:den>
                                <m:r>
                                  <a:rPr lang="en-GB" sz="1200" i="1">
                                    <a:solidFill>
                                      <a:srgbClr val="C00000"/>
                                    </a:solidFill>
                                    <a:latin typeface="Cambria Math" panose="02040503050406030204" pitchFamily="18" charset="0"/>
                                    <a:ea typeface="Cambria Math" panose="02040503050406030204" pitchFamily="18" charset="0"/>
                                  </a:rPr>
                                  <m:t>𝑛</m:t>
                                </m:r>
                              </m:den>
                            </m:f>
                          </m:e>
                        </m:d>
                      </m:e>
                      <m:sup>
                        <m:r>
                          <a:rPr lang="en-GB" sz="1200" i="1">
                            <a:solidFill>
                              <a:srgbClr val="C00000"/>
                            </a:solidFill>
                            <a:latin typeface="Cambria Math" panose="02040503050406030204" pitchFamily="18" charset="0"/>
                            <a:ea typeface="Cambria Math" panose="02040503050406030204" pitchFamily="18" charset="0"/>
                          </a:rPr>
                          <m:t>𝑛</m:t>
                        </m:r>
                      </m:sup>
                    </m:sSup>
                    <m:r>
                      <a:rPr lang="en-GB" sz="1200" b="0" i="1" smtClean="0">
                        <a:solidFill>
                          <a:schemeClr val="accent5">
                            <a:lumMod val="75000"/>
                          </a:schemeClr>
                        </a:solidFill>
                        <a:latin typeface="Cambria Math" panose="02040503050406030204" pitchFamily="18" charset="0"/>
                        <a:ea typeface="Cambria Math" panose="02040503050406030204" pitchFamily="18" charset="0"/>
                      </a:rPr>
                      <m:t>−1</m:t>
                    </m:r>
                  </m:oMath>
                </a14:m>
                <a:endParaRPr lang="en-GB" sz="1200" dirty="0">
                  <a:latin typeface="Arial" panose="020B0604020202020204" pitchFamily="34" charset="0"/>
                  <a:cs typeface="Arial" panose="020B0604020202020204" pitchFamily="34" charset="0"/>
                </a:endParaRPr>
              </a:p>
              <a:p>
                <a:pPr marL="0" lvl="1" indent="0">
                  <a:spcAft>
                    <a:spcPts val="900"/>
                  </a:spcAft>
                  <a:buClr>
                    <a:srgbClr val="C00000"/>
                  </a:buClr>
                  <a:buSzPct val="90000"/>
                  <a:buNone/>
                </a:pPr>
                <a:r>
                  <a:rPr lang="en-GB" sz="1200" dirty="0">
                    <a:latin typeface="Arial" panose="020B0604020202020204" pitchFamily="34" charset="0"/>
                    <a:cs typeface="Arial" panose="020B0604020202020204" pitchFamily="34" charset="0"/>
                  </a:rPr>
                  <a:t>Other formulae can be amended for this… </a:t>
                </a:r>
                <a:r>
                  <a:rPr lang="en-GB" sz="1200" dirty="0">
                    <a:solidFill>
                      <a:schemeClr val="accent5">
                        <a:lumMod val="75000"/>
                      </a:schemeClr>
                    </a:solidFill>
                    <a:latin typeface="Arial" panose="020B0604020202020204" pitchFamily="34" charset="0"/>
                    <a:cs typeface="Arial" panose="020B0604020202020204" pitchFamily="34" charset="0"/>
                  </a:rPr>
                  <a:t>𝑛  compounding periods in a year.</a:t>
                </a:r>
              </a:p>
              <a:p>
                <a:pPr marL="0" lvl="1" indent="0">
                  <a:spcAft>
                    <a:spcPts val="900"/>
                  </a:spcAft>
                  <a:buClr>
                    <a:srgbClr val="C00000"/>
                  </a:buClr>
                  <a:buSzPct val="90000"/>
                  <a:buNone/>
                </a:pPr>
                <a14:m>
                  <m:oMath xmlns:m="http://schemas.openxmlformats.org/officeDocument/2006/math">
                    <m:r>
                      <a:rPr lang="en-GB" sz="1200" i="1">
                        <a:solidFill>
                          <a:schemeClr val="accent5">
                            <a:lumMod val="75000"/>
                          </a:schemeClr>
                        </a:solidFill>
                        <a:latin typeface="Cambria Math" panose="02040503050406030204" pitchFamily="18" charset="0"/>
                      </a:rPr>
                      <m:t>𝐹𝑉</m:t>
                    </m:r>
                    <m:r>
                      <a:rPr lang="en-GB" sz="1200" i="1">
                        <a:solidFill>
                          <a:schemeClr val="accent5">
                            <a:lumMod val="75000"/>
                          </a:schemeClr>
                        </a:solidFill>
                        <a:latin typeface="Cambria Math" panose="02040503050406030204" pitchFamily="18" charset="0"/>
                      </a:rPr>
                      <m:t>=</m:t>
                    </m:r>
                    <m:r>
                      <a:rPr lang="en-GB" sz="1200" i="1">
                        <a:solidFill>
                          <a:schemeClr val="accent5">
                            <a:lumMod val="75000"/>
                          </a:schemeClr>
                        </a:solidFill>
                        <a:latin typeface="Cambria Math" panose="02040503050406030204" pitchFamily="18" charset="0"/>
                      </a:rPr>
                      <m:t>𝑃𝑉</m:t>
                    </m:r>
                    <m:r>
                      <a:rPr lang="en-GB" sz="12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2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rPr>
                            </m:ctrlPr>
                          </m:dPr>
                          <m:e>
                            <m:r>
                              <a:rPr lang="en-GB" sz="1200" i="1">
                                <a:solidFill>
                                  <a:schemeClr val="accent5">
                                    <a:lumMod val="75000"/>
                                  </a:schemeClr>
                                </a:solidFill>
                                <a:latin typeface="Cambria Math" panose="02040503050406030204" pitchFamily="18" charset="0"/>
                              </a:rPr>
                              <m:t>1+</m:t>
                            </m:r>
                            <m:f>
                              <m:fPr>
                                <m:ctrlPr>
                                  <a:rPr lang="en-GB" sz="1200" i="1">
                                    <a:solidFill>
                                      <a:schemeClr val="accent5">
                                        <a:lumMod val="75000"/>
                                      </a:schemeClr>
                                    </a:solidFill>
                                    <a:latin typeface="Cambria Math" panose="02040503050406030204" pitchFamily="18" charset="0"/>
                                    <a:ea typeface="Cambria Math" panose="02040503050406030204" pitchFamily="18" charset="0"/>
                                  </a:rPr>
                                </m:ctrlPr>
                              </m:fPr>
                              <m:num>
                                <m:r>
                                  <a:rPr lang="en-GB" sz="1200" i="1">
                                    <a:solidFill>
                                      <a:schemeClr val="accent5">
                                        <a:lumMod val="75000"/>
                                      </a:schemeClr>
                                    </a:solidFill>
                                    <a:latin typeface="Cambria Math" panose="02040503050406030204" pitchFamily="18" charset="0"/>
                                    <a:ea typeface="Cambria Math" panose="02040503050406030204" pitchFamily="18" charset="0"/>
                                  </a:rPr>
                                  <m:t>𝑟</m:t>
                                </m:r>
                              </m:num>
                              <m:den>
                                <m:r>
                                  <a:rPr lang="en-GB" sz="1200" i="1">
                                    <a:solidFill>
                                      <a:srgbClr val="C00000"/>
                                    </a:solidFill>
                                    <a:latin typeface="Cambria Math" panose="02040503050406030204" pitchFamily="18" charset="0"/>
                                    <a:ea typeface="Cambria Math" panose="02040503050406030204" pitchFamily="18" charset="0"/>
                                  </a:rPr>
                                  <m:t>𝑛</m:t>
                                </m:r>
                              </m:den>
                            </m:f>
                          </m:e>
                        </m:d>
                      </m:e>
                      <m:sup>
                        <m:r>
                          <a:rPr lang="en-GB" sz="1200" i="1">
                            <a:solidFill>
                              <a:srgbClr val="C00000"/>
                            </a:solidFill>
                            <a:latin typeface="Cambria Math" panose="02040503050406030204" pitchFamily="18" charset="0"/>
                            <a:ea typeface="Cambria Math" panose="02040503050406030204" pitchFamily="18" charset="0"/>
                          </a:rPr>
                          <m:t>𝑛</m:t>
                        </m:r>
                        <m:r>
                          <a:rPr lang="en-GB" sz="1200" i="1">
                            <a:solidFill>
                              <a:schemeClr val="accent5">
                                <a:lumMod val="75000"/>
                              </a:schemeClr>
                            </a:solidFill>
                            <a:latin typeface="Cambria Math" panose="02040503050406030204" pitchFamily="18" charset="0"/>
                            <a:ea typeface="Cambria Math" panose="02040503050406030204" pitchFamily="18" charset="0"/>
                          </a:rPr>
                          <m:t>𝑡</m:t>
                        </m:r>
                      </m:sup>
                    </m:sSup>
                    <m:r>
                      <a:rPr lang="en-GB" sz="1200" b="0" i="1" smtClean="0">
                        <a:solidFill>
                          <a:schemeClr val="accent5">
                            <a:lumMod val="75000"/>
                          </a:schemeClr>
                        </a:solidFill>
                        <a:latin typeface="Cambria Math" panose="02040503050406030204" pitchFamily="18" charset="0"/>
                        <a:ea typeface="Cambria Math" panose="02040503050406030204" pitchFamily="18" charset="0"/>
                      </a:rPr>
                      <m:t>                       </m:t>
                    </m:r>
                    <m:r>
                      <a:rPr lang="en-GB" sz="1200" i="1">
                        <a:solidFill>
                          <a:schemeClr val="accent5">
                            <a:lumMod val="75000"/>
                          </a:schemeClr>
                        </a:solidFill>
                        <a:latin typeface="Cambria Math" panose="02040503050406030204" pitchFamily="18" charset="0"/>
                      </a:rPr>
                      <m:t>𝑃𝑉</m:t>
                    </m:r>
                    <m:r>
                      <a:rPr lang="en-GB" sz="1200" i="1">
                        <a:solidFill>
                          <a:schemeClr val="accent5">
                            <a:lumMod val="75000"/>
                          </a:schemeClr>
                        </a:solidFill>
                        <a:latin typeface="Cambria Math" panose="02040503050406030204" pitchFamily="18" charset="0"/>
                      </a:rPr>
                      <m:t>=</m:t>
                    </m:r>
                    <m:r>
                      <a:rPr lang="en-GB" sz="1200" i="1">
                        <a:solidFill>
                          <a:schemeClr val="accent5">
                            <a:lumMod val="75000"/>
                          </a:schemeClr>
                        </a:solidFill>
                        <a:latin typeface="Cambria Math" panose="02040503050406030204" pitchFamily="18" charset="0"/>
                        <a:ea typeface="Cambria Math" panose="02040503050406030204" pitchFamily="18" charset="0"/>
                      </a:rPr>
                      <m:t>𝐹𝑉</m:t>
                    </m:r>
                    <m:r>
                      <a:rPr lang="en-GB" sz="12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2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ea typeface="Cambria Math" panose="02040503050406030204" pitchFamily="18" charset="0"/>
                              </a:rPr>
                            </m:ctrlPr>
                          </m:dPr>
                          <m:e>
                            <m:r>
                              <a:rPr lang="en-GB" sz="1200" i="1">
                                <a:solidFill>
                                  <a:schemeClr val="accent5">
                                    <a:lumMod val="75000"/>
                                  </a:schemeClr>
                                </a:solidFill>
                                <a:latin typeface="Cambria Math" panose="02040503050406030204" pitchFamily="18" charset="0"/>
                                <a:ea typeface="Cambria Math" panose="02040503050406030204" pitchFamily="18" charset="0"/>
                              </a:rPr>
                              <m:t>1+</m:t>
                            </m:r>
                            <m:f>
                              <m:fPr>
                                <m:ctrlPr>
                                  <a:rPr lang="en-GB" sz="1200" i="1">
                                    <a:solidFill>
                                      <a:schemeClr val="accent5">
                                        <a:lumMod val="75000"/>
                                      </a:schemeClr>
                                    </a:solidFill>
                                    <a:latin typeface="Cambria Math" panose="02040503050406030204" pitchFamily="18" charset="0"/>
                                    <a:ea typeface="Cambria Math" panose="02040503050406030204" pitchFamily="18" charset="0"/>
                                  </a:rPr>
                                </m:ctrlPr>
                              </m:fPr>
                              <m:num>
                                <m:r>
                                  <a:rPr lang="en-GB" sz="1200" i="1">
                                    <a:solidFill>
                                      <a:schemeClr val="accent5">
                                        <a:lumMod val="75000"/>
                                      </a:schemeClr>
                                    </a:solidFill>
                                    <a:latin typeface="Cambria Math" panose="02040503050406030204" pitchFamily="18" charset="0"/>
                                    <a:ea typeface="Cambria Math" panose="02040503050406030204" pitchFamily="18" charset="0"/>
                                  </a:rPr>
                                  <m:t>𝑟</m:t>
                                </m:r>
                              </m:num>
                              <m:den>
                                <m:r>
                                  <a:rPr lang="en-GB" sz="1200" i="1">
                                    <a:solidFill>
                                      <a:srgbClr val="C00000"/>
                                    </a:solidFill>
                                    <a:latin typeface="Cambria Math" panose="02040503050406030204" pitchFamily="18" charset="0"/>
                                    <a:ea typeface="Cambria Math" panose="02040503050406030204" pitchFamily="18" charset="0"/>
                                  </a:rPr>
                                  <m:t>𝑛</m:t>
                                </m:r>
                              </m:den>
                            </m:f>
                          </m:e>
                        </m:d>
                      </m:e>
                      <m:sup>
                        <m:r>
                          <a:rPr lang="en-GB" sz="1200" i="1">
                            <a:solidFill>
                              <a:schemeClr val="accent5">
                                <a:lumMod val="75000"/>
                              </a:schemeClr>
                            </a:solidFill>
                            <a:latin typeface="Cambria Math" panose="02040503050406030204" pitchFamily="18" charset="0"/>
                            <a:ea typeface="Cambria Math" panose="02040503050406030204" pitchFamily="18" charset="0"/>
                          </a:rPr>
                          <m:t>−</m:t>
                        </m:r>
                        <m:r>
                          <a:rPr lang="en-GB" sz="1200" i="1">
                            <a:solidFill>
                              <a:srgbClr val="C00000"/>
                            </a:solidFill>
                            <a:latin typeface="Cambria Math" panose="02040503050406030204" pitchFamily="18" charset="0"/>
                            <a:ea typeface="Cambria Math" panose="02040503050406030204" pitchFamily="18" charset="0"/>
                          </a:rPr>
                          <m:t>𝑛</m:t>
                        </m:r>
                        <m:r>
                          <a:rPr lang="en-GB" sz="1200" i="1">
                            <a:solidFill>
                              <a:schemeClr val="accent5">
                                <a:lumMod val="75000"/>
                              </a:schemeClr>
                            </a:solidFill>
                            <a:latin typeface="Cambria Math" panose="02040503050406030204" pitchFamily="18" charset="0"/>
                            <a:ea typeface="Cambria Math" panose="02040503050406030204" pitchFamily="18" charset="0"/>
                          </a:rPr>
                          <m:t>𝑡</m:t>
                        </m:r>
                      </m:sup>
                    </m:sSup>
                  </m:oMath>
                </a14:m>
                <a:r>
                  <a:rPr lang="en-GB" sz="1200" i="1" dirty="0">
                    <a:solidFill>
                      <a:schemeClr val="accent5">
                        <a:lumMod val="75000"/>
                      </a:schemeClr>
                    </a:solidFill>
                    <a:latin typeface="Arial" panose="020B0604020202020204" pitchFamily="34" charset="0"/>
                    <a:cs typeface="Arial" panose="020B0604020202020204" pitchFamily="34" charset="0"/>
                  </a:rPr>
                  <a:t>                 </a:t>
                </a:r>
                <a14:m>
                  <m:oMath xmlns:m="http://schemas.openxmlformats.org/officeDocument/2006/math">
                    <m:r>
                      <a:rPr lang="en-GB" sz="1200" i="1">
                        <a:solidFill>
                          <a:schemeClr val="accent5">
                            <a:lumMod val="75000"/>
                          </a:schemeClr>
                        </a:solidFill>
                        <a:latin typeface="Cambria Math" panose="02040503050406030204" pitchFamily="18" charset="0"/>
                      </a:rPr>
                      <m:t>𝐹𝑉</m:t>
                    </m:r>
                    <m:r>
                      <a:rPr lang="en-GB" sz="1200" i="1">
                        <a:solidFill>
                          <a:schemeClr val="accent5">
                            <a:lumMod val="75000"/>
                          </a:schemeClr>
                        </a:solidFill>
                        <a:latin typeface="Cambria Math" panose="02040503050406030204" pitchFamily="18" charset="0"/>
                      </a:rPr>
                      <m:t>=</m:t>
                    </m:r>
                    <m:r>
                      <a:rPr lang="en-GB" sz="1200" i="1">
                        <a:solidFill>
                          <a:schemeClr val="accent5">
                            <a:lumMod val="75000"/>
                          </a:schemeClr>
                        </a:solidFill>
                        <a:latin typeface="Cambria Math" panose="02040503050406030204" pitchFamily="18" charset="0"/>
                      </a:rPr>
                      <m:t>𝐶</m:t>
                    </m:r>
                    <m:r>
                      <a:rPr lang="en-GB" sz="1200" i="1">
                        <a:solidFill>
                          <a:schemeClr val="accent5">
                            <a:lumMod val="75000"/>
                          </a:schemeClr>
                        </a:solidFill>
                        <a:latin typeface="Cambria Math" panose="02040503050406030204" pitchFamily="18" charset="0"/>
                      </a:rPr>
                      <m:t>×</m:t>
                    </m:r>
                    <m:f>
                      <m:fPr>
                        <m:ctrlPr>
                          <a:rPr lang="en-GB" sz="1200" i="1">
                            <a:solidFill>
                              <a:schemeClr val="accent5">
                                <a:lumMod val="75000"/>
                              </a:schemeClr>
                            </a:solidFill>
                            <a:latin typeface="Cambria Math" panose="02040503050406030204" pitchFamily="18" charset="0"/>
                          </a:rPr>
                        </m:ctrlPr>
                      </m:fPr>
                      <m:num>
                        <m:sSup>
                          <m:sSupPr>
                            <m:ctrlPr>
                              <a:rPr lang="en-GB" sz="1200" i="1">
                                <a:solidFill>
                                  <a:schemeClr val="accent5">
                                    <a:lumMod val="75000"/>
                                  </a:schemeClr>
                                </a:solidFill>
                                <a:latin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rPr>
                                </m:ctrlPr>
                              </m:dPr>
                              <m:e>
                                <m:r>
                                  <a:rPr lang="en-GB" sz="1200" i="1">
                                    <a:solidFill>
                                      <a:schemeClr val="accent5">
                                        <a:lumMod val="75000"/>
                                      </a:schemeClr>
                                    </a:solidFill>
                                    <a:latin typeface="Cambria Math" panose="02040503050406030204" pitchFamily="18" charset="0"/>
                                  </a:rPr>
                                  <m:t>1+</m:t>
                                </m:r>
                                <m:sSub>
                                  <m:sSubPr>
                                    <m:ctrlPr>
                                      <a:rPr lang="en-GB" sz="1200" i="1">
                                        <a:solidFill>
                                          <a:schemeClr val="accent5">
                                            <a:lumMod val="75000"/>
                                          </a:schemeClr>
                                        </a:solidFill>
                                        <a:latin typeface="Cambria Math" panose="02040503050406030204" pitchFamily="18" charset="0"/>
                                      </a:rPr>
                                    </m:ctrlPr>
                                  </m:sSubPr>
                                  <m:e>
                                    <m:r>
                                      <a:rPr lang="en-GB" sz="1200" i="1">
                                        <a:solidFill>
                                          <a:schemeClr val="accent5">
                                            <a:lumMod val="75000"/>
                                          </a:schemeClr>
                                        </a:solidFill>
                                        <a:latin typeface="Cambria Math" panose="02040503050406030204" pitchFamily="18" charset="0"/>
                                      </a:rPr>
                                      <m:t>𝑟</m:t>
                                    </m:r>
                                  </m:e>
                                  <m:sub>
                                    <m:r>
                                      <a:rPr lang="en-GB" sz="1200" i="1">
                                        <a:solidFill>
                                          <a:schemeClr val="accent5">
                                            <a:lumMod val="75000"/>
                                          </a:schemeClr>
                                        </a:solidFill>
                                        <a:latin typeface="Cambria Math" panose="02040503050406030204" pitchFamily="18" charset="0"/>
                                      </a:rPr>
                                      <m:t>𝑛</m:t>
                                    </m:r>
                                  </m:sub>
                                </m:sSub>
                              </m:e>
                            </m:d>
                          </m:e>
                          <m:sup>
                            <m:r>
                              <a:rPr lang="en-GB" sz="1200" i="1">
                                <a:solidFill>
                                  <a:schemeClr val="accent5">
                                    <a:lumMod val="75000"/>
                                  </a:schemeClr>
                                </a:solidFill>
                                <a:latin typeface="Cambria Math" panose="02040503050406030204" pitchFamily="18" charset="0"/>
                              </a:rPr>
                              <m:t>𝑛𝑡</m:t>
                            </m:r>
                          </m:sup>
                        </m:sSup>
                        <m:r>
                          <a:rPr lang="en-GB" sz="1200" i="1">
                            <a:solidFill>
                              <a:schemeClr val="accent5">
                                <a:lumMod val="75000"/>
                              </a:schemeClr>
                            </a:solidFill>
                            <a:latin typeface="Cambria Math" panose="02040503050406030204" pitchFamily="18" charset="0"/>
                          </a:rPr>
                          <m:t>−</m:t>
                        </m:r>
                        <m:sSup>
                          <m:sSupPr>
                            <m:ctrlPr>
                              <a:rPr lang="en-GB" sz="1200" i="1">
                                <a:solidFill>
                                  <a:schemeClr val="accent5">
                                    <a:lumMod val="75000"/>
                                  </a:schemeClr>
                                </a:solidFill>
                                <a:latin typeface="Cambria Math" panose="02040503050406030204" pitchFamily="18" charset="0"/>
                              </a:rPr>
                            </m:ctrlPr>
                          </m:sSupPr>
                          <m:e>
                            <m:d>
                              <m:dPr>
                                <m:ctrlPr>
                                  <a:rPr lang="en-GB" sz="1200" i="1">
                                    <a:solidFill>
                                      <a:schemeClr val="accent5">
                                        <a:lumMod val="75000"/>
                                      </a:schemeClr>
                                    </a:solidFill>
                                    <a:latin typeface="Cambria Math" panose="02040503050406030204" pitchFamily="18" charset="0"/>
                                  </a:rPr>
                                </m:ctrlPr>
                              </m:dPr>
                              <m:e>
                                <m:r>
                                  <a:rPr lang="en-GB" sz="1200" i="1">
                                    <a:solidFill>
                                      <a:schemeClr val="accent5">
                                        <a:lumMod val="75000"/>
                                      </a:schemeClr>
                                    </a:solidFill>
                                    <a:latin typeface="Cambria Math" panose="02040503050406030204" pitchFamily="18" charset="0"/>
                                  </a:rPr>
                                  <m:t>1+</m:t>
                                </m:r>
                                <m:r>
                                  <a:rPr lang="en-GB" sz="1200" i="1">
                                    <a:solidFill>
                                      <a:schemeClr val="accent5">
                                        <a:lumMod val="75000"/>
                                      </a:schemeClr>
                                    </a:solidFill>
                                    <a:latin typeface="Cambria Math" panose="02040503050406030204" pitchFamily="18" charset="0"/>
                                  </a:rPr>
                                  <m:t>𝑔</m:t>
                                </m:r>
                              </m:e>
                            </m:d>
                          </m:e>
                          <m:sup>
                            <m:r>
                              <a:rPr lang="en-GB" sz="1200" i="1">
                                <a:solidFill>
                                  <a:schemeClr val="accent5">
                                    <a:lumMod val="75000"/>
                                  </a:schemeClr>
                                </a:solidFill>
                                <a:latin typeface="Cambria Math" panose="02040503050406030204" pitchFamily="18" charset="0"/>
                              </a:rPr>
                              <m:t>𝑛𝑡</m:t>
                            </m:r>
                          </m:sup>
                        </m:sSup>
                      </m:num>
                      <m:den>
                        <m:sSub>
                          <m:sSubPr>
                            <m:ctrlPr>
                              <a:rPr lang="en-GB" sz="1200" i="1">
                                <a:solidFill>
                                  <a:schemeClr val="accent5">
                                    <a:lumMod val="75000"/>
                                  </a:schemeClr>
                                </a:solidFill>
                                <a:latin typeface="Cambria Math" panose="02040503050406030204" pitchFamily="18" charset="0"/>
                              </a:rPr>
                            </m:ctrlPr>
                          </m:sSubPr>
                          <m:e>
                            <m:r>
                              <a:rPr lang="en-GB" sz="1200" i="1">
                                <a:solidFill>
                                  <a:schemeClr val="accent5">
                                    <a:lumMod val="75000"/>
                                  </a:schemeClr>
                                </a:solidFill>
                                <a:latin typeface="Cambria Math" panose="02040503050406030204" pitchFamily="18" charset="0"/>
                              </a:rPr>
                              <m:t>𝑟</m:t>
                            </m:r>
                          </m:e>
                          <m:sub>
                            <m:r>
                              <a:rPr lang="en-GB" sz="1200" i="1">
                                <a:solidFill>
                                  <a:schemeClr val="accent5">
                                    <a:lumMod val="75000"/>
                                  </a:schemeClr>
                                </a:solidFill>
                                <a:latin typeface="Cambria Math" panose="02040503050406030204" pitchFamily="18" charset="0"/>
                              </a:rPr>
                              <m:t>𝑛</m:t>
                            </m:r>
                          </m:sub>
                        </m:sSub>
                        <m:r>
                          <a:rPr lang="en-GB" sz="1200" i="1">
                            <a:solidFill>
                              <a:schemeClr val="accent5">
                                <a:lumMod val="75000"/>
                              </a:schemeClr>
                            </a:solidFill>
                            <a:latin typeface="Cambria Math" panose="02040503050406030204" pitchFamily="18" charset="0"/>
                          </a:rPr>
                          <m:t>−</m:t>
                        </m:r>
                        <m:r>
                          <a:rPr lang="en-GB" sz="1200" i="1">
                            <a:solidFill>
                              <a:schemeClr val="accent5">
                                <a:lumMod val="75000"/>
                              </a:schemeClr>
                            </a:solidFill>
                            <a:latin typeface="Cambria Math" panose="02040503050406030204" pitchFamily="18" charset="0"/>
                          </a:rPr>
                          <m:t>𝑔</m:t>
                        </m:r>
                      </m:den>
                    </m:f>
                  </m:oMath>
                </a14:m>
                <a:endParaRPr lang="en-GB" sz="1200" i="1" dirty="0">
                  <a:solidFill>
                    <a:schemeClr val="accent5">
                      <a:lumMod val="75000"/>
                    </a:schemeClr>
                  </a:solidFill>
                  <a:latin typeface="Arial" panose="020B0604020202020204" pitchFamily="34" charset="0"/>
                  <a:cs typeface="Arial" panose="020B0604020202020204" pitchFamily="34" charset="0"/>
                </a:endParaRPr>
              </a:p>
              <a:p>
                <a:pPr marL="9525" indent="0">
                  <a:buNone/>
                </a:pPr>
                <a:endParaRPr lang="en-GB" sz="1200" dirty="0">
                  <a:latin typeface="Arial" panose="020B0604020202020204" pitchFamily="34" charset="0"/>
                  <a:cs typeface="Arial" panose="020B0604020202020204" pitchFamily="34" charset="0"/>
                </a:endParaRPr>
              </a:p>
              <a:p>
                <a:pPr marL="9525" indent="0">
                  <a:buNone/>
                </a:pPr>
                <a:endParaRPr lang="en-GB" sz="12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9FE367C5-DF59-2E46-66F8-441381A67F25}"/>
                  </a:ext>
                </a:extLst>
              </p:cNvPr>
              <p:cNvSpPr>
                <a:spLocks noGrp="1" noRot="1" noChangeAspect="1" noMove="1" noResize="1" noEditPoints="1" noAdjustHandles="1" noChangeArrowheads="1" noChangeShapeType="1" noTextEdit="1"/>
              </p:cNvSpPr>
              <p:nvPr>
                <p:ph type="body" sz="quarter" idx="11"/>
              </p:nvPr>
            </p:nvSpPr>
            <p:spPr>
              <a:xfrm>
                <a:off x="899589" y="1340768"/>
                <a:ext cx="7632849" cy="5112568"/>
              </a:xfrm>
              <a:blipFill>
                <a:blip r:embed="rId3"/>
                <a:stretch>
                  <a:fillRect l="-1278" t="-1549" r="-1518"/>
                </a:stretch>
              </a:blipFill>
            </p:spPr>
            <p:txBody>
              <a:bodyPr/>
              <a:lstStyle/>
              <a:p>
                <a:r>
                  <a:rPr lang="en-GB">
                    <a:noFill/>
                  </a:rPr>
                  <a:t> </a:t>
                </a:r>
              </a:p>
            </p:txBody>
          </p:sp>
        </mc:Fallback>
      </mc:AlternateContent>
    </p:spTree>
    <p:extLst>
      <p:ext uri="{BB962C8B-B14F-4D97-AF65-F5344CB8AC3E}">
        <p14:creationId xmlns:p14="http://schemas.microsoft.com/office/powerpoint/2010/main" val="392370196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1A90E-15C2-7C2C-F224-9A7CC9A4347A}"/>
              </a:ext>
            </a:extLst>
          </p:cNvPr>
          <p:cNvSpPr>
            <a:spLocks noGrp="1"/>
          </p:cNvSpPr>
          <p:nvPr>
            <p:ph type="title"/>
          </p:nvPr>
        </p:nvSpPr>
        <p:spPr>
          <a:xfrm>
            <a:off x="467544" y="188640"/>
            <a:ext cx="7886700" cy="1011108"/>
          </a:xfrm>
        </p:spPr>
        <p:txBody>
          <a:bodyPr>
            <a:normAutofit/>
          </a:bodyPr>
          <a:lstStyle/>
          <a:p>
            <a:r>
              <a:rPr lang="en-GB" sz="3200" dirty="0"/>
              <a:t>Non annual cashflows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3E6E3F8-92D0-EA9D-C92E-B5C4A2BD2F60}"/>
                  </a:ext>
                </a:extLst>
              </p:cNvPr>
              <p:cNvSpPr>
                <a:spLocks noGrp="1"/>
              </p:cNvSpPr>
              <p:nvPr>
                <p:ph type="body" sz="quarter" idx="11"/>
              </p:nvPr>
            </p:nvSpPr>
            <p:spPr>
              <a:xfrm>
                <a:off x="329904" y="1199748"/>
                <a:ext cx="7992888" cy="4608512"/>
              </a:xfrm>
            </p:spPr>
            <p:txBody>
              <a:bodyPr>
                <a:noAutofit/>
              </a:bodyPr>
              <a:lstStyle/>
              <a:p>
                <a:pPr marL="9525" indent="0">
                  <a:buNone/>
                </a:pPr>
                <a:r>
                  <a:rPr lang="en-GB" sz="1400" dirty="0">
                    <a:latin typeface="Arial" panose="020B0604020202020204" pitchFamily="34" charset="0"/>
                    <a:cs typeface="Arial" panose="020B0604020202020204" pitchFamily="34" charset="0"/>
                  </a:rPr>
                  <a:t>Situation 2</a:t>
                </a:r>
              </a:p>
              <a:p>
                <a:pPr marL="9525" indent="0">
                  <a:buNone/>
                </a:pPr>
                <a:r>
                  <a:rPr lang="en-GB" sz="1400" dirty="0">
                    <a:latin typeface="Arial" panose="020B0604020202020204" pitchFamily="34" charset="0"/>
                    <a:cs typeface="Arial" panose="020B0604020202020204" pitchFamily="34" charset="0"/>
                  </a:rPr>
                  <a:t>Cashflows may be monthly or quarterly. Everything we have learnt still applies BUT</a:t>
                </a:r>
              </a:p>
              <a:p>
                <a:pPr>
                  <a:buFont typeface="Wingdings" panose="05000000000000000000" pitchFamily="2" charset="2"/>
                  <a:buChar char="§"/>
                </a:pPr>
                <a:r>
                  <a:rPr lang="en-GB" sz="1400" dirty="0">
                    <a:latin typeface="Arial" panose="020B0604020202020204" pitchFamily="34" charset="0"/>
                    <a:cs typeface="Arial" panose="020B0604020202020204" pitchFamily="34" charset="0"/>
                  </a:rPr>
                  <a:t>r must be specified as a monthly or quarterly rate to match the cash flows </a:t>
                </a:r>
              </a:p>
              <a:p>
                <a:pPr>
                  <a:buFont typeface="Wingdings" panose="05000000000000000000" pitchFamily="2" charset="2"/>
                  <a:buChar char="§"/>
                </a:pPr>
                <a:r>
                  <a:rPr lang="en-GB" sz="1400" dirty="0">
                    <a:latin typeface="Arial" panose="020B0604020202020204" pitchFamily="34" charset="0"/>
                    <a:cs typeface="Arial" panose="020B0604020202020204" pitchFamily="34" charset="0"/>
                  </a:rPr>
                  <a:t>the number of periods should be expressed as months/quarters not years</a:t>
                </a:r>
              </a:p>
              <a:p>
                <a:pPr marL="9525" indent="0">
                  <a:buNone/>
                </a:pPr>
                <a:r>
                  <a:rPr lang="en-GB" sz="1400" b="1" dirty="0">
                    <a:latin typeface="Arial" panose="020B0604020202020204" pitchFamily="34" charset="0"/>
                    <a:cs typeface="Arial" panose="020B0604020202020204" pitchFamily="34" charset="0"/>
                  </a:rPr>
                  <a:t>Example</a:t>
                </a:r>
              </a:p>
              <a:p>
                <a:pPr marL="9525" indent="0">
                  <a:buNone/>
                </a:pPr>
                <a:r>
                  <a:rPr lang="en-GB" sz="1400" dirty="0">
                    <a:latin typeface="Arial" panose="020B0604020202020204" pitchFamily="34" charset="0"/>
                    <a:cs typeface="Arial" panose="020B0604020202020204" pitchFamily="34" charset="0"/>
                  </a:rPr>
                  <a:t>Your credit card charges you 2% monthly interest. You have a £1000 balance on it. You do not make any payments on it for six months. What will be your balance...</a:t>
                </a:r>
              </a:p>
              <a:p>
                <a:pPr marL="9525" indent="0">
                  <a:buNone/>
                </a:pPr>
                <a14:m>
                  <m:oMathPara xmlns:m="http://schemas.openxmlformats.org/officeDocument/2006/math">
                    <m:oMathParaPr>
                      <m:jc m:val="centerGroup"/>
                    </m:oMathParaPr>
                    <m:oMath xmlns:m="http://schemas.openxmlformats.org/officeDocument/2006/math">
                      <m:r>
                        <a:rPr lang="en-GB" sz="1400" i="1" smtClean="0">
                          <a:solidFill>
                            <a:schemeClr val="accent5">
                              <a:lumMod val="75000"/>
                            </a:schemeClr>
                          </a:solidFill>
                          <a:latin typeface="Cambria Math" panose="02040503050406030204" pitchFamily="18" charset="0"/>
                        </a:rPr>
                        <m:t>𝐹𝑉</m:t>
                      </m:r>
                      <m:r>
                        <a:rPr lang="en-GB" sz="1400" i="1" smtClean="0">
                          <a:solidFill>
                            <a:schemeClr val="accent5">
                              <a:lumMod val="75000"/>
                            </a:schemeClr>
                          </a:solidFill>
                          <a:latin typeface="Cambria Math" panose="02040503050406030204" pitchFamily="18" charset="0"/>
                        </a:rPr>
                        <m:t>=</m:t>
                      </m:r>
                      <m:r>
                        <a:rPr lang="en-GB" sz="1400" i="1" smtClean="0">
                          <a:solidFill>
                            <a:schemeClr val="accent5">
                              <a:lumMod val="75000"/>
                            </a:schemeClr>
                          </a:solidFill>
                          <a:latin typeface="Cambria Math" panose="02040503050406030204" pitchFamily="18" charset="0"/>
                        </a:rPr>
                        <m:t>𝑃𝑉</m:t>
                      </m:r>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rPr>
                              </m:ctrlPr>
                            </m:dPr>
                            <m:e>
                              <m:r>
                                <a:rPr lang="en-GB" sz="1400" i="1">
                                  <a:solidFill>
                                    <a:schemeClr val="accent5">
                                      <a:lumMod val="75000"/>
                                    </a:schemeClr>
                                  </a:solidFill>
                                  <a:latin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400" i="1">
                              <a:solidFill>
                                <a:srgbClr val="C00000"/>
                              </a:solidFill>
                              <a:latin typeface="Cambria Math" panose="02040503050406030204" pitchFamily="18" charset="0"/>
                              <a:ea typeface="Cambria Math" panose="02040503050406030204" pitchFamily="18" charset="0"/>
                            </a:rPr>
                            <m:t>𝑡</m:t>
                          </m:r>
                        </m:sup>
                      </m:sSup>
                    </m:oMath>
                  </m:oMathPara>
                </a14:m>
                <a:endParaRPr lang="en-GB" sz="1400" dirty="0">
                  <a:latin typeface="Arial" panose="020B0604020202020204" pitchFamily="34" charset="0"/>
                  <a:cs typeface="Arial" panose="020B0604020202020204" pitchFamily="34" charset="0"/>
                </a:endParaRPr>
              </a:p>
              <a:p>
                <a:pPr marL="9525" indent="0">
                  <a:buNone/>
                </a:pPr>
                <a:endParaRPr lang="en-GB" sz="1400" dirty="0">
                  <a:latin typeface="Arial" panose="020B0604020202020204" pitchFamily="34" charset="0"/>
                  <a:cs typeface="Arial" panose="020B0604020202020204" pitchFamily="34" charset="0"/>
                </a:endParaRPr>
              </a:p>
              <a:p>
                <a:pPr marL="0" lvl="2" indent="0">
                  <a:spcAft>
                    <a:spcPts val="900"/>
                  </a:spcAft>
                  <a:buClr>
                    <a:srgbClr val="C00000"/>
                  </a:buClr>
                  <a:buSzPct val="90000"/>
                  <a:buNone/>
                </a:pPr>
                <a:r>
                  <a:rPr lang="en-GB" sz="1400" b="1" dirty="0">
                    <a:latin typeface="Arial" panose="020B0604020202020204" pitchFamily="34" charset="0"/>
                    <a:cs typeface="Arial" panose="020B0604020202020204" pitchFamily="34" charset="0"/>
                  </a:rPr>
                  <a:t>BUT what if we are given the Effective Annual Rate (EAR) not a monthly or a quarterly rate? </a:t>
                </a:r>
                <a:r>
                  <a:rPr lang="en-GB" sz="1400" dirty="0">
                    <a:latin typeface="Arial" panose="020B0604020202020204" pitchFamily="34" charset="0"/>
                    <a:cs typeface="Arial" panose="020B0604020202020204" pitchFamily="34" charset="0"/>
                  </a:rPr>
                  <a:t>ADJUST the rate to a time period to match the cashflows. Using the formulae for the generalised effective rate, </a:t>
                </a:r>
                <a14:m>
                  <m:oMath xmlns:m="http://schemas.openxmlformats.org/officeDocument/2006/math">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𝑟</m:t>
                        </m:r>
                      </m:e>
                      <m:sub>
                        <m:r>
                          <a:rPr lang="en-GB" sz="1400" i="1">
                            <a:solidFill>
                              <a:schemeClr val="accent5">
                                <a:lumMod val="75000"/>
                              </a:schemeClr>
                            </a:solidFill>
                            <a:latin typeface="Cambria Math" panose="02040503050406030204" pitchFamily="18" charset="0"/>
                            <a:ea typeface="Cambria Math" panose="02040503050406030204" pitchFamily="18" charset="0"/>
                          </a:rPr>
                          <m:t>𝑛</m:t>
                        </m:r>
                      </m:sub>
                    </m:sSub>
                  </m:oMath>
                </a14:m>
                <a:r>
                  <a:rPr lang="en-GB" sz="1400" dirty="0">
                    <a:latin typeface="Arial" panose="020B0604020202020204" pitchFamily="34" charset="0"/>
                    <a:cs typeface="Arial" panose="020B0604020202020204" pitchFamily="34" charset="0"/>
                  </a:rPr>
                  <a:t>: 	</a:t>
                </a:r>
                <a14:m>
                  <m:oMath xmlns:m="http://schemas.openxmlformats.org/officeDocument/2006/math">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𝑟</m:t>
                        </m:r>
                      </m:e>
                      <m:sub>
                        <m:r>
                          <a:rPr lang="en-GB" sz="1400" i="1">
                            <a:solidFill>
                              <a:schemeClr val="accent5">
                                <a:lumMod val="75000"/>
                              </a:schemeClr>
                            </a:solidFill>
                            <a:latin typeface="Cambria Math" panose="02040503050406030204" pitchFamily="18" charset="0"/>
                            <a:ea typeface="Cambria Math" panose="02040503050406030204" pitchFamily="18" charset="0"/>
                          </a:rPr>
                          <m:t>𝑛</m:t>
                        </m:r>
                      </m:sub>
                    </m:sSub>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i="1">
                                <a:solidFill>
                                  <a:schemeClr val="accent5">
                                    <a:lumMod val="75000"/>
                                  </a:schemeClr>
                                </a:solidFill>
                                <a:latin typeface="Cambria Math" panose="02040503050406030204" pitchFamily="18" charset="0"/>
                                <a:ea typeface="Cambria Math" panose="02040503050406030204" pitchFamily="18" charset="0"/>
                              </a:rPr>
                              <m:t>𝑟</m:t>
                            </m:r>
                          </m:e>
                        </m:d>
                      </m:e>
                      <m:sup>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num>
                          <m:den>
                            <m:r>
                              <a:rPr lang="en-GB" sz="1400" i="1">
                                <a:solidFill>
                                  <a:schemeClr val="accent5">
                                    <a:lumMod val="75000"/>
                                  </a:schemeClr>
                                </a:solidFill>
                                <a:latin typeface="Cambria Math" panose="02040503050406030204" pitchFamily="18" charset="0"/>
                                <a:ea typeface="Cambria Math" panose="02040503050406030204" pitchFamily="18" charset="0"/>
                              </a:rPr>
                              <m:t>𝑛</m:t>
                            </m:r>
                          </m:den>
                        </m:f>
                      </m:sup>
                    </m:sSup>
                    <m:r>
                      <a:rPr lang="en-GB" sz="1400" i="1">
                        <a:solidFill>
                          <a:schemeClr val="accent5">
                            <a:lumMod val="75000"/>
                          </a:schemeClr>
                        </a:solidFill>
                        <a:latin typeface="Cambria Math" panose="02040503050406030204" pitchFamily="18" charset="0"/>
                        <a:ea typeface="Cambria Math" panose="02040503050406030204" pitchFamily="18" charset="0"/>
                      </a:rPr>
                      <m:t>−1</m:t>
                    </m:r>
                  </m:oMath>
                </a14:m>
                <a:endParaRPr lang="en-GB" sz="1400"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endParaRPr>
              </a:p>
              <a:p>
                <a:pPr marL="9525" indent="0">
                  <a:buNone/>
                </a:pPr>
                <a:endParaRPr lang="en-GB" sz="1400" b="1" dirty="0">
                  <a:latin typeface="Arial" panose="020B0604020202020204" pitchFamily="34" charset="0"/>
                  <a:cs typeface="Arial" panose="020B0604020202020204" pitchFamily="34" charset="0"/>
                </a:endParaRPr>
              </a:p>
              <a:p>
                <a:pPr marL="9525" indent="0">
                  <a:buNone/>
                </a:pPr>
                <a:endParaRPr lang="en-GB" sz="1400" b="1" dirty="0">
                  <a:latin typeface="Arial" panose="020B0604020202020204" pitchFamily="34" charset="0"/>
                  <a:cs typeface="Arial" panose="020B0604020202020204" pitchFamily="34" charset="0"/>
                </a:endParaRPr>
              </a:p>
              <a:p>
                <a:endParaRPr lang="en-GB" sz="14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23E6E3F8-92D0-EA9D-C92E-B5C4A2BD2F60}"/>
                  </a:ext>
                </a:extLst>
              </p:cNvPr>
              <p:cNvSpPr>
                <a:spLocks noGrp="1" noRot="1" noChangeAspect="1" noMove="1" noResize="1" noEditPoints="1" noAdjustHandles="1" noChangeArrowheads="1" noChangeShapeType="1" noTextEdit="1"/>
              </p:cNvSpPr>
              <p:nvPr>
                <p:ph type="body" sz="quarter" idx="11"/>
              </p:nvPr>
            </p:nvSpPr>
            <p:spPr>
              <a:xfrm>
                <a:off x="329904" y="1199748"/>
                <a:ext cx="7992888" cy="4608512"/>
              </a:xfrm>
              <a:blipFill>
                <a:blip r:embed="rId3"/>
                <a:stretch>
                  <a:fillRect l="-1373" t="-1852" r="-305"/>
                </a:stretch>
              </a:blipFill>
            </p:spPr>
            <p:txBody>
              <a:bodyPr/>
              <a:lstStyle/>
              <a:p>
                <a:r>
                  <a:rPr lang="en-GB">
                    <a:noFill/>
                  </a:rPr>
                  <a:t> </a:t>
                </a:r>
              </a:p>
            </p:txBody>
          </p:sp>
        </mc:Fallback>
      </mc:AlternateContent>
    </p:spTree>
    <p:extLst>
      <p:ext uri="{BB962C8B-B14F-4D97-AF65-F5344CB8AC3E}">
        <p14:creationId xmlns:p14="http://schemas.microsoft.com/office/powerpoint/2010/main" val="29046014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3F81-771C-50E8-D104-86447797FAB6}"/>
              </a:ext>
            </a:extLst>
          </p:cNvPr>
          <p:cNvSpPr>
            <a:spLocks noGrp="1"/>
          </p:cNvSpPr>
          <p:nvPr>
            <p:ph type="title"/>
          </p:nvPr>
        </p:nvSpPr>
        <p:spPr>
          <a:xfrm>
            <a:off x="584498" y="404664"/>
            <a:ext cx="7544025" cy="975912"/>
          </a:xfrm>
        </p:spPr>
        <p:txBody>
          <a:bodyPr>
            <a:normAutofit/>
          </a:bodyPr>
          <a:lstStyle/>
          <a:p>
            <a:r>
              <a:rPr lang="en-GB" sz="2800" dirty="0"/>
              <a:t>Effective Interest Rate</a:t>
            </a:r>
          </a:p>
        </p:txBody>
      </p:sp>
      <p:sp>
        <p:nvSpPr>
          <p:cNvPr id="4" name="Text Placeholder 3">
            <a:extLst>
              <a:ext uri="{FF2B5EF4-FFF2-40B4-BE49-F238E27FC236}">
                <a16:creationId xmlns:a16="http://schemas.microsoft.com/office/drawing/2014/main" id="{50A0A94B-4535-B5B1-F65D-672B79BF9AD9}"/>
              </a:ext>
            </a:extLst>
          </p:cNvPr>
          <p:cNvSpPr txBox="1">
            <a:spLocks noGrp="1"/>
          </p:cNvSpPr>
          <p:nvPr>
            <p:ph type="body" sz="quarter" idx="11"/>
          </p:nvPr>
        </p:nvSpPr>
        <p:spPr>
          <a:xfrm>
            <a:off x="900113" y="1700213"/>
            <a:ext cx="6551612" cy="724814"/>
          </a:xfrm>
          <a:prstGeom prst="rect">
            <a:avLst/>
          </a:prstGeom>
          <a:noFill/>
        </p:spPr>
        <p:txBody>
          <a:bodyPr wrap="square">
            <a:spAutoFit/>
          </a:bodyPr>
          <a:lstStyle/>
          <a:p>
            <a:pPr marL="0" lvl="2" indent="0">
              <a:spcAft>
                <a:spcPts val="900"/>
              </a:spcAft>
              <a:buClr>
                <a:srgbClr val="C00000"/>
              </a:buClr>
              <a:buSzPct val="90000"/>
              <a:buNone/>
            </a:pPr>
            <a:endParaRPr lang="en-GB" dirty="0">
              <a:solidFill>
                <a:schemeClr val="accent5">
                  <a:lumMod val="75000"/>
                </a:schemeClr>
              </a:solidFill>
            </a:endParaRPr>
          </a:p>
          <a:p>
            <a:pPr marL="0" lvl="2" indent="0">
              <a:spcAft>
                <a:spcPts val="900"/>
              </a:spcAft>
              <a:buClr>
                <a:srgbClr val="C00000"/>
              </a:buClr>
              <a:buSzPct val="90000"/>
              <a:buNone/>
            </a:pPr>
            <a:endParaRPr lang="en-GB" dirty="0">
              <a:solidFill>
                <a:schemeClr val="accent5">
                  <a:lumMod val="75000"/>
                </a:schemeClr>
              </a:solidFill>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3256616-C448-0DFE-F2A2-5A3C3A1E2B99}"/>
                  </a:ext>
                </a:extLst>
              </p:cNvPr>
              <p:cNvSpPr txBox="1"/>
              <p:nvPr/>
            </p:nvSpPr>
            <p:spPr>
              <a:xfrm>
                <a:off x="611560" y="1052736"/>
                <a:ext cx="7947941" cy="2556341"/>
              </a:xfrm>
              <a:prstGeom prst="rect">
                <a:avLst/>
              </a:prstGeom>
              <a:noFill/>
            </p:spPr>
            <p:txBody>
              <a:bodyPr wrap="square">
                <a:spAutoFit/>
              </a:bodyPr>
              <a:lstStyle/>
              <a:p>
                <a:pPr marL="0" lvl="1" indent="0">
                  <a:spcBef>
                    <a:spcPts val="0"/>
                  </a:spcBef>
                  <a:spcAft>
                    <a:spcPts val="900"/>
                  </a:spcAft>
                  <a:buClr>
                    <a:srgbClr val="C00000"/>
                  </a:buClr>
                  <a:buSzPct val="90000"/>
                </a:pPr>
                <a:r>
                  <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rPr>
                  <a:t>EXAMPLE</a:t>
                </a:r>
              </a:p>
              <a:p>
                <a:pPr marL="9525" indent="0">
                  <a:buNone/>
                </a:pPr>
                <a:r>
                  <a:rPr lang="en-GB" sz="1400" dirty="0">
                    <a:latin typeface="Arial" panose="020B0604020202020204" pitchFamily="34" charset="0"/>
                    <a:cs typeface="Arial" panose="020B0604020202020204" pitchFamily="34" charset="0"/>
                  </a:rPr>
                  <a:t>Your credit card charges you an effective annual interest rate of 24%. You have a £1000 balance on it. You do not make any payments on it for six months. What will be your balance...</a:t>
                </a:r>
              </a:p>
              <a:p>
                <a:pPr marL="9525"/>
                <a14:m>
                  <m:oMath xmlns:m="http://schemas.openxmlformats.org/officeDocument/2006/math">
                    <m:sSub>
                      <m:sSubPr>
                        <m:ctrlPr>
                          <a:rPr lang="en-GB" sz="1400" i="1">
                            <a:solidFill>
                              <a:schemeClr val="accent5">
                                <a:lumMod val="75000"/>
                              </a:schemeClr>
                            </a:solidFill>
                            <a:latin typeface="Cambria Math" panose="02040503050406030204" pitchFamily="18" charset="0"/>
                            <a:ea typeface="Cambria Math" panose="02040503050406030204" pitchFamily="18" charset="0"/>
                          </a:rPr>
                        </m:ctrlPr>
                      </m:sSubPr>
                      <m:e>
                        <m:r>
                          <a:rPr lang="en-GB" sz="1400" i="1">
                            <a:solidFill>
                              <a:schemeClr val="accent5">
                                <a:lumMod val="75000"/>
                              </a:schemeClr>
                            </a:solidFill>
                            <a:latin typeface="Cambria Math" panose="02040503050406030204" pitchFamily="18" charset="0"/>
                            <a:ea typeface="Cambria Math" panose="02040503050406030204" pitchFamily="18" charset="0"/>
                          </a:rPr>
                          <m:t>𝑟</m:t>
                        </m:r>
                      </m:e>
                      <m:sub>
                        <m:r>
                          <a:rPr lang="en-GB" sz="1400" b="0" i="1" smtClean="0">
                            <a:solidFill>
                              <a:schemeClr val="accent5">
                                <a:lumMod val="75000"/>
                              </a:schemeClr>
                            </a:solidFill>
                            <a:latin typeface="Cambria Math" panose="02040503050406030204" pitchFamily="18" charset="0"/>
                            <a:ea typeface="Cambria Math" panose="02040503050406030204" pitchFamily="18" charset="0"/>
                          </a:rPr>
                          <m:t>𝑚</m:t>
                        </m:r>
                      </m:sub>
                    </m:sSub>
                    <m:r>
                      <a:rPr lang="en-GB" sz="14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4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400" i="1">
                                <a:solidFill>
                                  <a:schemeClr val="accent5">
                                    <a:lumMod val="75000"/>
                                  </a:schemeClr>
                                </a:solidFill>
                                <a:latin typeface="Cambria Math" panose="02040503050406030204" pitchFamily="18" charset="0"/>
                                <a:ea typeface="Cambria Math" panose="02040503050406030204" pitchFamily="18" charset="0"/>
                              </a:rPr>
                            </m:ctrlPr>
                          </m:dPr>
                          <m:e>
                            <m:r>
                              <a:rPr lang="en-GB" sz="1400" i="1">
                                <a:solidFill>
                                  <a:schemeClr val="accent5">
                                    <a:lumMod val="75000"/>
                                  </a:schemeClr>
                                </a:solidFill>
                                <a:latin typeface="Cambria Math" panose="02040503050406030204" pitchFamily="18" charset="0"/>
                                <a:ea typeface="Cambria Math" panose="02040503050406030204" pitchFamily="18" charset="0"/>
                              </a:rPr>
                              <m:t>1+</m:t>
                            </m:r>
                            <m:r>
                              <a:rPr lang="en-GB" sz="1400" b="0" i="1" smtClean="0">
                                <a:solidFill>
                                  <a:schemeClr val="accent5">
                                    <a:lumMod val="75000"/>
                                  </a:schemeClr>
                                </a:solidFill>
                                <a:latin typeface="Cambria Math" panose="02040503050406030204" pitchFamily="18" charset="0"/>
                                <a:ea typeface="Cambria Math" panose="02040503050406030204" pitchFamily="18" charset="0"/>
                              </a:rPr>
                              <m:t>0.24</m:t>
                            </m:r>
                          </m:e>
                        </m:d>
                      </m:e>
                      <m:sup>
                        <m:f>
                          <m:fPr>
                            <m:ctrlPr>
                              <a:rPr lang="en-GB" sz="1400" i="1">
                                <a:solidFill>
                                  <a:schemeClr val="accent5">
                                    <a:lumMod val="75000"/>
                                  </a:schemeClr>
                                </a:solidFill>
                                <a:latin typeface="Cambria Math" panose="02040503050406030204" pitchFamily="18" charset="0"/>
                                <a:ea typeface="Cambria Math" panose="02040503050406030204" pitchFamily="18" charset="0"/>
                              </a:rPr>
                            </m:ctrlPr>
                          </m:fPr>
                          <m:num>
                            <m:r>
                              <a:rPr lang="en-GB" sz="1400" i="1">
                                <a:solidFill>
                                  <a:schemeClr val="accent5">
                                    <a:lumMod val="75000"/>
                                  </a:schemeClr>
                                </a:solidFill>
                                <a:latin typeface="Cambria Math" panose="02040503050406030204" pitchFamily="18" charset="0"/>
                                <a:ea typeface="Cambria Math" panose="02040503050406030204" pitchFamily="18" charset="0"/>
                              </a:rPr>
                              <m:t>1</m:t>
                            </m:r>
                          </m:num>
                          <m:den>
                            <m:r>
                              <a:rPr lang="en-GB" sz="1400" b="0" i="1" smtClean="0">
                                <a:solidFill>
                                  <a:schemeClr val="accent5">
                                    <a:lumMod val="75000"/>
                                  </a:schemeClr>
                                </a:solidFill>
                                <a:latin typeface="Cambria Math" panose="02040503050406030204" pitchFamily="18" charset="0"/>
                                <a:ea typeface="Cambria Math" panose="02040503050406030204" pitchFamily="18" charset="0"/>
                              </a:rPr>
                              <m:t>12</m:t>
                            </m:r>
                          </m:den>
                        </m:f>
                      </m:sup>
                    </m:sSup>
                    <m:r>
                      <a:rPr lang="en-GB" sz="1400" i="1">
                        <a:solidFill>
                          <a:schemeClr val="accent5">
                            <a:lumMod val="75000"/>
                          </a:schemeClr>
                        </a:solidFill>
                        <a:latin typeface="Cambria Math" panose="02040503050406030204" pitchFamily="18" charset="0"/>
                        <a:ea typeface="Cambria Math" panose="02040503050406030204" pitchFamily="18" charset="0"/>
                      </a:rPr>
                      <m:t>−1</m:t>
                    </m:r>
                  </m:oMath>
                </a14:m>
                <a:r>
                  <a:rPr lang="en-GB" sz="1400" dirty="0">
                    <a:solidFill>
                      <a:schemeClr val="accent5">
                        <a:lumMod val="75000"/>
                      </a:schemeClr>
                    </a:solidFill>
                    <a:latin typeface="Arial" panose="020B0604020202020204" pitchFamily="34" charset="0"/>
                    <a:ea typeface="Cambria Math" panose="02040503050406030204" pitchFamily="18" charset="0"/>
                    <a:cs typeface="Arial" panose="020B0604020202020204" pitchFamily="34" charset="0"/>
                  </a:rPr>
                  <a:t> = 0.0181 = 1.81%</a:t>
                </a:r>
              </a:p>
              <a:p>
                <a:pPr marL="9525" indent="0">
                  <a:buNone/>
                </a:pPr>
                <a:endParaRPr lang="en-GB" sz="1400" dirty="0">
                  <a:latin typeface="Arial" panose="020B0604020202020204" pitchFamily="34" charset="0"/>
                  <a:cs typeface="Arial" panose="020B0604020202020204" pitchFamily="34" charset="0"/>
                </a:endParaRPr>
              </a:p>
              <a:p>
                <a:pPr marL="9525" indent="0">
                  <a:buNone/>
                </a:pPr>
                <a:endParaRPr lang="en-GB" sz="1400" dirty="0">
                  <a:latin typeface="Arial" panose="020B0604020202020204" pitchFamily="34" charset="0"/>
                  <a:cs typeface="Arial" panose="020B0604020202020204" pitchFamily="34" charset="0"/>
                </a:endParaRPr>
              </a:p>
              <a:p>
                <a:pPr marL="0" lvl="1" indent="0">
                  <a:spcBef>
                    <a:spcPts val="0"/>
                  </a:spcBef>
                  <a:spcAft>
                    <a:spcPts val="900"/>
                  </a:spcAft>
                  <a:buClr>
                    <a:srgbClr val="C00000"/>
                  </a:buClr>
                  <a:buSzPct val="90000"/>
                </a:pPr>
                <a:br>
                  <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rPr>
                </a:br>
                <a:r>
                  <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rPr>
                  <a:t>Y</a:t>
                </a:r>
                <a:r>
                  <a:rPr lang="en-GB" sz="1400" dirty="0">
                    <a:latin typeface="Arial" panose="020B0604020202020204" pitchFamily="34" charset="0"/>
                    <a:cs typeface="Arial" panose="020B0604020202020204" pitchFamily="34" charset="0"/>
                  </a:rPr>
                  <a:t>our bank quoted you a nominal rate of 10% on a loan. According to the terms of the loan, you will need to make quarterly payments. Calculate the effective quarterly rate.</a:t>
                </a:r>
              </a:p>
              <a:p>
                <a:pPr marL="257175" lvl="1" indent="-257175">
                  <a:spcBef>
                    <a:spcPts val="0"/>
                  </a:spcBef>
                  <a:spcAft>
                    <a:spcPts val="900"/>
                  </a:spcAft>
                  <a:buClr>
                    <a:srgbClr val="C00000"/>
                  </a:buClr>
                  <a:buSzPct val="90000"/>
                  <a:buBlip>
                    <a:blip r:embed="rId2">
                      <a:extLst>
                        <a:ext uri="{837473B0-CC2E-450A-ABE3-18F120FF3D39}">
                          <a1611:picAttrSrcUrl xmlns:a1611="http://schemas.microsoft.com/office/drawing/2016/11/main" r:id="rId3"/>
                        </a:ext>
                      </a:extLst>
                    </a:blip>
                  </a:buBlip>
                </a:pPr>
                <a:endParaRPr lang="en-GB" sz="1400" dirty="0">
                  <a:solidFill>
                    <a:prstClr val="black"/>
                  </a:solidFill>
                  <a:latin typeface="Arial" panose="020B0604020202020204" pitchFamily="34" charset="0"/>
                  <a:ea typeface="Cambria Math" panose="02040503050406030204" pitchFamily="18" charset="0"/>
                  <a:cs typeface="Arial" panose="020B0604020202020204" pitchFamily="34" charset="0"/>
                </a:endParaRPr>
              </a:p>
            </p:txBody>
          </p:sp>
        </mc:Choice>
        <mc:Fallback>
          <p:sp>
            <p:nvSpPr>
              <p:cNvPr id="5" name="TextBox 4">
                <a:extLst>
                  <a:ext uri="{FF2B5EF4-FFF2-40B4-BE49-F238E27FC236}">
                    <a16:creationId xmlns:a16="http://schemas.microsoft.com/office/drawing/2014/main" id="{93256616-C448-0DFE-F2A2-5A3C3A1E2B99}"/>
                  </a:ext>
                </a:extLst>
              </p:cNvPr>
              <p:cNvSpPr txBox="1">
                <a:spLocks noRot="1" noChangeAspect="1" noMove="1" noResize="1" noEditPoints="1" noAdjustHandles="1" noChangeArrowheads="1" noChangeShapeType="1" noTextEdit="1"/>
              </p:cNvSpPr>
              <p:nvPr/>
            </p:nvSpPr>
            <p:spPr>
              <a:xfrm>
                <a:off x="611560" y="1052736"/>
                <a:ext cx="7947941" cy="2556341"/>
              </a:xfrm>
              <a:prstGeom prst="rect">
                <a:avLst/>
              </a:prstGeom>
              <a:blipFill>
                <a:blip r:embed="rId4"/>
                <a:stretch>
                  <a:fillRect l="-230" t="-477"/>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3159C9E-4B25-50F8-1F40-70EB91D76E19}"/>
                  </a:ext>
                </a:extLst>
              </p:cNvPr>
              <p:cNvSpPr txBox="1"/>
              <p:nvPr/>
            </p:nvSpPr>
            <p:spPr>
              <a:xfrm>
                <a:off x="709368" y="3404922"/>
                <a:ext cx="8434632" cy="796180"/>
              </a:xfrm>
              <a:prstGeom prst="rect">
                <a:avLst/>
              </a:prstGeom>
              <a:noFill/>
            </p:spPr>
            <p:txBody>
              <a:bodyPr wrap="square">
                <a:spAutoFit/>
              </a:bodyPr>
              <a:lstStyle/>
              <a:p>
                <a:pPr marL="0" lvl="2" indent="0">
                  <a:spcAft>
                    <a:spcPts val="900"/>
                  </a:spcAft>
                  <a:buClr>
                    <a:srgbClr val="C00000"/>
                  </a:buClr>
                  <a:buSzPct val="90000"/>
                </a:pPr>
                <a14:m>
                  <m:oMathPara xmlns:m="http://schemas.openxmlformats.org/officeDocument/2006/math">
                    <m:oMathParaPr>
                      <m:jc m:val="left"/>
                    </m:oMathParaPr>
                    <m:oMath xmlns:m="http://schemas.openxmlformats.org/officeDocument/2006/math">
                      <m:sSub>
                        <m:sSubPr>
                          <m:ctrlPr>
                            <a:rPr lang="en-GB" sz="1500" i="1" smtClean="0">
                              <a:solidFill>
                                <a:srgbClr val="C00000"/>
                              </a:solidFill>
                              <a:latin typeface="Cambria Math" panose="02040503050406030204" pitchFamily="18" charset="0"/>
                              <a:ea typeface="Cambria Math" panose="02040503050406030204" pitchFamily="18" charset="0"/>
                            </a:rPr>
                          </m:ctrlPr>
                        </m:sSubPr>
                        <m:e>
                          <m:r>
                            <a:rPr lang="en-GB" sz="1500" i="1">
                              <a:solidFill>
                                <a:srgbClr val="C00000"/>
                              </a:solidFill>
                              <a:latin typeface="Cambria Math" panose="02040503050406030204" pitchFamily="18" charset="0"/>
                              <a:ea typeface="Cambria Math" panose="02040503050406030204" pitchFamily="18" charset="0"/>
                            </a:rPr>
                            <m:t>𝑟</m:t>
                          </m:r>
                        </m:e>
                        <m:sub>
                          <m:r>
                            <a:rPr lang="en-GB" sz="1500" b="0" i="1" smtClean="0">
                              <a:solidFill>
                                <a:srgbClr val="C00000"/>
                              </a:solidFill>
                              <a:latin typeface="Cambria Math" panose="02040503050406030204" pitchFamily="18" charset="0"/>
                              <a:ea typeface="Cambria Math" panose="02040503050406030204" pitchFamily="18" charset="0"/>
                            </a:rPr>
                            <m:t>𝑞</m:t>
                          </m:r>
                        </m:sub>
                      </m:sSub>
                      <m:r>
                        <a:rPr lang="en-GB" sz="1500" i="1">
                          <a:latin typeface="Cambria Math" panose="02040503050406030204" pitchFamily="18" charset="0"/>
                          <a:ea typeface="Cambria Math" panose="02040503050406030204" pitchFamily="18" charset="0"/>
                        </a:rPr>
                        <m:t>=</m:t>
                      </m:r>
                      <m:sSup>
                        <m:sSupPr>
                          <m:ctrlPr>
                            <a:rPr lang="en-GB" sz="1500" i="1">
                              <a:latin typeface="Cambria Math" panose="02040503050406030204" pitchFamily="18" charset="0"/>
                              <a:ea typeface="Cambria Math" panose="02040503050406030204" pitchFamily="18" charset="0"/>
                            </a:rPr>
                          </m:ctrlPr>
                        </m:sSupPr>
                        <m:e>
                          <m:d>
                            <m:dPr>
                              <m:ctrlPr>
                                <a:rPr lang="en-GB" sz="1500" i="1" smtClean="0">
                                  <a:latin typeface="Cambria Math" panose="02040503050406030204" pitchFamily="18" charset="0"/>
                                  <a:ea typeface="Cambria Math" panose="02040503050406030204" pitchFamily="18" charset="0"/>
                                </a:rPr>
                              </m:ctrlPr>
                            </m:dPr>
                            <m:e>
                              <m:r>
                                <a:rPr lang="en-GB" sz="1500" i="1">
                                  <a:latin typeface="Cambria Math" panose="02040503050406030204" pitchFamily="18" charset="0"/>
                                  <a:ea typeface="Cambria Math" panose="02040503050406030204" pitchFamily="18" charset="0"/>
                                </a:rPr>
                                <m:t>1+</m:t>
                              </m:r>
                              <m:r>
                                <a:rPr lang="en-GB" sz="1500" b="0" i="1" smtClean="0">
                                  <a:latin typeface="Cambria Math" panose="02040503050406030204" pitchFamily="18" charset="0"/>
                                  <a:ea typeface="Cambria Math" panose="02040503050406030204" pitchFamily="18" charset="0"/>
                                </a:rPr>
                                <m:t>0.1</m:t>
                              </m:r>
                            </m:e>
                          </m:d>
                        </m:e>
                        <m:sup>
                          <m:f>
                            <m:fPr>
                              <m:ctrlPr>
                                <a:rPr lang="en-GB" sz="1500" i="1">
                                  <a:latin typeface="Cambria Math" panose="02040503050406030204" pitchFamily="18" charset="0"/>
                                  <a:ea typeface="Cambria Math" panose="02040503050406030204" pitchFamily="18" charset="0"/>
                                </a:rPr>
                              </m:ctrlPr>
                            </m:fPr>
                            <m:num>
                              <m:r>
                                <a:rPr lang="en-GB" sz="1500" i="1">
                                  <a:latin typeface="Cambria Math" panose="02040503050406030204" pitchFamily="18" charset="0"/>
                                  <a:ea typeface="Cambria Math" panose="02040503050406030204" pitchFamily="18" charset="0"/>
                                </a:rPr>
                                <m:t>1</m:t>
                              </m:r>
                            </m:num>
                            <m:den>
                              <m:r>
                                <a:rPr lang="en-GB" sz="1500" i="1">
                                  <a:latin typeface="Cambria Math" panose="02040503050406030204" pitchFamily="18" charset="0"/>
                                  <a:ea typeface="Cambria Math" panose="02040503050406030204" pitchFamily="18" charset="0"/>
                                </a:rPr>
                                <m:t>4</m:t>
                              </m:r>
                            </m:den>
                          </m:f>
                        </m:sup>
                      </m:sSup>
                      <m:r>
                        <a:rPr lang="en-GB" sz="1500" i="1">
                          <a:latin typeface="Cambria Math" panose="02040503050406030204" pitchFamily="18" charset="0"/>
                          <a:ea typeface="Cambria Math" panose="02040503050406030204" pitchFamily="18" charset="0"/>
                        </a:rPr>
                        <m:t>−1=</m:t>
                      </m:r>
                      <m:r>
                        <a:rPr lang="en-GB" sz="1500" b="0" i="1" smtClean="0">
                          <a:latin typeface="Cambria Math" panose="02040503050406030204" pitchFamily="18" charset="0"/>
                          <a:ea typeface="Cambria Math" panose="02040503050406030204" pitchFamily="18" charset="0"/>
                        </a:rPr>
                        <m:t>0.0241=</m:t>
                      </m:r>
                      <m:r>
                        <a:rPr lang="en-GB" sz="1500" i="1">
                          <a:latin typeface="Cambria Math" panose="02040503050406030204" pitchFamily="18" charset="0"/>
                          <a:ea typeface="Cambria Math" panose="02040503050406030204" pitchFamily="18" charset="0"/>
                        </a:rPr>
                        <m:t>2.41%</m:t>
                      </m:r>
                    </m:oMath>
                  </m:oMathPara>
                </a14:m>
                <a:endParaRPr lang="en-GB" sz="1500" dirty="0">
                  <a:ea typeface="Cambria Math" panose="02040503050406030204" pitchFamily="18" charset="0"/>
                </a:endParaRPr>
              </a:p>
              <a:p>
                <a:pPr marL="0" lvl="2" indent="0">
                  <a:spcAft>
                    <a:spcPts val="900"/>
                  </a:spcAft>
                  <a:buClr>
                    <a:srgbClr val="C00000"/>
                  </a:buClr>
                  <a:buSzPct val="90000"/>
                </a:pPr>
                <a:r>
                  <a:rPr lang="en-GB" sz="1500" dirty="0">
                    <a:solidFill>
                      <a:schemeClr val="accent5">
                        <a:lumMod val="75000"/>
                      </a:schemeClr>
                    </a:solidFill>
                  </a:rPr>
                  <a:t>A 10% annual interest rate is costing you the equivalent of 2.41% per quarter.</a:t>
                </a:r>
              </a:p>
            </p:txBody>
          </p:sp>
        </mc:Choice>
        <mc:Fallback>
          <p:sp>
            <p:nvSpPr>
              <p:cNvPr id="6" name="TextBox 5">
                <a:extLst>
                  <a:ext uri="{FF2B5EF4-FFF2-40B4-BE49-F238E27FC236}">
                    <a16:creationId xmlns:a16="http://schemas.microsoft.com/office/drawing/2014/main" id="{B3159C9E-4B25-50F8-1F40-70EB91D76E19}"/>
                  </a:ext>
                </a:extLst>
              </p:cNvPr>
              <p:cNvSpPr txBox="1">
                <a:spLocks noRot="1" noChangeAspect="1" noMove="1" noResize="1" noEditPoints="1" noAdjustHandles="1" noChangeArrowheads="1" noChangeShapeType="1" noTextEdit="1"/>
              </p:cNvSpPr>
              <p:nvPr/>
            </p:nvSpPr>
            <p:spPr>
              <a:xfrm>
                <a:off x="709368" y="3404922"/>
                <a:ext cx="8434632" cy="796180"/>
              </a:xfrm>
              <a:prstGeom prst="rect">
                <a:avLst/>
              </a:prstGeom>
              <a:blipFill>
                <a:blip r:embed="rId5"/>
                <a:stretch>
                  <a:fillRect l="-289" b="-769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614777C8-E514-7DC9-785E-412DE4A02D4A}"/>
                  </a:ext>
                </a:extLst>
              </p:cNvPr>
              <p:cNvSpPr txBox="1">
                <a:spLocks/>
              </p:cNvSpPr>
              <p:nvPr/>
            </p:nvSpPr>
            <p:spPr>
              <a:xfrm>
                <a:off x="709368" y="4588972"/>
                <a:ext cx="7515860" cy="1659301"/>
              </a:xfrm>
              <a:prstGeom prst="rect">
                <a:avLst/>
              </a:prstGeom>
            </p:spPr>
            <p:txBody>
              <a:bodyPr vert="horz" lIns="68580" tIns="34290" rIns="68580" bIns="3429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1500" dirty="0"/>
                  <a:t>You can have monthly, quarterly, semi-annual …, 𝑛-frequency cash flows at the annual nominal rate 𝑟. TO apply the other formulae you must calculate the effective interest rate.</a:t>
                </a:r>
              </a:p>
              <a:p>
                <a:pPr marL="0" indent="0">
                  <a:buNone/>
                </a:pPr>
                <a:endParaRPr lang="en-GB" sz="1800" i="1" dirty="0">
                  <a:solidFill>
                    <a:schemeClr val="accent5">
                      <a:lumMod val="75000"/>
                    </a:schemeClr>
                  </a:solidFill>
                  <a:latin typeface="Cambria Math" panose="02040503050406030204" pitchFamily="18" charset="0"/>
                </a:endParaRP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sSub>
                                <m:sSubPr>
                                  <m:ctrlPr>
                                    <a:rPr lang="en-GB" sz="1800" i="1">
                                      <a:solidFill>
                                        <a:schemeClr val="accent5">
                                          <a:lumMod val="75000"/>
                                        </a:schemeClr>
                                      </a:solidFill>
                                      <a:latin typeface="Cambria Math" panose="02040503050406030204" pitchFamily="18" charset="0"/>
                                      <a:ea typeface="Cambria Math" panose="02040503050406030204" pitchFamily="18" charset="0"/>
                                    </a:rPr>
                                  </m:ctrlPr>
                                </m:sSubPr>
                                <m:e>
                                  <m:r>
                                    <a:rPr lang="en-GB" sz="1800" i="1">
                                      <a:solidFill>
                                        <a:schemeClr val="accent5">
                                          <a:lumMod val="75000"/>
                                        </a:schemeClr>
                                      </a:solidFill>
                                      <a:latin typeface="Cambria Math" panose="02040503050406030204" pitchFamily="18" charset="0"/>
                                      <a:ea typeface="Cambria Math" panose="02040503050406030204" pitchFamily="18" charset="0"/>
                                    </a:rPr>
                                    <m:t>𝑟</m:t>
                                  </m:r>
                                </m:e>
                                <m:sub>
                                  <m:r>
                                    <a:rPr lang="en-GB" sz="1800" i="1">
                                      <a:solidFill>
                                        <a:schemeClr val="accent5">
                                          <a:lumMod val="75000"/>
                                        </a:schemeClr>
                                      </a:solidFill>
                                      <a:latin typeface="Cambria Math" panose="02040503050406030204" pitchFamily="18" charset="0"/>
                                      <a:ea typeface="Cambria Math" panose="02040503050406030204" pitchFamily="18" charset="0"/>
                                    </a:rPr>
                                    <m:t>𝑛</m:t>
                                  </m:r>
                                </m:sub>
                              </m:sSub>
                            </m:e>
                          </m:d>
                        </m:e>
                        <m:sup>
                          <m:r>
                            <a:rPr lang="en-GB" sz="1800" i="1">
                              <a:solidFill>
                                <a:schemeClr val="accent5">
                                  <a:lumMod val="75000"/>
                                </a:schemeClr>
                              </a:solidFill>
                              <a:latin typeface="Cambria Math" panose="02040503050406030204" pitchFamily="18" charset="0"/>
                              <a:ea typeface="Cambria Math" panose="02040503050406030204" pitchFamily="18" charset="0"/>
                            </a:rPr>
                            <m:t>𝑛𝑡</m:t>
                          </m:r>
                        </m:sup>
                      </m:sSup>
                      <m:r>
                        <a:rPr lang="en-GB" sz="1800" b="0" i="1" smtClean="0">
                          <a:solidFill>
                            <a:schemeClr val="accent5">
                              <a:lumMod val="75000"/>
                            </a:schemeClr>
                          </a:solidFill>
                          <a:latin typeface="Cambria Math" panose="02040503050406030204" pitchFamily="18" charset="0"/>
                          <a:ea typeface="Cambria Math" panose="02040503050406030204" pitchFamily="18" charset="0"/>
                        </a:rPr>
                        <m:t>                                     </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ea typeface="Cambria Math" panose="02040503050406030204" pitchFamily="18" charset="0"/>
                        </a:rPr>
                        <m:t>𝐹𝑉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ea typeface="Cambria Math" panose="02040503050406030204" pitchFamily="18" charset="0"/>
                                </a:rPr>
                              </m:ctrlPr>
                            </m:dPr>
                            <m:e>
                              <m:r>
                                <a:rPr lang="en-GB" sz="1800" i="1">
                                  <a:solidFill>
                                    <a:schemeClr val="accent5">
                                      <a:lumMod val="75000"/>
                                    </a:schemeClr>
                                  </a:solidFill>
                                  <a:latin typeface="Cambria Math" panose="02040503050406030204" pitchFamily="18" charset="0"/>
                                  <a:ea typeface="Cambria Math" panose="02040503050406030204" pitchFamily="18" charset="0"/>
                                </a:rPr>
                                <m:t>1+</m:t>
                              </m:r>
                              <m:sSub>
                                <m:sSubPr>
                                  <m:ctrlPr>
                                    <a:rPr lang="en-GB" sz="1800" i="1">
                                      <a:solidFill>
                                        <a:schemeClr val="accent5">
                                          <a:lumMod val="75000"/>
                                        </a:schemeClr>
                                      </a:solidFill>
                                      <a:latin typeface="Cambria Math" panose="02040503050406030204" pitchFamily="18" charset="0"/>
                                      <a:ea typeface="Cambria Math" panose="02040503050406030204" pitchFamily="18" charset="0"/>
                                    </a:rPr>
                                  </m:ctrlPr>
                                </m:sSubPr>
                                <m:e>
                                  <m:r>
                                    <a:rPr lang="en-GB" sz="1800" i="1">
                                      <a:solidFill>
                                        <a:schemeClr val="accent5">
                                          <a:lumMod val="75000"/>
                                        </a:schemeClr>
                                      </a:solidFill>
                                      <a:latin typeface="Cambria Math" panose="02040503050406030204" pitchFamily="18" charset="0"/>
                                      <a:ea typeface="Cambria Math" panose="02040503050406030204" pitchFamily="18" charset="0"/>
                                    </a:rPr>
                                    <m:t>𝑟</m:t>
                                  </m:r>
                                </m:e>
                                <m:sub>
                                  <m:r>
                                    <a:rPr lang="en-GB" sz="1800" i="1">
                                      <a:solidFill>
                                        <a:schemeClr val="accent5">
                                          <a:lumMod val="75000"/>
                                        </a:schemeClr>
                                      </a:solidFill>
                                      <a:latin typeface="Cambria Math" panose="02040503050406030204" pitchFamily="18" charset="0"/>
                                      <a:ea typeface="Cambria Math" panose="02040503050406030204" pitchFamily="18" charset="0"/>
                                    </a:rPr>
                                    <m:t>𝑛</m:t>
                                  </m:r>
                                </m:sub>
                              </m:sSub>
                            </m:e>
                          </m:d>
                        </m:e>
                        <m:sup>
                          <m:r>
                            <a:rPr lang="en-GB" sz="1800" i="1">
                              <a:solidFill>
                                <a:schemeClr val="accent5">
                                  <a:lumMod val="75000"/>
                                </a:schemeClr>
                              </a:solidFill>
                              <a:latin typeface="Cambria Math" panose="02040503050406030204" pitchFamily="18" charset="0"/>
                              <a:ea typeface="Cambria Math" panose="02040503050406030204" pitchFamily="18" charset="0"/>
                            </a:rPr>
                            <m:t>−</m:t>
                          </m:r>
                          <m:r>
                            <a:rPr lang="en-GB" sz="1800" i="1">
                              <a:solidFill>
                                <a:schemeClr val="accent5">
                                  <a:lumMod val="75000"/>
                                </a:schemeClr>
                              </a:solidFill>
                              <a:latin typeface="Cambria Math" panose="02040503050406030204" pitchFamily="18" charset="0"/>
                              <a:ea typeface="Cambria Math" panose="02040503050406030204" pitchFamily="18" charset="0"/>
                            </a:rPr>
                            <m:t>𝑛𝑡</m:t>
                          </m:r>
                        </m:sup>
                      </m:sSup>
                    </m:oMath>
                  </m:oMathPara>
                </a14:m>
                <a:endParaRPr lang="en-GB" sz="1800" i="1" dirty="0">
                  <a:solidFill>
                    <a:schemeClr val="accent5">
                      <a:lumMod val="75000"/>
                    </a:schemeClr>
                  </a:solidFill>
                  <a:latin typeface="Cambria Math" panose="02040503050406030204" pitchFamily="18" charset="0"/>
                </a:endParaRPr>
              </a:p>
              <a:p>
                <a:pPr marL="0" lvl="2" indent="0">
                  <a:spcAft>
                    <a:spcPts val="900"/>
                  </a:spcAft>
                  <a:buClr>
                    <a:srgbClr val="C00000"/>
                  </a:buClr>
                  <a:buSzPct val="90000"/>
                  <a:buNone/>
                </a:pPr>
                <a:r>
                  <a:rPr lang="en-GB" sz="1800" i="1" dirty="0">
                    <a:solidFill>
                      <a:schemeClr val="accent5">
                        <a:lumMod val="75000"/>
                      </a:schemeClr>
                    </a:solidFill>
                    <a:latin typeface="Cambria Math" panose="02040503050406030204" pitchFamily="18" charset="0"/>
                  </a:rPr>
                  <a:t>						</a:t>
                </a:r>
              </a:p>
            </p:txBody>
          </p:sp>
        </mc:Choice>
        <mc:Fallback>
          <p:sp>
            <p:nvSpPr>
              <p:cNvPr id="7" name="Content Placeholder 2">
                <a:extLst>
                  <a:ext uri="{FF2B5EF4-FFF2-40B4-BE49-F238E27FC236}">
                    <a16:creationId xmlns:a16="http://schemas.microsoft.com/office/drawing/2014/main" id="{614777C8-E514-7DC9-785E-412DE4A02D4A}"/>
                  </a:ext>
                </a:extLst>
              </p:cNvPr>
              <p:cNvSpPr txBox="1">
                <a:spLocks noRot="1" noChangeAspect="1" noMove="1" noResize="1" noEditPoints="1" noAdjustHandles="1" noChangeArrowheads="1" noChangeShapeType="1" noTextEdit="1"/>
              </p:cNvSpPr>
              <p:nvPr/>
            </p:nvSpPr>
            <p:spPr>
              <a:xfrm>
                <a:off x="709368" y="4588972"/>
                <a:ext cx="7515860" cy="1659301"/>
              </a:xfrm>
              <a:prstGeom prst="rect">
                <a:avLst/>
              </a:prstGeom>
              <a:blipFill>
                <a:blip r:embed="rId6"/>
                <a:stretch>
                  <a:fillRect l="-568" t="-2941" r="-162"/>
                </a:stretch>
              </a:blipFill>
            </p:spPr>
            <p:txBody>
              <a:bodyPr/>
              <a:lstStyle/>
              <a:p>
                <a:r>
                  <a:rPr lang="en-GB">
                    <a:noFill/>
                  </a:rPr>
                  <a:t> </a:t>
                </a:r>
              </a:p>
            </p:txBody>
          </p:sp>
        </mc:Fallback>
      </mc:AlternateContent>
    </p:spTree>
    <p:extLst>
      <p:ext uri="{BB962C8B-B14F-4D97-AF65-F5344CB8AC3E}">
        <p14:creationId xmlns:p14="http://schemas.microsoft.com/office/powerpoint/2010/main" val="403383347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ppt_w</p:attrName>
                                        </p:attrNameLst>
                                      </p:cBhvr>
                                      <p:tavLst>
                                        <p:tav tm="0">
                                          <p:val>
                                            <p:fltVal val="0"/>
                                          </p:val>
                                        </p:tav>
                                        <p:tav tm="100000">
                                          <p:val>
                                            <p:strVal val="#ppt_w"/>
                                          </p:val>
                                        </p:tav>
                                      </p:tavLst>
                                    </p:anim>
                                    <p:anim calcmode="lin" valueType="num">
                                      <p:cBhvr>
                                        <p:cTn id="19" dur="1000" fill="hold"/>
                                        <p:tgtEl>
                                          <p:spTgt spid="6"/>
                                        </p:tgtEl>
                                        <p:attrNameLst>
                                          <p:attrName>ppt_h</p:attrName>
                                        </p:attrNameLst>
                                      </p:cBhvr>
                                      <p:tavLst>
                                        <p:tav tm="0">
                                          <p:val>
                                            <p:fltVal val="0"/>
                                          </p:val>
                                        </p:tav>
                                        <p:tav tm="100000">
                                          <p:val>
                                            <p:strVal val="#ppt_h"/>
                                          </p:val>
                                        </p:tav>
                                      </p:tavLst>
                                    </p:anim>
                                    <p:anim calcmode="lin" valueType="num">
                                      <p:cBhvr>
                                        <p:cTn id="20" dur="1000" fill="hold"/>
                                        <p:tgtEl>
                                          <p:spTgt spid="6"/>
                                        </p:tgtEl>
                                        <p:attrNameLst>
                                          <p:attrName>style.rotation</p:attrName>
                                        </p:attrNameLst>
                                      </p:cBhvr>
                                      <p:tavLst>
                                        <p:tav tm="0">
                                          <p:val>
                                            <p:fltVal val="90"/>
                                          </p:val>
                                        </p:tav>
                                        <p:tav tm="100000">
                                          <p:val>
                                            <p:fltVal val="0"/>
                                          </p:val>
                                        </p:tav>
                                      </p:tavLst>
                                    </p:anim>
                                    <p:animEffect transition="in" filter="fade">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712FC-6438-6D25-990C-AD86B7A77844}"/>
            </a:ext>
          </a:extLst>
        </p:cNvPr>
        <p:cNvGrpSpPr/>
        <p:nvPr/>
      </p:nvGrpSpPr>
      <p:grpSpPr>
        <a:xfrm>
          <a:off x="0" y="0"/>
          <a:ext cx="0" cy="0"/>
          <a:chOff x="0" y="0"/>
          <a:chExt cx="0" cy="0"/>
        </a:xfrm>
      </p:grpSpPr>
      <p:sp>
        <p:nvSpPr>
          <p:cNvPr id="13319" name="Title 1">
            <a:extLst>
              <a:ext uri="{FF2B5EF4-FFF2-40B4-BE49-F238E27FC236}">
                <a16:creationId xmlns:a16="http://schemas.microsoft.com/office/drawing/2014/main" id="{CDD80918-1CA0-1AD9-1745-E25D304ABF83}"/>
              </a:ext>
            </a:extLst>
          </p:cNvPr>
          <p:cNvSpPr>
            <a:spLocks noGrp="1"/>
          </p:cNvSpPr>
          <p:nvPr>
            <p:ph type="title"/>
          </p:nvPr>
        </p:nvSpPr>
        <p:spPr>
          <a:xfrm>
            <a:off x="892515" y="1376773"/>
            <a:ext cx="7886700" cy="646548"/>
          </a:xfrm>
        </p:spPr>
        <p:txBody>
          <a:bodyPr>
            <a:normAutofit/>
          </a:bodyPr>
          <a:lstStyle/>
          <a:p>
            <a:pPr algn="l"/>
            <a:r>
              <a:rPr lang="en-US" dirty="0"/>
              <a:t>Learning Outcomes Covered</a:t>
            </a:r>
          </a:p>
        </p:txBody>
      </p:sp>
      <p:graphicFrame>
        <p:nvGraphicFramePr>
          <p:cNvPr id="13315" name="Text Placeholder 1">
            <a:extLst>
              <a:ext uri="{FF2B5EF4-FFF2-40B4-BE49-F238E27FC236}">
                <a16:creationId xmlns:a16="http://schemas.microsoft.com/office/drawing/2014/main" id="{F7C412CD-6BFD-7A7C-E318-DD03A5B20697}"/>
              </a:ext>
            </a:extLst>
          </p:cNvPr>
          <p:cNvGraphicFramePr/>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232277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pPr algn="l"/>
            <a:r>
              <a:rPr lang="en-GB" dirty="0"/>
              <a:t>Next Week</a:t>
            </a:r>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899592" y="3317479"/>
            <a:ext cx="6515620" cy="994172"/>
          </a:xfrm>
        </p:spPr>
        <p:txBody>
          <a:bodyPr>
            <a:normAutofit/>
          </a:bodyPr>
          <a:lstStyle/>
          <a:p>
            <a:r>
              <a:rPr lang="en-GB" sz="2800" dirty="0"/>
              <a:t>Investment Appraisal</a:t>
            </a:r>
          </a:p>
        </p:txBody>
      </p:sp>
    </p:spTree>
    <p:extLst>
      <p:ext uri="{BB962C8B-B14F-4D97-AF65-F5344CB8AC3E}">
        <p14:creationId xmlns:p14="http://schemas.microsoft.com/office/powerpoint/2010/main" val="1668558411"/>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Sky standard" id="{AD8DDF46-A5CC-4622-A02E-85EACB7FB611}" vid="{035B7317-0F9E-4103-A6E9-A33CA3ACF84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8939316926C04BB434D827A7A27A1D" ma:contentTypeVersion="10" ma:contentTypeDescription="Create a new document." ma:contentTypeScope="" ma:versionID="b1702581da8c7697dfff1d5bddd6d2d8">
  <xsd:schema xmlns:xsd="http://www.w3.org/2001/XMLSchema" xmlns:xs="http://www.w3.org/2001/XMLSchema" xmlns:p="http://schemas.microsoft.com/office/2006/metadata/properties" xmlns:ns2="548516d9-4766-4c45-95c7-f1dd44c6982a" xmlns:ns3="9372c811-71b3-403b-802c-98f34db367dc" targetNamespace="http://schemas.microsoft.com/office/2006/metadata/properties" ma:root="true" ma:fieldsID="0df1892d5fdc6f8914b8490f60d16783" ns2:_="" ns3:_="">
    <xsd:import namespace="548516d9-4766-4c45-95c7-f1dd44c6982a"/>
    <xsd:import namespace="9372c811-71b3-403b-802c-98f34db367d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8516d9-4766-4c45-95c7-f1dd44c698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72c811-71b3-403b-802c-98f34db367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F0E19C-E6E1-4213-8632-339AC91B38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8516d9-4766-4c45-95c7-f1dd44c6982a"/>
    <ds:schemaRef ds:uri="9372c811-71b3-403b-802c-98f34db367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D2D201-97C8-4E70-BF77-76D11DC8600F}">
  <ds:schemaRefs>
    <ds:schemaRef ds:uri="http://purl.org/dc/terms/"/>
    <ds:schemaRef ds:uri="http://schemas.microsoft.com/office/2006/metadata/properties"/>
    <ds:schemaRef ds:uri="http://www.w3.org/XML/1998/namespace"/>
    <ds:schemaRef ds:uri="http://purl.org/dc/elements/1.1/"/>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9372c811-71b3-403b-802c-98f34db367dc"/>
    <ds:schemaRef ds:uri="548516d9-4766-4c45-95c7-f1dd44c6982a"/>
  </ds:schemaRefs>
</ds:datastoreItem>
</file>

<file path=customXml/itemProps3.xml><?xml version="1.0" encoding="utf-8"?>
<ds:datastoreItem xmlns:ds="http://schemas.openxmlformats.org/officeDocument/2006/customXml" ds:itemID="{AC5552B4-89B5-4F8D-B1E4-E0A34EA58D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UWE Sky standard</Template>
  <TotalTime>67</TotalTime>
  <Words>2135</Words>
  <Application>Microsoft Office PowerPoint</Application>
  <PresentationFormat>On-screen Show (4:3)</PresentationFormat>
  <Paragraphs>315</Paragraphs>
  <Slides>25</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Calibri Light</vt:lpstr>
      <vt:lpstr>Cambria Math</vt:lpstr>
      <vt:lpstr>Courier New</vt:lpstr>
      <vt:lpstr>Segoe Sans</vt:lpstr>
      <vt:lpstr>Tahoma</vt:lpstr>
      <vt:lpstr>Wingdings</vt:lpstr>
      <vt:lpstr>Custom Design</vt:lpstr>
      <vt:lpstr>UMET9G-30-1  Accounting &amp; Finance for Decision Making   Time Value of Money - Part 2</vt:lpstr>
      <vt:lpstr>Recap</vt:lpstr>
      <vt:lpstr>Learning Outcomes</vt:lpstr>
      <vt:lpstr>Recap</vt:lpstr>
      <vt:lpstr>TVM formulae - Roundup</vt:lpstr>
      <vt:lpstr>Multiple cash flows</vt:lpstr>
      <vt:lpstr>Multiple cash flows - FV</vt:lpstr>
      <vt:lpstr>Multiple cash flows - PV</vt:lpstr>
      <vt:lpstr>Multiple Cash Flows – PV</vt:lpstr>
      <vt:lpstr>TVM recap</vt:lpstr>
      <vt:lpstr>Annuity </vt:lpstr>
      <vt:lpstr>Annuity – PV</vt:lpstr>
      <vt:lpstr>Annuity  - FV</vt:lpstr>
      <vt:lpstr>Annuity - recap</vt:lpstr>
      <vt:lpstr>Growing Annuity PV </vt:lpstr>
      <vt:lpstr>Growing Annuity – Present Value</vt:lpstr>
      <vt:lpstr>Growing Annuity</vt:lpstr>
      <vt:lpstr>Annuity recap</vt:lpstr>
      <vt:lpstr>Perpetuity</vt:lpstr>
      <vt:lpstr>TVM recap</vt:lpstr>
      <vt:lpstr>Compounding periods</vt:lpstr>
      <vt:lpstr>Non annual cashflows</vt:lpstr>
      <vt:lpstr>Effective Interest Rate</vt:lpstr>
      <vt:lpstr>Learning Outcomes Covered</vt:lpstr>
      <vt:lpstr>Next Week</vt:lpstr>
    </vt:vector>
  </TitlesOfParts>
  <Company>UWE Bristol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Demelza Pilgrim</dc:creator>
  <cp:lastModifiedBy>Demelza Pilgrim</cp:lastModifiedBy>
  <cp:revision>1</cp:revision>
  <cp:lastPrinted>2024-10-03T08:12:11Z</cp:lastPrinted>
  <dcterms:created xsi:type="dcterms:W3CDTF">2024-10-01T12:56:28Z</dcterms:created>
  <dcterms:modified xsi:type="dcterms:W3CDTF">2025-08-14T15:44:26Z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0x010100F28939316926C04BB434D827A7A27A1D</vt:lpwstr>
  </property>
</Properties>
</file>