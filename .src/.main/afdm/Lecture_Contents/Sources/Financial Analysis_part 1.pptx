
<file path=[Content_Types].xml><?xml version="1.0" encoding="utf-8"?>
<Types xmlns="http://schemas.openxmlformats.org/package/2006/content-types">
  <Default Extension="bin" ContentType="application/vnd.openxmlformats-officedocument.oleObject"/>
  <Default Extension="doc" ContentType="application/msword"/>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88" r:id="rId2"/>
    <p:sldId id="287" r:id="rId3"/>
    <p:sldId id="256" r:id="rId4"/>
    <p:sldId id="399" r:id="rId5"/>
    <p:sldId id="400" r:id="rId6"/>
    <p:sldId id="401" r:id="rId7"/>
    <p:sldId id="402" r:id="rId8"/>
    <p:sldId id="406" r:id="rId9"/>
    <p:sldId id="407" r:id="rId10"/>
    <p:sldId id="405" r:id="rId11"/>
    <p:sldId id="645" r:id="rId12"/>
    <p:sldId id="648" r:id="rId13"/>
    <p:sldId id="621" r:id="rId14"/>
    <p:sldId id="622" r:id="rId15"/>
    <p:sldId id="638" r:id="rId16"/>
    <p:sldId id="646" r:id="rId17"/>
    <p:sldId id="647" r:id="rId18"/>
    <p:sldId id="418" r:id="rId19"/>
    <p:sldId id="643" r:id="rId20"/>
    <p:sldId id="463" r:id="rId21"/>
    <p:sldId id="469" r:id="rId22"/>
    <p:sldId id="421" r:id="rId23"/>
    <p:sldId id="644" r:id="rId24"/>
    <p:sldId id="462"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E4CCF-AB38-4290-9591-599BF1E80446}" v="640" dt="2025-08-14T13:17:50.6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214" autoAdjust="0"/>
  </p:normalViewPr>
  <p:slideViewPr>
    <p:cSldViewPr snapToGrid="0">
      <p:cViewPr varScale="1">
        <p:scale>
          <a:sx n="60" d="100"/>
          <a:sy n="60"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lza Pilgrim" userId="9b1f39d4-236b-4377-9a8d-dccbd2a774dd" providerId="ADAL" clId="{400E4CCF-AB38-4290-9591-599BF1E80446}"/>
    <pc:docChg chg="undo custSel addSld delSld modSld sldOrd modMainMaster">
      <pc:chgData name="Demelza Pilgrim" userId="9b1f39d4-236b-4377-9a8d-dccbd2a774dd" providerId="ADAL" clId="{400E4CCF-AB38-4290-9591-599BF1E80446}" dt="2025-08-14T13:18:20" v="3718" actId="20577"/>
      <pc:docMkLst>
        <pc:docMk/>
      </pc:docMkLst>
      <pc:sldChg chg="modSp add del mod modNotesTx">
        <pc:chgData name="Demelza Pilgrim" userId="9b1f39d4-236b-4377-9a8d-dccbd2a774dd" providerId="ADAL" clId="{400E4CCF-AB38-4290-9591-599BF1E80446}" dt="2025-08-14T13:17:50.697" v="3696" actId="20577"/>
        <pc:sldMkLst>
          <pc:docMk/>
          <pc:sldMk cId="0" sldId="256"/>
        </pc:sldMkLst>
        <pc:spChg chg="mod">
          <ac:chgData name="Demelza Pilgrim" userId="9b1f39d4-236b-4377-9a8d-dccbd2a774dd" providerId="ADAL" clId="{400E4CCF-AB38-4290-9591-599BF1E80446}" dt="2025-08-13T16:07:10.493" v="2056" actId="6549"/>
          <ac:spMkLst>
            <pc:docMk/>
            <pc:sldMk cId="0" sldId="256"/>
            <ac:spMk id="13313" creationId="{00000000-0000-0000-0000-000000000000}"/>
          </ac:spMkLst>
        </pc:spChg>
        <pc:graphicFrameChg chg="mod">
          <ac:chgData name="Demelza Pilgrim" userId="9b1f39d4-236b-4377-9a8d-dccbd2a774dd" providerId="ADAL" clId="{400E4CCF-AB38-4290-9591-599BF1E80446}" dt="2025-08-14T13:17:50.697" v="3696" actId="20577"/>
          <ac:graphicFrameMkLst>
            <pc:docMk/>
            <pc:sldMk cId="0" sldId="256"/>
            <ac:graphicFrameMk id="13315" creationId="{C2855CC1-6974-FD0F-632A-C97A1652BB10}"/>
          </ac:graphicFrameMkLst>
        </pc:graphicFrameChg>
      </pc:sldChg>
      <pc:sldChg chg="modSp add del mod">
        <pc:chgData name="Demelza Pilgrim" userId="9b1f39d4-236b-4377-9a8d-dccbd2a774dd" providerId="ADAL" clId="{400E4CCF-AB38-4290-9591-599BF1E80446}" dt="2025-08-13T16:12:56.746" v="2295" actId="47"/>
        <pc:sldMkLst>
          <pc:docMk/>
          <pc:sldMk cId="1310323214" sldId="279"/>
        </pc:sldMkLst>
        <pc:spChg chg="mod">
          <ac:chgData name="Demelza Pilgrim" userId="9b1f39d4-236b-4377-9a8d-dccbd2a774dd" providerId="ADAL" clId="{400E4CCF-AB38-4290-9591-599BF1E80446}" dt="2025-08-13T16:00:28.076" v="1971" actId="20577"/>
          <ac:spMkLst>
            <pc:docMk/>
            <pc:sldMk cId="1310323214" sldId="279"/>
            <ac:spMk id="3" creationId="{00000000-0000-0000-0000-000000000000}"/>
          </ac:spMkLst>
        </pc:spChg>
      </pc:sldChg>
      <pc:sldChg chg="modSp add mod">
        <pc:chgData name="Demelza Pilgrim" userId="9b1f39d4-236b-4377-9a8d-dccbd2a774dd" providerId="ADAL" clId="{400E4CCF-AB38-4290-9591-599BF1E80446}" dt="2025-08-13T16:11:15.597" v="2286" actId="404"/>
        <pc:sldMkLst>
          <pc:docMk/>
          <pc:sldMk cId="591890035" sldId="287"/>
        </pc:sldMkLst>
        <pc:spChg chg="mod">
          <ac:chgData name="Demelza Pilgrim" userId="9b1f39d4-236b-4377-9a8d-dccbd2a774dd" providerId="ADAL" clId="{400E4CCF-AB38-4290-9591-599BF1E80446}" dt="2025-08-13T16:11:15.597" v="2286" actId="404"/>
          <ac:spMkLst>
            <pc:docMk/>
            <pc:sldMk cId="591890035" sldId="287"/>
            <ac:spMk id="3" creationId="{FF9B3823-0605-807A-5635-4865E10F2BE4}"/>
          </ac:spMkLst>
        </pc:spChg>
        <pc:picChg chg="mod">
          <ac:chgData name="Demelza Pilgrim" userId="9b1f39d4-236b-4377-9a8d-dccbd2a774dd" providerId="ADAL" clId="{400E4CCF-AB38-4290-9591-599BF1E80446}" dt="2025-08-13T16:09:34.014" v="2107" actId="1076"/>
          <ac:picMkLst>
            <pc:docMk/>
            <pc:sldMk cId="591890035" sldId="287"/>
            <ac:picMk id="5" creationId="{295E040E-13B2-6A1F-C2CA-FE2D44F88278}"/>
          </ac:picMkLst>
        </pc:picChg>
      </pc:sldChg>
      <pc:sldChg chg="modSp add mod">
        <pc:chgData name="Demelza Pilgrim" userId="9b1f39d4-236b-4377-9a8d-dccbd2a774dd" providerId="ADAL" clId="{400E4CCF-AB38-4290-9591-599BF1E80446}" dt="2025-08-13T16:08:45.861" v="2100" actId="20577"/>
        <pc:sldMkLst>
          <pc:docMk/>
          <pc:sldMk cId="2640722381" sldId="288"/>
        </pc:sldMkLst>
        <pc:spChg chg="mod">
          <ac:chgData name="Demelza Pilgrim" userId="9b1f39d4-236b-4377-9a8d-dccbd2a774dd" providerId="ADAL" clId="{400E4CCF-AB38-4290-9591-599BF1E80446}" dt="2025-08-13T16:08:45.861" v="2100" actId="20577"/>
          <ac:spMkLst>
            <pc:docMk/>
            <pc:sldMk cId="2640722381" sldId="288"/>
            <ac:spMk id="2" creationId="{1AFEF73C-04D4-7BB1-2084-E39FB595A675}"/>
          </ac:spMkLst>
        </pc:spChg>
      </pc:sldChg>
      <pc:sldChg chg="modSp add mod">
        <pc:chgData name="Demelza Pilgrim" userId="9b1f39d4-236b-4377-9a8d-dccbd2a774dd" providerId="ADAL" clId="{400E4CCF-AB38-4290-9591-599BF1E80446}" dt="2025-08-14T12:58:02.271" v="3394" actId="14100"/>
        <pc:sldMkLst>
          <pc:docMk/>
          <pc:sldMk cId="2349596923" sldId="399"/>
        </pc:sldMkLst>
        <pc:spChg chg="mod">
          <ac:chgData name="Demelza Pilgrim" userId="9b1f39d4-236b-4377-9a8d-dccbd2a774dd" providerId="ADAL" clId="{400E4CCF-AB38-4290-9591-599BF1E80446}" dt="2025-08-14T12:57:57.517" v="3393" actId="14100"/>
          <ac:spMkLst>
            <pc:docMk/>
            <pc:sldMk cId="2349596923" sldId="399"/>
            <ac:spMk id="2" creationId="{00000000-0000-0000-0000-000000000000}"/>
          </ac:spMkLst>
        </pc:spChg>
        <pc:spChg chg="mod">
          <ac:chgData name="Demelza Pilgrim" userId="9b1f39d4-236b-4377-9a8d-dccbd2a774dd" providerId="ADAL" clId="{400E4CCF-AB38-4290-9591-599BF1E80446}" dt="2025-08-14T12:58:02.271" v="3394" actId="14100"/>
          <ac:spMkLst>
            <pc:docMk/>
            <pc:sldMk cId="2349596923" sldId="399"/>
            <ac:spMk id="3" creationId="{00000000-0000-0000-0000-000000000000}"/>
          </ac:spMkLst>
        </pc:spChg>
      </pc:sldChg>
      <pc:sldChg chg="modSp add mod">
        <pc:chgData name="Demelza Pilgrim" userId="9b1f39d4-236b-4377-9a8d-dccbd2a774dd" providerId="ADAL" clId="{400E4CCF-AB38-4290-9591-599BF1E80446}" dt="2025-08-14T12:58:30.228" v="3396" actId="14100"/>
        <pc:sldMkLst>
          <pc:docMk/>
          <pc:sldMk cId="1845660123" sldId="400"/>
        </pc:sldMkLst>
        <pc:spChg chg="mod">
          <ac:chgData name="Demelza Pilgrim" userId="9b1f39d4-236b-4377-9a8d-dccbd2a774dd" providerId="ADAL" clId="{400E4CCF-AB38-4290-9591-599BF1E80446}" dt="2025-08-14T12:58:30.228" v="3396" actId="14100"/>
          <ac:spMkLst>
            <pc:docMk/>
            <pc:sldMk cId="1845660123" sldId="400"/>
            <ac:spMk id="2" creationId="{00000000-0000-0000-0000-000000000000}"/>
          </ac:spMkLst>
        </pc:spChg>
        <pc:spChg chg="mod">
          <ac:chgData name="Demelza Pilgrim" userId="9b1f39d4-236b-4377-9a8d-dccbd2a774dd" providerId="ADAL" clId="{400E4CCF-AB38-4290-9591-599BF1E80446}" dt="2025-08-14T12:58:27.062" v="3395" actId="14100"/>
          <ac:spMkLst>
            <pc:docMk/>
            <pc:sldMk cId="1845660123" sldId="400"/>
            <ac:spMk id="4" creationId="{00000000-0000-0000-0000-000000000000}"/>
          </ac:spMkLst>
        </pc:spChg>
      </pc:sldChg>
      <pc:sldChg chg="add ord">
        <pc:chgData name="Demelza Pilgrim" userId="9b1f39d4-236b-4377-9a8d-dccbd2a774dd" providerId="ADAL" clId="{400E4CCF-AB38-4290-9591-599BF1E80446}" dt="2025-08-14T12:58:39.748" v="3398"/>
        <pc:sldMkLst>
          <pc:docMk/>
          <pc:sldMk cId="3008191276" sldId="401"/>
        </pc:sldMkLst>
      </pc:sldChg>
      <pc:sldChg chg="add ord">
        <pc:chgData name="Demelza Pilgrim" userId="9b1f39d4-236b-4377-9a8d-dccbd2a774dd" providerId="ADAL" clId="{400E4CCF-AB38-4290-9591-599BF1E80446}" dt="2025-08-14T13:02:19.318" v="3462"/>
        <pc:sldMkLst>
          <pc:docMk/>
          <pc:sldMk cId="3911496482" sldId="402"/>
        </pc:sldMkLst>
      </pc:sldChg>
      <pc:sldChg chg="add del">
        <pc:chgData name="Demelza Pilgrim" userId="9b1f39d4-236b-4377-9a8d-dccbd2a774dd" providerId="ADAL" clId="{400E4CCF-AB38-4290-9591-599BF1E80446}" dt="2025-08-14T12:58:59.848" v="3403" actId="47"/>
        <pc:sldMkLst>
          <pc:docMk/>
          <pc:sldMk cId="2035434699" sldId="403"/>
        </pc:sldMkLst>
      </pc:sldChg>
      <pc:sldChg chg="add del">
        <pc:chgData name="Demelza Pilgrim" userId="9b1f39d4-236b-4377-9a8d-dccbd2a774dd" providerId="ADAL" clId="{400E4CCF-AB38-4290-9591-599BF1E80446}" dt="2025-08-14T13:01:10.298" v="3456" actId="47"/>
        <pc:sldMkLst>
          <pc:docMk/>
          <pc:sldMk cId="3771259591" sldId="404"/>
        </pc:sldMkLst>
      </pc:sldChg>
      <pc:sldChg chg="modSp add mod ord">
        <pc:chgData name="Demelza Pilgrim" userId="9b1f39d4-236b-4377-9a8d-dccbd2a774dd" providerId="ADAL" clId="{400E4CCF-AB38-4290-9591-599BF1E80446}" dt="2025-08-14T13:02:43.583" v="3470" actId="14100"/>
        <pc:sldMkLst>
          <pc:docMk/>
          <pc:sldMk cId="3313494069" sldId="405"/>
        </pc:sldMkLst>
        <pc:spChg chg="mod">
          <ac:chgData name="Demelza Pilgrim" userId="9b1f39d4-236b-4377-9a8d-dccbd2a774dd" providerId="ADAL" clId="{400E4CCF-AB38-4290-9591-599BF1E80446}" dt="2025-08-14T13:02:43.583" v="3470" actId="14100"/>
          <ac:spMkLst>
            <pc:docMk/>
            <pc:sldMk cId="3313494069" sldId="405"/>
            <ac:spMk id="2" creationId="{00000000-0000-0000-0000-000000000000}"/>
          </ac:spMkLst>
        </pc:spChg>
        <pc:spChg chg="mod">
          <ac:chgData name="Demelza Pilgrim" userId="9b1f39d4-236b-4377-9a8d-dccbd2a774dd" providerId="ADAL" clId="{400E4CCF-AB38-4290-9591-599BF1E80446}" dt="2025-08-14T13:02:40.566" v="3469" actId="14100"/>
          <ac:spMkLst>
            <pc:docMk/>
            <pc:sldMk cId="3313494069" sldId="405"/>
            <ac:spMk id="4" creationId="{00000000-0000-0000-0000-000000000000}"/>
          </ac:spMkLst>
        </pc:spChg>
      </pc:sldChg>
      <pc:sldChg chg="modSp add mod ord modAnim modNotesTx">
        <pc:chgData name="Demelza Pilgrim" userId="9b1f39d4-236b-4377-9a8d-dccbd2a774dd" providerId="ADAL" clId="{400E4CCF-AB38-4290-9591-599BF1E80446}" dt="2025-08-14T13:08:21.133" v="3523" actId="6549"/>
        <pc:sldMkLst>
          <pc:docMk/>
          <pc:sldMk cId="853317316" sldId="406"/>
        </pc:sldMkLst>
        <pc:spChg chg="mod">
          <ac:chgData name="Demelza Pilgrim" userId="9b1f39d4-236b-4377-9a8d-dccbd2a774dd" providerId="ADAL" clId="{400E4CCF-AB38-4290-9591-599BF1E80446}" dt="2025-08-14T13:01:49.412" v="3459" actId="14100"/>
          <ac:spMkLst>
            <pc:docMk/>
            <pc:sldMk cId="853317316" sldId="406"/>
            <ac:spMk id="2" creationId="{00000000-0000-0000-0000-000000000000}"/>
          </ac:spMkLst>
        </pc:spChg>
        <pc:spChg chg="mod">
          <ac:chgData name="Demelza Pilgrim" userId="9b1f39d4-236b-4377-9a8d-dccbd2a774dd" providerId="ADAL" clId="{400E4CCF-AB38-4290-9591-599BF1E80446}" dt="2025-08-14T13:08:21.133" v="3523" actId="6549"/>
          <ac:spMkLst>
            <pc:docMk/>
            <pc:sldMk cId="853317316" sldId="406"/>
            <ac:spMk id="4" creationId="{00000000-0000-0000-0000-000000000000}"/>
          </ac:spMkLst>
        </pc:spChg>
      </pc:sldChg>
      <pc:sldChg chg="add ord">
        <pc:chgData name="Demelza Pilgrim" userId="9b1f39d4-236b-4377-9a8d-dccbd2a774dd" providerId="ADAL" clId="{400E4CCF-AB38-4290-9591-599BF1E80446}" dt="2025-08-14T13:02:25.483" v="3466"/>
        <pc:sldMkLst>
          <pc:docMk/>
          <pc:sldMk cId="3692259622" sldId="407"/>
        </pc:sldMkLst>
      </pc:sldChg>
      <pc:sldChg chg="addSp delSp modSp add del mod">
        <pc:chgData name="Demelza Pilgrim" userId="9b1f39d4-236b-4377-9a8d-dccbd2a774dd" providerId="ADAL" clId="{400E4CCF-AB38-4290-9591-599BF1E80446}" dt="2025-08-13T14:42:04.877" v="96" actId="47"/>
        <pc:sldMkLst>
          <pc:docMk/>
          <pc:sldMk cId="3401374662" sldId="408"/>
        </pc:sldMkLst>
        <pc:spChg chg="add del">
          <ac:chgData name="Demelza Pilgrim" userId="9b1f39d4-236b-4377-9a8d-dccbd2a774dd" providerId="ADAL" clId="{400E4CCF-AB38-4290-9591-599BF1E80446}" dt="2025-08-13T14:41:37.662" v="86" actId="478"/>
          <ac:spMkLst>
            <pc:docMk/>
            <pc:sldMk cId="3401374662" sldId="408"/>
            <ac:spMk id="3" creationId="{00000000-0000-0000-0000-000000000000}"/>
          </ac:spMkLst>
        </pc:spChg>
        <pc:spChg chg="add del mod">
          <ac:chgData name="Demelza Pilgrim" userId="9b1f39d4-236b-4377-9a8d-dccbd2a774dd" providerId="ADAL" clId="{400E4CCF-AB38-4290-9591-599BF1E80446}" dt="2025-08-13T14:41:37.662" v="86" actId="478"/>
          <ac:spMkLst>
            <pc:docMk/>
            <pc:sldMk cId="3401374662" sldId="408"/>
            <ac:spMk id="5" creationId="{BB0AE5C9-AE75-3923-9601-3E297AD08320}"/>
          </ac:spMkLst>
        </pc:spChg>
      </pc:sldChg>
      <pc:sldChg chg="modSp add del mod">
        <pc:chgData name="Demelza Pilgrim" userId="9b1f39d4-236b-4377-9a8d-dccbd2a774dd" providerId="ADAL" clId="{400E4CCF-AB38-4290-9591-599BF1E80446}" dt="2025-08-13T14:44:51.507" v="98" actId="47"/>
        <pc:sldMkLst>
          <pc:docMk/>
          <pc:sldMk cId="4249177526" sldId="409"/>
        </pc:sldMkLst>
        <pc:spChg chg="mod">
          <ac:chgData name="Demelza Pilgrim" userId="9b1f39d4-236b-4377-9a8d-dccbd2a774dd" providerId="ADAL" clId="{400E4CCF-AB38-4290-9591-599BF1E80446}" dt="2025-08-13T14:44:47.445" v="97" actId="6549"/>
          <ac:spMkLst>
            <pc:docMk/>
            <pc:sldMk cId="4249177526" sldId="409"/>
            <ac:spMk id="4" creationId="{00000000-0000-0000-0000-000000000000}"/>
          </ac:spMkLst>
        </pc:spChg>
      </pc:sldChg>
      <pc:sldChg chg="modSp add del mod modAnim modNotesTx">
        <pc:chgData name="Demelza Pilgrim" userId="9b1f39d4-236b-4377-9a8d-dccbd2a774dd" providerId="ADAL" clId="{400E4CCF-AB38-4290-9591-599BF1E80446}" dt="2025-08-13T14:53:10.363" v="382" actId="47"/>
        <pc:sldMkLst>
          <pc:docMk/>
          <pc:sldMk cId="460781386" sldId="410"/>
        </pc:sldMkLst>
        <pc:spChg chg="mod">
          <ac:chgData name="Demelza Pilgrim" userId="9b1f39d4-236b-4377-9a8d-dccbd2a774dd" providerId="ADAL" clId="{400E4CCF-AB38-4290-9591-599BF1E80446}" dt="2025-08-13T14:47:43.238" v="225" actId="27636"/>
          <ac:spMkLst>
            <pc:docMk/>
            <pc:sldMk cId="460781386" sldId="410"/>
            <ac:spMk id="4" creationId="{00000000-0000-0000-0000-000000000000}"/>
          </ac:spMkLst>
        </pc:spChg>
      </pc:sldChg>
      <pc:sldChg chg="modSp add del mod modNotesTx">
        <pc:chgData name="Demelza Pilgrim" userId="9b1f39d4-236b-4377-9a8d-dccbd2a774dd" providerId="ADAL" clId="{400E4CCF-AB38-4290-9591-599BF1E80446}" dt="2025-08-13T15:39:20.462" v="1036" actId="47"/>
        <pc:sldMkLst>
          <pc:docMk/>
          <pc:sldMk cId="1652660412" sldId="411"/>
        </pc:sldMkLst>
        <pc:spChg chg="mod">
          <ac:chgData name="Demelza Pilgrim" userId="9b1f39d4-236b-4377-9a8d-dccbd2a774dd" providerId="ADAL" clId="{400E4CCF-AB38-4290-9591-599BF1E80446}" dt="2025-08-13T14:45:37.321" v="108" actId="20577"/>
          <ac:spMkLst>
            <pc:docMk/>
            <pc:sldMk cId="1652660412" sldId="411"/>
            <ac:spMk id="2" creationId="{00000000-0000-0000-0000-000000000000}"/>
          </ac:spMkLst>
        </pc:spChg>
        <pc:spChg chg="mod">
          <ac:chgData name="Demelza Pilgrim" userId="9b1f39d4-236b-4377-9a8d-dccbd2a774dd" providerId="ADAL" clId="{400E4CCF-AB38-4290-9591-599BF1E80446}" dt="2025-08-13T15:18:18.535" v="505" actId="20577"/>
          <ac:spMkLst>
            <pc:docMk/>
            <pc:sldMk cId="1652660412" sldId="411"/>
            <ac:spMk id="4" creationId="{00000000-0000-0000-0000-000000000000}"/>
          </ac:spMkLst>
        </pc:spChg>
      </pc:sldChg>
      <pc:sldChg chg="add del">
        <pc:chgData name="Demelza Pilgrim" userId="9b1f39d4-236b-4377-9a8d-dccbd2a774dd" providerId="ADAL" clId="{400E4CCF-AB38-4290-9591-599BF1E80446}" dt="2025-08-13T14:53:18.629" v="383" actId="47"/>
        <pc:sldMkLst>
          <pc:docMk/>
          <pc:sldMk cId="974189773" sldId="413"/>
        </pc:sldMkLst>
      </pc:sldChg>
      <pc:sldChg chg="add del ord">
        <pc:chgData name="Demelza Pilgrim" userId="9b1f39d4-236b-4377-9a8d-dccbd2a774dd" providerId="ADAL" clId="{400E4CCF-AB38-4290-9591-599BF1E80446}" dt="2025-08-13T14:48:23.477" v="233" actId="47"/>
        <pc:sldMkLst>
          <pc:docMk/>
          <pc:sldMk cId="760307908" sldId="415"/>
        </pc:sldMkLst>
      </pc:sldChg>
      <pc:sldChg chg="addSp delSp modSp add del mod modNotesTx">
        <pc:chgData name="Demelza Pilgrim" userId="9b1f39d4-236b-4377-9a8d-dccbd2a774dd" providerId="ADAL" clId="{400E4CCF-AB38-4290-9591-599BF1E80446}" dt="2025-08-14T13:05:21.594" v="3492" actId="20577"/>
        <pc:sldMkLst>
          <pc:docMk/>
          <pc:sldMk cId="358464067" sldId="418"/>
        </pc:sldMkLst>
        <pc:spChg chg="mod">
          <ac:chgData name="Demelza Pilgrim" userId="9b1f39d4-236b-4377-9a8d-dccbd2a774dd" providerId="ADAL" clId="{400E4CCF-AB38-4290-9591-599BF1E80446}" dt="2025-08-14T13:05:07.187" v="3490" actId="404"/>
          <ac:spMkLst>
            <pc:docMk/>
            <pc:sldMk cId="358464067" sldId="418"/>
            <ac:spMk id="2" creationId="{00000000-0000-0000-0000-000000000000}"/>
          </ac:spMkLst>
        </pc:spChg>
        <pc:spChg chg="add del mod">
          <ac:chgData name="Demelza Pilgrim" userId="9b1f39d4-236b-4377-9a8d-dccbd2a774dd" providerId="ADAL" clId="{400E4CCF-AB38-4290-9591-599BF1E80446}" dt="2025-08-14T11:44:20.169" v="3076" actId="478"/>
          <ac:spMkLst>
            <pc:docMk/>
            <pc:sldMk cId="358464067" sldId="418"/>
            <ac:spMk id="3" creationId="{800465C8-2EF8-B7D2-F8F3-FFBE451F3274}"/>
          </ac:spMkLst>
        </pc:spChg>
        <pc:spChg chg="mod">
          <ac:chgData name="Demelza Pilgrim" userId="9b1f39d4-236b-4377-9a8d-dccbd2a774dd" providerId="ADAL" clId="{400E4CCF-AB38-4290-9591-599BF1E80446}" dt="2025-08-14T13:05:15.767" v="3491" actId="14100"/>
          <ac:spMkLst>
            <pc:docMk/>
            <pc:sldMk cId="358464067" sldId="418"/>
            <ac:spMk id="7" creationId="{00000000-0000-0000-0000-000000000000}"/>
          </ac:spMkLst>
        </pc:spChg>
      </pc:sldChg>
      <pc:sldChg chg="modSp add del mod">
        <pc:chgData name="Demelza Pilgrim" userId="9b1f39d4-236b-4377-9a8d-dccbd2a774dd" providerId="ADAL" clId="{400E4CCF-AB38-4290-9591-599BF1E80446}" dt="2025-08-13T16:05:29.987" v="2025" actId="47"/>
        <pc:sldMkLst>
          <pc:docMk/>
          <pc:sldMk cId="2165492900" sldId="420"/>
        </pc:sldMkLst>
        <pc:spChg chg="mod">
          <ac:chgData name="Demelza Pilgrim" userId="9b1f39d4-236b-4377-9a8d-dccbd2a774dd" providerId="ADAL" clId="{400E4CCF-AB38-4290-9591-599BF1E80446}" dt="2025-08-13T16:05:22.871" v="2024" actId="21"/>
          <ac:spMkLst>
            <pc:docMk/>
            <pc:sldMk cId="2165492900" sldId="420"/>
            <ac:spMk id="4" creationId="{00000000-0000-0000-0000-000000000000}"/>
          </ac:spMkLst>
        </pc:spChg>
      </pc:sldChg>
      <pc:sldChg chg="modSp add mod">
        <pc:chgData name="Demelza Pilgrim" userId="9b1f39d4-236b-4377-9a8d-dccbd2a774dd" providerId="ADAL" clId="{400E4CCF-AB38-4290-9591-599BF1E80446}" dt="2025-08-14T12:55:30.057" v="3378" actId="20577"/>
        <pc:sldMkLst>
          <pc:docMk/>
          <pc:sldMk cId="3649265531" sldId="421"/>
        </pc:sldMkLst>
        <pc:spChg chg="mod">
          <ac:chgData name="Demelza Pilgrim" userId="9b1f39d4-236b-4377-9a8d-dccbd2a774dd" providerId="ADAL" clId="{400E4CCF-AB38-4290-9591-599BF1E80446}" dt="2025-08-14T12:55:30.057" v="3378" actId="20577"/>
          <ac:spMkLst>
            <pc:docMk/>
            <pc:sldMk cId="3649265531" sldId="421"/>
            <ac:spMk id="3" creationId="{00000000-0000-0000-0000-000000000000}"/>
          </ac:spMkLst>
        </pc:spChg>
      </pc:sldChg>
      <pc:sldChg chg="modSp add del mod ord">
        <pc:chgData name="Demelza Pilgrim" userId="9b1f39d4-236b-4377-9a8d-dccbd2a774dd" providerId="ADAL" clId="{400E4CCF-AB38-4290-9591-599BF1E80446}" dt="2025-08-14T11:49:30.198" v="3230" actId="47"/>
        <pc:sldMkLst>
          <pc:docMk/>
          <pc:sldMk cId="1242677029" sldId="422"/>
        </pc:sldMkLst>
        <pc:spChg chg="mod">
          <ac:chgData name="Demelza Pilgrim" userId="9b1f39d4-236b-4377-9a8d-dccbd2a774dd" providerId="ADAL" clId="{400E4CCF-AB38-4290-9591-599BF1E80446}" dt="2025-08-14T11:49:11.793" v="3229" actId="21"/>
          <ac:spMkLst>
            <pc:docMk/>
            <pc:sldMk cId="1242677029" sldId="422"/>
            <ac:spMk id="3" creationId="{A97FCF36-FBF3-4F8D-AD40-F2006F85421A}"/>
          </ac:spMkLst>
        </pc:spChg>
      </pc:sldChg>
      <pc:sldChg chg="modSp add del mod">
        <pc:chgData name="Demelza Pilgrim" userId="9b1f39d4-236b-4377-9a8d-dccbd2a774dd" providerId="ADAL" clId="{400E4CCF-AB38-4290-9591-599BF1E80446}" dt="2025-08-14T13:01:37.552" v="3457" actId="47"/>
        <pc:sldMkLst>
          <pc:docMk/>
          <pc:sldMk cId="1235986055" sldId="423"/>
        </pc:sldMkLst>
        <pc:spChg chg="mod">
          <ac:chgData name="Demelza Pilgrim" userId="9b1f39d4-236b-4377-9a8d-dccbd2a774dd" providerId="ADAL" clId="{400E4CCF-AB38-4290-9591-599BF1E80446}" dt="2025-08-13T14:41:53.331" v="95"/>
          <ac:spMkLst>
            <pc:docMk/>
            <pc:sldMk cId="1235986055" sldId="423"/>
            <ac:spMk id="3" creationId="{00000000-0000-0000-0000-000000000000}"/>
          </ac:spMkLst>
        </pc:spChg>
      </pc:sldChg>
      <pc:sldChg chg="modSp add mod">
        <pc:chgData name="Demelza Pilgrim" userId="9b1f39d4-236b-4377-9a8d-dccbd2a774dd" providerId="ADAL" clId="{400E4CCF-AB38-4290-9591-599BF1E80446}" dt="2025-08-14T13:18:20" v="3718" actId="20577"/>
        <pc:sldMkLst>
          <pc:docMk/>
          <pc:sldMk cId="1668558411" sldId="462"/>
        </pc:sldMkLst>
        <pc:spChg chg="mod">
          <ac:chgData name="Demelza Pilgrim" userId="9b1f39d4-236b-4377-9a8d-dccbd2a774dd" providerId="ADAL" clId="{400E4CCF-AB38-4290-9591-599BF1E80446}" dt="2025-08-14T13:18:20" v="3718" actId="20577"/>
          <ac:spMkLst>
            <pc:docMk/>
            <pc:sldMk cId="1668558411" sldId="462"/>
            <ac:spMk id="3" creationId="{7393D38A-6D63-08BB-0FBC-2882D1231479}"/>
          </ac:spMkLst>
        </pc:spChg>
      </pc:sldChg>
      <pc:sldChg chg="modSp add mod">
        <pc:chgData name="Demelza Pilgrim" userId="9b1f39d4-236b-4377-9a8d-dccbd2a774dd" providerId="ADAL" clId="{400E4CCF-AB38-4290-9591-599BF1E80446}" dt="2025-08-14T13:14:41.145" v="3580"/>
        <pc:sldMkLst>
          <pc:docMk/>
          <pc:sldMk cId="2337711394" sldId="463"/>
        </pc:sldMkLst>
        <pc:spChg chg="mod">
          <ac:chgData name="Demelza Pilgrim" userId="9b1f39d4-236b-4377-9a8d-dccbd2a774dd" providerId="ADAL" clId="{400E4CCF-AB38-4290-9591-599BF1E80446}" dt="2025-08-14T13:14:33.431" v="3578" actId="1076"/>
          <ac:spMkLst>
            <pc:docMk/>
            <pc:sldMk cId="2337711394" sldId="463"/>
            <ac:spMk id="2" creationId="{61B04BEA-D340-457E-8870-873768263A15}"/>
          </ac:spMkLst>
        </pc:spChg>
        <pc:graphicFrameChg chg="mod">
          <ac:chgData name="Demelza Pilgrim" userId="9b1f39d4-236b-4377-9a8d-dccbd2a774dd" providerId="ADAL" clId="{400E4CCF-AB38-4290-9591-599BF1E80446}" dt="2025-08-14T13:14:41.145" v="3580"/>
          <ac:graphicFrameMkLst>
            <pc:docMk/>
            <pc:sldMk cId="2337711394" sldId="463"/>
            <ac:graphicFrameMk id="4" creationId="{4B2093D4-5D2B-45E3-A2D9-475D5CB927C4}"/>
          </ac:graphicFrameMkLst>
        </pc:graphicFrameChg>
      </pc:sldChg>
      <pc:sldChg chg="add">
        <pc:chgData name="Demelza Pilgrim" userId="9b1f39d4-236b-4377-9a8d-dccbd2a774dd" providerId="ADAL" clId="{400E4CCF-AB38-4290-9591-599BF1E80446}" dt="2025-08-14T13:15:01.806" v="3581"/>
        <pc:sldMkLst>
          <pc:docMk/>
          <pc:sldMk cId="340843321" sldId="469"/>
        </pc:sldMkLst>
      </pc:sldChg>
      <pc:sldChg chg="modSp mod ord modAnim">
        <pc:chgData name="Demelza Pilgrim" userId="9b1f39d4-236b-4377-9a8d-dccbd2a774dd" providerId="ADAL" clId="{400E4CCF-AB38-4290-9591-599BF1E80446}" dt="2025-08-14T11:47:05.550" v="3175" actId="6549"/>
        <pc:sldMkLst>
          <pc:docMk/>
          <pc:sldMk cId="2469363055" sldId="621"/>
        </pc:sldMkLst>
        <pc:spChg chg="mod">
          <ac:chgData name="Demelza Pilgrim" userId="9b1f39d4-236b-4377-9a8d-dccbd2a774dd" providerId="ADAL" clId="{400E4CCF-AB38-4290-9591-599BF1E80446}" dt="2025-08-14T11:47:05.550" v="3175" actId="6549"/>
          <ac:spMkLst>
            <pc:docMk/>
            <pc:sldMk cId="2469363055" sldId="621"/>
            <ac:spMk id="2" creationId="{00000000-0000-0000-0000-000000000000}"/>
          </ac:spMkLst>
        </pc:spChg>
        <pc:spChg chg="mod">
          <ac:chgData name="Demelza Pilgrim" userId="9b1f39d4-236b-4377-9a8d-dccbd2a774dd" providerId="ADAL" clId="{400E4CCF-AB38-4290-9591-599BF1E80446}" dt="2025-08-14T11:46:46.622" v="3173" actId="120"/>
          <ac:spMkLst>
            <pc:docMk/>
            <pc:sldMk cId="2469363055" sldId="621"/>
            <ac:spMk id="3" creationId="{00000000-0000-0000-0000-000000000000}"/>
          </ac:spMkLst>
        </pc:spChg>
        <pc:graphicFrameChg chg="mod modGraphic">
          <ac:chgData name="Demelza Pilgrim" userId="9b1f39d4-236b-4377-9a8d-dccbd2a774dd" providerId="ADAL" clId="{400E4CCF-AB38-4290-9591-599BF1E80446}" dt="2025-08-14T11:47:03.170" v="3174" actId="1076"/>
          <ac:graphicFrameMkLst>
            <pc:docMk/>
            <pc:sldMk cId="2469363055" sldId="621"/>
            <ac:graphicFrameMk id="5" creationId="{59CCBC1A-3B61-444F-A3EF-77733FF303D1}"/>
          </ac:graphicFrameMkLst>
        </pc:graphicFrameChg>
      </pc:sldChg>
      <pc:sldChg chg="modSp mod ord">
        <pc:chgData name="Demelza Pilgrim" userId="9b1f39d4-236b-4377-9a8d-dccbd2a774dd" providerId="ADAL" clId="{400E4CCF-AB38-4290-9591-599BF1E80446}" dt="2025-08-14T13:02:53.730" v="3471" actId="1076"/>
        <pc:sldMkLst>
          <pc:docMk/>
          <pc:sldMk cId="66171161" sldId="622"/>
        </pc:sldMkLst>
        <pc:spChg chg="mod">
          <ac:chgData name="Demelza Pilgrim" userId="9b1f39d4-236b-4377-9a8d-dccbd2a774dd" providerId="ADAL" clId="{400E4CCF-AB38-4290-9591-599BF1E80446}" dt="2025-08-14T11:47:30.116" v="3180" actId="14100"/>
          <ac:spMkLst>
            <pc:docMk/>
            <pc:sldMk cId="66171161" sldId="622"/>
            <ac:spMk id="2" creationId="{00000000-0000-0000-0000-000000000000}"/>
          </ac:spMkLst>
        </pc:spChg>
        <pc:spChg chg="mod">
          <ac:chgData name="Demelza Pilgrim" userId="9b1f39d4-236b-4377-9a8d-dccbd2a774dd" providerId="ADAL" clId="{400E4CCF-AB38-4290-9591-599BF1E80446}" dt="2025-08-14T11:48:01.555" v="3189" actId="207"/>
          <ac:spMkLst>
            <pc:docMk/>
            <pc:sldMk cId="66171161" sldId="622"/>
            <ac:spMk id="3" creationId="{00000000-0000-0000-0000-000000000000}"/>
          </ac:spMkLst>
        </pc:spChg>
        <pc:graphicFrameChg chg="mod modGraphic">
          <ac:chgData name="Demelza Pilgrim" userId="9b1f39d4-236b-4377-9a8d-dccbd2a774dd" providerId="ADAL" clId="{400E4CCF-AB38-4290-9591-599BF1E80446}" dt="2025-08-14T13:02:53.730" v="3471" actId="1076"/>
          <ac:graphicFrameMkLst>
            <pc:docMk/>
            <pc:sldMk cId="66171161" sldId="622"/>
            <ac:graphicFrameMk id="6" creationId="{0BED12CC-9557-4B24-8845-2777142F17C9}"/>
          </ac:graphicFrameMkLst>
        </pc:graphicFrameChg>
      </pc:sldChg>
      <pc:sldChg chg="addSp modSp mod ord modAnim modNotesTx">
        <pc:chgData name="Demelza Pilgrim" userId="9b1f39d4-236b-4377-9a8d-dccbd2a774dd" providerId="ADAL" clId="{400E4CCF-AB38-4290-9591-599BF1E80446}" dt="2025-08-14T13:04:54.630" v="3487" actId="14100"/>
        <pc:sldMkLst>
          <pc:docMk/>
          <pc:sldMk cId="140681076" sldId="638"/>
        </pc:sldMkLst>
        <pc:spChg chg="mod">
          <ac:chgData name="Demelza Pilgrim" userId="9b1f39d4-236b-4377-9a8d-dccbd2a774dd" providerId="ADAL" clId="{400E4CCF-AB38-4290-9591-599BF1E80446}" dt="2025-08-14T13:04:54.630" v="3487" actId="14100"/>
          <ac:spMkLst>
            <pc:docMk/>
            <pc:sldMk cId="140681076" sldId="638"/>
            <ac:spMk id="2" creationId="{00000000-0000-0000-0000-000000000000}"/>
          </ac:spMkLst>
        </pc:spChg>
        <pc:spChg chg="mod">
          <ac:chgData name="Demelza Pilgrim" userId="9b1f39d4-236b-4377-9a8d-dccbd2a774dd" providerId="ADAL" clId="{400E4CCF-AB38-4290-9591-599BF1E80446}" dt="2025-08-13T16:25:54.533" v="2554" actId="14100"/>
          <ac:spMkLst>
            <pc:docMk/>
            <pc:sldMk cId="140681076" sldId="638"/>
            <ac:spMk id="3" creationId="{00000000-0000-0000-0000-000000000000}"/>
          </ac:spMkLst>
        </pc:spChg>
        <pc:spChg chg="add mod">
          <ac:chgData name="Demelza Pilgrim" userId="9b1f39d4-236b-4377-9a8d-dccbd2a774dd" providerId="ADAL" clId="{400E4CCF-AB38-4290-9591-599BF1E80446}" dt="2025-08-13T15:29:45.754" v="842" actId="1076"/>
          <ac:spMkLst>
            <pc:docMk/>
            <pc:sldMk cId="140681076" sldId="638"/>
            <ac:spMk id="5" creationId="{E3F3658E-06D1-C218-4073-A88FFD46D759}"/>
          </ac:spMkLst>
        </pc:spChg>
        <pc:spChg chg="add mod">
          <ac:chgData name="Demelza Pilgrim" userId="9b1f39d4-236b-4377-9a8d-dccbd2a774dd" providerId="ADAL" clId="{400E4CCF-AB38-4290-9591-599BF1E80446}" dt="2025-08-13T15:38:56.520" v="1035" actId="20577"/>
          <ac:spMkLst>
            <pc:docMk/>
            <pc:sldMk cId="140681076" sldId="638"/>
            <ac:spMk id="6" creationId="{FC5293B7-7D22-DAE7-7C0A-C7119A28BBC8}"/>
          </ac:spMkLst>
        </pc:spChg>
        <pc:spChg chg="mod">
          <ac:chgData name="Demelza Pilgrim" userId="9b1f39d4-236b-4377-9a8d-dccbd2a774dd" providerId="ADAL" clId="{400E4CCF-AB38-4290-9591-599BF1E80446}" dt="2025-08-13T15:29:45.754" v="842" actId="1076"/>
          <ac:spMkLst>
            <pc:docMk/>
            <pc:sldMk cId="140681076" sldId="638"/>
            <ac:spMk id="11" creationId="{EB1627BA-D3E4-EE9D-0E39-0A69AB8DA126}"/>
          </ac:spMkLst>
        </pc:spChg>
        <pc:spChg chg="mod">
          <ac:chgData name="Demelza Pilgrim" userId="9b1f39d4-236b-4377-9a8d-dccbd2a774dd" providerId="ADAL" clId="{400E4CCF-AB38-4290-9591-599BF1E80446}" dt="2025-08-13T15:29:45.754" v="842" actId="1076"/>
          <ac:spMkLst>
            <pc:docMk/>
            <pc:sldMk cId="140681076" sldId="638"/>
            <ac:spMk id="12" creationId="{C470D3C8-A874-CE76-8791-5205BAC31EB2}"/>
          </ac:spMkLst>
        </pc:spChg>
      </pc:sldChg>
      <pc:sldChg chg="addSp delSp modSp mod ord delAnim modAnim modNotesTx">
        <pc:chgData name="Demelza Pilgrim" userId="9b1f39d4-236b-4377-9a8d-dccbd2a774dd" providerId="ADAL" clId="{400E4CCF-AB38-4290-9591-599BF1E80446}" dt="2025-08-14T13:17:30.533" v="3686" actId="108"/>
        <pc:sldMkLst>
          <pc:docMk/>
          <pc:sldMk cId="15906603" sldId="643"/>
        </pc:sldMkLst>
        <pc:spChg chg="mod">
          <ac:chgData name="Demelza Pilgrim" userId="9b1f39d4-236b-4377-9a8d-dccbd2a774dd" providerId="ADAL" clId="{400E4CCF-AB38-4290-9591-599BF1E80446}" dt="2025-08-14T12:55:48.342" v="3389" actId="20577"/>
          <ac:spMkLst>
            <pc:docMk/>
            <pc:sldMk cId="15906603" sldId="643"/>
            <ac:spMk id="2" creationId="{00000000-0000-0000-0000-000000000000}"/>
          </ac:spMkLst>
        </pc:spChg>
        <pc:spChg chg="add mod">
          <ac:chgData name="Demelza Pilgrim" userId="9b1f39d4-236b-4377-9a8d-dccbd2a774dd" providerId="ADAL" clId="{400E4CCF-AB38-4290-9591-599BF1E80446}" dt="2025-08-13T16:03:13.906" v="1999" actId="21"/>
          <ac:spMkLst>
            <pc:docMk/>
            <pc:sldMk cId="15906603" sldId="643"/>
            <ac:spMk id="3" creationId="{F8348724-98E3-D04C-D591-E289A15C09A8}"/>
          </ac:spMkLst>
        </pc:spChg>
        <pc:spChg chg="add del mod">
          <ac:chgData name="Demelza Pilgrim" userId="9b1f39d4-236b-4377-9a8d-dccbd2a774dd" providerId="ADAL" clId="{400E4CCF-AB38-4290-9591-599BF1E80446}" dt="2025-08-14T13:09:41.590" v="3539" actId="478"/>
          <ac:spMkLst>
            <pc:docMk/>
            <pc:sldMk cId="15906603" sldId="643"/>
            <ac:spMk id="5" creationId="{8520CD0B-32F1-71F5-103D-3FCD56A93A40}"/>
          </ac:spMkLst>
        </pc:spChg>
        <pc:spChg chg="mod">
          <ac:chgData name="Demelza Pilgrim" userId="9b1f39d4-236b-4377-9a8d-dccbd2a774dd" providerId="ADAL" clId="{400E4CCF-AB38-4290-9591-599BF1E80446}" dt="2025-08-14T13:17:30.533" v="3686" actId="108"/>
          <ac:spMkLst>
            <pc:docMk/>
            <pc:sldMk cId="15906603" sldId="643"/>
            <ac:spMk id="12" creationId="{B0BA4A32-FFB5-0398-7F8D-34A832A17F31}"/>
          </ac:spMkLst>
        </pc:spChg>
        <pc:spChg chg="del">
          <ac:chgData name="Demelza Pilgrim" userId="9b1f39d4-236b-4377-9a8d-dccbd2a774dd" providerId="ADAL" clId="{400E4CCF-AB38-4290-9591-599BF1E80446}" dt="2025-08-13T15:59:17.696" v="1962" actId="478"/>
          <ac:spMkLst>
            <pc:docMk/>
            <pc:sldMk cId="15906603" sldId="643"/>
            <ac:spMk id="17" creationId="{B020E2FD-9719-B747-DF7C-82A95FFFAFDE}"/>
          </ac:spMkLst>
        </pc:spChg>
        <pc:spChg chg="del">
          <ac:chgData name="Demelza Pilgrim" userId="9b1f39d4-236b-4377-9a8d-dccbd2a774dd" providerId="ADAL" clId="{400E4CCF-AB38-4290-9591-599BF1E80446}" dt="2025-08-13T15:58:58.653" v="1956" actId="478"/>
          <ac:spMkLst>
            <pc:docMk/>
            <pc:sldMk cId="15906603" sldId="643"/>
            <ac:spMk id="21" creationId="{E82DB74F-8FEF-3164-18EA-1225E06CA450}"/>
          </ac:spMkLst>
        </pc:spChg>
        <pc:spChg chg="del mod">
          <ac:chgData name="Demelza Pilgrim" userId="9b1f39d4-236b-4377-9a8d-dccbd2a774dd" providerId="ADAL" clId="{400E4CCF-AB38-4290-9591-599BF1E80446}" dt="2025-08-13T16:01:47.381" v="1978" actId="478"/>
          <ac:spMkLst>
            <pc:docMk/>
            <pc:sldMk cId="15906603" sldId="643"/>
            <ac:spMk id="25" creationId="{7FCDAA09-316C-3491-CB22-D72ABF5474BB}"/>
          </ac:spMkLst>
        </pc:spChg>
        <pc:cxnChg chg="del">
          <ac:chgData name="Demelza Pilgrim" userId="9b1f39d4-236b-4377-9a8d-dccbd2a774dd" providerId="ADAL" clId="{400E4CCF-AB38-4290-9591-599BF1E80446}" dt="2025-08-13T15:59:00.229" v="1958" actId="478"/>
          <ac:cxnSpMkLst>
            <pc:docMk/>
            <pc:sldMk cId="15906603" sldId="643"/>
            <ac:cxnSpMk id="14" creationId="{7B4756FC-5EE5-F92C-76AE-7F69426DF779}"/>
          </ac:cxnSpMkLst>
        </pc:cxnChg>
        <pc:cxnChg chg="del">
          <ac:chgData name="Demelza Pilgrim" userId="9b1f39d4-236b-4377-9a8d-dccbd2a774dd" providerId="ADAL" clId="{400E4CCF-AB38-4290-9591-599BF1E80446}" dt="2025-08-13T15:58:59.674" v="1957" actId="478"/>
          <ac:cxnSpMkLst>
            <pc:docMk/>
            <pc:sldMk cId="15906603" sldId="643"/>
            <ac:cxnSpMk id="19" creationId="{F6149278-4357-50EC-F432-4C8B2BE6CB53}"/>
          </ac:cxnSpMkLst>
        </pc:cxnChg>
        <pc:cxnChg chg="del mod">
          <ac:chgData name="Demelza Pilgrim" userId="9b1f39d4-236b-4377-9a8d-dccbd2a774dd" providerId="ADAL" clId="{400E4CCF-AB38-4290-9591-599BF1E80446}" dt="2025-08-13T16:01:45.629" v="1977" actId="478"/>
          <ac:cxnSpMkLst>
            <pc:docMk/>
            <pc:sldMk cId="15906603" sldId="643"/>
            <ac:cxnSpMk id="24" creationId="{D2B35602-7B83-14E2-412B-92433335F73F}"/>
          </ac:cxnSpMkLst>
        </pc:cxnChg>
      </pc:sldChg>
      <pc:sldChg chg="del ord">
        <pc:chgData name="Demelza Pilgrim" userId="9b1f39d4-236b-4377-9a8d-dccbd2a774dd" providerId="ADAL" clId="{400E4CCF-AB38-4290-9591-599BF1E80446}" dt="2025-08-13T16:04:47.717" v="2015" actId="47"/>
        <pc:sldMkLst>
          <pc:docMk/>
          <pc:sldMk cId="262271591" sldId="644"/>
        </pc:sldMkLst>
      </pc:sldChg>
      <pc:sldChg chg="modSp add mod">
        <pc:chgData name="Demelza Pilgrim" userId="9b1f39d4-236b-4377-9a8d-dccbd2a774dd" providerId="ADAL" clId="{400E4CCF-AB38-4290-9591-599BF1E80446}" dt="2025-08-14T12:55:19.859" v="3369" actId="20577"/>
        <pc:sldMkLst>
          <pc:docMk/>
          <pc:sldMk cId="3683041054" sldId="644"/>
        </pc:sldMkLst>
        <pc:spChg chg="mod">
          <ac:chgData name="Demelza Pilgrim" userId="9b1f39d4-236b-4377-9a8d-dccbd2a774dd" providerId="ADAL" clId="{400E4CCF-AB38-4290-9591-599BF1E80446}" dt="2025-08-13T16:13:42.395" v="2304" actId="20577"/>
          <ac:spMkLst>
            <pc:docMk/>
            <pc:sldMk cId="3683041054" sldId="644"/>
            <ac:spMk id="13319" creationId="{AA415FDD-419D-9531-835C-5A41D2DF676B}"/>
          </ac:spMkLst>
        </pc:spChg>
        <pc:graphicFrameChg chg="mod">
          <ac:chgData name="Demelza Pilgrim" userId="9b1f39d4-236b-4377-9a8d-dccbd2a774dd" providerId="ADAL" clId="{400E4CCF-AB38-4290-9591-599BF1E80446}" dt="2025-08-14T12:55:19.859" v="3369" actId="20577"/>
          <ac:graphicFrameMkLst>
            <pc:docMk/>
            <pc:sldMk cId="3683041054" sldId="644"/>
            <ac:graphicFrameMk id="13315" creationId="{956B45D4-6494-A88C-4A4B-5DBE873FA626}"/>
          </ac:graphicFrameMkLst>
        </pc:graphicFrameChg>
      </pc:sldChg>
      <pc:sldChg chg="modSp del ord">
        <pc:chgData name="Demelza Pilgrim" userId="9b1f39d4-236b-4377-9a8d-dccbd2a774dd" providerId="ADAL" clId="{400E4CCF-AB38-4290-9591-599BF1E80446}" dt="2025-08-13T16:06:37.545" v="2026" actId="2696"/>
        <pc:sldMkLst>
          <pc:docMk/>
          <pc:sldMk cId="322152927" sldId="645"/>
        </pc:sldMkLst>
        <pc:spChg chg="mod">
          <ac:chgData name="Demelza Pilgrim" userId="9b1f39d4-236b-4377-9a8d-dccbd2a774dd" providerId="ADAL" clId="{400E4CCF-AB38-4290-9591-599BF1E80446}" dt="2025-08-13T14:41:53.331" v="95"/>
          <ac:spMkLst>
            <pc:docMk/>
            <pc:sldMk cId="322152927" sldId="645"/>
            <ac:spMk id="7" creationId="{A688D67C-13F6-62DD-E763-4693B1F9B01A}"/>
          </ac:spMkLst>
        </pc:spChg>
      </pc:sldChg>
      <pc:sldChg chg="addSp delSp modSp new mod ord modNotesTx">
        <pc:chgData name="Demelza Pilgrim" userId="9b1f39d4-236b-4377-9a8d-dccbd2a774dd" providerId="ADAL" clId="{400E4CCF-AB38-4290-9591-599BF1E80446}" dt="2025-08-14T13:01:00.009" v="3455" actId="12"/>
        <pc:sldMkLst>
          <pc:docMk/>
          <pc:sldMk cId="1319531377" sldId="645"/>
        </pc:sldMkLst>
        <pc:spChg chg="mod">
          <ac:chgData name="Demelza Pilgrim" userId="9b1f39d4-236b-4377-9a8d-dccbd2a774dd" providerId="ADAL" clId="{400E4CCF-AB38-4290-9591-599BF1E80446}" dt="2025-08-13T16:22:12.407" v="2397" actId="27636"/>
          <ac:spMkLst>
            <pc:docMk/>
            <pc:sldMk cId="1319531377" sldId="645"/>
            <ac:spMk id="2" creationId="{5C76179B-CDA8-A3A7-F1BA-6B6D2FEA68FB}"/>
          </ac:spMkLst>
        </pc:spChg>
        <pc:spChg chg="del">
          <ac:chgData name="Demelza Pilgrim" userId="9b1f39d4-236b-4377-9a8d-dccbd2a774dd" providerId="ADAL" clId="{400E4CCF-AB38-4290-9591-599BF1E80446}" dt="2025-08-13T16:21:49.072" v="2391" actId="478"/>
          <ac:spMkLst>
            <pc:docMk/>
            <pc:sldMk cId="1319531377" sldId="645"/>
            <ac:spMk id="3" creationId="{FAB6CB47-6A34-6388-E803-A70B871AB787}"/>
          </ac:spMkLst>
        </pc:spChg>
        <pc:spChg chg="add">
          <ac:chgData name="Demelza Pilgrim" userId="9b1f39d4-236b-4377-9a8d-dccbd2a774dd" providerId="ADAL" clId="{400E4CCF-AB38-4290-9591-599BF1E80446}" dt="2025-08-13T16:21:41.215" v="2390"/>
          <ac:spMkLst>
            <pc:docMk/>
            <pc:sldMk cId="1319531377" sldId="645"/>
            <ac:spMk id="4" creationId="{81E25570-F06C-1068-C2BA-3D81545A9F52}"/>
          </ac:spMkLst>
        </pc:spChg>
        <pc:spChg chg="add">
          <ac:chgData name="Demelza Pilgrim" userId="9b1f39d4-236b-4377-9a8d-dccbd2a774dd" providerId="ADAL" clId="{400E4CCF-AB38-4290-9591-599BF1E80446}" dt="2025-08-13T16:21:41.215" v="2390"/>
          <ac:spMkLst>
            <pc:docMk/>
            <pc:sldMk cId="1319531377" sldId="645"/>
            <ac:spMk id="5" creationId="{5CB66265-F08D-6501-6A05-66AFD320DE52}"/>
          </ac:spMkLst>
        </pc:spChg>
        <pc:spChg chg="add">
          <ac:chgData name="Demelza Pilgrim" userId="9b1f39d4-236b-4377-9a8d-dccbd2a774dd" providerId="ADAL" clId="{400E4CCF-AB38-4290-9591-599BF1E80446}" dt="2025-08-13T16:21:41.215" v="2390"/>
          <ac:spMkLst>
            <pc:docMk/>
            <pc:sldMk cId="1319531377" sldId="645"/>
            <ac:spMk id="6" creationId="{8F07E426-ECE9-610A-6B6C-E989803EBEE3}"/>
          </ac:spMkLst>
        </pc:spChg>
        <pc:spChg chg="add">
          <ac:chgData name="Demelza Pilgrim" userId="9b1f39d4-236b-4377-9a8d-dccbd2a774dd" providerId="ADAL" clId="{400E4CCF-AB38-4290-9591-599BF1E80446}" dt="2025-08-13T16:21:41.215" v="2390"/>
          <ac:spMkLst>
            <pc:docMk/>
            <pc:sldMk cId="1319531377" sldId="645"/>
            <ac:spMk id="7" creationId="{8677359D-7062-EFCA-F9B2-BCD84534E7DC}"/>
          </ac:spMkLst>
        </pc:spChg>
        <pc:spChg chg="add">
          <ac:chgData name="Demelza Pilgrim" userId="9b1f39d4-236b-4377-9a8d-dccbd2a774dd" providerId="ADAL" clId="{400E4CCF-AB38-4290-9591-599BF1E80446}" dt="2025-08-13T16:21:41.215" v="2390"/>
          <ac:spMkLst>
            <pc:docMk/>
            <pc:sldMk cId="1319531377" sldId="645"/>
            <ac:spMk id="8" creationId="{D550794D-3A1E-AB00-2F12-07FD782438A2}"/>
          </ac:spMkLst>
        </pc:spChg>
        <pc:spChg chg="add">
          <ac:chgData name="Demelza Pilgrim" userId="9b1f39d4-236b-4377-9a8d-dccbd2a774dd" providerId="ADAL" clId="{400E4CCF-AB38-4290-9591-599BF1E80446}" dt="2025-08-13T16:21:41.215" v="2390"/>
          <ac:spMkLst>
            <pc:docMk/>
            <pc:sldMk cId="1319531377" sldId="645"/>
            <ac:spMk id="9" creationId="{058BECCD-5C87-CF7A-55A8-40E2C7EE1410}"/>
          </ac:spMkLst>
        </pc:spChg>
        <pc:spChg chg="add">
          <ac:chgData name="Demelza Pilgrim" userId="9b1f39d4-236b-4377-9a8d-dccbd2a774dd" providerId="ADAL" clId="{400E4CCF-AB38-4290-9591-599BF1E80446}" dt="2025-08-13T16:21:41.215" v="2390"/>
          <ac:spMkLst>
            <pc:docMk/>
            <pc:sldMk cId="1319531377" sldId="645"/>
            <ac:spMk id="11" creationId="{C0E9FE96-54F8-5256-FCCE-4054C33709A9}"/>
          </ac:spMkLst>
        </pc:spChg>
        <pc:spChg chg="add">
          <ac:chgData name="Demelza Pilgrim" userId="9b1f39d4-236b-4377-9a8d-dccbd2a774dd" providerId="ADAL" clId="{400E4CCF-AB38-4290-9591-599BF1E80446}" dt="2025-08-13T16:21:41.215" v="2390"/>
          <ac:spMkLst>
            <pc:docMk/>
            <pc:sldMk cId="1319531377" sldId="645"/>
            <ac:spMk id="12" creationId="{505D80BC-BFAF-4368-204C-E0A25DA2B45F}"/>
          </ac:spMkLst>
        </pc:spChg>
        <pc:spChg chg="add">
          <ac:chgData name="Demelza Pilgrim" userId="9b1f39d4-236b-4377-9a8d-dccbd2a774dd" providerId="ADAL" clId="{400E4CCF-AB38-4290-9591-599BF1E80446}" dt="2025-08-13T16:21:41.215" v="2390"/>
          <ac:spMkLst>
            <pc:docMk/>
            <pc:sldMk cId="1319531377" sldId="645"/>
            <ac:spMk id="13" creationId="{248B35E4-F2D6-CB71-68D4-7917D77C030B}"/>
          </ac:spMkLst>
        </pc:spChg>
        <pc:spChg chg="add">
          <ac:chgData name="Demelza Pilgrim" userId="9b1f39d4-236b-4377-9a8d-dccbd2a774dd" providerId="ADAL" clId="{400E4CCF-AB38-4290-9591-599BF1E80446}" dt="2025-08-13T16:21:41.215" v="2390"/>
          <ac:spMkLst>
            <pc:docMk/>
            <pc:sldMk cId="1319531377" sldId="645"/>
            <ac:spMk id="16" creationId="{AC55C842-D7BC-6D45-064B-1DC7605D840B}"/>
          </ac:spMkLst>
        </pc:spChg>
        <pc:spChg chg="add mod">
          <ac:chgData name="Demelza Pilgrim" userId="9b1f39d4-236b-4377-9a8d-dccbd2a774dd" providerId="ADAL" clId="{400E4CCF-AB38-4290-9591-599BF1E80446}" dt="2025-08-14T13:01:00.009" v="3455" actId="12"/>
          <ac:spMkLst>
            <pc:docMk/>
            <pc:sldMk cId="1319531377" sldId="645"/>
            <ac:spMk id="19" creationId="{A1F10C29-A97E-7C48-A6D3-E1EB2864DD17}"/>
          </ac:spMkLst>
        </pc:spChg>
      </pc:sldChg>
      <pc:sldChg chg="addSp delSp modSp new mod">
        <pc:chgData name="Demelza Pilgrim" userId="9b1f39d4-236b-4377-9a8d-dccbd2a774dd" providerId="ADAL" clId="{400E4CCF-AB38-4290-9591-599BF1E80446}" dt="2025-08-14T11:51:55.730" v="3292" actId="1076"/>
        <pc:sldMkLst>
          <pc:docMk/>
          <pc:sldMk cId="1318140414" sldId="646"/>
        </pc:sldMkLst>
        <pc:spChg chg="mod">
          <ac:chgData name="Demelza Pilgrim" userId="9b1f39d4-236b-4377-9a8d-dccbd2a774dd" providerId="ADAL" clId="{400E4CCF-AB38-4290-9591-599BF1E80446}" dt="2025-08-14T11:51:28.315" v="3290" actId="255"/>
          <ac:spMkLst>
            <pc:docMk/>
            <pc:sldMk cId="1318140414" sldId="646"/>
            <ac:spMk id="2" creationId="{9140E9B5-F993-B488-E277-E8D5E6048E22}"/>
          </ac:spMkLst>
        </pc:spChg>
        <pc:spChg chg="del">
          <ac:chgData name="Demelza Pilgrim" userId="9b1f39d4-236b-4377-9a8d-dccbd2a774dd" providerId="ADAL" clId="{400E4CCF-AB38-4290-9591-599BF1E80446}" dt="2025-08-14T11:49:55.650" v="3240"/>
          <ac:spMkLst>
            <pc:docMk/>
            <pc:sldMk cId="1318140414" sldId="646"/>
            <ac:spMk id="3" creationId="{4872341A-548C-959E-4AFB-AC5248D29E8C}"/>
          </ac:spMkLst>
        </pc:spChg>
        <pc:graphicFrameChg chg="add mod">
          <ac:chgData name="Demelza Pilgrim" userId="9b1f39d4-236b-4377-9a8d-dccbd2a774dd" providerId="ADAL" clId="{400E4CCF-AB38-4290-9591-599BF1E80446}" dt="2025-08-14T11:49:55.650" v="3240"/>
          <ac:graphicFrameMkLst>
            <pc:docMk/>
            <pc:sldMk cId="1318140414" sldId="646"/>
            <ac:graphicFrameMk id="4" creationId="{519B979A-4A5E-82AA-711F-55FC9CD1023E}"/>
          </ac:graphicFrameMkLst>
        </pc:graphicFrameChg>
        <pc:graphicFrameChg chg="add mod modGraphic">
          <ac:chgData name="Demelza Pilgrim" userId="9b1f39d4-236b-4377-9a8d-dccbd2a774dd" providerId="ADAL" clId="{400E4CCF-AB38-4290-9591-599BF1E80446}" dt="2025-08-14T11:51:55.730" v="3292" actId="1076"/>
          <ac:graphicFrameMkLst>
            <pc:docMk/>
            <pc:sldMk cId="1318140414" sldId="646"/>
            <ac:graphicFrameMk id="5" creationId="{FB7765AE-0EEF-0349-E31F-85723182E890}"/>
          </ac:graphicFrameMkLst>
        </pc:graphicFrameChg>
      </pc:sldChg>
      <pc:sldChg chg="modSp del ord">
        <pc:chgData name="Demelza Pilgrim" userId="9b1f39d4-236b-4377-9a8d-dccbd2a774dd" providerId="ADAL" clId="{400E4CCF-AB38-4290-9591-599BF1E80446}" dt="2025-08-13T16:06:37.545" v="2026" actId="2696"/>
        <pc:sldMkLst>
          <pc:docMk/>
          <pc:sldMk cId="2576629569" sldId="646"/>
        </pc:sldMkLst>
        <pc:spChg chg="mod">
          <ac:chgData name="Demelza Pilgrim" userId="9b1f39d4-236b-4377-9a8d-dccbd2a774dd" providerId="ADAL" clId="{400E4CCF-AB38-4290-9591-599BF1E80446}" dt="2025-08-13T14:41:53.331" v="95"/>
          <ac:spMkLst>
            <pc:docMk/>
            <pc:sldMk cId="2576629569" sldId="646"/>
            <ac:spMk id="8" creationId="{57675CB1-E0EE-B023-EDFB-44FD7C8A46ED}"/>
          </ac:spMkLst>
        </pc:spChg>
      </pc:sldChg>
      <pc:sldChg chg="add del">
        <pc:chgData name="Demelza Pilgrim" userId="9b1f39d4-236b-4377-9a8d-dccbd2a774dd" providerId="ADAL" clId="{400E4CCF-AB38-4290-9591-599BF1E80446}" dt="2025-08-14T11:44:12.887" v="3075" actId="47"/>
        <pc:sldMkLst>
          <pc:docMk/>
          <pc:sldMk cId="2786849182" sldId="646"/>
        </pc:sldMkLst>
      </pc:sldChg>
      <pc:sldChg chg="new del">
        <pc:chgData name="Demelza Pilgrim" userId="9b1f39d4-236b-4377-9a8d-dccbd2a774dd" providerId="ADAL" clId="{400E4CCF-AB38-4290-9591-599BF1E80446}" dt="2025-08-14T11:41:12.225" v="3039" actId="680"/>
        <pc:sldMkLst>
          <pc:docMk/>
          <pc:sldMk cId="3647657663" sldId="646"/>
        </pc:sldMkLst>
      </pc:sldChg>
      <pc:sldChg chg="addSp delSp modSp add mod">
        <pc:chgData name="Demelza Pilgrim" userId="9b1f39d4-236b-4377-9a8d-dccbd2a774dd" providerId="ADAL" clId="{400E4CCF-AB38-4290-9591-599BF1E80446}" dt="2025-08-14T11:53:50.468" v="3359" actId="5793"/>
        <pc:sldMkLst>
          <pc:docMk/>
          <pc:sldMk cId="373260797" sldId="647"/>
        </pc:sldMkLst>
        <pc:spChg chg="mod">
          <ac:chgData name="Demelza Pilgrim" userId="9b1f39d4-236b-4377-9a8d-dccbd2a774dd" providerId="ADAL" clId="{400E4CCF-AB38-4290-9591-599BF1E80446}" dt="2025-08-14T11:53:15.832" v="3322" actId="27636"/>
          <ac:spMkLst>
            <pc:docMk/>
            <pc:sldMk cId="373260797" sldId="647"/>
            <ac:spMk id="2" creationId="{AFD31EBF-76EB-A60A-CC48-424621EBE421}"/>
          </ac:spMkLst>
        </pc:spChg>
        <pc:spChg chg="add mod">
          <ac:chgData name="Demelza Pilgrim" userId="9b1f39d4-236b-4377-9a8d-dccbd2a774dd" providerId="ADAL" clId="{400E4CCF-AB38-4290-9591-599BF1E80446}" dt="2025-08-14T11:53:50.468" v="3359" actId="5793"/>
          <ac:spMkLst>
            <pc:docMk/>
            <pc:sldMk cId="373260797" sldId="647"/>
            <ac:spMk id="7" creationId="{0D3A64C0-3C78-3D15-E9DA-F8E89A812132}"/>
          </ac:spMkLst>
        </pc:spChg>
        <pc:spChg chg="add mod">
          <ac:chgData name="Demelza Pilgrim" userId="9b1f39d4-236b-4377-9a8d-dccbd2a774dd" providerId="ADAL" clId="{400E4CCF-AB38-4290-9591-599BF1E80446}" dt="2025-08-14T11:53:12.173" v="3320" actId="1076"/>
          <ac:spMkLst>
            <pc:docMk/>
            <pc:sldMk cId="373260797" sldId="647"/>
            <ac:spMk id="9" creationId="{2F5FB999-3608-9A7D-1D4B-D4E48410D686}"/>
          </ac:spMkLst>
        </pc:spChg>
        <pc:graphicFrameChg chg="add mod modGraphic">
          <ac:chgData name="Demelza Pilgrim" userId="9b1f39d4-236b-4377-9a8d-dccbd2a774dd" providerId="ADAL" clId="{400E4CCF-AB38-4290-9591-599BF1E80446}" dt="2025-08-14T11:52:40.111" v="3305" actId="1076"/>
          <ac:graphicFrameMkLst>
            <pc:docMk/>
            <pc:sldMk cId="373260797" sldId="647"/>
            <ac:graphicFrameMk id="3" creationId="{5271F823-0312-95DE-816B-9B04BC3E9A13}"/>
          </ac:graphicFrameMkLst>
        </pc:graphicFrameChg>
        <pc:graphicFrameChg chg="del modGraphic">
          <ac:chgData name="Demelza Pilgrim" userId="9b1f39d4-236b-4377-9a8d-dccbd2a774dd" providerId="ADAL" clId="{400E4CCF-AB38-4290-9591-599BF1E80446}" dt="2025-08-14T11:52:21.738" v="3297" actId="478"/>
          <ac:graphicFrameMkLst>
            <pc:docMk/>
            <pc:sldMk cId="373260797" sldId="647"/>
            <ac:graphicFrameMk id="5" creationId="{4F37BABD-3B8C-07D7-0B7A-46815C539EFE}"/>
          </ac:graphicFrameMkLst>
        </pc:graphicFrameChg>
      </pc:sldChg>
      <pc:sldChg chg="add del">
        <pc:chgData name="Demelza Pilgrim" userId="9b1f39d4-236b-4377-9a8d-dccbd2a774dd" providerId="ADAL" clId="{400E4CCF-AB38-4290-9591-599BF1E80446}" dt="2025-08-13T15:39:31.082" v="1037" actId="47"/>
        <pc:sldMkLst>
          <pc:docMk/>
          <pc:sldMk cId="1419451880" sldId="647"/>
        </pc:sldMkLst>
      </pc:sldChg>
      <pc:sldChg chg="delSp modSp add mod">
        <pc:chgData name="Demelza Pilgrim" userId="9b1f39d4-236b-4377-9a8d-dccbd2a774dd" providerId="ADAL" clId="{400E4CCF-AB38-4290-9591-599BF1E80446}" dt="2025-08-14T13:04:01.989" v="3483" actId="478"/>
        <pc:sldMkLst>
          <pc:docMk/>
          <pc:sldMk cId="3435917964" sldId="648"/>
        </pc:sldMkLst>
        <pc:spChg chg="mod">
          <ac:chgData name="Demelza Pilgrim" userId="9b1f39d4-236b-4377-9a8d-dccbd2a774dd" providerId="ADAL" clId="{400E4CCF-AB38-4290-9591-599BF1E80446}" dt="2025-08-14T13:03:34.169" v="3474" actId="27636"/>
          <ac:spMkLst>
            <pc:docMk/>
            <pc:sldMk cId="3435917964" sldId="648"/>
            <ac:spMk id="2" creationId="{1E66936F-6AA9-18D8-4440-B5CF76EDE8FA}"/>
          </ac:spMkLst>
        </pc:spChg>
        <pc:spChg chg="mod">
          <ac:chgData name="Demelza Pilgrim" userId="9b1f39d4-236b-4377-9a8d-dccbd2a774dd" providerId="ADAL" clId="{400E4CCF-AB38-4290-9591-599BF1E80446}" dt="2025-08-14T13:03:58.620" v="3482" actId="6549"/>
          <ac:spMkLst>
            <pc:docMk/>
            <pc:sldMk cId="3435917964" sldId="648"/>
            <ac:spMk id="3" creationId="{8706FC45-5AEA-DB04-8FE2-56FA8A67A35E}"/>
          </ac:spMkLst>
        </pc:spChg>
        <pc:spChg chg="del">
          <ac:chgData name="Demelza Pilgrim" userId="9b1f39d4-236b-4377-9a8d-dccbd2a774dd" providerId="ADAL" clId="{400E4CCF-AB38-4290-9591-599BF1E80446}" dt="2025-08-14T13:03:49.919" v="3480" actId="478"/>
          <ac:spMkLst>
            <pc:docMk/>
            <pc:sldMk cId="3435917964" sldId="648"/>
            <ac:spMk id="5" creationId="{702AD78B-CCC0-6F1A-EE2B-6A290DF6DEB7}"/>
          </ac:spMkLst>
        </pc:spChg>
        <pc:spChg chg="del">
          <ac:chgData name="Demelza Pilgrim" userId="9b1f39d4-236b-4377-9a8d-dccbd2a774dd" providerId="ADAL" clId="{400E4CCF-AB38-4290-9591-599BF1E80446}" dt="2025-08-14T13:04:01.989" v="3483" actId="478"/>
          <ac:spMkLst>
            <pc:docMk/>
            <pc:sldMk cId="3435917964" sldId="648"/>
            <ac:spMk id="6" creationId="{D11F2AE4-3E46-F362-6A24-07A483E1D638}"/>
          </ac:spMkLst>
        </pc:spChg>
        <pc:spChg chg="del">
          <ac:chgData name="Demelza Pilgrim" userId="9b1f39d4-236b-4377-9a8d-dccbd2a774dd" providerId="ADAL" clId="{400E4CCF-AB38-4290-9591-599BF1E80446}" dt="2025-08-14T13:03:41.952" v="3476" actId="478"/>
          <ac:spMkLst>
            <pc:docMk/>
            <pc:sldMk cId="3435917964" sldId="648"/>
            <ac:spMk id="11" creationId="{19B4ED97-648F-6E0E-C53C-56C0A1F2057E}"/>
          </ac:spMkLst>
        </pc:spChg>
        <pc:spChg chg="del">
          <ac:chgData name="Demelza Pilgrim" userId="9b1f39d4-236b-4377-9a8d-dccbd2a774dd" providerId="ADAL" clId="{400E4CCF-AB38-4290-9591-599BF1E80446}" dt="2025-08-14T13:03:45.320" v="3478" actId="478"/>
          <ac:spMkLst>
            <pc:docMk/>
            <pc:sldMk cId="3435917964" sldId="648"/>
            <ac:spMk id="12" creationId="{693ACA9C-AAD2-8D59-9AEB-BA12975A2B87}"/>
          </ac:spMkLst>
        </pc:spChg>
      </pc:sldChg>
      <pc:sldChg chg="new del">
        <pc:chgData name="Demelza Pilgrim" userId="9b1f39d4-236b-4377-9a8d-dccbd2a774dd" providerId="ADAL" clId="{400E4CCF-AB38-4290-9591-599BF1E80446}" dt="2025-08-14T13:05:58.038" v="3494" actId="680"/>
        <pc:sldMkLst>
          <pc:docMk/>
          <pc:sldMk cId="3477217556" sldId="649"/>
        </pc:sldMkLst>
      </pc:sldChg>
      <pc:sldChg chg="add del">
        <pc:chgData name="Demelza Pilgrim" userId="9b1f39d4-236b-4377-9a8d-dccbd2a774dd" providerId="ADAL" clId="{400E4CCF-AB38-4290-9591-599BF1E80446}" dt="2025-08-14T13:09:02.961" v="3525" actId="47"/>
        <pc:sldMkLst>
          <pc:docMk/>
          <pc:sldMk cId="3723601428" sldId="649"/>
        </pc:sldMkLst>
      </pc:sldChg>
      <pc:sldMasterChg chg="delSldLayout">
        <pc:chgData name="Demelza Pilgrim" userId="9b1f39d4-236b-4377-9a8d-dccbd2a774dd" providerId="ADAL" clId="{400E4CCF-AB38-4290-9591-599BF1E80446}" dt="2025-08-14T13:01:37.552" v="3457" actId="47"/>
        <pc:sldMasterMkLst>
          <pc:docMk/>
          <pc:sldMasterMk cId="3467905794" sldId="2147483660"/>
        </pc:sldMasterMkLst>
        <pc:sldLayoutChg chg="del">
          <pc:chgData name="Demelza Pilgrim" userId="9b1f39d4-236b-4377-9a8d-dccbd2a774dd" providerId="ADAL" clId="{400E4CCF-AB38-4290-9591-599BF1E80446}" dt="2025-08-13T16:12:56.746" v="2295" actId="47"/>
          <pc:sldLayoutMkLst>
            <pc:docMk/>
            <pc:sldMasterMk cId="3467905794" sldId="2147483660"/>
            <pc:sldLayoutMk cId="3449722992" sldId="2147483677"/>
          </pc:sldLayoutMkLst>
        </pc:sldLayoutChg>
        <pc:sldLayoutChg chg="del">
          <pc:chgData name="Demelza Pilgrim" userId="9b1f39d4-236b-4377-9a8d-dccbd2a774dd" providerId="ADAL" clId="{400E4CCF-AB38-4290-9591-599BF1E80446}" dt="2025-08-14T12:58:59.848" v="3403" actId="47"/>
          <pc:sldLayoutMkLst>
            <pc:docMk/>
            <pc:sldMasterMk cId="3467905794" sldId="2147483660"/>
            <pc:sldLayoutMk cId="254051675" sldId="2147483682"/>
          </pc:sldLayoutMkLst>
        </pc:sldLayoutChg>
        <pc:sldLayoutChg chg="del">
          <pc:chgData name="Demelza Pilgrim" userId="9b1f39d4-236b-4377-9a8d-dccbd2a774dd" providerId="ADAL" clId="{400E4CCF-AB38-4290-9591-599BF1E80446}" dt="2025-08-14T13:01:10.298" v="3456" actId="47"/>
          <pc:sldLayoutMkLst>
            <pc:docMk/>
            <pc:sldMasterMk cId="3467905794" sldId="2147483660"/>
            <pc:sldLayoutMk cId="776642728" sldId="2147483683"/>
          </pc:sldLayoutMkLst>
        </pc:sldLayoutChg>
        <pc:sldLayoutChg chg="del">
          <pc:chgData name="Demelza Pilgrim" userId="9b1f39d4-236b-4377-9a8d-dccbd2a774dd" providerId="ADAL" clId="{400E4CCF-AB38-4290-9591-599BF1E80446}" dt="2025-08-13T14:42:04.877" v="96" actId="47"/>
          <pc:sldLayoutMkLst>
            <pc:docMk/>
            <pc:sldMasterMk cId="3467905794" sldId="2147483660"/>
            <pc:sldLayoutMk cId="809867975" sldId="2147483687"/>
          </pc:sldLayoutMkLst>
        </pc:sldLayoutChg>
        <pc:sldLayoutChg chg="del">
          <pc:chgData name="Demelza Pilgrim" userId="9b1f39d4-236b-4377-9a8d-dccbd2a774dd" providerId="ADAL" clId="{400E4CCF-AB38-4290-9591-599BF1E80446}" dt="2025-08-13T14:44:51.507" v="98" actId="47"/>
          <pc:sldLayoutMkLst>
            <pc:docMk/>
            <pc:sldMasterMk cId="3467905794" sldId="2147483660"/>
            <pc:sldLayoutMk cId="1793526568" sldId="2147483688"/>
          </pc:sldLayoutMkLst>
        </pc:sldLayoutChg>
        <pc:sldLayoutChg chg="del">
          <pc:chgData name="Demelza Pilgrim" userId="9b1f39d4-236b-4377-9a8d-dccbd2a774dd" providerId="ADAL" clId="{400E4CCF-AB38-4290-9591-599BF1E80446}" dt="2025-08-13T15:39:31.082" v="1037" actId="47"/>
          <pc:sldLayoutMkLst>
            <pc:docMk/>
            <pc:sldMasterMk cId="3467905794" sldId="2147483660"/>
            <pc:sldLayoutMk cId="3185177117" sldId="2147483689"/>
          </pc:sldLayoutMkLst>
        </pc:sldLayoutChg>
        <pc:sldLayoutChg chg="del">
          <pc:chgData name="Demelza Pilgrim" userId="9b1f39d4-236b-4377-9a8d-dccbd2a774dd" providerId="ADAL" clId="{400E4CCF-AB38-4290-9591-599BF1E80446}" dt="2025-08-13T14:53:10.363" v="382" actId="47"/>
          <pc:sldLayoutMkLst>
            <pc:docMk/>
            <pc:sldMasterMk cId="3467905794" sldId="2147483660"/>
            <pc:sldLayoutMk cId="546385128" sldId="2147483690"/>
          </pc:sldLayoutMkLst>
        </pc:sldLayoutChg>
        <pc:sldLayoutChg chg="del">
          <pc:chgData name="Demelza Pilgrim" userId="9b1f39d4-236b-4377-9a8d-dccbd2a774dd" providerId="ADAL" clId="{400E4CCF-AB38-4290-9591-599BF1E80446}" dt="2025-08-13T14:48:23.477" v="233" actId="47"/>
          <pc:sldLayoutMkLst>
            <pc:docMk/>
            <pc:sldMasterMk cId="3467905794" sldId="2147483660"/>
            <pc:sldLayoutMk cId="1342855514" sldId="2147483691"/>
          </pc:sldLayoutMkLst>
        </pc:sldLayoutChg>
        <pc:sldLayoutChg chg="del">
          <pc:chgData name="Demelza Pilgrim" userId="9b1f39d4-236b-4377-9a8d-dccbd2a774dd" providerId="ADAL" clId="{400E4CCF-AB38-4290-9591-599BF1E80446}" dt="2025-08-13T14:53:18.629" v="383" actId="47"/>
          <pc:sldLayoutMkLst>
            <pc:docMk/>
            <pc:sldMasterMk cId="3467905794" sldId="2147483660"/>
            <pc:sldLayoutMk cId="2468986865" sldId="2147483692"/>
          </pc:sldLayoutMkLst>
        </pc:sldLayoutChg>
        <pc:sldLayoutChg chg="del">
          <pc:chgData name="Demelza Pilgrim" userId="9b1f39d4-236b-4377-9a8d-dccbd2a774dd" providerId="ADAL" clId="{400E4CCF-AB38-4290-9591-599BF1E80446}" dt="2025-08-13T15:16:29.457" v="483" actId="47"/>
          <pc:sldLayoutMkLst>
            <pc:docMk/>
            <pc:sldMasterMk cId="3467905794" sldId="2147483660"/>
            <pc:sldLayoutMk cId="2751365886" sldId="2147483693"/>
          </pc:sldLayoutMkLst>
        </pc:sldLayoutChg>
        <pc:sldLayoutChg chg="del">
          <pc:chgData name="Demelza Pilgrim" userId="9b1f39d4-236b-4377-9a8d-dccbd2a774dd" providerId="ADAL" clId="{400E4CCF-AB38-4290-9591-599BF1E80446}" dt="2025-08-14T11:49:30.198" v="3230" actId="47"/>
          <pc:sldLayoutMkLst>
            <pc:docMk/>
            <pc:sldMasterMk cId="3467905794" sldId="2147483660"/>
            <pc:sldLayoutMk cId="2486418390" sldId="2147483694"/>
          </pc:sldLayoutMkLst>
        </pc:sldLayoutChg>
        <pc:sldLayoutChg chg="del">
          <pc:chgData name="Demelza Pilgrim" userId="9b1f39d4-236b-4377-9a8d-dccbd2a774dd" providerId="ADAL" clId="{400E4CCF-AB38-4290-9591-599BF1E80446}" dt="2025-08-13T16:05:29.987" v="2025" actId="47"/>
          <pc:sldLayoutMkLst>
            <pc:docMk/>
            <pc:sldMasterMk cId="3467905794" sldId="2147483660"/>
            <pc:sldLayoutMk cId="3677041448" sldId="2147483695"/>
          </pc:sldLayoutMkLst>
        </pc:sldLayoutChg>
        <pc:sldLayoutChg chg="del">
          <pc:chgData name="Demelza Pilgrim" userId="9b1f39d4-236b-4377-9a8d-dccbd2a774dd" providerId="ADAL" clId="{400E4CCF-AB38-4290-9591-599BF1E80446}" dt="2025-08-13T16:08:28.716" v="2058" actId="47"/>
          <pc:sldLayoutMkLst>
            <pc:docMk/>
            <pc:sldMasterMk cId="3467905794" sldId="2147483660"/>
            <pc:sldLayoutMk cId="2263517977" sldId="2147483697"/>
          </pc:sldLayoutMkLst>
        </pc:sldLayoutChg>
        <pc:sldLayoutChg chg="del">
          <pc:chgData name="Demelza Pilgrim" userId="9b1f39d4-236b-4377-9a8d-dccbd2a774dd" providerId="ADAL" clId="{400E4CCF-AB38-4290-9591-599BF1E80446}" dt="2025-08-14T13:01:37.552" v="3457" actId="47"/>
          <pc:sldLayoutMkLst>
            <pc:docMk/>
            <pc:sldMasterMk cId="3467905794" sldId="2147483660"/>
            <pc:sldLayoutMk cId="3336204556" sldId="2147483698"/>
          </pc:sldLayoutMkLst>
        </pc:sldLayoutChg>
        <pc:sldLayoutChg chg="del">
          <pc:chgData name="Demelza Pilgrim" userId="9b1f39d4-236b-4377-9a8d-dccbd2a774dd" providerId="ADAL" clId="{400E4CCF-AB38-4290-9591-599BF1E80446}" dt="2025-08-14T11:44:12.887" v="3075" actId="47"/>
          <pc:sldLayoutMkLst>
            <pc:docMk/>
            <pc:sldMasterMk cId="3467905794" sldId="2147483660"/>
            <pc:sldLayoutMk cId="3619330473" sldId="2147483700"/>
          </pc:sldLayoutMkLst>
        </pc:sldLayoutChg>
      </pc:sldMasterChg>
      <pc:sldMasterChg chg="modTransition modSldLayout">
        <pc:chgData name="Demelza Pilgrim" userId="9b1f39d4-236b-4377-9a8d-dccbd2a774dd" providerId="ADAL" clId="{400E4CCF-AB38-4290-9591-599BF1E80446}" dt="2025-08-13T14:41:53.331" v="95"/>
        <pc:sldMasterMkLst>
          <pc:docMk/>
          <pc:sldMasterMk cId="4054481567" sldId="2147483699"/>
        </pc:sldMasterMkLst>
        <pc:sldLayoutChg chg="addSp delSp">
          <pc:chgData name="Demelza Pilgrim" userId="9b1f39d4-236b-4377-9a8d-dccbd2a774dd" providerId="ADAL" clId="{400E4CCF-AB38-4290-9591-599BF1E80446}" dt="2025-08-13T14:41:53.331" v="95"/>
          <pc:sldLayoutMkLst>
            <pc:docMk/>
            <pc:sldMasterMk cId="4054481567" sldId="2147483699"/>
            <pc:sldLayoutMk cId="2521703226" sldId="2147483711"/>
          </pc:sldLayoutMkLst>
          <pc:picChg chg="add del">
            <ac:chgData name="Demelza Pilgrim" userId="9b1f39d4-236b-4377-9a8d-dccbd2a774dd" providerId="ADAL" clId="{400E4CCF-AB38-4290-9591-599BF1E80446}" dt="2025-08-13T14:41:53.331" v="95"/>
            <ac:picMkLst>
              <pc:docMk/>
              <pc:sldMasterMk cId="4054481567" sldId="2147483699"/>
              <pc:sldLayoutMk cId="2521703226" sldId="2147483711"/>
              <ac:picMk id="7" creationId="{00000000-0000-0000-0000-000000000000}"/>
            </ac:picMkLst>
          </pc:picChg>
          <pc:cxnChg chg="add del">
            <ac:chgData name="Demelza Pilgrim" userId="9b1f39d4-236b-4377-9a8d-dccbd2a774dd" providerId="ADAL" clId="{400E4CCF-AB38-4290-9591-599BF1E80446}" dt="2025-08-13T14:41:53.331" v="95"/>
            <ac:cxnSpMkLst>
              <pc:docMk/>
              <pc:sldMasterMk cId="4054481567" sldId="2147483699"/>
              <pc:sldLayoutMk cId="2521703226" sldId="2147483711"/>
              <ac:cxnSpMk id="6" creationId="{00000000-0000-0000-0000-000000000000}"/>
            </ac:cxnSpMkLst>
          </pc:cxnChg>
        </pc:sldLayoutChg>
        <pc:sldLayoutChg chg="addSp delSp">
          <pc:chgData name="Demelza Pilgrim" userId="9b1f39d4-236b-4377-9a8d-dccbd2a774dd" providerId="ADAL" clId="{400E4CCF-AB38-4290-9591-599BF1E80446}" dt="2025-08-13T14:41:53.331" v="95"/>
          <pc:sldLayoutMkLst>
            <pc:docMk/>
            <pc:sldMasterMk cId="4054481567" sldId="2147483699"/>
            <pc:sldLayoutMk cId="3699899776" sldId="2147483712"/>
          </pc:sldLayoutMkLst>
          <pc:picChg chg="add del">
            <ac:chgData name="Demelza Pilgrim" userId="9b1f39d4-236b-4377-9a8d-dccbd2a774dd" providerId="ADAL" clId="{400E4CCF-AB38-4290-9591-599BF1E80446}" dt="2025-08-13T14:41:53.331" v="95"/>
            <ac:picMkLst>
              <pc:docMk/>
              <pc:sldMasterMk cId="4054481567" sldId="2147483699"/>
              <pc:sldLayoutMk cId="3699899776" sldId="2147483712"/>
              <ac:picMk id="4" creationId="{00000000-0000-0000-0000-000000000000}"/>
            </ac:picMkLst>
          </pc:picChg>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900" dirty="0">
              <a:latin typeface="Segoe Sans"/>
            </a:rPr>
            <a:t>Understand the role of ratios</a:t>
          </a:r>
        </a:p>
        <a:p>
          <a:pPr>
            <a:lnSpc>
              <a:spcPct val="100000"/>
            </a:lnSpc>
          </a:pPr>
          <a:endParaRPr lang="en-US" sz="1900" dirty="0">
            <a:latin typeface="Segoe Sans"/>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Understand the need for analysing and interpreting accounting information</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gm:t>
    </dgm:pt>
    <dgm:pt modelId="{9F1A70AA-84AE-4B3D-8E2C-3BD6C668A859}" type="parTrans" cxnId="{D3F1B6B4-CFFA-4F0C-8151-F35EFDF0B8BB}">
      <dgm:prSet/>
      <dgm:spPr/>
      <dgm:t>
        <a:bodyPr/>
        <a:lstStyle/>
        <a:p>
          <a:endParaRPr lang="en-US"/>
        </a:p>
      </dgm:t>
    </dgm:pt>
    <dgm:pt modelId="{148FEDAC-1DFF-4A8C-B751-90B79D2B38D7}" type="sibTrans" cxnId="{D3F1B6B4-CFFA-4F0C-8151-F35EFDF0B8BB}">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Identify the different classifications of ratios</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Demonstrate the use of profitability ratios and investment ratios</a:t>
          </a: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900" dirty="0">
              <a:latin typeface="Segoe Sans"/>
            </a:rPr>
            <a:t>Understand the role of ratios</a:t>
          </a:r>
        </a:p>
        <a:p>
          <a:pPr>
            <a:lnSpc>
              <a:spcPct val="100000"/>
            </a:lnSpc>
          </a:pPr>
          <a:endParaRPr lang="en-US" sz="1900" dirty="0">
            <a:latin typeface="Segoe Sans"/>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Understand the need for analysing and interpreting accounting information</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gm:t>
    </dgm:pt>
    <dgm:pt modelId="{9F1A70AA-84AE-4B3D-8E2C-3BD6C668A859}" type="parTrans" cxnId="{D3F1B6B4-CFFA-4F0C-8151-F35EFDF0B8BB}">
      <dgm:prSet/>
      <dgm:spPr/>
      <dgm:t>
        <a:bodyPr/>
        <a:lstStyle/>
        <a:p>
          <a:endParaRPr lang="en-US"/>
        </a:p>
      </dgm:t>
    </dgm:pt>
    <dgm:pt modelId="{148FEDAC-1DFF-4A8C-B751-90B79D2B38D7}" type="sibTrans" cxnId="{D3F1B6B4-CFFA-4F0C-8151-F35EFDF0B8BB}">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Identify the different classifications of ratios</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Demonstrate the use of profitability ratios and investment ratios</a:t>
          </a: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4097"/>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79739" y="212168"/>
          <a:ext cx="509114" cy="50861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1068592" y="4097"/>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latin typeface="Segoe Sans"/>
            </a:rPr>
            <a:t>Understand the role of ratios</a:t>
          </a:r>
        </a:p>
        <a:p>
          <a:pPr marL="0" lvl="0" indent="0" algn="l" defTabSz="844550">
            <a:lnSpc>
              <a:spcPct val="100000"/>
            </a:lnSpc>
            <a:spcBef>
              <a:spcPct val="0"/>
            </a:spcBef>
            <a:spcAft>
              <a:spcPct val="35000"/>
            </a:spcAft>
            <a:buNone/>
          </a:pPr>
          <a:endParaRPr lang="en-US" sz="1900" kern="1200" dirty="0">
            <a:latin typeface="Segoe Sans"/>
          </a:endParaRPr>
        </a:p>
      </dsp:txBody>
      <dsp:txXfrm>
        <a:off x="1068592" y="4097"/>
        <a:ext cx="9092081" cy="953656"/>
      </dsp:txXfrm>
    </dsp:sp>
    <dsp:sp modelId="{61B30C71-B6B1-4EDB-8941-25699A6AA799}">
      <dsp:nvSpPr>
        <dsp:cNvPr id="0" name=""/>
        <dsp:cNvSpPr/>
      </dsp:nvSpPr>
      <dsp:spPr>
        <a:xfrm>
          <a:off x="0" y="1196168"/>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79739" y="1404238"/>
          <a:ext cx="509114" cy="50861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1068592" y="1196168"/>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Understand the need for analysing and interpreting accounting information</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sp:txBody>
      <dsp:txXfrm>
        <a:off x="1068592" y="1196168"/>
        <a:ext cx="9092081" cy="953656"/>
      </dsp:txXfrm>
    </dsp:sp>
    <dsp:sp modelId="{D9483691-DD36-405D-BB66-9F59F2F1E989}">
      <dsp:nvSpPr>
        <dsp:cNvPr id="0" name=""/>
        <dsp:cNvSpPr/>
      </dsp:nvSpPr>
      <dsp:spPr>
        <a:xfrm>
          <a:off x="0" y="2388239"/>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79739" y="2596309"/>
          <a:ext cx="509114" cy="50861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1068592" y="2388239"/>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Identify the different classifications of ratios</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sp:txBody>
      <dsp:txXfrm>
        <a:off x="1068592" y="2388239"/>
        <a:ext cx="9092081" cy="953656"/>
      </dsp:txXfrm>
    </dsp:sp>
    <dsp:sp modelId="{CF075505-E8EA-4669-BABA-401DC8E15F63}">
      <dsp:nvSpPr>
        <dsp:cNvPr id="0" name=""/>
        <dsp:cNvSpPr/>
      </dsp:nvSpPr>
      <dsp:spPr>
        <a:xfrm>
          <a:off x="0" y="3613306"/>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79031" y="3786518"/>
          <a:ext cx="509114" cy="50861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1068592" y="3580309"/>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Demonstrate the use of profitability ratios and investment ratios</a:t>
          </a:r>
        </a:p>
      </dsp:txBody>
      <dsp:txXfrm>
        <a:off x="1068592" y="3580309"/>
        <a:ext cx="9092081" cy="953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4097"/>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79739" y="212168"/>
          <a:ext cx="509114" cy="50861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1068592" y="4097"/>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latin typeface="Segoe Sans"/>
            </a:rPr>
            <a:t>Understand the role of ratios</a:t>
          </a:r>
        </a:p>
        <a:p>
          <a:pPr marL="0" lvl="0" indent="0" algn="l" defTabSz="844550">
            <a:lnSpc>
              <a:spcPct val="100000"/>
            </a:lnSpc>
            <a:spcBef>
              <a:spcPct val="0"/>
            </a:spcBef>
            <a:spcAft>
              <a:spcPct val="35000"/>
            </a:spcAft>
            <a:buNone/>
          </a:pPr>
          <a:endParaRPr lang="en-US" sz="1900" kern="1200" dirty="0">
            <a:latin typeface="Segoe Sans"/>
          </a:endParaRPr>
        </a:p>
      </dsp:txBody>
      <dsp:txXfrm>
        <a:off x="1068592" y="4097"/>
        <a:ext cx="9092081" cy="953656"/>
      </dsp:txXfrm>
    </dsp:sp>
    <dsp:sp modelId="{61B30C71-B6B1-4EDB-8941-25699A6AA799}">
      <dsp:nvSpPr>
        <dsp:cNvPr id="0" name=""/>
        <dsp:cNvSpPr/>
      </dsp:nvSpPr>
      <dsp:spPr>
        <a:xfrm>
          <a:off x="0" y="1196168"/>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79739" y="1404238"/>
          <a:ext cx="509114" cy="50861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1068592" y="1196168"/>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Understand the need for analysing and interpreting accounting information</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sp:txBody>
      <dsp:txXfrm>
        <a:off x="1068592" y="1196168"/>
        <a:ext cx="9092081" cy="953656"/>
      </dsp:txXfrm>
    </dsp:sp>
    <dsp:sp modelId="{D9483691-DD36-405D-BB66-9F59F2F1E989}">
      <dsp:nvSpPr>
        <dsp:cNvPr id="0" name=""/>
        <dsp:cNvSpPr/>
      </dsp:nvSpPr>
      <dsp:spPr>
        <a:xfrm>
          <a:off x="0" y="2388239"/>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79739" y="2596309"/>
          <a:ext cx="509114" cy="50861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1068592" y="2388239"/>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Identify the different classifications of ratios</a:t>
          </a:r>
        </a:p>
        <a:p>
          <a:pPr marL="0" lvl="0" indent="0" algn="l" defTabSz="844550">
            <a:lnSpc>
              <a:spcPct val="100000"/>
            </a:lnSpc>
            <a:spcBef>
              <a:spcPct val="0"/>
            </a:spcBef>
            <a:spcAft>
              <a:spcPct val="35000"/>
            </a:spcAft>
            <a:buNone/>
          </a:pPr>
          <a:endParaRPr lang="en-US" sz="1900" kern="1200" dirty="0">
            <a:solidFill>
              <a:prstClr val="black">
                <a:hueOff val="0"/>
                <a:satOff val="0"/>
                <a:lumOff val="0"/>
                <a:alphaOff val="0"/>
              </a:prstClr>
            </a:solidFill>
            <a:latin typeface="Segoe Sans"/>
            <a:ea typeface="+mn-ea"/>
            <a:cs typeface="+mn-cs"/>
          </a:endParaRPr>
        </a:p>
      </dsp:txBody>
      <dsp:txXfrm>
        <a:off x="1068592" y="2388239"/>
        <a:ext cx="9092081" cy="953656"/>
      </dsp:txXfrm>
    </dsp:sp>
    <dsp:sp modelId="{CF075505-E8EA-4669-BABA-401DC8E15F63}">
      <dsp:nvSpPr>
        <dsp:cNvPr id="0" name=""/>
        <dsp:cNvSpPr/>
      </dsp:nvSpPr>
      <dsp:spPr>
        <a:xfrm>
          <a:off x="0" y="3613306"/>
          <a:ext cx="10177131" cy="924757"/>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79031" y="3786518"/>
          <a:ext cx="509114" cy="50861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1068592" y="3580309"/>
          <a:ext cx="9092081" cy="953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929" tIns="100929" rIns="100929" bIns="100929" numCol="1" spcCol="1270" anchor="ctr" anchorCtr="0">
          <a:noAutofit/>
        </a:bodyPr>
        <a:lstStyle/>
        <a:p>
          <a:pPr marL="0" lvl="0" indent="0" algn="l" defTabSz="844550">
            <a:lnSpc>
              <a:spcPct val="100000"/>
            </a:lnSpc>
            <a:spcBef>
              <a:spcPct val="0"/>
            </a:spcBef>
            <a:spcAft>
              <a:spcPct val="35000"/>
            </a:spcAft>
            <a:buNone/>
          </a:pPr>
          <a:r>
            <a:rPr lang="en-GB" sz="1900" kern="1200" dirty="0">
              <a:solidFill>
                <a:prstClr val="black">
                  <a:hueOff val="0"/>
                  <a:satOff val="0"/>
                  <a:lumOff val="0"/>
                  <a:alphaOff val="0"/>
                </a:prstClr>
              </a:solidFill>
              <a:latin typeface="Segoe Sans"/>
              <a:ea typeface="+mn-ea"/>
              <a:cs typeface="+mn-cs"/>
            </a:rPr>
            <a:t>Demonstrate the use of profitability ratios and investment ratios</a:t>
          </a:r>
        </a:p>
      </dsp:txBody>
      <dsp:txXfrm>
        <a:off x="1068592" y="3580309"/>
        <a:ext cx="9092081" cy="95365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4120C7-D443-4EA0-A8D0-67D35E8D1537}" type="datetimeFigureOut">
              <a:rPr lang="en-GB" smtClean="0"/>
              <a:t>14/08/2025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7A708D-0180-424B-8170-B8C7498B3081}" type="slidenum">
              <a:rPr lang="en-GB" smtClean="0"/>
              <a:t>‹#›</a:t>
            </a:fld>
            <a:endParaRPr lang="en-GB"/>
          </a:p>
        </p:txBody>
      </p:sp>
    </p:spTree>
    <p:extLst>
      <p:ext uri="{BB962C8B-B14F-4D97-AF65-F5344CB8AC3E}">
        <p14:creationId xmlns:p14="http://schemas.microsoft.com/office/powerpoint/2010/main" val="271920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investopedia.com/terms/c/capital_allocation.asp"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TO STUDENTS: Please see last weeks lecture slides and make sure you review them so that you understand how you will be assessed and what resources we provide to support you in success.</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dirty="0"/>
          </a:p>
        </p:txBody>
      </p:sp>
    </p:spTree>
    <p:extLst>
      <p:ext uri="{BB962C8B-B14F-4D97-AF65-F5344CB8AC3E}">
        <p14:creationId xmlns:p14="http://schemas.microsoft.com/office/powerpoint/2010/main" val="274574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dirty="0"/>
          </a:p>
        </p:txBody>
      </p:sp>
    </p:spTree>
    <p:extLst>
      <p:ext uri="{BB962C8B-B14F-4D97-AF65-F5344CB8AC3E}">
        <p14:creationId xmlns:p14="http://schemas.microsoft.com/office/powerpoint/2010/main" val="194370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just">
              <a:buAutoNum type="arabicPeriod"/>
            </a:pPr>
            <a:r>
              <a:rPr lang="en-GB" sz="1200" dirty="0">
                <a:latin typeface="Arial" panose="020B0604020202020204" pitchFamily="34" charset="0"/>
                <a:cs typeface="Arial" panose="020B0604020202020204" pitchFamily="34" charset="0"/>
              </a:rPr>
              <a:t>Provide a brief definition of the ratio.</a:t>
            </a:r>
          </a:p>
          <a:p>
            <a:pPr marL="342900" indent="-342900" algn="just">
              <a:buAutoNum type="arabicPeriod"/>
            </a:pPr>
            <a:endParaRPr lang="en-GB" sz="1200" dirty="0">
              <a:latin typeface="Arial" panose="020B0604020202020204" pitchFamily="34" charset="0"/>
              <a:cs typeface="Arial" panose="020B0604020202020204" pitchFamily="34" charset="0"/>
            </a:endParaRPr>
          </a:p>
          <a:p>
            <a:pPr marL="342900" indent="-342900" algn="just">
              <a:buAutoNum type="arabicPeriod"/>
            </a:pPr>
            <a:r>
              <a:rPr lang="en-GB" sz="1200" dirty="0">
                <a:latin typeface="Arial" panose="020B0604020202020204" pitchFamily="34" charset="0"/>
                <a:cs typeface="Arial" panose="020B0604020202020204" pitchFamily="34" charset="0"/>
              </a:rPr>
              <a:t>Comment how the ratio has changed in relation to the previous year or against a competitor/industry average.</a:t>
            </a:r>
          </a:p>
          <a:p>
            <a:pPr marL="342900" indent="-342900" algn="just">
              <a:buAutoNum type="arabicPeriod"/>
            </a:pPr>
            <a:endParaRPr lang="en-GB" sz="1200" dirty="0">
              <a:latin typeface="Arial" panose="020B0604020202020204" pitchFamily="34" charset="0"/>
              <a:cs typeface="Arial" panose="020B0604020202020204" pitchFamily="34" charset="0"/>
            </a:endParaRPr>
          </a:p>
          <a:p>
            <a:pPr marL="342900" indent="-342900" algn="just">
              <a:buAutoNum type="arabicPeriod"/>
            </a:pPr>
            <a:r>
              <a:rPr lang="en-GB" sz="1200" dirty="0">
                <a:latin typeface="Arial" panose="020B0604020202020204" pitchFamily="34" charset="0"/>
                <a:cs typeface="Arial" panose="020B0604020202020204" pitchFamily="34" charset="0"/>
              </a:rPr>
              <a:t>State whether the change is favourable/unfavourable and provide justification.</a:t>
            </a:r>
          </a:p>
          <a:p>
            <a:pPr algn="just"/>
            <a:endParaRPr lang="en-GB" sz="1200" dirty="0">
              <a:latin typeface="Arial" panose="020B0604020202020204" pitchFamily="34" charset="0"/>
              <a:cs typeface="Arial" panose="020B0604020202020204" pitchFamily="34" charset="0"/>
            </a:endParaRPr>
          </a:p>
          <a:p>
            <a:pPr algn="just"/>
            <a:r>
              <a:rPr lang="en-GB" sz="1200" dirty="0">
                <a:latin typeface="Arial" panose="020B0604020202020204" pitchFamily="34" charset="0"/>
                <a:cs typeface="Arial" panose="020B0604020202020204" pitchFamily="34" charset="0"/>
              </a:rPr>
              <a:t>4. Comment on the reasons for the change.</a:t>
            </a:r>
          </a:p>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4</a:t>
            </a:fld>
            <a:endParaRPr lang="en-GB"/>
          </a:p>
        </p:txBody>
      </p:sp>
    </p:spTree>
    <p:extLst>
      <p:ext uri="{BB962C8B-B14F-4D97-AF65-F5344CB8AC3E}">
        <p14:creationId xmlns:p14="http://schemas.microsoft.com/office/powerpoint/2010/main" val="2452807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8</a:t>
            </a:fld>
            <a:endParaRPr lang="en-GB"/>
          </a:p>
        </p:txBody>
      </p:sp>
    </p:spTree>
    <p:extLst>
      <p:ext uri="{BB962C8B-B14F-4D97-AF65-F5344CB8AC3E}">
        <p14:creationId xmlns:p14="http://schemas.microsoft.com/office/powerpoint/2010/main" val="2372067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90000"/>
              </a:lnSpc>
            </a:pPr>
            <a:endParaRPr lang="en-GB" sz="26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CA7A708D-0180-424B-8170-B8C7498B3081}" type="slidenum">
              <a:rPr lang="en-GB" smtClean="0"/>
              <a:t>11</a:t>
            </a:fld>
            <a:endParaRPr lang="en-GB"/>
          </a:p>
        </p:txBody>
      </p:sp>
    </p:spTree>
    <p:extLst>
      <p:ext uri="{BB962C8B-B14F-4D97-AF65-F5344CB8AC3E}">
        <p14:creationId xmlns:p14="http://schemas.microsoft.com/office/powerpoint/2010/main" val="2977835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FC3AB-4776-055E-305D-70E92F781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39FD3-4E01-CF9A-08D0-C00FA15A6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D8680-0750-0591-D4C0-021D6390DC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Arial" charset="0"/>
                <a:ea typeface="ＭＳ Ｐゴシック" charset="0"/>
                <a:cs typeface="ＭＳ Ｐゴシック" charset="0"/>
              </a:rPr>
              <a:t>GPM </a:t>
            </a:r>
            <a:r>
              <a:rPr lang="en-GB" sz="1200" b="0" kern="1200" dirty="0">
                <a:solidFill>
                  <a:schemeClr val="tx1"/>
                </a:solidFill>
                <a:effectLst/>
                <a:latin typeface="Arial" charset="0"/>
                <a:ea typeface="ＭＳ Ｐゴシック" charset="0"/>
                <a:cs typeface="ＭＳ Ｐゴシック" charset="0"/>
              </a:rPr>
              <a:t>expresses the gross profit as a percentage of the sales revenue - Gross profit is the amount remaining after the cost of sales has been deducted from trading revenue (before day to day running costs are deducted). So GPM </a:t>
            </a:r>
            <a:r>
              <a:rPr lang="en-GB" sz="1200" dirty="0"/>
              <a:t>measures the profitability from buying and selling goods before we take into consideration other expenses, it considers competitive forces on selling prices, increase in material costs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Arial" charset="0"/>
                <a:ea typeface="ＭＳ Ｐゴシック" charset="0"/>
                <a:cs typeface="ＭＳ Ｐゴシック" charset="0"/>
              </a:rPr>
              <a:t>OPM</a:t>
            </a:r>
            <a:r>
              <a:rPr lang="en-GB" sz="1200" b="1" kern="1200" baseline="0" dirty="0">
                <a:solidFill>
                  <a:schemeClr val="tx1"/>
                </a:solidFill>
                <a:effectLst/>
                <a:latin typeface="Arial" charset="0"/>
                <a:ea typeface="ＭＳ Ｐゴシック" charset="0"/>
                <a:cs typeface="ＭＳ Ｐゴシック" charset="0"/>
              </a:rPr>
              <a:t> </a:t>
            </a:r>
            <a:r>
              <a:rPr lang="en-GB" sz="1200" b="0" kern="1200" baseline="0" dirty="0">
                <a:solidFill>
                  <a:schemeClr val="tx1"/>
                </a:solidFill>
                <a:effectLst/>
                <a:latin typeface="Arial" charset="0"/>
                <a:ea typeface="ＭＳ Ｐゴシック" charset="0"/>
                <a:cs typeface="ＭＳ Ｐゴシック" charset="0"/>
              </a:rPr>
              <a:t>p</a:t>
            </a:r>
            <a:r>
              <a:rPr lang="en-GB" sz="1200" b="0" kern="1200" dirty="0">
                <a:solidFill>
                  <a:schemeClr val="tx1"/>
                </a:solidFill>
                <a:effectLst/>
                <a:latin typeface="Arial" charset="0"/>
                <a:ea typeface="ＭＳ Ｐゴシック" charset="0"/>
                <a:cs typeface="ＭＳ Ｐゴシック" charset="0"/>
              </a:rPr>
              <a:t>rofitability ratio that expresses the operating profit as a percentage of the sales revenue for the period.  The operating profit represents the trading profit (if positive) before cost of servicing long term finance </a:t>
            </a:r>
            <a:r>
              <a:rPr lang="en-GB" sz="1200" dirty="0"/>
              <a:t>and tax are taken into account</a:t>
            </a:r>
            <a:r>
              <a:rPr lang="en-GB" sz="1200" b="0" kern="1200" dirty="0">
                <a:solidFill>
                  <a:schemeClr val="tx1"/>
                </a:solidFill>
                <a:effectLst/>
                <a:latin typeface="Arial" charset="0"/>
                <a:ea typeface="ＭＳ Ｐゴシック" charset="0"/>
                <a:cs typeface="ＭＳ Ｐゴシック" charset="0"/>
              </a:rPr>
              <a:t>.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NPM </a:t>
            </a:r>
            <a:r>
              <a:rPr lang="en-GB" dirty="0"/>
              <a:t>is commonly used as  it </a:t>
            </a:r>
            <a:r>
              <a:rPr lang="en-GB" sz="1200" dirty="0"/>
              <a:t>measures the proportion of each dollar of sales that is retained as profit after taxes. So this considers interest costs – i.e. the cost of debt.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 relationship of the OPM  to the GPM, reflects the companies internal control over operating expenses.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effectLst/>
                <a:latin typeface="Arial" charset="0"/>
                <a:ea typeface="ＭＳ Ｐゴシック" charset="0"/>
                <a:cs typeface="ＭＳ Ｐゴシック" charset="0"/>
              </a:rPr>
              <a:t>ROCE </a:t>
            </a:r>
            <a:r>
              <a:rPr lang="en-GB" sz="1200" b="0" kern="1200" dirty="0">
                <a:solidFill>
                  <a:schemeClr val="tx1"/>
                </a:solidFill>
                <a:effectLst/>
                <a:latin typeface="Arial" charset="0"/>
                <a:ea typeface="ＭＳ Ｐゴシック" charset="0"/>
                <a:cs typeface="ＭＳ Ｐゴシック" charset="0"/>
              </a:rPr>
              <a:t>profitability ratio that presents operating profit as a percentage of long</a:t>
            </a:r>
            <a:r>
              <a:rPr lang="en-GB" sz="1200" b="0" kern="1200" baseline="0" dirty="0">
                <a:solidFill>
                  <a:schemeClr val="tx1"/>
                </a:solidFill>
                <a:effectLst/>
                <a:latin typeface="Arial" charset="0"/>
                <a:ea typeface="ＭＳ Ｐゴシック" charset="0"/>
                <a:cs typeface="ＭＳ Ｐゴシック" charset="0"/>
              </a:rPr>
              <a:t> term capital invested in the business. It is a fundamental indicator of companies </a:t>
            </a:r>
            <a:r>
              <a:rPr lang="en-GB" sz="1200" b="0" kern="1200" baseline="0" dirty="0" err="1">
                <a:solidFill>
                  <a:schemeClr val="tx1"/>
                </a:solidFill>
                <a:effectLst/>
                <a:latin typeface="Arial" charset="0"/>
                <a:ea typeface="ＭＳ Ｐゴシック" charset="0"/>
                <a:cs typeface="ＭＳ Ｐゴシック" charset="0"/>
              </a:rPr>
              <a:t>performance</a:t>
            </a:r>
            <a:r>
              <a:rPr lang="en-GB" sz="1200" b="0" dirty="0" err="1">
                <a:latin typeface="Arial" panose="020B0604020202020204" pitchFamily="34" charset="0"/>
                <a:cs typeface="Arial" panose="020B0604020202020204" pitchFamily="34" charset="0"/>
              </a:rPr>
              <a:t>I</a:t>
            </a:r>
            <a:r>
              <a:rPr lang="en-GB" sz="1200" b="0" i="1"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f</a:t>
            </a:r>
            <a:r>
              <a:rPr lang="en-GB" sz="1200" b="0" i="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we have access to an opening and closing balance, we use the ‘average’ capital employed (beginning balance plus end of year balance &amp; </a:t>
            </a:r>
            <a:r>
              <a:rPr lang="en-GB" sz="1200" b="0" i="1" u="sng"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DIVIDE BY 2). </a:t>
            </a:r>
            <a:r>
              <a:rPr lang="en-GB" sz="1200" b="0" i="0" kern="1200" dirty="0">
                <a:solidFill>
                  <a:schemeClr val="tx1"/>
                </a:solidFill>
                <a:effectLst/>
                <a:latin typeface="+mn-lt"/>
                <a:ea typeface="+mn-ea"/>
                <a:cs typeface="+mn-cs"/>
              </a:rPr>
              <a:t>It helps assess the effectiveness of </a:t>
            </a:r>
            <a:r>
              <a:rPr lang="en-GB" sz="1200" b="0" i="0" u="sng" kern="1200" dirty="0">
                <a:solidFill>
                  <a:schemeClr val="tx1"/>
                </a:solidFill>
                <a:effectLst/>
                <a:latin typeface="+mn-lt"/>
                <a:ea typeface="+mn-ea"/>
                <a:cs typeface="+mn-cs"/>
                <a:hlinkClick r:id="rId3"/>
              </a:rPr>
              <a:t>capital allocation</a:t>
            </a:r>
            <a:r>
              <a:rPr lang="en-GB" sz="1200" b="0" i="0" kern="1200" dirty="0">
                <a:solidFill>
                  <a:schemeClr val="tx1"/>
                </a:solidFill>
                <a:effectLst/>
                <a:latin typeface="+mn-lt"/>
                <a:ea typeface="+mn-ea"/>
                <a:cs typeface="+mn-cs"/>
              </a:rPr>
              <a:t> decisions and the ability to generate returns on invested capital.</a:t>
            </a:r>
            <a:endParaRPr lang="en-GB" sz="1200" b="0" i="1" u="sng"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algn="just" eaLnBrk="1" hangingPunct="1">
              <a:lnSpc>
                <a:spcPct val="90000"/>
              </a:lnSpc>
              <a:defRPr/>
            </a:pPr>
            <a:r>
              <a:rPr lang="en-GB" sz="1200" dirty="0">
                <a:latin typeface="Arial" panose="020B0604020202020204" pitchFamily="34" charset="0"/>
                <a:cs typeface="Arial" panose="020B0604020202020204" pitchFamily="34" charset="0"/>
              </a:rPr>
              <a:t>The GPM was lower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OPM was slightly higher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NPM was higher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ROCE was higher for Morrisons.</a:t>
            </a:r>
          </a:p>
          <a:p>
            <a:pPr algn="just" eaLnBrk="1" hangingPunct="1">
              <a:lnSpc>
                <a:spcPct val="90000"/>
              </a:lnSpc>
              <a:defRPr/>
            </a:pPr>
            <a:endParaRPr lang="en-GB" sz="1200" dirty="0">
              <a:latin typeface="Arial" panose="020B0604020202020204" pitchFamily="34" charset="0"/>
              <a:cs typeface="Arial" panose="020B0604020202020204" pitchFamily="34" charset="0"/>
            </a:endParaRPr>
          </a:p>
          <a:p>
            <a:pPr algn="just">
              <a:lnSpc>
                <a:spcPct val="90000"/>
              </a:lnSpc>
              <a:defRPr/>
            </a:pPr>
            <a:r>
              <a:rPr lang="en-GB" sz="1200" dirty="0">
                <a:latin typeface="Arial" panose="020B0604020202020204" pitchFamily="34" charset="0"/>
                <a:cs typeface="Arial" panose="020B0604020202020204" pitchFamily="34" charset="0"/>
              </a:rPr>
              <a:t>Whilst Morrisons operate at a lower Gross Profit Margin, they make up for this; showing tighter control of operating and finance expenses. The ROCE is higher for Morrison’s suggesting it is generating greater profit from its capital</a:t>
            </a:r>
            <a:r>
              <a:rPr lang="en-GB" sz="900" dirty="0"/>
              <a:t>. </a:t>
            </a:r>
          </a:p>
          <a:p>
            <a:endParaRPr lang="en-GB" dirty="0"/>
          </a:p>
        </p:txBody>
      </p:sp>
      <p:sp>
        <p:nvSpPr>
          <p:cNvPr id="4" name="Slide Number Placeholder 3">
            <a:extLst>
              <a:ext uri="{FF2B5EF4-FFF2-40B4-BE49-F238E27FC236}">
                <a16:creationId xmlns:a16="http://schemas.microsoft.com/office/drawing/2014/main" id="{C57DE974-9071-A183-9AC2-B9D35E005259}"/>
              </a:ext>
            </a:extLst>
          </p:cNvPr>
          <p:cNvSpPr>
            <a:spLocks noGrp="1"/>
          </p:cNvSpPr>
          <p:nvPr>
            <p:ph type="sldNum" sz="quarter" idx="10"/>
          </p:nvPr>
        </p:nvSpPr>
        <p:spPr/>
        <p:txBody>
          <a:bodyPr/>
          <a:lstStyle/>
          <a:p>
            <a:fld id="{60A34707-E474-48EA-B54D-5816D1580940}" type="slidenum">
              <a:rPr lang="en-GB" smtClean="0"/>
              <a:t>12</a:t>
            </a:fld>
            <a:endParaRPr lang="en-GB"/>
          </a:p>
        </p:txBody>
      </p:sp>
    </p:spTree>
    <p:extLst>
      <p:ext uri="{BB962C8B-B14F-4D97-AF65-F5344CB8AC3E}">
        <p14:creationId xmlns:p14="http://schemas.microsoft.com/office/powerpoint/2010/main" val="47314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0A34707-E474-48EA-B54D-5816D1580940}" type="slidenum">
              <a:rPr lang="en-GB" smtClean="0"/>
              <a:t>13</a:t>
            </a:fld>
            <a:endParaRPr lang="en-GB"/>
          </a:p>
        </p:txBody>
      </p:sp>
    </p:spTree>
    <p:extLst>
      <p:ext uri="{BB962C8B-B14F-4D97-AF65-F5344CB8AC3E}">
        <p14:creationId xmlns:p14="http://schemas.microsoft.com/office/powerpoint/2010/main" val="3044099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0A34707-E474-48EA-B54D-5816D1580940}" type="slidenum">
              <a:rPr lang="en-GB" smtClean="0"/>
              <a:t>14</a:t>
            </a:fld>
            <a:endParaRPr lang="en-GB"/>
          </a:p>
        </p:txBody>
      </p:sp>
    </p:spTree>
    <p:extLst>
      <p:ext uri="{BB962C8B-B14F-4D97-AF65-F5344CB8AC3E}">
        <p14:creationId xmlns:p14="http://schemas.microsoft.com/office/powerpoint/2010/main" val="2057935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eaLnBrk="1" hangingPunct="1">
              <a:lnSpc>
                <a:spcPct val="90000"/>
              </a:lnSpc>
              <a:defRPr/>
            </a:pPr>
            <a:r>
              <a:rPr lang="en-GB" sz="1200" dirty="0">
                <a:latin typeface="Arial" panose="020B0604020202020204" pitchFamily="34" charset="0"/>
                <a:cs typeface="Arial" panose="020B0604020202020204" pitchFamily="34" charset="0"/>
              </a:rPr>
              <a:t>The GPM was lower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OPM was slightly higher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NPM was higher for Morrisons.</a:t>
            </a:r>
          </a:p>
          <a:p>
            <a:pPr algn="just" eaLnBrk="1" hangingPunct="1">
              <a:lnSpc>
                <a:spcPct val="90000"/>
              </a:lnSpc>
              <a:defRPr/>
            </a:pPr>
            <a:r>
              <a:rPr lang="en-GB" sz="1200" dirty="0">
                <a:latin typeface="Arial" panose="020B0604020202020204" pitchFamily="34" charset="0"/>
                <a:cs typeface="Arial" panose="020B0604020202020204" pitchFamily="34" charset="0"/>
              </a:rPr>
              <a:t>The ROCE was higher for Morrisons.</a:t>
            </a:r>
          </a:p>
          <a:p>
            <a:pPr algn="just" eaLnBrk="1" hangingPunct="1">
              <a:lnSpc>
                <a:spcPct val="90000"/>
              </a:lnSpc>
              <a:defRPr/>
            </a:pPr>
            <a:endParaRPr lang="en-GB" sz="1200" dirty="0">
              <a:latin typeface="Arial" panose="020B0604020202020204" pitchFamily="34" charset="0"/>
              <a:cs typeface="Arial" panose="020B0604020202020204" pitchFamily="34" charset="0"/>
            </a:endParaRPr>
          </a:p>
          <a:p>
            <a:pPr algn="just">
              <a:lnSpc>
                <a:spcPct val="90000"/>
              </a:lnSpc>
              <a:defRPr/>
            </a:pPr>
            <a:r>
              <a:rPr lang="en-GB" sz="1200" dirty="0">
                <a:latin typeface="Arial" panose="020B0604020202020204" pitchFamily="34" charset="0"/>
                <a:cs typeface="Arial" panose="020B0604020202020204" pitchFamily="34" charset="0"/>
              </a:rPr>
              <a:t>Whilst Morrisons operate at a lower Gross Profit Margin, they make up for this; showing tighter control of operating and finance expenses. The ROCE is higher for Morrison’s suggesting it is generating greater profit from its capital</a:t>
            </a:r>
            <a:r>
              <a:rPr lang="en-GB" sz="900" dirty="0"/>
              <a:t>. </a:t>
            </a:r>
          </a:p>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15</a:t>
            </a:fld>
            <a:endParaRPr lang="en-GB"/>
          </a:p>
        </p:txBody>
      </p:sp>
    </p:spTree>
    <p:extLst>
      <p:ext uri="{BB962C8B-B14F-4D97-AF65-F5344CB8AC3E}">
        <p14:creationId xmlns:p14="http://schemas.microsoft.com/office/powerpoint/2010/main" val="3642210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eaLnBrk="1" hangingPunct="1">
              <a:lnSpc>
                <a:spcPct val="90000"/>
              </a:lnSpc>
              <a:defRPr/>
            </a:pPr>
            <a:r>
              <a:rPr lang="en-GB" sz="1200" dirty="0">
                <a:latin typeface="Arial" panose="020B0604020202020204" pitchFamily="34" charset="0"/>
                <a:cs typeface="Arial" panose="020B0604020202020204" pitchFamily="34" charset="0"/>
              </a:rPr>
              <a:t>Use the decline in ROCE was 28.8%.</a:t>
            </a:r>
          </a:p>
          <a:p>
            <a:pPr algn="just" eaLnBrk="1" hangingPunct="1">
              <a:lnSpc>
                <a:spcPct val="90000"/>
              </a:lnSpc>
              <a:defRPr/>
            </a:pPr>
            <a:r>
              <a:rPr lang="en-GB" sz="1200" dirty="0">
                <a:latin typeface="Arial" panose="020B0604020202020204" pitchFamily="34" charset="0"/>
                <a:cs typeface="Arial" panose="020B0604020202020204" pitchFamily="34" charset="0"/>
              </a:rPr>
              <a:t>The decline in the operating profit margin was 9% and the decline in the gross profit margin was only 6.8%. </a:t>
            </a:r>
          </a:p>
          <a:p>
            <a:pPr algn="just" eaLnBrk="1" hangingPunct="1">
              <a:lnSpc>
                <a:spcPct val="90000"/>
              </a:lnSpc>
              <a:defRPr/>
            </a:pPr>
            <a:r>
              <a:rPr lang="en-GB" sz="1200" dirty="0">
                <a:latin typeface="Arial" panose="020B0604020202020204" pitchFamily="34" charset="0"/>
                <a:cs typeface="Arial" panose="020B0604020202020204" pitchFamily="34" charset="0"/>
              </a:rPr>
              <a:t>Thus conclude increase in operating expenses between 2019 and 2020.</a:t>
            </a:r>
          </a:p>
          <a:p>
            <a:pPr algn="just" eaLnBrk="1" hangingPunct="1">
              <a:lnSpc>
                <a:spcPct val="90000"/>
              </a:lnSpc>
              <a:defRPr/>
            </a:pPr>
            <a:r>
              <a:rPr lang="en-GB" sz="1200" dirty="0">
                <a:latin typeface="Arial" panose="020B0604020202020204" pitchFamily="34" charset="0"/>
                <a:cs typeface="Arial" panose="020B0604020202020204" pitchFamily="34" charset="0"/>
              </a:rPr>
              <a:t>Thus decline in ROCE was due partly to increase in inventory values and partly to increase in operating costs- why?</a:t>
            </a:r>
          </a:p>
          <a:p>
            <a:pPr algn="just" eaLnBrk="1" hangingPunct="1">
              <a:lnSpc>
                <a:spcPct val="90000"/>
              </a:lnSpc>
              <a:defRPr/>
            </a:pPr>
            <a:r>
              <a:rPr lang="en-GB" sz="1200" dirty="0">
                <a:latin typeface="Arial" panose="020B0604020202020204" pitchFamily="34" charset="0"/>
                <a:cs typeface="Arial" panose="020B0604020202020204" pitchFamily="34" charset="0"/>
              </a:rPr>
              <a:t>Look at planned levels and industry average.</a:t>
            </a:r>
            <a:endParaRPr lang="en-US" sz="1200" dirty="0">
              <a:latin typeface="Arial" panose="020B0604020202020204" pitchFamily="34" charset="0"/>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18</a:t>
            </a:fld>
            <a:endParaRPr lang="en-GB"/>
          </a:p>
        </p:txBody>
      </p:sp>
    </p:spTree>
    <p:extLst>
      <p:ext uri="{BB962C8B-B14F-4D97-AF65-F5344CB8AC3E}">
        <p14:creationId xmlns:p14="http://schemas.microsoft.com/office/powerpoint/2010/main" val="2697539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0A34707-E474-48EA-B54D-5816D1580940}" type="slidenum">
              <a:rPr lang="en-GB" smtClean="0"/>
              <a:t>19</a:t>
            </a:fld>
            <a:endParaRPr lang="en-GB"/>
          </a:p>
        </p:txBody>
      </p:sp>
    </p:spTree>
    <p:extLst>
      <p:ext uri="{BB962C8B-B14F-4D97-AF65-F5344CB8AC3E}">
        <p14:creationId xmlns:p14="http://schemas.microsoft.com/office/powerpoint/2010/main" val="1854504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endParaRPr lang="en-GB" sz="12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defRPr/>
            </a:pPr>
            <a:r>
              <a:rPr lang="en-GB" sz="1200" dirty="0">
                <a:latin typeface="Arial" panose="020B0604020202020204" pitchFamily="34" charset="0"/>
                <a:cs typeface="Arial" panose="020B0604020202020204" pitchFamily="34" charset="0"/>
              </a:rPr>
              <a:t>The earnings per share ratio has fallen dramatically.</a:t>
            </a:r>
          </a:p>
          <a:p>
            <a:pPr marL="457200" indent="-457200" algn="just">
              <a:buFont typeface="Arial" panose="020B0604020202020204" pitchFamily="34" charset="0"/>
              <a:buChar char="•"/>
              <a:defRPr/>
            </a:pPr>
            <a:r>
              <a:rPr lang="en-GB" sz="1200" dirty="0">
                <a:latin typeface="Arial" panose="020B0604020202020204" pitchFamily="34" charset="0"/>
                <a:cs typeface="Arial" panose="020B0604020202020204" pitchFamily="34" charset="0"/>
              </a:rPr>
              <a:t>However the dividend per share has remained constant- Why??</a:t>
            </a:r>
          </a:p>
          <a:p>
            <a:pPr marL="457200" indent="-457200" algn="just">
              <a:buFont typeface="Arial" panose="020B0604020202020204" pitchFamily="34" charset="0"/>
              <a:buChar char="•"/>
              <a:defRPr/>
            </a:pPr>
            <a:r>
              <a:rPr lang="en-GB" sz="1200" dirty="0">
                <a:latin typeface="Arial" panose="020B0604020202020204" pitchFamily="34" charset="0"/>
                <a:cs typeface="Arial" panose="020B0604020202020204" pitchFamily="34" charset="0"/>
              </a:rPr>
              <a:t>The share price has fallen but is still higher than we might expect – Why?</a:t>
            </a:r>
          </a:p>
          <a:p>
            <a:pPr marL="457200" indent="-457200" algn="just">
              <a:buFont typeface="Arial" panose="020B0604020202020204" pitchFamily="34" charset="0"/>
              <a:buChar char="•"/>
              <a:defRPr/>
            </a:pPr>
            <a:r>
              <a:rPr lang="en-GB" sz="1200" dirty="0">
                <a:latin typeface="Arial" panose="020B0604020202020204" pitchFamily="34" charset="0"/>
                <a:cs typeface="Arial" panose="020B0604020202020204" pitchFamily="34" charset="0"/>
              </a:rPr>
              <a:t>These ratios are the main way the company communicates with the shareholders.</a:t>
            </a:r>
            <a:endParaRPr lang="en-US" sz="1200" dirty="0">
              <a:latin typeface="Arial" panose="020B0604020202020204" pitchFamily="34" charset="0"/>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20</a:t>
            </a:fld>
            <a:endParaRPr lang="en-GB"/>
          </a:p>
        </p:txBody>
      </p:sp>
    </p:spTree>
    <p:extLst>
      <p:ext uri="{BB962C8B-B14F-4D97-AF65-F5344CB8AC3E}">
        <p14:creationId xmlns:p14="http://schemas.microsoft.com/office/powerpoint/2010/main" val="189965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GB" sz="1200" dirty="0">
                <a:latin typeface="Arial" panose="020B0604020202020204" pitchFamily="34" charset="0"/>
                <a:cs typeface="Arial" panose="020B0604020202020204" pitchFamily="34" charset="0"/>
              </a:rPr>
              <a:t>Consider the sector and the performance of the company in relation to the sector</a:t>
            </a:r>
          </a:p>
          <a:p>
            <a:pPr algn="just"/>
            <a:r>
              <a:rPr lang="en-GB" sz="1200" dirty="0">
                <a:latin typeface="Arial" panose="020B0604020202020204" pitchFamily="34" charset="0"/>
                <a:cs typeface="Arial" panose="020B0604020202020204" pitchFamily="34" charset="0"/>
              </a:rPr>
              <a:t>Supermarket- low profit margin.</a:t>
            </a:r>
          </a:p>
          <a:p>
            <a:pPr algn="just"/>
            <a:r>
              <a:rPr lang="en-GB" sz="1200" dirty="0">
                <a:latin typeface="Arial" panose="020B0604020202020204" pitchFamily="34" charset="0"/>
                <a:cs typeface="Arial" panose="020B0604020202020204" pitchFamily="34" charset="0"/>
              </a:rPr>
              <a:t>Jeweller- high profit margin.</a:t>
            </a:r>
          </a:p>
          <a:p>
            <a:pPr algn="just"/>
            <a:r>
              <a:rPr lang="en-GB" sz="1200" dirty="0">
                <a:latin typeface="Arial" panose="020B0604020202020204" pitchFamily="34" charset="0"/>
                <a:cs typeface="Arial" panose="020B0604020202020204" pitchFamily="34" charset="0"/>
              </a:rPr>
              <a:t>Profit margins will be squeezed in times of recession.</a:t>
            </a:r>
          </a:p>
          <a:p>
            <a:endParaRPr lang="en-GB" dirty="0"/>
          </a:p>
        </p:txBody>
      </p:sp>
      <p:sp>
        <p:nvSpPr>
          <p:cNvPr id="4" name="Slide Number Placeholder 3"/>
          <p:cNvSpPr>
            <a:spLocks noGrp="1"/>
          </p:cNvSpPr>
          <p:nvPr>
            <p:ph type="sldNum" sz="quarter" idx="5"/>
          </p:nvPr>
        </p:nvSpPr>
        <p:spPr/>
        <p:txBody>
          <a:bodyPr/>
          <a:lstStyle/>
          <a:p>
            <a:fld id="{CA7A708D-0180-424B-8170-B8C7498B3081}" type="slidenum">
              <a:rPr lang="en-GB" smtClean="0"/>
              <a:t>22</a:t>
            </a:fld>
            <a:endParaRPr lang="en-GB"/>
          </a:p>
        </p:txBody>
      </p:sp>
    </p:spTree>
    <p:extLst>
      <p:ext uri="{BB962C8B-B14F-4D97-AF65-F5344CB8AC3E}">
        <p14:creationId xmlns:p14="http://schemas.microsoft.com/office/powerpoint/2010/main" val="932044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12139-2D97-8C0B-3172-8F6FD7662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D1045-2AE8-590B-A243-BD2D700AD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EC28D-B7E2-A775-9826-0779E292CCFE}"/>
              </a:ext>
            </a:extLst>
          </p:cNvPr>
          <p:cNvSpPr>
            <a:spLocks noGrp="1"/>
          </p:cNvSpPr>
          <p:nvPr>
            <p:ph type="body" idx="1"/>
          </p:nvPr>
        </p:nvSpPr>
        <p:spPr/>
        <p:txBody>
          <a:bodyPr/>
          <a:lstStyle/>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A1C552-8C9E-2B69-3876-EFF2311E7540}"/>
              </a:ext>
            </a:extLst>
          </p:cNvPr>
          <p:cNvSpPr>
            <a:spLocks noGrp="1"/>
          </p:cNvSpPr>
          <p:nvPr>
            <p:ph type="sldNum" sz="quarter" idx="5"/>
          </p:nvPr>
        </p:nvSpPr>
        <p:spPr/>
        <p:txBody>
          <a:bodyPr/>
          <a:lstStyle/>
          <a:p>
            <a:pPr>
              <a:defRPr/>
            </a:pPr>
            <a:fld id="{85360570-2B09-DB43-BBE0-DA076DA911F1}" type="slidenum">
              <a:rPr lang="en-US" altLang="en-US" smtClean="0"/>
              <a:pPr>
                <a:defRPr/>
              </a:pPr>
              <a:t>23</a:t>
            </a:fld>
            <a:endParaRPr lang="en-US" altLang="en-US" dirty="0"/>
          </a:p>
        </p:txBody>
      </p:sp>
    </p:spTree>
    <p:extLst>
      <p:ext uri="{BB962C8B-B14F-4D97-AF65-F5344CB8AC3E}">
        <p14:creationId xmlns:p14="http://schemas.microsoft.com/office/powerpoint/2010/main" val="1748073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7A708D-0180-424B-8170-B8C7498B3081}" type="slidenum">
              <a:rPr lang="en-GB" smtClean="0"/>
              <a:t>24</a:t>
            </a:fld>
            <a:endParaRPr lang="en-GB"/>
          </a:p>
        </p:txBody>
      </p:sp>
    </p:spTree>
    <p:extLst>
      <p:ext uri="{BB962C8B-B14F-4D97-AF65-F5344CB8AC3E}">
        <p14:creationId xmlns:p14="http://schemas.microsoft.com/office/powerpoint/2010/main" val="1849783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3446" y="0"/>
            <a:ext cx="2383829"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734435" y="1915480"/>
            <a:ext cx="7586032"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781895" y="1916833"/>
            <a:ext cx="162551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781894" y="2323737"/>
            <a:ext cx="162551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798007" y="2913640"/>
            <a:ext cx="162551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p:nvCxnSpPr>
        <p:spPr>
          <a:xfrm>
            <a:off x="2559051"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798007" y="5373216"/>
            <a:ext cx="162551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959641249"/>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1199456" y="1974056"/>
            <a:ext cx="8687493"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1715205467"/>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1199455" y="689701"/>
            <a:ext cx="105156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1199455" y="1700808"/>
            <a:ext cx="8735483"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662158549"/>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1200151" y="687615"/>
            <a:ext cx="10515600" cy="1012599"/>
          </a:xfrm>
        </p:spPr>
        <p:txBody>
          <a:bodyPr/>
          <a:lstStyle>
            <a:lvl1pPr>
              <a:defRPr>
                <a:solidFill>
                  <a:srgbClr val="1A9DAC"/>
                </a:solidFill>
              </a:defRPr>
            </a:lvl1pPr>
          </a:lstStyle>
          <a:p>
            <a:r>
              <a:rPr lang="en-US"/>
              <a:t>Click to edit Master title style</a:t>
            </a:r>
            <a:endParaRPr lang="en-US" dirty="0"/>
          </a:p>
        </p:txBody>
      </p:sp>
      <p:sp>
        <p:nvSpPr>
          <p:cNvPr id="3" name="Text Placeholder 2"/>
          <p:cNvSpPr>
            <a:spLocks noGrp="1"/>
          </p:cNvSpPr>
          <p:nvPr>
            <p:ph type="body" sz="quarter" idx="11"/>
          </p:nvPr>
        </p:nvSpPr>
        <p:spPr>
          <a:xfrm>
            <a:off x="1200151" y="1700214"/>
            <a:ext cx="8735483"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9836504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1199455" y="692697"/>
            <a:ext cx="105156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1199457" y="1628800"/>
            <a:ext cx="4223444"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7" name="Text Placeholder 6"/>
          <p:cNvSpPr>
            <a:spLocks noGrp="1"/>
          </p:cNvSpPr>
          <p:nvPr>
            <p:ph type="body" sz="quarter" idx="12"/>
          </p:nvPr>
        </p:nvSpPr>
        <p:spPr>
          <a:xfrm>
            <a:off x="5712885" y="1628800"/>
            <a:ext cx="4223444"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804580833"/>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1199455" y="692697"/>
            <a:ext cx="105156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1199457" y="1628800"/>
            <a:ext cx="4223444"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5712885" y="1628800"/>
            <a:ext cx="4223444"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386317329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1199456" y="692697"/>
            <a:ext cx="10515600" cy="936104"/>
          </a:xfrm>
        </p:spPr>
        <p:txBody>
          <a:bodyPr/>
          <a:lstStyle>
            <a:lvl1pPr>
              <a:defRPr>
                <a:solidFill>
                  <a:srgbClr val="1A9DAC"/>
                </a:solidFill>
              </a:defRPr>
            </a:lvl1p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1199457" y="1628800"/>
            <a:ext cx="4223444"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5712885" y="1628800"/>
            <a:ext cx="4223444"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291921817"/>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1190020" y="692697"/>
            <a:ext cx="105156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1199456" y="1554761"/>
            <a:ext cx="8687493"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2504433352"/>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1199455" y="692697"/>
            <a:ext cx="10515600" cy="936103"/>
          </a:xfrm>
        </p:spPr>
        <p:txBody>
          <a:bodyPr/>
          <a:lstStyle>
            <a:lvl1pPr>
              <a:defRPr>
                <a:solidFill>
                  <a:srgbClr val="1A9DAC"/>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1199456" y="1628800"/>
            <a:ext cx="4416491"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a:t>Click to edit Master text styles</a:t>
            </a:r>
          </a:p>
        </p:txBody>
      </p:sp>
      <p:sp>
        <p:nvSpPr>
          <p:cNvPr id="3" name="Chart Placeholder 2"/>
          <p:cNvSpPr>
            <a:spLocks noGrp="1"/>
          </p:cNvSpPr>
          <p:nvPr>
            <p:ph type="chart" sz="quarter" idx="12"/>
          </p:nvPr>
        </p:nvSpPr>
        <p:spPr>
          <a:xfrm>
            <a:off x="5712884" y="1628800"/>
            <a:ext cx="5088467"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3739843859"/>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1199456" y="692697"/>
            <a:ext cx="10515600" cy="720080"/>
          </a:xfrm>
        </p:spPr>
        <p:txBody>
          <a:bodyPr/>
          <a:lstStyle>
            <a:lvl1pPr>
              <a:defRPr>
                <a:solidFill>
                  <a:srgbClr val="1A9DAC"/>
                </a:solidFill>
              </a:defRPr>
            </a:lvl1p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4953" y="1412776"/>
            <a:ext cx="12192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3697576784"/>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1200150" y="692697"/>
            <a:ext cx="9938841" cy="768356"/>
          </a:xfrm>
        </p:spPr>
        <p:txBody>
          <a:bodyPr/>
          <a:lstStyle>
            <a:lvl1pPr>
              <a:defRPr>
                <a:solidFill>
                  <a:srgbClr val="1A9DAC"/>
                </a:solidFill>
              </a:defRPr>
            </a:lvl1p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4032251"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4078817" y="1461053"/>
            <a:ext cx="4027088"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4078817" y="4149726"/>
            <a:ext cx="4027088"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8157634" y="1461052"/>
            <a:ext cx="4034367"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4019390743"/>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610753" y="692696"/>
            <a:ext cx="105156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610754" y="1461052"/>
            <a:ext cx="3396097"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4055533" y="1461052"/>
            <a:ext cx="4057651" cy="5396948"/>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8161867" y="1461053"/>
            <a:ext cx="4030132" cy="2650572"/>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8161867" y="4146550"/>
            <a:ext cx="4030133" cy="271145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4082129975"/>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610753" y="692697"/>
            <a:ext cx="10515600" cy="122413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390651" y="1916832"/>
            <a:ext cx="9410700"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390651" y="5661026"/>
            <a:ext cx="9410700"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1192549"/>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623392" y="2349500"/>
            <a:ext cx="5472608"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6288022" y="2349500"/>
            <a:ext cx="4896445"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838201" y="5157192"/>
            <a:ext cx="9963151"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4175074"/>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E707-30C8-E63B-7D26-172B75C398B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B6CA31-773B-F519-33C7-059FD5A80F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933614-444B-3122-CF3A-3758D5C7AE33}"/>
              </a:ext>
            </a:extLst>
          </p:cNvPr>
          <p:cNvSpPr>
            <a:spLocks noGrp="1"/>
          </p:cNvSpPr>
          <p:nvPr>
            <p:ph type="dt" sz="half" idx="10"/>
          </p:nvPr>
        </p:nvSpPr>
        <p:spPr/>
        <p:txBody>
          <a:bodyPr/>
          <a:lstStyle/>
          <a:p>
            <a:fld id="{1B27423C-C77E-4B24-9BBF-4D7A317CCB17}" type="datetimeFigureOut">
              <a:rPr lang="en-GB" smtClean="0"/>
              <a:t>14/08/2025</a:t>
            </a:fld>
            <a:endParaRPr lang="en-GB"/>
          </a:p>
        </p:txBody>
      </p:sp>
      <p:sp>
        <p:nvSpPr>
          <p:cNvPr id="5" name="Footer Placeholder 4">
            <a:extLst>
              <a:ext uri="{FF2B5EF4-FFF2-40B4-BE49-F238E27FC236}">
                <a16:creationId xmlns:a16="http://schemas.microsoft.com/office/drawing/2014/main" id="{E8229858-BC69-50B1-7740-2B551546F3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547902-53F3-D55E-0873-1D1585213F59}"/>
              </a:ext>
            </a:extLst>
          </p:cNvPr>
          <p:cNvSpPr>
            <a:spLocks noGrp="1"/>
          </p:cNvSpPr>
          <p:nvPr>
            <p:ph type="sldNum" sz="quarter" idx="12"/>
          </p:nvPr>
        </p:nvSpPr>
        <p:spPr/>
        <p:txBody>
          <a:bodyPr/>
          <a:lstStyle/>
          <a:p>
            <a:fld id="{6FAD761D-32D1-4109-9DB5-7975D6DE9DE3}" type="slidenum">
              <a:rPr lang="en-GB" smtClean="0"/>
              <a:t>‹#›</a:t>
            </a:fld>
            <a:endParaRPr lang="en-GB"/>
          </a:p>
        </p:txBody>
      </p:sp>
    </p:spTree>
    <p:extLst>
      <p:ext uri="{BB962C8B-B14F-4D97-AF65-F5344CB8AC3E}">
        <p14:creationId xmlns:p14="http://schemas.microsoft.com/office/powerpoint/2010/main" val="1512823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2535364327"/>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1243509504"/>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4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3784619034"/>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5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846778414"/>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8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683496626"/>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9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3505054745"/>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0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473408964"/>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0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2355727216"/>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pic>
        <p:nvPicPr>
          <p:cNvPr id="4" name="Picture 1" descr="UWE-Logo-Bottom.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0151" y="6326188"/>
            <a:ext cx="1441449"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p:cNvSpPr>
            <a:spLocks noGrp="1"/>
          </p:cNvSpPr>
          <p:nvPr>
            <p:ph type="body" sz="quarter" idx="10"/>
          </p:nvPr>
        </p:nvSpPr>
        <p:spPr>
          <a:xfrm>
            <a:off x="1199455" y="1890713"/>
            <a:ext cx="8687495" cy="1366120"/>
          </a:xfrm>
          <a:prstGeom prst="rect">
            <a:avLst/>
          </a:prstGeom>
        </p:spPr>
        <p:txBody>
          <a:bodyPr lIns="0" tIns="0" rIns="0" bIns="0"/>
          <a:lstStyle>
            <a:lvl1pPr marL="0" indent="0">
              <a:lnSpc>
                <a:spcPts val="4800"/>
              </a:lnSpc>
              <a:spcBef>
                <a:spcPts val="0"/>
              </a:spcBef>
              <a:buFontTx/>
              <a:buNone/>
              <a:defRPr sz="4400" b="0" i="0">
                <a:solidFill>
                  <a:srgbClr val="16818D"/>
                </a:solidFill>
                <a:latin typeface="Georgia" charset="0"/>
                <a:ea typeface="Georgia" charset="0"/>
                <a:cs typeface="Georgia" charset="0"/>
              </a:defRPr>
            </a:lvl1pPr>
          </a:lstStyle>
          <a:p>
            <a:pPr lvl="0"/>
            <a:r>
              <a:rPr lang="en-GB" dirty="0"/>
              <a:t>Click to edit Master text styles</a:t>
            </a:r>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1600" b="0" i="0">
                <a:solidFill>
                  <a:schemeClr val="tx1"/>
                </a:solidFill>
                <a:latin typeface="Tahoma" charset="0"/>
                <a:ea typeface="Tahoma" charset="0"/>
                <a:cs typeface="Tahoma" charset="0"/>
              </a:defRPr>
            </a:lvl1pPr>
          </a:lstStyle>
          <a:p>
            <a:pPr lvl="0"/>
            <a:r>
              <a:rPr lang="en-GB" dirty="0"/>
              <a:t>Click to edit Master text styles</a:t>
            </a:r>
          </a:p>
        </p:txBody>
      </p:sp>
    </p:spTree>
    <p:extLst>
      <p:ext uri="{BB962C8B-B14F-4D97-AF65-F5344CB8AC3E}">
        <p14:creationId xmlns:p14="http://schemas.microsoft.com/office/powerpoint/2010/main" val="2740658968"/>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e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9648396" y="0"/>
            <a:ext cx="1441449"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838200" y="692697"/>
            <a:ext cx="10515600" cy="1325563"/>
          </a:xfrm>
          <a:prstGeom prst="rect">
            <a:avLst/>
          </a:prstGeom>
        </p:spPr>
        <p:txBody>
          <a:bodyPr vert="horz" lIns="0" tIns="0" rIns="0" bIns="0" rtlCol="0" anchor="t" anchorCtr="0">
            <a:normAutofit/>
          </a:bodyPr>
          <a:lstStyle/>
          <a:p>
            <a:r>
              <a:rPr lang="en-US"/>
              <a:t>Click to edit Master title style</a:t>
            </a:r>
            <a:endParaRPr lang="en-US" dirty="0"/>
          </a:p>
        </p:txBody>
      </p:sp>
    </p:spTree>
    <p:extLst>
      <p:ext uri="{BB962C8B-B14F-4D97-AF65-F5344CB8AC3E}">
        <p14:creationId xmlns:p14="http://schemas.microsoft.com/office/powerpoint/2010/main" val="34679057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8" r:id="rId16"/>
    <p:sldLayoutId id="2147483679" r:id="rId17"/>
    <p:sldLayoutId id="2147483680" r:id="rId18"/>
    <p:sldLayoutId id="2147483681" r:id="rId19"/>
    <p:sldLayoutId id="2147483684" r:id="rId20"/>
    <p:sldLayoutId id="2147483685" r:id="rId21"/>
    <p:sldLayoutId id="2147483686" r:id="rId22"/>
    <p:sldLayoutId id="2147483696" r:id="rId23"/>
    <p:sldLayoutId id="2147483699" r:id="rId24"/>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Microsoft_Word_97_-_2003_Document.doc"/><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F73C-04D4-7BB1-2084-E39FB595A675}"/>
              </a:ext>
            </a:extLst>
          </p:cNvPr>
          <p:cNvSpPr>
            <a:spLocks noGrp="1"/>
          </p:cNvSpPr>
          <p:nvPr>
            <p:ph type="title"/>
          </p:nvPr>
        </p:nvSpPr>
        <p:spPr>
          <a:xfrm>
            <a:off x="2734435" y="1915480"/>
            <a:ext cx="8354120" cy="2953680"/>
          </a:xfrm>
        </p:spPr>
        <p:txBody>
          <a:bodyPr>
            <a:normAutofit/>
          </a:bodyPr>
          <a:lstStyle/>
          <a:p>
            <a:r>
              <a:rPr lang="en-GB" dirty="0"/>
              <a:t>UMET9G-30-1 </a:t>
            </a:r>
            <a:br>
              <a:rPr lang="en-GB" dirty="0"/>
            </a:br>
            <a:r>
              <a:rPr lang="en-GB" dirty="0"/>
              <a:t>Accounting &amp; Finance for Decision Making</a:t>
            </a:r>
            <a:br>
              <a:rPr lang="en-GB" dirty="0"/>
            </a:br>
            <a:br>
              <a:rPr lang="en-GB" dirty="0"/>
            </a:br>
            <a:r>
              <a:rPr lang="en-GB" dirty="0"/>
              <a:t>Financial Statement Analysis – part 1</a:t>
            </a:r>
          </a:p>
        </p:txBody>
      </p:sp>
      <p:sp>
        <p:nvSpPr>
          <p:cNvPr id="3" name="Text Placeholder 2">
            <a:extLst>
              <a:ext uri="{FF2B5EF4-FFF2-40B4-BE49-F238E27FC236}">
                <a16:creationId xmlns:a16="http://schemas.microsoft.com/office/drawing/2014/main" id="{98D6E62E-6AD9-4D0B-7E60-F93F395E3C42}"/>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7FD96836-D923-AFEB-B3B3-9CB34EE42ECE}"/>
              </a:ext>
            </a:extLst>
          </p:cNvPr>
          <p:cNvSpPr>
            <a:spLocks noGrp="1"/>
          </p:cNvSpPr>
          <p:nvPr>
            <p:ph type="body" sz="quarter" idx="16"/>
          </p:nvPr>
        </p:nvSpPr>
        <p:spPr/>
        <p:txBody>
          <a:bodyPr/>
          <a:lstStyle/>
          <a:p>
            <a:endParaRPr lang="en-GB"/>
          </a:p>
        </p:txBody>
      </p:sp>
      <p:sp>
        <p:nvSpPr>
          <p:cNvPr id="5" name="Text Placeholder 4">
            <a:extLst>
              <a:ext uri="{FF2B5EF4-FFF2-40B4-BE49-F238E27FC236}">
                <a16:creationId xmlns:a16="http://schemas.microsoft.com/office/drawing/2014/main" id="{30BED68A-8FE9-778F-F1C5-2E5F562E7F24}"/>
              </a:ext>
            </a:extLst>
          </p:cNvPr>
          <p:cNvSpPr>
            <a:spLocks noGrp="1"/>
          </p:cNvSpPr>
          <p:nvPr>
            <p:ph type="body" sz="quarter" idx="17"/>
          </p:nvPr>
        </p:nvSpPr>
        <p:spPr/>
        <p:txBody>
          <a:bodyPr/>
          <a:lstStyle/>
          <a:p>
            <a:endParaRPr lang="en-GB"/>
          </a:p>
        </p:txBody>
      </p:sp>
      <p:sp>
        <p:nvSpPr>
          <p:cNvPr id="6" name="Text Placeholder 5">
            <a:extLst>
              <a:ext uri="{FF2B5EF4-FFF2-40B4-BE49-F238E27FC236}">
                <a16:creationId xmlns:a16="http://schemas.microsoft.com/office/drawing/2014/main" id="{3CC1755D-B81A-989A-E980-95F07C352C00}"/>
              </a:ext>
            </a:extLst>
          </p:cNvPr>
          <p:cNvSpPr>
            <a:spLocks noGrp="1"/>
          </p:cNvSpPr>
          <p:nvPr>
            <p:ph type="body" sz="quarter" idx="18"/>
          </p:nvPr>
        </p:nvSpPr>
        <p:spPr/>
        <p:txBody>
          <a:bodyPr/>
          <a:lstStyle/>
          <a:p>
            <a:endParaRPr lang="en-GB"/>
          </a:p>
        </p:txBody>
      </p:sp>
    </p:spTree>
    <p:extLst>
      <p:ext uri="{BB962C8B-B14F-4D97-AF65-F5344CB8AC3E}">
        <p14:creationId xmlns:p14="http://schemas.microsoft.com/office/powerpoint/2010/main" val="264072238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14CE-3250-F7F0-AE05-421FA0F9E543}"/>
              </a:ext>
            </a:extLst>
          </p:cNvPr>
          <p:cNvSpPr>
            <a:spLocks noGrp="1"/>
          </p:cNvSpPr>
          <p:nvPr>
            <p:ph type="title"/>
          </p:nvPr>
        </p:nvSpPr>
        <p:spPr/>
        <p:txBody>
          <a:bodyPr/>
          <a:lstStyle/>
          <a:p>
            <a:r>
              <a:rPr lang="en-GB" dirty="0"/>
              <a:t>Recap</a:t>
            </a:r>
          </a:p>
        </p:txBody>
      </p:sp>
      <p:sp>
        <p:nvSpPr>
          <p:cNvPr id="3" name="Chart Placeholder 2">
            <a:extLst>
              <a:ext uri="{FF2B5EF4-FFF2-40B4-BE49-F238E27FC236}">
                <a16:creationId xmlns:a16="http://schemas.microsoft.com/office/drawing/2014/main" id="{FF9B3823-0605-807A-5635-4865E10F2BE4}"/>
              </a:ext>
            </a:extLst>
          </p:cNvPr>
          <p:cNvSpPr>
            <a:spLocks noGrp="1"/>
          </p:cNvSpPr>
          <p:nvPr>
            <p:ph type="chart" sz="quarter" idx="11"/>
          </p:nvPr>
        </p:nvSpPr>
        <p:spPr/>
        <p:txBody>
          <a:bodyPr/>
          <a:lstStyle/>
          <a:p>
            <a:pPr marL="0" indent="0">
              <a:buNone/>
            </a:pPr>
            <a:r>
              <a:rPr lang="en-GB" sz="3200" dirty="0">
                <a:latin typeface="Segoe Sans"/>
              </a:rPr>
              <a:t>So far we have covered:</a:t>
            </a:r>
          </a:p>
          <a:p>
            <a:pPr>
              <a:buFontTx/>
              <a:buChar char="-"/>
            </a:pPr>
            <a:r>
              <a:rPr lang="en-GB" sz="3200" dirty="0">
                <a:latin typeface="Segoe Sans"/>
              </a:rPr>
              <a:t>An introduction to Finance and to accounting</a:t>
            </a:r>
          </a:p>
          <a:p>
            <a:pPr>
              <a:buFontTx/>
              <a:buChar char="-"/>
            </a:pPr>
            <a:r>
              <a:rPr lang="en-GB" sz="3200" dirty="0">
                <a:latin typeface="Segoe Sans"/>
              </a:rPr>
              <a:t>Statement of Financial Performance</a:t>
            </a:r>
          </a:p>
          <a:p>
            <a:pPr>
              <a:buFontTx/>
              <a:buChar char="-"/>
            </a:pPr>
            <a:r>
              <a:rPr lang="en-GB" sz="3200" dirty="0">
                <a:latin typeface="Segoe Sans"/>
              </a:rPr>
              <a:t>Income Statement</a:t>
            </a:r>
          </a:p>
          <a:p>
            <a:pPr>
              <a:buFontTx/>
              <a:buChar char="-"/>
            </a:pPr>
            <a:r>
              <a:rPr lang="en-GB" sz="3200" dirty="0">
                <a:latin typeface="Segoe Sans"/>
              </a:rPr>
              <a:t>The accounting equation</a:t>
            </a:r>
          </a:p>
          <a:p>
            <a:pPr>
              <a:buFontTx/>
              <a:buChar char="-"/>
            </a:pPr>
            <a:r>
              <a:rPr lang="en-GB" sz="3200" dirty="0">
                <a:latin typeface="Segoe Sans"/>
              </a:rPr>
              <a:t>Cash vs Profit</a:t>
            </a:r>
          </a:p>
        </p:txBody>
      </p:sp>
      <p:pic>
        <p:nvPicPr>
          <p:cNvPr id="5" name="Graphic 4" descr="Clipboard Checked with solid fill">
            <a:extLst>
              <a:ext uri="{FF2B5EF4-FFF2-40B4-BE49-F238E27FC236}">
                <a16:creationId xmlns:a16="http://schemas.microsoft.com/office/drawing/2014/main" id="{295E040E-13B2-6A1F-C2CA-FE2D44F88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180" y="3052891"/>
            <a:ext cx="1219200" cy="1219200"/>
          </a:xfrm>
          <a:prstGeom prst="rect">
            <a:avLst/>
          </a:prstGeom>
        </p:spPr>
      </p:pic>
    </p:spTree>
    <p:extLst>
      <p:ext uri="{BB962C8B-B14F-4D97-AF65-F5344CB8AC3E}">
        <p14:creationId xmlns:p14="http://schemas.microsoft.com/office/powerpoint/2010/main" val="59189003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itle 1">
            <a:extLst>
              <a:ext uri="{FF2B5EF4-FFF2-40B4-BE49-F238E27FC236}">
                <a16:creationId xmlns:a16="http://schemas.microsoft.com/office/drawing/2014/main" id="{B54CC29E-BA68-10E6-2F39-FA1EBE0C99F6}"/>
              </a:ext>
            </a:extLst>
          </p:cNvPr>
          <p:cNvSpPr>
            <a:spLocks noGrp="1"/>
          </p:cNvSpPr>
          <p:nvPr>
            <p:ph type="title"/>
          </p:nvPr>
        </p:nvSpPr>
        <p:spPr>
          <a:xfrm>
            <a:off x="1190020" y="692697"/>
            <a:ext cx="10515600" cy="862064"/>
          </a:xfrm>
        </p:spPr>
        <p:txBody>
          <a:bodyPr/>
          <a:lstStyle/>
          <a:p>
            <a:r>
              <a:rPr lang="en-US" dirty="0"/>
              <a:t>Learning Outcomes</a:t>
            </a:r>
          </a:p>
        </p:txBody>
      </p:sp>
      <p:graphicFrame>
        <p:nvGraphicFramePr>
          <p:cNvPr id="13315" name="Text Placeholder 1">
            <a:extLst>
              <a:ext uri="{FF2B5EF4-FFF2-40B4-BE49-F238E27FC236}">
                <a16:creationId xmlns:a16="http://schemas.microsoft.com/office/drawing/2014/main" id="{C2855CC1-6974-FD0F-632A-C97A1652BB10}"/>
              </a:ext>
            </a:extLst>
          </p:cNvPr>
          <p:cNvGraphicFramePr/>
          <p:nvPr>
            <p:extLst>
              <p:ext uri="{D42A27DB-BD31-4B8C-83A1-F6EECF244321}">
                <p14:modId xmlns:p14="http://schemas.microsoft.com/office/powerpoint/2010/main" val="3767961145"/>
              </p:ext>
            </p:extLst>
          </p:nvPr>
        </p:nvGraphicFramePr>
        <p:xfrm>
          <a:off x="1199456" y="1554761"/>
          <a:ext cx="10177131" cy="4538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39416" y="404665"/>
            <a:ext cx="8640960" cy="720080"/>
          </a:xfrm>
        </p:spPr>
        <p:txBody>
          <a:bodyPr/>
          <a:lstStyle/>
          <a:p>
            <a:r>
              <a:rPr lang="en-GB" sz="4600" b="1" dirty="0">
                <a:latin typeface="Arial" panose="020B0604020202020204" pitchFamily="34" charset="0"/>
                <a:cs typeface="Arial" panose="020B0604020202020204" pitchFamily="34" charset="0"/>
              </a:rPr>
              <a:t>Financial Ratios </a:t>
            </a:r>
          </a:p>
        </p:txBody>
      </p:sp>
      <p:sp>
        <p:nvSpPr>
          <p:cNvPr id="3" name="Text Placeholder 2"/>
          <p:cNvSpPr>
            <a:spLocks noGrp="1"/>
          </p:cNvSpPr>
          <p:nvPr>
            <p:ph type="body" sz="quarter" idx="11"/>
          </p:nvPr>
        </p:nvSpPr>
        <p:spPr>
          <a:xfrm>
            <a:off x="839416" y="1299411"/>
            <a:ext cx="9577064" cy="4793414"/>
          </a:xfrm>
        </p:spPr>
        <p:txBody>
          <a:bodyPr/>
          <a:lstStyle/>
          <a:p>
            <a:pPr marL="285750" indent="-285750" algn="just">
              <a:buFont typeface="Arial" panose="020B0604020202020204" pitchFamily="34" charset="0"/>
              <a:buChar char="•"/>
            </a:pPr>
            <a:r>
              <a:rPr lang="en-GB" sz="2900" dirty="0">
                <a:latin typeface="Arial" panose="020B0604020202020204" pitchFamily="34" charset="0"/>
                <a:cs typeface="Arial" panose="020B0604020202020204" pitchFamily="34" charset="0"/>
              </a:rPr>
              <a:t>Express the relationship of one figure in the accounts to another, e.g. Operating Profit to Sales Revenue or Current Assets to Current Liabilities </a:t>
            </a:r>
          </a:p>
          <a:p>
            <a:pPr marL="285750" indent="-285750" algn="just">
              <a:buFont typeface="Arial" panose="020B0604020202020204" pitchFamily="34" charset="0"/>
              <a:buChar char="•"/>
            </a:pPr>
            <a:r>
              <a:rPr lang="en-GB" sz="2900" dirty="0">
                <a:latin typeface="Arial" panose="020B0604020202020204" pitchFamily="34" charset="0"/>
                <a:cs typeface="Arial" panose="020B0604020202020204" pitchFamily="34" charset="0"/>
              </a:rPr>
              <a:t>Quick and simple to calculate and understand </a:t>
            </a:r>
          </a:p>
          <a:p>
            <a:pPr marL="285750" indent="-285750" algn="just">
              <a:buFont typeface="Arial" panose="020B0604020202020204" pitchFamily="34" charset="0"/>
              <a:buChar char="•"/>
            </a:pPr>
            <a:r>
              <a:rPr lang="en-GB" sz="2900" dirty="0">
                <a:latin typeface="Arial" panose="020B0604020202020204" pitchFamily="34" charset="0"/>
                <a:cs typeface="Arial" panose="020B0604020202020204" pitchFamily="34" charset="0"/>
              </a:rPr>
              <a:t>Ratios allow to evaluate performance and financial health of companies</a:t>
            </a:r>
          </a:p>
          <a:p>
            <a:pPr marL="285750" indent="-285750" algn="just">
              <a:buFont typeface="Arial" panose="020B0604020202020204" pitchFamily="34" charset="0"/>
              <a:buChar char="•"/>
            </a:pPr>
            <a:r>
              <a:rPr lang="en-GB" sz="2900" dirty="0">
                <a:latin typeface="Arial" panose="020B0604020202020204" pitchFamily="34" charset="0"/>
                <a:cs typeface="Arial" panose="020B0604020202020204" pitchFamily="34" charset="0"/>
              </a:rPr>
              <a:t>Financial tool allowing time series and cross sectional analysis</a:t>
            </a:r>
          </a:p>
        </p:txBody>
      </p:sp>
    </p:spTree>
    <p:extLst>
      <p:ext uri="{BB962C8B-B14F-4D97-AF65-F5344CB8AC3E}">
        <p14:creationId xmlns:p14="http://schemas.microsoft.com/office/powerpoint/2010/main" val="234959692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53979" y="449179"/>
            <a:ext cx="9014429" cy="624908"/>
          </a:xfrm>
        </p:spPr>
        <p:txBody>
          <a:bodyPr/>
          <a:lstStyle/>
          <a:p>
            <a:r>
              <a:rPr lang="en-GB" sz="4600" b="1" dirty="0">
                <a:latin typeface="Arial" panose="020B0604020202020204" pitchFamily="34" charset="0"/>
                <a:cs typeface="Arial" panose="020B0604020202020204" pitchFamily="34" charset="0"/>
              </a:rPr>
              <a:t>Why Use Ratios?</a:t>
            </a:r>
          </a:p>
        </p:txBody>
      </p:sp>
      <p:sp>
        <p:nvSpPr>
          <p:cNvPr id="4" name="Rectangle 3"/>
          <p:cNvSpPr/>
          <p:nvPr/>
        </p:nvSpPr>
        <p:spPr>
          <a:xfrm>
            <a:off x="753979" y="1379620"/>
            <a:ext cx="9590493" cy="3539430"/>
          </a:xfrm>
          <a:prstGeom prst="rect">
            <a:avLst/>
          </a:prstGeom>
        </p:spPr>
        <p:txBody>
          <a:bodyPr wrap="square">
            <a:spAutoFit/>
          </a:bodyPr>
          <a:lstStyle/>
          <a:p>
            <a:pPr marL="457200" indent="-457200" algn="just">
              <a:buFont typeface="Arial" panose="020B0604020202020204" pitchFamily="34" charset="0"/>
              <a:buChar char="•"/>
            </a:pPr>
            <a:r>
              <a:rPr lang="en-GB" sz="3200" dirty="0">
                <a:latin typeface="Arial" panose="020B0604020202020204" pitchFamily="34" charset="0"/>
                <a:cs typeface="Arial" panose="020B0604020202020204" pitchFamily="34" charset="0"/>
              </a:rPr>
              <a:t>Businesses can be of different size and therefore direct comparison can be difficult.</a:t>
            </a:r>
          </a:p>
          <a:p>
            <a:pPr marL="457200" indent="-457200" algn="just">
              <a:buFont typeface="Arial" panose="020B0604020202020204" pitchFamily="34" charset="0"/>
              <a:buChar char="•"/>
            </a:pPr>
            <a:r>
              <a:rPr lang="en-GB" sz="3200" dirty="0">
                <a:latin typeface="Arial" panose="020B0604020202020204" pitchFamily="34" charset="0"/>
                <a:cs typeface="Arial" panose="020B0604020202020204" pitchFamily="34" charset="0"/>
              </a:rPr>
              <a:t>By expressing figures in relation to each other, we remove the problem of comparing companies of different size.</a:t>
            </a:r>
          </a:p>
          <a:p>
            <a:pPr marL="457200" indent="-457200" algn="just">
              <a:buFont typeface="Arial" panose="020B0604020202020204" pitchFamily="34" charset="0"/>
              <a:buChar char="•"/>
            </a:pPr>
            <a:r>
              <a:rPr lang="en-GB" sz="3200" dirty="0">
                <a:latin typeface="Arial" panose="020B0604020202020204" pitchFamily="34" charset="0"/>
                <a:cs typeface="Arial" panose="020B0604020202020204" pitchFamily="34" charset="0"/>
              </a:rPr>
              <a:t>A few ratios can give us a good basic idea of what is going on in the company.</a:t>
            </a:r>
          </a:p>
        </p:txBody>
      </p:sp>
    </p:spTree>
    <p:extLst>
      <p:ext uri="{BB962C8B-B14F-4D97-AF65-F5344CB8AC3E}">
        <p14:creationId xmlns:p14="http://schemas.microsoft.com/office/powerpoint/2010/main" val="1845660123"/>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416447" y="332656"/>
            <a:ext cx="7272808" cy="1366120"/>
          </a:xfrm>
        </p:spPr>
        <p:txBody>
          <a:bodyPr/>
          <a:lstStyle/>
          <a:p>
            <a:pPr algn="ctr"/>
            <a:r>
              <a:rPr lang="en-GB" b="1" dirty="0">
                <a:latin typeface="Arial" panose="020B0604020202020204" pitchFamily="34" charset="0"/>
                <a:cs typeface="Arial" panose="020B0604020202020204" pitchFamily="34" charset="0"/>
              </a:rPr>
              <a:t>Which Company Has Performed Better? </a:t>
            </a:r>
          </a:p>
        </p:txBody>
      </p:sp>
      <p:sp>
        <p:nvSpPr>
          <p:cNvPr id="5" name="TextBox 4"/>
          <p:cNvSpPr txBox="1"/>
          <p:nvPr/>
        </p:nvSpPr>
        <p:spPr>
          <a:xfrm>
            <a:off x="2398637" y="1556793"/>
            <a:ext cx="7128792" cy="1015663"/>
          </a:xfrm>
          <a:prstGeom prst="rect">
            <a:avLst/>
          </a:prstGeom>
          <a:noFill/>
        </p:spPr>
        <p:txBody>
          <a:bodyPr wrap="square" rtlCol="0">
            <a:spAutoFit/>
          </a:bodyPr>
          <a:lstStyle/>
          <a:p>
            <a:r>
              <a:rPr lang="en-GB" dirty="0"/>
              <a:t>				</a:t>
            </a:r>
            <a:r>
              <a:rPr lang="en-GB" sz="2000" b="1" dirty="0"/>
              <a:t>Company A	Company B</a:t>
            </a:r>
          </a:p>
          <a:p>
            <a:endParaRPr lang="en-GB" sz="2000" dirty="0"/>
          </a:p>
          <a:p>
            <a:r>
              <a:rPr lang="en-GB" b="1" dirty="0"/>
              <a:t>Operating profit</a:t>
            </a:r>
            <a:r>
              <a:rPr lang="en-GB" sz="2000" dirty="0"/>
              <a:t>			     £250m	   £125m</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7728" y="2780929"/>
            <a:ext cx="5076564" cy="3530119"/>
          </a:xfrm>
          <a:prstGeom prst="rect">
            <a:avLst/>
          </a:prstGeom>
        </p:spPr>
      </p:pic>
      <p:sp>
        <p:nvSpPr>
          <p:cNvPr id="7" name="TextBox 6"/>
          <p:cNvSpPr txBox="1"/>
          <p:nvPr/>
        </p:nvSpPr>
        <p:spPr>
          <a:xfrm>
            <a:off x="5807968" y="3319537"/>
            <a:ext cx="1008112" cy="477054"/>
          </a:xfrm>
          <a:prstGeom prst="rect">
            <a:avLst/>
          </a:prstGeom>
          <a:noFill/>
        </p:spPr>
        <p:txBody>
          <a:bodyPr wrap="square" rtlCol="0">
            <a:spAutoFit/>
          </a:bodyPr>
          <a:lstStyle/>
          <a:p>
            <a:pPr algn="ctr"/>
            <a:r>
              <a:rPr lang="en-GB" sz="2500" b="1" dirty="0" err="1"/>
              <a:t>Vs</a:t>
            </a:r>
            <a:endParaRPr lang="en-GB" sz="2500" b="1" dirty="0"/>
          </a:p>
        </p:txBody>
      </p:sp>
    </p:spTree>
    <p:extLst>
      <p:ext uri="{BB962C8B-B14F-4D97-AF65-F5344CB8AC3E}">
        <p14:creationId xmlns:p14="http://schemas.microsoft.com/office/powerpoint/2010/main" val="30081912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10"/>
          </p:nvPr>
        </p:nvSpPr>
        <p:spPr>
          <a:xfrm>
            <a:off x="2063553" y="332656"/>
            <a:ext cx="8208911" cy="1366120"/>
          </a:xfrm>
        </p:spPr>
        <p:txBody>
          <a:bodyPr/>
          <a:lstStyle/>
          <a:p>
            <a:pPr algn="ctr"/>
            <a:r>
              <a:rPr lang="en-GB" b="1" dirty="0">
                <a:latin typeface="Arial" panose="020B0604020202020204" pitchFamily="34" charset="0"/>
                <a:cs typeface="Arial" panose="020B0604020202020204" pitchFamily="34" charset="0"/>
              </a:rPr>
              <a:t>Which Company Has Performed Better? </a:t>
            </a:r>
          </a:p>
        </p:txBody>
      </p:sp>
      <p:sp>
        <p:nvSpPr>
          <p:cNvPr id="6" name="TextBox 5"/>
          <p:cNvSpPr txBox="1"/>
          <p:nvPr/>
        </p:nvSpPr>
        <p:spPr>
          <a:xfrm>
            <a:off x="1847529" y="1844825"/>
            <a:ext cx="8568951" cy="3139321"/>
          </a:xfrm>
          <a:prstGeom prst="rect">
            <a:avLst/>
          </a:prstGeom>
          <a:noFill/>
        </p:spPr>
        <p:txBody>
          <a:bodyPr wrap="square" rtlCol="0">
            <a:spAutoFit/>
          </a:bodyPr>
          <a:lstStyle/>
          <a:p>
            <a:r>
              <a:rPr lang="en-GB" dirty="0"/>
              <a:t>				</a:t>
            </a:r>
            <a:r>
              <a:rPr lang="en-GB" b="1" dirty="0"/>
              <a:t>Company A	Company B</a:t>
            </a:r>
          </a:p>
          <a:p>
            <a:endParaRPr lang="en-GB" dirty="0"/>
          </a:p>
          <a:p>
            <a:r>
              <a:rPr lang="en-GB" b="1" dirty="0"/>
              <a:t>Operating profit</a:t>
            </a:r>
            <a:r>
              <a:rPr lang="en-GB" dirty="0"/>
              <a:t>			     £250m	   £125m</a:t>
            </a:r>
          </a:p>
          <a:p>
            <a:endParaRPr lang="en-GB" dirty="0"/>
          </a:p>
          <a:p>
            <a:r>
              <a:rPr lang="en-GB" b="1" dirty="0"/>
              <a:t>Turnover </a:t>
            </a:r>
            <a:r>
              <a:rPr lang="en-GB" dirty="0"/>
              <a:t>			     £1,500m	   £500m</a:t>
            </a:r>
          </a:p>
          <a:p>
            <a:endParaRPr lang="en-GB" dirty="0"/>
          </a:p>
          <a:p>
            <a:r>
              <a:rPr lang="en-GB" b="1" dirty="0"/>
              <a:t>Shown as a %                                         17%                    25%</a:t>
            </a:r>
          </a:p>
          <a:p>
            <a:endParaRPr lang="en-GB" dirty="0"/>
          </a:p>
          <a:p>
            <a:r>
              <a:rPr lang="en-GB" b="1" dirty="0"/>
              <a:t>Or in other words</a:t>
            </a:r>
          </a:p>
          <a:p>
            <a:r>
              <a:rPr lang="en-GB" b="1" dirty="0"/>
              <a:t>£1 of sales equates to </a:t>
            </a:r>
            <a:r>
              <a:rPr lang="en-GB" dirty="0"/>
              <a:t>		       </a:t>
            </a:r>
            <a:r>
              <a:rPr lang="en-GB" b="1" dirty="0"/>
              <a:t>17p</a:t>
            </a:r>
            <a:r>
              <a:rPr lang="en-GB" dirty="0"/>
              <a:t>                     </a:t>
            </a:r>
            <a:r>
              <a:rPr lang="en-GB" b="1" dirty="0"/>
              <a:t>25p</a:t>
            </a:r>
          </a:p>
          <a:p>
            <a:endParaRPr lang="en-GB" dirty="0"/>
          </a:p>
        </p:txBody>
      </p:sp>
      <p:pic>
        <p:nvPicPr>
          <p:cNvPr id="2050" name="Picture 2" descr="Image result for winner po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68209" y="5138162"/>
            <a:ext cx="1104057" cy="1104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49648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34189" y="404665"/>
            <a:ext cx="9366268" cy="890215"/>
          </a:xfrm>
        </p:spPr>
        <p:txBody>
          <a:bodyPr/>
          <a:lstStyle/>
          <a:p>
            <a:r>
              <a:rPr lang="en-GB" b="1" dirty="0">
                <a:latin typeface="Arial" panose="020B0604020202020204" pitchFamily="34" charset="0"/>
                <a:cs typeface="Arial" panose="020B0604020202020204" pitchFamily="34" charset="0"/>
              </a:rPr>
              <a:t>Limitations</a:t>
            </a:r>
          </a:p>
        </p:txBody>
      </p:sp>
      <p:sp>
        <p:nvSpPr>
          <p:cNvPr id="4" name="Rectangle 3"/>
          <p:cNvSpPr txBox="1">
            <a:spLocks noRot="1" noChangeArrowheads="1"/>
          </p:cNvSpPr>
          <p:nvPr/>
        </p:nvSpPr>
        <p:spPr>
          <a:xfrm>
            <a:off x="834189" y="1294880"/>
            <a:ext cx="9582291" cy="4787876"/>
          </a:xfrm>
          <a:prstGeom prst="rect">
            <a:avLst/>
          </a:prstGeom>
        </p:spPr>
        <p:txBody>
          <a:bodyPr/>
          <a:lstStyle>
            <a:lvl1pPr marL="454025" indent="-454025" algn="l" defTabSz="606425"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algn="just"/>
            <a:r>
              <a:rPr lang="en-GB" sz="2400" dirty="0">
                <a:latin typeface="Arial" panose="020B0604020202020204" pitchFamily="34" charset="0"/>
                <a:cs typeface="Arial" panose="020B0604020202020204" pitchFamily="34" charset="0"/>
              </a:rPr>
              <a:t>Ratios are backward looking.</a:t>
            </a:r>
          </a:p>
          <a:p>
            <a:pPr algn="just"/>
            <a:r>
              <a:rPr lang="en-GB" sz="2400" dirty="0">
                <a:latin typeface="Arial" panose="020B0604020202020204" pitchFamily="34" charset="0"/>
                <a:cs typeface="Arial" panose="020B0604020202020204" pitchFamily="34" charset="0"/>
              </a:rPr>
              <a:t>Creative accounting and Different accounting policies</a:t>
            </a:r>
          </a:p>
          <a:p>
            <a:pPr algn="just"/>
            <a:r>
              <a:rPr lang="en-GB" sz="2400" dirty="0">
                <a:latin typeface="Arial" panose="020B0604020202020204" pitchFamily="34" charset="0"/>
                <a:cs typeface="Arial" panose="020B0604020202020204" pitchFamily="34" charset="0"/>
              </a:rPr>
              <a:t>Ratios are only the starting point for further analysis.</a:t>
            </a:r>
          </a:p>
          <a:p>
            <a:pPr algn="just"/>
            <a:r>
              <a:rPr lang="en-GB" sz="2400" dirty="0">
                <a:latin typeface="Arial" panose="020B0604020202020204" pitchFamily="34" charset="0"/>
                <a:cs typeface="Arial" panose="020B0604020202020204" pitchFamily="34" charset="0"/>
              </a:rPr>
              <a:t>They help to highlight financial strengths and weaknesses.</a:t>
            </a:r>
          </a:p>
          <a:p>
            <a:pPr algn="just"/>
            <a:r>
              <a:rPr lang="en-GB" sz="2400" dirty="0">
                <a:latin typeface="Arial" panose="020B0604020202020204" pitchFamily="34" charset="0"/>
                <a:cs typeface="Arial" panose="020B0604020202020204" pitchFamily="34" charset="0"/>
              </a:rPr>
              <a:t>Ratios are only useful if you can make comparisons – company, industry, year on year</a:t>
            </a:r>
          </a:p>
          <a:p>
            <a:pPr algn="just"/>
            <a:r>
              <a:rPr lang="en-GB" sz="2400" dirty="0">
                <a:latin typeface="Arial" panose="020B0604020202020204" pitchFamily="34" charset="0"/>
                <a:cs typeface="Arial" panose="020B0604020202020204" pitchFamily="34" charset="0"/>
              </a:rPr>
              <a:t>Only a detailed analysis of the underlying business/sector/economy will highlight the reasons for the changes in ratios.</a:t>
            </a:r>
          </a:p>
          <a:p>
            <a:pPr algn="just"/>
            <a:r>
              <a:rPr lang="en-GB" sz="2400" dirty="0">
                <a:latin typeface="Arial" panose="020B0604020202020204" pitchFamily="34" charset="0"/>
                <a:cs typeface="Arial" panose="020B0604020202020204" pitchFamily="34" charset="0"/>
              </a:rPr>
              <a:t>Restricted vision – don’t forget the non-financial data</a:t>
            </a:r>
          </a:p>
          <a:p>
            <a:pPr algn="just"/>
            <a:r>
              <a:rPr lang="en-GB" sz="2400" dirty="0">
                <a:latin typeface="Arial" panose="020B0604020202020204" pitchFamily="34" charset="0"/>
                <a:cs typeface="Arial" panose="020B0604020202020204" pitchFamily="34" charset="0"/>
              </a:rPr>
              <a:t>The accounts do not take into account the effects of inflation</a:t>
            </a:r>
          </a:p>
        </p:txBody>
      </p:sp>
    </p:spTree>
    <p:extLst>
      <p:ext uri="{BB962C8B-B14F-4D97-AF65-F5344CB8AC3E}">
        <p14:creationId xmlns:p14="http://schemas.microsoft.com/office/powerpoint/2010/main" val="85331731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 calcmode="lin" valueType="num">
                                      <p:cBhvr>
                                        <p:cTn id="28"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p:cTn id="35"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p:cTn id="42"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4">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 calcmode="lin" valueType="num">
                                      <p:cBhvr>
                                        <p:cTn id="49"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4">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 calcmode="lin" valueType="num">
                                      <p:cBhvr>
                                        <p:cTn id="56" dur="500" fill="hold"/>
                                        <p:tgtEl>
                                          <p:spTgt spid="4">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4">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207568" y="620688"/>
            <a:ext cx="7776864" cy="936104"/>
          </a:xfrm>
        </p:spPr>
        <p:txBody>
          <a:bodyPr/>
          <a:lstStyle/>
          <a:p>
            <a:r>
              <a:rPr lang="en-GB" sz="4000" b="1" dirty="0">
                <a:latin typeface="Arial" panose="020B0604020202020204" pitchFamily="34" charset="0"/>
                <a:cs typeface="Arial" panose="020B0604020202020204" pitchFamily="34" charset="0"/>
              </a:rPr>
              <a:t>The Key Steps of Ratio Analysis</a:t>
            </a:r>
          </a:p>
        </p:txBody>
      </p:sp>
      <p:sp>
        <p:nvSpPr>
          <p:cNvPr id="4" name="Rectangle 4"/>
          <p:cNvSpPr>
            <a:spLocks noChangeArrowheads="1"/>
          </p:cNvSpPr>
          <p:nvPr/>
        </p:nvSpPr>
        <p:spPr bwMode="auto">
          <a:xfrm>
            <a:off x="2063553" y="2564904"/>
            <a:ext cx="2087563" cy="1943100"/>
          </a:xfrm>
          <a:prstGeom prst="rect">
            <a:avLst/>
          </a:prstGeom>
          <a:solidFill>
            <a:schemeClr val="accent1"/>
          </a:solidFill>
          <a:ln w="9525">
            <a:solidFill>
              <a:schemeClr val="tx1"/>
            </a:solidFill>
            <a:miter lim="800000"/>
            <a:headEnd/>
            <a:tailEnd/>
          </a:ln>
        </p:spPr>
        <p:txBody>
          <a:bodyPr wrap="none" anchor="ctr"/>
          <a:lstStyle/>
          <a:p>
            <a:pPr algn="ctr"/>
            <a:r>
              <a:rPr lang="en-GB" dirty="0"/>
              <a:t>Identify users and </a:t>
            </a:r>
          </a:p>
          <a:p>
            <a:pPr algn="ctr"/>
            <a:r>
              <a:rPr lang="en-GB" dirty="0"/>
              <a:t>their information </a:t>
            </a:r>
          </a:p>
          <a:p>
            <a:pPr algn="ctr"/>
            <a:r>
              <a:rPr lang="en-GB" dirty="0"/>
              <a:t>needs</a:t>
            </a:r>
            <a:endParaRPr lang="en-US" dirty="0"/>
          </a:p>
        </p:txBody>
      </p:sp>
      <p:sp>
        <p:nvSpPr>
          <p:cNvPr id="5" name="AutoShape 7"/>
          <p:cNvSpPr>
            <a:spLocks noChangeArrowheads="1"/>
          </p:cNvSpPr>
          <p:nvPr/>
        </p:nvSpPr>
        <p:spPr bwMode="auto">
          <a:xfrm>
            <a:off x="4295801" y="3356273"/>
            <a:ext cx="503237" cy="360362"/>
          </a:xfrm>
          <a:prstGeom prst="rightArrow">
            <a:avLst>
              <a:gd name="adj1" fmla="val 50000"/>
              <a:gd name="adj2" fmla="val 34912"/>
            </a:avLst>
          </a:prstGeom>
          <a:solidFill>
            <a:schemeClr val="accent1"/>
          </a:solidFill>
          <a:ln w="9525">
            <a:solidFill>
              <a:schemeClr val="tx1"/>
            </a:solidFill>
            <a:miter lim="800000"/>
            <a:headEnd/>
            <a:tailEnd/>
          </a:ln>
        </p:spPr>
        <p:txBody>
          <a:bodyPr wrap="none" anchor="ctr"/>
          <a:lstStyle/>
          <a:p>
            <a:endParaRPr lang="en-US" dirty="0"/>
          </a:p>
        </p:txBody>
      </p:sp>
      <p:sp>
        <p:nvSpPr>
          <p:cNvPr id="6" name="Rectangle 5"/>
          <p:cNvSpPr>
            <a:spLocks noChangeArrowheads="1"/>
          </p:cNvSpPr>
          <p:nvPr/>
        </p:nvSpPr>
        <p:spPr bwMode="auto">
          <a:xfrm>
            <a:off x="4948403" y="2564904"/>
            <a:ext cx="2087563" cy="1943100"/>
          </a:xfrm>
          <a:prstGeom prst="rect">
            <a:avLst/>
          </a:prstGeom>
          <a:solidFill>
            <a:schemeClr val="accent1"/>
          </a:solidFill>
          <a:ln w="9525">
            <a:solidFill>
              <a:schemeClr val="tx1"/>
            </a:solidFill>
            <a:miter lim="800000"/>
            <a:headEnd/>
            <a:tailEnd/>
          </a:ln>
        </p:spPr>
        <p:txBody>
          <a:bodyPr wrap="none" anchor="ctr"/>
          <a:lstStyle/>
          <a:p>
            <a:pPr algn="ctr"/>
            <a:r>
              <a:rPr lang="en-GB" dirty="0"/>
              <a:t>Select and calculate</a:t>
            </a:r>
          </a:p>
          <a:p>
            <a:pPr algn="ctr"/>
            <a:r>
              <a:rPr lang="en-GB" dirty="0"/>
              <a:t>appropriate</a:t>
            </a:r>
          </a:p>
          <a:p>
            <a:pPr algn="ctr"/>
            <a:r>
              <a:rPr lang="en-GB" dirty="0"/>
              <a:t>ratios</a:t>
            </a:r>
            <a:endParaRPr lang="en-US" dirty="0"/>
          </a:p>
        </p:txBody>
      </p:sp>
      <p:sp>
        <p:nvSpPr>
          <p:cNvPr id="7" name="AutoShape 8"/>
          <p:cNvSpPr>
            <a:spLocks noChangeArrowheads="1"/>
          </p:cNvSpPr>
          <p:nvPr/>
        </p:nvSpPr>
        <p:spPr bwMode="auto">
          <a:xfrm>
            <a:off x="7185330" y="3283249"/>
            <a:ext cx="494846" cy="433387"/>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dirty="0"/>
          </a:p>
        </p:txBody>
      </p:sp>
      <p:sp>
        <p:nvSpPr>
          <p:cNvPr id="8" name="Oval 7"/>
          <p:cNvSpPr/>
          <p:nvPr/>
        </p:nvSpPr>
        <p:spPr>
          <a:xfrm>
            <a:off x="7425282" y="2276314"/>
            <a:ext cx="3096294" cy="2520280"/>
          </a:xfrm>
          <a:prstGeom prst="ellipse">
            <a:avLst/>
          </a:prstGeom>
          <a:solidFill>
            <a:schemeClr val="accent1">
              <a:alpha val="1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6"/>
          <p:cNvSpPr>
            <a:spLocks noChangeArrowheads="1"/>
          </p:cNvSpPr>
          <p:nvPr/>
        </p:nvSpPr>
        <p:spPr bwMode="auto">
          <a:xfrm>
            <a:off x="7858671" y="2600623"/>
            <a:ext cx="2160587" cy="1871663"/>
          </a:xfrm>
          <a:prstGeom prst="rect">
            <a:avLst/>
          </a:prstGeom>
          <a:solidFill>
            <a:schemeClr val="accent1"/>
          </a:solidFill>
          <a:ln w="9525">
            <a:solidFill>
              <a:schemeClr val="tx1"/>
            </a:solidFill>
            <a:miter lim="800000"/>
            <a:headEnd/>
            <a:tailEnd/>
          </a:ln>
        </p:spPr>
        <p:txBody>
          <a:bodyPr wrap="none" anchor="ctr"/>
          <a:lstStyle/>
          <a:p>
            <a:pPr algn="ctr"/>
            <a:r>
              <a:rPr lang="en-GB" dirty="0"/>
              <a:t>Interpret and</a:t>
            </a:r>
          </a:p>
          <a:p>
            <a:pPr algn="ctr"/>
            <a:r>
              <a:rPr lang="en-GB" dirty="0"/>
              <a:t>evaluate the </a:t>
            </a:r>
          </a:p>
          <a:p>
            <a:pPr algn="ctr"/>
            <a:r>
              <a:rPr lang="en-GB" dirty="0"/>
              <a:t>results</a:t>
            </a:r>
            <a:endParaRPr lang="en-US" dirty="0"/>
          </a:p>
        </p:txBody>
      </p:sp>
    </p:spTree>
    <p:extLst>
      <p:ext uri="{BB962C8B-B14F-4D97-AF65-F5344CB8AC3E}">
        <p14:creationId xmlns:p14="http://schemas.microsoft.com/office/powerpoint/2010/main" val="369225962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29389" y="336884"/>
            <a:ext cx="9887091" cy="859868"/>
          </a:xfrm>
        </p:spPr>
        <p:txBody>
          <a:bodyPr/>
          <a:lstStyle/>
          <a:p>
            <a:r>
              <a:rPr lang="en-GB" b="1" dirty="0">
                <a:latin typeface="Arial" panose="020B0604020202020204" pitchFamily="34" charset="0"/>
                <a:cs typeface="Arial" panose="020B0604020202020204" pitchFamily="34" charset="0"/>
              </a:rPr>
              <a:t>Getting to Know Your Accounts</a:t>
            </a:r>
          </a:p>
        </p:txBody>
      </p:sp>
      <p:sp>
        <p:nvSpPr>
          <p:cNvPr id="4" name="Rectangle 3"/>
          <p:cNvSpPr/>
          <p:nvPr/>
        </p:nvSpPr>
        <p:spPr>
          <a:xfrm>
            <a:off x="673768" y="1556084"/>
            <a:ext cx="9310664" cy="4358116"/>
          </a:xfrm>
          <a:prstGeom prst="rect">
            <a:avLst/>
          </a:prstGeom>
        </p:spPr>
        <p:txBody>
          <a:bodyPr wrap="square">
            <a:spAutoFit/>
          </a:bodyPr>
          <a:lstStyle/>
          <a:p>
            <a:pPr marL="457200" indent="-457200" algn="just">
              <a:lnSpc>
                <a:spcPct val="90000"/>
              </a:lnSpc>
              <a:buFont typeface="Arial" panose="020B0604020202020204" pitchFamily="34" charset="0"/>
              <a:buChar char="•"/>
            </a:pPr>
            <a:r>
              <a:rPr lang="en-GB" sz="2800" dirty="0"/>
              <a:t>The financial statements tell us a “story” about company performance.</a:t>
            </a:r>
          </a:p>
          <a:p>
            <a:pPr marL="457200" indent="-457200" algn="just">
              <a:lnSpc>
                <a:spcPct val="90000"/>
              </a:lnSpc>
              <a:buFont typeface="Arial" panose="020B0604020202020204" pitchFamily="34" charset="0"/>
              <a:buChar char="•"/>
            </a:pPr>
            <a:r>
              <a:rPr lang="en-GB" sz="2800" dirty="0"/>
              <a:t>Look for obvious information from the financial statements</a:t>
            </a:r>
          </a:p>
          <a:p>
            <a:pPr marL="457200" indent="-457200" algn="just">
              <a:lnSpc>
                <a:spcPct val="90000"/>
              </a:lnSpc>
              <a:buFont typeface="Arial" panose="020B0604020202020204" pitchFamily="34" charset="0"/>
              <a:buChar char="•"/>
            </a:pPr>
            <a:r>
              <a:rPr lang="en-GB" sz="2800" dirty="0"/>
              <a:t>This helps to understand which ratios will be useful to calculate</a:t>
            </a:r>
          </a:p>
          <a:p>
            <a:pPr marL="457200" indent="-457200" algn="just">
              <a:lnSpc>
                <a:spcPct val="90000"/>
              </a:lnSpc>
              <a:buFont typeface="Arial" panose="020B0604020202020204" pitchFamily="34" charset="0"/>
              <a:buChar char="•"/>
            </a:pPr>
            <a:r>
              <a:rPr lang="en-GB" sz="2800" dirty="0"/>
              <a:t>This may pick up some issues the ratios may not be able to identify.</a:t>
            </a:r>
          </a:p>
          <a:p>
            <a:pPr marL="457200" indent="-457200" algn="just">
              <a:lnSpc>
                <a:spcPct val="90000"/>
              </a:lnSpc>
              <a:buFont typeface="Arial" panose="020B0604020202020204" pitchFamily="34" charset="0"/>
              <a:buChar char="•"/>
            </a:pPr>
            <a:r>
              <a:rPr lang="en-GB" sz="2800" dirty="0"/>
              <a:t>It may also pick up some points that could help us with our interpretation.</a:t>
            </a:r>
          </a:p>
          <a:p>
            <a:pPr marL="457200" indent="-457200" algn="just">
              <a:lnSpc>
                <a:spcPct val="90000"/>
              </a:lnSpc>
              <a:buFont typeface="Arial" panose="020B0604020202020204" pitchFamily="34" charset="0"/>
              <a:buChar char="•"/>
            </a:pPr>
            <a:r>
              <a:rPr lang="en-GB" sz="2800" dirty="0"/>
              <a:t>Start at the top of the statement of financial position.</a:t>
            </a:r>
          </a:p>
        </p:txBody>
      </p:sp>
    </p:spTree>
    <p:extLst>
      <p:ext uri="{BB962C8B-B14F-4D97-AF65-F5344CB8AC3E}">
        <p14:creationId xmlns:p14="http://schemas.microsoft.com/office/powerpoint/2010/main" val="331349406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6179B-CDA8-A3A7-F1BA-6B6D2FEA68FB}"/>
              </a:ext>
            </a:extLst>
          </p:cNvPr>
          <p:cNvSpPr>
            <a:spLocks noGrp="1"/>
          </p:cNvSpPr>
          <p:nvPr>
            <p:ph type="title"/>
          </p:nvPr>
        </p:nvSpPr>
        <p:spPr/>
        <p:txBody>
          <a:bodyPr>
            <a:normAutofit fontScale="90000"/>
          </a:bodyPr>
          <a:lstStyle/>
          <a:p>
            <a:r>
              <a:rPr lang="en-GB" dirty="0"/>
              <a:t> Financial Ratio Classifications</a:t>
            </a:r>
            <a:br>
              <a:rPr lang="en-GB" dirty="0"/>
            </a:br>
            <a:endParaRPr lang="en-GB" dirty="0"/>
          </a:p>
        </p:txBody>
      </p:sp>
      <p:sp>
        <p:nvSpPr>
          <p:cNvPr id="19" name="TextBox 18">
            <a:extLst>
              <a:ext uri="{FF2B5EF4-FFF2-40B4-BE49-F238E27FC236}">
                <a16:creationId xmlns:a16="http://schemas.microsoft.com/office/drawing/2014/main" id="{A1F10C29-A97E-7C48-A6D3-E1EB2864DD17}"/>
              </a:ext>
            </a:extLst>
          </p:cNvPr>
          <p:cNvSpPr txBox="1"/>
          <p:nvPr/>
        </p:nvSpPr>
        <p:spPr>
          <a:xfrm>
            <a:off x="1190021" y="1554761"/>
            <a:ext cx="9811960" cy="4801314"/>
          </a:xfrm>
          <a:prstGeom prst="rect">
            <a:avLst/>
          </a:prstGeom>
          <a:noFill/>
        </p:spPr>
        <p:txBody>
          <a:bodyPr wrap="square">
            <a:spAutoFit/>
          </a:bodyPr>
          <a:lstStyle/>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Profitability Ratios, </a:t>
            </a:r>
            <a:r>
              <a:rPr lang="en-GB" dirty="0"/>
              <a:t>assess a company's ability to generate earnings relative to revenue, assets, equity, and other financial metrics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Investment Ratios</a:t>
            </a:r>
            <a:r>
              <a:rPr lang="en-GB" dirty="0"/>
              <a:t>,</a:t>
            </a:r>
            <a:r>
              <a:rPr lang="en-GB" dirty="0">
                <a:latin typeface="Arial" panose="020B0604020202020204" pitchFamily="34" charset="0"/>
                <a:cs typeface="Arial" panose="020B0604020202020204" pitchFamily="34" charset="0"/>
              </a:rPr>
              <a:t> help shareholders to understand how the company is managing their investment</a:t>
            </a:r>
            <a:endParaRPr lang="en-GB" dirty="0"/>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Efficiency Ratios, </a:t>
            </a:r>
            <a:r>
              <a:rPr lang="en-GB" dirty="0"/>
              <a:t>evaluate how effectively a company utilises its resources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Gearing (Leverage) Ratios</a:t>
            </a:r>
            <a:r>
              <a:rPr lang="en-GB" dirty="0"/>
              <a:t>, analyse the degree to which a company is financed by debt versus equity.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Liquidity Ratios, </a:t>
            </a:r>
            <a:r>
              <a:rPr lang="en-GB" dirty="0"/>
              <a:t>Measure a company's capacity to meet short-term obligations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Understanding these ratios provides insights into a company's operational efficiency, financial stability, and profitability, aiding stakeholders in making informed decisions.</a:t>
            </a:r>
          </a:p>
          <a:p>
            <a:endParaRPr lang="en-GB" dirty="0"/>
          </a:p>
        </p:txBody>
      </p:sp>
    </p:spTree>
    <p:extLst>
      <p:ext uri="{BB962C8B-B14F-4D97-AF65-F5344CB8AC3E}">
        <p14:creationId xmlns:p14="http://schemas.microsoft.com/office/powerpoint/2010/main" val="131953137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DE96A-1938-14C3-CC2F-1920708D8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6936F-6AA9-18D8-4440-B5CF76EDE8FA}"/>
              </a:ext>
            </a:extLst>
          </p:cNvPr>
          <p:cNvSpPr>
            <a:spLocks noGrp="1"/>
          </p:cNvSpPr>
          <p:nvPr>
            <p:ph type="title"/>
          </p:nvPr>
        </p:nvSpPr>
        <p:spPr>
          <a:xfrm>
            <a:off x="745672" y="216441"/>
            <a:ext cx="7886700" cy="694462"/>
          </a:xfrm>
        </p:spPr>
        <p:txBody>
          <a:bodyPr>
            <a:normAutofit/>
          </a:bodyPr>
          <a:lstStyle/>
          <a:p>
            <a:r>
              <a:rPr lang="en-GB" dirty="0"/>
              <a:t>Profitability Ratios</a:t>
            </a:r>
            <a:endParaRPr lang="en-GB" dirty="0">
              <a:solidFill>
                <a:schemeClr val="accent6"/>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06FC45-5AEA-DB04-8FE2-56FA8A67A35E}"/>
                  </a:ext>
                </a:extLst>
              </p:cNvPr>
              <p:cNvSpPr>
                <a:spLocks noGrp="1"/>
              </p:cNvSpPr>
              <p:nvPr>
                <p:ph idx="1"/>
              </p:nvPr>
            </p:nvSpPr>
            <p:spPr>
              <a:xfrm>
                <a:off x="745671" y="876942"/>
                <a:ext cx="10401300" cy="4833756"/>
              </a:xfrm>
              <a:noFill/>
              <a:ln>
                <a:noFill/>
              </a:ln>
            </p:spPr>
            <p:txBody>
              <a:bodyPr>
                <a:noAutofit/>
              </a:bodyPr>
              <a:lstStyle/>
              <a:p>
                <a:pPr marL="0" indent="0">
                  <a:spcBef>
                    <a:spcPts val="450"/>
                  </a:spcBef>
                  <a:buClr>
                    <a:srgbClr val="C00000"/>
                  </a:buClr>
                  <a:buNone/>
                  <a:tabLst>
                    <a:tab pos="670322" algn="l"/>
                  </a:tabLst>
                </a:pPr>
                <a:r>
                  <a:rPr lang="en-GB" sz="1600" dirty="0"/>
                  <a:t>Profitability ratios measure how effectively the company uses its resources to generate income. If in line with the industry or rising compared to it's peers, it is considered to be good at generating profits and managing its costs.</a:t>
                </a:r>
              </a:p>
              <a:p>
                <a:pPr marL="0" indent="0">
                  <a:spcBef>
                    <a:spcPts val="450"/>
                  </a:spcBef>
                  <a:buClr>
                    <a:srgbClr val="C00000"/>
                  </a:buClr>
                  <a:buNone/>
                  <a:tabLst>
                    <a:tab pos="670322" algn="l"/>
                  </a:tabLst>
                </a:pPr>
                <a:endParaRPr lang="en-GB" sz="1600" dirty="0">
                  <a:solidFill>
                    <a:schemeClr val="accent5">
                      <a:lumMod val="75000"/>
                    </a:schemeClr>
                  </a:solidFill>
                </a:endParaRPr>
              </a:p>
              <a:p>
                <a:pPr marL="0" indent="0">
                  <a:spcBef>
                    <a:spcPts val="450"/>
                  </a:spcBef>
                  <a:buClr>
                    <a:srgbClr val="C00000"/>
                  </a:buClr>
                  <a:buNone/>
                  <a:tabLst>
                    <a:tab pos="670322" algn="l"/>
                  </a:tabLst>
                </a:pPr>
                <a:endParaRPr lang="en-GB" sz="1600" dirty="0">
                  <a:solidFill>
                    <a:schemeClr val="accent5">
                      <a:lumMod val="75000"/>
                    </a:schemeClr>
                  </a:solidFill>
                </a:endParaRPr>
              </a:p>
              <a:p>
                <a:pPr marL="0" indent="0">
                  <a:spcBef>
                    <a:spcPts val="450"/>
                  </a:spcBef>
                  <a:buClr>
                    <a:srgbClr val="C00000"/>
                  </a:buClr>
                  <a:buNone/>
                  <a:tabLst>
                    <a:tab pos="670322" algn="l"/>
                  </a:tabLst>
                </a:pPr>
                <a:r>
                  <a:rPr lang="en-GB" sz="1600" dirty="0">
                    <a:solidFill>
                      <a:schemeClr val="accent5">
                        <a:lumMod val="75000"/>
                      </a:schemeClr>
                    </a:solidFill>
                  </a:rPr>
                  <a:t>Gross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i="1">
                            <a:solidFill>
                              <a:schemeClr val="accent5">
                                <a:lumMod val="75000"/>
                              </a:schemeClr>
                            </a:solidFill>
                            <a:latin typeface="Cambria Math" panose="02040503050406030204" pitchFamily="18" charset="0"/>
                          </a:rPr>
                          <m:t>𝐺𝑟𝑜𝑠𝑠</m:t>
                        </m:r>
                        <m:r>
                          <a:rPr lang="en-GB" sz="1600" i="1">
                            <a:solidFill>
                              <a:schemeClr val="accent5">
                                <a:lumMod val="75000"/>
                              </a:schemeClr>
                            </a:solidFill>
                            <a:latin typeface="Cambria Math" panose="02040503050406030204" pitchFamily="18" charset="0"/>
                          </a:rPr>
                          <m:t> </m:t>
                        </m:r>
                        <m:r>
                          <a:rPr lang="en-GB" sz="1600" i="1">
                            <a:solidFill>
                              <a:schemeClr val="accent5">
                                <a:lumMod val="75000"/>
                              </a:schemeClr>
                            </a:solidFill>
                            <a:latin typeface="Cambria Math" panose="02040503050406030204" pitchFamily="18" charset="0"/>
                          </a:rPr>
                          <m:t>𝑃𝑟𝑜𝑓𝑖𝑡</m:t>
                        </m:r>
                        <m:r>
                          <a:rPr lang="en-GB" sz="1600" i="1">
                            <a:solidFill>
                              <a:schemeClr val="accent5">
                                <a:lumMod val="75000"/>
                              </a:schemeClr>
                            </a:solidFill>
                            <a:latin typeface="Cambria Math" panose="02040503050406030204" pitchFamily="18" charset="0"/>
                          </a:rPr>
                          <m:t> </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oMath>
                </a14:m>
                <a:endParaRPr lang="en-GB" sz="1000" dirty="0"/>
              </a:p>
              <a:p>
                <a:pPr marL="0" indent="0">
                  <a:spcBef>
                    <a:spcPts val="450"/>
                  </a:spcBef>
                  <a:buClr>
                    <a:srgbClr val="C00000"/>
                  </a:buClr>
                  <a:buNone/>
                  <a:tabLst>
                    <a:tab pos="670322" algn="l"/>
                  </a:tabLst>
                </a:pPr>
                <a:endParaRPr lang="en-GB" sz="1600" dirty="0"/>
              </a:p>
              <a:p>
                <a:pPr marL="0" indent="0">
                  <a:spcBef>
                    <a:spcPts val="450"/>
                  </a:spcBef>
                  <a:buClr>
                    <a:srgbClr val="C00000"/>
                  </a:buClr>
                  <a:buNone/>
                  <a:tabLst>
                    <a:tab pos="670322" algn="l"/>
                  </a:tabLst>
                </a:pPr>
                <a:r>
                  <a:rPr lang="en-GB" sz="1600" dirty="0">
                    <a:solidFill>
                      <a:schemeClr val="accent5">
                        <a:lumMod val="75000"/>
                      </a:schemeClr>
                    </a:solidFill>
                  </a:rPr>
                  <a:t>Operating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𝑂𝑝𝑒𝑟𝑎𝑡𝑖𝑛𝑔</m:t>
                        </m:r>
                        <m:r>
                          <a:rPr lang="en-GB" sz="1600" i="1">
                            <a:solidFill>
                              <a:schemeClr val="accent5">
                                <a:lumMod val="75000"/>
                              </a:schemeClr>
                            </a:solidFill>
                            <a:latin typeface="Cambria Math" panose="02040503050406030204" pitchFamily="18" charset="0"/>
                          </a:rPr>
                          <m:t> </m:t>
                        </m:r>
                        <m:r>
                          <a:rPr lang="en-GB" sz="1600" i="1">
                            <a:solidFill>
                              <a:schemeClr val="accent5">
                                <a:lumMod val="75000"/>
                              </a:schemeClr>
                            </a:solidFill>
                            <a:latin typeface="Cambria Math" panose="02040503050406030204" pitchFamily="18" charset="0"/>
                          </a:rPr>
                          <m:t>𝑃𝑟𝑜𝑓𝑖𝑡</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oMath>
                </a14:m>
                <a:endParaRPr lang="en-GB" sz="1600" dirty="0">
                  <a:solidFill>
                    <a:srgbClr val="7030A0"/>
                  </a:solidFill>
                </a:endParaRPr>
              </a:p>
              <a:p>
                <a:pPr marL="0" indent="0">
                  <a:spcBef>
                    <a:spcPts val="450"/>
                  </a:spcBef>
                  <a:buClr>
                    <a:srgbClr val="C00000"/>
                  </a:buClr>
                  <a:buNone/>
                  <a:tabLst>
                    <a:tab pos="670322" algn="l"/>
                  </a:tabLst>
                </a:pPr>
                <a:endParaRPr lang="en-GB" sz="1600" dirty="0">
                  <a:solidFill>
                    <a:srgbClr val="7030A0"/>
                  </a:solidFill>
                </a:endParaRPr>
              </a:p>
              <a:p>
                <a:pPr marL="0" indent="0">
                  <a:spcBef>
                    <a:spcPts val="450"/>
                  </a:spcBef>
                  <a:buClr>
                    <a:srgbClr val="C00000"/>
                  </a:buClr>
                  <a:buNone/>
                  <a:tabLst>
                    <a:tab pos="670322" algn="l"/>
                  </a:tabLst>
                </a:pPr>
                <a:r>
                  <a:rPr lang="en-GB" sz="1600" dirty="0">
                    <a:solidFill>
                      <a:schemeClr val="accent5">
                        <a:lumMod val="75000"/>
                      </a:schemeClr>
                    </a:solidFill>
                  </a:rPr>
                  <a:t>Net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𝑃𝐴𝑇</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oMath>
                </a14:m>
                <a:endParaRPr lang="en-GB" sz="1600" dirty="0"/>
              </a:p>
              <a:p>
                <a:pPr marL="0" indent="0">
                  <a:spcBef>
                    <a:spcPts val="1800"/>
                  </a:spcBef>
                  <a:buClr>
                    <a:srgbClr val="C00000"/>
                  </a:buClr>
                  <a:buNone/>
                  <a:tabLst>
                    <a:tab pos="670322" algn="l"/>
                  </a:tabLst>
                </a:pPr>
                <a:r>
                  <a:rPr lang="en-GB" sz="1600" dirty="0">
                    <a:solidFill>
                      <a:schemeClr val="accent5">
                        <a:lumMod val="75000"/>
                      </a:schemeClr>
                    </a:solidFill>
                  </a:rPr>
                  <a:t>Return on Capital Employed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𝑂𝑝𝑒𝑟𝑎𝑡𝑖𝑛𝑔</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𝑃𝑟𝑜𝑓𝑖𝑡</m:t>
                        </m:r>
                      </m:num>
                      <m:den>
                        <m:r>
                          <a:rPr lang="en-GB" sz="1600" b="0" i="1" smtClean="0">
                            <a:solidFill>
                              <a:schemeClr val="accent5">
                                <a:lumMod val="75000"/>
                              </a:schemeClr>
                            </a:solidFill>
                            <a:latin typeface="Cambria Math" panose="02040503050406030204" pitchFamily="18" charset="0"/>
                          </a:rPr>
                          <m:t>𝐶𝑎𝑝𝑖𝑡𝑎𝑙</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𝐸𝑚𝑝𝑙𝑜𝑦𝑒𝑑</m:t>
                        </m:r>
                      </m:den>
                    </m:f>
                  </m:oMath>
                </a14:m>
                <a:endParaRPr lang="en-GB" sz="1600" dirty="0">
                  <a:solidFill>
                    <a:schemeClr val="accent6"/>
                  </a:solidFill>
                </a:endParaRPr>
              </a:p>
              <a:p>
                <a:pPr marL="0" lvl="1" indent="0">
                  <a:lnSpc>
                    <a:spcPct val="150000"/>
                  </a:lnSpc>
                  <a:spcBef>
                    <a:spcPts val="1350"/>
                  </a:spcBef>
                  <a:buClr>
                    <a:srgbClr val="C00000"/>
                  </a:buClr>
                  <a:buNone/>
                  <a:tabLst>
                    <a:tab pos="670322" algn="l"/>
                  </a:tabLst>
                </a:pPr>
                <a:endParaRPr lang="en-GB" dirty="0">
                  <a:solidFill>
                    <a:schemeClr val="accent5">
                      <a:lumMod val="75000"/>
                    </a:schemeClr>
                  </a:solidFill>
                </a:endParaRPr>
              </a:p>
            </p:txBody>
          </p:sp>
        </mc:Choice>
        <mc:Fallback>
          <p:sp>
            <p:nvSpPr>
              <p:cNvPr id="3" name="Content Placeholder 2">
                <a:extLst>
                  <a:ext uri="{FF2B5EF4-FFF2-40B4-BE49-F238E27FC236}">
                    <a16:creationId xmlns:a16="http://schemas.microsoft.com/office/drawing/2014/main" id="{8706FC45-5AEA-DB04-8FE2-56FA8A67A35E}"/>
                  </a:ext>
                </a:extLst>
              </p:cNvPr>
              <p:cNvSpPr>
                <a:spLocks noGrp="1" noRot="1" noChangeAspect="1" noMove="1" noResize="1" noEditPoints="1" noAdjustHandles="1" noChangeArrowheads="1" noChangeShapeType="1" noTextEdit="1"/>
              </p:cNvSpPr>
              <p:nvPr>
                <p:ph idx="1"/>
              </p:nvPr>
            </p:nvSpPr>
            <p:spPr>
              <a:xfrm>
                <a:off x="745671" y="876942"/>
                <a:ext cx="10401300" cy="4833756"/>
              </a:xfrm>
              <a:blipFill>
                <a:blip r:embed="rId3"/>
                <a:stretch>
                  <a:fillRect/>
                </a:stretch>
              </a:blipFill>
              <a:ln>
                <a:noFill/>
              </a:ln>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944AB9F2-5D41-9E63-9F7C-B111218B9954}"/>
              </a:ext>
            </a:extLst>
          </p:cNvPr>
          <p:cNvSpPr>
            <a:spLocks noGrp="1"/>
          </p:cNvSpPr>
          <p:nvPr>
            <p:ph type="sldNum" sz="quarter" idx="12"/>
          </p:nvPr>
        </p:nvSpPr>
        <p:spPr>
          <a:xfrm>
            <a:off x="10061568" y="5710698"/>
            <a:ext cx="679467" cy="443896"/>
          </a:xfrm>
          <a:ln w="12700"/>
        </p:spPr>
        <p:txBody>
          <a:bodyPr/>
          <a:lstStyle/>
          <a:p>
            <a:fld id="{0F99C4FB-888A-4D12-A1C4-C744D94026CD}" type="slidenum">
              <a:rPr lang="en-GB" sz="1350">
                <a:solidFill>
                  <a:schemeClr val="tx1">
                    <a:lumMod val="50000"/>
                    <a:lumOff val="50000"/>
                  </a:schemeClr>
                </a:solidFill>
              </a:rPr>
              <a:t>12</a:t>
            </a:fld>
            <a:endParaRPr lang="en-GB" sz="1350">
              <a:solidFill>
                <a:schemeClr val="tx1">
                  <a:lumMod val="50000"/>
                  <a:lumOff val="50000"/>
                </a:schemeClr>
              </a:solidFill>
            </a:endParaRPr>
          </a:p>
        </p:txBody>
      </p:sp>
    </p:spTree>
    <p:extLst>
      <p:ext uri="{BB962C8B-B14F-4D97-AF65-F5344CB8AC3E}">
        <p14:creationId xmlns:p14="http://schemas.microsoft.com/office/powerpoint/2010/main" val="343591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566928"/>
            <a:ext cx="10753344" cy="1034077"/>
          </a:xfrm>
        </p:spPr>
        <p:txBody>
          <a:bodyPr>
            <a:normAutofit fontScale="90000"/>
          </a:bodyPr>
          <a:lstStyle/>
          <a:p>
            <a:r>
              <a:rPr lang="en-GB" dirty="0"/>
              <a:t>Financial Statements Cross Sectional Analysis – Morrison’s vs Sainsbury’s</a:t>
            </a:r>
          </a:p>
        </p:txBody>
      </p:sp>
      <p:sp>
        <p:nvSpPr>
          <p:cNvPr id="3" name="Content Placeholder 2"/>
          <p:cNvSpPr>
            <a:spLocks noGrp="1"/>
          </p:cNvSpPr>
          <p:nvPr>
            <p:ph idx="1"/>
          </p:nvPr>
        </p:nvSpPr>
        <p:spPr>
          <a:xfrm>
            <a:off x="1790700" y="1654767"/>
            <a:ext cx="8591550" cy="375202"/>
          </a:xfrm>
          <a:noFill/>
          <a:ln>
            <a:noFill/>
          </a:ln>
        </p:spPr>
        <p:txBody>
          <a:bodyPr>
            <a:noAutofit/>
          </a:bodyPr>
          <a:lstStyle/>
          <a:p>
            <a:pPr marL="0" indent="0">
              <a:spcBef>
                <a:spcPts val="0"/>
              </a:spcBef>
              <a:buClr>
                <a:srgbClr val="C00000"/>
              </a:buClr>
              <a:buNone/>
              <a:tabLst>
                <a:tab pos="670322" algn="l"/>
              </a:tabLst>
            </a:pPr>
            <a:r>
              <a:rPr lang="en-GB" sz="6600" b="1" u="sng" dirty="0" err="1">
                <a:solidFill>
                  <a:schemeClr val="accent1">
                    <a:lumMod val="75000"/>
                  </a:schemeClr>
                </a:solidFill>
              </a:rPr>
              <a:t>SoFP</a:t>
            </a:r>
            <a:endParaRPr lang="en-GB" sz="6600" b="1" u="sng" dirty="0">
              <a:solidFill>
                <a:schemeClr val="accent1">
                  <a:lumMod val="75000"/>
                </a:schemeClr>
              </a:solidFill>
            </a:endParaRPr>
          </a:p>
        </p:txBody>
      </p:sp>
      <p:sp>
        <p:nvSpPr>
          <p:cNvPr id="4" name="Slide Number Placeholder 3"/>
          <p:cNvSpPr>
            <a:spLocks noGrp="1"/>
          </p:cNvSpPr>
          <p:nvPr>
            <p:ph type="sldNum" sz="quarter" idx="12"/>
          </p:nvPr>
        </p:nvSpPr>
        <p:spPr>
          <a:xfrm>
            <a:off x="10061568" y="5710698"/>
            <a:ext cx="679467" cy="443896"/>
          </a:xfrm>
          <a:ln w="12700"/>
        </p:spPr>
        <p:txBody>
          <a:bodyPr/>
          <a:lstStyle/>
          <a:p>
            <a:fld id="{0F99C4FB-888A-4D12-A1C4-C744D94026CD}" type="slidenum">
              <a:rPr lang="en-GB" sz="1350">
                <a:solidFill>
                  <a:schemeClr val="tx1">
                    <a:lumMod val="50000"/>
                    <a:lumOff val="50000"/>
                  </a:schemeClr>
                </a:solidFill>
              </a:rPr>
              <a:t>13</a:t>
            </a:fld>
            <a:endParaRPr lang="en-GB" sz="1350">
              <a:solidFill>
                <a:schemeClr val="tx1">
                  <a:lumMod val="50000"/>
                  <a:lumOff val="50000"/>
                </a:schemeClr>
              </a:solidFill>
            </a:endParaRPr>
          </a:p>
        </p:txBody>
      </p:sp>
      <p:graphicFrame>
        <p:nvGraphicFramePr>
          <p:cNvPr id="5" name="Table 4">
            <a:extLst>
              <a:ext uri="{FF2B5EF4-FFF2-40B4-BE49-F238E27FC236}">
                <a16:creationId xmlns:a16="http://schemas.microsoft.com/office/drawing/2014/main" id="{59CCBC1A-3B61-444F-A3EF-77733FF303D1}"/>
              </a:ext>
            </a:extLst>
          </p:cNvPr>
          <p:cNvGraphicFramePr>
            <a:graphicFrameLocks noGrp="1"/>
          </p:cNvGraphicFramePr>
          <p:nvPr>
            <p:extLst>
              <p:ext uri="{D42A27DB-BD31-4B8C-83A1-F6EECF244321}">
                <p14:modId xmlns:p14="http://schemas.microsoft.com/office/powerpoint/2010/main" val="998406879"/>
              </p:ext>
            </p:extLst>
          </p:nvPr>
        </p:nvGraphicFramePr>
        <p:xfrm>
          <a:off x="1259568" y="2825311"/>
          <a:ext cx="8802000" cy="3465761"/>
        </p:xfrm>
        <a:graphic>
          <a:graphicData uri="http://schemas.openxmlformats.org/drawingml/2006/table">
            <a:tbl>
              <a:tblPr firstRow="1" bandRow="1">
                <a:tableStyleId>{5C22544A-7EE6-4342-B048-85BDC9FD1C3A}</a:tableStyleId>
              </a:tblPr>
              <a:tblGrid>
                <a:gridCol w="2241000">
                  <a:extLst>
                    <a:ext uri="{9D8B030D-6E8A-4147-A177-3AD203B41FA5}">
                      <a16:colId xmlns:a16="http://schemas.microsoft.com/office/drawing/2014/main" val="3812843169"/>
                    </a:ext>
                  </a:extLst>
                </a:gridCol>
                <a:gridCol w="1080000">
                  <a:extLst>
                    <a:ext uri="{9D8B030D-6E8A-4147-A177-3AD203B41FA5}">
                      <a16:colId xmlns:a16="http://schemas.microsoft.com/office/drawing/2014/main" val="2854384083"/>
                    </a:ext>
                  </a:extLst>
                </a:gridCol>
                <a:gridCol w="1080000">
                  <a:extLst>
                    <a:ext uri="{9D8B030D-6E8A-4147-A177-3AD203B41FA5}">
                      <a16:colId xmlns:a16="http://schemas.microsoft.com/office/drawing/2014/main" val="1176004737"/>
                    </a:ext>
                  </a:extLst>
                </a:gridCol>
                <a:gridCol w="2241000">
                  <a:extLst>
                    <a:ext uri="{9D8B030D-6E8A-4147-A177-3AD203B41FA5}">
                      <a16:colId xmlns:a16="http://schemas.microsoft.com/office/drawing/2014/main" val="1923215678"/>
                    </a:ext>
                  </a:extLst>
                </a:gridCol>
                <a:gridCol w="1080000">
                  <a:extLst>
                    <a:ext uri="{9D8B030D-6E8A-4147-A177-3AD203B41FA5}">
                      <a16:colId xmlns:a16="http://schemas.microsoft.com/office/drawing/2014/main" val="3024142166"/>
                    </a:ext>
                  </a:extLst>
                </a:gridCol>
                <a:gridCol w="1080000">
                  <a:extLst>
                    <a:ext uri="{9D8B030D-6E8A-4147-A177-3AD203B41FA5}">
                      <a16:colId xmlns:a16="http://schemas.microsoft.com/office/drawing/2014/main" val="13063065"/>
                    </a:ext>
                  </a:extLst>
                </a:gridCol>
              </a:tblGrid>
              <a:tr h="256021">
                <a:tc rowSpan="2">
                  <a:txBody>
                    <a:bodyPr/>
                    <a:lstStyle/>
                    <a:p>
                      <a:pPr algn="l" rtl="0" fontAlgn="ctr"/>
                      <a:r>
                        <a:rPr lang="en-GB" sz="1200" b="1" u="none" strike="noStrike" dirty="0">
                          <a:solidFill>
                            <a:schemeClr val="tx1"/>
                          </a:solidFill>
                          <a:effectLst/>
                          <a:latin typeface="+mn-lt"/>
                        </a:rPr>
                        <a:t>Assets</a:t>
                      </a:r>
                      <a:endParaRPr lang="en-GB" sz="1200" b="1" i="0" u="none" strike="noStrike" dirty="0">
                        <a:solidFill>
                          <a:schemeClr val="tx1"/>
                        </a:solidFill>
                        <a:effectLst/>
                        <a:latin typeface="+mn-lt"/>
                      </a:endParaRPr>
                    </a:p>
                  </a:txBody>
                  <a:tcPr marL="4763" marR="4763" marT="4763" marB="0" anchor="b">
                    <a:noFill/>
                  </a:tcPr>
                </a:tc>
                <a:tc gridSpan="2">
                  <a:txBody>
                    <a:bodyPr/>
                    <a:lstStyle/>
                    <a:p>
                      <a:pPr algn="ctr" fontAlgn="b"/>
                      <a:r>
                        <a:rPr lang="en-GB" sz="1200" b="1" u="none" strike="noStrike" dirty="0">
                          <a:solidFill>
                            <a:schemeClr val="tx1"/>
                          </a:solidFill>
                          <a:effectLst/>
                          <a:latin typeface="+mn-lt"/>
                        </a:rPr>
                        <a:t>2020 (£m)</a:t>
                      </a:r>
                      <a:endParaRPr lang="en-GB" sz="1200" b="1" i="0" u="none" strike="noStrike" dirty="0">
                        <a:solidFill>
                          <a:schemeClr val="tx1"/>
                        </a:solidFill>
                        <a:effectLst/>
                        <a:latin typeface="+mn-lt"/>
                      </a:endParaRPr>
                    </a:p>
                  </a:txBody>
                  <a:tcPr marL="4763" marR="4763" marT="4763" marB="0" anchor="b">
                    <a:noFill/>
                  </a:tcPr>
                </a:tc>
                <a:tc hMerge="1">
                  <a:txBody>
                    <a:bodyPr/>
                    <a:lstStyle/>
                    <a:p>
                      <a:endParaRPr lang="en-GB"/>
                    </a:p>
                  </a:txBody>
                  <a:tcPr/>
                </a:tc>
                <a:tc rowSpan="2">
                  <a:txBody>
                    <a:bodyPr/>
                    <a:lstStyle/>
                    <a:p>
                      <a:pPr algn="l" rtl="0" fontAlgn="ctr"/>
                      <a:r>
                        <a:rPr lang="en-GB" sz="1200" b="1" u="none" strike="noStrike">
                          <a:solidFill>
                            <a:schemeClr val="tx1"/>
                          </a:solidFill>
                          <a:effectLst/>
                          <a:latin typeface="+mn-lt"/>
                        </a:rPr>
                        <a:t>Liabilities and Equity</a:t>
                      </a:r>
                      <a:endParaRPr lang="en-GB" sz="1200" b="1" i="0" u="none" strike="noStrike">
                        <a:solidFill>
                          <a:schemeClr val="tx1"/>
                        </a:solidFill>
                        <a:effectLst/>
                        <a:latin typeface="+mn-lt"/>
                      </a:endParaRPr>
                    </a:p>
                  </a:txBody>
                  <a:tcPr marL="4763" marR="4763" marT="4763" marB="0" anchor="b">
                    <a:noFill/>
                  </a:tcPr>
                </a:tc>
                <a:tc gridSpan="2">
                  <a:txBody>
                    <a:bodyPr/>
                    <a:lstStyle/>
                    <a:p>
                      <a:pPr algn="ctr" fontAlgn="b"/>
                      <a:r>
                        <a:rPr lang="en-GB" sz="1200" b="1" u="none" strike="noStrike">
                          <a:solidFill>
                            <a:schemeClr val="tx1"/>
                          </a:solidFill>
                          <a:effectLst/>
                          <a:latin typeface="+mn-lt"/>
                        </a:rPr>
                        <a:t>2020 (£m)</a:t>
                      </a:r>
                      <a:endParaRPr lang="en-GB" sz="1200" b="1" i="0" u="none" strike="noStrike">
                        <a:solidFill>
                          <a:schemeClr val="tx1"/>
                        </a:solidFill>
                        <a:effectLst/>
                        <a:latin typeface="+mn-lt"/>
                      </a:endParaRPr>
                    </a:p>
                  </a:txBody>
                  <a:tcPr marL="4763" marR="4763" marT="4763" marB="0" anchor="b">
                    <a:noFill/>
                  </a:tcPr>
                </a:tc>
                <a:tc hMerge="1">
                  <a:txBody>
                    <a:bodyPr/>
                    <a:lstStyle/>
                    <a:p>
                      <a:endParaRPr lang="en-GB"/>
                    </a:p>
                  </a:txBody>
                  <a:tcPr/>
                </a:tc>
                <a:extLst>
                  <a:ext uri="{0D108BD9-81ED-4DB2-BD59-A6C34878D82A}">
                    <a16:rowId xmlns:a16="http://schemas.microsoft.com/office/drawing/2014/main" val="434307895"/>
                  </a:ext>
                </a:extLst>
              </a:tr>
              <a:tr h="256021">
                <a:tc vMerge="1">
                  <a:txBody>
                    <a:bodyPr/>
                    <a:lstStyle/>
                    <a:p>
                      <a:endParaRPr lang="en-GB"/>
                    </a:p>
                  </a:txBody>
                  <a:tcPr/>
                </a:tc>
                <a:tc>
                  <a:txBody>
                    <a:bodyPr/>
                    <a:lstStyle/>
                    <a:p>
                      <a:pPr algn="ctr" rtl="0" fontAlgn="ctr"/>
                      <a:r>
                        <a:rPr lang="en-GB" sz="1200" b="1" u="none" strike="noStrike">
                          <a:solidFill>
                            <a:srgbClr val="0070C0"/>
                          </a:solidFill>
                          <a:effectLst/>
                          <a:latin typeface="+mn-lt"/>
                        </a:rPr>
                        <a:t>Morrisons</a:t>
                      </a:r>
                      <a:endParaRPr lang="en-GB" sz="1200" b="1" i="0" u="none" strike="noStrike">
                        <a:solidFill>
                          <a:srgbClr val="0070C0"/>
                        </a:solidFill>
                        <a:effectLst/>
                        <a:latin typeface="+mn-lt"/>
                      </a:endParaRPr>
                    </a:p>
                  </a:txBody>
                  <a:tcPr marL="4763" marR="4763" marT="4763" marB="0" anchor="b">
                    <a:noFill/>
                  </a:tcPr>
                </a:tc>
                <a:tc>
                  <a:txBody>
                    <a:bodyPr/>
                    <a:lstStyle/>
                    <a:p>
                      <a:pPr algn="ctr" rtl="0" fontAlgn="ctr"/>
                      <a:r>
                        <a:rPr lang="en-GB" sz="1200" b="1" u="none" strike="noStrike">
                          <a:solidFill>
                            <a:schemeClr val="accent6"/>
                          </a:solidFill>
                          <a:effectLst/>
                          <a:latin typeface="+mn-lt"/>
                        </a:rPr>
                        <a:t>Sainsbury's</a:t>
                      </a:r>
                      <a:endParaRPr lang="en-GB" sz="1200" b="1" i="0" u="none" strike="noStrike">
                        <a:solidFill>
                          <a:schemeClr val="accent6"/>
                        </a:solidFill>
                        <a:effectLst/>
                        <a:latin typeface="+mn-lt"/>
                      </a:endParaRPr>
                    </a:p>
                  </a:txBody>
                  <a:tcPr marL="4763" marR="4763" marT="4763" marB="0" anchor="b">
                    <a:noFill/>
                  </a:tcPr>
                </a:tc>
                <a:tc vMerge="1">
                  <a:txBody>
                    <a:bodyPr/>
                    <a:lstStyle/>
                    <a:p>
                      <a:endParaRPr lang="en-GB"/>
                    </a:p>
                  </a:txBody>
                  <a:tcPr/>
                </a:tc>
                <a:tc>
                  <a:txBody>
                    <a:bodyPr/>
                    <a:lstStyle/>
                    <a:p>
                      <a:pPr algn="ctr" rtl="0" fontAlgn="ctr"/>
                      <a:r>
                        <a:rPr lang="en-GB" sz="1200" b="1" u="none" strike="noStrike">
                          <a:solidFill>
                            <a:srgbClr val="0070C0"/>
                          </a:solidFill>
                          <a:effectLst/>
                          <a:latin typeface="+mn-lt"/>
                        </a:rPr>
                        <a:t>Morrisons</a:t>
                      </a:r>
                      <a:endParaRPr lang="en-GB" sz="1200" b="1" i="0" u="none" strike="noStrike">
                        <a:solidFill>
                          <a:srgbClr val="0070C0"/>
                        </a:solidFill>
                        <a:effectLst/>
                        <a:latin typeface="+mn-lt"/>
                      </a:endParaRPr>
                    </a:p>
                  </a:txBody>
                  <a:tcPr marL="4763" marR="4763" marT="4763" marB="0" anchor="b">
                    <a:noFill/>
                  </a:tcPr>
                </a:tc>
                <a:tc>
                  <a:txBody>
                    <a:bodyPr/>
                    <a:lstStyle/>
                    <a:p>
                      <a:pPr algn="ctr" rtl="0" fontAlgn="ctr"/>
                      <a:r>
                        <a:rPr lang="en-GB" sz="1200" b="1" u="none" strike="noStrike">
                          <a:solidFill>
                            <a:schemeClr val="accent6"/>
                          </a:solidFill>
                          <a:effectLst/>
                          <a:latin typeface="+mn-lt"/>
                        </a:rPr>
                        <a:t>Sainsbury's</a:t>
                      </a:r>
                      <a:endParaRPr lang="en-GB" sz="1200" b="1" i="0" u="none" strike="noStrike">
                        <a:solidFill>
                          <a:schemeClr val="accent6"/>
                        </a:solidFill>
                        <a:effectLst/>
                        <a:latin typeface="+mn-lt"/>
                      </a:endParaRPr>
                    </a:p>
                  </a:txBody>
                  <a:tcPr marL="4763" marR="4763" marT="4763" marB="0" anchor="b">
                    <a:noFill/>
                  </a:tcPr>
                </a:tc>
                <a:extLst>
                  <a:ext uri="{0D108BD9-81ED-4DB2-BD59-A6C34878D82A}">
                    <a16:rowId xmlns:a16="http://schemas.microsoft.com/office/drawing/2014/main" val="1433398753"/>
                  </a:ext>
                </a:extLst>
              </a:tr>
              <a:tr h="355435">
                <a:tc>
                  <a:txBody>
                    <a:bodyPr/>
                    <a:lstStyle/>
                    <a:p>
                      <a:pPr algn="l" rtl="0" fontAlgn="ctr"/>
                      <a:r>
                        <a:rPr lang="en-GB" sz="1200" u="sng" strike="noStrike">
                          <a:effectLst/>
                          <a:latin typeface="+mn-lt"/>
                        </a:rPr>
                        <a:t>Current Assets</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endParaRPr lang="en-GB" sz="1200" b="0" i="0" u="sng" strike="noStrike">
                        <a:solidFill>
                          <a:srgbClr val="0070C0"/>
                        </a:solidFill>
                        <a:effectLst/>
                        <a:latin typeface="+mn-lt"/>
                      </a:endParaRPr>
                    </a:p>
                  </a:txBody>
                  <a:tcPr marL="4763" marR="4763" marT="4763" marB="0" anchor="ctr">
                    <a:noFill/>
                  </a:tcPr>
                </a:tc>
                <a:tc>
                  <a:txBody>
                    <a:bodyPr/>
                    <a:lstStyle/>
                    <a:p>
                      <a:pPr algn="ctr" rtl="0" fontAlgn="ctr"/>
                      <a:endParaRPr lang="en-GB" sz="1200" b="0" i="0" u="sng" strike="noStrike">
                        <a:solidFill>
                          <a:schemeClr val="accent6"/>
                        </a:solidFill>
                        <a:effectLst/>
                        <a:latin typeface="+mn-lt"/>
                      </a:endParaRPr>
                    </a:p>
                  </a:txBody>
                  <a:tcPr marL="4763" marR="4763" marT="4763" marB="0" anchor="ctr">
                    <a:noFill/>
                  </a:tcPr>
                </a:tc>
                <a:tc>
                  <a:txBody>
                    <a:bodyPr/>
                    <a:lstStyle/>
                    <a:p>
                      <a:pPr algn="l" rtl="0" fontAlgn="ctr"/>
                      <a:r>
                        <a:rPr lang="en-GB" sz="1200" u="sng" strike="noStrike">
                          <a:effectLst/>
                          <a:latin typeface="+mn-lt"/>
                        </a:rPr>
                        <a:t>Current Liabilities</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endParaRPr lang="en-GB" sz="1200" b="0" i="0" u="sng" strike="noStrike">
                        <a:solidFill>
                          <a:srgbClr val="0070C0"/>
                        </a:solidFill>
                        <a:effectLst/>
                        <a:latin typeface="+mn-lt"/>
                      </a:endParaRPr>
                    </a:p>
                  </a:txBody>
                  <a:tcPr marL="4763" marR="4763" marT="4763" marB="0" anchor="ctr">
                    <a:noFill/>
                  </a:tcPr>
                </a:tc>
                <a:tc>
                  <a:txBody>
                    <a:bodyPr/>
                    <a:lstStyle/>
                    <a:p>
                      <a:pPr algn="ctr" rtl="0" fontAlgn="ctr"/>
                      <a:endParaRPr lang="en-GB" sz="1200" b="0" i="0" u="sng"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1822956003"/>
                  </a:ext>
                </a:extLst>
              </a:tr>
              <a:tr h="255244">
                <a:tc>
                  <a:txBody>
                    <a:bodyPr/>
                    <a:lstStyle/>
                    <a:p>
                      <a:pPr algn="l" rtl="0" fontAlgn="ctr"/>
                      <a:r>
                        <a:rPr lang="en-GB" sz="1200" u="none" strike="noStrike">
                          <a:effectLst/>
                          <a:latin typeface="+mn-lt"/>
                        </a:rPr>
                        <a:t>Cash</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305</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1,055</a:t>
                      </a:r>
                      <a:endParaRPr lang="en-GB" sz="1200" b="0" i="0" u="none" strike="noStrike">
                        <a:solidFill>
                          <a:schemeClr val="accent6"/>
                        </a:solidFill>
                        <a:effectLst/>
                        <a:latin typeface="+mn-lt"/>
                      </a:endParaRPr>
                    </a:p>
                  </a:txBody>
                  <a:tcPr marL="4763" marR="4763" marT="4763" marB="0" anchor="ctr">
                    <a:noFill/>
                  </a:tcPr>
                </a:tc>
                <a:tc>
                  <a:txBody>
                    <a:bodyPr/>
                    <a:lstStyle/>
                    <a:p>
                      <a:pPr algn="l" rtl="0" fontAlgn="ctr"/>
                      <a:r>
                        <a:rPr lang="en-GB" sz="1200" u="none" strike="noStrike">
                          <a:effectLst/>
                          <a:latin typeface="+mn-lt"/>
                        </a:rPr>
                        <a:t>Accounts payable</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10,658</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1443562271"/>
                  </a:ext>
                </a:extLst>
              </a:tr>
              <a:tr h="255244">
                <a:tc>
                  <a:txBody>
                    <a:bodyPr/>
                    <a:lstStyle/>
                    <a:p>
                      <a:pPr algn="l" rtl="0" fontAlgn="ctr"/>
                      <a:r>
                        <a:rPr lang="en-GB" sz="1200" u="none" strike="noStrike">
                          <a:effectLst/>
                          <a:latin typeface="+mn-lt"/>
                        </a:rPr>
                        <a:t>Cash equivalents</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557</a:t>
                      </a:r>
                      <a:endParaRPr lang="en-GB" sz="1200" b="0" i="0" u="none" strike="noStrike">
                        <a:solidFill>
                          <a:schemeClr val="accent6"/>
                        </a:solidFill>
                        <a:effectLst/>
                        <a:latin typeface="+mn-lt"/>
                      </a:endParaRPr>
                    </a:p>
                  </a:txBody>
                  <a:tcPr marL="4763" marR="4763" marT="4763" marB="0" anchor="ctr">
                    <a:noFill/>
                  </a:tcPr>
                </a:tc>
                <a:tc>
                  <a:txBody>
                    <a:bodyPr/>
                    <a:lstStyle/>
                    <a:p>
                      <a:pPr algn="l" rtl="0" fontAlgn="ctr"/>
                      <a:r>
                        <a:rPr lang="en-GB" sz="1200" u="none" strike="noStrike">
                          <a:effectLst/>
                          <a:latin typeface="+mn-lt"/>
                        </a:rPr>
                        <a:t>Accrued expenses and other</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3,396</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1,389</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2327477729"/>
                  </a:ext>
                </a:extLst>
              </a:tr>
              <a:tr h="255244">
                <a:tc>
                  <a:txBody>
                    <a:bodyPr/>
                    <a:lstStyle/>
                    <a:p>
                      <a:pPr algn="l" rtl="0" fontAlgn="ctr"/>
                      <a:r>
                        <a:rPr lang="en-GB" sz="1200" u="none" strike="noStrike">
                          <a:effectLst/>
                          <a:latin typeface="+mn-lt"/>
                        </a:rPr>
                        <a:t>Inventories</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660</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1,732</a:t>
                      </a:r>
                      <a:endParaRPr lang="en-GB" sz="1200" b="0" i="0" u="none" strike="noStrike">
                        <a:solidFill>
                          <a:schemeClr val="accent6"/>
                        </a:solidFill>
                        <a:effectLst/>
                        <a:latin typeface="+mn-lt"/>
                      </a:endParaRPr>
                    </a:p>
                  </a:txBody>
                  <a:tcPr marL="4763" marR="4763" marT="4763" marB="0" anchor="ctr">
                    <a:noFill/>
                  </a:tcPr>
                </a:tc>
                <a:tc>
                  <a:txBody>
                    <a:bodyPr/>
                    <a:lstStyle/>
                    <a:p>
                      <a:pPr algn="l" rtl="0" fontAlgn="ctr"/>
                      <a:r>
                        <a:rPr lang="en-GB" sz="1200" u="none" strike="noStrike">
                          <a:effectLst/>
                          <a:latin typeface="+mn-lt"/>
                        </a:rPr>
                        <a:t>Unearned revenue</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dirty="0">
                          <a:solidFill>
                            <a:srgbClr val="0070C0"/>
                          </a:solidFill>
                          <a:effectLst/>
                          <a:latin typeface="+mn-lt"/>
                        </a:rPr>
                        <a:t>-</a:t>
                      </a:r>
                      <a:endParaRPr lang="en-GB" sz="1200" b="0" i="0" u="none" strike="noStrike" dirty="0">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3307900514"/>
                  </a:ext>
                </a:extLst>
              </a:tr>
              <a:tr h="810799">
                <a:tc>
                  <a:txBody>
                    <a:bodyPr/>
                    <a:lstStyle/>
                    <a:p>
                      <a:pPr algn="l" rtl="0" fontAlgn="ctr"/>
                      <a:r>
                        <a:rPr lang="en-GB" sz="1200" u="none" strike="noStrike">
                          <a:effectLst/>
                          <a:latin typeface="+mn-lt"/>
                        </a:rPr>
                        <a:t>Accounts receivable, net</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811</a:t>
                      </a:r>
                      <a:endParaRPr lang="en-GB" sz="1200" b="0" i="0" u="none" strike="noStrike">
                        <a:solidFill>
                          <a:schemeClr val="accent6"/>
                        </a:solidFill>
                        <a:effectLst/>
                        <a:latin typeface="+mn-lt"/>
                      </a:endParaRPr>
                    </a:p>
                  </a:txBody>
                  <a:tcPr marL="4763" marR="4763" marT="4763" marB="0" anchor="ctr">
                    <a:noFill/>
                  </a:tcPr>
                </a:tc>
                <a:tc>
                  <a:txBody>
                    <a:bodyPr/>
                    <a:lstStyle/>
                    <a:p>
                      <a:pPr marL="268288" indent="0"/>
                      <a:r>
                        <a:rPr lang="en-GB" sz="1200">
                          <a:latin typeface="+mn-lt"/>
                        </a:rPr>
                        <a:t>Total Current Liabilities</a:t>
                      </a:r>
                    </a:p>
                  </a:txBody>
                  <a:tcPr marL="4763" marR="4763" marT="4763" marB="0" anchor="ctr">
                    <a:noFill/>
                  </a:tcPr>
                </a:tc>
                <a:tc>
                  <a:txBody>
                    <a:bodyPr/>
                    <a:lstStyle/>
                    <a:p>
                      <a:pPr algn="ctr"/>
                      <a:r>
                        <a:rPr lang="en-GB" sz="1200" b="0" i="0" kern="1200">
                          <a:solidFill>
                            <a:srgbClr val="0070C0"/>
                          </a:solidFill>
                          <a:effectLst/>
                          <a:latin typeface="+mn-lt"/>
                          <a:ea typeface="+mn-ea"/>
                          <a:cs typeface="+mn-cs"/>
                        </a:rPr>
                        <a:t>3,396</a:t>
                      </a:r>
                      <a:endParaRPr lang="en-GB" sz="1200">
                        <a:solidFill>
                          <a:srgbClr val="0070C0"/>
                        </a:solidFill>
                        <a:latin typeface="+mn-lt"/>
                      </a:endParaRPr>
                    </a:p>
                  </a:txBody>
                  <a:tcPr marL="4763" marR="4763" marT="4763" marB="0"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kern="1200">
                          <a:solidFill>
                            <a:schemeClr val="accent6"/>
                          </a:solidFill>
                          <a:effectLst/>
                          <a:latin typeface="+mn-lt"/>
                          <a:ea typeface="+mn-ea"/>
                          <a:cs typeface="+mn-cs"/>
                        </a:rPr>
                        <a:t>12,047</a:t>
                      </a:r>
                      <a:endParaRPr lang="en-GB" sz="1200">
                        <a:solidFill>
                          <a:schemeClr val="accent6"/>
                        </a:solidFill>
                        <a:latin typeface="+mn-lt"/>
                      </a:endParaRPr>
                    </a:p>
                  </a:txBody>
                  <a:tcPr marL="4763" marR="4763" marT="4763" marB="0" anchor="ctr">
                    <a:noFill/>
                  </a:tcPr>
                </a:tc>
                <a:extLst>
                  <a:ext uri="{0D108BD9-81ED-4DB2-BD59-A6C34878D82A}">
                    <a16:rowId xmlns:a16="http://schemas.microsoft.com/office/drawing/2014/main" val="3677173412"/>
                  </a:ext>
                </a:extLst>
              </a:tr>
              <a:tr h="255244">
                <a:tc>
                  <a:txBody>
                    <a:bodyPr/>
                    <a:lstStyle/>
                    <a:p>
                      <a:pPr marL="268288" indent="0" algn="l" rtl="0" fontAlgn="ctr"/>
                      <a:r>
                        <a:rPr lang="en-GB" sz="1200" b="0" i="0" u="none" strike="noStrike">
                          <a:solidFill>
                            <a:srgbClr val="000000"/>
                          </a:solidFill>
                          <a:effectLst/>
                          <a:latin typeface="+mn-lt"/>
                        </a:rPr>
                        <a:t>Total Current Assets</a:t>
                      </a:r>
                    </a:p>
                  </a:txBody>
                  <a:tcPr marL="214313" marR="4763" marT="4763" marB="0" anchor="ctr">
                    <a:noFill/>
                  </a:tcPr>
                </a:tc>
                <a:tc>
                  <a:txBody>
                    <a:bodyPr/>
                    <a:lstStyle/>
                    <a:p>
                      <a:pPr algn="ctr" rtl="0" fontAlgn="ctr"/>
                      <a:r>
                        <a:rPr lang="en-GB" sz="1200" b="0" i="0" u="none" strike="noStrike">
                          <a:solidFill>
                            <a:srgbClr val="0070C0"/>
                          </a:solidFill>
                          <a:effectLst/>
                          <a:latin typeface="+mn-lt"/>
                        </a:rPr>
                        <a:t>1,322</a:t>
                      </a:r>
                    </a:p>
                  </a:txBody>
                  <a:tcPr marL="4763" marR="4763" marT="4763" marB="0" anchor="ctr">
                    <a:noFill/>
                  </a:tcPr>
                </a:tc>
                <a:tc>
                  <a:txBody>
                    <a:bodyPr/>
                    <a:lstStyle/>
                    <a:p>
                      <a:pPr algn="ctr" rtl="0" fontAlgn="ctr"/>
                      <a:r>
                        <a:rPr lang="en-GB" sz="1200" b="0" i="0" u="none" strike="noStrike">
                          <a:solidFill>
                            <a:schemeClr val="accent6"/>
                          </a:solidFill>
                          <a:effectLst/>
                          <a:latin typeface="+mn-lt"/>
                        </a:rPr>
                        <a:t>7,586</a:t>
                      </a:r>
                    </a:p>
                  </a:txBody>
                  <a:tcPr marL="4763" marR="4763" marT="4763" marB="0" anchor="ctr">
                    <a:noFill/>
                  </a:tcPr>
                </a:tc>
                <a:tc>
                  <a:txBody>
                    <a:bodyPr/>
                    <a:lstStyle/>
                    <a:p>
                      <a:pPr algn="l" rtl="0" fontAlgn="ctr"/>
                      <a:r>
                        <a:rPr lang="en-GB" sz="1200" u="sng" strike="noStrike">
                          <a:effectLst/>
                          <a:latin typeface="+mn-lt"/>
                        </a:rPr>
                        <a:t>Long-term debt</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r>
                        <a:rPr lang="en-GB" sz="1200" u="none" strike="noStrike">
                          <a:solidFill>
                            <a:srgbClr val="0070C0"/>
                          </a:solidFill>
                          <a:effectLst/>
                          <a:latin typeface="+mn-lt"/>
                        </a:rPr>
                        <a:t>2,983</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8,117</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134353942"/>
                  </a:ext>
                </a:extLst>
              </a:tr>
              <a:tr h="255244">
                <a:tc>
                  <a:txBody>
                    <a:bodyPr/>
                    <a:lstStyle/>
                    <a:p>
                      <a:pPr algn="l" rtl="0" fontAlgn="ctr"/>
                      <a:r>
                        <a:rPr lang="en-GB" sz="1200" u="sng" strike="noStrike">
                          <a:effectLst/>
                          <a:latin typeface="+mn-lt"/>
                        </a:rPr>
                        <a:t>Property and equipment, net</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r>
                        <a:rPr lang="en-GB" sz="1200" u="none" strike="noStrike">
                          <a:solidFill>
                            <a:srgbClr val="0070C0"/>
                          </a:solidFill>
                          <a:effectLst/>
                          <a:latin typeface="+mn-lt"/>
                        </a:rPr>
                        <a:t>9,598</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20,351</a:t>
                      </a:r>
                      <a:endParaRPr lang="en-GB" sz="1200" b="0" i="0" u="none" strike="noStrike">
                        <a:solidFill>
                          <a:schemeClr val="accent6"/>
                        </a:solidFill>
                        <a:effectLst/>
                        <a:latin typeface="+mn-lt"/>
                      </a:endParaRPr>
                    </a:p>
                  </a:txBody>
                  <a:tcPr marL="4763" marR="4763" marT="4763" marB="0" anchor="ctr">
                    <a:noFill/>
                  </a:tcPr>
                </a:tc>
                <a:tc>
                  <a:txBody>
                    <a:bodyPr/>
                    <a:lstStyle/>
                    <a:p>
                      <a:pPr algn="l" rtl="0" fontAlgn="ctr"/>
                      <a:r>
                        <a:rPr lang="en-GB" sz="1200" u="sng" strike="noStrike">
                          <a:effectLst/>
                          <a:latin typeface="+mn-lt"/>
                        </a:rPr>
                        <a:t>Shareholders’ equity</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r>
                        <a:rPr lang="en-GB" sz="1200" u="none" strike="noStrike">
                          <a:solidFill>
                            <a:srgbClr val="0070C0"/>
                          </a:solidFill>
                          <a:effectLst/>
                          <a:latin typeface="+mn-lt"/>
                        </a:rPr>
                        <a:t>3,012</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3,705</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4020407800"/>
                  </a:ext>
                </a:extLst>
              </a:tr>
              <a:tr h="255244">
                <a:tc>
                  <a:txBody>
                    <a:bodyPr/>
                    <a:lstStyle/>
                    <a:p>
                      <a:pPr algn="l" rtl="0" fontAlgn="ctr"/>
                      <a:r>
                        <a:rPr lang="en-GB" sz="1200" u="sng" strike="noStrike">
                          <a:effectLst/>
                          <a:latin typeface="+mn-lt"/>
                        </a:rPr>
                        <a:t>Other assets</a:t>
                      </a:r>
                      <a:endParaRPr lang="en-GB" sz="1200" b="0" i="0" u="sng" strike="noStrike">
                        <a:solidFill>
                          <a:srgbClr val="000000"/>
                        </a:solidFill>
                        <a:effectLst/>
                        <a:latin typeface="+mn-lt"/>
                      </a:endParaRPr>
                    </a:p>
                  </a:txBody>
                  <a:tcPr marL="4763" marR="4763" marT="4763" marB="0" anchor="ctr">
                    <a:noFill/>
                  </a:tcPr>
                </a:tc>
                <a:tc>
                  <a:txBody>
                    <a:bodyPr/>
                    <a:lstStyle/>
                    <a:p>
                      <a:pPr algn="ctr" rtl="0" fontAlgn="ctr"/>
                      <a:r>
                        <a:rPr lang="en-GB" sz="1200" u="none" strike="noStrike">
                          <a:solidFill>
                            <a:srgbClr val="0070C0"/>
                          </a:solidFill>
                          <a:effectLst/>
                          <a:latin typeface="+mn-lt"/>
                        </a:rPr>
                        <a:t>-</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a:t>
                      </a:r>
                      <a:endParaRPr lang="en-GB" sz="1200" b="0" i="0" u="none" strike="noStrike">
                        <a:solidFill>
                          <a:schemeClr val="accent6"/>
                        </a:solidFill>
                        <a:effectLst/>
                        <a:latin typeface="+mn-lt"/>
                      </a:endParaRPr>
                    </a:p>
                  </a:txBody>
                  <a:tcPr marL="4763" marR="4763" marT="4763" marB="0" anchor="ctr">
                    <a:noFill/>
                  </a:tcPr>
                </a:tc>
                <a:tc>
                  <a:txBody>
                    <a:bodyPr/>
                    <a:lstStyle/>
                    <a:p>
                      <a:pPr algn="l" rtl="0" fontAlgn="ctr"/>
                      <a:r>
                        <a:rPr lang="en-GB" sz="1200" u="none" strike="noStrike">
                          <a:effectLst/>
                          <a:latin typeface="+mn-lt"/>
                        </a:rPr>
                        <a:t>Retained Earnings</a:t>
                      </a:r>
                      <a:endParaRPr lang="en-GB" sz="1200" b="0" i="0" u="none" strike="noStrike">
                        <a:solidFill>
                          <a:srgbClr val="000000"/>
                        </a:solidFill>
                        <a:effectLst/>
                        <a:latin typeface="+mn-lt"/>
                      </a:endParaRPr>
                    </a:p>
                  </a:txBody>
                  <a:tcPr marL="214313" marR="4763" marT="4763" marB="0" anchor="ctr">
                    <a:noFill/>
                  </a:tcPr>
                </a:tc>
                <a:tc>
                  <a:txBody>
                    <a:bodyPr/>
                    <a:lstStyle/>
                    <a:p>
                      <a:pPr algn="ctr" rtl="0" fontAlgn="ctr"/>
                      <a:r>
                        <a:rPr lang="en-GB" sz="1200" u="none" strike="noStrike">
                          <a:solidFill>
                            <a:srgbClr val="0070C0"/>
                          </a:solidFill>
                          <a:effectLst/>
                          <a:latin typeface="+mn-lt"/>
                        </a:rPr>
                        <a:t>1,529</a:t>
                      </a:r>
                      <a:endParaRPr lang="en-GB" sz="1200" b="0" i="0" u="none" strike="noStrike">
                        <a:solidFill>
                          <a:srgbClr val="0070C0"/>
                        </a:solidFill>
                        <a:effectLst/>
                        <a:latin typeface="+mn-lt"/>
                      </a:endParaRPr>
                    </a:p>
                  </a:txBody>
                  <a:tcPr marL="4763" marR="4763" marT="4763" marB="0" anchor="ctr">
                    <a:noFill/>
                  </a:tcPr>
                </a:tc>
                <a:tc>
                  <a:txBody>
                    <a:bodyPr/>
                    <a:lstStyle/>
                    <a:p>
                      <a:pPr algn="ctr" rtl="0" fontAlgn="ctr"/>
                      <a:r>
                        <a:rPr lang="en-GB" sz="1200" u="none" strike="noStrike">
                          <a:solidFill>
                            <a:schemeClr val="accent6"/>
                          </a:solidFill>
                          <a:effectLst/>
                          <a:latin typeface="+mn-lt"/>
                        </a:rPr>
                        <a:t>4,068</a:t>
                      </a:r>
                      <a:endParaRPr lang="en-GB" sz="1200" b="0" i="0" u="none" strike="noStrike">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3453947344"/>
                  </a:ext>
                </a:extLst>
              </a:tr>
              <a:tr h="256021">
                <a:tc>
                  <a:txBody>
                    <a:bodyPr/>
                    <a:lstStyle/>
                    <a:p>
                      <a:pPr marL="0" indent="0" algn="l" rtl="0" fontAlgn="ctr"/>
                      <a:r>
                        <a:rPr lang="en-GB" sz="1200" b="1" u="none" strike="noStrike" dirty="0">
                          <a:effectLst/>
                          <a:latin typeface="+mn-lt"/>
                        </a:rPr>
                        <a:t>Total Assets</a:t>
                      </a:r>
                      <a:endParaRPr lang="en-GB" sz="1200" b="1" i="0" u="none" strike="noStrike" dirty="0">
                        <a:solidFill>
                          <a:srgbClr val="000000"/>
                        </a:solidFill>
                        <a:effectLst/>
                        <a:latin typeface="+mn-lt"/>
                      </a:endParaRPr>
                    </a:p>
                  </a:txBody>
                  <a:tcPr marL="642938" marR="4763" marT="4763" marB="0" anchor="ctr">
                    <a:noFill/>
                  </a:tcPr>
                </a:tc>
                <a:tc>
                  <a:txBody>
                    <a:bodyPr/>
                    <a:lstStyle/>
                    <a:p>
                      <a:pPr algn="ctr" rtl="0" fontAlgn="ctr"/>
                      <a:r>
                        <a:rPr lang="en-GB" sz="1200" b="1" u="none" strike="noStrike">
                          <a:solidFill>
                            <a:srgbClr val="0070C0"/>
                          </a:solidFill>
                          <a:effectLst/>
                          <a:latin typeface="+mn-lt"/>
                        </a:rPr>
                        <a:t>10,920</a:t>
                      </a:r>
                      <a:endParaRPr lang="en-GB" sz="1200" b="1" i="0" u="none" strike="noStrike">
                        <a:solidFill>
                          <a:srgbClr val="0070C0"/>
                        </a:solidFill>
                        <a:effectLst/>
                        <a:latin typeface="+mn-lt"/>
                      </a:endParaRPr>
                    </a:p>
                  </a:txBody>
                  <a:tcPr marL="4763" marR="4763" marT="4763" marB="0" anchor="ctr">
                    <a:noFill/>
                  </a:tcPr>
                </a:tc>
                <a:tc>
                  <a:txBody>
                    <a:bodyPr/>
                    <a:lstStyle/>
                    <a:p>
                      <a:pPr algn="ctr" rtl="0" fontAlgn="ctr"/>
                      <a:r>
                        <a:rPr lang="en-GB" sz="1200" b="1" u="none" strike="noStrike" dirty="0">
                          <a:solidFill>
                            <a:schemeClr val="accent6"/>
                          </a:solidFill>
                          <a:effectLst/>
                          <a:latin typeface="+mn-lt"/>
                        </a:rPr>
                        <a:t>27,937</a:t>
                      </a:r>
                      <a:endParaRPr lang="en-GB" sz="1200" b="1" i="0" u="none" strike="noStrike" dirty="0">
                        <a:solidFill>
                          <a:schemeClr val="accent6"/>
                        </a:solidFill>
                        <a:effectLst/>
                        <a:latin typeface="+mn-lt"/>
                      </a:endParaRPr>
                    </a:p>
                  </a:txBody>
                  <a:tcPr marL="4763" marR="4763" marT="4763" marB="0" anchor="ctr">
                    <a:noFill/>
                  </a:tcPr>
                </a:tc>
                <a:tc>
                  <a:txBody>
                    <a:bodyPr/>
                    <a:lstStyle/>
                    <a:p>
                      <a:pPr marL="0" indent="0" algn="l" rtl="0" fontAlgn="ctr"/>
                      <a:r>
                        <a:rPr lang="en-GB" sz="1200" b="1" u="none" strike="noStrike" dirty="0">
                          <a:effectLst/>
                          <a:latin typeface="+mn-lt"/>
                        </a:rPr>
                        <a:t>Total Liabilities and Equity</a:t>
                      </a:r>
                      <a:endParaRPr lang="en-GB" sz="1200" b="1" i="0" u="none" strike="noStrike" dirty="0">
                        <a:solidFill>
                          <a:srgbClr val="000000"/>
                        </a:solidFill>
                        <a:effectLst/>
                        <a:latin typeface="+mn-lt"/>
                      </a:endParaRPr>
                    </a:p>
                  </a:txBody>
                  <a:tcPr marL="357188" marR="4763" marT="4763" marB="0" anchor="ctr">
                    <a:noFill/>
                  </a:tcPr>
                </a:tc>
                <a:tc>
                  <a:txBody>
                    <a:bodyPr/>
                    <a:lstStyle/>
                    <a:p>
                      <a:pPr algn="ctr" rtl="0" fontAlgn="ctr"/>
                      <a:r>
                        <a:rPr lang="en-GB" sz="1200" b="1" u="none" strike="noStrike">
                          <a:solidFill>
                            <a:srgbClr val="0070C0"/>
                          </a:solidFill>
                          <a:effectLst/>
                          <a:latin typeface="+mn-lt"/>
                        </a:rPr>
                        <a:t>10,920</a:t>
                      </a:r>
                      <a:endParaRPr lang="en-GB" sz="1200" b="1" i="0" u="none" strike="noStrike">
                        <a:solidFill>
                          <a:srgbClr val="0070C0"/>
                        </a:solidFill>
                        <a:effectLst/>
                        <a:latin typeface="+mn-lt"/>
                      </a:endParaRPr>
                    </a:p>
                  </a:txBody>
                  <a:tcPr marL="4763" marR="4763" marT="4763" marB="0" anchor="ctr">
                    <a:noFill/>
                  </a:tcPr>
                </a:tc>
                <a:tc>
                  <a:txBody>
                    <a:bodyPr/>
                    <a:lstStyle/>
                    <a:p>
                      <a:pPr algn="ctr" rtl="0" fontAlgn="ctr"/>
                      <a:r>
                        <a:rPr lang="en-GB" sz="1200" b="1" u="none" strike="noStrike" dirty="0">
                          <a:solidFill>
                            <a:schemeClr val="accent6"/>
                          </a:solidFill>
                          <a:effectLst/>
                          <a:latin typeface="+mn-lt"/>
                        </a:rPr>
                        <a:t>27,937</a:t>
                      </a:r>
                      <a:endParaRPr lang="en-GB" sz="1200" b="1" i="0" u="none" strike="noStrike" dirty="0">
                        <a:solidFill>
                          <a:schemeClr val="accent6"/>
                        </a:solidFill>
                        <a:effectLst/>
                        <a:latin typeface="+mn-lt"/>
                      </a:endParaRPr>
                    </a:p>
                  </a:txBody>
                  <a:tcPr marL="4763" marR="4763" marT="4763" marB="0" anchor="ctr">
                    <a:noFill/>
                  </a:tcPr>
                </a:tc>
                <a:extLst>
                  <a:ext uri="{0D108BD9-81ED-4DB2-BD59-A6C34878D82A}">
                    <a16:rowId xmlns:a16="http://schemas.microsoft.com/office/drawing/2014/main" val="2570137678"/>
                  </a:ext>
                </a:extLst>
              </a:tr>
            </a:tbl>
          </a:graphicData>
        </a:graphic>
      </p:graphicFrame>
    </p:spTree>
    <p:extLst>
      <p:ext uri="{BB962C8B-B14F-4D97-AF65-F5344CB8AC3E}">
        <p14:creationId xmlns:p14="http://schemas.microsoft.com/office/powerpoint/2010/main" val="246936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703406"/>
            <a:ext cx="10735056" cy="897599"/>
          </a:xfrm>
        </p:spPr>
        <p:txBody>
          <a:bodyPr>
            <a:normAutofit/>
          </a:bodyPr>
          <a:lstStyle/>
          <a:p>
            <a:r>
              <a:rPr lang="en-GB" dirty="0"/>
              <a:t>Cross Sectional Analysis – Morrison’s vs Sainsbury’s</a:t>
            </a:r>
          </a:p>
        </p:txBody>
      </p:sp>
      <p:sp>
        <p:nvSpPr>
          <p:cNvPr id="3" name="Content Placeholder 2"/>
          <p:cNvSpPr>
            <a:spLocks noGrp="1"/>
          </p:cNvSpPr>
          <p:nvPr>
            <p:ph idx="1"/>
          </p:nvPr>
        </p:nvSpPr>
        <p:spPr>
          <a:xfrm>
            <a:off x="1005840" y="1601005"/>
            <a:ext cx="9376410" cy="497658"/>
          </a:xfrm>
          <a:noFill/>
          <a:ln>
            <a:noFill/>
          </a:ln>
        </p:spPr>
        <p:txBody>
          <a:bodyPr>
            <a:noAutofit/>
          </a:bodyPr>
          <a:lstStyle/>
          <a:p>
            <a:pPr marL="0" indent="0">
              <a:spcBef>
                <a:spcPts val="1800"/>
              </a:spcBef>
              <a:buClr>
                <a:srgbClr val="C00000"/>
              </a:buClr>
              <a:buNone/>
              <a:tabLst>
                <a:tab pos="670322" algn="l"/>
              </a:tabLst>
            </a:pPr>
            <a:r>
              <a:rPr lang="en-GB" sz="6600" dirty="0">
                <a:solidFill>
                  <a:schemeClr val="accent1"/>
                </a:solidFill>
              </a:rPr>
              <a:t>IS</a:t>
            </a:r>
          </a:p>
        </p:txBody>
      </p:sp>
      <p:sp>
        <p:nvSpPr>
          <p:cNvPr id="4" name="Slide Number Placeholder 3"/>
          <p:cNvSpPr>
            <a:spLocks noGrp="1"/>
          </p:cNvSpPr>
          <p:nvPr>
            <p:ph type="sldNum" sz="quarter" idx="12"/>
          </p:nvPr>
        </p:nvSpPr>
        <p:spPr>
          <a:xfrm>
            <a:off x="10061568" y="5710698"/>
            <a:ext cx="679467" cy="443896"/>
          </a:xfrm>
          <a:ln w="12700"/>
        </p:spPr>
        <p:txBody>
          <a:bodyPr/>
          <a:lstStyle/>
          <a:p>
            <a:fld id="{0F99C4FB-888A-4D12-A1C4-C744D94026CD}" type="slidenum">
              <a:rPr lang="en-GB" sz="1350">
                <a:solidFill>
                  <a:schemeClr val="tx1">
                    <a:lumMod val="50000"/>
                    <a:lumOff val="50000"/>
                  </a:schemeClr>
                </a:solidFill>
              </a:rPr>
              <a:t>14</a:t>
            </a:fld>
            <a:endParaRPr lang="en-GB" sz="1350">
              <a:solidFill>
                <a:schemeClr val="tx1">
                  <a:lumMod val="50000"/>
                  <a:lumOff val="50000"/>
                </a:schemeClr>
              </a:solidFill>
            </a:endParaRPr>
          </a:p>
        </p:txBody>
      </p:sp>
      <p:graphicFrame>
        <p:nvGraphicFramePr>
          <p:cNvPr id="6" name="Table 5">
            <a:extLst>
              <a:ext uri="{FF2B5EF4-FFF2-40B4-BE49-F238E27FC236}">
                <a16:creationId xmlns:a16="http://schemas.microsoft.com/office/drawing/2014/main" id="{0BED12CC-9557-4B24-8845-2777142F17C9}"/>
              </a:ext>
            </a:extLst>
          </p:cNvPr>
          <p:cNvGraphicFramePr>
            <a:graphicFrameLocks noGrp="1"/>
          </p:cNvGraphicFramePr>
          <p:nvPr>
            <p:extLst>
              <p:ext uri="{D42A27DB-BD31-4B8C-83A1-F6EECF244321}">
                <p14:modId xmlns:p14="http://schemas.microsoft.com/office/powerpoint/2010/main" val="2016072743"/>
              </p:ext>
            </p:extLst>
          </p:nvPr>
        </p:nvGraphicFramePr>
        <p:xfrm>
          <a:off x="2537460" y="2098663"/>
          <a:ext cx="7863841" cy="3655993"/>
        </p:xfrm>
        <a:graphic>
          <a:graphicData uri="http://schemas.openxmlformats.org/drawingml/2006/table">
            <a:tbl>
              <a:tblPr>
                <a:tableStyleId>{5C22544A-7EE6-4342-B048-85BDC9FD1C3A}</a:tableStyleId>
              </a:tblPr>
              <a:tblGrid>
                <a:gridCol w="4572891">
                  <a:extLst>
                    <a:ext uri="{9D8B030D-6E8A-4147-A177-3AD203B41FA5}">
                      <a16:colId xmlns:a16="http://schemas.microsoft.com/office/drawing/2014/main" val="4003395771"/>
                    </a:ext>
                  </a:extLst>
                </a:gridCol>
                <a:gridCol w="1645475">
                  <a:extLst>
                    <a:ext uri="{9D8B030D-6E8A-4147-A177-3AD203B41FA5}">
                      <a16:colId xmlns:a16="http://schemas.microsoft.com/office/drawing/2014/main" val="2047649248"/>
                    </a:ext>
                  </a:extLst>
                </a:gridCol>
                <a:gridCol w="1645475">
                  <a:extLst>
                    <a:ext uri="{9D8B030D-6E8A-4147-A177-3AD203B41FA5}">
                      <a16:colId xmlns:a16="http://schemas.microsoft.com/office/drawing/2014/main" val="1222362997"/>
                    </a:ext>
                  </a:extLst>
                </a:gridCol>
              </a:tblGrid>
              <a:tr h="332363">
                <a:tc>
                  <a:txBody>
                    <a:bodyPr/>
                    <a:lstStyle/>
                    <a:p>
                      <a:pPr algn="l" fontAlgn="b"/>
                      <a:r>
                        <a:rPr lang="en-GB" sz="1500" u="none" strike="noStrike">
                          <a:effectLst/>
                        </a:rPr>
                        <a:t> </a:t>
                      </a:r>
                      <a:endParaRPr lang="en-GB" sz="1500" b="0" i="0" u="none" strike="noStrike">
                        <a:solidFill>
                          <a:srgbClr val="000000"/>
                        </a:solidFill>
                        <a:effectLst/>
                        <a:latin typeface="Calibri" panose="020F0502020204030204" pitchFamily="34" charset="0"/>
                      </a:endParaRPr>
                    </a:p>
                  </a:txBody>
                  <a:tcPr marL="4763" marR="4763" marT="4763" marB="0" anchor="b">
                    <a:noFill/>
                  </a:tcPr>
                </a:tc>
                <a:tc gridSpan="2">
                  <a:txBody>
                    <a:bodyPr/>
                    <a:lstStyle/>
                    <a:p>
                      <a:pPr algn="ctr" fontAlgn="b"/>
                      <a:r>
                        <a:rPr lang="en-GB" sz="1500" b="1" u="none" strike="noStrike">
                          <a:effectLst/>
                        </a:rPr>
                        <a:t>2020 (£m)</a:t>
                      </a:r>
                      <a:endParaRPr lang="en-GB" sz="1500" b="1" i="0" u="none" strike="noStrike">
                        <a:solidFill>
                          <a:srgbClr val="000000"/>
                        </a:solidFill>
                        <a:effectLst/>
                        <a:latin typeface="Calibri" panose="020F0502020204030204" pitchFamily="34" charset="0"/>
                      </a:endParaRPr>
                    </a:p>
                  </a:txBody>
                  <a:tcPr marL="4763" marR="4763" marT="4763" marB="0" anchor="b">
                    <a:noFill/>
                  </a:tcPr>
                </a:tc>
                <a:tc hMerge="1">
                  <a:txBody>
                    <a:bodyPr/>
                    <a:lstStyle/>
                    <a:p>
                      <a:endParaRPr lang="en-GB"/>
                    </a:p>
                  </a:txBody>
                  <a:tcPr/>
                </a:tc>
                <a:extLst>
                  <a:ext uri="{0D108BD9-81ED-4DB2-BD59-A6C34878D82A}">
                    <a16:rowId xmlns:a16="http://schemas.microsoft.com/office/drawing/2014/main" val="2185082430"/>
                  </a:ext>
                </a:extLst>
              </a:tr>
              <a:tr h="332363">
                <a:tc>
                  <a:txBody>
                    <a:bodyPr/>
                    <a:lstStyle/>
                    <a:p>
                      <a:pPr algn="l" fontAlgn="b"/>
                      <a:r>
                        <a:rPr lang="en-GB" sz="1500" u="none" strike="noStrike">
                          <a:effectLst/>
                        </a:rPr>
                        <a:t> </a:t>
                      </a:r>
                      <a:endParaRPr lang="en-GB" sz="1500" b="0" i="0" u="none" strike="noStrike">
                        <a:solidFill>
                          <a:srgbClr val="000000"/>
                        </a:solidFill>
                        <a:effectLst/>
                        <a:latin typeface="Calibri" panose="020F0502020204030204" pitchFamily="34" charset="0"/>
                      </a:endParaRPr>
                    </a:p>
                  </a:txBody>
                  <a:tcPr marL="4763" marR="4763" marT="4763" marB="0" anchor="b">
                    <a:noFill/>
                  </a:tcPr>
                </a:tc>
                <a:tc>
                  <a:txBody>
                    <a:bodyPr/>
                    <a:lstStyle/>
                    <a:p>
                      <a:pPr algn="ctr" rtl="0" fontAlgn="ctr"/>
                      <a:r>
                        <a:rPr lang="en-GB" sz="1500" b="1" u="none" strike="noStrike">
                          <a:solidFill>
                            <a:srgbClr val="0070C0"/>
                          </a:solidFill>
                          <a:effectLst/>
                        </a:rPr>
                        <a:t>Morrisons</a:t>
                      </a:r>
                      <a:endParaRPr lang="en-GB" sz="1500" b="1"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b="1" u="none" strike="noStrike">
                          <a:solidFill>
                            <a:schemeClr val="accent6"/>
                          </a:solidFill>
                          <a:effectLst/>
                        </a:rPr>
                        <a:t>Sainsbury's</a:t>
                      </a:r>
                      <a:endParaRPr lang="en-GB" sz="1500" b="1"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455694293"/>
                  </a:ext>
                </a:extLst>
              </a:tr>
              <a:tr h="332363">
                <a:tc>
                  <a:txBody>
                    <a:bodyPr/>
                    <a:lstStyle/>
                    <a:p>
                      <a:pPr algn="l" rtl="0" fontAlgn="ctr"/>
                      <a:r>
                        <a:rPr lang="en-GB" sz="1500" u="none" strike="noStrike">
                          <a:effectLst/>
                        </a:rPr>
                        <a:t>Sales</a:t>
                      </a:r>
                      <a:endParaRPr lang="en-GB" sz="1500" b="0" i="0" u="none" strike="noStrike">
                        <a:solidFill>
                          <a:srgbClr val="00000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rgbClr val="0070C0"/>
                          </a:solidFill>
                          <a:effectLst/>
                        </a:rPr>
                        <a:t>17,536</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28,993</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2918781195"/>
                  </a:ext>
                </a:extLst>
              </a:tr>
              <a:tr h="332363">
                <a:tc>
                  <a:txBody>
                    <a:bodyPr/>
                    <a:lstStyle/>
                    <a:p>
                      <a:pPr algn="l" rtl="0" fontAlgn="ctr"/>
                      <a:r>
                        <a:rPr lang="en-GB" sz="1500" u="none" strike="noStrike">
                          <a:effectLst/>
                        </a:rPr>
                        <a:t>– Cost of goods sold</a:t>
                      </a:r>
                      <a:endParaRPr lang="en-GB" sz="1500" b="0" i="0" u="none" strike="noStrike">
                        <a:solidFill>
                          <a:srgbClr val="000000"/>
                        </a:solidFill>
                        <a:effectLst/>
                        <a:latin typeface="Calibri" panose="020F0502020204030204" pitchFamily="34" charset="0"/>
                      </a:endParaRPr>
                    </a:p>
                  </a:txBody>
                  <a:tcPr marL="214313" marR="4763" marT="4763" marB="0" anchor="ctr">
                    <a:noFill/>
                  </a:tcPr>
                </a:tc>
                <a:tc>
                  <a:txBody>
                    <a:bodyPr/>
                    <a:lstStyle/>
                    <a:p>
                      <a:pPr algn="ctr" rtl="0" fontAlgn="ctr"/>
                      <a:r>
                        <a:rPr lang="en-GB" sz="1500" u="none" strike="noStrike" dirty="0">
                          <a:solidFill>
                            <a:srgbClr val="0070C0"/>
                          </a:solidFill>
                          <a:effectLst/>
                        </a:rPr>
                        <a:t>16,907</a:t>
                      </a:r>
                      <a:endParaRPr lang="en-GB" sz="1500" b="0" i="0" u="none" strike="noStrike" dirty="0">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26,977</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1977763275"/>
                  </a:ext>
                </a:extLst>
              </a:tr>
              <a:tr h="332363">
                <a:tc>
                  <a:txBody>
                    <a:bodyPr/>
                    <a:lstStyle/>
                    <a:p>
                      <a:pPr algn="l" rtl="0" fontAlgn="ctr"/>
                      <a:r>
                        <a:rPr lang="en-GB" sz="1500" u="none" strike="noStrike">
                          <a:effectLst/>
                        </a:rPr>
                        <a:t>Gross Profit</a:t>
                      </a:r>
                      <a:endParaRPr lang="en-GB" sz="1500" b="0" i="0" u="none" strike="noStrike">
                        <a:solidFill>
                          <a:srgbClr val="00000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rgbClr val="0070C0"/>
                          </a:solidFill>
                          <a:effectLst/>
                        </a:rPr>
                        <a:t>629</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2,016</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97176750"/>
                  </a:ext>
                </a:extLst>
              </a:tr>
              <a:tr h="332363">
                <a:tc>
                  <a:txBody>
                    <a:bodyPr/>
                    <a:lstStyle/>
                    <a:p>
                      <a:pPr algn="l" rtl="0" fontAlgn="ctr"/>
                      <a:r>
                        <a:rPr lang="en-GB" sz="1500" u="none" strike="noStrike">
                          <a:effectLst/>
                        </a:rPr>
                        <a:t>– Selling, administrative and other expenses</a:t>
                      </a:r>
                      <a:endParaRPr lang="en-GB" sz="1500" b="0" i="0" u="none" strike="noStrike">
                        <a:solidFill>
                          <a:srgbClr val="000000"/>
                        </a:solidFill>
                        <a:effectLst/>
                        <a:latin typeface="Calibri" panose="020F0502020204030204" pitchFamily="34" charset="0"/>
                      </a:endParaRPr>
                    </a:p>
                  </a:txBody>
                  <a:tcPr marL="214313" marR="4763" marT="4763" marB="0" anchor="ctr">
                    <a:noFill/>
                  </a:tcPr>
                </a:tc>
                <a:tc>
                  <a:txBody>
                    <a:bodyPr/>
                    <a:lstStyle/>
                    <a:p>
                      <a:pPr algn="ctr" rtl="0" fontAlgn="ctr"/>
                      <a:r>
                        <a:rPr lang="en-GB" sz="1500" u="none" strike="noStrike">
                          <a:solidFill>
                            <a:srgbClr val="0070C0"/>
                          </a:solidFill>
                          <a:effectLst/>
                        </a:rPr>
                        <a:t>174</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1,366</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666586547"/>
                  </a:ext>
                </a:extLst>
              </a:tr>
              <a:tr h="332363">
                <a:tc>
                  <a:txBody>
                    <a:bodyPr/>
                    <a:lstStyle/>
                    <a:p>
                      <a:pPr algn="l" rtl="0" fontAlgn="ctr"/>
                      <a:r>
                        <a:rPr lang="en-GB" sz="1500" u="none" strike="noStrike">
                          <a:effectLst/>
                        </a:rPr>
                        <a:t>Earnings Before Interest and Taxes (EBIT)</a:t>
                      </a:r>
                      <a:endParaRPr lang="en-GB" sz="1500" b="0" i="0" u="none" strike="noStrike">
                        <a:solidFill>
                          <a:srgbClr val="00000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rgbClr val="0070C0"/>
                          </a:solidFill>
                          <a:effectLst/>
                        </a:rPr>
                        <a:t>455</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650</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3290507437"/>
                  </a:ext>
                </a:extLst>
              </a:tr>
              <a:tr h="332363">
                <a:tc>
                  <a:txBody>
                    <a:bodyPr/>
                    <a:lstStyle/>
                    <a:p>
                      <a:pPr algn="l" rtl="0" fontAlgn="ctr"/>
                      <a:r>
                        <a:rPr lang="en-GB" sz="1500" u="none" strike="noStrike">
                          <a:effectLst/>
                        </a:rPr>
                        <a:t>– Interest expenses</a:t>
                      </a:r>
                      <a:endParaRPr lang="en-GB" sz="1500" b="0" i="0" u="none" strike="noStrike">
                        <a:solidFill>
                          <a:srgbClr val="000000"/>
                        </a:solidFill>
                        <a:effectLst/>
                        <a:latin typeface="Calibri" panose="020F0502020204030204" pitchFamily="34" charset="0"/>
                      </a:endParaRPr>
                    </a:p>
                  </a:txBody>
                  <a:tcPr marL="214313" marR="4763" marT="4763" marB="0" anchor="ctr">
                    <a:noFill/>
                  </a:tcPr>
                </a:tc>
                <a:tc>
                  <a:txBody>
                    <a:bodyPr/>
                    <a:lstStyle/>
                    <a:p>
                      <a:pPr algn="ctr" rtl="0" fontAlgn="ctr"/>
                      <a:r>
                        <a:rPr lang="en-GB" sz="1500" u="none" strike="noStrike">
                          <a:solidFill>
                            <a:srgbClr val="0070C0"/>
                          </a:solidFill>
                          <a:effectLst/>
                        </a:rPr>
                        <a:t>20</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395</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2356076969"/>
                  </a:ext>
                </a:extLst>
              </a:tr>
              <a:tr h="332363">
                <a:tc>
                  <a:txBody>
                    <a:bodyPr/>
                    <a:lstStyle/>
                    <a:p>
                      <a:pPr algn="l" rtl="0" fontAlgn="ctr"/>
                      <a:r>
                        <a:rPr lang="en-GB" sz="1500" u="none" strike="noStrike">
                          <a:effectLst/>
                        </a:rPr>
                        <a:t>Earnings Before Taxes (EBT)</a:t>
                      </a:r>
                      <a:endParaRPr lang="en-GB" sz="1500" b="0" i="0" u="none" strike="noStrike">
                        <a:solidFill>
                          <a:srgbClr val="00000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rgbClr val="0070C0"/>
                          </a:solidFill>
                          <a:effectLst/>
                        </a:rPr>
                        <a:t>435</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255</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3963999641"/>
                  </a:ext>
                </a:extLst>
              </a:tr>
              <a:tr h="332363">
                <a:tc>
                  <a:txBody>
                    <a:bodyPr/>
                    <a:lstStyle/>
                    <a:p>
                      <a:pPr algn="l" rtl="0" fontAlgn="ctr"/>
                      <a:r>
                        <a:rPr lang="en-GB" sz="1500" u="none" strike="noStrike">
                          <a:effectLst/>
                        </a:rPr>
                        <a:t>– Taxes</a:t>
                      </a:r>
                      <a:endParaRPr lang="en-GB" sz="1500" b="0" i="0" u="none" strike="noStrike">
                        <a:solidFill>
                          <a:srgbClr val="000000"/>
                        </a:solidFill>
                        <a:effectLst/>
                        <a:latin typeface="Calibri" panose="020F0502020204030204" pitchFamily="34" charset="0"/>
                      </a:endParaRPr>
                    </a:p>
                  </a:txBody>
                  <a:tcPr marL="214313" marR="4763" marT="4763" marB="0" anchor="ctr">
                    <a:noFill/>
                  </a:tcPr>
                </a:tc>
                <a:tc>
                  <a:txBody>
                    <a:bodyPr/>
                    <a:lstStyle/>
                    <a:p>
                      <a:pPr algn="ctr" rtl="0" fontAlgn="ctr"/>
                      <a:r>
                        <a:rPr lang="en-GB" sz="1500" u="none" strike="noStrike">
                          <a:solidFill>
                            <a:srgbClr val="0070C0"/>
                          </a:solidFill>
                          <a:effectLst/>
                        </a:rPr>
                        <a:t>87</a:t>
                      </a:r>
                      <a:endParaRPr lang="en-GB" sz="1500" b="0"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u="none" strike="noStrike">
                          <a:solidFill>
                            <a:schemeClr val="accent6"/>
                          </a:solidFill>
                          <a:effectLst/>
                        </a:rPr>
                        <a:t>103</a:t>
                      </a:r>
                      <a:endParaRPr lang="en-GB" sz="1500" b="0" i="0" u="none" strike="noStrike">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1542415509"/>
                  </a:ext>
                </a:extLst>
              </a:tr>
              <a:tr h="332363">
                <a:tc>
                  <a:txBody>
                    <a:bodyPr/>
                    <a:lstStyle/>
                    <a:p>
                      <a:pPr algn="l" rtl="0" fontAlgn="ctr"/>
                      <a:r>
                        <a:rPr lang="en-GB" sz="1500" b="1" u="none" strike="noStrike">
                          <a:effectLst/>
                        </a:rPr>
                        <a:t>Net Income</a:t>
                      </a:r>
                      <a:endParaRPr lang="en-GB" sz="1500" b="1" i="0" u="none" strike="noStrike">
                        <a:solidFill>
                          <a:srgbClr val="000000"/>
                        </a:solidFill>
                        <a:effectLst/>
                        <a:latin typeface="Calibri" panose="020F0502020204030204" pitchFamily="34" charset="0"/>
                      </a:endParaRPr>
                    </a:p>
                  </a:txBody>
                  <a:tcPr marL="4763" marR="4763" marT="4763" marB="0" anchor="ctr">
                    <a:noFill/>
                  </a:tcPr>
                </a:tc>
                <a:tc>
                  <a:txBody>
                    <a:bodyPr/>
                    <a:lstStyle/>
                    <a:p>
                      <a:pPr algn="ctr" rtl="0" fontAlgn="ctr"/>
                      <a:r>
                        <a:rPr lang="en-GB" sz="1500" b="1" u="none" strike="noStrike">
                          <a:solidFill>
                            <a:srgbClr val="0070C0"/>
                          </a:solidFill>
                          <a:effectLst/>
                        </a:rPr>
                        <a:t>348</a:t>
                      </a:r>
                      <a:endParaRPr lang="en-GB" sz="1500" b="1" i="0" u="none" strike="noStrike">
                        <a:solidFill>
                          <a:srgbClr val="0070C0"/>
                        </a:solidFill>
                        <a:effectLst/>
                        <a:latin typeface="Calibri" panose="020F0502020204030204" pitchFamily="34" charset="0"/>
                      </a:endParaRPr>
                    </a:p>
                  </a:txBody>
                  <a:tcPr marL="4763" marR="4763" marT="4763" marB="0" anchor="ctr">
                    <a:noFill/>
                  </a:tcPr>
                </a:tc>
                <a:tc>
                  <a:txBody>
                    <a:bodyPr/>
                    <a:lstStyle/>
                    <a:p>
                      <a:pPr algn="ctr" rtl="0" fontAlgn="ctr"/>
                      <a:r>
                        <a:rPr lang="en-GB" sz="1500" b="1" u="none" strike="noStrike" dirty="0">
                          <a:solidFill>
                            <a:schemeClr val="accent6"/>
                          </a:solidFill>
                          <a:effectLst/>
                        </a:rPr>
                        <a:t>152</a:t>
                      </a:r>
                      <a:endParaRPr lang="en-GB" sz="1500" b="1" i="0" u="none" strike="noStrike" dirty="0">
                        <a:solidFill>
                          <a:schemeClr val="accent6"/>
                        </a:solidFill>
                        <a:effectLst/>
                        <a:latin typeface="Calibri" panose="020F0502020204030204" pitchFamily="34" charset="0"/>
                      </a:endParaRPr>
                    </a:p>
                  </a:txBody>
                  <a:tcPr marL="4763" marR="4763" marT="4763" marB="0" anchor="ctr">
                    <a:noFill/>
                  </a:tcPr>
                </a:tc>
                <a:extLst>
                  <a:ext uri="{0D108BD9-81ED-4DB2-BD59-A6C34878D82A}">
                    <a16:rowId xmlns:a16="http://schemas.microsoft.com/office/drawing/2014/main" val="943564195"/>
                  </a:ext>
                </a:extLst>
              </a:tr>
            </a:tbl>
          </a:graphicData>
        </a:graphic>
      </p:graphicFrame>
    </p:spTree>
    <p:extLst>
      <p:ext uri="{BB962C8B-B14F-4D97-AF65-F5344CB8AC3E}">
        <p14:creationId xmlns:p14="http://schemas.microsoft.com/office/powerpoint/2010/main" val="6617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671" y="216441"/>
            <a:ext cx="10114833" cy="694462"/>
          </a:xfrm>
        </p:spPr>
        <p:txBody>
          <a:bodyPr>
            <a:normAutofit fontScale="90000"/>
          </a:bodyPr>
          <a:lstStyle/>
          <a:p>
            <a:r>
              <a:rPr lang="en-GB" sz="4900" b="1" dirty="0">
                <a:solidFill>
                  <a:srgbClr val="16818D"/>
                </a:solidFill>
                <a:latin typeface="Arial" panose="020B0604020202020204" pitchFamily="34" charset="0"/>
                <a:cs typeface="Arial" panose="020B0604020202020204" pitchFamily="34" charset="0"/>
              </a:rPr>
              <a:t>Profitability Ratios </a:t>
            </a:r>
            <a:r>
              <a:rPr lang="en-GB" dirty="0"/>
              <a:t>– </a:t>
            </a:r>
            <a:r>
              <a:rPr lang="en-GB" dirty="0">
                <a:solidFill>
                  <a:schemeClr val="accent1"/>
                </a:solidFill>
              </a:rPr>
              <a:t>Morrison’s</a:t>
            </a:r>
            <a:r>
              <a:rPr lang="en-GB" dirty="0"/>
              <a:t> vs </a:t>
            </a:r>
            <a:r>
              <a:rPr lang="en-GB" dirty="0">
                <a:solidFill>
                  <a:schemeClr val="accent6"/>
                </a:solidFill>
              </a:rPr>
              <a:t>Sainsbury’s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5671" y="876942"/>
                <a:ext cx="10401300" cy="4833756"/>
              </a:xfrm>
              <a:noFill/>
              <a:ln>
                <a:noFill/>
              </a:ln>
            </p:spPr>
            <p:txBody>
              <a:bodyPr>
                <a:noAutofit/>
              </a:bodyPr>
              <a:lstStyle/>
              <a:p>
                <a:pPr marL="0" indent="0">
                  <a:spcBef>
                    <a:spcPts val="450"/>
                  </a:spcBef>
                  <a:buClr>
                    <a:srgbClr val="C00000"/>
                  </a:buClr>
                  <a:buNone/>
                  <a:tabLst>
                    <a:tab pos="670322" algn="l"/>
                  </a:tabLst>
                </a:pPr>
                <a:r>
                  <a:rPr lang="en-GB" sz="1600" dirty="0"/>
                  <a:t>Profitability ratios measure how effectively the company uses its resources to generate income. If in line with the industry or rising compared to it's peers, it is considered to be good at generating profits and managing its costs.</a:t>
                </a:r>
              </a:p>
              <a:p>
                <a:pPr marL="0" indent="0">
                  <a:spcBef>
                    <a:spcPts val="450"/>
                  </a:spcBef>
                  <a:buClr>
                    <a:srgbClr val="C00000"/>
                  </a:buClr>
                  <a:buNone/>
                  <a:tabLst>
                    <a:tab pos="670322" algn="l"/>
                  </a:tabLst>
                </a:pPr>
                <a:endParaRPr lang="en-GB" sz="1600" dirty="0">
                  <a:solidFill>
                    <a:schemeClr val="accent5">
                      <a:lumMod val="75000"/>
                    </a:schemeClr>
                  </a:solidFill>
                </a:endParaRPr>
              </a:p>
              <a:p>
                <a:pPr marL="0" indent="0">
                  <a:spcBef>
                    <a:spcPts val="450"/>
                  </a:spcBef>
                  <a:buClr>
                    <a:srgbClr val="C00000"/>
                  </a:buClr>
                  <a:buNone/>
                  <a:tabLst>
                    <a:tab pos="670322" algn="l"/>
                  </a:tabLst>
                </a:pPr>
                <a:endParaRPr lang="en-GB" sz="1600" dirty="0">
                  <a:solidFill>
                    <a:schemeClr val="accent5">
                      <a:lumMod val="75000"/>
                    </a:schemeClr>
                  </a:solidFill>
                </a:endParaRPr>
              </a:p>
              <a:p>
                <a:pPr marL="0" indent="0">
                  <a:spcBef>
                    <a:spcPts val="450"/>
                  </a:spcBef>
                  <a:buClr>
                    <a:srgbClr val="C00000"/>
                  </a:buClr>
                  <a:buNone/>
                  <a:tabLst>
                    <a:tab pos="670322" algn="l"/>
                  </a:tabLst>
                </a:pPr>
                <a:r>
                  <a:rPr lang="en-GB" sz="1600" dirty="0">
                    <a:solidFill>
                      <a:schemeClr val="accent5">
                        <a:lumMod val="75000"/>
                      </a:schemeClr>
                    </a:solidFill>
                  </a:rPr>
                  <a:t>Gross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i="1">
                            <a:solidFill>
                              <a:schemeClr val="accent5">
                                <a:lumMod val="75000"/>
                              </a:schemeClr>
                            </a:solidFill>
                            <a:latin typeface="Cambria Math" panose="02040503050406030204" pitchFamily="18" charset="0"/>
                          </a:rPr>
                          <m:t>𝐺𝑟𝑜𝑠𝑠</m:t>
                        </m:r>
                        <m:r>
                          <a:rPr lang="en-GB" sz="1600" i="1">
                            <a:solidFill>
                              <a:schemeClr val="accent5">
                                <a:lumMod val="75000"/>
                              </a:schemeClr>
                            </a:solidFill>
                            <a:latin typeface="Cambria Math" panose="02040503050406030204" pitchFamily="18" charset="0"/>
                          </a:rPr>
                          <m:t> </m:t>
                        </m:r>
                        <m:r>
                          <a:rPr lang="en-GB" sz="1600" i="1">
                            <a:solidFill>
                              <a:schemeClr val="accent5">
                                <a:lumMod val="75000"/>
                              </a:schemeClr>
                            </a:solidFill>
                            <a:latin typeface="Cambria Math" panose="02040503050406030204" pitchFamily="18" charset="0"/>
                          </a:rPr>
                          <m:t>𝑃𝑟𝑜𝑓𝑖𝑡</m:t>
                        </m:r>
                        <m:r>
                          <a:rPr lang="en-GB" sz="1600" i="1">
                            <a:solidFill>
                              <a:schemeClr val="accent5">
                                <a:lumMod val="75000"/>
                              </a:schemeClr>
                            </a:solidFill>
                            <a:latin typeface="Cambria Math" panose="02040503050406030204" pitchFamily="18" charset="0"/>
                          </a:rPr>
                          <m:t> </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oMath>
                </a14:m>
                <a:r>
                  <a:rPr lang="en-GB" sz="1600" dirty="0">
                    <a:solidFill>
                      <a:schemeClr val="accent5">
                        <a:lumMod val="75000"/>
                      </a:schemeClr>
                    </a:solidFill>
                  </a:rPr>
                  <a:t> = </a:t>
                </a:r>
                <a:r>
                  <a:rPr lang="en-GB" sz="1600" dirty="0">
                    <a:solidFill>
                      <a:srgbClr val="0070C0"/>
                    </a:solidFill>
                  </a:rPr>
                  <a:t>629/17356 = 3.62% </a:t>
                </a:r>
                <a:r>
                  <a:rPr lang="en-GB" sz="1600" dirty="0"/>
                  <a:t>vs</a:t>
                </a:r>
                <a:r>
                  <a:rPr lang="en-GB" sz="1600" dirty="0">
                    <a:solidFill>
                      <a:srgbClr val="0070C0"/>
                    </a:solidFill>
                  </a:rPr>
                  <a:t> </a:t>
                </a:r>
                <a:r>
                  <a:rPr lang="en-GB" sz="1600" dirty="0">
                    <a:solidFill>
                      <a:schemeClr val="accent6"/>
                    </a:solidFill>
                  </a:rPr>
                  <a:t>6.95%</a:t>
                </a:r>
              </a:p>
              <a:p>
                <a:pPr marL="0" indent="0">
                  <a:spcBef>
                    <a:spcPts val="450"/>
                  </a:spcBef>
                  <a:buClr>
                    <a:srgbClr val="C00000"/>
                  </a:buClr>
                  <a:buNone/>
                  <a:tabLst>
                    <a:tab pos="670322" algn="l"/>
                  </a:tabLst>
                </a:pPr>
                <a:endParaRPr lang="en-GB" sz="1000" dirty="0"/>
              </a:p>
              <a:p>
                <a:pPr marL="0" indent="0">
                  <a:spcBef>
                    <a:spcPts val="450"/>
                  </a:spcBef>
                  <a:buClr>
                    <a:srgbClr val="C00000"/>
                  </a:buClr>
                  <a:buNone/>
                  <a:tabLst>
                    <a:tab pos="670322" algn="l"/>
                  </a:tabLst>
                </a:pPr>
                <a:endParaRPr lang="en-GB" sz="1600" dirty="0"/>
              </a:p>
              <a:p>
                <a:pPr marL="0" indent="0">
                  <a:spcBef>
                    <a:spcPts val="450"/>
                  </a:spcBef>
                  <a:buClr>
                    <a:srgbClr val="C00000"/>
                  </a:buClr>
                  <a:buNone/>
                  <a:tabLst>
                    <a:tab pos="670322" algn="l"/>
                  </a:tabLst>
                </a:pPr>
                <a:r>
                  <a:rPr lang="en-GB" sz="1600" dirty="0">
                    <a:solidFill>
                      <a:schemeClr val="accent5">
                        <a:lumMod val="75000"/>
                      </a:schemeClr>
                    </a:solidFill>
                  </a:rPr>
                  <a:t>Operating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𝑂𝑝𝑒𝑟𝑎𝑡𝑖𝑛𝑔</m:t>
                        </m:r>
                        <m:r>
                          <a:rPr lang="en-GB" sz="1600" i="1">
                            <a:solidFill>
                              <a:schemeClr val="accent5">
                                <a:lumMod val="75000"/>
                              </a:schemeClr>
                            </a:solidFill>
                            <a:latin typeface="Cambria Math" panose="02040503050406030204" pitchFamily="18" charset="0"/>
                          </a:rPr>
                          <m:t> </m:t>
                        </m:r>
                        <m:r>
                          <a:rPr lang="en-GB" sz="1600" i="1">
                            <a:solidFill>
                              <a:schemeClr val="accent5">
                                <a:lumMod val="75000"/>
                              </a:schemeClr>
                            </a:solidFill>
                            <a:latin typeface="Cambria Math" panose="02040503050406030204" pitchFamily="18" charset="0"/>
                          </a:rPr>
                          <m:t>𝑃𝑟𝑜𝑓𝑖𝑡</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r>
                      <a:rPr lang="en-GB" sz="1600" i="1">
                        <a:solidFill>
                          <a:schemeClr val="accent5">
                            <a:lumMod val="75000"/>
                          </a:schemeClr>
                        </a:solidFill>
                        <a:latin typeface="Cambria Math" panose="02040503050406030204" pitchFamily="18" charset="0"/>
                      </a:rPr>
                      <m:t>=</m:t>
                    </m:r>
                  </m:oMath>
                </a14:m>
                <a:r>
                  <a:rPr lang="en-GB" sz="1600" dirty="0"/>
                  <a:t> </a:t>
                </a:r>
                <a:r>
                  <a:rPr lang="en-GB" sz="1600" dirty="0">
                    <a:solidFill>
                      <a:srgbClr val="0070C0"/>
                    </a:solidFill>
                  </a:rPr>
                  <a:t>455/17356 =</a:t>
                </a:r>
                <a:r>
                  <a:rPr lang="en-GB" sz="1600" dirty="0"/>
                  <a:t> </a:t>
                </a:r>
                <a:r>
                  <a:rPr lang="en-GB" sz="1600" dirty="0">
                    <a:solidFill>
                      <a:srgbClr val="0070C0"/>
                    </a:solidFill>
                  </a:rPr>
                  <a:t>2.62% </a:t>
                </a:r>
                <a:r>
                  <a:rPr lang="en-GB" sz="1600" dirty="0"/>
                  <a:t>vs </a:t>
                </a:r>
                <a:r>
                  <a:rPr lang="en-GB" sz="1600" dirty="0">
                    <a:solidFill>
                      <a:schemeClr val="accent6"/>
                    </a:solidFill>
                  </a:rPr>
                  <a:t>2.24%</a:t>
                </a:r>
              </a:p>
              <a:p>
                <a:pPr marL="0" indent="0">
                  <a:spcBef>
                    <a:spcPts val="450"/>
                  </a:spcBef>
                  <a:buClr>
                    <a:srgbClr val="C00000"/>
                  </a:buClr>
                  <a:buNone/>
                  <a:tabLst>
                    <a:tab pos="670322" algn="l"/>
                  </a:tabLst>
                </a:pPr>
                <a:endParaRPr lang="en-GB" sz="1600" dirty="0">
                  <a:solidFill>
                    <a:srgbClr val="7030A0"/>
                  </a:solidFill>
                </a:endParaRPr>
              </a:p>
              <a:p>
                <a:pPr marL="0" indent="0">
                  <a:spcBef>
                    <a:spcPts val="450"/>
                  </a:spcBef>
                  <a:buClr>
                    <a:srgbClr val="C00000"/>
                  </a:buClr>
                  <a:buNone/>
                  <a:tabLst>
                    <a:tab pos="670322" algn="l"/>
                  </a:tabLst>
                </a:pPr>
                <a:endParaRPr lang="en-GB" sz="1600" dirty="0">
                  <a:solidFill>
                    <a:srgbClr val="7030A0"/>
                  </a:solidFill>
                </a:endParaRPr>
              </a:p>
              <a:p>
                <a:pPr marL="0" indent="0">
                  <a:spcBef>
                    <a:spcPts val="450"/>
                  </a:spcBef>
                  <a:buClr>
                    <a:srgbClr val="C00000"/>
                  </a:buClr>
                  <a:buNone/>
                  <a:tabLst>
                    <a:tab pos="670322" algn="l"/>
                  </a:tabLst>
                </a:pPr>
                <a:r>
                  <a:rPr lang="en-GB" sz="1600" dirty="0">
                    <a:solidFill>
                      <a:schemeClr val="accent5">
                        <a:lumMod val="75000"/>
                      </a:schemeClr>
                    </a:solidFill>
                  </a:rPr>
                  <a:t>Net Profit Margin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𝑃𝐴𝑇</m:t>
                        </m:r>
                      </m:num>
                      <m:den>
                        <m:r>
                          <a:rPr lang="en-GB" sz="1600" i="1">
                            <a:solidFill>
                              <a:schemeClr val="accent5">
                                <a:lumMod val="75000"/>
                              </a:schemeClr>
                            </a:solidFill>
                            <a:latin typeface="Cambria Math" panose="02040503050406030204" pitchFamily="18" charset="0"/>
                          </a:rPr>
                          <m:t>𝑆𝑎𝑙𝑒𝑠</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𝑅𝑒𝑣</m:t>
                        </m:r>
                      </m:den>
                    </m:f>
                  </m:oMath>
                </a14:m>
                <a:r>
                  <a:rPr lang="en-GB" sz="1600" dirty="0"/>
                  <a:t> </a:t>
                </a:r>
                <a14:m>
                  <m:oMath xmlns:m="http://schemas.openxmlformats.org/officeDocument/2006/math">
                    <m:r>
                      <a:rPr lang="en-GB" sz="1600" i="1" smtClean="0">
                        <a:solidFill>
                          <a:schemeClr val="accent5">
                            <a:lumMod val="75000"/>
                          </a:schemeClr>
                        </a:solidFill>
                        <a:latin typeface="Cambria Math" panose="02040503050406030204" pitchFamily="18" charset="0"/>
                      </a:rPr>
                      <m:t>=</m:t>
                    </m:r>
                  </m:oMath>
                </a14:m>
                <a:r>
                  <a:rPr lang="en-GB" sz="1600" dirty="0"/>
                  <a:t> </a:t>
                </a:r>
                <a:r>
                  <a:rPr lang="en-GB" sz="1600" dirty="0">
                    <a:solidFill>
                      <a:srgbClr val="0070C0"/>
                    </a:solidFill>
                  </a:rPr>
                  <a:t>348/17356 = 1.98% </a:t>
                </a:r>
                <a:r>
                  <a:rPr lang="en-GB" sz="1600" dirty="0"/>
                  <a:t>vs </a:t>
                </a:r>
                <a:r>
                  <a:rPr lang="en-GB" sz="1600" dirty="0">
                    <a:solidFill>
                      <a:schemeClr val="accent6"/>
                    </a:solidFill>
                  </a:rPr>
                  <a:t>0.52%</a:t>
                </a:r>
              </a:p>
              <a:p>
                <a:pPr marL="0" indent="-381000">
                  <a:spcBef>
                    <a:spcPts val="1350"/>
                  </a:spcBef>
                  <a:buClr>
                    <a:srgbClr val="C00000"/>
                  </a:buClr>
                  <a:buNone/>
                  <a:tabLst>
                    <a:tab pos="872729" algn="l"/>
                  </a:tabLst>
                </a:pPr>
                <a:endParaRPr lang="en-GB" sz="1600" dirty="0"/>
              </a:p>
              <a:p>
                <a:pPr marL="0" indent="0">
                  <a:spcBef>
                    <a:spcPts val="1800"/>
                  </a:spcBef>
                  <a:buClr>
                    <a:srgbClr val="C00000"/>
                  </a:buClr>
                  <a:buNone/>
                  <a:tabLst>
                    <a:tab pos="670322" algn="l"/>
                  </a:tabLst>
                </a:pPr>
                <a:r>
                  <a:rPr lang="en-GB" sz="1600" dirty="0">
                    <a:solidFill>
                      <a:schemeClr val="accent5">
                        <a:lumMod val="75000"/>
                      </a:schemeClr>
                    </a:solidFill>
                  </a:rPr>
                  <a:t>Return on Capital Employed = </a:t>
                </a:r>
                <a14:m>
                  <m:oMath xmlns:m="http://schemas.openxmlformats.org/officeDocument/2006/math">
                    <m:f>
                      <m:fPr>
                        <m:ctrlPr>
                          <a:rPr lang="en-GB" sz="1600" i="1">
                            <a:solidFill>
                              <a:schemeClr val="accent5">
                                <a:lumMod val="75000"/>
                              </a:schemeClr>
                            </a:solidFill>
                            <a:latin typeface="Cambria Math" panose="02040503050406030204" pitchFamily="18" charset="0"/>
                          </a:rPr>
                        </m:ctrlPr>
                      </m:fPr>
                      <m:num>
                        <m:r>
                          <a:rPr lang="en-GB" sz="1600" b="0" i="1" smtClean="0">
                            <a:solidFill>
                              <a:schemeClr val="accent5">
                                <a:lumMod val="75000"/>
                              </a:schemeClr>
                            </a:solidFill>
                            <a:latin typeface="Cambria Math" panose="02040503050406030204" pitchFamily="18" charset="0"/>
                          </a:rPr>
                          <m:t>𝑂𝑝𝑒𝑟𝑎𝑡𝑖𝑛𝑔</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𝑃𝑟𝑜𝑓𝑖𝑡</m:t>
                        </m:r>
                      </m:num>
                      <m:den>
                        <m:r>
                          <a:rPr lang="en-GB" sz="1600" b="0" i="1" smtClean="0">
                            <a:solidFill>
                              <a:schemeClr val="accent5">
                                <a:lumMod val="75000"/>
                              </a:schemeClr>
                            </a:solidFill>
                            <a:latin typeface="Cambria Math" panose="02040503050406030204" pitchFamily="18" charset="0"/>
                          </a:rPr>
                          <m:t>𝐶𝑎𝑝𝑖𝑡𝑎𝑙</m:t>
                        </m:r>
                        <m:r>
                          <a:rPr lang="en-GB" sz="1600" b="0" i="1" smtClean="0">
                            <a:solidFill>
                              <a:schemeClr val="accent5">
                                <a:lumMod val="75000"/>
                              </a:schemeClr>
                            </a:solidFill>
                            <a:latin typeface="Cambria Math" panose="02040503050406030204" pitchFamily="18" charset="0"/>
                          </a:rPr>
                          <m:t> </m:t>
                        </m:r>
                        <m:r>
                          <a:rPr lang="en-GB" sz="1600" b="0" i="1" smtClean="0">
                            <a:solidFill>
                              <a:schemeClr val="accent5">
                                <a:lumMod val="75000"/>
                              </a:schemeClr>
                            </a:solidFill>
                            <a:latin typeface="Cambria Math" panose="02040503050406030204" pitchFamily="18" charset="0"/>
                          </a:rPr>
                          <m:t>𝐸𝑚𝑝𝑙𝑜𝑦𝑒𝑑</m:t>
                        </m:r>
                      </m:den>
                    </m:f>
                  </m:oMath>
                </a14:m>
                <a:r>
                  <a:rPr lang="en-GB" sz="1600" dirty="0"/>
                  <a:t> </a:t>
                </a:r>
                <a14:m>
                  <m:oMath xmlns:m="http://schemas.openxmlformats.org/officeDocument/2006/math">
                    <m:r>
                      <a:rPr lang="en-GB" sz="1100" i="1">
                        <a:solidFill>
                          <a:schemeClr val="accent5">
                            <a:lumMod val="75000"/>
                          </a:schemeClr>
                        </a:solidFill>
                        <a:latin typeface="Cambria Math" panose="02040503050406030204" pitchFamily="18" charset="0"/>
                      </a:rPr>
                      <m:t>=</m:t>
                    </m:r>
                  </m:oMath>
                </a14:m>
                <a:r>
                  <a:rPr lang="en-GB" sz="1100" dirty="0"/>
                  <a:t> </a:t>
                </a:r>
                <a:r>
                  <a:rPr lang="en-GB" sz="1600" dirty="0">
                    <a:solidFill>
                      <a:srgbClr val="0070C0"/>
                    </a:solidFill>
                  </a:rPr>
                  <a:t>455/(4541+2983) = 6% </a:t>
                </a:r>
                <a:r>
                  <a:rPr lang="en-GB" sz="1100" dirty="0"/>
                  <a:t>vs </a:t>
                </a:r>
                <a:r>
                  <a:rPr lang="en-GB" sz="1600" dirty="0">
                    <a:solidFill>
                      <a:schemeClr val="accent6"/>
                    </a:solidFill>
                  </a:rPr>
                  <a:t>4.1%</a:t>
                </a:r>
              </a:p>
              <a:p>
                <a:pPr marL="0" indent="0">
                  <a:spcBef>
                    <a:spcPts val="1800"/>
                  </a:spcBef>
                  <a:buClr>
                    <a:srgbClr val="C00000"/>
                  </a:buClr>
                  <a:buNone/>
                  <a:tabLst>
                    <a:tab pos="670322" algn="l"/>
                  </a:tabLst>
                </a:pPr>
                <a:endParaRPr lang="en-GB" sz="1100" dirty="0">
                  <a:solidFill>
                    <a:prstClr val="black"/>
                  </a:solidFill>
                </a:endParaRPr>
              </a:p>
              <a:p>
                <a:pPr marL="0" lvl="1" indent="0">
                  <a:lnSpc>
                    <a:spcPct val="150000"/>
                  </a:lnSpc>
                  <a:spcBef>
                    <a:spcPts val="1350"/>
                  </a:spcBef>
                  <a:buClr>
                    <a:srgbClr val="C00000"/>
                  </a:buClr>
                  <a:buNone/>
                  <a:tabLst>
                    <a:tab pos="670322" algn="l"/>
                  </a:tabLst>
                </a:pPr>
                <a:endParaRPr lang="en-GB" dirty="0">
                  <a:solidFill>
                    <a:schemeClr val="accent5">
                      <a:lumMod val="75000"/>
                    </a:schemeClr>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5671" y="876942"/>
                <a:ext cx="10401300" cy="4833756"/>
              </a:xfrm>
              <a:blipFill>
                <a:blip r:embed="rId3"/>
                <a:stretch>
                  <a:fillRect/>
                </a:stretch>
              </a:blipFill>
              <a:ln>
                <a:noFill/>
              </a:ln>
            </p:spPr>
            <p:txBody>
              <a:bodyPr/>
              <a:lstStyle/>
              <a:p>
                <a:r>
                  <a:rPr lang="en-GB">
                    <a:noFill/>
                  </a:rPr>
                  <a:t> </a:t>
                </a:r>
              </a:p>
            </p:txBody>
          </p:sp>
        </mc:Fallback>
      </mc:AlternateContent>
      <p:sp>
        <p:nvSpPr>
          <p:cNvPr id="4" name="Slide Number Placeholder 3"/>
          <p:cNvSpPr>
            <a:spLocks noGrp="1"/>
          </p:cNvSpPr>
          <p:nvPr>
            <p:ph type="sldNum" sz="quarter" idx="12"/>
          </p:nvPr>
        </p:nvSpPr>
        <p:spPr>
          <a:xfrm>
            <a:off x="10061568" y="5710698"/>
            <a:ext cx="679467" cy="443896"/>
          </a:xfrm>
          <a:ln w="12700"/>
        </p:spPr>
        <p:txBody>
          <a:bodyPr/>
          <a:lstStyle/>
          <a:p>
            <a:fld id="{0F99C4FB-888A-4D12-A1C4-C744D94026CD}" type="slidenum">
              <a:rPr lang="en-GB" sz="1350">
                <a:solidFill>
                  <a:schemeClr val="tx1">
                    <a:lumMod val="50000"/>
                    <a:lumOff val="50000"/>
                  </a:schemeClr>
                </a:solidFill>
              </a:rPr>
              <a:t>15</a:t>
            </a:fld>
            <a:endParaRPr lang="en-GB" sz="1350">
              <a:solidFill>
                <a:schemeClr val="tx1">
                  <a:lumMod val="50000"/>
                  <a:lumOff val="50000"/>
                </a:schemeClr>
              </a:solidFill>
            </a:endParaRPr>
          </a:p>
        </p:txBody>
      </p:sp>
      <p:sp>
        <p:nvSpPr>
          <p:cNvPr id="11" name="Arrow: Down 10">
            <a:extLst>
              <a:ext uri="{FF2B5EF4-FFF2-40B4-BE49-F238E27FC236}">
                <a16:creationId xmlns:a16="http://schemas.microsoft.com/office/drawing/2014/main" id="{EB1627BA-D3E4-EE9D-0E39-0A69AB8DA126}"/>
              </a:ext>
            </a:extLst>
          </p:cNvPr>
          <p:cNvSpPr/>
          <p:nvPr/>
        </p:nvSpPr>
        <p:spPr>
          <a:xfrm rot="5400000">
            <a:off x="7257387" y="1044918"/>
            <a:ext cx="1023479" cy="2525407"/>
          </a:xfrm>
          <a:prstGeom prst="downArrow">
            <a:avLst>
              <a:gd name="adj1" fmla="val 41718"/>
              <a:gd name="adj2" fmla="val 49080"/>
            </a:avLst>
          </a:prstGeom>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en-GB" dirty="0"/>
              <a:t>GP = Revenue - COGS</a:t>
            </a:r>
          </a:p>
        </p:txBody>
      </p:sp>
      <p:sp>
        <p:nvSpPr>
          <p:cNvPr id="12" name="Arrow: Down 11">
            <a:extLst>
              <a:ext uri="{FF2B5EF4-FFF2-40B4-BE49-F238E27FC236}">
                <a16:creationId xmlns:a16="http://schemas.microsoft.com/office/drawing/2014/main" id="{C470D3C8-A874-CE76-8791-5205BAC31EB2}"/>
              </a:ext>
            </a:extLst>
          </p:cNvPr>
          <p:cNvSpPr/>
          <p:nvPr/>
        </p:nvSpPr>
        <p:spPr>
          <a:xfrm rot="5400000">
            <a:off x="8051378" y="2066738"/>
            <a:ext cx="1023479" cy="2525407"/>
          </a:xfrm>
          <a:prstGeom prst="downArrow">
            <a:avLst>
              <a:gd name="adj1" fmla="val 41718"/>
              <a:gd name="adj2" fmla="val 49080"/>
            </a:avLst>
          </a:prstGeom>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en-GB" dirty="0"/>
              <a:t>OP = GP - OPEX</a:t>
            </a:r>
          </a:p>
        </p:txBody>
      </p:sp>
      <p:sp>
        <p:nvSpPr>
          <p:cNvPr id="5" name="Arrow: Down 4">
            <a:extLst>
              <a:ext uri="{FF2B5EF4-FFF2-40B4-BE49-F238E27FC236}">
                <a16:creationId xmlns:a16="http://schemas.microsoft.com/office/drawing/2014/main" id="{E3F3658E-06D1-C218-4073-A88FFD46D759}"/>
              </a:ext>
            </a:extLst>
          </p:cNvPr>
          <p:cNvSpPr/>
          <p:nvPr/>
        </p:nvSpPr>
        <p:spPr>
          <a:xfrm rot="5400000">
            <a:off x="7064678" y="3051276"/>
            <a:ext cx="1023479" cy="2525407"/>
          </a:xfrm>
          <a:prstGeom prst="downArrow">
            <a:avLst>
              <a:gd name="adj1" fmla="val 41718"/>
              <a:gd name="adj2" fmla="val 49080"/>
            </a:avLst>
          </a:prstGeom>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en-GB" dirty="0"/>
              <a:t>NP = PAT or “Earnings”</a:t>
            </a:r>
          </a:p>
        </p:txBody>
      </p:sp>
      <p:sp>
        <p:nvSpPr>
          <p:cNvPr id="6" name="Arrow: Down 5">
            <a:extLst>
              <a:ext uri="{FF2B5EF4-FFF2-40B4-BE49-F238E27FC236}">
                <a16:creationId xmlns:a16="http://schemas.microsoft.com/office/drawing/2014/main" id="{FC5293B7-7D22-DAE7-7C0A-C7119A28BBC8}"/>
              </a:ext>
            </a:extLst>
          </p:cNvPr>
          <p:cNvSpPr/>
          <p:nvPr/>
        </p:nvSpPr>
        <p:spPr>
          <a:xfrm rot="5400000">
            <a:off x="8327381" y="3970216"/>
            <a:ext cx="1023479" cy="2525407"/>
          </a:xfrm>
          <a:prstGeom prst="downArrow">
            <a:avLst>
              <a:gd name="adj1" fmla="val 41718"/>
              <a:gd name="adj2" fmla="val 49080"/>
            </a:avLst>
          </a:prstGeom>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en-GB" dirty="0"/>
              <a:t>CE =  Equity + NCL </a:t>
            </a:r>
            <a:r>
              <a:rPr lang="en-GB" b="1" u="sng" dirty="0"/>
              <a:t>OR</a:t>
            </a:r>
            <a:r>
              <a:rPr lang="en-GB" dirty="0"/>
              <a:t> Assets-CL</a:t>
            </a:r>
          </a:p>
        </p:txBody>
      </p:sp>
    </p:spTree>
    <p:extLst>
      <p:ext uri="{BB962C8B-B14F-4D97-AF65-F5344CB8AC3E}">
        <p14:creationId xmlns:p14="http://schemas.microsoft.com/office/powerpoint/2010/main" val="14068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E9B5-F993-B488-E277-E8D5E6048E22}"/>
              </a:ext>
            </a:extLst>
          </p:cNvPr>
          <p:cNvSpPr>
            <a:spLocks noGrp="1"/>
          </p:cNvSpPr>
          <p:nvPr>
            <p:ph type="title"/>
          </p:nvPr>
        </p:nvSpPr>
        <p:spPr>
          <a:xfrm>
            <a:off x="838200" y="692697"/>
            <a:ext cx="4721352" cy="3586695"/>
          </a:xfrm>
        </p:spPr>
        <p:txBody>
          <a:bodyPr/>
          <a:lstStyle/>
          <a:p>
            <a:r>
              <a:rPr lang="en-GB" dirty="0"/>
              <a:t>Financial Statements Time Series Analysis – Wholesale Carpet </a:t>
            </a:r>
            <a:br>
              <a:rPr lang="en-GB" dirty="0"/>
            </a:br>
            <a:br>
              <a:rPr lang="en-GB" dirty="0"/>
            </a:br>
            <a:r>
              <a:rPr lang="en-GB" sz="6600" dirty="0" err="1">
                <a:solidFill>
                  <a:schemeClr val="accent1"/>
                </a:solidFill>
              </a:rPr>
              <a:t>SoFP</a:t>
            </a:r>
            <a:endParaRPr lang="en-GB" sz="6600" dirty="0">
              <a:solidFill>
                <a:schemeClr val="accent1"/>
              </a:solidFill>
            </a:endParaRPr>
          </a:p>
        </p:txBody>
      </p:sp>
      <p:graphicFrame>
        <p:nvGraphicFramePr>
          <p:cNvPr id="4" name="Content Placeholder 3">
            <a:extLst>
              <a:ext uri="{FF2B5EF4-FFF2-40B4-BE49-F238E27FC236}">
                <a16:creationId xmlns:a16="http://schemas.microsoft.com/office/drawing/2014/main" id="{519B979A-4A5E-82AA-711F-55FC9CD1023E}"/>
              </a:ext>
            </a:extLst>
          </p:cNvPr>
          <p:cNvGraphicFramePr>
            <a:graphicFrameLocks noGrp="1"/>
          </p:cNvGraphicFramePr>
          <p:nvPr>
            <p:ph idx="1"/>
          </p:nvPr>
        </p:nvGraphicFramePr>
        <p:xfrm>
          <a:off x="0" y="0"/>
          <a:ext cx="0" cy="0"/>
        </p:xfrm>
        <a:graphic>
          <a:graphicData uri="http://schemas.openxmlformats.org/drawingml/2006/table">
            <a:tbl>
              <a:tblPr firstRow="1" firstCol="1" lastRow="1" lastCol="1" bandRow="1" bandCol="1">
                <a:tableStyleId>{5C22544A-7EE6-4342-B048-85BDC9FD1C3A}</a:tableStyleId>
              </a:tblPr>
              <a:tblGrid>
                <a:gridCol w="25400">
                  <a:extLst>
                    <a:ext uri="{9D8B030D-6E8A-4147-A177-3AD203B41FA5}">
                      <a16:colId xmlns:a16="http://schemas.microsoft.com/office/drawing/2014/main" val="3842177790"/>
                    </a:ext>
                  </a:extLst>
                </a:gridCol>
                <a:gridCol w="25400">
                  <a:extLst>
                    <a:ext uri="{9D8B030D-6E8A-4147-A177-3AD203B41FA5}">
                      <a16:colId xmlns:a16="http://schemas.microsoft.com/office/drawing/2014/main" val="2427171619"/>
                    </a:ext>
                  </a:extLst>
                </a:gridCol>
                <a:gridCol w="25400">
                  <a:extLst>
                    <a:ext uri="{9D8B030D-6E8A-4147-A177-3AD203B41FA5}">
                      <a16:colId xmlns:a16="http://schemas.microsoft.com/office/drawing/2014/main" val="1291388997"/>
                    </a:ext>
                  </a:extLst>
                </a:gridCol>
                <a:gridCol w="25400">
                  <a:extLst>
                    <a:ext uri="{9D8B030D-6E8A-4147-A177-3AD203B41FA5}">
                      <a16:colId xmlns:a16="http://schemas.microsoft.com/office/drawing/2014/main" val="134641358"/>
                    </a:ext>
                  </a:extLst>
                </a:gridCol>
                <a:gridCol w="25400">
                  <a:extLst>
                    <a:ext uri="{9D8B030D-6E8A-4147-A177-3AD203B41FA5}">
                      <a16:colId xmlns:a16="http://schemas.microsoft.com/office/drawing/2014/main" val="657335005"/>
                    </a:ext>
                  </a:extLst>
                </a:gridCol>
              </a:tblGrid>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gridSpan="2">
                  <a:txBody>
                    <a:bodyPr/>
                    <a:lstStyle/>
                    <a:p>
                      <a:pPr algn="ctr">
                        <a:lnSpc>
                          <a:spcPct val="107000"/>
                        </a:lnSpc>
                        <a:buNone/>
                      </a:pPr>
                      <a:r>
                        <a:rPr lang="en-GB" sz="100" kern="100">
                          <a:effectLst/>
                        </a:rPr>
                        <a:t>2023</a:t>
                      </a:r>
                      <a:endParaRPr lang="en-GB" sz="100" kern="100">
                        <a:effectLst/>
                        <a:latin typeface="Times New Roman" panose="02020603050405020304" pitchFamily="18" charset="0"/>
                        <a:ea typeface="Times New Roman" panose="02020603050405020304" pitchFamily="18" charset="0"/>
                      </a:endParaRPr>
                    </a:p>
                  </a:txBody>
                  <a:tcPr marL="0" marR="0" marT="0" marB="0"/>
                </a:tc>
                <a:tc hMerge="1">
                  <a:txBody>
                    <a:bodyPr/>
                    <a:lstStyle/>
                    <a:p>
                      <a:endParaRPr lang="en-GB"/>
                    </a:p>
                  </a:txBody>
                  <a:tcPr/>
                </a:tc>
                <a:tc gridSpan="2">
                  <a:txBody>
                    <a:bodyPr/>
                    <a:lstStyle/>
                    <a:p>
                      <a:pPr algn="ctr">
                        <a:lnSpc>
                          <a:spcPct val="107000"/>
                        </a:lnSpc>
                        <a:buNone/>
                      </a:pPr>
                      <a:r>
                        <a:rPr lang="en-GB" sz="100" kern="100">
                          <a:effectLst/>
                        </a:rPr>
                        <a:t>2024</a:t>
                      </a:r>
                      <a:endParaRPr lang="en-GB" sz="100" kern="100">
                        <a:effectLst/>
                        <a:latin typeface="Times New Roman" panose="02020603050405020304" pitchFamily="18" charset="0"/>
                        <a:ea typeface="Times New Roman" panose="02020603050405020304" pitchFamily="18" charset="0"/>
                      </a:endParaRPr>
                    </a:p>
                  </a:txBody>
                  <a:tcPr marL="0" marR="0" marT="0" marB="0"/>
                </a:tc>
                <a:tc hMerge="1">
                  <a:txBody>
                    <a:bodyPr/>
                    <a:lstStyle/>
                    <a:p>
                      <a:endParaRPr lang="en-GB"/>
                    </a:p>
                  </a:txBody>
                  <a:tcPr/>
                </a:tc>
                <a:extLst>
                  <a:ext uri="{0D108BD9-81ED-4DB2-BD59-A6C34878D82A}">
                    <a16:rowId xmlns:a16="http://schemas.microsoft.com/office/drawing/2014/main" val="3134693809"/>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71509110"/>
                  </a:ext>
                </a:extLst>
              </a:tr>
              <a:tr h="0">
                <a:tc>
                  <a:txBody>
                    <a:bodyPr/>
                    <a:lstStyle/>
                    <a:p>
                      <a:pPr>
                        <a:lnSpc>
                          <a:spcPct val="107000"/>
                        </a:lnSpc>
                        <a:buNone/>
                      </a:pPr>
                      <a:r>
                        <a:rPr lang="en-GB" sz="100" kern="100">
                          <a:effectLst/>
                        </a:rPr>
                        <a:t>Non-current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41143760"/>
                  </a:ext>
                </a:extLst>
              </a:tr>
              <a:tr h="0">
                <a:tc>
                  <a:txBody>
                    <a:bodyPr/>
                    <a:lstStyle/>
                    <a:p>
                      <a:pPr>
                        <a:lnSpc>
                          <a:spcPct val="107000"/>
                        </a:lnSpc>
                        <a:buNone/>
                      </a:pPr>
                      <a:r>
                        <a:rPr lang="en-GB" sz="100" kern="100">
                          <a:effectLst/>
                        </a:rPr>
                        <a:t>Property plant and equipment (cost less depreciation)</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019897763"/>
                  </a:ext>
                </a:extLst>
              </a:tr>
              <a:tr h="0">
                <a:tc>
                  <a:txBody>
                    <a:bodyPr/>
                    <a:lstStyle/>
                    <a:p>
                      <a:pPr>
                        <a:lnSpc>
                          <a:spcPct val="107000"/>
                        </a:lnSpc>
                        <a:buNone/>
                      </a:pPr>
                      <a:r>
                        <a:rPr lang="en-GB" sz="100" kern="100">
                          <a:effectLst/>
                        </a:rPr>
                        <a:t>Freehold land and buildings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381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427</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972314"/>
                  </a:ext>
                </a:extLst>
              </a:tr>
              <a:tr h="0">
                <a:tc>
                  <a:txBody>
                    <a:bodyPr/>
                    <a:lstStyle/>
                    <a:p>
                      <a:pPr>
                        <a:lnSpc>
                          <a:spcPct val="107000"/>
                        </a:lnSpc>
                        <a:buNone/>
                      </a:pPr>
                      <a:r>
                        <a:rPr lang="en-GB" sz="100" kern="100">
                          <a:effectLst/>
                        </a:rPr>
                        <a:t>Fixtures and fittings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129</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160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02950489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810299876"/>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510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587</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697334751"/>
                  </a:ext>
                </a:extLst>
              </a:tr>
              <a:tr h="0">
                <a:tc>
                  <a:txBody>
                    <a:bodyPr/>
                    <a:lstStyle/>
                    <a:p>
                      <a:pPr>
                        <a:lnSpc>
                          <a:spcPct val="107000"/>
                        </a:lnSpc>
                        <a:buNone/>
                      </a:pPr>
                      <a:r>
                        <a:rPr lang="en-GB" sz="100" kern="100">
                          <a:effectLst/>
                        </a:rPr>
                        <a:t>Current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14343051"/>
                  </a:ext>
                </a:extLst>
              </a:tr>
              <a:tr h="0">
                <a:tc>
                  <a:txBody>
                    <a:bodyPr/>
                    <a:lstStyle/>
                    <a:p>
                      <a:pPr>
                        <a:lnSpc>
                          <a:spcPct val="107000"/>
                        </a:lnSpc>
                        <a:buNone/>
                      </a:pPr>
                      <a:r>
                        <a:rPr lang="en-GB" sz="100" kern="100">
                          <a:effectLst/>
                        </a:rPr>
                        <a:t>Inventories at cost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406</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00094972"/>
                  </a:ext>
                </a:extLst>
              </a:tr>
              <a:tr h="0">
                <a:tc>
                  <a:txBody>
                    <a:bodyPr/>
                    <a:lstStyle/>
                    <a:p>
                      <a:pPr>
                        <a:lnSpc>
                          <a:spcPct val="107000"/>
                        </a:lnSpc>
                        <a:buNone/>
                      </a:pPr>
                      <a:r>
                        <a:rPr lang="en-GB" sz="100" kern="100">
                          <a:effectLst/>
                        </a:rPr>
                        <a:t>Trade Receivables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240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273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66783831"/>
                  </a:ext>
                </a:extLst>
              </a:tr>
              <a:tr h="0">
                <a:tc>
                  <a:txBody>
                    <a:bodyPr/>
                    <a:lstStyle/>
                    <a:p>
                      <a:pPr>
                        <a:lnSpc>
                          <a:spcPct val="107000"/>
                        </a:lnSpc>
                        <a:buNone/>
                      </a:pPr>
                      <a:r>
                        <a:rPr lang="en-GB" sz="100" kern="100">
                          <a:effectLst/>
                        </a:rPr>
                        <a:t>Cash at bank</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5185581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544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679</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43769775"/>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34981341"/>
                  </a:ext>
                </a:extLst>
              </a:tr>
              <a:tr h="0">
                <a:tc>
                  <a:txBody>
                    <a:bodyPr/>
                    <a:lstStyle/>
                    <a:p>
                      <a:pPr>
                        <a:lnSpc>
                          <a:spcPct val="107000"/>
                        </a:lnSpc>
                        <a:buNone/>
                      </a:pPr>
                      <a:r>
                        <a:rPr lang="en-GB" sz="100" kern="100">
                          <a:effectLst/>
                        </a:rPr>
                        <a:t>TOTAL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1,054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1,266</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325817066"/>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998269459"/>
                  </a:ext>
                </a:extLst>
              </a:tr>
              <a:tr h="0">
                <a:tc>
                  <a:txBody>
                    <a:bodyPr/>
                    <a:lstStyle/>
                    <a:p>
                      <a:pPr>
                        <a:lnSpc>
                          <a:spcPct val="107000"/>
                        </a:lnSpc>
                        <a:buNone/>
                      </a:pPr>
                      <a:r>
                        <a:rPr lang="en-GB" sz="100" kern="100">
                          <a:effectLst/>
                        </a:rPr>
                        <a:t>EQUITY AND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622817683"/>
                  </a:ext>
                </a:extLst>
              </a:tr>
              <a:tr h="0">
                <a:tc>
                  <a:txBody>
                    <a:bodyPr/>
                    <a:lstStyle/>
                    <a:p>
                      <a:pPr>
                        <a:lnSpc>
                          <a:spcPct val="107000"/>
                        </a:lnSpc>
                        <a:buNone/>
                      </a:pPr>
                      <a:r>
                        <a:rPr lang="en-GB" sz="100" kern="100">
                          <a:effectLst/>
                        </a:rPr>
                        <a:t>Equity</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770111216"/>
                  </a:ext>
                </a:extLst>
              </a:tr>
              <a:tr h="0">
                <a:tc>
                  <a:txBody>
                    <a:bodyPr/>
                    <a:lstStyle/>
                    <a:p>
                      <a:pPr>
                        <a:lnSpc>
                          <a:spcPct val="107000"/>
                        </a:lnSpc>
                        <a:buNone/>
                      </a:pPr>
                      <a:r>
                        <a:rPr lang="en-GB" sz="100" kern="100">
                          <a:effectLst/>
                        </a:rPr>
                        <a:t>Share capital £0.50 ordinary shares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967921825"/>
                  </a:ext>
                </a:extLst>
              </a:tr>
              <a:tr h="0">
                <a:tc>
                  <a:txBody>
                    <a:bodyPr/>
                    <a:lstStyle/>
                    <a:p>
                      <a:pPr>
                        <a:lnSpc>
                          <a:spcPct val="107000"/>
                        </a:lnSpc>
                        <a:buNone/>
                      </a:pPr>
                      <a:r>
                        <a:rPr lang="en-GB" sz="100" kern="100">
                          <a:effectLst/>
                        </a:rPr>
                        <a:t>Retained earnings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263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234</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768469227"/>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563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534</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1942603"/>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9030934"/>
                  </a:ext>
                </a:extLst>
              </a:tr>
              <a:tr h="0">
                <a:tc>
                  <a:txBody>
                    <a:bodyPr/>
                    <a:lstStyle/>
                    <a:p>
                      <a:pPr>
                        <a:lnSpc>
                          <a:spcPct val="107000"/>
                        </a:lnSpc>
                        <a:buNone/>
                      </a:pPr>
                      <a:r>
                        <a:rPr lang="en-GB" sz="100" kern="100">
                          <a:effectLst/>
                        </a:rPr>
                        <a:t>Non-current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62618469"/>
                  </a:ext>
                </a:extLst>
              </a:tr>
              <a:tr h="0">
                <a:tc>
                  <a:txBody>
                    <a:bodyPr/>
                    <a:lstStyle/>
                    <a:p>
                      <a:pPr>
                        <a:lnSpc>
                          <a:spcPct val="107000"/>
                        </a:lnSpc>
                        <a:buNone/>
                      </a:pPr>
                      <a:r>
                        <a:rPr lang="en-GB" sz="100" kern="100">
                          <a:effectLst/>
                        </a:rPr>
                        <a:t>Borrowings 9% debentures (secured)</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46402700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892702288"/>
                  </a:ext>
                </a:extLst>
              </a:tr>
              <a:tr h="0">
                <a:tc>
                  <a:txBody>
                    <a:bodyPr/>
                    <a:lstStyle/>
                    <a:p>
                      <a:pPr>
                        <a:lnSpc>
                          <a:spcPct val="107000"/>
                        </a:lnSpc>
                        <a:buNone/>
                      </a:pPr>
                      <a:r>
                        <a:rPr lang="en-GB" sz="100" kern="100">
                          <a:effectLst/>
                        </a:rPr>
                        <a:t>Current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961683918"/>
                  </a:ext>
                </a:extLst>
              </a:tr>
              <a:tr h="0">
                <a:tc>
                  <a:txBody>
                    <a:bodyPr/>
                    <a:lstStyle/>
                    <a:p>
                      <a:pPr>
                        <a:lnSpc>
                          <a:spcPct val="107000"/>
                        </a:lnSpc>
                        <a:buNone/>
                      </a:pPr>
                      <a:r>
                        <a:rPr lang="en-GB" sz="100" kern="100">
                          <a:effectLst/>
                        </a:rPr>
                        <a:t>Trade payables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261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354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18480407"/>
                  </a:ext>
                </a:extLst>
              </a:tr>
              <a:tr h="0">
                <a:tc>
                  <a:txBody>
                    <a:bodyPr/>
                    <a:lstStyle/>
                    <a:p>
                      <a:pPr>
                        <a:lnSpc>
                          <a:spcPct val="107000"/>
                        </a:lnSpc>
                        <a:buNone/>
                      </a:pPr>
                      <a:r>
                        <a:rPr lang="en-GB" sz="100" kern="100">
                          <a:effectLst/>
                        </a:rPr>
                        <a:t>Corporation tax due</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23559462"/>
                  </a:ext>
                </a:extLst>
              </a:tr>
              <a:tr h="0">
                <a:tc>
                  <a:txBody>
                    <a:bodyPr/>
                    <a:lstStyle/>
                    <a:p>
                      <a:pPr>
                        <a:lnSpc>
                          <a:spcPct val="107000"/>
                        </a:lnSpc>
                        <a:buNone/>
                      </a:pPr>
                      <a:r>
                        <a:rPr lang="en-GB" sz="100" kern="100">
                          <a:effectLst/>
                        </a:rPr>
                        <a:t>Bank Overdraft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76</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23595719"/>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291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432</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245926534"/>
                  </a:ext>
                </a:extLst>
              </a:tr>
              <a:tr h="0">
                <a:tc>
                  <a:txBody>
                    <a:bodyPr/>
                    <a:lstStyle/>
                    <a:p>
                      <a:pPr>
                        <a:lnSpc>
                          <a:spcPct val="107000"/>
                        </a:lnSpc>
                        <a:buNone/>
                      </a:pPr>
                      <a:r>
                        <a:rPr lang="en-GB" sz="100" kern="100">
                          <a:effectLst/>
                        </a:rPr>
                        <a:t>TOTAL EQUITY AND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1,054</a:t>
                      </a:r>
                    </a:p>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dirty="0">
                          <a:effectLst/>
                        </a:rPr>
                        <a:t>1,266</a:t>
                      </a:r>
                      <a:endParaRPr lang="en-GB" sz="100" kern="100" dirty="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20682554"/>
                  </a:ext>
                </a:extLst>
              </a:tr>
            </a:tbl>
          </a:graphicData>
        </a:graphic>
      </p:graphicFrame>
      <p:graphicFrame>
        <p:nvGraphicFramePr>
          <p:cNvPr id="5" name="Table 4">
            <a:extLst>
              <a:ext uri="{FF2B5EF4-FFF2-40B4-BE49-F238E27FC236}">
                <a16:creationId xmlns:a16="http://schemas.microsoft.com/office/drawing/2014/main" id="{FB7765AE-0EEF-0349-E31F-85723182E890}"/>
              </a:ext>
            </a:extLst>
          </p:cNvPr>
          <p:cNvGraphicFramePr>
            <a:graphicFrameLocks noGrp="1"/>
          </p:cNvGraphicFramePr>
          <p:nvPr>
            <p:extLst>
              <p:ext uri="{D42A27DB-BD31-4B8C-83A1-F6EECF244321}">
                <p14:modId xmlns:p14="http://schemas.microsoft.com/office/powerpoint/2010/main" val="719478695"/>
              </p:ext>
            </p:extLst>
          </p:nvPr>
        </p:nvGraphicFramePr>
        <p:xfrm>
          <a:off x="6632450" y="49946"/>
          <a:ext cx="5191990" cy="6758108"/>
        </p:xfrm>
        <a:graphic>
          <a:graphicData uri="http://schemas.openxmlformats.org/drawingml/2006/table">
            <a:tbl>
              <a:tblPr firstRow="1" firstCol="1" lastRow="1" lastCol="1" bandRow="1" bandCol="1">
                <a:tableStyleId>{5C22544A-7EE6-4342-B048-85BDC9FD1C3A}</a:tableStyleId>
              </a:tblPr>
              <a:tblGrid>
                <a:gridCol w="1966036">
                  <a:extLst>
                    <a:ext uri="{9D8B030D-6E8A-4147-A177-3AD203B41FA5}">
                      <a16:colId xmlns:a16="http://schemas.microsoft.com/office/drawing/2014/main" val="680384781"/>
                    </a:ext>
                  </a:extLst>
                </a:gridCol>
                <a:gridCol w="781053">
                  <a:extLst>
                    <a:ext uri="{9D8B030D-6E8A-4147-A177-3AD203B41FA5}">
                      <a16:colId xmlns:a16="http://schemas.microsoft.com/office/drawing/2014/main" val="1258402008"/>
                    </a:ext>
                  </a:extLst>
                </a:gridCol>
                <a:gridCol w="815170">
                  <a:extLst>
                    <a:ext uri="{9D8B030D-6E8A-4147-A177-3AD203B41FA5}">
                      <a16:colId xmlns:a16="http://schemas.microsoft.com/office/drawing/2014/main" val="3920493297"/>
                    </a:ext>
                  </a:extLst>
                </a:gridCol>
                <a:gridCol w="814561">
                  <a:extLst>
                    <a:ext uri="{9D8B030D-6E8A-4147-A177-3AD203B41FA5}">
                      <a16:colId xmlns:a16="http://schemas.microsoft.com/office/drawing/2014/main" val="3949039921"/>
                    </a:ext>
                  </a:extLst>
                </a:gridCol>
                <a:gridCol w="815170">
                  <a:extLst>
                    <a:ext uri="{9D8B030D-6E8A-4147-A177-3AD203B41FA5}">
                      <a16:colId xmlns:a16="http://schemas.microsoft.com/office/drawing/2014/main" val="3827397858"/>
                    </a:ext>
                  </a:extLst>
                </a:gridCol>
              </a:tblGrid>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gridSpan="2">
                  <a:txBody>
                    <a:bodyPr/>
                    <a:lstStyle/>
                    <a:p>
                      <a:pPr algn="ctr">
                        <a:lnSpc>
                          <a:spcPct val="107000"/>
                        </a:lnSpc>
                        <a:buNone/>
                      </a:pPr>
                      <a:r>
                        <a:rPr lang="en-GB" sz="1200" kern="100">
                          <a:effectLst/>
                        </a:rPr>
                        <a:t>2023</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hMerge="1">
                  <a:txBody>
                    <a:bodyPr/>
                    <a:lstStyle/>
                    <a:p>
                      <a:endParaRPr lang="en-GB"/>
                    </a:p>
                  </a:txBody>
                  <a:tcPr/>
                </a:tc>
                <a:tc gridSpan="2">
                  <a:txBody>
                    <a:bodyPr/>
                    <a:lstStyle/>
                    <a:p>
                      <a:pPr algn="ctr">
                        <a:lnSpc>
                          <a:spcPct val="107000"/>
                        </a:lnSpc>
                        <a:buNone/>
                      </a:pPr>
                      <a:r>
                        <a:rPr lang="en-GB" sz="1200" kern="100">
                          <a:effectLst/>
                        </a:rPr>
                        <a:t>2024</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hMerge="1">
                  <a:txBody>
                    <a:bodyPr/>
                    <a:lstStyle/>
                    <a:p>
                      <a:endParaRPr lang="en-GB"/>
                    </a:p>
                  </a:txBody>
                  <a:tcPr/>
                </a:tc>
                <a:extLst>
                  <a:ext uri="{0D108BD9-81ED-4DB2-BD59-A6C34878D82A}">
                    <a16:rowId xmlns:a16="http://schemas.microsoft.com/office/drawing/2014/main" val="464642650"/>
                  </a:ext>
                </a:extLst>
              </a:tr>
              <a:tr h="19600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£000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£000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£000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£000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732121545"/>
                  </a:ext>
                </a:extLst>
              </a:tr>
              <a:tr h="154543">
                <a:tc>
                  <a:txBody>
                    <a:bodyPr/>
                    <a:lstStyle/>
                    <a:p>
                      <a:pPr>
                        <a:lnSpc>
                          <a:spcPct val="107000"/>
                        </a:lnSpc>
                        <a:buNone/>
                      </a:pPr>
                      <a:r>
                        <a:rPr lang="en-GB" sz="1200" kern="100">
                          <a:effectLst/>
                        </a:rPr>
                        <a:t>Non-current  Assets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563026118"/>
                  </a:ext>
                </a:extLst>
              </a:tr>
              <a:tr h="479447">
                <a:tc>
                  <a:txBody>
                    <a:bodyPr/>
                    <a:lstStyle/>
                    <a:p>
                      <a:pPr>
                        <a:lnSpc>
                          <a:spcPct val="107000"/>
                        </a:lnSpc>
                        <a:buNone/>
                      </a:pPr>
                      <a:r>
                        <a:rPr lang="en-GB" sz="1200" kern="100">
                          <a:effectLst/>
                        </a:rPr>
                        <a:t>Property plant and equipment (cost less depreciation)</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33171818"/>
                  </a:ext>
                </a:extLst>
              </a:tr>
              <a:tr h="154543">
                <a:tc>
                  <a:txBody>
                    <a:bodyPr/>
                    <a:lstStyle/>
                    <a:p>
                      <a:pPr>
                        <a:lnSpc>
                          <a:spcPct val="107000"/>
                        </a:lnSpc>
                        <a:buNone/>
                      </a:pPr>
                      <a:r>
                        <a:rPr lang="en-GB" sz="1200" kern="100">
                          <a:effectLst/>
                        </a:rPr>
                        <a:t>Freehold land and buildings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381</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427</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2091470380"/>
                  </a:ext>
                </a:extLst>
              </a:tr>
              <a:tr h="154543">
                <a:tc>
                  <a:txBody>
                    <a:bodyPr/>
                    <a:lstStyle/>
                    <a:p>
                      <a:pPr>
                        <a:lnSpc>
                          <a:spcPct val="107000"/>
                        </a:lnSpc>
                        <a:buNone/>
                      </a:pPr>
                      <a:r>
                        <a:rPr lang="en-GB" sz="1200" kern="100">
                          <a:effectLst/>
                        </a:rPr>
                        <a:t>Fixtures and fittings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129</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160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525565491"/>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4200577391"/>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510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587</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2070771505"/>
                  </a:ext>
                </a:extLst>
              </a:tr>
              <a:tr h="154543">
                <a:tc>
                  <a:txBody>
                    <a:bodyPr/>
                    <a:lstStyle/>
                    <a:p>
                      <a:pPr>
                        <a:lnSpc>
                          <a:spcPct val="107000"/>
                        </a:lnSpc>
                        <a:buNone/>
                      </a:pPr>
                      <a:r>
                        <a:rPr lang="en-GB" sz="1200" kern="100">
                          <a:effectLst/>
                        </a:rPr>
                        <a:t>Current Assets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248761467"/>
                  </a:ext>
                </a:extLst>
              </a:tr>
              <a:tr h="154543">
                <a:tc>
                  <a:txBody>
                    <a:bodyPr/>
                    <a:lstStyle/>
                    <a:p>
                      <a:pPr>
                        <a:lnSpc>
                          <a:spcPct val="107000"/>
                        </a:lnSpc>
                        <a:buNone/>
                      </a:pPr>
                      <a:r>
                        <a:rPr lang="en-GB" sz="1200" kern="100">
                          <a:effectLst/>
                        </a:rPr>
                        <a:t>Inventories at cost</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406</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219300622"/>
                  </a:ext>
                </a:extLst>
              </a:tr>
              <a:tr h="154543">
                <a:tc>
                  <a:txBody>
                    <a:bodyPr/>
                    <a:lstStyle/>
                    <a:p>
                      <a:pPr>
                        <a:lnSpc>
                          <a:spcPct val="107000"/>
                        </a:lnSpc>
                        <a:buNone/>
                      </a:pPr>
                      <a:r>
                        <a:rPr lang="en-GB" sz="1200" kern="100">
                          <a:effectLst/>
                        </a:rPr>
                        <a:t>Trade Receivables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240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273</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211849571"/>
                  </a:ext>
                </a:extLst>
              </a:tr>
              <a:tr h="154543">
                <a:tc>
                  <a:txBody>
                    <a:bodyPr/>
                    <a:lstStyle/>
                    <a:p>
                      <a:pPr>
                        <a:lnSpc>
                          <a:spcPct val="107000"/>
                        </a:lnSpc>
                        <a:buNone/>
                      </a:pPr>
                      <a:r>
                        <a:rPr lang="en-GB" sz="1200" kern="100">
                          <a:effectLst/>
                        </a:rPr>
                        <a:t>Cash at bank</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4</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93452335"/>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544</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679</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376563292"/>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616562828"/>
                  </a:ext>
                </a:extLst>
              </a:tr>
              <a:tr h="154543">
                <a:tc>
                  <a:txBody>
                    <a:bodyPr/>
                    <a:lstStyle/>
                    <a:p>
                      <a:pPr>
                        <a:lnSpc>
                          <a:spcPct val="107000"/>
                        </a:lnSpc>
                        <a:buNone/>
                      </a:pPr>
                      <a:r>
                        <a:rPr lang="en-GB" sz="1200" kern="100">
                          <a:effectLst/>
                        </a:rPr>
                        <a:t>TOTAL ASSETS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1,054</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1,266</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202915328"/>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751650924"/>
                  </a:ext>
                </a:extLst>
              </a:tr>
              <a:tr h="154543">
                <a:tc>
                  <a:txBody>
                    <a:bodyPr/>
                    <a:lstStyle/>
                    <a:p>
                      <a:pPr>
                        <a:lnSpc>
                          <a:spcPct val="107000"/>
                        </a:lnSpc>
                        <a:buNone/>
                      </a:pPr>
                      <a:r>
                        <a:rPr lang="en-GB" sz="1200" kern="100">
                          <a:effectLst/>
                        </a:rPr>
                        <a:t>EQUITY AND LIABILITIES: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4002908811"/>
                  </a:ext>
                </a:extLst>
              </a:tr>
              <a:tr h="154543">
                <a:tc>
                  <a:txBody>
                    <a:bodyPr/>
                    <a:lstStyle/>
                    <a:p>
                      <a:pPr>
                        <a:lnSpc>
                          <a:spcPct val="107000"/>
                        </a:lnSpc>
                        <a:buNone/>
                      </a:pPr>
                      <a:r>
                        <a:rPr lang="en-GB" sz="1200" kern="100">
                          <a:effectLst/>
                        </a:rPr>
                        <a:t>Equity</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393686456"/>
                  </a:ext>
                </a:extLst>
              </a:tr>
              <a:tr h="316995">
                <a:tc>
                  <a:txBody>
                    <a:bodyPr/>
                    <a:lstStyle/>
                    <a:p>
                      <a:pPr>
                        <a:lnSpc>
                          <a:spcPct val="107000"/>
                        </a:lnSpc>
                        <a:buNone/>
                      </a:pPr>
                      <a:r>
                        <a:rPr lang="en-GB" sz="1200" kern="100">
                          <a:effectLst/>
                        </a:rPr>
                        <a:t>Share capital £0.50 ordinary shares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598731554"/>
                  </a:ext>
                </a:extLst>
              </a:tr>
              <a:tr h="154543">
                <a:tc>
                  <a:txBody>
                    <a:bodyPr/>
                    <a:lstStyle/>
                    <a:p>
                      <a:pPr>
                        <a:lnSpc>
                          <a:spcPct val="107000"/>
                        </a:lnSpc>
                        <a:buNone/>
                      </a:pPr>
                      <a:r>
                        <a:rPr lang="en-GB" sz="1200" kern="100">
                          <a:effectLst/>
                        </a:rPr>
                        <a:t>Retained earnings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263</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234</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667820369"/>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563</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534</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185885334"/>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530345260"/>
                  </a:ext>
                </a:extLst>
              </a:tr>
              <a:tr h="154543">
                <a:tc>
                  <a:txBody>
                    <a:bodyPr/>
                    <a:lstStyle/>
                    <a:p>
                      <a:pPr>
                        <a:lnSpc>
                          <a:spcPct val="107000"/>
                        </a:lnSpc>
                        <a:buNone/>
                      </a:pPr>
                      <a:r>
                        <a:rPr lang="en-GB" sz="1200" kern="100">
                          <a:effectLst/>
                        </a:rPr>
                        <a:t>Non-current Liabilities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423220716"/>
                  </a:ext>
                </a:extLst>
              </a:tr>
              <a:tr h="316995">
                <a:tc>
                  <a:txBody>
                    <a:bodyPr/>
                    <a:lstStyle/>
                    <a:p>
                      <a:pPr>
                        <a:lnSpc>
                          <a:spcPct val="107000"/>
                        </a:lnSpc>
                        <a:buNone/>
                      </a:pPr>
                      <a:r>
                        <a:rPr lang="en-GB" sz="1200" kern="100">
                          <a:effectLst/>
                        </a:rPr>
                        <a:t>Borrowings 9% debentures (secured)</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dirty="0">
                          <a:effectLst/>
                        </a:rPr>
                        <a:t>200</a:t>
                      </a:r>
                      <a:endParaRPr lang="en-GB" sz="1200" kern="100" dirty="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300</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826808199"/>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600241588"/>
                  </a:ext>
                </a:extLst>
              </a:tr>
              <a:tr h="154543">
                <a:tc>
                  <a:txBody>
                    <a:bodyPr/>
                    <a:lstStyle/>
                    <a:p>
                      <a:pPr>
                        <a:lnSpc>
                          <a:spcPct val="107000"/>
                        </a:lnSpc>
                        <a:buNone/>
                      </a:pPr>
                      <a:r>
                        <a:rPr lang="en-GB" sz="1200" kern="100">
                          <a:effectLst/>
                        </a:rPr>
                        <a:t>Current Liabilities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611633236"/>
                  </a:ext>
                </a:extLst>
              </a:tr>
              <a:tr h="154543">
                <a:tc>
                  <a:txBody>
                    <a:bodyPr/>
                    <a:lstStyle/>
                    <a:p>
                      <a:pPr>
                        <a:lnSpc>
                          <a:spcPct val="107000"/>
                        </a:lnSpc>
                        <a:buNone/>
                      </a:pPr>
                      <a:r>
                        <a:rPr lang="en-GB" sz="1200" kern="100">
                          <a:effectLst/>
                        </a:rPr>
                        <a:t>Trade payables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261</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354</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351832773"/>
                  </a:ext>
                </a:extLst>
              </a:tr>
              <a:tr h="154543">
                <a:tc>
                  <a:txBody>
                    <a:bodyPr/>
                    <a:lstStyle/>
                    <a:p>
                      <a:pPr>
                        <a:lnSpc>
                          <a:spcPct val="107000"/>
                        </a:lnSpc>
                        <a:buNone/>
                      </a:pPr>
                      <a:r>
                        <a:rPr lang="en-GB" sz="1200" kern="100">
                          <a:effectLst/>
                        </a:rPr>
                        <a:t>Corporation tax due</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30</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2425961706"/>
                  </a:ext>
                </a:extLst>
              </a:tr>
              <a:tr h="154543">
                <a:tc>
                  <a:txBody>
                    <a:bodyPr/>
                    <a:lstStyle/>
                    <a:p>
                      <a:pPr>
                        <a:lnSpc>
                          <a:spcPct val="107000"/>
                        </a:lnSpc>
                        <a:buNone/>
                      </a:pPr>
                      <a:r>
                        <a:rPr lang="en-GB" sz="1200" kern="100">
                          <a:effectLst/>
                        </a:rPr>
                        <a:t>Bank Overdraft</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76</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246817818"/>
                  </a:ext>
                </a:extLst>
              </a:tr>
              <a:tr h="154543">
                <a:tc>
                  <a:txBody>
                    <a:bodyPr/>
                    <a:lstStyle/>
                    <a:p>
                      <a:pP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291</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432</a:t>
                      </a:r>
                      <a:endParaRPr lang="en-GB" sz="1200" kern="10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1150628896"/>
                  </a:ext>
                </a:extLst>
              </a:tr>
              <a:tr h="316995">
                <a:tc>
                  <a:txBody>
                    <a:bodyPr/>
                    <a:lstStyle/>
                    <a:p>
                      <a:pPr>
                        <a:lnSpc>
                          <a:spcPct val="107000"/>
                        </a:lnSpc>
                        <a:buNone/>
                      </a:pPr>
                      <a:r>
                        <a:rPr lang="en-GB" sz="1200" kern="100">
                          <a:effectLst/>
                        </a:rPr>
                        <a:t>TOTAL EQUITY AND LIABILITIES</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1,054</a:t>
                      </a:r>
                    </a:p>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a:effectLst/>
                        </a:rPr>
                        <a:t> </a:t>
                      </a:r>
                      <a:endParaRPr lang="en-GB" sz="1200" kern="100">
                        <a:effectLst/>
                        <a:latin typeface="Times New Roman" panose="02020603050405020304" pitchFamily="18" charset="0"/>
                        <a:ea typeface="Times New Roman" panose="02020603050405020304" pitchFamily="18" charset="0"/>
                      </a:endParaRPr>
                    </a:p>
                  </a:txBody>
                  <a:tcPr marL="44608" marR="44608" marT="0" marB="0"/>
                </a:tc>
                <a:tc>
                  <a:txBody>
                    <a:bodyPr/>
                    <a:lstStyle/>
                    <a:p>
                      <a:pPr algn="ctr">
                        <a:lnSpc>
                          <a:spcPct val="107000"/>
                        </a:lnSpc>
                        <a:buNone/>
                      </a:pPr>
                      <a:r>
                        <a:rPr lang="en-GB" sz="1200" kern="100" dirty="0">
                          <a:effectLst/>
                        </a:rPr>
                        <a:t>1,266</a:t>
                      </a:r>
                      <a:endParaRPr lang="en-GB" sz="1200" kern="100" dirty="0">
                        <a:effectLst/>
                        <a:latin typeface="Times New Roman" panose="02020603050405020304" pitchFamily="18" charset="0"/>
                        <a:ea typeface="Times New Roman" panose="02020603050405020304" pitchFamily="18" charset="0"/>
                      </a:endParaRPr>
                    </a:p>
                  </a:txBody>
                  <a:tcPr marL="44608" marR="44608" marT="0" marB="0"/>
                </a:tc>
                <a:extLst>
                  <a:ext uri="{0D108BD9-81ED-4DB2-BD59-A6C34878D82A}">
                    <a16:rowId xmlns:a16="http://schemas.microsoft.com/office/drawing/2014/main" val="3373989141"/>
                  </a:ext>
                </a:extLst>
              </a:tr>
            </a:tbl>
          </a:graphicData>
        </a:graphic>
      </p:graphicFrame>
    </p:spTree>
    <p:extLst>
      <p:ext uri="{BB962C8B-B14F-4D97-AF65-F5344CB8AC3E}">
        <p14:creationId xmlns:p14="http://schemas.microsoft.com/office/powerpoint/2010/main" val="1318140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FE92F-D615-7437-6E11-2A7F555AC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31EBF-76EB-A60A-CC48-424621EBE421}"/>
              </a:ext>
            </a:extLst>
          </p:cNvPr>
          <p:cNvSpPr>
            <a:spLocks noGrp="1"/>
          </p:cNvSpPr>
          <p:nvPr>
            <p:ph type="title"/>
          </p:nvPr>
        </p:nvSpPr>
        <p:spPr>
          <a:xfrm>
            <a:off x="838200" y="692698"/>
            <a:ext cx="4721352" cy="1846660"/>
          </a:xfrm>
        </p:spPr>
        <p:txBody>
          <a:bodyPr>
            <a:normAutofit fontScale="90000"/>
          </a:bodyPr>
          <a:lstStyle/>
          <a:p>
            <a:r>
              <a:rPr lang="en-GB" dirty="0"/>
              <a:t>Financial Statements Time Series Analysis – Wholesale Carpet </a:t>
            </a:r>
            <a:br>
              <a:rPr lang="en-GB" dirty="0"/>
            </a:br>
            <a:br>
              <a:rPr lang="en-GB" dirty="0"/>
            </a:br>
            <a:endParaRPr lang="en-GB" sz="6600" dirty="0">
              <a:solidFill>
                <a:schemeClr val="accent1"/>
              </a:solidFill>
            </a:endParaRPr>
          </a:p>
        </p:txBody>
      </p:sp>
      <p:graphicFrame>
        <p:nvGraphicFramePr>
          <p:cNvPr id="4" name="Content Placeholder 3">
            <a:extLst>
              <a:ext uri="{FF2B5EF4-FFF2-40B4-BE49-F238E27FC236}">
                <a16:creationId xmlns:a16="http://schemas.microsoft.com/office/drawing/2014/main" id="{E5B691C3-4293-02F4-CB9D-6EFB7AFB42A2}"/>
              </a:ext>
            </a:extLst>
          </p:cNvPr>
          <p:cNvGraphicFramePr>
            <a:graphicFrameLocks noGrp="1"/>
          </p:cNvGraphicFramePr>
          <p:nvPr>
            <p:ph idx="1"/>
          </p:nvPr>
        </p:nvGraphicFramePr>
        <p:xfrm>
          <a:off x="0" y="0"/>
          <a:ext cx="0" cy="0"/>
        </p:xfrm>
        <a:graphic>
          <a:graphicData uri="http://schemas.openxmlformats.org/drawingml/2006/table">
            <a:tbl>
              <a:tblPr firstRow="1" firstCol="1" lastRow="1" lastCol="1" bandRow="1" bandCol="1">
                <a:tableStyleId>{5C22544A-7EE6-4342-B048-85BDC9FD1C3A}</a:tableStyleId>
              </a:tblPr>
              <a:tblGrid>
                <a:gridCol w="25400">
                  <a:extLst>
                    <a:ext uri="{9D8B030D-6E8A-4147-A177-3AD203B41FA5}">
                      <a16:colId xmlns:a16="http://schemas.microsoft.com/office/drawing/2014/main" val="3842177790"/>
                    </a:ext>
                  </a:extLst>
                </a:gridCol>
                <a:gridCol w="25400">
                  <a:extLst>
                    <a:ext uri="{9D8B030D-6E8A-4147-A177-3AD203B41FA5}">
                      <a16:colId xmlns:a16="http://schemas.microsoft.com/office/drawing/2014/main" val="2427171619"/>
                    </a:ext>
                  </a:extLst>
                </a:gridCol>
                <a:gridCol w="25400">
                  <a:extLst>
                    <a:ext uri="{9D8B030D-6E8A-4147-A177-3AD203B41FA5}">
                      <a16:colId xmlns:a16="http://schemas.microsoft.com/office/drawing/2014/main" val="1291388997"/>
                    </a:ext>
                  </a:extLst>
                </a:gridCol>
                <a:gridCol w="25400">
                  <a:extLst>
                    <a:ext uri="{9D8B030D-6E8A-4147-A177-3AD203B41FA5}">
                      <a16:colId xmlns:a16="http://schemas.microsoft.com/office/drawing/2014/main" val="134641358"/>
                    </a:ext>
                  </a:extLst>
                </a:gridCol>
                <a:gridCol w="25400">
                  <a:extLst>
                    <a:ext uri="{9D8B030D-6E8A-4147-A177-3AD203B41FA5}">
                      <a16:colId xmlns:a16="http://schemas.microsoft.com/office/drawing/2014/main" val="657335005"/>
                    </a:ext>
                  </a:extLst>
                </a:gridCol>
              </a:tblGrid>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gridSpan="2">
                  <a:txBody>
                    <a:bodyPr/>
                    <a:lstStyle/>
                    <a:p>
                      <a:pPr algn="ctr">
                        <a:lnSpc>
                          <a:spcPct val="107000"/>
                        </a:lnSpc>
                        <a:buNone/>
                      </a:pPr>
                      <a:r>
                        <a:rPr lang="en-GB" sz="100" kern="100">
                          <a:effectLst/>
                        </a:rPr>
                        <a:t>2023</a:t>
                      </a:r>
                      <a:endParaRPr lang="en-GB" sz="100" kern="100">
                        <a:effectLst/>
                        <a:latin typeface="Times New Roman" panose="02020603050405020304" pitchFamily="18" charset="0"/>
                        <a:ea typeface="Times New Roman" panose="02020603050405020304" pitchFamily="18" charset="0"/>
                      </a:endParaRPr>
                    </a:p>
                  </a:txBody>
                  <a:tcPr marL="0" marR="0" marT="0" marB="0"/>
                </a:tc>
                <a:tc hMerge="1">
                  <a:txBody>
                    <a:bodyPr/>
                    <a:lstStyle/>
                    <a:p>
                      <a:endParaRPr lang="en-GB"/>
                    </a:p>
                  </a:txBody>
                  <a:tcPr/>
                </a:tc>
                <a:tc gridSpan="2">
                  <a:txBody>
                    <a:bodyPr/>
                    <a:lstStyle/>
                    <a:p>
                      <a:pPr algn="ctr">
                        <a:lnSpc>
                          <a:spcPct val="107000"/>
                        </a:lnSpc>
                        <a:buNone/>
                      </a:pPr>
                      <a:r>
                        <a:rPr lang="en-GB" sz="100" kern="100">
                          <a:effectLst/>
                        </a:rPr>
                        <a:t>2024</a:t>
                      </a:r>
                      <a:endParaRPr lang="en-GB" sz="100" kern="100">
                        <a:effectLst/>
                        <a:latin typeface="Times New Roman" panose="02020603050405020304" pitchFamily="18" charset="0"/>
                        <a:ea typeface="Times New Roman" panose="02020603050405020304" pitchFamily="18" charset="0"/>
                      </a:endParaRPr>
                    </a:p>
                  </a:txBody>
                  <a:tcPr marL="0" marR="0" marT="0" marB="0"/>
                </a:tc>
                <a:tc hMerge="1">
                  <a:txBody>
                    <a:bodyPr/>
                    <a:lstStyle/>
                    <a:p>
                      <a:endParaRPr lang="en-GB"/>
                    </a:p>
                  </a:txBody>
                  <a:tcPr/>
                </a:tc>
                <a:extLst>
                  <a:ext uri="{0D108BD9-81ED-4DB2-BD59-A6C34878D82A}">
                    <a16:rowId xmlns:a16="http://schemas.microsoft.com/office/drawing/2014/main" val="3134693809"/>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£000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71509110"/>
                  </a:ext>
                </a:extLst>
              </a:tr>
              <a:tr h="0">
                <a:tc>
                  <a:txBody>
                    <a:bodyPr/>
                    <a:lstStyle/>
                    <a:p>
                      <a:pPr>
                        <a:lnSpc>
                          <a:spcPct val="107000"/>
                        </a:lnSpc>
                        <a:buNone/>
                      </a:pPr>
                      <a:r>
                        <a:rPr lang="en-GB" sz="100" kern="100">
                          <a:effectLst/>
                        </a:rPr>
                        <a:t>Non-current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41143760"/>
                  </a:ext>
                </a:extLst>
              </a:tr>
              <a:tr h="0">
                <a:tc>
                  <a:txBody>
                    <a:bodyPr/>
                    <a:lstStyle/>
                    <a:p>
                      <a:pPr>
                        <a:lnSpc>
                          <a:spcPct val="107000"/>
                        </a:lnSpc>
                        <a:buNone/>
                      </a:pPr>
                      <a:r>
                        <a:rPr lang="en-GB" sz="100" kern="100">
                          <a:effectLst/>
                        </a:rPr>
                        <a:t>Property plant and equipment (cost less depreciation)</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019897763"/>
                  </a:ext>
                </a:extLst>
              </a:tr>
              <a:tr h="0">
                <a:tc>
                  <a:txBody>
                    <a:bodyPr/>
                    <a:lstStyle/>
                    <a:p>
                      <a:pPr>
                        <a:lnSpc>
                          <a:spcPct val="107000"/>
                        </a:lnSpc>
                        <a:buNone/>
                      </a:pPr>
                      <a:r>
                        <a:rPr lang="en-GB" sz="100" kern="100">
                          <a:effectLst/>
                        </a:rPr>
                        <a:t>Freehold land and buildings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381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427</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972314"/>
                  </a:ext>
                </a:extLst>
              </a:tr>
              <a:tr h="0">
                <a:tc>
                  <a:txBody>
                    <a:bodyPr/>
                    <a:lstStyle/>
                    <a:p>
                      <a:pPr>
                        <a:lnSpc>
                          <a:spcPct val="107000"/>
                        </a:lnSpc>
                        <a:buNone/>
                      </a:pPr>
                      <a:r>
                        <a:rPr lang="en-GB" sz="100" kern="100">
                          <a:effectLst/>
                        </a:rPr>
                        <a:t>Fixtures and fittings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129</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160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02950489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810299876"/>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510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587</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697334751"/>
                  </a:ext>
                </a:extLst>
              </a:tr>
              <a:tr h="0">
                <a:tc>
                  <a:txBody>
                    <a:bodyPr/>
                    <a:lstStyle/>
                    <a:p>
                      <a:pPr>
                        <a:lnSpc>
                          <a:spcPct val="107000"/>
                        </a:lnSpc>
                        <a:buNone/>
                      </a:pPr>
                      <a:r>
                        <a:rPr lang="en-GB" sz="100" kern="100">
                          <a:effectLst/>
                        </a:rPr>
                        <a:t>Current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14343051"/>
                  </a:ext>
                </a:extLst>
              </a:tr>
              <a:tr h="0">
                <a:tc>
                  <a:txBody>
                    <a:bodyPr/>
                    <a:lstStyle/>
                    <a:p>
                      <a:pPr>
                        <a:lnSpc>
                          <a:spcPct val="107000"/>
                        </a:lnSpc>
                        <a:buNone/>
                      </a:pPr>
                      <a:r>
                        <a:rPr lang="en-GB" sz="100" kern="100">
                          <a:effectLst/>
                        </a:rPr>
                        <a:t>Inventories at cost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406</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00094972"/>
                  </a:ext>
                </a:extLst>
              </a:tr>
              <a:tr h="0">
                <a:tc>
                  <a:txBody>
                    <a:bodyPr/>
                    <a:lstStyle/>
                    <a:p>
                      <a:pPr>
                        <a:lnSpc>
                          <a:spcPct val="107000"/>
                        </a:lnSpc>
                        <a:buNone/>
                      </a:pPr>
                      <a:r>
                        <a:rPr lang="en-GB" sz="100" kern="100">
                          <a:effectLst/>
                        </a:rPr>
                        <a:t>Trade Receivables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240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273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66783831"/>
                  </a:ext>
                </a:extLst>
              </a:tr>
              <a:tr h="0">
                <a:tc>
                  <a:txBody>
                    <a:bodyPr/>
                    <a:lstStyle/>
                    <a:p>
                      <a:pPr>
                        <a:lnSpc>
                          <a:spcPct val="107000"/>
                        </a:lnSpc>
                        <a:buNone/>
                      </a:pPr>
                      <a:r>
                        <a:rPr lang="en-GB" sz="100" kern="100">
                          <a:effectLst/>
                        </a:rPr>
                        <a:t>Cash at bank</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5185581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544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679</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43769775"/>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34981341"/>
                  </a:ext>
                </a:extLst>
              </a:tr>
              <a:tr h="0">
                <a:tc>
                  <a:txBody>
                    <a:bodyPr/>
                    <a:lstStyle/>
                    <a:p>
                      <a:pPr>
                        <a:lnSpc>
                          <a:spcPct val="107000"/>
                        </a:lnSpc>
                        <a:buNone/>
                      </a:pPr>
                      <a:r>
                        <a:rPr lang="en-GB" sz="100" kern="100">
                          <a:effectLst/>
                        </a:rPr>
                        <a:t>TOTAL ASSETS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1,054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1,266</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325817066"/>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998269459"/>
                  </a:ext>
                </a:extLst>
              </a:tr>
              <a:tr h="0">
                <a:tc>
                  <a:txBody>
                    <a:bodyPr/>
                    <a:lstStyle/>
                    <a:p>
                      <a:pPr>
                        <a:lnSpc>
                          <a:spcPct val="107000"/>
                        </a:lnSpc>
                        <a:buNone/>
                      </a:pPr>
                      <a:r>
                        <a:rPr lang="en-GB" sz="100" kern="100">
                          <a:effectLst/>
                        </a:rPr>
                        <a:t>EQUITY AND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622817683"/>
                  </a:ext>
                </a:extLst>
              </a:tr>
              <a:tr h="0">
                <a:tc>
                  <a:txBody>
                    <a:bodyPr/>
                    <a:lstStyle/>
                    <a:p>
                      <a:pPr>
                        <a:lnSpc>
                          <a:spcPct val="107000"/>
                        </a:lnSpc>
                        <a:buNone/>
                      </a:pPr>
                      <a:r>
                        <a:rPr lang="en-GB" sz="100" kern="100">
                          <a:effectLst/>
                        </a:rPr>
                        <a:t>Equity</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770111216"/>
                  </a:ext>
                </a:extLst>
              </a:tr>
              <a:tr h="0">
                <a:tc>
                  <a:txBody>
                    <a:bodyPr/>
                    <a:lstStyle/>
                    <a:p>
                      <a:pPr>
                        <a:lnSpc>
                          <a:spcPct val="107000"/>
                        </a:lnSpc>
                        <a:buNone/>
                      </a:pPr>
                      <a:r>
                        <a:rPr lang="en-GB" sz="100" kern="100">
                          <a:effectLst/>
                        </a:rPr>
                        <a:t>Share capital £0.50 ordinary shares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967921825"/>
                  </a:ext>
                </a:extLst>
              </a:tr>
              <a:tr h="0">
                <a:tc>
                  <a:txBody>
                    <a:bodyPr/>
                    <a:lstStyle/>
                    <a:p>
                      <a:pPr>
                        <a:lnSpc>
                          <a:spcPct val="107000"/>
                        </a:lnSpc>
                        <a:buNone/>
                      </a:pPr>
                      <a:r>
                        <a:rPr lang="en-GB" sz="100" kern="100">
                          <a:effectLst/>
                        </a:rPr>
                        <a:t>Retained earnings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263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234</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768469227"/>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563</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534</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1942603"/>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9030934"/>
                  </a:ext>
                </a:extLst>
              </a:tr>
              <a:tr h="0">
                <a:tc>
                  <a:txBody>
                    <a:bodyPr/>
                    <a:lstStyle/>
                    <a:p>
                      <a:pPr>
                        <a:lnSpc>
                          <a:spcPct val="107000"/>
                        </a:lnSpc>
                        <a:buNone/>
                      </a:pPr>
                      <a:r>
                        <a:rPr lang="en-GB" sz="100" kern="100">
                          <a:effectLst/>
                        </a:rPr>
                        <a:t>Non-current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62618469"/>
                  </a:ext>
                </a:extLst>
              </a:tr>
              <a:tr h="0">
                <a:tc>
                  <a:txBody>
                    <a:bodyPr/>
                    <a:lstStyle/>
                    <a:p>
                      <a:pPr>
                        <a:lnSpc>
                          <a:spcPct val="107000"/>
                        </a:lnSpc>
                        <a:buNone/>
                      </a:pPr>
                      <a:r>
                        <a:rPr lang="en-GB" sz="100" kern="100">
                          <a:effectLst/>
                        </a:rPr>
                        <a:t>Borrowings 9% debentures (secured)</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200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300</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464027004"/>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892702288"/>
                  </a:ext>
                </a:extLst>
              </a:tr>
              <a:tr h="0">
                <a:tc>
                  <a:txBody>
                    <a:bodyPr/>
                    <a:lstStyle/>
                    <a:p>
                      <a:pPr>
                        <a:lnSpc>
                          <a:spcPct val="107000"/>
                        </a:lnSpc>
                        <a:buNone/>
                      </a:pPr>
                      <a:r>
                        <a:rPr lang="en-GB" sz="100" kern="100">
                          <a:effectLst/>
                        </a:rPr>
                        <a:t>Current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961683918"/>
                  </a:ext>
                </a:extLst>
              </a:tr>
              <a:tr h="0">
                <a:tc>
                  <a:txBody>
                    <a:bodyPr/>
                    <a:lstStyle/>
                    <a:p>
                      <a:pPr>
                        <a:lnSpc>
                          <a:spcPct val="107000"/>
                        </a:lnSpc>
                        <a:buNone/>
                      </a:pPr>
                      <a:r>
                        <a:rPr lang="en-GB" sz="100" kern="100">
                          <a:effectLst/>
                        </a:rPr>
                        <a:t>Trade payables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261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354</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318480407"/>
                  </a:ext>
                </a:extLst>
              </a:tr>
              <a:tr h="0">
                <a:tc>
                  <a:txBody>
                    <a:bodyPr/>
                    <a:lstStyle/>
                    <a:p>
                      <a:pPr>
                        <a:lnSpc>
                          <a:spcPct val="107000"/>
                        </a:lnSpc>
                        <a:buNone/>
                      </a:pPr>
                      <a:r>
                        <a:rPr lang="en-GB" sz="100" kern="100">
                          <a:effectLst/>
                        </a:rPr>
                        <a:t>Corporation tax due</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30</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23559462"/>
                  </a:ext>
                </a:extLst>
              </a:tr>
              <a:tr h="0">
                <a:tc>
                  <a:txBody>
                    <a:bodyPr/>
                    <a:lstStyle/>
                    <a:p>
                      <a:pPr>
                        <a:lnSpc>
                          <a:spcPct val="107000"/>
                        </a:lnSpc>
                        <a:buNone/>
                      </a:pPr>
                      <a:r>
                        <a:rPr lang="en-GB" sz="100" kern="100">
                          <a:effectLst/>
                        </a:rPr>
                        <a:t>Bank Overdraft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76</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423595719"/>
                  </a:ext>
                </a:extLst>
              </a:tr>
              <a:tr h="0">
                <a:tc>
                  <a:txBody>
                    <a:bodyPr/>
                    <a:lstStyle/>
                    <a:p>
                      <a:pP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291</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432</a:t>
                      </a:r>
                      <a:endParaRPr lang="en-GB" sz="100" kern="10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245926534"/>
                  </a:ext>
                </a:extLst>
              </a:tr>
              <a:tr h="0">
                <a:tc>
                  <a:txBody>
                    <a:bodyPr/>
                    <a:lstStyle/>
                    <a:p>
                      <a:pPr>
                        <a:lnSpc>
                          <a:spcPct val="107000"/>
                        </a:lnSpc>
                        <a:buNone/>
                      </a:pPr>
                      <a:r>
                        <a:rPr lang="en-GB" sz="100" kern="100">
                          <a:effectLst/>
                        </a:rPr>
                        <a:t>TOTAL EQUITY AND LIABILITIES</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1,054</a:t>
                      </a:r>
                    </a:p>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a:effectLst/>
                        </a:rPr>
                        <a:t> </a:t>
                      </a:r>
                      <a:endParaRPr lang="en-GB" sz="100" kern="100">
                        <a:effectLst/>
                        <a:latin typeface="Times New Roman" panose="02020603050405020304" pitchFamily="18" charset="0"/>
                        <a:ea typeface="Times New Roman" panose="02020603050405020304" pitchFamily="18" charset="0"/>
                      </a:endParaRPr>
                    </a:p>
                  </a:txBody>
                  <a:tcPr marL="0" marR="0" marT="0" marB="0"/>
                </a:tc>
                <a:tc>
                  <a:txBody>
                    <a:bodyPr/>
                    <a:lstStyle/>
                    <a:p>
                      <a:pPr algn="ctr">
                        <a:lnSpc>
                          <a:spcPct val="107000"/>
                        </a:lnSpc>
                        <a:buNone/>
                      </a:pPr>
                      <a:r>
                        <a:rPr lang="en-GB" sz="100" kern="100" dirty="0">
                          <a:effectLst/>
                        </a:rPr>
                        <a:t>1,266</a:t>
                      </a:r>
                      <a:endParaRPr lang="en-GB" sz="100" kern="100" dirty="0">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4020682554"/>
                  </a:ext>
                </a:extLst>
              </a:tr>
            </a:tbl>
          </a:graphicData>
        </a:graphic>
      </p:graphicFrame>
      <p:graphicFrame>
        <p:nvGraphicFramePr>
          <p:cNvPr id="3" name="Table 2">
            <a:extLst>
              <a:ext uri="{FF2B5EF4-FFF2-40B4-BE49-F238E27FC236}">
                <a16:creationId xmlns:a16="http://schemas.microsoft.com/office/drawing/2014/main" id="{5271F823-0312-95DE-816B-9B04BC3E9A13}"/>
              </a:ext>
            </a:extLst>
          </p:cNvPr>
          <p:cNvGraphicFramePr>
            <a:graphicFrameLocks noGrp="1"/>
          </p:cNvGraphicFramePr>
          <p:nvPr>
            <p:extLst>
              <p:ext uri="{D42A27DB-BD31-4B8C-83A1-F6EECF244321}">
                <p14:modId xmlns:p14="http://schemas.microsoft.com/office/powerpoint/2010/main" val="314255297"/>
              </p:ext>
            </p:extLst>
          </p:nvPr>
        </p:nvGraphicFramePr>
        <p:xfrm>
          <a:off x="6096000" y="1212024"/>
          <a:ext cx="5411470" cy="5273106"/>
        </p:xfrm>
        <a:graphic>
          <a:graphicData uri="http://schemas.openxmlformats.org/drawingml/2006/table">
            <a:tbl>
              <a:tblPr firstRow="1" firstCol="1" lastRow="1" lastCol="1" bandRow="1" bandCol="1">
                <a:tableStyleId>{5C22544A-7EE6-4342-B048-85BDC9FD1C3A}</a:tableStyleId>
              </a:tblPr>
              <a:tblGrid>
                <a:gridCol w="2014220">
                  <a:extLst>
                    <a:ext uri="{9D8B030D-6E8A-4147-A177-3AD203B41FA5}">
                      <a16:colId xmlns:a16="http://schemas.microsoft.com/office/drawing/2014/main" val="3093026132"/>
                    </a:ext>
                  </a:extLst>
                </a:gridCol>
                <a:gridCol w="848995">
                  <a:extLst>
                    <a:ext uri="{9D8B030D-6E8A-4147-A177-3AD203B41FA5}">
                      <a16:colId xmlns:a16="http://schemas.microsoft.com/office/drawing/2014/main" val="2353965522"/>
                    </a:ext>
                  </a:extLst>
                </a:gridCol>
                <a:gridCol w="849630">
                  <a:extLst>
                    <a:ext uri="{9D8B030D-6E8A-4147-A177-3AD203B41FA5}">
                      <a16:colId xmlns:a16="http://schemas.microsoft.com/office/drawing/2014/main" val="836891304"/>
                    </a:ext>
                  </a:extLst>
                </a:gridCol>
                <a:gridCol w="848995">
                  <a:extLst>
                    <a:ext uri="{9D8B030D-6E8A-4147-A177-3AD203B41FA5}">
                      <a16:colId xmlns:a16="http://schemas.microsoft.com/office/drawing/2014/main" val="4126275572"/>
                    </a:ext>
                  </a:extLst>
                </a:gridCol>
                <a:gridCol w="849630">
                  <a:extLst>
                    <a:ext uri="{9D8B030D-6E8A-4147-A177-3AD203B41FA5}">
                      <a16:colId xmlns:a16="http://schemas.microsoft.com/office/drawing/2014/main" val="3387579001"/>
                    </a:ext>
                  </a:extLst>
                </a:gridCol>
              </a:tblGrid>
              <a:tr h="0">
                <a:tc>
                  <a:txBody>
                    <a:bodyPr/>
                    <a:lstStyle/>
                    <a:p>
                      <a:pP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gridSpan="2">
                  <a:txBody>
                    <a:bodyPr/>
                    <a:lstStyle/>
                    <a:p>
                      <a:pPr algn="ctr">
                        <a:lnSpc>
                          <a:spcPct val="107000"/>
                        </a:lnSpc>
                        <a:buNone/>
                      </a:pPr>
                      <a:r>
                        <a:rPr lang="en-GB" sz="1600" kern="100">
                          <a:effectLst/>
                        </a:rPr>
                        <a:t>2023</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GB"/>
                    </a:p>
                  </a:txBody>
                  <a:tcPr/>
                </a:tc>
                <a:tc gridSpan="2">
                  <a:txBody>
                    <a:bodyPr/>
                    <a:lstStyle/>
                    <a:p>
                      <a:pPr algn="ctr">
                        <a:lnSpc>
                          <a:spcPct val="107000"/>
                        </a:lnSpc>
                        <a:buNone/>
                      </a:pPr>
                      <a:r>
                        <a:rPr lang="en-GB" sz="1600" kern="100">
                          <a:effectLst/>
                        </a:rPr>
                        <a:t>2024</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3561777139"/>
                  </a:ext>
                </a:extLst>
              </a:tr>
              <a:tr h="0">
                <a:tc>
                  <a:txBody>
                    <a:bodyPr/>
                    <a:lstStyle/>
                    <a:p>
                      <a:pP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£000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£000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£000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£000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33468271"/>
                  </a:ext>
                </a:extLst>
              </a:tr>
              <a:tr h="0">
                <a:tc>
                  <a:txBody>
                    <a:bodyPr/>
                    <a:lstStyle/>
                    <a:p>
                      <a:pPr>
                        <a:lnSpc>
                          <a:spcPct val="107000"/>
                        </a:lnSpc>
                        <a:buNone/>
                      </a:pPr>
                      <a:r>
                        <a:rPr lang="en-GB" sz="1600" kern="100">
                          <a:effectLst/>
                        </a:rPr>
                        <a:t>Sales Revenue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2,240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2,681</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42332568"/>
                  </a:ext>
                </a:extLst>
              </a:tr>
              <a:tr h="0">
                <a:tc>
                  <a:txBody>
                    <a:bodyPr/>
                    <a:lstStyle/>
                    <a:p>
                      <a:pPr>
                        <a:lnSpc>
                          <a:spcPct val="107000"/>
                        </a:lnSpc>
                        <a:buNone/>
                      </a:pPr>
                      <a:r>
                        <a:rPr lang="en-GB" sz="1600" kern="100">
                          <a:effectLst/>
                        </a:rPr>
                        <a:t>Less cost of sales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5379380"/>
                  </a:ext>
                </a:extLst>
              </a:tr>
              <a:tr h="175895">
                <a:tc>
                  <a:txBody>
                    <a:bodyPr/>
                    <a:lstStyle/>
                    <a:p>
                      <a:pPr>
                        <a:lnSpc>
                          <a:spcPct val="107000"/>
                        </a:lnSpc>
                        <a:buNone/>
                      </a:pPr>
                      <a:r>
                        <a:rPr lang="en-GB" sz="1600" kern="100">
                          <a:effectLst/>
                        </a:rPr>
                        <a:t>Opening inventories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241</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300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105342459"/>
                  </a:ext>
                </a:extLst>
              </a:tr>
              <a:tr h="0">
                <a:tc>
                  <a:txBody>
                    <a:bodyPr/>
                    <a:lstStyle/>
                    <a:p>
                      <a:pPr>
                        <a:lnSpc>
                          <a:spcPct val="107000"/>
                        </a:lnSpc>
                        <a:buNone/>
                      </a:pPr>
                      <a:r>
                        <a:rPr lang="en-GB" sz="1600" kern="100">
                          <a:effectLst/>
                        </a:rPr>
                        <a:t>Plus purchases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1,804</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2,378</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36363224"/>
                  </a:ext>
                </a:extLst>
              </a:tr>
              <a:tr h="0">
                <a:tc>
                  <a:txBody>
                    <a:bodyPr/>
                    <a:lstStyle/>
                    <a:p>
                      <a:pPr>
                        <a:lnSpc>
                          <a:spcPct val="107000"/>
                        </a:lnSpc>
                        <a:buNone/>
                      </a:pPr>
                      <a:r>
                        <a:rPr lang="en-GB" sz="1600" kern="100">
                          <a:effectLst/>
                        </a:rPr>
                        <a:t>Less closing inventories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(300)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(1,745)</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(406)</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(2,272)</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6040795"/>
                  </a:ext>
                </a:extLst>
              </a:tr>
              <a:tr h="0">
                <a:tc>
                  <a:txBody>
                    <a:bodyPr/>
                    <a:lstStyle/>
                    <a:p>
                      <a:pP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52420333"/>
                  </a:ext>
                </a:extLst>
              </a:tr>
              <a:tr h="0">
                <a:tc>
                  <a:txBody>
                    <a:bodyPr/>
                    <a:lstStyle/>
                    <a:p>
                      <a:pPr>
                        <a:lnSpc>
                          <a:spcPct val="107000"/>
                        </a:lnSpc>
                        <a:buNone/>
                      </a:pPr>
                      <a:r>
                        <a:rPr lang="en-GB" sz="1600" kern="100">
                          <a:effectLst/>
                        </a:rPr>
                        <a:t>Gross Profit</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495</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409</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52001568"/>
                  </a:ext>
                </a:extLst>
              </a:tr>
              <a:tr h="0">
                <a:tc>
                  <a:txBody>
                    <a:bodyPr/>
                    <a:lstStyle/>
                    <a:p>
                      <a:pP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89531403"/>
                  </a:ext>
                </a:extLst>
              </a:tr>
              <a:tr h="0">
                <a:tc>
                  <a:txBody>
                    <a:bodyPr/>
                    <a:lstStyle/>
                    <a:p>
                      <a:pPr>
                        <a:lnSpc>
                          <a:spcPct val="107000"/>
                        </a:lnSpc>
                        <a:buNone/>
                      </a:pPr>
                      <a:r>
                        <a:rPr lang="en-GB" sz="1600" kern="100">
                          <a:effectLst/>
                        </a:rPr>
                        <a:t>Less Operating costs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(252)</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(362)</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42319152"/>
                  </a:ext>
                </a:extLst>
              </a:tr>
              <a:tr h="0">
                <a:tc>
                  <a:txBody>
                    <a:bodyPr/>
                    <a:lstStyle/>
                    <a:p>
                      <a:pPr>
                        <a:lnSpc>
                          <a:spcPct val="107000"/>
                        </a:lnSpc>
                        <a:buNone/>
                      </a:pPr>
                      <a:r>
                        <a:rPr lang="en-GB" sz="1600" kern="100">
                          <a:effectLst/>
                        </a:rPr>
                        <a:t>Operating Profit (PBIT)</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243</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47</a:t>
                      </a:r>
                    </a:p>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86250948"/>
                  </a:ext>
                </a:extLst>
              </a:tr>
              <a:tr h="0">
                <a:tc>
                  <a:txBody>
                    <a:bodyPr/>
                    <a:lstStyle/>
                    <a:p>
                      <a:pPr>
                        <a:lnSpc>
                          <a:spcPct val="107000"/>
                        </a:lnSpc>
                        <a:buNone/>
                      </a:pPr>
                      <a:r>
                        <a:rPr lang="en-GB" sz="1600" kern="100">
                          <a:effectLst/>
                        </a:rPr>
                        <a:t>Less finance costs</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(18)</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(32)</a:t>
                      </a:r>
                    </a:p>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78577268"/>
                  </a:ext>
                </a:extLst>
              </a:tr>
              <a:tr h="0">
                <a:tc>
                  <a:txBody>
                    <a:bodyPr/>
                    <a:lstStyle/>
                    <a:p>
                      <a:pPr>
                        <a:lnSpc>
                          <a:spcPct val="107000"/>
                        </a:lnSpc>
                        <a:buNone/>
                      </a:pPr>
                      <a:r>
                        <a:rPr lang="en-GB" sz="1600" kern="100">
                          <a:effectLst/>
                        </a:rPr>
                        <a:t>Profit before tax</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225</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15</a:t>
                      </a:r>
                    </a:p>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48066424"/>
                  </a:ext>
                </a:extLst>
              </a:tr>
              <a:tr h="0">
                <a:tc>
                  <a:txBody>
                    <a:bodyPr/>
                    <a:lstStyle/>
                    <a:p>
                      <a:pPr>
                        <a:lnSpc>
                          <a:spcPct val="107000"/>
                        </a:lnSpc>
                        <a:buNone/>
                      </a:pPr>
                      <a:r>
                        <a:rPr lang="en-GB" sz="1600" kern="100">
                          <a:effectLst/>
                        </a:rPr>
                        <a:t>Corporation tax</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(60)</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(4)</a:t>
                      </a:r>
                    </a:p>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32239564"/>
                  </a:ext>
                </a:extLst>
              </a:tr>
              <a:tr h="0">
                <a:tc>
                  <a:txBody>
                    <a:bodyPr/>
                    <a:lstStyle/>
                    <a:p>
                      <a:pPr>
                        <a:lnSpc>
                          <a:spcPct val="107000"/>
                        </a:lnSpc>
                        <a:buNone/>
                      </a:pPr>
                      <a:r>
                        <a:rPr lang="en-GB" sz="1600" kern="100">
                          <a:effectLst/>
                        </a:rPr>
                        <a:t>Profit for the year</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165</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a:effectLst/>
                        </a:rPr>
                        <a:t> </a:t>
                      </a:r>
                      <a:endParaRPr lang="en-GB" sz="1600" kern="1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07000"/>
                        </a:lnSpc>
                        <a:buNone/>
                      </a:pPr>
                      <a:r>
                        <a:rPr lang="en-GB" sz="1600" kern="100" dirty="0">
                          <a:effectLst/>
                        </a:rPr>
                        <a:t>11</a:t>
                      </a:r>
                      <a:endParaRPr lang="en-GB" sz="1600" kern="1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17330471"/>
                  </a:ext>
                </a:extLst>
              </a:tr>
            </a:tbl>
          </a:graphicData>
        </a:graphic>
      </p:graphicFrame>
      <p:sp>
        <p:nvSpPr>
          <p:cNvPr id="7" name="TextBox 6">
            <a:extLst>
              <a:ext uri="{FF2B5EF4-FFF2-40B4-BE49-F238E27FC236}">
                <a16:creationId xmlns:a16="http://schemas.microsoft.com/office/drawing/2014/main" id="{0D3A64C0-3C78-3D15-E9DA-F8E89A812132}"/>
              </a:ext>
            </a:extLst>
          </p:cNvPr>
          <p:cNvSpPr txBox="1"/>
          <p:nvPr/>
        </p:nvSpPr>
        <p:spPr>
          <a:xfrm>
            <a:off x="326136" y="2471983"/>
            <a:ext cx="5082286" cy="2800767"/>
          </a:xfrm>
          <a:prstGeom prst="rect">
            <a:avLst/>
          </a:prstGeom>
          <a:noFill/>
        </p:spPr>
        <p:txBody>
          <a:bodyPr wrap="square">
            <a:spAutoFit/>
          </a:bodyPr>
          <a:lstStyle/>
          <a:p>
            <a:r>
              <a:rPr lang="en-GB" sz="1600" dirty="0">
                <a:solidFill>
                  <a:srgbClr val="000000"/>
                </a:solidFill>
                <a:effectLst/>
                <a:latin typeface="Arial" panose="020B0604020202020204" pitchFamily="34" charset="0"/>
                <a:ea typeface="Times New Roman" panose="02020603050405020304" pitchFamily="18" charset="0"/>
              </a:rPr>
              <a:t>Additional Information:</a:t>
            </a:r>
          </a:p>
          <a:p>
            <a:pPr marL="285750" indent="-285750">
              <a:buFont typeface="Arial" panose="020B0604020202020204" pitchFamily="34" charset="0"/>
              <a:buChar char="•"/>
            </a:pPr>
            <a:r>
              <a:rPr lang="en-GB" sz="1600" dirty="0">
                <a:solidFill>
                  <a:srgbClr val="000000"/>
                </a:solidFill>
                <a:effectLst/>
                <a:latin typeface="Arial" panose="020B0604020202020204" pitchFamily="34" charset="0"/>
                <a:ea typeface="Times New Roman" panose="02020603050405020304" pitchFamily="18" charset="0"/>
              </a:rPr>
              <a:t>All sales and purchases in the company are on credit.  The market value of each share was £2.50 in 2023 and £1.50 in 2024.</a:t>
            </a:r>
            <a:endParaRPr lang="en-GB" sz="16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GB" sz="1600" dirty="0">
                <a:solidFill>
                  <a:srgbClr val="000000"/>
                </a:solidFill>
                <a:effectLst/>
                <a:latin typeface="Arial" panose="020B0604020202020204" pitchFamily="34" charset="0"/>
                <a:ea typeface="Times New Roman" panose="02020603050405020304" pitchFamily="18" charset="0"/>
              </a:rPr>
              <a:t>At 31 March 2022, the trade receivables stood at £223,000 and the trade payables at £203,000.  </a:t>
            </a:r>
            <a:endParaRPr lang="en-GB" sz="16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GB" sz="1600" dirty="0">
                <a:solidFill>
                  <a:srgbClr val="000000"/>
                </a:solidFill>
                <a:effectLst/>
                <a:latin typeface="Arial" panose="020B0604020202020204" pitchFamily="34" charset="0"/>
                <a:ea typeface="Times New Roman" panose="02020603050405020304" pitchFamily="18" charset="0"/>
              </a:rPr>
              <a:t>A dividend of £40,000 had been paid to the shareholders in respect of each of the years.</a:t>
            </a:r>
            <a:endParaRPr lang="en-GB" sz="16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GB" sz="1600" dirty="0">
                <a:solidFill>
                  <a:srgbClr val="000000"/>
                </a:solidFill>
                <a:effectLst/>
                <a:latin typeface="Arial" panose="020B0604020202020204" pitchFamily="34" charset="0"/>
                <a:ea typeface="Times New Roman" panose="02020603050405020304" pitchFamily="18" charset="0"/>
              </a:rPr>
              <a:t>At 1 April 2022, the total of equity stood at £438,000 and the total of equity and non-current liabilities stood at £638,000.</a:t>
            </a:r>
            <a:endParaRPr lang="en-GB" sz="16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2F5FB999-3608-9A7D-1D4B-D4E48410D686}"/>
              </a:ext>
            </a:extLst>
          </p:cNvPr>
          <p:cNvSpPr txBox="1"/>
          <p:nvPr/>
        </p:nvSpPr>
        <p:spPr>
          <a:xfrm>
            <a:off x="6096000" y="288694"/>
            <a:ext cx="6099048" cy="923330"/>
          </a:xfrm>
          <a:prstGeom prst="rect">
            <a:avLst/>
          </a:prstGeom>
          <a:noFill/>
        </p:spPr>
        <p:txBody>
          <a:bodyPr wrap="square">
            <a:spAutoFit/>
          </a:bodyPr>
          <a:lstStyle/>
          <a:p>
            <a:r>
              <a:rPr lang="en-GB" sz="5400" dirty="0">
                <a:solidFill>
                  <a:schemeClr val="accent1"/>
                </a:solidFill>
              </a:rPr>
              <a:t>IS</a:t>
            </a:r>
            <a:endParaRPr lang="en-GB" sz="5400" dirty="0"/>
          </a:p>
        </p:txBody>
      </p:sp>
    </p:spTree>
    <p:extLst>
      <p:ext uri="{BB962C8B-B14F-4D97-AF65-F5344CB8AC3E}">
        <p14:creationId xmlns:p14="http://schemas.microsoft.com/office/powerpoint/2010/main" val="373260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060704" y="404664"/>
            <a:ext cx="9859832" cy="1366120"/>
          </a:xfrm>
        </p:spPr>
        <p:txBody>
          <a:bodyPr/>
          <a:lstStyle/>
          <a:p>
            <a:pPr algn="ctr"/>
            <a:r>
              <a:rPr lang="en-GB" b="1" dirty="0">
                <a:latin typeface="Arial" panose="020B0604020202020204" pitchFamily="34" charset="0"/>
                <a:cs typeface="Arial" panose="020B0604020202020204" pitchFamily="34" charset="0"/>
              </a:rPr>
              <a:t>Time Series Analysis - </a:t>
            </a:r>
            <a:r>
              <a:rPr lang="en-GB" sz="3600" dirty="0">
                <a:latin typeface="Arial" panose="020B0604020202020204" pitchFamily="34" charset="0"/>
                <a:cs typeface="Arial" panose="020B0604020202020204" pitchFamily="34" charset="0"/>
              </a:rPr>
              <a:t>Wholesale Carpet Profitability Ratios</a:t>
            </a:r>
            <a:endParaRPr lang="en-GB" dirty="0">
              <a:latin typeface="Arial" panose="020B0604020202020204" pitchFamily="34" charset="0"/>
              <a:cs typeface="Arial" panose="020B0604020202020204" pitchFamily="34" charset="0"/>
            </a:endParaRPr>
          </a:p>
        </p:txBody>
      </p:sp>
      <p:sp>
        <p:nvSpPr>
          <p:cNvPr id="7" name="TextBox 6"/>
          <p:cNvSpPr txBox="1"/>
          <p:nvPr/>
        </p:nvSpPr>
        <p:spPr>
          <a:xfrm>
            <a:off x="1060704" y="1770784"/>
            <a:ext cx="9178388" cy="3508653"/>
          </a:xfrm>
          <a:prstGeom prst="rect">
            <a:avLst/>
          </a:prstGeom>
          <a:noFill/>
        </p:spPr>
        <p:txBody>
          <a:bodyPr wrap="square" rtlCol="0">
            <a:spAutoFit/>
          </a:bodyPr>
          <a:lstStyle/>
          <a:p>
            <a:pPr algn="just"/>
            <a:r>
              <a:rPr lang="en-GB" dirty="0"/>
              <a:t>                                                                                     </a:t>
            </a:r>
            <a:r>
              <a:rPr lang="en-GB" sz="2400" dirty="0"/>
              <a:t>2020</a:t>
            </a:r>
            <a:r>
              <a:rPr lang="en-GB" sz="2000" dirty="0"/>
              <a:t>                      </a:t>
            </a:r>
            <a:r>
              <a:rPr lang="en-GB" sz="2400" dirty="0"/>
              <a:t>2019</a:t>
            </a:r>
          </a:p>
          <a:p>
            <a:pPr algn="just"/>
            <a:endParaRPr lang="en-GB" dirty="0"/>
          </a:p>
          <a:p>
            <a:pPr algn="just"/>
            <a:endParaRPr lang="en-GB" dirty="0"/>
          </a:p>
          <a:p>
            <a:pPr algn="just">
              <a:lnSpc>
                <a:spcPct val="150000"/>
              </a:lnSpc>
            </a:pPr>
            <a:r>
              <a:rPr lang="en-GB" sz="2400" dirty="0"/>
              <a:t>Return on Capital Employed		5.9%	           34.7%</a:t>
            </a:r>
          </a:p>
          <a:p>
            <a:pPr algn="just">
              <a:lnSpc>
                <a:spcPct val="150000"/>
              </a:lnSpc>
            </a:pPr>
            <a:r>
              <a:rPr lang="en-GB" sz="2400" dirty="0"/>
              <a:t>Gross Profit Margin				15.3%		22.1%</a:t>
            </a:r>
          </a:p>
          <a:p>
            <a:pPr algn="just">
              <a:lnSpc>
                <a:spcPct val="150000"/>
              </a:lnSpc>
            </a:pPr>
            <a:r>
              <a:rPr lang="en-GB" sz="2400" dirty="0"/>
              <a:t>Operating Profit Margin			1.8%		10.8%</a:t>
            </a:r>
            <a:endParaRPr lang="en-GB" dirty="0"/>
          </a:p>
          <a:p>
            <a:pPr algn="just"/>
            <a:endParaRPr lang="en-GB" dirty="0"/>
          </a:p>
          <a:p>
            <a:pPr algn="just"/>
            <a:endParaRPr lang="en-GB" dirty="0"/>
          </a:p>
          <a:p>
            <a:pPr algn="just"/>
            <a:endParaRPr lang="en-GB" dirty="0"/>
          </a:p>
        </p:txBody>
      </p:sp>
    </p:spTree>
    <p:extLst>
      <p:ext uri="{BB962C8B-B14F-4D97-AF65-F5344CB8AC3E}">
        <p14:creationId xmlns:p14="http://schemas.microsoft.com/office/powerpoint/2010/main" val="358464067"/>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143" y="645286"/>
            <a:ext cx="7886700" cy="694462"/>
          </a:xfrm>
        </p:spPr>
        <p:txBody>
          <a:bodyPr>
            <a:normAutofit/>
          </a:bodyPr>
          <a:lstStyle/>
          <a:p>
            <a:r>
              <a:rPr lang="en-GB" dirty="0"/>
              <a:t>Investment Ratios  </a:t>
            </a:r>
          </a:p>
        </p:txBody>
      </p:sp>
      <mc:AlternateContent xmlns:mc="http://schemas.openxmlformats.org/markup-compatibility/2006">
        <mc:Choice xmlns:a14="http://schemas.microsoft.com/office/drawing/2010/main" Requires="a14">
          <p:sp>
            <p:nvSpPr>
              <p:cNvPr id="12" name="Content Placeholder 2">
                <a:extLst>
                  <a:ext uri="{FF2B5EF4-FFF2-40B4-BE49-F238E27FC236}">
                    <a16:creationId xmlns:a16="http://schemas.microsoft.com/office/drawing/2014/main" id="{B0BA4A32-FFB5-0398-7F8D-34A832A17F31}"/>
                  </a:ext>
                </a:extLst>
              </p:cNvPr>
              <p:cNvSpPr>
                <a:spLocks noGrp="1"/>
              </p:cNvSpPr>
              <p:nvPr>
                <p:ph idx="1"/>
              </p:nvPr>
            </p:nvSpPr>
            <p:spPr>
              <a:xfrm>
                <a:off x="1161143" y="1233715"/>
                <a:ext cx="9985828" cy="5723678"/>
              </a:xfrm>
              <a:noFill/>
              <a:ln>
                <a:noFill/>
              </a:ln>
            </p:spPr>
            <p:txBody>
              <a:bodyPr>
                <a:noAutofit/>
              </a:bodyPr>
              <a:lstStyle/>
              <a:p>
                <a:pPr marL="0" indent="0">
                  <a:spcBef>
                    <a:spcPts val="450"/>
                  </a:spcBef>
                  <a:buClr>
                    <a:srgbClr val="C00000"/>
                  </a:buClr>
                  <a:buNone/>
                  <a:tabLst>
                    <a:tab pos="670322" algn="l"/>
                  </a:tabLst>
                </a:pPr>
                <a:endParaRPr lang="en-GB" sz="1200" b="1" dirty="0"/>
              </a:p>
              <a:p>
                <a:pPr marL="0" indent="0">
                  <a:spcBef>
                    <a:spcPts val="450"/>
                  </a:spcBef>
                  <a:buClr>
                    <a:srgbClr val="C00000"/>
                  </a:buClr>
                  <a:buNone/>
                  <a:tabLst>
                    <a:tab pos="670322" algn="l"/>
                  </a:tabLst>
                </a:pPr>
                <a:r>
                  <a:rPr lang="en-GB" sz="1200" b="1" dirty="0"/>
                  <a:t>Earnings per Share (EPS)</a:t>
                </a:r>
                <a:r>
                  <a:rPr lang="en-GB" sz="1200" dirty="0"/>
                  <a:t> This ratio relates the earnings generated by the business, and available to shareholders, during a period, to the number of shares in issue. Considered a fundamental measure of share performance. The trend over time is used to assess the investment potential of shares.</a:t>
                </a:r>
              </a:p>
              <a:p>
                <a:pPr marL="0" indent="0">
                  <a:spcBef>
                    <a:spcPts val="450"/>
                  </a:spcBef>
                  <a:buClr>
                    <a:srgbClr val="C00000"/>
                  </a:buClr>
                  <a:buNone/>
                  <a:tabLst>
                    <a:tab pos="670322" algn="l"/>
                  </a:tabLst>
                </a:pPr>
                <a:endParaRPr lang="en-GB" sz="1200" dirty="0"/>
              </a:p>
              <a:p>
                <a:pPr marL="0" indent="0" algn="ctr">
                  <a:spcBef>
                    <a:spcPts val="450"/>
                  </a:spcBef>
                  <a:buClr>
                    <a:srgbClr val="C00000"/>
                  </a:buClr>
                  <a:buNone/>
                  <a:tabLst>
                    <a:tab pos="670322" algn="l"/>
                  </a:tabLst>
                </a:pPr>
                <a14:m>
                  <m:oMath xmlns:m="http://schemas.openxmlformats.org/officeDocument/2006/math">
                    <m:r>
                      <a:rPr lang="en-GB" sz="1200">
                        <a:solidFill>
                          <a:schemeClr val="accent5"/>
                        </a:solidFill>
                        <a:latin typeface="Cambria Math" panose="02040503050406030204" pitchFamily="18" charset="0"/>
                        <a:ea typeface="Cambria Math" panose="02040503050406030204" pitchFamily="18" charset="0"/>
                      </a:rPr>
                      <m:t>𝐄𝐏𝐒</m:t>
                    </m:r>
                    <m:r>
                      <a:rPr lang="en-GB" sz="1200">
                        <a:solidFill>
                          <a:schemeClr val="accent5"/>
                        </a:solidFill>
                        <a:latin typeface="Cambria Math" panose="02040503050406030204" pitchFamily="18" charset="0"/>
                        <a:ea typeface="Cambria Math" panose="02040503050406030204" pitchFamily="18" charset="0"/>
                      </a:rPr>
                      <m:t>=</m:t>
                    </m:r>
                    <m:f>
                      <m:fPr>
                        <m:ctrlPr>
                          <a:rPr lang="en-GB" sz="1200">
                            <a:solidFill>
                              <a:schemeClr val="accent5"/>
                            </a:solidFill>
                            <a:latin typeface="Cambria Math" panose="02040503050406030204" pitchFamily="18" charset="0"/>
                            <a:ea typeface="Cambria Math" panose="02040503050406030204" pitchFamily="18" charset="0"/>
                          </a:rPr>
                        </m:ctrlPr>
                      </m:fPr>
                      <m:num>
                        <m:r>
                          <m:rPr>
                            <m:sty m:val="p"/>
                          </m:rPr>
                          <a:rPr lang="en-GB" sz="1200">
                            <a:solidFill>
                              <a:schemeClr val="accent5"/>
                            </a:solidFill>
                            <a:latin typeface="Cambria Math" panose="02040503050406030204" pitchFamily="18" charset="0"/>
                            <a:ea typeface="Cambria Math" panose="02040503050406030204" pitchFamily="18" charset="0"/>
                          </a:rPr>
                          <m:t>Net</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Income</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𝑃𝑟𝑒𝑓𝑒𝑟𝑒𝑛𝑐𝑒</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𝑑𝑖𝑣𝑖𝑑𝑒𝑛𝑑𝑠</m:t>
                        </m:r>
                      </m:num>
                      <m:den>
                        <m:r>
                          <m:rPr>
                            <m:sty m:val="p"/>
                          </m:rPr>
                          <a:rPr lang="en-GB" sz="1200">
                            <a:solidFill>
                              <a:schemeClr val="accent5"/>
                            </a:solidFill>
                            <a:latin typeface="Cambria Math" panose="02040503050406030204" pitchFamily="18" charset="0"/>
                            <a:ea typeface="Cambria Math" panose="02040503050406030204" pitchFamily="18" charset="0"/>
                          </a:rPr>
                          <m:t>No</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of</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ord</m:t>
                        </m:r>
                        <m:r>
                          <a:rPr lang="en-GB" sz="1200">
                            <a:solidFill>
                              <a:schemeClr val="accent5"/>
                            </a:solidFill>
                            <a:latin typeface="Cambria Math" panose="02040503050406030204" pitchFamily="18" charset="0"/>
                            <a:ea typeface="Cambria Math" panose="02040503050406030204" pitchFamily="18" charset="0"/>
                          </a:rPr>
                          <m:t>𝑖𝑛𝑎𝑟𝑦</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𝑠h𝑎𝑟𝑒𝑠</m:t>
                        </m:r>
                      </m:den>
                    </m:f>
                  </m:oMath>
                </a14:m>
                <a:r>
                  <a:rPr lang="en-GB" sz="1200" dirty="0">
                    <a:solidFill>
                      <a:schemeClr val="accent5"/>
                    </a:solidFill>
                    <a:latin typeface="Cambria Math" panose="02040503050406030204" pitchFamily="18" charset="0"/>
                    <a:ea typeface="Cambria Math" panose="02040503050406030204" pitchFamily="18" charset="0"/>
                  </a:rPr>
                  <a:t> x 100</a:t>
                </a:r>
              </a:p>
              <a:p>
                <a:pPr marL="0" indent="0">
                  <a:spcBef>
                    <a:spcPts val="450"/>
                  </a:spcBef>
                  <a:buClr>
                    <a:srgbClr val="C00000"/>
                  </a:buClr>
                  <a:buNone/>
                  <a:tabLst>
                    <a:tab pos="670322" algn="l"/>
                  </a:tabLst>
                </a:pPr>
                <a:endParaRPr lang="en-GB" sz="1200" b="1" dirty="0"/>
              </a:p>
              <a:p>
                <a:pPr marL="0" indent="0">
                  <a:spcBef>
                    <a:spcPts val="450"/>
                  </a:spcBef>
                  <a:buClr>
                    <a:srgbClr val="C00000"/>
                  </a:buClr>
                  <a:buNone/>
                  <a:tabLst>
                    <a:tab pos="670322" algn="l"/>
                  </a:tabLst>
                </a:pPr>
                <a:r>
                  <a:rPr lang="en-GB" sz="1200" b="1" dirty="0"/>
                  <a:t>Dividends per Share (DPS) </a:t>
                </a:r>
                <a:r>
                  <a:rPr lang="en-GB" sz="1200" dirty="0"/>
                  <a:t>This ratio shows the total amount of dividends declared in the year per ordinary share in issue. It is the dividend per share actually paid in respect of the financial year. Shareholders would normally prefer a higher dividend per share.</a:t>
                </a:r>
                <a:r>
                  <a:rPr lang="en-GB" sz="1200" dirty="0">
                    <a:solidFill>
                      <a:schemeClr val="accent5">
                        <a:lumMod val="75000"/>
                      </a:schemeClr>
                    </a:solidFill>
                  </a:rPr>
                  <a:t>	</a:t>
                </a:r>
              </a:p>
              <a:p>
                <a:pPr marL="0" indent="0">
                  <a:spcBef>
                    <a:spcPts val="450"/>
                  </a:spcBef>
                  <a:buClr>
                    <a:srgbClr val="C00000"/>
                  </a:buClr>
                  <a:buNone/>
                  <a:tabLst>
                    <a:tab pos="670322" algn="l"/>
                  </a:tabLst>
                </a:pPr>
                <a:r>
                  <a:rPr lang="en-GB" sz="1200" dirty="0">
                    <a:solidFill>
                      <a:schemeClr val="accent5">
                        <a:lumMod val="75000"/>
                      </a:schemeClr>
                    </a:solidFill>
                  </a:rPr>
                  <a:t>	</a:t>
                </a:r>
                <a:r>
                  <a:rPr lang="en-GB" sz="1200" dirty="0"/>
                  <a:t>		</a:t>
                </a:r>
              </a:p>
              <a:p>
                <a:pPr marL="0" indent="0">
                  <a:spcBef>
                    <a:spcPts val="450"/>
                  </a:spcBef>
                  <a:buClr>
                    <a:srgbClr val="C00000"/>
                  </a:buClr>
                  <a:buNone/>
                  <a:tabLst>
                    <a:tab pos="670322" algn="l"/>
                  </a:tabLst>
                </a:pPr>
                <a14:m>
                  <m:oMathPara xmlns:m="http://schemas.openxmlformats.org/officeDocument/2006/math">
                    <m:oMathParaPr>
                      <m:jc m:val="centerGroup"/>
                    </m:oMathParaPr>
                    <m:oMath xmlns:m="http://schemas.openxmlformats.org/officeDocument/2006/math">
                      <m:r>
                        <a:rPr lang="en-GB" sz="1200">
                          <a:solidFill>
                            <a:schemeClr val="accent5"/>
                          </a:solidFill>
                          <a:latin typeface="Cambria Math" panose="02040503050406030204" pitchFamily="18" charset="0"/>
                          <a:ea typeface="Cambria Math" panose="02040503050406030204" pitchFamily="18" charset="0"/>
                        </a:rPr>
                        <m:t>𝐃𝐏𝐒</m:t>
                      </m:r>
                      <m:r>
                        <a:rPr lang="en-GB" sz="1200">
                          <a:solidFill>
                            <a:schemeClr val="accent5"/>
                          </a:solidFill>
                          <a:latin typeface="Cambria Math" panose="02040503050406030204" pitchFamily="18" charset="0"/>
                          <a:ea typeface="Cambria Math" panose="02040503050406030204" pitchFamily="18" charset="0"/>
                        </a:rPr>
                        <m:t>=</m:t>
                      </m:r>
                      <m:f>
                        <m:fPr>
                          <m:ctrlPr>
                            <a:rPr lang="en-GB" sz="1200">
                              <a:solidFill>
                                <a:schemeClr val="accent5"/>
                              </a:solidFill>
                              <a:latin typeface="Cambria Math" panose="02040503050406030204" pitchFamily="18" charset="0"/>
                              <a:ea typeface="Cambria Math" panose="02040503050406030204" pitchFamily="18" charset="0"/>
                            </a:rPr>
                          </m:ctrlPr>
                        </m:fPr>
                        <m:num>
                          <m:r>
                            <a:rPr lang="en-GB" sz="1200">
                              <a:solidFill>
                                <a:schemeClr val="accent5"/>
                              </a:solidFill>
                              <a:latin typeface="Cambria Math" panose="02040503050406030204" pitchFamily="18" charset="0"/>
                              <a:ea typeface="Cambria Math" panose="02040503050406030204" pitchFamily="18" charset="0"/>
                            </a:rPr>
                            <m:t>𝑂𝑟𝑑𝑖𝑛𝑎𝑟𝑦</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𝐷𝑖𝑣𝑖𝑑𝑒𝑛𝑑𝑠</m:t>
                          </m:r>
                        </m:num>
                        <m:den>
                          <m:r>
                            <m:rPr>
                              <m:sty m:val="p"/>
                            </m:rPr>
                            <a:rPr lang="en-GB" sz="1200">
                              <a:solidFill>
                                <a:schemeClr val="accent5"/>
                              </a:solidFill>
                              <a:latin typeface="Cambria Math" panose="02040503050406030204" pitchFamily="18" charset="0"/>
                              <a:ea typeface="Cambria Math" panose="02040503050406030204" pitchFamily="18" charset="0"/>
                            </a:rPr>
                            <m:t>No</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of</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ord</m:t>
                          </m:r>
                          <m:r>
                            <a:rPr lang="en-GB" sz="1200">
                              <a:solidFill>
                                <a:schemeClr val="accent5"/>
                              </a:solidFill>
                              <a:latin typeface="Cambria Math" panose="02040503050406030204" pitchFamily="18" charset="0"/>
                              <a:ea typeface="Cambria Math" panose="02040503050406030204" pitchFamily="18" charset="0"/>
                            </a:rPr>
                            <m:t>𝑖𝑛𝑎𝑟𝑦</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𝑠h𝑎𝑟𝑒𝑠</m:t>
                          </m:r>
                        </m:den>
                      </m:f>
                    </m:oMath>
                  </m:oMathPara>
                </a14:m>
                <a:endParaRPr lang="en-GB" sz="1200" dirty="0">
                  <a:solidFill>
                    <a:schemeClr val="accent5"/>
                  </a:solidFill>
                  <a:latin typeface="Cambria Math" panose="02040503050406030204" pitchFamily="18" charset="0"/>
                  <a:ea typeface="Cambria Math" panose="02040503050406030204" pitchFamily="18" charset="0"/>
                </a:endParaRPr>
              </a:p>
              <a:p>
                <a:pPr marL="0" indent="0">
                  <a:spcBef>
                    <a:spcPts val="450"/>
                  </a:spcBef>
                  <a:buClr>
                    <a:srgbClr val="C00000"/>
                  </a:buClr>
                  <a:buNone/>
                  <a:tabLst>
                    <a:tab pos="670322" algn="l"/>
                  </a:tabLst>
                </a:pPr>
                <a:endParaRPr lang="en-GB" sz="1200" dirty="0"/>
              </a:p>
              <a:p>
                <a:pPr marL="0" indent="0">
                  <a:spcBef>
                    <a:spcPts val="1350"/>
                  </a:spcBef>
                  <a:buClr>
                    <a:srgbClr val="C00000"/>
                  </a:buClr>
                  <a:buNone/>
                  <a:tabLst>
                    <a:tab pos="872729" algn="l"/>
                  </a:tabLst>
                </a:pPr>
                <a:r>
                  <a:rPr lang="en-GB" sz="1200" b="1" dirty="0"/>
                  <a:t>Price Earnings </a:t>
                </a:r>
                <a:r>
                  <a:rPr lang="en-GB" sz="1200" dirty="0"/>
                  <a:t>Ratio. This ratio relates the market value of a share to the earnings per share</a:t>
                </a:r>
                <a:r>
                  <a:rPr lang="en-GB" sz="1200" b="1" dirty="0"/>
                  <a:t>. </a:t>
                </a:r>
                <a:r>
                  <a:rPr lang="en-GB" sz="1200" dirty="0"/>
                  <a:t>It is a valuation ratio expressed in times it is seen a s a predictor of future performance. A higher P/E is suggestive of better potential future success.</a:t>
                </a:r>
              </a:p>
              <a:p>
                <a:pPr marL="0" indent="0" algn="ctr">
                  <a:spcBef>
                    <a:spcPts val="1350"/>
                  </a:spcBef>
                  <a:buClr>
                    <a:srgbClr val="C00000"/>
                  </a:buClr>
                  <a:buNone/>
                  <a:tabLst>
                    <a:tab pos="872729" algn="l"/>
                  </a:tabLst>
                </a:pPr>
                <a:r>
                  <a:rPr lang="en-GB" sz="1200" dirty="0">
                    <a:solidFill>
                      <a:schemeClr val="accent5"/>
                    </a:solidFill>
                    <a:latin typeface="Cambria Math" panose="02040503050406030204" pitchFamily="18" charset="0"/>
                    <a:ea typeface="Cambria Math" panose="02040503050406030204" pitchFamily="18" charset="0"/>
                  </a:rPr>
                  <a:t>P/E </a:t>
                </a:r>
                <a14:m>
                  <m:oMath xmlns:m="http://schemas.openxmlformats.org/officeDocument/2006/math">
                    <m:r>
                      <m:rPr>
                        <m:sty m:val="p"/>
                      </m:rPr>
                      <a:rPr lang="en-GB" sz="1200">
                        <a:solidFill>
                          <a:schemeClr val="accent5"/>
                        </a:solidFill>
                        <a:latin typeface="Cambria Math" panose="02040503050406030204" pitchFamily="18" charset="0"/>
                        <a:ea typeface="Cambria Math" panose="02040503050406030204" pitchFamily="18" charset="0"/>
                      </a:rPr>
                      <m:t>ratio</m:t>
                    </m:r>
                    <m:r>
                      <a:rPr lang="en-GB" sz="1200">
                        <a:solidFill>
                          <a:schemeClr val="accent5"/>
                        </a:solidFill>
                        <a:latin typeface="Cambria Math" panose="02040503050406030204" pitchFamily="18" charset="0"/>
                        <a:ea typeface="Cambria Math" panose="02040503050406030204" pitchFamily="18" charset="0"/>
                      </a:rPr>
                      <m:t>=</m:t>
                    </m:r>
                    <m:f>
                      <m:fPr>
                        <m:ctrlPr>
                          <a:rPr lang="en-GB" sz="1200">
                            <a:solidFill>
                              <a:schemeClr val="accent5"/>
                            </a:solidFill>
                            <a:latin typeface="Cambria Math" panose="02040503050406030204" pitchFamily="18" charset="0"/>
                            <a:ea typeface="Cambria Math" panose="02040503050406030204" pitchFamily="18" charset="0"/>
                          </a:rPr>
                        </m:ctrlPr>
                      </m:fPr>
                      <m:num>
                        <m:r>
                          <a:rPr lang="en-GB" sz="1200">
                            <a:solidFill>
                              <a:schemeClr val="accent5"/>
                            </a:solidFill>
                            <a:latin typeface="Cambria Math" panose="02040503050406030204" pitchFamily="18" charset="0"/>
                            <a:ea typeface="Cambria Math" panose="02040503050406030204" pitchFamily="18" charset="0"/>
                          </a:rPr>
                          <m:t>𝐶𝑢𝑟𝑟𝑒𝑛𝑡</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𝑠h𝑎𝑟𝑒</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𝑝𝑟𝑖𝑐𝑒</m:t>
                        </m:r>
                      </m:num>
                      <m:den>
                        <m:r>
                          <a:rPr lang="en-GB" sz="1200">
                            <a:solidFill>
                              <a:schemeClr val="accent5"/>
                            </a:solidFill>
                            <a:latin typeface="Cambria Math" panose="02040503050406030204" pitchFamily="18" charset="0"/>
                            <a:ea typeface="Cambria Math" panose="02040503050406030204" pitchFamily="18" charset="0"/>
                          </a:rPr>
                          <m:t>𝐸𝑃𝑆</m:t>
                        </m:r>
                      </m:den>
                    </m:f>
                  </m:oMath>
                </a14:m>
                <a:r>
                  <a:rPr lang="en-GB" sz="1200" dirty="0">
                    <a:solidFill>
                      <a:schemeClr val="accent5"/>
                    </a:solidFill>
                    <a:latin typeface="Cambria Math" panose="02040503050406030204" pitchFamily="18" charset="0"/>
                    <a:ea typeface="Cambria Math" panose="02040503050406030204" pitchFamily="18" charset="0"/>
                  </a:rPr>
                  <a:t> </a:t>
                </a:r>
              </a:p>
              <a:p>
                <a:pPr marL="0" indent="0">
                  <a:spcBef>
                    <a:spcPts val="1350"/>
                  </a:spcBef>
                  <a:buClr>
                    <a:srgbClr val="C00000"/>
                  </a:buClr>
                  <a:buNone/>
                  <a:tabLst>
                    <a:tab pos="872729" algn="l"/>
                  </a:tabLst>
                </a:pPr>
                <a:r>
                  <a:rPr lang="en-GB" sz="1800" b="1" u="sng" dirty="0"/>
                  <a:t>Calculating historical returns ‘Realised returns’  of stocks</a:t>
                </a:r>
              </a:p>
              <a:p>
                <a:pPr marL="0" indent="0">
                  <a:spcBef>
                    <a:spcPts val="1350"/>
                  </a:spcBef>
                  <a:buClr>
                    <a:srgbClr val="C00000"/>
                  </a:buClr>
                  <a:buNone/>
                  <a:tabLst>
                    <a:tab pos="872729" algn="l"/>
                  </a:tabLst>
                </a:pPr>
                <a:r>
                  <a:rPr lang="en-GB" sz="1200" b="1" dirty="0"/>
                  <a:t>Total Shareholder Return </a:t>
                </a:r>
                <a:r>
                  <a:rPr lang="en-GB" sz="1200" dirty="0"/>
                  <a:t>takes into account both returns that a shareholder ‘receives’. (We will revisit this when we look at Return and Risk later in the module).</a:t>
                </a:r>
              </a:p>
              <a:p>
                <a:pPr marL="0" indent="0" algn="ctr">
                  <a:spcBef>
                    <a:spcPts val="1350"/>
                  </a:spcBef>
                  <a:buClr>
                    <a:srgbClr val="C00000"/>
                  </a:buClr>
                  <a:buNone/>
                  <a:tabLst>
                    <a:tab pos="872729" algn="l"/>
                  </a:tabLst>
                </a:pPr>
                <a:r>
                  <a:rPr lang="en-GB" sz="1200" dirty="0">
                    <a:solidFill>
                      <a:schemeClr val="accent5"/>
                    </a:solidFill>
                    <a:latin typeface="Cambria Math" panose="02040503050406030204" pitchFamily="18" charset="0"/>
                    <a:ea typeface="Cambria Math" panose="02040503050406030204" pitchFamily="18" charset="0"/>
                  </a:rPr>
                  <a:t>T</a:t>
                </a:r>
                <a14:m>
                  <m:oMath xmlns:m="http://schemas.openxmlformats.org/officeDocument/2006/math">
                    <m:r>
                      <m:rPr>
                        <m:sty m:val="p"/>
                      </m:rPr>
                      <a:rPr lang="en-GB" sz="1200">
                        <a:solidFill>
                          <a:schemeClr val="accent5"/>
                        </a:solidFill>
                        <a:latin typeface="Cambria Math" panose="02040503050406030204" pitchFamily="18" charset="0"/>
                        <a:ea typeface="Cambria Math" panose="02040503050406030204" pitchFamily="18" charset="0"/>
                      </a:rPr>
                      <m:t>SR</m:t>
                    </m:r>
                    <m:r>
                      <a:rPr lang="en-GB" sz="1200">
                        <a:solidFill>
                          <a:schemeClr val="accent5"/>
                        </a:solidFill>
                        <a:latin typeface="Cambria Math" panose="02040503050406030204" pitchFamily="18" charset="0"/>
                        <a:ea typeface="Cambria Math" panose="02040503050406030204" pitchFamily="18" charset="0"/>
                      </a:rPr>
                      <m:t>=</m:t>
                    </m:r>
                    <m:f>
                      <m:fPr>
                        <m:ctrlPr>
                          <a:rPr lang="en-GB" sz="1200" i="1">
                            <a:solidFill>
                              <a:schemeClr val="accent5"/>
                            </a:solidFill>
                            <a:latin typeface="Cambria Math" panose="02040503050406030204" pitchFamily="18" charset="0"/>
                            <a:ea typeface="Cambria Math" panose="02040503050406030204" pitchFamily="18" charset="0"/>
                          </a:rPr>
                        </m:ctrlPr>
                      </m:fPr>
                      <m:num>
                        <m:r>
                          <m:rPr>
                            <m:sty m:val="p"/>
                          </m:rPr>
                          <a:rPr lang="en-GB" sz="1200">
                            <a:solidFill>
                              <a:schemeClr val="accent5"/>
                            </a:solidFill>
                            <a:latin typeface="Cambria Math" panose="02040503050406030204" pitchFamily="18" charset="0"/>
                            <a:ea typeface="Cambria Math" panose="02040503050406030204" pitchFamily="18" charset="0"/>
                          </a:rPr>
                          <m:t>Dividend</m:t>
                        </m:r>
                        <m:r>
                          <a:rPr lang="en-GB" sz="1200">
                            <a:solidFill>
                              <a:schemeClr val="accent5"/>
                            </a:solidFill>
                            <a:latin typeface="Cambria Math" panose="02040503050406030204" pitchFamily="18" charset="0"/>
                            <a:ea typeface="Cambria Math" panose="02040503050406030204" pitchFamily="18" charset="0"/>
                          </a:rPr>
                          <m:t>+</m:t>
                        </m:r>
                        <m:r>
                          <m:rPr>
                            <m:sty m:val="p"/>
                          </m:rPr>
                          <a:rPr lang="en-GB" sz="1200">
                            <a:solidFill>
                              <a:schemeClr val="accent5"/>
                            </a:solidFill>
                            <a:latin typeface="Cambria Math" panose="02040503050406030204" pitchFamily="18" charset="0"/>
                            <a:ea typeface="Cambria Math" panose="02040503050406030204" pitchFamily="18" charset="0"/>
                          </a:rPr>
                          <m:t>Change</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in</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𝑠h𝑎𝑟𝑒</m:t>
                        </m:r>
                        <m:r>
                          <a:rPr lang="en-GB" sz="1200">
                            <a:solidFill>
                              <a:schemeClr val="accent5"/>
                            </a:solidFill>
                            <a:latin typeface="Cambria Math" panose="02040503050406030204" pitchFamily="18" charset="0"/>
                            <a:ea typeface="Cambria Math" panose="02040503050406030204" pitchFamily="18" charset="0"/>
                          </a:rPr>
                          <m:t> </m:t>
                        </m:r>
                        <m:r>
                          <a:rPr lang="en-GB" sz="1200">
                            <a:solidFill>
                              <a:schemeClr val="accent5"/>
                            </a:solidFill>
                            <a:latin typeface="Cambria Math" panose="02040503050406030204" pitchFamily="18" charset="0"/>
                            <a:ea typeface="Cambria Math" panose="02040503050406030204" pitchFamily="18" charset="0"/>
                          </a:rPr>
                          <m:t>𝑝𝑟𝑖𝑐𝑒</m:t>
                        </m:r>
                      </m:num>
                      <m:den>
                        <m:r>
                          <m:rPr>
                            <m:sty m:val="p"/>
                          </m:rPr>
                          <a:rPr lang="en-GB" sz="1200">
                            <a:solidFill>
                              <a:schemeClr val="accent5"/>
                            </a:solidFill>
                            <a:latin typeface="Cambria Math" panose="02040503050406030204" pitchFamily="18" charset="0"/>
                            <a:ea typeface="Cambria Math" panose="02040503050406030204" pitchFamily="18" charset="0"/>
                          </a:rPr>
                          <m:t>Share</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price</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at</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start</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of</m:t>
                        </m:r>
                        <m:r>
                          <a:rPr lang="en-GB" sz="1200">
                            <a:solidFill>
                              <a:schemeClr val="accent5"/>
                            </a:solidFill>
                            <a:latin typeface="Cambria Math" panose="02040503050406030204" pitchFamily="18" charset="0"/>
                            <a:ea typeface="Cambria Math" panose="02040503050406030204" pitchFamily="18" charset="0"/>
                          </a:rPr>
                          <m:t> </m:t>
                        </m:r>
                        <m:r>
                          <m:rPr>
                            <m:sty m:val="p"/>
                          </m:rPr>
                          <a:rPr lang="en-GB" sz="1200">
                            <a:solidFill>
                              <a:schemeClr val="accent5"/>
                            </a:solidFill>
                            <a:latin typeface="Cambria Math" panose="02040503050406030204" pitchFamily="18" charset="0"/>
                            <a:ea typeface="Cambria Math" panose="02040503050406030204" pitchFamily="18" charset="0"/>
                          </a:rPr>
                          <m:t>period</m:t>
                        </m:r>
                      </m:den>
                    </m:f>
                  </m:oMath>
                </a14:m>
                <a:r>
                  <a:rPr lang="en-GB" sz="1200" dirty="0">
                    <a:solidFill>
                      <a:schemeClr val="accent5"/>
                    </a:solidFill>
                    <a:latin typeface="Cambria Math" panose="02040503050406030204" pitchFamily="18" charset="0"/>
                    <a:ea typeface="Cambria Math" panose="02040503050406030204" pitchFamily="18" charset="0"/>
                  </a:rPr>
                  <a:t> x 100</a:t>
                </a:r>
              </a:p>
              <a:p>
                <a:pPr marL="0" indent="0">
                  <a:spcBef>
                    <a:spcPts val="1350"/>
                  </a:spcBef>
                  <a:buClr>
                    <a:srgbClr val="C00000"/>
                  </a:buClr>
                  <a:buNone/>
                  <a:tabLst>
                    <a:tab pos="872729" algn="l"/>
                  </a:tabLst>
                </a:pPr>
                <a:endParaRPr lang="en-GB" sz="2100" dirty="0"/>
              </a:p>
              <a:p>
                <a:pPr marL="342900" lvl="1" indent="0">
                  <a:spcBef>
                    <a:spcPts val="1350"/>
                  </a:spcBef>
                  <a:buClr>
                    <a:srgbClr val="C00000"/>
                  </a:buClr>
                  <a:buNone/>
                  <a:tabLst>
                    <a:tab pos="872729" algn="l"/>
                  </a:tabLst>
                </a:pPr>
                <a:endParaRPr lang="en-GB" sz="1200" dirty="0">
                  <a:solidFill>
                    <a:prstClr val="black"/>
                  </a:solidFill>
                </a:endParaRPr>
              </a:p>
            </p:txBody>
          </p:sp>
        </mc:Choice>
        <mc:Fallback>
          <p:sp>
            <p:nvSpPr>
              <p:cNvPr id="12" name="Content Placeholder 2">
                <a:extLst>
                  <a:ext uri="{FF2B5EF4-FFF2-40B4-BE49-F238E27FC236}">
                    <a16:creationId xmlns:a16="http://schemas.microsoft.com/office/drawing/2014/main" id="{B0BA4A32-FFB5-0398-7F8D-34A832A17F31}"/>
                  </a:ext>
                </a:extLst>
              </p:cNvPr>
              <p:cNvSpPr>
                <a:spLocks noGrp="1" noRot="1" noChangeAspect="1" noMove="1" noResize="1" noEditPoints="1" noAdjustHandles="1" noChangeArrowheads="1" noChangeShapeType="1" noTextEdit="1"/>
              </p:cNvSpPr>
              <p:nvPr>
                <p:ph idx="1"/>
              </p:nvPr>
            </p:nvSpPr>
            <p:spPr>
              <a:xfrm>
                <a:off x="1161143" y="1233715"/>
                <a:ext cx="9985828" cy="5723678"/>
              </a:xfrm>
              <a:blipFill>
                <a:blip r:embed="rId3"/>
                <a:stretch>
                  <a:fillRect/>
                </a:stretch>
              </a:blipFill>
              <a:ln>
                <a:noFill/>
              </a:ln>
            </p:spPr>
            <p:txBody>
              <a:bodyPr/>
              <a:lstStyle/>
              <a:p>
                <a:r>
                  <a:rPr lang="en-GB">
                    <a:noFill/>
                  </a:rPr>
                  <a:t> </a:t>
                </a:r>
              </a:p>
            </p:txBody>
          </p:sp>
        </mc:Fallback>
      </mc:AlternateContent>
      <p:sp>
        <p:nvSpPr>
          <p:cNvPr id="4" name="Slide Number Placeholder 3"/>
          <p:cNvSpPr>
            <a:spLocks noGrp="1"/>
          </p:cNvSpPr>
          <p:nvPr>
            <p:ph type="sldNum" sz="quarter" idx="12"/>
          </p:nvPr>
        </p:nvSpPr>
        <p:spPr>
          <a:xfrm>
            <a:off x="10061568" y="5710698"/>
            <a:ext cx="679467" cy="443896"/>
          </a:xfrm>
          <a:ln w="12700"/>
        </p:spPr>
        <p:txBody>
          <a:bodyPr/>
          <a:lstStyle/>
          <a:p>
            <a:fld id="{0F99C4FB-888A-4D12-A1C4-C744D94026CD}" type="slidenum">
              <a:rPr lang="en-GB" sz="1350">
                <a:solidFill>
                  <a:schemeClr val="tx1">
                    <a:lumMod val="50000"/>
                    <a:lumOff val="50000"/>
                  </a:schemeClr>
                </a:solidFill>
              </a:rPr>
              <a:t>19</a:t>
            </a:fld>
            <a:endParaRPr lang="en-GB" sz="135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F8348724-98E3-D04C-D591-E289A15C09A8}"/>
              </a:ext>
            </a:extLst>
          </p:cNvPr>
          <p:cNvSpPr txBox="1">
            <a:spLocks/>
          </p:cNvSpPr>
          <p:nvPr/>
        </p:nvSpPr>
        <p:spPr>
          <a:xfrm>
            <a:off x="5381642" y="2546953"/>
            <a:ext cx="8146913" cy="4553677"/>
          </a:xfrm>
          <a:noFill/>
          <a:ln>
            <a:noFill/>
          </a:ln>
        </p:spPr>
        <p:txBody>
          <a:bodyPr>
            <a:noAutofit/>
          </a:bodyPr>
          <a:lst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marL="342900" lvl="1" indent="0">
              <a:spcBef>
                <a:spcPts val="450"/>
              </a:spcBef>
              <a:buClr>
                <a:srgbClr val="C00000"/>
              </a:buClr>
              <a:buFont typeface="Arial" charset="0"/>
              <a:buNone/>
              <a:tabLst>
                <a:tab pos="670322" algn="l"/>
              </a:tabLst>
            </a:pPr>
            <a:endParaRPr lang="en-GB" sz="1050" dirty="0">
              <a:solidFill>
                <a:schemeClr val="accent5"/>
              </a:solidFill>
              <a:latin typeface="Cambria Math" panose="02040503050406030204" pitchFamily="18" charset="0"/>
              <a:ea typeface="Cambria Math" panose="02040503050406030204" pitchFamily="18" charset="0"/>
            </a:endParaRPr>
          </a:p>
          <a:p>
            <a:pPr marL="0" indent="0">
              <a:spcBef>
                <a:spcPts val="1350"/>
              </a:spcBef>
              <a:buClr>
                <a:srgbClr val="C00000"/>
              </a:buClr>
              <a:buFont typeface="Arial" charset="0"/>
              <a:buNone/>
              <a:tabLst>
                <a:tab pos="872729" algn="l"/>
              </a:tabLst>
            </a:pPr>
            <a:endParaRPr lang="en-GB" sz="1050" dirty="0">
              <a:solidFill>
                <a:schemeClr val="accent5"/>
              </a:solidFill>
              <a:latin typeface="Cambria Math" panose="02040503050406030204" pitchFamily="18" charset="0"/>
              <a:ea typeface="Cambria Math" panose="02040503050406030204" pitchFamily="18" charset="0"/>
            </a:endParaRPr>
          </a:p>
          <a:p>
            <a:pPr marL="342900" lvl="1" indent="0">
              <a:spcBef>
                <a:spcPts val="1350"/>
              </a:spcBef>
              <a:buClr>
                <a:srgbClr val="C00000"/>
              </a:buClr>
              <a:buFont typeface="Arial" charset="0"/>
              <a:buNone/>
              <a:tabLst>
                <a:tab pos="872729" algn="l"/>
              </a:tabLst>
            </a:pPr>
            <a:endParaRPr lang="en-GB" dirty="0"/>
          </a:p>
          <a:p>
            <a:pPr marL="0" indent="0">
              <a:spcBef>
                <a:spcPts val="1800"/>
              </a:spcBef>
              <a:buClr>
                <a:srgbClr val="C00000"/>
              </a:buClr>
              <a:buFont typeface="Arial" charset="0"/>
              <a:buNone/>
              <a:tabLst>
                <a:tab pos="670322" algn="l"/>
              </a:tabLst>
            </a:pPr>
            <a:endParaRPr lang="en-GB" sz="1800" dirty="0">
              <a:solidFill>
                <a:prstClr val="black"/>
              </a:solidFill>
            </a:endParaRPr>
          </a:p>
          <a:p>
            <a:pPr marL="0" lvl="1" indent="0">
              <a:lnSpc>
                <a:spcPct val="150000"/>
              </a:lnSpc>
              <a:spcBef>
                <a:spcPts val="1350"/>
              </a:spcBef>
              <a:buClr>
                <a:srgbClr val="C00000"/>
              </a:buClr>
              <a:buFont typeface="Arial" charset="0"/>
              <a:buNone/>
              <a:tabLst>
                <a:tab pos="670322" algn="l"/>
              </a:tabLst>
            </a:pPr>
            <a:endParaRPr lang="en-GB" dirty="0">
              <a:solidFill>
                <a:schemeClr val="accent5">
                  <a:lumMod val="75000"/>
                </a:schemeClr>
              </a:solidFill>
            </a:endParaRPr>
          </a:p>
        </p:txBody>
      </p:sp>
    </p:spTree>
    <p:extLst>
      <p:ext uri="{BB962C8B-B14F-4D97-AF65-F5344CB8AC3E}">
        <p14:creationId xmlns:p14="http://schemas.microsoft.com/office/powerpoint/2010/main" val="15906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B04BEA-D340-457E-8870-873768263A15}"/>
              </a:ext>
            </a:extLst>
          </p:cNvPr>
          <p:cNvSpPr>
            <a:spLocks noGrp="1"/>
          </p:cNvSpPr>
          <p:nvPr>
            <p:ph type="body" sz="quarter" idx="10"/>
          </p:nvPr>
        </p:nvSpPr>
        <p:spPr>
          <a:xfrm>
            <a:off x="660049" y="535705"/>
            <a:ext cx="8424936" cy="1366120"/>
          </a:xfrm>
        </p:spPr>
        <p:txBody>
          <a:bodyPr/>
          <a:lstStyle/>
          <a:p>
            <a:r>
              <a:rPr lang="en-GB" b="1" dirty="0">
                <a:latin typeface="Arial" panose="020B0604020202020204" pitchFamily="34" charset="0"/>
                <a:cs typeface="Arial" panose="020B0604020202020204" pitchFamily="34" charset="0"/>
              </a:rPr>
              <a:t>Summary of Investment Ratios</a:t>
            </a:r>
          </a:p>
        </p:txBody>
      </p:sp>
      <p:graphicFrame>
        <p:nvGraphicFramePr>
          <p:cNvPr id="4" name="Object 3">
            <a:extLst>
              <a:ext uri="{FF2B5EF4-FFF2-40B4-BE49-F238E27FC236}">
                <a16:creationId xmlns:a16="http://schemas.microsoft.com/office/drawing/2014/main" id="{4B2093D4-5D2B-45E3-A2D9-475D5CB927C4}"/>
              </a:ext>
            </a:extLst>
          </p:cNvPr>
          <p:cNvGraphicFramePr>
            <a:graphicFrameLocks noChangeAspect="1"/>
          </p:cNvGraphicFramePr>
          <p:nvPr>
            <p:extLst>
              <p:ext uri="{D42A27DB-BD31-4B8C-83A1-F6EECF244321}">
                <p14:modId xmlns:p14="http://schemas.microsoft.com/office/powerpoint/2010/main" val="1150393998"/>
              </p:ext>
            </p:extLst>
          </p:nvPr>
        </p:nvGraphicFramePr>
        <p:xfrm>
          <a:off x="1339850" y="1903413"/>
          <a:ext cx="8721725" cy="4187825"/>
        </p:xfrm>
        <a:graphic>
          <a:graphicData uri="http://schemas.openxmlformats.org/presentationml/2006/ole">
            <mc:AlternateContent xmlns:mc="http://schemas.openxmlformats.org/markup-compatibility/2006">
              <mc:Choice xmlns:v="urn:schemas-microsoft-com:vml" Requires="v">
                <p:oleObj name="Document" r:id="rId3" imgW="8173482" imgH="4028338" progId="Word.Document.8">
                  <p:embed/>
                </p:oleObj>
              </mc:Choice>
              <mc:Fallback>
                <p:oleObj name="Document" r:id="rId3" imgW="8173482" imgH="4028338" progId="Word.Document.8">
                  <p:embed/>
                  <p:pic>
                    <p:nvPicPr>
                      <p:cNvPr id="4" name="Object 3">
                        <a:extLst>
                          <a:ext uri="{FF2B5EF4-FFF2-40B4-BE49-F238E27FC236}">
                            <a16:creationId xmlns:a16="http://schemas.microsoft.com/office/drawing/2014/main" id="{4B2093D4-5D2B-45E3-A2D9-475D5CB927C4}"/>
                          </a:ext>
                        </a:extLst>
                      </p:cNvPr>
                      <p:cNvPicPr>
                        <a:picLocks noChangeAspect="1" noChangeArrowheads="1"/>
                      </p:cNvPicPr>
                      <p:nvPr/>
                    </p:nvPicPr>
                    <p:blipFill>
                      <a:blip r:embed="rId4"/>
                      <a:srcRect/>
                      <a:stretch>
                        <a:fillRect/>
                      </a:stretch>
                    </p:blipFill>
                    <p:spPr bwMode="auto">
                      <a:xfrm>
                        <a:off x="1339850" y="1903413"/>
                        <a:ext cx="8721725" cy="41878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37711394"/>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0F1D9D-C76D-411A-A58B-F9784AF3A5FA}"/>
              </a:ext>
            </a:extLst>
          </p:cNvPr>
          <p:cNvSpPr>
            <a:spLocks noGrp="1"/>
          </p:cNvSpPr>
          <p:nvPr>
            <p:ph type="body" sz="quarter" idx="10"/>
          </p:nvPr>
        </p:nvSpPr>
        <p:spPr>
          <a:xfrm>
            <a:off x="3431705" y="194393"/>
            <a:ext cx="6515621" cy="1366120"/>
          </a:xfrm>
        </p:spPr>
        <p:txBody>
          <a:bodyPr/>
          <a:lstStyle/>
          <a:p>
            <a:r>
              <a:rPr lang="en-GB" b="1" dirty="0">
                <a:latin typeface="Arial" panose="020B0604020202020204" pitchFamily="34" charset="0"/>
                <a:cs typeface="Arial" panose="020B0604020202020204" pitchFamily="34" charset="0"/>
              </a:rPr>
              <a:t>Average P/E Ratios</a:t>
            </a:r>
          </a:p>
        </p:txBody>
      </p:sp>
      <p:graphicFrame>
        <p:nvGraphicFramePr>
          <p:cNvPr id="4" name="Object 5">
            <a:extLst>
              <a:ext uri="{FF2B5EF4-FFF2-40B4-BE49-F238E27FC236}">
                <a16:creationId xmlns:a16="http://schemas.microsoft.com/office/drawing/2014/main" id="{F35F5C67-12A5-40B8-B6F9-691168D8DC59}"/>
              </a:ext>
            </a:extLst>
          </p:cNvPr>
          <p:cNvGraphicFramePr>
            <a:graphicFrameLocks noGrp="1" noChangeAspect="1"/>
          </p:cNvGraphicFramePr>
          <p:nvPr>
            <p:ph type="chart" idx="1"/>
          </p:nvPr>
        </p:nvGraphicFramePr>
        <p:xfrm>
          <a:off x="1538288" y="1340768"/>
          <a:ext cx="8540750" cy="4418012"/>
        </p:xfrm>
        <a:graphic>
          <a:graphicData uri="http://schemas.openxmlformats.org/presentationml/2006/ole">
            <mc:AlternateContent xmlns:mc="http://schemas.openxmlformats.org/markup-compatibility/2006">
              <mc:Choice xmlns:v="urn:schemas-microsoft-com:vml" Requires="v">
                <p:oleObj name="Chart" r:id="rId2" imgW="8544007" imgH="4419484" progId="MSGraph.Chart.8">
                  <p:embed followColorScheme="full"/>
                </p:oleObj>
              </mc:Choice>
              <mc:Fallback>
                <p:oleObj name="Chart" r:id="rId2" imgW="8544007" imgH="4419484" progId="MSGraph.Chart.8">
                  <p:embed followColorScheme="full"/>
                  <p:pic>
                    <p:nvPicPr>
                      <p:cNvPr id="4" name="Object 5">
                        <a:extLst>
                          <a:ext uri="{FF2B5EF4-FFF2-40B4-BE49-F238E27FC236}">
                            <a16:creationId xmlns:a16="http://schemas.microsoft.com/office/drawing/2014/main" id="{F35F5C67-12A5-40B8-B6F9-691168D8DC59}"/>
                          </a:ext>
                        </a:extLst>
                      </p:cNvPr>
                      <p:cNvPicPr>
                        <a:picLocks noChangeAspect="1" noChangeArrowheads="1"/>
                      </p:cNvPicPr>
                      <p:nvPr/>
                    </p:nvPicPr>
                    <p:blipFill>
                      <a:blip r:embed="rId3"/>
                      <a:srcRect/>
                      <a:stretch>
                        <a:fillRect/>
                      </a:stretch>
                    </p:blipFill>
                    <p:spPr bwMode="auto">
                      <a:xfrm>
                        <a:off x="1538288" y="1340768"/>
                        <a:ext cx="8540750" cy="441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0843321"/>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295801" y="548681"/>
            <a:ext cx="3168353" cy="674191"/>
          </a:xfrm>
        </p:spPr>
        <p:txBody>
          <a:bodyPr/>
          <a:lstStyle/>
          <a:p>
            <a:r>
              <a:rPr lang="en-GB" b="1" dirty="0">
                <a:latin typeface="Arial" panose="020B0604020202020204" pitchFamily="34" charset="0"/>
                <a:cs typeface="Arial" panose="020B0604020202020204" pitchFamily="34" charset="0"/>
              </a:rPr>
              <a:t>Conclusion </a:t>
            </a:r>
          </a:p>
        </p:txBody>
      </p:sp>
      <p:sp>
        <p:nvSpPr>
          <p:cNvPr id="3" name="Text Placeholder 2"/>
          <p:cNvSpPr>
            <a:spLocks noGrp="1"/>
          </p:cNvSpPr>
          <p:nvPr>
            <p:ph type="body" sz="quarter" idx="11"/>
          </p:nvPr>
        </p:nvSpPr>
        <p:spPr>
          <a:xfrm>
            <a:off x="1847528" y="1395116"/>
            <a:ext cx="8405874" cy="3384376"/>
          </a:xfrm>
        </p:spPr>
        <p:txBody>
          <a:bodyPr/>
          <a:lstStyle/>
          <a:p>
            <a:pPr marL="285750" indent="-285750" algn="just">
              <a:buFont typeface="Arial" panose="020B0604020202020204" pitchFamily="34" charset="0"/>
              <a:buChar char="•"/>
            </a:pPr>
            <a:r>
              <a:rPr lang="en-GB" sz="2800" dirty="0">
                <a:latin typeface="Arial" panose="020B0604020202020204" pitchFamily="34" charset="0"/>
                <a:cs typeface="Arial" panose="020B0604020202020204" pitchFamily="34" charset="0"/>
              </a:rPr>
              <a:t>Financial ratios allow performance evaluation</a:t>
            </a:r>
          </a:p>
          <a:p>
            <a:pPr marL="285750" indent="-285750" algn="just">
              <a:buFont typeface="Arial" panose="020B0604020202020204" pitchFamily="34" charset="0"/>
              <a:buChar char="•"/>
            </a:pPr>
            <a:r>
              <a:rPr lang="en-GB" sz="2800" dirty="0">
                <a:latin typeface="Arial" panose="020B0604020202020204" pitchFamily="34" charset="0"/>
                <a:cs typeface="Arial" panose="020B0604020202020204" pitchFamily="34" charset="0"/>
              </a:rPr>
              <a:t>Useful and easy tool</a:t>
            </a:r>
          </a:p>
          <a:p>
            <a:pPr marL="285750" indent="-285750" algn="just">
              <a:buFont typeface="Arial" panose="020B0604020202020204" pitchFamily="34" charset="0"/>
              <a:buChar char="•"/>
            </a:pPr>
            <a:r>
              <a:rPr lang="en-GB" sz="2800" dirty="0">
                <a:latin typeface="Arial" panose="020B0604020202020204" pitchFamily="34" charset="0"/>
                <a:cs typeface="Arial" panose="020B0604020202020204" pitchFamily="34" charset="0"/>
              </a:rPr>
              <a:t>Highlight the problem but may not always explain the reasons behind the problem </a:t>
            </a:r>
          </a:p>
          <a:p>
            <a:pPr marL="285750" indent="-285750" algn="just">
              <a:buFont typeface="Arial" panose="020B0604020202020204" pitchFamily="34" charset="0"/>
              <a:buChar char="•"/>
            </a:pPr>
            <a:r>
              <a:rPr lang="en-GB" sz="2800" dirty="0">
                <a:latin typeface="Arial" panose="020B0604020202020204" pitchFamily="34" charset="0"/>
                <a:cs typeface="Arial" panose="020B0604020202020204" pitchFamily="34" charset="0"/>
              </a:rPr>
              <a:t>Profitability ratios – some of the key financial ratios</a:t>
            </a:r>
          </a:p>
          <a:p>
            <a:pPr marL="285750" indent="-285750" algn="just">
              <a:buFont typeface="Arial" panose="020B0604020202020204" pitchFamily="34" charset="0"/>
              <a:buChar char="•"/>
            </a:pPr>
            <a:r>
              <a:rPr lang="en-GB" sz="2800" dirty="0">
                <a:latin typeface="Arial" panose="020B0604020202020204" pitchFamily="34" charset="0"/>
                <a:cs typeface="Arial" panose="020B0604020202020204" pitchFamily="34" charset="0"/>
              </a:rPr>
              <a:t>Next week – Gearing, liquidity and efficiency ratios</a:t>
            </a:r>
          </a:p>
          <a:p>
            <a:pPr marL="285750" indent="-285750" algn="just">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algn="just"/>
            <a:r>
              <a:rPr lang="en-GB"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64926553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77A4F-19C4-AAB5-368A-C8FA11FF66B1}"/>
            </a:ext>
          </a:extLst>
        </p:cNvPr>
        <p:cNvGrpSpPr/>
        <p:nvPr/>
      </p:nvGrpSpPr>
      <p:grpSpPr>
        <a:xfrm>
          <a:off x="0" y="0"/>
          <a:ext cx="0" cy="0"/>
          <a:chOff x="0" y="0"/>
          <a:chExt cx="0" cy="0"/>
        </a:xfrm>
      </p:grpSpPr>
      <p:sp>
        <p:nvSpPr>
          <p:cNvPr id="13319" name="Title 1">
            <a:extLst>
              <a:ext uri="{FF2B5EF4-FFF2-40B4-BE49-F238E27FC236}">
                <a16:creationId xmlns:a16="http://schemas.microsoft.com/office/drawing/2014/main" id="{AA415FDD-419D-9531-835C-5A41D2DF676B}"/>
              </a:ext>
            </a:extLst>
          </p:cNvPr>
          <p:cNvSpPr>
            <a:spLocks noGrp="1"/>
          </p:cNvSpPr>
          <p:nvPr>
            <p:ph type="title"/>
          </p:nvPr>
        </p:nvSpPr>
        <p:spPr>
          <a:xfrm>
            <a:off x="1190020" y="692697"/>
            <a:ext cx="10515600" cy="862064"/>
          </a:xfrm>
        </p:spPr>
        <p:txBody>
          <a:bodyPr/>
          <a:lstStyle/>
          <a:p>
            <a:r>
              <a:rPr lang="en-US" dirty="0"/>
              <a:t>Learning Outcomes Covered</a:t>
            </a:r>
          </a:p>
        </p:txBody>
      </p:sp>
      <p:graphicFrame>
        <p:nvGraphicFramePr>
          <p:cNvPr id="13315" name="Text Placeholder 1">
            <a:extLst>
              <a:ext uri="{FF2B5EF4-FFF2-40B4-BE49-F238E27FC236}">
                <a16:creationId xmlns:a16="http://schemas.microsoft.com/office/drawing/2014/main" id="{956B45D4-6494-A88C-4A4B-5DBE873FA626}"/>
              </a:ext>
            </a:extLst>
          </p:cNvPr>
          <p:cNvGraphicFramePr/>
          <p:nvPr>
            <p:extLst>
              <p:ext uri="{D42A27DB-BD31-4B8C-83A1-F6EECF244321}">
                <p14:modId xmlns:p14="http://schemas.microsoft.com/office/powerpoint/2010/main" val="2092949896"/>
              </p:ext>
            </p:extLst>
          </p:nvPr>
        </p:nvGraphicFramePr>
        <p:xfrm>
          <a:off x="1199456" y="1554761"/>
          <a:ext cx="10177131" cy="4538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3041054"/>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r>
              <a:rPr lang="en-GB"/>
              <a:t>Next Week</a:t>
            </a:r>
            <a:endParaRPr lang="en-GB" dirty="0"/>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1199456" y="3280304"/>
            <a:ext cx="8687493" cy="1325563"/>
          </a:xfrm>
        </p:spPr>
        <p:txBody>
          <a:bodyPr/>
          <a:lstStyle/>
          <a:p>
            <a:r>
              <a:rPr lang="en-GB" sz="3733" dirty="0">
                <a:latin typeface="Segoe Sans"/>
              </a:rPr>
              <a:t>Gearing, Liquidity </a:t>
            </a:r>
            <a:r>
              <a:rPr lang="en-GB" sz="3733">
                <a:latin typeface="Segoe Sans"/>
              </a:rPr>
              <a:t>and Efficiency ratios</a:t>
            </a:r>
            <a:endParaRPr lang="en-GB" sz="3733" dirty="0">
              <a:latin typeface="Segoe Sans"/>
            </a:endParaRPr>
          </a:p>
        </p:txBody>
      </p:sp>
    </p:spTree>
    <p:extLst>
      <p:ext uri="{BB962C8B-B14F-4D97-AF65-F5344CB8AC3E}">
        <p14:creationId xmlns:p14="http://schemas.microsoft.com/office/powerpoint/2010/main" val="1668558411"/>
      </p:ext>
    </p:extLst>
  </p:cSld>
  <p:clrMapOvr>
    <a:masterClrMapping/>
  </p:clrMapOvr>
  <p:transition spd="slow">
    <p:fade/>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with UWE logo top STANDARD" id="{01FAB0D0-5DBD-47E7-9373-94BA6C7E7835}" vid="{9680083E-B1B9-432B-A860-BC4A0118E2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 template sky standard</Template>
  <TotalTime>279</TotalTime>
  <Words>2796</Words>
  <Application>Microsoft Office PowerPoint</Application>
  <PresentationFormat>Widescreen</PresentationFormat>
  <Paragraphs>857</Paragraphs>
  <Slides>24</Slides>
  <Notes>15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6" baseType="lpstr">
      <vt:lpstr>Aptos</vt:lpstr>
      <vt:lpstr>Arial</vt:lpstr>
      <vt:lpstr>Calibri</vt:lpstr>
      <vt:lpstr>Cambria Math</vt:lpstr>
      <vt:lpstr>Courier New</vt:lpstr>
      <vt:lpstr>Georgia</vt:lpstr>
      <vt:lpstr>Segoe Sans</vt:lpstr>
      <vt:lpstr>Tahoma</vt:lpstr>
      <vt:lpstr>Times New Roman</vt:lpstr>
      <vt:lpstr>Custom Design</vt:lpstr>
      <vt:lpstr>Microsoft Word 97 - 2003 Document</vt:lpstr>
      <vt:lpstr>Chart</vt:lpstr>
      <vt:lpstr>UMET9G-30-1  Accounting &amp; Finance for Decision Making  Financial Statement Analysis – part 1</vt:lpstr>
      <vt:lpstr>Recap</vt:lpstr>
      <vt:lpstr>Learning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Financial Ratio Classifications </vt:lpstr>
      <vt:lpstr>Profitability Ratios</vt:lpstr>
      <vt:lpstr>Financial Statements Cross Sectional Analysis – Morrison’s vs Sainsbury’s</vt:lpstr>
      <vt:lpstr>Cross Sectional Analysis – Morrison’s vs Sainsbury’s</vt:lpstr>
      <vt:lpstr>Profitability Ratios – Morrison’s vs Sainsbury’s</vt:lpstr>
      <vt:lpstr>Financial Statements Time Series Analysis – Wholesale Carpet   SoFP</vt:lpstr>
      <vt:lpstr>Financial Statements Time Series Analysis – Wholesale Carpet   </vt:lpstr>
      <vt:lpstr>PowerPoint Presentation</vt:lpstr>
      <vt:lpstr>Investment Ratios  </vt:lpstr>
      <vt:lpstr>PowerPoint Presentation</vt:lpstr>
      <vt:lpstr>PowerPoint Presentation</vt:lpstr>
      <vt:lpstr>PowerPoint Presentation</vt:lpstr>
      <vt:lpstr>Learning Outcomes Covered</vt:lpstr>
      <vt:lpstr>Next Week</vt:lpstr>
    </vt:vector>
  </TitlesOfParts>
  <Company>UWE Bristol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Demelza Pilgrim</dc:creator>
  <cp:lastModifiedBy>Demelza Pilgrim</cp:lastModifiedBy>
  <cp:revision>1</cp:revision>
  <dcterms:created xsi:type="dcterms:W3CDTF">2025-07-07T13:58:20Z</dcterms:created>
  <dcterms:modified xsi:type="dcterms:W3CDTF">2025-08-14T13:18:21Z</dcterms:modified>
</cp:coreProperties>
</file>