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  <p:sldMasterId id="2147484027" r:id="rId5"/>
    <p:sldMasterId id="2147483660" r:id="rId6"/>
  </p:sldMasterIdLst>
  <p:notesMasterIdLst>
    <p:notesMasterId r:id="rId31"/>
  </p:notesMasterIdLst>
  <p:handoutMasterIdLst>
    <p:handoutMasterId r:id="rId32"/>
  </p:handoutMasterIdLst>
  <p:sldIdLst>
    <p:sldId id="462" r:id="rId7"/>
    <p:sldId id="505" r:id="rId8"/>
    <p:sldId id="259" r:id="rId9"/>
    <p:sldId id="557" r:id="rId10"/>
    <p:sldId id="588" r:id="rId11"/>
    <p:sldId id="598" r:id="rId12"/>
    <p:sldId id="609" r:id="rId13"/>
    <p:sldId id="610" r:id="rId14"/>
    <p:sldId id="612" r:id="rId15"/>
    <p:sldId id="613" r:id="rId16"/>
    <p:sldId id="599" r:id="rId17"/>
    <p:sldId id="600" r:id="rId18"/>
    <p:sldId id="601" r:id="rId19"/>
    <p:sldId id="611" r:id="rId20"/>
    <p:sldId id="603" r:id="rId21"/>
    <p:sldId id="604" r:id="rId22"/>
    <p:sldId id="605" r:id="rId23"/>
    <p:sldId id="608" r:id="rId24"/>
    <p:sldId id="606" r:id="rId25"/>
    <p:sldId id="607" r:id="rId26"/>
    <p:sldId id="455" r:id="rId27"/>
    <p:sldId id="573" r:id="rId28"/>
    <p:sldId id="574" r:id="rId29"/>
    <p:sldId id="464" r:id="rId30"/>
  </p:sldIdLst>
  <p:sldSz cx="9144000" cy="6858000" type="screen4x3"/>
  <p:notesSz cx="9144000" cy="68580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DAC"/>
    <a:srgbClr val="1C9DAC"/>
    <a:srgbClr val="7A7392"/>
    <a:srgbClr val="C64096"/>
    <a:srgbClr val="16818D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54C84-2E95-4F83-917A-03C0A0932797}" v="1" dt="2026-02-12T17:40:30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25" autoAdjust="0"/>
  </p:normalViewPr>
  <p:slideViewPr>
    <p:cSldViewPr snapToGrid="0">
      <p:cViewPr varScale="1">
        <p:scale>
          <a:sx n="101" d="100"/>
          <a:sy n="101" d="100"/>
        </p:scale>
        <p:origin x="1914" y="108"/>
      </p:cViewPr>
      <p:guideLst>
        <p:guide orient="horz" pos="3838"/>
        <p:guide pos="2880"/>
        <p:guide pos="5103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Aslam" userId="cc74c580-e775-4d2a-9644-400d69739476" providerId="ADAL" clId="{7066C9FE-E3F5-424A-83F0-818FB6975CF2}"/>
    <pc:docChg chg="addSld modSld sldOrd">
      <pc:chgData name="Adnan Aslam" userId="cc74c580-e775-4d2a-9644-400d69739476" providerId="ADAL" clId="{7066C9FE-E3F5-424A-83F0-818FB6975CF2}" dt="2026-02-12T17:41:42.471" v="13" actId="20577"/>
      <pc:docMkLst>
        <pc:docMk/>
      </pc:docMkLst>
      <pc:sldChg chg="modSp mod">
        <pc:chgData name="Adnan Aslam" userId="cc74c580-e775-4d2a-9644-400d69739476" providerId="ADAL" clId="{7066C9FE-E3F5-424A-83F0-818FB6975CF2}" dt="2026-02-12T17:41:42.471" v="13" actId="20577"/>
        <pc:sldMkLst>
          <pc:docMk/>
          <pc:sldMk cId="916755648" sldId="462"/>
        </pc:sldMkLst>
        <pc:spChg chg="mod">
          <ac:chgData name="Adnan Aslam" userId="cc74c580-e775-4d2a-9644-400d69739476" providerId="ADAL" clId="{7066C9FE-E3F5-424A-83F0-818FB6975CF2}" dt="2026-02-12T17:41:42.471" v="13" actId="20577"/>
          <ac:spMkLst>
            <pc:docMk/>
            <pc:sldMk cId="916755648" sldId="462"/>
            <ac:spMk id="4" creationId="{FA5FC82F-1F0B-4D11-BC78-0C43FDE0F394}"/>
          </ac:spMkLst>
        </pc:spChg>
      </pc:sldChg>
      <pc:sldChg chg="modSp mod ord">
        <pc:chgData name="Adnan Aslam" userId="cc74c580-e775-4d2a-9644-400d69739476" providerId="ADAL" clId="{7066C9FE-E3F5-424A-83F0-818FB6975CF2}" dt="2026-02-12T17:39:45.856" v="8"/>
        <pc:sldMkLst>
          <pc:docMk/>
          <pc:sldMk cId="2004537527" sldId="505"/>
        </pc:sldMkLst>
        <pc:spChg chg="mod">
          <ac:chgData name="Adnan Aslam" userId="cc74c580-e775-4d2a-9644-400d69739476" providerId="ADAL" clId="{7066C9FE-E3F5-424A-83F0-818FB6975CF2}" dt="2026-02-12T17:39:38.481" v="6" actId="20577"/>
          <ac:spMkLst>
            <pc:docMk/>
            <pc:sldMk cId="2004537527" sldId="505"/>
            <ac:spMk id="2" creationId="{00000000-0000-0000-0000-000000000000}"/>
          </ac:spMkLst>
        </pc:spChg>
        <pc:spChg chg="mod">
          <ac:chgData name="Adnan Aslam" userId="cc74c580-e775-4d2a-9644-400d69739476" providerId="ADAL" clId="{7066C9FE-E3F5-424A-83F0-818FB6975CF2}" dt="2026-02-12T17:39:26.284" v="4" actId="403"/>
          <ac:spMkLst>
            <pc:docMk/>
            <pc:sldMk cId="2004537527" sldId="505"/>
            <ac:spMk id="3" creationId="{00000000-0000-0000-0000-000000000000}"/>
          </ac:spMkLst>
        </pc:spChg>
      </pc:sldChg>
      <pc:sldChg chg="modSp add mod">
        <pc:chgData name="Adnan Aslam" userId="cc74c580-e775-4d2a-9644-400d69739476" providerId="ADAL" clId="{7066C9FE-E3F5-424A-83F0-818FB6975CF2}" dt="2026-02-12T17:41:21.537" v="10"/>
        <pc:sldMkLst>
          <pc:docMk/>
          <pc:sldMk cId="1668558411" sldId="574"/>
        </pc:sldMkLst>
        <pc:spChg chg="mod">
          <ac:chgData name="Adnan Aslam" userId="cc74c580-e775-4d2a-9644-400d69739476" providerId="ADAL" clId="{7066C9FE-E3F5-424A-83F0-818FB6975CF2}" dt="2026-02-12T17:41:21.537" v="10"/>
          <ac:spMkLst>
            <pc:docMk/>
            <pc:sldMk cId="1668558411" sldId="574"/>
            <ac:spMk id="3" creationId="{7393D38A-6D63-08BB-0FBC-2882D123147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06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52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591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56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346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77EB-A58E-1196-6841-F6DC8E69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AEAC9-0C62-0DB6-B5D0-D1B8F97B1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0111-291B-2FAF-08C6-5AD77EF5B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E0136-BBDF-E9CD-CCB4-F9941B348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159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B386-8387-7017-0C70-D60E54DB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961AD-8376-15C5-125A-1AF948DB5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B8092-476A-FDBF-A5B2-39076C67A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9B5E2-149C-02E1-6C0A-3DA7E11B3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97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3915-9D95-C666-2739-F98B78C2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A6328-AB32-D1F7-A76D-344CCA265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EAEC6-8342-C30C-8284-6637AE2D7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B6BD3-75FA-2D95-E2EC-6FAB1CE60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67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7EDD-1FE7-4824-9CE9-0414FA67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B9E2A-707E-2C57-237A-755BAE277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C6C90-0DAD-9134-F422-499D80326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A6F75-5EFE-69DA-114C-B25D4CFF26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084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B2D8-AC84-7A8E-9DF3-D4208267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98E84-C49D-C762-00E1-56E465AF9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9D894-038D-5856-722A-82FBB6674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4CC91-7734-F970-B632-D871A02B1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25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1B4D-8765-828F-1B3F-945A72D8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D50D5-A7A9-2C83-AE72-8896F0DA8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C49F2-F0CA-609E-397C-6F3A1D018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413BB-5DFB-EEA2-E881-DE6E8DC2C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60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893E6-5D34-D46F-F428-AAABA88A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34DE0-DDAF-C42B-161D-B44A7296E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3A910-B837-0074-6D8C-D37A1E6BF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649CF-FDBB-C0A4-ED85-2DE2E18C4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329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90E3-DF22-7C21-1F2F-461140D6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84B29-ECBE-BD62-EF24-ED7EA91C8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1686E-933B-0077-21B5-1DB586471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A20D-3538-8ED6-B539-712418FD7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898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FA0D-E2A8-2153-AD8D-9631675F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FF9CF-8096-E6EB-46AD-1180B5D4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56B69-5F57-AE92-7ED9-8FF559E11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EA732-6586-E46C-076F-2FA6C9AC8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167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831B-CA5F-C571-041E-93446500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69401-E72C-C7F4-0C9B-E780E5558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C5D6-1B1C-188E-CEA9-9CB1E3CAF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78ACD-7E20-33B4-84BD-E04C174EA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514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13DA-4B50-8658-EE0C-4C3C1F8E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2A37D-FCA9-EF99-7708-17CFE9914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68727-FE42-2CCD-FCC1-B40E98D21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6C196-7A20-3E4D-1F52-D50D155FC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778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2F5F-C538-AA3B-CEB7-FBD7FDC5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90936-A246-29E1-97C7-C855E8773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34530-F36C-45B5-1192-E3285017C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2A908-E868-B3BE-533D-83D0745D6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025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3B232-6176-F41F-C818-D348D458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75F3B-BE76-9137-C3D6-3EDBB50E2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C09C2-4935-E222-E6BB-D64DA1CB5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699A6-0E82-2F4C-CB78-9D25DA871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224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3393-635C-95F3-FA54-D72547EE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3C6D2-4B12-CC42-FFCB-22ACFB9AB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E4156-1EB9-C15D-4E2F-0137A92CF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4727-4D18-B3CC-5F2E-3691D1536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481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B7CF-830E-2210-D318-A55A7082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2F30C-B630-FC1E-4B92-BBF308EDF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3A4FD-B3DE-C4EF-5614-9147D4CB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44596-2750-FF4D-CAA3-2867468D2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607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626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D1E1-91C5-9BA6-5C63-0703045C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84427-6845-ECFD-E912-71C0D8955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1CD3-8D8A-726A-CF02-3E613BBE9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C7A7-3EB6-D403-72EF-9C19E2D02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707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708D-0180-424B-8170-B8C7498B308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832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843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7A7392"/>
                </a:solidFill>
              </a:defRPr>
            </a:lvl1pPr>
            <a:lvl2pPr marL="609600" indent="0">
              <a:buNone/>
              <a:defRPr sz="1800">
                <a:solidFill>
                  <a:srgbClr val="7A7392"/>
                </a:solidFill>
              </a:defRPr>
            </a:lvl2pPr>
            <a:lvl3pPr marL="1219200" indent="0">
              <a:buNone/>
              <a:defRPr sz="1800">
                <a:solidFill>
                  <a:srgbClr val="7A7392"/>
                </a:solidFill>
              </a:defRPr>
            </a:lvl3pPr>
            <a:lvl4pPr marL="1828800" indent="0">
              <a:buNone/>
              <a:defRPr sz="1800">
                <a:solidFill>
                  <a:srgbClr val="7A7392"/>
                </a:solidFill>
              </a:defRPr>
            </a:lvl4pPr>
            <a:lvl5pPr marL="2438400" indent="0">
              <a:buNone/>
              <a:defRPr sz="18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DB84-0680-402A-98AB-12EE75CE4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61E94-4184-4A75-8052-87B57311C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ECEE-B2A4-43F6-9DA6-32B50D15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5923-7DD6-4CB9-BA03-09F03E13C73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7872-1786-4B70-A28C-C683FBC7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88D4-1792-4818-901D-BB017C81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9E2C-FEE2-4552-B3C5-C1E1B82F9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596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2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5686297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12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795650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398877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5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76229354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74846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674228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41176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70841626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14151986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807663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278383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>
          <p15:clr>
            <a:srgbClr val="FBAE40"/>
          </p15:clr>
        </p15:guide>
        <p15:guide id="2" pos="2880">
          <p15:clr>
            <a:srgbClr val="FBAE40"/>
          </p15:clr>
        </p15:guide>
        <p15:guide id="4" pos="3833">
          <p15:clr>
            <a:srgbClr val="FBAE40"/>
          </p15:clr>
        </p15:guide>
        <p15:guide id="5" orient="horz" pos="2614">
          <p15:clr>
            <a:srgbClr val="FBAE40"/>
          </p15:clr>
        </p15:guide>
        <p15:guide id="6" pos="567">
          <p15:clr>
            <a:srgbClr val="FBAE40"/>
          </p15:clr>
        </p15:guide>
        <p15:guide id="8" pos="1927">
          <p15:clr>
            <a:srgbClr val="FBAE40"/>
          </p15:clr>
        </p15:guide>
        <p15:guide id="9" pos="3854">
          <p15:clr>
            <a:srgbClr val="FBAE40"/>
          </p15:clr>
        </p15:guide>
        <p15:guide id="10" orient="horz" pos="259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031995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pos="3856">
          <p15:clr>
            <a:srgbClr val="FBAE40"/>
          </p15:clr>
        </p15:guide>
        <p15:guide id="4" pos="3833">
          <p15:clr>
            <a:srgbClr val="FBAE40"/>
          </p15:clr>
        </p15:guide>
        <p15:guide id="6" orient="horz" pos="2590">
          <p15:clr>
            <a:srgbClr val="FBAE40"/>
          </p15:clr>
        </p15:guide>
        <p15:guide id="7" orient="horz" pos="261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40995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/>
              <a:t>100%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500441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DBEE-02FF-41AA-899A-45B724F9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6175-35AA-4423-8B45-0D36968A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C334-D21F-42F9-BBC8-A4164B90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5923-7DD6-4CB9-BA03-09F03E13C73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E66F7-16F4-4C2E-A015-A908766F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4782-B222-4999-A2D1-EA12179B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9E2C-FEE2-4552-B3C5-C1E1B82F9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483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7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35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3272127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3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  <p:sldLayoutId id="2147483976" r:id="rId15"/>
    <p:sldLayoutId id="2147484043" r:id="rId16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19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  <p:sldLayoutId id="2147484041" r:id="rId14"/>
    <p:sldLayoutId id="2147484042" r:id="rId15"/>
    <p:sldLayoutId id="2147484044" r:id="rId16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3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pixabay.com/?utm_source=link-attribution&amp;utm_medium=referral&amp;utm_campaign=image&amp;utm_content=3591573" TargetMode="External"/><Relationship Id="rId4" Type="http://schemas.openxmlformats.org/officeDocument/2006/relationships/hyperlink" Target="https://pixabay.com/users/geralt-9301/?utm_source=link-attribution&amp;utm_medium=referral&amp;utm_campaign=image&amp;utm_content=3591573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Relationship Id="rId4" Type="http://schemas.openxmlformats.org/officeDocument/2006/relationships/hyperlink" Target="mailto:adnan.aslam@uwe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93" y="2999058"/>
            <a:ext cx="5689524" cy="2089585"/>
          </a:xfrm>
        </p:spPr>
        <p:txBody>
          <a:bodyPr>
            <a:normAutofit/>
          </a:bodyPr>
          <a:lstStyle/>
          <a:p>
            <a:r>
              <a:rPr lang="en-GB" sz="4400" b="1" dirty="0">
                <a:ea typeface="ＭＳ Ｐゴシック"/>
              </a:rPr>
              <a:t>Dividend Policy</a:t>
            </a:r>
            <a:endParaRPr lang="en-GB" sz="4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536" y="1915479"/>
            <a:ext cx="1219139" cy="26908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2035" y="2382068"/>
            <a:ext cx="1605609" cy="3458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Dr Adnan Aslam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/>
              <a:t>      Lecture 11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1987366" y="1915479"/>
            <a:ext cx="7156634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200" dirty="0">
                <a:solidFill>
                  <a:schemeClr val="bg1"/>
                </a:solidFill>
                <a:latin typeface="+mn-lt"/>
                <a:ea typeface="ＭＳ Ｐゴシック"/>
              </a:rPr>
              <a:t>UMET9G-30-1: Accounting and Finance for Decision Making</a:t>
            </a:r>
            <a:endParaRPr lang="en-GB" sz="2200" dirty="0">
              <a:solidFill>
                <a:schemeClr val="bg1"/>
              </a:solidFill>
              <a:latin typeface="+mn-lt"/>
              <a:ea typeface="ＭＳ Ｐゴシック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40E439-7964-4999-89C0-DBC132DF1138}"/>
              </a:ext>
            </a:extLst>
          </p:cNvPr>
          <p:cNvSpPr txBox="1">
            <a:spLocks/>
          </p:cNvSpPr>
          <p:nvPr/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06425" rtl="0" eaLnBrk="1" fontAlgn="base" hangingPunct="1">
              <a:lnSpc>
                <a:spcPts val="1300"/>
              </a:lnSpc>
              <a:spcBef>
                <a:spcPts val="0"/>
              </a:spcBef>
              <a:spcAft>
                <a:spcPct val="0"/>
              </a:spcAft>
              <a:buFontTx/>
              <a:buNone/>
              <a:defRPr sz="1600" b="0" i="0" kern="120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Feb 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675564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Recap - Capital Structure - Theory &amp;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411047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buClr>
                <a:srgbClr val="C00000"/>
              </a:buClr>
              <a:buSzPct val="90000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Explain the concept and components of the Weighted Average Cost of Capital (WACC).</a:t>
            </a:r>
          </a:p>
          <a:p>
            <a:pPr>
              <a:buClr>
                <a:srgbClr val="C00000"/>
              </a:buClr>
              <a:buSzPct val="90000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Perform WACC calculations using appropriate market-based data.</a:t>
            </a:r>
          </a:p>
          <a:p>
            <a:pPr>
              <a:buClr>
                <a:srgbClr val="C00000"/>
              </a:buClr>
              <a:buSzPct val="90000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Assess the effects of capital structure and financial leverage on firm value and shareholder returns.</a:t>
            </a:r>
          </a:p>
          <a:p>
            <a:pPr>
              <a:buClr>
                <a:srgbClr val="C00000"/>
              </a:buClr>
              <a:buSzPct val="90000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Compare key capital structure theories (Trade-Off and Pecking Order) and their practical relevance.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3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9CB3-07AE-46B0-9EA3-A7C2336F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4" y="599029"/>
            <a:ext cx="7886700" cy="101259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  <a:ea typeface="ＭＳ Ｐゴシック"/>
                <a:cs typeface="+mn-cs"/>
              </a:rPr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278A3-A270-477E-B923-11BF19F6C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0634" y="1365663"/>
            <a:ext cx="8823366" cy="4392588"/>
          </a:xfrm>
        </p:spPr>
        <p:txBody>
          <a:bodyPr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ea typeface="Tahoma"/>
                <a:cs typeface="Tahoma"/>
              </a:rPr>
              <a:t>By the end of the session, students will be able to: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Classify the different types of dividends: interim, final and stock.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Explain the main dividend theories, including Modigliani &amp; Miller (M&amp;M), relevance vs irrelevance, and tax preference theory.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Evaluate practical issues in dividend policy, such as stability, investor expectations, and signalling effects.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Assess different dividend policies adopted by firms and their potential impact on shareholders.</a:t>
            </a:r>
          </a:p>
        </p:txBody>
      </p:sp>
      <p:pic>
        <p:nvPicPr>
          <p:cNvPr id="1026" name="Picture 2" descr="3 Best Monthly Dividend Stocks To Buy For 2025: September Edition">
            <a:extLst>
              <a:ext uri="{FF2B5EF4-FFF2-40B4-BE49-F238E27FC236}">
                <a16:creationId xmlns:a16="http://schemas.microsoft.com/office/drawing/2014/main" id="{4FADF28A-A675-BB9D-A7D2-E1D49F602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902" y="5008310"/>
            <a:ext cx="2327098" cy="184969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4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 Uses of Free Cash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3838575"/>
            <a:ext cx="7324725" cy="1732684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just">
              <a:buClr>
                <a:srgbClr val="C00000"/>
              </a:buClr>
              <a:buSzPct val="90000"/>
              <a:buNone/>
            </a:pPr>
            <a:endParaRPr lang="en-GB" sz="1500" b="1" dirty="0"/>
          </a:p>
          <a:p>
            <a:pPr marL="0" indent="0" algn="just">
              <a:buClr>
                <a:srgbClr val="C00000"/>
              </a:buClr>
              <a:buSzPct val="90000"/>
              <a:buNone/>
            </a:pPr>
            <a:endParaRPr lang="en-GB" sz="1500" b="1" dirty="0"/>
          </a:p>
          <a:p>
            <a:pPr marL="0" indent="0" algn="just">
              <a:buClr>
                <a:srgbClr val="C00000"/>
              </a:buClr>
              <a:buSzPct val="90000"/>
              <a:buNone/>
            </a:pPr>
            <a:endParaRPr lang="en-GB" sz="1500" dirty="0"/>
          </a:p>
          <a:p>
            <a:pPr marL="0" indent="0" algn="just">
              <a:buClr>
                <a:srgbClr val="C00000"/>
              </a:buClr>
              <a:buSzPct val="90000"/>
              <a:buNone/>
            </a:pPr>
            <a:endParaRPr lang="en-GB" sz="15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2" descr="The tree diagram is represented here as a list:&#10;• Free cash flow&#10;• Pay out&#10;• Repurchase shares&#10;• Pay dividend &#10;• Retain&#10;• Invest in new projects&#10;• Increase cash reserves">
            <a:extLst>
              <a:ext uri="{FF2B5EF4-FFF2-40B4-BE49-F238E27FC236}">
                <a16:creationId xmlns:a16="http://schemas.microsoft.com/office/drawing/2014/main" id="{601FF1B5-0A84-2ABE-24D9-B46E85552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75" y="1601005"/>
            <a:ext cx="8191579" cy="344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44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Dividend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5" y="1159841"/>
            <a:ext cx="8877300" cy="4538318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“A payment made out of a firm’s earnings to its owners, in the form of either </a:t>
            </a:r>
            <a:r>
              <a:rPr lang="en-GB" sz="1800" b="1" u="sng" dirty="0">
                <a:solidFill>
                  <a:srgbClr val="FF0000"/>
                </a:solidFill>
              </a:rPr>
              <a:t>cash</a:t>
            </a:r>
            <a:r>
              <a:rPr lang="en-GB" sz="1800" dirty="0"/>
              <a:t> or </a:t>
            </a:r>
            <a:r>
              <a:rPr lang="en-GB" sz="1800" b="1" u="sng" dirty="0">
                <a:solidFill>
                  <a:srgbClr val="FF0000"/>
                </a:solidFill>
              </a:rPr>
              <a:t>stock </a:t>
            </a:r>
            <a:r>
              <a:rPr lang="en-GB" sz="1800" b="1" dirty="0"/>
              <a:t>”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>
                <a:solidFill>
                  <a:srgbClr val="1C9DAC"/>
                </a:solidFill>
              </a:rPr>
              <a:t>Basic Types of Cash Dividends: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Regular dividends – recurring payments as part of normal profits.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Extra dividends – additional payments above the regular dividend.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Special dividends – one-off payments from exceptional profits.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Liquidating dividends – return of capital when a company is partially or fully winding up.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50" name="Picture 2" descr="What Is Stock Dividend – The Difference ...">
            <a:extLst>
              <a:ext uri="{FF2B5EF4-FFF2-40B4-BE49-F238E27FC236}">
                <a16:creationId xmlns:a16="http://schemas.microsoft.com/office/drawing/2014/main" id="{0AAF630F-1F8C-EA5C-5C59-63B6F1FFC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865244"/>
            <a:ext cx="3562350" cy="186161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59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977E-D2ED-B2B6-7294-DE5D01EF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FE44-C675-F5DF-0910-4348AF50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Chronology of a Cash Dividend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C3571-B295-D8CC-7B3A-5C9C131A3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3429000"/>
            <a:ext cx="8877300" cy="31242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Declaration Date – Board approves the dividend (e.g., £1 per share).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Ex-Dividend Date – Usually 2 business days before the record date.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+mj-lt"/>
              <a:buAutoNum type="romanUcPeriod"/>
              <a:tabLst>
                <a:tab pos="670322" algn="l"/>
              </a:tabLst>
            </a:pPr>
            <a:r>
              <a:rPr lang="en-GB" sz="1800" dirty="0"/>
              <a:t>Buy stock before this date → entitled to dividend (“cum dividend”).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+mj-lt"/>
              <a:buAutoNum type="romanUcPeriod"/>
              <a:tabLst>
                <a:tab pos="670322" algn="l"/>
              </a:tabLst>
            </a:pPr>
            <a:r>
              <a:rPr lang="en-GB" sz="1800" dirty="0"/>
              <a:t>Buy stock on/after this date → previous owner gets dividend (“ex-dividend”).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Record Date – Corporation lists shareholders eligible for the dividend.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Payment Date – Dividend is actually paid to shareholders.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D7A62-CE7A-A764-B6FF-90AAADDC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DA8861-FF2D-7F53-5B8E-B58402FE3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856" y="1400175"/>
            <a:ext cx="6380287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2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69DEC-09C3-D9EF-D418-E696E7C2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FD5E-678E-29CC-3417-E5B71C71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Other Dividends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71BD-0676-FF84-030C-1D9D05F2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159841"/>
            <a:ext cx="8877300" cy="4538318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2000" b="1" dirty="0">
                <a:solidFill>
                  <a:srgbClr val="1C9DAC"/>
                </a:solidFill>
              </a:rPr>
              <a:t>Stock Dividends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Stock dividends are a non-cash form of dividends.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With a stock dividend (also known as a </a:t>
            </a:r>
            <a:r>
              <a:rPr lang="en-GB" sz="1800" b="1" u="sng" dirty="0">
                <a:solidFill>
                  <a:srgbClr val="FF0000"/>
                </a:solidFill>
              </a:rPr>
              <a:t>bonus issue of shares</a:t>
            </a:r>
            <a:r>
              <a:rPr lang="en-GB" sz="1800" dirty="0"/>
              <a:t>), the company distributes additional shares of its common stock to shareholders instead of cash. 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Example: a company announced a 5% stock dividend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CD38C-D76B-68F5-31F1-0D1C59C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122" name="Picture 2" descr="What Are the Different Types of Stocks ...">
            <a:extLst>
              <a:ext uri="{FF2B5EF4-FFF2-40B4-BE49-F238E27FC236}">
                <a16:creationId xmlns:a16="http://schemas.microsoft.com/office/drawing/2014/main" id="{6CB2143F-D7E7-3F77-0111-DDF076354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502" y="516971"/>
            <a:ext cx="2496099" cy="166104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90312E-C9C0-E729-4962-58BA35A91C29}"/>
              </a:ext>
            </a:extLst>
          </p:cNvPr>
          <p:cNvSpPr/>
          <p:nvPr/>
        </p:nvSpPr>
        <p:spPr>
          <a:xfrm>
            <a:off x="390525" y="4010996"/>
            <a:ext cx="3600400" cy="2105025"/>
          </a:xfrm>
          <a:prstGeom prst="rect">
            <a:avLst/>
          </a:prstGeom>
          <a:ln>
            <a:solidFill>
              <a:srgbClr val="3F06B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b="1" i="0" u="sng" strike="noStrike" baseline="0" dirty="0">
                <a:solidFill>
                  <a:schemeClr val="tx1"/>
                </a:solidFill>
              </a:rPr>
              <a:t>Before</a:t>
            </a:r>
          </a:p>
          <a:p>
            <a:pPr algn="just"/>
            <a:endParaRPr lang="en-US" sz="1400" b="1" i="0" u="sng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sz="1400" b="0" i="0" u="none" strike="noStrike" baseline="0" dirty="0">
                <a:solidFill>
                  <a:schemeClr val="tx1"/>
                </a:solidFill>
              </a:rPr>
              <a:t>If a shareholder </a:t>
            </a:r>
            <a:r>
              <a:rPr lang="en-US" sz="1400" b="1" i="0" u="none" strike="noStrike" baseline="0" dirty="0">
                <a:solidFill>
                  <a:schemeClr val="tx1"/>
                </a:solidFill>
              </a:rPr>
              <a:t>owns 100 shares </a:t>
            </a:r>
            <a:r>
              <a:rPr lang="en-US" sz="1400" b="0" i="0" u="none" strike="noStrike" baseline="0" dirty="0">
                <a:solidFill>
                  <a:schemeClr val="tx1"/>
                </a:solidFill>
              </a:rPr>
              <a:t>with a purchase price of $10 per share, the total cost basis would be = 100 shares x </a:t>
            </a:r>
            <a:r>
              <a:rPr lang="en-US" sz="1400" b="1" i="0" u="none" strike="noStrike" baseline="0" dirty="0">
                <a:solidFill>
                  <a:schemeClr val="tx1"/>
                </a:solidFill>
              </a:rPr>
              <a:t>$10 </a:t>
            </a:r>
            <a:r>
              <a:rPr lang="en-US" sz="1400" b="0" i="0" u="none" strike="noStrike" baseline="0" dirty="0">
                <a:solidFill>
                  <a:schemeClr val="tx1"/>
                </a:solidFill>
              </a:rPr>
              <a:t>= $1,000.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4816D-3779-95F1-9E58-E3106ED7F6AF}"/>
              </a:ext>
            </a:extLst>
          </p:cNvPr>
          <p:cNvSpPr/>
          <p:nvPr/>
        </p:nvSpPr>
        <p:spPr>
          <a:xfrm>
            <a:off x="4469639" y="4010995"/>
            <a:ext cx="3600400" cy="2105025"/>
          </a:xfrm>
          <a:prstGeom prst="rect">
            <a:avLst/>
          </a:prstGeom>
          <a:ln>
            <a:solidFill>
              <a:srgbClr val="3F06B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b="1" i="0" u="sng" strike="noStrike" baseline="0" dirty="0">
                <a:solidFill>
                  <a:schemeClr val="tx1"/>
                </a:solidFill>
              </a:rPr>
              <a:t>After a 5% stock dividend, </a:t>
            </a:r>
          </a:p>
          <a:p>
            <a:pPr algn="just"/>
            <a:endParaRPr lang="en-US" sz="1400" b="1" i="0" u="sng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sz="1400" b="0" i="0" u="none" strike="noStrike" baseline="0" dirty="0">
                <a:solidFill>
                  <a:schemeClr val="tx1"/>
                </a:solidFill>
              </a:rPr>
              <a:t>The shareholder would </a:t>
            </a:r>
            <a:r>
              <a:rPr lang="en-US" sz="1400" b="1" i="0" u="none" strike="noStrike" baseline="0" dirty="0">
                <a:solidFill>
                  <a:schemeClr val="tx1"/>
                </a:solidFill>
              </a:rPr>
              <a:t>own 105 </a:t>
            </a:r>
            <a:r>
              <a:rPr lang="en-US" sz="1400" b="0" i="0" u="none" strike="noStrike" baseline="0" dirty="0">
                <a:solidFill>
                  <a:schemeClr val="tx1"/>
                </a:solidFill>
              </a:rPr>
              <a:t>shares of stock at a total cost of $1,000. </a:t>
            </a:r>
          </a:p>
          <a:p>
            <a:pPr algn="just"/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= $1000/105 shares </a:t>
            </a:r>
            <a:r>
              <a:rPr lang="en-US" sz="1400" b="1" dirty="0">
                <a:solidFill>
                  <a:schemeClr val="tx1"/>
                </a:solidFill>
              </a:rPr>
              <a:t>= $9.5238 per share</a:t>
            </a:r>
            <a:endParaRPr lang="en-US" sz="1400" b="1" i="0" u="none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7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62B5-65A5-7ED9-30B7-A46C0513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10D4-8DA5-DE6D-37B3-A6F29FC5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Other Dividends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2BF49-4D18-C597-5330-1A8AD2F24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159841"/>
            <a:ext cx="8877300" cy="4538318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2000" b="1" dirty="0">
                <a:solidFill>
                  <a:srgbClr val="1C9DAC"/>
                </a:solidFill>
              </a:rPr>
              <a:t>SHARE REPURCHASES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The purchase, by a corporation, of its own shares of equity; also known as a buyback.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/>
              <a:t>Methods of Repurchase:</a:t>
            </a:r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Open Market Purchases – company buys shares like any other investor.</a:t>
            </a:r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Tender Offer – company offers to buy back a fixed number of shares at a set price (often above market price).</a:t>
            </a:r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Targeted Repurchase – company buys shares directly from specific shareholders.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F22D-910E-74CA-DCA3-DB112117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6" name="Picture 2" descr="What are Share Buybacks?">
            <a:extLst>
              <a:ext uri="{FF2B5EF4-FFF2-40B4-BE49-F238E27FC236}">
                <a16:creationId xmlns:a16="http://schemas.microsoft.com/office/drawing/2014/main" id="{5A942D37-C2CD-BA19-6840-48BDB05B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5320898"/>
            <a:ext cx="5019675" cy="131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66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0D1A-4F9B-331F-3A29-AAFE638F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F36F-9AAE-9FC6-2DB8-B74BA71E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Example For Share Repurchase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6D59-E2E7-B071-0B10-21CB2C0C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159841"/>
            <a:ext cx="8877300" cy="2107234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BP PLC facts: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Equity value = £1,000,000 (100,000 shares, £10 each)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Extra cash available = £300,000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Earnings = £49,000 → EPS = £0.49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E86B7-D25A-2036-BD3C-5EFBC156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9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5F81F6-33AC-5D12-9DA9-8AF907F8A69C}"/>
              </a:ext>
            </a:extLst>
          </p:cNvPr>
          <p:cNvSpPr txBox="1">
            <a:spLocks/>
          </p:cNvSpPr>
          <p:nvPr/>
        </p:nvSpPr>
        <p:spPr>
          <a:xfrm>
            <a:off x="161925" y="3455909"/>
            <a:ext cx="4514850" cy="2438400"/>
          </a:xfrm>
          <a:noFill/>
          <a:ln>
            <a:noFill/>
          </a:ln>
        </p:spPr>
        <p:txBody>
          <a:bodyPr>
            <a:noAutofit/>
          </a:bodyPr>
          <a:lstStyle>
            <a:lvl1pPr marL="454025" indent="-4540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400" b="1" dirty="0"/>
              <a:t>Option 1: Pay Dividend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Pays £3 per share dividend (£300,000 ÷ 100,000)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Share price falls to £7 (ex-dividend)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Shareholder with 100 shares: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Value = 100 × £7 = £700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Cash dividend = 100 × £3 = £300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Total wealth = </a:t>
            </a:r>
            <a:r>
              <a:rPr lang="en-GB" sz="1200" b="1" dirty="0">
                <a:solidFill>
                  <a:srgbClr val="FF0000"/>
                </a:solidFill>
              </a:rPr>
              <a:t>£1,000 </a:t>
            </a:r>
            <a:r>
              <a:rPr lang="en-GB" sz="1200" dirty="0"/>
              <a:t>(same as before).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FA475F-AF68-97BD-869B-E8359B404AF6}"/>
              </a:ext>
            </a:extLst>
          </p:cNvPr>
          <p:cNvSpPr txBox="1">
            <a:spLocks/>
          </p:cNvSpPr>
          <p:nvPr/>
        </p:nvSpPr>
        <p:spPr>
          <a:xfrm>
            <a:off x="4572000" y="3455910"/>
            <a:ext cx="4514850" cy="2438399"/>
          </a:xfrm>
          <a:noFill/>
          <a:ln>
            <a:noFill/>
          </a:ln>
        </p:spPr>
        <p:txBody>
          <a:bodyPr>
            <a:noAutofit/>
          </a:bodyPr>
          <a:lstStyle>
            <a:lvl1pPr marL="454025" indent="-4540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400" b="1" dirty="0"/>
              <a:t>Option 2: Repurchase Shares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Buys back 30,000 shares at £10 each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Shares left = 70,000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New EPS = £49,000 ÷ 70,000 = £0.70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Price per share stays £10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Font typeface="Arial" charset="0"/>
              <a:buNone/>
              <a:tabLst>
                <a:tab pos="670322" algn="l"/>
              </a:tabLst>
            </a:pPr>
            <a:r>
              <a:rPr lang="en-GB" sz="1200" dirty="0"/>
              <a:t>Shareholder with 100 shares still has </a:t>
            </a:r>
            <a:r>
              <a:rPr lang="en-GB" sz="1200" b="1" dirty="0">
                <a:solidFill>
                  <a:srgbClr val="FF0000"/>
                </a:solidFill>
              </a:rPr>
              <a:t>£1,000</a:t>
            </a:r>
            <a:r>
              <a:rPr lang="en-GB" sz="1200" dirty="0"/>
              <a:t>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A182F-D692-C249-7FFB-7D13E02779EE}"/>
              </a:ext>
            </a:extLst>
          </p:cNvPr>
          <p:cNvSpPr/>
          <p:nvPr/>
        </p:nvSpPr>
        <p:spPr>
          <a:xfrm>
            <a:off x="954848" y="6219825"/>
            <a:ext cx="7234304" cy="314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a “perfect market” (no taxes, no costs), dividends and repurchases give the same wealth outcome.</a:t>
            </a:r>
          </a:p>
        </p:txBody>
      </p:sp>
    </p:spTree>
    <p:extLst>
      <p:ext uri="{BB962C8B-B14F-4D97-AF65-F5344CB8AC3E}">
        <p14:creationId xmlns:p14="http://schemas.microsoft.com/office/powerpoint/2010/main" val="13114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7CC9-3241-F640-F21C-D41D617A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8BD2-22CA-93AD-A23E-5A4B9998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Example For </a:t>
            </a:r>
            <a:r>
              <a:rPr lang="en-GB">
                <a:solidFill>
                  <a:srgbClr val="1A9DAC"/>
                </a:solidFill>
              </a:rPr>
              <a:t>Share Repurchase</a:t>
            </a:r>
            <a:endParaRPr lang="en-GB" dirty="0">
              <a:solidFill>
                <a:srgbClr val="1A9DA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8E6B8-BF60-F6FA-A85F-1295F4FE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159840"/>
            <a:ext cx="8877300" cy="4956181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>
                <a:solidFill>
                  <a:srgbClr val="1A9DAC"/>
                </a:solidFill>
              </a:rPr>
              <a:t>Real-World Considerations: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b="1" dirty="0"/>
              <a:t>Tax Advantage: </a:t>
            </a:r>
            <a:r>
              <a:rPr lang="en-GB" sz="1800" dirty="0"/>
              <a:t>Dividends taxed immediately; repurchases taxed only if shares sold (often lower capital gains tax).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b="1" dirty="0"/>
              <a:t>Signalling &amp; Perceptions: </a:t>
            </a:r>
            <a:r>
              <a:rPr lang="en-GB" sz="1800" dirty="0"/>
              <a:t>Buybacks may signal confidence in undervalued shares.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>
                <a:solidFill>
                  <a:srgbClr val="1A9DAC"/>
                </a:solidFill>
              </a:rPr>
              <a:t>Trends: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Buybacks surged in EU (now &gt; half of dividend value).</a:t>
            </a:r>
          </a:p>
          <a:p>
            <a:pPr>
              <a:lnSpc>
                <a:spcPct val="1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Declined during crises (e.g., Covid-19), but used by firms like Berkshire Hathaway when share prices were cheap.             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                                                                                                                               </a:t>
            </a:r>
            <a:r>
              <a:rPr lang="en-GB" sz="1400" dirty="0"/>
              <a:t> </a:t>
            </a:r>
            <a:r>
              <a:rPr lang="en-GB" sz="1100" dirty="0"/>
              <a:t>(Source: Hillier, 2021, pp: 465)</a:t>
            </a: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6C6B4-4033-8348-70EB-264C0853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436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7357-47F7-25CC-D5A7-29184334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122A-C002-7C28-A47A-AC6C8080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Does Dividend Policy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F7B3-2E51-AC50-6505-5B0030FE5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229530"/>
            <a:ext cx="8629650" cy="3218646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Dividend policy = timing and proportion of earnings paid out as dividends.</a:t>
            </a:r>
          </a:p>
          <a:p>
            <a:pPr marL="0" indent="0" algn="just">
              <a:lnSpc>
                <a:spcPct val="20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>
                <a:solidFill>
                  <a:srgbClr val="1C9DAC"/>
                </a:solidFill>
              </a:rPr>
              <a:t>Key Questions:</a:t>
            </a:r>
            <a:endParaRPr lang="en-GB" sz="1800" dirty="0"/>
          </a:p>
          <a:p>
            <a:pPr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Pay out </a:t>
            </a:r>
            <a:r>
              <a:rPr lang="en-GB" sz="1800" b="1" u="sng" dirty="0">
                <a:solidFill>
                  <a:schemeClr val="accent2"/>
                </a:solidFill>
              </a:rPr>
              <a:t>now</a:t>
            </a:r>
            <a:r>
              <a:rPr lang="en-GB" sz="1800" dirty="0"/>
              <a:t> or </a:t>
            </a:r>
            <a:r>
              <a:rPr lang="en-GB" sz="1800" b="1" u="sng" dirty="0">
                <a:solidFill>
                  <a:schemeClr val="accent2"/>
                </a:solidFill>
              </a:rPr>
              <a:t>invest and pay later</a:t>
            </a:r>
            <a:r>
              <a:rPr lang="en-GB" sz="1800" dirty="0"/>
              <a:t>?</a:t>
            </a:r>
          </a:p>
          <a:p>
            <a:pPr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Changing dividend patterns </a:t>
            </a:r>
            <a:r>
              <a:rPr lang="en-GB" sz="1800" b="1" u="sng" dirty="0">
                <a:solidFill>
                  <a:schemeClr val="accent2"/>
                </a:solidFill>
              </a:rPr>
              <a:t>does or does not</a:t>
            </a:r>
            <a:r>
              <a:rPr lang="en-GB" sz="1800" dirty="0"/>
              <a:t> change firm value?</a:t>
            </a:r>
          </a:p>
          <a:p>
            <a:pPr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Dividend policy can signal financial health or stability?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F9E9-A71E-B6A4-EB03-11B093A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11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074" name="Picture 2" descr="Corporate Valuation Will Never Be the ...">
            <a:extLst>
              <a:ext uri="{FF2B5EF4-FFF2-40B4-BE49-F238E27FC236}">
                <a16:creationId xmlns:a16="http://schemas.microsoft.com/office/drawing/2014/main" id="{BFBB731B-CC40-FFFD-12A8-928943F1D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4585163"/>
            <a:ext cx="2733675" cy="15308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3961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73CC9-AD44-2016-4368-99C0687B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D1D5-79ED-1DB2-0603-619C519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 Theories on Dividend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4516-1219-8EF0-F29A-B9D64B99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229530"/>
            <a:ext cx="8629650" cy="3218646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>
              <a:lnSpc>
                <a:spcPct val="2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The dividend valuation model</a:t>
            </a:r>
          </a:p>
          <a:p>
            <a:pPr>
              <a:lnSpc>
                <a:spcPct val="2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The Gordon growth model</a:t>
            </a:r>
          </a:p>
          <a:p>
            <a:pPr>
              <a:lnSpc>
                <a:spcPct val="250000"/>
              </a:lnSpc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Modigliani and Miller’s dividend irrelevancy theory.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D20C-C571-8E23-08EE-4281F5A3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46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8697-4DAC-4CD1-F01F-971C947B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EC97-2AD8-A49B-54DD-E9F7F8A9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 Theories on Dividend Payments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B5706-AC65-9FF6-9A59-AF3BDA0B5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525" y="1229529"/>
                <a:ext cx="8629650" cy="4799795"/>
              </a:xfr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b="1" dirty="0">
                    <a:solidFill>
                      <a:srgbClr val="1A9DAC"/>
                    </a:solidFill>
                  </a:rPr>
                  <a:t>Dividend Valuation Model (DVM): </a:t>
                </a:r>
                <a:r>
                  <a:rPr lang="en-GB" sz="1800" dirty="0"/>
                  <a:t>A share is worth the present value of all its future dividends.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If dividends are expected to grow steadily 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(constant rate (g) forever)</a:t>
                </a:r>
                <a:r>
                  <a:rPr lang="en-GB" sz="1800" dirty="0"/>
                  <a:t>, we can use the formula to estimate share price.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200" dirty="0"/>
                  <a:t>Where: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200" dirty="0"/>
                  <a:t> = ex-div share price at time 0 (</a:t>
                </a:r>
                <a:r>
                  <a:rPr lang="en-GB" sz="1200" dirty="0" err="1"/>
                  <a:t>ie</a:t>
                </a:r>
                <a:r>
                  <a:rPr lang="en-GB" sz="1200" dirty="0"/>
                  <a:t> the current ex div share price)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200" dirty="0"/>
                  <a:t> = time 0 dividend (</a:t>
                </a:r>
                <a:r>
                  <a:rPr lang="en-GB" sz="1200" dirty="0" err="1"/>
                  <a:t>ie</a:t>
                </a:r>
                <a:r>
                  <a:rPr lang="en-GB" sz="1200" dirty="0"/>
                  <a:t> the dividend that has either just been paid or which is about to be paid)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200" dirty="0"/>
                  <a:t>re = the rate of return of equity (</a:t>
                </a:r>
                <a:r>
                  <a:rPr lang="en-GB" sz="1200" dirty="0" err="1"/>
                  <a:t>ie</a:t>
                </a:r>
                <a:r>
                  <a:rPr lang="en-GB" sz="1200" dirty="0"/>
                  <a:t> the cost of equity)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200" dirty="0"/>
                  <a:t>g = the future annual dividend growth rate.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2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200" dirty="0"/>
                  <a:t>Or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400" dirty="0"/>
                  <a:t>Where: D1 is the Time 1 dividend.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B5706-AC65-9FF6-9A59-AF3BDA0B5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525" y="1229529"/>
                <a:ext cx="8629650" cy="4799795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B69BC-B702-C45E-FDDA-5BBEA322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13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CFAA5-9B7C-B782-4993-A66839E2E35A}"/>
              </a:ext>
            </a:extLst>
          </p:cNvPr>
          <p:cNvSpPr/>
          <p:nvPr/>
        </p:nvSpPr>
        <p:spPr>
          <a:xfrm>
            <a:off x="1404937" y="6263393"/>
            <a:ext cx="6334125" cy="4053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Higher expected dividends or growth → higher share price.</a:t>
            </a:r>
          </a:p>
        </p:txBody>
      </p:sp>
    </p:spTree>
    <p:extLst>
      <p:ext uri="{BB962C8B-B14F-4D97-AF65-F5344CB8AC3E}">
        <p14:creationId xmlns:p14="http://schemas.microsoft.com/office/powerpoint/2010/main" val="209349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6434-D1DE-8CA9-2A4B-D6232301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5CD0-7AFB-4B35-D2DC-92B01089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Example of DVM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64B9-14F6-B07D-1121-71CFC9B8C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229529"/>
            <a:ext cx="8629650" cy="4799795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2000" dirty="0"/>
              <a:t>Ford Motors is expected to grow at a constant rate of 6% a year into the indefinite future.  It recently paid a dividends of $2.25 a share.  The rate of return on stocks similar to Ford is about 11%.  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20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2000" dirty="0"/>
              <a:t>What should a share of Ford Motors sell for today?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7D9F0-E952-2866-EC3E-ABFCDA83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C775C160-4AF0-4C59-0637-58CA0B780A7B}"/>
                  </a:ext>
                </a:extLst>
              </p:cNvPr>
              <p:cNvSpPr txBox="1"/>
              <p:nvPr/>
            </p:nvSpPr>
            <p:spPr bwMode="auto">
              <a:xfrm>
                <a:off x="2447925" y="3314700"/>
                <a:ext cx="3850515" cy="309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den>
                      </m:f>
                    </m:oMath>
                  </m:oMathPara>
                </a14:m>
                <a:endParaRPr lang="en-GB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$2.25 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1.06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.11 −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.06</m:t>
                          </m:r>
                        </m:den>
                      </m:f>
                    </m:oMath>
                  </m:oMathPara>
                </a14:m>
                <a:endParaRPr lang="en-GB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$47.70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C775C160-4AF0-4C59-0637-58CA0B780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7925" y="3314700"/>
                <a:ext cx="3850515" cy="309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763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7C8E-042C-9D08-C6D3-60206B9F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B99D-4760-D914-6552-5527E00D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 Theories on Dividend Payments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D9A505-EB49-090E-5550-FE3A96BCA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525" y="1229530"/>
                <a:ext cx="8629650" cy="4342596"/>
              </a:xfr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b="1" dirty="0">
                    <a:solidFill>
                      <a:srgbClr val="1A9DAC"/>
                    </a:solidFill>
                  </a:rPr>
                  <a:t>Gordon Growth Model (GGM): </a:t>
                </a:r>
                <a:r>
                  <a:rPr lang="en-GB" sz="1800" dirty="0"/>
                  <a:t>Dividend growth comes from 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retained earnings reinvested</a:t>
                </a:r>
                <a:r>
                  <a:rPr lang="en-GB" sz="1800" dirty="0"/>
                  <a:t> into the business.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The more a company reinvests (retention), the faster it can grow future dividends.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If dividends are expected to grow steadily 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(constant rate (g) forever)</a:t>
                </a:r>
                <a:r>
                  <a:rPr lang="en-GB" sz="1800" dirty="0"/>
                  <a:t>, we can use the formula to estimate share price.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Where: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𝑏 = Retention ratio (earnings kept, not paid as dividend)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r>
                  <a:rPr lang="en-GB" sz="1800" dirty="0"/>
                  <a:t>𝑅 = Return earned on new investments</a:t>
                </a:r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D9A505-EB49-090E-5550-FE3A96BCA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525" y="1229530"/>
                <a:ext cx="8629650" cy="4342596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E9B99-BEC4-7680-3F75-723F2F32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15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74D1-6DF8-085D-70A4-2795E5344333}"/>
              </a:ext>
            </a:extLst>
          </p:cNvPr>
          <p:cNvSpPr/>
          <p:nvPr/>
        </p:nvSpPr>
        <p:spPr>
          <a:xfrm>
            <a:off x="1428750" y="6010275"/>
            <a:ext cx="6334125" cy="4053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Higher retention → higher growth in dividends later.</a:t>
            </a:r>
          </a:p>
        </p:txBody>
      </p:sp>
    </p:spTree>
    <p:extLst>
      <p:ext uri="{BB962C8B-B14F-4D97-AF65-F5344CB8AC3E}">
        <p14:creationId xmlns:p14="http://schemas.microsoft.com/office/powerpoint/2010/main" val="316524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D0B0-BBDE-2939-02A9-D8AD8ACF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A88A-7004-9B35-68A7-9300A5D7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 Theories on Dividend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94FF-73BD-4B7B-E9C2-59CDF0B7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391153"/>
            <a:ext cx="8629650" cy="2199470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it-IT" sz="1800" b="1" dirty="0">
                <a:solidFill>
                  <a:srgbClr val="1A9DAC"/>
                </a:solidFill>
              </a:rPr>
              <a:t>Modigliani &amp; Miller (M&amp;M) Dividend Irrelevance: </a:t>
            </a:r>
            <a:r>
              <a:rPr lang="en-GB" sz="1800" dirty="0"/>
              <a:t>This theory states that dividend patterns have </a:t>
            </a:r>
            <a:r>
              <a:rPr lang="en-GB" sz="1800" b="1" dirty="0">
                <a:solidFill>
                  <a:srgbClr val="FF0000"/>
                </a:solidFill>
              </a:rPr>
              <a:t>no effect</a:t>
            </a:r>
            <a:r>
              <a:rPr lang="en-GB" sz="1800" dirty="0"/>
              <a:t> on share values.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Company value depends on its </a:t>
            </a:r>
            <a:r>
              <a:rPr lang="en-GB" sz="1800" b="1" dirty="0">
                <a:solidFill>
                  <a:srgbClr val="FF0000"/>
                </a:solidFill>
              </a:rPr>
              <a:t>investment decisions</a:t>
            </a:r>
            <a:r>
              <a:rPr lang="en-GB" sz="1800" dirty="0"/>
              <a:t>, not how earnings are split between dividends and retained profits.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800" dirty="0"/>
              <a:t>Cutting dividends today doesn’t destroy value if retained earnings are reinvested well.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524E-5AF5-AA2F-B8C4-15D6CAF9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16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708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7286-8858-3CF9-C603-2C0F1280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2CF1-49B7-0607-23F9-4FF73E0A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Practical Considerations in Dividend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6AF5-8B6F-A5C3-BE27-24E369FB0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391153"/>
            <a:ext cx="8629650" cy="3761872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/>
              <a:t>Investor-related factors: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Signalling – Dividend changes send messages (growth vs. trouble).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Trust issues – Shareholders may doubt directors’ optimism.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“Bird in the Hand” preference – Many prefer cash now over uncertain future income.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Clientele effect – Different investors prefer different dividend patterns (e.g., pension funds want stable income).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DA391-EA71-D190-A8B1-6B6F51CA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17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9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4C48-218D-779C-8DAC-AC72ED28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5FE3-932A-C3F1-8F52-A6673798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Case study: Dividend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86F3-28F2-0ACD-0CDC-7787C8CC0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391153"/>
            <a:ext cx="8629650" cy="405323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/>
              <a:t>Dividend policy change: the share price jumped from 11.50 to 15.x (BY 30% APPROX.)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8C6F8-466B-B0A7-12AA-5CC97992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18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6A384F-A473-A77E-B138-D71C09FC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31" b="4324"/>
          <a:stretch>
            <a:fillRect/>
          </a:stretch>
        </p:blipFill>
        <p:spPr>
          <a:xfrm>
            <a:off x="647701" y="1893413"/>
            <a:ext cx="7515224" cy="40501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89EE442-72E3-575D-6507-86F2DEE4F35F}"/>
              </a:ext>
            </a:extLst>
          </p:cNvPr>
          <p:cNvSpPr txBox="1">
            <a:spLocks/>
          </p:cNvSpPr>
          <p:nvPr/>
        </p:nvSpPr>
        <p:spPr>
          <a:xfrm>
            <a:off x="3771506" y="5264185"/>
            <a:ext cx="5040560" cy="405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ts val="2110"/>
              </a:lnSpc>
              <a:spcBef>
                <a:spcPts val="1025"/>
              </a:spcBef>
            </a:pPr>
            <a:r>
              <a:rPr lang="en-US" sz="1600" cap="none" dirty="0">
                <a:solidFill>
                  <a:schemeClr val="tx1"/>
                </a:solidFill>
                <a:latin typeface="+mn-lt"/>
                <a:ea typeface="Times New Roman" panose="02020603050405020304" pitchFamily="18" charset="0"/>
              </a:rPr>
              <a:t>Information Asymmetry &amp; The Information Shock</a:t>
            </a:r>
            <a:endParaRPr lang="en-GB" sz="1600" cap="none" dirty="0">
              <a:solidFill>
                <a:schemeClr val="tx1"/>
              </a:solidFill>
              <a:latin typeface="+mn-lt"/>
              <a:ea typeface="PMingLiU" panose="02020500000000000000" pitchFamily="18" charset="-120"/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72672B30-6B35-4198-0AE4-EC84CCD75F4E}"/>
              </a:ext>
            </a:extLst>
          </p:cNvPr>
          <p:cNvSpPr/>
          <p:nvPr/>
        </p:nvSpPr>
        <p:spPr>
          <a:xfrm>
            <a:off x="6154594" y="4724939"/>
            <a:ext cx="217233" cy="438290"/>
          </a:xfrm>
          <a:prstGeom prst="upArrow">
            <a:avLst/>
          </a:prstGeom>
          <a:ln>
            <a:solidFill>
              <a:srgbClr val="1A9D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72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1376-8FD0-69B4-0E95-7B1E4E9D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D918-9D5C-D4F2-0A7C-794264A1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Practical Considerations in Dividend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FB98-0A0D-5F46-A4AB-358F450F4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391153"/>
            <a:ext cx="8629650" cy="3761872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/>
              <a:t>Company-related constraints: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Liquidity – Firms may cut dividends to preserve cash. 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Borrowing covenants – Lenders may restrict dividend payments. 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Legal rules – No distributable reserves = no dividends. 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70322" algn="l"/>
              </a:tabLst>
            </a:pPr>
            <a:r>
              <a:rPr lang="en-GB" sz="1800" dirty="0"/>
              <a:t>Scrip dividends – Shareholders may choose shares instead of cash (Sometimes tax-efficient or avoid transaction costs).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DCAA-675D-D017-DA55-E0E6FAD9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19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81005-B27A-ECFE-7E29-7BB2F6C63DDA}"/>
              </a:ext>
            </a:extLst>
          </p:cNvPr>
          <p:cNvSpPr/>
          <p:nvPr/>
        </p:nvSpPr>
        <p:spPr>
          <a:xfrm>
            <a:off x="495300" y="5386287"/>
            <a:ext cx="7953375" cy="4053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Dividend policy is shaped by both investor expectations and company constraints</a:t>
            </a:r>
          </a:p>
        </p:txBody>
      </p:sp>
    </p:spTree>
    <p:extLst>
      <p:ext uri="{BB962C8B-B14F-4D97-AF65-F5344CB8AC3E}">
        <p14:creationId xmlns:p14="http://schemas.microsoft.com/office/powerpoint/2010/main" val="2992506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CA54-CBD5-1F84-687D-D1E1A3F7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B569-D360-F681-268F-4D7D69B6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38263"/>
            <a:ext cx="7886700" cy="93811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</a:rPr>
              <a:t>Dividend Payment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9621C-22A4-BD97-6C4B-55684BBDD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391153"/>
            <a:ext cx="8629650" cy="3761872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ADD53-31D8-DF97-F9CD-79DFA1EE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33" y="637744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D57CA4-1C85-A831-8D80-84442C98D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243486"/>
              </p:ext>
            </p:extLst>
          </p:nvPr>
        </p:nvGraphicFramePr>
        <p:xfrm>
          <a:off x="123825" y="1372606"/>
          <a:ext cx="8896350" cy="47769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21159808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3394438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3402077063"/>
                    </a:ext>
                  </a:extLst>
                </a:gridCol>
              </a:tblGrid>
              <a:tr h="332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Policy</a:t>
                      </a:r>
                      <a:endParaRPr lang="en-GB" sz="1400" dirty="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Advantages</a:t>
                      </a:r>
                      <a:endParaRPr lang="en-GB" sz="1400" dirty="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Disadvantages / Risks</a:t>
                      </a:r>
                      <a:endParaRPr lang="en-GB" sz="140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15355"/>
                  </a:ext>
                </a:extLst>
              </a:tr>
              <a:tr h="742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Constant Dividends</a:t>
                      </a:r>
                      <a:endParaRPr lang="en-GB" sz="1400" dirty="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Predictable &amp; stable; easy for shareholders to plan income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May frustrate shareholders if earnings rise but dividends stay low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554304"/>
                  </a:ext>
                </a:extLst>
              </a:tr>
              <a:tr h="627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Constant Growth</a:t>
                      </a:r>
                      <a:endParaRPr lang="en-GB" sz="140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Steady growth attractive to investors; easier forecasting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Dividend growth may not match earnings growth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332142"/>
                  </a:ext>
                </a:extLst>
              </a:tr>
              <a:tr h="1083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Constant Payout Ratio</a:t>
                      </a:r>
                      <a:endParaRPr lang="en-GB" sz="140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Transparent link between earnings and dividends; logical approach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Dividend cuts can be misinterpreted as bad news; maintaining dividend in low-earnings periods can signal confidence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50655"/>
                  </a:ext>
                </a:extLst>
              </a:tr>
              <a:tr h="922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Residual Dividends</a:t>
                      </a:r>
                      <a:endParaRPr lang="en-GB" sz="140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Focuses on investment opportunities first; maximizes shareholder value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Dividends unpredictable; shareholders may receive little or nothing in low-profit years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06565"/>
                  </a:ext>
                </a:extLst>
              </a:tr>
              <a:tr h="106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No Dividend</a:t>
                      </a:r>
                      <a:endParaRPr lang="en-GB" sz="1400"/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All earnings reinvested → supports growth &amp; capital gains; historically successful for high-growth firms</a:t>
                      </a:r>
                    </a:p>
                    <a:p>
                      <a:pPr>
                        <a:buNone/>
                      </a:pPr>
                      <a:r>
                        <a:rPr lang="en-GB" sz="1400" dirty="0"/>
                        <a:t>(e.g., Microsoft, Apple)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Cannot rely on dividends for income; valuation models like DVM harder to apply</a:t>
                      </a:r>
                    </a:p>
                  </a:txBody>
                  <a:tcPr marL="33472" marR="33472" marT="16736" marB="167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2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868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FD41-8523-470B-80B4-E40F6C3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34" y="415255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Key Takeaways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E29D5-A66A-E23F-6AD3-9ED1B69A4320}"/>
              </a:ext>
            </a:extLst>
          </p:cNvPr>
          <p:cNvSpPr txBox="1"/>
          <p:nvPr/>
        </p:nvSpPr>
        <p:spPr>
          <a:xfrm>
            <a:off x="320634" y="1179909"/>
            <a:ext cx="8502732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Dividends</a:t>
            </a:r>
            <a:r>
              <a:rPr lang="en-GB" sz="1600" dirty="0">
                <a:latin typeface="+mn-lt"/>
              </a:rPr>
              <a:t> are a way of distributing profits to shareholders (cash, stock, or in some cases through repurchases).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Dividend policies vary: </a:t>
            </a:r>
            <a:r>
              <a:rPr lang="en-GB" sz="1600" dirty="0">
                <a:latin typeface="+mn-lt"/>
              </a:rPr>
              <a:t>constant dividend, constant growth, constant pay-out ratio, residual dividend, or no dividend.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Dividend models </a:t>
            </a:r>
            <a:r>
              <a:rPr lang="en-GB" sz="1600" dirty="0">
                <a:latin typeface="+mn-lt"/>
              </a:rPr>
              <a:t>(e.g., Dividend Discount Model, Gordon Growth Model) help value shares based on expected dividend streams.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Ex-dividend date </a:t>
            </a:r>
            <a:r>
              <a:rPr lang="en-GB" sz="1600" dirty="0">
                <a:latin typeface="+mn-lt"/>
              </a:rPr>
              <a:t>determines who receives the dividend (buy before = entitled; buy after = seller keeps it).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Dividend vs Repurchase</a:t>
            </a:r>
            <a:r>
              <a:rPr lang="en-GB" sz="1600" dirty="0">
                <a:latin typeface="+mn-lt"/>
              </a:rPr>
              <a:t>: both return value to shareholders, but differ in predictability, signalling, and tax treatment.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latin typeface="+mn-lt"/>
              </a:rPr>
              <a:t>Investor perception matters </a:t>
            </a:r>
            <a:r>
              <a:rPr lang="en-GB" sz="1600" dirty="0">
                <a:latin typeface="+mn-lt"/>
              </a:rPr>
              <a:t>– changes in dividend policy often send signals about management’s view of the company’s future.</a:t>
            </a:r>
          </a:p>
        </p:txBody>
      </p:sp>
    </p:spTree>
    <p:extLst>
      <p:ext uri="{BB962C8B-B14F-4D97-AF65-F5344CB8AC3E}">
        <p14:creationId xmlns:p14="http://schemas.microsoft.com/office/powerpoint/2010/main" val="118120260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F63F-563D-6F15-6E35-527012BE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urful face in profile with colourful clouds representing the person&amp;#39;s thoughts&#10;&#10;">
            <a:extLst>
              <a:ext uri="{FF2B5EF4-FFF2-40B4-BE49-F238E27FC236}">
                <a16:creationId xmlns:a16="http://schemas.microsoft.com/office/drawing/2014/main" id="{CA16E290-4DED-2565-AD58-C48504DF5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530" y="3982981"/>
            <a:ext cx="3426470" cy="23444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33E3BD-E764-77C4-8128-EDF68B02753E}"/>
              </a:ext>
            </a:extLst>
          </p:cNvPr>
          <p:cNvSpPr/>
          <p:nvPr/>
        </p:nvSpPr>
        <p:spPr>
          <a:xfrm>
            <a:off x="6127737" y="6327409"/>
            <a:ext cx="3016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</a:rPr>
              <a:t>Image by 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Gerd</a:t>
            </a:r>
            <a:r>
              <a:rPr kumimoji="0" lang="en-GB" sz="1200" b="0" i="0" u="sng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 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Altmann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</a:rPr>
              <a:t> from 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5"/>
              </a:rPr>
              <a:t>Pixabay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Open Sans" panose="020B0606030504020204" pitchFamily="34" charset="0"/>
                <a:ea typeface="ＭＳ Ｐゴシック" charset="-128"/>
                <a:cs typeface="+mn-cs"/>
              </a:rPr>
              <a:t> 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C4A85-50BC-36B0-A56C-4FFF51CD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300955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Additional Reading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58475-5FE5-5B4A-B84B-111519663C58}"/>
              </a:ext>
            </a:extLst>
          </p:cNvPr>
          <p:cNvSpPr txBox="1"/>
          <p:nvPr/>
        </p:nvSpPr>
        <p:spPr>
          <a:xfrm>
            <a:off x="539552" y="1189139"/>
            <a:ext cx="8604448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Chapters 16 – Dividends and Payout Policy (</a:t>
            </a:r>
            <a:r>
              <a:rPr lang="en-GB" sz="2400" dirty="0"/>
              <a:t>Hillier, David. </a:t>
            </a:r>
            <a:r>
              <a:rPr lang="en-GB" sz="2400" i="1" dirty="0" err="1"/>
              <a:t>EBook</a:t>
            </a:r>
            <a:r>
              <a:rPr lang="en-GB" sz="2400" i="1" dirty="0"/>
              <a:t> Fundamentals of Corporate Finance 4e</a:t>
            </a:r>
            <a:r>
              <a:rPr lang="en-GB" sz="2400" dirty="0"/>
              <a:t>, McGraw-Hill UK Higher Ed, 2021.)</a:t>
            </a:r>
          </a:p>
          <a:p>
            <a:pPr lvl="0">
              <a:lnSpc>
                <a:spcPct val="150000"/>
              </a:lnSpc>
              <a:defRPr/>
            </a:pPr>
            <a:endParaRPr lang="en-GB" sz="2400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914418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632B-2FCE-B6ED-C419-427E610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D38A-6D63-08BB-0FBC-2882D1231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3317479"/>
            <a:ext cx="6515620" cy="994172"/>
          </a:xfrm>
        </p:spPr>
        <p:txBody>
          <a:bodyPr/>
          <a:lstStyle/>
          <a:p>
            <a:r>
              <a:rPr lang="en-GB" sz="2800" dirty="0">
                <a:latin typeface="Segoe Sans"/>
              </a:rPr>
              <a:t>Financial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66855841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EE90CF-9BC2-4DF3-0111-83CC006E8231}"/>
              </a:ext>
            </a:extLst>
          </p:cNvPr>
          <p:cNvSpPr txBox="1">
            <a:spLocks/>
          </p:cNvSpPr>
          <p:nvPr/>
        </p:nvSpPr>
        <p:spPr>
          <a:xfrm>
            <a:off x="2275453" y="1387083"/>
            <a:ext cx="4894067" cy="72894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rgbClr val="1A9DAC"/>
                </a:solidFill>
                <a:latin typeface="Calibri"/>
                <a:ea typeface="Calibri"/>
                <a:cs typeface="Calibri"/>
              </a:rPr>
              <a:t>Any Questions??</a:t>
            </a:r>
          </a:p>
        </p:txBody>
      </p:sp>
      <p:pic>
        <p:nvPicPr>
          <p:cNvPr id="5" name="Content Placeholder 4" title="University of the West of England (UWE Bristol) logo">
            <a:extLst>
              <a:ext uri="{FF2B5EF4-FFF2-40B4-BE49-F238E27FC236}">
                <a16:creationId xmlns:a16="http://schemas.microsoft.com/office/drawing/2014/main" id="{51A6B38C-5192-DC97-793D-6B9919BDE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418" y="5032"/>
            <a:ext cx="1166332" cy="58838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447B4-B2E4-02F7-BA46-84C2032B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CD6054-C516-679B-E4C5-C54BF9AC7A09}"/>
              </a:ext>
            </a:extLst>
          </p:cNvPr>
          <p:cNvSpPr txBox="1">
            <a:spLocks/>
          </p:cNvSpPr>
          <p:nvPr/>
        </p:nvSpPr>
        <p:spPr>
          <a:xfrm>
            <a:off x="395978" y="1190977"/>
            <a:ext cx="6436942" cy="2990422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40000"/>
              </a:lnSpc>
              <a:buFont typeface="Wingdings" pitchFamily="2"/>
              <a:buChar char="§"/>
            </a:pPr>
            <a:endParaRPr lang="en-GB" sz="1055" dirty="0"/>
          </a:p>
          <a:p>
            <a:pPr marL="0" indent="0">
              <a:lnSpc>
                <a:spcPct val="70000"/>
              </a:lnSpc>
              <a:buNone/>
            </a:pPr>
            <a:endParaRPr lang="en-GB" sz="1097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1E9C50-4117-0E3A-D80D-31DB1C39F299}"/>
              </a:ext>
            </a:extLst>
          </p:cNvPr>
          <p:cNvSpPr txBox="1">
            <a:spLocks/>
          </p:cNvSpPr>
          <p:nvPr/>
        </p:nvSpPr>
        <p:spPr>
          <a:xfrm>
            <a:off x="395979" y="3883230"/>
            <a:ext cx="7976126" cy="2148263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3600" dirty="0">
                <a:latin typeface="Calibri"/>
                <a:ea typeface="Calibri"/>
                <a:cs typeface="Calibri"/>
              </a:rPr>
              <a:t>If you have questions or find any topic challenging, please feel free to contact me: </a:t>
            </a:r>
            <a:r>
              <a:rPr lang="en-GB" sz="3600" dirty="0">
                <a:latin typeface="Calibri"/>
                <a:ea typeface="Calibri"/>
                <a:cs typeface="Calibri"/>
                <a:hlinkClick r:id="rId4"/>
              </a:rPr>
              <a:t>adnan.aslam@uwe.ac.uk</a:t>
            </a:r>
            <a:r>
              <a:rPr lang="en-GB" sz="3600" dirty="0">
                <a:latin typeface="Calibri"/>
                <a:ea typeface="Calibri"/>
                <a:cs typeface="Calibri"/>
              </a:rPr>
              <a:t> to book an appointment or get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183908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LILAC with UWE logo top STANDARD" id="{C765BBB4-1359-4599-AE4D-9DA0589D8CC5}" vid="{15E18D1F-D9DB-4493-ABC7-78D967C3AFBE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with UWE logo top STANDARD" id="{01FAB0D0-5DBD-47E7-9373-94BA6C7E7835}" vid="{9680083E-B1B9-432B-A860-BC4A0118E283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5a8b3d-d6d0-4e85-bc91-0f2ea67db915" xsi:nil="true"/>
    <lcf76f155ced4ddcb4097134ff3c332f xmlns="eb51dbb1-945e-48c0-ad43-4cc2d8ca5bd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8B7ECDC463274FB2E9D7BD3CDC99BF" ma:contentTypeVersion="12" ma:contentTypeDescription="Create a new document." ma:contentTypeScope="" ma:versionID="c6b06f64be166c2fbaf22037bc43ae18">
  <xsd:schema xmlns:xsd="http://www.w3.org/2001/XMLSchema" xmlns:xs="http://www.w3.org/2001/XMLSchema" xmlns:p="http://schemas.microsoft.com/office/2006/metadata/properties" xmlns:ns2="eb51dbb1-945e-48c0-ad43-4cc2d8ca5bde" xmlns:ns3="fd5a8b3d-d6d0-4e85-bc91-0f2ea67db915" targetNamespace="http://schemas.microsoft.com/office/2006/metadata/properties" ma:root="true" ma:fieldsID="452c1fcc7857535d192919212ff1ea13" ns2:_="" ns3:_="">
    <xsd:import namespace="eb51dbb1-945e-48c0-ad43-4cc2d8ca5bde"/>
    <xsd:import namespace="fd5a8b3d-d6d0-4e85-bc91-0f2ea67db9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1dbb1-945e-48c0-ad43-4cc2d8ca5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edd95a-f8c2-4715-9b78-af595b67b1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a8b3d-d6d0-4e85-bc91-0f2ea67db91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8386b3-cb8a-4fcd-85cb-5ebbe16d8627}" ma:internalName="TaxCatchAll" ma:showField="CatchAllData" ma:web="ac848bae-8b64-4916-be44-f315075b80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FF188-4596-40CB-A954-D469E5ABCE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62F14-C651-471A-899A-5CC68EE6556E}">
  <ds:schemaRefs>
    <ds:schemaRef ds:uri="http://schemas.microsoft.com/office/2006/documentManagement/types"/>
    <ds:schemaRef ds:uri="32b32091-d877-46a4-9e5c-3ef7834bfdeb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6c776ca-7706-4741-bd5a-b870b4cf70c1"/>
    <ds:schemaRef ds:uri="http://www.w3.org/XML/1998/namespace"/>
    <ds:schemaRef ds:uri="http://purl.org/dc/elements/1.1/"/>
    <ds:schemaRef ds:uri="fd5a8b3d-d6d0-4e85-bc91-0f2ea67db915"/>
    <ds:schemaRef ds:uri="eb51dbb1-945e-48c0-ad43-4cc2d8ca5bde"/>
  </ds:schemaRefs>
</ds:datastoreItem>
</file>

<file path=customXml/itemProps3.xml><?xml version="1.0" encoding="utf-8"?>
<ds:datastoreItem xmlns:ds="http://schemas.openxmlformats.org/officeDocument/2006/customXml" ds:itemID="{AB6BB595-6EDF-4B5F-80E2-6ECC47DD08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1dbb1-945e-48c0-ad43-4cc2d8ca5bde"/>
    <ds:schemaRef ds:uri="fd5a8b3d-d6d0-4e85-bc91-0f2ea67db9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1668</TotalTime>
  <Words>1760</Words>
  <Application>Microsoft Office PowerPoint</Application>
  <PresentationFormat>On-screen Show (4:3)</PresentationFormat>
  <Paragraphs>266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ＭＳ Ｐゴシック</vt:lpstr>
      <vt:lpstr>Arial</vt:lpstr>
      <vt:lpstr>Calibri</vt:lpstr>
      <vt:lpstr>Calibri Light</vt:lpstr>
      <vt:lpstr>Cambria Math</vt:lpstr>
      <vt:lpstr>Courier New</vt:lpstr>
      <vt:lpstr>Georgia</vt:lpstr>
      <vt:lpstr>Open Sans</vt:lpstr>
      <vt:lpstr>Segoe Sans</vt:lpstr>
      <vt:lpstr>Tahoma</vt:lpstr>
      <vt:lpstr>Wingdings</vt:lpstr>
      <vt:lpstr>Custom Design</vt:lpstr>
      <vt:lpstr>1_Custom Design</vt:lpstr>
      <vt:lpstr>Office Theme</vt:lpstr>
      <vt:lpstr>Dividend Policy</vt:lpstr>
      <vt:lpstr>Recap - Capital Structure - Theory &amp; calculations</vt:lpstr>
      <vt:lpstr>Learning outcomes</vt:lpstr>
      <vt:lpstr> Uses of Free Cash Flow</vt:lpstr>
      <vt:lpstr>Dividend </vt:lpstr>
      <vt:lpstr>Chronology of a Cash Dividend Payment</vt:lpstr>
      <vt:lpstr>Other Dividends types</vt:lpstr>
      <vt:lpstr>Other Dividends types</vt:lpstr>
      <vt:lpstr>Example For Share Repurchase</vt:lpstr>
      <vt:lpstr>Example For Share Repurchase</vt:lpstr>
      <vt:lpstr>Does Dividend Policy Matter?</vt:lpstr>
      <vt:lpstr> Theories on Dividend Payments</vt:lpstr>
      <vt:lpstr> Theories on Dividend Payments</vt:lpstr>
      <vt:lpstr>Example of DVM</vt:lpstr>
      <vt:lpstr> Theories on Dividend Payments</vt:lpstr>
      <vt:lpstr> Theories on Dividend Payments</vt:lpstr>
      <vt:lpstr>Practical Considerations in Dividend Policy</vt:lpstr>
      <vt:lpstr>Case study: Dividend announcements</vt:lpstr>
      <vt:lpstr>Practical Considerations in Dividend Policy</vt:lpstr>
      <vt:lpstr>Dividend Payment Policies</vt:lpstr>
      <vt:lpstr>Key Takeaways</vt:lpstr>
      <vt:lpstr>Additional Reading</vt:lpstr>
      <vt:lpstr>Next Week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Academic Practice</dc:title>
  <dc:creator/>
  <cp:lastModifiedBy>Adnan Aslam</cp:lastModifiedBy>
  <cp:revision>209</cp:revision>
  <dcterms:created xsi:type="dcterms:W3CDTF">2022-01-12T13:34:04Z</dcterms:created>
  <dcterms:modified xsi:type="dcterms:W3CDTF">2026-02-12T17:41:50Z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0x010100148B7ECDC463274FB2E9D7BD3CDC99BF</vt:lpwstr>
  </property>
  <property fmtid="{D5CDD505-2E9C-101B-9397-08002B2CF9AE}" pid="3" name="MediaServiceImageTags">
    <vt:lpwstr/>
  </property>
</Properties>
</file>