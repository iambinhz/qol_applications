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theme/theme2.xml" ContentType="application/vnd.openxmlformats-officedocument.theme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theme/theme3.xml" ContentType="application/vnd.openxmlformats-officedocument.theme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theme/theme4.xml" ContentType="application/vnd.openxmlformats-officedocument.theme+xml"/>
  <Override PartName="/ppt/slideLayouts/slideLayout79.xml" ContentType="application/vnd.openxmlformats-officedocument.presentationml.slideLayout+xml"/>
  <Override PartName="/ppt/theme/theme5.xml" ContentType="application/vnd.openxmlformats-officedocument.theme+xml"/>
  <Override PartName="/ppt/slideLayouts/slideLayout80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9" r:id="rId4"/>
    <p:sldMasterId id="2147483979" r:id="rId5"/>
    <p:sldMasterId id="2147484015" r:id="rId6"/>
    <p:sldMasterId id="2147484027" r:id="rId7"/>
    <p:sldMasterId id="2147483648" r:id="rId8"/>
    <p:sldMasterId id="2147483660" r:id="rId9"/>
  </p:sldMasterIdLst>
  <p:notesMasterIdLst>
    <p:notesMasterId r:id="rId35"/>
  </p:notesMasterIdLst>
  <p:handoutMasterIdLst>
    <p:handoutMasterId r:id="rId36"/>
  </p:handoutMasterIdLst>
  <p:sldIdLst>
    <p:sldId id="597" r:id="rId10"/>
    <p:sldId id="259" r:id="rId11"/>
    <p:sldId id="505" r:id="rId12"/>
    <p:sldId id="572" r:id="rId13"/>
    <p:sldId id="599" r:id="rId14"/>
    <p:sldId id="598" r:id="rId15"/>
    <p:sldId id="577" r:id="rId16"/>
    <p:sldId id="589" r:id="rId17"/>
    <p:sldId id="600" r:id="rId18"/>
    <p:sldId id="590" r:id="rId19"/>
    <p:sldId id="591" r:id="rId20"/>
    <p:sldId id="579" r:id="rId21"/>
    <p:sldId id="580" r:id="rId22"/>
    <p:sldId id="581" r:id="rId23"/>
    <p:sldId id="584" r:id="rId24"/>
    <p:sldId id="585" r:id="rId25"/>
    <p:sldId id="592" r:id="rId26"/>
    <p:sldId id="455" r:id="rId27"/>
    <p:sldId id="594" r:id="rId28"/>
    <p:sldId id="595" r:id="rId29"/>
    <p:sldId id="596" r:id="rId30"/>
    <p:sldId id="593" r:id="rId31"/>
    <p:sldId id="573" r:id="rId32"/>
    <p:sldId id="603" r:id="rId33"/>
    <p:sldId id="464" r:id="rId34"/>
  </p:sldIdLst>
  <p:sldSz cx="9144000" cy="6858000" type="screen4x3"/>
  <p:notesSz cx="9144000" cy="6858000"/>
  <p:custDataLst>
    <p:tags r:id="rId37"/>
  </p:custData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1pPr>
    <a:lvl2pPr marL="455613" indent="1588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2pPr>
    <a:lvl3pPr marL="912813" indent="1588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3pPr>
    <a:lvl4pPr marL="1370013" indent="1588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4pPr>
    <a:lvl5pPr marL="1827213" indent="1588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4" orient="horz" pos="3838">
          <p15:clr>
            <a:srgbClr val="A4A3A4"/>
          </p15:clr>
        </p15:guide>
        <p15:guide id="5" pos="2880">
          <p15:clr>
            <a:srgbClr val="A4A3A4"/>
          </p15:clr>
        </p15:guide>
        <p15:guide id="7" pos="5103">
          <p15:clr>
            <a:srgbClr val="A4A3A4"/>
          </p15:clr>
        </p15:guide>
        <p15:guide id="12" pos="65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00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A9DAC"/>
    <a:srgbClr val="1C9DAC"/>
    <a:srgbClr val="7A7392"/>
    <a:srgbClr val="C64096"/>
    <a:srgbClr val="16818D"/>
    <a:srgbClr val="598752"/>
    <a:srgbClr val="6DA463"/>
    <a:srgbClr val="A65C45"/>
    <a:srgbClr val="CC7054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DC14565-AD11-40DE-9135-82ECAB0FC697}" v="92" dt="2025-12-04T17:52:43.93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3358" autoAdjust="0"/>
  </p:normalViewPr>
  <p:slideViewPr>
    <p:cSldViewPr snapToGrid="0">
      <p:cViewPr varScale="1">
        <p:scale>
          <a:sx n="54" d="100"/>
          <a:sy n="54" d="100"/>
        </p:scale>
        <p:origin x="676" y="52"/>
      </p:cViewPr>
      <p:guideLst>
        <p:guide orient="horz" pos="3838"/>
        <p:guide pos="2880"/>
        <p:guide pos="5103"/>
        <p:guide pos="657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4.xml"/><Relationship Id="rId18" Type="http://schemas.openxmlformats.org/officeDocument/2006/relationships/slide" Target="slides/slide9.xml"/><Relationship Id="rId26" Type="http://schemas.openxmlformats.org/officeDocument/2006/relationships/slide" Target="slides/slide17.xml"/><Relationship Id="rId39" Type="http://schemas.openxmlformats.org/officeDocument/2006/relationships/viewProps" Target="viewProps.xml"/><Relationship Id="rId21" Type="http://schemas.openxmlformats.org/officeDocument/2006/relationships/slide" Target="slides/slide12.xml"/><Relationship Id="rId34" Type="http://schemas.openxmlformats.org/officeDocument/2006/relationships/slide" Target="slides/slide25.xml"/><Relationship Id="rId42" Type="http://schemas.microsoft.com/office/2016/11/relationships/changesInfo" Target="changesInfos/changesInfo1.xml"/><Relationship Id="rId7" Type="http://schemas.openxmlformats.org/officeDocument/2006/relationships/slideMaster" Target="slideMasters/slideMaster4.xml"/><Relationship Id="rId2" Type="http://schemas.openxmlformats.org/officeDocument/2006/relationships/customXml" Target="../customXml/item2.xml"/><Relationship Id="rId16" Type="http://schemas.openxmlformats.org/officeDocument/2006/relationships/slide" Target="slides/slide7.xml"/><Relationship Id="rId20" Type="http://schemas.openxmlformats.org/officeDocument/2006/relationships/slide" Target="slides/slide11.xml"/><Relationship Id="rId29" Type="http://schemas.openxmlformats.org/officeDocument/2006/relationships/slide" Target="slides/slide20.xml"/><Relationship Id="rId41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2.xml"/><Relationship Id="rId24" Type="http://schemas.openxmlformats.org/officeDocument/2006/relationships/slide" Target="slides/slide15.xml"/><Relationship Id="rId32" Type="http://schemas.openxmlformats.org/officeDocument/2006/relationships/slide" Target="slides/slide23.xml"/><Relationship Id="rId37" Type="http://schemas.openxmlformats.org/officeDocument/2006/relationships/tags" Target="tags/tag1.xml"/><Relationship Id="rId40" Type="http://schemas.openxmlformats.org/officeDocument/2006/relationships/theme" Target="theme/theme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6.xml"/><Relationship Id="rId23" Type="http://schemas.openxmlformats.org/officeDocument/2006/relationships/slide" Target="slides/slide14.xml"/><Relationship Id="rId28" Type="http://schemas.openxmlformats.org/officeDocument/2006/relationships/slide" Target="slides/slide19.xml"/><Relationship Id="rId36" Type="http://schemas.openxmlformats.org/officeDocument/2006/relationships/handoutMaster" Target="handoutMasters/handoutMaster1.xml"/><Relationship Id="rId10" Type="http://schemas.openxmlformats.org/officeDocument/2006/relationships/slide" Target="slides/slide1.xml"/><Relationship Id="rId19" Type="http://schemas.openxmlformats.org/officeDocument/2006/relationships/slide" Target="slides/slide10.xml"/><Relationship Id="rId31" Type="http://schemas.openxmlformats.org/officeDocument/2006/relationships/slide" Target="slides/slide22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14" Type="http://schemas.openxmlformats.org/officeDocument/2006/relationships/slide" Target="slides/slide5.xml"/><Relationship Id="rId22" Type="http://schemas.openxmlformats.org/officeDocument/2006/relationships/slide" Target="slides/slide13.xml"/><Relationship Id="rId27" Type="http://schemas.openxmlformats.org/officeDocument/2006/relationships/slide" Target="slides/slide18.xml"/><Relationship Id="rId30" Type="http://schemas.openxmlformats.org/officeDocument/2006/relationships/slide" Target="slides/slide21.xml"/><Relationship Id="rId35" Type="http://schemas.openxmlformats.org/officeDocument/2006/relationships/notesMaster" Target="notesMasters/notesMaster1.xml"/><Relationship Id="rId43" Type="http://schemas.microsoft.com/office/2015/10/relationships/revisionInfo" Target="revisionInfo.xml"/><Relationship Id="rId8" Type="http://schemas.openxmlformats.org/officeDocument/2006/relationships/slideMaster" Target="slideMasters/slideMaster5.xml"/><Relationship Id="rId3" Type="http://schemas.openxmlformats.org/officeDocument/2006/relationships/customXml" Target="../customXml/item3.xml"/><Relationship Id="rId12" Type="http://schemas.openxmlformats.org/officeDocument/2006/relationships/slide" Target="slides/slide3.xml"/><Relationship Id="rId17" Type="http://schemas.openxmlformats.org/officeDocument/2006/relationships/slide" Target="slides/slide8.xml"/><Relationship Id="rId25" Type="http://schemas.openxmlformats.org/officeDocument/2006/relationships/slide" Target="slides/slide16.xml"/><Relationship Id="rId33" Type="http://schemas.openxmlformats.org/officeDocument/2006/relationships/slide" Target="slides/slide24.xml"/><Relationship Id="rId38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dnan Aslam" userId="cc74c580-e775-4d2a-9644-400d69739476" providerId="ADAL" clId="{7066C9FE-E3F5-424A-83F0-818FB6975CF2}"/>
    <pc:docChg chg="undo redo custSel addSld delSld modSld sldOrd">
      <pc:chgData name="Adnan Aslam" userId="cc74c580-e775-4d2a-9644-400d69739476" providerId="ADAL" clId="{7066C9FE-E3F5-424A-83F0-818FB6975CF2}" dt="2025-12-04T17:56:50.073" v="1106" actId="14100"/>
      <pc:docMkLst>
        <pc:docMk/>
      </pc:docMkLst>
      <pc:sldChg chg="modSp del mod">
        <pc:chgData name="Adnan Aslam" userId="cc74c580-e775-4d2a-9644-400d69739476" providerId="ADAL" clId="{7066C9FE-E3F5-424A-83F0-818FB6975CF2}" dt="2025-12-04T11:16:36.787" v="761" actId="47"/>
        <pc:sldMkLst>
          <pc:docMk/>
          <pc:sldMk cId="916755648" sldId="462"/>
        </pc:sldMkLst>
      </pc:sldChg>
      <pc:sldChg chg="modSp modAnim">
        <pc:chgData name="Adnan Aslam" userId="cc74c580-e775-4d2a-9644-400d69739476" providerId="ADAL" clId="{7066C9FE-E3F5-424A-83F0-818FB6975CF2}" dt="2025-12-04T11:20:15.829" v="821"/>
        <pc:sldMkLst>
          <pc:docMk/>
          <pc:sldMk cId="2004537527" sldId="505"/>
        </pc:sldMkLst>
        <pc:spChg chg="mod">
          <ac:chgData name="Adnan Aslam" userId="cc74c580-e775-4d2a-9644-400d69739476" providerId="ADAL" clId="{7066C9FE-E3F5-424A-83F0-818FB6975CF2}" dt="2025-12-04T11:20:15.829" v="821"/>
          <ac:spMkLst>
            <pc:docMk/>
            <pc:sldMk cId="2004537527" sldId="505"/>
            <ac:spMk id="8" creationId="{12DE5F22-2FE0-64F6-D410-0E061BDFA9CC}"/>
          </ac:spMkLst>
        </pc:spChg>
      </pc:sldChg>
      <pc:sldChg chg="addSp delSp modSp mod delAnim modAnim">
        <pc:chgData name="Adnan Aslam" userId="cc74c580-e775-4d2a-9644-400d69739476" providerId="ADAL" clId="{7066C9FE-E3F5-424A-83F0-818FB6975CF2}" dt="2025-12-04T16:24:00.271" v="906" actId="20577"/>
        <pc:sldMkLst>
          <pc:docMk/>
          <pc:sldMk cId="3763213944" sldId="572"/>
        </pc:sldMkLst>
        <pc:spChg chg="mod">
          <ac:chgData name="Adnan Aslam" userId="cc74c580-e775-4d2a-9644-400d69739476" providerId="ADAL" clId="{7066C9FE-E3F5-424A-83F0-818FB6975CF2}" dt="2025-12-04T16:24:00.271" v="906" actId="20577"/>
          <ac:spMkLst>
            <pc:docMk/>
            <pc:sldMk cId="3763213944" sldId="572"/>
            <ac:spMk id="2" creationId="{00000000-0000-0000-0000-000000000000}"/>
          </ac:spMkLst>
        </pc:spChg>
        <pc:spChg chg="mod">
          <ac:chgData name="Adnan Aslam" userId="cc74c580-e775-4d2a-9644-400d69739476" providerId="ADAL" clId="{7066C9FE-E3F5-424A-83F0-818FB6975CF2}" dt="2025-12-04T16:23:33.748" v="891" actId="1076"/>
          <ac:spMkLst>
            <pc:docMk/>
            <pc:sldMk cId="3763213944" sldId="572"/>
            <ac:spMk id="3" creationId="{00000000-0000-0000-0000-000000000000}"/>
          </ac:spMkLst>
        </pc:spChg>
        <pc:spChg chg="del">
          <ac:chgData name="Adnan Aslam" userId="cc74c580-e775-4d2a-9644-400d69739476" providerId="ADAL" clId="{7066C9FE-E3F5-424A-83F0-818FB6975CF2}" dt="2025-12-04T16:21:07.942" v="857" actId="478"/>
          <ac:spMkLst>
            <pc:docMk/>
            <pc:sldMk cId="3763213944" sldId="572"/>
            <ac:spMk id="5" creationId="{4FEEF27A-52C9-66DC-C5E8-87519ED57D38}"/>
          </ac:spMkLst>
        </pc:spChg>
        <pc:spChg chg="del">
          <ac:chgData name="Adnan Aslam" userId="cc74c580-e775-4d2a-9644-400d69739476" providerId="ADAL" clId="{7066C9FE-E3F5-424A-83F0-818FB6975CF2}" dt="2025-12-04T16:20:51.109" v="853" actId="478"/>
          <ac:spMkLst>
            <pc:docMk/>
            <pc:sldMk cId="3763213944" sldId="572"/>
            <ac:spMk id="6" creationId="{5D884659-FC81-713F-E34F-DCE755406985}"/>
          </ac:spMkLst>
        </pc:spChg>
        <pc:spChg chg="del">
          <ac:chgData name="Adnan Aslam" userId="cc74c580-e775-4d2a-9644-400d69739476" providerId="ADAL" clId="{7066C9FE-E3F5-424A-83F0-818FB6975CF2}" dt="2025-12-04T16:20:41.480" v="848" actId="478"/>
          <ac:spMkLst>
            <pc:docMk/>
            <pc:sldMk cId="3763213944" sldId="572"/>
            <ac:spMk id="8" creationId="{6D99E049-46F8-3760-826C-13C60393F536}"/>
          </ac:spMkLst>
        </pc:spChg>
        <pc:spChg chg="del">
          <ac:chgData name="Adnan Aslam" userId="cc74c580-e775-4d2a-9644-400d69739476" providerId="ADAL" clId="{7066C9FE-E3F5-424A-83F0-818FB6975CF2}" dt="2025-12-04T16:20:49.130" v="852" actId="478"/>
          <ac:spMkLst>
            <pc:docMk/>
            <pc:sldMk cId="3763213944" sldId="572"/>
            <ac:spMk id="9" creationId="{7E0B7B24-265D-E2E2-6ED5-CE924C39F9B9}"/>
          </ac:spMkLst>
        </pc:spChg>
        <pc:spChg chg="del">
          <ac:chgData name="Adnan Aslam" userId="cc74c580-e775-4d2a-9644-400d69739476" providerId="ADAL" clId="{7066C9FE-E3F5-424A-83F0-818FB6975CF2}" dt="2025-12-04T16:20:42.952" v="849" actId="478"/>
          <ac:spMkLst>
            <pc:docMk/>
            <pc:sldMk cId="3763213944" sldId="572"/>
            <ac:spMk id="10" creationId="{D522F91E-F69B-4698-8C1C-4F4BA49EDAA8}"/>
          </ac:spMkLst>
        </pc:spChg>
        <pc:spChg chg="del">
          <ac:chgData name="Adnan Aslam" userId="cc74c580-e775-4d2a-9644-400d69739476" providerId="ADAL" clId="{7066C9FE-E3F5-424A-83F0-818FB6975CF2}" dt="2025-12-04T16:20:47.760" v="851" actId="478"/>
          <ac:spMkLst>
            <pc:docMk/>
            <pc:sldMk cId="3763213944" sldId="572"/>
            <ac:spMk id="12" creationId="{897D48EC-C225-3317-B2C4-3F6D69CADEC1}"/>
          </ac:spMkLst>
        </pc:spChg>
        <pc:spChg chg="del">
          <ac:chgData name="Adnan Aslam" userId="cc74c580-e775-4d2a-9644-400d69739476" providerId="ADAL" clId="{7066C9FE-E3F5-424A-83F0-818FB6975CF2}" dt="2025-12-04T16:20:46.484" v="850" actId="478"/>
          <ac:spMkLst>
            <pc:docMk/>
            <pc:sldMk cId="3763213944" sldId="572"/>
            <ac:spMk id="14" creationId="{4F140EDF-7F82-A677-02CE-7FCE27491B85}"/>
          </ac:spMkLst>
        </pc:spChg>
        <pc:spChg chg="del">
          <ac:chgData name="Adnan Aslam" userId="cc74c580-e775-4d2a-9644-400d69739476" providerId="ADAL" clId="{7066C9FE-E3F5-424A-83F0-818FB6975CF2}" dt="2025-12-04T16:20:39.897" v="847" actId="478"/>
          <ac:spMkLst>
            <pc:docMk/>
            <pc:sldMk cId="3763213944" sldId="572"/>
            <ac:spMk id="16" creationId="{688D64C4-FE40-9F00-E487-C107FD62A1D4}"/>
          </ac:spMkLst>
        </pc:spChg>
        <pc:picChg chg="del">
          <ac:chgData name="Adnan Aslam" userId="cc74c580-e775-4d2a-9644-400d69739476" providerId="ADAL" clId="{7066C9FE-E3F5-424A-83F0-818FB6975CF2}" dt="2025-12-04T16:20:38.017" v="846" actId="478"/>
          <ac:picMkLst>
            <pc:docMk/>
            <pc:sldMk cId="3763213944" sldId="572"/>
            <ac:picMk id="7" creationId="{7186F8BF-9BB5-5740-F48F-E01BE40E11C4}"/>
          </ac:picMkLst>
        </pc:picChg>
        <pc:picChg chg="add mod modCrop">
          <ac:chgData name="Adnan Aslam" userId="cc74c580-e775-4d2a-9644-400d69739476" providerId="ADAL" clId="{7066C9FE-E3F5-424A-83F0-818FB6975CF2}" dt="2025-12-04T16:23:39.355" v="893" actId="1076"/>
          <ac:picMkLst>
            <pc:docMk/>
            <pc:sldMk cId="3763213944" sldId="572"/>
            <ac:picMk id="13" creationId="{35FEE33E-6A59-1091-099D-BCDECD62C85D}"/>
          </ac:picMkLst>
        </pc:picChg>
      </pc:sldChg>
      <pc:sldChg chg="modSp mod">
        <pc:chgData name="Adnan Aslam" userId="cc74c580-e775-4d2a-9644-400d69739476" providerId="ADAL" clId="{7066C9FE-E3F5-424A-83F0-818FB6975CF2}" dt="2025-12-04T11:22:04.924" v="822" actId="20577"/>
        <pc:sldMkLst>
          <pc:docMk/>
          <pc:sldMk cId="1897914418" sldId="573"/>
        </pc:sldMkLst>
        <pc:spChg chg="mod">
          <ac:chgData name="Adnan Aslam" userId="cc74c580-e775-4d2a-9644-400d69739476" providerId="ADAL" clId="{7066C9FE-E3F5-424A-83F0-818FB6975CF2}" dt="2025-12-04T11:22:04.924" v="822" actId="20577"/>
          <ac:spMkLst>
            <pc:docMk/>
            <pc:sldMk cId="1897914418" sldId="573"/>
            <ac:spMk id="10" creationId="{09E58475-5FE5-5B4A-B84B-111519663C58}"/>
          </ac:spMkLst>
        </pc:spChg>
      </pc:sldChg>
      <pc:sldChg chg="modSp mod">
        <pc:chgData name="Adnan Aslam" userId="cc74c580-e775-4d2a-9644-400d69739476" providerId="ADAL" clId="{7066C9FE-E3F5-424A-83F0-818FB6975CF2}" dt="2025-12-04T11:22:24.739" v="824" actId="14100"/>
        <pc:sldMkLst>
          <pc:docMk/>
          <pc:sldMk cId="1127753631" sldId="577"/>
        </pc:sldMkLst>
        <pc:picChg chg="mod">
          <ac:chgData name="Adnan Aslam" userId="cc74c580-e775-4d2a-9644-400d69739476" providerId="ADAL" clId="{7066C9FE-E3F5-424A-83F0-818FB6975CF2}" dt="2025-12-04T11:22:24.739" v="824" actId="14100"/>
          <ac:picMkLst>
            <pc:docMk/>
            <pc:sldMk cId="1127753631" sldId="577"/>
            <ac:picMk id="9" creationId="{34864C12-3C98-4053-8EB8-B48E30CAD291}"/>
          </ac:picMkLst>
        </pc:picChg>
      </pc:sldChg>
      <pc:sldChg chg="addSp modSp mod">
        <pc:chgData name="Adnan Aslam" userId="cc74c580-e775-4d2a-9644-400d69739476" providerId="ADAL" clId="{7066C9FE-E3F5-424A-83F0-818FB6975CF2}" dt="2025-12-04T17:56:50.073" v="1106" actId="14100"/>
        <pc:sldMkLst>
          <pc:docMk/>
          <pc:sldMk cId="4158094077" sldId="580"/>
        </pc:sldMkLst>
        <pc:spChg chg="mod">
          <ac:chgData name="Adnan Aslam" userId="cc74c580-e775-4d2a-9644-400d69739476" providerId="ADAL" clId="{7066C9FE-E3F5-424A-83F0-818FB6975CF2}" dt="2025-12-04T17:53:04.895" v="1105" actId="14100"/>
          <ac:spMkLst>
            <pc:docMk/>
            <pc:sldMk cId="4158094077" sldId="580"/>
            <ac:spMk id="3" creationId="{00000000-0000-0000-0000-000000000000}"/>
          </ac:spMkLst>
        </pc:spChg>
        <pc:spChg chg="mod">
          <ac:chgData name="Adnan Aslam" userId="cc74c580-e775-4d2a-9644-400d69739476" providerId="ADAL" clId="{7066C9FE-E3F5-424A-83F0-818FB6975CF2}" dt="2025-12-04T17:53:00.255" v="1103" actId="1076"/>
          <ac:spMkLst>
            <pc:docMk/>
            <pc:sldMk cId="4158094077" sldId="580"/>
            <ac:spMk id="7" creationId="{1C05C852-4F7D-0C34-5DEA-2FF047B4D286}"/>
          </ac:spMkLst>
        </pc:spChg>
        <pc:spChg chg="add mod">
          <ac:chgData name="Adnan Aslam" userId="cc74c580-e775-4d2a-9644-400d69739476" providerId="ADAL" clId="{7066C9FE-E3F5-424A-83F0-818FB6975CF2}" dt="2025-12-04T17:56:50.073" v="1106" actId="14100"/>
          <ac:spMkLst>
            <pc:docMk/>
            <pc:sldMk cId="4158094077" sldId="580"/>
            <ac:spMk id="8" creationId="{9976938A-8959-87D4-3E12-B2D722C889B7}"/>
          </ac:spMkLst>
        </pc:spChg>
        <pc:graphicFrameChg chg="mod">
          <ac:chgData name="Adnan Aslam" userId="cc74c580-e775-4d2a-9644-400d69739476" providerId="ADAL" clId="{7066C9FE-E3F5-424A-83F0-818FB6975CF2}" dt="2025-12-04T17:52:53.128" v="1101" actId="1076"/>
          <ac:graphicFrameMkLst>
            <pc:docMk/>
            <pc:sldMk cId="4158094077" sldId="580"/>
            <ac:graphicFrameMk id="5" creationId="{6E09BCF4-C737-4F47-9B59-C20405708265}"/>
          </ac:graphicFrameMkLst>
        </pc:graphicFrameChg>
      </pc:sldChg>
      <pc:sldChg chg="addSp delSp modSp mod delAnim">
        <pc:chgData name="Adnan Aslam" userId="cc74c580-e775-4d2a-9644-400d69739476" providerId="ADAL" clId="{7066C9FE-E3F5-424A-83F0-818FB6975CF2}" dt="2025-12-04T17:03:13.844" v="990" actId="1076"/>
        <pc:sldMkLst>
          <pc:docMk/>
          <pc:sldMk cId="120212620" sldId="589"/>
        </pc:sldMkLst>
        <pc:spChg chg="mod">
          <ac:chgData name="Adnan Aslam" userId="cc74c580-e775-4d2a-9644-400d69739476" providerId="ADAL" clId="{7066C9FE-E3F5-424A-83F0-818FB6975CF2}" dt="2025-12-04T17:03:13.844" v="990" actId="1076"/>
          <ac:spMkLst>
            <pc:docMk/>
            <pc:sldMk cId="120212620" sldId="589"/>
            <ac:spMk id="3" creationId="{1B0D3C91-F0ED-E3C3-83F5-768386E90A4B}"/>
          </ac:spMkLst>
        </pc:spChg>
        <pc:spChg chg="add mod">
          <ac:chgData name="Adnan Aslam" userId="cc74c580-e775-4d2a-9644-400d69739476" providerId="ADAL" clId="{7066C9FE-E3F5-424A-83F0-818FB6975CF2}" dt="2025-12-04T17:03:06.005" v="988" actId="1076"/>
          <ac:spMkLst>
            <pc:docMk/>
            <pc:sldMk cId="120212620" sldId="589"/>
            <ac:spMk id="4" creationId="{F0397926-DD70-88AD-BC5F-D8752CEF3F31}"/>
          </ac:spMkLst>
        </pc:spChg>
        <pc:spChg chg="del">
          <ac:chgData name="Adnan Aslam" userId="cc74c580-e775-4d2a-9644-400d69739476" providerId="ADAL" clId="{7066C9FE-E3F5-424A-83F0-818FB6975CF2}" dt="2025-12-04T17:02:55.504" v="985" actId="478"/>
          <ac:spMkLst>
            <pc:docMk/>
            <pc:sldMk cId="120212620" sldId="589"/>
            <ac:spMk id="8" creationId="{664BD1BA-88DC-2C2A-1543-94EF17BC3C6F}"/>
          </ac:spMkLst>
        </pc:spChg>
        <pc:spChg chg="del mod">
          <ac:chgData name="Adnan Aslam" userId="cc74c580-e775-4d2a-9644-400d69739476" providerId="ADAL" clId="{7066C9FE-E3F5-424A-83F0-818FB6975CF2}" dt="2025-12-04T17:02:56.996" v="986" actId="478"/>
          <ac:spMkLst>
            <pc:docMk/>
            <pc:sldMk cId="120212620" sldId="589"/>
            <ac:spMk id="9" creationId="{FBCEA505-7C00-8A54-3A05-8E05121A2B2F}"/>
          </ac:spMkLst>
        </pc:spChg>
        <pc:graphicFrameChg chg="del mod modGraphic">
          <ac:chgData name="Adnan Aslam" userId="cc74c580-e775-4d2a-9644-400d69739476" providerId="ADAL" clId="{7066C9FE-E3F5-424A-83F0-818FB6975CF2}" dt="2025-12-04T17:02:51.262" v="982" actId="478"/>
          <ac:graphicFrameMkLst>
            <pc:docMk/>
            <pc:sldMk cId="120212620" sldId="589"/>
            <ac:graphicFrameMk id="6" creationId="{482C33BB-2DEA-61BF-0C46-8D12279EB0A2}"/>
          </ac:graphicFrameMkLst>
        </pc:graphicFrameChg>
      </pc:sldChg>
      <pc:sldChg chg="modSp add mod">
        <pc:chgData name="Adnan Aslam" userId="cc74c580-e775-4d2a-9644-400d69739476" providerId="ADAL" clId="{7066C9FE-E3F5-424A-83F0-818FB6975CF2}" dt="2025-12-04T11:16:33.219" v="760" actId="20577"/>
        <pc:sldMkLst>
          <pc:docMk/>
          <pc:sldMk cId="781597491" sldId="597"/>
        </pc:sldMkLst>
        <pc:spChg chg="mod">
          <ac:chgData name="Adnan Aslam" userId="cc74c580-e775-4d2a-9644-400d69739476" providerId="ADAL" clId="{7066C9FE-E3F5-424A-83F0-818FB6975CF2}" dt="2025-12-04T11:16:33.219" v="760" actId="20577"/>
          <ac:spMkLst>
            <pc:docMk/>
            <pc:sldMk cId="781597491" sldId="597"/>
            <ac:spMk id="2" creationId="{60EF4C6A-CA2E-4C35-8BA5-916C10203F2E}"/>
          </ac:spMkLst>
        </pc:spChg>
      </pc:sldChg>
      <pc:sldChg chg="add">
        <pc:chgData name="Adnan Aslam" userId="cc74c580-e775-4d2a-9644-400d69739476" providerId="ADAL" clId="{7066C9FE-E3F5-424A-83F0-818FB6975CF2}" dt="2025-12-04T16:18:09.040" v="829" actId="2890"/>
        <pc:sldMkLst>
          <pc:docMk/>
          <pc:sldMk cId="261688281" sldId="598"/>
        </pc:sldMkLst>
      </pc:sldChg>
      <pc:sldChg chg="addSp delSp modSp add mod">
        <pc:chgData name="Adnan Aslam" userId="cc74c580-e775-4d2a-9644-400d69739476" providerId="ADAL" clId="{7066C9FE-E3F5-424A-83F0-818FB6975CF2}" dt="2025-12-04T16:26:57.740" v="920" actId="1076"/>
        <pc:sldMkLst>
          <pc:docMk/>
          <pc:sldMk cId="1928129422" sldId="599"/>
        </pc:sldMkLst>
        <pc:spChg chg="mod">
          <ac:chgData name="Adnan Aslam" userId="cc74c580-e775-4d2a-9644-400d69739476" providerId="ADAL" clId="{7066C9FE-E3F5-424A-83F0-818FB6975CF2}" dt="2025-12-04T16:25:06.258" v="912" actId="113"/>
          <ac:spMkLst>
            <pc:docMk/>
            <pc:sldMk cId="1928129422" sldId="599"/>
            <ac:spMk id="3" creationId="{913363ED-01F6-6E09-FA7F-12135FC9FA95}"/>
          </ac:spMkLst>
        </pc:spChg>
        <pc:picChg chg="add mod">
          <ac:chgData name="Adnan Aslam" userId="cc74c580-e775-4d2a-9644-400d69739476" providerId="ADAL" clId="{7066C9FE-E3F5-424A-83F0-818FB6975CF2}" dt="2025-12-04T16:26:57.740" v="920" actId="1076"/>
          <ac:picMkLst>
            <pc:docMk/>
            <pc:sldMk cId="1928129422" sldId="599"/>
            <ac:picMk id="6" creationId="{4023FEA8-FAE7-3FA3-8441-468583B48335}"/>
          </ac:picMkLst>
        </pc:picChg>
        <pc:picChg chg="del">
          <ac:chgData name="Adnan Aslam" userId="cc74c580-e775-4d2a-9644-400d69739476" providerId="ADAL" clId="{7066C9FE-E3F5-424A-83F0-818FB6975CF2}" dt="2025-12-04T16:25:20.401" v="913" actId="478"/>
          <ac:picMkLst>
            <pc:docMk/>
            <pc:sldMk cId="1928129422" sldId="599"/>
            <ac:picMk id="13" creationId="{B37230CC-E8D7-0538-9C4B-2401703373A1}"/>
          </ac:picMkLst>
        </pc:picChg>
      </pc:sldChg>
      <pc:sldChg chg="addSp delSp modSp add mod delAnim">
        <pc:chgData name="Adnan Aslam" userId="cc74c580-e775-4d2a-9644-400d69739476" providerId="ADAL" clId="{7066C9FE-E3F5-424A-83F0-818FB6975CF2}" dt="2025-12-04T17:17:53.139" v="1066" actId="113"/>
        <pc:sldMkLst>
          <pc:docMk/>
          <pc:sldMk cId="3026921967" sldId="600"/>
        </pc:sldMkLst>
        <pc:spChg chg="mod">
          <ac:chgData name="Adnan Aslam" userId="cc74c580-e775-4d2a-9644-400d69739476" providerId="ADAL" clId="{7066C9FE-E3F5-424A-83F0-818FB6975CF2}" dt="2025-12-04T16:57:14.734" v="956"/>
          <ac:spMkLst>
            <pc:docMk/>
            <pc:sldMk cId="3026921967" sldId="600"/>
            <ac:spMk id="2" creationId="{A23AFFE5-8171-2F38-1496-7F1613C7AD2A}"/>
          </ac:spMkLst>
        </pc:spChg>
        <pc:spChg chg="del mod">
          <ac:chgData name="Adnan Aslam" userId="cc74c580-e775-4d2a-9644-400d69739476" providerId="ADAL" clId="{7066C9FE-E3F5-424A-83F0-818FB6975CF2}" dt="2025-12-04T16:57:30.916" v="965" actId="478"/>
          <ac:spMkLst>
            <pc:docMk/>
            <pc:sldMk cId="3026921967" sldId="600"/>
            <ac:spMk id="3" creationId="{FE68621A-64F5-AFA4-50EA-965F2A16EE5A}"/>
          </ac:spMkLst>
        </pc:spChg>
        <pc:spChg chg="del">
          <ac:chgData name="Adnan Aslam" userId="cc74c580-e775-4d2a-9644-400d69739476" providerId="ADAL" clId="{7066C9FE-E3F5-424A-83F0-818FB6975CF2}" dt="2025-12-04T17:03:18.070" v="991" actId="478"/>
          <ac:spMkLst>
            <pc:docMk/>
            <pc:sldMk cId="3026921967" sldId="600"/>
            <ac:spMk id="4" creationId="{97B9055D-4920-3A9F-39B2-5C9243AA54E6}"/>
          </ac:spMkLst>
        </pc:spChg>
        <pc:spChg chg="add del mod">
          <ac:chgData name="Adnan Aslam" userId="cc74c580-e775-4d2a-9644-400d69739476" providerId="ADAL" clId="{7066C9FE-E3F5-424A-83F0-818FB6975CF2}" dt="2025-12-04T16:57:33.511" v="966" actId="478"/>
          <ac:spMkLst>
            <pc:docMk/>
            <pc:sldMk cId="3026921967" sldId="600"/>
            <ac:spMk id="7" creationId="{F8561297-CA60-AD54-6857-25AD53C9EAC0}"/>
          </ac:spMkLst>
        </pc:spChg>
        <pc:spChg chg="del">
          <ac:chgData name="Adnan Aslam" userId="cc74c580-e775-4d2a-9644-400d69739476" providerId="ADAL" clId="{7066C9FE-E3F5-424A-83F0-818FB6975CF2}" dt="2025-12-04T17:02:39.565" v="979" actId="478"/>
          <ac:spMkLst>
            <pc:docMk/>
            <pc:sldMk cId="3026921967" sldId="600"/>
            <ac:spMk id="8" creationId="{A8C88E2C-71AE-5E6D-82A9-75B5D9C4B8D5}"/>
          </ac:spMkLst>
        </pc:spChg>
        <pc:spChg chg="del">
          <ac:chgData name="Adnan Aslam" userId="cc74c580-e775-4d2a-9644-400d69739476" providerId="ADAL" clId="{7066C9FE-E3F5-424A-83F0-818FB6975CF2}" dt="2025-12-04T16:56:38.236" v="951" actId="478"/>
          <ac:spMkLst>
            <pc:docMk/>
            <pc:sldMk cId="3026921967" sldId="600"/>
            <ac:spMk id="9" creationId="{964C3B34-D198-4C5E-1F42-E2D4061CD08C}"/>
          </ac:spMkLst>
        </pc:spChg>
        <pc:spChg chg="add mod">
          <ac:chgData name="Adnan Aslam" userId="cc74c580-e775-4d2a-9644-400d69739476" providerId="ADAL" clId="{7066C9FE-E3F5-424A-83F0-818FB6975CF2}" dt="2025-12-04T17:06:30.910" v="1025" actId="1076"/>
          <ac:spMkLst>
            <pc:docMk/>
            <pc:sldMk cId="3026921967" sldId="600"/>
            <ac:spMk id="11" creationId="{26919E03-9A60-39D7-EA2B-2CF9383F1ACD}"/>
          </ac:spMkLst>
        </pc:spChg>
        <pc:spChg chg="add mod">
          <ac:chgData name="Adnan Aslam" userId="cc74c580-e775-4d2a-9644-400d69739476" providerId="ADAL" clId="{7066C9FE-E3F5-424A-83F0-818FB6975CF2}" dt="2025-12-04T17:05:36.050" v="1021" actId="404"/>
          <ac:spMkLst>
            <pc:docMk/>
            <pc:sldMk cId="3026921967" sldId="600"/>
            <ac:spMk id="13" creationId="{5C686F3D-20FA-0A93-860B-08A5605CA149}"/>
          </ac:spMkLst>
        </pc:spChg>
        <pc:spChg chg="add del mod">
          <ac:chgData name="Adnan Aslam" userId="cc74c580-e775-4d2a-9644-400d69739476" providerId="ADAL" clId="{7066C9FE-E3F5-424A-83F0-818FB6975CF2}" dt="2025-12-04T17:03:22.496" v="992" actId="478"/>
          <ac:spMkLst>
            <pc:docMk/>
            <pc:sldMk cId="3026921967" sldId="600"/>
            <ac:spMk id="15" creationId="{666C91C4-FF7E-0E44-1BB3-68F6C792F47F}"/>
          </ac:spMkLst>
        </pc:spChg>
        <pc:spChg chg="add mod">
          <ac:chgData name="Adnan Aslam" userId="cc74c580-e775-4d2a-9644-400d69739476" providerId="ADAL" clId="{7066C9FE-E3F5-424A-83F0-818FB6975CF2}" dt="2025-12-04T17:05:44.770" v="1022" actId="1076"/>
          <ac:spMkLst>
            <pc:docMk/>
            <pc:sldMk cId="3026921967" sldId="600"/>
            <ac:spMk id="17" creationId="{D248D0BB-BC98-63F5-116D-7C9995A15ADF}"/>
          </ac:spMkLst>
        </pc:spChg>
        <pc:spChg chg="add mod">
          <ac:chgData name="Adnan Aslam" userId="cc74c580-e775-4d2a-9644-400d69739476" providerId="ADAL" clId="{7066C9FE-E3F5-424A-83F0-818FB6975CF2}" dt="2025-12-04T17:17:53.139" v="1066" actId="113"/>
          <ac:spMkLst>
            <pc:docMk/>
            <pc:sldMk cId="3026921967" sldId="600"/>
            <ac:spMk id="19" creationId="{5B4A8FD8-118C-F0AD-A645-3A04AB2F245D}"/>
          </ac:spMkLst>
        </pc:spChg>
        <pc:graphicFrameChg chg="mod modGraphic">
          <ac:chgData name="Adnan Aslam" userId="cc74c580-e775-4d2a-9644-400d69739476" providerId="ADAL" clId="{7066C9FE-E3F5-424A-83F0-818FB6975CF2}" dt="2025-12-04T16:58:26.284" v="977" actId="1076"/>
          <ac:graphicFrameMkLst>
            <pc:docMk/>
            <pc:sldMk cId="3026921967" sldId="600"/>
            <ac:graphicFrameMk id="6" creationId="{C52569AD-FFBD-2B1B-86EA-A86B68266D9A}"/>
          </ac:graphicFrameMkLst>
        </pc:graphicFrameChg>
      </pc:sldChg>
      <pc:sldChg chg="modSp add mod">
        <pc:chgData name="Adnan Aslam" userId="cc74c580-e775-4d2a-9644-400d69739476" providerId="ADAL" clId="{7066C9FE-E3F5-424A-83F0-818FB6975CF2}" dt="2025-12-04T17:33:21.630" v="1087" actId="20577"/>
        <pc:sldMkLst>
          <pc:docMk/>
          <pc:sldMk cId="1668558411" sldId="603"/>
        </pc:sldMkLst>
        <pc:spChg chg="mod">
          <ac:chgData name="Adnan Aslam" userId="cc74c580-e775-4d2a-9644-400d69739476" providerId="ADAL" clId="{7066C9FE-E3F5-424A-83F0-818FB6975CF2}" dt="2025-12-04T17:33:21.630" v="1087" actId="20577"/>
          <ac:spMkLst>
            <pc:docMk/>
            <pc:sldMk cId="1668558411" sldId="603"/>
            <ac:spMk id="3" creationId="{7393D38A-6D63-08BB-0FBC-2882D1231479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A43CF07-9307-6C48-9A7D-CFB6D27789B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57DB75-BAF4-B743-9A92-74B92A91E0A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B22C6B3-A39F-7849-8137-15C55F281F8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11F245-9DFC-A14D-946D-EB14F66A91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790257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962400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180013" y="0"/>
            <a:ext cx="3962400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29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857500" y="514350"/>
            <a:ext cx="3429000" cy="25717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1126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3257550"/>
            <a:ext cx="7315200" cy="3086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127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6513513"/>
            <a:ext cx="3962400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27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180013" y="6513513"/>
            <a:ext cx="3962400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85360570-2B09-DB43-BBE0-DA076DA911F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048773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1pPr>
    <a:lvl2pPr marL="455613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2pPr>
    <a:lvl3pPr marL="912813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3pPr>
    <a:lvl4pPr marL="1370013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4pPr>
    <a:lvl5pPr marL="1827213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5pPr>
    <a:lvl6pPr marL="2285943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132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5360570-2B09-DB43-BBE0-DA076DA911F1}" type="slidenum">
              <a:rPr lang="en-US" altLang="en-US" smtClean="0"/>
              <a:pPr>
                <a:defRPr/>
              </a:pPr>
              <a:t>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72060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5360570-2B09-DB43-BBE0-DA076DA911F1}" type="slidenum">
              <a:rPr lang="en-US" altLang="en-US" smtClean="0"/>
              <a:pPr>
                <a:defRPr/>
              </a:pPr>
              <a:t>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1359107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A34707-E474-48EA-B54D-5816D1580940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6152573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A34707-E474-48EA-B54D-5816D1580940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589312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D86EF9-CFA7-07A9-7996-5C930C19C5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88080D7-8E45-CF15-E2EF-4ED8D9BD3A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BF09292-5976-A5D9-97B6-82ECAFB1DC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BED97E-D348-9153-C5D5-38E28D21401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A34707-E474-48EA-B54D-5816D1580940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4944317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B6E273-65F6-3A67-A133-0B72E28FE7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D21BBB8-2165-CD40-F354-E8A7339914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BDA0743-942C-C00D-6072-D8FAE7CB0E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8A12DB-DB05-7DEE-CF8F-294B10DC27F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A34707-E474-48EA-B54D-5816D1580940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7585689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A34707-E474-48EA-B54D-5816D1580940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6428357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A34707-E474-48EA-B54D-5816D1580940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6535240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A34707-E474-48EA-B54D-5816D1580940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3100815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A34707-E474-48EA-B54D-5816D1580940}" type="slidenum">
              <a:rPr lang="en-GB" smtClean="0"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0723231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A34707-E474-48EA-B54D-5816D1580940}" type="slidenum">
              <a:rPr lang="en-GB" smtClean="0"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7466341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As we lower the correlation between the two stocks in a portfolio , we lower the portfolio variance.</a:t>
            </a:r>
          </a:p>
          <a:p>
            <a:r>
              <a:rPr lang="en-GB" dirty="0"/>
              <a:t>Diversification eliminates independent, firm specific risks, and the volatility of a large portfolio results from the common systematic risk between the stock sin the portfolio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A34707-E474-48EA-B54D-5816D1580940}" type="slidenum">
              <a:rPr lang="en-GB" smtClean="0"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717837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lang="en-GB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Modern Portfolio Theory (MPT) aims to optimise investment portfolios by maximising returns for a given level of risk or, alternatively, minimising risk for a given level of expected return. It is a foundational framework in finance for constructing portfolios that align with investors' risk and return preferences. Support </a:t>
            </a:r>
            <a:r>
              <a:rPr lang="en-GB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risk-averse investors to construct portfolios to optimise or maximise expected return based on a given level of market risk.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- Efficient Frontier - a set of optimal portfolios offering the highest expected return for a defined level of risk.</a:t>
            </a:r>
          </a:p>
          <a:p>
            <a:pPr marL="285750" indent="-285750">
              <a:lnSpc>
                <a:spcPct val="107000"/>
              </a:lnSpc>
              <a:spcAft>
                <a:spcPts val="800"/>
              </a:spcAft>
              <a:buFontTx/>
              <a:buChar char="-"/>
            </a:pPr>
            <a:r>
              <a:rPr lang="en-GB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Optimal Portfolio Selection - choosing a portfolio that lies on the efficient frontier and matches the investor's risk tolerance. Portfolios </a:t>
            </a:r>
            <a:r>
              <a:rPr lang="en-GB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below the frontier are considered suboptimal, offering lower returns for higher risk.</a:t>
            </a:r>
          </a:p>
          <a:p>
            <a:pPr marL="0" indent="0">
              <a:lnSpc>
                <a:spcPct val="107000"/>
              </a:lnSpc>
              <a:spcAft>
                <a:spcPts val="800"/>
              </a:spcAft>
              <a:buFontTx/>
              <a:buNone/>
            </a:pPr>
            <a:endParaRPr lang="en-GB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Assumptions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- Investors are rational and risk-averse, preferring higher returns for lower risk.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- All investors have access to the same information and can borrow or lend at the risk-free rate.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- Asset returns are normally distributed, and the correlation structure between assets is constant.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- Transaction costs and taxes are ignored.</a:t>
            </a:r>
          </a:p>
          <a:p>
            <a:pPr marL="0" indent="0">
              <a:lnSpc>
                <a:spcPct val="107000"/>
              </a:lnSpc>
              <a:spcAft>
                <a:spcPts val="800"/>
              </a:spcAft>
              <a:buFontTx/>
              <a:buNone/>
            </a:pPr>
            <a:endParaRPr lang="en-GB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GB" dirty="0"/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MPT is widely used in portfolio management and is the foundation of strategies like index funds and diversified mutual funds. However, MPT also has limitations: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- Real-world returns are not always normally distributed; extreme events and “fat tails” in asset returns challenge MPT's assumptions.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- Correlations between assets are not constant and can increase during market downturns, limiting diversification benefits when they’re most needed.</a:t>
            </a:r>
          </a:p>
          <a:p>
            <a:pPr marL="285750" indent="-285750">
              <a:lnSpc>
                <a:spcPct val="107000"/>
              </a:lnSpc>
              <a:spcAft>
                <a:spcPts val="800"/>
              </a:spcAft>
              <a:buFontTx/>
              <a:buChar char="-"/>
            </a:pPr>
            <a:r>
              <a:rPr lang="en-GB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- It assumes investor preferences are entirely based on risk and return, but in reality, investors may consider additional factors.</a:t>
            </a:r>
          </a:p>
          <a:p>
            <a:pPr marL="0" indent="0">
              <a:lnSpc>
                <a:spcPct val="107000"/>
              </a:lnSpc>
              <a:spcAft>
                <a:spcPts val="800"/>
              </a:spcAft>
              <a:buFontTx/>
              <a:buNone/>
            </a:pPr>
            <a:endParaRPr lang="en-GB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Assumptions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- Investors are rational and risk-averse, preferring higher returns for lower risk.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- All investors have access to the same information and can borrow or lend at the risk-free rate.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- Asset returns are normally distributed, and the correlation structure between assets is constant.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- Transaction costs and taxes are ignored.</a:t>
            </a:r>
          </a:p>
          <a:p>
            <a:pPr marL="0" indent="0">
              <a:lnSpc>
                <a:spcPct val="107000"/>
              </a:lnSpc>
              <a:spcAft>
                <a:spcPts val="800"/>
              </a:spcAft>
              <a:buFontTx/>
              <a:buNone/>
            </a:pPr>
            <a:endParaRPr lang="en-GB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5D0711-3F1D-4CD5-AAB6-758DB7EED022}" type="slidenum">
              <a:rPr lang="en-GB" smtClean="0"/>
              <a:t>17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0463480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5360570-2B09-DB43-BBE0-DA076DA911F1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586265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F109CD-3986-06DD-7E1F-F604A8A8F8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1D6B7F1-4524-E14C-73FB-2BF0602338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20F34DB-1180-19FA-8FE2-7FEF785FDB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E27547-1120-7668-0ADB-FAF2C03B414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5360570-2B09-DB43-BBE0-DA076DA911F1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9544499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110DB6-8278-F11B-7329-F604170A20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2E85184-DB7E-4E73-2908-F2252C4A8A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D68267-4849-4821-FEB9-72BA88A32B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4E4BA9-D806-2587-4ED6-2E97E7703E8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5360570-2B09-DB43-BBE0-DA076DA911F1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8079435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0086E3-1106-24BA-2DEA-0E7989EE91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5A21286-2E32-4773-3A39-77EEE217DA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52D7A0-7716-9746-5B69-6259913E67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EC6387-4E3B-B6B0-8BE7-3F1C097C317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5360570-2B09-DB43-BBE0-DA076DA911F1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4096678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9F4AE9-EF0F-D34E-1756-467877BA23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1B248D0-9282-2279-D026-D853AE867D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9E217CD-2454-6817-EA18-E52E8A0485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12833D-9376-595E-CDD4-36B9C8C71D4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5360570-2B09-DB43-BBE0-DA076DA911F1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6578244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B2D1E1-91C5-9BA6-5C63-0703045C61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DE84427-6845-ECFD-E912-71C0D89551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C6A1CD3-8D8A-726A-CF02-3E613BBE94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4AC7A7-3EB6-D403-72EF-9C19E2D023F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5360570-2B09-DB43-BBE0-DA076DA911F1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7170751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7A708D-0180-424B-8170-B8C7498B3081}" type="slidenum">
              <a:rPr lang="en-GB" smtClean="0"/>
              <a:t>24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4978324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5360570-2B09-DB43-BBE0-DA076DA911F1}" type="slidenum">
              <a:rPr lang="en-US" altLang="en-US" smtClean="0"/>
              <a:pPr>
                <a:defRPr/>
              </a:pPr>
              <a:t>25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448430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4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solidFill>
          <a:srgbClr val="7A739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FE3B5BC-7C7D-A745-8158-A53C466DA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0826" y="1915479"/>
            <a:ext cx="5689524" cy="2089585"/>
          </a:xfrm>
          <a:prstGeom prst="rect">
            <a:avLst/>
          </a:prstGeom>
        </p:spPr>
        <p:txBody>
          <a:bodyPr lIns="0" tIns="0" rIns="0" b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69EC6F0B-C9B0-464E-ABF8-505FA2B99A3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6421" y="1916832"/>
            <a:ext cx="1219139" cy="269081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ts val="1300"/>
              </a:lnSpc>
              <a:spcBef>
                <a:spcPts val="0"/>
              </a:spcBef>
              <a:buFontTx/>
              <a:buNone/>
              <a:defRPr sz="1600" b="0" i="0">
                <a:solidFill>
                  <a:schemeClr val="bg1"/>
                </a:solidFill>
                <a:latin typeface="+mj-lt"/>
                <a:ea typeface="Tahoma" charset="0"/>
                <a:cs typeface="Tahoma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C1E2BFEE-0AD7-C548-92B3-DE639BB40C8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6420" y="2323737"/>
            <a:ext cx="1219139" cy="4023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ts val="1300"/>
              </a:lnSpc>
              <a:spcBef>
                <a:spcPts val="0"/>
              </a:spcBef>
              <a:buFontTx/>
              <a:buNone/>
              <a:defRPr sz="1800" b="1" i="0">
                <a:solidFill>
                  <a:schemeClr val="bg1"/>
                </a:solidFill>
                <a:latin typeface="+mj-lt"/>
                <a:ea typeface="Tahoma" charset="0"/>
                <a:cs typeface="Tahoma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8" name="Text Placeholder 14">
            <a:extLst>
              <a:ext uri="{FF2B5EF4-FFF2-40B4-BE49-F238E27FC236}">
                <a16:creationId xmlns:a16="http://schemas.microsoft.com/office/drawing/2014/main" id="{FE54718D-4C22-E94B-A4C0-C34A3A4257A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98505" y="2913639"/>
            <a:ext cx="1219139" cy="371345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ts val="1300"/>
              </a:lnSpc>
              <a:spcBef>
                <a:spcPts val="0"/>
              </a:spcBef>
              <a:buFontTx/>
              <a:buNone/>
              <a:defRPr sz="1800" b="1" i="0">
                <a:solidFill>
                  <a:schemeClr val="bg1"/>
                </a:solidFill>
                <a:latin typeface="+mj-lt"/>
                <a:ea typeface="Tahoma" charset="0"/>
                <a:cs typeface="Tahoma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55B2378F-7E74-5649-B1F7-5BE87863FDAE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98505" y="5373216"/>
            <a:ext cx="1219139" cy="345828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ts val="1300"/>
              </a:lnSpc>
              <a:spcBef>
                <a:spcPts val="0"/>
              </a:spcBef>
              <a:buFontTx/>
              <a:buNone/>
              <a:defRPr sz="1600" b="0" i="0">
                <a:solidFill>
                  <a:schemeClr val="bg1"/>
                </a:solidFill>
                <a:latin typeface="+mn-lt"/>
                <a:ea typeface="Tahoma"/>
                <a:cs typeface="Tahoma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763A8BFE-74A7-E94B-8A00-4CD70EAFA367}"/>
              </a:ext>
            </a:extLst>
          </p:cNvPr>
          <p:cNvCxnSpPr>
            <a:cxnSpLocks/>
          </p:cNvCxnSpPr>
          <p:nvPr userDrawn="1"/>
        </p:nvCxnSpPr>
        <p:spPr>
          <a:xfrm>
            <a:off x="1919288" y="1916832"/>
            <a:ext cx="0" cy="3802212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6" name="Picture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0"/>
            <a:ext cx="1787872" cy="8959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37226853"/>
      </p:ext>
    </p:extLst>
  </p:cSld>
  <p:clrMapOvr>
    <a:masterClrMapping/>
  </p:clrMapOvr>
  <p:transition spd="slow">
    <p:fade/>
  </p:transition>
  <p:extLst>
    <p:ext uri="{DCECCB84-F9BA-43D5-87BE-67443E8EF086}">
      <p15:sldGuideLst xmlns:p15="http://schemas.microsoft.com/office/powerpoint/2012/main">
        <p15:guide id="1" orient="horz" pos="1207" userDrawn="1">
          <p15:clr>
            <a:srgbClr val="FBAE40"/>
          </p15:clr>
        </p15:guide>
        <p15:guide id="2" pos="1292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and sub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AE3DBD-28B5-6744-B93D-384D879AF9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9592" y="1974055"/>
            <a:ext cx="6515620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7A739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899592" y="4221163"/>
            <a:ext cx="6515620" cy="60310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buFontTx/>
              <a:buNone/>
              <a:defRPr sz="1800" b="0" i="0">
                <a:solidFill>
                  <a:schemeClr val="tx1"/>
                </a:solidFill>
                <a:latin typeface="+mn-lt"/>
                <a:ea typeface="Tahoma"/>
                <a:cs typeface="Tahoma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2450603"/>
      </p:ext>
    </p:extLst>
  </p:cSld>
  <p:clrMapOvr>
    <a:masterClrMapping/>
  </p:clrMapOvr>
  <p:transition spd="slow"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in headings, text and bullet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D64AAA3-E9D4-B544-B77B-0789573E9C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9591" y="689701"/>
            <a:ext cx="7886700" cy="1011108"/>
          </a:xfrm>
          <a:prstGeom prst="rect">
            <a:avLst/>
          </a:prstGeom>
        </p:spPr>
        <p:txBody>
          <a:bodyPr lIns="0" tIns="0" rIns="0" bIns="0"/>
          <a:lstStyle>
            <a:lvl1pPr>
              <a:defRPr>
                <a:solidFill>
                  <a:srgbClr val="7A7392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1" hasCustomPrompt="1"/>
          </p:nvPr>
        </p:nvSpPr>
        <p:spPr>
          <a:xfrm>
            <a:off x="899591" y="1700808"/>
            <a:ext cx="6551612" cy="4608512"/>
          </a:xfrm>
          <a:prstGeom prst="rect">
            <a:avLst/>
          </a:prstGeom>
        </p:spPr>
        <p:txBody>
          <a:bodyPr lIns="0" tIns="0" rIns="0" bIns="0"/>
          <a:lstStyle>
            <a:lvl1pPr marL="266700" indent="-257175">
              <a:buClr>
                <a:srgbClr val="7A7392"/>
              </a:buClr>
              <a:tabLst/>
              <a:defRPr sz="18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541338" indent="-274638">
              <a:buClr>
                <a:srgbClr val="7A7392"/>
              </a:buClr>
              <a:buFont typeface="Courier New" panose="02070309020205020404" pitchFamily="49" charset="0"/>
              <a:buChar char="o"/>
              <a:defRPr sz="18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808038" indent="-266700">
              <a:buClr>
                <a:srgbClr val="7A7392"/>
              </a:buClr>
              <a:buFont typeface="Arial" panose="020B0604020202020204" pitchFamily="34" charset="0"/>
              <a:buChar char="̶"/>
              <a:defRPr sz="18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3pPr>
            <a:lvl4pPr>
              <a:defRPr sz="16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>
              <a:defRPr sz="16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406912239"/>
      </p:ext>
    </p:extLst>
  </p:cSld>
  <p:clrMapOvr>
    <a:masterClrMapping/>
  </p:clrMapOvr>
  <p:transition spd="slow">
    <p:fade/>
  </p:transition>
  <p:extLst>
    <p:ext uri="{DCECCB84-F9BA-43D5-87BE-67443E8EF086}">
      <p15:sldGuideLst xmlns:p15="http://schemas.microsoft.com/office/powerpoint/2012/main">
        <p15:guide id="1" orient="horz" pos="436" userDrawn="1">
          <p15:clr>
            <a:srgbClr val="FBAE40"/>
          </p15:clr>
        </p15:guide>
        <p15:guide id="2" pos="567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in headings, text and numbered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034AA9-9B1B-7D49-821B-E768D4FEE2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0113" y="687614"/>
            <a:ext cx="7886700" cy="101259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 hasCustomPrompt="1"/>
          </p:nvPr>
        </p:nvSpPr>
        <p:spPr>
          <a:xfrm>
            <a:off x="900113" y="1700213"/>
            <a:ext cx="6551612" cy="4465637"/>
          </a:xfrm>
          <a:prstGeom prst="rect">
            <a:avLst/>
          </a:prstGeom>
        </p:spPr>
        <p:txBody>
          <a:bodyPr lIns="0" tIns="0" rIns="0" bIns="0"/>
          <a:lstStyle>
            <a:lvl1pPr marL="266700" indent="-266700">
              <a:buClr>
                <a:srgbClr val="7A7392"/>
              </a:buClr>
              <a:buFont typeface="+mj-lt"/>
              <a:buAutoNum type="arabicPeriod"/>
              <a:defRPr sz="18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541338" indent="-274638">
              <a:buClr>
                <a:srgbClr val="7A7392"/>
              </a:buClr>
              <a:buFont typeface="+mj-lt"/>
              <a:buAutoNum type="romanLcPeriod"/>
              <a:defRPr sz="18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896938" indent="-266700">
              <a:buClr>
                <a:srgbClr val="7A7392"/>
              </a:buClr>
              <a:buFont typeface="Arial" panose="020B0604020202020204" pitchFamily="34" charset="0"/>
              <a:buChar char="̶"/>
              <a:defRPr sz="18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2343150" indent="-514350">
              <a:buFont typeface="+mj-lt"/>
              <a:buAutoNum type="arabicPeriod"/>
              <a:defRPr sz="16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2952750" indent="-514350">
              <a:buFont typeface="+mj-lt"/>
              <a:buAutoNum type="arabicPeriod"/>
              <a:defRPr sz="16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386068825"/>
      </p:ext>
    </p:extLst>
  </p:cSld>
  <p:clrMapOvr>
    <a:masterClrMapping/>
  </p:clrMapOvr>
  <p:transition spd="slow"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text sty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BD85A6-D158-2E49-90B4-F2441730F4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9591" y="692697"/>
            <a:ext cx="7886700" cy="93610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899592" y="1628800"/>
            <a:ext cx="3167583" cy="4536504"/>
          </a:xfrm>
          <a:prstGeom prst="rect">
            <a:avLst/>
          </a:prstGeom>
        </p:spPr>
        <p:txBody>
          <a:bodyPr lIns="0" tIns="0" rIns="0" bIns="0" numCol="1" spcCol="216000"/>
          <a:lstStyle>
            <a:lvl1pPr marL="0" marR="0" indent="0" algn="l" defTabSz="606425" rtl="0" eaLnBrk="1" fontAlgn="base" latinLnBrk="0" hangingPunct="1">
              <a:lnSpc>
                <a:spcPts val="2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800" b="0" i="0" baseline="0">
                <a:solidFill>
                  <a:schemeClr val="tx1"/>
                </a:solidFill>
                <a:latin typeface="+mn-lt"/>
                <a:ea typeface="Tahoma"/>
                <a:cs typeface="Tahoma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4284663" y="1628800"/>
            <a:ext cx="3167583" cy="4536504"/>
          </a:xfrm>
          <a:prstGeom prst="rect">
            <a:avLst/>
          </a:prstGeom>
        </p:spPr>
        <p:txBody>
          <a:bodyPr lIns="0" tIns="0" rIns="0" bIns="0" numCol="1" spcCol="216000"/>
          <a:lstStyle>
            <a:lvl1pPr marL="0" marR="0" indent="0" algn="l" defTabSz="606425" rtl="0" eaLnBrk="1" fontAlgn="base" latinLnBrk="0" hangingPunct="1">
              <a:lnSpc>
                <a:spcPts val="2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800" b="0" i="0" baseline="0">
                <a:solidFill>
                  <a:schemeClr val="tx1"/>
                </a:solidFill>
                <a:latin typeface="+mn-lt"/>
                <a:ea typeface="Tahoma"/>
                <a:cs typeface="Tahoma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03622766"/>
      </p:ext>
    </p:extLst>
  </p:cSld>
  <p:clrMapOvr>
    <a:masterClrMapping/>
  </p:clrMapOvr>
  <p:transition spd="slow"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text style with bullet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9A63C3-2B19-3E4C-861A-2B5A52BA72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9591" y="692697"/>
            <a:ext cx="7886700" cy="93610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5"/>
          <p:cNvSpPr>
            <a:spLocks noGrp="1"/>
          </p:cNvSpPr>
          <p:nvPr>
            <p:ph type="body" sz="quarter" idx="11" hasCustomPrompt="1"/>
          </p:nvPr>
        </p:nvSpPr>
        <p:spPr>
          <a:xfrm>
            <a:off x="899592" y="1628800"/>
            <a:ext cx="3167583" cy="4536504"/>
          </a:xfrm>
          <a:prstGeom prst="rect">
            <a:avLst/>
          </a:prstGeom>
        </p:spPr>
        <p:txBody>
          <a:bodyPr lIns="0" tIns="0" rIns="0" bIns="0" numCol="1" spcCol="216000"/>
          <a:lstStyle>
            <a:lvl1pPr marL="285750" marR="0" indent="-285750" algn="l" defTabSz="606425" rtl="0" eaLnBrk="1" fontAlgn="base" latinLnBrk="0" hangingPunct="1">
              <a:lnSpc>
                <a:spcPts val="2000"/>
              </a:lnSpc>
              <a:spcBef>
                <a:spcPts val="0"/>
              </a:spcBef>
              <a:spcAft>
                <a:spcPct val="0"/>
              </a:spcAft>
              <a:buClr>
                <a:srgbClr val="7A7392"/>
              </a:buClr>
              <a:buSzTx/>
              <a:buFont typeface="Arial" panose="020B0604020202020204" pitchFamily="34" charset="0"/>
              <a:buChar char="•"/>
              <a:tabLst/>
              <a:defRPr sz="1800" b="0" i="0" baseline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541338" indent="-274638">
              <a:buClr>
                <a:srgbClr val="7A7392"/>
              </a:buClr>
              <a:buFont typeface="Courier New" panose="02070309020205020404" pitchFamily="49" charset="0"/>
              <a:buChar char="o"/>
              <a:defRPr sz="18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808038" indent="-177800">
              <a:buClr>
                <a:srgbClr val="7A7392"/>
              </a:buClr>
              <a:buFont typeface="Arial" panose="020B0604020202020204" pitchFamily="34" charset="0"/>
              <a:buChar char="̶"/>
              <a:defRPr sz="18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163638" indent="-301625">
              <a:defRPr sz="18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4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Second Bullet Point</a:t>
            </a:r>
          </a:p>
          <a:p>
            <a:pPr lvl="2"/>
            <a:r>
              <a:rPr lang="en-GB"/>
              <a:t>Third Bullet Point</a:t>
            </a:r>
          </a:p>
          <a:p>
            <a:pPr lvl="3"/>
            <a:endParaRPr lang="en-GB"/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2" hasCustomPrompt="1"/>
          </p:nvPr>
        </p:nvSpPr>
        <p:spPr>
          <a:xfrm>
            <a:off x="4284663" y="1628800"/>
            <a:ext cx="3167583" cy="4536504"/>
          </a:xfrm>
          <a:prstGeom prst="rect">
            <a:avLst/>
          </a:prstGeom>
        </p:spPr>
        <p:txBody>
          <a:bodyPr lIns="0" tIns="0" rIns="0" bIns="0" numCol="1" spcCol="216000"/>
          <a:lstStyle>
            <a:lvl1pPr marL="285750" marR="0" indent="-285750" algn="l" defTabSz="606425" rtl="0" eaLnBrk="1" fontAlgn="base" latinLnBrk="0" hangingPunct="1">
              <a:lnSpc>
                <a:spcPts val="2000"/>
              </a:lnSpc>
              <a:spcBef>
                <a:spcPts val="0"/>
              </a:spcBef>
              <a:spcAft>
                <a:spcPct val="0"/>
              </a:spcAft>
              <a:buClr>
                <a:srgbClr val="7A7392"/>
              </a:buClr>
              <a:buSzTx/>
              <a:buFont typeface="Arial" panose="020B0604020202020204" pitchFamily="34" charset="0"/>
              <a:buChar char="•"/>
              <a:tabLst/>
              <a:defRPr sz="1800" b="0" i="0" baseline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541338" indent="-274638">
              <a:buClr>
                <a:srgbClr val="7A7392"/>
              </a:buClr>
              <a:buFont typeface="Courier New" panose="02070309020205020404" pitchFamily="49" charset="0"/>
              <a:buChar char="o"/>
              <a:defRPr sz="18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808038" indent="-177800">
              <a:buClr>
                <a:srgbClr val="7A7392"/>
              </a:buClr>
              <a:buFont typeface="Arial" panose="020B0604020202020204" pitchFamily="34" charset="0"/>
              <a:buChar char="̶"/>
              <a:defRPr sz="18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163638" indent="-301625">
              <a:defRPr sz="18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4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Bullet Point</a:t>
            </a:r>
          </a:p>
          <a:p>
            <a:pPr lvl="2"/>
            <a:r>
              <a:rPr lang="en-US"/>
              <a:t>Third Bullet Point</a:t>
            </a:r>
          </a:p>
          <a:p>
            <a:pPr lvl="3"/>
            <a:endParaRPr lang="en-US"/>
          </a:p>
          <a:p>
            <a:pPr lvl="0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76455156"/>
      </p:ext>
    </p:extLst>
  </p:cSld>
  <p:clrMapOvr>
    <a:masterClrMapping/>
  </p:clrMapOvr>
  <p:transition spd="slow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text style with numbered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7AA39C-6E99-FE4F-B641-F44C7B4B4D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9592" y="692697"/>
            <a:ext cx="7886700" cy="93610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5"/>
          <p:cNvSpPr>
            <a:spLocks noGrp="1"/>
          </p:cNvSpPr>
          <p:nvPr>
            <p:ph type="body" sz="quarter" idx="11" hasCustomPrompt="1"/>
          </p:nvPr>
        </p:nvSpPr>
        <p:spPr>
          <a:xfrm>
            <a:off x="899592" y="1628800"/>
            <a:ext cx="3167583" cy="4536504"/>
          </a:xfrm>
          <a:prstGeom prst="rect">
            <a:avLst/>
          </a:prstGeom>
        </p:spPr>
        <p:txBody>
          <a:bodyPr lIns="0" tIns="0" rIns="0" bIns="0" numCol="1" spcCol="216000"/>
          <a:lstStyle>
            <a:lvl1pPr marL="266700" marR="0" indent="-266700" algn="l" defTabSz="606425" rtl="0" eaLnBrk="1" fontAlgn="base" latinLnBrk="0" hangingPunct="1">
              <a:lnSpc>
                <a:spcPts val="2000"/>
              </a:lnSpc>
              <a:spcBef>
                <a:spcPts val="0"/>
              </a:spcBef>
              <a:spcAft>
                <a:spcPct val="0"/>
              </a:spcAft>
              <a:buClr>
                <a:srgbClr val="7A7392"/>
              </a:buClr>
              <a:buSzTx/>
              <a:buFont typeface="+mj-lt"/>
              <a:buAutoNum type="arabicPeriod"/>
              <a:tabLst/>
              <a:defRPr sz="1800" b="0" i="0" baseline="0">
                <a:solidFill>
                  <a:schemeClr val="tx1"/>
                </a:solidFill>
                <a:latin typeface="+mn-lt"/>
                <a:ea typeface="Tahoma"/>
                <a:cs typeface="Tahoma"/>
              </a:defRPr>
            </a:lvl1pPr>
            <a:lvl2pPr marL="541338" indent="-274638">
              <a:buClr>
                <a:srgbClr val="7A7392"/>
              </a:buClr>
              <a:buFont typeface="+mj-lt"/>
              <a:buAutoNum type="romanLcPeriod"/>
              <a:defRPr sz="1800" baseline="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896938" indent="-266700">
              <a:buClr>
                <a:srgbClr val="7A7392"/>
              </a:buClr>
              <a:buFont typeface="Arial" panose="020B0604020202020204" pitchFamily="34" charset="0"/>
              <a:buChar char="̶"/>
              <a:defRPr sz="18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252538" indent="-285750">
              <a:buFont typeface="Arial" panose="020B0604020202020204" pitchFamily="34" charset="0"/>
              <a:buChar char="̶"/>
              <a:defRPr sz="14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4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Number Position Number 2</a:t>
            </a:r>
          </a:p>
          <a:p>
            <a:pPr lvl="2"/>
            <a:r>
              <a:rPr lang="en-GB"/>
              <a:t>Number Position Number 3</a:t>
            </a:r>
          </a:p>
          <a:p>
            <a:pPr lvl="3"/>
            <a:endParaRPr lang="en-GB"/>
          </a:p>
          <a:p>
            <a:pPr lvl="3"/>
            <a:endParaRPr lang="en-GB"/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2" hasCustomPrompt="1"/>
          </p:nvPr>
        </p:nvSpPr>
        <p:spPr>
          <a:xfrm>
            <a:off x="4284663" y="1628800"/>
            <a:ext cx="3167583" cy="4536504"/>
          </a:xfrm>
          <a:prstGeom prst="rect">
            <a:avLst/>
          </a:prstGeom>
        </p:spPr>
        <p:txBody>
          <a:bodyPr lIns="0" tIns="0" rIns="0" bIns="0" numCol="1" spcCol="216000"/>
          <a:lstStyle>
            <a:lvl1pPr marL="266700" marR="0" indent="-266700" algn="l" defTabSz="606425" rtl="0" eaLnBrk="1" fontAlgn="base" latinLnBrk="0" hangingPunct="1">
              <a:lnSpc>
                <a:spcPts val="2000"/>
              </a:lnSpc>
              <a:spcBef>
                <a:spcPts val="0"/>
              </a:spcBef>
              <a:spcAft>
                <a:spcPct val="0"/>
              </a:spcAft>
              <a:buClr>
                <a:srgbClr val="7A7392"/>
              </a:buClr>
              <a:buSzTx/>
              <a:buFont typeface="+mj-lt"/>
              <a:buAutoNum type="arabicPeriod"/>
              <a:tabLst/>
              <a:defRPr sz="1800" b="0" i="0" baseline="0">
                <a:solidFill>
                  <a:schemeClr val="tx1"/>
                </a:solidFill>
                <a:latin typeface="+mn-lt"/>
                <a:ea typeface="Tahoma"/>
                <a:cs typeface="Tahoma"/>
              </a:defRPr>
            </a:lvl1pPr>
            <a:lvl2pPr marL="541338" indent="-274638">
              <a:buClr>
                <a:srgbClr val="7A7392"/>
              </a:buClr>
              <a:buFont typeface="+mj-lt"/>
              <a:buAutoNum type="romanLcPeriod"/>
              <a:defRPr sz="18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896938" indent="-266700">
              <a:buClr>
                <a:srgbClr val="7A7392"/>
              </a:buClr>
              <a:buFont typeface="Arial" panose="020B0604020202020204" pitchFamily="34" charset="0"/>
              <a:buChar char="̶"/>
              <a:defRPr sz="18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252538" indent="-285750">
              <a:buFont typeface="Arial" panose="020B0604020202020204" pitchFamily="34" charset="0"/>
              <a:buChar char="̶"/>
              <a:defRPr sz="14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4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Number Position Number 2</a:t>
            </a:r>
          </a:p>
          <a:p>
            <a:pPr lvl="2"/>
            <a:r>
              <a:rPr lang="en-GB"/>
              <a:t>Number Position Number 3</a:t>
            </a:r>
          </a:p>
          <a:p>
            <a:pPr lvl="3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1776518"/>
      </p:ext>
    </p:extLst>
  </p:cSld>
  <p:clrMapOvr>
    <a:masterClrMapping/>
  </p:clrMapOvr>
  <p:transition spd="slow"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and graph posi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10C80B-5DE2-104C-BCD7-114FA55CDF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2515" y="692697"/>
            <a:ext cx="7886700" cy="86206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hart Placeholder 2"/>
          <p:cNvSpPr>
            <a:spLocks noGrp="1"/>
          </p:cNvSpPr>
          <p:nvPr>
            <p:ph type="chart" sz="quarter" idx="11"/>
          </p:nvPr>
        </p:nvSpPr>
        <p:spPr>
          <a:xfrm>
            <a:off x="899592" y="1554760"/>
            <a:ext cx="6515620" cy="453806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noProof="0"/>
              <a:t>Click icon to add chart</a:t>
            </a:r>
          </a:p>
        </p:txBody>
      </p:sp>
    </p:spTree>
    <p:extLst>
      <p:ext uri="{BB962C8B-B14F-4D97-AF65-F5344CB8AC3E}">
        <p14:creationId xmlns:p14="http://schemas.microsoft.com/office/powerpoint/2010/main" val="947534947"/>
      </p:ext>
    </p:extLst>
  </p:cSld>
  <p:clrMapOvr>
    <a:masterClrMapping/>
  </p:clrMapOvr>
  <p:transition spd="slow"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arrow column text style with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8465AE-FBB8-C547-A863-8ACFC537D4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9591" y="692696"/>
            <a:ext cx="7886700" cy="93610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899592" y="1628800"/>
            <a:ext cx="3167583" cy="4536504"/>
          </a:xfrm>
          <a:prstGeom prst="rect">
            <a:avLst/>
          </a:prstGeom>
        </p:spPr>
        <p:txBody>
          <a:bodyPr lIns="0" tIns="0" rIns="0" bIns="0" numCol="1" spcCol="216000"/>
          <a:lstStyle>
            <a:lvl1pPr marL="0" marR="0" indent="0" algn="l" defTabSz="606425" rtl="0" eaLnBrk="1" fontAlgn="base" latinLnBrk="0" hangingPunct="1">
              <a:lnSpc>
                <a:spcPts val="2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800" b="0" i="0" baseline="0">
                <a:solidFill>
                  <a:schemeClr val="tx1"/>
                </a:solidFill>
                <a:latin typeface="+mn-lt"/>
                <a:ea typeface="Tahoma"/>
                <a:cs typeface="Tahoma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Chart Placeholder 2"/>
          <p:cNvSpPr>
            <a:spLocks noGrp="1"/>
          </p:cNvSpPr>
          <p:nvPr>
            <p:ph type="chart" sz="quarter" idx="12"/>
          </p:nvPr>
        </p:nvSpPr>
        <p:spPr>
          <a:xfrm>
            <a:off x="4284663" y="1628799"/>
            <a:ext cx="3816350" cy="44640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noProof="0"/>
              <a:t>Click icon to add chart</a:t>
            </a:r>
          </a:p>
        </p:txBody>
      </p:sp>
    </p:spTree>
    <p:extLst>
      <p:ext uri="{BB962C8B-B14F-4D97-AF65-F5344CB8AC3E}">
        <p14:creationId xmlns:p14="http://schemas.microsoft.com/office/powerpoint/2010/main" val="1628611724"/>
      </p:ext>
    </p:extLst>
  </p:cSld>
  <p:clrMapOvr>
    <a:masterClrMapping/>
  </p:clrMapOvr>
  <p:transition spd="slow"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FED979-55B4-3C48-802B-10CF449D32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9592" y="692697"/>
            <a:ext cx="7886700" cy="72008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1215" y="1412776"/>
            <a:ext cx="9144000" cy="595119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50680606"/>
      </p:ext>
    </p:extLst>
  </p:cSld>
  <p:clrMapOvr>
    <a:masterClrMapping/>
  </p:clrMapOvr>
  <p:transition spd="slow"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5AD231-0526-BA4B-A751-485A68D4F1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0112" y="692697"/>
            <a:ext cx="7454131" cy="76835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4" name="Picture Placeholder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1461052"/>
            <a:ext cx="3024188" cy="539694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5" name="Picture Placeholder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059113" y="1461053"/>
            <a:ext cx="3020316" cy="2650572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7" name="Picture Placeholder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059113" y="4149725"/>
            <a:ext cx="3020316" cy="270827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3" name="Picture Placeholder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118225" y="1461052"/>
            <a:ext cx="3025775" cy="539694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974219801"/>
      </p:ext>
    </p:extLst>
  </p:cSld>
  <p:clrMapOvr>
    <a:masterClrMapping/>
  </p:clrMapOvr>
  <p:transition spd="slow">
    <p:fade/>
  </p:transition>
  <p:extLst>
    <p:ext uri="{DCECCB84-F9BA-43D5-87BE-67443E8EF086}">
      <p15:sldGuideLst xmlns:p15="http://schemas.microsoft.com/office/powerpoint/2012/main">
        <p15:guide id="1" orient="horz" pos="332" userDrawn="1">
          <p15:clr>
            <a:srgbClr val="FBAE40"/>
          </p15:clr>
        </p15:guide>
        <p15:guide id="2" pos="2880" userDrawn="1">
          <p15:clr>
            <a:srgbClr val="FBAE40"/>
          </p15:clr>
        </p15:guide>
        <p15:guide id="4" pos="3833" userDrawn="1">
          <p15:clr>
            <a:srgbClr val="FBAE40"/>
          </p15:clr>
        </p15:guide>
        <p15:guide id="5" orient="horz" pos="2614" userDrawn="1">
          <p15:clr>
            <a:srgbClr val="FBAE40"/>
          </p15:clr>
        </p15:guide>
        <p15:guide id="6" pos="567" userDrawn="1">
          <p15:clr>
            <a:srgbClr val="FBAE40"/>
          </p15:clr>
        </p15:guide>
        <p15:guide id="8" pos="1927" userDrawn="1">
          <p15:clr>
            <a:srgbClr val="FBAE40"/>
          </p15:clr>
        </p15:guide>
        <p15:guide id="9" pos="3854" userDrawn="1">
          <p15:clr>
            <a:srgbClr val="FBAE40"/>
          </p15:clr>
        </p15:guide>
        <p15:guide id="10" orient="horz" pos="259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2E2A74-33A9-1E47-9EBD-B4B8BA3C3C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065" y="692697"/>
            <a:ext cx="7886700" cy="76835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458065" y="1461052"/>
            <a:ext cx="2547073" cy="4536504"/>
          </a:xfrm>
          <a:prstGeom prst="rect">
            <a:avLst/>
          </a:prstGeom>
        </p:spPr>
        <p:txBody>
          <a:bodyPr lIns="0" tIns="0" rIns="0" bIns="0" numCol="1" spcCol="216000"/>
          <a:lstStyle>
            <a:lvl1pPr marL="285750" marR="0" indent="-285750" algn="l" defTabSz="606425" rtl="0" eaLnBrk="1" fontAlgn="base" latinLnBrk="0" hangingPunct="1">
              <a:lnSpc>
                <a:spcPts val="2000"/>
              </a:lnSpc>
              <a:spcBef>
                <a:spcPts val="0"/>
              </a:spcBef>
              <a:spcAft>
                <a:spcPct val="0"/>
              </a:spcAft>
              <a:buClr>
                <a:srgbClr val="7A7392"/>
              </a:buClr>
              <a:buSzTx/>
              <a:buFont typeface="Arial" panose="020B0604020202020204" pitchFamily="34" charset="0"/>
              <a:buChar char="•"/>
              <a:tabLst/>
              <a:defRPr sz="1800" b="0" i="0" baseline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541338" indent="-274638">
              <a:buClr>
                <a:srgbClr val="7A7392"/>
              </a:buClr>
              <a:buFont typeface="Courier New" panose="02070309020205020404" pitchFamily="49" charset="0"/>
              <a:buChar char="o"/>
              <a:defRPr sz="18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808038" indent="-177800">
              <a:buClr>
                <a:srgbClr val="7A7392"/>
              </a:buClr>
              <a:buFont typeface="Arial" panose="020B0604020202020204" pitchFamily="34" charset="0"/>
              <a:buChar char="̶"/>
              <a:defRPr sz="18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163638" indent="-301625">
              <a:defRPr sz="14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4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Second Bullet Point</a:t>
            </a:r>
          </a:p>
          <a:p>
            <a:pPr lvl="2"/>
            <a:r>
              <a:rPr lang="en-GB"/>
              <a:t>Third Bullet Point</a:t>
            </a:r>
          </a:p>
          <a:p>
            <a:pPr lvl="3"/>
            <a:endParaRPr lang="en-GB"/>
          </a:p>
        </p:txBody>
      </p:sp>
      <p:sp>
        <p:nvSpPr>
          <p:cNvPr id="5" name="Picture Placeholder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041650" y="1461052"/>
            <a:ext cx="3043238" cy="539694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7" name="Picture Placeholder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121400" y="4146550"/>
            <a:ext cx="3022600" cy="271145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6" name="Picture Placeholder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121400" y="1461053"/>
            <a:ext cx="3022599" cy="2650572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76145381"/>
      </p:ext>
    </p:extLst>
  </p:cSld>
  <p:clrMapOvr>
    <a:masterClrMapping/>
  </p:clrMapOvr>
  <p:transition spd="slow">
    <p:fade/>
  </p:transition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  <p15:guide id="3" pos="3856" userDrawn="1">
          <p15:clr>
            <a:srgbClr val="FBAE40"/>
          </p15:clr>
        </p15:guide>
        <p15:guide id="4" pos="3833" userDrawn="1">
          <p15:clr>
            <a:srgbClr val="FBAE40"/>
          </p15:clr>
        </p15:guide>
        <p15:guide id="6" orient="horz" pos="2590" userDrawn="1">
          <p15:clr>
            <a:srgbClr val="FBAE40"/>
          </p15:clr>
        </p15:guide>
        <p15:guide id="7" orient="horz" pos="2612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FAFF90F4-0461-4994-8ECC-80648A92CC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065" y="692697"/>
            <a:ext cx="7886700" cy="119697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2"/>
          </p:nvPr>
        </p:nvSpPr>
        <p:spPr>
          <a:xfrm>
            <a:off x="1042988" y="1916832"/>
            <a:ext cx="7058025" cy="352839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3600"/>
              </a:lnSpc>
              <a:buNone/>
              <a:defRPr sz="2800" b="0" i="1" baseline="0">
                <a:solidFill>
                  <a:srgbClr val="7A7392"/>
                </a:solidFill>
                <a:latin typeface="+mj-lt"/>
              </a:defRPr>
            </a:lvl1pPr>
            <a:lvl2pPr marL="609600" indent="0">
              <a:lnSpc>
                <a:spcPts val="3600"/>
              </a:lnSpc>
              <a:buNone/>
              <a:defRPr sz="2800" b="0" i="1" baseline="0">
                <a:solidFill>
                  <a:srgbClr val="7A7392"/>
                </a:solidFill>
                <a:latin typeface="+mj-lt"/>
              </a:defRPr>
            </a:lvl2pPr>
            <a:lvl3pPr marL="1219200" indent="0">
              <a:lnSpc>
                <a:spcPts val="3600"/>
              </a:lnSpc>
              <a:buNone/>
              <a:defRPr sz="2800" b="0" i="1" baseline="0">
                <a:solidFill>
                  <a:srgbClr val="7A7392"/>
                </a:solidFill>
                <a:latin typeface="+mj-lt"/>
              </a:defRPr>
            </a:lvl3pPr>
            <a:lvl4pPr marL="1828800" indent="0">
              <a:lnSpc>
                <a:spcPts val="3600"/>
              </a:lnSpc>
              <a:buNone/>
              <a:defRPr sz="2800" b="0" i="1" baseline="0">
                <a:solidFill>
                  <a:srgbClr val="7A7392"/>
                </a:solidFill>
                <a:latin typeface="+mj-lt"/>
              </a:defRPr>
            </a:lvl4pPr>
            <a:lvl5pPr marL="2438400" indent="0">
              <a:lnSpc>
                <a:spcPts val="3600"/>
              </a:lnSpc>
              <a:buNone/>
              <a:defRPr sz="2800" b="0" i="1" baseline="0">
                <a:solidFill>
                  <a:srgbClr val="7A7392"/>
                </a:solidFill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13"/>
          </p:nvPr>
        </p:nvSpPr>
        <p:spPr>
          <a:xfrm>
            <a:off x="1042988" y="5661025"/>
            <a:ext cx="7058025" cy="1196975"/>
          </a:xfrm>
          <a:prstGeom prst="rect">
            <a:avLst/>
          </a:prstGeom>
        </p:spPr>
        <p:txBody>
          <a:bodyPr/>
          <a:lstStyle>
            <a:lvl1pPr marL="0" indent="0" algn="r">
              <a:lnSpc>
                <a:spcPts val="1800"/>
              </a:lnSpc>
              <a:buNone/>
              <a:defRPr sz="1800" baseline="0">
                <a:solidFill>
                  <a:schemeClr val="tx1"/>
                </a:solidFill>
                <a:latin typeface="+mn-lt"/>
              </a:defRPr>
            </a:lvl1pPr>
            <a:lvl2pPr marL="609600" indent="0" algn="r">
              <a:lnSpc>
                <a:spcPts val="1800"/>
              </a:lnSpc>
              <a:buNone/>
              <a:defRPr sz="1800" baseline="0">
                <a:solidFill>
                  <a:schemeClr val="tx1"/>
                </a:solidFill>
                <a:latin typeface="+mn-lt"/>
              </a:defRPr>
            </a:lvl2pPr>
            <a:lvl3pPr marL="1219200" indent="0" algn="r">
              <a:lnSpc>
                <a:spcPts val="1800"/>
              </a:lnSpc>
              <a:buNone/>
              <a:defRPr sz="1800" baseline="0">
                <a:solidFill>
                  <a:schemeClr val="tx1"/>
                </a:solidFill>
                <a:latin typeface="+mn-lt"/>
              </a:defRPr>
            </a:lvl3pPr>
            <a:lvl4pPr marL="1828800" indent="0" algn="r">
              <a:lnSpc>
                <a:spcPts val="1800"/>
              </a:lnSpc>
              <a:buNone/>
              <a:defRPr sz="1800" baseline="0">
                <a:solidFill>
                  <a:schemeClr val="tx1"/>
                </a:solidFill>
                <a:latin typeface="+mn-lt"/>
              </a:defRPr>
            </a:lvl4pPr>
            <a:lvl5pPr marL="2438400" indent="0" algn="r">
              <a:lnSpc>
                <a:spcPts val="1800"/>
              </a:lnSpc>
              <a:buNone/>
              <a:defRPr sz="1800" baseline="0"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1206941"/>
      </p:ext>
    </p:extLst>
  </p:cSld>
  <p:clrMapOvr>
    <a:masterClrMapping/>
  </p:clrMapOvr>
  <p:transition spd="slow">
    <p:fade/>
  </p:transition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  <p15:guide id="3" orient="horz" pos="572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291BB70-497C-4277-BE10-470B42F44D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9" name="Text Placeholder 12"/>
          <p:cNvSpPr>
            <a:spLocks noGrp="1"/>
          </p:cNvSpPr>
          <p:nvPr>
            <p:ph type="body" sz="quarter" idx="12" hasCustomPrompt="1"/>
          </p:nvPr>
        </p:nvSpPr>
        <p:spPr>
          <a:xfrm>
            <a:off x="215403" y="2852936"/>
            <a:ext cx="4283969" cy="2592288"/>
          </a:xfrm>
          <a:prstGeom prst="rect">
            <a:avLst/>
          </a:prstGeom>
        </p:spPr>
        <p:txBody>
          <a:bodyPr/>
          <a:lstStyle>
            <a:lvl1pPr marL="0" indent="0" algn="r">
              <a:lnSpc>
                <a:spcPts val="9600"/>
              </a:lnSpc>
              <a:buNone/>
              <a:defRPr sz="13000" b="0" i="0" baseline="0">
                <a:solidFill>
                  <a:srgbClr val="7A7392"/>
                </a:solidFill>
                <a:latin typeface="+mj-lt"/>
                <a:ea typeface="Georgia" charset="0"/>
                <a:cs typeface="Georgia" charset="0"/>
              </a:defRPr>
            </a:lvl1pPr>
            <a:lvl2pPr marL="609600" indent="0" algn="r">
              <a:lnSpc>
                <a:spcPts val="3600"/>
              </a:lnSpc>
              <a:buNone/>
              <a:defRPr sz="9600" b="0" i="0" baseline="0">
                <a:solidFill>
                  <a:schemeClr val="bg1"/>
                </a:solidFill>
                <a:latin typeface="Georgia" charset="0"/>
                <a:ea typeface="Georgia" charset="0"/>
                <a:cs typeface="Georgia" charset="0"/>
              </a:defRPr>
            </a:lvl2pPr>
            <a:lvl3pPr marL="1219200" indent="0" algn="r">
              <a:lnSpc>
                <a:spcPts val="3600"/>
              </a:lnSpc>
              <a:buNone/>
              <a:defRPr sz="9600" b="0" i="0" baseline="0">
                <a:solidFill>
                  <a:schemeClr val="bg1"/>
                </a:solidFill>
                <a:latin typeface="Georgia" charset="0"/>
                <a:ea typeface="Georgia" charset="0"/>
                <a:cs typeface="Georgia" charset="0"/>
              </a:defRPr>
            </a:lvl3pPr>
            <a:lvl4pPr marL="1828800" indent="0" algn="r">
              <a:lnSpc>
                <a:spcPts val="3600"/>
              </a:lnSpc>
              <a:buNone/>
              <a:defRPr sz="9600" b="0" i="0" baseline="0">
                <a:solidFill>
                  <a:schemeClr val="bg1"/>
                </a:solidFill>
                <a:latin typeface="Georgia" charset="0"/>
                <a:ea typeface="Georgia" charset="0"/>
                <a:cs typeface="Georgia" charset="0"/>
              </a:defRPr>
            </a:lvl4pPr>
            <a:lvl5pPr marL="2438400" indent="0" algn="r">
              <a:lnSpc>
                <a:spcPts val="3600"/>
              </a:lnSpc>
              <a:buNone/>
              <a:defRPr sz="9600" b="0" i="0" baseline="0">
                <a:solidFill>
                  <a:schemeClr val="bg1"/>
                </a:solidFill>
                <a:latin typeface="Georgia" charset="0"/>
                <a:ea typeface="Georgia" charset="0"/>
                <a:cs typeface="Georgia" charset="0"/>
              </a:defRPr>
            </a:lvl5pPr>
          </a:lstStyle>
          <a:p>
            <a:pPr lvl="0"/>
            <a:r>
              <a:rPr lang="en-GB"/>
              <a:t>100%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19D4CE-1D53-486E-821D-6DD3FBD41AD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859338" y="2852738"/>
            <a:ext cx="3656012" cy="2592387"/>
          </a:xfrm>
          <a:prstGeom prst="rect">
            <a:avLst/>
          </a:prstGeom>
        </p:spPr>
        <p:txBody>
          <a:bodyPr/>
          <a:lstStyle>
            <a:lvl1pPr>
              <a:defRPr sz="1800">
                <a:solidFill>
                  <a:srgbClr val="7A7392"/>
                </a:solidFill>
              </a:defRPr>
            </a:lvl1pPr>
            <a:lvl2pPr marL="609600" indent="0">
              <a:buNone/>
              <a:defRPr sz="1800">
                <a:solidFill>
                  <a:srgbClr val="7A7392"/>
                </a:solidFill>
              </a:defRPr>
            </a:lvl2pPr>
            <a:lvl3pPr marL="1219200" indent="0">
              <a:buNone/>
              <a:defRPr sz="1800">
                <a:solidFill>
                  <a:srgbClr val="7A7392"/>
                </a:solidFill>
              </a:defRPr>
            </a:lvl3pPr>
            <a:lvl4pPr marL="1828800" indent="0">
              <a:buNone/>
              <a:defRPr sz="1800">
                <a:solidFill>
                  <a:srgbClr val="7A7392"/>
                </a:solidFill>
              </a:defRPr>
            </a:lvl4pPr>
            <a:lvl5pPr marL="2438400" indent="0">
              <a:buNone/>
              <a:defRPr sz="1800">
                <a:solidFill>
                  <a:srgbClr val="7A7392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1" name="Text Placeholder 14"/>
          <p:cNvSpPr>
            <a:spLocks noGrp="1"/>
          </p:cNvSpPr>
          <p:nvPr>
            <p:ph type="body" sz="quarter" idx="14"/>
          </p:nvPr>
        </p:nvSpPr>
        <p:spPr>
          <a:xfrm>
            <a:off x="970980" y="5661025"/>
            <a:ext cx="7129412" cy="648295"/>
          </a:xfrm>
          <a:prstGeom prst="rect">
            <a:avLst/>
          </a:prstGeom>
        </p:spPr>
        <p:txBody>
          <a:bodyPr/>
          <a:lstStyle>
            <a:lvl1pPr marL="0" indent="0" algn="r">
              <a:lnSpc>
                <a:spcPts val="1400"/>
              </a:lnSpc>
              <a:buNone/>
              <a:defRPr sz="1800" baseline="0">
                <a:solidFill>
                  <a:schemeClr val="tx1"/>
                </a:solidFill>
                <a:latin typeface="Tahoma" charset="0"/>
              </a:defRPr>
            </a:lvl1pPr>
            <a:lvl2pPr marL="609600" indent="0" algn="r">
              <a:lnSpc>
                <a:spcPts val="1400"/>
              </a:lnSpc>
              <a:buNone/>
              <a:defRPr sz="1800" baseline="0">
                <a:solidFill>
                  <a:schemeClr val="tx1"/>
                </a:solidFill>
                <a:latin typeface="Tahoma" charset="0"/>
              </a:defRPr>
            </a:lvl2pPr>
            <a:lvl3pPr marL="1219200" indent="0" algn="r">
              <a:lnSpc>
                <a:spcPts val="1400"/>
              </a:lnSpc>
              <a:buNone/>
              <a:defRPr sz="1800" baseline="0">
                <a:solidFill>
                  <a:schemeClr val="tx1"/>
                </a:solidFill>
                <a:latin typeface="Tahoma" charset="0"/>
              </a:defRPr>
            </a:lvl3pPr>
            <a:lvl4pPr marL="1828800" indent="0" algn="r">
              <a:lnSpc>
                <a:spcPts val="1400"/>
              </a:lnSpc>
              <a:buNone/>
              <a:defRPr sz="1800" baseline="0">
                <a:solidFill>
                  <a:schemeClr val="tx1"/>
                </a:solidFill>
                <a:latin typeface="Tahoma" charset="0"/>
              </a:defRPr>
            </a:lvl4pPr>
            <a:lvl5pPr marL="2438400" indent="0" algn="r">
              <a:lnSpc>
                <a:spcPts val="1400"/>
              </a:lnSpc>
              <a:buNone/>
              <a:defRPr sz="1800" baseline="0">
                <a:solidFill>
                  <a:schemeClr val="tx1"/>
                </a:solidFill>
                <a:latin typeface="Tahoma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64973426"/>
      </p:ext>
    </p:extLst>
  </p:cSld>
  <p:clrMapOvr>
    <a:masterClrMapping/>
  </p:clrMapOvr>
  <p:transition spd="slow">
    <p:fade/>
  </p:transition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  <p15:guide id="3" orient="horz" pos="1842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3EDB84-0680-402A-98AB-12EE75CE41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9D61E94-4184-4A75-8052-87B57311C3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3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892" indent="0" algn="ctr">
              <a:buNone/>
              <a:defRPr sz="1500"/>
            </a:lvl2pPr>
            <a:lvl3pPr marL="685783" indent="0" algn="ctr">
              <a:buNone/>
              <a:defRPr sz="1350"/>
            </a:lvl3pPr>
            <a:lvl4pPr marL="1028675" indent="0" algn="ctr">
              <a:buNone/>
              <a:defRPr sz="1200"/>
            </a:lvl4pPr>
            <a:lvl5pPr marL="1371566" indent="0" algn="ctr">
              <a:buNone/>
              <a:defRPr sz="1200"/>
            </a:lvl5pPr>
            <a:lvl6pPr marL="1714457" indent="0" algn="ctr">
              <a:buNone/>
              <a:defRPr sz="1200"/>
            </a:lvl6pPr>
            <a:lvl7pPr marL="2057348" indent="0" algn="ctr">
              <a:buNone/>
              <a:defRPr sz="1200"/>
            </a:lvl7pPr>
            <a:lvl8pPr marL="2400240" indent="0" algn="ctr">
              <a:buNone/>
              <a:defRPr sz="1200"/>
            </a:lvl8pPr>
            <a:lvl9pPr marL="2743132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59ECEE-B2A4-43F6-9DA6-32B50D150F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BC5923-7DD6-4CB9-BA03-09F03E13C73F}" type="datetimeFigureOut">
              <a:rPr lang="en-GB" smtClean="0"/>
              <a:t>10/12/2025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247872-1786-4B70-A28C-C683FBC7CC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B688D4-1792-4818-901D-BB017C81A6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009E2C-FEE2-4552-B3C5-C1E1B82F92D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2659659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7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1024FF-3E1E-431F-977E-945DB2535B1A}" type="datetime1">
              <a:rPr lang="en-GB" smtClean="0"/>
              <a:t>10/12/2025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9C4FB-888A-4D12-A1C4-C744D94026CD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1520705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25698-7006-49AC-A3AF-F58AE925DD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>
            <a:normAutofit/>
          </a:bodyPr>
          <a:lstStyle>
            <a:lvl1pPr algn="l">
              <a:defRPr sz="4950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1152744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B3D6B-12FE-48DD-9D24-09DE6CF5F7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0165" y="1162843"/>
            <a:ext cx="4845503" cy="1325563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FC3F99-2ABC-4DED-9BAA-53B2975B49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0165" y="2488406"/>
            <a:ext cx="4845503" cy="260610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350"/>
            </a:lvl1pPr>
            <a:lvl2pPr>
              <a:defRPr sz="1350"/>
            </a:lvl2pPr>
            <a:lvl3pPr>
              <a:defRPr sz="1350"/>
            </a:lvl3pPr>
            <a:lvl4pPr>
              <a:defRPr sz="1350"/>
            </a:lvl4pPr>
            <a:lvl5pPr>
              <a:defRPr sz="135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945546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319CED33-46BB-484D-A101-CB9CFE82DD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0165" y="1162843"/>
            <a:ext cx="4845503" cy="1325563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1999D810-31CB-418C-B764-FAA38BB845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0165" y="2488406"/>
            <a:ext cx="4845503" cy="260610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350"/>
            </a:lvl1pPr>
            <a:lvl2pPr>
              <a:defRPr sz="1350"/>
            </a:lvl2pPr>
            <a:lvl3pPr>
              <a:defRPr sz="1350"/>
            </a:lvl3pPr>
            <a:lvl4pPr>
              <a:defRPr sz="1350"/>
            </a:lvl4pPr>
            <a:lvl5pPr>
              <a:defRPr sz="135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5937647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A803A8-87D8-4873-AC2F-237AFF1DF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8FBC1-3D57-4203-A6F3-B5A8781ECB77}" type="datetimeFigureOut">
              <a:rPr lang="en-GB" smtClean="0"/>
              <a:t>10/12/2025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7CCA7E-299B-40DA-BB0F-7904B030F6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EE25AD-AA88-460F-BDDA-57F235E302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89077-3F3A-4578-8E13-09C89609C916}" type="slidenum">
              <a:rPr lang="en-GB" smtClean="0"/>
              <a:t>‹#›</a:t>
            </a:fld>
            <a:endParaRPr lang="en-GB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C9968AF8-5E5E-4245-8E15-F6BD6EA040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0165" y="1162843"/>
            <a:ext cx="4845503" cy="1325563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CA8837A9-2A32-41CE-8288-E5766ACFB4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0165" y="2488406"/>
            <a:ext cx="4845503" cy="260610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350"/>
            </a:lvl1pPr>
            <a:lvl2pPr>
              <a:defRPr sz="1350"/>
            </a:lvl2pPr>
            <a:lvl3pPr>
              <a:defRPr sz="1350"/>
            </a:lvl3pPr>
            <a:lvl4pPr>
              <a:defRPr sz="1350"/>
            </a:lvl4pPr>
            <a:lvl5pPr>
              <a:defRPr sz="135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6832610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A803A8-87D8-4873-AC2F-237AFF1DF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8FBC1-3D57-4203-A6F3-B5A8781ECB77}" type="datetimeFigureOut">
              <a:rPr lang="en-GB" smtClean="0"/>
              <a:t>10/12/2025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7CCA7E-299B-40DA-BB0F-7904B030F6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EE25AD-AA88-460F-BDDA-57F235E302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89077-3F3A-4578-8E13-09C89609C916}" type="slidenum">
              <a:rPr lang="en-GB" smtClean="0"/>
              <a:t>‹#›</a:t>
            </a:fld>
            <a:endParaRPr lang="en-GB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41E3FE4-4998-4E19-922D-69F6D20C6C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0165" y="1162843"/>
            <a:ext cx="4845503" cy="1325563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44EB73C4-C93C-47BF-92CC-F1B2D71DBB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0165" y="2488406"/>
            <a:ext cx="4845503" cy="260610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350"/>
            </a:lvl1pPr>
            <a:lvl2pPr>
              <a:defRPr sz="1350"/>
            </a:lvl2pPr>
            <a:lvl3pPr>
              <a:defRPr sz="1350"/>
            </a:lvl3pPr>
            <a:lvl4pPr>
              <a:defRPr sz="1350"/>
            </a:lvl4pPr>
            <a:lvl5pPr>
              <a:defRPr sz="135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7313037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741E3FE4-4998-4E19-922D-69F6D20C6C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33108" y="314210"/>
            <a:ext cx="5510893" cy="1325563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44EB73C4-C93C-47BF-92CC-F1B2D71DBB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33108" y="1668460"/>
            <a:ext cx="4845503" cy="260610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350"/>
            </a:lvl1pPr>
            <a:lvl2pPr>
              <a:defRPr sz="1350"/>
            </a:lvl2pPr>
            <a:lvl3pPr>
              <a:defRPr sz="1350"/>
            </a:lvl3pPr>
            <a:lvl4pPr>
              <a:defRPr sz="1350"/>
            </a:lvl4pPr>
            <a:lvl5pPr>
              <a:defRPr sz="135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5259200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741E3FE4-4998-4E19-922D-69F6D20C6C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33108" y="314210"/>
            <a:ext cx="5510893" cy="1325563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44EB73C4-C93C-47BF-92CC-F1B2D71DBB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33108" y="1668460"/>
            <a:ext cx="4845503" cy="260610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350"/>
            </a:lvl1pPr>
            <a:lvl2pPr>
              <a:defRPr sz="1350"/>
            </a:lvl2pPr>
            <a:lvl3pPr>
              <a:defRPr sz="1350"/>
            </a:lvl3pPr>
            <a:lvl4pPr>
              <a:defRPr sz="1350"/>
            </a:lvl4pPr>
            <a:lvl5pPr>
              <a:defRPr sz="135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7166639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741E3FE4-4998-4E19-922D-69F6D20C6C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33108" y="314210"/>
            <a:ext cx="5510893" cy="1325563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44EB73C4-C93C-47BF-92CC-F1B2D71DBB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33108" y="1668460"/>
            <a:ext cx="4845503" cy="260610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350"/>
            </a:lvl1pPr>
            <a:lvl2pPr>
              <a:defRPr sz="1350"/>
            </a:lvl2pPr>
            <a:lvl3pPr>
              <a:defRPr sz="1350"/>
            </a:lvl3pPr>
            <a:lvl4pPr>
              <a:defRPr sz="1350"/>
            </a:lvl4pPr>
            <a:lvl5pPr>
              <a:defRPr sz="135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6560125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7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741E3FE4-4998-4E19-922D-69F6D20C6C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33108" y="314210"/>
            <a:ext cx="5510893" cy="1325563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44EB73C4-C93C-47BF-92CC-F1B2D71DBB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33108" y="1668460"/>
            <a:ext cx="4845503" cy="260610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350"/>
            </a:lvl1pPr>
            <a:lvl2pPr>
              <a:defRPr sz="1350"/>
            </a:lvl2pPr>
            <a:lvl3pPr>
              <a:defRPr sz="1350"/>
            </a:lvl3pPr>
            <a:lvl4pPr>
              <a:defRPr sz="1350"/>
            </a:lvl4pPr>
            <a:lvl5pPr>
              <a:defRPr sz="135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1095242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8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B3D6B-12FE-48DD-9D24-09DE6CF5F7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0165" y="1162843"/>
            <a:ext cx="4845503" cy="1325563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FC3F99-2ABC-4DED-9BAA-53B2975B49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0165" y="2488406"/>
            <a:ext cx="4845503" cy="260610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35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>
              <a:defRPr sz="1350"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defRPr sz="1350"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defRPr sz="1350"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defRPr sz="1350"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588261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28F6A69-C2A1-4F40-8042-D96545686D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8FBC1-3D57-4203-A6F3-B5A8781ECB77}" type="datetimeFigureOut">
              <a:rPr lang="en-GB" smtClean="0"/>
              <a:t>10/12/2025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92FDC6F-C118-47FD-9E86-E7F2644179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000D42-E28E-4F34-9A3B-25411EC00C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89077-3F3A-4578-8E13-09C89609C91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97897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4_Blan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28F6A69-C2A1-4F40-8042-D96545686D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8FBC1-3D57-4203-A6F3-B5A8781ECB77}" type="datetimeFigureOut">
              <a:rPr lang="en-GB" smtClean="0"/>
              <a:t>10/12/2025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92FDC6F-C118-47FD-9E86-E7F2644179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000D42-E28E-4F34-9A3B-25411EC00C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89077-3F3A-4578-8E13-09C89609C91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2989428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28F6A69-C2A1-4F40-8042-D96545686D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8FBC1-3D57-4203-A6F3-B5A8781ECB77}" type="datetimeFigureOut">
              <a:rPr lang="en-GB" smtClean="0"/>
              <a:t>10/12/2025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92FDC6F-C118-47FD-9E86-E7F2644179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000D42-E28E-4F34-9A3B-25411EC00C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89077-3F3A-4578-8E13-09C89609C91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7601802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Blan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28F6A69-C2A1-4F40-8042-D96545686D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8FBC1-3D57-4203-A6F3-B5A8781ECB77}" type="datetimeFigureOut">
              <a:rPr lang="en-GB" smtClean="0"/>
              <a:t>10/12/2025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92FDC6F-C118-47FD-9E86-E7F2644179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000D42-E28E-4F34-9A3B-25411EC00C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89077-3F3A-4578-8E13-09C89609C91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1207068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_Blan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28F6A69-C2A1-4F40-8042-D96545686D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8FBC1-3D57-4203-A6F3-B5A8781ECB77}" type="datetimeFigureOut">
              <a:rPr lang="en-GB" smtClean="0"/>
              <a:t>10/12/2025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92FDC6F-C118-47FD-9E86-E7F2644179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000D42-E28E-4F34-9A3B-25411EC00C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89077-3F3A-4578-8E13-09C89609C91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0479110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F89ABE-8A7C-4515-A3FB-AA4561E0C3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CED6D2-89C9-4A9A-8626-33F1B806AF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E72D39-DEB0-4439-99E2-1FDDF7C254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8FBC1-3D57-4203-A6F3-B5A8781ECB77}" type="datetimeFigureOut">
              <a:rPr lang="en-GB" smtClean="0"/>
              <a:t>10/12/2025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B78CC1-9332-43FB-AD52-77511B1567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0A0946-C698-4CA5-85B6-840962338A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89077-3F3A-4578-8E13-09C89609C91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9509320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6467C5-0163-47EB-B8C0-DCA7B2B688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0C4ECF-3A6A-4291-9351-7875789FC28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60C836-7E25-45E6-8E10-5CCEC12F5C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8421FE-BC31-4B21-BC95-C4A470A19E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8FBC1-3D57-4203-A6F3-B5A8781ECB77}" type="datetimeFigureOut">
              <a:rPr lang="en-GB" smtClean="0"/>
              <a:t>10/12/2025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E558A4-D37E-42FB-887A-6DE1BD2179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BD06B5-DADB-4D6A-B24D-18F63FEC04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89077-3F3A-4578-8E13-09C89609C91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7617869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95FDBB-5942-4EF4-9379-1A87F53B0B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FDF420-2775-4867-8DA4-CE5B8E5570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E6C9D8-76CA-4193-A654-E6C05A27F9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117015B-1812-48C9-AA77-D1EBBAADAF5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6AFFFFF-E083-4B47-8C40-2401B01DFD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209CFD7-584F-432B-8ED4-790347DB6C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8FBC1-3D57-4203-A6F3-B5A8781ECB77}" type="datetimeFigureOut">
              <a:rPr lang="en-GB" smtClean="0"/>
              <a:t>10/12/2025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B5EA4C8-77BD-4651-887B-4646182B68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07BEC85-AB33-46B9-957E-E120F6F3B8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89077-3F3A-4578-8E13-09C89609C91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68661527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56B2F80B-CC31-4002-A9DA-93254A3490C7}"/>
              </a:ext>
            </a:extLst>
          </p:cNvPr>
          <p:cNvSpPr txBox="1"/>
          <p:nvPr/>
        </p:nvSpPr>
        <p:spPr>
          <a:xfrm>
            <a:off x="664028" y="5573486"/>
            <a:ext cx="2457724" cy="7848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500">
                <a:solidFill>
                  <a:schemeClr val="bg1">
                    <a:lumMod val="95000"/>
                  </a:schemeClr>
                </a:solidFill>
              </a:rPr>
              <a:t>Name Surname</a:t>
            </a:r>
          </a:p>
          <a:p>
            <a:r>
              <a:rPr lang="en-GB" sz="1500">
                <a:solidFill>
                  <a:schemeClr val="bg1">
                    <a:lumMod val="95000"/>
                  </a:schemeClr>
                </a:solidFill>
              </a:rPr>
              <a:t>Department Name</a:t>
            </a:r>
          </a:p>
          <a:p>
            <a:r>
              <a:rPr lang="en-GB" sz="1500" b="1">
                <a:solidFill>
                  <a:schemeClr val="bg1">
                    <a:lumMod val="95000"/>
                  </a:schemeClr>
                </a:solidFill>
              </a:rPr>
              <a:t>email@department.ac.uk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5EF66B0-B23B-41E0-AB0D-A524923CFEDB}"/>
              </a:ext>
            </a:extLst>
          </p:cNvPr>
          <p:cNvSpPr txBox="1"/>
          <p:nvPr/>
        </p:nvSpPr>
        <p:spPr>
          <a:xfrm>
            <a:off x="664028" y="5573486"/>
            <a:ext cx="2457724" cy="7848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500">
                <a:solidFill>
                  <a:schemeClr val="bg1">
                    <a:lumMod val="95000"/>
                  </a:schemeClr>
                </a:solidFill>
              </a:rPr>
              <a:t>Name Surname</a:t>
            </a:r>
          </a:p>
          <a:p>
            <a:r>
              <a:rPr lang="en-GB" sz="1500">
                <a:solidFill>
                  <a:schemeClr val="bg1">
                    <a:lumMod val="95000"/>
                  </a:schemeClr>
                </a:solidFill>
              </a:rPr>
              <a:t>Department Name</a:t>
            </a:r>
          </a:p>
          <a:p>
            <a:r>
              <a:rPr lang="en-GB" sz="1500" b="1">
                <a:solidFill>
                  <a:schemeClr val="bg1">
                    <a:lumMod val="95000"/>
                  </a:schemeClr>
                </a:solidFill>
              </a:rPr>
              <a:t>email@department.ac.uk</a:t>
            </a:r>
          </a:p>
        </p:txBody>
      </p:sp>
    </p:spTree>
    <p:extLst>
      <p:ext uri="{BB962C8B-B14F-4D97-AF65-F5344CB8AC3E}">
        <p14:creationId xmlns:p14="http://schemas.microsoft.com/office/powerpoint/2010/main" val="287380569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204228-4D20-4266-885B-31E7D29370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CD30CF-8167-4FDF-B753-8F4DDE18BB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C1ED9E-782C-4862-AE4B-A0CD737B67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3D8784-2C5D-4F62-9EF7-B4D416F6F7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8FBC1-3D57-4203-A6F3-B5A8781ECB77}" type="datetimeFigureOut">
              <a:rPr lang="en-GB" smtClean="0"/>
              <a:t>10/12/2025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389746-BF03-4405-940F-C853E281E8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26EF1A-A9CC-4629-AF56-8FFD5EC28F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89077-3F3A-4578-8E13-09C89609C91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92464852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CBC2D4-69A2-43B6-9AC7-8339DE8DF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0804D98-169F-4231-A453-565D81C8532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200FEF-E643-4A97-9B80-74F7071664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36C93B-0530-401B-B46E-F7AE09D966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8FBC1-3D57-4203-A6F3-B5A8781ECB77}" type="datetimeFigureOut">
              <a:rPr lang="en-GB" smtClean="0"/>
              <a:t>10/12/2025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0AE3B8-FD08-4763-8D43-4818C2F8CD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D784B0-4424-4AD8-9533-89964CE939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89077-3F3A-4578-8E13-09C89609C91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52057871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05C00B-3173-46BD-A581-B0A9461D4D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E192AEF-0F85-4789-B4BF-A77510101D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55905C-79C9-4358-91BA-90348BE038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8FBC1-3D57-4203-A6F3-B5A8781ECB77}" type="datetimeFigureOut">
              <a:rPr lang="en-GB" smtClean="0"/>
              <a:t>10/12/2025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D64BD1-FD54-4C6E-B99B-F9A77D9AE4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8FA1B9-2F1E-4397-819A-2224447105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89077-3F3A-4578-8E13-09C89609C91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4897208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B78B14B-B73C-4F0D-AB11-22EB00FD016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A770634-8FAD-49E4-83B9-DE16921498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FA3EAC-51D8-4BFC-8BA1-0EB7544D8A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8FBC1-3D57-4203-A6F3-B5A8781ECB77}" type="datetimeFigureOut">
              <a:rPr lang="en-GB" smtClean="0"/>
              <a:t>10/12/2025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257C8A-8E41-4F09-BB11-5AC7CC5B1A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915C7D-58C3-44F6-89FF-6A8BB3C6B5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89077-3F3A-4578-8E13-09C89609C91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49299256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3074613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25698-7006-49AC-A3AF-F58AE925DD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>
            <a:normAutofit/>
          </a:bodyPr>
          <a:lstStyle>
            <a:lvl1pPr algn="l">
              <a:defRPr sz="4950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61029753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9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319CED33-46BB-484D-A101-CB9CFE82DD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0165" y="1162843"/>
            <a:ext cx="4845503" cy="1325563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1999D810-31CB-418C-B764-FAA38BB845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0165" y="2488406"/>
            <a:ext cx="4845503" cy="260610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350"/>
            </a:lvl1pPr>
            <a:lvl2pPr>
              <a:defRPr sz="1350"/>
            </a:lvl2pPr>
            <a:lvl3pPr>
              <a:defRPr sz="1350"/>
            </a:lvl3pPr>
            <a:lvl4pPr>
              <a:defRPr sz="1350"/>
            </a:lvl4pPr>
            <a:lvl5pPr>
              <a:defRPr sz="135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5564114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0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A803A8-87D8-4873-AC2F-237AFF1DF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8FBC1-3D57-4203-A6F3-B5A8781ECB77}" type="datetimeFigureOut">
              <a:rPr lang="en-GB" smtClean="0"/>
              <a:t>10/12/2025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7CCA7E-299B-40DA-BB0F-7904B030F6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EE25AD-AA88-460F-BDDA-57F235E302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89077-3F3A-4578-8E13-09C89609C916}" type="slidenum">
              <a:rPr lang="en-GB" smtClean="0"/>
              <a:t>‹#›</a:t>
            </a:fld>
            <a:endParaRPr lang="en-GB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C9968AF8-5E5E-4245-8E15-F6BD6EA040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0165" y="1162843"/>
            <a:ext cx="4845503" cy="1325563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CA8837A9-2A32-41CE-8288-E5766ACFB4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0165" y="2488406"/>
            <a:ext cx="4845503" cy="260610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350"/>
            </a:lvl1pPr>
            <a:lvl2pPr>
              <a:defRPr sz="1350"/>
            </a:lvl2pPr>
            <a:lvl3pPr>
              <a:defRPr sz="1350"/>
            </a:lvl3pPr>
            <a:lvl4pPr>
              <a:defRPr sz="1350"/>
            </a:lvl4pPr>
            <a:lvl5pPr>
              <a:defRPr sz="135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50817621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1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A803A8-87D8-4873-AC2F-237AFF1DF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8FBC1-3D57-4203-A6F3-B5A8781ECB77}" type="datetimeFigureOut">
              <a:rPr lang="en-GB" smtClean="0"/>
              <a:t>10/12/2025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7CCA7E-299B-40DA-BB0F-7904B030F6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EE25AD-AA88-460F-BDDA-57F235E302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89077-3F3A-4578-8E13-09C89609C916}" type="slidenum">
              <a:rPr lang="en-GB" smtClean="0"/>
              <a:t>‹#›</a:t>
            </a:fld>
            <a:endParaRPr lang="en-GB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41E3FE4-4998-4E19-922D-69F6D20C6C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0165" y="1162843"/>
            <a:ext cx="4845503" cy="1325563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44EB73C4-C93C-47BF-92CC-F1B2D71DBB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0165" y="2488406"/>
            <a:ext cx="4845503" cy="260610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350"/>
            </a:lvl1pPr>
            <a:lvl2pPr>
              <a:defRPr sz="1350"/>
            </a:lvl2pPr>
            <a:lvl3pPr>
              <a:defRPr sz="1350"/>
            </a:lvl3pPr>
            <a:lvl4pPr>
              <a:defRPr sz="1350"/>
            </a:lvl4pPr>
            <a:lvl5pPr>
              <a:defRPr sz="135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27516708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2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741E3FE4-4998-4E19-922D-69F6D20C6C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33108" y="314210"/>
            <a:ext cx="5510893" cy="1325563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44EB73C4-C93C-47BF-92CC-F1B2D71DBB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33108" y="1668460"/>
            <a:ext cx="4845503" cy="260610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350"/>
            </a:lvl1pPr>
            <a:lvl2pPr>
              <a:defRPr sz="1350"/>
            </a:lvl2pPr>
            <a:lvl3pPr>
              <a:defRPr sz="1350"/>
            </a:lvl3pPr>
            <a:lvl4pPr>
              <a:defRPr sz="1350"/>
            </a:lvl4pPr>
            <a:lvl5pPr>
              <a:defRPr sz="135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9363156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3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741E3FE4-4998-4E19-922D-69F6D20C6C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33108" y="314210"/>
            <a:ext cx="5510893" cy="1325563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44EB73C4-C93C-47BF-92CC-F1B2D71DBB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33108" y="1668460"/>
            <a:ext cx="4845503" cy="260610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350"/>
            </a:lvl1pPr>
            <a:lvl2pPr>
              <a:defRPr sz="1350"/>
            </a:lvl2pPr>
            <a:lvl3pPr>
              <a:defRPr sz="1350"/>
            </a:lvl3pPr>
            <a:lvl4pPr>
              <a:defRPr sz="1350"/>
            </a:lvl4pPr>
            <a:lvl5pPr>
              <a:defRPr sz="135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08489277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4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741E3FE4-4998-4E19-922D-69F6D20C6C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33108" y="314210"/>
            <a:ext cx="5510893" cy="1325563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44EB73C4-C93C-47BF-92CC-F1B2D71DBB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33108" y="1668460"/>
            <a:ext cx="4845503" cy="260610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350"/>
            </a:lvl1pPr>
            <a:lvl2pPr>
              <a:defRPr sz="1350"/>
            </a:lvl2pPr>
            <a:lvl3pPr>
              <a:defRPr sz="1350"/>
            </a:lvl3pPr>
            <a:lvl4pPr>
              <a:defRPr sz="1350"/>
            </a:lvl4pPr>
            <a:lvl5pPr>
              <a:defRPr sz="135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86523336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5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741E3FE4-4998-4E19-922D-69F6D20C6C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33108" y="314210"/>
            <a:ext cx="5510893" cy="1325563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44EB73C4-C93C-47BF-92CC-F1B2D71DBB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33108" y="1668460"/>
            <a:ext cx="4845503" cy="260610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350"/>
            </a:lvl1pPr>
            <a:lvl2pPr>
              <a:defRPr sz="1350"/>
            </a:lvl2pPr>
            <a:lvl3pPr>
              <a:defRPr sz="1350"/>
            </a:lvl3pPr>
            <a:lvl4pPr>
              <a:defRPr sz="1350"/>
            </a:lvl4pPr>
            <a:lvl5pPr>
              <a:defRPr sz="135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74593579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Only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56B2F80B-CC31-4002-A9DA-93254A3490C7}"/>
              </a:ext>
            </a:extLst>
          </p:cNvPr>
          <p:cNvSpPr txBox="1"/>
          <p:nvPr/>
        </p:nvSpPr>
        <p:spPr>
          <a:xfrm>
            <a:off x="664028" y="5573486"/>
            <a:ext cx="2457724" cy="7848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500">
                <a:solidFill>
                  <a:schemeClr val="bg1">
                    <a:lumMod val="95000"/>
                  </a:schemeClr>
                </a:solidFill>
              </a:rPr>
              <a:t>Name Surname</a:t>
            </a:r>
          </a:p>
          <a:p>
            <a:r>
              <a:rPr lang="en-GB" sz="1500">
                <a:solidFill>
                  <a:schemeClr val="bg1">
                    <a:lumMod val="95000"/>
                  </a:schemeClr>
                </a:solidFill>
              </a:rPr>
              <a:t>Department Name</a:t>
            </a:r>
          </a:p>
          <a:p>
            <a:r>
              <a:rPr lang="en-GB" sz="1500" b="1">
                <a:solidFill>
                  <a:schemeClr val="bg1">
                    <a:lumMod val="95000"/>
                  </a:schemeClr>
                </a:solidFill>
              </a:rPr>
              <a:t>email@department.ac.uk</a:t>
            </a:r>
          </a:p>
        </p:txBody>
      </p:sp>
    </p:spTree>
    <p:extLst>
      <p:ext uri="{BB962C8B-B14F-4D97-AF65-F5344CB8AC3E}">
        <p14:creationId xmlns:p14="http://schemas.microsoft.com/office/powerpoint/2010/main" val="385223990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Basic Slide (blue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D478A3-D3C3-401F-A9BB-87A0490137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8134" y="1343378"/>
            <a:ext cx="7787216" cy="632178"/>
          </a:xfrm>
        </p:spPr>
        <p:txBody>
          <a:bodyPr anchor="t">
            <a:normAutofit/>
          </a:bodyPr>
          <a:lstStyle>
            <a:lvl1pPr algn="l">
              <a:defRPr sz="1800" b="1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C256CE-2BC3-44D1-957F-D154BEE9B2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8134" y="2167467"/>
            <a:ext cx="7787216" cy="3183466"/>
          </a:xfrm>
        </p:spPr>
        <p:txBody>
          <a:bodyPr>
            <a:normAutofit/>
          </a:bodyPr>
          <a:lstStyle>
            <a:lvl1pPr marL="0" indent="0" algn="l">
              <a:buNone/>
              <a:defRPr sz="1013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257175" indent="0" algn="ctr">
              <a:buNone/>
              <a:defRPr sz="1125"/>
            </a:lvl2pPr>
            <a:lvl3pPr marL="514350" indent="0" algn="ctr">
              <a:buNone/>
              <a:defRPr sz="1013"/>
            </a:lvl3pPr>
            <a:lvl4pPr marL="771525" indent="0" algn="ctr">
              <a:buNone/>
              <a:defRPr sz="900"/>
            </a:lvl4pPr>
            <a:lvl5pPr marL="1028700" indent="0" algn="ctr">
              <a:buNone/>
              <a:defRPr sz="900"/>
            </a:lvl5pPr>
            <a:lvl6pPr marL="1285875" indent="0" algn="ctr">
              <a:buNone/>
              <a:defRPr sz="900"/>
            </a:lvl6pPr>
            <a:lvl7pPr marL="1543050" indent="0" algn="ctr">
              <a:buNone/>
              <a:defRPr sz="900"/>
            </a:lvl7pPr>
            <a:lvl8pPr marL="1800225" indent="0" algn="ctr">
              <a:buNone/>
              <a:defRPr sz="900"/>
            </a:lvl8pPr>
            <a:lvl9pPr marL="2057400" indent="0" algn="ctr">
              <a:buNone/>
              <a:defRPr sz="9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83981752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Main headings, text and numbered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15215" y="0"/>
            <a:ext cx="1081087" cy="539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899593" y="692696"/>
            <a:ext cx="6515621" cy="63466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363"/>
              </a:lnSpc>
              <a:buFontTx/>
              <a:buNone/>
              <a:defRPr sz="2250" b="0" i="0">
                <a:solidFill>
                  <a:srgbClr val="16818D"/>
                </a:solidFill>
                <a:latin typeface="Georgia"/>
                <a:ea typeface="Georgia"/>
                <a:cs typeface="Georgia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>
          <a:xfrm>
            <a:off x="900115" y="1700217"/>
            <a:ext cx="6551612" cy="4465637"/>
          </a:xfrm>
          <a:prstGeom prst="rect">
            <a:avLst/>
          </a:prstGeom>
        </p:spPr>
        <p:txBody>
          <a:bodyPr/>
          <a:lstStyle>
            <a:lvl1pPr marL="150019" indent="-150019">
              <a:buClr>
                <a:srgbClr val="16818D"/>
              </a:buClr>
              <a:buFont typeface="+mj-lt"/>
              <a:buAutoNum type="arabicPeriod"/>
              <a:defRPr sz="9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304503" indent="-154484">
              <a:buClr>
                <a:srgbClr val="16818D"/>
              </a:buClr>
              <a:buFont typeface="+mj-lt"/>
              <a:buAutoNum type="romanLcPeriod"/>
              <a:defRPr sz="9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504528" indent="-150019">
              <a:buClr>
                <a:srgbClr val="16818D"/>
              </a:buClr>
              <a:buFont typeface="Arial" panose="020B0604020202020204" pitchFamily="34" charset="0"/>
              <a:buChar char="̶"/>
              <a:defRPr sz="9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318022" indent="-289322">
              <a:buFont typeface="+mj-lt"/>
              <a:buAutoNum type="arabicPeriod"/>
              <a:defRPr sz="9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1660922" indent="-289322">
              <a:buFont typeface="+mj-lt"/>
              <a:buAutoNum type="arabicPeriod"/>
              <a:defRPr sz="9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16384286"/>
      </p:ext>
    </p:extLst>
  </p:cSld>
  <p:clrMapOvr>
    <a:masterClrMapping/>
  </p:clrMapOvr>
  <p:transition spd="slow">
    <p:fade/>
  </p:transition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3A18FD-7ABF-44FE-89B9-D86F0129C9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7D0D95-805A-4DB5-A73D-6C2437BEA0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94C837-728F-4402-8ACE-B8F440373C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BA8CA-F49C-488B-B085-2E56E4E6DCFD}" type="datetimeFigureOut">
              <a:rPr lang="en-GB" smtClean="0"/>
              <a:t>10/12/2025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D9B5F3-7FF8-4A33-8C3F-95E7F04F2F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34FBFE-7136-4CB6-9D1B-A2637ACF57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63DCC-C58A-491C-892E-741A82B3FDB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5393379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12F116-771C-4F3C-BE95-FA76E393E4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E6CD6E-3652-4FF6-899E-FAFDF22110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CBECBE-6585-44ED-B729-F963941BB8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BA8CA-F49C-488B-B085-2E56E4E6DCFD}" type="datetimeFigureOut">
              <a:rPr lang="en-GB" smtClean="0"/>
              <a:t>10/12/2025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4ED0AE-3801-424D-96CA-C3D8552B1E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0B21A9-EE8D-43A4-9327-AF923ECC60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63DCC-C58A-491C-892E-741A82B3FDB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44091328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DD185E-C980-49A8-8543-459EDACE96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E9377D-1E61-46F2-96D6-76B6A18B12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A52C18-D06F-442B-A3A8-8E564894A2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BA8CA-F49C-488B-B085-2E56E4E6DCFD}" type="datetimeFigureOut">
              <a:rPr lang="en-GB" smtClean="0"/>
              <a:t>10/12/2025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23DC81-EC04-43FE-BD1D-40D6D80661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D8E6C9-8632-4F3D-B63A-1BA28697B5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63DCC-C58A-491C-892E-741A82B3FDB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32885971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00405F-2CEA-4372-8D7B-91B3D161EF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DD987D-2485-4B98-9B39-1313C23B08F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AAD152-D912-4E50-8982-6B1AD05C00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4F4C35-2E8D-4C0A-B44D-9DDA96FE4E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BA8CA-F49C-488B-B085-2E56E4E6DCFD}" type="datetimeFigureOut">
              <a:rPr lang="en-GB" smtClean="0"/>
              <a:t>10/12/2025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882D5-04CE-4F36-A4E1-4DFFD8F882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7C5FF9-82EF-4B71-8C22-7DDA915A39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63DCC-C58A-491C-892E-741A82B3FDB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987656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2279DA-5D90-4AC4-B85B-FD8CCF6E74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A1C8AF-DF58-472A-B662-6995F48D38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5D2876-C629-4686-A188-4F7568AC44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781AA8A-34F9-454C-B17B-18D302EE75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A5BC484-0F40-408D-9550-BD943F6A24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56F3BF6-7D83-4356-9DFB-9B186AEEA1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BA8CA-F49C-488B-B085-2E56E4E6DCFD}" type="datetimeFigureOut">
              <a:rPr lang="en-GB" smtClean="0"/>
              <a:t>10/12/2025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EBACB41-4B18-4DFC-B8A0-0981AD57F8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E008F8B-C6E4-49B6-BC00-CC246413C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63DCC-C58A-491C-892E-741A82B3FDB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41118784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E4A374-6F91-49BD-8ABC-4D58391AED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A52A651-DC3D-44F7-AE33-65F667CA52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BA8CA-F49C-488B-B085-2E56E4E6DCFD}" type="datetimeFigureOut">
              <a:rPr lang="en-GB" smtClean="0"/>
              <a:t>10/12/2025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905C047-DC05-4B50-9B9E-4E8D9F947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7F54246-F5BE-4B01-8BD1-194CF05B41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63DCC-C58A-491C-892E-741A82B3FDB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27815271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E977759-7ECD-45AF-8A35-D51155CEC3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BA8CA-F49C-488B-B085-2E56E4E6DCFD}" type="datetimeFigureOut">
              <a:rPr lang="en-GB" smtClean="0"/>
              <a:t>10/12/2025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DBEC7D1-F444-4FBC-A2BB-47326888F5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FAD7C9-ECE9-4B5F-8FD1-7B786C2DBD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63DCC-C58A-491C-892E-741A82B3FDB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062584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64FE7F-A09F-4E9F-BC94-1DF333231A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B5D40F-19BB-4B9A-956E-CB237149D6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612424-B759-4DE8-A25D-1580B6ACC4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A9FBDF-5B64-45C4-9DCB-5030113BDB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BA8CA-F49C-488B-B085-2E56E4E6DCFD}" type="datetimeFigureOut">
              <a:rPr lang="en-GB" smtClean="0"/>
              <a:t>10/12/2025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9F6409-4526-4CFE-9148-2C18D545EC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E636ED-28DE-4194-B5C3-E7BE477644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63DCC-C58A-491C-892E-741A82B3FDB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36965857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5A78EA-FACE-4724-994C-240C0C6AAC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E835FD0-E9C4-4260-8BD0-F4AE99411FB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E5D96F-FC84-414F-AD13-CF598F1CA1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47938F-8D30-4895-82D6-B24DFC22A6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BA8CA-F49C-488B-B085-2E56E4E6DCFD}" type="datetimeFigureOut">
              <a:rPr lang="en-GB" smtClean="0"/>
              <a:t>10/12/2025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BA32E2-E785-4BC2-AA74-32A6BFF39F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19AA52-0069-469F-BBAF-F5ADCE82D2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63DCC-C58A-491C-892E-741A82B3FDB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4254596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8217D-5EF8-47F4-8D2E-4EBF529F71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9A591BF-B1EE-4ACE-BD24-97D9FA59F5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320ACB-4872-4623-B5DF-9EAA93A62B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BA8CA-F49C-488B-B085-2E56E4E6DCFD}" type="datetimeFigureOut">
              <a:rPr lang="en-GB" smtClean="0"/>
              <a:t>10/12/2025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97191A-9C35-4C46-981B-683B362447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6A50DD-8BCA-4340-85B3-CD4B14FDD4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63DCC-C58A-491C-892E-741A82B3FDB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34823482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BAB9C08-B260-465F-8F47-3C0EC18B3FB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240E1F-D06B-4EA3-9D63-CE4123EE21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DF48AC-253B-42CE-A9D8-6A1DD33043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BA8CA-F49C-488B-B085-2E56E4E6DCFD}" type="datetimeFigureOut">
              <a:rPr lang="en-GB" smtClean="0"/>
              <a:t>10/12/2025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E33130-B4B8-46A5-9A4C-DE380B495E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8FC4D0-EE1D-4716-86AC-A793F21490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63DCC-C58A-491C-892E-741A82B3FDB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69963208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solidFill>
          <a:srgbClr val="1A9DA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0"/>
            <a:ext cx="1787872" cy="8959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6FE3B5BC-7C7D-A745-8158-A53C466DA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0826" y="1915479"/>
            <a:ext cx="5689524" cy="2089585"/>
          </a:xfrm>
          <a:prstGeom prst="rect">
            <a:avLst/>
          </a:prstGeom>
        </p:spPr>
        <p:txBody>
          <a:bodyPr lIns="0" tIns="0" rIns="0" b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69EC6F0B-C9B0-464E-ABF8-505FA2B99A3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86421" y="1916832"/>
            <a:ext cx="1219139" cy="26908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300"/>
              </a:lnSpc>
              <a:spcBef>
                <a:spcPts val="0"/>
              </a:spcBef>
              <a:buFontTx/>
              <a:buNone/>
              <a:defRPr sz="1600" b="0" i="0">
                <a:solidFill>
                  <a:schemeClr val="bg1"/>
                </a:solidFill>
                <a:latin typeface="+mj-lt"/>
                <a:ea typeface="Tahoma" charset="0"/>
                <a:cs typeface="Tahoma" charset="0"/>
              </a:defRPr>
            </a:lvl1pPr>
          </a:lstStyle>
          <a:p>
            <a:pPr lvl="0"/>
            <a:r>
              <a:rPr lang="en-US"/>
              <a:t>Presented by</a:t>
            </a: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C1E2BFEE-0AD7-C548-92B3-DE639BB40C8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6420" y="2323737"/>
            <a:ext cx="1219139" cy="4023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300"/>
              </a:lnSpc>
              <a:spcBef>
                <a:spcPts val="0"/>
              </a:spcBef>
              <a:buFontTx/>
              <a:buNone/>
              <a:defRPr sz="1800" b="1" i="0">
                <a:solidFill>
                  <a:schemeClr val="bg1"/>
                </a:solidFill>
                <a:latin typeface="+mj-lt"/>
                <a:ea typeface="Tahoma" charset="0"/>
                <a:cs typeface="Tahoma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8" name="Text Placeholder 14">
            <a:extLst>
              <a:ext uri="{FF2B5EF4-FFF2-40B4-BE49-F238E27FC236}">
                <a16:creationId xmlns:a16="http://schemas.microsoft.com/office/drawing/2014/main" id="{FE54718D-4C22-E94B-A4C0-C34A3A4257A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98505" y="2913639"/>
            <a:ext cx="1219139" cy="37134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300"/>
              </a:lnSpc>
              <a:spcBef>
                <a:spcPts val="0"/>
              </a:spcBef>
              <a:buFontTx/>
              <a:buNone/>
              <a:defRPr sz="1800" b="1" i="0">
                <a:solidFill>
                  <a:schemeClr val="bg1"/>
                </a:solidFill>
                <a:latin typeface="+mj-lt"/>
                <a:ea typeface="Tahoma" charset="0"/>
                <a:cs typeface="Tahoma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763A8BFE-74A7-E94B-8A00-4CD70EAFA367}"/>
              </a:ext>
            </a:extLst>
          </p:cNvPr>
          <p:cNvCxnSpPr>
            <a:cxnSpLocks/>
          </p:cNvCxnSpPr>
          <p:nvPr userDrawn="1"/>
        </p:nvCxnSpPr>
        <p:spPr>
          <a:xfrm>
            <a:off x="1919288" y="1916832"/>
            <a:ext cx="0" cy="3802212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55B2378F-7E74-5649-B1F7-5BE87863FDA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98505" y="5373216"/>
            <a:ext cx="1219139" cy="34582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300"/>
              </a:lnSpc>
              <a:spcBef>
                <a:spcPts val="0"/>
              </a:spcBef>
              <a:buFontTx/>
              <a:buNone/>
              <a:defRPr sz="1600" b="0" i="0">
                <a:solidFill>
                  <a:schemeClr val="bg1"/>
                </a:solidFill>
                <a:latin typeface="+mn-lt"/>
                <a:ea typeface="Tahoma"/>
                <a:cs typeface="Tahoma"/>
              </a:defRPr>
            </a:lvl1pPr>
          </a:lstStyle>
          <a:p>
            <a:pPr lvl="0"/>
            <a:r>
              <a:rPr lang="en-US"/>
              <a:t>Presentation date</a:t>
            </a:r>
          </a:p>
        </p:txBody>
      </p:sp>
    </p:spTree>
    <p:extLst>
      <p:ext uri="{BB962C8B-B14F-4D97-AF65-F5344CB8AC3E}">
        <p14:creationId xmlns:p14="http://schemas.microsoft.com/office/powerpoint/2010/main" val="1568629726"/>
      </p:ext>
    </p:extLst>
  </p:cSld>
  <p:clrMapOvr>
    <a:masterClrMapping/>
  </p:clrMapOvr>
  <p:transition spd="slow">
    <p:fade/>
  </p:transition>
  <p:extLst>
    <p:ext uri="{DCECCB84-F9BA-43D5-87BE-67443E8EF086}">
      <p15:sldGuideLst xmlns:p15="http://schemas.microsoft.com/office/powerpoint/2012/main">
        <p15:guide id="1" orient="horz" pos="1207">
          <p15:clr>
            <a:srgbClr val="FBAE40"/>
          </p15:clr>
        </p15:guide>
        <p15:guide id="2" pos="1292">
          <p15:clr>
            <a:srgbClr val="FBAE40"/>
          </p15:clr>
        </p15:guide>
      </p15:sldGuideLst>
    </p:ext>
  </p:extLs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and sub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AE3DBD-28B5-6744-B93D-384D879AF9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9592" y="1974055"/>
            <a:ext cx="6515620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1A9DAC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899592" y="4221163"/>
            <a:ext cx="6515620" cy="60310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buFontTx/>
              <a:buNone/>
              <a:defRPr sz="1800" b="0" i="0">
                <a:solidFill>
                  <a:schemeClr val="tx1"/>
                </a:solidFill>
                <a:latin typeface="+mn-lt"/>
                <a:ea typeface="Tahoma"/>
                <a:cs typeface="Tahoma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10795650"/>
      </p:ext>
    </p:extLst>
  </p:cSld>
  <p:clrMapOvr>
    <a:masterClrMapping/>
  </p:clrMapOvr>
  <p:transition spd="slow">
    <p:fade/>
  </p:transition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in headings, text and bullet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D64AAA3-E9D4-B544-B77B-0789573E9C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9591" y="689701"/>
            <a:ext cx="7886700" cy="1011108"/>
          </a:xfrm>
          <a:prstGeom prst="rect">
            <a:avLst/>
          </a:prstGeom>
        </p:spPr>
        <p:txBody>
          <a:bodyPr lIns="0" tIns="0" rIns="0" bIns="0"/>
          <a:lstStyle>
            <a:lvl1pPr>
              <a:defRPr>
                <a:solidFill>
                  <a:srgbClr val="1A9DAC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1" hasCustomPrompt="1"/>
          </p:nvPr>
        </p:nvSpPr>
        <p:spPr>
          <a:xfrm>
            <a:off x="899591" y="1700808"/>
            <a:ext cx="6551612" cy="4608512"/>
          </a:xfrm>
          <a:prstGeom prst="rect">
            <a:avLst/>
          </a:prstGeom>
        </p:spPr>
        <p:txBody>
          <a:bodyPr lIns="0" tIns="0" rIns="0" bIns="0"/>
          <a:lstStyle>
            <a:lvl1pPr marL="266700" indent="-257175">
              <a:buClr>
                <a:srgbClr val="1A9DAC"/>
              </a:buClr>
              <a:tabLst/>
              <a:defRPr sz="18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541338" indent="-274638">
              <a:buClr>
                <a:srgbClr val="1A9DAC"/>
              </a:buClr>
              <a:buFont typeface="Courier New" panose="02070309020205020404" pitchFamily="49" charset="0"/>
              <a:buChar char="o"/>
              <a:defRPr sz="18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808038" indent="-266700">
              <a:buClr>
                <a:srgbClr val="1A9DAC"/>
              </a:buClr>
              <a:buFont typeface="Arial" panose="020B0604020202020204" pitchFamily="34" charset="0"/>
              <a:buChar char="̶"/>
              <a:defRPr sz="18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3pPr>
            <a:lvl4pPr>
              <a:defRPr sz="16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>
              <a:defRPr sz="16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4103988774"/>
      </p:ext>
    </p:extLst>
  </p:cSld>
  <p:clrMapOvr>
    <a:masterClrMapping/>
  </p:clrMapOvr>
  <p:transition spd="slow">
    <p:fade/>
  </p:transition>
  <p:extLst>
    <p:ext uri="{DCECCB84-F9BA-43D5-87BE-67443E8EF086}">
      <p15:sldGuideLst xmlns:p15="http://schemas.microsoft.com/office/powerpoint/2012/main">
        <p15:guide id="1" orient="horz" pos="436">
          <p15:clr>
            <a:srgbClr val="FBAE40"/>
          </p15:clr>
        </p15:guide>
        <p15:guide id="2" pos="567">
          <p15:clr>
            <a:srgbClr val="FBAE40"/>
          </p15:clr>
        </p15:guide>
      </p15:sldGuideLst>
    </p:ext>
  </p:extLs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in headings, text and numbered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034AA9-9B1B-7D49-821B-E768D4FEE2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0113" y="687614"/>
            <a:ext cx="7886700" cy="1012599"/>
          </a:xfrm>
        </p:spPr>
        <p:txBody>
          <a:bodyPr/>
          <a:lstStyle>
            <a:lvl1pPr>
              <a:defRPr>
                <a:solidFill>
                  <a:srgbClr val="1A9DAC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>
          <a:xfrm>
            <a:off x="900113" y="1700213"/>
            <a:ext cx="6551612" cy="4465637"/>
          </a:xfrm>
          <a:prstGeom prst="rect">
            <a:avLst/>
          </a:prstGeom>
        </p:spPr>
        <p:txBody>
          <a:bodyPr lIns="0" tIns="0" rIns="0" bIns="0"/>
          <a:lstStyle>
            <a:lvl1pPr marL="266700" indent="-266700">
              <a:buClr>
                <a:srgbClr val="1A9DAC"/>
              </a:buClr>
              <a:buFont typeface="+mj-lt"/>
              <a:buAutoNum type="arabicPeriod"/>
              <a:defRPr sz="18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609600" indent="-342900">
              <a:buClr>
                <a:srgbClr val="1A9DAC"/>
              </a:buClr>
              <a:buFont typeface="+mj-lt"/>
              <a:buAutoNum type="romanLcPeriod"/>
              <a:defRPr sz="18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915988" marR="0" indent="-285750" algn="l" defTabSz="606425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1A9DAC"/>
              </a:buClr>
              <a:buSzTx/>
              <a:buFont typeface="Arial" panose="020B0604020202020204" pitchFamily="34" charset="0"/>
              <a:buChar char="•"/>
              <a:tabLst/>
              <a:defRPr sz="18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2343150" indent="-514350">
              <a:buFont typeface="+mj-lt"/>
              <a:buAutoNum type="arabicPeriod"/>
              <a:defRPr sz="16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2952750" indent="-514350">
              <a:buFont typeface="+mj-lt"/>
              <a:buAutoNum type="arabicPeriod"/>
              <a:defRPr sz="16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776229354"/>
      </p:ext>
    </p:extLst>
  </p:cSld>
  <p:clrMapOvr>
    <a:masterClrMapping/>
  </p:clrMapOvr>
  <p:transition spd="slow">
    <p:fade/>
  </p:transition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text sty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BD85A6-D158-2E49-90B4-F2441730F4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9591" y="692697"/>
            <a:ext cx="7886700" cy="93610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899592" y="1628800"/>
            <a:ext cx="3167583" cy="4536504"/>
          </a:xfrm>
          <a:prstGeom prst="rect">
            <a:avLst/>
          </a:prstGeom>
        </p:spPr>
        <p:txBody>
          <a:bodyPr lIns="0" tIns="0" rIns="0" bIns="0" numCol="1" spcCol="216000"/>
          <a:lstStyle>
            <a:lvl1pPr marL="0" marR="0" indent="0" algn="l" defTabSz="606425" rtl="0" eaLnBrk="1" fontAlgn="base" latinLnBrk="0" hangingPunct="1">
              <a:lnSpc>
                <a:spcPts val="2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800" b="0" i="0" baseline="0">
                <a:solidFill>
                  <a:schemeClr val="tx1"/>
                </a:solidFill>
                <a:latin typeface="+mn-lt"/>
                <a:ea typeface="Tahoma"/>
                <a:cs typeface="Tahoma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4284663" y="1628800"/>
            <a:ext cx="3167583" cy="4536504"/>
          </a:xfrm>
          <a:prstGeom prst="rect">
            <a:avLst/>
          </a:prstGeom>
        </p:spPr>
        <p:txBody>
          <a:bodyPr lIns="0" tIns="0" rIns="0" bIns="0" numCol="1" spcCol="216000"/>
          <a:lstStyle>
            <a:lvl1pPr marL="0" marR="0" indent="0" algn="l" defTabSz="606425" rtl="0" eaLnBrk="1" fontAlgn="base" latinLnBrk="0" hangingPunct="1">
              <a:lnSpc>
                <a:spcPts val="2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800" b="0" i="0" baseline="0">
                <a:solidFill>
                  <a:schemeClr val="tx1"/>
                </a:solidFill>
                <a:latin typeface="+mn-lt"/>
                <a:ea typeface="Tahoma"/>
                <a:cs typeface="Tahoma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4474846"/>
      </p:ext>
    </p:extLst>
  </p:cSld>
  <p:clrMapOvr>
    <a:masterClrMapping/>
  </p:clrMapOvr>
  <p:transition spd="slow">
    <p:fade/>
  </p:transition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text style with bullet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9A63C3-2B19-3E4C-861A-2B5A52BA72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9591" y="692697"/>
            <a:ext cx="7886700" cy="936104"/>
          </a:xfrm>
        </p:spPr>
        <p:txBody>
          <a:bodyPr/>
          <a:lstStyle>
            <a:lvl1pPr>
              <a:defRPr>
                <a:solidFill>
                  <a:srgbClr val="1A9DAC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5"/>
          <p:cNvSpPr>
            <a:spLocks noGrp="1"/>
          </p:cNvSpPr>
          <p:nvPr>
            <p:ph type="body" sz="quarter" idx="11" hasCustomPrompt="1"/>
          </p:nvPr>
        </p:nvSpPr>
        <p:spPr>
          <a:xfrm>
            <a:off x="899592" y="1628800"/>
            <a:ext cx="3167583" cy="4536504"/>
          </a:xfrm>
          <a:prstGeom prst="rect">
            <a:avLst/>
          </a:prstGeom>
        </p:spPr>
        <p:txBody>
          <a:bodyPr lIns="0" tIns="0" rIns="0" bIns="0" numCol="1" spcCol="216000"/>
          <a:lstStyle>
            <a:lvl1pPr marL="285750" marR="0" indent="-285750" algn="l" defTabSz="606425" rtl="0" eaLnBrk="1" fontAlgn="base" latinLnBrk="0" hangingPunct="1">
              <a:lnSpc>
                <a:spcPts val="2000"/>
              </a:lnSpc>
              <a:spcBef>
                <a:spcPts val="0"/>
              </a:spcBef>
              <a:spcAft>
                <a:spcPct val="0"/>
              </a:spcAft>
              <a:buClr>
                <a:srgbClr val="1A9DAC"/>
              </a:buClr>
              <a:buSzTx/>
              <a:buFont typeface="Arial" panose="020B0604020202020204" pitchFamily="34" charset="0"/>
              <a:buChar char="•"/>
              <a:tabLst/>
              <a:defRPr sz="1800" b="0" i="0" baseline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541338" indent="-274638">
              <a:buClr>
                <a:srgbClr val="1A9DAC"/>
              </a:buClr>
              <a:buFont typeface="Courier New" panose="02070309020205020404" pitchFamily="49" charset="0"/>
              <a:buChar char="o"/>
              <a:defRPr sz="18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808038" indent="-177800">
              <a:buClr>
                <a:srgbClr val="1A9DAC"/>
              </a:buClr>
              <a:buFont typeface="Arial" panose="020B0604020202020204" pitchFamily="34" charset="0"/>
              <a:buChar char="̶"/>
              <a:defRPr sz="18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163638" indent="-301625">
              <a:defRPr sz="18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4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Second Bullet Point</a:t>
            </a:r>
          </a:p>
          <a:p>
            <a:pPr lvl="2"/>
            <a:r>
              <a:rPr lang="en-GB"/>
              <a:t>Third Bullet Point</a:t>
            </a:r>
          </a:p>
          <a:p>
            <a:pPr lvl="3"/>
            <a:endParaRPr lang="en-GB"/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2" hasCustomPrompt="1"/>
          </p:nvPr>
        </p:nvSpPr>
        <p:spPr>
          <a:xfrm>
            <a:off x="4284663" y="1628800"/>
            <a:ext cx="3167583" cy="4536504"/>
          </a:xfrm>
          <a:prstGeom prst="rect">
            <a:avLst/>
          </a:prstGeom>
        </p:spPr>
        <p:txBody>
          <a:bodyPr lIns="0" tIns="0" rIns="0" bIns="0" numCol="1" spcCol="216000"/>
          <a:lstStyle>
            <a:lvl1pPr marL="285750" marR="0" indent="-285750" algn="l" defTabSz="606425" rtl="0" eaLnBrk="1" fontAlgn="base" latinLnBrk="0" hangingPunct="1">
              <a:lnSpc>
                <a:spcPts val="2000"/>
              </a:lnSpc>
              <a:spcBef>
                <a:spcPts val="0"/>
              </a:spcBef>
              <a:spcAft>
                <a:spcPct val="0"/>
              </a:spcAft>
              <a:buClr>
                <a:srgbClr val="1A9DAC"/>
              </a:buClr>
              <a:buSzTx/>
              <a:buFont typeface="Arial" panose="020B0604020202020204" pitchFamily="34" charset="0"/>
              <a:buChar char="•"/>
              <a:tabLst/>
              <a:defRPr sz="1800" b="0" i="0" baseline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541338" indent="-274638">
              <a:buClr>
                <a:srgbClr val="1A9DAC"/>
              </a:buClr>
              <a:buFont typeface="Courier New" panose="02070309020205020404" pitchFamily="49" charset="0"/>
              <a:buChar char="o"/>
              <a:defRPr sz="18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808038" indent="-177800">
              <a:buClr>
                <a:srgbClr val="1A9DAC"/>
              </a:buClr>
              <a:buFont typeface="Arial" panose="020B0604020202020204" pitchFamily="34" charset="0"/>
              <a:buChar char="̶"/>
              <a:defRPr sz="18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163638" indent="-301625">
              <a:defRPr sz="18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4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Bullet Point</a:t>
            </a:r>
          </a:p>
          <a:p>
            <a:pPr lvl="2"/>
            <a:r>
              <a:rPr lang="en-US"/>
              <a:t>Third Bullet Point</a:t>
            </a:r>
          </a:p>
          <a:p>
            <a:pPr lvl="3"/>
            <a:endParaRPr lang="en-US"/>
          </a:p>
          <a:p>
            <a:pPr lvl="0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87674228"/>
      </p:ext>
    </p:extLst>
  </p:cSld>
  <p:clrMapOvr>
    <a:masterClrMapping/>
  </p:clrMapOvr>
  <p:transition spd="slow">
    <p:fade/>
  </p:transition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text style with numbered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7AA39C-6E99-FE4F-B641-F44C7B4B4D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9592" y="692697"/>
            <a:ext cx="7886700" cy="936104"/>
          </a:xfrm>
        </p:spPr>
        <p:txBody>
          <a:bodyPr/>
          <a:lstStyle>
            <a:lvl1pPr>
              <a:defRPr>
                <a:solidFill>
                  <a:srgbClr val="1A9DAC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5"/>
          <p:cNvSpPr>
            <a:spLocks noGrp="1"/>
          </p:cNvSpPr>
          <p:nvPr>
            <p:ph type="body" sz="quarter" idx="11" hasCustomPrompt="1"/>
          </p:nvPr>
        </p:nvSpPr>
        <p:spPr>
          <a:xfrm>
            <a:off x="899592" y="1628800"/>
            <a:ext cx="3167583" cy="4536504"/>
          </a:xfrm>
          <a:prstGeom prst="rect">
            <a:avLst/>
          </a:prstGeom>
        </p:spPr>
        <p:txBody>
          <a:bodyPr lIns="0" tIns="0" rIns="0" bIns="0" numCol="1" spcCol="216000"/>
          <a:lstStyle>
            <a:lvl1pPr marL="266700" marR="0" indent="-266700" algn="l" defTabSz="606425" rtl="0" eaLnBrk="1" fontAlgn="base" latinLnBrk="0" hangingPunct="1">
              <a:lnSpc>
                <a:spcPts val="2000"/>
              </a:lnSpc>
              <a:spcBef>
                <a:spcPts val="0"/>
              </a:spcBef>
              <a:spcAft>
                <a:spcPct val="0"/>
              </a:spcAft>
              <a:buClr>
                <a:srgbClr val="1A9DAC"/>
              </a:buClr>
              <a:buSzTx/>
              <a:buFont typeface="+mj-lt"/>
              <a:buAutoNum type="arabicPeriod"/>
              <a:tabLst/>
              <a:defRPr sz="1800" b="0" i="0" baseline="0">
                <a:solidFill>
                  <a:schemeClr val="tx1"/>
                </a:solidFill>
                <a:latin typeface="+mn-lt"/>
                <a:ea typeface="Tahoma"/>
                <a:cs typeface="Tahoma"/>
              </a:defRPr>
            </a:lvl1pPr>
            <a:lvl2pPr marL="541338" indent="-274638">
              <a:buClr>
                <a:srgbClr val="1A9DAC"/>
              </a:buClr>
              <a:buFont typeface="+mj-lt"/>
              <a:buAutoNum type="romanLcPeriod"/>
              <a:defRPr sz="1800" baseline="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896938" indent="-266700">
              <a:buClr>
                <a:srgbClr val="1A9DAC"/>
              </a:buClr>
              <a:buFont typeface="Arial" panose="020B0604020202020204" pitchFamily="34" charset="0"/>
              <a:buChar char="̶"/>
              <a:defRPr sz="18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252538" indent="-285750">
              <a:buFont typeface="Arial" panose="020B0604020202020204" pitchFamily="34" charset="0"/>
              <a:buChar char="̶"/>
              <a:defRPr sz="14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4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Number Position Number 2</a:t>
            </a:r>
          </a:p>
          <a:p>
            <a:pPr lvl="2"/>
            <a:r>
              <a:rPr lang="en-GB"/>
              <a:t>Number Position Number 3</a:t>
            </a:r>
          </a:p>
          <a:p>
            <a:pPr lvl="3"/>
            <a:endParaRPr lang="en-GB"/>
          </a:p>
          <a:p>
            <a:pPr lvl="3"/>
            <a:endParaRPr lang="en-GB"/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2" hasCustomPrompt="1"/>
          </p:nvPr>
        </p:nvSpPr>
        <p:spPr>
          <a:xfrm>
            <a:off x="4284663" y="1628800"/>
            <a:ext cx="3167583" cy="4536504"/>
          </a:xfrm>
          <a:prstGeom prst="rect">
            <a:avLst/>
          </a:prstGeom>
        </p:spPr>
        <p:txBody>
          <a:bodyPr lIns="0" tIns="0" rIns="0" bIns="0" numCol="1" spcCol="216000"/>
          <a:lstStyle>
            <a:lvl1pPr marL="266700" marR="0" indent="-266700" algn="l" defTabSz="606425" rtl="0" eaLnBrk="1" fontAlgn="base" latinLnBrk="0" hangingPunct="1">
              <a:lnSpc>
                <a:spcPts val="2000"/>
              </a:lnSpc>
              <a:spcBef>
                <a:spcPts val="0"/>
              </a:spcBef>
              <a:spcAft>
                <a:spcPct val="0"/>
              </a:spcAft>
              <a:buClr>
                <a:srgbClr val="1A9DAC"/>
              </a:buClr>
              <a:buSzTx/>
              <a:buFont typeface="+mj-lt"/>
              <a:buAutoNum type="arabicPeriod"/>
              <a:tabLst/>
              <a:defRPr sz="1800" b="0" i="0" baseline="0">
                <a:solidFill>
                  <a:schemeClr val="tx1"/>
                </a:solidFill>
                <a:latin typeface="+mn-lt"/>
                <a:ea typeface="Tahoma"/>
                <a:cs typeface="Tahoma"/>
              </a:defRPr>
            </a:lvl1pPr>
            <a:lvl2pPr marL="541338" indent="-274638">
              <a:buClr>
                <a:srgbClr val="1A9DAC"/>
              </a:buClr>
              <a:buFont typeface="+mj-lt"/>
              <a:buAutoNum type="romanLcPeriod"/>
              <a:defRPr sz="18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896938" indent="-266700">
              <a:buClr>
                <a:srgbClr val="1A9DAC"/>
              </a:buClr>
              <a:buFont typeface="Arial" panose="020B0604020202020204" pitchFamily="34" charset="0"/>
              <a:buChar char="̶"/>
              <a:defRPr sz="18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966788" indent="0">
              <a:buFont typeface="Arial" panose="020B0604020202020204" pitchFamily="34" charset="0"/>
              <a:buNone/>
              <a:defRPr sz="14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4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Number Position Number 2</a:t>
            </a:r>
          </a:p>
          <a:p>
            <a:pPr lvl="2"/>
            <a:r>
              <a:rPr lang="en-GB"/>
              <a:t>Number Position Number 3</a:t>
            </a:r>
          </a:p>
          <a:p>
            <a:pPr lvl="0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57941176"/>
      </p:ext>
    </p:extLst>
  </p:cSld>
  <p:clrMapOvr>
    <a:masterClrMapping/>
  </p:clrMapOvr>
  <p:transition spd="slow">
    <p:fade/>
  </p:transition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and graph posi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10C80B-5DE2-104C-BCD7-114FA55CDF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2515" y="692697"/>
            <a:ext cx="7886700" cy="862064"/>
          </a:xfrm>
        </p:spPr>
        <p:txBody>
          <a:bodyPr/>
          <a:lstStyle>
            <a:lvl1pPr>
              <a:defRPr>
                <a:solidFill>
                  <a:srgbClr val="1A9DAC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hart Placeholder 2"/>
          <p:cNvSpPr>
            <a:spLocks noGrp="1"/>
          </p:cNvSpPr>
          <p:nvPr>
            <p:ph type="chart" sz="quarter" idx="11"/>
          </p:nvPr>
        </p:nvSpPr>
        <p:spPr>
          <a:xfrm>
            <a:off x="899592" y="1554760"/>
            <a:ext cx="6515620" cy="453806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noProof="0"/>
              <a:t>Click icon to add chart</a:t>
            </a:r>
          </a:p>
        </p:txBody>
      </p:sp>
    </p:spTree>
    <p:extLst>
      <p:ext uri="{BB962C8B-B14F-4D97-AF65-F5344CB8AC3E}">
        <p14:creationId xmlns:p14="http://schemas.microsoft.com/office/powerpoint/2010/main" val="2470841626"/>
      </p:ext>
    </p:extLst>
  </p:cSld>
  <p:clrMapOvr>
    <a:masterClrMapping/>
  </p:clrMapOvr>
  <p:transition spd="slow">
    <p:fade/>
  </p:transition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arrow column text style with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8465AE-FBB8-C547-A863-8ACFC537D4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9591" y="692696"/>
            <a:ext cx="7886700" cy="936103"/>
          </a:xfrm>
        </p:spPr>
        <p:txBody>
          <a:bodyPr/>
          <a:lstStyle>
            <a:lvl1pPr>
              <a:defRPr>
                <a:solidFill>
                  <a:srgbClr val="1A9DAC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899592" y="1628800"/>
            <a:ext cx="3312368" cy="4536504"/>
          </a:xfrm>
          <a:prstGeom prst="rect">
            <a:avLst/>
          </a:prstGeom>
        </p:spPr>
        <p:txBody>
          <a:bodyPr lIns="0" tIns="0" rIns="0" bIns="0" numCol="1" spcCol="216000"/>
          <a:lstStyle>
            <a:lvl1pPr marL="0" marR="0" indent="0" algn="l" defTabSz="606425" rtl="0" eaLnBrk="1" fontAlgn="base" latinLnBrk="0" hangingPunct="1">
              <a:lnSpc>
                <a:spcPts val="2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800" b="0" i="0" baseline="0">
                <a:solidFill>
                  <a:schemeClr val="tx1"/>
                </a:solidFill>
                <a:latin typeface="+mn-lt"/>
                <a:ea typeface="Tahoma"/>
                <a:cs typeface="Tahoma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Chart Placeholder 2"/>
          <p:cNvSpPr>
            <a:spLocks noGrp="1"/>
          </p:cNvSpPr>
          <p:nvPr>
            <p:ph type="chart" sz="quarter" idx="12"/>
          </p:nvPr>
        </p:nvSpPr>
        <p:spPr>
          <a:xfrm>
            <a:off x="4284663" y="1628799"/>
            <a:ext cx="3816350" cy="44640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noProof="0"/>
              <a:t>Click icon to add chart</a:t>
            </a:r>
          </a:p>
        </p:txBody>
      </p:sp>
    </p:spTree>
    <p:extLst>
      <p:ext uri="{BB962C8B-B14F-4D97-AF65-F5344CB8AC3E}">
        <p14:creationId xmlns:p14="http://schemas.microsoft.com/office/powerpoint/2010/main" val="4141519862"/>
      </p:ext>
    </p:extLst>
  </p:cSld>
  <p:clrMapOvr>
    <a:masterClrMapping/>
  </p:clrMapOvr>
  <p:transition spd="slow">
    <p:fade/>
  </p:transition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FED979-55B4-3C48-802B-10CF449D32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9592" y="692697"/>
            <a:ext cx="7886700" cy="720080"/>
          </a:xfrm>
        </p:spPr>
        <p:txBody>
          <a:bodyPr/>
          <a:lstStyle>
            <a:lvl1pPr>
              <a:defRPr>
                <a:solidFill>
                  <a:srgbClr val="1A9DAC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1215" y="1412776"/>
            <a:ext cx="9144000" cy="595119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55807663"/>
      </p:ext>
    </p:extLst>
  </p:cSld>
  <p:clrMapOvr>
    <a:masterClrMapping/>
  </p:clrMapOvr>
  <p:transition spd="slow">
    <p:fade/>
  </p:transition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5AD231-0526-BA4B-A751-485A68D4F1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0112" y="692697"/>
            <a:ext cx="7454131" cy="768356"/>
          </a:xfrm>
        </p:spPr>
        <p:txBody>
          <a:bodyPr/>
          <a:lstStyle>
            <a:lvl1pPr>
              <a:defRPr>
                <a:solidFill>
                  <a:srgbClr val="1A9DAC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Picture Placeholder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1461052"/>
            <a:ext cx="3024188" cy="539694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5" name="Picture Placeholder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059113" y="1461053"/>
            <a:ext cx="3020316" cy="2650572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7" name="Picture Placeholder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059113" y="4149725"/>
            <a:ext cx="3020316" cy="270827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3" name="Picture Placeholder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118225" y="1461052"/>
            <a:ext cx="3025775" cy="539694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532783830"/>
      </p:ext>
    </p:extLst>
  </p:cSld>
  <p:clrMapOvr>
    <a:masterClrMapping/>
  </p:clrMapOvr>
  <p:transition spd="slow">
    <p:fade/>
  </p:transition>
  <p:extLst>
    <p:ext uri="{DCECCB84-F9BA-43D5-87BE-67443E8EF086}">
      <p15:sldGuideLst xmlns:p15="http://schemas.microsoft.com/office/powerpoint/2012/main">
        <p15:guide id="1" orient="horz" pos="332">
          <p15:clr>
            <a:srgbClr val="FBAE40"/>
          </p15:clr>
        </p15:guide>
        <p15:guide id="2" pos="2880">
          <p15:clr>
            <a:srgbClr val="FBAE40"/>
          </p15:clr>
        </p15:guide>
        <p15:guide id="4" pos="3833">
          <p15:clr>
            <a:srgbClr val="FBAE40"/>
          </p15:clr>
        </p15:guide>
        <p15:guide id="5" orient="horz" pos="2614">
          <p15:clr>
            <a:srgbClr val="FBAE40"/>
          </p15:clr>
        </p15:guide>
        <p15:guide id="6" pos="567">
          <p15:clr>
            <a:srgbClr val="FBAE40"/>
          </p15:clr>
        </p15:guide>
        <p15:guide id="8" pos="1927">
          <p15:clr>
            <a:srgbClr val="FBAE40"/>
          </p15:clr>
        </p15:guide>
        <p15:guide id="9" pos="3854">
          <p15:clr>
            <a:srgbClr val="FBAE40"/>
          </p15:clr>
        </p15:guide>
        <p15:guide id="10" orient="horz" pos="2590">
          <p15:clr>
            <a:srgbClr val="FBAE40"/>
          </p15:clr>
        </p15:guide>
      </p15:sldGuideLst>
    </p:ext>
  </p:extLst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2E2A74-33A9-1E47-9EBD-B4B8BA3C3C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065" y="692696"/>
            <a:ext cx="7886700" cy="76835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458065" y="1461052"/>
            <a:ext cx="2547073" cy="4536504"/>
          </a:xfrm>
          <a:prstGeom prst="rect">
            <a:avLst/>
          </a:prstGeom>
        </p:spPr>
        <p:txBody>
          <a:bodyPr lIns="0" tIns="0" rIns="0" bIns="0" numCol="1" spcCol="216000"/>
          <a:lstStyle>
            <a:lvl1pPr marL="285750" marR="0" indent="-285750" algn="l" defTabSz="606425" rtl="0" eaLnBrk="1" fontAlgn="base" latinLnBrk="0" hangingPunct="1">
              <a:lnSpc>
                <a:spcPts val="2000"/>
              </a:lnSpc>
              <a:spcBef>
                <a:spcPts val="0"/>
              </a:spcBef>
              <a:spcAft>
                <a:spcPct val="0"/>
              </a:spcAft>
              <a:buClr>
                <a:srgbClr val="1A9DAC"/>
              </a:buClr>
              <a:buSzTx/>
              <a:buFont typeface="Arial" panose="020B0604020202020204" pitchFamily="34" charset="0"/>
              <a:buChar char="•"/>
              <a:tabLst/>
              <a:defRPr sz="1800" b="0" i="0" baseline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541338" indent="-274638">
              <a:buClr>
                <a:srgbClr val="1A9DAC"/>
              </a:buClr>
              <a:buFont typeface="Courier New" panose="02070309020205020404" pitchFamily="49" charset="0"/>
              <a:buChar char="o"/>
              <a:defRPr sz="18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808038" indent="-177800">
              <a:buClr>
                <a:srgbClr val="1A9DAC"/>
              </a:buClr>
              <a:buFont typeface="Arial" panose="020B0604020202020204" pitchFamily="34" charset="0"/>
              <a:buChar char="̶"/>
              <a:defRPr sz="18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163638" indent="-301625">
              <a:defRPr sz="14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4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Second Bullet Point</a:t>
            </a:r>
          </a:p>
          <a:p>
            <a:pPr lvl="2"/>
            <a:r>
              <a:rPr lang="en-GB"/>
              <a:t>Third Bullet Point</a:t>
            </a:r>
          </a:p>
          <a:p>
            <a:pPr lvl="3"/>
            <a:endParaRPr lang="en-GB"/>
          </a:p>
        </p:txBody>
      </p:sp>
      <p:sp>
        <p:nvSpPr>
          <p:cNvPr id="5" name="Picture Placeholder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041650" y="1461052"/>
            <a:ext cx="3043238" cy="539694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6" name="Picture Placeholder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121400" y="1461053"/>
            <a:ext cx="3022599" cy="2650572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7" name="Picture Placeholder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121400" y="4146550"/>
            <a:ext cx="3022600" cy="271145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670319956"/>
      </p:ext>
    </p:extLst>
  </p:cSld>
  <p:clrMapOvr>
    <a:masterClrMapping/>
  </p:clrMapOvr>
  <p:transition spd="slow">
    <p:fade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  <p15:guide id="3" pos="3856">
          <p15:clr>
            <a:srgbClr val="FBAE40"/>
          </p15:clr>
        </p15:guide>
        <p15:guide id="4" pos="3833">
          <p15:clr>
            <a:srgbClr val="FBAE40"/>
          </p15:clr>
        </p15:guide>
        <p15:guide id="6" orient="horz" pos="2590">
          <p15:clr>
            <a:srgbClr val="FBAE40"/>
          </p15:clr>
        </p15:guide>
        <p15:guide id="7" orient="horz" pos="2612">
          <p15:clr>
            <a:srgbClr val="FBAE40"/>
          </p15:clr>
        </p15:guide>
      </p15:sldGuideLst>
    </p:ext>
  </p:extLst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FAFF90F4-0461-4994-8ECC-80648A92CC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065" y="692697"/>
            <a:ext cx="7886700" cy="122413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2"/>
          </p:nvPr>
        </p:nvSpPr>
        <p:spPr>
          <a:xfrm>
            <a:off x="1042988" y="1916832"/>
            <a:ext cx="7058025" cy="352839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3600"/>
              </a:lnSpc>
              <a:buNone/>
              <a:defRPr sz="2800" b="0" i="1" baseline="0">
                <a:solidFill>
                  <a:srgbClr val="1A9DAC"/>
                </a:solidFill>
                <a:latin typeface="+mj-lt"/>
              </a:defRPr>
            </a:lvl1pPr>
            <a:lvl2pPr marL="609600" indent="0">
              <a:lnSpc>
                <a:spcPts val="3600"/>
              </a:lnSpc>
              <a:buNone/>
              <a:defRPr sz="2800" b="0" i="1" baseline="0">
                <a:solidFill>
                  <a:srgbClr val="1A9DAC"/>
                </a:solidFill>
                <a:latin typeface="+mj-lt"/>
              </a:defRPr>
            </a:lvl2pPr>
            <a:lvl3pPr marL="1219200" indent="0">
              <a:lnSpc>
                <a:spcPts val="3600"/>
              </a:lnSpc>
              <a:buNone/>
              <a:defRPr sz="2800" b="0" i="1" baseline="0">
                <a:solidFill>
                  <a:srgbClr val="1A9DAC"/>
                </a:solidFill>
                <a:latin typeface="+mj-lt"/>
              </a:defRPr>
            </a:lvl3pPr>
            <a:lvl4pPr marL="1828800" indent="0">
              <a:lnSpc>
                <a:spcPts val="3600"/>
              </a:lnSpc>
              <a:buNone/>
              <a:defRPr sz="2800" b="0" i="1" baseline="0">
                <a:solidFill>
                  <a:srgbClr val="1A9DAC"/>
                </a:solidFill>
                <a:latin typeface="+mj-lt"/>
              </a:defRPr>
            </a:lvl4pPr>
            <a:lvl5pPr marL="2438400" indent="0">
              <a:lnSpc>
                <a:spcPts val="3600"/>
              </a:lnSpc>
              <a:buNone/>
              <a:defRPr sz="2800" b="0" i="1" baseline="0">
                <a:solidFill>
                  <a:srgbClr val="1A9DAC"/>
                </a:solidFill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13"/>
          </p:nvPr>
        </p:nvSpPr>
        <p:spPr>
          <a:xfrm>
            <a:off x="1042988" y="5661025"/>
            <a:ext cx="7058025" cy="1196975"/>
          </a:xfrm>
          <a:prstGeom prst="rect">
            <a:avLst/>
          </a:prstGeom>
        </p:spPr>
        <p:txBody>
          <a:bodyPr/>
          <a:lstStyle>
            <a:lvl1pPr marL="0" indent="0" algn="r">
              <a:lnSpc>
                <a:spcPts val="1800"/>
              </a:lnSpc>
              <a:buNone/>
              <a:defRPr sz="1800" baseline="0">
                <a:solidFill>
                  <a:schemeClr val="tx1"/>
                </a:solidFill>
                <a:latin typeface="+mn-lt"/>
              </a:defRPr>
            </a:lvl1pPr>
            <a:lvl2pPr marL="609600" indent="0" algn="r">
              <a:lnSpc>
                <a:spcPts val="1800"/>
              </a:lnSpc>
              <a:buNone/>
              <a:defRPr sz="1800" baseline="0">
                <a:solidFill>
                  <a:schemeClr val="tx1"/>
                </a:solidFill>
                <a:latin typeface="+mn-lt"/>
              </a:defRPr>
            </a:lvl2pPr>
            <a:lvl3pPr marL="1219200" indent="0" algn="r">
              <a:lnSpc>
                <a:spcPts val="1800"/>
              </a:lnSpc>
              <a:buNone/>
              <a:defRPr sz="1800" baseline="0">
                <a:solidFill>
                  <a:schemeClr val="tx1"/>
                </a:solidFill>
                <a:latin typeface="+mn-lt"/>
              </a:defRPr>
            </a:lvl3pPr>
            <a:lvl4pPr marL="1828800" indent="0" algn="r">
              <a:lnSpc>
                <a:spcPts val="1800"/>
              </a:lnSpc>
              <a:buNone/>
              <a:defRPr sz="1800" baseline="0">
                <a:solidFill>
                  <a:schemeClr val="tx1"/>
                </a:solidFill>
                <a:latin typeface="+mn-lt"/>
              </a:defRPr>
            </a:lvl4pPr>
            <a:lvl5pPr marL="2438400" indent="0" algn="r">
              <a:lnSpc>
                <a:spcPts val="1800"/>
              </a:lnSpc>
              <a:buNone/>
              <a:defRPr sz="1800" baseline="0"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64409956"/>
      </p:ext>
    </p:extLst>
  </p:cSld>
  <p:clrMapOvr>
    <a:masterClrMapping/>
  </p:clrMapOvr>
  <p:transition spd="slow">
    <p:fade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  <p15:guide id="3" orient="horz" pos="572">
          <p15:clr>
            <a:srgbClr val="FBAE40"/>
          </p15:clr>
        </p15:guide>
      </p15:sldGuideLst>
    </p:ext>
  </p:extLst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9BC024-4559-4C02-9AB3-98D956AC73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E056E6-17B0-445E-93EC-A3A4B42B212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67544" y="2349500"/>
            <a:ext cx="4104456" cy="2879725"/>
          </a:xfrm>
          <a:prstGeom prst="rect">
            <a:avLst/>
          </a:prstGeo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3000">
                <a:solidFill>
                  <a:srgbClr val="199DAC"/>
                </a:solidFill>
              </a:defRPr>
            </a:lvl1pPr>
            <a:lvl2pPr marL="609600" indent="0">
              <a:buNone/>
              <a:defRPr>
                <a:solidFill>
                  <a:srgbClr val="16818D"/>
                </a:solidFill>
              </a:defRPr>
            </a:lvl2pPr>
            <a:lvl3pPr marL="1219200" indent="0">
              <a:buNone/>
              <a:defRPr>
                <a:solidFill>
                  <a:srgbClr val="16818D"/>
                </a:solidFill>
              </a:defRPr>
            </a:lvl3pPr>
            <a:lvl4pPr marL="1828800" indent="0">
              <a:buNone/>
              <a:defRPr>
                <a:solidFill>
                  <a:srgbClr val="16818D"/>
                </a:solidFill>
              </a:defRPr>
            </a:lvl4pPr>
            <a:lvl5pPr marL="2438400" indent="0">
              <a:buNone/>
              <a:defRPr>
                <a:solidFill>
                  <a:srgbClr val="16818D"/>
                </a:solidFill>
              </a:defRPr>
            </a:lvl5pPr>
          </a:lstStyle>
          <a:p>
            <a:pPr lvl="0"/>
            <a:r>
              <a:rPr lang="en-US"/>
              <a:t>100%</a:t>
            </a:r>
            <a:endParaRPr lang="en-GB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212DBA2-E4CA-4633-9C0C-58EB9F03F1E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716016" y="2349500"/>
            <a:ext cx="3672334" cy="28797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rgbClr val="199DAC"/>
                </a:solidFill>
              </a:defRPr>
            </a:lvl1pPr>
            <a:lvl2pPr marL="609600" indent="0">
              <a:buNone/>
              <a:defRPr sz="1800">
                <a:solidFill>
                  <a:srgbClr val="199DAC"/>
                </a:solidFill>
              </a:defRPr>
            </a:lvl2pPr>
            <a:lvl3pPr marL="1219200" indent="0">
              <a:buNone/>
              <a:defRPr sz="1800">
                <a:solidFill>
                  <a:srgbClr val="199DAC"/>
                </a:solidFill>
              </a:defRPr>
            </a:lvl3pPr>
            <a:lvl4pPr marL="1828800" indent="0">
              <a:buNone/>
              <a:defRPr sz="1800">
                <a:solidFill>
                  <a:srgbClr val="199DAC"/>
                </a:solidFill>
              </a:defRPr>
            </a:lvl4pPr>
            <a:lvl5pPr marL="2438400" indent="0">
              <a:buNone/>
              <a:defRPr sz="1800">
                <a:solidFill>
                  <a:srgbClr val="199DAC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6D44D0B-0878-42C4-9A43-6D580C188C5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28650" y="5157192"/>
            <a:ext cx="7472363" cy="792162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800"/>
            </a:lvl1pPr>
            <a:lvl2pPr marL="609600" indent="0" algn="r">
              <a:buNone/>
              <a:defRPr sz="1800"/>
            </a:lvl2pPr>
            <a:lvl3pPr marL="1219200" indent="0" algn="r">
              <a:buNone/>
              <a:defRPr sz="1800"/>
            </a:lvl3pPr>
            <a:lvl4pPr marL="1828800" indent="0" algn="r">
              <a:buNone/>
              <a:defRPr sz="1800"/>
            </a:lvl4pPr>
            <a:lvl5pPr marL="2438400" indent="0" algn="r">
              <a:buNone/>
              <a:defRPr sz="18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11500441"/>
      </p:ext>
    </p:extLst>
  </p:cSld>
  <p:clrMapOvr>
    <a:masterClrMapping/>
  </p:clrMapOvr>
  <p:transition spd="slow">
    <p:fade/>
  </p:transition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57DBEE-02FF-41AA-899A-45B724F9E6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CA6175-35AA-4423-8B45-0D36968A30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31C334-D21F-42F9-BBC8-A4164B904E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BC5923-7DD6-4CB9-BA03-09F03E13C73F}" type="datetimeFigureOut">
              <a:rPr lang="en-GB" smtClean="0"/>
              <a:t>10/12/2025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8E66F7-16F4-4C2E-A015-A908766F62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674782-B222-4999-A2D1-EA12179B0D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009E2C-FEE2-4552-B3C5-C1E1B82F92D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9748341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Section title and sub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AE3DBD-28B5-6744-B93D-384D879AF9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9592" y="1974057"/>
            <a:ext cx="6515620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1A9DAC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899592" y="4221163"/>
            <a:ext cx="6515620" cy="60310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buFontTx/>
              <a:buNone/>
              <a:defRPr sz="1350" b="0" i="0">
                <a:solidFill>
                  <a:schemeClr val="tx1"/>
                </a:solidFill>
                <a:latin typeface="+mn-lt"/>
                <a:ea typeface="Tahoma"/>
                <a:cs typeface="Tahoma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53360418"/>
      </p:ext>
    </p:extLst>
  </p:cSld>
  <p:clrMapOvr>
    <a:masterClrMapping/>
  </p:clrMapOvr>
  <p:transition spd="slow">
    <p:fade/>
  </p:transition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7F9400-DFFE-6DF5-5DD1-EC0D653764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5D80A4-2840-8E37-D6C0-2A6B0024C4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A8D61D-BE11-75EE-70DD-D2D9B4D6BB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EA5795-11B2-4331-99C7-C6BC78F1B380}" type="datetimeFigureOut">
              <a:rPr lang="en-GB" smtClean="0"/>
              <a:t>10/12/2025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D551F0-DA50-5C89-A378-99CD6CE730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428925-3889-4E06-DEF1-4AC0772FF1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414CF-2578-4BDB-9C18-3F7BE6B9EDC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54543488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08302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29.xml"/><Relationship Id="rId18" Type="http://schemas.openxmlformats.org/officeDocument/2006/relationships/slideLayout" Target="../slideLayouts/slideLayout34.xml"/><Relationship Id="rId26" Type="http://schemas.openxmlformats.org/officeDocument/2006/relationships/slideLayout" Target="../slideLayouts/slideLayout42.xml"/><Relationship Id="rId21" Type="http://schemas.openxmlformats.org/officeDocument/2006/relationships/slideLayout" Target="../slideLayouts/slideLayout37.xml"/><Relationship Id="rId34" Type="http://schemas.openxmlformats.org/officeDocument/2006/relationships/slideLayout" Target="../slideLayouts/slideLayout50.xml"/><Relationship Id="rId7" Type="http://schemas.openxmlformats.org/officeDocument/2006/relationships/slideLayout" Target="../slideLayouts/slideLayout23.xml"/><Relationship Id="rId12" Type="http://schemas.openxmlformats.org/officeDocument/2006/relationships/slideLayout" Target="../slideLayouts/slideLayout28.xml"/><Relationship Id="rId17" Type="http://schemas.openxmlformats.org/officeDocument/2006/relationships/slideLayout" Target="../slideLayouts/slideLayout33.xml"/><Relationship Id="rId25" Type="http://schemas.openxmlformats.org/officeDocument/2006/relationships/slideLayout" Target="../slideLayouts/slideLayout41.xml"/><Relationship Id="rId33" Type="http://schemas.openxmlformats.org/officeDocument/2006/relationships/slideLayout" Target="../slideLayouts/slideLayout49.xml"/><Relationship Id="rId2" Type="http://schemas.openxmlformats.org/officeDocument/2006/relationships/slideLayout" Target="../slideLayouts/slideLayout18.xml"/><Relationship Id="rId16" Type="http://schemas.openxmlformats.org/officeDocument/2006/relationships/slideLayout" Target="../slideLayouts/slideLayout32.xml"/><Relationship Id="rId20" Type="http://schemas.openxmlformats.org/officeDocument/2006/relationships/slideLayout" Target="../slideLayouts/slideLayout36.xml"/><Relationship Id="rId29" Type="http://schemas.openxmlformats.org/officeDocument/2006/relationships/slideLayout" Target="../slideLayouts/slideLayout45.xml"/><Relationship Id="rId1" Type="http://schemas.openxmlformats.org/officeDocument/2006/relationships/slideLayout" Target="../slideLayouts/slideLayout17.xml"/><Relationship Id="rId6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7.xml"/><Relationship Id="rId24" Type="http://schemas.openxmlformats.org/officeDocument/2006/relationships/slideLayout" Target="../slideLayouts/slideLayout40.xml"/><Relationship Id="rId32" Type="http://schemas.openxmlformats.org/officeDocument/2006/relationships/slideLayout" Target="../slideLayouts/slideLayout48.xml"/><Relationship Id="rId37" Type="http://schemas.openxmlformats.org/officeDocument/2006/relationships/image" Target="../media/image3.jpeg"/><Relationship Id="rId5" Type="http://schemas.openxmlformats.org/officeDocument/2006/relationships/slideLayout" Target="../slideLayouts/slideLayout21.xml"/><Relationship Id="rId15" Type="http://schemas.openxmlformats.org/officeDocument/2006/relationships/slideLayout" Target="../slideLayouts/slideLayout31.xml"/><Relationship Id="rId23" Type="http://schemas.openxmlformats.org/officeDocument/2006/relationships/slideLayout" Target="../slideLayouts/slideLayout39.xml"/><Relationship Id="rId28" Type="http://schemas.openxmlformats.org/officeDocument/2006/relationships/slideLayout" Target="../slideLayouts/slideLayout44.xml"/><Relationship Id="rId36" Type="http://schemas.openxmlformats.org/officeDocument/2006/relationships/theme" Target="../theme/theme2.xml"/><Relationship Id="rId10" Type="http://schemas.openxmlformats.org/officeDocument/2006/relationships/slideLayout" Target="../slideLayouts/slideLayout26.xml"/><Relationship Id="rId19" Type="http://schemas.openxmlformats.org/officeDocument/2006/relationships/slideLayout" Target="../slideLayouts/slideLayout35.xml"/><Relationship Id="rId31" Type="http://schemas.openxmlformats.org/officeDocument/2006/relationships/slideLayout" Target="../slideLayouts/slideLayout47.xml"/><Relationship Id="rId4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5.xml"/><Relationship Id="rId14" Type="http://schemas.openxmlformats.org/officeDocument/2006/relationships/slideLayout" Target="../slideLayouts/slideLayout30.xml"/><Relationship Id="rId22" Type="http://schemas.openxmlformats.org/officeDocument/2006/relationships/slideLayout" Target="../slideLayouts/slideLayout38.xml"/><Relationship Id="rId27" Type="http://schemas.openxmlformats.org/officeDocument/2006/relationships/slideLayout" Target="../slideLayouts/slideLayout43.xml"/><Relationship Id="rId30" Type="http://schemas.openxmlformats.org/officeDocument/2006/relationships/slideLayout" Target="../slideLayouts/slideLayout46.xml"/><Relationship Id="rId35" Type="http://schemas.openxmlformats.org/officeDocument/2006/relationships/slideLayout" Target="../slideLayouts/slideLayout51.xml"/><Relationship Id="rId8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9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9.xml"/><Relationship Id="rId3" Type="http://schemas.openxmlformats.org/officeDocument/2006/relationships/slideLayout" Target="../slideLayouts/slideLayout54.xml"/><Relationship Id="rId7" Type="http://schemas.openxmlformats.org/officeDocument/2006/relationships/slideLayout" Target="../slideLayouts/slideLayout58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53.xml"/><Relationship Id="rId1" Type="http://schemas.openxmlformats.org/officeDocument/2006/relationships/slideLayout" Target="../slideLayouts/slideLayout52.xml"/><Relationship Id="rId6" Type="http://schemas.openxmlformats.org/officeDocument/2006/relationships/slideLayout" Target="../slideLayouts/slideLayout57.xml"/><Relationship Id="rId11" Type="http://schemas.openxmlformats.org/officeDocument/2006/relationships/slideLayout" Target="../slideLayouts/slideLayout62.xml"/><Relationship Id="rId5" Type="http://schemas.openxmlformats.org/officeDocument/2006/relationships/slideLayout" Target="../slideLayouts/slideLayout56.xml"/><Relationship Id="rId10" Type="http://schemas.openxmlformats.org/officeDocument/2006/relationships/slideLayout" Target="../slideLayouts/slideLayout61.xml"/><Relationship Id="rId4" Type="http://schemas.openxmlformats.org/officeDocument/2006/relationships/slideLayout" Target="../slideLayouts/slideLayout55.xml"/><Relationship Id="rId9" Type="http://schemas.openxmlformats.org/officeDocument/2006/relationships/slideLayout" Target="../slideLayouts/slideLayout60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0.xml"/><Relationship Id="rId13" Type="http://schemas.openxmlformats.org/officeDocument/2006/relationships/slideLayout" Target="../slideLayouts/slideLayout75.xml"/><Relationship Id="rId18" Type="http://schemas.openxmlformats.org/officeDocument/2006/relationships/image" Target="../media/image1.jpeg"/><Relationship Id="rId3" Type="http://schemas.openxmlformats.org/officeDocument/2006/relationships/slideLayout" Target="../slideLayouts/slideLayout65.xml"/><Relationship Id="rId7" Type="http://schemas.openxmlformats.org/officeDocument/2006/relationships/slideLayout" Target="../slideLayouts/slideLayout69.xml"/><Relationship Id="rId12" Type="http://schemas.openxmlformats.org/officeDocument/2006/relationships/slideLayout" Target="../slideLayouts/slideLayout74.xml"/><Relationship Id="rId17" Type="http://schemas.openxmlformats.org/officeDocument/2006/relationships/theme" Target="../theme/theme4.xml"/><Relationship Id="rId2" Type="http://schemas.openxmlformats.org/officeDocument/2006/relationships/slideLayout" Target="../slideLayouts/slideLayout64.xml"/><Relationship Id="rId16" Type="http://schemas.openxmlformats.org/officeDocument/2006/relationships/slideLayout" Target="../slideLayouts/slideLayout78.xml"/><Relationship Id="rId1" Type="http://schemas.openxmlformats.org/officeDocument/2006/relationships/slideLayout" Target="../slideLayouts/slideLayout63.xml"/><Relationship Id="rId6" Type="http://schemas.openxmlformats.org/officeDocument/2006/relationships/slideLayout" Target="../slideLayouts/slideLayout68.xml"/><Relationship Id="rId11" Type="http://schemas.openxmlformats.org/officeDocument/2006/relationships/slideLayout" Target="../slideLayouts/slideLayout73.xml"/><Relationship Id="rId5" Type="http://schemas.openxmlformats.org/officeDocument/2006/relationships/slideLayout" Target="../slideLayouts/slideLayout67.xml"/><Relationship Id="rId15" Type="http://schemas.openxmlformats.org/officeDocument/2006/relationships/slideLayout" Target="../slideLayouts/slideLayout77.xml"/><Relationship Id="rId10" Type="http://schemas.openxmlformats.org/officeDocument/2006/relationships/slideLayout" Target="../slideLayouts/slideLayout72.xml"/><Relationship Id="rId4" Type="http://schemas.openxmlformats.org/officeDocument/2006/relationships/slideLayout" Target="../slideLayouts/slideLayout66.xml"/><Relationship Id="rId9" Type="http://schemas.openxmlformats.org/officeDocument/2006/relationships/slideLayout" Target="../slideLayouts/slideLayout71.xml"/><Relationship Id="rId14" Type="http://schemas.openxmlformats.org/officeDocument/2006/relationships/slideLayout" Target="../slideLayouts/slideLayout76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79.xml"/></Relationships>
</file>

<file path=ppt/slideMasters/_rels/slideMaster6.xml.rels><?xml version="1.0" encoding="UTF-8" standalone="yes"?>
<Relationships xmlns="http://schemas.openxmlformats.org/package/2006/relationships"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8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Placeholder 3">
            <a:extLst>
              <a:ext uri="{FF2B5EF4-FFF2-40B4-BE49-F238E27FC236}">
                <a16:creationId xmlns:a16="http://schemas.microsoft.com/office/drawing/2014/main" id="{3631A212-DAA8-B544-9BA8-9F3465AA8A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692697"/>
            <a:ext cx="7886700" cy="720079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6D7E385-10D3-CC4C-B8C0-4CD9D91D4F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6296" y="0"/>
            <a:ext cx="1081087" cy="539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AE473CE-A36B-BA1F-D42E-E5CE45622501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657340"/>
            <a:ext cx="2173288" cy="13716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GB" sz="9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Sensitivity label: Students, Staff and Guests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62" r:id="rId1"/>
    <p:sldLayoutId id="2147483963" r:id="rId2"/>
    <p:sldLayoutId id="2147483964" r:id="rId3"/>
    <p:sldLayoutId id="2147483965" r:id="rId4"/>
    <p:sldLayoutId id="2147483966" r:id="rId5"/>
    <p:sldLayoutId id="2147483967" r:id="rId6"/>
    <p:sldLayoutId id="2147483968" r:id="rId7"/>
    <p:sldLayoutId id="2147483969" r:id="rId8"/>
    <p:sldLayoutId id="2147483970" r:id="rId9"/>
    <p:sldLayoutId id="2147483971" r:id="rId10"/>
    <p:sldLayoutId id="2147483972" r:id="rId11"/>
    <p:sldLayoutId id="2147483973" r:id="rId12"/>
    <p:sldLayoutId id="2147483974" r:id="rId13"/>
    <p:sldLayoutId id="2147483975" r:id="rId14"/>
    <p:sldLayoutId id="2147483976" r:id="rId15"/>
    <p:sldLayoutId id="2147484043" r:id="rId16"/>
  </p:sldLayoutIdLst>
  <p:transition spd="slow">
    <p:fade/>
  </p:transition>
  <p:txStyles>
    <p:titleStyle>
      <a:lvl1pPr algn="l" defTabSz="606425" rtl="0" eaLnBrk="1" fontAlgn="base" hangingPunct="1">
        <a:spcBef>
          <a:spcPct val="0"/>
        </a:spcBef>
        <a:spcAft>
          <a:spcPct val="0"/>
        </a:spcAft>
        <a:defRPr sz="3600" kern="1200">
          <a:solidFill>
            <a:srgbClr val="7A7392"/>
          </a:solidFill>
          <a:latin typeface="+mj-lt"/>
          <a:ea typeface="ＭＳ Ｐゴシック" charset="0"/>
          <a:cs typeface="ＭＳ Ｐゴシック" charset="0"/>
        </a:defRPr>
      </a:lvl1pPr>
      <a:lvl2pPr algn="ctr" defTabSz="606425" rtl="0" eaLnBrk="1" fontAlgn="base" hangingPunct="1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2pPr>
      <a:lvl3pPr algn="ctr" defTabSz="606425" rtl="0" eaLnBrk="1" fontAlgn="base" hangingPunct="1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3pPr>
      <a:lvl4pPr algn="ctr" defTabSz="606425" rtl="0" eaLnBrk="1" fontAlgn="base" hangingPunct="1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4pPr>
      <a:lvl5pPr algn="ctr" defTabSz="606425" rtl="0" eaLnBrk="1" fontAlgn="base" hangingPunct="1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5pPr>
      <a:lvl6pPr marL="609555" algn="ctr" defTabSz="609555" rtl="0" eaLnBrk="1" fontAlgn="base" hangingPunct="1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6pPr>
      <a:lvl7pPr marL="1219110" algn="ctr" defTabSz="609555" rtl="0" eaLnBrk="1" fontAlgn="base" hangingPunct="1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7pPr>
      <a:lvl8pPr marL="1828664" algn="ctr" defTabSz="609555" rtl="0" eaLnBrk="1" fontAlgn="base" hangingPunct="1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8pPr>
      <a:lvl9pPr marL="2438218" algn="ctr" defTabSz="609555" rtl="0" eaLnBrk="1" fontAlgn="base" hangingPunct="1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9pPr>
    </p:titleStyle>
    <p:bodyStyle>
      <a:lvl1pPr marL="454025" indent="-454025" algn="l" defTabSz="606425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4200" kern="1200">
          <a:solidFill>
            <a:schemeClr val="tx1"/>
          </a:solidFill>
          <a:latin typeface="+mn-lt"/>
          <a:ea typeface="ＭＳ Ｐゴシック" charset="0"/>
          <a:cs typeface="ＭＳ Ｐゴシック" charset="0"/>
        </a:defRPr>
      </a:lvl1pPr>
      <a:lvl2pPr marL="987425" indent="-377825" algn="l" defTabSz="606425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3700" kern="1200">
          <a:solidFill>
            <a:schemeClr val="tx1"/>
          </a:solidFill>
          <a:latin typeface="+mn-lt"/>
          <a:ea typeface="ＭＳ Ｐゴシック" charset="0"/>
          <a:cs typeface="+mn-cs"/>
        </a:defRPr>
      </a:lvl2pPr>
      <a:lvl3pPr marL="1520825" indent="-301625" algn="l" defTabSz="606425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ＭＳ Ｐゴシック" charset="0"/>
          <a:cs typeface="+mn-cs"/>
        </a:defRPr>
      </a:lvl3pPr>
      <a:lvl4pPr marL="2130425" indent="-301625" algn="l" defTabSz="606425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600" kern="1200">
          <a:solidFill>
            <a:schemeClr val="tx1"/>
          </a:solidFill>
          <a:latin typeface="+mn-lt"/>
          <a:ea typeface="ＭＳ Ｐゴシック" charset="0"/>
          <a:cs typeface="+mn-cs"/>
        </a:defRPr>
      </a:lvl4pPr>
      <a:lvl5pPr marL="2740025" indent="-301625" algn="l" defTabSz="606425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2600" kern="1200">
          <a:solidFill>
            <a:schemeClr val="tx1"/>
          </a:solidFill>
          <a:latin typeface="+mn-lt"/>
          <a:ea typeface="ＭＳ Ｐゴシック" charset="0"/>
          <a:cs typeface="+mn-cs"/>
        </a:defRPr>
      </a:lvl5pPr>
      <a:lvl6pPr marL="3352548" indent="-304776" algn="l" defTabSz="60955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104" indent="-304776" algn="l" defTabSz="60955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658" indent="-304776" algn="l" defTabSz="60955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212" indent="-304776" algn="l" defTabSz="60955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55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10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664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218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772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327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880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435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7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96C27B9-4E25-4D8E-A493-ADC9885AEC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E7DA72-09E1-4156-B059-6CDBB643E2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B5C0E-DE07-4B79-BD0F-528A83F7E5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38FBC1-3D57-4203-A6F3-B5A8781ECB77}" type="datetimeFigureOut">
              <a:rPr lang="en-GB" smtClean="0"/>
              <a:t>10/12/2025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BC95E6-253F-41B6-AE4A-D4E855AE8F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CC3E83-BEE0-4F4E-AFF7-450EAAFF4A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189077-3F3A-4578-8E13-09C89609C916}" type="slidenum">
              <a:rPr lang="en-GB" smtClean="0"/>
              <a:t>‹#›</a:t>
            </a:fld>
            <a:endParaRPr lang="en-GB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5C6B0E9-322C-6D37-22DC-1EE4D2539D8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657340"/>
            <a:ext cx="2173288" cy="13716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GB" sz="9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Sensitivity label: Students, Staff and Guests</a:t>
            </a:r>
          </a:p>
        </p:txBody>
      </p:sp>
    </p:spTree>
    <p:extLst>
      <p:ext uri="{BB962C8B-B14F-4D97-AF65-F5344CB8AC3E}">
        <p14:creationId xmlns:p14="http://schemas.microsoft.com/office/powerpoint/2010/main" val="5576464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80" r:id="rId1"/>
    <p:sldLayoutId id="2147483981" r:id="rId2"/>
    <p:sldLayoutId id="2147483982" r:id="rId3"/>
    <p:sldLayoutId id="2147483983" r:id="rId4"/>
    <p:sldLayoutId id="2147483984" r:id="rId5"/>
    <p:sldLayoutId id="2147483985" r:id="rId6"/>
    <p:sldLayoutId id="2147483986" r:id="rId7"/>
    <p:sldLayoutId id="2147483987" r:id="rId8"/>
    <p:sldLayoutId id="2147483988" r:id="rId9"/>
    <p:sldLayoutId id="2147483989" r:id="rId10"/>
    <p:sldLayoutId id="2147483990" r:id="rId11"/>
    <p:sldLayoutId id="2147483991" r:id="rId12"/>
    <p:sldLayoutId id="2147483992" r:id="rId13"/>
    <p:sldLayoutId id="2147483993" r:id="rId14"/>
    <p:sldLayoutId id="2147483994" r:id="rId15"/>
    <p:sldLayoutId id="2147483995" r:id="rId16"/>
    <p:sldLayoutId id="2147483996" r:id="rId17"/>
    <p:sldLayoutId id="2147483997" r:id="rId18"/>
    <p:sldLayoutId id="2147483998" r:id="rId19"/>
    <p:sldLayoutId id="2147483999" r:id="rId20"/>
    <p:sldLayoutId id="2147484000" r:id="rId21"/>
    <p:sldLayoutId id="2147484001" r:id="rId22"/>
    <p:sldLayoutId id="2147484002" r:id="rId23"/>
    <p:sldLayoutId id="2147484003" r:id="rId24"/>
    <p:sldLayoutId id="2147484004" r:id="rId25"/>
    <p:sldLayoutId id="2147484005" r:id="rId26"/>
    <p:sldLayoutId id="2147484006" r:id="rId27"/>
    <p:sldLayoutId id="2147484007" r:id="rId28"/>
    <p:sldLayoutId id="2147484008" r:id="rId29"/>
    <p:sldLayoutId id="2147484009" r:id="rId30"/>
    <p:sldLayoutId id="2147484010" r:id="rId31"/>
    <p:sldLayoutId id="2147484011" r:id="rId32"/>
    <p:sldLayoutId id="2147484012" r:id="rId33"/>
    <p:sldLayoutId id="2147484013" r:id="rId34"/>
    <p:sldLayoutId id="2147484014" r:id="rId35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b="1" kern="1200">
          <a:solidFill>
            <a:schemeClr val="bg1">
              <a:lumMod val="95000"/>
            </a:schemeClr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F0E3913-3A15-423D-AD1F-817C91D3BA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E83246-C45D-47BD-9E3A-C813903AAC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B444C0-A78D-4EF8-90C5-C4764972066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EBA8CA-F49C-488B-B085-2E56E4E6DCFD}" type="datetimeFigureOut">
              <a:rPr lang="en-GB" smtClean="0"/>
              <a:t>10/12/2025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2FD5A6-A6B0-4709-9A8F-A8678D17CE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A77A69-3627-4E47-A199-362D5809E6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663DCC-C58A-491C-892E-741A82B3FDBC}" type="slidenum">
              <a:rPr lang="en-GB" smtClean="0"/>
              <a:t>‹#›</a:t>
            </a:fld>
            <a:endParaRPr lang="en-GB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ACFEF5B-8CBF-38DD-7971-238D208AB201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657340"/>
            <a:ext cx="2173288" cy="13716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GB" sz="9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Sensitivity label: Students, Staff and Guests</a:t>
            </a:r>
          </a:p>
        </p:txBody>
      </p:sp>
    </p:spTree>
    <p:extLst>
      <p:ext uri="{BB962C8B-B14F-4D97-AF65-F5344CB8AC3E}">
        <p14:creationId xmlns:p14="http://schemas.microsoft.com/office/powerpoint/2010/main" val="21764364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16" r:id="rId1"/>
    <p:sldLayoutId id="2147484017" r:id="rId2"/>
    <p:sldLayoutId id="2147484018" r:id="rId3"/>
    <p:sldLayoutId id="2147484019" r:id="rId4"/>
    <p:sldLayoutId id="2147484020" r:id="rId5"/>
    <p:sldLayoutId id="2147484021" r:id="rId6"/>
    <p:sldLayoutId id="2147484022" r:id="rId7"/>
    <p:sldLayoutId id="2147484023" r:id="rId8"/>
    <p:sldLayoutId id="2147484024" r:id="rId9"/>
    <p:sldLayoutId id="2147484025" r:id="rId10"/>
    <p:sldLayoutId id="2147484026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6D7E385-10D3-CC4C-B8C0-4CD9D91D4F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6296" y="0"/>
            <a:ext cx="1081087" cy="539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itle Placeholder 3">
            <a:extLst>
              <a:ext uri="{FF2B5EF4-FFF2-40B4-BE49-F238E27FC236}">
                <a16:creationId xmlns:a16="http://schemas.microsoft.com/office/drawing/2014/main" id="{3631A212-DAA8-B544-9BA8-9F3465AA8A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692696"/>
            <a:ext cx="7886700" cy="1325563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FB8411D-BA3F-C6D1-BD87-D76069D17162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657340"/>
            <a:ext cx="2173288" cy="13716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GB" sz="9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Sensitivity label: Students, Staff and Guests</a:t>
            </a:r>
          </a:p>
        </p:txBody>
      </p:sp>
    </p:spTree>
    <p:extLst>
      <p:ext uri="{BB962C8B-B14F-4D97-AF65-F5344CB8AC3E}">
        <p14:creationId xmlns:p14="http://schemas.microsoft.com/office/powerpoint/2010/main" val="29101954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28" r:id="rId1"/>
    <p:sldLayoutId id="2147484029" r:id="rId2"/>
    <p:sldLayoutId id="2147484030" r:id="rId3"/>
    <p:sldLayoutId id="2147484031" r:id="rId4"/>
    <p:sldLayoutId id="2147484032" r:id="rId5"/>
    <p:sldLayoutId id="2147484033" r:id="rId6"/>
    <p:sldLayoutId id="2147484034" r:id="rId7"/>
    <p:sldLayoutId id="2147484035" r:id="rId8"/>
    <p:sldLayoutId id="2147484036" r:id="rId9"/>
    <p:sldLayoutId id="2147484037" r:id="rId10"/>
    <p:sldLayoutId id="2147484038" r:id="rId11"/>
    <p:sldLayoutId id="2147484039" r:id="rId12"/>
    <p:sldLayoutId id="2147484040" r:id="rId13"/>
    <p:sldLayoutId id="2147484041" r:id="rId14"/>
    <p:sldLayoutId id="2147484042" r:id="rId15"/>
    <p:sldLayoutId id="2147484044" r:id="rId16"/>
  </p:sldLayoutIdLst>
  <p:transition spd="slow">
    <p:fade/>
  </p:transition>
  <p:txStyles>
    <p:titleStyle>
      <a:lvl1pPr algn="l" defTabSz="606425" rtl="0" eaLnBrk="1" fontAlgn="base" hangingPunct="1">
        <a:spcBef>
          <a:spcPct val="0"/>
        </a:spcBef>
        <a:spcAft>
          <a:spcPct val="0"/>
        </a:spcAft>
        <a:defRPr sz="3600" kern="1200">
          <a:solidFill>
            <a:srgbClr val="1A9DAC"/>
          </a:solidFill>
          <a:latin typeface="+mj-lt"/>
          <a:ea typeface="ＭＳ Ｐゴシック" charset="0"/>
          <a:cs typeface="ＭＳ Ｐゴシック" charset="0"/>
        </a:defRPr>
      </a:lvl1pPr>
      <a:lvl2pPr algn="ctr" defTabSz="606425" rtl="0" eaLnBrk="1" fontAlgn="base" hangingPunct="1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2pPr>
      <a:lvl3pPr algn="ctr" defTabSz="606425" rtl="0" eaLnBrk="1" fontAlgn="base" hangingPunct="1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3pPr>
      <a:lvl4pPr algn="ctr" defTabSz="606425" rtl="0" eaLnBrk="1" fontAlgn="base" hangingPunct="1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4pPr>
      <a:lvl5pPr algn="ctr" defTabSz="606425" rtl="0" eaLnBrk="1" fontAlgn="base" hangingPunct="1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5pPr>
      <a:lvl6pPr marL="609555" algn="ctr" defTabSz="609555" rtl="0" eaLnBrk="1" fontAlgn="base" hangingPunct="1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6pPr>
      <a:lvl7pPr marL="1219110" algn="ctr" defTabSz="609555" rtl="0" eaLnBrk="1" fontAlgn="base" hangingPunct="1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7pPr>
      <a:lvl8pPr marL="1828664" algn="ctr" defTabSz="609555" rtl="0" eaLnBrk="1" fontAlgn="base" hangingPunct="1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8pPr>
      <a:lvl9pPr marL="2438218" algn="ctr" defTabSz="609555" rtl="0" eaLnBrk="1" fontAlgn="base" hangingPunct="1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9pPr>
    </p:titleStyle>
    <p:bodyStyle>
      <a:lvl1pPr marL="454025" indent="-454025" algn="l" defTabSz="606425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4200" kern="1200">
          <a:solidFill>
            <a:schemeClr val="tx1"/>
          </a:solidFill>
          <a:latin typeface="+mn-lt"/>
          <a:ea typeface="ＭＳ Ｐゴシック" charset="0"/>
          <a:cs typeface="ＭＳ Ｐゴシック" charset="0"/>
        </a:defRPr>
      </a:lvl1pPr>
      <a:lvl2pPr marL="987425" indent="-377825" algn="l" defTabSz="606425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3700" kern="1200">
          <a:solidFill>
            <a:schemeClr val="tx1"/>
          </a:solidFill>
          <a:latin typeface="+mn-lt"/>
          <a:ea typeface="ＭＳ Ｐゴシック" charset="0"/>
          <a:cs typeface="+mn-cs"/>
        </a:defRPr>
      </a:lvl2pPr>
      <a:lvl3pPr marL="1520825" indent="-301625" algn="l" defTabSz="606425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ＭＳ Ｐゴシック" charset="0"/>
          <a:cs typeface="+mn-cs"/>
        </a:defRPr>
      </a:lvl3pPr>
      <a:lvl4pPr marL="2130425" indent="-301625" algn="l" defTabSz="606425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600" kern="1200">
          <a:solidFill>
            <a:schemeClr val="tx1"/>
          </a:solidFill>
          <a:latin typeface="+mn-lt"/>
          <a:ea typeface="ＭＳ Ｐゴシック" charset="0"/>
          <a:cs typeface="+mn-cs"/>
        </a:defRPr>
      </a:lvl4pPr>
      <a:lvl5pPr marL="2740025" indent="-301625" algn="l" defTabSz="606425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2600" kern="1200">
          <a:solidFill>
            <a:schemeClr val="tx1"/>
          </a:solidFill>
          <a:latin typeface="+mn-lt"/>
          <a:ea typeface="ＭＳ Ｐゴシック" charset="0"/>
          <a:cs typeface="+mn-cs"/>
        </a:defRPr>
      </a:lvl5pPr>
      <a:lvl6pPr marL="3352548" indent="-304776" algn="l" defTabSz="60955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104" indent="-304776" algn="l" defTabSz="60955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658" indent="-304776" algn="l" defTabSz="60955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212" indent="-304776" algn="l" defTabSz="60955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55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10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664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218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772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327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880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435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AC6820B-039C-6035-86DC-B4C73BCD79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A76635-B33D-DC2C-BB38-7D9DBA9C86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FD949D-E2A0-1F12-F929-962CEE10052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EA5795-11B2-4331-99C7-C6BC78F1B380}" type="datetimeFigureOut">
              <a:rPr lang="en-GB" smtClean="0"/>
              <a:t>10/12/2025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2B6755-0E24-338E-36FD-F74772FF12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390992-E346-E837-B408-FAC387EA19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B414CF-2578-4BDB-9C18-3F7BE6B9EDC9}" type="slidenum">
              <a:rPr lang="en-GB" smtClean="0"/>
              <a:t>‹#›</a:t>
            </a:fld>
            <a:endParaRPr lang="en-GB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525CA12-1E34-7878-602F-7A182D04F906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657340"/>
            <a:ext cx="2173288" cy="13716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GB" sz="9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Sensitivity label: Students, Staff and Guests</a:t>
            </a:r>
          </a:p>
        </p:txBody>
      </p:sp>
    </p:spTree>
    <p:extLst>
      <p:ext uri="{BB962C8B-B14F-4D97-AF65-F5344CB8AC3E}">
        <p14:creationId xmlns:p14="http://schemas.microsoft.com/office/powerpoint/2010/main" val="19705801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84C1CDE-9AFC-5B3C-E2A3-CB43D906CE2C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657340"/>
            <a:ext cx="2173288" cy="13716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GB" sz="9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Sensitivity label: Students, Staff and Guests</a:t>
            </a:r>
          </a:p>
        </p:txBody>
      </p:sp>
    </p:spTree>
    <p:extLst>
      <p:ext uri="{BB962C8B-B14F-4D97-AF65-F5344CB8AC3E}">
        <p14:creationId xmlns:p14="http://schemas.microsoft.com/office/powerpoint/2010/main" val="29588320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60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0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1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emf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6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6.xml"/><Relationship Id="rId5" Type="http://schemas.openxmlformats.org/officeDocument/2006/relationships/image" Target="../media/image35.png"/><Relationship Id="rId4" Type="http://schemas.openxmlformats.org/officeDocument/2006/relationships/image" Target="../media/image34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6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37.png"/><Relationship Id="rId7" Type="http://schemas.openxmlformats.org/officeDocument/2006/relationships/image" Target="../media/image4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10" Type="http://schemas.openxmlformats.org/officeDocument/2006/relationships/image" Target="../media/image31.emf"/><Relationship Id="rId4" Type="http://schemas.openxmlformats.org/officeDocument/2006/relationships/image" Target="../media/image38.png"/><Relationship Id="rId9" Type="http://schemas.openxmlformats.org/officeDocument/2006/relationships/image" Target="../media/image4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7.xml"/><Relationship Id="rId5" Type="http://schemas.openxmlformats.org/officeDocument/2006/relationships/hyperlink" Target="https://pixabay.com/?utm_source=link-attribution&amp;utm_medium=referral&amp;utm_campaign=image&amp;utm_content=3591573" TargetMode="External"/><Relationship Id="rId4" Type="http://schemas.openxmlformats.org/officeDocument/2006/relationships/hyperlink" Target="https://pixabay.com/users/geralt-9301/?utm_source=link-attribution&amp;utm_medium=referral&amp;utm_campaign=image&amp;utm_content=3591573" TargetMode="Externa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8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0.xml"/><Relationship Id="rId4" Type="http://schemas.openxmlformats.org/officeDocument/2006/relationships/hyperlink" Target="mailto:adnan.aslam@uwe.ac.uk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EF4C6A-CA2E-4C35-8BA5-916C10203F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08093" y="2999058"/>
            <a:ext cx="5689524" cy="2089585"/>
          </a:xfrm>
        </p:spPr>
        <p:txBody>
          <a:bodyPr>
            <a:normAutofit/>
          </a:bodyPr>
          <a:lstStyle/>
          <a:p>
            <a:r>
              <a:rPr lang="en-GB" sz="4400" b="1" dirty="0">
                <a:ea typeface="ＭＳ Ｐゴシック"/>
              </a:rPr>
              <a:t>Risk and Return - Part 2</a:t>
            </a:r>
            <a:endParaRPr lang="en-GB" sz="4400" b="1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6BE806-4523-4FEC-B19F-B5D4FF00D6A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95536" y="1915479"/>
            <a:ext cx="1219139" cy="269081"/>
          </a:xfrm>
        </p:spPr>
        <p:txBody>
          <a:bodyPr/>
          <a:lstStyle/>
          <a:p>
            <a:endParaRPr lang="en-GB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5FC82F-1F0B-4D11-BC78-0C43FDE0F39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12035" y="2382068"/>
            <a:ext cx="1605609" cy="345828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GB" dirty="0"/>
              <a:t>Dr Adnan Aslam</a:t>
            </a:r>
          </a:p>
          <a:p>
            <a:pPr>
              <a:lnSpc>
                <a:spcPct val="100000"/>
              </a:lnSpc>
            </a:pPr>
            <a:endParaRPr lang="en-GB" dirty="0"/>
          </a:p>
          <a:p>
            <a:pPr>
              <a:lnSpc>
                <a:spcPct val="100000"/>
              </a:lnSpc>
            </a:pPr>
            <a:endParaRPr lang="en-GB" dirty="0"/>
          </a:p>
          <a:p>
            <a:pPr>
              <a:lnSpc>
                <a:spcPct val="100000"/>
              </a:lnSpc>
            </a:pPr>
            <a:r>
              <a:rPr lang="en-GB" dirty="0"/>
              <a:t>      Lecture - 6</a:t>
            </a:r>
          </a:p>
        </p:txBody>
      </p:sp>
      <p:sp>
        <p:nvSpPr>
          <p:cNvPr id="7" name="Rectangle 6"/>
          <p:cNvSpPr/>
          <p:nvPr/>
        </p:nvSpPr>
        <p:spPr>
          <a:xfrm>
            <a:off x="1987366" y="1915479"/>
            <a:ext cx="7156634" cy="430887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r>
              <a:rPr lang="en-GB" sz="2200" dirty="0">
                <a:solidFill>
                  <a:schemeClr val="bg1"/>
                </a:solidFill>
                <a:latin typeface="+mn-lt"/>
                <a:ea typeface="ＭＳ Ｐゴシック"/>
              </a:rPr>
              <a:t>UMET9G-30-1: Accounting and Finance for Decision Making</a:t>
            </a:r>
            <a:endParaRPr lang="en-GB" sz="2200" dirty="0">
              <a:solidFill>
                <a:schemeClr val="bg1"/>
              </a:solidFill>
              <a:latin typeface="+mn-lt"/>
              <a:ea typeface="ＭＳ Ｐゴシック"/>
              <a:cs typeface="Calibri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A40E439-7964-4999-89C0-DBC132DF1138}"/>
              </a:ext>
            </a:extLst>
          </p:cNvPr>
          <p:cNvSpPr txBox="1">
            <a:spLocks/>
          </p:cNvSpPr>
          <p:nvPr/>
        </p:nvSpPr>
        <p:spPr>
          <a:xfrm>
            <a:off x="598505" y="5373216"/>
            <a:ext cx="1219139" cy="345828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l" defTabSz="606425" rtl="0" eaLnBrk="1" fontAlgn="base" hangingPunct="1">
              <a:lnSpc>
                <a:spcPts val="1300"/>
              </a:lnSpc>
              <a:spcBef>
                <a:spcPts val="0"/>
              </a:spcBef>
              <a:spcAft>
                <a:spcPct val="0"/>
              </a:spcAft>
              <a:buFontTx/>
              <a:buNone/>
              <a:defRPr sz="1600" b="0" i="0" kern="1200">
                <a:solidFill>
                  <a:schemeClr val="bg1"/>
                </a:solidFill>
                <a:latin typeface="+mn-lt"/>
                <a:ea typeface="Tahoma"/>
                <a:cs typeface="Tahoma"/>
              </a:defRPr>
            </a:lvl1pPr>
            <a:lvl2pPr marL="987425" indent="-377825" algn="l" defTabSz="606425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3700" kern="1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2pPr>
            <a:lvl3pPr marL="1520825" indent="-301625" algn="l" defTabSz="606425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3pPr>
            <a:lvl4pPr marL="2130425" indent="-301625" algn="l" defTabSz="606425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600" kern="1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4pPr>
            <a:lvl5pPr marL="2740025" indent="-301625" algn="l" defTabSz="606425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600" kern="1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5pPr>
            <a:lvl6pPr marL="3352548" indent="-304776" algn="l" defTabSz="609555" rtl="0" eaLnBrk="1" latinLnBrk="0" hangingPunct="1">
              <a:spcBef>
                <a:spcPct val="20000"/>
              </a:spcBef>
              <a:buFont typeface="Arial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104" indent="-304776" algn="l" defTabSz="609555" rtl="0" eaLnBrk="1" latinLnBrk="0" hangingPunct="1">
              <a:spcBef>
                <a:spcPct val="20000"/>
              </a:spcBef>
              <a:buFont typeface="Arial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658" indent="-304776" algn="l" defTabSz="609555" rtl="0" eaLnBrk="1" latinLnBrk="0" hangingPunct="1">
              <a:spcBef>
                <a:spcPct val="20000"/>
              </a:spcBef>
              <a:buFont typeface="Arial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212" indent="-304776" algn="l" defTabSz="609555" rtl="0" eaLnBrk="1" latinLnBrk="0" hangingPunct="1">
              <a:spcBef>
                <a:spcPct val="20000"/>
              </a:spcBef>
              <a:buFont typeface="Arial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Dec 2025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81597491"/>
      </p:ext>
    </p:extLst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229CB3-07AE-46B0-9EA3-A7C2336FF8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>
                <a:solidFill>
                  <a:srgbClr val="1A9DAC"/>
                </a:solidFill>
                <a:ea typeface="ＭＳ Ｐゴシック"/>
                <a:cs typeface="+mn-cs"/>
              </a:rPr>
              <a:t>Learning outcomes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5278A3-A270-477E-B923-11BF19F6CF9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01724" y="1544595"/>
            <a:ext cx="8285089" cy="4499945"/>
          </a:xfrm>
        </p:spPr>
        <p:txBody>
          <a:bodyPr lIns="0" tIns="0" rIns="0" bIns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GB" sz="2000" b="1" dirty="0">
                <a:ea typeface="Tahoma"/>
                <a:cs typeface="Tahoma"/>
              </a:rPr>
              <a:t>By the end of the session, students will be able to:</a:t>
            </a:r>
          </a:p>
          <a:p>
            <a:pPr>
              <a:lnSpc>
                <a:spcPct val="150000"/>
              </a:lnSpc>
              <a:buClr>
                <a:srgbClr val="1C9DAC"/>
              </a:buClr>
            </a:pPr>
            <a:r>
              <a:rPr lang="en-GB" sz="2000" dirty="0">
                <a:ea typeface="Tahoma"/>
                <a:cs typeface="Tahoma"/>
              </a:rPr>
              <a:t>Explain the principles of portfolio theory and the benefits of diversification.</a:t>
            </a:r>
          </a:p>
          <a:p>
            <a:pPr>
              <a:lnSpc>
                <a:spcPct val="150000"/>
              </a:lnSpc>
              <a:buClr>
                <a:srgbClr val="1C9DAC"/>
              </a:buClr>
            </a:pPr>
            <a:r>
              <a:rPr lang="en-GB" sz="2000" dirty="0">
                <a:ea typeface="Tahoma"/>
                <a:cs typeface="Tahoma"/>
              </a:rPr>
              <a:t>Illustrate the concept of the efficient frontier and its implications for investment choices.</a:t>
            </a:r>
          </a:p>
          <a:p>
            <a:pPr>
              <a:lnSpc>
                <a:spcPct val="150000"/>
              </a:lnSpc>
              <a:buClr>
                <a:srgbClr val="1C9DAC"/>
              </a:buClr>
            </a:pPr>
            <a:r>
              <a:rPr lang="en-GB" sz="2000" dirty="0">
                <a:ea typeface="Tahoma"/>
                <a:cs typeface="Tahoma"/>
              </a:rPr>
              <a:t>Describe the Capital Asset Pricing Model (CAPM) and its assumptions.</a:t>
            </a:r>
          </a:p>
          <a:p>
            <a:pPr>
              <a:lnSpc>
                <a:spcPct val="150000"/>
              </a:lnSpc>
              <a:buClr>
                <a:srgbClr val="1C9DAC"/>
              </a:buClr>
            </a:pPr>
            <a:r>
              <a:rPr lang="en-GB" sz="2000" dirty="0">
                <a:ea typeface="Tahoma"/>
                <a:cs typeface="Tahoma"/>
              </a:rPr>
              <a:t>Apply the CAPM to estimate the expected return of an asset.</a:t>
            </a:r>
          </a:p>
          <a:p>
            <a:pPr>
              <a:lnSpc>
                <a:spcPct val="150000"/>
              </a:lnSpc>
              <a:buClr>
                <a:srgbClr val="1C9DAC"/>
              </a:buClr>
            </a:pPr>
            <a:r>
              <a:rPr lang="en-GB" sz="2000" dirty="0">
                <a:ea typeface="Tahoma"/>
                <a:cs typeface="Tahoma"/>
              </a:rPr>
              <a:t>Interpret the role of beta in measuring systematic risk relative to the market.</a:t>
            </a:r>
          </a:p>
        </p:txBody>
      </p:sp>
    </p:spTree>
    <p:extLst>
      <p:ext uri="{BB962C8B-B14F-4D97-AF65-F5344CB8AC3E}">
        <p14:creationId xmlns:p14="http://schemas.microsoft.com/office/powerpoint/2010/main" val="11964038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6700" y="966888"/>
            <a:ext cx="7886700" cy="634117"/>
          </a:xfrm>
        </p:spPr>
        <p:txBody>
          <a:bodyPr>
            <a:normAutofit/>
          </a:bodyPr>
          <a:lstStyle/>
          <a:p>
            <a:r>
              <a:rPr lang="en-GB" dirty="0"/>
              <a:t>Recap - Risk and Return – Part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6700" y="1704974"/>
            <a:ext cx="8591550" cy="2509839"/>
          </a:xfrm>
          <a:noFill/>
          <a:ln>
            <a:noFill/>
          </a:ln>
        </p:spPr>
        <p:txBody>
          <a:bodyPr>
            <a:normAutofit/>
          </a:bodyPr>
          <a:lstStyle/>
          <a:p>
            <a:pPr marL="0" indent="0">
              <a:buClr>
                <a:srgbClr val="C00000"/>
              </a:buClr>
              <a:buSzPct val="90000"/>
              <a:buNone/>
            </a:pPr>
            <a:r>
              <a:rPr lang="en-GB" sz="105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548754" y="5710698"/>
            <a:ext cx="679467" cy="405323"/>
          </a:xfrm>
          <a:ln w="12700"/>
        </p:spPr>
        <p:txBody>
          <a:bodyPr/>
          <a:lstStyle/>
          <a:p>
            <a:fld id="{0F99C4FB-888A-4D12-A1C4-C744D94026CD}" type="slidenum">
              <a:rPr lang="en-GB" sz="1350">
                <a:solidFill>
                  <a:schemeClr val="tx1">
                    <a:lumMod val="50000"/>
                    <a:lumOff val="50000"/>
                  </a:schemeClr>
                </a:solidFill>
              </a:rPr>
              <a:t>3</a:t>
            </a:fld>
            <a:endParaRPr lang="en-GB" sz="135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2DE5F22-2FE0-64F6-D410-0E061BDFA9CC}"/>
              </a:ext>
            </a:extLst>
          </p:cNvPr>
          <p:cNvSpPr txBox="1"/>
          <p:nvPr/>
        </p:nvSpPr>
        <p:spPr>
          <a:xfrm>
            <a:off x="84221" y="1704974"/>
            <a:ext cx="9144000" cy="44467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Clr>
                <a:srgbClr val="C00000"/>
              </a:buClr>
              <a:buSzPct val="90000"/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📊 Risk = volatility of returns (measured by standard deviation)</a:t>
            </a:r>
          </a:p>
          <a:p>
            <a:pPr marL="285750" indent="-285750">
              <a:lnSpc>
                <a:spcPct val="200000"/>
              </a:lnSpc>
              <a:buClr>
                <a:srgbClr val="C00000"/>
              </a:buClr>
              <a:buSzPct val="90000"/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💰 Return = dividends + capital gains</a:t>
            </a:r>
          </a:p>
          <a:p>
            <a:pPr marL="285750" indent="-285750">
              <a:lnSpc>
                <a:spcPct val="200000"/>
              </a:lnSpc>
              <a:buClr>
                <a:srgbClr val="C00000"/>
              </a:buClr>
              <a:buSzPct val="90000"/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⚖️ Individual stocks are riskier than portfolios</a:t>
            </a:r>
          </a:p>
          <a:p>
            <a:pPr marL="285750" indent="-285750">
              <a:lnSpc>
                <a:spcPct val="200000"/>
              </a:lnSpc>
              <a:buClr>
                <a:srgbClr val="C00000"/>
              </a:buClr>
              <a:buSzPct val="90000"/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🌍 Systematic risk → market-wide, cannot diversify</a:t>
            </a:r>
          </a:p>
          <a:p>
            <a:pPr marL="285750" indent="-285750">
              <a:lnSpc>
                <a:spcPct val="200000"/>
              </a:lnSpc>
              <a:buClr>
                <a:srgbClr val="C00000"/>
              </a:buClr>
              <a:buSzPct val="90000"/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🏢 Unsystematic risk → firm-specific, reduced via diversification</a:t>
            </a:r>
          </a:p>
          <a:p>
            <a:pPr marL="285750" indent="-285750">
              <a:lnSpc>
                <a:spcPct val="200000"/>
              </a:lnSpc>
              <a:buClr>
                <a:srgbClr val="C00000"/>
              </a:buClr>
              <a:buSzPct val="90000"/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📐 Risk measures → standard deviation &amp; beta</a:t>
            </a:r>
          </a:p>
          <a:p>
            <a:pPr marL="285750" indent="-285750">
              <a:lnSpc>
                <a:spcPct val="200000"/>
              </a:lnSpc>
              <a:buClr>
                <a:srgbClr val="C00000"/>
              </a:buClr>
              <a:buSzPct val="90000"/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📅 Return measures → historical vs expected</a:t>
            </a:r>
          </a:p>
          <a:p>
            <a:pPr marL="285750" indent="-285750">
              <a:lnSpc>
                <a:spcPct val="200000"/>
              </a:lnSpc>
              <a:buClr>
                <a:srgbClr val="C00000"/>
              </a:buClr>
              <a:buSzPct val="90000"/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📊 Market Efficiency → (weak, semi-strong, strong)</a:t>
            </a:r>
          </a:p>
        </p:txBody>
      </p:sp>
    </p:spTree>
    <p:extLst>
      <p:ext uri="{BB962C8B-B14F-4D97-AF65-F5344CB8AC3E}">
        <p14:creationId xmlns:p14="http://schemas.microsoft.com/office/powerpoint/2010/main" val="20045375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5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6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6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7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7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7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8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8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8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9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9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0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0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0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0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1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2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2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2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2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2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2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2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2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4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4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4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4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4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4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0451" y="482285"/>
            <a:ext cx="7886700" cy="634117"/>
          </a:xfrm>
        </p:spPr>
        <p:txBody>
          <a:bodyPr>
            <a:normAutofit/>
          </a:bodyPr>
          <a:lstStyle/>
          <a:p>
            <a:r>
              <a:rPr lang="en-GB" dirty="0"/>
              <a:t>Historical Returns (UK example)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5225" y="1116402"/>
            <a:ext cx="8853550" cy="1988251"/>
          </a:xfrm>
          <a:noFill/>
          <a:ln>
            <a:noFill/>
          </a:ln>
        </p:spPr>
        <p:txBody>
          <a:bodyPr>
            <a:normAutofit/>
          </a:bodyPr>
          <a:lstStyle/>
          <a:p>
            <a:pPr marL="0" indent="0">
              <a:buNone/>
              <a:tabLst>
                <a:tab pos="670322" algn="l"/>
              </a:tabLst>
            </a:pPr>
            <a:r>
              <a:rPr lang="en-GB" sz="1600" b="1" dirty="0"/>
              <a:t>Histogram of returns on UK equities, 1926–2019</a:t>
            </a:r>
          </a:p>
          <a:p>
            <a:pPr marL="0" indent="0">
              <a:buNone/>
              <a:tabLst>
                <a:tab pos="670322" algn="l"/>
              </a:tabLst>
            </a:pPr>
            <a:endParaRPr lang="en-GB" sz="1600" b="1" dirty="0">
              <a:solidFill>
                <a:prstClr val="black"/>
              </a:solidFill>
            </a:endParaRPr>
          </a:p>
          <a:p>
            <a:pPr>
              <a:tabLst>
                <a:tab pos="670322" algn="l"/>
              </a:tabLst>
            </a:pPr>
            <a:r>
              <a:rPr lang="en-GB" sz="1500" dirty="0">
                <a:solidFill>
                  <a:prstClr val="black"/>
                </a:solidFill>
              </a:rPr>
              <a:t>The height of the graph gives the number of sample observations in the range on the horizontal axis.</a:t>
            </a:r>
          </a:p>
          <a:p>
            <a:pPr>
              <a:tabLst>
                <a:tab pos="670322" algn="l"/>
              </a:tabLst>
            </a:pPr>
            <a:r>
              <a:rPr lang="en-GB" sz="1500" dirty="0">
                <a:solidFill>
                  <a:prstClr val="black"/>
                </a:solidFill>
              </a:rPr>
              <a:t>Notice the higher frequency of large positive returns than large negative returns.</a:t>
            </a:r>
          </a:p>
          <a:p>
            <a:pPr marL="342900" lvl="1" indent="0">
              <a:buClr>
                <a:srgbClr val="C00000"/>
              </a:buClr>
              <a:buNone/>
              <a:tabLst>
                <a:tab pos="670322" algn="l"/>
              </a:tabLst>
            </a:pPr>
            <a:endParaRPr lang="en-GB" sz="1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548754" y="5710698"/>
            <a:ext cx="679467" cy="405323"/>
          </a:xfrm>
          <a:ln w="12700"/>
        </p:spPr>
        <p:txBody>
          <a:bodyPr/>
          <a:lstStyle/>
          <a:p>
            <a:fld id="{0F99C4FB-888A-4D12-A1C4-C744D94026CD}" type="slidenum">
              <a:rPr lang="en-GB" sz="1350">
                <a:solidFill>
                  <a:schemeClr val="tx1">
                    <a:lumMod val="50000"/>
                    <a:lumOff val="50000"/>
                  </a:schemeClr>
                </a:solidFill>
              </a:rPr>
              <a:t>4</a:t>
            </a:fld>
            <a:endParaRPr lang="en-GB" sz="135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5FEE33E-6A59-1091-099D-BCDECD62C85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88" r="-888"/>
          <a:stretch>
            <a:fillRect/>
          </a:stretch>
        </p:blipFill>
        <p:spPr>
          <a:xfrm>
            <a:off x="1283716" y="2516250"/>
            <a:ext cx="6576568" cy="4033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32139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A50010-23E7-99C2-FF8C-79C4FA369A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C068D9-0131-E06B-B482-2F4D77FE5F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0451" y="482285"/>
            <a:ext cx="7886700" cy="634117"/>
          </a:xfrm>
        </p:spPr>
        <p:txBody>
          <a:bodyPr>
            <a:normAutofit/>
          </a:bodyPr>
          <a:lstStyle/>
          <a:p>
            <a:r>
              <a:rPr lang="en-GB" dirty="0"/>
              <a:t>Historical Returns (UK example)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3363ED-01F6-6E09-FA7F-12135FC9FA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225" y="1116402"/>
            <a:ext cx="8853550" cy="1988251"/>
          </a:xfrm>
          <a:noFill/>
          <a:ln>
            <a:noFill/>
          </a:ln>
        </p:spPr>
        <p:txBody>
          <a:bodyPr>
            <a:normAutofit/>
          </a:bodyPr>
          <a:lstStyle/>
          <a:p>
            <a:pPr marL="0" indent="0">
              <a:buNone/>
              <a:tabLst>
                <a:tab pos="670322" algn="l"/>
              </a:tabLst>
            </a:pPr>
            <a:r>
              <a:rPr lang="en-GB" sz="1600" b="1" dirty="0"/>
              <a:t>Normal distribution: </a:t>
            </a:r>
            <a:r>
              <a:rPr lang="en-GB" sz="1600" dirty="0"/>
              <a:t>a symmetric, bell-shaped frequency distribution that is completely defined by its mean and standard deviation</a:t>
            </a:r>
            <a:endParaRPr lang="en-GB" sz="1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5B0954-14DE-3913-249B-D8BA68AB11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8754" y="5710698"/>
            <a:ext cx="679467" cy="405323"/>
          </a:xfrm>
          <a:ln w="12700"/>
        </p:spPr>
        <p:txBody>
          <a:bodyPr/>
          <a:lstStyle/>
          <a:p>
            <a:fld id="{0F99C4FB-888A-4D12-A1C4-C744D94026CD}" type="slidenum">
              <a:rPr lang="en-GB" sz="1350">
                <a:solidFill>
                  <a:schemeClr val="tx1">
                    <a:lumMod val="50000"/>
                    <a:lumOff val="50000"/>
                  </a:schemeClr>
                </a:solidFill>
              </a:rPr>
              <a:t>5</a:t>
            </a:fld>
            <a:endParaRPr lang="en-GB" sz="135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023FEA8-FAE7-3FA3-8441-468583B483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5963" y="2082695"/>
            <a:ext cx="7232073" cy="3341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81294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8A5960-3412-2B04-D793-9C5E9F1FCE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575C3D-CC59-5E76-A859-77B6DAF7CB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0" y="781405"/>
            <a:ext cx="7886700" cy="634117"/>
          </a:xfrm>
        </p:spPr>
        <p:txBody>
          <a:bodyPr>
            <a:normAutofit/>
          </a:bodyPr>
          <a:lstStyle/>
          <a:p>
            <a:r>
              <a:rPr lang="en-GB" dirty="0"/>
              <a:t>Historical Risk and Return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EA7E9BB-223A-3F73-C262-BE9A75E352F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50107" y="1704975"/>
                <a:ext cx="8071312" cy="2081213"/>
              </a:xfrm>
              <a:noFill/>
              <a:ln>
                <a:noFill/>
              </a:ln>
            </p:spPr>
            <p:txBody>
              <a:bodyPr>
                <a:normAutofit/>
              </a:bodyPr>
              <a:lstStyle/>
              <a:p>
                <a:pPr marL="0" indent="0">
                  <a:buNone/>
                  <a:tabLst>
                    <a:tab pos="670322" algn="l"/>
                  </a:tabLst>
                </a:pPr>
                <a:r>
                  <a:rPr lang="en-GB" sz="1500" dirty="0"/>
                  <a:t>The standard deviation captures the spread of returns around the average but does not tell us how many returns are below or above the average.</a:t>
                </a:r>
              </a:p>
              <a:p>
                <a:pPr marL="0" indent="0">
                  <a:buNone/>
                  <a:tabLst>
                    <a:tab pos="670322" algn="l"/>
                  </a:tabLst>
                </a:pPr>
                <a:endParaRPr lang="en-GB" sz="1500" dirty="0">
                  <a:solidFill>
                    <a:prstClr val="black"/>
                  </a:solidFill>
                </a:endParaRPr>
              </a:p>
              <a:p>
                <a:pPr marL="0" indent="0">
                  <a:buNone/>
                  <a:tabLst>
                    <a:tab pos="670322" algn="l"/>
                  </a:tabLst>
                </a:pPr>
                <a:r>
                  <a:rPr lang="en-GB" sz="1500" dirty="0">
                    <a:solidFill>
                      <a:prstClr val="black"/>
                    </a:solidFill>
                  </a:rPr>
                  <a:t>We can use a</a:t>
                </a:r>
                <a:r>
                  <a:rPr lang="en-GB" sz="1500" dirty="0">
                    <a:solidFill>
                      <a:schemeClr val="accent5">
                        <a:lumMod val="75000"/>
                      </a:schemeClr>
                    </a:solidFill>
                  </a:rPr>
                  <a:t> density plot</a:t>
                </a:r>
                <a:r>
                  <a:rPr lang="en-GB" sz="1500" dirty="0">
                    <a:solidFill>
                      <a:prstClr val="black"/>
                    </a:solidFill>
                  </a:rPr>
                  <a:t> to assess the distribution of returns. </a:t>
                </a:r>
                <a:r>
                  <a:rPr lang="en-GB" sz="1500" dirty="0"/>
                  <a:t>A density plot shows how many observed returns are within a given range.</a:t>
                </a:r>
                <a14:m>
                  <m:oMath xmlns:m="http://schemas.openxmlformats.org/officeDocument/2006/math">
                    <m:r>
                      <a:rPr lang="en-GB" sz="15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 </m:t>
                    </m:r>
                  </m:oMath>
                </a14:m>
                <a:r>
                  <a:rPr lang="en-GB" sz="1500" dirty="0"/>
                  <a:t>The plot can help visualise how observed returns are distributed around the average. The density plot can show how returns are skewed above and below the average.</a:t>
                </a:r>
              </a:p>
              <a:p>
                <a:pPr marL="342900" lvl="1" indent="0">
                  <a:buClr>
                    <a:srgbClr val="C00000"/>
                  </a:buClr>
                  <a:buNone/>
                  <a:tabLst>
                    <a:tab pos="670322" algn="l"/>
                  </a:tabLst>
                </a:pPr>
                <a:endParaRPr lang="en-GB" sz="18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EA7E9BB-223A-3F73-C262-BE9A75E352F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50107" y="1704975"/>
                <a:ext cx="8071312" cy="2081213"/>
              </a:xfr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10E7A4-14AB-22E6-3C46-8C8C85A79B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8754" y="5710698"/>
            <a:ext cx="679467" cy="405323"/>
          </a:xfrm>
          <a:ln w="12700"/>
        </p:spPr>
        <p:txBody>
          <a:bodyPr/>
          <a:lstStyle/>
          <a:p>
            <a:fld id="{0F99C4FB-888A-4D12-A1C4-C744D94026CD}" type="slidenum">
              <a:rPr lang="en-GB" sz="1350">
                <a:solidFill>
                  <a:schemeClr val="tx1">
                    <a:lumMod val="50000"/>
                    <a:lumOff val="50000"/>
                  </a:schemeClr>
                </a:solidFill>
              </a:rPr>
              <a:t>6</a:t>
            </a:fld>
            <a:endParaRPr lang="en-GB" sz="135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5" name="Smiley Face 4">
            <a:extLst>
              <a:ext uri="{FF2B5EF4-FFF2-40B4-BE49-F238E27FC236}">
                <a16:creationId xmlns:a16="http://schemas.microsoft.com/office/drawing/2014/main" id="{BB60F3B0-78FA-4448-15F6-663CCE216FBF}"/>
              </a:ext>
            </a:extLst>
          </p:cNvPr>
          <p:cNvSpPr/>
          <p:nvPr/>
        </p:nvSpPr>
        <p:spPr>
          <a:xfrm>
            <a:off x="266700" y="1704975"/>
            <a:ext cx="464344" cy="392906"/>
          </a:xfrm>
          <a:prstGeom prst="smileyFace">
            <a:avLst>
              <a:gd name="adj" fmla="val -4653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Smiley Face 5">
            <a:extLst>
              <a:ext uri="{FF2B5EF4-FFF2-40B4-BE49-F238E27FC236}">
                <a16:creationId xmlns:a16="http://schemas.microsoft.com/office/drawing/2014/main" id="{3A559EB5-6036-95E0-BD51-85C2268CF082}"/>
              </a:ext>
            </a:extLst>
          </p:cNvPr>
          <p:cNvSpPr/>
          <p:nvPr/>
        </p:nvSpPr>
        <p:spPr>
          <a:xfrm>
            <a:off x="266700" y="2549128"/>
            <a:ext cx="464344" cy="392906"/>
          </a:xfrm>
          <a:prstGeom prst="smileyFace">
            <a:avLst>
              <a:gd name="adj" fmla="val 4653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48EC618-B9B5-D9D7-009C-80426D4D335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21794"/>
          <a:stretch/>
        </p:blipFill>
        <p:spPr>
          <a:xfrm>
            <a:off x="731044" y="3514568"/>
            <a:ext cx="7690279" cy="175232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C4BA112-3076-50F2-4E6A-7AC14731AE28}"/>
              </a:ext>
            </a:extLst>
          </p:cNvPr>
          <p:cNvSpPr txBox="1"/>
          <p:nvPr/>
        </p:nvSpPr>
        <p:spPr>
          <a:xfrm>
            <a:off x="3357844" y="3524310"/>
            <a:ext cx="12141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Normal Skewness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F49F025-A62B-0EA7-7AB2-96D7AF9F9A54}"/>
              </a:ext>
            </a:extLst>
          </p:cNvPr>
          <p:cNvSpPr txBox="1"/>
          <p:nvPr/>
        </p:nvSpPr>
        <p:spPr>
          <a:xfrm>
            <a:off x="987138" y="3472624"/>
            <a:ext cx="19023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Negative Skewness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2C3E4B0-D803-698B-E903-AEF3F28EAA06}"/>
              </a:ext>
            </a:extLst>
          </p:cNvPr>
          <p:cNvSpPr txBox="1"/>
          <p:nvPr/>
        </p:nvSpPr>
        <p:spPr>
          <a:xfrm>
            <a:off x="6942840" y="3561546"/>
            <a:ext cx="13510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Positive Skewness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2375F67-E6EC-9498-232B-26BB6319DC90}"/>
                  </a:ext>
                </a:extLst>
              </p:cNvPr>
              <p:cNvSpPr txBox="1"/>
              <p:nvPr/>
            </p:nvSpPr>
            <p:spPr>
              <a:xfrm>
                <a:off x="5746304" y="5180326"/>
                <a:ext cx="3107425" cy="73866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142875" lvl="1">
                  <a:buClr>
                    <a:srgbClr val="C00000"/>
                  </a:buClr>
                  <a:tabLst>
                    <a:tab pos="670322" algn="l"/>
                  </a:tabLst>
                </a:pPr>
                <a:r>
                  <a:rPr lang="en-GB" sz="1400" dirty="0"/>
                  <a:t>Skewness </a:t>
                </a:r>
                <a14:m>
                  <m:oMath xmlns:m="http://schemas.openxmlformats.org/officeDocument/2006/math">
                    <m:r>
                      <a:rPr lang="en-GB" sz="1400" i="1" dirty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GB" sz="1400" dirty="0"/>
                  <a:t> </a:t>
                </a:r>
                <a14:m>
                  <m:oMath xmlns:m="http://schemas.openxmlformats.org/officeDocument/2006/math">
                    <m:r>
                      <a:rPr lang="en-GB" sz="14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⇒</m:t>
                    </m:r>
                  </m:oMath>
                </a14:m>
                <a:r>
                  <a:rPr lang="en-GB" sz="1400" dirty="0"/>
                  <a:t> there are more returns </a:t>
                </a:r>
                <a:r>
                  <a:rPr lang="en-GB" sz="1400" dirty="0">
                    <a:solidFill>
                      <a:srgbClr val="C00000"/>
                    </a:solidFill>
                  </a:rPr>
                  <a:t>below</a:t>
                </a:r>
                <a:r>
                  <a:rPr lang="en-GB" sz="1400" dirty="0"/>
                  <a:t> the average than above it.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2375F67-E6EC-9498-232B-26BB6319DC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46304" y="5180326"/>
                <a:ext cx="3107425" cy="738664"/>
              </a:xfrm>
              <a:prstGeom prst="rect">
                <a:avLst/>
              </a:prstGeom>
              <a:blipFill>
                <a:blip r:embed="rId5"/>
                <a:stretch>
                  <a:fillRect t="-1653" b="-743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00A6C055-6979-E459-2778-567ECD2B9B44}"/>
                  </a:ext>
                </a:extLst>
              </p:cNvPr>
              <p:cNvSpPr txBox="1"/>
              <p:nvPr/>
            </p:nvSpPr>
            <p:spPr>
              <a:xfrm>
                <a:off x="595243" y="5266888"/>
                <a:ext cx="2694231" cy="73866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142875" lvl="1">
                  <a:buClr>
                    <a:srgbClr val="C00000"/>
                  </a:buClr>
                  <a:tabLst>
                    <a:tab pos="670322" algn="l"/>
                  </a:tabLst>
                </a:pPr>
                <a:r>
                  <a:rPr lang="en-GB" sz="1400" dirty="0"/>
                  <a:t>Skewness </a:t>
                </a:r>
                <a14:m>
                  <m:oMath xmlns:m="http://schemas.openxmlformats.org/officeDocument/2006/math">
                    <m:r>
                      <a:rPr lang="en-GB" sz="1400" i="1" dirty="0">
                        <a:latin typeface="Cambria Math" panose="02040503050406030204" pitchFamily="18" charset="0"/>
                      </a:rPr>
                      <m:t>&lt;0</m:t>
                    </m:r>
                  </m:oMath>
                </a14:m>
                <a:r>
                  <a:rPr lang="en-GB" sz="1400" dirty="0"/>
                  <a:t> </a:t>
                </a:r>
                <a14:m>
                  <m:oMath xmlns:m="http://schemas.openxmlformats.org/officeDocument/2006/math">
                    <m:r>
                      <a:rPr lang="en-GB" sz="14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⇒</m:t>
                    </m:r>
                  </m:oMath>
                </a14:m>
                <a:r>
                  <a:rPr lang="en-GB" sz="1400" dirty="0"/>
                  <a:t> there are more returns </a:t>
                </a:r>
                <a:r>
                  <a:rPr lang="en-GB" sz="1400" dirty="0">
                    <a:solidFill>
                      <a:srgbClr val="C00000"/>
                    </a:solidFill>
                  </a:rPr>
                  <a:t>above</a:t>
                </a:r>
                <a:r>
                  <a:rPr lang="en-GB" sz="1400" dirty="0"/>
                  <a:t> the average than below it.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00A6C055-6979-E459-2778-567ECD2B9B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5243" y="5266888"/>
                <a:ext cx="2694231" cy="738664"/>
              </a:xfrm>
              <a:prstGeom prst="rect">
                <a:avLst/>
              </a:prstGeom>
              <a:blipFill>
                <a:blip r:embed="rId6"/>
                <a:stretch>
                  <a:fillRect t="-1653" b="-743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951914C3-96B7-4DD8-BAB3-8DE5F73F61E7}"/>
                  </a:ext>
                </a:extLst>
              </p:cNvPr>
              <p:cNvSpPr txBox="1"/>
              <p:nvPr/>
            </p:nvSpPr>
            <p:spPr>
              <a:xfrm>
                <a:off x="3099526" y="5192528"/>
                <a:ext cx="2944945" cy="73866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142875" lvl="1">
                  <a:buClr>
                    <a:srgbClr val="C00000"/>
                  </a:buClr>
                  <a:tabLst>
                    <a:tab pos="670322" algn="l"/>
                  </a:tabLst>
                </a:pPr>
                <a:r>
                  <a:rPr lang="en-GB" sz="1400" dirty="0"/>
                  <a:t>Skewness </a:t>
                </a:r>
                <a14:m>
                  <m:oMath xmlns:m="http://schemas.openxmlformats.org/officeDocument/2006/math">
                    <m:r>
                      <a:rPr lang="en-GB" sz="1400" i="1" dirty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GB" sz="1400" dirty="0"/>
                  <a:t> </a:t>
                </a:r>
                <a14:m>
                  <m:oMath xmlns:m="http://schemas.openxmlformats.org/officeDocument/2006/math">
                    <m:r>
                      <a:rPr lang="en-GB" sz="14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⇒</m:t>
                    </m:r>
                  </m:oMath>
                </a14:m>
                <a:r>
                  <a:rPr lang="en-GB" sz="1400" dirty="0"/>
                  <a:t> returns are </a:t>
                </a:r>
                <a:r>
                  <a:rPr lang="en-GB" sz="1400" dirty="0">
                    <a:solidFill>
                      <a:schemeClr val="accent5">
                        <a:lumMod val="75000"/>
                      </a:schemeClr>
                    </a:solidFill>
                  </a:rPr>
                  <a:t>evenly distributed </a:t>
                </a:r>
                <a:r>
                  <a:rPr lang="en-GB" sz="1400" dirty="0"/>
                  <a:t>around the average.</a:t>
                </a: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951914C3-96B7-4DD8-BAB3-8DE5F73F61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99526" y="5192528"/>
                <a:ext cx="2944945" cy="738664"/>
              </a:xfrm>
              <a:prstGeom prst="rect">
                <a:avLst/>
              </a:prstGeom>
              <a:blipFill>
                <a:blip r:embed="rId7"/>
                <a:stretch>
                  <a:fillRect t="-1653" b="-743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16882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12" grpId="0"/>
      <p:bldP spid="14" grpId="0"/>
      <p:bldP spid="1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6700" y="966888"/>
            <a:ext cx="7886700" cy="634117"/>
          </a:xfrm>
        </p:spPr>
        <p:txBody>
          <a:bodyPr>
            <a:normAutofit/>
          </a:bodyPr>
          <a:lstStyle/>
          <a:p>
            <a:r>
              <a:rPr lang="en-GB" dirty="0"/>
              <a:t>Historical Risk and Return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6700" y="1704974"/>
            <a:ext cx="8355806" cy="773907"/>
          </a:xfrm>
          <a:noFill/>
          <a:ln>
            <a:noFill/>
          </a:ln>
        </p:spPr>
        <p:txBody>
          <a:bodyPr>
            <a:normAutofit/>
          </a:bodyPr>
          <a:lstStyle/>
          <a:p>
            <a:pPr marL="0" indent="0">
              <a:buClr>
                <a:srgbClr val="C00000"/>
              </a:buClr>
              <a:buNone/>
              <a:tabLst>
                <a:tab pos="670322" algn="l"/>
              </a:tabLst>
            </a:pPr>
            <a:r>
              <a:rPr lang="en-GB" sz="1500" dirty="0"/>
              <a:t>Density plots also show how many extreme returns are in the sample. This is called the </a:t>
            </a:r>
            <a:r>
              <a:rPr lang="en-GB" sz="1500" dirty="0">
                <a:solidFill>
                  <a:schemeClr val="accent5">
                    <a:lumMod val="75000"/>
                  </a:schemeClr>
                </a:solidFill>
              </a:rPr>
              <a:t>kurtosis.</a:t>
            </a:r>
          </a:p>
          <a:p>
            <a:pPr marL="0" lvl="1" indent="0">
              <a:buClr>
                <a:srgbClr val="C00000"/>
              </a:buClr>
              <a:buNone/>
              <a:tabLst>
                <a:tab pos="670322" algn="l"/>
              </a:tabLst>
            </a:pPr>
            <a:endParaRPr lang="en-GB" dirty="0">
              <a:solidFill>
                <a:schemeClr val="accent5">
                  <a:lumMod val="75000"/>
                </a:schemeClr>
              </a:solidFill>
            </a:endParaRPr>
          </a:p>
          <a:p>
            <a:pPr marL="142875" lvl="1" indent="0">
              <a:buClr>
                <a:srgbClr val="C00000"/>
              </a:buClr>
              <a:buNone/>
              <a:tabLst>
                <a:tab pos="670322" algn="l"/>
              </a:tabLst>
            </a:pPr>
            <a:endParaRPr lang="en-GB" dirty="0"/>
          </a:p>
          <a:p>
            <a:pPr marL="342900" lvl="1" indent="0">
              <a:buClr>
                <a:srgbClr val="C00000"/>
              </a:buClr>
              <a:buNone/>
              <a:tabLst>
                <a:tab pos="670322" algn="l"/>
              </a:tabLst>
            </a:pP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548754" y="5710698"/>
            <a:ext cx="679467" cy="405323"/>
          </a:xfrm>
          <a:ln w="12700"/>
        </p:spPr>
        <p:txBody>
          <a:bodyPr/>
          <a:lstStyle/>
          <a:p>
            <a:fld id="{0F99C4FB-888A-4D12-A1C4-C744D94026CD}" type="slidenum">
              <a:rPr lang="en-GB" sz="1350">
                <a:solidFill>
                  <a:schemeClr val="tx1">
                    <a:lumMod val="50000"/>
                    <a:lumOff val="50000"/>
                  </a:schemeClr>
                </a:solidFill>
              </a:rPr>
              <a:t>7</a:t>
            </a:fld>
            <a:endParaRPr lang="en-GB" sz="135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544E196-ED73-4E26-989B-924DC64644E2}"/>
              </a:ext>
            </a:extLst>
          </p:cNvPr>
          <p:cNvSpPr txBox="1"/>
          <p:nvPr/>
        </p:nvSpPr>
        <p:spPr>
          <a:xfrm>
            <a:off x="3276352" y="2806125"/>
            <a:ext cx="208009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/>
              <a:t>Normal Kurtosis (=3)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4864C12-3C98-4053-8EB8-B48E30CAD2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996" y="3160762"/>
            <a:ext cx="7444007" cy="176002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DEB3A14-A5AA-4876-854E-AD325619DEA2}"/>
              </a:ext>
            </a:extLst>
          </p:cNvPr>
          <p:cNvSpPr txBox="1"/>
          <p:nvPr/>
        </p:nvSpPr>
        <p:spPr>
          <a:xfrm>
            <a:off x="974435" y="2817435"/>
            <a:ext cx="208009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/>
              <a:t>High Peak (&gt;3)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AB4138B-803A-45F2-AEE2-0DCDC2AD19D4}"/>
              </a:ext>
            </a:extLst>
          </p:cNvPr>
          <p:cNvSpPr txBox="1"/>
          <p:nvPr/>
        </p:nvSpPr>
        <p:spPr>
          <a:xfrm>
            <a:off x="6089469" y="2844734"/>
            <a:ext cx="263111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/>
              <a:t>Flat Peak (&lt;3)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3356758-4B6A-A2DD-1E13-B2E6F9FA3F4D}"/>
                  </a:ext>
                </a:extLst>
              </p:cNvPr>
              <p:cNvSpPr txBox="1"/>
              <p:nvPr/>
            </p:nvSpPr>
            <p:spPr>
              <a:xfrm>
                <a:off x="3367880" y="4920785"/>
                <a:ext cx="2306388" cy="8309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142875" lvl="1">
                  <a:buClr>
                    <a:srgbClr val="C00000"/>
                  </a:buClr>
                  <a:tabLst>
                    <a:tab pos="670322" algn="l"/>
                  </a:tabLst>
                </a:pPr>
                <a:r>
                  <a:rPr lang="en-GB" sz="1200" dirty="0"/>
                  <a:t>Kurtosis </a:t>
                </a:r>
                <a14:m>
                  <m:oMath xmlns:m="http://schemas.openxmlformats.org/officeDocument/2006/math">
                    <m:r>
                      <a:rPr lang="en-GB" sz="1200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200" i="1" dirty="0"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lang="en-GB" sz="1200" dirty="0"/>
                  <a:t> </a:t>
                </a:r>
                <a14:m>
                  <m:oMath xmlns:m="http://schemas.openxmlformats.org/officeDocument/2006/math">
                    <m:r>
                      <a:rPr lang="en-GB" sz="12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⇒</m:t>
                    </m:r>
                  </m:oMath>
                </a14:m>
                <a:r>
                  <a:rPr lang="en-GB" sz="1200" dirty="0"/>
                  <a:t> The probabilities of returns </a:t>
                </a:r>
                <a:r>
                  <a:rPr lang="en-GB" sz="1200" dirty="0">
                    <a:solidFill>
                      <a:schemeClr val="accent5">
                        <a:lumMod val="75000"/>
                      </a:schemeClr>
                    </a:solidFill>
                  </a:rPr>
                  <a:t>gradually decreases </a:t>
                </a:r>
                <a:r>
                  <a:rPr lang="en-GB" sz="1200" dirty="0"/>
                  <a:t>as we go further from the average.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3356758-4B6A-A2DD-1E13-B2E6F9FA3F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67880" y="4920785"/>
                <a:ext cx="2306388" cy="830997"/>
              </a:xfrm>
              <a:prstGeom prst="rect">
                <a:avLst/>
              </a:prstGeom>
              <a:blipFill>
                <a:blip r:embed="rId4"/>
                <a:stretch>
                  <a:fillRect t="-730" b="-365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D8B65E6-707A-72E4-DD54-1BDC726BBB24}"/>
                  </a:ext>
                </a:extLst>
              </p:cNvPr>
              <p:cNvSpPr txBox="1"/>
              <p:nvPr/>
            </p:nvSpPr>
            <p:spPr>
              <a:xfrm>
                <a:off x="748145" y="4920785"/>
                <a:ext cx="2306388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142875" lvl="1">
                  <a:buClr>
                    <a:srgbClr val="C00000"/>
                  </a:buClr>
                  <a:tabLst>
                    <a:tab pos="670322" algn="l"/>
                  </a:tabLst>
                </a:pPr>
                <a:r>
                  <a:rPr lang="en-GB" sz="1200" dirty="0"/>
                  <a:t>Kurtosis </a:t>
                </a:r>
                <a14:m>
                  <m:oMath xmlns:m="http://schemas.openxmlformats.org/officeDocument/2006/math">
                    <m:r>
                      <a:rPr lang="en-GB" sz="1200" i="1" dirty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GB" sz="1200" i="1" dirty="0"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lang="en-GB" sz="1200" dirty="0"/>
                  <a:t> </a:t>
                </a:r>
                <a14:m>
                  <m:oMath xmlns:m="http://schemas.openxmlformats.org/officeDocument/2006/math">
                    <m:r>
                      <a:rPr lang="en-GB" sz="12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⇒</m:t>
                    </m:r>
                  </m:oMath>
                </a14:m>
                <a:r>
                  <a:rPr lang="en-GB" sz="1200" dirty="0"/>
                  <a:t> Higher probability of extreme returns (big gains/losses)</a:t>
                </a: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D8B65E6-707A-72E4-DD54-1BDC726BBB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8145" y="4920785"/>
                <a:ext cx="2306388" cy="646331"/>
              </a:xfrm>
              <a:prstGeom prst="rect">
                <a:avLst/>
              </a:prstGeom>
              <a:blipFill>
                <a:blip r:embed="rId5"/>
                <a:stretch>
                  <a:fillRect t="-943" r="-1323" b="-566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9B18F3B0-F332-612A-B0ED-CD5FB926A321}"/>
                  </a:ext>
                </a:extLst>
              </p:cNvPr>
              <p:cNvSpPr txBox="1"/>
              <p:nvPr/>
            </p:nvSpPr>
            <p:spPr>
              <a:xfrm>
                <a:off x="6000209" y="4990865"/>
                <a:ext cx="2395646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142875" lvl="1">
                  <a:buClr>
                    <a:srgbClr val="C00000"/>
                  </a:buClr>
                  <a:tabLst>
                    <a:tab pos="670322" algn="l"/>
                  </a:tabLst>
                </a:pPr>
                <a:r>
                  <a:rPr lang="en-GB" sz="1200" dirty="0"/>
                  <a:t>Kurtosis </a:t>
                </a:r>
                <a14:m>
                  <m:oMath xmlns:m="http://schemas.openxmlformats.org/officeDocument/2006/math">
                    <m:r>
                      <a:rPr lang="en-GB" sz="1200" i="1" dirty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GB" sz="1200" i="1" dirty="0"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lang="en-GB" sz="1200" dirty="0"/>
                  <a:t> </a:t>
                </a:r>
                <a14:m>
                  <m:oMath xmlns:m="http://schemas.openxmlformats.org/officeDocument/2006/math">
                    <m:r>
                      <a:rPr lang="en-GB" sz="12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⇒</m:t>
                    </m:r>
                  </m:oMath>
                </a14:m>
                <a:r>
                  <a:rPr lang="en-GB" sz="1200" dirty="0"/>
                  <a:t> Lower probability of extreme returns (more stable)</a:t>
                </a:r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9B18F3B0-F332-612A-B0ED-CD5FB926A3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00209" y="4990865"/>
                <a:ext cx="2395646" cy="646331"/>
              </a:xfrm>
              <a:prstGeom prst="rect">
                <a:avLst/>
              </a:prstGeom>
              <a:blipFill>
                <a:blip r:embed="rId6"/>
                <a:stretch>
                  <a:fillRect t="-1887" b="-566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277536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0BCD40-6304-EF0D-A589-26C0C6D44F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2569" y="410792"/>
            <a:ext cx="7886700" cy="759449"/>
          </a:xfrm>
        </p:spPr>
        <p:txBody>
          <a:bodyPr/>
          <a:lstStyle/>
          <a:p>
            <a:r>
              <a:rPr lang="en-GB" dirty="0"/>
              <a:t>Measuring Risk - Beta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0D3C91-F0ED-E3C3-83F5-768386E90A4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56260" y="1405483"/>
            <a:ext cx="8078190" cy="3769947"/>
          </a:xfrm>
        </p:spPr>
        <p:txBody>
          <a:bodyPr/>
          <a:lstStyle/>
          <a:p>
            <a:pPr marL="0" indent="0">
              <a:buNone/>
            </a:pPr>
            <a:r>
              <a:rPr lang="en-GB" dirty="0"/>
              <a:t>As we diversify a portfolio, we reduce volatility until only SYSTEMATIC (Market) risk remains. Exposure to risks that effect the entire market.</a:t>
            </a:r>
            <a:r>
              <a:rPr lang="en-GB" sz="1350" dirty="0"/>
              <a:t> </a:t>
            </a: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Therefore, we can consider the Market risk of a stock, separately to its total risk. The measure of market risk is the Beta </a:t>
            </a:r>
            <a:r>
              <a:rPr lang="en-GB" dirty="0">
                <a:latin typeface="Cambria Math" panose="02040503050406030204" pitchFamily="18" charset="0"/>
                <a:ea typeface="Cambria Math" panose="02040503050406030204" pitchFamily="18" charset="0"/>
              </a:rPr>
              <a:t>𝛃.</a:t>
            </a:r>
          </a:p>
          <a:p>
            <a:pPr marL="0" indent="0">
              <a:buNone/>
            </a:pPr>
            <a:endParaRPr lang="en-GB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indent="0">
              <a:buNone/>
            </a:pPr>
            <a:r>
              <a:rPr lang="en-GB" dirty="0">
                <a:latin typeface="Cambria Math" panose="02040503050406030204" pitchFamily="18" charset="0"/>
                <a:ea typeface="Cambria Math" panose="02040503050406030204" pitchFamily="18" charset="0"/>
              </a:rPr>
              <a:t>Beta 𝛃 is percentage change in a stock return given a 1% change in the theoretical market portfolio (</a:t>
            </a:r>
            <a:r>
              <a:rPr lang="en-GB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eg.</a:t>
            </a:r>
            <a:r>
              <a:rPr lang="en-GB" dirty="0">
                <a:latin typeface="Cambria Math" panose="02040503050406030204" pitchFamily="18" charset="0"/>
                <a:ea typeface="Cambria Math" panose="02040503050406030204" pitchFamily="18" charset="0"/>
              </a:rPr>
              <a:t> S&amp;P 500 index)….. “how tied in is the stocks return to market conditions, its sensitivity compared to the overall market”. A higher 𝛃 the more sensitive it is to market conditions and the more reactive.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0397926-DD70-88AD-BC5F-D8752CEF3F31}"/>
              </a:ext>
            </a:extLst>
          </p:cNvPr>
          <p:cNvSpPr txBox="1"/>
          <p:nvPr/>
        </p:nvSpPr>
        <p:spPr>
          <a:xfrm>
            <a:off x="163786" y="5175430"/>
            <a:ext cx="8816428" cy="338554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GB" sz="1600" dirty="0">
                <a:latin typeface="+mn-lt"/>
                <a:ea typeface="Cambria Math" panose="02040503050406030204" pitchFamily="18" charset="0"/>
              </a:rPr>
              <a:t>𝛃 is</a:t>
            </a:r>
            <a:r>
              <a:rPr lang="en-GB" sz="1600" dirty="0">
                <a:latin typeface="+mn-lt"/>
              </a:rPr>
              <a:t> amount of systematic risk present in a particular risky asset relative to that in an average risky asset.</a:t>
            </a:r>
          </a:p>
        </p:txBody>
      </p:sp>
    </p:spTree>
    <p:extLst>
      <p:ext uri="{BB962C8B-B14F-4D97-AF65-F5344CB8AC3E}">
        <p14:creationId xmlns:p14="http://schemas.microsoft.com/office/powerpoint/2010/main" val="120212620"/>
      </p:ext>
    </p:extLst>
  </p:cSld>
  <p:clrMapOvr>
    <a:masterClrMapping/>
  </p:clrMapOvr>
  <p:transition spd="slow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D65504-45CC-F6E3-6D87-D2287887C0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3AFFE5-8171-2F38-1496-7F1613C7AD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2569" y="410792"/>
            <a:ext cx="7886700" cy="759449"/>
          </a:xfrm>
        </p:spPr>
        <p:txBody>
          <a:bodyPr/>
          <a:lstStyle/>
          <a:p>
            <a:r>
              <a:rPr lang="en-GB" dirty="0"/>
              <a:t>Calculating Beta – Example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52569AD-FFBD-2B1B-86EA-A86B68266D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9596810"/>
              </p:ext>
            </p:extLst>
          </p:nvPr>
        </p:nvGraphicFramePr>
        <p:xfrm>
          <a:off x="1834736" y="1170241"/>
          <a:ext cx="5474526" cy="1231656"/>
        </p:xfrm>
        <a:graphic>
          <a:graphicData uri="http://schemas.openxmlformats.org/drawingml/2006/table">
            <a:tbl>
              <a:tblPr/>
              <a:tblGrid>
                <a:gridCol w="1706346">
                  <a:extLst>
                    <a:ext uri="{9D8B030D-6E8A-4147-A177-3AD203B41FA5}">
                      <a16:colId xmlns:a16="http://schemas.microsoft.com/office/drawing/2014/main" val="1378425454"/>
                    </a:ext>
                  </a:extLst>
                </a:gridCol>
                <a:gridCol w="2061834">
                  <a:extLst>
                    <a:ext uri="{9D8B030D-6E8A-4147-A177-3AD203B41FA5}">
                      <a16:colId xmlns:a16="http://schemas.microsoft.com/office/drawing/2014/main" val="1681142877"/>
                    </a:ext>
                  </a:extLst>
                </a:gridCol>
                <a:gridCol w="1706346">
                  <a:extLst>
                    <a:ext uri="{9D8B030D-6E8A-4147-A177-3AD203B41FA5}">
                      <a16:colId xmlns:a16="http://schemas.microsoft.com/office/drawing/2014/main" val="473853221"/>
                    </a:ext>
                  </a:extLst>
                </a:gridCol>
              </a:tblGrid>
              <a:tr h="410552">
                <a:tc>
                  <a:txBody>
                    <a:bodyPr/>
                    <a:lstStyle/>
                    <a:p>
                      <a:pPr algn="l" fontAlgn="b"/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Rolex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Mkt</a:t>
                      </a:r>
                      <a:endParaRPr lang="en-GB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36630215"/>
                  </a:ext>
                </a:extLst>
              </a:tr>
              <a:tr h="410552">
                <a:tc>
                  <a:txBody>
                    <a:bodyPr/>
                    <a:lstStyle/>
                    <a:p>
                      <a:pPr algn="l" fontAlgn="b"/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Boom</a:t>
                      </a:r>
                      <a:endParaRPr lang="en-GB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30%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20%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49715891"/>
                  </a:ext>
                </a:extLst>
              </a:tr>
              <a:tr h="410552">
                <a:tc>
                  <a:txBody>
                    <a:bodyPr/>
                    <a:lstStyle/>
                    <a:p>
                      <a:pPr algn="l" fontAlgn="b"/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Recession</a:t>
                      </a:r>
                      <a:endParaRPr lang="en-GB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-25%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-10%</a:t>
                      </a:r>
                    </a:p>
                  </a:txBody>
                  <a:tcPr marL="4763" marR="4763" marT="47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7514447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6919E03-9A60-39D7-EA2B-2CF9383F1ACD}"/>
                  </a:ext>
                </a:extLst>
              </p:cNvPr>
              <p:cNvSpPr txBox="1"/>
              <p:nvPr/>
            </p:nvSpPr>
            <p:spPr>
              <a:xfrm>
                <a:off x="773622" y="2743633"/>
                <a:ext cx="7740986" cy="7078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GB" sz="1200" b="1" dirty="0"/>
                  <a:t>Calculate Changes in Returns</a:t>
                </a:r>
                <a:endParaRPr lang="en-GB" sz="1400" b="1" dirty="0"/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sz="1400" b="0" smtClean="0">
                          <a:latin typeface="Cambria Math" panose="02040503050406030204" pitchFamily="18" charset="0"/>
                        </a:rPr>
                        <m:t>Δ</m:t>
                      </m:r>
                      <m:r>
                        <m:rPr>
                          <m:nor/>
                        </m:rPr>
                        <a:rPr lang="en-GB" sz="1400" i="1">
                          <a:latin typeface="Cambria Math" panose="02040503050406030204" pitchFamily="18" charset="0"/>
                        </a:rPr>
                        <m:t>Rolex</m:t>
                      </m:r>
                      <m:r>
                        <a:rPr lang="en-GB" sz="1400" b="0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400" b="0" i="0" smtClean="0">
                          <a:latin typeface="Cambria Math" panose="02040503050406030204" pitchFamily="18" charset="0"/>
                        </a:rPr>
                        <m:t>30</m:t>
                      </m:r>
                      <m:r>
                        <a:rPr lang="en-GB" sz="1400" b="0" i="0" smtClean="0">
                          <a:latin typeface="Cambria Math" panose="02040503050406030204" pitchFamily="18" charset="0"/>
                        </a:rPr>
                        <m:t>%−</m:t>
                      </m:r>
                      <m:d>
                        <m:dPr>
                          <m:ctrlPr>
                            <a:rPr lang="ar-AE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1400" b="0" i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ar-AE" sz="1400" b="0" i="0" smtClean="0">
                              <a:latin typeface="Cambria Math" panose="02040503050406030204" pitchFamily="18" charset="0"/>
                            </a:rPr>
                            <m:t>25</m:t>
                          </m:r>
                          <m:r>
                            <a:rPr lang="ar-AE" sz="1400" b="0" i="0" smtClean="0">
                              <a:latin typeface="Cambria Math" panose="02040503050406030204" pitchFamily="18" charset="0"/>
                            </a:rPr>
                            <m:t>%</m:t>
                          </m:r>
                        </m:e>
                      </m:d>
                      <m:r>
                        <a:rPr lang="ar-AE" sz="1400" b="0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sz="1400" b="0" i="0" smtClean="0">
                          <a:latin typeface="Cambria Math" panose="02040503050406030204" pitchFamily="18" charset="0"/>
                        </a:rPr>
                        <m:t>55</m:t>
                      </m:r>
                      <m:r>
                        <a:rPr lang="ar-AE" sz="1400" b="0" i="0" smtClean="0">
                          <a:latin typeface="Cambria Math" panose="02040503050406030204" pitchFamily="18" charset="0"/>
                        </a:rPr>
                        <m:t>%</m:t>
                      </m:r>
                    </m:oMath>
                  </m:oMathPara>
                </a14:m>
                <a:endParaRPr lang="ar-AE" sz="1400" dirty="0"/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sz="1400" b="0" smtClean="0">
                          <a:latin typeface="Cambria Math" panose="02040503050406030204" pitchFamily="18" charset="0"/>
                        </a:rPr>
                        <m:t>Δ</m:t>
                      </m:r>
                      <m:r>
                        <m:rPr>
                          <m:nor/>
                        </m:rPr>
                        <a:rPr lang="en-GB" sz="1400" i="1">
                          <a:latin typeface="Cambria Math" panose="02040503050406030204" pitchFamily="18" charset="0"/>
                        </a:rPr>
                        <m:t>Market</m:t>
                      </m:r>
                      <m:r>
                        <a:rPr lang="en-GB" sz="1400" b="0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400" b="0" i="0" smtClean="0">
                          <a:latin typeface="Cambria Math" panose="02040503050406030204" pitchFamily="18" charset="0"/>
                        </a:rPr>
                        <m:t>20</m:t>
                      </m:r>
                      <m:r>
                        <a:rPr lang="en-GB" sz="1400" b="0" i="0" smtClean="0">
                          <a:latin typeface="Cambria Math" panose="02040503050406030204" pitchFamily="18" charset="0"/>
                        </a:rPr>
                        <m:t>%−</m:t>
                      </m:r>
                      <m:d>
                        <m:dPr>
                          <m:ctrlPr>
                            <a:rPr lang="ar-AE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1400" b="0" i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ar-AE" sz="1400" b="0" i="0" smtClean="0">
                              <a:latin typeface="Cambria Math" panose="02040503050406030204" pitchFamily="18" charset="0"/>
                            </a:rPr>
                            <m:t>10</m:t>
                          </m:r>
                          <m:r>
                            <a:rPr lang="ar-AE" sz="1400" b="0" i="0" smtClean="0">
                              <a:latin typeface="Cambria Math" panose="02040503050406030204" pitchFamily="18" charset="0"/>
                            </a:rPr>
                            <m:t>%</m:t>
                          </m:r>
                        </m:e>
                      </m:d>
                      <m:r>
                        <a:rPr lang="ar-AE" sz="1400" b="0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sz="1400" b="0" i="0" smtClean="0">
                          <a:latin typeface="Cambria Math" panose="02040503050406030204" pitchFamily="18" charset="0"/>
                        </a:rPr>
                        <m:t>30</m:t>
                      </m:r>
                      <m:r>
                        <a:rPr lang="ar-AE" sz="1400" b="0" i="0" smtClean="0">
                          <a:latin typeface="Cambria Math" panose="02040503050406030204" pitchFamily="18" charset="0"/>
                        </a:rPr>
                        <m:t>%</m:t>
                      </m:r>
                    </m:oMath>
                  </m:oMathPara>
                </a14:m>
                <a:endParaRPr lang="ar-AE" sz="14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6919E03-9A60-39D7-EA2B-2CF9383F1A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3622" y="2743633"/>
                <a:ext cx="7740986" cy="707886"/>
              </a:xfrm>
              <a:prstGeom prst="rect">
                <a:avLst/>
              </a:prstGeom>
              <a:blipFill>
                <a:blip r:embed="rId2"/>
                <a:stretch>
                  <a:fillRect l="-79" t="-86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C686F3D-20FA-0A93-860B-08A5605CA149}"/>
                  </a:ext>
                </a:extLst>
              </p:cNvPr>
              <p:cNvSpPr txBox="1"/>
              <p:nvPr/>
            </p:nvSpPr>
            <p:spPr>
              <a:xfrm>
                <a:off x="932212" y="3793255"/>
                <a:ext cx="7279574" cy="75604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GB" sz="1600" b="1" dirty="0"/>
                  <a:t>Calculate Beta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i="1"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en-GB" sz="140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sz="1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l-GR" sz="1400" i="0"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m:rPr>
                              <m:nor/>
                            </m:rPr>
                            <a:rPr lang="en-GB" sz="1400" b="0" i="1">
                              <a:latin typeface="Cambria Math" panose="02040503050406030204" pitchFamily="18" charset="0"/>
                            </a:rPr>
                            <m:t>Rolex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l-GR" sz="1400" b="0" i="0"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m:rPr>
                              <m:nor/>
                            </m:rPr>
                            <a:rPr lang="en-GB" sz="1400" b="0" i="1">
                              <a:latin typeface="Cambria Math" panose="02040503050406030204" pitchFamily="18" charset="0"/>
                            </a:rPr>
                            <m:t>Market</m:t>
                          </m:r>
                        </m:den>
                      </m:f>
                      <m:r>
                        <a:rPr lang="ar-AE" sz="1400" b="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sz="1400" b="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sz="1400" b="0" i="0">
                              <a:latin typeface="Cambria Math" panose="02040503050406030204" pitchFamily="18" charset="0"/>
                            </a:rPr>
                            <m:t>55</m:t>
                          </m:r>
                          <m:r>
                            <a:rPr lang="ar-AE" sz="1400" b="0" i="0">
                              <a:latin typeface="Cambria Math" panose="02040503050406030204" pitchFamily="18" charset="0"/>
                            </a:rPr>
                            <m:t>%</m:t>
                          </m:r>
                        </m:num>
                        <m:den>
                          <m:r>
                            <a:rPr lang="ar-AE" sz="1400" b="0" i="0">
                              <a:latin typeface="Cambria Math" panose="02040503050406030204" pitchFamily="18" charset="0"/>
                            </a:rPr>
                            <m:t>30</m:t>
                          </m:r>
                          <m:r>
                            <a:rPr lang="ar-AE" sz="1400" b="0" i="0">
                              <a:latin typeface="Cambria Math" panose="02040503050406030204" pitchFamily="18" charset="0"/>
                            </a:rPr>
                            <m:t>%</m:t>
                          </m:r>
                        </m:den>
                      </m:f>
                      <m:r>
                        <a:rPr lang="ar-AE" sz="1400" b="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sz="1400" b="0" i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ar-AE" sz="1400" b="0" i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ar-AE" sz="1400" b="0" i="0">
                          <a:latin typeface="Cambria Math" panose="02040503050406030204" pitchFamily="18" charset="0"/>
                        </a:rPr>
                        <m:t>83</m:t>
                      </m:r>
                    </m:oMath>
                  </m:oMathPara>
                </a14:m>
                <a:endParaRPr lang="ar-AE" sz="1400" b="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C686F3D-20FA-0A93-860B-08A5605CA1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2212" y="3793255"/>
                <a:ext cx="7279574" cy="756041"/>
              </a:xfrm>
              <a:prstGeom prst="rect">
                <a:avLst/>
              </a:prstGeom>
              <a:blipFill>
                <a:blip r:embed="rId3"/>
                <a:stretch>
                  <a:fillRect l="-503" t="-2419" b="-80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D248D0BB-BC98-63F5-116D-7C9995A15ADF}"/>
                  </a:ext>
                </a:extLst>
              </p:cNvPr>
              <p:cNvSpPr txBox="1"/>
              <p:nvPr/>
            </p:nvSpPr>
            <p:spPr>
              <a:xfrm>
                <a:off x="325086" y="5038783"/>
                <a:ext cx="7596755" cy="16064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GB" sz="1400" b="1" dirty="0">
                    <a:latin typeface="+mn-lt"/>
                  </a:rPr>
                  <a:t>Calculate Beta (Statistical Method)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i="1"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en-GB" sz="140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sz="1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GB" sz="1400" b="0" i="1">
                              <a:latin typeface="+mn-lt"/>
                            </a:rPr>
                            <m:t>Covariance</m:t>
                          </m:r>
                          <m:r>
                            <m:rPr>
                              <m:nor/>
                            </m:rPr>
                            <a:rPr lang="en-GB" sz="1400" b="0" i="1">
                              <a:latin typeface="+mn-lt"/>
                            </a:rPr>
                            <m:t>(</m:t>
                          </m:r>
                          <m:r>
                            <m:rPr>
                              <m:nor/>
                            </m:rPr>
                            <a:rPr lang="en-GB" sz="1400" b="0" i="1">
                              <a:latin typeface="+mn-lt"/>
                            </a:rPr>
                            <m:t>Stock</m:t>
                          </m:r>
                          <m:r>
                            <m:rPr>
                              <m:nor/>
                            </m:rPr>
                            <a:rPr lang="en-GB" sz="1400" b="0" i="1">
                              <a:latin typeface="+mn-lt"/>
                            </a:rPr>
                            <m:t>, </m:t>
                          </m:r>
                          <m:r>
                            <m:rPr>
                              <m:nor/>
                            </m:rPr>
                            <a:rPr lang="en-GB" sz="1400" b="0" i="1">
                              <a:latin typeface="+mn-lt"/>
                            </a:rPr>
                            <m:t>Market</m:t>
                          </m:r>
                          <m:r>
                            <m:rPr>
                              <m:nor/>
                            </m:rPr>
                            <a:rPr lang="en-GB" sz="1400" b="0" i="1">
                              <a:latin typeface="+mn-lt"/>
                            </a:rPr>
                            <m:t>)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en-GB" sz="1400" b="0" i="1">
                              <a:latin typeface="+mn-lt"/>
                            </a:rPr>
                            <m:t>Variance</m:t>
                          </m:r>
                          <m:r>
                            <m:rPr>
                              <m:nor/>
                            </m:rPr>
                            <a:rPr lang="en-GB" sz="1400" b="0" i="1">
                              <a:latin typeface="+mn-lt"/>
                            </a:rPr>
                            <m:t>(</m:t>
                          </m:r>
                          <m:r>
                            <m:rPr>
                              <m:nor/>
                            </m:rPr>
                            <a:rPr lang="en-GB" sz="1400" b="0" i="1">
                              <a:latin typeface="+mn-lt"/>
                            </a:rPr>
                            <m:t>Market</m:t>
                          </m:r>
                          <m:r>
                            <m:rPr>
                              <m:nor/>
                            </m:rPr>
                            <a:rPr lang="en-GB" sz="1400" b="0" i="1">
                              <a:latin typeface="+mn-lt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GB" sz="1400" b="0" dirty="0">
                  <a:latin typeface="+mn-lt"/>
                </a:endParaRPr>
              </a:p>
              <a:p>
                <a:pPr>
                  <a:buNone/>
                </a:pPr>
                <a:endParaRPr lang="ar-AE" sz="1400" b="0" dirty="0">
                  <a:latin typeface="+mn-lt"/>
                </a:endParaRPr>
              </a:p>
              <a:p>
                <a:r>
                  <a:rPr lang="en-GB" sz="1400" b="1" dirty="0">
                    <a:latin typeface="+mn-lt"/>
                  </a:rPr>
                  <a:t>Covariance(stock, market):</a:t>
                </a:r>
                <a:r>
                  <a:rPr lang="en-GB" sz="1400" dirty="0">
                    <a:latin typeface="+mn-lt"/>
                  </a:rPr>
                  <a:t> Measures how the stock and market move together</a:t>
                </a:r>
              </a:p>
              <a:p>
                <a:endParaRPr lang="en-GB" sz="1400" dirty="0">
                  <a:latin typeface="+mn-lt"/>
                </a:endParaRPr>
              </a:p>
              <a:p>
                <a:r>
                  <a:rPr lang="en-GB" sz="1400" b="1" dirty="0">
                    <a:latin typeface="+mn-lt"/>
                  </a:rPr>
                  <a:t>Variance(market):</a:t>
                </a:r>
                <a:r>
                  <a:rPr lang="en-GB" sz="1400" dirty="0">
                    <a:latin typeface="+mn-lt"/>
                  </a:rPr>
                  <a:t> Measures the volatility of the market</a:t>
                </a: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D248D0BB-BC98-63F5-116D-7C9995A15A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5086" y="5038783"/>
                <a:ext cx="7596755" cy="1606465"/>
              </a:xfrm>
              <a:prstGeom prst="rect">
                <a:avLst/>
              </a:prstGeom>
              <a:blipFill>
                <a:blip r:embed="rId4"/>
                <a:stretch>
                  <a:fillRect l="-241" t="-760" b="-304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Box 18">
            <a:extLst>
              <a:ext uri="{FF2B5EF4-FFF2-40B4-BE49-F238E27FC236}">
                <a16:creationId xmlns:a16="http://schemas.microsoft.com/office/drawing/2014/main" id="{5B4A8FD8-118C-F0AD-A645-3A04AB2F245D}"/>
              </a:ext>
            </a:extLst>
          </p:cNvPr>
          <p:cNvSpPr txBox="1"/>
          <p:nvPr/>
        </p:nvSpPr>
        <p:spPr>
          <a:xfrm>
            <a:off x="7309263" y="2959076"/>
            <a:ext cx="1680358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 b="1" dirty="0"/>
              <a:t>Excel functions</a:t>
            </a:r>
          </a:p>
          <a:p>
            <a:endParaRPr lang="en-GB" sz="1200" b="1" dirty="0"/>
          </a:p>
          <a:p>
            <a:r>
              <a:rPr lang="en-GB" sz="1200" dirty="0"/>
              <a:t>=SLOPE</a:t>
            </a:r>
          </a:p>
          <a:p>
            <a:r>
              <a:rPr lang="en-GB" sz="1200" dirty="0"/>
              <a:t>=COVARIANCE.S</a:t>
            </a:r>
          </a:p>
          <a:p>
            <a:r>
              <a:rPr lang="en-GB" sz="1200" dirty="0"/>
              <a:t>=VAR.S</a:t>
            </a:r>
          </a:p>
        </p:txBody>
      </p:sp>
    </p:spTree>
    <p:extLst>
      <p:ext uri="{BB962C8B-B14F-4D97-AF65-F5344CB8AC3E}">
        <p14:creationId xmlns:p14="http://schemas.microsoft.com/office/powerpoint/2010/main" val="3026921967"/>
      </p:ext>
    </p:extLst>
  </p:cSld>
  <p:clrMapOvr>
    <a:masterClrMapping/>
  </p:clrMapOvr>
  <p:transition spd="slow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EBD6E-BCD5-F393-D988-5BF3F851A5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8115" y="509749"/>
            <a:ext cx="7886700" cy="759449"/>
          </a:xfrm>
        </p:spPr>
        <p:txBody>
          <a:bodyPr/>
          <a:lstStyle/>
          <a:p>
            <a:r>
              <a:rPr lang="en-GB" dirty="0"/>
              <a:t>Beta cont’d….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607F94-E36D-19BF-8A91-0EEB0DF7B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29541" y="1756086"/>
            <a:ext cx="7698178" cy="4834719"/>
          </a:xfrm>
        </p:spPr>
        <p:txBody>
          <a:bodyPr/>
          <a:lstStyle/>
          <a:p>
            <a:r>
              <a:rPr lang="en-GB" dirty="0"/>
              <a:t>M&amp;S 			1.6</a:t>
            </a:r>
          </a:p>
          <a:p>
            <a:r>
              <a:rPr lang="en-GB" dirty="0"/>
              <a:t>Tesco 			0.58</a:t>
            </a:r>
          </a:p>
          <a:p>
            <a:r>
              <a:rPr lang="en-GB" dirty="0"/>
              <a:t>Sainsbury’s		0.63</a:t>
            </a:r>
          </a:p>
          <a:p>
            <a:r>
              <a:rPr lang="en-GB" dirty="0"/>
              <a:t>JD Sports			1.63	</a:t>
            </a:r>
          </a:p>
          <a:p>
            <a:r>
              <a:rPr lang="en-GB" dirty="0"/>
              <a:t>Next			1.37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>
                <a:latin typeface="Cambria Math" panose="02040503050406030204" pitchFamily="18" charset="0"/>
                <a:ea typeface="Cambria Math" panose="02040503050406030204" pitchFamily="18" charset="0"/>
              </a:rPr>
              <a:t>𝛃&lt;1, less systematic risk than the average firm</a:t>
            </a:r>
          </a:p>
          <a:p>
            <a:pPr marL="0" indent="0">
              <a:buNone/>
            </a:pPr>
            <a:endParaRPr lang="en-GB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indent="0">
              <a:buNone/>
            </a:pPr>
            <a:r>
              <a:rPr lang="en-GB" dirty="0">
                <a:latin typeface="Cambria Math" panose="02040503050406030204" pitchFamily="18" charset="0"/>
                <a:ea typeface="Cambria Math" panose="02040503050406030204" pitchFamily="18" charset="0"/>
              </a:rPr>
              <a:t>𝛃&gt;1, more systematic risk than the average firm</a:t>
            </a:r>
          </a:p>
          <a:p>
            <a:pPr marL="0" indent="0">
              <a:buNone/>
            </a:pPr>
            <a:endParaRPr lang="en-GB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indent="0">
              <a:buNone/>
            </a:pPr>
            <a:r>
              <a:rPr lang="en-GB" dirty="0">
                <a:latin typeface="Cambria Math" panose="02040503050406030204" pitchFamily="18" charset="0"/>
                <a:ea typeface="Cambria Math" panose="02040503050406030204" pitchFamily="18" charset="0"/>
              </a:rPr>
              <a:t>𝛃 = 0, NO systematic risk</a:t>
            </a:r>
          </a:p>
          <a:p>
            <a:pPr marL="0" indent="0">
              <a:buNone/>
            </a:pPr>
            <a:endParaRPr lang="en-GB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indent="0">
              <a:buNone/>
            </a:pPr>
            <a:r>
              <a:rPr lang="en-GB" dirty="0">
                <a:latin typeface="Cambria Math" panose="02040503050406030204" pitchFamily="18" charset="0"/>
                <a:ea typeface="Cambria Math" panose="02040503050406030204" pitchFamily="18" charset="0"/>
              </a:rPr>
              <a:t>𝛃&lt;0, return is less than the risk free rate, “insurance if the market goes bad” e.g. simplify Bitcoin (MAXI)</a:t>
            </a:r>
          </a:p>
          <a:p>
            <a:pPr marL="0" indent="0">
              <a:buNone/>
            </a:pPr>
            <a:endParaRPr lang="en-GB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indent="0">
              <a:buNone/>
            </a:pPr>
            <a:endParaRPr lang="en-GB" dirty="0"/>
          </a:p>
        </p:txBody>
      </p:sp>
      <p:sp>
        <p:nvSpPr>
          <p:cNvPr id="4" name="Left Brace 3">
            <a:extLst>
              <a:ext uri="{FF2B5EF4-FFF2-40B4-BE49-F238E27FC236}">
                <a16:creationId xmlns:a16="http://schemas.microsoft.com/office/drawing/2014/main" id="{89167A6F-CCFA-645B-A6B4-5AEBAE5D0223}"/>
              </a:ext>
            </a:extLst>
          </p:cNvPr>
          <p:cNvSpPr/>
          <p:nvPr/>
        </p:nvSpPr>
        <p:spPr>
          <a:xfrm flipH="1">
            <a:off x="3508376" y="1756086"/>
            <a:ext cx="561110" cy="1605396"/>
          </a:xfrm>
          <a:prstGeom prst="leftBrace">
            <a:avLst>
              <a:gd name="adj1" fmla="val 8333"/>
              <a:gd name="adj2" fmla="val 4932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070D2A1-2F8C-D1A8-8AE3-4808EEB5A070}"/>
              </a:ext>
            </a:extLst>
          </p:cNvPr>
          <p:cNvSpPr txBox="1"/>
          <p:nvPr/>
        </p:nvSpPr>
        <p:spPr>
          <a:xfrm>
            <a:off x="4321465" y="2235618"/>
            <a:ext cx="48213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The Beta, the systematic market risk, cannot be diversified away.</a:t>
            </a:r>
          </a:p>
        </p:txBody>
      </p:sp>
    </p:spTree>
    <p:extLst>
      <p:ext uri="{BB962C8B-B14F-4D97-AF65-F5344CB8AC3E}">
        <p14:creationId xmlns:p14="http://schemas.microsoft.com/office/powerpoint/2010/main" val="4111311202"/>
      </p:ext>
    </p:extLst>
  </p:cSld>
  <p:clrMapOvr>
    <a:masterClrMapping/>
  </p:clrMapOvr>
  <p:transition spd="slow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5EE7BFB1-40EB-73E1-4DCA-77F11FD1DE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8588" y="1928093"/>
            <a:ext cx="3303249" cy="91894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52D78F2-E95E-AA29-8F6A-ABD243BCF4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742" y="514034"/>
            <a:ext cx="7886700" cy="759449"/>
          </a:xfrm>
        </p:spPr>
        <p:txBody>
          <a:bodyPr/>
          <a:lstStyle/>
          <a:p>
            <a:r>
              <a:rPr lang="en-GB" dirty="0"/>
              <a:t>Beta vs Volatility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447A81-B217-BD9C-B005-0C96DB08676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00113" y="2959183"/>
            <a:ext cx="7886700" cy="2522456"/>
          </a:xfrm>
        </p:spPr>
        <p:txBody>
          <a:bodyPr/>
          <a:lstStyle/>
          <a:p>
            <a:pPr marL="0" indent="0">
              <a:buNone/>
            </a:pPr>
            <a:r>
              <a:rPr lang="en-GB" b="1" dirty="0"/>
              <a:t>Beta analysis:</a:t>
            </a:r>
          </a:p>
          <a:p>
            <a:pPr marL="0" indent="0">
              <a:buNone/>
            </a:pPr>
            <a:r>
              <a:rPr lang="en-GB" dirty="0"/>
              <a:t>With M&amp;S you can expect a greater return than the market, but Tesco is less affected by market influences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b="1" dirty="0"/>
              <a:t>…with volatility analysis:</a:t>
            </a:r>
          </a:p>
          <a:p>
            <a:pPr marL="0" indent="0">
              <a:buNone/>
            </a:pPr>
            <a:r>
              <a:rPr lang="en-GB" dirty="0"/>
              <a:t>Tesco has a lower beta but a higher volatility?! Therefore, there must be more firm specific risk, more uncertainty about the actual company.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>
                <a:solidFill>
                  <a:srgbClr val="C00000"/>
                </a:solidFill>
              </a:rPr>
              <a:t>IMPORTANT</a:t>
            </a:r>
          </a:p>
          <a:p>
            <a:pPr marL="0" indent="0">
              <a:buNone/>
            </a:pPr>
            <a:r>
              <a:rPr lang="en-GB" dirty="0"/>
              <a:t>Beta measuring systematic risk  (unitless)		Different units!</a:t>
            </a:r>
          </a:p>
          <a:p>
            <a:pPr marL="0" indent="0">
              <a:buNone/>
            </a:pPr>
            <a:r>
              <a:rPr lang="en-GB" dirty="0"/>
              <a:t>Std dev measuring total risk  (percentage)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30FCC001-28BD-6D93-A97C-CA7D026E31A8}"/>
              </a:ext>
            </a:extLst>
          </p:cNvPr>
          <p:cNvCxnSpPr>
            <a:cxnSpLocks/>
          </p:cNvCxnSpPr>
          <p:nvPr/>
        </p:nvCxnSpPr>
        <p:spPr>
          <a:xfrm flipH="1">
            <a:off x="4181838" y="2132411"/>
            <a:ext cx="228427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0A61811-BEBB-EA09-938B-874DE5E6BE76}"/>
              </a:ext>
            </a:extLst>
          </p:cNvPr>
          <p:cNvCxnSpPr/>
          <p:nvPr/>
        </p:nvCxnSpPr>
        <p:spPr>
          <a:xfrm flipH="1" flipV="1">
            <a:off x="2778826" y="2132411"/>
            <a:ext cx="3616037" cy="64864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C943A7D5-FD28-9EF5-B3E9-A1FBCEED99EA}"/>
              </a:ext>
            </a:extLst>
          </p:cNvPr>
          <p:cNvSpPr txBox="1"/>
          <p:nvPr/>
        </p:nvSpPr>
        <p:spPr>
          <a:xfrm>
            <a:off x="6537367" y="1993911"/>
            <a:ext cx="10952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Total risk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3E9FA8B-DBE4-0A89-EC04-AC1209D49F41}"/>
              </a:ext>
            </a:extLst>
          </p:cNvPr>
          <p:cNvSpPr txBox="1"/>
          <p:nvPr/>
        </p:nvSpPr>
        <p:spPr>
          <a:xfrm>
            <a:off x="6394862" y="2682183"/>
            <a:ext cx="13131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Market risk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B6ACF8A7-DB1B-70E7-A2DA-1C5E6BD5261B}"/>
              </a:ext>
            </a:extLst>
          </p:cNvPr>
          <p:cNvCxnSpPr>
            <a:cxnSpLocks/>
          </p:cNvCxnSpPr>
          <p:nvPr/>
        </p:nvCxnSpPr>
        <p:spPr>
          <a:xfrm flipH="1">
            <a:off x="4800366" y="5964321"/>
            <a:ext cx="93541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8565D264-77FE-C8E1-7ECD-9551305E5CB3}"/>
              </a:ext>
            </a:extLst>
          </p:cNvPr>
          <p:cNvCxnSpPr>
            <a:cxnSpLocks/>
          </p:cNvCxnSpPr>
          <p:nvPr/>
        </p:nvCxnSpPr>
        <p:spPr>
          <a:xfrm flipH="1">
            <a:off x="4843463" y="5964321"/>
            <a:ext cx="892319" cy="35358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73769351"/>
      </p:ext>
    </p:extLst>
  </p:cSld>
  <p:clrMapOvr>
    <a:masterClrMapping/>
  </p:clrMapOvr>
  <p:transition spd="slow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6700" y="966888"/>
            <a:ext cx="7886700" cy="634117"/>
          </a:xfrm>
        </p:spPr>
        <p:txBody>
          <a:bodyPr>
            <a:normAutofit/>
          </a:bodyPr>
          <a:lstStyle/>
          <a:p>
            <a:r>
              <a:rPr lang="en-GB" dirty="0"/>
              <a:t>Probabilistic vs Historical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6700" y="1704975"/>
            <a:ext cx="8591550" cy="1828387"/>
          </a:xfrm>
          <a:noFill/>
          <a:ln>
            <a:noFill/>
          </a:ln>
        </p:spPr>
        <p:txBody>
          <a:bodyPr>
            <a:normAutofit lnSpcReduction="10000"/>
          </a:bodyPr>
          <a:lstStyle/>
          <a:p>
            <a:pPr marL="0" indent="0">
              <a:buClr>
                <a:srgbClr val="C00000"/>
              </a:buClr>
              <a:buSzPct val="90000"/>
              <a:buNone/>
            </a:pPr>
            <a:r>
              <a:rPr lang="en-GB" sz="1800" dirty="0">
                <a:cs typeface="Calibri" panose="020F0502020204030204" pitchFamily="34" charset="0"/>
              </a:rPr>
              <a:t>Historical risk and return analysis gives us an idea of the risk and return profile of the share. Most of the time, we want to have a look at the future.</a:t>
            </a:r>
            <a:r>
              <a:rPr lang="en-GB" sz="1800" dirty="0"/>
              <a:t> We will calculate the risk and return using </a:t>
            </a:r>
            <a:r>
              <a:rPr lang="en-GB" sz="1800" i="1" dirty="0"/>
              <a:t>probable states</a:t>
            </a:r>
            <a:r>
              <a:rPr lang="en-GB" sz="1800" dirty="0"/>
              <a:t> of the economy.</a:t>
            </a:r>
          </a:p>
          <a:p>
            <a:pPr marL="0" indent="0">
              <a:buNone/>
              <a:tabLst>
                <a:tab pos="670322" algn="l"/>
              </a:tabLst>
            </a:pPr>
            <a:endParaRPr lang="en-GB" sz="1800" b="1" dirty="0">
              <a:solidFill>
                <a:schemeClr val="accent5">
                  <a:lumMod val="75000"/>
                </a:schemeClr>
              </a:solidFill>
              <a:cs typeface="Calibri" panose="020F0502020204030204" pitchFamily="34" charset="0"/>
            </a:endParaRPr>
          </a:p>
          <a:p>
            <a:pPr marL="0" indent="0">
              <a:buNone/>
              <a:tabLst>
                <a:tab pos="670322" algn="l"/>
              </a:tabLst>
            </a:pPr>
            <a:r>
              <a:rPr lang="en-GB" sz="1800" b="1" dirty="0">
                <a:solidFill>
                  <a:schemeClr val="accent5">
                    <a:lumMod val="75000"/>
                  </a:schemeClr>
                </a:solidFill>
                <a:cs typeface="Calibri" panose="020F0502020204030204" pitchFamily="34" charset="0"/>
              </a:rPr>
              <a:t>Example</a:t>
            </a:r>
          </a:p>
          <a:p>
            <a:pPr marL="0" indent="0">
              <a:buNone/>
              <a:tabLst>
                <a:tab pos="670322" algn="l"/>
              </a:tabLst>
            </a:pPr>
            <a:r>
              <a:rPr lang="en-GB" sz="1800" dirty="0">
                <a:cs typeface="Calibri" panose="020F0502020204030204" pitchFamily="34" charset="0"/>
              </a:rPr>
              <a:t>You have IBM forecasted returns in three possible states of the economy:</a:t>
            </a:r>
            <a:endParaRPr lang="en-GB" sz="1800" i="1" dirty="0">
              <a:solidFill>
                <a:srgbClr val="C00000"/>
              </a:solidFill>
              <a:ea typeface="Cambria Math" panose="02040503050406030204" pitchFamily="18" charset="0"/>
              <a:cs typeface="Calibri" panose="020F0502020204030204" pitchFamily="34" charset="0"/>
            </a:endParaRPr>
          </a:p>
          <a:p>
            <a:pPr marL="0" indent="0">
              <a:buNone/>
              <a:tabLst>
                <a:tab pos="670322" algn="l"/>
              </a:tabLst>
            </a:pPr>
            <a:endParaRPr lang="en-GB" sz="1800" dirty="0"/>
          </a:p>
          <a:p>
            <a:pPr marL="0" indent="0">
              <a:buNone/>
              <a:tabLst>
                <a:tab pos="670322" algn="l"/>
              </a:tabLst>
            </a:pPr>
            <a:endParaRPr lang="en-GB" sz="1800" dirty="0"/>
          </a:p>
          <a:p>
            <a:pPr marL="0" indent="0">
              <a:buNone/>
              <a:tabLst>
                <a:tab pos="670322" algn="l"/>
              </a:tabLst>
            </a:pPr>
            <a:endParaRPr lang="en-GB" sz="1800" dirty="0"/>
          </a:p>
          <a:p>
            <a:pPr marL="0" indent="0">
              <a:buNone/>
              <a:tabLst>
                <a:tab pos="670322" algn="l"/>
              </a:tabLst>
            </a:pPr>
            <a:endParaRPr lang="en-GB" sz="1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548754" y="5710698"/>
            <a:ext cx="679467" cy="405323"/>
          </a:xfrm>
          <a:ln w="12700"/>
        </p:spPr>
        <p:txBody>
          <a:bodyPr/>
          <a:lstStyle/>
          <a:p>
            <a:fld id="{0F99C4FB-888A-4D12-A1C4-C744D94026CD}" type="slidenum">
              <a:rPr lang="en-GB" sz="1350">
                <a:solidFill>
                  <a:schemeClr val="tx1">
                    <a:lumMod val="50000"/>
                    <a:lumOff val="50000"/>
                  </a:schemeClr>
                </a:solidFill>
              </a:rPr>
              <a:t>12</a:t>
            </a:fld>
            <a:endParaRPr lang="en-GB" sz="135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6E09BCF4-C737-4F47-9B59-C2040570826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36468526"/>
                  </p:ext>
                </p:extLst>
              </p:nvPr>
            </p:nvGraphicFramePr>
            <p:xfrm>
              <a:off x="1765836" y="3637332"/>
              <a:ext cx="5593278" cy="1828388"/>
            </p:xfrm>
            <a:graphic>
              <a:graphicData uri="http://schemas.openxmlformats.org/drawingml/2006/table">
                <a:tbl>
                  <a:tblPr/>
                  <a:tblGrid>
                    <a:gridCol w="1427017">
                      <a:extLst>
                        <a:ext uri="{9D8B030D-6E8A-4147-A177-3AD203B41FA5}">
                          <a16:colId xmlns:a16="http://schemas.microsoft.com/office/drawing/2014/main" val="2819693020"/>
                        </a:ext>
                      </a:extLst>
                    </a:gridCol>
                    <a:gridCol w="1863147">
                      <a:extLst>
                        <a:ext uri="{9D8B030D-6E8A-4147-A177-3AD203B41FA5}">
                          <a16:colId xmlns:a16="http://schemas.microsoft.com/office/drawing/2014/main" val="583174764"/>
                        </a:ext>
                      </a:extLst>
                    </a:gridCol>
                    <a:gridCol w="2303114">
                      <a:extLst>
                        <a:ext uri="{9D8B030D-6E8A-4147-A177-3AD203B41FA5}">
                          <a16:colId xmlns:a16="http://schemas.microsoft.com/office/drawing/2014/main" val="3610285926"/>
                        </a:ext>
                      </a:extLst>
                    </a:gridCol>
                  </a:tblGrid>
                  <a:tr h="457097"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en-GB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State</a:t>
                          </a:r>
                        </a:p>
                      </a:txBody>
                      <a:tcPr marL="4763" marR="4763" marT="4763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Probability:</a:t>
                          </a:r>
                          <a14:m>
                            <m:oMath xmlns:m="http://schemas.openxmlformats.org/officeDocument/2006/math">
                              <m:r>
                                <a:rPr lang="en-GB" sz="1800" b="0" i="0" u="none" strike="noStrike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GB" sz="1800" b="0" i="1" u="none" strike="noStrike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oMath>
                          </a14:m>
                          <a:endParaRPr lang="en-GB" sz="18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4763" marR="4763" marT="4763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Return: </a:t>
                          </a:r>
                          <a14:m>
                            <m:oMath xmlns:m="http://schemas.openxmlformats.org/officeDocument/2006/math">
                              <m:acc>
                                <m:accPr>
                                  <m:chr m:val="̃"/>
                                  <m:ctrlPr>
                                    <a:rPr lang="en-GB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GB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  <m:t>𝑟</m:t>
                                  </m:r>
                                </m:e>
                              </m:acc>
                            </m:oMath>
                          </a14:m>
                          <a:endParaRPr lang="en-GB" sz="18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4763" marR="4763" marT="4763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855211029"/>
                      </a:ext>
                    </a:extLst>
                  </a:tr>
                  <a:tr h="457097"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en-GB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Boom</a:t>
                          </a:r>
                        </a:p>
                      </a:txBody>
                      <a:tcPr marL="4763" marR="4763" marT="4763" marB="0" anchor="ctr">
                        <a:lnL>
                          <a:noFill/>
                        </a:lnL>
                        <a:lnR>
                          <a:noFill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15%</a:t>
                          </a:r>
                        </a:p>
                      </a:txBody>
                      <a:tcPr marL="4763" marR="4763" marT="4763" marB="0" anchor="ctr">
                        <a:lnL>
                          <a:noFill/>
                        </a:lnL>
                        <a:lnR>
                          <a:noFill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20%</a:t>
                          </a:r>
                        </a:p>
                      </a:txBody>
                      <a:tcPr marL="4763" marR="4763" marT="4763" marB="0" anchor="ctr">
                        <a:lnL>
                          <a:noFill/>
                        </a:lnL>
                        <a:lnR>
                          <a:noFill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898363644"/>
                      </a:ext>
                    </a:extLst>
                  </a:tr>
                  <a:tr h="457097"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en-GB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Normal</a:t>
                          </a:r>
                        </a:p>
                      </a:txBody>
                      <a:tcPr marL="4763" marR="4763" marT="4763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55%</a:t>
                          </a:r>
                        </a:p>
                      </a:txBody>
                      <a:tcPr marL="4763" marR="4763" marT="4763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10%</a:t>
                          </a:r>
                        </a:p>
                      </a:txBody>
                      <a:tcPr marL="4763" marR="4763" marT="4763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271364288"/>
                      </a:ext>
                    </a:extLst>
                  </a:tr>
                  <a:tr h="457097"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en-GB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Recession</a:t>
                          </a:r>
                        </a:p>
                      </a:txBody>
                      <a:tcPr marL="4763" marR="4763" marT="4763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30%</a:t>
                          </a:r>
                        </a:p>
                      </a:txBody>
                      <a:tcPr marL="4763" marR="4763" marT="4763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-5%</a:t>
                          </a:r>
                        </a:p>
                      </a:txBody>
                      <a:tcPr marL="4763" marR="4763" marT="4763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81498284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6E09BCF4-C737-4F47-9B59-C2040570826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36468526"/>
                  </p:ext>
                </p:extLst>
              </p:nvPr>
            </p:nvGraphicFramePr>
            <p:xfrm>
              <a:off x="1765836" y="3637332"/>
              <a:ext cx="5593278" cy="1828388"/>
            </p:xfrm>
            <a:graphic>
              <a:graphicData uri="http://schemas.openxmlformats.org/drawingml/2006/table">
                <a:tbl>
                  <a:tblPr/>
                  <a:tblGrid>
                    <a:gridCol w="1427017">
                      <a:extLst>
                        <a:ext uri="{9D8B030D-6E8A-4147-A177-3AD203B41FA5}">
                          <a16:colId xmlns:a16="http://schemas.microsoft.com/office/drawing/2014/main" val="2819693020"/>
                        </a:ext>
                      </a:extLst>
                    </a:gridCol>
                    <a:gridCol w="1863147">
                      <a:extLst>
                        <a:ext uri="{9D8B030D-6E8A-4147-A177-3AD203B41FA5}">
                          <a16:colId xmlns:a16="http://schemas.microsoft.com/office/drawing/2014/main" val="583174764"/>
                        </a:ext>
                      </a:extLst>
                    </a:gridCol>
                    <a:gridCol w="2303114">
                      <a:extLst>
                        <a:ext uri="{9D8B030D-6E8A-4147-A177-3AD203B41FA5}">
                          <a16:colId xmlns:a16="http://schemas.microsoft.com/office/drawing/2014/main" val="3610285926"/>
                        </a:ext>
                      </a:extLst>
                    </a:gridCol>
                  </a:tblGrid>
                  <a:tr h="457097"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en-GB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State</a:t>
                          </a:r>
                        </a:p>
                      </a:txBody>
                      <a:tcPr marL="4763" marR="4763" marT="4763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763" marR="4763" marT="4763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76221" r="-124104" b="-31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763" marR="4763" marT="4763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43122" r="-794" b="-313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855211029"/>
                      </a:ext>
                    </a:extLst>
                  </a:tr>
                  <a:tr h="457097"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en-GB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Boom</a:t>
                          </a:r>
                        </a:p>
                      </a:txBody>
                      <a:tcPr marL="4763" marR="4763" marT="4763" marB="0" anchor="ctr">
                        <a:lnL>
                          <a:noFill/>
                        </a:lnL>
                        <a:lnR>
                          <a:noFill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15%</a:t>
                          </a:r>
                        </a:p>
                      </a:txBody>
                      <a:tcPr marL="4763" marR="4763" marT="4763" marB="0" anchor="ctr">
                        <a:lnL>
                          <a:noFill/>
                        </a:lnL>
                        <a:lnR>
                          <a:noFill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20%</a:t>
                          </a:r>
                        </a:p>
                      </a:txBody>
                      <a:tcPr marL="4763" marR="4763" marT="4763" marB="0" anchor="ctr">
                        <a:lnL>
                          <a:noFill/>
                        </a:lnL>
                        <a:lnR>
                          <a:noFill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898363644"/>
                      </a:ext>
                    </a:extLst>
                  </a:tr>
                  <a:tr h="457097"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en-GB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Normal</a:t>
                          </a:r>
                        </a:p>
                      </a:txBody>
                      <a:tcPr marL="4763" marR="4763" marT="4763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55%</a:t>
                          </a:r>
                        </a:p>
                      </a:txBody>
                      <a:tcPr marL="4763" marR="4763" marT="4763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10%</a:t>
                          </a:r>
                        </a:p>
                      </a:txBody>
                      <a:tcPr marL="4763" marR="4763" marT="4763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271364288"/>
                      </a:ext>
                    </a:extLst>
                  </a:tr>
                  <a:tr h="457097"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en-GB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Recession</a:t>
                          </a:r>
                        </a:p>
                      </a:txBody>
                      <a:tcPr marL="4763" marR="4763" marT="4763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30%</a:t>
                          </a:r>
                        </a:p>
                      </a:txBody>
                      <a:tcPr marL="4763" marR="4763" marT="4763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-5%</a:t>
                          </a:r>
                        </a:p>
                      </a:txBody>
                      <a:tcPr marL="4763" marR="4763" marT="4763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814982846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1663C334-C9C7-8510-E6EC-E930DF41DA6E}"/>
              </a:ext>
            </a:extLst>
          </p:cNvPr>
          <p:cNvSpPr txBox="1"/>
          <p:nvPr/>
        </p:nvSpPr>
        <p:spPr>
          <a:xfrm>
            <a:off x="656978" y="5891112"/>
            <a:ext cx="7810994" cy="369332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GB" dirty="0">
                <a:solidFill>
                  <a:schemeClr val="bg1"/>
                </a:solidFill>
                <a:cs typeface="Calibri" panose="020F0502020204030204" pitchFamily="34" charset="0"/>
              </a:rPr>
              <a:t>What is the expected return and risk of the IBM share?</a:t>
            </a:r>
            <a:endParaRPr lang="en-GB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781941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6700" y="966888"/>
            <a:ext cx="7886700" cy="634117"/>
          </a:xfrm>
        </p:spPr>
        <p:txBody>
          <a:bodyPr>
            <a:normAutofit/>
          </a:bodyPr>
          <a:lstStyle/>
          <a:p>
            <a:r>
              <a:rPr lang="en-GB" dirty="0"/>
              <a:t>Probabilistic Return Calculation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266700" y="1704975"/>
                <a:ext cx="8591550" cy="3852678"/>
              </a:xfrm>
              <a:noFill/>
              <a:ln>
                <a:noFill/>
              </a:ln>
            </p:spPr>
            <p:txBody>
              <a:bodyPr>
                <a:normAutofit/>
              </a:bodyPr>
              <a:lstStyle/>
              <a:p>
                <a:pPr marL="0" indent="0">
                  <a:buClr>
                    <a:srgbClr val="C00000"/>
                  </a:buClr>
                  <a:buSzPct val="90000"/>
                  <a:buNone/>
                </a:pPr>
                <a:r>
                  <a:rPr lang="en-GB" sz="1800" dirty="0">
                    <a:cs typeface="Calibri" panose="020F0502020204030204" pitchFamily="34" charset="0"/>
                  </a:rPr>
                  <a:t>IBM’s expected returns given the three states of the economy is </a:t>
                </a:r>
                <a:r>
                  <a:rPr lang="en-GB" sz="1800" i="1" dirty="0">
                    <a:solidFill>
                      <a:schemeClr val="accent5">
                        <a:lumMod val="75000"/>
                      </a:schemeClr>
                    </a:solidFill>
                    <a:cs typeface="Calibri" panose="020F0502020204030204" pitchFamily="34" charset="0"/>
                  </a:rPr>
                  <a:t>weighted average return</a:t>
                </a:r>
                <a:r>
                  <a:rPr lang="en-GB" sz="1800" i="1" dirty="0">
                    <a:cs typeface="Calibri" panose="020F0502020204030204" pitchFamily="34" charset="0"/>
                  </a:rPr>
                  <a:t>, </a:t>
                </a:r>
                <a:r>
                  <a:rPr lang="en-GB" sz="1800" dirty="0">
                    <a:cs typeface="Calibri" panose="020F0502020204030204" pitchFamily="34" charset="0"/>
                  </a:rPr>
                  <a:t>given the probability of each state</a:t>
                </a:r>
                <a:r>
                  <a:rPr lang="en-GB" sz="1800" dirty="0">
                    <a:ea typeface="Cambria Math" panose="02040503050406030204" pitchFamily="18" charset="0"/>
                    <a:cs typeface="Calibri" panose="020F0502020204030204" pitchFamily="34" charset="0"/>
                  </a:rPr>
                  <a:t>:</a:t>
                </a:r>
              </a:p>
              <a:p>
                <a:pPr marL="0" indent="0">
                  <a:buNone/>
                  <a:tabLst>
                    <a:tab pos="670322" algn="l"/>
                  </a:tabLst>
                </a:pPr>
                <a:endParaRPr lang="en-GB" sz="1800" dirty="0"/>
              </a:p>
              <a:p>
                <a:pPr marL="0" indent="0">
                  <a:buNone/>
                  <a:tabLst>
                    <a:tab pos="670322" algn="l"/>
                  </a:tabLst>
                </a:pPr>
                <a:endParaRPr lang="en-GB" sz="1800" dirty="0"/>
              </a:p>
              <a:p>
                <a:pPr marL="0" indent="0">
                  <a:buNone/>
                  <a:tabLst>
                    <a:tab pos="670322" algn="l"/>
                  </a:tabLst>
                </a:pPr>
                <a:endParaRPr lang="en-GB" sz="1800" dirty="0"/>
              </a:p>
              <a:p>
                <a:pPr marL="0" indent="0">
                  <a:buNone/>
                  <a:tabLst>
                    <a:tab pos="670322" algn="l"/>
                  </a:tabLst>
                </a:pPr>
                <a:endParaRPr lang="en-GB" sz="1800" dirty="0"/>
              </a:p>
              <a:p>
                <a:pPr marL="0" indent="0">
                  <a:buNone/>
                  <a:tabLst>
                    <a:tab pos="670322" algn="l"/>
                  </a:tabLst>
                </a:pPr>
                <a:endParaRPr lang="en-GB" sz="1800" dirty="0"/>
              </a:p>
              <a:p>
                <a:pPr marL="0" indent="0">
                  <a:buNone/>
                  <a:tabLst>
                    <a:tab pos="670322" algn="l"/>
                  </a:tabLst>
                </a:pPr>
                <a:endParaRPr lang="en-GB" sz="1800" dirty="0"/>
              </a:p>
              <a:p>
                <a:pPr marL="0" indent="0">
                  <a:buNone/>
                  <a:tabLst>
                    <a:tab pos="670322" algn="l"/>
                  </a:tabLst>
                </a:pPr>
                <a14:m>
                  <m:oMath xmlns:m="http://schemas.openxmlformats.org/officeDocument/2006/math">
                    <m:r>
                      <a:rPr lang="en-GB" sz="18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GB" sz="1800" dirty="0"/>
                  <a:t> The expected return is:</a:t>
                </a:r>
              </a:p>
              <a:p>
                <a:pPr marL="0" indent="0">
                  <a:lnSpc>
                    <a:spcPct val="150000"/>
                  </a:lnSpc>
                  <a:buNone/>
                  <a:tabLst>
                    <a:tab pos="670322" algn="l"/>
                  </a:tabLs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800" i="1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en-GB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̃"/>
                              <m:ctrlPr>
                                <a:rPr lang="en-GB" sz="18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GB" sz="1800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</m:acc>
                        </m:e>
                      </m:d>
                      <m:r>
                        <a:rPr lang="en-GB" sz="1800" i="1">
                          <a:latin typeface="Cambria Math" panose="02040503050406030204" pitchFamily="18" charset="0"/>
                        </a:rPr>
                        <m:t>=15%×</m:t>
                      </m:r>
                      <m:r>
                        <a:rPr lang="en-GB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20%+55%×10%+30%×</m:t>
                      </m:r>
                      <m:d>
                        <m:dPr>
                          <m:ctrlPr>
                            <a:rPr lang="en-GB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−5%</m:t>
                          </m:r>
                        </m:e>
                      </m:d>
                      <m:r>
                        <a:rPr lang="en-GB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=7%</m:t>
                      </m:r>
                    </m:oMath>
                  </m:oMathPara>
                </a14:m>
                <a:endParaRPr lang="en-GB" sz="18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66700" y="1704975"/>
                <a:ext cx="8591550" cy="3852678"/>
              </a:xfr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548754" y="5710698"/>
            <a:ext cx="679467" cy="405323"/>
          </a:xfrm>
          <a:ln w="12700"/>
        </p:spPr>
        <p:txBody>
          <a:bodyPr/>
          <a:lstStyle/>
          <a:p>
            <a:fld id="{0F99C4FB-888A-4D12-A1C4-C744D94026CD}" type="slidenum">
              <a:rPr lang="en-GB" sz="1350">
                <a:solidFill>
                  <a:schemeClr val="tx1">
                    <a:lumMod val="50000"/>
                    <a:lumOff val="50000"/>
                  </a:schemeClr>
                </a:solidFill>
              </a:rPr>
              <a:t>13</a:t>
            </a:fld>
            <a:endParaRPr lang="en-GB" sz="135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6E09BCF4-C737-4F47-9B59-C2040570826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94689665"/>
                  </p:ext>
                </p:extLst>
              </p:nvPr>
            </p:nvGraphicFramePr>
            <p:xfrm>
              <a:off x="1653704" y="2393091"/>
              <a:ext cx="4590000" cy="1822648"/>
            </p:xfrm>
            <a:graphic>
              <a:graphicData uri="http://schemas.openxmlformats.org/drawingml/2006/table">
                <a:tbl>
                  <a:tblPr/>
                  <a:tblGrid>
                    <a:gridCol w="1171050">
                      <a:extLst>
                        <a:ext uri="{9D8B030D-6E8A-4147-A177-3AD203B41FA5}">
                          <a16:colId xmlns:a16="http://schemas.microsoft.com/office/drawing/2014/main" val="2819693020"/>
                        </a:ext>
                      </a:extLst>
                    </a:gridCol>
                    <a:gridCol w="1528950">
                      <a:extLst>
                        <a:ext uri="{9D8B030D-6E8A-4147-A177-3AD203B41FA5}">
                          <a16:colId xmlns:a16="http://schemas.microsoft.com/office/drawing/2014/main" val="583174764"/>
                        </a:ext>
                      </a:extLst>
                    </a:gridCol>
                    <a:gridCol w="1890000">
                      <a:extLst>
                        <a:ext uri="{9D8B030D-6E8A-4147-A177-3AD203B41FA5}">
                          <a16:colId xmlns:a16="http://schemas.microsoft.com/office/drawing/2014/main" val="3610285926"/>
                        </a:ext>
                      </a:extLst>
                    </a:gridCol>
                  </a:tblGrid>
                  <a:tr h="455662"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en-GB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State</a:t>
                          </a:r>
                        </a:p>
                      </a:txBody>
                      <a:tcPr marL="4763" marR="4763" marT="4763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Probability: </a:t>
                          </a:r>
                          <a14:m>
                            <m:oMath xmlns:m="http://schemas.openxmlformats.org/officeDocument/2006/math">
                              <m:r>
                                <a:rPr lang="en-GB" sz="1800" b="0" i="1" u="none" strike="noStrike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oMath>
                          </a14:m>
                          <a:endParaRPr lang="en-GB" sz="18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4763" marR="4763" marT="4763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Return: </a:t>
                          </a:r>
                          <a14:m>
                            <m:oMath xmlns:m="http://schemas.openxmlformats.org/officeDocument/2006/math">
                              <m:acc>
                                <m:accPr>
                                  <m:chr m:val="̃"/>
                                  <m:ctrlPr>
                                    <a:rPr lang="en-GB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GB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  <m:t>𝑟</m:t>
                                  </m:r>
                                </m:e>
                              </m:acc>
                            </m:oMath>
                          </a14:m>
                          <a:endParaRPr lang="en-GB" sz="18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4763" marR="4763" marT="4763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855211029"/>
                      </a:ext>
                    </a:extLst>
                  </a:tr>
                  <a:tr h="455662"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en-GB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Boom</a:t>
                          </a:r>
                        </a:p>
                      </a:txBody>
                      <a:tcPr marL="4763" marR="4763" marT="4763" marB="0" anchor="ctr">
                        <a:lnL>
                          <a:noFill/>
                        </a:lnL>
                        <a:lnR>
                          <a:noFill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15%</a:t>
                          </a:r>
                        </a:p>
                      </a:txBody>
                      <a:tcPr marL="4763" marR="4763" marT="4763" marB="0" anchor="ctr">
                        <a:lnL>
                          <a:noFill/>
                        </a:lnL>
                        <a:lnR>
                          <a:noFill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20%</a:t>
                          </a:r>
                        </a:p>
                      </a:txBody>
                      <a:tcPr marL="4763" marR="4763" marT="4763" marB="0" anchor="ctr">
                        <a:lnL>
                          <a:noFill/>
                        </a:lnL>
                        <a:lnR>
                          <a:noFill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898363644"/>
                      </a:ext>
                    </a:extLst>
                  </a:tr>
                  <a:tr h="455662"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en-GB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Normal</a:t>
                          </a:r>
                        </a:p>
                      </a:txBody>
                      <a:tcPr marL="4763" marR="4763" marT="4763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55%</a:t>
                          </a:r>
                        </a:p>
                      </a:txBody>
                      <a:tcPr marL="4763" marR="4763" marT="4763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10%</a:t>
                          </a:r>
                        </a:p>
                      </a:txBody>
                      <a:tcPr marL="4763" marR="4763" marT="4763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271364288"/>
                      </a:ext>
                    </a:extLst>
                  </a:tr>
                  <a:tr h="455662"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en-GB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Recession</a:t>
                          </a:r>
                        </a:p>
                      </a:txBody>
                      <a:tcPr marL="4763" marR="4763" marT="4763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30%</a:t>
                          </a:r>
                        </a:p>
                      </a:txBody>
                      <a:tcPr marL="4763" marR="4763" marT="4763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-5%</a:t>
                          </a:r>
                        </a:p>
                      </a:txBody>
                      <a:tcPr marL="4763" marR="4763" marT="4763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81498284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6E09BCF4-C737-4F47-9B59-C2040570826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94689665"/>
                  </p:ext>
                </p:extLst>
              </p:nvPr>
            </p:nvGraphicFramePr>
            <p:xfrm>
              <a:off x="1653704" y="2393091"/>
              <a:ext cx="4590000" cy="1822648"/>
            </p:xfrm>
            <a:graphic>
              <a:graphicData uri="http://schemas.openxmlformats.org/drawingml/2006/table">
                <a:tbl>
                  <a:tblPr/>
                  <a:tblGrid>
                    <a:gridCol w="1171050">
                      <a:extLst>
                        <a:ext uri="{9D8B030D-6E8A-4147-A177-3AD203B41FA5}">
                          <a16:colId xmlns:a16="http://schemas.microsoft.com/office/drawing/2014/main" val="2819693020"/>
                        </a:ext>
                      </a:extLst>
                    </a:gridCol>
                    <a:gridCol w="1528950">
                      <a:extLst>
                        <a:ext uri="{9D8B030D-6E8A-4147-A177-3AD203B41FA5}">
                          <a16:colId xmlns:a16="http://schemas.microsoft.com/office/drawing/2014/main" val="583174764"/>
                        </a:ext>
                      </a:extLst>
                    </a:gridCol>
                    <a:gridCol w="1890000">
                      <a:extLst>
                        <a:ext uri="{9D8B030D-6E8A-4147-A177-3AD203B41FA5}">
                          <a16:colId xmlns:a16="http://schemas.microsoft.com/office/drawing/2014/main" val="3610285926"/>
                        </a:ext>
                      </a:extLst>
                    </a:gridCol>
                  </a:tblGrid>
                  <a:tr h="455662"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en-GB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State</a:t>
                          </a:r>
                        </a:p>
                      </a:txBody>
                      <a:tcPr marL="4763" marR="4763" marT="4763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763" marR="4763" marT="4763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76190" r="-124206" b="-31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763" marR="4763" marT="4763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43226" r="-968" b="-312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855211029"/>
                      </a:ext>
                    </a:extLst>
                  </a:tr>
                  <a:tr h="455662"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en-GB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Boom</a:t>
                          </a:r>
                        </a:p>
                      </a:txBody>
                      <a:tcPr marL="4763" marR="4763" marT="4763" marB="0" anchor="ctr">
                        <a:lnL>
                          <a:noFill/>
                        </a:lnL>
                        <a:lnR>
                          <a:noFill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15%</a:t>
                          </a:r>
                        </a:p>
                      </a:txBody>
                      <a:tcPr marL="4763" marR="4763" marT="4763" marB="0" anchor="ctr">
                        <a:lnL>
                          <a:noFill/>
                        </a:lnL>
                        <a:lnR>
                          <a:noFill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20%</a:t>
                          </a:r>
                        </a:p>
                      </a:txBody>
                      <a:tcPr marL="4763" marR="4763" marT="4763" marB="0" anchor="ctr">
                        <a:lnL>
                          <a:noFill/>
                        </a:lnL>
                        <a:lnR>
                          <a:noFill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898363644"/>
                      </a:ext>
                    </a:extLst>
                  </a:tr>
                  <a:tr h="455662"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en-GB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Normal</a:t>
                          </a:r>
                        </a:p>
                      </a:txBody>
                      <a:tcPr marL="4763" marR="4763" marT="4763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55%</a:t>
                          </a:r>
                        </a:p>
                      </a:txBody>
                      <a:tcPr marL="4763" marR="4763" marT="4763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10%</a:t>
                          </a:r>
                        </a:p>
                      </a:txBody>
                      <a:tcPr marL="4763" marR="4763" marT="4763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271364288"/>
                      </a:ext>
                    </a:extLst>
                  </a:tr>
                  <a:tr h="455662"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en-GB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Recession</a:t>
                          </a:r>
                        </a:p>
                      </a:txBody>
                      <a:tcPr marL="4763" marR="4763" marT="4763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30%</a:t>
                          </a:r>
                        </a:p>
                      </a:txBody>
                      <a:tcPr marL="4763" marR="4763" marT="4763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-5%</a:t>
                          </a:r>
                        </a:p>
                      </a:txBody>
                      <a:tcPr marL="4763" marR="4763" marT="4763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814982846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1C05C852-4F7D-0C34-5DEA-2FF047B4D286}"/>
              </a:ext>
            </a:extLst>
          </p:cNvPr>
          <p:cNvSpPr txBox="1"/>
          <p:nvPr/>
        </p:nvSpPr>
        <p:spPr>
          <a:xfrm>
            <a:off x="266700" y="5724869"/>
            <a:ext cx="8520113" cy="32316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 wrap="square">
            <a:spAutoFit/>
          </a:bodyPr>
          <a:lstStyle/>
          <a:p>
            <a:pPr algn="ctr">
              <a:buClr>
                <a:srgbClr val="C00000"/>
              </a:buClr>
              <a:tabLst>
                <a:tab pos="670322" algn="l"/>
              </a:tabLst>
            </a:pPr>
            <a:r>
              <a:rPr lang="en-GB" sz="1500" dirty="0">
                <a:solidFill>
                  <a:schemeClr val="bg1"/>
                </a:solidFill>
              </a:rPr>
              <a:t>On average, an IBM shareholder can expect to receive a return of 7% using forecasted data.</a:t>
            </a:r>
            <a:endParaRPr lang="en-GB" sz="1500" b="1" dirty="0">
              <a:solidFill>
                <a:schemeClr val="bg1"/>
              </a:solidFill>
              <a:cs typeface="Calibri" panose="020F05020202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976938A-8959-87D4-3E12-B2D722C889B7}"/>
                  </a:ext>
                </a:extLst>
              </p:cNvPr>
              <p:cNvSpPr txBox="1"/>
              <p:nvPr/>
            </p:nvSpPr>
            <p:spPr>
              <a:xfrm>
                <a:off x="6613675" y="2576651"/>
                <a:ext cx="2411572" cy="145552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𝐸</m:t>
                      </m:r>
                      <m:r>
                        <a:rPr lang="en-GB" sz="14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GB" sz="14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𝑟</m:t>
                      </m:r>
                      <m:r>
                        <a:rPr lang="en-GB" sz="14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)=</m:t>
                      </m:r>
                      <m:nary>
                        <m:naryPr>
                          <m:chr m:val="∑"/>
                          <m:limLoc m:val="undOvr"/>
                          <m:grow m:val="on"/>
                          <m:ctrlPr>
                            <a:rPr lang="en-GB" sz="14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en-GB" sz="14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𝑖</m:t>
                          </m:r>
                          <m:r>
                            <a:rPr lang="en-GB" sz="14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GB" sz="14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GB" sz="1400" i="1" kern="1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i="1" kern="1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GB" sz="1400" i="1" kern="1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GB" sz="14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×</m:t>
                          </m:r>
                          <m:sSub>
                            <m:sSubPr>
                              <m:ctrlPr>
                                <a:rPr lang="en-GB" sz="1400" i="1" kern="1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i="1" kern="1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GB" sz="1400" i="1" kern="1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GB" sz="1400" kern="100" dirty="0">
                  <a:effectLst/>
                  <a:latin typeface="Times New Roman" panose="02020603050405020304" pitchFamily="18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lvl="0">
                  <a:lnSpc>
                    <a:spcPct val="115000"/>
                  </a:lnSpc>
                  <a:spcAft>
                    <a:spcPts val="800"/>
                  </a:spcAft>
                  <a:buSzPts val="1000"/>
                  <a:tabLst>
                    <a:tab pos="457200" algn="l"/>
                  </a:tabLs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GB" sz="14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14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𝑝</m:t>
                        </m:r>
                      </m:e>
                      <m:sub>
                        <m:r>
                          <a:rPr lang="en-GB" sz="14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GB" sz="1400" kern="100" dirty="0">
                    <a:effectLst/>
                    <a:latin typeface="Times New Roman" panose="020206030504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= probability of outcome </a:t>
                </a:r>
                <a14:m>
                  <m:oMath xmlns:m="http://schemas.openxmlformats.org/officeDocument/2006/math">
                    <m:r>
                      <a:rPr lang="en-GB" sz="14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𝑖</m:t>
                    </m:r>
                  </m:oMath>
                </a14:m>
                <a:endParaRPr lang="en-GB" sz="14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lvl="0">
                  <a:lnSpc>
                    <a:spcPct val="115000"/>
                  </a:lnSpc>
                  <a:spcAft>
                    <a:spcPts val="800"/>
                  </a:spcAft>
                  <a:buSzPts val="1000"/>
                  <a:tabLst>
                    <a:tab pos="457200" algn="l"/>
                  </a:tabLs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GB" sz="14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14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𝑟</m:t>
                        </m:r>
                      </m:e>
                      <m:sub>
                        <m:r>
                          <a:rPr lang="en-GB" sz="14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GB" sz="1400" kern="100" dirty="0">
                    <a:effectLst/>
                    <a:latin typeface="Times New Roman" panose="020206030504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= return in outcome </a:t>
                </a:r>
                <a14:m>
                  <m:oMath xmlns:m="http://schemas.openxmlformats.org/officeDocument/2006/math">
                    <m:r>
                      <a:rPr lang="en-GB" sz="14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𝑖</m:t>
                    </m:r>
                  </m:oMath>
                </a14:m>
                <a:endParaRPr lang="en-GB" sz="14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976938A-8959-87D4-3E12-B2D722C889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13675" y="2576651"/>
                <a:ext cx="2411572" cy="1455527"/>
              </a:xfrm>
              <a:prstGeom prst="rect">
                <a:avLst/>
              </a:prstGeom>
              <a:blipFill>
                <a:blip r:embed="rId5"/>
                <a:stretch>
                  <a:fillRect b="-336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580940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6700" y="966888"/>
            <a:ext cx="7886700" cy="634117"/>
          </a:xfrm>
        </p:spPr>
        <p:txBody>
          <a:bodyPr>
            <a:normAutofit/>
          </a:bodyPr>
          <a:lstStyle/>
          <a:p>
            <a:r>
              <a:rPr lang="en-GB" dirty="0"/>
              <a:t>Probabilistic Risk and Return Calculation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6700" y="1704975"/>
            <a:ext cx="8591550" cy="709613"/>
          </a:xfrm>
          <a:noFill/>
          <a:ln>
            <a:noFill/>
          </a:ln>
        </p:spPr>
        <p:txBody>
          <a:bodyPr>
            <a:normAutofit/>
          </a:bodyPr>
          <a:lstStyle/>
          <a:p>
            <a:pPr marL="0" indent="0">
              <a:buClr>
                <a:srgbClr val="C00000"/>
              </a:buClr>
              <a:buSzPct val="90000"/>
              <a:buNone/>
            </a:pPr>
            <a:r>
              <a:rPr lang="en-GB" sz="1500" dirty="0">
                <a:cs typeface="Calibri" panose="020F0502020204030204" pitchFamily="34" charset="0"/>
              </a:rPr>
              <a:t>IBM’s variance given the three states of the economy is </a:t>
            </a:r>
            <a:r>
              <a:rPr lang="en-GB" sz="1500" i="1" dirty="0">
                <a:solidFill>
                  <a:schemeClr val="accent5">
                    <a:lumMod val="75000"/>
                  </a:schemeClr>
                </a:solidFill>
                <a:cs typeface="Calibri" panose="020F0502020204030204" pitchFamily="34" charset="0"/>
              </a:rPr>
              <a:t>weighted average of the differences squared</a:t>
            </a:r>
            <a:r>
              <a:rPr lang="en-GB" sz="1500" i="1" dirty="0">
                <a:cs typeface="Calibri" panose="020F0502020204030204" pitchFamily="34" charset="0"/>
              </a:rPr>
              <a:t>, </a:t>
            </a:r>
            <a:r>
              <a:rPr lang="en-GB" sz="1500" dirty="0">
                <a:cs typeface="Calibri" panose="020F0502020204030204" pitchFamily="34" charset="0"/>
              </a:rPr>
              <a:t>given the probability of each state.</a:t>
            </a:r>
          </a:p>
          <a:p>
            <a:pPr marL="0" indent="0">
              <a:buClr>
                <a:srgbClr val="C00000"/>
              </a:buClr>
              <a:buSzPct val="90000"/>
              <a:buNone/>
            </a:pPr>
            <a:endParaRPr lang="en-GB" sz="1500" dirty="0">
              <a:ea typeface="Cambria Math" panose="02040503050406030204" pitchFamily="18" charset="0"/>
              <a:cs typeface="Calibri" panose="020F0502020204030204" pitchFamily="34" charset="0"/>
            </a:endParaRPr>
          </a:p>
          <a:p>
            <a:pPr lvl="0">
              <a:buClr>
                <a:srgbClr val="C00000"/>
              </a:buClr>
              <a:buSzPct val="90000"/>
            </a:pPr>
            <a:endParaRPr lang="en-GB" sz="1500" dirty="0">
              <a:ea typeface="Cambria Math" panose="02040503050406030204" pitchFamily="18" charset="0"/>
              <a:cs typeface="Calibri" panose="020F0502020204030204" pitchFamily="34" charset="0"/>
            </a:endParaRPr>
          </a:p>
          <a:p>
            <a:pPr lvl="0">
              <a:buClr>
                <a:srgbClr val="C00000"/>
              </a:buClr>
              <a:buSzPct val="90000"/>
            </a:pPr>
            <a:endParaRPr lang="en-GB" sz="1500" dirty="0">
              <a:ea typeface="Cambria Math" panose="02040503050406030204" pitchFamily="18" charset="0"/>
              <a:cs typeface="Calibri" panose="020F0502020204030204" pitchFamily="34" charset="0"/>
            </a:endParaRPr>
          </a:p>
          <a:p>
            <a:pPr lvl="0">
              <a:buClr>
                <a:srgbClr val="C00000"/>
              </a:buClr>
              <a:buSzPct val="90000"/>
            </a:pPr>
            <a:endParaRPr lang="en-GB" sz="1500" dirty="0">
              <a:ea typeface="Cambria Math" panose="02040503050406030204" pitchFamily="18" charset="0"/>
              <a:cs typeface="Calibri" panose="020F0502020204030204" pitchFamily="34" charset="0"/>
            </a:endParaRPr>
          </a:p>
          <a:p>
            <a:pPr marL="0" indent="0">
              <a:lnSpc>
                <a:spcPct val="150000"/>
              </a:lnSpc>
              <a:buNone/>
              <a:tabLst>
                <a:tab pos="670322" algn="l"/>
              </a:tabLst>
            </a:pPr>
            <a:endParaRPr lang="en-GB" sz="15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548754" y="5710698"/>
            <a:ext cx="679467" cy="405323"/>
          </a:xfrm>
          <a:ln w="12700"/>
        </p:spPr>
        <p:txBody>
          <a:bodyPr/>
          <a:lstStyle/>
          <a:p>
            <a:fld id="{0F99C4FB-888A-4D12-A1C4-C744D94026CD}" type="slidenum">
              <a:rPr lang="en-GB" sz="1350">
                <a:solidFill>
                  <a:schemeClr val="tx1">
                    <a:lumMod val="50000"/>
                    <a:lumOff val="50000"/>
                  </a:schemeClr>
                </a:solidFill>
              </a:rPr>
              <a:t>14</a:t>
            </a:fld>
            <a:endParaRPr lang="en-GB" sz="135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6E09BCF4-C737-4F47-9B59-C2040570826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77959095"/>
                  </p:ext>
                </p:extLst>
              </p:nvPr>
            </p:nvGraphicFramePr>
            <p:xfrm>
              <a:off x="266700" y="2518556"/>
              <a:ext cx="8591549" cy="1550619"/>
            </p:xfrm>
            <a:graphic>
              <a:graphicData uri="http://schemas.openxmlformats.org/drawingml/2006/table">
                <a:tbl>
                  <a:tblPr/>
                  <a:tblGrid>
                    <a:gridCol w="1512014">
                      <a:extLst>
                        <a:ext uri="{9D8B030D-6E8A-4147-A177-3AD203B41FA5}">
                          <a16:colId xmlns:a16="http://schemas.microsoft.com/office/drawing/2014/main" val="2819693020"/>
                        </a:ext>
                      </a:extLst>
                    </a:gridCol>
                    <a:gridCol w="1762102">
                      <a:extLst>
                        <a:ext uri="{9D8B030D-6E8A-4147-A177-3AD203B41FA5}">
                          <a16:colId xmlns:a16="http://schemas.microsoft.com/office/drawing/2014/main" val="583174764"/>
                        </a:ext>
                      </a:extLst>
                    </a:gridCol>
                    <a:gridCol w="2775879">
                      <a:extLst>
                        <a:ext uri="{9D8B030D-6E8A-4147-A177-3AD203B41FA5}">
                          <a16:colId xmlns:a16="http://schemas.microsoft.com/office/drawing/2014/main" val="3610285926"/>
                        </a:ext>
                      </a:extLst>
                    </a:gridCol>
                    <a:gridCol w="2541554">
                      <a:extLst>
                        <a:ext uri="{9D8B030D-6E8A-4147-A177-3AD203B41FA5}">
                          <a16:colId xmlns:a16="http://schemas.microsoft.com/office/drawing/2014/main" val="3018403214"/>
                        </a:ext>
                      </a:extLst>
                    </a:gridCol>
                  </a:tblGrid>
                  <a:tr h="446634"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en-GB" sz="15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</a:rPr>
                            <a:t>State</a:t>
                          </a:r>
                        </a:p>
                      </a:txBody>
                      <a:tcPr marL="4763" marR="4763" marT="4763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5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</a:rPr>
                            <a:t>Probability: </a:t>
                          </a:r>
                          <a14:m>
                            <m:oMath xmlns:m="http://schemas.openxmlformats.org/officeDocument/2006/math">
                              <m:r>
                                <a:rPr lang="en-GB" sz="1500" b="0" i="1" u="none" strike="noStrike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oMath>
                          </a14:m>
                          <a:endParaRPr lang="en-GB" sz="15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L="4763" marR="4763" marT="4763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5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</a:rPr>
                            <a:t>Return: </a:t>
                          </a:r>
                          <a14:m>
                            <m:oMath xmlns:m="http://schemas.openxmlformats.org/officeDocument/2006/math">
                              <m:acc>
                                <m:accPr>
                                  <m:chr m:val="̃"/>
                                  <m:ctrlPr>
                                    <a:rPr lang="en-GB" sz="15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GB" sz="15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  <m:t>𝑟</m:t>
                                  </m:r>
                                </m:e>
                              </m:acc>
                            </m:oMath>
                          </a14:m>
                          <a:r>
                            <a:rPr lang="en-GB" sz="15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</a:rPr>
                            <a:t> </a:t>
                          </a:r>
                        </a:p>
                      </a:txBody>
                      <a:tcPr marL="4763" marR="4763" marT="4763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GB" sz="1500" b="0" i="1" smtClean="0">
                                        <a:solidFill>
                                          <a:schemeClr val="accent5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cs typeface="Calibri" panose="020F0502020204030204" pitchFamily="34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GB" sz="1500" b="0" i="1" smtClean="0">
                                            <a:solidFill>
                                              <a:schemeClr val="accent5">
                                                <a:lumMod val="7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  <a:cs typeface="Calibri" panose="020F0502020204030204" pitchFamily="34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GB" sz="1500" b="0" i="1" smtClean="0">
                                                <a:solidFill>
                                                  <a:schemeClr val="accent5">
                                                    <a:lumMod val="75000"/>
                                                  </a:schemeClr>
                                                </a:solidFill>
                                                <a:latin typeface="Cambria Math" panose="02040503050406030204" pitchFamily="18" charset="0"/>
                                                <a:cs typeface="Calibri" panose="020F0502020204030204" pitchFamily="34" charset="0"/>
                                              </a:rPr>
                                            </m:ctrlPr>
                                          </m:sSubPr>
                                          <m:e>
                                            <m:acc>
                                              <m:accPr>
                                                <m:chr m:val="̃"/>
                                                <m:ctrlPr>
                                                  <a:rPr lang="en-GB" sz="1500" b="0" i="1" smtClean="0">
                                                    <a:solidFill>
                                                      <a:schemeClr val="accent5">
                                                        <a:lumMod val="75000"/>
                                                      </a:schemeClr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Calibri" panose="020F0502020204030204" pitchFamily="34" charset="0"/>
                                                  </a:rPr>
                                                </m:ctrlPr>
                                              </m:accPr>
                                              <m:e>
                                                <m:r>
                                                  <a:rPr lang="en-GB" sz="1500" b="0" i="1" smtClean="0">
                                                    <a:solidFill>
                                                      <a:schemeClr val="accent5">
                                                        <a:lumMod val="75000"/>
                                                      </a:schemeClr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Calibri" panose="020F0502020204030204" pitchFamily="34" charset="0"/>
                                                  </a:rPr>
                                                  <m:t>𝑟</m:t>
                                                </m:r>
                                              </m:e>
                                            </m:acc>
                                          </m:e>
                                          <m:sub/>
                                        </m:sSub>
                                        <m:r>
                                          <a:rPr lang="en-GB" sz="1500" b="0" i="1" smtClean="0">
                                            <a:solidFill>
                                              <a:schemeClr val="accent5">
                                                <a:lumMod val="7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  <a:cs typeface="Calibri" panose="020F0502020204030204" pitchFamily="34" charset="0"/>
                                          </a:rPr>
                                          <m:t>−</m:t>
                                        </m:r>
                                        <m:r>
                                          <a:rPr lang="en-GB" sz="1500" b="0" i="1" smtClean="0">
                                            <a:solidFill>
                                              <a:schemeClr val="accent5">
                                                <a:lumMod val="7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  <a:cs typeface="Calibri" panose="020F0502020204030204" pitchFamily="34" charset="0"/>
                                          </a:rPr>
                                          <m:t>𝐸</m:t>
                                        </m:r>
                                        <m:d>
                                          <m:dPr>
                                            <m:ctrlPr>
                                              <a:rPr lang="en-GB" sz="1500" b="0" i="1" smtClean="0">
                                                <a:solidFill>
                                                  <a:schemeClr val="accent5">
                                                    <a:lumMod val="75000"/>
                                                  </a:schemeClr>
                                                </a:solidFill>
                                                <a:latin typeface="Cambria Math" panose="02040503050406030204" pitchFamily="18" charset="0"/>
                                                <a:cs typeface="Calibri" panose="020F0502020204030204" pitchFamily="34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n-GB" sz="1500" b="0" i="1" smtClean="0">
                                                <a:solidFill>
                                                  <a:schemeClr val="accent5">
                                                    <a:lumMod val="75000"/>
                                                  </a:schemeClr>
                                                </a:solidFill>
                                                <a:latin typeface="Cambria Math" panose="02040503050406030204" pitchFamily="18" charset="0"/>
                                                <a:cs typeface="Calibri" panose="020F0502020204030204" pitchFamily="34" charset="0"/>
                                              </a:rPr>
                                              <m:t>𝑟</m:t>
                                            </m:r>
                                          </m:e>
                                        </m:d>
                                      </m:e>
                                    </m:d>
                                  </m:e>
                                  <m:sup>
                                    <m:r>
                                      <a:rPr lang="en-GB" sz="1500" b="0" i="1" smtClean="0">
                                        <a:solidFill>
                                          <a:schemeClr val="accent5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cs typeface="Calibri" panose="020F0502020204030204" pitchFamily="34" charset="0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GB" sz="1500" b="0" i="0" u="none" strike="noStrike" dirty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4763" marR="4763" marT="4763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855211029"/>
                      </a:ext>
                    </a:extLst>
                  </a:tr>
                  <a:tr h="404455"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en-GB" sz="15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</a:rPr>
                            <a:t>Boom</a:t>
                          </a:r>
                        </a:p>
                      </a:txBody>
                      <a:tcPr marL="4763" marR="4763" marT="4763" marB="0" anchor="ctr">
                        <a:lnL>
                          <a:noFill/>
                        </a:lnL>
                        <a:lnR>
                          <a:noFill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5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</a:rPr>
                            <a:t>15%</a:t>
                          </a:r>
                        </a:p>
                      </a:txBody>
                      <a:tcPr marL="4763" marR="4763" marT="4763" marB="0" anchor="ctr">
                        <a:lnL>
                          <a:noFill/>
                        </a:lnL>
                        <a:lnR>
                          <a:noFill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5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</a:rPr>
                            <a:t>20%</a:t>
                          </a:r>
                        </a:p>
                      </a:txBody>
                      <a:tcPr marL="4763" marR="4763" marT="4763" marB="0" anchor="ctr">
                        <a:lnL>
                          <a:noFill/>
                        </a:lnL>
                        <a:lnR>
                          <a:noFill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500" b="0" i="1" u="none" strike="noStrike" smtClean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1.69%</m:t>
                                </m:r>
                              </m:oMath>
                            </m:oMathPara>
                          </a14:m>
                          <a:endParaRPr lang="en-GB" sz="1500" b="0" i="0" u="none" strike="noStrike" dirty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4763" marR="4763" marT="4763" marB="0" anchor="ctr">
                        <a:lnL>
                          <a:noFill/>
                        </a:lnL>
                        <a:lnR>
                          <a:noFill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898363644"/>
                      </a:ext>
                    </a:extLst>
                  </a:tr>
                  <a:tr h="349765"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en-GB" sz="15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</a:rPr>
                            <a:t>Normal</a:t>
                          </a:r>
                        </a:p>
                      </a:txBody>
                      <a:tcPr marL="4763" marR="4763" marT="4763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5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</a:rPr>
                            <a:t>55%</a:t>
                          </a:r>
                        </a:p>
                      </a:txBody>
                      <a:tcPr marL="4763" marR="4763" marT="4763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5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</a:rPr>
                            <a:t>10%</a:t>
                          </a:r>
                        </a:p>
                      </a:txBody>
                      <a:tcPr marL="4763" marR="4763" marT="4763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500" b="0" i="1" u="none" strike="noStrike" smtClean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0.09%</m:t>
                                </m:r>
                              </m:oMath>
                            </m:oMathPara>
                          </a14:m>
                          <a:endParaRPr lang="en-GB" sz="1500" b="0" i="0" u="none" strike="noStrike" dirty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4763" marR="4763" marT="4763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271364288"/>
                      </a:ext>
                    </a:extLst>
                  </a:tr>
                  <a:tr h="349765"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en-GB" sz="15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</a:rPr>
                            <a:t>Recession</a:t>
                          </a:r>
                        </a:p>
                      </a:txBody>
                      <a:tcPr marL="4763" marR="4763" marT="4763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5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</a:rPr>
                            <a:t>30%</a:t>
                          </a:r>
                        </a:p>
                      </a:txBody>
                      <a:tcPr marL="4763" marR="4763" marT="4763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5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</a:rPr>
                            <a:t>-5%</a:t>
                          </a:r>
                        </a:p>
                      </a:txBody>
                      <a:tcPr marL="4763" marR="4763" marT="4763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500" b="0" i="1" u="none" strike="noStrike" smtClean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1.44%</m:t>
                                </m:r>
                              </m:oMath>
                            </m:oMathPara>
                          </a14:m>
                          <a:endParaRPr lang="en-GB" sz="1500" b="0" i="0" u="none" strike="noStrike" dirty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4763" marR="4763" marT="4763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81498284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6E09BCF4-C737-4F47-9B59-C2040570826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77959095"/>
                  </p:ext>
                </p:extLst>
              </p:nvPr>
            </p:nvGraphicFramePr>
            <p:xfrm>
              <a:off x="266700" y="2518556"/>
              <a:ext cx="8591549" cy="1550619"/>
            </p:xfrm>
            <a:graphic>
              <a:graphicData uri="http://schemas.openxmlformats.org/drawingml/2006/table">
                <a:tbl>
                  <a:tblPr/>
                  <a:tblGrid>
                    <a:gridCol w="1512014">
                      <a:extLst>
                        <a:ext uri="{9D8B030D-6E8A-4147-A177-3AD203B41FA5}">
                          <a16:colId xmlns:a16="http://schemas.microsoft.com/office/drawing/2014/main" val="2819693020"/>
                        </a:ext>
                      </a:extLst>
                    </a:gridCol>
                    <a:gridCol w="1762102">
                      <a:extLst>
                        <a:ext uri="{9D8B030D-6E8A-4147-A177-3AD203B41FA5}">
                          <a16:colId xmlns:a16="http://schemas.microsoft.com/office/drawing/2014/main" val="583174764"/>
                        </a:ext>
                      </a:extLst>
                    </a:gridCol>
                    <a:gridCol w="2775879">
                      <a:extLst>
                        <a:ext uri="{9D8B030D-6E8A-4147-A177-3AD203B41FA5}">
                          <a16:colId xmlns:a16="http://schemas.microsoft.com/office/drawing/2014/main" val="3610285926"/>
                        </a:ext>
                      </a:extLst>
                    </a:gridCol>
                    <a:gridCol w="2541554">
                      <a:extLst>
                        <a:ext uri="{9D8B030D-6E8A-4147-A177-3AD203B41FA5}">
                          <a16:colId xmlns:a16="http://schemas.microsoft.com/office/drawing/2014/main" val="3018403214"/>
                        </a:ext>
                      </a:extLst>
                    </a:gridCol>
                  </a:tblGrid>
                  <a:tr h="446634"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en-GB" sz="15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</a:rPr>
                            <a:t>State</a:t>
                          </a:r>
                        </a:p>
                      </a:txBody>
                      <a:tcPr marL="4763" marR="4763" marT="4763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763" marR="4763" marT="4763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85517" r="-302069" b="-2602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763" marR="4763" marT="4763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17982" r="-92105" b="-2602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763" marR="4763" marT="4763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38369" r="-719" b="-26027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855211029"/>
                      </a:ext>
                    </a:extLst>
                  </a:tr>
                  <a:tr h="404455"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en-GB" sz="15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</a:rPr>
                            <a:t>Boom</a:t>
                          </a:r>
                        </a:p>
                      </a:txBody>
                      <a:tcPr marL="4763" marR="4763" marT="4763" marB="0" anchor="ctr">
                        <a:lnL>
                          <a:noFill/>
                        </a:lnL>
                        <a:lnR>
                          <a:noFill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5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</a:rPr>
                            <a:t>15%</a:t>
                          </a:r>
                        </a:p>
                      </a:txBody>
                      <a:tcPr marL="4763" marR="4763" marT="4763" marB="0" anchor="ctr">
                        <a:lnL>
                          <a:noFill/>
                        </a:lnL>
                        <a:lnR>
                          <a:noFill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5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</a:rPr>
                            <a:t>20%</a:t>
                          </a:r>
                        </a:p>
                      </a:txBody>
                      <a:tcPr marL="4763" marR="4763" marT="4763" marB="0" anchor="ctr">
                        <a:lnL>
                          <a:noFill/>
                        </a:lnL>
                        <a:lnR>
                          <a:noFill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763" marR="4763" marT="4763" marB="0" anchor="ctr">
                        <a:lnL>
                          <a:noFill/>
                        </a:lnL>
                        <a:lnR>
                          <a:noFill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blipFill>
                          <a:blip r:embed="rId3"/>
                          <a:stretch>
                            <a:fillRect l="-238369" t="-108955" r="-719" b="-1835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98363644"/>
                      </a:ext>
                    </a:extLst>
                  </a:tr>
                  <a:tr h="349765"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en-GB" sz="15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</a:rPr>
                            <a:t>Normal</a:t>
                          </a:r>
                        </a:p>
                      </a:txBody>
                      <a:tcPr marL="4763" marR="4763" marT="4763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5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</a:rPr>
                            <a:t>55%</a:t>
                          </a:r>
                        </a:p>
                      </a:txBody>
                      <a:tcPr marL="4763" marR="4763" marT="4763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5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</a:rPr>
                            <a:t>10%</a:t>
                          </a:r>
                        </a:p>
                      </a:txBody>
                      <a:tcPr marL="4763" marR="4763" marT="4763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763" marR="4763" marT="4763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3"/>
                          <a:stretch>
                            <a:fillRect l="-238369" t="-245614" r="-719" b="-11578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71364288"/>
                      </a:ext>
                    </a:extLst>
                  </a:tr>
                  <a:tr h="349765"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en-GB" sz="15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</a:rPr>
                            <a:t>Recession</a:t>
                          </a:r>
                        </a:p>
                      </a:txBody>
                      <a:tcPr marL="4763" marR="4763" marT="4763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5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</a:rPr>
                            <a:t>30%</a:t>
                          </a:r>
                        </a:p>
                      </a:txBody>
                      <a:tcPr marL="4763" marR="4763" marT="4763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5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</a:rPr>
                            <a:t>-5%</a:t>
                          </a:r>
                        </a:p>
                      </a:txBody>
                      <a:tcPr marL="4763" marR="4763" marT="4763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763" marR="4763" marT="4763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3"/>
                          <a:stretch>
                            <a:fillRect l="-238369" t="-339655" r="-719" b="-1379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81498284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7844E57-48DC-76AE-113A-55FE04065344}"/>
                  </a:ext>
                </a:extLst>
              </p:cNvPr>
              <p:cNvSpPr txBox="1"/>
              <p:nvPr/>
            </p:nvSpPr>
            <p:spPr>
              <a:xfrm>
                <a:off x="221973" y="4638934"/>
                <a:ext cx="5775065" cy="178119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0">
                  <a:buClr>
                    <a:srgbClr val="C00000"/>
                  </a:buClr>
                  <a:buSzPct val="90000"/>
                </a:pPr>
                <a:r>
                  <a:rPr lang="en-GB" sz="1500" dirty="0"/>
                  <a:t>The weighted variance is:</a:t>
                </a:r>
              </a:p>
              <a:p>
                <a:pPr>
                  <a:lnSpc>
                    <a:spcPct val="150000"/>
                  </a:lnSpc>
                  <a:tabLst>
                    <a:tab pos="670322" algn="l"/>
                  </a:tabLs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500" i="1">
                          <a:latin typeface="Cambria Math" panose="02040503050406030204" pitchFamily="18" charset="0"/>
                        </a:rPr>
                        <m:t>𝑣𝑎𝑟</m:t>
                      </m:r>
                      <m:d>
                        <m:dPr>
                          <m:ctrlPr>
                            <a:rPr lang="en-GB" sz="15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̃"/>
                              <m:ctrlPr>
                                <a:rPr lang="en-GB" sz="15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GB" sz="1500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</m:acc>
                        </m:e>
                      </m:d>
                      <m:r>
                        <a:rPr lang="en-GB" sz="1500" i="1">
                          <a:latin typeface="Cambria Math" panose="02040503050406030204" pitchFamily="18" charset="0"/>
                        </a:rPr>
                        <m:t>=15%</m:t>
                      </m:r>
                      <m:r>
                        <a:rPr lang="en-GB" sz="15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×1.69%+55%×0.09%+30%×1.44%=0.735%</m:t>
                      </m:r>
                    </m:oMath>
                  </m:oMathPara>
                </a14:m>
                <a:endParaRPr lang="en-GB" sz="1500" dirty="0"/>
              </a:p>
              <a:p>
                <a:pPr>
                  <a:lnSpc>
                    <a:spcPct val="150000"/>
                  </a:lnSpc>
                  <a:tabLst>
                    <a:tab pos="670322" algn="l"/>
                  </a:tabLst>
                </a:pPr>
                <a:endParaRPr lang="en-GB" sz="1500" dirty="0"/>
              </a:p>
              <a:p>
                <a:pPr>
                  <a:lnSpc>
                    <a:spcPct val="150000"/>
                  </a:lnSpc>
                  <a:tabLst>
                    <a:tab pos="670322" algn="l"/>
                  </a:tabLst>
                </a:pPr>
                <a14:m>
                  <m:oMath xmlns:m="http://schemas.openxmlformats.org/officeDocument/2006/math">
                    <m:r>
                      <a:rPr lang="en-GB" sz="15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GB" sz="1500" dirty="0"/>
                  <a:t> The standard deviation of returns is:</a:t>
                </a:r>
              </a:p>
              <a:p>
                <a:pPr>
                  <a:lnSpc>
                    <a:spcPct val="150000"/>
                  </a:lnSpc>
                  <a:tabLst>
                    <a:tab pos="670322" algn="l"/>
                  </a:tabLs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5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5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acc>
                            <m:accPr>
                              <m:chr m:val="̃"/>
                              <m:ctrlPr>
                                <a:rPr lang="en-GB" sz="15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GB" sz="1500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</m:acc>
                        </m:sub>
                      </m:sSub>
                      <m:r>
                        <a:rPr lang="en-GB" sz="1500" i="1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GB" sz="1500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1500" i="1">
                              <a:latin typeface="Cambria Math" panose="02040503050406030204" pitchFamily="18" charset="0"/>
                            </a:rPr>
                            <m:t>0.735%</m:t>
                          </m:r>
                        </m:e>
                      </m:rad>
                      <m:r>
                        <a:rPr lang="en-GB" sz="1500" i="1">
                          <a:latin typeface="Cambria Math" panose="02040503050406030204" pitchFamily="18" charset="0"/>
                        </a:rPr>
                        <m:t>=8.57%</m:t>
                      </m:r>
                    </m:oMath>
                  </m:oMathPara>
                </a14:m>
                <a:endParaRPr lang="en-GB" sz="15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7844E57-48DC-76AE-113A-55FE040653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1973" y="4638934"/>
                <a:ext cx="5775065" cy="1781193"/>
              </a:xfrm>
              <a:prstGeom prst="rect">
                <a:avLst/>
              </a:prstGeom>
              <a:blipFill>
                <a:blip r:embed="rId4"/>
                <a:stretch>
                  <a:fillRect l="-422" t="-68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Cloud 7">
            <a:extLst>
              <a:ext uri="{FF2B5EF4-FFF2-40B4-BE49-F238E27FC236}">
                <a16:creationId xmlns:a16="http://schemas.microsoft.com/office/drawing/2014/main" id="{8904084E-C729-1759-F69B-B9590562B7B0}"/>
              </a:ext>
            </a:extLst>
          </p:cNvPr>
          <p:cNvSpPr/>
          <p:nvPr/>
        </p:nvSpPr>
        <p:spPr>
          <a:xfrm>
            <a:off x="5693051" y="4766717"/>
            <a:ext cx="3228975" cy="1371600"/>
          </a:xfrm>
          <a:prstGeom prst="clou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500" b="1" dirty="0"/>
              <a:t>So you can expect to receive a return of 7%, which could vary by +/- 8.57%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06B8ABCD-DFC5-459F-2393-D32A12A61149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5754756" y="2559996"/>
              <a:ext cx="790161" cy="1738008"/>
            </p:xfrm>
            <a:graphic>
              <a:graphicData uri="http://schemas.openxmlformats.org/drawingml/2006/table">
                <a:tbl>
                  <a:tblPr/>
                  <a:tblGrid>
                    <a:gridCol w="790161">
                      <a:extLst>
                        <a:ext uri="{9D8B030D-6E8A-4147-A177-3AD203B41FA5}">
                          <a16:colId xmlns:a16="http://schemas.microsoft.com/office/drawing/2014/main" val="3562278399"/>
                        </a:ext>
                      </a:extLst>
                    </a:gridCol>
                  </a:tblGrid>
                  <a:tr h="541013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𝐸</m:t>
                                </m:r>
                                <m:d>
                                  <m:dPr>
                                    <m:ctrlPr>
                                      <a:rPr lang="en-GB" sz="1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acc>
                                      <m:accPr>
                                        <m:chr m:val="̃"/>
                                        <m:ctrlPr>
                                          <a:rPr lang="en-GB" sz="18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GB" sz="1800" i="1">
                                            <a:latin typeface="Cambria Math" panose="02040503050406030204" pitchFamily="18" charset="0"/>
                                          </a:rPr>
                                          <m:t>𝑟</m:t>
                                        </m:r>
                                      </m:e>
                                    </m:acc>
                                  </m:e>
                                </m:d>
                              </m:oMath>
                            </m:oMathPara>
                          </a14:m>
                          <a:endParaRPr lang="en-GB" sz="1800" dirty="0"/>
                        </a:p>
                      </a:txBody>
                      <a:tcPr marL="68580" marR="68580" marT="34290" marB="34290">
                        <a:lnL w="12700" cmpd="sng">
                          <a:noFill/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12700" cmpd="sng">
                          <a:noFill/>
                          <a:prstDash val="soli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115122436"/>
                      </a:ext>
                    </a:extLst>
                  </a:tr>
                  <a:tr h="119699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800" dirty="0"/>
                            <a:t>7%</a:t>
                          </a:r>
                        </a:p>
                      </a:txBody>
                      <a:tcPr marL="68580" marR="68580" marT="34290" marB="34290">
                        <a:lnL w="12700" cmpd="sng">
                          <a:noFill/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12700" cmpd="sng">
                          <a:noFill/>
                          <a:prstDash val="solid"/>
                        </a:lnT>
                        <a:lnB w="12700" cmpd="sng">
                          <a:noFill/>
                          <a:prstDash val="soli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93169678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06B8ABCD-DFC5-459F-2393-D32A12A61149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5754756" y="2559996"/>
              <a:ext cx="790161" cy="1738008"/>
            </p:xfrm>
            <a:graphic>
              <a:graphicData uri="http://schemas.openxmlformats.org/drawingml/2006/table">
                <a:tbl>
                  <a:tblPr/>
                  <a:tblGrid>
                    <a:gridCol w="790161">
                      <a:extLst>
                        <a:ext uri="{9D8B030D-6E8A-4147-A177-3AD203B41FA5}">
                          <a16:colId xmlns:a16="http://schemas.microsoft.com/office/drawing/2014/main" val="3562278399"/>
                        </a:ext>
                      </a:extLst>
                    </a:gridCol>
                  </a:tblGrid>
                  <a:tr h="54101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34290" marB="34290">
                        <a:lnL w="12700" cmpd="sng">
                          <a:noFill/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12700" cmpd="sng">
                          <a:noFill/>
                          <a:prstDash val="soli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b="-22247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15122436"/>
                      </a:ext>
                    </a:extLst>
                  </a:tr>
                  <a:tr h="119699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800" dirty="0"/>
                            <a:t>7%</a:t>
                          </a:r>
                        </a:p>
                      </a:txBody>
                      <a:tcPr marL="68580" marR="68580" marT="34290" marB="34290">
                        <a:lnL w="12700" cmpd="sng">
                          <a:noFill/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12700" cmpd="sng">
                          <a:noFill/>
                          <a:prstDash val="solid"/>
                        </a:lnT>
                        <a:lnB w="12700" cmpd="sng">
                          <a:noFill/>
                          <a:prstDash val="soli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931696783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726532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1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6699" y="835165"/>
            <a:ext cx="7886700" cy="634117"/>
          </a:xfrm>
        </p:spPr>
        <p:txBody>
          <a:bodyPr>
            <a:normAutofit/>
          </a:bodyPr>
          <a:lstStyle/>
          <a:p>
            <a:r>
              <a:rPr lang="en-GB" dirty="0"/>
              <a:t>Portfolio _ Risk &amp; Return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6699" y="1469282"/>
            <a:ext cx="8462963" cy="1516960"/>
          </a:xfrm>
          <a:noFill/>
          <a:ln>
            <a:noFill/>
          </a:ln>
        </p:spPr>
        <p:txBody>
          <a:bodyPr>
            <a:normAutofit/>
          </a:bodyPr>
          <a:lstStyle/>
          <a:p>
            <a:pPr marL="0" indent="0">
              <a:buClr>
                <a:srgbClr val="C00000"/>
              </a:buClr>
              <a:buNone/>
              <a:tabLst>
                <a:tab pos="670322" algn="l"/>
              </a:tabLst>
            </a:pPr>
            <a:r>
              <a:rPr lang="en-GB" sz="1500" dirty="0">
                <a:cs typeface="Calibri" panose="020F0502020204030204" pitchFamily="34" charset="0"/>
              </a:rPr>
              <a:t>In most cases, we do not want to put all our eggs in one basket. </a:t>
            </a:r>
            <a:r>
              <a:rPr lang="en-GB" sz="1500" dirty="0"/>
              <a:t>Investors tend to create a portfolio of different financial instruments (FI’s). They split their investment budget across multiple FI’s. </a:t>
            </a:r>
          </a:p>
          <a:p>
            <a:pPr marL="0" indent="0">
              <a:buClr>
                <a:srgbClr val="C00000"/>
              </a:buClr>
              <a:buNone/>
              <a:tabLst>
                <a:tab pos="670322" algn="l"/>
              </a:tabLst>
            </a:pPr>
            <a:endParaRPr lang="en-GB" sz="1500" dirty="0">
              <a:cs typeface="Calibri" panose="020F0502020204030204" pitchFamily="34" charset="0"/>
            </a:endParaRPr>
          </a:p>
          <a:p>
            <a:pPr marL="0" indent="0">
              <a:buNone/>
              <a:tabLst>
                <a:tab pos="670322" algn="l"/>
              </a:tabLst>
            </a:pPr>
            <a:r>
              <a:rPr lang="en-GB" sz="1500" b="1" dirty="0">
                <a:solidFill>
                  <a:schemeClr val="accent5">
                    <a:lumMod val="75000"/>
                  </a:schemeClr>
                </a:solidFill>
                <a:cs typeface="Calibri" panose="020F0502020204030204" pitchFamily="34" charset="0"/>
              </a:rPr>
              <a:t>Example</a:t>
            </a:r>
          </a:p>
          <a:p>
            <a:pPr marL="0" indent="0">
              <a:buNone/>
              <a:tabLst>
                <a:tab pos="670322" algn="l"/>
              </a:tabLst>
            </a:pPr>
            <a:r>
              <a:rPr lang="en-GB" sz="1500" dirty="0">
                <a:cs typeface="Calibri" panose="020F0502020204030204" pitchFamily="34" charset="0"/>
              </a:rPr>
              <a:t>Consider the forecasted returns on IBM and HP shares in three possible states of the economy:</a:t>
            </a:r>
            <a:endParaRPr lang="en-GB" sz="1500" i="1" dirty="0">
              <a:solidFill>
                <a:srgbClr val="C00000"/>
              </a:solidFill>
              <a:ea typeface="Cambria Math" panose="02040503050406030204" pitchFamily="18" charset="0"/>
              <a:cs typeface="Calibri" panose="020F0502020204030204" pitchFamily="34" charset="0"/>
            </a:endParaRPr>
          </a:p>
          <a:p>
            <a:pPr marL="0" indent="0">
              <a:buNone/>
              <a:tabLst>
                <a:tab pos="670322" algn="l"/>
              </a:tabLst>
            </a:pPr>
            <a:endParaRPr lang="en-GB" sz="1800" dirty="0"/>
          </a:p>
          <a:p>
            <a:pPr marL="0" indent="0">
              <a:buNone/>
              <a:tabLst>
                <a:tab pos="670322" algn="l"/>
              </a:tabLst>
            </a:pPr>
            <a:endParaRPr lang="en-GB" sz="1800" dirty="0"/>
          </a:p>
          <a:p>
            <a:pPr marL="0" indent="0">
              <a:buNone/>
              <a:tabLst>
                <a:tab pos="670322" algn="l"/>
              </a:tabLst>
            </a:pPr>
            <a:endParaRPr lang="en-GB" sz="1800" dirty="0"/>
          </a:p>
          <a:p>
            <a:pPr marL="0" indent="0">
              <a:buNone/>
              <a:tabLst>
                <a:tab pos="670322" algn="l"/>
              </a:tabLst>
            </a:pPr>
            <a:endParaRPr lang="en-GB" sz="1800" b="1" dirty="0">
              <a:solidFill>
                <a:schemeClr val="accent5">
                  <a:lumMod val="7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548754" y="5710698"/>
            <a:ext cx="679467" cy="405323"/>
          </a:xfrm>
          <a:ln w="12700"/>
        </p:spPr>
        <p:txBody>
          <a:bodyPr/>
          <a:lstStyle/>
          <a:p>
            <a:fld id="{0F99C4FB-888A-4D12-A1C4-C744D94026CD}" type="slidenum">
              <a:rPr lang="en-GB" sz="1350">
                <a:solidFill>
                  <a:schemeClr val="tx1">
                    <a:lumMod val="50000"/>
                    <a:lumOff val="50000"/>
                  </a:schemeClr>
                </a:solidFill>
              </a:rPr>
              <a:t>15</a:t>
            </a:fld>
            <a:endParaRPr lang="en-GB" sz="135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7A436AD6-A8B4-45EF-BD84-D8323DA39FA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41533560"/>
                  </p:ext>
                </p:extLst>
              </p:nvPr>
            </p:nvGraphicFramePr>
            <p:xfrm>
              <a:off x="979220" y="3135085"/>
              <a:ext cx="6723000" cy="1931650"/>
            </p:xfrm>
            <a:graphic>
              <a:graphicData uri="http://schemas.openxmlformats.org/drawingml/2006/table">
                <a:tbl>
                  <a:tblPr/>
                  <a:tblGrid>
                    <a:gridCol w="1053000">
                      <a:extLst>
                        <a:ext uri="{9D8B030D-6E8A-4147-A177-3AD203B41FA5}">
                          <a16:colId xmlns:a16="http://schemas.microsoft.com/office/drawing/2014/main" val="2819693020"/>
                        </a:ext>
                      </a:extLst>
                    </a:gridCol>
                    <a:gridCol w="1890000">
                      <a:extLst>
                        <a:ext uri="{9D8B030D-6E8A-4147-A177-3AD203B41FA5}">
                          <a16:colId xmlns:a16="http://schemas.microsoft.com/office/drawing/2014/main" val="583174764"/>
                        </a:ext>
                      </a:extLst>
                    </a:gridCol>
                    <a:gridCol w="1890000">
                      <a:extLst>
                        <a:ext uri="{9D8B030D-6E8A-4147-A177-3AD203B41FA5}">
                          <a16:colId xmlns:a16="http://schemas.microsoft.com/office/drawing/2014/main" val="330087152"/>
                        </a:ext>
                      </a:extLst>
                    </a:gridCol>
                    <a:gridCol w="1890000">
                      <a:extLst>
                        <a:ext uri="{9D8B030D-6E8A-4147-A177-3AD203B41FA5}">
                          <a16:colId xmlns:a16="http://schemas.microsoft.com/office/drawing/2014/main" val="3610285926"/>
                        </a:ext>
                      </a:extLst>
                    </a:gridCol>
                  </a:tblGrid>
                  <a:tr h="518248"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en-GB" sz="15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</a:rPr>
                            <a:t>State</a:t>
                          </a:r>
                        </a:p>
                      </a:txBody>
                      <a:tcPr marL="4763" marR="4763" marT="4763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5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</a:rPr>
                            <a:t>Probability: </a:t>
                          </a:r>
                          <a14:m>
                            <m:oMath xmlns:m="http://schemas.openxmlformats.org/officeDocument/2006/math">
                              <m:r>
                                <a:rPr lang="en-GB" sz="1500" b="0" i="1" u="none" strike="noStrike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oMath>
                          </a14:m>
                          <a:endParaRPr lang="en-GB" sz="15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L="4763" marR="4763" marT="4763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5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</a:rPr>
                            <a:t>IBM: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GB" sz="15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GB" sz="15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cs typeface="Calibri" panose="020F0502020204030204" pitchFamily="34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GB" sz="15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cs typeface="Calibri" panose="020F0502020204030204" pitchFamily="34" charset="0"/>
                                        </a:rPr>
                                        <m:t>𝑟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GB" sz="15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  <m:t>𝐼𝐵𝑀</m:t>
                                  </m:r>
                                </m:sub>
                              </m:sSub>
                            </m:oMath>
                          </a14:m>
                          <a:endParaRPr lang="en-GB" sz="15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L="4763" marR="4763" marT="4763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5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</a:rPr>
                            <a:t>HP: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GB" sz="15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GB" sz="15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cs typeface="Calibri" panose="020F0502020204030204" pitchFamily="34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GB" sz="15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cs typeface="Calibri" panose="020F0502020204030204" pitchFamily="34" charset="0"/>
                                        </a:rPr>
                                        <m:t>𝑟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GB" sz="15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  <m:t>𝐻𝑃</m:t>
                                  </m:r>
                                </m:sub>
                              </m:sSub>
                            </m:oMath>
                          </a14:m>
                          <a:endParaRPr lang="en-GB" sz="15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L="4763" marR="4763" marT="4763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855211029"/>
                      </a:ext>
                    </a:extLst>
                  </a:tr>
                  <a:tr h="471134"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en-GB" sz="15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</a:rPr>
                            <a:t>Boom</a:t>
                          </a:r>
                        </a:p>
                      </a:txBody>
                      <a:tcPr marL="4763" marR="4763" marT="4763" marB="0" anchor="ctr">
                        <a:lnL>
                          <a:noFill/>
                        </a:lnL>
                        <a:lnR>
                          <a:noFill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5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</a:rPr>
                            <a:t>25%</a:t>
                          </a:r>
                        </a:p>
                      </a:txBody>
                      <a:tcPr marL="4763" marR="4763" marT="4763" marB="0" anchor="ctr">
                        <a:lnL>
                          <a:noFill/>
                        </a:lnL>
                        <a:lnR>
                          <a:noFill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5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</a:rPr>
                            <a:t>20%</a:t>
                          </a:r>
                        </a:p>
                      </a:txBody>
                      <a:tcPr marL="4763" marR="4763" marT="4763" marB="0" anchor="ctr">
                        <a:lnL>
                          <a:noFill/>
                        </a:lnL>
                        <a:lnR>
                          <a:noFill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5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</a:rPr>
                            <a:t>15%</a:t>
                          </a:r>
                        </a:p>
                      </a:txBody>
                      <a:tcPr marL="4763" marR="4763" marT="4763" marB="0" anchor="ctr">
                        <a:lnL>
                          <a:noFill/>
                        </a:lnL>
                        <a:lnR>
                          <a:noFill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898363644"/>
                      </a:ext>
                    </a:extLst>
                  </a:tr>
                  <a:tr h="471134"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en-GB" sz="15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</a:rPr>
                            <a:t>Normal</a:t>
                          </a:r>
                        </a:p>
                      </a:txBody>
                      <a:tcPr marL="4763" marR="4763" marT="4763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5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</a:rPr>
                            <a:t>45%</a:t>
                          </a:r>
                        </a:p>
                      </a:txBody>
                      <a:tcPr marL="4763" marR="4763" marT="4763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5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</a:rPr>
                            <a:t>10%</a:t>
                          </a:r>
                        </a:p>
                      </a:txBody>
                      <a:tcPr marL="4763" marR="4763" marT="4763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5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</a:rPr>
                            <a:t>8%</a:t>
                          </a:r>
                        </a:p>
                      </a:txBody>
                      <a:tcPr marL="4763" marR="4763" marT="4763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271364288"/>
                      </a:ext>
                    </a:extLst>
                  </a:tr>
                  <a:tr h="471134"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en-GB" sz="15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</a:rPr>
                            <a:t>Recession</a:t>
                          </a:r>
                        </a:p>
                      </a:txBody>
                      <a:tcPr marL="4763" marR="4763" marT="4763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5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</a:rPr>
                            <a:t>30%</a:t>
                          </a:r>
                        </a:p>
                      </a:txBody>
                      <a:tcPr marL="4763" marR="4763" marT="4763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5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</a:rPr>
                            <a:t>-5%</a:t>
                          </a:r>
                        </a:p>
                      </a:txBody>
                      <a:tcPr marL="4763" marR="4763" marT="4763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5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</a:rPr>
                            <a:t>-2%</a:t>
                          </a:r>
                        </a:p>
                      </a:txBody>
                      <a:tcPr marL="4763" marR="4763" marT="4763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81498284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7A436AD6-A8B4-45EF-BD84-D8323DA39FA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41533560"/>
                  </p:ext>
                </p:extLst>
              </p:nvPr>
            </p:nvGraphicFramePr>
            <p:xfrm>
              <a:off x="979220" y="3135085"/>
              <a:ext cx="6723000" cy="1931650"/>
            </p:xfrm>
            <a:graphic>
              <a:graphicData uri="http://schemas.openxmlformats.org/drawingml/2006/table">
                <a:tbl>
                  <a:tblPr/>
                  <a:tblGrid>
                    <a:gridCol w="1053000">
                      <a:extLst>
                        <a:ext uri="{9D8B030D-6E8A-4147-A177-3AD203B41FA5}">
                          <a16:colId xmlns:a16="http://schemas.microsoft.com/office/drawing/2014/main" val="2819693020"/>
                        </a:ext>
                      </a:extLst>
                    </a:gridCol>
                    <a:gridCol w="1890000">
                      <a:extLst>
                        <a:ext uri="{9D8B030D-6E8A-4147-A177-3AD203B41FA5}">
                          <a16:colId xmlns:a16="http://schemas.microsoft.com/office/drawing/2014/main" val="583174764"/>
                        </a:ext>
                      </a:extLst>
                    </a:gridCol>
                    <a:gridCol w="1890000">
                      <a:extLst>
                        <a:ext uri="{9D8B030D-6E8A-4147-A177-3AD203B41FA5}">
                          <a16:colId xmlns:a16="http://schemas.microsoft.com/office/drawing/2014/main" val="330087152"/>
                        </a:ext>
                      </a:extLst>
                    </a:gridCol>
                    <a:gridCol w="1890000">
                      <a:extLst>
                        <a:ext uri="{9D8B030D-6E8A-4147-A177-3AD203B41FA5}">
                          <a16:colId xmlns:a16="http://schemas.microsoft.com/office/drawing/2014/main" val="3610285926"/>
                        </a:ext>
                      </a:extLst>
                    </a:gridCol>
                  </a:tblGrid>
                  <a:tr h="518248"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en-GB" sz="15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</a:rPr>
                            <a:t>State</a:t>
                          </a:r>
                        </a:p>
                      </a:txBody>
                      <a:tcPr marL="4763" marR="4763" marT="4763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763" marR="4763" marT="4763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55806" t="-10588" r="-201290" b="-2741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763" marR="4763" marT="4763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55305" t="-10588" r="-100643" b="-2741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763" marR="4763" marT="4763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56129" t="-10588" r="-968" b="-27411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855211029"/>
                      </a:ext>
                    </a:extLst>
                  </a:tr>
                  <a:tr h="471134"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en-GB" sz="15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</a:rPr>
                            <a:t>Boom</a:t>
                          </a:r>
                        </a:p>
                      </a:txBody>
                      <a:tcPr marL="4763" marR="4763" marT="4763" marB="0" anchor="ctr">
                        <a:lnL>
                          <a:noFill/>
                        </a:lnL>
                        <a:lnR>
                          <a:noFill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5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</a:rPr>
                            <a:t>25%</a:t>
                          </a:r>
                        </a:p>
                      </a:txBody>
                      <a:tcPr marL="4763" marR="4763" marT="4763" marB="0" anchor="ctr">
                        <a:lnL>
                          <a:noFill/>
                        </a:lnL>
                        <a:lnR>
                          <a:noFill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5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</a:rPr>
                            <a:t>20%</a:t>
                          </a:r>
                        </a:p>
                      </a:txBody>
                      <a:tcPr marL="4763" marR="4763" marT="4763" marB="0" anchor="ctr">
                        <a:lnL>
                          <a:noFill/>
                        </a:lnL>
                        <a:lnR>
                          <a:noFill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5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</a:rPr>
                            <a:t>15%</a:t>
                          </a:r>
                        </a:p>
                      </a:txBody>
                      <a:tcPr marL="4763" marR="4763" marT="4763" marB="0" anchor="ctr">
                        <a:lnL>
                          <a:noFill/>
                        </a:lnL>
                        <a:lnR>
                          <a:noFill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898363644"/>
                      </a:ext>
                    </a:extLst>
                  </a:tr>
                  <a:tr h="471134"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en-GB" sz="15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</a:rPr>
                            <a:t>Normal</a:t>
                          </a:r>
                        </a:p>
                      </a:txBody>
                      <a:tcPr marL="4763" marR="4763" marT="4763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5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</a:rPr>
                            <a:t>45%</a:t>
                          </a:r>
                        </a:p>
                      </a:txBody>
                      <a:tcPr marL="4763" marR="4763" marT="4763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5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</a:rPr>
                            <a:t>10%</a:t>
                          </a:r>
                        </a:p>
                      </a:txBody>
                      <a:tcPr marL="4763" marR="4763" marT="4763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5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</a:rPr>
                            <a:t>8%</a:t>
                          </a:r>
                        </a:p>
                      </a:txBody>
                      <a:tcPr marL="4763" marR="4763" marT="4763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271364288"/>
                      </a:ext>
                    </a:extLst>
                  </a:tr>
                  <a:tr h="471134"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en-GB" sz="15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</a:rPr>
                            <a:t>Recession</a:t>
                          </a:r>
                        </a:p>
                      </a:txBody>
                      <a:tcPr marL="4763" marR="4763" marT="4763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5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</a:rPr>
                            <a:t>30%</a:t>
                          </a:r>
                        </a:p>
                      </a:txBody>
                      <a:tcPr marL="4763" marR="4763" marT="4763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5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</a:rPr>
                            <a:t>-5%</a:t>
                          </a:r>
                        </a:p>
                      </a:txBody>
                      <a:tcPr marL="4763" marR="4763" marT="4763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5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</a:rPr>
                            <a:t>-2%</a:t>
                          </a:r>
                        </a:p>
                      </a:txBody>
                      <a:tcPr marL="4763" marR="4763" marT="4763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814982846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DA14FB0D-89FC-40F8-FFAE-D2928CAF3601}"/>
              </a:ext>
            </a:extLst>
          </p:cNvPr>
          <p:cNvSpPr txBox="1"/>
          <p:nvPr/>
        </p:nvSpPr>
        <p:spPr>
          <a:xfrm>
            <a:off x="166686" y="5234829"/>
            <a:ext cx="8662988" cy="307777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 wrap="square">
            <a:spAutoFit/>
          </a:bodyPr>
          <a:lstStyle/>
          <a:p>
            <a:pPr algn="ctr">
              <a:tabLst>
                <a:tab pos="670322" algn="l"/>
              </a:tabLst>
            </a:pPr>
            <a:r>
              <a:rPr lang="en-GB" sz="1400" dirty="0">
                <a:solidFill>
                  <a:schemeClr val="bg1"/>
                </a:solidFill>
                <a:cs typeface="Calibri" panose="020F0502020204030204" pitchFamily="34" charset="0"/>
              </a:rPr>
              <a:t>What is the expected return and standard deviation of portfolio invested 40% in IBM and 60% in HP?</a:t>
            </a:r>
            <a:endParaRPr lang="en-GB" sz="1400" i="1" dirty="0">
              <a:solidFill>
                <a:schemeClr val="bg1"/>
              </a:solidFill>
              <a:ea typeface="Cambria Math" panose="02040503050406030204" pitchFamily="18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71391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6700" y="786198"/>
            <a:ext cx="7886700" cy="634117"/>
          </a:xfrm>
        </p:spPr>
        <p:txBody>
          <a:bodyPr>
            <a:normAutofit/>
          </a:bodyPr>
          <a:lstStyle/>
          <a:p>
            <a:r>
              <a:rPr lang="en-GB" dirty="0"/>
              <a:t>Portfolio _ Risk &amp; Return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6688" y="1482751"/>
            <a:ext cx="8591550" cy="408209"/>
          </a:xfrm>
          <a:noFill/>
          <a:ln>
            <a:noFill/>
          </a:ln>
        </p:spPr>
        <p:txBody>
          <a:bodyPr>
            <a:normAutofit fontScale="92500"/>
          </a:bodyPr>
          <a:lstStyle/>
          <a:p>
            <a:pPr marL="0" indent="0">
              <a:buClr>
                <a:srgbClr val="C00000"/>
              </a:buClr>
              <a:buNone/>
              <a:tabLst>
                <a:tab pos="670322" algn="l"/>
              </a:tabLst>
            </a:pPr>
            <a:r>
              <a:rPr lang="en-GB" sz="1800" b="1" dirty="0">
                <a:latin typeface="Calibri" panose="020F0502020204030204" pitchFamily="34" charset="0"/>
                <a:cs typeface="Calibri" panose="020F0502020204030204" pitchFamily="34" charset="0"/>
              </a:rPr>
              <a:t>1. </a:t>
            </a:r>
            <a:r>
              <a:rPr lang="en-GB" sz="1800" dirty="0">
                <a:latin typeface="Calibri" panose="020F0502020204030204" pitchFamily="34" charset="0"/>
                <a:cs typeface="Calibri" panose="020F0502020204030204" pitchFamily="34" charset="0"/>
              </a:rPr>
              <a:t>calculate the return of the portfolio in each state of the economy - 40% in IBM and 60% in HP</a:t>
            </a:r>
            <a:endParaRPr lang="en-GB" sz="1800" i="1" dirty="0">
              <a:solidFill>
                <a:srgbClr val="C00000"/>
              </a:solidFill>
              <a:latin typeface="Calibri" panose="020F0502020204030204" pitchFamily="34" charset="0"/>
              <a:ea typeface="Cambria Math" panose="02040503050406030204" pitchFamily="18" charset="0"/>
              <a:cs typeface="Calibri" panose="020F0502020204030204" pitchFamily="34" charset="0"/>
            </a:endParaRPr>
          </a:p>
          <a:p>
            <a:pPr lvl="1">
              <a:buClr>
                <a:srgbClr val="C00000"/>
              </a:buClr>
              <a:buFont typeface="Calibri" panose="020F0502020204030204" pitchFamily="34" charset="0"/>
              <a:buChar char="─"/>
              <a:tabLst>
                <a:tab pos="670322" algn="l"/>
              </a:tabLst>
            </a:pPr>
            <a:endParaRPr lang="en-GB" sz="1800" i="1" dirty="0">
              <a:solidFill>
                <a:srgbClr val="C00000"/>
              </a:solidFill>
              <a:latin typeface="Calibri" panose="020F0502020204030204" pitchFamily="34" charset="0"/>
              <a:ea typeface="Cambria Math" panose="02040503050406030204" pitchFamily="18" charset="0"/>
              <a:cs typeface="Calibri" panose="020F0502020204030204" pitchFamily="34" charset="0"/>
            </a:endParaRPr>
          </a:p>
          <a:p>
            <a:pPr lvl="1">
              <a:buClr>
                <a:srgbClr val="C00000"/>
              </a:buClr>
              <a:buFont typeface="Calibri" panose="020F0502020204030204" pitchFamily="34" charset="0"/>
              <a:buChar char="─"/>
              <a:tabLst>
                <a:tab pos="670322" algn="l"/>
              </a:tabLst>
            </a:pPr>
            <a:endParaRPr lang="en-GB" i="1" dirty="0">
              <a:solidFill>
                <a:srgbClr val="C00000"/>
              </a:solidFill>
              <a:latin typeface="Calibri" panose="020F0502020204030204" pitchFamily="34" charset="0"/>
              <a:ea typeface="Cambria Math" panose="02040503050406030204" pitchFamily="18" charset="0"/>
              <a:cs typeface="Calibri" panose="020F0502020204030204" pitchFamily="34" charset="0"/>
            </a:endParaRPr>
          </a:p>
          <a:p>
            <a:pPr lvl="1">
              <a:buClr>
                <a:srgbClr val="C00000"/>
              </a:buClr>
              <a:buFont typeface="Calibri" panose="020F0502020204030204" pitchFamily="34" charset="0"/>
              <a:buChar char="─"/>
              <a:tabLst>
                <a:tab pos="670322" algn="l"/>
              </a:tabLst>
            </a:pPr>
            <a:endParaRPr lang="en-GB" i="1" dirty="0">
              <a:solidFill>
                <a:srgbClr val="C00000"/>
              </a:solidFill>
              <a:latin typeface="Calibri" panose="020F0502020204030204" pitchFamily="34" charset="0"/>
              <a:ea typeface="Cambria Math" panose="02040503050406030204" pitchFamily="18" charset="0"/>
              <a:cs typeface="Calibri" panose="020F0502020204030204" pitchFamily="34" charset="0"/>
            </a:endParaRPr>
          </a:p>
          <a:p>
            <a:pPr lvl="1">
              <a:buClr>
                <a:srgbClr val="C00000"/>
              </a:buClr>
              <a:buFont typeface="Calibri" panose="020F0502020204030204" pitchFamily="34" charset="0"/>
              <a:buChar char="─"/>
              <a:tabLst>
                <a:tab pos="670322" algn="l"/>
              </a:tabLst>
            </a:pPr>
            <a:endParaRPr lang="en-GB" i="1" dirty="0">
              <a:solidFill>
                <a:srgbClr val="C00000"/>
              </a:solidFill>
              <a:latin typeface="Calibri" panose="020F0502020204030204" pitchFamily="34" charset="0"/>
              <a:ea typeface="Cambria Math" panose="02040503050406030204" pitchFamily="18" charset="0"/>
              <a:cs typeface="Calibri" panose="020F0502020204030204" pitchFamily="34" charset="0"/>
            </a:endParaRPr>
          </a:p>
          <a:p>
            <a:pPr marL="0" lvl="1" indent="0">
              <a:buClr>
                <a:srgbClr val="C00000"/>
              </a:buClr>
              <a:buNone/>
              <a:tabLst>
                <a:tab pos="670322" algn="l"/>
              </a:tabLst>
            </a:pPr>
            <a:endParaRPr lang="en-GB" i="1" dirty="0">
              <a:solidFill>
                <a:srgbClr val="C00000"/>
              </a:solidFill>
              <a:latin typeface="Cambria Math" panose="02040503050406030204" pitchFamily="18" charset="0"/>
              <a:ea typeface="Cambria Math" panose="02040503050406030204" pitchFamily="18" charset="0"/>
              <a:cs typeface="Calibri" panose="020F050202020403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548754" y="5710698"/>
            <a:ext cx="679467" cy="405323"/>
          </a:xfrm>
          <a:ln w="12700"/>
        </p:spPr>
        <p:txBody>
          <a:bodyPr/>
          <a:lstStyle/>
          <a:p>
            <a:fld id="{0F99C4FB-888A-4D12-A1C4-C744D94026CD}" type="slidenum">
              <a:rPr lang="en-GB" sz="1350">
                <a:solidFill>
                  <a:schemeClr val="tx1">
                    <a:lumMod val="50000"/>
                    <a:lumOff val="50000"/>
                  </a:schemeClr>
                </a:solidFill>
              </a:rPr>
              <a:t>16</a:t>
            </a:fld>
            <a:endParaRPr lang="en-GB" sz="135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7A436AD6-A8B4-45EF-BD84-D8323DA39FA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09783759"/>
                  </p:ext>
                </p:extLst>
              </p:nvPr>
            </p:nvGraphicFramePr>
            <p:xfrm>
              <a:off x="231685" y="2096345"/>
              <a:ext cx="6893510" cy="1344932"/>
            </p:xfrm>
            <a:graphic>
              <a:graphicData uri="http://schemas.openxmlformats.org/drawingml/2006/table">
                <a:tbl>
                  <a:tblPr/>
                  <a:tblGrid>
                    <a:gridCol w="740101">
                      <a:extLst>
                        <a:ext uri="{9D8B030D-6E8A-4147-A177-3AD203B41FA5}">
                          <a16:colId xmlns:a16="http://schemas.microsoft.com/office/drawing/2014/main" val="2819693020"/>
                        </a:ext>
                      </a:extLst>
                    </a:gridCol>
                    <a:gridCol w="1078433">
                      <a:extLst>
                        <a:ext uri="{9D8B030D-6E8A-4147-A177-3AD203B41FA5}">
                          <a16:colId xmlns:a16="http://schemas.microsoft.com/office/drawing/2014/main" val="583174764"/>
                        </a:ext>
                      </a:extLst>
                    </a:gridCol>
                    <a:gridCol w="1184161">
                      <a:extLst>
                        <a:ext uri="{9D8B030D-6E8A-4147-A177-3AD203B41FA5}">
                          <a16:colId xmlns:a16="http://schemas.microsoft.com/office/drawing/2014/main" val="330087152"/>
                        </a:ext>
                      </a:extLst>
                    </a:gridCol>
                    <a:gridCol w="1184161">
                      <a:extLst>
                        <a:ext uri="{9D8B030D-6E8A-4147-A177-3AD203B41FA5}">
                          <a16:colId xmlns:a16="http://schemas.microsoft.com/office/drawing/2014/main" val="3610285926"/>
                        </a:ext>
                      </a:extLst>
                    </a:gridCol>
                    <a:gridCol w="2706654">
                      <a:extLst>
                        <a:ext uri="{9D8B030D-6E8A-4147-A177-3AD203B41FA5}">
                          <a16:colId xmlns:a16="http://schemas.microsoft.com/office/drawing/2014/main" val="3241972865"/>
                        </a:ext>
                      </a:extLst>
                    </a:gridCol>
                  </a:tblGrid>
                  <a:tr h="461963"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en-GB" sz="15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State</a:t>
                          </a:r>
                        </a:p>
                      </a:txBody>
                      <a:tcPr marL="4763" marR="4763" marT="4763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5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Probability: </a:t>
                          </a:r>
                          <a14:m>
                            <m:oMath xmlns:m="http://schemas.openxmlformats.org/officeDocument/2006/math">
                              <m:r>
                                <a:rPr lang="en-GB" sz="1500" b="0" i="1" u="none" strike="noStrike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oMath>
                          </a14:m>
                          <a:endParaRPr lang="en-GB" sz="15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4763" marR="4763" marT="4763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5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IBM: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GB" sz="15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GB" sz="15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cs typeface="Calibri" panose="020F0502020204030204" pitchFamily="34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GB" sz="15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cs typeface="Calibri" panose="020F0502020204030204" pitchFamily="34" charset="0"/>
                                        </a:rPr>
                                        <m:t>𝑟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GB" sz="15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  <m:t>𝑡</m:t>
                                  </m:r>
                                </m:sub>
                              </m:sSub>
                            </m:oMath>
                          </a14:m>
                          <a:endParaRPr lang="en-GB" sz="15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4763" marR="4763" marT="4763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5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HP: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GB" sz="15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GB" sz="15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cs typeface="Calibri" panose="020F0502020204030204" pitchFamily="34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GB" sz="15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cs typeface="Calibri" panose="020F0502020204030204" pitchFamily="34" charset="0"/>
                                        </a:rPr>
                                        <m:t>𝑟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GB" sz="15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  <m:t>𝑡</m:t>
                                  </m:r>
                                </m:sub>
                              </m:sSub>
                            </m:oMath>
                          </a14:m>
                          <a:endParaRPr lang="en-GB" sz="15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4763" marR="4763" marT="4763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500" b="0" i="0" u="none" strike="noStrike" dirty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Portfolio: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GB" sz="1500" b="0" i="1" smtClean="0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GB" sz="1500" b="0" i="1" smtClean="0">
                                          <a:solidFill>
                                            <a:schemeClr val="accent5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cs typeface="Calibri" panose="020F0502020204030204" pitchFamily="34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GB" sz="1500" b="0" i="1" smtClean="0">
                                          <a:solidFill>
                                            <a:schemeClr val="accent5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cs typeface="Calibri" panose="020F0502020204030204" pitchFamily="34" charset="0"/>
                                        </a:rPr>
                                        <m:t>𝑟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GB" sz="1500" b="0" i="1" smtClean="0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  <m:t>𝑃</m:t>
                                  </m:r>
                                </m:sub>
                              </m:sSub>
                            </m:oMath>
                          </a14:m>
                          <a:endParaRPr lang="en-GB" sz="1500" b="0" i="0" u="none" strike="noStrike" dirty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4763" marR="4763" marT="4763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855211029"/>
                      </a:ext>
                    </a:extLst>
                  </a:tr>
                  <a:tr h="233363"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en-GB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Boom</a:t>
                          </a:r>
                        </a:p>
                      </a:txBody>
                      <a:tcPr marL="4763" marR="4763" marT="4763" marB="0" anchor="ctr">
                        <a:lnL>
                          <a:noFill/>
                        </a:lnL>
                        <a:lnR>
                          <a:noFill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25%</a:t>
                          </a:r>
                        </a:p>
                      </a:txBody>
                      <a:tcPr marL="4763" marR="4763" marT="4763" marB="0" anchor="ctr">
                        <a:lnL>
                          <a:noFill/>
                        </a:lnL>
                        <a:lnR>
                          <a:noFill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20%</a:t>
                          </a:r>
                        </a:p>
                      </a:txBody>
                      <a:tcPr marL="4763" marR="4763" marT="4763" marB="0" anchor="ctr">
                        <a:lnL>
                          <a:noFill/>
                        </a:lnL>
                        <a:lnR>
                          <a:noFill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15%</a:t>
                          </a:r>
                        </a:p>
                      </a:txBody>
                      <a:tcPr marL="4763" marR="4763" marT="4763" marB="0" anchor="ctr">
                        <a:lnL>
                          <a:noFill/>
                        </a:lnL>
                        <a:lnR>
                          <a:noFill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n-GB" sz="1500" b="0" i="0" u="none" strike="noStrike" dirty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4763" marR="4763" marT="4763" marB="0" anchor="ctr">
                        <a:lnL>
                          <a:noFill/>
                        </a:lnL>
                        <a:lnR>
                          <a:noFill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898363644"/>
                      </a:ext>
                    </a:extLst>
                  </a:tr>
                  <a:tr h="233363"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en-GB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Normal</a:t>
                          </a:r>
                        </a:p>
                      </a:txBody>
                      <a:tcPr marL="4763" marR="4763" marT="4763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45%</a:t>
                          </a:r>
                        </a:p>
                      </a:txBody>
                      <a:tcPr marL="4763" marR="4763" marT="4763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10%</a:t>
                          </a:r>
                        </a:p>
                      </a:txBody>
                      <a:tcPr marL="4763" marR="4763" marT="4763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8%</a:t>
                          </a:r>
                        </a:p>
                      </a:txBody>
                      <a:tcPr marL="4763" marR="4763" marT="4763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n-GB" sz="1500" b="0" i="0" u="none" strike="noStrike" dirty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4763" marR="4763" marT="4763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271364288"/>
                      </a:ext>
                    </a:extLst>
                  </a:tr>
                  <a:tr h="416243"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en-GB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Recession</a:t>
                          </a:r>
                        </a:p>
                      </a:txBody>
                      <a:tcPr marL="4763" marR="4763" marT="4763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30%</a:t>
                          </a:r>
                        </a:p>
                      </a:txBody>
                      <a:tcPr marL="4763" marR="4763" marT="4763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-5%</a:t>
                          </a:r>
                        </a:p>
                      </a:txBody>
                      <a:tcPr marL="4763" marR="4763" marT="4763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-2%</a:t>
                          </a:r>
                        </a:p>
                      </a:txBody>
                      <a:tcPr marL="4763" marR="4763" marT="4763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n-GB" sz="1500" b="0" i="0" u="none" strike="noStrike" dirty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4763" marR="4763" marT="4763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81498284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7A436AD6-A8B4-45EF-BD84-D8323DA39FA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09783759"/>
                  </p:ext>
                </p:extLst>
              </p:nvPr>
            </p:nvGraphicFramePr>
            <p:xfrm>
              <a:off x="231685" y="2096345"/>
              <a:ext cx="6893510" cy="1344932"/>
            </p:xfrm>
            <a:graphic>
              <a:graphicData uri="http://schemas.openxmlformats.org/drawingml/2006/table">
                <a:tbl>
                  <a:tblPr/>
                  <a:tblGrid>
                    <a:gridCol w="740101">
                      <a:extLst>
                        <a:ext uri="{9D8B030D-6E8A-4147-A177-3AD203B41FA5}">
                          <a16:colId xmlns:a16="http://schemas.microsoft.com/office/drawing/2014/main" val="2819693020"/>
                        </a:ext>
                      </a:extLst>
                    </a:gridCol>
                    <a:gridCol w="1078433">
                      <a:extLst>
                        <a:ext uri="{9D8B030D-6E8A-4147-A177-3AD203B41FA5}">
                          <a16:colId xmlns:a16="http://schemas.microsoft.com/office/drawing/2014/main" val="583174764"/>
                        </a:ext>
                      </a:extLst>
                    </a:gridCol>
                    <a:gridCol w="1184161">
                      <a:extLst>
                        <a:ext uri="{9D8B030D-6E8A-4147-A177-3AD203B41FA5}">
                          <a16:colId xmlns:a16="http://schemas.microsoft.com/office/drawing/2014/main" val="330087152"/>
                        </a:ext>
                      </a:extLst>
                    </a:gridCol>
                    <a:gridCol w="1184161">
                      <a:extLst>
                        <a:ext uri="{9D8B030D-6E8A-4147-A177-3AD203B41FA5}">
                          <a16:colId xmlns:a16="http://schemas.microsoft.com/office/drawing/2014/main" val="3610285926"/>
                        </a:ext>
                      </a:extLst>
                    </a:gridCol>
                    <a:gridCol w="2706654">
                      <a:extLst>
                        <a:ext uri="{9D8B030D-6E8A-4147-A177-3AD203B41FA5}">
                          <a16:colId xmlns:a16="http://schemas.microsoft.com/office/drawing/2014/main" val="3241972865"/>
                        </a:ext>
                      </a:extLst>
                    </a:gridCol>
                  </a:tblGrid>
                  <a:tr h="461963"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en-GB" sz="15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State</a:t>
                          </a:r>
                        </a:p>
                      </a:txBody>
                      <a:tcPr marL="4763" marR="4763" marT="4763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763" marR="4763" marT="4763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68362" t="-10526" r="-472316" b="-19342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763" marR="4763" marT="4763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52821" t="-10526" r="-328718" b="-19342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763" marR="4763" marT="4763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54124" t="-10526" r="-230412" b="-19342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763" marR="4763" marT="4763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54730" t="-10526" r="-676" b="-19342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855211029"/>
                      </a:ext>
                    </a:extLst>
                  </a:tr>
                  <a:tr h="233363"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en-GB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Boom</a:t>
                          </a:r>
                        </a:p>
                      </a:txBody>
                      <a:tcPr marL="4763" marR="4763" marT="4763" marB="0" anchor="ctr">
                        <a:lnL>
                          <a:noFill/>
                        </a:lnL>
                        <a:lnR>
                          <a:noFill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25%</a:t>
                          </a:r>
                        </a:p>
                      </a:txBody>
                      <a:tcPr marL="4763" marR="4763" marT="4763" marB="0" anchor="ctr">
                        <a:lnL>
                          <a:noFill/>
                        </a:lnL>
                        <a:lnR>
                          <a:noFill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20%</a:t>
                          </a:r>
                        </a:p>
                      </a:txBody>
                      <a:tcPr marL="4763" marR="4763" marT="4763" marB="0" anchor="ctr">
                        <a:lnL>
                          <a:noFill/>
                        </a:lnL>
                        <a:lnR>
                          <a:noFill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15%</a:t>
                          </a:r>
                        </a:p>
                      </a:txBody>
                      <a:tcPr marL="4763" marR="4763" marT="4763" marB="0" anchor="ctr">
                        <a:lnL>
                          <a:noFill/>
                        </a:lnL>
                        <a:lnR>
                          <a:noFill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n-GB" sz="1500" b="0" i="0" u="none" strike="noStrike" dirty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4763" marR="4763" marT="4763" marB="0" anchor="ctr">
                        <a:lnL>
                          <a:noFill/>
                        </a:lnL>
                        <a:lnR>
                          <a:noFill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898363644"/>
                      </a:ext>
                    </a:extLst>
                  </a:tr>
                  <a:tr h="233363"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en-GB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Normal</a:t>
                          </a:r>
                        </a:p>
                      </a:txBody>
                      <a:tcPr marL="4763" marR="4763" marT="4763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45%</a:t>
                          </a:r>
                        </a:p>
                      </a:txBody>
                      <a:tcPr marL="4763" marR="4763" marT="4763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10%</a:t>
                          </a:r>
                        </a:p>
                      </a:txBody>
                      <a:tcPr marL="4763" marR="4763" marT="4763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8%</a:t>
                          </a:r>
                        </a:p>
                      </a:txBody>
                      <a:tcPr marL="4763" marR="4763" marT="4763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n-GB" sz="1500" b="0" i="0" u="none" strike="noStrike" dirty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4763" marR="4763" marT="4763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271364288"/>
                      </a:ext>
                    </a:extLst>
                  </a:tr>
                  <a:tr h="416243"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en-GB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Recession</a:t>
                          </a:r>
                        </a:p>
                      </a:txBody>
                      <a:tcPr marL="4763" marR="4763" marT="4763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30%</a:t>
                          </a:r>
                        </a:p>
                      </a:txBody>
                      <a:tcPr marL="4763" marR="4763" marT="4763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-5%</a:t>
                          </a:r>
                        </a:p>
                      </a:txBody>
                      <a:tcPr marL="4763" marR="4763" marT="4763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-2%</a:t>
                          </a:r>
                        </a:p>
                      </a:txBody>
                      <a:tcPr marL="4763" marR="4763" marT="4763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n-GB" sz="1500" b="0" i="0" u="none" strike="noStrike" dirty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4763" marR="4763" marT="4763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81498284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67AA43B-26D0-49DA-AC05-0AA95AB9F0F0}"/>
                  </a:ext>
                </a:extLst>
              </p:cNvPr>
              <p:cNvSpPr txBox="1"/>
              <p:nvPr/>
            </p:nvSpPr>
            <p:spPr>
              <a:xfrm>
                <a:off x="4210050" y="2530936"/>
                <a:ext cx="3287041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sz="1200" i="1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40%</m:t>
                      </m:r>
                      <m:r>
                        <a:rPr lang="en-GB" sz="1200" i="1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×20%+60%×15%=17%</m:t>
                      </m:r>
                    </m:oMath>
                  </m:oMathPara>
                </a14:m>
                <a:endParaRPr lang="en-GB" sz="1200" dirty="0">
                  <a:solidFill>
                    <a:schemeClr val="accent5">
                      <a:lumMod val="75000"/>
                    </a:schemeClr>
                  </a:solidFill>
                  <a:latin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67AA43B-26D0-49DA-AC05-0AA95AB9F0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10050" y="2530936"/>
                <a:ext cx="3287041" cy="2769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ABDA30F-486C-4ABD-9901-D17D38F9B913}"/>
                  </a:ext>
                </a:extLst>
              </p:cNvPr>
              <p:cNvSpPr txBox="1"/>
              <p:nvPr/>
            </p:nvSpPr>
            <p:spPr>
              <a:xfrm>
                <a:off x="4225178" y="2797477"/>
                <a:ext cx="3592744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sz="1200" i="1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40%</m:t>
                      </m:r>
                      <m:r>
                        <a:rPr lang="en-GB" sz="1200" i="1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×10%+60%×8%=8.80%</m:t>
                      </m:r>
                    </m:oMath>
                  </m:oMathPara>
                </a14:m>
                <a:endParaRPr lang="en-GB" sz="1200" dirty="0">
                  <a:solidFill>
                    <a:schemeClr val="accent5">
                      <a:lumMod val="75000"/>
                    </a:schemeClr>
                  </a:solidFill>
                  <a:latin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ABDA30F-486C-4ABD-9901-D17D38F9B9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25178" y="2797477"/>
                <a:ext cx="3592744" cy="27699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91DF9FD-E248-4404-B3D5-280FEEF38721}"/>
                  </a:ext>
                </a:extLst>
              </p:cNvPr>
              <p:cNvSpPr txBox="1"/>
              <p:nvPr/>
            </p:nvSpPr>
            <p:spPr>
              <a:xfrm>
                <a:off x="4210050" y="3111133"/>
                <a:ext cx="3592744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sz="1200" i="1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40%</m:t>
                      </m:r>
                      <m:r>
                        <a:rPr lang="en-GB" sz="1200" i="1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d>
                        <m:dPr>
                          <m:ctrlPr>
                            <a:rPr lang="en-GB" sz="12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2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−5%</m:t>
                          </m:r>
                        </m:e>
                      </m:d>
                      <m:r>
                        <a:rPr lang="en-GB" sz="1200" i="1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+60%×</m:t>
                      </m:r>
                      <m:d>
                        <m:dPr>
                          <m:ctrlPr>
                            <a:rPr lang="en-GB" sz="12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2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−2%</m:t>
                          </m:r>
                        </m:e>
                      </m:d>
                      <m:r>
                        <a:rPr lang="en-GB" sz="1200" i="1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=−3.20%</m:t>
                      </m:r>
                    </m:oMath>
                  </m:oMathPara>
                </a14:m>
                <a:endParaRPr lang="en-GB" sz="1200" dirty="0">
                  <a:solidFill>
                    <a:schemeClr val="accent5">
                      <a:lumMod val="75000"/>
                    </a:schemeClr>
                  </a:solidFill>
                  <a:latin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91DF9FD-E248-4404-B3D5-280FEEF387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10050" y="3111133"/>
                <a:ext cx="3592744" cy="27699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43758037-DA19-DB58-9A1A-1A0A6F7DEB37}"/>
              </a:ext>
            </a:extLst>
          </p:cNvPr>
          <p:cNvSpPr txBox="1"/>
          <p:nvPr/>
        </p:nvSpPr>
        <p:spPr>
          <a:xfrm>
            <a:off x="166688" y="3530844"/>
            <a:ext cx="8433684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rgbClr val="C00000"/>
              </a:buClr>
              <a:tabLst>
                <a:tab pos="670322" algn="l"/>
              </a:tabLst>
            </a:pPr>
            <a:r>
              <a:rPr lang="en-GB" b="1" dirty="0">
                <a:latin typeface="Calibri" panose="020F0502020204030204" pitchFamily="34" charset="0"/>
                <a:cs typeface="Calibri" panose="020F0502020204030204" pitchFamily="34" charset="0"/>
              </a:rPr>
              <a:t>2. </a:t>
            </a:r>
            <a:r>
              <a:rPr lang="en-GB" sz="1500" dirty="0">
                <a:latin typeface="Calibri" panose="020F0502020204030204" pitchFamily="34" charset="0"/>
                <a:cs typeface="Calibri" panose="020F0502020204030204" pitchFamily="34" charset="0"/>
              </a:rPr>
              <a:t>calculate the overall portfolio return </a:t>
            </a:r>
            <a:r>
              <a:rPr lang="en-GB" sz="1500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sz="1500" dirty="0">
                <a:solidFill>
                  <a:schemeClr val="accent5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25% x 17% + 45% x 8.8% + 30% x -3.2% = </a:t>
            </a:r>
            <a:r>
              <a:rPr lang="en-GB" sz="1500" b="1" u="sng" dirty="0">
                <a:solidFill>
                  <a:schemeClr val="accent5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7.25%</a:t>
            </a:r>
          </a:p>
          <a:p>
            <a:pPr>
              <a:buClr>
                <a:srgbClr val="C00000"/>
              </a:buClr>
              <a:tabLst>
                <a:tab pos="670322" algn="l"/>
              </a:tabLst>
            </a:pPr>
            <a:endParaRPr lang="en-GB" sz="15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Clr>
                <a:srgbClr val="C00000"/>
              </a:buClr>
              <a:tabLst>
                <a:tab pos="670322" algn="l"/>
              </a:tabLst>
            </a:pPr>
            <a:r>
              <a:rPr lang="en-GB" sz="1500" b="1" dirty="0">
                <a:latin typeface="Calibri" panose="020F0502020204030204" pitchFamily="34" charset="0"/>
                <a:cs typeface="Calibri" panose="020F0502020204030204" pitchFamily="34" charset="0"/>
              </a:rPr>
              <a:t>3. </a:t>
            </a:r>
            <a:r>
              <a:rPr lang="en-GB" sz="1500" dirty="0">
                <a:latin typeface="Calibri" panose="020F0502020204030204" pitchFamily="34" charset="0"/>
                <a:cs typeface="Calibri" panose="020F0502020204030204" pitchFamily="34" charset="0"/>
              </a:rPr>
              <a:t>calculate the variance and standard deviation as we did for a single asset:</a:t>
            </a:r>
          </a:p>
          <a:p>
            <a:pPr lvl="1">
              <a:buClr>
                <a:srgbClr val="C00000"/>
              </a:buClr>
              <a:buFont typeface="Calibri" panose="020F0502020204030204" pitchFamily="34" charset="0"/>
              <a:buChar char="─"/>
              <a:tabLst>
                <a:tab pos="670322" algn="l"/>
              </a:tabLst>
            </a:pPr>
            <a:endParaRPr lang="en-GB" i="1" dirty="0">
              <a:solidFill>
                <a:srgbClr val="C00000"/>
              </a:solidFill>
              <a:latin typeface="Calibri" panose="020F0502020204030204" pitchFamily="34" charset="0"/>
              <a:ea typeface="Cambria Math" panose="02040503050406030204" pitchFamily="18" charset="0"/>
              <a:cs typeface="Calibri" panose="020F05020202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1" name="Table 10">
                <a:extLst>
                  <a:ext uri="{FF2B5EF4-FFF2-40B4-BE49-F238E27FC236}">
                    <a16:creationId xmlns:a16="http://schemas.microsoft.com/office/drawing/2014/main" id="{18F93811-C008-C5CA-5CD6-B28FE2FF7CE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45617485"/>
                  </p:ext>
                </p:extLst>
              </p:nvPr>
            </p:nvGraphicFramePr>
            <p:xfrm>
              <a:off x="252609" y="4728407"/>
              <a:ext cx="3811677" cy="1451377"/>
            </p:xfrm>
            <a:graphic>
              <a:graphicData uri="http://schemas.openxmlformats.org/drawingml/2006/table">
                <a:tbl>
                  <a:tblPr/>
                  <a:tblGrid>
                    <a:gridCol w="762335">
                      <a:extLst>
                        <a:ext uri="{9D8B030D-6E8A-4147-A177-3AD203B41FA5}">
                          <a16:colId xmlns:a16="http://schemas.microsoft.com/office/drawing/2014/main" val="2819693020"/>
                        </a:ext>
                      </a:extLst>
                    </a:gridCol>
                    <a:gridCol w="1524671">
                      <a:extLst>
                        <a:ext uri="{9D8B030D-6E8A-4147-A177-3AD203B41FA5}">
                          <a16:colId xmlns:a16="http://schemas.microsoft.com/office/drawing/2014/main" val="583174764"/>
                        </a:ext>
                      </a:extLst>
                    </a:gridCol>
                    <a:gridCol w="1524671">
                      <a:extLst>
                        <a:ext uri="{9D8B030D-6E8A-4147-A177-3AD203B41FA5}">
                          <a16:colId xmlns:a16="http://schemas.microsoft.com/office/drawing/2014/main" val="3241972865"/>
                        </a:ext>
                      </a:extLst>
                    </a:gridCol>
                  </a:tblGrid>
                  <a:tr h="286275"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en-GB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State</a:t>
                          </a:r>
                        </a:p>
                      </a:txBody>
                      <a:tcPr marL="4763" marR="4763" marT="4763" marB="0">
                        <a:lnL>
                          <a:noFill/>
                        </a:lnL>
                        <a:lnR>
                          <a:noFill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Probability: </a:t>
                          </a:r>
                          <a14:m>
                            <m:oMath xmlns:m="http://schemas.openxmlformats.org/officeDocument/2006/math">
                              <m:r>
                                <a:rPr lang="en-GB" sz="1400" b="0" i="1" u="none" strike="noStrike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oMath>
                          </a14:m>
                          <a:endParaRPr lang="en-GB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4763" marR="4763" marT="4763" marB="0">
                        <a:lnL>
                          <a:noFill/>
                        </a:lnL>
                        <a:lnR>
                          <a:noFill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4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Portfolio: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GB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GB" sz="1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cs typeface="Calibri" panose="020F0502020204030204" pitchFamily="34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GB" sz="1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cs typeface="Calibri" panose="020F0502020204030204" pitchFamily="34" charset="0"/>
                                        </a:rPr>
                                        <m:t>𝑟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GB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  <m:t>𝑃</m:t>
                                  </m:r>
                                </m:sub>
                              </m:sSub>
                            </m:oMath>
                          </a14:m>
                          <a:endParaRPr lang="en-GB" sz="1400" b="0" i="0" u="none" strike="noStrike" dirty="0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4763" marR="4763" marT="4763" marB="0">
                        <a:lnL>
                          <a:noFill/>
                        </a:lnL>
                        <a:lnR>
                          <a:noFill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855211029"/>
                      </a:ext>
                    </a:extLst>
                  </a:tr>
                  <a:tr h="286275"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en-GB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Boom</a:t>
                          </a:r>
                        </a:p>
                      </a:txBody>
                      <a:tcPr marL="4763" marR="4763" marT="4763" marB="0" anchor="ctr">
                        <a:lnL>
                          <a:noFill/>
                        </a:lnL>
                        <a:lnR>
                          <a:noFill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25%</a:t>
                          </a:r>
                        </a:p>
                      </a:txBody>
                      <a:tcPr marL="4763" marR="4763" marT="4763" marB="0" anchor="ctr">
                        <a:lnL>
                          <a:noFill/>
                        </a:lnL>
                        <a:lnR>
                          <a:noFill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400" b="0" i="1" u="none" strike="noStrike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17%</m:t>
                                </m:r>
                              </m:oMath>
                            </m:oMathPara>
                          </a14:m>
                          <a:endParaRPr lang="en-GB" sz="1400" b="0" i="0" u="none" strike="noStrike" dirty="0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4763" marR="4763" marT="4763" marB="0" anchor="ctr">
                        <a:lnL>
                          <a:noFill/>
                        </a:lnL>
                        <a:lnR>
                          <a:noFill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898363644"/>
                      </a:ext>
                    </a:extLst>
                  </a:tr>
                  <a:tr h="286275"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en-GB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Normal</a:t>
                          </a:r>
                        </a:p>
                      </a:txBody>
                      <a:tcPr marL="4763" marR="4763" marT="4763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45%</a:t>
                          </a:r>
                        </a:p>
                      </a:txBody>
                      <a:tcPr marL="4763" marR="4763" marT="4763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400" b="0" i="1" u="none" strike="noStrike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8.80%</m:t>
                                </m:r>
                              </m:oMath>
                            </m:oMathPara>
                          </a14:m>
                          <a:endParaRPr lang="en-GB" sz="1400" b="0" i="0" u="none" strike="noStrike" dirty="0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4763" marR="4763" marT="4763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271364288"/>
                      </a:ext>
                    </a:extLst>
                  </a:tr>
                  <a:tr h="286275"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en-GB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Recession</a:t>
                          </a:r>
                        </a:p>
                      </a:txBody>
                      <a:tcPr marL="4763" marR="4763" marT="4763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30%</a:t>
                          </a:r>
                        </a:p>
                      </a:txBody>
                      <a:tcPr marL="4763" marR="4763" marT="4763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400" b="0" i="1" u="none" strike="noStrike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−3.20%</m:t>
                                </m:r>
                              </m:oMath>
                            </m:oMathPara>
                          </a14:m>
                          <a:endParaRPr lang="en-GB" sz="1400" b="0" i="0" u="none" strike="noStrike" dirty="0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4763" marR="4763" marT="4763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814982846"/>
                      </a:ext>
                    </a:extLst>
                  </a:tr>
                  <a:tr h="306277">
                    <a:tc>
                      <a:txBody>
                        <a:bodyPr/>
                        <a:lstStyle/>
                        <a:p>
                          <a:pPr algn="l" fontAlgn="b"/>
                          <a:endParaRPr lang="en-GB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4763" marR="4763" marT="4763" marB="0" anchor="ctr">
                        <a:lnL>
                          <a:noFill/>
                        </a:lnL>
                        <a:lnR>
                          <a:noFill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n-GB" sz="14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4763" marR="4763" marT="4763" marB="0" anchor="ctr">
                        <a:lnL>
                          <a:noFill/>
                        </a:lnL>
                        <a:lnR>
                          <a:noFill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n-GB" sz="1500" b="1" i="0" u="none" strike="noStrike" dirty="0">
                            <a:solidFill>
                              <a:schemeClr val="tx1"/>
                            </a:solidFill>
                            <a:effectLst/>
                            <a:highlight>
                              <a:srgbClr val="FFFF00"/>
                            </a:highlight>
                            <a:latin typeface="Calibri" panose="020F0502020204030204" pitchFamily="34" charset="0"/>
                          </a:endParaRPr>
                        </a:p>
                      </a:txBody>
                      <a:tcPr marL="4763" marR="4763" marT="4763" marB="0" anchor="ctr">
                        <a:lnL>
                          <a:noFill/>
                        </a:lnL>
                        <a:lnR>
                          <a:noFill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86903182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1" name="Table 10">
                <a:extLst>
                  <a:ext uri="{FF2B5EF4-FFF2-40B4-BE49-F238E27FC236}">
                    <a16:creationId xmlns:a16="http://schemas.microsoft.com/office/drawing/2014/main" id="{18F93811-C008-C5CA-5CD6-B28FE2FF7CE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45617485"/>
                  </p:ext>
                </p:extLst>
              </p:nvPr>
            </p:nvGraphicFramePr>
            <p:xfrm>
              <a:off x="252609" y="4728407"/>
              <a:ext cx="3811677" cy="1451377"/>
            </p:xfrm>
            <a:graphic>
              <a:graphicData uri="http://schemas.openxmlformats.org/drawingml/2006/table">
                <a:tbl>
                  <a:tblPr/>
                  <a:tblGrid>
                    <a:gridCol w="762335">
                      <a:extLst>
                        <a:ext uri="{9D8B030D-6E8A-4147-A177-3AD203B41FA5}">
                          <a16:colId xmlns:a16="http://schemas.microsoft.com/office/drawing/2014/main" val="2819693020"/>
                        </a:ext>
                      </a:extLst>
                    </a:gridCol>
                    <a:gridCol w="1524671">
                      <a:extLst>
                        <a:ext uri="{9D8B030D-6E8A-4147-A177-3AD203B41FA5}">
                          <a16:colId xmlns:a16="http://schemas.microsoft.com/office/drawing/2014/main" val="583174764"/>
                        </a:ext>
                      </a:extLst>
                    </a:gridCol>
                    <a:gridCol w="1524671">
                      <a:extLst>
                        <a:ext uri="{9D8B030D-6E8A-4147-A177-3AD203B41FA5}">
                          <a16:colId xmlns:a16="http://schemas.microsoft.com/office/drawing/2014/main" val="3241972865"/>
                        </a:ext>
                      </a:extLst>
                    </a:gridCol>
                  </a:tblGrid>
                  <a:tr h="286275"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en-GB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State</a:t>
                          </a:r>
                        </a:p>
                      </a:txBody>
                      <a:tcPr marL="4763" marR="4763" marT="4763" marB="0">
                        <a:lnL>
                          <a:noFill/>
                        </a:lnL>
                        <a:lnR>
                          <a:noFill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763" marR="4763" marT="4763" marB="0">
                        <a:lnL>
                          <a:noFill/>
                        </a:lnL>
                        <a:lnR>
                          <a:noFill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  <a:stretch>
                            <a:fillRect l="-49801" t="-17021" r="-100797" b="-4085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763" marR="4763" marT="4763" marB="0">
                        <a:lnL>
                          <a:noFill/>
                        </a:lnL>
                        <a:lnR>
                          <a:noFill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  <a:stretch>
                            <a:fillRect l="-150400" t="-17021" r="-1200" b="-40851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855211029"/>
                      </a:ext>
                    </a:extLst>
                  </a:tr>
                  <a:tr h="286275"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en-GB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Boom</a:t>
                          </a:r>
                        </a:p>
                      </a:txBody>
                      <a:tcPr marL="4763" marR="4763" marT="4763" marB="0" anchor="ctr">
                        <a:lnL>
                          <a:noFill/>
                        </a:lnL>
                        <a:lnR>
                          <a:noFill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25%</a:t>
                          </a:r>
                        </a:p>
                      </a:txBody>
                      <a:tcPr marL="4763" marR="4763" marT="4763" marB="0" anchor="ctr">
                        <a:lnL>
                          <a:noFill/>
                        </a:lnL>
                        <a:lnR>
                          <a:noFill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763" marR="4763" marT="4763" marB="0" anchor="ctr">
                        <a:lnL>
                          <a:noFill/>
                        </a:lnL>
                        <a:lnR>
                          <a:noFill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blipFill>
                          <a:blip r:embed="rId7"/>
                          <a:stretch>
                            <a:fillRect l="-150400" t="-117021" r="-1200" b="-30851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98363644"/>
                      </a:ext>
                    </a:extLst>
                  </a:tr>
                  <a:tr h="286275"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en-GB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Normal</a:t>
                          </a:r>
                        </a:p>
                      </a:txBody>
                      <a:tcPr marL="4763" marR="4763" marT="4763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45%</a:t>
                          </a:r>
                        </a:p>
                      </a:txBody>
                      <a:tcPr marL="4763" marR="4763" marT="4763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763" marR="4763" marT="4763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7"/>
                          <a:stretch>
                            <a:fillRect l="-150400" t="-217021" r="-1200" b="-20851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71364288"/>
                      </a:ext>
                    </a:extLst>
                  </a:tr>
                  <a:tr h="286275"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en-GB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Recession</a:t>
                          </a:r>
                        </a:p>
                      </a:txBody>
                      <a:tcPr marL="4763" marR="4763" marT="4763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GB" sz="14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30%</a:t>
                          </a:r>
                        </a:p>
                      </a:txBody>
                      <a:tcPr marL="4763" marR="4763" marT="4763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763" marR="4763" marT="4763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  <a:stretch>
                            <a:fillRect l="-150400" t="-310417" r="-1200" b="-1041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814982846"/>
                      </a:ext>
                    </a:extLst>
                  </a:tr>
                  <a:tr h="306277">
                    <a:tc>
                      <a:txBody>
                        <a:bodyPr/>
                        <a:lstStyle/>
                        <a:p>
                          <a:pPr algn="l" fontAlgn="b"/>
                          <a:endParaRPr lang="en-GB" sz="14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4763" marR="4763" marT="4763" marB="0" anchor="ctr">
                        <a:lnL>
                          <a:noFill/>
                        </a:lnL>
                        <a:lnR>
                          <a:noFill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n-GB" sz="14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4763" marR="4763" marT="4763" marB="0" anchor="ctr">
                        <a:lnL>
                          <a:noFill/>
                        </a:lnL>
                        <a:lnR>
                          <a:noFill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endParaRPr lang="en-GB" sz="1500" b="1" i="0" u="none" strike="noStrike" dirty="0">
                            <a:solidFill>
                              <a:schemeClr val="tx1"/>
                            </a:solidFill>
                            <a:effectLst/>
                            <a:highlight>
                              <a:srgbClr val="FFFF00"/>
                            </a:highlight>
                            <a:latin typeface="Calibri" panose="020F0502020204030204" pitchFamily="34" charset="0"/>
                          </a:endParaRPr>
                        </a:p>
                      </a:txBody>
                      <a:tcPr marL="4763" marR="4763" marT="4763" marB="0" anchor="ctr">
                        <a:lnL>
                          <a:noFill/>
                        </a:lnL>
                        <a:lnR>
                          <a:noFill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869031823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Cloud 17">
                <a:extLst>
                  <a:ext uri="{FF2B5EF4-FFF2-40B4-BE49-F238E27FC236}">
                    <a16:creationId xmlns:a16="http://schemas.microsoft.com/office/drawing/2014/main" id="{134F975F-3E2F-B654-48E9-BC6B939BD3CE}"/>
                  </a:ext>
                </a:extLst>
              </p:cNvPr>
              <p:cNvSpPr/>
              <p:nvPr/>
            </p:nvSpPr>
            <p:spPr>
              <a:xfrm>
                <a:off x="6769102" y="3695641"/>
                <a:ext cx="2374898" cy="2320361"/>
              </a:xfrm>
              <a:prstGeom prst="cloud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150000"/>
                  </a:lnSpc>
                  <a:spcBef>
                    <a:spcPts val="0"/>
                  </a:spcBef>
                  <a:buClr>
                    <a:srgbClr val="C00000"/>
                  </a:buClr>
                  <a:tabLst>
                    <a:tab pos="670322" algn="l"/>
                  </a:tabLst>
                </a:pPr>
                <a:r>
                  <a:rPr lang="en-GB" sz="1400" dirty="0"/>
                  <a:t>The portfolio’s expected return is 7.25% and the associated risk is           </a:t>
                </a:r>
                <a14:m>
                  <m:oMath xmlns:m="http://schemas.openxmlformats.org/officeDocument/2006/math">
                    <m:r>
                      <a:rPr lang="en-GB" sz="1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+/−</m:t>
                    </m:r>
                    <m:r>
                      <a:rPr lang="en-GB" sz="1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7.59%</m:t>
                    </m:r>
                  </m:oMath>
                </a14:m>
                <a:endParaRPr lang="en-GB" sz="1400" dirty="0"/>
              </a:p>
            </p:txBody>
          </p:sp>
        </mc:Choice>
        <mc:Fallback xmlns="">
          <p:sp>
            <p:nvSpPr>
              <p:cNvPr id="18" name="Cloud 17">
                <a:extLst>
                  <a:ext uri="{FF2B5EF4-FFF2-40B4-BE49-F238E27FC236}">
                    <a16:creationId xmlns:a16="http://schemas.microsoft.com/office/drawing/2014/main" id="{134F975F-3E2F-B654-48E9-BC6B939BD3C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69102" y="3695641"/>
                <a:ext cx="2374898" cy="2320361"/>
              </a:xfrm>
              <a:prstGeom prst="cloud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3F7244DF-0687-7BE7-9897-23B8A000ED0A}"/>
                  </a:ext>
                </a:extLst>
              </p:cNvPr>
              <p:cNvSpPr txBox="1"/>
              <p:nvPr/>
            </p:nvSpPr>
            <p:spPr>
              <a:xfrm>
                <a:off x="2137523" y="6152990"/>
                <a:ext cx="3811677" cy="29764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𝑆𝑡𝑎𝑛𝑑𝑎𝑟𝑑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𝑑𝑒𝑣𝑖𝑎𝑡𝑖𝑜𝑛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=√</m:t>
                    </m:r>
                  </m:oMath>
                </a14:m>
                <a:r>
                  <a:rPr lang="en-GB" dirty="0"/>
                  <a:t>0.58 = </a:t>
                </a:r>
                <a:r>
                  <a:rPr lang="en-GB" sz="1500" b="1" u="sng" dirty="0">
                    <a:solidFill>
                      <a:srgbClr val="C00000"/>
                    </a:solidFill>
                  </a:rPr>
                  <a:t>7.59%</a:t>
                </a:r>
                <a:endParaRPr lang="en-GB" b="1" u="sng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3F7244DF-0687-7BE7-9897-23B8A000ED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7523" y="6152990"/>
                <a:ext cx="3811677" cy="297646"/>
              </a:xfrm>
              <a:prstGeom prst="rect">
                <a:avLst/>
              </a:prstGeom>
              <a:blipFill>
                <a:blip r:embed="rId9"/>
                <a:stretch>
                  <a:fillRect l="-2240" t="-18367" b="-4898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Picture 12">
            <a:extLst>
              <a:ext uri="{FF2B5EF4-FFF2-40B4-BE49-F238E27FC236}">
                <a16:creationId xmlns:a16="http://schemas.microsoft.com/office/drawing/2014/main" id="{1EF661FF-4089-82A8-9B62-53501BCEAA4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225178" y="4638840"/>
            <a:ext cx="2501626" cy="1500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55043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6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/>
      <p:bldP spid="7" grpId="0"/>
      <p:bldP spid="8" grpId="0"/>
      <p:bldP spid="18" grpId="0" animBg="1"/>
      <p:bldP spid="19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A3EFC0-EDE2-AA06-F55C-ED4070A782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2048" y="632318"/>
            <a:ext cx="7886700" cy="758331"/>
          </a:xfrm>
        </p:spPr>
        <p:txBody>
          <a:bodyPr/>
          <a:lstStyle/>
          <a:p>
            <a:r>
              <a:rPr lang="en-GB" dirty="0"/>
              <a:t>Efficient vs Inefficient Portfolios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AB073E-ACF4-1993-BD65-671A994FFFA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32048" y="2023010"/>
            <a:ext cx="4216296" cy="3456384"/>
          </a:xfrm>
        </p:spPr>
        <p:txBody>
          <a:bodyPr/>
          <a:lstStyle/>
          <a:p>
            <a:pPr marL="7144" indent="0">
              <a:buNone/>
            </a:pPr>
            <a:r>
              <a:rPr lang="en-GB" dirty="0"/>
              <a:t>A portfolio is inefficient if we can find another portfolio that has a better expected return without having a higher volatility.</a:t>
            </a:r>
          </a:p>
          <a:p>
            <a:pPr marL="7144" indent="0">
              <a:buNone/>
            </a:pPr>
            <a:endParaRPr lang="en-GB" dirty="0"/>
          </a:p>
          <a:p>
            <a:pPr marL="7144" indent="0">
              <a:buNone/>
            </a:pPr>
            <a:r>
              <a:rPr lang="en-GB" dirty="0"/>
              <a:t>Consider a portfolio consisting of 2 stocks, stock A &amp;B. What is the volatility and the expected return for different weighting of each stock within the portfolio: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1FDDE67C-FA24-5F13-0C60-AE6E7CCC6B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8344" y="1939882"/>
            <a:ext cx="4610616" cy="4100947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776976-FE22-F0D6-EA4B-5B522E36FABB}"/>
              </a:ext>
            </a:extLst>
          </p:cNvPr>
          <p:cNvSpPr txBox="1">
            <a:spLocks/>
          </p:cNvSpPr>
          <p:nvPr/>
        </p:nvSpPr>
        <p:spPr>
          <a:xfrm>
            <a:off x="8377580" y="6184739"/>
            <a:ext cx="679467" cy="405323"/>
          </a:xfrm>
          <a:ln w="12700"/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-128"/>
                <a:cs typeface="+mn-cs"/>
              </a:defRPr>
            </a:lvl1pPr>
            <a:lvl2pPr marL="455613" indent="1588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-128"/>
                <a:cs typeface="+mn-cs"/>
              </a:defRPr>
            </a:lvl2pPr>
            <a:lvl3pPr marL="912813" indent="1588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-128"/>
                <a:cs typeface="+mn-cs"/>
              </a:defRPr>
            </a:lvl3pPr>
            <a:lvl4pPr marL="1370013" indent="1588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-128"/>
                <a:cs typeface="+mn-cs"/>
              </a:defRPr>
            </a:lvl4pPr>
            <a:lvl5pPr marL="1827213" indent="1588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-128"/>
                <a:cs typeface="+mn-cs"/>
              </a:defRPr>
            </a:lvl9pPr>
          </a:lstStyle>
          <a:p>
            <a:fld id="{0F99C4FB-888A-4D12-A1C4-C744D94026CD}" type="slidenum">
              <a:rPr lang="en-GB" sz="135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pPr/>
              <a:t>17</a:t>
            </a:fld>
            <a:endParaRPr lang="en-GB" sz="135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02862549"/>
      </p:ext>
    </p:extLst>
  </p:cSld>
  <p:clrMapOvr>
    <a:masterClrMapping/>
  </p:clrMapOvr>
  <p:transition spd="slow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93FD41-8523-470B-80B4-E40F6C370D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165" y="253454"/>
            <a:ext cx="7886700" cy="936104"/>
          </a:xfrm>
        </p:spPr>
        <p:txBody>
          <a:bodyPr>
            <a:normAutofit/>
          </a:bodyPr>
          <a:lstStyle/>
          <a:p>
            <a:r>
              <a:rPr lang="en-GB" dirty="0">
                <a:ea typeface="ＭＳ Ｐゴシック"/>
                <a:cs typeface="+mn-cs"/>
              </a:rPr>
              <a:t>Capital Asset Pricing Model (CAPM)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59E29D5-A66A-E23F-6AD3-9ED1B69A4320}"/>
              </a:ext>
            </a:extLst>
          </p:cNvPr>
          <p:cNvSpPr txBox="1"/>
          <p:nvPr/>
        </p:nvSpPr>
        <p:spPr>
          <a:xfrm>
            <a:off x="249382" y="1189558"/>
            <a:ext cx="8645236" cy="49859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Clr>
                <a:srgbClr val="1C9DAC"/>
              </a:buClr>
              <a:buFont typeface="Arial" panose="020B0604020202020204" pitchFamily="34" charset="0"/>
              <a:buChar char="•"/>
            </a:pPr>
            <a:r>
              <a:rPr lang="en-GB" sz="2400" dirty="0">
                <a:latin typeface="+mn-lt"/>
              </a:rPr>
              <a:t>CAPM assumes that investors hold fully diversified portfolios</a:t>
            </a:r>
          </a:p>
          <a:p>
            <a:pPr marL="342900" indent="-342900" algn="just">
              <a:buClr>
                <a:srgbClr val="1C9DAC"/>
              </a:buClr>
              <a:buFont typeface="Arial" panose="020B0604020202020204" pitchFamily="34" charset="0"/>
              <a:buChar char="•"/>
            </a:pPr>
            <a:endParaRPr lang="en-GB" sz="2400" dirty="0">
              <a:latin typeface="+mn-lt"/>
            </a:endParaRPr>
          </a:p>
          <a:p>
            <a:pPr marL="342900" indent="-342900" algn="just">
              <a:buClr>
                <a:srgbClr val="1C9DAC"/>
              </a:buClr>
              <a:buFont typeface="Arial" panose="020B0604020202020204" pitchFamily="34" charset="0"/>
              <a:buChar char="•"/>
            </a:pPr>
            <a:r>
              <a:rPr lang="en-GB" sz="2400" dirty="0">
                <a:latin typeface="+mn-lt"/>
              </a:rPr>
              <a:t>Returns are determined by systematic risk only (</a:t>
            </a:r>
            <a:r>
              <a:rPr lang="en-GB" sz="2400" dirty="0">
                <a:solidFill>
                  <a:srgbClr val="C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𝛃</a:t>
            </a:r>
            <a:r>
              <a:rPr lang="en-GB" sz="2400" dirty="0">
                <a:latin typeface="+mn-lt"/>
              </a:rPr>
              <a:t>), not total risk</a:t>
            </a:r>
          </a:p>
          <a:p>
            <a:pPr marL="342900" indent="-342900" algn="just">
              <a:buClr>
                <a:srgbClr val="1C9DAC"/>
              </a:buClr>
              <a:buFont typeface="Arial" panose="020B0604020202020204" pitchFamily="34" charset="0"/>
              <a:buChar char="•"/>
            </a:pPr>
            <a:endParaRPr lang="en-GB" sz="2400" dirty="0">
              <a:latin typeface="+mn-lt"/>
            </a:endParaRPr>
          </a:p>
          <a:p>
            <a:pPr algn="ctr"/>
            <a:r>
              <a:rPr lang="en-GB" sz="2400" dirty="0"/>
              <a:t>E(</a:t>
            </a:r>
            <a:r>
              <a:rPr lang="en-GB" sz="2400" dirty="0" err="1"/>
              <a:t>ri</a:t>
            </a:r>
            <a:r>
              <a:rPr lang="en-GB" sz="2400" dirty="0"/>
              <a:t> ) = Rf + β</a:t>
            </a:r>
            <a:r>
              <a:rPr lang="en-GB" sz="2400" dirty="0" err="1"/>
              <a:t>i</a:t>
            </a:r>
            <a:r>
              <a:rPr lang="en-GB" sz="2400" dirty="0"/>
              <a:t> (E(rm) – Rf)</a:t>
            </a:r>
          </a:p>
          <a:p>
            <a:pPr algn="ctr"/>
            <a:endParaRPr lang="en-GB" sz="2400" dirty="0"/>
          </a:p>
          <a:p>
            <a:endParaRPr lang="en-GB" dirty="0">
              <a:solidFill>
                <a:srgbClr val="C00000"/>
              </a:solidFill>
            </a:endParaRPr>
          </a:p>
          <a:p>
            <a:r>
              <a:rPr lang="en-GB" dirty="0">
                <a:solidFill>
                  <a:srgbClr val="C00000"/>
                </a:solidFill>
              </a:rPr>
              <a:t>                                                                    equity risk premium</a:t>
            </a:r>
          </a:p>
          <a:p>
            <a:r>
              <a:rPr lang="en-GB" dirty="0"/>
              <a:t>Where: </a:t>
            </a:r>
          </a:p>
          <a:p>
            <a:r>
              <a:rPr lang="en-GB" dirty="0"/>
              <a:t>E(</a:t>
            </a:r>
            <a:r>
              <a:rPr lang="en-GB" dirty="0" err="1"/>
              <a:t>ri</a:t>
            </a:r>
            <a:r>
              <a:rPr lang="en-GB" dirty="0"/>
              <a:t>) = return required on financial asset </a:t>
            </a:r>
          </a:p>
          <a:p>
            <a:r>
              <a:rPr lang="en-GB" dirty="0"/>
              <a:t>Rf = risk-free rate of return (minimum level of return)</a:t>
            </a:r>
          </a:p>
          <a:p>
            <a:r>
              <a:rPr lang="en-GB" dirty="0"/>
              <a:t>β</a:t>
            </a:r>
            <a:r>
              <a:rPr lang="en-GB" dirty="0" err="1"/>
              <a:t>i</a:t>
            </a:r>
            <a:r>
              <a:rPr lang="en-GB" dirty="0"/>
              <a:t> = beta value for financial asset </a:t>
            </a:r>
          </a:p>
          <a:p>
            <a:r>
              <a:rPr lang="en-GB" dirty="0"/>
              <a:t>E(rm) = average return on the capital market</a:t>
            </a:r>
          </a:p>
          <a:p>
            <a:pPr algn="just">
              <a:buClr>
                <a:srgbClr val="1C9DAC"/>
              </a:buClr>
            </a:pPr>
            <a:endParaRPr lang="en-GB" sz="2400" dirty="0">
              <a:latin typeface="+mn-lt"/>
            </a:endParaRPr>
          </a:p>
          <a:p>
            <a:pPr marL="342900" indent="-342900" algn="just">
              <a:buClr>
                <a:srgbClr val="1C9DAC"/>
              </a:buClr>
              <a:buFont typeface="Arial" panose="020B0604020202020204" pitchFamily="34" charset="0"/>
              <a:buChar char="•"/>
            </a:pPr>
            <a:endParaRPr lang="en-GB" sz="2400" dirty="0">
              <a:latin typeface="+mn-lt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BE5BF5E-5452-C23B-911C-675567F3717B}"/>
              </a:ext>
            </a:extLst>
          </p:cNvPr>
          <p:cNvSpPr/>
          <p:nvPr/>
        </p:nvSpPr>
        <p:spPr>
          <a:xfrm>
            <a:off x="249382" y="5683760"/>
            <a:ext cx="8295690" cy="63125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Helps investors determine the minimum return they should expect for an investment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84E198-E39A-F9C9-4DD3-3E8CC553D5E1}"/>
              </a:ext>
            </a:extLst>
          </p:cNvPr>
          <p:cNvSpPr txBox="1">
            <a:spLocks/>
          </p:cNvSpPr>
          <p:nvPr/>
        </p:nvSpPr>
        <p:spPr>
          <a:xfrm>
            <a:off x="8464533" y="5999390"/>
            <a:ext cx="679467" cy="405323"/>
          </a:xfrm>
          <a:prstGeom prst="rect">
            <a:avLst/>
          </a:prstGeom>
          <a:ln w="12700"/>
        </p:spPr>
        <p:txBody>
          <a:bodyPr lIns="0" tIns="0" rIns="0" bIns="0" numCol="1" spcCol="216000"/>
          <a:lstStyle>
            <a:lvl1pPr marL="0" marR="0" indent="0" algn="l" defTabSz="606425" rtl="0" eaLnBrk="1" fontAlgn="base" latinLnBrk="0" hangingPunct="1">
              <a:lnSpc>
                <a:spcPts val="2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800" b="0" i="0" kern="1200" baseline="0">
                <a:solidFill>
                  <a:schemeClr val="tx1"/>
                </a:solidFill>
                <a:latin typeface="+mn-lt"/>
                <a:ea typeface="Tahoma"/>
                <a:cs typeface="Tahoma"/>
              </a:defRPr>
            </a:lvl1pPr>
            <a:lvl2pPr marL="987425" indent="-377825" algn="l" defTabSz="606425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3700" kern="1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2pPr>
            <a:lvl3pPr marL="1520825" indent="-301625" algn="l" defTabSz="606425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3pPr>
            <a:lvl4pPr marL="2130425" indent="-301625" algn="l" defTabSz="606425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600" kern="1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4pPr>
            <a:lvl5pPr marL="2740025" indent="-301625" algn="l" defTabSz="606425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600" kern="1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5pPr>
            <a:lvl6pPr marL="3352548" indent="-304776" algn="l" defTabSz="609555" rtl="0" eaLnBrk="1" latinLnBrk="0" hangingPunct="1">
              <a:spcBef>
                <a:spcPct val="20000"/>
              </a:spcBef>
              <a:buFont typeface="Arial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104" indent="-304776" algn="l" defTabSz="609555" rtl="0" eaLnBrk="1" latinLnBrk="0" hangingPunct="1">
              <a:spcBef>
                <a:spcPct val="20000"/>
              </a:spcBef>
              <a:buFont typeface="Arial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658" indent="-304776" algn="l" defTabSz="609555" rtl="0" eaLnBrk="1" latinLnBrk="0" hangingPunct="1">
              <a:spcBef>
                <a:spcPct val="20000"/>
              </a:spcBef>
              <a:buFont typeface="Arial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212" indent="-304776" algn="l" defTabSz="609555" rtl="0" eaLnBrk="1" latinLnBrk="0" hangingPunct="1">
              <a:spcBef>
                <a:spcPct val="20000"/>
              </a:spcBef>
              <a:buFont typeface="Arial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F99C4FB-888A-4D12-A1C4-C744D94026CD}" type="slidenum">
              <a:rPr lang="en-GB" sz="135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pPr/>
              <a:t>18</a:t>
            </a:fld>
            <a:endParaRPr lang="en-GB" sz="135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5" name="Left Brace 4">
            <a:extLst>
              <a:ext uri="{FF2B5EF4-FFF2-40B4-BE49-F238E27FC236}">
                <a16:creationId xmlns:a16="http://schemas.microsoft.com/office/drawing/2014/main" id="{394A974E-577E-1B26-13B8-4FF0A45EB695}"/>
              </a:ext>
            </a:extLst>
          </p:cNvPr>
          <p:cNvSpPr/>
          <p:nvPr/>
        </p:nvSpPr>
        <p:spPr>
          <a:xfrm rot="5400000" flipH="1">
            <a:off x="5360956" y="2716480"/>
            <a:ext cx="440889" cy="1425039"/>
          </a:xfrm>
          <a:prstGeom prst="leftBrace">
            <a:avLst>
              <a:gd name="adj1" fmla="val 8333"/>
              <a:gd name="adj2" fmla="val 4932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81202601"/>
      </p:ext>
    </p:extLst>
  </p:cSld>
  <p:clrMapOvr>
    <a:masterClrMapping/>
  </p:clrMapOvr>
  <p:transition spd="slow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B44BFC-0D5C-244E-7FA9-7C37E3CCE0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B3735A-7A3F-9B7D-BD07-5B49C89D01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165" y="253454"/>
            <a:ext cx="7886700" cy="936104"/>
          </a:xfrm>
        </p:spPr>
        <p:txBody>
          <a:bodyPr>
            <a:normAutofit/>
          </a:bodyPr>
          <a:lstStyle/>
          <a:p>
            <a:r>
              <a:rPr lang="en-GB" dirty="0">
                <a:ea typeface="ＭＳ Ｐゴシック"/>
                <a:cs typeface="+mn-cs"/>
              </a:rPr>
              <a:t>Capital Asset Pricing Model (CAPM)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3141955-39F9-9E02-FA72-25194DC6FAE1}"/>
              </a:ext>
            </a:extLst>
          </p:cNvPr>
          <p:cNvSpPr txBox="1"/>
          <p:nvPr/>
        </p:nvSpPr>
        <p:spPr>
          <a:xfrm>
            <a:off x="249382" y="1189558"/>
            <a:ext cx="864523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Clr>
                <a:srgbClr val="1C9DAC"/>
              </a:buClr>
            </a:pPr>
            <a:r>
              <a:rPr lang="en-GB" sz="2400" dirty="0">
                <a:latin typeface="+mn-lt"/>
              </a:rPr>
              <a:t>Figure: The Security Market Line </a:t>
            </a:r>
          </a:p>
          <a:p>
            <a:pPr marL="342900" indent="-342900" algn="just">
              <a:buClr>
                <a:srgbClr val="1C9DAC"/>
              </a:buClr>
              <a:buFont typeface="Arial" panose="020B0604020202020204" pitchFamily="34" charset="0"/>
              <a:buChar char="•"/>
            </a:pPr>
            <a:endParaRPr lang="en-GB" sz="2400" dirty="0">
              <a:latin typeface="+mn-lt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2A6CA9-917B-38CF-5AD6-DFB9B17BE6B6}"/>
              </a:ext>
            </a:extLst>
          </p:cNvPr>
          <p:cNvSpPr txBox="1">
            <a:spLocks/>
          </p:cNvSpPr>
          <p:nvPr/>
        </p:nvSpPr>
        <p:spPr>
          <a:xfrm>
            <a:off x="8554884" y="6068429"/>
            <a:ext cx="679467" cy="405323"/>
          </a:xfrm>
          <a:prstGeom prst="rect">
            <a:avLst/>
          </a:prstGeom>
          <a:ln w="12700"/>
        </p:spPr>
        <p:txBody>
          <a:bodyPr lIns="0" tIns="0" rIns="0" bIns="0" numCol="1" spcCol="216000"/>
          <a:lstStyle>
            <a:lvl1pPr marL="0" marR="0" indent="0" algn="l" defTabSz="606425" rtl="0" eaLnBrk="1" fontAlgn="base" latinLnBrk="0" hangingPunct="1">
              <a:lnSpc>
                <a:spcPts val="2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800" b="0" i="0" kern="1200" baseline="0">
                <a:solidFill>
                  <a:schemeClr val="tx1"/>
                </a:solidFill>
                <a:latin typeface="+mn-lt"/>
                <a:ea typeface="Tahoma"/>
                <a:cs typeface="Tahoma"/>
              </a:defRPr>
            </a:lvl1pPr>
            <a:lvl2pPr marL="987425" indent="-377825" algn="l" defTabSz="606425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3700" kern="1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2pPr>
            <a:lvl3pPr marL="1520825" indent="-301625" algn="l" defTabSz="606425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3pPr>
            <a:lvl4pPr marL="2130425" indent="-301625" algn="l" defTabSz="606425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600" kern="1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4pPr>
            <a:lvl5pPr marL="2740025" indent="-301625" algn="l" defTabSz="606425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600" kern="1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5pPr>
            <a:lvl6pPr marL="3352548" indent="-304776" algn="l" defTabSz="609555" rtl="0" eaLnBrk="1" latinLnBrk="0" hangingPunct="1">
              <a:spcBef>
                <a:spcPct val="20000"/>
              </a:spcBef>
              <a:buFont typeface="Arial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104" indent="-304776" algn="l" defTabSz="609555" rtl="0" eaLnBrk="1" latinLnBrk="0" hangingPunct="1">
              <a:spcBef>
                <a:spcPct val="20000"/>
              </a:spcBef>
              <a:buFont typeface="Arial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658" indent="-304776" algn="l" defTabSz="609555" rtl="0" eaLnBrk="1" latinLnBrk="0" hangingPunct="1">
              <a:spcBef>
                <a:spcPct val="20000"/>
              </a:spcBef>
              <a:buFont typeface="Arial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212" indent="-304776" algn="l" defTabSz="609555" rtl="0" eaLnBrk="1" latinLnBrk="0" hangingPunct="1">
              <a:spcBef>
                <a:spcPct val="20000"/>
              </a:spcBef>
              <a:buFont typeface="Arial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F99C4FB-888A-4D12-A1C4-C744D94026CD}" type="slidenum">
              <a:rPr lang="en-GB" sz="135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pPr/>
              <a:t>19</a:t>
            </a:fld>
            <a:endParaRPr lang="en-GB" sz="135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39FE145-594F-86D1-A44F-5902E55231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6114" y="2020555"/>
            <a:ext cx="5231772" cy="324158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653C1E8-8AC1-187E-A6C2-5DF861E41D64}"/>
              </a:ext>
            </a:extLst>
          </p:cNvPr>
          <p:cNvSpPr txBox="1"/>
          <p:nvPr/>
        </p:nvSpPr>
        <p:spPr>
          <a:xfrm>
            <a:off x="558139" y="5281107"/>
            <a:ext cx="833647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/>
              <a:t>SML helps investors assess whether an asset is correctly priced given its systematic risk.</a:t>
            </a:r>
          </a:p>
          <a:p>
            <a:endParaRPr lang="en-GB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/>
              <a:t>Asset offers higher return for its risk → </a:t>
            </a:r>
            <a:r>
              <a:rPr lang="en-GB" sz="1600" b="1" dirty="0">
                <a:solidFill>
                  <a:srgbClr val="FF0000"/>
                </a:solidFill>
              </a:rPr>
              <a:t>undervalued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/>
              <a:t>Asset offers lower return for its risk → </a:t>
            </a:r>
            <a:r>
              <a:rPr lang="en-GB" sz="1600" b="1" dirty="0">
                <a:solidFill>
                  <a:srgbClr val="FF0000"/>
                </a:solidFill>
              </a:rPr>
              <a:t>overvalued</a:t>
            </a:r>
          </a:p>
          <a:p>
            <a:endParaRPr lang="en-GB" sz="1600" dirty="0"/>
          </a:p>
        </p:txBody>
      </p:sp>
    </p:spTree>
    <p:extLst>
      <p:ext uri="{BB962C8B-B14F-4D97-AF65-F5344CB8AC3E}">
        <p14:creationId xmlns:p14="http://schemas.microsoft.com/office/powerpoint/2010/main" val="569803060"/>
      </p:ext>
    </p:extLst>
  </p:cSld>
  <p:clrMapOvr>
    <a:masterClrMapping/>
  </p:clrMapOvr>
  <p:transition spd="slow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B27592-08CD-B95C-134D-4B060A02C7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585DDC-360D-0D66-3C48-1477CC13AE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9380" y="259520"/>
            <a:ext cx="7886700" cy="936104"/>
          </a:xfrm>
        </p:spPr>
        <p:txBody>
          <a:bodyPr>
            <a:normAutofit/>
          </a:bodyPr>
          <a:lstStyle/>
          <a:p>
            <a:r>
              <a:rPr lang="en-GB" dirty="0">
                <a:ea typeface="ＭＳ Ｐゴシック"/>
                <a:cs typeface="+mn-cs"/>
              </a:rPr>
              <a:t>Application for CAPM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EBCB7FA-38A5-EE70-78EB-B07ADBF50A7F}"/>
              </a:ext>
            </a:extLst>
          </p:cNvPr>
          <p:cNvSpPr txBox="1"/>
          <p:nvPr/>
        </p:nvSpPr>
        <p:spPr>
          <a:xfrm>
            <a:off x="249380" y="976400"/>
            <a:ext cx="864523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Clr>
                <a:srgbClr val="1C9DAC"/>
              </a:buClr>
            </a:pPr>
            <a:r>
              <a:rPr lang="en-GB" sz="2400" dirty="0">
                <a:latin typeface="+mn-lt"/>
              </a:rPr>
              <a:t>ABC Ltd. is a company for which we want to calculate the cost of equity. Given the following information: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B109A2-8FF3-7BB4-EA12-18CB4FA2D4A0}"/>
              </a:ext>
            </a:extLst>
          </p:cNvPr>
          <p:cNvSpPr txBox="1">
            <a:spLocks/>
          </p:cNvSpPr>
          <p:nvPr/>
        </p:nvSpPr>
        <p:spPr>
          <a:xfrm>
            <a:off x="8554883" y="6234683"/>
            <a:ext cx="679467" cy="405323"/>
          </a:xfrm>
          <a:prstGeom prst="rect">
            <a:avLst/>
          </a:prstGeom>
          <a:ln w="12700"/>
        </p:spPr>
        <p:txBody>
          <a:bodyPr lIns="0" tIns="0" rIns="0" bIns="0" numCol="1" spcCol="216000"/>
          <a:lstStyle>
            <a:lvl1pPr marL="0" marR="0" indent="0" algn="l" defTabSz="606425" rtl="0" eaLnBrk="1" fontAlgn="base" latinLnBrk="0" hangingPunct="1">
              <a:lnSpc>
                <a:spcPts val="2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800" b="0" i="0" kern="1200" baseline="0">
                <a:solidFill>
                  <a:schemeClr val="tx1"/>
                </a:solidFill>
                <a:latin typeface="+mn-lt"/>
                <a:ea typeface="Tahoma"/>
                <a:cs typeface="Tahoma"/>
              </a:defRPr>
            </a:lvl1pPr>
            <a:lvl2pPr marL="987425" indent="-377825" algn="l" defTabSz="606425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3700" kern="1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2pPr>
            <a:lvl3pPr marL="1520825" indent="-301625" algn="l" defTabSz="606425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3pPr>
            <a:lvl4pPr marL="2130425" indent="-301625" algn="l" defTabSz="606425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600" kern="1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4pPr>
            <a:lvl5pPr marL="2740025" indent="-301625" algn="l" defTabSz="606425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600" kern="1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5pPr>
            <a:lvl6pPr marL="3352548" indent="-304776" algn="l" defTabSz="609555" rtl="0" eaLnBrk="1" latinLnBrk="0" hangingPunct="1">
              <a:spcBef>
                <a:spcPct val="20000"/>
              </a:spcBef>
              <a:buFont typeface="Arial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104" indent="-304776" algn="l" defTabSz="609555" rtl="0" eaLnBrk="1" latinLnBrk="0" hangingPunct="1">
              <a:spcBef>
                <a:spcPct val="20000"/>
              </a:spcBef>
              <a:buFont typeface="Arial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658" indent="-304776" algn="l" defTabSz="609555" rtl="0" eaLnBrk="1" latinLnBrk="0" hangingPunct="1">
              <a:spcBef>
                <a:spcPct val="20000"/>
              </a:spcBef>
              <a:buFont typeface="Arial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212" indent="-304776" algn="l" defTabSz="609555" rtl="0" eaLnBrk="1" latinLnBrk="0" hangingPunct="1">
              <a:spcBef>
                <a:spcPct val="20000"/>
              </a:spcBef>
              <a:buFont typeface="Arial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F99C4FB-888A-4D12-A1C4-C744D94026CD}" type="slidenum">
              <a:rPr lang="en-GB" sz="135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pPr/>
              <a:t>20</a:t>
            </a:fld>
            <a:endParaRPr lang="en-GB" sz="135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0923BE2-3148-ECB2-46CA-E4A6A5EEA0BA}"/>
              </a:ext>
            </a:extLst>
          </p:cNvPr>
          <p:cNvSpPr txBox="1"/>
          <p:nvPr/>
        </p:nvSpPr>
        <p:spPr>
          <a:xfrm>
            <a:off x="249380" y="1929463"/>
            <a:ext cx="8645236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Clr>
                <a:srgbClr val="1C9DAC"/>
              </a:buClr>
              <a:buFont typeface="Arial" panose="020B0604020202020204" pitchFamily="34" charset="0"/>
              <a:buChar char="•"/>
            </a:pPr>
            <a:r>
              <a:rPr lang="en-GB" sz="2000" dirty="0">
                <a:latin typeface="+mn-lt"/>
              </a:rPr>
              <a:t>Risk-free rate of return = 4%</a:t>
            </a:r>
          </a:p>
          <a:p>
            <a:pPr marL="342900" indent="-342900" algn="just">
              <a:buClr>
                <a:srgbClr val="1C9DAC"/>
              </a:buClr>
              <a:buFont typeface="Arial" panose="020B0604020202020204" pitchFamily="34" charset="0"/>
              <a:buChar char="•"/>
            </a:pPr>
            <a:r>
              <a:rPr lang="en-GB" sz="2000" dirty="0">
                <a:latin typeface="+mn-lt"/>
              </a:rPr>
              <a:t>Equity risk premium = 5%</a:t>
            </a:r>
          </a:p>
          <a:p>
            <a:pPr marL="342900" indent="-342900" algn="just">
              <a:buClr>
                <a:srgbClr val="1C9DAC"/>
              </a:buClr>
              <a:buFont typeface="Arial" panose="020B0604020202020204" pitchFamily="34" charset="0"/>
              <a:buChar char="•"/>
            </a:pPr>
            <a:r>
              <a:rPr lang="en-GB" sz="2000" dirty="0">
                <a:latin typeface="+mn-lt"/>
              </a:rPr>
              <a:t>Beta value of </a:t>
            </a:r>
            <a:r>
              <a:rPr lang="en-GB" sz="2000" dirty="0" err="1">
                <a:latin typeface="+mn-lt"/>
              </a:rPr>
              <a:t>ABC.ltd</a:t>
            </a:r>
            <a:r>
              <a:rPr lang="en-GB" sz="2000" dirty="0">
                <a:latin typeface="+mn-lt"/>
              </a:rPr>
              <a:t>= 1.2</a:t>
            </a:r>
          </a:p>
          <a:p>
            <a:pPr algn="just">
              <a:buClr>
                <a:srgbClr val="1C9DAC"/>
              </a:buClr>
            </a:pPr>
            <a:endParaRPr lang="en-GB" sz="2400" dirty="0">
              <a:latin typeface="+mn-lt"/>
            </a:endParaRPr>
          </a:p>
          <a:p>
            <a:pPr algn="just">
              <a:buClr>
                <a:srgbClr val="1C9DAC"/>
              </a:buClr>
            </a:pPr>
            <a:r>
              <a:rPr lang="en-GB" b="1" dirty="0">
                <a:latin typeface="+mn-lt"/>
              </a:rPr>
              <a:t>Task: </a:t>
            </a:r>
            <a:r>
              <a:rPr lang="en-GB" dirty="0">
                <a:latin typeface="+mn-lt"/>
              </a:rPr>
              <a:t>Calculate the expected return on Ram Co’s equity using the CAPM</a:t>
            </a:r>
          </a:p>
          <a:p>
            <a:pPr algn="just">
              <a:buClr>
                <a:srgbClr val="1C9DAC"/>
              </a:buClr>
            </a:pPr>
            <a:endParaRPr lang="en-GB" dirty="0">
              <a:latin typeface="+mn-lt"/>
            </a:endParaRPr>
          </a:p>
          <a:p>
            <a:pPr algn="ctr">
              <a:buClr>
                <a:srgbClr val="1C9DAC"/>
              </a:buClr>
            </a:pPr>
            <a:r>
              <a:rPr lang="en-GB" sz="2400" dirty="0">
                <a:latin typeface="+mn-lt"/>
              </a:rPr>
              <a:t>E(</a:t>
            </a:r>
            <a:r>
              <a:rPr lang="en-GB" sz="2400" dirty="0" err="1">
                <a:latin typeface="+mn-lt"/>
              </a:rPr>
              <a:t>ri</a:t>
            </a:r>
            <a:r>
              <a:rPr lang="en-GB" sz="2400" dirty="0">
                <a:latin typeface="+mn-lt"/>
              </a:rPr>
              <a:t>) = Rf + β</a:t>
            </a:r>
            <a:r>
              <a:rPr lang="en-GB" sz="2400" dirty="0" err="1">
                <a:latin typeface="+mn-lt"/>
              </a:rPr>
              <a:t>i</a:t>
            </a:r>
            <a:r>
              <a:rPr lang="en-GB" sz="2400" dirty="0">
                <a:latin typeface="+mn-lt"/>
              </a:rPr>
              <a:t> (E(rm) – Rf) = 4 + (1.2 x 5) = 10%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7E1B376-0DA5-4D86-42A4-F62F572C6E15}"/>
              </a:ext>
            </a:extLst>
          </p:cNvPr>
          <p:cNvSpPr txBox="1"/>
          <p:nvPr/>
        </p:nvSpPr>
        <p:spPr>
          <a:xfrm>
            <a:off x="249380" y="4636852"/>
            <a:ext cx="8645237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Investors would expect at least 10% return for investing in ABC Ltd.’s equity, given the risk it carries.</a:t>
            </a:r>
          </a:p>
          <a:p>
            <a:endParaRPr lang="en-GB" b="1" dirty="0"/>
          </a:p>
          <a:p>
            <a:r>
              <a:rPr lang="en-GB" b="1" dirty="0">
                <a:solidFill>
                  <a:srgbClr val="FF0000"/>
                </a:solidFill>
              </a:rPr>
              <a:t>Pricing signal:</a:t>
            </a:r>
            <a:endParaRPr lang="en-GB" dirty="0">
              <a:solidFill>
                <a:srgbClr val="FF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If the stock is expected to return more than 10%, it may be undervalued.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If the stock is expected to return less than 10%, it may be overvalued.</a:t>
            </a:r>
          </a:p>
        </p:txBody>
      </p:sp>
    </p:spTree>
    <p:extLst>
      <p:ext uri="{BB962C8B-B14F-4D97-AF65-F5344CB8AC3E}">
        <p14:creationId xmlns:p14="http://schemas.microsoft.com/office/powerpoint/2010/main" val="4039445659"/>
      </p:ext>
    </p:extLst>
  </p:cSld>
  <p:clrMapOvr>
    <a:masterClrMapping/>
  </p:clrMapOvr>
  <p:transition spd="slow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8A5AD6-2F88-F9AD-204B-91C090B9E5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7BD551-EA87-11D0-C062-F0CF5F4E28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751" y="650799"/>
            <a:ext cx="7886700" cy="936104"/>
          </a:xfrm>
        </p:spPr>
        <p:txBody>
          <a:bodyPr>
            <a:normAutofit/>
          </a:bodyPr>
          <a:lstStyle/>
          <a:p>
            <a:r>
              <a:rPr lang="en-GB" dirty="0"/>
              <a:t>Advantages &amp; Disadvantages of CAPM</a:t>
            </a:r>
            <a:endParaRPr lang="en-GB" dirty="0">
              <a:ea typeface="ＭＳ Ｐゴシック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3453925-41A9-F9C0-194F-CCEF1D855106}"/>
              </a:ext>
            </a:extLst>
          </p:cNvPr>
          <p:cNvSpPr txBox="1"/>
          <p:nvPr/>
        </p:nvSpPr>
        <p:spPr>
          <a:xfrm>
            <a:off x="249380" y="1392037"/>
            <a:ext cx="8645236" cy="4815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Clr>
                <a:srgbClr val="1C9DAC"/>
              </a:buClr>
            </a:pPr>
            <a:r>
              <a:rPr lang="en-GB" sz="2000" b="1" dirty="0">
                <a:latin typeface="+mn-lt"/>
              </a:rPr>
              <a:t>Advantages:</a:t>
            </a:r>
          </a:p>
          <a:p>
            <a:pPr algn="just">
              <a:buClr>
                <a:srgbClr val="1C9DAC"/>
              </a:buClr>
            </a:pPr>
            <a:endParaRPr lang="en-GB" sz="2000" dirty="0">
              <a:latin typeface="+mn-lt"/>
            </a:endParaRPr>
          </a:p>
          <a:p>
            <a:pPr marL="342900" indent="-342900" algn="just">
              <a:lnSpc>
                <a:spcPct val="150000"/>
              </a:lnSpc>
              <a:buClr>
                <a:srgbClr val="1C9DAC"/>
              </a:buClr>
              <a:buFont typeface="Arial" panose="020B0604020202020204" pitchFamily="34" charset="0"/>
              <a:buChar char="•"/>
            </a:pPr>
            <a:r>
              <a:rPr lang="en-GB" sz="2000" dirty="0">
                <a:latin typeface="+mn-lt"/>
              </a:rPr>
              <a:t>Focuses only on market (systematic) risk, ignoring company-specific risk.</a:t>
            </a:r>
          </a:p>
          <a:p>
            <a:pPr marL="342900" indent="-342900" algn="just">
              <a:lnSpc>
                <a:spcPct val="150000"/>
              </a:lnSpc>
              <a:buClr>
                <a:srgbClr val="1C9DAC"/>
              </a:buClr>
              <a:buFont typeface="Arial" panose="020B0604020202020204" pitchFamily="34" charset="0"/>
              <a:buChar char="•"/>
            </a:pPr>
            <a:r>
              <a:rPr lang="en-GB" sz="2000" dirty="0">
                <a:latin typeface="+mn-lt"/>
              </a:rPr>
              <a:t>Based on theory and research, tested over decades.</a:t>
            </a:r>
          </a:p>
          <a:p>
            <a:pPr marL="342900" indent="-342900" algn="just">
              <a:lnSpc>
                <a:spcPct val="150000"/>
              </a:lnSpc>
              <a:buClr>
                <a:srgbClr val="1C9DAC"/>
              </a:buClr>
              <a:buFont typeface="Arial" panose="020B0604020202020204" pitchFamily="34" charset="0"/>
              <a:buChar char="•"/>
            </a:pPr>
            <a:r>
              <a:rPr lang="en-GB" sz="2000" dirty="0">
                <a:latin typeface="+mn-lt"/>
              </a:rPr>
              <a:t>Helps calculate fair discount rates for investments, better than WACC.</a:t>
            </a:r>
          </a:p>
          <a:p>
            <a:pPr marL="342900" indent="-342900" algn="just">
              <a:lnSpc>
                <a:spcPct val="150000"/>
              </a:lnSpc>
              <a:buClr>
                <a:srgbClr val="1C9DAC"/>
              </a:buClr>
              <a:buFont typeface="Arial" panose="020B0604020202020204" pitchFamily="34" charset="0"/>
              <a:buChar char="•"/>
            </a:pPr>
            <a:endParaRPr lang="en-GB" sz="2000" dirty="0">
              <a:latin typeface="+mn-lt"/>
            </a:endParaRPr>
          </a:p>
          <a:p>
            <a:pPr algn="just">
              <a:lnSpc>
                <a:spcPct val="150000"/>
              </a:lnSpc>
              <a:buClr>
                <a:srgbClr val="1C9DAC"/>
              </a:buClr>
            </a:pPr>
            <a:r>
              <a:rPr lang="en-GB" sz="2000" b="1" dirty="0">
                <a:latin typeface="+mn-lt"/>
              </a:rPr>
              <a:t>Disadvantages:</a:t>
            </a:r>
          </a:p>
          <a:p>
            <a:pPr marL="342900" indent="-342900" algn="just">
              <a:lnSpc>
                <a:spcPct val="150000"/>
              </a:lnSpc>
              <a:buClr>
                <a:srgbClr val="1C9DAC"/>
              </a:buClr>
              <a:buFont typeface="Arial" panose="020B0604020202020204" pitchFamily="34" charset="0"/>
              <a:buChar char="•"/>
            </a:pPr>
            <a:r>
              <a:rPr lang="en-GB" sz="2000" dirty="0">
                <a:latin typeface="+mn-lt"/>
              </a:rPr>
              <a:t>Must estimate risk-free rate, market return, equity premium, and beta.</a:t>
            </a:r>
          </a:p>
          <a:p>
            <a:pPr marL="342900" indent="-342900" algn="just">
              <a:lnSpc>
                <a:spcPct val="150000"/>
              </a:lnSpc>
              <a:buClr>
                <a:srgbClr val="1C9DAC"/>
              </a:buClr>
              <a:buFont typeface="Arial" panose="020B0604020202020204" pitchFamily="34" charset="0"/>
              <a:buChar char="•"/>
            </a:pPr>
            <a:r>
              <a:rPr lang="en-GB" sz="2000" dirty="0">
                <a:latin typeface="+mn-lt"/>
              </a:rPr>
              <a:t>Risk-free rate and equity premium can change over time → affects accuracy.</a:t>
            </a:r>
          </a:p>
          <a:p>
            <a:pPr marL="342900" indent="-342900" algn="just">
              <a:lnSpc>
                <a:spcPct val="150000"/>
              </a:lnSpc>
              <a:buClr>
                <a:srgbClr val="1C9DAC"/>
              </a:buClr>
              <a:buFont typeface="Arial" panose="020B0604020202020204" pitchFamily="34" charset="0"/>
              <a:buChar char="•"/>
            </a:pPr>
            <a:r>
              <a:rPr lang="en-GB" sz="2000" dirty="0">
                <a:latin typeface="+mn-lt"/>
              </a:rPr>
              <a:t>Beta changes over time → expected returns are uncertain.</a:t>
            </a:r>
          </a:p>
          <a:p>
            <a:pPr marL="342900" indent="-342900" algn="just">
              <a:lnSpc>
                <a:spcPct val="150000"/>
              </a:lnSpc>
              <a:buClr>
                <a:srgbClr val="1C9DAC"/>
              </a:buClr>
              <a:buFont typeface="Arial" panose="020B0604020202020204" pitchFamily="34" charset="0"/>
              <a:buChar char="•"/>
            </a:pPr>
            <a:r>
              <a:rPr lang="en-GB" sz="2000" dirty="0">
                <a:latin typeface="+mn-lt"/>
              </a:rPr>
              <a:t>Estimating inputs introduces uncertainty in the cost of equity.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A531AA-0402-C203-CCC7-739FABFB595D}"/>
              </a:ext>
            </a:extLst>
          </p:cNvPr>
          <p:cNvSpPr txBox="1">
            <a:spLocks/>
          </p:cNvSpPr>
          <p:nvPr/>
        </p:nvSpPr>
        <p:spPr>
          <a:xfrm>
            <a:off x="8554883" y="6234683"/>
            <a:ext cx="679467" cy="405323"/>
          </a:xfrm>
          <a:prstGeom prst="rect">
            <a:avLst/>
          </a:prstGeom>
          <a:ln w="12700"/>
        </p:spPr>
        <p:txBody>
          <a:bodyPr lIns="0" tIns="0" rIns="0" bIns="0" numCol="1" spcCol="216000"/>
          <a:lstStyle>
            <a:lvl1pPr marL="0" marR="0" indent="0" algn="l" defTabSz="606425" rtl="0" eaLnBrk="1" fontAlgn="base" latinLnBrk="0" hangingPunct="1">
              <a:lnSpc>
                <a:spcPts val="2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800" b="0" i="0" kern="1200" baseline="0">
                <a:solidFill>
                  <a:schemeClr val="tx1"/>
                </a:solidFill>
                <a:latin typeface="+mn-lt"/>
                <a:ea typeface="Tahoma"/>
                <a:cs typeface="Tahoma"/>
              </a:defRPr>
            </a:lvl1pPr>
            <a:lvl2pPr marL="987425" indent="-377825" algn="l" defTabSz="606425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3700" kern="1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2pPr>
            <a:lvl3pPr marL="1520825" indent="-301625" algn="l" defTabSz="606425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3pPr>
            <a:lvl4pPr marL="2130425" indent="-301625" algn="l" defTabSz="606425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600" kern="1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4pPr>
            <a:lvl5pPr marL="2740025" indent="-301625" algn="l" defTabSz="606425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600" kern="1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5pPr>
            <a:lvl6pPr marL="3352548" indent="-304776" algn="l" defTabSz="609555" rtl="0" eaLnBrk="1" latinLnBrk="0" hangingPunct="1">
              <a:spcBef>
                <a:spcPct val="20000"/>
              </a:spcBef>
              <a:buFont typeface="Arial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104" indent="-304776" algn="l" defTabSz="609555" rtl="0" eaLnBrk="1" latinLnBrk="0" hangingPunct="1">
              <a:spcBef>
                <a:spcPct val="20000"/>
              </a:spcBef>
              <a:buFont typeface="Arial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658" indent="-304776" algn="l" defTabSz="609555" rtl="0" eaLnBrk="1" latinLnBrk="0" hangingPunct="1">
              <a:spcBef>
                <a:spcPct val="20000"/>
              </a:spcBef>
              <a:buFont typeface="Arial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212" indent="-304776" algn="l" defTabSz="609555" rtl="0" eaLnBrk="1" latinLnBrk="0" hangingPunct="1">
              <a:spcBef>
                <a:spcPct val="20000"/>
              </a:spcBef>
              <a:buFont typeface="Arial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F99C4FB-888A-4D12-A1C4-C744D94026CD}" type="slidenum">
              <a:rPr lang="en-GB" sz="135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pPr/>
              <a:t>21</a:t>
            </a:fld>
            <a:endParaRPr lang="en-GB" sz="135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1554900"/>
      </p:ext>
    </p:extLst>
  </p:cSld>
  <p:clrMapOvr>
    <a:masterClrMapping/>
  </p:clrMapOvr>
  <p:transition spd="slow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649623-FE7D-9441-C6F6-D5E2379ED7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BF5433-5886-2A89-3131-5344A3387F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552" y="300955"/>
            <a:ext cx="7886700" cy="936104"/>
          </a:xfrm>
        </p:spPr>
        <p:txBody>
          <a:bodyPr>
            <a:normAutofit/>
          </a:bodyPr>
          <a:lstStyle/>
          <a:p>
            <a:r>
              <a:rPr lang="en-GB" dirty="0">
                <a:ea typeface="ＭＳ Ｐゴシック"/>
                <a:cs typeface="+mn-cs"/>
              </a:rPr>
              <a:t>Key Takeaways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8EB65EC-055C-E7D3-1455-1F32FF9313D9}"/>
              </a:ext>
            </a:extLst>
          </p:cNvPr>
          <p:cNvSpPr txBox="1"/>
          <p:nvPr/>
        </p:nvSpPr>
        <p:spPr>
          <a:xfrm>
            <a:off x="285008" y="1308311"/>
            <a:ext cx="8502732" cy="37379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Clr>
                <a:srgbClr val="1C9DAC"/>
              </a:buClr>
              <a:buFont typeface="Arial" panose="020B0604020202020204" pitchFamily="34" charset="0"/>
              <a:buChar char="•"/>
            </a:pPr>
            <a:r>
              <a:rPr lang="en-GB" sz="2000" dirty="0">
                <a:latin typeface="+mn-lt"/>
              </a:rPr>
              <a:t>Portfolio theory helps reduce unsystematic risk through diversification.</a:t>
            </a:r>
          </a:p>
          <a:p>
            <a:pPr marL="342900" indent="-342900" algn="just">
              <a:lnSpc>
                <a:spcPct val="150000"/>
              </a:lnSpc>
              <a:buClr>
                <a:srgbClr val="1C9DAC"/>
              </a:buClr>
              <a:buFont typeface="Arial" panose="020B0604020202020204" pitchFamily="34" charset="0"/>
              <a:buChar char="•"/>
            </a:pPr>
            <a:r>
              <a:rPr lang="en-GB" sz="2000" dirty="0">
                <a:latin typeface="+mn-lt"/>
              </a:rPr>
              <a:t>The efficient frontier shows portfolios with the highest return for a given level of risk.</a:t>
            </a:r>
          </a:p>
          <a:p>
            <a:pPr marL="342900" indent="-342900" algn="just">
              <a:lnSpc>
                <a:spcPct val="150000"/>
              </a:lnSpc>
              <a:buClr>
                <a:srgbClr val="1C9DAC"/>
              </a:buClr>
              <a:buFont typeface="Arial" panose="020B0604020202020204" pitchFamily="34" charset="0"/>
              <a:buChar char="•"/>
            </a:pPr>
            <a:r>
              <a:rPr lang="en-GB" sz="2000" dirty="0">
                <a:latin typeface="+mn-lt"/>
              </a:rPr>
              <a:t>CAPM links expected return to systematic risk (beta).</a:t>
            </a:r>
          </a:p>
          <a:p>
            <a:pPr marL="342900" indent="-342900" algn="just">
              <a:lnSpc>
                <a:spcPct val="150000"/>
              </a:lnSpc>
              <a:buClr>
                <a:srgbClr val="1C9DAC"/>
              </a:buClr>
              <a:buFont typeface="Arial" panose="020B0604020202020204" pitchFamily="34" charset="0"/>
              <a:buChar char="•"/>
            </a:pPr>
            <a:r>
              <a:rPr lang="en-GB" sz="2000" dirty="0">
                <a:latin typeface="+mn-lt"/>
              </a:rPr>
              <a:t>Beta (β) measures an asset’s sensitivity to market movements.</a:t>
            </a:r>
          </a:p>
          <a:p>
            <a:pPr marL="342900" indent="-342900" algn="just">
              <a:lnSpc>
                <a:spcPct val="150000"/>
              </a:lnSpc>
              <a:buClr>
                <a:srgbClr val="1C9DAC"/>
              </a:buClr>
              <a:buFont typeface="Arial" panose="020B0604020202020204" pitchFamily="34" charset="0"/>
              <a:buChar char="•"/>
            </a:pPr>
            <a:r>
              <a:rPr lang="en-GB" sz="2000" dirty="0">
                <a:latin typeface="+mn-lt"/>
              </a:rPr>
              <a:t>The Security Market Line illustrates the risk-return trade-off for all assets.</a:t>
            </a:r>
          </a:p>
          <a:p>
            <a:pPr marL="342900" indent="-342900" algn="just">
              <a:lnSpc>
                <a:spcPct val="150000"/>
              </a:lnSpc>
              <a:buClr>
                <a:srgbClr val="1C9DAC"/>
              </a:buClr>
              <a:buFont typeface="Arial" panose="020B0604020202020204" pitchFamily="34" charset="0"/>
              <a:buChar char="•"/>
            </a:pPr>
            <a:r>
              <a:rPr lang="en-GB" sz="2000" dirty="0">
                <a:latin typeface="+mn-lt"/>
              </a:rPr>
              <a:t>CAPM can be used to calculate the cost of equity for investment and valuation decisions.</a:t>
            </a:r>
          </a:p>
        </p:txBody>
      </p:sp>
    </p:spTree>
    <p:extLst>
      <p:ext uri="{BB962C8B-B14F-4D97-AF65-F5344CB8AC3E}">
        <p14:creationId xmlns:p14="http://schemas.microsoft.com/office/powerpoint/2010/main" val="3038646642"/>
      </p:ext>
    </p:extLst>
  </p:cSld>
  <p:clrMapOvr>
    <a:masterClrMapping/>
  </p:clrMapOvr>
  <p:transition spd="slow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CEF63F-563D-6F15-6E35-527012BE60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olourful face in profile with colourful clouds representing the person&amp;#39;s thoughts&#10;&#10;">
            <a:extLst>
              <a:ext uri="{FF2B5EF4-FFF2-40B4-BE49-F238E27FC236}">
                <a16:creationId xmlns:a16="http://schemas.microsoft.com/office/drawing/2014/main" id="{CA16E290-4DED-2565-AD58-C48504DF51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7530" y="3982981"/>
            <a:ext cx="3426470" cy="2344428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7533E3BD-E764-77C4-8128-EDF68B02753E}"/>
              </a:ext>
            </a:extLst>
          </p:cNvPr>
          <p:cNvSpPr/>
          <p:nvPr/>
        </p:nvSpPr>
        <p:spPr>
          <a:xfrm>
            <a:off x="6127737" y="6327409"/>
            <a:ext cx="3016263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191B26"/>
                </a:solidFill>
                <a:effectLst/>
                <a:uLnTx/>
                <a:uFillTx/>
                <a:latin typeface="Calibri"/>
                <a:ea typeface="ＭＳ Ｐゴシック" charset="-128"/>
                <a:cs typeface="+mn-cs"/>
              </a:rPr>
              <a:t>Image by </a:t>
            </a:r>
            <a:r>
              <a:rPr kumimoji="0" lang="en-GB" sz="1200" b="0" i="0" u="sng" strike="noStrike" kern="1200" cap="none" spc="0" normalizeH="0" baseline="0" noProof="0" err="1">
                <a:ln>
                  <a:noFill/>
                </a:ln>
                <a:solidFill>
                  <a:srgbClr val="191B26"/>
                </a:solidFill>
                <a:effectLst/>
                <a:uLnTx/>
                <a:uFillTx/>
                <a:latin typeface="Calibri"/>
                <a:ea typeface="ＭＳ Ｐゴシック" charset="-128"/>
                <a:cs typeface="+mn-cs"/>
                <a:hlinkClick r:id="rId4"/>
              </a:rPr>
              <a:t>Gerd</a:t>
            </a:r>
            <a:r>
              <a:rPr kumimoji="0" lang="en-GB" sz="1200" b="0" i="0" u="sng" strike="noStrike" kern="1200" cap="none" spc="0" normalizeH="0" baseline="0" noProof="0">
                <a:ln>
                  <a:noFill/>
                </a:ln>
                <a:solidFill>
                  <a:srgbClr val="191B26"/>
                </a:solidFill>
                <a:effectLst/>
                <a:uLnTx/>
                <a:uFillTx/>
                <a:latin typeface="Calibri"/>
                <a:ea typeface="ＭＳ Ｐゴシック" charset="-128"/>
                <a:cs typeface="+mn-cs"/>
                <a:hlinkClick r:id="rId4"/>
              </a:rPr>
              <a:t> </a:t>
            </a:r>
            <a:r>
              <a:rPr kumimoji="0" lang="en-GB" sz="1200" b="0" i="0" u="sng" strike="noStrike" kern="1200" cap="none" spc="0" normalizeH="0" baseline="0" noProof="0" err="1">
                <a:ln>
                  <a:noFill/>
                </a:ln>
                <a:solidFill>
                  <a:srgbClr val="191B26"/>
                </a:solidFill>
                <a:effectLst/>
                <a:uLnTx/>
                <a:uFillTx/>
                <a:latin typeface="Calibri"/>
                <a:ea typeface="ＭＳ Ｐゴシック" charset="-128"/>
                <a:cs typeface="+mn-cs"/>
                <a:hlinkClick r:id="rId4"/>
              </a:rPr>
              <a:t>Altmann</a:t>
            </a: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191B26"/>
                </a:solidFill>
                <a:effectLst/>
                <a:uLnTx/>
                <a:uFillTx/>
                <a:latin typeface="Calibri"/>
                <a:ea typeface="ＭＳ Ｐゴシック" charset="-128"/>
                <a:cs typeface="+mn-cs"/>
              </a:rPr>
              <a:t> from </a:t>
            </a:r>
            <a:r>
              <a:rPr kumimoji="0" lang="en-GB" sz="1200" b="0" i="0" u="sng" strike="noStrike" kern="1200" cap="none" spc="0" normalizeH="0" baseline="0" noProof="0" err="1">
                <a:ln>
                  <a:noFill/>
                </a:ln>
                <a:solidFill>
                  <a:srgbClr val="191B26"/>
                </a:solidFill>
                <a:effectLst/>
                <a:uLnTx/>
                <a:uFillTx/>
                <a:latin typeface="Calibri"/>
                <a:ea typeface="ＭＳ Ｐゴシック" charset="-128"/>
                <a:cs typeface="+mn-cs"/>
                <a:hlinkClick r:id="rId5"/>
              </a:rPr>
              <a:t>Pixabay</a:t>
            </a: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191B26"/>
                </a:solidFill>
                <a:effectLst/>
                <a:uLnTx/>
                <a:uFillTx/>
                <a:latin typeface="Open Sans" panose="020B0606030504020204" pitchFamily="34" charset="0"/>
                <a:ea typeface="ＭＳ Ｐゴシック" charset="-128"/>
                <a:cs typeface="+mn-cs"/>
              </a:rPr>
              <a:t> </a:t>
            </a:r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ＭＳ Ｐゴシック" charset="-128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CC4A85-50BC-36B0-A56C-4FFF51CDA3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552" y="300955"/>
            <a:ext cx="7886700" cy="936104"/>
          </a:xfrm>
        </p:spPr>
        <p:txBody>
          <a:bodyPr>
            <a:normAutofit/>
          </a:bodyPr>
          <a:lstStyle/>
          <a:p>
            <a:r>
              <a:rPr lang="en-GB" dirty="0">
                <a:ea typeface="ＭＳ Ｐゴシック"/>
                <a:cs typeface="+mn-cs"/>
              </a:rPr>
              <a:t>Additional Reading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9E58475-5FE5-5B4A-B84B-111519663C58}"/>
              </a:ext>
            </a:extLst>
          </p:cNvPr>
          <p:cNvSpPr txBox="1"/>
          <p:nvPr/>
        </p:nvSpPr>
        <p:spPr>
          <a:xfrm>
            <a:off x="539552" y="1189139"/>
            <a:ext cx="8461944" cy="27938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  <a:defRPr/>
            </a:pPr>
            <a:r>
              <a:rPr lang="en-GB" sz="2400" dirty="0">
                <a:solidFill>
                  <a:prstClr val="black"/>
                </a:solidFill>
              </a:rPr>
              <a:t>Chapters 12 – Risk and Return (</a:t>
            </a:r>
            <a:r>
              <a:rPr lang="en-GB" sz="2400" dirty="0"/>
              <a:t>Hillier, David. </a:t>
            </a:r>
            <a:r>
              <a:rPr lang="en-GB" sz="2400" i="1" dirty="0" err="1"/>
              <a:t>EBook</a:t>
            </a:r>
            <a:r>
              <a:rPr lang="en-GB" sz="2400" i="1" dirty="0"/>
              <a:t> Fundamentals of Corporate Finance 4e</a:t>
            </a:r>
            <a:r>
              <a:rPr lang="en-GB" sz="2400" dirty="0"/>
              <a:t>, McGraw-Hill UK Higher Ed, 2021.)</a:t>
            </a:r>
          </a:p>
          <a:p>
            <a:pPr lvl="0">
              <a:lnSpc>
                <a:spcPct val="150000"/>
              </a:lnSpc>
              <a:defRPr/>
            </a:pPr>
            <a:endParaRPr lang="en-GB" sz="2400" dirty="0">
              <a:solidFill>
                <a:prstClr val="black"/>
              </a:solidFill>
            </a:endParaRPr>
          </a:p>
          <a:p>
            <a:pPr lvl="0">
              <a:lnSpc>
                <a:spcPct val="150000"/>
              </a:lnSpc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ＭＳ Ｐゴシック" charset="-128"/>
                <a:cs typeface="+mn-cs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897914418"/>
      </p:ext>
    </p:extLst>
  </p:cSld>
  <p:clrMapOvr>
    <a:masterClrMapping/>
  </p:clrMapOvr>
  <p:transition spd="slow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F0632B-2FCE-B6ED-C419-427E610D5F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GB" dirty="0"/>
              <a:t>Next Week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93D38A-6D63-08BB-0FBC-2882D123147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99592" y="3317479"/>
            <a:ext cx="6515620" cy="994172"/>
          </a:xfrm>
        </p:spPr>
        <p:txBody>
          <a:bodyPr/>
          <a:lstStyle/>
          <a:p>
            <a:r>
              <a:rPr lang="en-GB" sz="2800" dirty="0">
                <a:latin typeface="Segoe Sans"/>
              </a:rPr>
              <a:t>Sources of Finance</a:t>
            </a:r>
          </a:p>
        </p:txBody>
      </p:sp>
    </p:spTree>
    <p:extLst>
      <p:ext uri="{BB962C8B-B14F-4D97-AF65-F5344CB8AC3E}">
        <p14:creationId xmlns:p14="http://schemas.microsoft.com/office/powerpoint/2010/main" val="1668558411"/>
      </p:ext>
    </p:extLst>
  </p:cSld>
  <p:clrMapOvr>
    <a:masterClrMapping/>
  </p:clrMapOvr>
  <p:transition spd="slow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9EE90CF-9BC2-4DF3-0111-83CC006E8231}"/>
              </a:ext>
            </a:extLst>
          </p:cNvPr>
          <p:cNvSpPr txBox="1">
            <a:spLocks/>
          </p:cNvSpPr>
          <p:nvPr/>
        </p:nvSpPr>
        <p:spPr>
          <a:xfrm>
            <a:off x="2275453" y="1387083"/>
            <a:ext cx="4894067" cy="728941"/>
          </a:xfrm>
          <a:prstGeom prst="rect">
            <a:avLst/>
          </a:prstGeom>
        </p:spPr>
        <p:txBody>
          <a:bodyPr vert="horz" lIns="51435" tIns="25718" rIns="51435" bIns="25718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5400" dirty="0">
                <a:solidFill>
                  <a:srgbClr val="1A9DAC"/>
                </a:solidFill>
                <a:latin typeface="Calibri"/>
                <a:ea typeface="Calibri"/>
                <a:cs typeface="Calibri"/>
              </a:rPr>
              <a:t>Any Questions??</a:t>
            </a:r>
          </a:p>
        </p:txBody>
      </p:sp>
      <p:pic>
        <p:nvPicPr>
          <p:cNvPr id="5" name="Content Placeholder 4" title="University of the West of England (UWE Bristol) logo">
            <a:extLst>
              <a:ext uri="{FF2B5EF4-FFF2-40B4-BE49-F238E27FC236}">
                <a16:creationId xmlns:a16="http://schemas.microsoft.com/office/drawing/2014/main" id="{51A6B38C-5192-DC97-793D-6B9919BDEA8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7418" y="5032"/>
            <a:ext cx="1166332" cy="588386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9B447B4-B2E4-02F7-BA46-84C2032BE2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25</a:t>
            </a:fld>
            <a:endParaRPr lang="en-US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41CD6054-C516-679B-E4C5-C54BF9AC7A09}"/>
              </a:ext>
            </a:extLst>
          </p:cNvPr>
          <p:cNvSpPr txBox="1">
            <a:spLocks/>
          </p:cNvSpPr>
          <p:nvPr/>
        </p:nvSpPr>
        <p:spPr>
          <a:xfrm>
            <a:off x="395978" y="1190977"/>
            <a:ext cx="6436942" cy="2990422"/>
          </a:xfrm>
          <a:prstGeom prst="rect">
            <a:avLst/>
          </a:prstGeom>
        </p:spPr>
        <p:txBody>
          <a:bodyPr vert="horz" lIns="51435" tIns="25718" rIns="51435" bIns="25718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lnSpc>
                <a:spcPct val="140000"/>
              </a:lnSpc>
              <a:buFont typeface="Wingdings" pitchFamily="2"/>
              <a:buChar char="§"/>
            </a:pPr>
            <a:endParaRPr lang="en-GB" sz="1055" dirty="0"/>
          </a:p>
          <a:p>
            <a:pPr marL="0" indent="0">
              <a:lnSpc>
                <a:spcPct val="70000"/>
              </a:lnSpc>
              <a:buNone/>
            </a:pPr>
            <a:endParaRPr lang="en-GB" sz="1097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0E1E9C50-4117-0E3A-D80D-31DB1C39F299}"/>
              </a:ext>
            </a:extLst>
          </p:cNvPr>
          <p:cNvSpPr txBox="1">
            <a:spLocks/>
          </p:cNvSpPr>
          <p:nvPr/>
        </p:nvSpPr>
        <p:spPr>
          <a:xfrm>
            <a:off x="395979" y="3883230"/>
            <a:ext cx="7976126" cy="2148263"/>
          </a:xfrm>
          <a:prstGeom prst="rect">
            <a:avLst/>
          </a:prstGeom>
        </p:spPr>
        <p:txBody>
          <a:bodyPr vert="horz" lIns="51435" tIns="25718" rIns="51435" bIns="25718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/>
            <a:r>
              <a:rPr lang="en-GB" sz="3600" dirty="0">
                <a:latin typeface="Calibri"/>
                <a:ea typeface="Calibri"/>
                <a:cs typeface="Calibri"/>
              </a:rPr>
              <a:t>If you have questions or find any topic challenging, please feel free to contact me: </a:t>
            </a:r>
            <a:r>
              <a:rPr lang="en-GB" sz="3600" dirty="0">
                <a:latin typeface="Calibri"/>
                <a:ea typeface="Calibri"/>
                <a:cs typeface="Calibri"/>
                <a:hlinkClick r:id="rId4"/>
              </a:rPr>
              <a:t>adnan.aslam@uwe.ac.uk</a:t>
            </a:r>
            <a:r>
              <a:rPr lang="en-GB" sz="3600" dirty="0">
                <a:latin typeface="Calibri"/>
                <a:ea typeface="Calibri"/>
                <a:cs typeface="Calibri"/>
              </a:rPr>
              <a:t> to book an appointment or get clarification.</a:t>
            </a:r>
          </a:p>
        </p:txBody>
      </p:sp>
    </p:spTree>
    <p:extLst>
      <p:ext uri="{BB962C8B-B14F-4D97-AF65-F5344CB8AC3E}">
        <p14:creationId xmlns:p14="http://schemas.microsoft.com/office/powerpoint/2010/main" val="218390813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UIDATA" val="&lt;database version=&quot;8.0&quot;&gt;&lt;object type=&quot;1&quot; unique_id=&quot;10001&quot;&gt;&lt;object type=&quot;2&quot; unique_id=&quot;10073&quot;&gt;&lt;object type=&quot;3&quot; unique_id=&quot;10074&quot;&gt;&lt;property id=&quot;20148&quot; value=&quot;5&quot;/&gt;&lt;property id=&quot;20300&quot; value=&quot;Slide 1&quot;/&gt;&lt;property id=&quot;20307&quot; value=&quot;256&quot;/&gt;&lt;/object&gt;&lt;object type=&quot;3&quot; unique_id=&quot;10075&quot;&gt;&lt;property id=&quot;20148&quot; value=&quot;5&quot;/&gt;&lt;property id=&quot;20300&quot; value=&quot;Slide 2&quot;/&gt;&lt;property id=&quot;20307&quot; value=&quot;260&quot;/&gt;&lt;/object&gt;&lt;object type=&quot;3&quot; unique_id=&quot;10076&quot;&gt;&lt;property id=&quot;20148&quot; value=&quot;5&quot;/&gt;&lt;property id=&quot;20300&quot; value=&quot;Slide 3&quot;/&gt;&lt;property id=&quot;20307&quot; value=&quot;267&quot;/&gt;&lt;/object&gt;&lt;object type=&quot;3&quot; unique_id=&quot;10077&quot;&gt;&lt;property id=&quot;20148&quot; value=&quot;5&quot;/&gt;&lt;property id=&quot;20300&quot; value=&quot;Slide 4&quot;/&gt;&lt;property id=&quot;20307&quot; value=&quot;264&quot;/&gt;&lt;/object&gt;&lt;object type=&quot;3&quot; unique_id=&quot;10078&quot;&gt;&lt;property id=&quot;20148&quot; value=&quot;5&quot;/&gt;&lt;property id=&quot;20300&quot; value=&quot;Slide 5&quot;/&gt;&lt;property id=&quot;20307&quot; value=&quot;268&quot;/&gt;&lt;/object&gt;&lt;object type=&quot;3&quot; unique_id=&quot;10079&quot;&gt;&lt;property id=&quot;20148&quot; value=&quot;5&quot;/&gt;&lt;property id=&quot;20300&quot; value=&quot;Slide 6&quot;/&gt;&lt;property id=&quot;20307&quot; value=&quot;265&quot;/&gt;&lt;/object&gt;&lt;object type=&quot;3&quot; unique_id=&quot;10080&quot;&gt;&lt;property id=&quot;20148&quot; value=&quot;5&quot;/&gt;&lt;property id=&quot;20300&quot; value=&quot;Slide 7&quot;/&gt;&lt;property id=&quot;20307&quot; value=&quot;266&quot;/&gt;&lt;/object&gt;&lt;object type=&quot;3&quot; unique_id=&quot;10081&quot;&gt;&lt;property id=&quot;20148&quot; value=&quot;5&quot;/&gt;&lt;property id=&quot;20300&quot; value=&quot;Slide 8&quot;/&gt;&lt;property id=&quot;20307&quot; value=&quot;262&quot;/&gt;&lt;/object&gt;&lt;object type=&quot;3&quot; unique_id=&quot;10082&quot;&gt;&lt;property id=&quot;20148&quot; value=&quot;5&quot;/&gt;&lt;property id=&quot;20300&quot; value=&quot;Slide 9&quot;/&gt;&lt;property id=&quot;20307&quot; value=&quot;269&quot;/&gt;&lt;/object&gt;&lt;object type=&quot;3&quot; unique_id=&quot;10083&quot;&gt;&lt;property id=&quot;20148&quot; value=&quot;5&quot;/&gt;&lt;property id=&quot;20300&quot; value=&quot;Slide 10&quot;/&gt;&lt;property id=&quot;20307&quot; value=&quot;259&quot;/&gt;&lt;/object&gt;&lt;/object&gt;&lt;object type=&quot;8&quot; unique_id=&quot;10095&quot;&gt;&lt;/object&gt;&lt;/object&gt;&lt;/database&gt;"/>
  <p:tag name="MMPROD_NEXTUNIQUEID" val="10009"/>
  <p:tag name="SECTOMILLISECCONVERTED" val="1"/>
</p:tagLst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PT template LILAC with UWE logo top STANDARD" id="{C765BBB4-1359-4599-AE4D-9DA0589D8CC5}" vid="{15E18D1F-D9DB-4493-ABC7-78D967C3AFBE}"/>
    </a:ext>
  </a:extLst>
</a:theme>
</file>

<file path=ppt/theme/theme2.xml><?xml version="1.0" encoding="utf-8"?>
<a:theme xmlns:a="http://schemas.openxmlformats.org/drawingml/2006/main" name="1_New branding">
  <a:themeElements>
    <a:clrScheme name="Custom 37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FFFFFF"/>
      </a:hlink>
      <a:folHlink>
        <a:srgbClr val="FFFFFF"/>
      </a:folHlink>
    </a:clrScheme>
    <a:fontScheme name="Open Sans">
      <a:majorFont>
        <a:latin typeface="Open Sans"/>
        <a:ea typeface=""/>
        <a:cs typeface=""/>
      </a:majorFont>
      <a:minorFont>
        <a:latin typeface="Open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ew branding" id="{46BB3A7C-73B0-41BC-AE43-9792D2021898}" vid="{D3146ED9-24C8-4DD4-B156-9AFD0441A753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1_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PT template SKY with UWE logo top STANDARD" id="{01FAB0D0-5DBD-47E7-9373-94BA6C7E7835}" vid="{9680083E-B1B9-432B-A860-BC4A0118E283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fd5a8b3d-d6d0-4e85-bc91-0f2ea67db915" xsi:nil="true"/>
    <lcf76f155ced4ddcb4097134ff3c332f xmlns="eb51dbb1-945e-48c0-ad43-4cc2d8ca5bde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48B7ECDC463274FB2E9D7BD3CDC99BF" ma:contentTypeVersion="12" ma:contentTypeDescription="Create a new document." ma:contentTypeScope="" ma:versionID="c6b06f64be166c2fbaf22037bc43ae18">
  <xsd:schema xmlns:xsd="http://www.w3.org/2001/XMLSchema" xmlns:xs="http://www.w3.org/2001/XMLSchema" xmlns:p="http://schemas.microsoft.com/office/2006/metadata/properties" xmlns:ns2="eb51dbb1-945e-48c0-ad43-4cc2d8ca5bde" xmlns:ns3="fd5a8b3d-d6d0-4e85-bc91-0f2ea67db915" targetNamespace="http://schemas.microsoft.com/office/2006/metadata/properties" ma:root="true" ma:fieldsID="452c1fcc7857535d192919212ff1ea13" ns2:_="" ns3:_="">
    <xsd:import namespace="eb51dbb1-945e-48c0-ad43-4cc2d8ca5bde"/>
    <xsd:import namespace="fd5a8b3d-d6d0-4e85-bc91-0f2ea67db91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b51dbb1-945e-48c0-ad43-4cc2d8ca5bd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a2edd95a-f8c2-4715-9b78-af595b67b1e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d5a8b3d-d6d0-4e85-bc91-0f2ea67db915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ec8386b3-cb8a-4fcd-85cb-5ebbe16d8627}" ma:internalName="TaxCatchAll" ma:showField="CatchAllData" ma:web="ac848bae-8b64-4916-be44-f315075b80e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DA62F14-C651-471A-899A-5CC68EE6556E}">
  <ds:schemaRefs>
    <ds:schemaRef ds:uri="http://schemas.microsoft.com/office/2006/documentManagement/types"/>
    <ds:schemaRef ds:uri="32b32091-d877-46a4-9e5c-3ef7834bfdeb"/>
    <ds:schemaRef ds:uri="http://schemas.microsoft.com/office/2006/metadata/properties"/>
    <ds:schemaRef ds:uri="http://purl.org/dc/terms/"/>
    <ds:schemaRef ds:uri="http://purl.org/dc/dcmitype/"/>
    <ds:schemaRef ds:uri="http://schemas.microsoft.com/office/infopath/2007/PartnerControls"/>
    <ds:schemaRef ds:uri="http://schemas.openxmlformats.org/package/2006/metadata/core-properties"/>
    <ds:schemaRef ds:uri="56c776ca-7706-4741-bd5a-b870b4cf70c1"/>
    <ds:schemaRef ds:uri="http://www.w3.org/XML/1998/namespace"/>
    <ds:schemaRef ds:uri="http://purl.org/dc/elements/1.1/"/>
    <ds:schemaRef ds:uri="fd5a8b3d-d6d0-4e85-bc91-0f2ea67db915"/>
    <ds:schemaRef ds:uri="eb51dbb1-945e-48c0-ad43-4cc2d8ca5bde"/>
  </ds:schemaRefs>
</ds:datastoreItem>
</file>

<file path=customXml/itemProps2.xml><?xml version="1.0" encoding="utf-8"?>
<ds:datastoreItem xmlns:ds="http://schemas.openxmlformats.org/officeDocument/2006/customXml" ds:itemID="{91BFF188-4596-40CB-A954-D469E5ABCE9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B6BB595-6EDF-4B5F-80E2-6ECC47DD080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b51dbb1-945e-48c0-ad43-4cc2d8ca5bde"/>
    <ds:schemaRef ds:uri="fd5a8b3d-d6d0-4e85-bc91-0f2ea67db91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0c7fd77c-bf1b-4511-8a0d-ca095442aa9f}" enabled="1" method="Privileged" siteId="{07ef1208-413c-4b5e-9cdd-64ef305754f0}" contentBits="2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2578</TotalTime>
  <Words>2555</Words>
  <Application>Microsoft Office PowerPoint</Application>
  <PresentationFormat>On-screen Show (4:3)</PresentationFormat>
  <Paragraphs>378</Paragraphs>
  <Slides>25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13</vt:i4>
      </vt:variant>
      <vt:variant>
        <vt:lpstr>Theme</vt:lpstr>
      </vt:variant>
      <vt:variant>
        <vt:i4>6</vt:i4>
      </vt:variant>
      <vt:variant>
        <vt:lpstr>Slide Titles</vt:lpstr>
      </vt:variant>
      <vt:variant>
        <vt:i4>25</vt:i4>
      </vt:variant>
    </vt:vector>
  </HeadingPairs>
  <TitlesOfParts>
    <vt:vector size="44" baseType="lpstr">
      <vt:lpstr>ＭＳ Ｐゴシック</vt:lpstr>
      <vt:lpstr>Aptos</vt:lpstr>
      <vt:lpstr>Arial</vt:lpstr>
      <vt:lpstr>Calibri</vt:lpstr>
      <vt:lpstr>Calibri Light</vt:lpstr>
      <vt:lpstr>Cambria Math</vt:lpstr>
      <vt:lpstr>Courier New</vt:lpstr>
      <vt:lpstr>Georgia</vt:lpstr>
      <vt:lpstr>Open Sans</vt:lpstr>
      <vt:lpstr>Segoe Sans</vt:lpstr>
      <vt:lpstr>Tahoma</vt:lpstr>
      <vt:lpstr>Times New Roman</vt:lpstr>
      <vt:lpstr>Wingdings</vt:lpstr>
      <vt:lpstr>Custom Design</vt:lpstr>
      <vt:lpstr>1_New branding</vt:lpstr>
      <vt:lpstr>Office Theme</vt:lpstr>
      <vt:lpstr>1_Custom Design</vt:lpstr>
      <vt:lpstr>Office Theme</vt:lpstr>
      <vt:lpstr>Office Theme</vt:lpstr>
      <vt:lpstr>Risk and Return - Part 2</vt:lpstr>
      <vt:lpstr>Learning outcomes</vt:lpstr>
      <vt:lpstr>Recap - Risk and Return – Part 1</vt:lpstr>
      <vt:lpstr>Historical Returns (UK example) </vt:lpstr>
      <vt:lpstr>Historical Returns (UK example) </vt:lpstr>
      <vt:lpstr>Historical Risk and Return</vt:lpstr>
      <vt:lpstr>Historical Risk and Return</vt:lpstr>
      <vt:lpstr>Measuring Risk - Beta </vt:lpstr>
      <vt:lpstr>Calculating Beta – Example</vt:lpstr>
      <vt:lpstr>Beta cont’d….</vt:lpstr>
      <vt:lpstr>Beta vs Volatility</vt:lpstr>
      <vt:lpstr>Probabilistic vs Historical</vt:lpstr>
      <vt:lpstr>Probabilistic Return Calculation</vt:lpstr>
      <vt:lpstr>Probabilistic Risk and Return Calculation</vt:lpstr>
      <vt:lpstr>Portfolio _ Risk &amp; Return</vt:lpstr>
      <vt:lpstr>Portfolio _ Risk &amp; Return</vt:lpstr>
      <vt:lpstr>Efficient vs Inefficient Portfolios</vt:lpstr>
      <vt:lpstr>Capital Asset Pricing Model (CAPM)</vt:lpstr>
      <vt:lpstr>Capital Asset Pricing Model (CAPM)</vt:lpstr>
      <vt:lpstr>Application for CAPM </vt:lpstr>
      <vt:lpstr>Advantages &amp; Disadvantages of CAPM</vt:lpstr>
      <vt:lpstr>Key Takeaways</vt:lpstr>
      <vt:lpstr>Additional Reading</vt:lpstr>
      <vt:lpstr>Next Week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Good Academic Practice</dc:title>
  <dc:creator/>
  <cp:lastModifiedBy>Adnan Aslam</cp:lastModifiedBy>
  <cp:revision>210</cp:revision>
  <dcterms:created xsi:type="dcterms:W3CDTF">2022-01-12T13:34:04Z</dcterms:created>
  <dcterms:modified xsi:type="dcterms:W3CDTF">2025-12-10T22:51:55Z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0x010100148B7ECDC463274FB2E9D7BD3CDC99BF</vt:lpwstr>
  </property>
  <property fmtid="{D5CDD505-2E9C-101B-9397-08002B2CF9AE}" pid="3" name="MediaServiceImageTags">
    <vt:lpwstr/>
  </property>
  <property fmtid="{D5CDD505-2E9C-101B-9397-08002B2CF9AE}" pid="4" name="ClassificationContentMarkingFooterLocations">
    <vt:lpwstr>Custom Design:5\1_New branding:8\Office Theme:8\1_Custom Design:5\Office Theme:8\Office Theme:8</vt:lpwstr>
  </property>
  <property fmtid="{D5CDD505-2E9C-101B-9397-08002B2CF9AE}" pid="5" name="ClassificationContentMarkingFooterText">
    <vt:lpwstr>Sensitivity label: Students, Staff and Guests</vt:lpwstr>
  </property>
</Properties>
</file>