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  <p:sldMasterId id="2147483979" r:id="rId6"/>
  </p:sldMasterIdLst>
  <p:notesMasterIdLst>
    <p:notesMasterId r:id="rId29"/>
  </p:notesMasterIdLst>
  <p:handoutMasterIdLst>
    <p:handoutMasterId r:id="rId30"/>
  </p:handoutMasterIdLst>
  <p:sldIdLst>
    <p:sldId id="288" r:id="rId7"/>
    <p:sldId id="287" r:id="rId8"/>
    <p:sldId id="256" r:id="rId9"/>
    <p:sldId id="651" r:id="rId10"/>
    <p:sldId id="574" r:id="rId11"/>
    <p:sldId id="552" r:id="rId12"/>
    <p:sldId id="527" r:id="rId13"/>
    <p:sldId id="523" r:id="rId14"/>
    <p:sldId id="524" r:id="rId15"/>
    <p:sldId id="525" r:id="rId16"/>
    <p:sldId id="560" r:id="rId17"/>
    <p:sldId id="562" r:id="rId18"/>
    <p:sldId id="526" r:id="rId19"/>
    <p:sldId id="540" r:id="rId20"/>
    <p:sldId id="558" r:id="rId21"/>
    <p:sldId id="569" r:id="rId22"/>
    <p:sldId id="567" r:id="rId23"/>
    <p:sldId id="546" r:id="rId24"/>
    <p:sldId id="653" r:id="rId25"/>
    <p:sldId id="565" r:id="rId26"/>
    <p:sldId id="652" r:id="rId27"/>
    <p:sldId id="462" r:id="rId28"/>
  </p:sldIdLst>
  <p:sldSz cx="9144000" cy="6858000" type="screen4x3"/>
  <p:notesSz cx="9144000" cy="6858000"/>
  <p:custDataLst>
    <p:tags r:id="rId3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284EADD-FE41-494D-A42C-2B60CCFC2DE6}">
          <p14:sldIdLst>
            <p14:sldId id="288"/>
            <p14:sldId id="287"/>
            <p14:sldId id="256"/>
            <p14:sldId id="651"/>
            <p14:sldId id="574"/>
            <p14:sldId id="552"/>
            <p14:sldId id="527"/>
            <p14:sldId id="523"/>
            <p14:sldId id="524"/>
            <p14:sldId id="525"/>
            <p14:sldId id="560"/>
            <p14:sldId id="562"/>
            <p14:sldId id="526"/>
            <p14:sldId id="540"/>
            <p14:sldId id="558"/>
            <p14:sldId id="569"/>
            <p14:sldId id="567"/>
            <p14:sldId id="546"/>
            <p14:sldId id="653"/>
            <p14:sldId id="565"/>
            <p14:sldId id="652"/>
            <p14:sldId id="462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3902A-975B-4785-8A36-BDBBBFD7F190}" v="160" dt="2025-08-15T16:06:06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76923" autoAdjust="0"/>
  </p:normalViewPr>
  <p:slideViewPr>
    <p:cSldViewPr showGuides="1">
      <p:cViewPr varScale="1">
        <p:scale>
          <a:sx n="48" d="100"/>
          <a:sy n="48" d="100"/>
        </p:scale>
        <p:origin x="188" y="40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elza Pilgrim" userId="9b1f39d4-236b-4377-9a8d-dccbd2a774dd" providerId="ADAL" clId="{4273902A-975B-4785-8A36-BDBBBFD7F190}"/>
    <pc:docChg chg="undo custSel addSld delSld modSld sldOrd modSection">
      <pc:chgData name="Demelza Pilgrim" userId="9b1f39d4-236b-4377-9a8d-dccbd2a774dd" providerId="ADAL" clId="{4273902A-975B-4785-8A36-BDBBBFD7F190}" dt="2025-08-18T11:46:58.572" v="881" actId="20577"/>
      <pc:docMkLst>
        <pc:docMk/>
      </pc:docMkLst>
      <pc:sldChg chg="modSp modNotesTx">
        <pc:chgData name="Demelza Pilgrim" userId="9b1f39d4-236b-4377-9a8d-dccbd2a774dd" providerId="ADAL" clId="{4273902A-975B-4785-8A36-BDBBBFD7F190}" dt="2025-08-15T14:48:02.501" v="345" actId="6549"/>
        <pc:sldMkLst>
          <pc:docMk/>
          <pc:sldMk cId="0" sldId="256"/>
        </pc:sldMkLst>
        <pc:graphicFrameChg chg="mod">
          <ac:chgData name="Demelza Pilgrim" userId="9b1f39d4-236b-4377-9a8d-dccbd2a774dd" providerId="ADAL" clId="{4273902A-975B-4785-8A36-BDBBBFD7F190}" dt="2025-08-15T14:47:59.441" v="344"/>
          <ac:graphicFrameMkLst>
            <pc:docMk/>
            <pc:sldMk cId="0" sldId="256"/>
            <ac:graphicFrameMk id="13315" creationId="{C2855CC1-6974-FD0F-632A-C97A1652BB10}"/>
          </ac:graphicFrameMkLst>
        </pc:graphicFrameChg>
      </pc:sldChg>
      <pc:sldChg chg="modSp mod">
        <pc:chgData name="Demelza Pilgrim" userId="9b1f39d4-236b-4377-9a8d-dccbd2a774dd" providerId="ADAL" clId="{4273902A-975B-4785-8A36-BDBBBFD7F190}" dt="2025-08-15T14:48:39.405" v="357" actId="14100"/>
        <pc:sldMkLst>
          <pc:docMk/>
          <pc:sldMk cId="591890035" sldId="287"/>
        </pc:sldMkLst>
        <pc:spChg chg="mod">
          <ac:chgData name="Demelza Pilgrim" userId="9b1f39d4-236b-4377-9a8d-dccbd2a774dd" providerId="ADAL" clId="{4273902A-975B-4785-8A36-BDBBBFD7F190}" dt="2025-08-15T14:48:39.405" v="357" actId="14100"/>
          <ac:spMkLst>
            <pc:docMk/>
            <pc:sldMk cId="591890035" sldId="287"/>
            <ac:spMk id="3" creationId="{FF9B3823-0605-807A-5635-4865E10F2BE4}"/>
          </ac:spMkLst>
        </pc:spChg>
      </pc:sldChg>
      <pc:sldChg chg="modSp mod">
        <pc:chgData name="Demelza Pilgrim" userId="9b1f39d4-236b-4377-9a8d-dccbd2a774dd" providerId="ADAL" clId="{4273902A-975B-4785-8A36-BDBBBFD7F190}" dt="2025-08-15T14:39:25.066" v="39" actId="6549"/>
        <pc:sldMkLst>
          <pc:docMk/>
          <pc:sldMk cId="2640722381" sldId="288"/>
        </pc:sldMkLst>
        <pc:spChg chg="mod">
          <ac:chgData name="Demelza Pilgrim" userId="9b1f39d4-236b-4377-9a8d-dccbd2a774dd" providerId="ADAL" clId="{4273902A-975B-4785-8A36-BDBBBFD7F190}" dt="2025-08-15T14:39:25.066" v="39" actId="6549"/>
          <ac:spMkLst>
            <pc:docMk/>
            <pc:sldMk cId="2640722381" sldId="288"/>
            <ac:spMk id="2" creationId="{1AFEF73C-04D4-7BB1-2084-E39FB595A675}"/>
          </ac:spMkLst>
        </pc:spChg>
      </pc:sldChg>
      <pc:sldChg chg="del">
        <pc:chgData name="Demelza Pilgrim" userId="9b1f39d4-236b-4377-9a8d-dccbd2a774dd" providerId="ADAL" clId="{4273902A-975B-4785-8A36-BDBBBFD7F190}" dt="2025-08-15T14:48:26.552" v="356" actId="47"/>
        <pc:sldMkLst>
          <pc:docMk/>
          <pc:sldMk cId="2922149429" sldId="352"/>
        </pc:sldMkLst>
      </pc:sldChg>
      <pc:sldChg chg="del">
        <pc:chgData name="Demelza Pilgrim" userId="9b1f39d4-236b-4377-9a8d-dccbd2a774dd" providerId="ADAL" clId="{4273902A-975B-4785-8A36-BDBBBFD7F190}" dt="2025-08-15T14:49:05.445" v="359" actId="47"/>
        <pc:sldMkLst>
          <pc:docMk/>
          <pc:sldMk cId="2646784511" sldId="407"/>
        </pc:sldMkLst>
      </pc:sldChg>
      <pc:sldChg chg="modSp mod">
        <pc:chgData name="Demelza Pilgrim" userId="9b1f39d4-236b-4377-9a8d-dccbd2a774dd" providerId="ADAL" clId="{4273902A-975B-4785-8A36-BDBBBFD7F190}" dt="2025-08-15T14:41:44.897" v="264" actId="20577"/>
        <pc:sldMkLst>
          <pc:docMk/>
          <pc:sldMk cId="1668558411" sldId="462"/>
        </pc:sldMkLst>
        <pc:spChg chg="mod">
          <ac:chgData name="Demelza Pilgrim" userId="9b1f39d4-236b-4377-9a8d-dccbd2a774dd" providerId="ADAL" clId="{4273902A-975B-4785-8A36-BDBBBFD7F190}" dt="2025-08-15T14:41:44.897" v="264" actId="20577"/>
          <ac:spMkLst>
            <pc:docMk/>
            <pc:sldMk cId="1668558411" sldId="462"/>
            <ac:spMk id="3" creationId="{7393D38A-6D63-08BB-0FBC-2882D1231479}"/>
          </ac:spMkLst>
        </pc:spChg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1565525678" sldId="472"/>
        </pc:sldMkLst>
      </pc:sldChg>
      <pc:sldChg chg="modSp del mod">
        <pc:chgData name="Demelza Pilgrim" userId="9b1f39d4-236b-4377-9a8d-dccbd2a774dd" providerId="ADAL" clId="{4273902A-975B-4785-8A36-BDBBBFD7F190}" dt="2025-08-15T14:51:10.807" v="456" actId="47"/>
        <pc:sldMkLst>
          <pc:docMk/>
          <pc:sldMk cId="3511757110" sldId="486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24773522" sldId="487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3369267666" sldId="489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2326895465" sldId="501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1795441012" sldId="503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2680208371" sldId="504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1397767705" sldId="516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2744402225" sldId="518"/>
        </pc:sldMkLst>
      </pc:sldChg>
      <pc:sldChg chg="add del ord">
        <pc:chgData name="Demelza Pilgrim" userId="9b1f39d4-236b-4377-9a8d-dccbd2a774dd" providerId="ADAL" clId="{4273902A-975B-4785-8A36-BDBBBFD7F190}" dt="2025-08-15T15:57:33.397" v="741" actId="47"/>
        <pc:sldMkLst>
          <pc:docMk/>
          <pc:sldMk cId="2771957104" sldId="520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1645818634" sldId="521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324172787" sldId="522"/>
        </pc:sldMkLst>
      </pc:sldChg>
      <pc:sldChg chg="modNotesTx">
        <pc:chgData name="Demelza Pilgrim" userId="9b1f39d4-236b-4377-9a8d-dccbd2a774dd" providerId="ADAL" clId="{4273902A-975B-4785-8A36-BDBBBFD7F190}" dt="2025-08-15T15:44:42.265" v="599" actId="20577"/>
        <pc:sldMkLst>
          <pc:docMk/>
          <pc:sldMk cId="2002467315" sldId="524"/>
        </pc:sldMkLst>
      </pc:sldChg>
      <pc:sldChg chg="modSp mod">
        <pc:chgData name="Demelza Pilgrim" userId="9b1f39d4-236b-4377-9a8d-dccbd2a774dd" providerId="ADAL" clId="{4273902A-975B-4785-8A36-BDBBBFD7F190}" dt="2025-08-15T15:41:20.723" v="595" actId="20577"/>
        <pc:sldMkLst>
          <pc:docMk/>
          <pc:sldMk cId="1240405643" sldId="526"/>
        </pc:sldMkLst>
        <pc:spChg chg="mod">
          <ac:chgData name="Demelza Pilgrim" userId="9b1f39d4-236b-4377-9a8d-dccbd2a774dd" providerId="ADAL" clId="{4273902A-975B-4785-8A36-BDBBBFD7F190}" dt="2025-08-15T15:41:20.723" v="595" actId="20577"/>
          <ac:spMkLst>
            <pc:docMk/>
            <pc:sldMk cId="1240405643" sldId="526"/>
            <ac:spMk id="3" creationId="{00000000-0000-0000-0000-000000000000}"/>
          </ac:spMkLst>
        </pc:spChg>
      </pc:sldChg>
      <pc:sldChg chg="modSp mod">
        <pc:chgData name="Demelza Pilgrim" userId="9b1f39d4-236b-4377-9a8d-dccbd2a774dd" providerId="ADAL" clId="{4273902A-975B-4785-8A36-BDBBBFD7F190}" dt="2025-08-15T15:47:26.456" v="607" actId="6549"/>
        <pc:sldMkLst>
          <pc:docMk/>
          <pc:sldMk cId="3611102624" sldId="527"/>
        </pc:sldMkLst>
        <pc:spChg chg="mod">
          <ac:chgData name="Demelza Pilgrim" userId="9b1f39d4-236b-4377-9a8d-dccbd2a774dd" providerId="ADAL" clId="{4273902A-975B-4785-8A36-BDBBBFD7F190}" dt="2025-08-15T15:47:26.456" v="607" actId="6549"/>
          <ac:spMkLst>
            <pc:docMk/>
            <pc:sldMk cId="3611102624" sldId="527"/>
            <ac:spMk id="2" creationId="{00000000-0000-0000-0000-000000000000}"/>
          </ac:spMkLst>
        </pc:spChg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1231200281" sldId="528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1218991253" sldId="530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1611537765" sldId="532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1144184481" sldId="533"/>
        </pc:sldMkLst>
      </pc:sldChg>
      <pc:sldChg chg="del">
        <pc:chgData name="Demelza Pilgrim" userId="9b1f39d4-236b-4377-9a8d-dccbd2a774dd" providerId="ADAL" clId="{4273902A-975B-4785-8A36-BDBBBFD7F190}" dt="2025-08-15T15:50:48.232" v="693" actId="47"/>
        <pc:sldMkLst>
          <pc:docMk/>
          <pc:sldMk cId="1076401098" sldId="537"/>
        </pc:sldMkLst>
      </pc:sldChg>
      <pc:sldChg chg="del">
        <pc:chgData name="Demelza Pilgrim" userId="9b1f39d4-236b-4377-9a8d-dccbd2a774dd" providerId="ADAL" clId="{4273902A-975B-4785-8A36-BDBBBFD7F190}" dt="2025-08-15T15:50:47.194" v="692" actId="47"/>
        <pc:sldMkLst>
          <pc:docMk/>
          <pc:sldMk cId="1430065777" sldId="538"/>
        </pc:sldMkLst>
      </pc:sldChg>
      <pc:sldChg chg="del">
        <pc:chgData name="Demelza Pilgrim" userId="9b1f39d4-236b-4377-9a8d-dccbd2a774dd" providerId="ADAL" clId="{4273902A-975B-4785-8A36-BDBBBFD7F190}" dt="2025-08-15T15:50:44.283" v="691" actId="47"/>
        <pc:sldMkLst>
          <pc:docMk/>
          <pc:sldMk cId="12700339" sldId="539"/>
        </pc:sldMkLst>
      </pc:sldChg>
      <pc:sldChg chg="addSp modSp mod modAnim">
        <pc:chgData name="Demelza Pilgrim" userId="9b1f39d4-236b-4377-9a8d-dccbd2a774dd" providerId="ADAL" clId="{4273902A-975B-4785-8A36-BDBBBFD7F190}" dt="2025-08-18T11:46:58.572" v="881" actId="20577"/>
        <pc:sldMkLst>
          <pc:docMk/>
          <pc:sldMk cId="65801634" sldId="540"/>
        </pc:sldMkLst>
        <pc:spChg chg="mod">
          <ac:chgData name="Demelza Pilgrim" userId="9b1f39d4-236b-4377-9a8d-dccbd2a774dd" providerId="ADAL" clId="{4273902A-975B-4785-8A36-BDBBBFD7F190}" dt="2025-08-15T15:51:47.504" v="705" actId="20577"/>
          <ac:spMkLst>
            <pc:docMk/>
            <pc:sldMk cId="65801634" sldId="540"/>
            <ac:spMk id="2" creationId="{00000000-0000-0000-0000-000000000000}"/>
          </ac:spMkLst>
        </pc:spChg>
        <pc:spChg chg="mod">
          <ac:chgData name="Demelza Pilgrim" userId="9b1f39d4-236b-4377-9a8d-dccbd2a774dd" providerId="ADAL" clId="{4273902A-975B-4785-8A36-BDBBBFD7F190}" dt="2025-08-15T15:52:29.455" v="713" actId="6549"/>
          <ac:spMkLst>
            <pc:docMk/>
            <pc:sldMk cId="65801634" sldId="540"/>
            <ac:spMk id="3" creationId="{00000000-0000-0000-0000-000000000000}"/>
          </ac:spMkLst>
        </pc:spChg>
        <pc:spChg chg="add mod">
          <ac:chgData name="Demelza Pilgrim" userId="9b1f39d4-236b-4377-9a8d-dccbd2a774dd" providerId="ADAL" clId="{4273902A-975B-4785-8A36-BDBBBFD7F190}" dt="2025-08-18T11:46:58.572" v="881" actId="20577"/>
          <ac:spMkLst>
            <pc:docMk/>
            <pc:sldMk cId="65801634" sldId="540"/>
            <ac:spMk id="7" creationId="{1059E710-FD38-32E2-93F4-2729E6269115}"/>
          </ac:spMkLst>
        </pc:spChg>
      </pc:sldChg>
      <pc:sldChg chg="del">
        <pc:chgData name="Demelza Pilgrim" userId="9b1f39d4-236b-4377-9a8d-dccbd2a774dd" providerId="ADAL" clId="{4273902A-975B-4785-8A36-BDBBBFD7F190}" dt="2025-08-15T15:58:16.447" v="742" actId="47"/>
        <pc:sldMkLst>
          <pc:docMk/>
          <pc:sldMk cId="3779783049" sldId="542"/>
        </pc:sldMkLst>
      </pc:sldChg>
      <pc:sldChg chg="del">
        <pc:chgData name="Demelza Pilgrim" userId="9b1f39d4-236b-4377-9a8d-dccbd2a774dd" providerId="ADAL" clId="{4273902A-975B-4785-8A36-BDBBBFD7F190}" dt="2025-08-15T15:58:19.820" v="743" actId="47"/>
        <pc:sldMkLst>
          <pc:docMk/>
          <pc:sldMk cId="1024029375" sldId="543"/>
        </pc:sldMkLst>
      </pc:sldChg>
      <pc:sldChg chg="modSp del mod ord">
        <pc:chgData name="Demelza Pilgrim" userId="9b1f39d4-236b-4377-9a8d-dccbd2a774dd" providerId="ADAL" clId="{4273902A-975B-4785-8A36-BDBBBFD7F190}" dt="2025-08-15T15:57:03.176" v="740" actId="47"/>
        <pc:sldMkLst>
          <pc:docMk/>
          <pc:sldMk cId="748273523" sldId="544"/>
        </pc:sldMkLst>
      </pc:sldChg>
      <pc:sldChg chg="del">
        <pc:chgData name="Demelza Pilgrim" userId="9b1f39d4-236b-4377-9a8d-dccbd2a774dd" providerId="ADAL" clId="{4273902A-975B-4785-8A36-BDBBBFD7F190}" dt="2025-08-15T15:58:22.117" v="744" actId="47"/>
        <pc:sldMkLst>
          <pc:docMk/>
          <pc:sldMk cId="3920029023" sldId="545"/>
        </pc:sldMkLst>
      </pc:sldChg>
      <pc:sldChg chg="modSp mod">
        <pc:chgData name="Demelza Pilgrim" userId="9b1f39d4-236b-4377-9a8d-dccbd2a774dd" providerId="ADAL" clId="{4273902A-975B-4785-8A36-BDBBBFD7F190}" dt="2025-08-15T16:04:12.246" v="809" actId="20577"/>
        <pc:sldMkLst>
          <pc:docMk/>
          <pc:sldMk cId="479471324" sldId="546"/>
        </pc:sldMkLst>
        <pc:spChg chg="mod">
          <ac:chgData name="Demelza Pilgrim" userId="9b1f39d4-236b-4377-9a8d-dccbd2a774dd" providerId="ADAL" clId="{4273902A-975B-4785-8A36-BDBBBFD7F190}" dt="2025-08-15T16:04:12.246" v="809" actId="20577"/>
          <ac:spMkLst>
            <pc:docMk/>
            <pc:sldMk cId="479471324" sldId="546"/>
            <ac:spMk id="2" creationId="{00000000-0000-0000-0000-000000000000}"/>
          </ac:spMkLst>
        </pc:spChg>
        <pc:spChg chg="mod">
          <ac:chgData name="Demelza Pilgrim" userId="9b1f39d4-236b-4377-9a8d-dccbd2a774dd" providerId="ADAL" clId="{4273902A-975B-4785-8A36-BDBBBFD7F190}" dt="2025-08-15T15:58:38.930" v="746" actId="6549"/>
          <ac:spMkLst>
            <pc:docMk/>
            <pc:sldMk cId="479471324" sldId="546"/>
            <ac:spMk id="3" creationId="{00000000-0000-0000-0000-000000000000}"/>
          </ac:spMkLst>
        </pc:spChg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2791988113" sldId="547"/>
        </pc:sldMkLst>
      </pc:sldChg>
      <pc:sldChg chg="addSp modSp add mod modAnim">
        <pc:chgData name="Demelza Pilgrim" userId="9b1f39d4-236b-4377-9a8d-dccbd2a774dd" providerId="ADAL" clId="{4273902A-975B-4785-8A36-BDBBBFD7F190}" dt="2025-08-15T15:27:42.305" v="564" actId="20577"/>
        <pc:sldMkLst>
          <pc:docMk/>
          <pc:sldMk cId="1293021088" sldId="552"/>
        </pc:sldMkLst>
        <pc:spChg chg="mod">
          <ac:chgData name="Demelza Pilgrim" userId="9b1f39d4-236b-4377-9a8d-dccbd2a774dd" providerId="ADAL" clId="{4273902A-975B-4785-8A36-BDBBBFD7F190}" dt="2025-08-15T14:52:51.808" v="475" actId="20577"/>
          <ac:spMkLst>
            <pc:docMk/>
            <pc:sldMk cId="1293021088" sldId="552"/>
            <ac:spMk id="2" creationId="{00000000-0000-0000-0000-000000000000}"/>
          </ac:spMkLst>
        </pc:spChg>
        <pc:spChg chg="add mod">
          <ac:chgData name="Demelza Pilgrim" userId="9b1f39d4-236b-4377-9a8d-dccbd2a774dd" providerId="ADAL" clId="{4273902A-975B-4785-8A36-BDBBBFD7F190}" dt="2025-08-15T14:55:29.917" v="563" actId="1076"/>
          <ac:spMkLst>
            <pc:docMk/>
            <pc:sldMk cId="1293021088" sldId="552"/>
            <ac:spMk id="3" creationId="{19AF38AC-C0C2-D5D5-CAF0-27EE44F154DA}"/>
          </ac:spMkLst>
        </pc:spChg>
        <pc:spChg chg="mod">
          <ac:chgData name="Demelza Pilgrim" userId="9b1f39d4-236b-4377-9a8d-dccbd2a774dd" providerId="ADAL" clId="{4273902A-975B-4785-8A36-BDBBBFD7F190}" dt="2025-08-15T15:27:42.305" v="564" actId="20577"/>
          <ac:spMkLst>
            <pc:docMk/>
            <pc:sldMk cId="1293021088" sldId="552"/>
            <ac:spMk id="5" creationId="{00000000-0000-0000-0000-000000000000}"/>
          </ac:spMkLst>
        </pc:spChg>
      </pc:sldChg>
      <pc:sldChg chg="modSp add mod ord">
        <pc:chgData name="Demelza Pilgrim" userId="9b1f39d4-236b-4377-9a8d-dccbd2a774dd" providerId="ADAL" clId="{4273902A-975B-4785-8A36-BDBBBFD7F190}" dt="2025-08-15T15:53:22.178" v="724" actId="108"/>
        <pc:sldMkLst>
          <pc:docMk/>
          <pc:sldMk cId="1958605165" sldId="558"/>
        </pc:sldMkLst>
        <pc:spChg chg="mod">
          <ac:chgData name="Demelza Pilgrim" userId="9b1f39d4-236b-4377-9a8d-dccbd2a774dd" providerId="ADAL" clId="{4273902A-975B-4785-8A36-BDBBBFD7F190}" dt="2025-08-15T15:53:22.178" v="724" actId="108"/>
          <ac:spMkLst>
            <pc:docMk/>
            <pc:sldMk cId="1958605165" sldId="558"/>
            <ac:spMk id="2" creationId="{00000000-0000-0000-0000-000000000000}"/>
          </ac:spMkLst>
        </pc:spChg>
        <pc:spChg chg="mod">
          <ac:chgData name="Demelza Pilgrim" userId="9b1f39d4-236b-4377-9a8d-dccbd2a774dd" providerId="ADAL" clId="{4273902A-975B-4785-8A36-BDBBBFD7F190}" dt="2025-08-15T15:49:50.033" v="690" actId="20577"/>
          <ac:spMkLst>
            <pc:docMk/>
            <pc:sldMk cId="1958605165" sldId="558"/>
            <ac:spMk id="3" creationId="{5D1FB0FF-129F-4CD9-ADE7-5E2FD7F364D9}"/>
          </ac:spMkLst>
        </pc:spChg>
      </pc:sldChg>
      <pc:sldChg chg="modSp add mod">
        <pc:chgData name="Demelza Pilgrim" userId="9b1f39d4-236b-4377-9a8d-dccbd2a774dd" providerId="ADAL" clId="{4273902A-975B-4785-8A36-BDBBBFD7F190}" dt="2025-08-15T15:30:24.282" v="571" actId="6549"/>
        <pc:sldMkLst>
          <pc:docMk/>
          <pc:sldMk cId="222371278" sldId="560"/>
        </pc:sldMkLst>
        <pc:spChg chg="mod">
          <ac:chgData name="Demelza Pilgrim" userId="9b1f39d4-236b-4377-9a8d-dccbd2a774dd" providerId="ADAL" clId="{4273902A-975B-4785-8A36-BDBBBFD7F190}" dt="2025-08-15T15:30:24.282" v="571" actId="6549"/>
          <ac:spMkLst>
            <pc:docMk/>
            <pc:sldMk cId="222371278" sldId="560"/>
            <ac:spMk id="2" creationId="{00000000-0000-0000-0000-000000000000}"/>
          </ac:spMkLst>
        </pc:spChg>
      </pc:sldChg>
      <pc:sldChg chg="modSp add mod">
        <pc:chgData name="Demelza Pilgrim" userId="9b1f39d4-236b-4377-9a8d-dccbd2a774dd" providerId="ADAL" clId="{4273902A-975B-4785-8A36-BDBBBFD7F190}" dt="2025-08-15T15:31:45.863" v="575" actId="6549"/>
        <pc:sldMkLst>
          <pc:docMk/>
          <pc:sldMk cId="3889869370" sldId="562"/>
        </pc:sldMkLst>
        <pc:spChg chg="mod">
          <ac:chgData name="Demelza Pilgrim" userId="9b1f39d4-236b-4377-9a8d-dccbd2a774dd" providerId="ADAL" clId="{4273902A-975B-4785-8A36-BDBBBFD7F190}" dt="2025-08-15T15:31:45.863" v="575" actId="6549"/>
          <ac:spMkLst>
            <pc:docMk/>
            <pc:sldMk cId="3889869370" sldId="562"/>
            <ac:spMk id="2" creationId="{00000000-0000-0000-0000-000000000000}"/>
          </ac:spMkLst>
        </pc:spChg>
      </pc:sldChg>
      <pc:sldChg chg="delSp modSp add mod delAnim">
        <pc:chgData name="Demelza Pilgrim" userId="9b1f39d4-236b-4377-9a8d-dccbd2a774dd" providerId="ADAL" clId="{4273902A-975B-4785-8A36-BDBBBFD7F190}" dt="2025-08-15T15:45:37.228" v="605" actId="478"/>
        <pc:sldMkLst>
          <pc:docMk/>
          <pc:sldMk cId="3821562190" sldId="565"/>
        </pc:sldMkLst>
        <pc:spChg chg="mod">
          <ac:chgData name="Demelza Pilgrim" userId="9b1f39d4-236b-4377-9a8d-dccbd2a774dd" providerId="ADAL" clId="{4273902A-975B-4785-8A36-BDBBBFD7F190}" dt="2025-08-15T15:45:24.870" v="601" actId="108"/>
          <ac:spMkLst>
            <pc:docMk/>
            <pc:sldMk cId="3821562190" sldId="565"/>
            <ac:spMk id="2" creationId="{00000000-0000-0000-0000-000000000000}"/>
          </ac:spMkLst>
        </pc:spChg>
      </pc:sldChg>
      <pc:sldChg chg="addSp delSp modSp add del mod ord">
        <pc:chgData name="Demelza Pilgrim" userId="9b1f39d4-236b-4377-9a8d-dccbd2a774dd" providerId="ADAL" clId="{4273902A-975B-4785-8A36-BDBBBFD7F190}" dt="2025-08-15T15:53:05.917" v="723" actId="47"/>
        <pc:sldMkLst>
          <pc:docMk/>
          <pc:sldMk cId="2551652486" sldId="566"/>
        </pc:sldMkLst>
      </pc:sldChg>
      <pc:sldChg chg="addSp delSp modSp add mod ord delAnim">
        <pc:chgData name="Demelza Pilgrim" userId="9b1f39d4-236b-4377-9a8d-dccbd2a774dd" providerId="ADAL" clId="{4273902A-975B-4785-8A36-BDBBBFD7F190}" dt="2025-08-15T16:03:56.800" v="798" actId="1076"/>
        <pc:sldMkLst>
          <pc:docMk/>
          <pc:sldMk cId="3221745821" sldId="567"/>
        </pc:sldMkLst>
        <pc:spChg chg="mod">
          <ac:chgData name="Demelza Pilgrim" userId="9b1f39d4-236b-4377-9a8d-dccbd2a774dd" providerId="ADAL" clId="{4273902A-975B-4785-8A36-BDBBBFD7F190}" dt="2025-08-15T16:00:05.583" v="752" actId="108"/>
          <ac:spMkLst>
            <pc:docMk/>
            <pc:sldMk cId="3221745821" sldId="567"/>
            <ac:spMk id="2" creationId="{00000000-0000-0000-0000-000000000000}"/>
          </ac:spMkLst>
        </pc:spChg>
        <pc:spChg chg="add mod">
          <ac:chgData name="Demelza Pilgrim" userId="9b1f39d4-236b-4377-9a8d-dccbd2a774dd" providerId="ADAL" clId="{4273902A-975B-4785-8A36-BDBBBFD7F190}" dt="2025-08-15T16:02:39.040" v="783" actId="113"/>
          <ac:spMkLst>
            <pc:docMk/>
            <pc:sldMk cId="3221745821" sldId="567"/>
            <ac:spMk id="9" creationId="{00000000-0000-0000-0000-000000000000}"/>
          </ac:spMkLst>
        </pc:spChg>
        <pc:spChg chg="add mod">
          <ac:chgData name="Demelza Pilgrim" userId="9b1f39d4-236b-4377-9a8d-dccbd2a774dd" providerId="ADAL" clId="{4273902A-975B-4785-8A36-BDBBBFD7F190}" dt="2025-08-15T16:03:56.800" v="798" actId="1076"/>
          <ac:spMkLst>
            <pc:docMk/>
            <pc:sldMk cId="3221745821" sldId="567"/>
            <ac:spMk id="13" creationId="{8D05F9D0-F7F9-7FC9-96BC-B1157D1DCDCD}"/>
          </ac:spMkLst>
        </pc:spChg>
        <pc:graphicFrameChg chg="add mod">
          <ac:chgData name="Demelza Pilgrim" userId="9b1f39d4-236b-4377-9a8d-dccbd2a774dd" providerId="ADAL" clId="{4273902A-975B-4785-8A36-BDBBBFD7F190}" dt="2025-08-15T16:03:06.988" v="789" actId="1076"/>
          <ac:graphicFrameMkLst>
            <pc:docMk/>
            <pc:sldMk cId="3221745821" sldId="567"/>
            <ac:graphicFrameMk id="10" creationId="{00000000-0000-0000-0000-000000000000}"/>
          </ac:graphicFrameMkLst>
        </pc:graphicFrameChg>
        <pc:picChg chg="add mod">
          <ac:chgData name="Demelza Pilgrim" userId="9b1f39d4-236b-4377-9a8d-dccbd2a774dd" providerId="ADAL" clId="{4273902A-975B-4785-8A36-BDBBBFD7F190}" dt="2025-08-15T16:02:08.233" v="772" actId="14100"/>
          <ac:picMkLst>
            <pc:docMk/>
            <pc:sldMk cId="3221745821" sldId="567"/>
            <ac:picMk id="7" creationId="{70FF8C20-976D-1586-88AA-4FCEAAC9D9C5}"/>
          </ac:picMkLst>
        </pc:picChg>
        <pc:picChg chg="add mod">
          <ac:chgData name="Demelza Pilgrim" userId="9b1f39d4-236b-4377-9a8d-dccbd2a774dd" providerId="ADAL" clId="{4273902A-975B-4785-8A36-BDBBBFD7F190}" dt="2025-08-15T16:02:19.174" v="775" actId="1076"/>
          <ac:picMkLst>
            <pc:docMk/>
            <pc:sldMk cId="3221745821" sldId="567"/>
            <ac:picMk id="8" creationId="{DB7567E4-A6FE-033E-E5CB-A656198F4775}"/>
          </ac:picMkLst>
        </pc:picChg>
        <pc:picChg chg="add mod">
          <ac:chgData name="Demelza Pilgrim" userId="9b1f39d4-236b-4377-9a8d-dccbd2a774dd" providerId="ADAL" clId="{4273902A-975B-4785-8A36-BDBBBFD7F190}" dt="2025-08-15T16:03:38.809" v="794" actId="1076"/>
          <ac:picMkLst>
            <pc:docMk/>
            <pc:sldMk cId="3221745821" sldId="567"/>
            <ac:picMk id="11" creationId="{13367F99-4B6B-E1C9-D6F5-1907E8AF62E7}"/>
          </ac:picMkLst>
        </pc:picChg>
      </pc:sldChg>
      <pc:sldChg chg="addSp delSp modSp add del mod ord delAnim">
        <pc:chgData name="Demelza Pilgrim" userId="9b1f39d4-236b-4377-9a8d-dccbd2a774dd" providerId="ADAL" clId="{4273902A-975B-4785-8A36-BDBBBFD7F190}" dt="2025-08-15T16:02:22.172" v="776" actId="47"/>
        <pc:sldMkLst>
          <pc:docMk/>
          <pc:sldMk cId="3155472895" sldId="568"/>
        </pc:sldMkLst>
      </pc:sldChg>
      <pc:sldChg chg="addSp modSp add mod ord">
        <pc:chgData name="Demelza Pilgrim" userId="9b1f39d4-236b-4377-9a8d-dccbd2a774dd" providerId="ADAL" clId="{4273902A-975B-4785-8A36-BDBBBFD7F190}" dt="2025-08-15T16:00:00.673" v="751" actId="108"/>
        <pc:sldMkLst>
          <pc:docMk/>
          <pc:sldMk cId="3358033254" sldId="569"/>
        </pc:sldMkLst>
        <pc:spChg chg="mod">
          <ac:chgData name="Demelza Pilgrim" userId="9b1f39d4-236b-4377-9a8d-dccbd2a774dd" providerId="ADAL" clId="{4273902A-975B-4785-8A36-BDBBBFD7F190}" dt="2025-08-15T16:00:00.673" v="751" actId="108"/>
          <ac:spMkLst>
            <pc:docMk/>
            <pc:sldMk cId="3358033254" sldId="569"/>
            <ac:spMk id="2" creationId="{00000000-0000-0000-0000-000000000000}"/>
          </ac:spMkLst>
        </pc:spChg>
        <pc:spChg chg="add mod">
          <ac:chgData name="Demelza Pilgrim" userId="9b1f39d4-236b-4377-9a8d-dccbd2a774dd" providerId="ADAL" clId="{4273902A-975B-4785-8A36-BDBBBFD7F190}" dt="2025-08-15T15:56:07.327" v="737" actId="20577"/>
          <ac:spMkLst>
            <pc:docMk/>
            <pc:sldMk cId="3358033254" sldId="569"/>
            <ac:spMk id="5" creationId="{4721BAA5-8FF9-67DB-E64F-01937866B5B0}"/>
          </ac:spMkLst>
        </pc:spChg>
        <pc:graphicFrameChg chg="mod">
          <ac:chgData name="Demelza Pilgrim" userId="9b1f39d4-236b-4377-9a8d-dccbd2a774dd" providerId="ADAL" clId="{4273902A-975B-4785-8A36-BDBBBFD7F190}" dt="2025-08-15T15:54:21.649" v="730" actId="1076"/>
          <ac:graphicFrameMkLst>
            <pc:docMk/>
            <pc:sldMk cId="3358033254" sldId="569"/>
            <ac:graphicFrameMk id="4" creationId="{00000000-0000-0000-0000-000000000000}"/>
          </ac:graphicFrameMkLst>
        </pc:graphicFrameChg>
      </pc:sldChg>
      <pc:sldChg chg="addSp delSp modSp add del mod ord">
        <pc:chgData name="Demelza Pilgrim" userId="9b1f39d4-236b-4377-9a8d-dccbd2a774dd" providerId="ADAL" clId="{4273902A-975B-4785-8A36-BDBBBFD7F190}" dt="2025-08-15T16:03:09.083" v="790" actId="47"/>
        <pc:sldMkLst>
          <pc:docMk/>
          <pc:sldMk cId="3759398556" sldId="570"/>
        </pc:sldMkLst>
      </pc:sldChg>
      <pc:sldChg chg="modSp add del mod ord">
        <pc:chgData name="Demelza Pilgrim" userId="9b1f39d4-236b-4377-9a8d-dccbd2a774dd" providerId="ADAL" clId="{4273902A-975B-4785-8A36-BDBBBFD7F190}" dt="2025-08-15T15:59:45.639" v="750" actId="47"/>
        <pc:sldMkLst>
          <pc:docMk/>
          <pc:sldMk cId="278679470" sldId="572"/>
        </pc:sldMkLst>
      </pc:sldChg>
      <pc:sldChg chg="modSp add del mod ord">
        <pc:chgData name="Demelza Pilgrim" userId="9b1f39d4-236b-4377-9a8d-dccbd2a774dd" providerId="ADAL" clId="{4273902A-975B-4785-8A36-BDBBBFD7F190}" dt="2025-08-15T16:03:59.338" v="799" actId="47"/>
        <pc:sldMkLst>
          <pc:docMk/>
          <pc:sldMk cId="1273799698" sldId="573"/>
        </pc:sldMkLst>
      </pc:sldChg>
      <pc:sldChg chg="modSp add mod">
        <pc:chgData name="Demelza Pilgrim" userId="9b1f39d4-236b-4377-9a8d-dccbd2a774dd" providerId="ADAL" clId="{4273902A-975B-4785-8A36-BDBBBFD7F190}" dt="2025-08-15T14:52:00.450" v="461" actId="20577"/>
        <pc:sldMkLst>
          <pc:docMk/>
          <pc:sldMk cId="840035534" sldId="574"/>
        </pc:sldMkLst>
        <pc:spChg chg="mod">
          <ac:chgData name="Demelza Pilgrim" userId="9b1f39d4-236b-4377-9a8d-dccbd2a774dd" providerId="ADAL" clId="{4273902A-975B-4785-8A36-BDBBBFD7F190}" dt="2025-08-15T14:51:51.959" v="458" actId="108"/>
          <ac:spMkLst>
            <pc:docMk/>
            <pc:sldMk cId="840035534" sldId="574"/>
            <ac:spMk id="2" creationId="{616B5AF6-E21B-4B4B-B742-59151BB7156D}"/>
          </ac:spMkLst>
        </pc:spChg>
        <pc:spChg chg="mod">
          <ac:chgData name="Demelza Pilgrim" userId="9b1f39d4-236b-4377-9a8d-dccbd2a774dd" providerId="ADAL" clId="{4273902A-975B-4785-8A36-BDBBBFD7F190}" dt="2025-08-15T14:52:00.450" v="461" actId="20577"/>
          <ac:spMkLst>
            <pc:docMk/>
            <pc:sldMk cId="840035534" sldId="574"/>
            <ac:spMk id="3" creationId="{CD525233-D8F6-4A38-B2E7-C266BEB1C396}"/>
          </ac:spMkLst>
        </pc:spChg>
      </pc:sldChg>
      <pc:sldChg chg="del">
        <pc:chgData name="Demelza Pilgrim" userId="9b1f39d4-236b-4377-9a8d-dccbd2a774dd" providerId="ADAL" clId="{4273902A-975B-4785-8A36-BDBBBFD7F190}" dt="2025-08-15T14:48:16.963" v="347" actId="47"/>
        <pc:sldMkLst>
          <pc:docMk/>
          <pc:sldMk cId="3138774001" sldId="650"/>
        </pc:sldMkLst>
      </pc:sldChg>
      <pc:sldChg chg="addSp modSp mod">
        <pc:chgData name="Demelza Pilgrim" userId="9b1f39d4-236b-4377-9a8d-dccbd2a774dd" providerId="ADAL" clId="{4273902A-975B-4785-8A36-BDBBBFD7F190}" dt="2025-08-15T14:51:07.418" v="455" actId="20577"/>
        <pc:sldMkLst>
          <pc:docMk/>
          <pc:sldMk cId="1095473406" sldId="651"/>
        </pc:sldMkLst>
        <pc:spChg chg="mod">
          <ac:chgData name="Demelza Pilgrim" userId="9b1f39d4-236b-4377-9a8d-dccbd2a774dd" providerId="ADAL" clId="{4273902A-975B-4785-8A36-BDBBBFD7F190}" dt="2025-08-15T14:49:40.533" v="396" actId="20577"/>
          <ac:spMkLst>
            <pc:docMk/>
            <pc:sldMk cId="1095473406" sldId="651"/>
            <ac:spMk id="2" creationId="{00000000-0000-0000-0000-000000000000}"/>
          </ac:spMkLst>
        </pc:spChg>
        <pc:spChg chg="add mod">
          <ac:chgData name="Demelza Pilgrim" userId="9b1f39d4-236b-4377-9a8d-dccbd2a774dd" providerId="ADAL" clId="{4273902A-975B-4785-8A36-BDBBBFD7F190}" dt="2025-08-15T14:51:07.418" v="455" actId="20577"/>
          <ac:spMkLst>
            <pc:docMk/>
            <pc:sldMk cId="1095473406" sldId="651"/>
            <ac:spMk id="4" creationId="{10662B4D-2610-B9FD-BE76-AAA8FB17D41A}"/>
          </ac:spMkLst>
        </pc:spChg>
        <pc:spChg chg="mod">
          <ac:chgData name="Demelza Pilgrim" userId="9b1f39d4-236b-4377-9a8d-dccbd2a774dd" providerId="ADAL" clId="{4273902A-975B-4785-8A36-BDBBBFD7F190}" dt="2025-08-15T14:50:13.623" v="418" actId="1036"/>
          <ac:spMkLst>
            <pc:docMk/>
            <pc:sldMk cId="1095473406" sldId="651"/>
            <ac:spMk id="6" creationId="{00000000-0000-0000-0000-000000000000}"/>
          </ac:spMkLst>
        </pc:spChg>
        <pc:spChg chg="mod">
          <ac:chgData name="Demelza Pilgrim" userId="9b1f39d4-236b-4377-9a8d-dccbd2a774dd" providerId="ADAL" clId="{4273902A-975B-4785-8A36-BDBBBFD7F190}" dt="2025-08-15T14:50:13.623" v="418" actId="1036"/>
          <ac:spMkLst>
            <pc:docMk/>
            <pc:sldMk cId="1095473406" sldId="651"/>
            <ac:spMk id="7" creationId="{00000000-0000-0000-0000-000000000000}"/>
          </ac:spMkLst>
        </pc:spChg>
        <pc:spChg chg="mod">
          <ac:chgData name="Demelza Pilgrim" userId="9b1f39d4-236b-4377-9a8d-dccbd2a774dd" providerId="ADAL" clId="{4273902A-975B-4785-8A36-BDBBBFD7F190}" dt="2025-08-15T14:49:58.276" v="407" actId="14100"/>
          <ac:spMkLst>
            <pc:docMk/>
            <pc:sldMk cId="1095473406" sldId="651"/>
            <ac:spMk id="8" creationId="{00000000-0000-0000-0000-000000000000}"/>
          </ac:spMkLst>
        </pc:spChg>
        <pc:spChg chg="mod">
          <ac:chgData name="Demelza Pilgrim" userId="9b1f39d4-236b-4377-9a8d-dccbd2a774dd" providerId="ADAL" clId="{4273902A-975B-4785-8A36-BDBBBFD7F190}" dt="2025-08-15T14:50:21.412" v="424" actId="1036"/>
          <ac:spMkLst>
            <pc:docMk/>
            <pc:sldMk cId="1095473406" sldId="651"/>
            <ac:spMk id="9" creationId="{00000000-0000-0000-0000-000000000000}"/>
          </ac:spMkLst>
        </pc:spChg>
        <pc:spChg chg="mod">
          <ac:chgData name="Demelza Pilgrim" userId="9b1f39d4-236b-4377-9a8d-dccbd2a774dd" providerId="ADAL" clId="{4273902A-975B-4785-8A36-BDBBBFD7F190}" dt="2025-08-15T14:50:21.412" v="424" actId="1036"/>
          <ac:spMkLst>
            <pc:docMk/>
            <pc:sldMk cId="1095473406" sldId="651"/>
            <ac:spMk id="10" creationId="{00000000-0000-0000-0000-000000000000}"/>
          </ac:spMkLst>
        </pc:spChg>
      </pc:sldChg>
      <pc:sldChg chg="modSp add mod">
        <pc:chgData name="Demelza Pilgrim" userId="9b1f39d4-236b-4377-9a8d-dccbd2a774dd" providerId="ADAL" clId="{4273902A-975B-4785-8A36-BDBBBFD7F190}" dt="2025-08-15T14:48:22.940" v="355" actId="20577"/>
        <pc:sldMkLst>
          <pc:docMk/>
          <pc:sldMk cId="598375370" sldId="652"/>
        </pc:sldMkLst>
        <pc:spChg chg="mod">
          <ac:chgData name="Demelza Pilgrim" userId="9b1f39d4-236b-4377-9a8d-dccbd2a774dd" providerId="ADAL" clId="{4273902A-975B-4785-8A36-BDBBBFD7F190}" dt="2025-08-15T14:48:22.940" v="355" actId="20577"/>
          <ac:spMkLst>
            <pc:docMk/>
            <pc:sldMk cId="598375370" sldId="652"/>
            <ac:spMk id="13319" creationId="{E9DC7655-D2C0-6188-69D3-3EA35AFF1299}"/>
          </ac:spMkLst>
        </pc:spChg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1456600840" sldId="653"/>
        </pc:sldMkLst>
      </pc:sldChg>
      <pc:sldChg chg="modSp add mod">
        <pc:chgData name="Demelza Pilgrim" userId="9b1f39d4-236b-4377-9a8d-dccbd2a774dd" providerId="ADAL" clId="{4273902A-975B-4785-8A36-BDBBBFD7F190}" dt="2025-08-15T16:06:24.703" v="870" actId="20577"/>
        <pc:sldMkLst>
          <pc:docMk/>
          <pc:sldMk cId="2421310134" sldId="653"/>
        </pc:sldMkLst>
        <pc:spChg chg="mod">
          <ac:chgData name="Demelza Pilgrim" userId="9b1f39d4-236b-4377-9a8d-dccbd2a774dd" providerId="ADAL" clId="{4273902A-975B-4785-8A36-BDBBBFD7F190}" dt="2025-08-15T16:06:02.600" v="842" actId="20577"/>
          <ac:spMkLst>
            <pc:docMk/>
            <pc:sldMk cId="2421310134" sldId="653"/>
            <ac:spMk id="2" creationId="{7AC22F9C-025F-C0B7-B27B-EDDA17EABB40}"/>
          </ac:spMkLst>
        </pc:spChg>
        <pc:spChg chg="mod">
          <ac:chgData name="Demelza Pilgrim" userId="9b1f39d4-236b-4377-9a8d-dccbd2a774dd" providerId="ADAL" clId="{4273902A-975B-4785-8A36-BDBBBFD7F190}" dt="2025-08-15T16:06:24.703" v="870" actId="20577"/>
          <ac:spMkLst>
            <pc:docMk/>
            <pc:sldMk cId="2421310134" sldId="653"/>
            <ac:spMk id="3" creationId="{426A6510-0CBB-C8BE-1336-FD4E0FBBB29E}"/>
          </ac:spMkLst>
        </pc:spChg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1009717245" sldId="654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4401153" sldId="656"/>
        </pc:sldMkLst>
      </pc:sldChg>
      <pc:sldChg chg="del">
        <pc:chgData name="Demelza Pilgrim" userId="9b1f39d4-236b-4377-9a8d-dccbd2a774dd" providerId="ADAL" clId="{4273902A-975B-4785-8A36-BDBBBFD7F190}" dt="2025-08-15T14:09:09.767" v="0" actId="47"/>
        <pc:sldMkLst>
          <pc:docMk/>
          <pc:sldMk cId="3959208522" sldId="657"/>
        </pc:sldMkLst>
      </pc:sldChg>
      <pc:sldChg chg="add del">
        <pc:chgData name="Demelza Pilgrim" userId="9b1f39d4-236b-4377-9a8d-dccbd2a774dd" providerId="ADAL" clId="{4273902A-975B-4785-8A36-BDBBBFD7F190}" dt="2025-08-15T14:44:35.843" v="266" actId="47"/>
        <pc:sldMkLst>
          <pc:docMk/>
          <pc:sldMk cId="3728150303" sldId="658"/>
        </pc:sldMkLst>
      </pc:sldChg>
      <pc:sldMasterChg chg="delSldLayout">
        <pc:chgData name="Demelza Pilgrim" userId="9b1f39d4-236b-4377-9a8d-dccbd2a774dd" providerId="ADAL" clId="{4273902A-975B-4785-8A36-BDBBBFD7F190}" dt="2025-08-15T16:03:59.338" v="799" actId="47"/>
        <pc:sldMasterMkLst>
          <pc:docMk/>
          <pc:sldMasterMk cId="1101765445" sldId="2147483979"/>
        </pc:sldMasterMkLst>
        <pc:sldLayoutChg chg="del">
          <pc:chgData name="Demelza Pilgrim" userId="9b1f39d4-236b-4377-9a8d-dccbd2a774dd" providerId="ADAL" clId="{4273902A-975B-4785-8A36-BDBBBFD7F190}" dt="2025-08-15T14:51:10.807" v="456" actId="47"/>
          <pc:sldLayoutMkLst>
            <pc:docMk/>
            <pc:sldMasterMk cId="1101765445" sldId="2147483979"/>
            <pc:sldLayoutMk cId="1908337903" sldId="2147483998"/>
          </pc:sldLayoutMkLst>
        </pc:sldLayoutChg>
        <pc:sldLayoutChg chg="del">
          <pc:chgData name="Demelza Pilgrim" userId="9b1f39d4-236b-4377-9a8d-dccbd2a774dd" providerId="ADAL" clId="{4273902A-975B-4785-8A36-BDBBBFD7F190}" dt="2025-08-15T14:09:09.767" v="0" actId="47"/>
          <pc:sldLayoutMkLst>
            <pc:docMk/>
            <pc:sldMasterMk cId="1101765445" sldId="2147483979"/>
            <pc:sldLayoutMk cId="1534763700" sldId="2147483999"/>
          </pc:sldLayoutMkLst>
        </pc:sldLayoutChg>
        <pc:sldLayoutChg chg="del">
          <pc:chgData name="Demelza Pilgrim" userId="9b1f39d4-236b-4377-9a8d-dccbd2a774dd" providerId="ADAL" clId="{4273902A-975B-4785-8A36-BDBBBFD7F190}" dt="2025-08-15T14:09:09.767" v="0" actId="47"/>
          <pc:sldLayoutMkLst>
            <pc:docMk/>
            <pc:sldMasterMk cId="1101765445" sldId="2147483979"/>
            <pc:sldLayoutMk cId="3234335950" sldId="2147484000"/>
          </pc:sldLayoutMkLst>
        </pc:sldLayoutChg>
        <pc:sldLayoutChg chg="del">
          <pc:chgData name="Demelza Pilgrim" userId="9b1f39d4-236b-4377-9a8d-dccbd2a774dd" providerId="ADAL" clId="{4273902A-975B-4785-8A36-BDBBBFD7F190}" dt="2025-08-15T14:09:09.767" v="0" actId="47"/>
          <pc:sldLayoutMkLst>
            <pc:docMk/>
            <pc:sldMasterMk cId="1101765445" sldId="2147483979"/>
            <pc:sldLayoutMk cId="3045677264" sldId="2147484001"/>
          </pc:sldLayoutMkLst>
        </pc:sldLayoutChg>
        <pc:sldLayoutChg chg="del">
          <pc:chgData name="Demelza Pilgrim" userId="9b1f39d4-236b-4377-9a8d-dccbd2a774dd" providerId="ADAL" clId="{4273902A-975B-4785-8A36-BDBBBFD7F190}" dt="2025-08-15T14:09:09.767" v="0" actId="47"/>
          <pc:sldLayoutMkLst>
            <pc:docMk/>
            <pc:sldMasterMk cId="1101765445" sldId="2147483979"/>
            <pc:sldLayoutMk cId="1045343393" sldId="2147484002"/>
          </pc:sldLayoutMkLst>
        </pc:sldLayoutChg>
        <pc:sldLayoutChg chg="del">
          <pc:chgData name="Demelza Pilgrim" userId="9b1f39d4-236b-4377-9a8d-dccbd2a774dd" providerId="ADAL" clId="{4273902A-975B-4785-8A36-BDBBBFD7F190}" dt="2025-08-15T14:09:09.767" v="0" actId="47"/>
          <pc:sldLayoutMkLst>
            <pc:docMk/>
            <pc:sldMasterMk cId="1101765445" sldId="2147483979"/>
            <pc:sldLayoutMk cId="3135255737" sldId="2147484003"/>
          </pc:sldLayoutMkLst>
        </pc:sldLayoutChg>
        <pc:sldLayoutChg chg="del">
          <pc:chgData name="Demelza Pilgrim" userId="9b1f39d4-236b-4377-9a8d-dccbd2a774dd" providerId="ADAL" clId="{4273902A-975B-4785-8A36-BDBBBFD7F190}" dt="2025-08-15T15:53:05.917" v="723" actId="47"/>
          <pc:sldLayoutMkLst>
            <pc:docMk/>
            <pc:sldMasterMk cId="1101765445" sldId="2147483979"/>
            <pc:sldLayoutMk cId="1475770652" sldId="2147484004"/>
          </pc:sldLayoutMkLst>
        </pc:sldLayoutChg>
        <pc:sldLayoutChg chg="del">
          <pc:chgData name="Demelza Pilgrim" userId="9b1f39d4-236b-4377-9a8d-dccbd2a774dd" providerId="ADAL" clId="{4273902A-975B-4785-8A36-BDBBBFD7F190}" dt="2025-08-15T16:02:22.172" v="776" actId="47"/>
          <pc:sldLayoutMkLst>
            <pc:docMk/>
            <pc:sldMasterMk cId="1101765445" sldId="2147483979"/>
            <pc:sldLayoutMk cId="606280717" sldId="2147484006"/>
          </pc:sldLayoutMkLst>
        </pc:sldLayoutChg>
        <pc:sldLayoutChg chg="del">
          <pc:chgData name="Demelza Pilgrim" userId="9b1f39d4-236b-4377-9a8d-dccbd2a774dd" providerId="ADAL" clId="{4273902A-975B-4785-8A36-BDBBBFD7F190}" dt="2025-08-15T16:03:09.083" v="790" actId="47"/>
          <pc:sldLayoutMkLst>
            <pc:docMk/>
            <pc:sldMasterMk cId="1101765445" sldId="2147483979"/>
            <pc:sldLayoutMk cId="279245269" sldId="2147484008"/>
          </pc:sldLayoutMkLst>
        </pc:sldLayoutChg>
        <pc:sldLayoutChg chg="del">
          <pc:chgData name="Demelza Pilgrim" userId="9b1f39d4-236b-4377-9a8d-dccbd2a774dd" providerId="ADAL" clId="{4273902A-975B-4785-8A36-BDBBBFD7F190}" dt="2025-08-15T15:59:45.639" v="750" actId="47"/>
          <pc:sldLayoutMkLst>
            <pc:docMk/>
            <pc:sldMasterMk cId="1101765445" sldId="2147483979"/>
            <pc:sldLayoutMk cId="3573995740" sldId="2147484009"/>
          </pc:sldLayoutMkLst>
        </pc:sldLayoutChg>
        <pc:sldLayoutChg chg="del">
          <pc:chgData name="Demelza Pilgrim" userId="9b1f39d4-236b-4377-9a8d-dccbd2a774dd" providerId="ADAL" clId="{4273902A-975B-4785-8A36-BDBBBFD7F190}" dt="2025-08-15T16:03:59.338" v="799" actId="47"/>
          <pc:sldLayoutMkLst>
            <pc:docMk/>
            <pc:sldMasterMk cId="1101765445" sldId="2147483979"/>
            <pc:sldLayoutMk cId="1462374662" sldId="2147484010"/>
          </pc:sldLayoutMkLst>
        </pc:sldLayoutChg>
        <pc:sldLayoutChg chg="del">
          <pc:chgData name="Demelza Pilgrim" userId="9b1f39d4-236b-4377-9a8d-dccbd2a774dd" providerId="ADAL" clId="{4273902A-975B-4785-8A36-BDBBBFD7F190}" dt="2025-08-15T15:57:33.397" v="741" actId="47"/>
          <pc:sldLayoutMkLst>
            <pc:docMk/>
            <pc:sldMasterMk cId="1101765445" sldId="2147483979"/>
            <pc:sldLayoutMk cId="1285366403" sldId="2147484011"/>
          </pc:sldLayoutMkLst>
        </pc:sldLayoutChg>
        <pc:sldLayoutChg chg="del">
          <pc:chgData name="Demelza Pilgrim" userId="9b1f39d4-236b-4377-9a8d-dccbd2a774dd" providerId="ADAL" clId="{4273902A-975B-4785-8A36-BDBBBFD7F190}" dt="2025-08-15T14:09:09.767" v="0" actId="47"/>
          <pc:sldLayoutMkLst>
            <pc:docMk/>
            <pc:sldMasterMk cId="1101765445" sldId="2147483979"/>
            <pc:sldLayoutMk cId="3493815021" sldId="2147484012"/>
          </pc:sldLayoutMkLst>
        </pc:sldLayoutChg>
        <pc:sldLayoutChg chg="del">
          <pc:chgData name="Demelza Pilgrim" userId="9b1f39d4-236b-4377-9a8d-dccbd2a774dd" providerId="ADAL" clId="{4273902A-975B-4785-8A36-BDBBBFD7F190}" dt="2025-08-15T14:09:09.767" v="0" actId="47"/>
          <pc:sldLayoutMkLst>
            <pc:docMk/>
            <pc:sldMasterMk cId="1101765445" sldId="2147483979"/>
            <pc:sldLayoutMk cId="2056717621" sldId="2147484013"/>
          </pc:sldLayoutMkLst>
        </pc:sldLayoutChg>
        <pc:sldLayoutChg chg="del">
          <pc:chgData name="Demelza Pilgrim" userId="9b1f39d4-236b-4377-9a8d-dccbd2a774dd" providerId="ADAL" clId="{4273902A-975B-4785-8A36-BDBBBFD7F190}" dt="2025-08-15T14:09:09.767" v="0" actId="47"/>
          <pc:sldLayoutMkLst>
            <pc:docMk/>
            <pc:sldMasterMk cId="1101765445" sldId="2147483979"/>
            <pc:sldLayoutMk cId="825205034" sldId="2147484014"/>
          </pc:sldLayoutMkLst>
        </pc:sldLayoutChg>
        <pc:sldLayoutChg chg="del">
          <pc:chgData name="Demelza Pilgrim" userId="9b1f39d4-236b-4377-9a8d-dccbd2a774dd" providerId="ADAL" clId="{4273902A-975B-4785-8A36-BDBBBFD7F190}" dt="2025-08-15T14:09:09.767" v="0" actId="47"/>
          <pc:sldLayoutMkLst>
            <pc:docMk/>
            <pc:sldMasterMk cId="1101765445" sldId="2147483979"/>
            <pc:sldLayoutMk cId="3193319704" sldId="2147484016"/>
          </pc:sldLayoutMkLst>
        </pc:sldLayoutChg>
        <pc:sldLayoutChg chg="del">
          <pc:chgData name="Demelza Pilgrim" userId="9b1f39d4-236b-4377-9a8d-dccbd2a774dd" providerId="ADAL" clId="{4273902A-975B-4785-8A36-BDBBBFD7F190}" dt="2025-08-15T14:09:09.767" v="0" actId="47"/>
          <pc:sldLayoutMkLst>
            <pc:docMk/>
            <pc:sldMasterMk cId="1101765445" sldId="2147483979"/>
            <pc:sldLayoutMk cId="1877413690" sldId="214748401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cked"/>
        <c:varyColors val="0"/>
        <c:ser>
          <c:idx val="1"/>
          <c:order val="0"/>
          <c:marker>
            <c:symbol val="none"/>
          </c:marker>
          <c:cat>
            <c:numRef>
              <c:f>Sheet1!$K$24:$K$30</c:f>
              <c:numCache>
                <c:formatCode>0%</c:formatCode>
                <c:ptCount val="7"/>
                <c:pt idx="0">
                  <c:v>0.1</c:v>
                </c:pt>
                <c:pt idx="1">
                  <c:v>0.12</c:v>
                </c:pt>
                <c:pt idx="2">
                  <c:v>0.14000000000000001</c:v>
                </c:pt>
                <c:pt idx="3">
                  <c:v>0.16</c:v>
                </c:pt>
                <c:pt idx="4">
                  <c:v>0.18</c:v>
                </c:pt>
                <c:pt idx="5">
                  <c:v>0.2</c:v>
                </c:pt>
                <c:pt idx="6">
                  <c:v>0.22</c:v>
                </c:pt>
              </c:numCache>
            </c:numRef>
          </c:cat>
          <c:val>
            <c:numRef>
              <c:f>Sheet1!$L$24:$L$30</c:f>
              <c:numCache>
                <c:formatCode>"£"#,##0;[Red]"£"#,##0</c:formatCode>
                <c:ptCount val="7"/>
                <c:pt idx="0">
                  <c:v>4913</c:v>
                </c:pt>
                <c:pt idx="1">
                  <c:v>3946</c:v>
                </c:pt>
                <c:pt idx="2">
                  <c:v>3025</c:v>
                </c:pt>
                <c:pt idx="3">
                  <c:v>2177</c:v>
                </c:pt>
                <c:pt idx="4">
                  <c:v>1375</c:v>
                </c:pt>
                <c:pt idx="5">
                  <c:v>619</c:v>
                </c:pt>
                <c:pt idx="6">
                  <c:v>-85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AA-49A1-B818-76E4AB4858B5}"/>
            </c:ext>
          </c:extLst>
        </c:ser>
        <c:ser>
          <c:idx val="0"/>
          <c:order val="1"/>
          <c:spPr>
            <a:ln w="57150"/>
          </c:spPr>
          <c:marker>
            <c:symbol val="none"/>
          </c:marker>
          <c:cat>
            <c:numRef>
              <c:f>Sheet1!$K$24:$K$30</c:f>
              <c:numCache>
                <c:formatCode>0%</c:formatCode>
                <c:ptCount val="7"/>
                <c:pt idx="0">
                  <c:v>0.1</c:v>
                </c:pt>
                <c:pt idx="1">
                  <c:v>0.12</c:v>
                </c:pt>
                <c:pt idx="2">
                  <c:v>0.14000000000000001</c:v>
                </c:pt>
                <c:pt idx="3">
                  <c:v>0.16</c:v>
                </c:pt>
                <c:pt idx="4">
                  <c:v>0.18</c:v>
                </c:pt>
                <c:pt idx="5">
                  <c:v>0.2</c:v>
                </c:pt>
                <c:pt idx="6">
                  <c:v>0.22</c:v>
                </c:pt>
              </c:numCache>
            </c:numRef>
          </c:cat>
          <c:val>
            <c:numRef>
              <c:f>Sheet1!$K$24:$K$30</c:f>
              <c:numCache>
                <c:formatCode>0%</c:formatCode>
                <c:ptCount val="7"/>
                <c:pt idx="0">
                  <c:v>0.1</c:v>
                </c:pt>
                <c:pt idx="1">
                  <c:v>0.12</c:v>
                </c:pt>
                <c:pt idx="2">
                  <c:v>0.14000000000000001</c:v>
                </c:pt>
                <c:pt idx="3">
                  <c:v>0.16</c:v>
                </c:pt>
                <c:pt idx="4">
                  <c:v>0.18</c:v>
                </c:pt>
                <c:pt idx="5">
                  <c:v>0.2</c:v>
                </c:pt>
                <c:pt idx="6">
                  <c:v>0.22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AA-49A1-B818-76E4AB4858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7482880"/>
        <c:axId val="167484800"/>
      </c:lineChart>
      <c:catAx>
        <c:axId val="16748288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dirty="0"/>
                  <a:t>Discount Factor</a:t>
                </a:r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67484800"/>
        <c:crosses val="autoZero"/>
        <c:auto val="1"/>
        <c:lblAlgn val="ctr"/>
        <c:lblOffset val="100"/>
        <c:noMultiLvlLbl val="0"/>
      </c:catAx>
      <c:valAx>
        <c:axId val="1674848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GB" dirty="0"/>
                  <a:t>Net Present Value</a:t>
                </a:r>
              </a:p>
            </c:rich>
          </c:tx>
          <c:overlay val="0"/>
        </c:title>
        <c:numFmt formatCode="&quot;£&quot;#,##0;[Red]&quot;£&quot;#,##0" sourceLinked="1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674828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>
        <a:defRPr sz="2400"/>
      </a:pPr>
      <a:endParaRPr lang="en-US"/>
    </a:p>
  </c:txPr>
  <c:externalData r:id="rId1">
    <c:autoUpdate val="0"/>
  </c:externalData>
  <c:userShapes r:id="rId2"/>
</c:chartSpac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D820D-3F6A-4169-933B-89B3B07AC47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EBDDA8-C6BE-41AD-9C88-6DCC29B9FC6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Consider why the time value of cash flows is important within an investment decision.</a:t>
          </a:r>
        </a:p>
        <a:p>
          <a:pPr>
            <a:lnSpc>
              <a:spcPct val="100000"/>
            </a:lnSpc>
          </a:pP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154201-B759-466A-B062-DA0D74D8BD6C}" type="parTrans" cxnId="{B75E0ABB-BBC1-48E4-8C86-96B2B612EFF0}">
      <dgm:prSet/>
      <dgm:spPr/>
      <dgm:t>
        <a:bodyPr/>
        <a:lstStyle/>
        <a:p>
          <a:endParaRPr lang="en-US"/>
        </a:p>
      </dgm:t>
    </dgm:pt>
    <dgm:pt modelId="{70076E80-E76B-4BBC-A0F0-817393568234}" type="sibTrans" cxnId="{B75E0ABB-BBC1-48E4-8C86-96B2B612EFF0}">
      <dgm:prSet/>
      <dgm:spPr/>
      <dgm:t>
        <a:bodyPr/>
        <a:lstStyle/>
        <a:p>
          <a:endParaRPr lang="en-US"/>
        </a:p>
      </dgm:t>
    </dgm:pt>
    <dgm:pt modelId="{6FCEFAE3-8161-433C-96FD-675211A5634D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Apply the NPV and IRR calculations to a given scenario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E86817DB-1B76-45C8-82CF-C2BE7F451B71}" type="parTrans" cxnId="{2C813CBA-5909-427A-809B-31A305DAEF20}">
      <dgm:prSet/>
      <dgm:spPr/>
      <dgm:t>
        <a:bodyPr/>
        <a:lstStyle/>
        <a:p>
          <a:endParaRPr lang="en-US"/>
        </a:p>
      </dgm:t>
    </dgm:pt>
    <dgm:pt modelId="{081FE379-0C72-4144-B3F0-AC4E41F2EAA0}" type="sibTrans" cxnId="{2C813CBA-5909-427A-809B-31A305DAEF20}">
      <dgm:prSet/>
      <dgm:spPr/>
      <dgm:t>
        <a:bodyPr/>
        <a:lstStyle/>
        <a:p>
          <a:endParaRPr lang="en-US"/>
        </a:p>
      </dgm:t>
    </dgm:pt>
    <dgm:pt modelId="{0B7FDDFD-655F-4966-93A7-ACED2D6758D8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Review the advantages and disadvantages of both methods.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258CD603-77CE-4064-9B6B-534C5EBBC6DC}" type="parTrans" cxnId="{9C223AC8-BE62-4707-A47E-7DBCDE2CFA92}">
      <dgm:prSet/>
      <dgm:spPr/>
      <dgm:t>
        <a:bodyPr/>
        <a:lstStyle/>
        <a:p>
          <a:endParaRPr lang="en-US"/>
        </a:p>
      </dgm:t>
    </dgm:pt>
    <dgm:pt modelId="{83F64753-43F2-43F3-80A6-21115A980F6B}" type="sibTrans" cxnId="{9C223AC8-BE62-4707-A47E-7DBCDE2CFA92}">
      <dgm:prSet/>
      <dgm:spPr/>
      <dgm:t>
        <a:bodyPr/>
        <a:lstStyle/>
        <a:p>
          <a:endParaRPr lang="en-US"/>
        </a:p>
      </dgm:t>
    </dgm:pt>
    <dgm:pt modelId="{8F3D7864-A67E-4980-8EEC-F096E4A5A33B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Consider the Net Present Value (NPV) and Internal Rate of Return (IRR) method and how they are calculated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148FEDAC-1DFF-4A8C-B751-90B79D2B38D7}" type="sibTrans" cxnId="{D3F1B6B4-CFFA-4F0C-8151-F35EFDF0B8BB}">
      <dgm:prSet/>
      <dgm:spPr/>
      <dgm:t>
        <a:bodyPr/>
        <a:lstStyle/>
        <a:p>
          <a:endParaRPr lang="en-US"/>
        </a:p>
      </dgm:t>
    </dgm:pt>
    <dgm:pt modelId="{9F1A70AA-84AE-4B3D-8E2C-3BD6C668A859}" type="parTrans" cxnId="{D3F1B6B4-CFFA-4F0C-8151-F35EFDF0B8BB}">
      <dgm:prSet/>
      <dgm:spPr/>
      <dgm:t>
        <a:bodyPr/>
        <a:lstStyle/>
        <a:p>
          <a:endParaRPr lang="en-US"/>
        </a:p>
      </dgm:t>
    </dgm:pt>
    <dgm:pt modelId="{262CDA82-1192-443A-AA18-C2D1343BD67D}" type="pres">
      <dgm:prSet presAssocID="{635D820D-3F6A-4169-933B-89B3B07AC473}" presName="root" presStyleCnt="0">
        <dgm:presLayoutVars>
          <dgm:dir/>
          <dgm:resizeHandles val="exact"/>
        </dgm:presLayoutVars>
      </dgm:prSet>
      <dgm:spPr/>
    </dgm:pt>
    <dgm:pt modelId="{103A7B21-BA1E-4E44-B158-72F7A07E09F7}" type="pres">
      <dgm:prSet presAssocID="{EDEBDDA8-C6BE-41AD-9C88-6DCC29B9FC6B}" presName="compNode" presStyleCnt="0"/>
      <dgm:spPr/>
    </dgm:pt>
    <dgm:pt modelId="{B69CCFB0-6C1F-4790-8677-D5F70B93E05D}" type="pres">
      <dgm:prSet presAssocID="{EDEBDDA8-C6BE-41AD-9C88-6DCC29B9FC6B}" presName="bgRect" presStyleLbl="bgShp" presStyleIdx="0" presStyleCnt="4"/>
      <dgm:spPr/>
    </dgm:pt>
    <dgm:pt modelId="{6AE7B6DA-DCF0-4941-B35E-FED592CAD9C7}" type="pres">
      <dgm:prSet presAssocID="{EDEBDDA8-C6BE-41AD-9C88-6DCC29B9FC6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room with solid fill"/>
        </a:ext>
      </dgm:extLst>
    </dgm:pt>
    <dgm:pt modelId="{29FE1B13-E724-485C-A200-D60CBEE67033}" type="pres">
      <dgm:prSet presAssocID="{EDEBDDA8-C6BE-41AD-9C88-6DCC29B9FC6B}" presName="spaceRect" presStyleCnt="0"/>
      <dgm:spPr/>
    </dgm:pt>
    <dgm:pt modelId="{B7AF9EC2-7666-4444-BBD8-9355F2C63196}" type="pres">
      <dgm:prSet presAssocID="{EDEBDDA8-C6BE-41AD-9C88-6DCC29B9FC6B}" presName="parTx" presStyleLbl="revTx" presStyleIdx="0" presStyleCnt="4" custLinFactNeighborX="-408" custLinFactNeighborY="10314">
        <dgm:presLayoutVars>
          <dgm:chMax val="0"/>
          <dgm:chPref val="0"/>
        </dgm:presLayoutVars>
      </dgm:prSet>
      <dgm:spPr/>
    </dgm:pt>
    <dgm:pt modelId="{D5A2CA2C-F765-4434-A84E-2FD85DAF1E86}" type="pres">
      <dgm:prSet presAssocID="{70076E80-E76B-4BBC-A0F0-817393568234}" presName="sibTrans" presStyleCnt="0"/>
      <dgm:spPr/>
    </dgm:pt>
    <dgm:pt modelId="{E514EAFE-FC11-4B3F-8013-4D4292B72485}" type="pres">
      <dgm:prSet presAssocID="{8F3D7864-A67E-4980-8EEC-F096E4A5A33B}" presName="compNode" presStyleCnt="0"/>
      <dgm:spPr/>
    </dgm:pt>
    <dgm:pt modelId="{61B30C71-B6B1-4EDB-8941-25699A6AA799}" type="pres">
      <dgm:prSet presAssocID="{8F3D7864-A67E-4980-8EEC-F096E4A5A33B}" presName="bgRect" presStyleLbl="bgShp" presStyleIdx="1" presStyleCnt="4"/>
      <dgm:spPr/>
    </dgm:pt>
    <dgm:pt modelId="{06FD45ED-93A9-4CB5-BBC6-41722BB2CC37}" type="pres">
      <dgm:prSet presAssocID="{8F3D7864-A67E-4980-8EEC-F096E4A5A3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 with solid fill"/>
        </a:ext>
      </dgm:extLst>
    </dgm:pt>
    <dgm:pt modelId="{9B4B4641-26DA-4FEC-B665-84241DB0B22C}" type="pres">
      <dgm:prSet presAssocID="{8F3D7864-A67E-4980-8EEC-F096E4A5A33B}" presName="spaceRect" presStyleCnt="0"/>
      <dgm:spPr/>
    </dgm:pt>
    <dgm:pt modelId="{48B4CC27-4AE8-44EB-98DC-4F45EE52C0EB}" type="pres">
      <dgm:prSet presAssocID="{8F3D7864-A67E-4980-8EEC-F096E4A5A33B}" presName="parTx" presStyleLbl="revTx" presStyleIdx="1" presStyleCnt="4" custLinFactNeighborX="-461" custLinFactNeighborY="-14686">
        <dgm:presLayoutVars>
          <dgm:chMax val="0"/>
          <dgm:chPref val="0"/>
        </dgm:presLayoutVars>
      </dgm:prSet>
      <dgm:spPr/>
    </dgm:pt>
    <dgm:pt modelId="{F684393D-6534-4779-B93F-403378B5349D}" type="pres">
      <dgm:prSet presAssocID="{148FEDAC-1DFF-4A8C-B751-90B79D2B38D7}" presName="sibTrans" presStyleCnt="0"/>
      <dgm:spPr/>
    </dgm:pt>
    <dgm:pt modelId="{0ED59449-DEDB-47C9-87BE-C02FF337188B}" type="pres">
      <dgm:prSet presAssocID="{6FCEFAE3-8161-433C-96FD-675211A5634D}" presName="compNode" presStyleCnt="0"/>
      <dgm:spPr/>
    </dgm:pt>
    <dgm:pt modelId="{D9483691-DD36-405D-BB66-9F59F2F1E989}" type="pres">
      <dgm:prSet presAssocID="{6FCEFAE3-8161-433C-96FD-675211A5634D}" presName="bgRect" presStyleLbl="bgShp" presStyleIdx="2" presStyleCnt="4" custLinFactNeighborY="2954"/>
      <dgm:spPr/>
    </dgm:pt>
    <dgm:pt modelId="{5E20F1DA-74F8-4710-885C-433C2757E97E}" type="pres">
      <dgm:prSet presAssocID="{6FCEFAE3-8161-433C-96FD-675211A563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1B73FCB2-5DE4-4B2F-A030-B78C1995B2EB}" type="pres">
      <dgm:prSet presAssocID="{6FCEFAE3-8161-433C-96FD-675211A5634D}" presName="spaceRect" presStyleCnt="0"/>
      <dgm:spPr/>
    </dgm:pt>
    <dgm:pt modelId="{D6AAB94E-82BD-4674-9EC8-70CF34F5480A}" type="pres">
      <dgm:prSet presAssocID="{6FCEFAE3-8161-433C-96FD-675211A5634D}" presName="parTx" presStyleLbl="revTx" presStyleIdx="2" presStyleCnt="4" custLinFactNeighborY="-18874">
        <dgm:presLayoutVars>
          <dgm:chMax val="0"/>
          <dgm:chPref val="0"/>
        </dgm:presLayoutVars>
      </dgm:prSet>
      <dgm:spPr/>
    </dgm:pt>
    <dgm:pt modelId="{92BD4CB9-700E-4D5A-8EBF-0A5B80174042}" type="pres">
      <dgm:prSet presAssocID="{081FE379-0C72-4144-B3F0-AC4E41F2EAA0}" presName="sibTrans" presStyleCnt="0"/>
      <dgm:spPr/>
    </dgm:pt>
    <dgm:pt modelId="{131DC94B-195B-497B-9296-A32FBF036EC7}" type="pres">
      <dgm:prSet presAssocID="{0B7FDDFD-655F-4966-93A7-ACED2D6758D8}" presName="compNode" presStyleCnt="0"/>
      <dgm:spPr/>
    </dgm:pt>
    <dgm:pt modelId="{CF075505-E8EA-4669-BABA-401DC8E15F63}" type="pres">
      <dgm:prSet presAssocID="{0B7FDDFD-655F-4966-93A7-ACED2D6758D8}" presName="bgRect" presStyleLbl="bgShp" presStyleIdx="3" presStyleCnt="4" custLinFactNeighborX="-109" custLinFactNeighborY="7790"/>
      <dgm:spPr/>
    </dgm:pt>
    <dgm:pt modelId="{20AA3712-49CF-4236-AB50-E8F4285D1C0B}" type="pres">
      <dgm:prSet presAssocID="{0B7FDDFD-655F-4966-93A7-ACED2D6758D8}" presName="iconRect" presStyleLbl="node1" presStyleIdx="3" presStyleCnt="4" custLinFactNeighborX="-139" custLinFactNeighborY="-36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k with solid fill"/>
        </a:ext>
      </dgm:extLst>
    </dgm:pt>
    <dgm:pt modelId="{2B860609-9F78-462C-A57A-62C3C1BEF49A}" type="pres">
      <dgm:prSet presAssocID="{0B7FDDFD-655F-4966-93A7-ACED2D6758D8}" presName="spaceRect" presStyleCnt="0"/>
      <dgm:spPr/>
    </dgm:pt>
    <dgm:pt modelId="{0AE4A487-9A78-4477-AD2C-F1EA03B28256}" type="pres">
      <dgm:prSet presAssocID="{0B7FDDFD-655F-4966-93A7-ACED2D6758D8}" presName="parTx" presStyleLbl="revTx" presStyleIdx="3" presStyleCnt="4" custScaleX="95490" custLinFactNeighborX="-1873" custLinFactNeighborY="-2251">
        <dgm:presLayoutVars>
          <dgm:chMax val="0"/>
          <dgm:chPref val="0"/>
        </dgm:presLayoutVars>
      </dgm:prSet>
      <dgm:spPr/>
    </dgm:pt>
  </dgm:ptLst>
  <dgm:cxnLst>
    <dgm:cxn modelId="{075EE424-D9B4-4E46-9665-4C6F4605B129}" type="presOf" srcId="{0B7FDDFD-655F-4966-93A7-ACED2D6758D8}" destId="{0AE4A487-9A78-4477-AD2C-F1EA03B28256}" srcOrd="0" destOrd="0" presId="urn:microsoft.com/office/officeart/2018/2/layout/IconVerticalSolidList"/>
    <dgm:cxn modelId="{0D9EBC52-F8D5-4A84-99DA-3C84F70E032E}" type="presOf" srcId="{8F3D7864-A67E-4980-8EEC-F096E4A5A33B}" destId="{48B4CC27-4AE8-44EB-98DC-4F45EE52C0EB}" srcOrd="0" destOrd="0" presId="urn:microsoft.com/office/officeart/2018/2/layout/IconVerticalSolidList"/>
    <dgm:cxn modelId="{4F1F945A-D164-481A-9009-F98C2D505015}" type="presOf" srcId="{6FCEFAE3-8161-433C-96FD-675211A5634D}" destId="{D6AAB94E-82BD-4674-9EC8-70CF34F5480A}" srcOrd="0" destOrd="0" presId="urn:microsoft.com/office/officeart/2018/2/layout/IconVerticalSolidList"/>
    <dgm:cxn modelId="{33868E94-7799-41F0-B23B-1D6D3C531263}" type="presOf" srcId="{EDEBDDA8-C6BE-41AD-9C88-6DCC29B9FC6B}" destId="{B7AF9EC2-7666-4444-BBD8-9355F2C63196}" srcOrd="0" destOrd="0" presId="urn:microsoft.com/office/officeart/2018/2/layout/IconVerticalSolidList"/>
    <dgm:cxn modelId="{1FCE48A7-2CA1-4F98-9830-092517DC53B3}" type="presOf" srcId="{635D820D-3F6A-4169-933B-89B3B07AC473}" destId="{262CDA82-1192-443A-AA18-C2D1343BD67D}" srcOrd="0" destOrd="0" presId="urn:microsoft.com/office/officeart/2018/2/layout/IconVerticalSolidList"/>
    <dgm:cxn modelId="{D3F1B6B4-CFFA-4F0C-8151-F35EFDF0B8BB}" srcId="{635D820D-3F6A-4169-933B-89B3B07AC473}" destId="{8F3D7864-A67E-4980-8EEC-F096E4A5A33B}" srcOrd="1" destOrd="0" parTransId="{9F1A70AA-84AE-4B3D-8E2C-3BD6C668A859}" sibTransId="{148FEDAC-1DFF-4A8C-B751-90B79D2B38D7}"/>
    <dgm:cxn modelId="{2C813CBA-5909-427A-809B-31A305DAEF20}" srcId="{635D820D-3F6A-4169-933B-89B3B07AC473}" destId="{6FCEFAE3-8161-433C-96FD-675211A5634D}" srcOrd="2" destOrd="0" parTransId="{E86817DB-1B76-45C8-82CF-C2BE7F451B71}" sibTransId="{081FE379-0C72-4144-B3F0-AC4E41F2EAA0}"/>
    <dgm:cxn modelId="{B75E0ABB-BBC1-48E4-8C86-96B2B612EFF0}" srcId="{635D820D-3F6A-4169-933B-89B3B07AC473}" destId="{EDEBDDA8-C6BE-41AD-9C88-6DCC29B9FC6B}" srcOrd="0" destOrd="0" parTransId="{B9154201-B759-466A-B062-DA0D74D8BD6C}" sibTransId="{70076E80-E76B-4BBC-A0F0-817393568234}"/>
    <dgm:cxn modelId="{9C223AC8-BE62-4707-A47E-7DBCDE2CFA92}" srcId="{635D820D-3F6A-4169-933B-89B3B07AC473}" destId="{0B7FDDFD-655F-4966-93A7-ACED2D6758D8}" srcOrd="3" destOrd="0" parTransId="{258CD603-77CE-4064-9B6B-534C5EBBC6DC}" sibTransId="{83F64753-43F2-43F3-80A6-21115A980F6B}"/>
    <dgm:cxn modelId="{21DCF06F-C3EF-4F6D-A62D-35A90CD59FED}" type="presParOf" srcId="{262CDA82-1192-443A-AA18-C2D1343BD67D}" destId="{103A7B21-BA1E-4E44-B158-72F7A07E09F7}" srcOrd="0" destOrd="0" presId="urn:microsoft.com/office/officeart/2018/2/layout/IconVerticalSolidList"/>
    <dgm:cxn modelId="{4B379F65-8981-4924-9B46-A3B537F9D450}" type="presParOf" srcId="{103A7B21-BA1E-4E44-B158-72F7A07E09F7}" destId="{B69CCFB0-6C1F-4790-8677-D5F70B93E05D}" srcOrd="0" destOrd="0" presId="urn:microsoft.com/office/officeart/2018/2/layout/IconVerticalSolidList"/>
    <dgm:cxn modelId="{DB353766-8969-4534-83AF-B43BC4E49965}" type="presParOf" srcId="{103A7B21-BA1E-4E44-B158-72F7A07E09F7}" destId="{6AE7B6DA-DCF0-4941-B35E-FED592CAD9C7}" srcOrd="1" destOrd="0" presId="urn:microsoft.com/office/officeart/2018/2/layout/IconVerticalSolidList"/>
    <dgm:cxn modelId="{6269B74B-1301-4833-9703-D932628A3A3B}" type="presParOf" srcId="{103A7B21-BA1E-4E44-B158-72F7A07E09F7}" destId="{29FE1B13-E724-485C-A200-D60CBEE67033}" srcOrd="2" destOrd="0" presId="urn:microsoft.com/office/officeart/2018/2/layout/IconVerticalSolidList"/>
    <dgm:cxn modelId="{14628E5F-7952-4A71-ACBA-EFC6276CEDD4}" type="presParOf" srcId="{103A7B21-BA1E-4E44-B158-72F7A07E09F7}" destId="{B7AF9EC2-7666-4444-BBD8-9355F2C63196}" srcOrd="3" destOrd="0" presId="urn:microsoft.com/office/officeart/2018/2/layout/IconVerticalSolidList"/>
    <dgm:cxn modelId="{283CA498-7987-47C5-8D49-8756A82686FB}" type="presParOf" srcId="{262CDA82-1192-443A-AA18-C2D1343BD67D}" destId="{D5A2CA2C-F765-4434-A84E-2FD85DAF1E86}" srcOrd="1" destOrd="0" presId="urn:microsoft.com/office/officeart/2018/2/layout/IconVerticalSolidList"/>
    <dgm:cxn modelId="{91EA6BA5-B900-4C79-80B3-96A690F7AD57}" type="presParOf" srcId="{262CDA82-1192-443A-AA18-C2D1343BD67D}" destId="{E514EAFE-FC11-4B3F-8013-4D4292B72485}" srcOrd="2" destOrd="0" presId="urn:microsoft.com/office/officeart/2018/2/layout/IconVerticalSolidList"/>
    <dgm:cxn modelId="{AACC2D05-E9E6-4932-93DB-780CE60FDD29}" type="presParOf" srcId="{E514EAFE-FC11-4B3F-8013-4D4292B72485}" destId="{61B30C71-B6B1-4EDB-8941-25699A6AA799}" srcOrd="0" destOrd="0" presId="urn:microsoft.com/office/officeart/2018/2/layout/IconVerticalSolidList"/>
    <dgm:cxn modelId="{B80BAD75-D809-4911-8F0E-C03DB4EF3503}" type="presParOf" srcId="{E514EAFE-FC11-4B3F-8013-4D4292B72485}" destId="{06FD45ED-93A9-4CB5-BBC6-41722BB2CC37}" srcOrd="1" destOrd="0" presId="urn:microsoft.com/office/officeart/2018/2/layout/IconVerticalSolidList"/>
    <dgm:cxn modelId="{8F9A2F4C-FA5F-411C-8359-A5C03DD1409D}" type="presParOf" srcId="{E514EAFE-FC11-4B3F-8013-4D4292B72485}" destId="{9B4B4641-26DA-4FEC-B665-84241DB0B22C}" srcOrd="2" destOrd="0" presId="urn:microsoft.com/office/officeart/2018/2/layout/IconVerticalSolidList"/>
    <dgm:cxn modelId="{E037BD84-E667-4373-A6F1-B3F3E65C7279}" type="presParOf" srcId="{E514EAFE-FC11-4B3F-8013-4D4292B72485}" destId="{48B4CC27-4AE8-44EB-98DC-4F45EE52C0EB}" srcOrd="3" destOrd="0" presId="urn:microsoft.com/office/officeart/2018/2/layout/IconVerticalSolidList"/>
    <dgm:cxn modelId="{97094181-0CF2-4033-945B-69E9823F3D78}" type="presParOf" srcId="{262CDA82-1192-443A-AA18-C2D1343BD67D}" destId="{F684393D-6534-4779-B93F-403378B5349D}" srcOrd="3" destOrd="0" presId="urn:microsoft.com/office/officeart/2018/2/layout/IconVerticalSolidList"/>
    <dgm:cxn modelId="{E23A5A8E-CB2E-4FDA-8AD2-BDC3EF098ECE}" type="presParOf" srcId="{262CDA82-1192-443A-AA18-C2D1343BD67D}" destId="{0ED59449-DEDB-47C9-87BE-C02FF337188B}" srcOrd="4" destOrd="0" presId="urn:microsoft.com/office/officeart/2018/2/layout/IconVerticalSolidList"/>
    <dgm:cxn modelId="{ACC97681-673D-4D57-A074-5BF69A33231D}" type="presParOf" srcId="{0ED59449-DEDB-47C9-87BE-C02FF337188B}" destId="{D9483691-DD36-405D-BB66-9F59F2F1E989}" srcOrd="0" destOrd="0" presId="urn:microsoft.com/office/officeart/2018/2/layout/IconVerticalSolidList"/>
    <dgm:cxn modelId="{E4C6731B-1E11-42E0-8F2B-D929B7BF6748}" type="presParOf" srcId="{0ED59449-DEDB-47C9-87BE-C02FF337188B}" destId="{5E20F1DA-74F8-4710-885C-433C2757E97E}" srcOrd="1" destOrd="0" presId="urn:microsoft.com/office/officeart/2018/2/layout/IconVerticalSolidList"/>
    <dgm:cxn modelId="{0E24B4D6-EC5D-49D4-8184-81BE0187E8BB}" type="presParOf" srcId="{0ED59449-DEDB-47C9-87BE-C02FF337188B}" destId="{1B73FCB2-5DE4-4B2F-A030-B78C1995B2EB}" srcOrd="2" destOrd="0" presId="urn:microsoft.com/office/officeart/2018/2/layout/IconVerticalSolidList"/>
    <dgm:cxn modelId="{1182BB39-B651-47DD-9581-BD60B78C9020}" type="presParOf" srcId="{0ED59449-DEDB-47C9-87BE-C02FF337188B}" destId="{D6AAB94E-82BD-4674-9EC8-70CF34F5480A}" srcOrd="3" destOrd="0" presId="urn:microsoft.com/office/officeart/2018/2/layout/IconVerticalSolidList"/>
    <dgm:cxn modelId="{4FB3DBDA-14A2-458D-8077-D42FEEEE1D47}" type="presParOf" srcId="{262CDA82-1192-443A-AA18-C2D1343BD67D}" destId="{92BD4CB9-700E-4D5A-8EBF-0A5B80174042}" srcOrd="5" destOrd="0" presId="urn:microsoft.com/office/officeart/2018/2/layout/IconVerticalSolidList"/>
    <dgm:cxn modelId="{DE2C3D9F-EE7C-40AC-94A3-8AE16BFF50BD}" type="presParOf" srcId="{262CDA82-1192-443A-AA18-C2D1343BD67D}" destId="{131DC94B-195B-497B-9296-A32FBF036EC7}" srcOrd="6" destOrd="0" presId="urn:microsoft.com/office/officeart/2018/2/layout/IconVerticalSolidList"/>
    <dgm:cxn modelId="{62E6F1BC-2E4C-45F2-8944-79E026AEA07D}" type="presParOf" srcId="{131DC94B-195B-497B-9296-A32FBF036EC7}" destId="{CF075505-E8EA-4669-BABA-401DC8E15F63}" srcOrd="0" destOrd="0" presId="urn:microsoft.com/office/officeart/2018/2/layout/IconVerticalSolidList"/>
    <dgm:cxn modelId="{C360F8A3-D138-4C6E-87E3-8A4F11BB6A66}" type="presParOf" srcId="{131DC94B-195B-497B-9296-A32FBF036EC7}" destId="{20AA3712-49CF-4236-AB50-E8F4285D1C0B}" srcOrd="1" destOrd="0" presId="urn:microsoft.com/office/officeart/2018/2/layout/IconVerticalSolidList"/>
    <dgm:cxn modelId="{07F8E530-9F36-4A29-A187-0C5E7768D7A5}" type="presParOf" srcId="{131DC94B-195B-497B-9296-A32FBF036EC7}" destId="{2B860609-9F78-462C-A57A-62C3C1BEF49A}" srcOrd="2" destOrd="0" presId="urn:microsoft.com/office/officeart/2018/2/layout/IconVerticalSolidList"/>
    <dgm:cxn modelId="{23D652CF-3805-47CF-83AA-4A4C394309E8}" type="presParOf" srcId="{131DC94B-195B-497B-9296-A32FBF036EC7}" destId="{0AE4A487-9A78-4477-AD2C-F1EA03B282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5D820D-3F6A-4169-933B-89B3B07AC47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EBDDA8-C6BE-41AD-9C88-6DCC29B9FC6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Consider why the time value of cash flows is important within an investment decision.</a:t>
          </a:r>
        </a:p>
        <a:p>
          <a:pPr>
            <a:lnSpc>
              <a:spcPct val="100000"/>
            </a:lnSpc>
          </a:pP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154201-B759-466A-B062-DA0D74D8BD6C}" type="parTrans" cxnId="{B75E0ABB-BBC1-48E4-8C86-96B2B612EFF0}">
      <dgm:prSet/>
      <dgm:spPr/>
      <dgm:t>
        <a:bodyPr/>
        <a:lstStyle/>
        <a:p>
          <a:endParaRPr lang="en-US"/>
        </a:p>
      </dgm:t>
    </dgm:pt>
    <dgm:pt modelId="{70076E80-E76B-4BBC-A0F0-817393568234}" type="sibTrans" cxnId="{B75E0ABB-BBC1-48E4-8C86-96B2B612EFF0}">
      <dgm:prSet/>
      <dgm:spPr/>
      <dgm:t>
        <a:bodyPr/>
        <a:lstStyle/>
        <a:p>
          <a:endParaRPr lang="en-US"/>
        </a:p>
      </dgm:t>
    </dgm:pt>
    <dgm:pt modelId="{6FCEFAE3-8161-433C-96FD-675211A5634D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Apply the NPV and IRR calculations to a given scenario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E86817DB-1B76-45C8-82CF-C2BE7F451B71}" type="parTrans" cxnId="{2C813CBA-5909-427A-809B-31A305DAEF20}">
      <dgm:prSet/>
      <dgm:spPr/>
      <dgm:t>
        <a:bodyPr/>
        <a:lstStyle/>
        <a:p>
          <a:endParaRPr lang="en-US"/>
        </a:p>
      </dgm:t>
    </dgm:pt>
    <dgm:pt modelId="{081FE379-0C72-4144-B3F0-AC4E41F2EAA0}" type="sibTrans" cxnId="{2C813CBA-5909-427A-809B-31A305DAEF20}">
      <dgm:prSet/>
      <dgm:spPr/>
      <dgm:t>
        <a:bodyPr/>
        <a:lstStyle/>
        <a:p>
          <a:endParaRPr lang="en-US"/>
        </a:p>
      </dgm:t>
    </dgm:pt>
    <dgm:pt modelId="{0B7FDDFD-655F-4966-93A7-ACED2D6758D8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Review the advantages and disadvantages of both methods.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258CD603-77CE-4064-9B6B-534C5EBBC6DC}" type="parTrans" cxnId="{9C223AC8-BE62-4707-A47E-7DBCDE2CFA92}">
      <dgm:prSet/>
      <dgm:spPr/>
      <dgm:t>
        <a:bodyPr/>
        <a:lstStyle/>
        <a:p>
          <a:endParaRPr lang="en-US"/>
        </a:p>
      </dgm:t>
    </dgm:pt>
    <dgm:pt modelId="{83F64753-43F2-43F3-80A6-21115A980F6B}" type="sibTrans" cxnId="{9C223AC8-BE62-4707-A47E-7DBCDE2CFA92}">
      <dgm:prSet/>
      <dgm:spPr/>
      <dgm:t>
        <a:bodyPr/>
        <a:lstStyle/>
        <a:p>
          <a:endParaRPr lang="en-US"/>
        </a:p>
      </dgm:t>
    </dgm:pt>
    <dgm:pt modelId="{8F3D7864-A67E-4980-8EEC-F096E4A5A33B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Consider the Net Present Value (NPV) and Internal Rate of Return (IRR) method and how they are calculated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148FEDAC-1DFF-4A8C-B751-90B79D2B38D7}" type="sibTrans" cxnId="{D3F1B6B4-CFFA-4F0C-8151-F35EFDF0B8BB}">
      <dgm:prSet/>
      <dgm:spPr/>
      <dgm:t>
        <a:bodyPr/>
        <a:lstStyle/>
        <a:p>
          <a:endParaRPr lang="en-US"/>
        </a:p>
      </dgm:t>
    </dgm:pt>
    <dgm:pt modelId="{9F1A70AA-84AE-4B3D-8E2C-3BD6C668A859}" type="parTrans" cxnId="{D3F1B6B4-CFFA-4F0C-8151-F35EFDF0B8BB}">
      <dgm:prSet/>
      <dgm:spPr/>
      <dgm:t>
        <a:bodyPr/>
        <a:lstStyle/>
        <a:p>
          <a:endParaRPr lang="en-US"/>
        </a:p>
      </dgm:t>
    </dgm:pt>
    <dgm:pt modelId="{262CDA82-1192-443A-AA18-C2D1343BD67D}" type="pres">
      <dgm:prSet presAssocID="{635D820D-3F6A-4169-933B-89B3B07AC473}" presName="root" presStyleCnt="0">
        <dgm:presLayoutVars>
          <dgm:dir/>
          <dgm:resizeHandles val="exact"/>
        </dgm:presLayoutVars>
      </dgm:prSet>
      <dgm:spPr/>
    </dgm:pt>
    <dgm:pt modelId="{103A7B21-BA1E-4E44-B158-72F7A07E09F7}" type="pres">
      <dgm:prSet presAssocID="{EDEBDDA8-C6BE-41AD-9C88-6DCC29B9FC6B}" presName="compNode" presStyleCnt="0"/>
      <dgm:spPr/>
    </dgm:pt>
    <dgm:pt modelId="{B69CCFB0-6C1F-4790-8677-D5F70B93E05D}" type="pres">
      <dgm:prSet presAssocID="{EDEBDDA8-C6BE-41AD-9C88-6DCC29B9FC6B}" presName="bgRect" presStyleLbl="bgShp" presStyleIdx="0" presStyleCnt="4"/>
      <dgm:spPr/>
    </dgm:pt>
    <dgm:pt modelId="{6AE7B6DA-DCF0-4941-B35E-FED592CAD9C7}" type="pres">
      <dgm:prSet presAssocID="{EDEBDDA8-C6BE-41AD-9C88-6DCC29B9FC6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room with solid fill"/>
        </a:ext>
      </dgm:extLst>
    </dgm:pt>
    <dgm:pt modelId="{29FE1B13-E724-485C-A200-D60CBEE67033}" type="pres">
      <dgm:prSet presAssocID="{EDEBDDA8-C6BE-41AD-9C88-6DCC29B9FC6B}" presName="spaceRect" presStyleCnt="0"/>
      <dgm:spPr/>
    </dgm:pt>
    <dgm:pt modelId="{B7AF9EC2-7666-4444-BBD8-9355F2C63196}" type="pres">
      <dgm:prSet presAssocID="{EDEBDDA8-C6BE-41AD-9C88-6DCC29B9FC6B}" presName="parTx" presStyleLbl="revTx" presStyleIdx="0" presStyleCnt="4" custLinFactNeighborX="-408" custLinFactNeighborY="10314">
        <dgm:presLayoutVars>
          <dgm:chMax val="0"/>
          <dgm:chPref val="0"/>
        </dgm:presLayoutVars>
      </dgm:prSet>
      <dgm:spPr/>
    </dgm:pt>
    <dgm:pt modelId="{D5A2CA2C-F765-4434-A84E-2FD85DAF1E86}" type="pres">
      <dgm:prSet presAssocID="{70076E80-E76B-4BBC-A0F0-817393568234}" presName="sibTrans" presStyleCnt="0"/>
      <dgm:spPr/>
    </dgm:pt>
    <dgm:pt modelId="{E514EAFE-FC11-4B3F-8013-4D4292B72485}" type="pres">
      <dgm:prSet presAssocID="{8F3D7864-A67E-4980-8EEC-F096E4A5A33B}" presName="compNode" presStyleCnt="0"/>
      <dgm:spPr/>
    </dgm:pt>
    <dgm:pt modelId="{61B30C71-B6B1-4EDB-8941-25699A6AA799}" type="pres">
      <dgm:prSet presAssocID="{8F3D7864-A67E-4980-8EEC-F096E4A5A33B}" presName="bgRect" presStyleLbl="bgShp" presStyleIdx="1" presStyleCnt="4"/>
      <dgm:spPr/>
    </dgm:pt>
    <dgm:pt modelId="{06FD45ED-93A9-4CB5-BBC6-41722BB2CC37}" type="pres">
      <dgm:prSet presAssocID="{8F3D7864-A67E-4980-8EEC-F096E4A5A3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 with solid fill"/>
        </a:ext>
      </dgm:extLst>
    </dgm:pt>
    <dgm:pt modelId="{9B4B4641-26DA-4FEC-B665-84241DB0B22C}" type="pres">
      <dgm:prSet presAssocID="{8F3D7864-A67E-4980-8EEC-F096E4A5A33B}" presName="spaceRect" presStyleCnt="0"/>
      <dgm:spPr/>
    </dgm:pt>
    <dgm:pt modelId="{48B4CC27-4AE8-44EB-98DC-4F45EE52C0EB}" type="pres">
      <dgm:prSet presAssocID="{8F3D7864-A67E-4980-8EEC-F096E4A5A33B}" presName="parTx" presStyleLbl="revTx" presStyleIdx="1" presStyleCnt="4" custLinFactNeighborX="-461" custLinFactNeighborY="-14686">
        <dgm:presLayoutVars>
          <dgm:chMax val="0"/>
          <dgm:chPref val="0"/>
        </dgm:presLayoutVars>
      </dgm:prSet>
      <dgm:spPr/>
    </dgm:pt>
    <dgm:pt modelId="{F684393D-6534-4779-B93F-403378B5349D}" type="pres">
      <dgm:prSet presAssocID="{148FEDAC-1DFF-4A8C-B751-90B79D2B38D7}" presName="sibTrans" presStyleCnt="0"/>
      <dgm:spPr/>
    </dgm:pt>
    <dgm:pt modelId="{0ED59449-DEDB-47C9-87BE-C02FF337188B}" type="pres">
      <dgm:prSet presAssocID="{6FCEFAE3-8161-433C-96FD-675211A5634D}" presName="compNode" presStyleCnt="0"/>
      <dgm:spPr/>
    </dgm:pt>
    <dgm:pt modelId="{D9483691-DD36-405D-BB66-9F59F2F1E989}" type="pres">
      <dgm:prSet presAssocID="{6FCEFAE3-8161-433C-96FD-675211A5634D}" presName="bgRect" presStyleLbl="bgShp" presStyleIdx="2" presStyleCnt="4" custLinFactNeighborY="2954"/>
      <dgm:spPr/>
    </dgm:pt>
    <dgm:pt modelId="{5E20F1DA-74F8-4710-885C-433C2757E97E}" type="pres">
      <dgm:prSet presAssocID="{6FCEFAE3-8161-433C-96FD-675211A563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1B73FCB2-5DE4-4B2F-A030-B78C1995B2EB}" type="pres">
      <dgm:prSet presAssocID="{6FCEFAE3-8161-433C-96FD-675211A5634D}" presName="spaceRect" presStyleCnt="0"/>
      <dgm:spPr/>
    </dgm:pt>
    <dgm:pt modelId="{D6AAB94E-82BD-4674-9EC8-70CF34F5480A}" type="pres">
      <dgm:prSet presAssocID="{6FCEFAE3-8161-433C-96FD-675211A5634D}" presName="parTx" presStyleLbl="revTx" presStyleIdx="2" presStyleCnt="4" custLinFactNeighborY="-18874">
        <dgm:presLayoutVars>
          <dgm:chMax val="0"/>
          <dgm:chPref val="0"/>
        </dgm:presLayoutVars>
      </dgm:prSet>
      <dgm:spPr/>
    </dgm:pt>
    <dgm:pt modelId="{92BD4CB9-700E-4D5A-8EBF-0A5B80174042}" type="pres">
      <dgm:prSet presAssocID="{081FE379-0C72-4144-B3F0-AC4E41F2EAA0}" presName="sibTrans" presStyleCnt="0"/>
      <dgm:spPr/>
    </dgm:pt>
    <dgm:pt modelId="{131DC94B-195B-497B-9296-A32FBF036EC7}" type="pres">
      <dgm:prSet presAssocID="{0B7FDDFD-655F-4966-93A7-ACED2D6758D8}" presName="compNode" presStyleCnt="0"/>
      <dgm:spPr/>
    </dgm:pt>
    <dgm:pt modelId="{CF075505-E8EA-4669-BABA-401DC8E15F63}" type="pres">
      <dgm:prSet presAssocID="{0B7FDDFD-655F-4966-93A7-ACED2D6758D8}" presName="bgRect" presStyleLbl="bgShp" presStyleIdx="3" presStyleCnt="4" custLinFactNeighborX="-109" custLinFactNeighborY="7790"/>
      <dgm:spPr/>
    </dgm:pt>
    <dgm:pt modelId="{20AA3712-49CF-4236-AB50-E8F4285D1C0B}" type="pres">
      <dgm:prSet presAssocID="{0B7FDDFD-655F-4966-93A7-ACED2D6758D8}" presName="iconRect" presStyleLbl="node1" presStyleIdx="3" presStyleCnt="4" custLinFactNeighborX="-139" custLinFactNeighborY="-36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k with solid fill"/>
        </a:ext>
      </dgm:extLst>
    </dgm:pt>
    <dgm:pt modelId="{2B860609-9F78-462C-A57A-62C3C1BEF49A}" type="pres">
      <dgm:prSet presAssocID="{0B7FDDFD-655F-4966-93A7-ACED2D6758D8}" presName="spaceRect" presStyleCnt="0"/>
      <dgm:spPr/>
    </dgm:pt>
    <dgm:pt modelId="{0AE4A487-9A78-4477-AD2C-F1EA03B28256}" type="pres">
      <dgm:prSet presAssocID="{0B7FDDFD-655F-4966-93A7-ACED2D6758D8}" presName="parTx" presStyleLbl="revTx" presStyleIdx="3" presStyleCnt="4" custScaleX="95490" custLinFactNeighborX="-1873" custLinFactNeighborY="-2251">
        <dgm:presLayoutVars>
          <dgm:chMax val="0"/>
          <dgm:chPref val="0"/>
        </dgm:presLayoutVars>
      </dgm:prSet>
      <dgm:spPr/>
    </dgm:pt>
  </dgm:ptLst>
  <dgm:cxnLst>
    <dgm:cxn modelId="{075EE424-D9B4-4E46-9665-4C6F4605B129}" type="presOf" srcId="{0B7FDDFD-655F-4966-93A7-ACED2D6758D8}" destId="{0AE4A487-9A78-4477-AD2C-F1EA03B28256}" srcOrd="0" destOrd="0" presId="urn:microsoft.com/office/officeart/2018/2/layout/IconVerticalSolidList"/>
    <dgm:cxn modelId="{0D9EBC52-F8D5-4A84-99DA-3C84F70E032E}" type="presOf" srcId="{8F3D7864-A67E-4980-8EEC-F096E4A5A33B}" destId="{48B4CC27-4AE8-44EB-98DC-4F45EE52C0EB}" srcOrd="0" destOrd="0" presId="urn:microsoft.com/office/officeart/2018/2/layout/IconVerticalSolidList"/>
    <dgm:cxn modelId="{4F1F945A-D164-481A-9009-F98C2D505015}" type="presOf" srcId="{6FCEFAE3-8161-433C-96FD-675211A5634D}" destId="{D6AAB94E-82BD-4674-9EC8-70CF34F5480A}" srcOrd="0" destOrd="0" presId="urn:microsoft.com/office/officeart/2018/2/layout/IconVerticalSolidList"/>
    <dgm:cxn modelId="{33868E94-7799-41F0-B23B-1D6D3C531263}" type="presOf" srcId="{EDEBDDA8-C6BE-41AD-9C88-6DCC29B9FC6B}" destId="{B7AF9EC2-7666-4444-BBD8-9355F2C63196}" srcOrd="0" destOrd="0" presId="urn:microsoft.com/office/officeart/2018/2/layout/IconVerticalSolidList"/>
    <dgm:cxn modelId="{1FCE48A7-2CA1-4F98-9830-092517DC53B3}" type="presOf" srcId="{635D820D-3F6A-4169-933B-89B3B07AC473}" destId="{262CDA82-1192-443A-AA18-C2D1343BD67D}" srcOrd="0" destOrd="0" presId="urn:microsoft.com/office/officeart/2018/2/layout/IconVerticalSolidList"/>
    <dgm:cxn modelId="{D3F1B6B4-CFFA-4F0C-8151-F35EFDF0B8BB}" srcId="{635D820D-3F6A-4169-933B-89B3B07AC473}" destId="{8F3D7864-A67E-4980-8EEC-F096E4A5A33B}" srcOrd="1" destOrd="0" parTransId="{9F1A70AA-84AE-4B3D-8E2C-3BD6C668A859}" sibTransId="{148FEDAC-1DFF-4A8C-B751-90B79D2B38D7}"/>
    <dgm:cxn modelId="{2C813CBA-5909-427A-809B-31A305DAEF20}" srcId="{635D820D-3F6A-4169-933B-89B3B07AC473}" destId="{6FCEFAE3-8161-433C-96FD-675211A5634D}" srcOrd="2" destOrd="0" parTransId="{E86817DB-1B76-45C8-82CF-C2BE7F451B71}" sibTransId="{081FE379-0C72-4144-B3F0-AC4E41F2EAA0}"/>
    <dgm:cxn modelId="{B75E0ABB-BBC1-48E4-8C86-96B2B612EFF0}" srcId="{635D820D-3F6A-4169-933B-89B3B07AC473}" destId="{EDEBDDA8-C6BE-41AD-9C88-6DCC29B9FC6B}" srcOrd="0" destOrd="0" parTransId="{B9154201-B759-466A-B062-DA0D74D8BD6C}" sibTransId="{70076E80-E76B-4BBC-A0F0-817393568234}"/>
    <dgm:cxn modelId="{9C223AC8-BE62-4707-A47E-7DBCDE2CFA92}" srcId="{635D820D-3F6A-4169-933B-89B3B07AC473}" destId="{0B7FDDFD-655F-4966-93A7-ACED2D6758D8}" srcOrd="3" destOrd="0" parTransId="{258CD603-77CE-4064-9B6B-534C5EBBC6DC}" sibTransId="{83F64753-43F2-43F3-80A6-21115A980F6B}"/>
    <dgm:cxn modelId="{21DCF06F-C3EF-4F6D-A62D-35A90CD59FED}" type="presParOf" srcId="{262CDA82-1192-443A-AA18-C2D1343BD67D}" destId="{103A7B21-BA1E-4E44-B158-72F7A07E09F7}" srcOrd="0" destOrd="0" presId="urn:microsoft.com/office/officeart/2018/2/layout/IconVerticalSolidList"/>
    <dgm:cxn modelId="{4B379F65-8981-4924-9B46-A3B537F9D450}" type="presParOf" srcId="{103A7B21-BA1E-4E44-B158-72F7A07E09F7}" destId="{B69CCFB0-6C1F-4790-8677-D5F70B93E05D}" srcOrd="0" destOrd="0" presId="urn:microsoft.com/office/officeart/2018/2/layout/IconVerticalSolidList"/>
    <dgm:cxn modelId="{DB353766-8969-4534-83AF-B43BC4E49965}" type="presParOf" srcId="{103A7B21-BA1E-4E44-B158-72F7A07E09F7}" destId="{6AE7B6DA-DCF0-4941-B35E-FED592CAD9C7}" srcOrd="1" destOrd="0" presId="urn:microsoft.com/office/officeart/2018/2/layout/IconVerticalSolidList"/>
    <dgm:cxn modelId="{6269B74B-1301-4833-9703-D932628A3A3B}" type="presParOf" srcId="{103A7B21-BA1E-4E44-B158-72F7A07E09F7}" destId="{29FE1B13-E724-485C-A200-D60CBEE67033}" srcOrd="2" destOrd="0" presId="urn:microsoft.com/office/officeart/2018/2/layout/IconVerticalSolidList"/>
    <dgm:cxn modelId="{14628E5F-7952-4A71-ACBA-EFC6276CEDD4}" type="presParOf" srcId="{103A7B21-BA1E-4E44-B158-72F7A07E09F7}" destId="{B7AF9EC2-7666-4444-BBD8-9355F2C63196}" srcOrd="3" destOrd="0" presId="urn:microsoft.com/office/officeart/2018/2/layout/IconVerticalSolidList"/>
    <dgm:cxn modelId="{283CA498-7987-47C5-8D49-8756A82686FB}" type="presParOf" srcId="{262CDA82-1192-443A-AA18-C2D1343BD67D}" destId="{D5A2CA2C-F765-4434-A84E-2FD85DAF1E86}" srcOrd="1" destOrd="0" presId="urn:microsoft.com/office/officeart/2018/2/layout/IconVerticalSolidList"/>
    <dgm:cxn modelId="{91EA6BA5-B900-4C79-80B3-96A690F7AD57}" type="presParOf" srcId="{262CDA82-1192-443A-AA18-C2D1343BD67D}" destId="{E514EAFE-FC11-4B3F-8013-4D4292B72485}" srcOrd="2" destOrd="0" presId="urn:microsoft.com/office/officeart/2018/2/layout/IconVerticalSolidList"/>
    <dgm:cxn modelId="{AACC2D05-E9E6-4932-93DB-780CE60FDD29}" type="presParOf" srcId="{E514EAFE-FC11-4B3F-8013-4D4292B72485}" destId="{61B30C71-B6B1-4EDB-8941-25699A6AA799}" srcOrd="0" destOrd="0" presId="urn:microsoft.com/office/officeart/2018/2/layout/IconVerticalSolidList"/>
    <dgm:cxn modelId="{B80BAD75-D809-4911-8F0E-C03DB4EF3503}" type="presParOf" srcId="{E514EAFE-FC11-4B3F-8013-4D4292B72485}" destId="{06FD45ED-93A9-4CB5-BBC6-41722BB2CC37}" srcOrd="1" destOrd="0" presId="urn:microsoft.com/office/officeart/2018/2/layout/IconVerticalSolidList"/>
    <dgm:cxn modelId="{8F9A2F4C-FA5F-411C-8359-A5C03DD1409D}" type="presParOf" srcId="{E514EAFE-FC11-4B3F-8013-4D4292B72485}" destId="{9B4B4641-26DA-4FEC-B665-84241DB0B22C}" srcOrd="2" destOrd="0" presId="urn:microsoft.com/office/officeart/2018/2/layout/IconVerticalSolidList"/>
    <dgm:cxn modelId="{E037BD84-E667-4373-A6F1-B3F3E65C7279}" type="presParOf" srcId="{E514EAFE-FC11-4B3F-8013-4D4292B72485}" destId="{48B4CC27-4AE8-44EB-98DC-4F45EE52C0EB}" srcOrd="3" destOrd="0" presId="urn:microsoft.com/office/officeart/2018/2/layout/IconVerticalSolidList"/>
    <dgm:cxn modelId="{97094181-0CF2-4033-945B-69E9823F3D78}" type="presParOf" srcId="{262CDA82-1192-443A-AA18-C2D1343BD67D}" destId="{F684393D-6534-4779-B93F-403378B5349D}" srcOrd="3" destOrd="0" presId="urn:microsoft.com/office/officeart/2018/2/layout/IconVerticalSolidList"/>
    <dgm:cxn modelId="{E23A5A8E-CB2E-4FDA-8AD2-BDC3EF098ECE}" type="presParOf" srcId="{262CDA82-1192-443A-AA18-C2D1343BD67D}" destId="{0ED59449-DEDB-47C9-87BE-C02FF337188B}" srcOrd="4" destOrd="0" presId="urn:microsoft.com/office/officeart/2018/2/layout/IconVerticalSolidList"/>
    <dgm:cxn modelId="{ACC97681-673D-4D57-A074-5BF69A33231D}" type="presParOf" srcId="{0ED59449-DEDB-47C9-87BE-C02FF337188B}" destId="{D9483691-DD36-405D-BB66-9F59F2F1E989}" srcOrd="0" destOrd="0" presId="urn:microsoft.com/office/officeart/2018/2/layout/IconVerticalSolidList"/>
    <dgm:cxn modelId="{E4C6731B-1E11-42E0-8F2B-D929B7BF6748}" type="presParOf" srcId="{0ED59449-DEDB-47C9-87BE-C02FF337188B}" destId="{5E20F1DA-74F8-4710-885C-433C2757E97E}" srcOrd="1" destOrd="0" presId="urn:microsoft.com/office/officeart/2018/2/layout/IconVerticalSolidList"/>
    <dgm:cxn modelId="{0E24B4D6-EC5D-49D4-8184-81BE0187E8BB}" type="presParOf" srcId="{0ED59449-DEDB-47C9-87BE-C02FF337188B}" destId="{1B73FCB2-5DE4-4B2F-A030-B78C1995B2EB}" srcOrd="2" destOrd="0" presId="urn:microsoft.com/office/officeart/2018/2/layout/IconVerticalSolidList"/>
    <dgm:cxn modelId="{1182BB39-B651-47DD-9581-BD60B78C9020}" type="presParOf" srcId="{0ED59449-DEDB-47C9-87BE-C02FF337188B}" destId="{D6AAB94E-82BD-4674-9EC8-70CF34F5480A}" srcOrd="3" destOrd="0" presId="urn:microsoft.com/office/officeart/2018/2/layout/IconVerticalSolidList"/>
    <dgm:cxn modelId="{4FB3DBDA-14A2-458D-8077-D42FEEEE1D47}" type="presParOf" srcId="{262CDA82-1192-443A-AA18-C2D1343BD67D}" destId="{92BD4CB9-700E-4D5A-8EBF-0A5B80174042}" srcOrd="5" destOrd="0" presId="urn:microsoft.com/office/officeart/2018/2/layout/IconVerticalSolidList"/>
    <dgm:cxn modelId="{DE2C3D9F-EE7C-40AC-94A3-8AE16BFF50BD}" type="presParOf" srcId="{262CDA82-1192-443A-AA18-C2D1343BD67D}" destId="{131DC94B-195B-497B-9296-A32FBF036EC7}" srcOrd="6" destOrd="0" presId="urn:microsoft.com/office/officeart/2018/2/layout/IconVerticalSolidList"/>
    <dgm:cxn modelId="{62E6F1BC-2E4C-45F2-8944-79E026AEA07D}" type="presParOf" srcId="{131DC94B-195B-497B-9296-A32FBF036EC7}" destId="{CF075505-E8EA-4669-BABA-401DC8E15F63}" srcOrd="0" destOrd="0" presId="urn:microsoft.com/office/officeart/2018/2/layout/IconVerticalSolidList"/>
    <dgm:cxn modelId="{C360F8A3-D138-4C6E-87E3-8A4F11BB6A66}" type="presParOf" srcId="{131DC94B-195B-497B-9296-A32FBF036EC7}" destId="{20AA3712-49CF-4236-AB50-E8F4285D1C0B}" srcOrd="1" destOrd="0" presId="urn:microsoft.com/office/officeart/2018/2/layout/IconVerticalSolidList"/>
    <dgm:cxn modelId="{07F8E530-9F36-4A29-A187-0C5E7768D7A5}" type="presParOf" srcId="{131DC94B-195B-497B-9296-A32FBF036EC7}" destId="{2B860609-9F78-462C-A57A-62C3C1BEF49A}" srcOrd="2" destOrd="0" presId="urn:microsoft.com/office/officeart/2018/2/layout/IconVerticalSolidList"/>
    <dgm:cxn modelId="{23D652CF-3805-47CF-83AA-4A4C394309E8}" type="presParOf" srcId="{131DC94B-195B-497B-9296-A32FBF036EC7}" destId="{0AE4A487-9A78-4477-AD2C-F1EA03B282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CCFB0-6C1F-4790-8677-D5F70B93E05D}">
      <dsp:nvSpPr>
        <dsp:cNvPr id="0" name=""/>
        <dsp:cNvSpPr/>
      </dsp:nvSpPr>
      <dsp:spPr>
        <a:xfrm>
          <a:off x="0" y="3073"/>
          <a:ext cx="7632848" cy="50861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7B6DA-DCF0-4941-B35E-FED592CAD9C7}">
      <dsp:nvSpPr>
        <dsp:cNvPr id="0" name=""/>
        <dsp:cNvSpPr/>
      </dsp:nvSpPr>
      <dsp:spPr>
        <a:xfrm>
          <a:off x="153856" y="117511"/>
          <a:ext cx="280012" cy="2797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F9EC2-7666-4444-BBD8-9355F2C63196}">
      <dsp:nvSpPr>
        <dsp:cNvPr id="0" name=""/>
        <dsp:cNvSpPr/>
      </dsp:nvSpPr>
      <dsp:spPr>
        <a:xfrm>
          <a:off x="559447" y="76843"/>
          <a:ext cx="6931066" cy="715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96" tIns="75696" rIns="75696" bIns="7569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Consider why the time value of cash flows is important within an investment decision.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9447" y="76843"/>
        <a:ext cx="6931066" cy="715242"/>
      </dsp:txXfrm>
    </dsp:sp>
    <dsp:sp modelId="{61B30C71-B6B1-4EDB-8941-25699A6AA799}">
      <dsp:nvSpPr>
        <dsp:cNvPr id="0" name=""/>
        <dsp:cNvSpPr/>
      </dsp:nvSpPr>
      <dsp:spPr>
        <a:xfrm>
          <a:off x="0" y="897126"/>
          <a:ext cx="7632848" cy="50861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D45ED-93A9-4CB5-BBC6-41722BB2CC37}">
      <dsp:nvSpPr>
        <dsp:cNvPr id="0" name=""/>
        <dsp:cNvSpPr/>
      </dsp:nvSpPr>
      <dsp:spPr>
        <a:xfrm>
          <a:off x="153856" y="1011565"/>
          <a:ext cx="280012" cy="2797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4CC27-4AE8-44EB-98DC-4F45EE52C0EB}">
      <dsp:nvSpPr>
        <dsp:cNvPr id="0" name=""/>
        <dsp:cNvSpPr/>
      </dsp:nvSpPr>
      <dsp:spPr>
        <a:xfrm>
          <a:off x="555773" y="792085"/>
          <a:ext cx="6931066" cy="715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96" tIns="75696" rIns="75696" bIns="756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Consider the Net Present Value (NPV) and Internal Rate of Return (IRR) method and how they are calculated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555773" y="792085"/>
        <a:ext cx="6931066" cy="715242"/>
      </dsp:txXfrm>
    </dsp:sp>
    <dsp:sp modelId="{D9483691-DD36-405D-BB66-9F59F2F1E989}">
      <dsp:nvSpPr>
        <dsp:cNvPr id="0" name=""/>
        <dsp:cNvSpPr/>
      </dsp:nvSpPr>
      <dsp:spPr>
        <a:xfrm>
          <a:off x="0" y="1806203"/>
          <a:ext cx="7632848" cy="50861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0F1DA-74F8-4710-885C-433C2757E97E}">
      <dsp:nvSpPr>
        <dsp:cNvPr id="0" name=""/>
        <dsp:cNvSpPr/>
      </dsp:nvSpPr>
      <dsp:spPr>
        <a:xfrm>
          <a:off x="153856" y="1905618"/>
          <a:ext cx="280012" cy="2797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AB94E-82BD-4674-9EC8-70CF34F5480A}">
      <dsp:nvSpPr>
        <dsp:cNvPr id="0" name=""/>
        <dsp:cNvSpPr/>
      </dsp:nvSpPr>
      <dsp:spPr>
        <a:xfrm>
          <a:off x="587725" y="1656184"/>
          <a:ext cx="6931066" cy="715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96" tIns="75696" rIns="75696" bIns="756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Apply the NPV and IRR calculations to a given scenario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587725" y="1656184"/>
        <a:ext cx="6931066" cy="715242"/>
      </dsp:txXfrm>
    </dsp:sp>
    <dsp:sp modelId="{CF075505-E8EA-4669-BABA-401DC8E15F63}">
      <dsp:nvSpPr>
        <dsp:cNvPr id="0" name=""/>
        <dsp:cNvSpPr/>
      </dsp:nvSpPr>
      <dsp:spPr>
        <a:xfrm>
          <a:off x="0" y="2724853"/>
          <a:ext cx="7632848" cy="50861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A3712-49CF-4236-AB50-E8F4285D1C0B}">
      <dsp:nvSpPr>
        <dsp:cNvPr id="0" name=""/>
        <dsp:cNvSpPr/>
      </dsp:nvSpPr>
      <dsp:spPr>
        <a:xfrm>
          <a:off x="153467" y="2798647"/>
          <a:ext cx="280012" cy="2797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4A487-9A78-4477-AD2C-F1EA03B28256}">
      <dsp:nvSpPr>
        <dsp:cNvPr id="0" name=""/>
        <dsp:cNvSpPr/>
      </dsp:nvSpPr>
      <dsp:spPr>
        <a:xfrm>
          <a:off x="614202" y="2669132"/>
          <a:ext cx="6618475" cy="715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96" tIns="75696" rIns="75696" bIns="756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Review the advantages and disadvantages of both methods.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614202" y="2669132"/>
        <a:ext cx="6618475" cy="7152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CCFB0-6C1F-4790-8677-D5F70B93E05D}">
      <dsp:nvSpPr>
        <dsp:cNvPr id="0" name=""/>
        <dsp:cNvSpPr/>
      </dsp:nvSpPr>
      <dsp:spPr>
        <a:xfrm>
          <a:off x="0" y="3073"/>
          <a:ext cx="7632848" cy="50861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7B6DA-DCF0-4941-B35E-FED592CAD9C7}">
      <dsp:nvSpPr>
        <dsp:cNvPr id="0" name=""/>
        <dsp:cNvSpPr/>
      </dsp:nvSpPr>
      <dsp:spPr>
        <a:xfrm>
          <a:off x="153856" y="117511"/>
          <a:ext cx="280012" cy="2797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F9EC2-7666-4444-BBD8-9355F2C63196}">
      <dsp:nvSpPr>
        <dsp:cNvPr id="0" name=""/>
        <dsp:cNvSpPr/>
      </dsp:nvSpPr>
      <dsp:spPr>
        <a:xfrm>
          <a:off x="559447" y="76843"/>
          <a:ext cx="6931066" cy="715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96" tIns="75696" rIns="75696" bIns="7569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Consider why the time value of cash flows is important within an investment decision.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9447" y="76843"/>
        <a:ext cx="6931066" cy="715242"/>
      </dsp:txXfrm>
    </dsp:sp>
    <dsp:sp modelId="{61B30C71-B6B1-4EDB-8941-25699A6AA799}">
      <dsp:nvSpPr>
        <dsp:cNvPr id="0" name=""/>
        <dsp:cNvSpPr/>
      </dsp:nvSpPr>
      <dsp:spPr>
        <a:xfrm>
          <a:off x="0" y="897126"/>
          <a:ext cx="7632848" cy="50861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D45ED-93A9-4CB5-BBC6-41722BB2CC37}">
      <dsp:nvSpPr>
        <dsp:cNvPr id="0" name=""/>
        <dsp:cNvSpPr/>
      </dsp:nvSpPr>
      <dsp:spPr>
        <a:xfrm>
          <a:off x="153856" y="1011565"/>
          <a:ext cx="280012" cy="2797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4CC27-4AE8-44EB-98DC-4F45EE52C0EB}">
      <dsp:nvSpPr>
        <dsp:cNvPr id="0" name=""/>
        <dsp:cNvSpPr/>
      </dsp:nvSpPr>
      <dsp:spPr>
        <a:xfrm>
          <a:off x="555773" y="792085"/>
          <a:ext cx="6931066" cy="715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96" tIns="75696" rIns="75696" bIns="756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Consider the Net Present Value (NPV) and Internal Rate of Return (IRR) method and how they are calculated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555773" y="792085"/>
        <a:ext cx="6931066" cy="715242"/>
      </dsp:txXfrm>
    </dsp:sp>
    <dsp:sp modelId="{D9483691-DD36-405D-BB66-9F59F2F1E989}">
      <dsp:nvSpPr>
        <dsp:cNvPr id="0" name=""/>
        <dsp:cNvSpPr/>
      </dsp:nvSpPr>
      <dsp:spPr>
        <a:xfrm>
          <a:off x="0" y="1806203"/>
          <a:ext cx="7632848" cy="50861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0F1DA-74F8-4710-885C-433C2757E97E}">
      <dsp:nvSpPr>
        <dsp:cNvPr id="0" name=""/>
        <dsp:cNvSpPr/>
      </dsp:nvSpPr>
      <dsp:spPr>
        <a:xfrm>
          <a:off x="153856" y="1905618"/>
          <a:ext cx="280012" cy="2797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AB94E-82BD-4674-9EC8-70CF34F5480A}">
      <dsp:nvSpPr>
        <dsp:cNvPr id="0" name=""/>
        <dsp:cNvSpPr/>
      </dsp:nvSpPr>
      <dsp:spPr>
        <a:xfrm>
          <a:off x="587725" y="1656184"/>
          <a:ext cx="6931066" cy="715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96" tIns="75696" rIns="75696" bIns="756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Apply the NPV and IRR calculations to a given scenario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587725" y="1656184"/>
        <a:ext cx="6931066" cy="715242"/>
      </dsp:txXfrm>
    </dsp:sp>
    <dsp:sp modelId="{CF075505-E8EA-4669-BABA-401DC8E15F63}">
      <dsp:nvSpPr>
        <dsp:cNvPr id="0" name=""/>
        <dsp:cNvSpPr/>
      </dsp:nvSpPr>
      <dsp:spPr>
        <a:xfrm>
          <a:off x="0" y="2724853"/>
          <a:ext cx="7632848" cy="50861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A3712-49CF-4236-AB50-E8F4285D1C0B}">
      <dsp:nvSpPr>
        <dsp:cNvPr id="0" name=""/>
        <dsp:cNvSpPr/>
      </dsp:nvSpPr>
      <dsp:spPr>
        <a:xfrm>
          <a:off x="153467" y="2798647"/>
          <a:ext cx="280012" cy="2797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4A487-9A78-4477-AD2C-F1EA03B28256}">
      <dsp:nvSpPr>
        <dsp:cNvPr id="0" name=""/>
        <dsp:cNvSpPr/>
      </dsp:nvSpPr>
      <dsp:spPr>
        <a:xfrm>
          <a:off x="614202" y="2669132"/>
          <a:ext cx="6618475" cy="715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96" tIns="75696" rIns="75696" bIns="7569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00"/>
              </a:solidFill>
              <a:latin typeface="Helvetica 55 Roman" pitchFamily="34" charset="0"/>
              <a:ea typeface="ＭＳ Ｐゴシック" pitchFamily="34" charset="-128"/>
              <a:cs typeface="ＭＳ Ｐゴシック" charset="0"/>
            </a:rPr>
            <a:t>Review the advantages and disadvantages of both methods.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614202" y="2669132"/>
        <a:ext cx="6618475" cy="715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0.23333</cdr:x>
      <cdr:y>0.12724</cdr:y>
    </cdr:from>
    <cdr:to>
      <cdr:x>0.36667</cdr:x>
      <cdr:y>0.17105</cdr:y>
    </cdr:to>
    <cdr:cxnSp macro="">
      <cdr:nvCxnSpPr>
        <cdr:cNvPr id="3" name="Straight Arrow Connector 2">
          <a:extLst xmlns:a="http://schemas.openxmlformats.org/drawingml/2006/main">
            <a:ext uri="{FF2B5EF4-FFF2-40B4-BE49-F238E27FC236}">
              <a16:creationId xmlns:a16="http://schemas.microsoft.com/office/drawing/2014/main" id="{B6745551-474D-41CA-96CA-5AC1CB3B19BF}"/>
            </a:ext>
          </a:extLst>
        </cdr:cNvPr>
        <cdr:cNvCxnSpPr/>
      </cdr:nvCxnSpPr>
      <cdr:spPr>
        <a:xfrm xmlns:a="http://schemas.openxmlformats.org/drawingml/2006/main" flipH="1">
          <a:off x="2016224" y="696320"/>
          <a:ext cx="1152128" cy="239784"/>
        </a:xfrm>
        <a:prstGeom xmlns:a="http://schemas.openxmlformats.org/drawingml/2006/main" prst="straightConnector1">
          <a:avLst/>
        </a:prstGeom>
        <a:ln xmlns:a="http://schemas.openxmlformats.org/drawingml/2006/main" w="38100">
          <a:solidFill>
            <a:schemeClr val="tx1"/>
          </a:solidFill>
          <a:tailEnd type="arrow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0.89931</cdr:x>
      <cdr:y>0.76971</cdr:y>
    </cdr:from>
    <cdr:to>
      <cdr:x>0.90999</cdr:x>
      <cdr:y>0.97269</cdr:y>
    </cdr:to>
    <cdr:cxnSp macro="">
      <cdr:nvCxnSpPr>
        <cdr:cNvPr id="5" name="Straight Arrow Connector 4">
          <a:extLst xmlns:a="http://schemas.openxmlformats.org/drawingml/2006/main">
            <a:ext uri="{FF2B5EF4-FFF2-40B4-BE49-F238E27FC236}">
              <a16:creationId xmlns:a16="http://schemas.microsoft.com/office/drawing/2014/main" id="{E1BB9478-2216-4812-8CDF-ABE99C914F5B}"/>
            </a:ext>
          </a:extLst>
        </cdr:cNvPr>
        <cdr:cNvCxnSpPr/>
      </cdr:nvCxnSpPr>
      <cdr:spPr>
        <a:xfrm xmlns:a="http://schemas.openxmlformats.org/drawingml/2006/main">
          <a:off x="6799530" y="3792099"/>
          <a:ext cx="80750" cy="999999"/>
        </a:xfrm>
        <a:prstGeom xmlns:a="http://schemas.openxmlformats.org/drawingml/2006/main" prst="straightConnector1">
          <a:avLst/>
        </a:prstGeom>
        <a:ln xmlns:a="http://schemas.openxmlformats.org/drawingml/2006/main" w="38100">
          <a:solidFill>
            <a:schemeClr val="tx1"/>
          </a:solidFill>
          <a:tailEnd type="arrow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0.38509</cdr:x>
      <cdr:y>0.07282</cdr:y>
    </cdr:from>
    <cdr:to>
      <cdr:x>0.68509</cdr:x>
      <cdr:y>0.13861</cdr:y>
    </cdr:to>
    <cdr:sp macro="" textlink="">
      <cdr:nvSpPr>
        <cdr:cNvPr id="4" name="Rectangle 3"/>
        <cdr:cNvSpPr/>
      </cdr:nvSpPr>
      <cdr:spPr>
        <a:xfrm xmlns:a="http://schemas.openxmlformats.org/drawingml/2006/main">
          <a:off x="2911598" y="358761"/>
          <a:ext cx="2268252" cy="324125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728663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1458913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2190750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2922588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GB" sz="1800" b="1" dirty="0">
              <a:solidFill>
                <a:schemeClr val="tx1"/>
              </a:solidFill>
            </a:rPr>
            <a:t>NPV at 10% = £4,913</a:t>
          </a:r>
        </a:p>
      </cdr:txBody>
    </cdr:sp>
  </cdr:relSizeAnchor>
  <cdr:relSizeAnchor xmlns:cdr="http://schemas.openxmlformats.org/drawingml/2006/chartDrawing">
    <cdr:from>
      <cdr:x>0.7</cdr:x>
      <cdr:y>0.5727</cdr:y>
    </cdr:from>
    <cdr:to>
      <cdr:x>1</cdr:x>
      <cdr:y>0.63849</cdr:y>
    </cdr:to>
    <cdr:sp macro="" textlink="">
      <cdr:nvSpPr>
        <cdr:cNvPr id="6" name="Rectangle 5"/>
        <cdr:cNvSpPr/>
      </cdr:nvSpPr>
      <cdr:spPr>
        <a:xfrm xmlns:a="http://schemas.openxmlformats.org/drawingml/2006/main">
          <a:off x="9525258" y="4935582"/>
          <a:ext cx="4082254" cy="56698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728663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1458913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2190750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2922588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GB" sz="1800" b="1" dirty="0">
              <a:solidFill>
                <a:schemeClr val="tx1"/>
              </a:solidFill>
            </a:rPr>
            <a:t>NPV at 22% = (£81)</a:t>
          </a:r>
        </a:p>
      </cdr:txBody>
    </cdr:sp>
  </cdr:relSizeAnchor>
  <cdr:relSizeAnchor xmlns:cdr="http://schemas.openxmlformats.org/drawingml/2006/chartDrawing">
    <cdr:from>
      <cdr:x>0.06908</cdr:x>
      <cdr:y>0.78206</cdr:y>
    </cdr:from>
    <cdr:to>
      <cdr:x>1</cdr:x>
      <cdr:y>0.88826</cdr:y>
    </cdr:to>
    <cdr:sp macro="" textlink="">
      <cdr:nvSpPr>
        <cdr:cNvPr id="7" name="Rectangle 6"/>
        <cdr:cNvSpPr/>
      </cdr:nvSpPr>
      <cdr:spPr>
        <a:xfrm xmlns:a="http://schemas.openxmlformats.org/drawingml/2006/main">
          <a:off x="522323" y="3852940"/>
          <a:ext cx="7038517" cy="52322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en-US"/>
          </a:defPPr>
          <a:lvl1pPr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+mn-cs"/>
            </a:defRPr>
          </a:lvl1pPr>
          <a:lvl2pPr marL="728663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+mn-cs"/>
            </a:defRPr>
          </a:lvl2pPr>
          <a:lvl3pPr marL="1458913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+mn-cs"/>
            </a:defRPr>
          </a:lvl3pPr>
          <a:lvl4pPr marL="2190750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+mn-cs"/>
            </a:defRPr>
          </a:lvl4pPr>
          <a:lvl5pPr marL="2922588" indent="1588" algn="l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+mn-cs"/>
            </a:defRPr>
          </a:lvl9pPr>
        </a:lstStyle>
        <a:p xmlns:a="http://schemas.openxmlformats.org/drawingml/2006/main">
          <a:endParaRPr lang="en-GB" sz="2800" b="1" dirty="0"/>
        </a:p>
      </cdr:txBody>
    </cdr:sp>
  </cdr:relSizeAnchor>
  <cdr:relSizeAnchor xmlns:cdr="http://schemas.openxmlformats.org/drawingml/2006/chartDrawing">
    <cdr:from>
      <cdr:x>0.837</cdr:x>
      <cdr:y>0.63817</cdr:y>
    </cdr:from>
    <cdr:to>
      <cdr:x>0.9374</cdr:x>
      <cdr:y>0.78433</cdr:y>
    </cdr:to>
    <cdr:cxnSp macro="">
      <cdr:nvCxnSpPr>
        <cdr:cNvPr id="8" name="Straight Arrow Connector 7">
          <a:extLst xmlns:a="http://schemas.openxmlformats.org/drawingml/2006/main">
            <a:ext uri="{FF2B5EF4-FFF2-40B4-BE49-F238E27FC236}">
              <a16:creationId xmlns:a16="http://schemas.microsoft.com/office/drawing/2014/main" id="{B5F4ABB1-719B-480D-B600-90A80BDCB5B0}"/>
            </a:ext>
          </a:extLst>
        </cdr:cNvPr>
        <cdr:cNvCxnSpPr/>
      </cdr:nvCxnSpPr>
      <cdr:spPr>
        <a:xfrm xmlns:a="http://schemas.openxmlformats.org/drawingml/2006/main">
          <a:off x="6328423" y="3144027"/>
          <a:ext cx="759139" cy="720080"/>
        </a:xfrm>
        <a:prstGeom xmlns:a="http://schemas.openxmlformats.org/drawingml/2006/main" prst="straightConnector1">
          <a:avLst/>
        </a:prstGeom>
        <a:ln xmlns:a="http://schemas.openxmlformats.org/drawingml/2006/main" w="38100">
          <a:solidFill>
            <a:schemeClr val="tx1"/>
          </a:solidFill>
          <a:tailEnd type="arrow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NOTE TO STUDENTS: Please see last weeks lecture slides and make sure you review them so that you understand how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5746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3703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6123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005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443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570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92500" marR="0" lvl="0" indent="-592500" algn="just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59988" algn="ctr"/>
              </a:tabLst>
              <a:defRPr/>
            </a:pPr>
            <a:r>
              <a:rPr lang="en-GB" altLang="en-US" sz="1200" i="1" dirty="0">
                <a:solidFill>
                  <a:prstClr val="black"/>
                </a:solidFill>
                <a:latin typeface="Calibri"/>
                <a:ea typeface="ＭＳ Ｐゴシック" charset="0"/>
              </a:rPr>
              <a:t>Where can we get discount rates from? </a:t>
            </a:r>
          </a:p>
          <a:p>
            <a:pPr marL="592500" marR="0" lvl="0" indent="-592500" algn="just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59988" algn="ctr"/>
              </a:tabLst>
              <a:defRPr/>
            </a:pPr>
            <a:r>
              <a:rPr lang="en-GB" altLang="en-US" sz="1200" dirty="0">
                <a:solidFill>
                  <a:prstClr val="black"/>
                </a:solidFill>
                <a:latin typeface="Calibri"/>
                <a:ea typeface="ＭＳ Ｐゴシック" charset="0"/>
              </a:rPr>
              <a:t>Choice based on: current interest rate, weighted average cost of capital (WACC) or a market rate/company target.</a:t>
            </a:r>
          </a:p>
          <a:p>
            <a:pPr marL="592500" marR="0" lvl="0" indent="-592500" algn="just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59988" algn="ctr"/>
              </a:tabLst>
              <a:defRPr/>
            </a:pPr>
            <a:r>
              <a:rPr lang="en-GB" sz="1200" b="1" kern="1200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ＭＳ Ｐゴシック" charset="0"/>
              </a:rPr>
              <a:t>It is not unusual for more than one decision rules needing to be satisfied, e.g. a payback period of less than 2 years and a 10% rate of return. </a:t>
            </a:r>
          </a:p>
          <a:p>
            <a:pPr marL="592500" marR="0" lvl="0" indent="-592500" algn="just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59988" algn="ctr"/>
              </a:tabLst>
              <a:defRPr/>
            </a:pPr>
            <a:endParaRPr lang="en-GB" altLang="en-US" sz="1200" dirty="0">
              <a:solidFill>
                <a:prstClr val="black"/>
              </a:solidFill>
              <a:latin typeface="Calibri"/>
              <a:ea typeface="ＭＳ Ｐゴシック" charset="0"/>
            </a:endParaRPr>
          </a:p>
          <a:p>
            <a:pPr marL="592500" lvl="0" indent="-592500" algn="just" eaLnBrk="1" hangingPunct="1">
              <a:lnSpc>
                <a:spcPct val="90000"/>
              </a:lnSpc>
              <a:buClrTx/>
              <a:tabLst>
                <a:tab pos="5859988" algn="ctr"/>
              </a:tabLst>
            </a:pPr>
            <a:endParaRPr lang="en-GB" altLang="en-US" sz="1200" i="1" dirty="0">
              <a:solidFill>
                <a:prstClr val="black"/>
              </a:solidFill>
              <a:latin typeface="Calibri"/>
              <a:ea typeface="ＭＳ Ｐゴシック" charset="0"/>
            </a:endParaRPr>
          </a:p>
          <a:p>
            <a:pPr marL="592500" lvl="0" indent="-592500" eaLnBrk="1" hangingPunct="1">
              <a:lnSpc>
                <a:spcPct val="90000"/>
              </a:lnSpc>
              <a:buClrTx/>
              <a:tabLst>
                <a:tab pos="5859988" algn="ctr"/>
              </a:tabLst>
            </a:pPr>
            <a:endParaRPr lang="en-GB" altLang="en-US" sz="1050" dirty="0">
              <a:solidFill>
                <a:prstClr val="black"/>
              </a:solidFill>
              <a:latin typeface="Calibri"/>
              <a:ea typeface="ＭＳ Ｐゴシック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525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722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543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963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776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922B-69F0-9C2C-0F10-CD04DC47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72641-DF4B-F212-2024-F4CB20A6C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46609-F633-69DB-B314-C0C62B771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Here’s a clear breakdown of the </a:t>
            </a:r>
            <a:r>
              <a:rPr lang="en-GB" b="1" dirty="0"/>
              <a:t>benefits</a:t>
            </a:r>
            <a:r>
              <a:rPr lang="en-GB" dirty="0"/>
              <a:t> and </a:t>
            </a:r>
            <a:r>
              <a:rPr lang="en-GB" b="1" dirty="0"/>
              <a:t>drawbacks</a:t>
            </a:r>
            <a:r>
              <a:rPr lang="en-GB" dirty="0"/>
              <a:t> of IRR (Internal Rate of Return) as an investment appraisal technique:</a:t>
            </a:r>
          </a:p>
          <a:p>
            <a:r>
              <a:rPr lang="en-GB" b="1" dirty="0"/>
              <a:t>Benefits</a:t>
            </a:r>
          </a:p>
          <a:p>
            <a:r>
              <a:rPr lang="en-GB" b="1" dirty="0"/>
              <a:t>Time value of money considered</a:t>
            </a:r>
            <a:r>
              <a:rPr lang="en-GB" dirty="0"/>
              <a:t> – IRR accounts for the fact that money today is worth more than money in the future.</a:t>
            </a:r>
          </a:p>
          <a:p>
            <a:r>
              <a:rPr lang="en-GB" b="1" dirty="0"/>
              <a:t>Easy to interpret</a:t>
            </a:r>
            <a:r>
              <a:rPr lang="en-GB" dirty="0"/>
              <a:t> – The result is a single percentage rate, making it simple to compare with required rates of return or cost of capital.</a:t>
            </a:r>
          </a:p>
          <a:p>
            <a:r>
              <a:rPr lang="en-GB" b="1" dirty="0"/>
              <a:t>Relative measure</a:t>
            </a:r>
            <a:r>
              <a:rPr lang="en-GB" dirty="0"/>
              <a:t> – Useful for comparing projects of different sizes without needing absolute monetary values.</a:t>
            </a:r>
          </a:p>
          <a:p>
            <a:r>
              <a:rPr lang="en-GB" b="1" dirty="0"/>
              <a:t>Clear decision rule</a:t>
            </a:r>
            <a:r>
              <a:rPr lang="en-GB" dirty="0"/>
              <a:t> – Accept projects where IRR exceeds the hurdle rate, reject if it falls below.</a:t>
            </a:r>
          </a:p>
          <a:p>
            <a:r>
              <a:rPr lang="en-GB" b="1" dirty="0"/>
              <a:t>Considers all cash flows</a:t>
            </a:r>
            <a:r>
              <a:rPr lang="en-GB" dirty="0"/>
              <a:t> – Takes into account the entire life of the project, not just part of it.</a:t>
            </a:r>
          </a:p>
          <a:p>
            <a:r>
              <a:rPr lang="en-GB" b="1" dirty="0"/>
              <a:t>Drawbacks</a:t>
            </a:r>
          </a:p>
          <a:p>
            <a:r>
              <a:rPr lang="en-GB" b="1" dirty="0"/>
              <a:t>Multiple IRRs possible</a:t>
            </a:r>
            <a:r>
              <a:rPr lang="en-GB" dirty="0"/>
              <a:t> – Projects with unconventional cash flows (cash outflows occurring after inflows) can produce more than one IRR, creating confusion.</a:t>
            </a:r>
          </a:p>
          <a:p>
            <a:r>
              <a:rPr lang="en-GB" b="1" dirty="0"/>
              <a:t>Assumes reinvestment at IRR</a:t>
            </a:r>
            <a:r>
              <a:rPr lang="en-GB" dirty="0"/>
              <a:t> – The method assumes interim cash flows are reinvested at the project’s IRR, which may be unrealistic.</a:t>
            </a:r>
          </a:p>
          <a:p>
            <a:r>
              <a:rPr lang="en-GB" b="1" dirty="0"/>
              <a:t>Not always suitable for mutually exclusive projects</a:t>
            </a:r>
            <a:r>
              <a:rPr lang="en-GB" dirty="0"/>
              <a:t> – IRR can give misleading results when comparing projects of different scales, timings, or lifespans.</a:t>
            </a:r>
          </a:p>
          <a:p>
            <a:r>
              <a:rPr lang="en-GB" b="1" dirty="0"/>
              <a:t>Ignores absolute value</a:t>
            </a:r>
            <a:r>
              <a:rPr lang="en-GB" dirty="0"/>
              <a:t> – A high IRR might come from a small project with minimal actual monetary gain.</a:t>
            </a:r>
          </a:p>
          <a:p>
            <a:r>
              <a:rPr lang="en-GB" b="1" dirty="0"/>
              <a:t>More complex to calculate</a:t>
            </a:r>
            <a:r>
              <a:rPr lang="en-GB" dirty="0"/>
              <a:t> – Unlike ARR or Payback Period, IRR requires iterative or computational methods.</a:t>
            </a:r>
          </a:p>
          <a:p>
            <a:r>
              <a:rPr lang="en-GB" dirty="0"/>
              <a:t>If you’d like, I can also give you a </a:t>
            </a:r>
            <a:r>
              <a:rPr lang="en-GB" b="1" dirty="0"/>
              <a:t>quick exam-friendly comparison of IRR vs NPV</a:t>
            </a:r>
            <a:r>
              <a:rPr lang="en-GB" dirty="0"/>
              <a:t> so you can see where each is stronger. That often comes up alongside this question.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D53CB-DB94-4C05-74BA-39394C687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554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29B7-B9BE-2447-3FDA-5C1B977F9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5533B-67CF-F83F-4F3B-C02476523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D0DD9-DAA4-9AE6-FF9E-F5CE0F898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E5EC8-3243-071C-CBA6-2580E971C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9484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A708D-0180-424B-8170-B8C7498B308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78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44-66CB-4065-B177-AAAB97F07EA1}" type="datetime1">
              <a:rPr lang="en-GB" smtClean="0"/>
              <a:t>15/08/2025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1288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24FF-3E1E-431F-977E-945DB2535B1A}" type="datetime1">
              <a:rPr lang="en-GB" smtClean="0"/>
              <a:t>15/08/2025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2042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07241575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2726"/>
            <a:ext cx="6668019" cy="651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7585" y="1796849"/>
            <a:ext cx="6740030" cy="4539471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Courier New" panose="02070309020205020404" pitchFamily="49" charset="0"/>
              <a:buChar char="o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724382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403039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2726"/>
            <a:ext cx="6668019" cy="651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7585" y="1796849"/>
            <a:ext cx="6740030" cy="4539471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Courier New" panose="02070309020205020404" pitchFamily="49" charset="0"/>
              <a:buChar char="o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724382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9934533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64C9F99A-5EA8-6C4A-2A76-90CD1786A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09F344-13A3-1FCF-A66C-45F76747500D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13047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3" orient="horz" pos="1207" userDrawn="1">
          <p15:clr>
            <a:srgbClr val="FBAE40"/>
          </p15:clr>
        </p15:guide>
        <p15:guide id="4" pos="129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8013239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2663107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3" orient="horz" pos="436" userDrawn="1">
          <p15:clr>
            <a:srgbClr val="FBAE40"/>
          </p15:clr>
        </p15:guide>
        <p15:guide id="4" pos="56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1814218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4160257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902915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75660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09953374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0346956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089807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4878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1" orient="horz" pos="332" userDrawn="1">
          <p15:clr>
            <a:srgbClr val="FBAE40"/>
          </p15:clr>
        </p15:guide>
        <p15:guide id="12" pos="2880" userDrawn="1">
          <p15:clr>
            <a:srgbClr val="FBAE40"/>
          </p15:clr>
        </p15:guide>
        <p15:guide id="13" pos="3833" userDrawn="1">
          <p15:clr>
            <a:srgbClr val="FBAE40"/>
          </p15:clr>
        </p15:guide>
        <p15:guide id="14" orient="horz" pos="2614" userDrawn="1">
          <p15:clr>
            <a:srgbClr val="FBAE40"/>
          </p15:clr>
        </p15:guide>
        <p15:guide id="15" pos="567" userDrawn="1">
          <p15:clr>
            <a:srgbClr val="FBAE40"/>
          </p15:clr>
        </p15:guide>
        <p15:guide id="16" pos="1927" userDrawn="1">
          <p15:clr>
            <a:srgbClr val="FBAE40"/>
          </p15:clr>
        </p15:guide>
        <p15:guide id="17" pos="3854" userDrawn="1">
          <p15:clr>
            <a:srgbClr val="FBAE40"/>
          </p15:clr>
        </p15:guide>
        <p15:guide id="18" orient="horz" pos="259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1880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8" orient="horz" pos="2160" userDrawn="1">
          <p15:clr>
            <a:srgbClr val="FBAE40"/>
          </p15:clr>
        </p15:guide>
        <p15:guide id="9" pos="2880" userDrawn="1">
          <p15:clr>
            <a:srgbClr val="FBAE40"/>
          </p15:clr>
        </p15:guide>
        <p15:guide id="10" pos="3856" userDrawn="1">
          <p15:clr>
            <a:srgbClr val="FBAE40"/>
          </p15:clr>
        </p15:guide>
        <p15:guide id="11" pos="3833" userDrawn="1">
          <p15:clr>
            <a:srgbClr val="FBAE40"/>
          </p15:clr>
        </p15:guide>
        <p15:guide id="12" orient="horz" pos="2590" userDrawn="1">
          <p15:clr>
            <a:srgbClr val="FBAE40"/>
          </p15:clr>
        </p15:guide>
        <p15:guide id="13" orient="horz" pos="2612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43555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2880" userDrawn="1">
          <p15:clr>
            <a:srgbClr val="FBAE40"/>
          </p15:clr>
        </p15:guide>
        <p15:guide id="6" orient="horz" pos="57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7278581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24FF-3E1E-431F-977E-945DB2535B1A}" type="datetime1">
              <a:rPr lang="en-GB" smtClean="0"/>
              <a:t>15/08/2025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88710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7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35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3502511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2726"/>
            <a:ext cx="6668019" cy="651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7585" y="1796849"/>
            <a:ext cx="6740030" cy="4539471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Courier New" panose="02070309020205020404" pitchFamily="49" charset="0"/>
              <a:buChar char="o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724382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33624954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2726"/>
            <a:ext cx="6668019" cy="651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7585" y="1796849"/>
            <a:ext cx="6740030" cy="4539471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Courier New" panose="02070309020205020404" pitchFamily="49" charset="0"/>
              <a:buChar char="o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724382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65585853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2726"/>
            <a:ext cx="6668019" cy="651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7585" y="1796849"/>
            <a:ext cx="6740030" cy="4539471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Courier New" panose="02070309020205020404" pitchFamily="49" charset="0"/>
              <a:buChar char="o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724382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06230819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2726"/>
            <a:ext cx="6668019" cy="651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7585" y="1796849"/>
            <a:ext cx="6740030" cy="4539471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Courier New" panose="02070309020205020404" pitchFamily="49" charset="0"/>
              <a:buChar char="o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724382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40395264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2726"/>
            <a:ext cx="6668019" cy="651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7585" y="1796849"/>
            <a:ext cx="6740030" cy="4539471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Courier New" panose="02070309020205020404" pitchFamily="49" charset="0"/>
              <a:buChar char="o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724382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38461594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2726"/>
            <a:ext cx="6668019" cy="651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7585" y="1796849"/>
            <a:ext cx="6740030" cy="4539471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Courier New" panose="02070309020205020404" pitchFamily="49" charset="0"/>
              <a:buChar char="o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724382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40153607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  <p:sldLayoutId id="2147483977" r:id="rId15"/>
    <p:sldLayoutId id="2147483978" r:id="rId16"/>
    <p:sldLayoutId id="2147483997" r:id="rId17"/>
    <p:sldLayoutId id="2147483998" r:id="rId18"/>
    <p:sldLayoutId id="2147483999" r:id="rId19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92F758-98FA-F137-CA28-0CE50EF82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176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5" r:id="rId15"/>
    <p:sldLayoutId id="2147483996" r:id="rId16"/>
    <p:sldLayoutId id="2147484000" r:id="rId17"/>
    <p:sldLayoutId id="2147484001" r:id="rId18"/>
    <p:sldLayoutId id="2147484002" r:id="rId19"/>
    <p:sldLayoutId id="2147484003" r:id="rId20"/>
    <p:sldLayoutId id="2147484005" r:id="rId21"/>
    <p:sldLayoutId id="2147484007" r:id="rId22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en.wikipedia.org/wiki/File:Red_x.svg" TargetMode="External"/><Relationship Id="rId5" Type="http://schemas.openxmlformats.org/officeDocument/2006/relationships/image" Target="../media/image15.png"/><Relationship Id="rId4" Type="http://schemas.openxmlformats.org/officeDocument/2006/relationships/hyperlink" Target="https://en.wikipedia.org/wiki/File:Light_green_check.sv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9.png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en.wikipedia.org/wiki/File:Red_x.svg" TargetMode="External"/><Relationship Id="rId5" Type="http://schemas.openxmlformats.org/officeDocument/2006/relationships/image" Target="../media/image15.png"/><Relationship Id="rId4" Type="http://schemas.openxmlformats.org/officeDocument/2006/relationships/hyperlink" Target="https://en.wikipedia.org/wiki/File:Light_green_check.svg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F73C-04D4-7BB1-2084-E39FB595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412776"/>
            <a:ext cx="7093174" cy="5176142"/>
          </a:xfrm>
        </p:spPr>
        <p:txBody>
          <a:bodyPr>
            <a:noAutofit/>
          </a:bodyPr>
          <a:lstStyle/>
          <a:p>
            <a:r>
              <a:rPr lang="en-GB" sz="4400" dirty="0"/>
              <a:t>UMET9G-30-1 </a:t>
            </a:r>
            <a:br>
              <a:rPr lang="en-GB" sz="4400" dirty="0"/>
            </a:br>
            <a:r>
              <a:rPr lang="en-GB" sz="4400" dirty="0"/>
              <a:t>Accounting &amp; Finance for Decision Making</a:t>
            </a:r>
            <a:br>
              <a:rPr lang="en-GB" sz="4400" dirty="0"/>
            </a:br>
            <a:br>
              <a:rPr lang="en-GB" sz="4400" dirty="0"/>
            </a:br>
            <a:r>
              <a:rPr lang="en-GB" sz="4400" dirty="0"/>
              <a:t>Investment Appraisal – part 2, NPV and IRR</a:t>
            </a:r>
            <a:br>
              <a:rPr lang="en-GB" sz="4400" dirty="0"/>
            </a:br>
            <a:endParaRPr lang="en-GB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6E62E-6AD9-4D0B-7E60-F93F395E3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96836-D923-AFEB-B3B3-9CB34EE42E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BED68A-8FE9-778F-F1C5-2E5F562E7F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C1755D-B81A-989A-E980-95F07C352C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72238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14CE-3250-F7F0-AE05-421FA0F9E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Recap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F9B3823-0605-807A-5635-4865E10F2BE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899591" y="2132855"/>
            <a:ext cx="7560841" cy="4032447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>
                <a:latin typeface="Segoe Sans"/>
              </a:rPr>
              <a:t>Last week we covered:</a:t>
            </a:r>
          </a:p>
          <a:p>
            <a:pPr>
              <a:buFontTx/>
              <a:buChar char="-"/>
            </a:pPr>
            <a:r>
              <a:rPr lang="en-GB" sz="2400" dirty="0">
                <a:latin typeface="Segoe Sans"/>
              </a:rPr>
              <a:t>Understanding Capital Budgeting Decision Making</a:t>
            </a:r>
          </a:p>
          <a:p>
            <a:pPr>
              <a:buFontTx/>
              <a:buChar char="-"/>
            </a:pPr>
            <a:r>
              <a:rPr lang="en-GB" sz="2400" dirty="0">
                <a:latin typeface="Segoe Sans"/>
              </a:rPr>
              <a:t>Identify four key investments appraisal techniques used in industry</a:t>
            </a:r>
          </a:p>
          <a:p>
            <a:pPr>
              <a:buFontTx/>
              <a:buChar char="-"/>
            </a:pPr>
            <a:r>
              <a:rPr lang="en-GB" sz="2400" dirty="0">
                <a:latin typeface="Segoe Sans"/>
              </a:rPr>
              <a:t>Consider Payback period and ARR and how they are used and calculated </a:t>
            </a:r>
          </a:p>
          <a:p>
            <a:pPr>
              <a:buFontTx/>
              <a:buChar char="-"/>
            </a:pPr>
            <a:r>
              <a:rPr lang="en-GB" sz="2400" dirty="0">
                <a:latin typeface="Segoe Sans"/>
              </a:rPr>
              <a:t>Review the advantages and disadvantages of the techniques</a:t>
            </a:r>
            <a:endParaRPr lang="en-GB" sz="3200" dirty="0">
              <a:latin typeface="Segoe Sans"/>
            </a:endParaRPr>
          </a:p>
        </p:txBody>
      </p:sp>
      <p:pic>
        <p:nvPicPr>
          <p:cNvPr id="5" name="Graphic 4" descr="Clipboard Checked with solid fill">
            <a:extLst>
              <a:ext uri="{FF2B5EF4-FFF2-40B4-BE49-F238E27FC236}">
                <a16:creationId xmlns:a16="http://schemas.microsoft.com/office/drawing/2014/main" id="{295E040E-13B2-6A1F-C2CA-FE2D44F88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1885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9003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Title 1">
            <a:extLst>
              <a:ext uri="{FF2B5EF4-FFF2-40B4-BE49-F238E27FC236}">
                <a16:creationId xmlns:a16="http://schemas.microsoft.com/office/drawing/2014/main" id="{B54CC29E-BA68-10E6-2F39-FA1EBE0C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1376773"/>
            <a:ext cx="7886700" cy="646548"/>
          </a:xfrm>
        </p:spPr>
        <p:txBody>
          <a:bodyPr/>
          <a:lstStyle/>
          <a:p>
            <a:pPr algn="l"/>
            <a:r>
              <a:rPr lang="en-US" dirty="0"/>
              <a:t>Learning Outcomes</a:t>
            </a:r>
          </a:p>
        </p:txBody>
      </p:sp>
      <p:graphicFrame>
        <p:nvGraphicFramePr>
          <p:cNvPr id="13315" name="Text Placeholder 1">
            <a:extLst>
              <a:ext uri="{FF2B5EF4-FFF2-40B4-BE49-F238E27FC236}">
                <a16:creationId xmlns:a16="http://schemas.microsoft.com/office/drawing/2014/main" id="{C2855CC1-6974-FD0F-632A-C97A1652BB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5839570"/>
              </p:ext>
            </p:extLst>
          </p:nvPr>
        </p:nvGraphicFramePr>
        <p:xfrm>
          <a:off x="892515" y="2492896"/>
          <a:ext cx="7632848" cy="3403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99595" y="908720"/>
            <a:ext cx="6668020" cy="1047562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GB" sz="3600" dirty="0">
                <a:solidFill>
                  <a:srgbClr val="1A9DAC"/>
                </a:solidFill>
                <a:latin typeface="+mj-lt"/>
                <a:ea typeface="ＭＳ Ｐゴシック" charset="0"/>
              </a:rPr>
              <a:t>Recap: Why….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2654" y="1706883"/>
            <a:ext cx="1586638" cy="51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43" b="1" dirty="0">
                <a:solidFill>
                  <a:schemeClr val="tx2"/>
                </a:solidFill>
                <a:latin typeface="Comic Sans MS" pitchFamily="66" charset="0"/>
              </a:rPr>
              <a:t>Capital</a:t>
            </a:r>
            <a:r>
              <a:rPr lang="en-GB" sz="2438" b="1" dirty="0">
                <a:solidFill>
                  <a:schemeClr val="tx2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7" name="Right Arrow 6"/>
          <p:cNvSpPr/>
          <p:nvPr/>
        </p:nvSpPr>
        <p:spPr>
          <a:xfrm rot="10800000">
            <a:off x="3072273" y="2275628"/>
            <a:ext cx="1942659" cy="289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19133" y="2638191"/>
            <a:ext cx="8241299" cy="646794"/>
          </a:xfrm>
          <a:prstGeom prst="rect">
            <a:avLst/>
          </a:prstGeom>
        </p:spPr>
        <p:txBody>
          <a:bodyPr>
            <a:noAutofit/>
          </a:bodyPr>
          <a:lstStyle>
            <a:lvl1pPr marL="800100" indent="-800100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7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1741488" indent="-66516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65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2682875" indent="-53181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3759200" indent="-53181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45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4833938" indent="-53181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45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5916109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91768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7426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143079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GB" sz="3759" b="1" u="sng" dirty="0">
                <a:solidFill>
                  <a:schemeClr val="tx2"/>
                </a:solidFill>
                <a:latin typeface="Comic Sans MS" pitchFamily="66" charset="0"/>
              </a:rPr>
              <a:t>Assets  =  Equity  +  Liabilities 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1067" y="3418620"/>
            <a:ext cx="1866919" cy="2627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3438602" y="3706652"/>
            <a:ext cx="1314144" cy="51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43" b="1" dirty="0">
                <a:solidFill>
                  <a:schemeClr val="tx2"/>
                </a:solidFill>
                <a:latin typeface="Comic Sans MS" pitchFamily="66" charset="0"/>
              </a:rPr>
              <a:t>Return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62B4D-2610-B9FD-BE76-AAA8FB17D41A}"/>
              </a:ext>
            </a:extLst>
          </p:cNvPr>
          <p:cNvSpPr txBox="1"/>
          <p:nvPr/>
        </p:nvSpPr>
        <p:spPr>
          <a:xfrm>
            <a:off x="786272" y="4604085"/>
            <a:ext cx="71701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Shareholders (owners!) invest funds for a reason… a return! Return is generated by management investing in real assets, so managers need to analyse different investment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0954734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6B5AF6-E21B-4B4B-B742-59151BB715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2026" y="941647"/>
            <a:ext cx="6668019" cy="520824"/>
          </a:xfrm>
        </p:spPr>
        <p:txBody>
          <a:bodyPr/>
          <a:lstStyle/>
          <a:p>
            <a:r>
              <a:rPr lang="en-GB" sz="3600" dirty="0">
                <a:solidFill>
                  <a:srgbClr val="1A9DAC"/>
                </a:solidFill>
                <a:latin typeface="+mj-lt"/>
                <a:ea typeface="ＭＳ Ｐゴシック" charset="0"/>
              </a:rPr>
              <a:t>Key characteristics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25233-D8F6-4A38-B2E7-C266BEB1C3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7585" y="1819536"/>
            <a:ext cx="6740031" cy="3935183"/>
          </a:xfrm>
        </p:spPr>
        <p:txBody>
          <a:bodyPr/>
          <a:lstStyle/>
          <a:p>
            <a:pPr marL="0" indent="0">
              <a:buNone/>
            </a:pPr>
            <a:r>
              <a:rPr lang="en-GB" sz="1626" b="1" dirty="0"/>
              <a:t>Method:						Calculated using:</a:t>
            </a:r>
          </a:p>
          <a:p>
            <a:pPr marL="0" indent="0">
              <a:buNone/>
            </a:pPr>
            <a:endParaRPr lang="en-GB" sz="1626" dirty="0"/>
          </a:p>
          <a:p>
            <a:pPr marL="0" indent="0">
              <a:buNone/>
            </a:pPr>
            <a:r>
              <a:rPr lang="en-GB" sz="1626" dirty="0"/>
              <a:t>Accounting Rate of Return 			Profits</a:t>
            </a:r>
          </a:p>
          <a:p>
            <a:pPr marL="0" indent="0">
              <a:buNone/>
            </a:pPr>
            <a:endParaRPr lang="en-GB" sz="1626" dirty="0"/>
          </a:p>
          <a:p>
            <a:pPr marL="0" indent="0">
              <a:buNone/>
            </a:pPr>
            <a:r>
              <a:rPr lang="en-GB" sz="1626" dirty="0"/>
              <a:t>Payback Period					Cash Flows</a:t>
            </a:r>
          </a:p>
          <a:p>
            <a:pPr marL="0" indent="0">
              <a:buNone/>
            </a:pPr>
            <a:endParaRPr lang="en-GB" sz="1626" dirty="0"/>
          </a:p>
          <a:p>
            <a:pPr marL="0" indent="0">
              <a:buNone/>
            </a:pPr>
            <a:r>
              <a:rPr lang="en-GB" sz="1626" dirty="0"/>
              <a:t>Net Present Value					Cash Flows</a:t>
            </a:r>
          </a:p>
          <a:p>
            <a:pPr marL="0" indent="0">
              <a:buNone/>
            </a:pPr>
            <a:endParaRPr lang="en-GB" sz="1626" dirty="0"/>
          </a:p>
          <a:p>
            <a:pPr marL="0" indent="0">
              <a:buNone/>
            </a:pPr>
            <a:r>
              <a:rPr lang="en-GB" sz="1626" dirty="0"/>
              <a:t>Internal Rate of Return				Cash Flows</a:t>
            </a:r>
          </a:p>
          <a:p>
            <a:pPr marL="0" indent="0">
              <a:buNone/>
            </a:pPr>
            <a:endParaRPr lang="en-GB" sz="1626" dirty="0"/>
          </a:p>
          <a:p>
            <a:pPr marL="0" indent="0">
              <a:buNone/>
            </a:pPr>
            <a:r>
              <a:rPr lang="en-GB" sz="1422" b="1" i="1" dirty="0"/>
              <a:t>Remember one of the key disadvantages of ARR &amp; Payback is that they do not consider the timing of profits or cash flows.</a:t>
            </a:r>
          </a:p>
          <a:p>
            <a:pPr marL="0" indent="0">
              <a:buNone/>
            </a:pPr>
            <a:endParaRPr lang="en-GB" sz="1626" dirty="0"/>
          </a:p>
        </p:txBody>
      </p:sp>
    </p:spTree>
    <p:extLst>
      <p:ext uri="{BB962C8B-B14F-4D97-AF65-F5344CB8AC3E}">
        <p14:creationId xmlns:p14="http://schemas.microsoft.com/office/powerpoint/2010/main" val="84003553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58078" y="831911"/>
            <a:ext cx="6668019" cy="520824"/>
          </a:xfrm>
        </p:spPr>
        <p:txBody>
          <a:bodyPr/>
          <a:lstStyle/>
          <a:p>
            <a:r>
              <a:rPr lang="en-GB" sz="3600" dirty="0">
                <a:solidFill>
                  <a:srgbClr val="1A9DAC"/>
                </a:solidFill>
                <a:latin typeface="+mj-lt"/>
                <a:ea typeface="ＭＳ Ｐゴシック" charset="0"/>
              </a:rPr>
              <a:t>Recap: Time Value of Money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02026" y="1490328"/>
            <a:ext cx="8595999" cy="3631363"/>
          </a:xfrm>
        </p:spPr>
        <p:txBody>
          <a:bodyPr/>
          <a:lstStyle/>
          <a:p>
            <a:pPr marL="0" indent="0" defTabSz="464515">
              <a:spcBef>
                <a:spcPct val="50000"/>
              </a:spcBef>
              <a:buClrTx/>
              <a:buNone/>
            </a:pPr>
            <a:r>
              <a:rPr lang="en-GB" sz="1400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You are offered £1,000 now or £1,000 in one year’s time. What would you choose? £1,000 now. Why?</a:t>
            </a:r>
          </a:p>
          <a:p>
            <a:pPr marL="370161" lvl="1" indent="807" defTabSz="464515">
              <a:spcBef>
                <a:spcPct val="50000"/>
              </a:spcBef>
              <a:buClrTx/>
              <a:buFont typeface="Arial" charset="0"/>
              <a:buChar char="•"/>
            </a:pPr>
            <a:r>
              <a:rPr lang="en-GB" sz="1400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 Risk</a:t>
            </a:r>
          </a:p>
          <a:p>
            <a:pPr marL="370161" lvl="1" indent="807" defTabSz="464515">
              <a:spcBef>
                <a:spcPct val="50000"/>
              </a:spcBef>
              <a:buClrTx/>
              <a:buFont typeface="Arial" charset="0"/>
              <a:buChar char="•"/>
            </a:pPr>
            <a:r>
              <a:rPr lang="en-GB" sz="1400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 Inflation</a:t>
            </a:r>
          </a:p>
          <a:p>
            <a:pPr marL="370161" lvl="1" indent="807" defTabSz="464515">
              <a:spcBef>
                <a:spcPct val="50000"/>
              </a:spcBef>
              <a:buClrTx/>
              <a:buFont typeface="Arial" charset="0"/>
              <a:buChar char="•"/>
            </a:pPr>
            <a:r>
              <a:rPr lang="en-GB" sz="1400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 Investment Opportunities</a:t>
            </a:r>
          </a:p>
          <a:p>
            <a:pPr marL="370161" lvl="1" indent="807" defTabSz="464515">
              <a:spcBef>
                <a:spcPct val="50000"/>
              </a:spcBef>
              <a:buClrTx/>
              <a:buFont typeface="Arial" charset="0"/>
              <a:buChar char="•"/>
            </a:pPr>
            <a:r>
              <a:rPr lang="en-GB" sz="1400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 Cost of Capital, e.g. pay off a loan</a:t>
            </a:r>
          </a:p>
          <a:p>
            <a:pPr marL="370161" lvl="1" indent="807" defTabSz="464515">
              <a:spcBef>
                <a:spcPct val="50000"/>
              </a:spcBef>
              <a:buClrTx/>
              <a:buFont typeface="Arial" charset="0"/>
              <a:buChar char="•"/>
            </a:pPr>
            <a:endParaRPr lang="en-GB" sz="1400" dirty="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  <a:p>
            <a:pPr marL="0" indent="0">
              <a:spcBef>
                <a:spcPct val="50000"/>
              </a:spcBef>
              <a:buNone/>
            </a:pPr>
            <a:r>
              <a:rPr lang="en-GB" sz="1400" dirty="0"/>
              <a:t>So money has a time value!</a:t>
            </a:r>
          </a:p>
          <a:p>
            <a:pPr marL="0" indent="0">
              <a:spcBef>
                <a:spcPct val="50000"/>
              </a:spcBef>
              <a:buNone/>
            </a:pPr>
            <a:endParaRPr lang="en-GB" sz="1400" dirty="0"/>
          </a:p>
          <a:p>
            <a:pPr marL="0" indent="0">
              <a:spcBef>
                <a:spcPct val="50000"/>
              </a:spcBef>
              <a:buNone/>
            </a:pPr>
            <a:r>
              <a:rPr lang="en-GB" sz="1400" dirty="0"/>
              <a:t>If interest rates are 10% per year, the future value of £1,000 will be £1,100 in year one and £1,210 in year 2. Alternatively we can say that £1,100 in one year has a present value of £1,000.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GB" sz="1400" dirty="0"/>
              <a:t>The further into the future we go, the lower the net present value, i.e. £1,000 now is worth more than £1,000 in 5 years time.</a:t>
            </a:r>
          </a:p>
          <a:p>
            <a:pPr marL="370161" lvl="1" indent="0" defTabSz="464515">
              <a:spcBef>
                <a:spcPct val="50000"/>
              </a:spcBef>
              <a:buClrTx/>
              <a:buNone/>
            </a:pPr>
            <a:endParaRPr lang="en-GB" sz="1050" dirty="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  <a:p>
            <a:endParaRPr lang="en-GB" sz="700" dirty="0"/>
          </a:p>
        </p:txBody>
      </p:sp>
      <p:sp>
        <p:nvSpPr>
          <p:cNvPr id="3" name="Flowchart: Punched Tape 2">
            <a:extLst>
              <a:ext uri="{FF2B5EF4-FFF2-40B4-BE49-F238E27FC236}">
                <a16:creationId xmlns:a16="http://schemas.microsoft.com/office/drawing/2014/main" id="{19AF38AC-C0C2-D5D5-CAF0-27EE44F154DA}"/>
              </a:ext>
            </a:extLst>
          </p:cNvPr>
          <p:cNvSpPr/>
          <p:nvPr/>
        </p:nvSpPr>
        <p:spPr>
          <a:xfrm>
            <a:off x="1115616" y="5594041"/>
            <a:ext cx="7056784" cy="864096"/>
          </a:xfrm>
          <a:prstGeom prst="flowChartPunchedTa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NPV takes into account the Time Value of Money!</a:t>
            </a:r>
          </a:p>
        </p:txBody>
      </p:sp>
    </p:spTree>
    <p:extLst>
      <p:ext uri="{BB962C8B-B14F-4D97-AF65-F5344CB8AC3E}">
        <p14:creationId xmlns:p14="http://schemas.microsoft.com/office/powerpoint/2010/main" val="129302108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Net Present Value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2879223"/>
            <a:ext cx="8591550" cy="1095447"/>
          </a:xfrm>
        </p:spPr>
        <p:txBody>
          <a:bodyPr>
            <a:noAutofit/>
          </a:bodyPr>
          <a:lstStyle/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en-GB" sz="1600" b="1" dirty="0">
                <a:solidFill>
                  <a:schemeClr val="accent5">
                    <a:lumMod val="75000"/>
                  </a:schemeClr>
                </a:solidFill>
              </a:rPr>
              <a:t>Example 1 – Investment Decision</a:t>
            </a:r>
            <a:endParaRPr lang="en-GB" sz="1600" dirty="0"/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600" dirty="0" err="1">
                <a:ea typeface="Cambria Math" panose="02040503050406030204" pitchFamily="18" charset="0"/>
              </a:rPr>
              <a:t>Shoez</a:t>
            </a:r>
            <a:r>
              <a:rPr lang="en-GB" sz="1600" dirty="0">
                <a:ea typeface="Cambria Math" panose="02040503050406030204" pitchFamily="18" charset="0"/>
              </a:rPr>
              <a:t> Co. plans to launch a new shoe line and must choose between two designs. These projects are mutually exclusive. Using a discount rate of 7%, which design should </a:t>
            </a:r>
            <a:r>
              <a:rPr lang="en-GB" sz="1600" dirty="0" err="1">
                <a:ea typeface="Cambria Math" panose="02040503050406030204" pitchFamily="18" charset="0"/>
              </a:rPr>
              <a:t>Shoez</a:t>
            </a:r>
            <a:r>
              <a:rPr lang="en-GB" sz="1600" dirty="0">
                <a:ea typeface="Cambria Math" panose="02040503050406030204" pitchFamily="18" charset="0"/>
              </a:rPr>
              <a:t> Co. choose?</a:t>
            </a: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 marL="0" indent="0">
              <a:spcBef>
                <a:spcPts val="450"/>
              </a:spcBef>
              <a:spcAft>
                <a:spcPts val="450"/>
              </a:spcAft>
              <a:buClr>
                <a:srgbClr val="C00000"/>
              </a:buClr>
              <a:buSzPct val="90000"/>
              <a:buNone/>
            </a:pPr>
            <a:r>
              <a:rPr lang="en-GB" sz="1600" dirty="0">
                <a:solidFill>
                  <a:srgbClr val="C00000"/>
                </a:solidFill>
                <a:ea typeface="Cambria Math" panose="02040503050406030204" pitchFamily="18" charset="0"/>
              </a:rPr>
              <a:t>Design 1:</a:t>
            </a:r>
            <a:r>
              <a:rPr lang="en-GB" sz="1600" dirty="0">
                <a:ea typeface="Cambria Math" panose="02040503050406030204" pitchFamily="18" charset="0"/>
              </a:rPr>
              <a:t> has an initial cost of $100,000 and a salvage value of $25,000 after four years. </a:t>
            </a:r>
          </a:p>
          <a:p>
            <a:pPr marL="0" indent="0">
              <a:spcBef>
                <a:spcPts val="450"/>
              </a:spcBef>
              <a:spcAft>
                <a:spcPts val="450"/>
              </a:spcAft>
              <a:buClr>
                <a:srgbClr val="C00000"/>
              </a:buClr>
              <a:buSzPct val="90000"/>
              <a:buNone/>
            </a:pPr>
            <a:r>
              <a:rPr lang="en-GB" sz="1600" dirty="0">
                <a:solidFill>
                  <a:srgbClr val="C00000"/>
                </a:solidFill>
                <a:ea typeface="Cambria Math" panose="02040503050406030204" pitchFamily="18" charset="0"/>
              </a:rPr>
              <a:t>Design 2:</a:t>
            </a:r>
            <a:r>
              <a:rPr lang="en-GB" sz="1600" dirty="0">
                <a:ea typeface="Cambria Math" panose="02040503050406030204" pitchFamily="18" charset="0"/>
              </a:rPr>
              <a:t> has an initial cost of $100,000 and a salvage value of $50,000 after four years. </a:t>
            </a: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BF1B07-5925-4C6C-8EF4-E690F7C53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919005"/>
              </p:ext>
            </p:extLst>
          </p:nvPr>
        </p:nvGraphicFramePr>
        <p:xfrm>
          <a:off x="285750" y="5301209"/>
          <a:ext cx="8174682" cy="864095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307062">
                  <a:extLst>
                    <a:ext uri="{9D8B030D-6E8A-4147-A177-3AD203B41FA5}">
                      <a16:colId xmlns:a16="http://schemas.microsoft.com/office/drawing/2014/main" val="3067677609"/>
                    </a:ext>
                  </a:extLst>
                </a:gridCol>
                <a:gridCol w="1216905">
                  <a:extLst>
                    <a:ext uri="{9D8B030D-6E8A-4147-A177-3AD203B41FA5}">
                      <a16:colId xmlns:a16="http://schemas.microsoft.com/office/drawing/2014/main" val="1143181142"/>
                    </a:ext>
                  </a:extLst>
                </a:gridCol>
                <a:gridCol w="1216905">
                  <a:extLst>
                    <a:ext uri="{9D8B030D-6E8A-4147-A177-3AD203B41FA5}">
                      <a16:colId xmlns:a16="http://schemas.microsoft.com/office/drawing/2014/main" val="4054193596"/>
                    </a:ext>
                  </a:extLst>
                </a:gridCol>
                <a:gridCol w="1216905">
                  <a:extLst>
                    <a:ext uri="{9D8B030D-6E8A-4147-A177-3AD203B41FA5}">
                      <a16:colId xmlns:a16="http://schemas.microsoft.com/office/drawing/2014/main" val="1726831881"/>
                    </a:ext>
                  </a:extLst>
                </a:gridCol>
                <a:gridCol w="1216905">
                  <a:extLst>
                    <a:ext uri="{9D8B030D-6E8A-4147-A177-3AD203B41FA5}">
                      <a16:colId xmlns:a16="http://schemas.microsoft.com/office/drawing/2014/main" val="1724309414"/>
                    </a:ext>
                  </a:extLst>
                </a:gridCol>
              </a:tblGrid>
              <a:tr h="3128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Year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3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4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85509269"/>
                  </a:ext>
                </a:extLst>
              </a:tr>
              <a:tr h="3128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Design 1 ($/year)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25,000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29,000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32,000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35,000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17153925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Design 2 ($/year)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>
                          <a:effectLst/>
                        </a:rPr>
                        <a:t>15,000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>
                          <a:effectLst/>
                        </a:rPr>
                        <a:t>20,000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25,000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18,000 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1847335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935F73-DEF2-ED73-609E-874E0F2CA1F8}"/>
                  </a:ext>
                </a:extLst>
              </p:cNvPr>
              <p:cNvSpPr txBox="1"/>
              <p:nvPr/>
            </p:nvSpPr>
            <p:spPr>
              <a:xfrm>
                <a:off x="285750" y="1601005"/>
                <a:ext cx="7591674" cy="12819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buClr>
                    <a:srgbClr val="C00000"/>
                  </a:buClr>
                  <a:buSzPct val="90000"/>
                </a:pPr>
                <a:r>
                  <a:rPr lang="en-GB" sz="1600" dirty="0">
                    <a:latin typeface="+mn-lt"/>
                  </a:rPr>
                  <a:t>The </a:t>
                </a:r>
                <a:r>
                  <a:rPr lang="en-GB" sz="1600" dirty="0">
                    <a:solidFill>
                      <a:schemeClr val="accent5">
                        <a:lumMod val="75000"/>
                      </a:schemeClr>
                    </a:solidFill>
                    <a:latin typeface="+mn-lt"/>
                  </a:rPr>
                  <a:t>net present value (NPV) </a:t>
                </a:r>
                <a:r>
                  <a:rPr lang="en-GB" sz="1600" dirty="0">
                    <a:latin typeface="+mn-lt"/>
                  </a:rPr>
                  <a:t>of any project is the sum of the present values of each of the cash flows—positive as well as negative—that occurs over the life of the project. : </a:t>
                </a:r>
              </a:p>
              <a:p>
                <a:pPr>
                  <a:spcBef>
                    <a:spcPts val="1350"/>
                  </a:spcBef>
                  <a:buClr>
                    <a:srgbClr val="C00000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𝑁𝑃𝑉</m:t>
                      </m:r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GB" sz="1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GB" sz="16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+mn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935F73-DEF2-ED73-609E-874E0F2CA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1601005"/>
                <a:ext cx="7591674" cy="1281954"/>
              </a:xfrm>
              <a:prstGeom prst="rect">
                <a:avLst/>
              </a:prstGeom>
              <a:blipFill>
                <a:blip r:embed="rId3"/>
                <a:stretch>
                  <a:fillRect l="-482" t="-1429" r="-3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102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Capital Budgeting – NPV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4453" y="4359664"/>
                <a:ext cx="8591550" cy="1771190"/>
              </a:xfrm>
            </p:spPr>
            <p:txBody>
              <a:bodyPr>
                <a:noAutofit/>
              </a:bodyPr>
              <a:lstStyle/>
              <a:p>
                <a:pPr marL="0" lvl="1" indent="0">
                  <a:buClr>
                    <a:srgbClr val="C00000"/>
                  </a:buClr>
                  <a:buSzPct val="90000"/>
                  <a:buNone/>
                </a:pPr>
                <a:r>
                  <a:rPr lang="en-GB" sz="1600" dirty="0">
                    <a:ea typeface="Cambria Math" panose="02040503050406030204" pitchFamily="18" charset="0"/>
                  </a:rPr>
                  <a:t>The present value of the cash </a:t>
                </a:r>
                <a:r>
                  <a:rPr lang="en-GB" sz="1600" b="1" i="1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inflows</a:t>
                </a:r>
                <a:r>
                  <a:rPr lang="en-GB" sz="1600" dirty="0">
                    <a:ea typeface="Cambria Math" panose="02040503050406030204" pitchFamily="18" charset="0"/>
                  </a:rPr>
                  <a:t> generated by project cash flows is:</a:t>
                </a:r>
              </a:p>
              <a:p>
                <a:pPr marL="0" lvl="1" indent="0">
                  <a:lnSpc>
                    <a:spcPct val="150000"/>
                  </a:lnSpc>
                  <a:buClr>
                    <a:srgbClr val="C00000"/>
                  </a:buClr>
                  <a:buSzPct val="90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𝑃𝑉</m:t>
                      </m:r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=25,000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1+7%</m:t>
                              </m:r>
                            </m:e>
                          </m:d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+29,000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1+7%</m:t>
                              </m:r>
                            </m:e>
                          </m:d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+32,000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1+7%</m:t>
                              </m:r>
                            </m:e>
                          </m:d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+60,000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1+7%</m:t>
                              </m:r>
                            </m:e>
                          </m:d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GB" sz="1600" dirty="0">
                  <a:ea typeface="Cambria Math" panose="02040503050406030204" pitchFamily="18" charset="0"/>
                </a:endParaRPr>
              </a:p>
              <a:p>
                <a:pPr marL="335756" lvl="1" indent="-335756">
                  <a:lnSpc>
                    <a:spcPct val="150000"/>
                  </a:lnSpc>
                  <a:buClr>
                    <a:srgbClr val="C00000"/>
                  </a:buClr>
                  <a:buSzPct val="90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=$120,589.45</m:t>
                      </m:r>
                    </m:oMath>
                  </m:oMathPara>
                </a14:m>
                <a:endParaRPr lang="en-GB" sz="1600" dirty="0">
                  <a:ea typeface="Cambria Math" panose="02040503050406030204" pitchFamily="18" charset="0"/>
                </a:endParaRPr>
              </a:p>
              <a:p>
                <a:pPr marL="0" lvl="1" indent="0">
                  <a:lnSpc>
                    <a:spcPct val="150000"/>
                  </a:lnSpc>
                  <a:buClr>
                    <a:srgbClr val="C00000"/>
                  </a:buClr>
                  <a:buSzPct val="90000"/>
                  <a:buNone/>
                </a:pPr>
                <a:r>
                  <a:rPr lang="en-GB" sz="1600" dirty="0">
                    <a:ea typeface="Cambria Math" panose="02040503050406030204" pitchFamily="18" charset="0"/>
                  </a:rPr>
                  <a:t>The initial </a:t>
                </a:r>
                <a:r>
                  <a:rPr lang="en-GB" sz="1600" b="1" i="1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outflow</a:t>
                </a:r>
                <a:r>
                  <a:rPr lang="en-GB" sz="1600" dirty="0">
                    <a:ea typeface="Cambria Math" panose="02040503050406030204" pitchFamily="18" charset="0"/>
                  </a:rPr>
                  <a:t> is $100,000, therefore, the </a:t>
                </a:r>
                <a:r>
                  <a:rPr lang="en-GB" sz="160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net present value (NPV) </a:t>
                </a:r>
                <a:r>
                  <a:rPr lang="en-GB" sz="1600" dirty="0">
                    <a:ea typeface="Cambria Math" panose="02040503050406030204" pitchFamily="18" charset="0"/>
                  </a:rPr>
                  <a:t>of the project is:</a:t>
                </a:r>
              </a:p>
              <a:p>
                <a:pPr marL="0" lvl="1" indent="0">
                  <a:lnSpc>
                    <a:spcPct val="150000"/>
                  </a:lnSpc>
                  <a:buClr>
                    <a:srgbClr val="C00000"/>
                  </a:buClr>
                  <a:buSzPct val="900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𝑁𝑃𝑉</m:t>
                      </m:r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=120,589.45 −100,000=$20,589.45&gt;0  </m:t>
                      </m:r>
                    </m:oMath>
                  </m:oMathPara>
                </a14:m>
                <a:endParaRPr lang="en-GB" sz="1600" dirty="0">
                  <a:highlight>
                    <a:srgbClr val="FFFF00"/>
                  </a:highlight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453" y="4359664"/>
                <a:ext cx="8591550" cy="177119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C47E0F-6626-4C64-B32D-228CAFA1C8A6}"/>
                  </a:ext>
                </a:extLst>
              </p:cNvPr>
              <p:cNvSpPr txBox="1"/>
              <p:nvPr/>
            </p:nvSpPr>
            <p:spPr>
              <a:xfrm>
                <a:off x="6506115" y="2354110"/>
                <a:ext cx="13143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$25,000</m:t>
                      </m:r>
                    </m:oMath>
                  </m:oMathPara>
                </a14:m>
                <a:endParaRPr lang="en-GB" sz="1600" dirty="0">
                  <a:solidFill>
                    <a:srgbClr val="00B05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C47E0F-6626-4C64-B32D-228CAFA1C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15" y="2354110"/>
                <a:ext cx="1314351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E29FDA8-F44C-3EF8-BF26-0456B4D73EB2}"/>
              </a:ext>
            </a:extLst>
          </p:cNvPr>
          <p:cNvGrpSpPr/>
          <p:nvPr/>
        </p:nvGrpSpPr>
        <p:grpSpPr>
          <a:xfrm>
            <a:off x="354453" y="2581924"/>
            <a:ext cx="7118935" cy="1150156"/>
            <a:chOff x="476586" y="2156512"/>
            <a:chExt cx="10748339" cy="170773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7EA6A02-DA08-4F17-B2D5-D82BDB2E7383}"/>
                </a:ext>
              </a:extLst>
            </p:cNvPr>
            <p:cNvCxnSpPr>
              <a:cxnSpLocks/>
            </p:cNvCxnSpPr>
            <p:nvPr/>
          </p:nvCxnSpPr>
          <p:spPr>
            <a:xfrm>
              <a:off x="1304098" y="2948949"/>
              <a:ext cx="93175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2433FAF-E8D4-44B6-859B-42DC6DF727E6}"/>
                </a:ext>
              </a:extLst>
            </p:cNvPr>
            <p:cNvCxnSpPr>
              <a:cxnSpLocks/>
            </p:cNvCxnSpPr>
            <p:nvPr/>
          </p:nvCxnSpPr>
          <p:spPr>
            <a:xfrm>
              <a:off x="3659589" y="2886423"/>
              <a:ext cx="0" cy="3076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038DAF0-1D37-4E0A-823A-0B1CD9486559}"/>
                </a:ext>
              </a:extLst>
            </p:cNvPr>
            <p:cNvCxnSpPr>
              <a:cxnSpLocks/>
            </p:cNvCxnSpPr>
            <p:nvPr/>
          </p:nvCxnSpPr>
          <p:spPr>
            <a:xfrm>
              <a:off x="6016077" y="2879670"/>
              <a:ext cx="0" cy="3076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3C76627-5BDB-4BF0-AF59-30028AEF02F9}"/>
                    </a:ext>
                  </a:extLst>
                </p:cNvPr>
                <p:cNvSpPr txBox="1"/>
                <p:nvPr/>
              </p:nvSpPr>
              <p:spPr>
                <a:xfrm>
                  <a:off x="844624" y="3338761"/>
                  <a:ext cx="1144700" cy="5026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=0</m:t>
                        </m:r>
                      </m:oMath>
                    </m:oMathPara>
                  </a14:m>
                  <a:endParaRPr lang="en-GB" sz="16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3C76627-5BDB-4BF0-AF59-30028AEF0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624" y="3338761"/>
                  <a:ext cx="1144700" cy="50268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468B36E-C183-4105-B02E-4CF18C1043F6}"/>
                    </a:ext>
                  </a:extLst>
                </p:cNvPr>
                <p:cNvSpPr txBox="1"/>
                <p:nvPr/>
              </p:nvSpPr>
              <p:spPr>
                <a:xfrm>
                  <a:off x="10183421" y="3343009"/>
                  <a:ext cx="1041504" cy="5026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=4</m:t>
                        </m:r>
                      </m:oMath>
                    </m:oMathPara>
                  </a14:m>
                  <a:endParaRPr lang="en-GB" sz="16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468B36E-C183-4105-B02E-4CF18C104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3421" y="3343009"/>
                  <a:ext cx="1041504" cy="5026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B0F7D31-D904-43E7-95F5-9D507684CDFE}"/>
                    </a:ext>
                  </a:extLst>
                </p:cNvPr>
                <p:cNvSpPr txBox="1"/>
                <p:nvPr/>
              </p:nvSpPr>
              <p:spPr>
                <a:xfrm>
                  <a:off x="476586" y="2327797"/>
                  <a:ext cx="1748492" cy="5026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−$</m:t>
                        </m:r>
                        <m:r>
                          <a:rPr lang="en-GB" sz="1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en-GB" sz="1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𝟎𝟎𝟎</m:t>
                        </m:r>
                      </m:oMath>
                    </m:oMathPara>
                  </a14:m>
                  <a:endParaRPr lang="en-GB" sz="1600" b="1" dirty="0">
                    <a:solidFill>
                      <a:srgbClr val="C0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B0F7D31-D904-43E7-95F5-9D507684C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586" y="2327797"/>
                  <a:ext cx="1748492" cy="502682"/>
                </a:xfrm>
                <a:prstGeom prst="rect">
                  <a:avLst/>
                </a:prstGeom>
                <a:blipFill>
                  <a:blip r:embed="rId7"/>
                  <a:stretch>
                    <a:fillRect l="-5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AA020E1-91C0-4DFC-8BDC-0EBA6EBEEF52}"/>
                    </a:ext>
                  </a:extLst>
                </p:cNvPr>
                <p:cNvSpPr txBox="1"/>
                <p:nvPr/>
              </p:nvSpPr>
              <p:spPr>
                <a:xfrm>
                  <a:off x="7864170" y="3361570"/>
                  <a:ext cx="1154556" cy="5026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=3</m:t>
                        </m:r>
                      </m:oMath>
                    </m:oMathPara>
                  </a14:m>
                  <a:endParaRPr lang="en-GB" sz="16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AA020E1-91C0-4DFC-8BDC-0EBA6EBEE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4170" y="3361570"/>
                  <a:ext cx="1154556" cy="5026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9E1A3CE-8AF3-43E2-A3E6-F5545185F8B9}"/>
                    </a:ext>
                  </a:extLst>
                </p:cNvPr>
                <p:cNvSpPr txBox="1"/>
                <p:nvPr/>
              </p:nvSpPr>
              <p:spPr>
                <a:xfrm>
                  <a:off x="3012080" y="2325564"/>
                  <a:ext cx="1335694" cy="502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$25,000</m:t>
                        </m:r>
                      </m:oMath>
                    </m:oMathPara>
                  </a14:m>
                  <a:endParaRPr lang="en-GB" sz="1600" dirty="0">
                    <a:solidFill>
                      <a:srgbClr val="00B05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9E1A3CE-8AF3-43E2-A3E6-F5545185F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2080" y="2325564"/>
                  <a:ext cx="1335694" cy="50268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D588C3C-385A-429C-B640-66B826A511ED}"/>
                </a:ext>
              </a:extLst>
            </p:cNvPr>
            <p:cNvCxnSpPr>
              <a:cxnSpLocks/>
            </p:cNvCxnSpPr>
            <p:nvPr/>
          </p:nvCxnSpPr>
          <p:spPr>
            <a:xfrm>
              <a:off x="1284556" y="2825304"/>
              <a:ext cx="0" cy="3076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342F995-8561-45B0-96CB-3E841AA1100F}"/>
                    </a:ext>
                  </a:extLst>
                </p:cNvPr>
                <p:cNvSpPr txBox="1"/>
                <p:nvPr/>
              </p:nvSpPr>
              <p:spPr>
                <a:xfrm>
                  <a:off x="3203073" y="3343010"/>
                  <a:ext cx="1144700" cy="5026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=1</m:t>
                        </m:r>
                      </m:oMath>
                    </m:oMathPara>
                  </a14:m>
                  <a:endParaRPr lang="en-GB" sz="16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342F995-8561-45B0-96CB-3E841AA11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3073" y="3343010"/>
                  <a:ext cx="1144700" cy="50268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38052B9-D977-4501-9DCF-31E4B43E41F8}"/>
                    </a:ext>
                  </a:extLst>
                </p:cNvPr>
                <p:cNvSpPr txBox="1"/>
                <p:nvPr/>
              </p:nvSpPr>
              <p:spPr>
                <a:xfrm>
                  <a:off x="5522234" y="3342068"/>
                  <a:ext cx="982334" cy="5026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=2</m:t>
                        </m:r>
                      </m:oMath>
                    </m:oMathPara>
                  </a14:m>
                  <a:endParaRPr lang="en-GB" sz="16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38052B9-D977-4501-9DCF-31E4B43E4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234" y="3342068"/>
                  <a:ext cx="982334" cy="50268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E9A4BEF-43FD-45AF-88E9-FB7D3A7784F3}"/>
                </a:ext>
              </a:extLst>
            </p:cNvPr>
            <p:cNvCxnSpPr>
              <a:cxnSpLocks/>
            </p:cNvCxnSpPr>
            <p:nvPr/>
          </p:nvCxnSpPr>
          <p:spPr>
            <a:xfrm>
              <a:off x="8289703" y="2878779"/>
              <a:ext cx="0" cy="3076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434942-3579-4863-92AC-48EB9F09D6FF}"/>
                </a:ext>
              </a:extLst>
            </p:cNvPr>
            <p:cNvCxnSpPr>
              <a:cxnSpLocks/>
            </p:cNvCxnSpPr>
            <p:nvPr/>
          </p:nvCxnSpPr>
          <p:spPr>
            <a:xfrm>
              <a:off x="10621674" y="2866692"/>
              <a:ext cx="0" cy="3076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D0FC44E-B079-4E3E-8417-2AA4D55C28DC}"/>
                    </a:ext>
                  </a:extLst>
                </p:cNvPr>
                <p:cNvSpPr/>
                <p:nvPr/>
              </p:nvSpPr>
              <p:spPr>
                <a:xfrm>
                  <a:off x="5463063" y="2318606"/>
                  <a:ext cx="1041504" cy="50268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$29,000</m:t>
                        </m:r>
                      </m:oMath>
                    </m:oMathPara>
                  </a14:m>
                  <a:endParaRPr lang="en-GB" sz="1600" dirty="0">
                    <a:solidFill>
                      <a:srgbClr val="00B05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D0FC44E-B079-4E3E-8417-2AA4D55C28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3063" y="2318606"/>
                  <a:ext cx="1041504" cy="502681"/>
                </a:xfrm>
                <a:prstGeom prst="rect">
                  <a:avLst/>
                </a:prstGeom>
                <a:blipFill>
                  <a:blip r:embed="rId12"/>
                  <a:stretch>
                    <a:fillRect r="-2477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0DD1F492-C3CA-4BA0-B36C-D5B57DAF3D82}"/>
                    </a:ext>
                  </a:extLst>
                </p:cNvPr>
                <p:cNvSpPr/>
                <p:nvPr/>
              </p:nvSpPr>
              <p:spPr>
                <a:xfrm>
                  <a:off x="7725106" y="2341751"/>
                  <a:ext cx="1041504" cy="50268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$32,000</m:t>
                        </m:r>
                      </m:oMath>
                    </m:oMathPara>
                  </a14:m>
                  <a:endParaRPr lang="en-GB" sz="1600" dirty="0">
                    <a:solidFill>
                      <a:srgbClr val="00B05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0DD1F492-C3CA-4BA0-B36C-D5B57DAF3D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5106" y="2341751"/>
                  <a:ext cx="1041504" cy="502681"/>
                </a:xfrm>
                <a:prstGeom prst="rect">
                  <a:avLst/>
                </a:prstGeom>
                <a:blipFill>
                  <a:blip r:embed="rId13"/>
                  <a:stretch>
                    <a:fillRect r="-2477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7AC89B3-7E24-492F-88B4-D86F951EFD08}"/>
                    </a:ext>
                  </a:extLst>
                </p:cNvPr>
                <p:cNvSpPr/>
                <p:nvPr/>
              </p:nvSpPr>
              <p:spPr>
                <a:xfrm>
                  <a:off x="10124661" y="2156512"/>
                  <a:ext cx="1041504" cy="86826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1600" b="0" i="1" dirty="0">
                    <a:solidFill>
                      <a:srgbClr val="00B050"/>
                    </a:solidFill>
                    <a:latin typeface="+mn-lt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  <m:r>
                          <a:rPr lang="en-GB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35,000</m:t>
                        </m:r>
                      </m:oMath>
                    </m:oMathPara>
                  </a14:m>
                  <a:endParaRPr lang="en-GB" sz="1600" dirty="0">
                    <a:solidFill>
                      <a:srgbClr val="00B05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7AC89B3-7E24-492F-88B4-D86F951EFD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4661" y="2156512"/>
                  <a:ext cx="1041504" cy="868268"/>
                </a:xfrm>
                <a:prstGeom prst="rect">
                  <a:avLst/>
                </a:prstGeom>
                <a:blipFill>
                  <a:blip r:embed="rId14"/>
                  <a:stretch>
                    <a:fillRect r="-24561" b="-105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019581C-8C12-9967-6930-5F61E3AB3B2A}"/>
              </a:ext>
            </a:extLst>
          </p:cNvPr>
          <p:cNvSpPr txBox="1"/>
          <p:nvPr/>
        </p:nvSpPr>
        <p:spPr>
          <a:xfrm>
            <a:off x="354453" y="1686125"/>
            <a:ext cx="76118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buClr>
                <a:srgbClr val="C00000"/>
              </a:buClr>
              <a:buSzPct val="90000"/>
            </a:pPr>
            <a:r>
              <a:rPr lang="en-GB" sz="1600" dirty="0">
                <a:solidFill>
                  <a:srgbClr val="C00000"/>
                </a:solidFill>
                <a:latin typeface="+mn-lt"/>
                <a:ea typeface="Cambria Math" panose="02040503050406030204" pitchFamily="18" charset="0"/>
              </a:rPr>
              <a:t>Design 1: </a:t>
            </a:r>
            <a:r>
              <a:rPr lang="en-GB" sz="1600" dirty="0">
                <a:latin typeface="+mn-lt"/>
                <a:ea typeface="Cambria Math" panose="02040503050406030204" pitchFamily="18" charset="0"/>
              </a:rPr>
              <a:t>has an initial cost of $100,000 and will have a scrap value of $25,000 after four years.</a:t>
            </a:r>
            <a:r>
              <a:rPr lang="en-GB" sz="1600" dirty="0">
                <a:solidFill>
                  <a:srgbClr val="C00000"/>
                </a:solidFill>
                <a:latin typeface="+mn-lt"/>
                <a:ea typeface="Cambria Math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786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Capital Budgeting – Net Present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6700" y="1704975"/>
                <a:ext cx="7886700" cy="2561398"/>
              </a:xfrm>
            </p:spPr>
            <p:txBody>
              <a:bodyPr>
                <a:normAutofit/>
              </a:bodyPr>
              <a:lstStyle/>
              <a:p>
                <a:pPr marL="0" indent="0">
                  <a:buClr>
                    <a:srgbClr val="C00000"/>
                  </a:buClr>
                  <a:buSzPct val="90000"/>
                  <a:buNone/>
                </a:pPr>
                <a:r>
                  <a:rPr lang="en-GB" sz="1600" dirty="0"/>
                  <a:t>The </a:t>
                </a:r>
                <a:r>
                  <a:rPr lang="en-GB" sz="1600" dirty="0">
                    <a:solidFill>
                      <a:schemeClr val="accent5">
                        <a:lumMod val="75000"/>
                      </a:schemeClr>
                    </a:solidFill>
                  </a:rPr>
                  <a:t>net present value (NPV) </a:t>
                </a:r>
                <a:r>
                  <a:rPr lang="en-GB" sz="1600" dirty="0"/>
                  <a:t>of any project is the sum of the present values of each of the cash flows—positive as well as negative—that occurs over the life of the project</a:t>
                </a:r>
              </a:p>
              <a:p>
                <a:pPr marL="0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𝑁𝑃𝑉</m:t>
                      </m:r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GB" sz="1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GB" sz="16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60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4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600" dirty="0">
                    <a:ea typeface="Cambria Math" panose="02040503050406030204" pitchFamily="18" charset="0"/>
                  </a:rPr>
                  <a:t>Where</a:t>
                </a:r>
              </a:p>
              <a:p>
                <a:pPr marL="0" indent="0">
                  <a:spcBef>
                    <a:spcPts val="450"/>
                  </a:spcBef>
                  <a:buClr>
                    <a:srgbClr val="C00000"/>
                  </a:buClr>
                  <a:buSzPct val="90000"/>
                  <a:buNone/>
                </a:pP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sz="16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16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600" dirty="0">
                    <a:ea typeface="Cambria Math" panose="02040503050406030204" pitchFamily="18" charset="0"/>
                  </a:rPr>
                  <a:t>: cash flow in year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16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dirty="0">
                    <a:ea typeface="Cambria Math" panose="02040503050406030204" pitchFamily="18" charset="0"/>
                  </a:rPr>
                  <a:t>: the initial investment</a:t>
                </a:r>
              </a:p>
              <a:p>
                <a:pPr marL="0" indent="0">
                  <a:spcBef>
                    <a:spcPts val="450"/>
                  </a:spcBef>
                  <a:buClr>
                    <a:srgbClr val="C00000"/>
                  </a:buClr>
                  <a:buSzPct val="90000"/>
                  <a:buNone/>
                </a:pP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600" dirty="0">
                    <a:ea typeface="Cambria Math" panose="02040503050406030204" pitchFamily="18" charset="0"/>
                  </a:rPr>
                  <a:t>: the discount rate (or hurdle rate)</a:t>
                </a:r>
              </a:p>
              <a:p>
                <a:pPr marL="0" indent="0">
                  <a:spcBef>
                    <a:spcPts val="450"/>
                  </a:spcBef>
                  <a:buClr>
                    <a:srgbClr val="C00000"/>
                  </a:buClr>
                  <a:buSzPct val="90000"/>
                  <a:buNone/>
                </a:pP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>
                    <a:ea typeface="Cambria Math" panose="02040503050406030204" pitchFamily="18" charset="0"/>
                  </a:rPr>
                  <a:t>: the life of the project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704975"/>
                <a:ext cx="7886700" cy="256139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60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lang="en-GB" sz="1600" dirty="0">
              <a:solidFill>
                <a:prstClr val="black">
                  <a:lumMod val="50000"/>
                  <a:lumOff val="50000"/>
                </a:prstClr>
              </a:solidFill>
              <a:latin typeface="+mn-lt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158C8-679D-F0C6-60E6-44EFF1C3E56F}"/>
              </a:ext>
            </a:extLst>
          </p:cNvPr>
          <p:cNvSpPr txBox="1"/>
          <p:nvPr/>
        </p:nvSpPr>
        <p:spPr>
          <a:xfrm>
            <a:off x="266700" y="4337417"/>
            <a:ext cx="71975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rgbClr val="C00000"/>
              </a:buClr>
              <a:buSzPct val="90000"/>
            </a:pPr>
            <a:r>
              <a:rPr lang="en-GB" sz="1600" b="1" dirty="0">
                <a:solidFill>
                  <a:srgbClr val="C00000"/>
                </a:solidFill>
                <a:latin typeface="+mn-lt"/>
                <a:ea typeface="Cambria Math" panose="02040503050406030204" pitchFamily="18" charset="0"/>
              </a:rPr>
              <a:t>Measurement unit </a:t>
            </a:r>
          </a:p>
          <a:p>
            <a:pPr>
              <a:spcBef>
                <a:spcPts val="0"/>
              </a:spcBef>
              <a:buClr>
                <a:srgbClr val="C00000"/>
              </a:buClr>
              <a:buSzPct val="90000"/>
            </a:pPr>
            <a:r>
              <a:rPr lang="en-GB" sz="1600" b="1" dirty="0">
                <a:solidFill>
                  <a:srgbClr val="C00000"/>
                </a:solidFill>
                <a:latin typeface="+mn-lt"/>
                <a:ea typeface="Cambria Math" panose="02040503050406030204" pitchFamily="18" charset="0"/>
              </a:rPr>
              <a:t>	</a:t>
            </a:r>
            <a:r>
              <a:rPr lang="en-GB" sz="1600" dirty="0">
                <a:latin typeface="+mn-lt"/>
                <a:ea typeface="Cambria Math" panose="02040503050406030204" pitchFamily="18" charset="0"/>
              </a:rPr>
              <a:t>The NPV is always expressed in monetary units.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3763EF-8B2B-FA6E-86FA-A4BDD9DDA7ED}"/>
              </a:ext>
            </a:extLst>
          </p:cNvPr>
          <p:cNvSpPr txBox="1"/>
          <p:nvPr/>
        </p:nvSpPr>
        <p:spPr>
          <a:xfrm>
            <a:off x="266700" y="5433740"/>
            <a:ext cx="8409757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buClr>
                <a:srgbClr val="C00000"/>
              </a:buClr>
              <a:buSzPct val="90000"/>
            </a:pPr>
            <a:r>
              <a:rPr lang="en-GB" sz="1600" b="1" dirty="0">
                <a:solidFill>
                  <a:srgbClr val="C00000"/>
                </a:solidFill>
                <a:latin typeface="+mn-lt"/>
                <a:ea typeface="Cambria Math" panose="02040503050406030204" pitchFamily="18" charset="0"/>
              </a:rPr>
              <a:t>Decision Rule </a:t>
            </a:r>
            <a:r>
              <a:rPr lang="en-GB" sz="1600" b="1" i="1" dirty="0">
                <a:solidFill>
                  <a:srgbClr val="C00000"/>
                </a:solidFill>
                <a:latin typeface="+mn-lt"/>
                <a:ea typeface="Cambria Math" panose="02040503050406030204" pitchFamily="18" charset="0"/>
              </a:rPr>
              <a:t>	</a:t>
            </a:r>
          </a:p>
          <a:p>
            <a:pPr>
              <a:spcBef>
                <a:spcPts val="450"/>
              </a:spcBef>
              <a:buClr>
                <a:srgbClr val="C00000"/>
              </a:buClr>
              <a:buSzPct val="90000"/>
            </a:pPr>
            <a:r>
              <a:rPr lang="en-GB" sz="1600" b="1" i="1" dirty="0">
                <a:solidFill>
                  <a:srgbClr val="C00000"/>
                </a:solidFill>
                <a:latin typeface="+mn-lt"/>
                <a:ea typeface="Cambria Math" panose="02040503050406030204" pitchFamily="18" charset="0"/>
              </a:rPr>
              <a:t>	</a:t>
            </a:r>
            <a:r>
              <a:rPr lang="en-GB" sz="1600" i="1" dirty="0">
                <a:latin typeface="+mn-lt"/>
                <a:ea typeface="Cambria Math" panose="02040503050406030204" pitchFamily="18" charset="0"/>
              </a:rPr>
              <a:t>(</a:t>
            </a:r>
            <a:r>
              <a:rPr lang="en-GB" sz="1600" i="1" dirty="0" err="1">
                <a:latin typeface="+mn-lt"/>
                <a:ea typeface="Cambria Math" panose="02040503050406030204" pitchFamily="18" charset="0"/>
              </a:rPr>
              <a:t>i</a:t>
            </a:r>
            <a:r>
              <a:rPr lang="en-GB" sz="1600" i="1" dirty="0">
                <a:latin typeface="+mn-lt"/>
                <a:ea typeface="Cambria Math" panose="02040503050406030204" pitchFamily="18" charset="0"/>
              </a:rPr>
              <a:t>) Independent project: </a:t>
            </a:r>
            <a:r>
              <a:rPr lang="en-GB" sz="1600" dirty="0">
                <a:latin typeface="+mn-lt"/>
                <a:ea typeface="Cambria Math" panose="02040503050406030204" pitchFamily="18" charset="0"/>
              </a:rPr>
              <a:t>Accept a project if NPV &gt; 0.</a:t>
            </a:r>
          </a:p>
          <a:p>
            <a:pPr>
              <a:spcBef>
                <a:spcPts val="450"/>
              </a:spcBef>
              <a:buClr>
                <a:srgbClr val="C00000"/>
              </a:buClr>
              <a:buSzPct val="90000"/>
            </a:pPr>
            <a:r>
              <a:rPr lang="en-GB" sz="1600" i="1" dirty="0">
                <a:latin typeface="+mn-lt"/>
                <a:ea typeface="Cambria Math" panose="02040503050406030204" pitchFamily="18" charset="0"/>
              </a:rPr>
              <a:t>	(ii) Mutually exclusive: </a:t>
            </a:r>
            <a:r>
              <a:rPr lang="en-GB" sz="1600" dirty="0">
                <a:latin typeface="+mn-lt"/>
                <a:ea typeface="Cambria Math" panose="02040503050406030204" pitchFamily="18" charset="0"/>
              </a:rPr>
              <a:t>Accept project with highest NPV as long as 	NPV &gt; 0.</a:t>
            </a:r>
          </a:p>
        </p:txBody>
      </p:sp>
    </p:spTree>
    <p:extLst>
      <p:ext uri="{BB962C8B-B14F-4D97-AF65-F5344CB8AC3E}">
        <p14:creationId xmlns:p14="http://schemas.microsoft.com/office/powerpoint/2010/main" val="200246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Capital Budgeting – NPV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/>
          </a:bodyPr>
          <a:lstStyle/>
          <a:p>
            <a:pPr marL="0" indent="0">
              <a:spcBef>
                <a:spcPts val="450"/>
              </a:spcBef>
              <a:spcAft>
                <a:spcPts val="450"/>
              </a:spcAft>
              <a:buClr>
                <a:srgbClr val="C00000"/>
              </a:buClr>
              <a:buSzPct val="90000"/>
              <a:buNone/>
            </a:pPr>
            <a:r>
              <a:rPr lang="en-GB" sz="1600" dirty="0">
                <a:solidFill>
                  <a:srgbClr val="C00000"/>
                </a:solidFill>
                <a:ea typeface="Cambria Math" panose="02040503050406030204" pitchFamily="18" charset="0"/>
              </a:rPr>
              <a:t>Design 2:</a:t>
            </a:r>
            <a:r>
              <a:rPr lang="en-GB" sz="1600" dirty="0">
                <a:ea typeface="Cambria Math" panose="02040503050406030204" pitchFamily="18" charset="0"/>
              </a:rPr>
              <a:t> has an initial cost of $100,000 and a salvage value of $50,000 after four years. The generated cash flows from both projects are:</a:t>
            </a: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>
              <a:spcBef>
                <a:spcPts val="13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ea typeface="Cambria Math" panose="02040503050406030204" pitchFamily="18" charset="0"/>
              </a:rPr>
              <a:t>Using a discount rate of 7%, what is the NPV of Design 2?</a:t>
            </a:r>
          </a:p>
          <a:p>
            <a:pPr>
              <a:spcBef>
                <a:spcPts val="13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ea typeface="Cambria Math" panose="02040503050406030204" pitchFamily="18" charset="0"/>
              </a:rPr>
              <a:t>Would the company accept this project?</a:t>
            </a:r>
          </a:p>
          <a:p>
            <a:pPr>
              <a:spcBef>
                <a:spcPts val="13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ea typeface="Cambria Math" panose="02040503050406030204" pitchFamily="18" charset="0"/>
              </a:rPr>
              <a:t>Which project should the company choose?</a:t>
            </a: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BF1B07-5925-4C6C-8EF4-E690F7C53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546745"/>
              </p:ext>
            </p:extLst>
          </p:nvPr>
        </p:nvGraphicFramePr>
        <p:xfrm>
          <a:off x="414212" y="2564904"/>
          <a:ext cx="7591676" cy="54864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071208">
                  <a:extLst>
                    <a:ext uri="{9D8B030D-6E8A-4147-A177-3AD203B41FA5}">
                      <a16:colId xmlns:a16="http://schemas.microsoft.com/office/drawing/2014/main" val="3067677609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1143181142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4054193596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1726831881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1724309414"/>
                    </a:ext>
                  </a:extLst>
                </a:gridCol>
              </a:tblGrid>
              <a:tr h="23878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Year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3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4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855092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Design 2 ($/year)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>
                          <a:effectLst/>
                        </a:rPr>
                        <a:t>15,000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>
                          <a:effectLst/>
                        </a:rPr>
                        <a:t>20,000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25,000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18,000 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18473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646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65448" y="868490"/>
            <a:ext cx="7950967" cy="1048342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Net Present Value – the discount factor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defTabSz="464515">
              <a:spcBef>
                <a:spcPct val="50000"/>
              </a:spcBef>
              <a:buClrTx/>
              <a:buNone/>
            </a:pPr>
            <a:r>
              <a:rPr lang="en-GB" sz="1920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The discount factor can also be referred to as the following:</a:t>
            </a:r>
          </a:p>
          <a:p>
            <a:pPr marL="0" indent="0" defTabSz="464515">
              <a:spcBef>
                <a:spcPct val="50000"/>
              </a:spcBef>
              <a:buClrTx/>
            </a:pPr>
            <a:r>
              <a:rPr lang="en-GB" sz="1920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the cost of capital</a:t>
            </a:r>
          </a:p>
          <a:p>
            <a:pPr marL="0" indent="0" defTabSz="464515">
              <a:spcBef>
                <a:spcPct val="50000"/>
              </a:spcBef>
              <a:buClrTx/>
            </a:pPr>
            <a:r>
              <a:rPr lang="en-GB" sz="1920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the annual rate of return</a:t>
            </a:r>
          </a:p>
          <a:p>
            <a:pPr marL="0" indent="0" defTabSz="464515">
              <a:spcBef>
                <a:spcPct val="50000"/>
              </a:spcBef>
              <a:buClrTx/>
            </a:pPr>
            <a:r>
              <a:rPr lang="en-GB" sz="1920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the present value factor</a:t>
            </a:r>
          </a:p>
          <a:p>
            <a:pPr marL="0" indent="0" defTabSz="464515">
              <a:spcBef>
                <a:spcPct val="50000"/>
              </a:spcBef>
              <a:buClrTx/>
              <a:buNone/>
            </a:pPr>
            <a:endParaRPr lang="en-GB" sz="1920" dirty="0">
              <a:solidFill>
                <a:prstClr val="black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  <a:p>
            <a:pPr marL="0" indent="0" algn="ctr" defTabSz="464515">
              <a:spcBef>
                <a:spcPct val="50000"/>
              </a:spcBef>
              <a:buClrTx/>
              <a:buNone/>
            </a:pPr>
            <a:r>
              <a:rPr lang="en-GB" sz="1920" b="1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BUT REMEMBER!!!</a:t>
            </a:r>
          </a:p>
          <a:p>
            <a:pPr marL="0" indent="0" algn="ctr" defTabSz="464515">
              <a:spcBef>
                <a:spcPct val="50000"/>
              </a:spcBef>
              <a:buClrTx/>
              <a:buNone/>
            </a:pPr>
            <a:r>
              <a:rPr lang="en-GB" sz="1920" b="1" dirty="0">
                <a:solidFill>
                  <a:prstClr val="black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The discount factor for year 0 (NOW) is always 1.00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37127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55712" y="831911"/>
            <a:ext cx="6668019" cy="520824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Net Present Value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35967" y="1850396"/>
          <a:ext cx="5814334" cy="2708622"/>
        </p:xfrm>
        <a:graphic>
          <a:graphicData uri="http://schemas.openxmlformats.org/drawingml/2006/table">
            <a:tbl>
              <a:tblPr/>
              <a:tblGrid>
                <a:gridCol w="143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3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63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3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821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331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51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16817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B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41"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Flow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Disc. Factor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Disc. CF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Flow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Disc. Factor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Disc. CF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17"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17"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(100,000)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(100,000)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(20,000)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(20,000)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17"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45,450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9,090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17"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41,300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16,520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17"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37,550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15,020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17"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NPV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24,300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NPV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20,630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828596" y="4636098"/>
            <a:ext cx="6218382" cy="12070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4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Which one should we choose?</a:t>
            </a:r>
          </a:p>
          <a:p>
            <a:pPr algn="ctr"/>
            <a:r>
              <a:rPr lang="en-GB" sz="224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 A provides a higher NPV.</a:t>
            </a:r>
          </a:p>
          <a:p>
            <a:pPr algn="ctr"/>
            <a:r>
              <a:rPr lang="en-GB" sz="224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 Project B requires much less capital investment.</a:t>
            </a:r>
          </a:p>
        </p:txBody>
      </p:sp>
      <p:sp>
        <p:nvSpPr>
          <p:cNvPr id="6" name="Oval 5"/>
          <p:cNvSpPr/>
          <p:nvPr/>
        </p:nvSpPr>
        <p:spPr>
          <a:xfrm>
            <a:off x="2578500" y="4180356"/>
            <a:ext cx="1728090" cy="3456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Oval 6"/>
          <p:cNvSpPr/>
          <p:nvPr/>
        </p:nvSpPr>
        <p:spPr>
          <a:xfrm>
            <a:off x="5779098" y="4193430"/>
            <a:ext cx="1728090" cy="3456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Oval 7"/>
          <p:cNvSpPr/>
          <p:nvPr/>
        </p:nvSpPr>
        <p:spPr>
          <a:xfrm>
            <a:off x="1097022" y="2944421"/>
            <a:ext cx="1728090" cy="34561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Oval 8"/>
          <p:cNvSpPr/>
          <p:nvPr/>
        </p:nvSpPr>
        <p:spPr>
          <a:xfrm>
            <a:off x="4306591" y="2944421"/>
            <a:ext cx="1728090" cy="34561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98693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Capital Budgeting – NPV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Clr>
                <a:srgbClr val="C00000"/>
              </a:buClr>
              <a:buSzPct val="90000"/>
              <a:buNone/>
            </a:pPr>
            <a:r>
              <a:rPr lang="en-GB" sz="1600" dirty="0"/>
              <a:t>The NPV is a preferred decision-making criterion because it: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all cash flows used.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timing of cash flows taken into account.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calculations easy to make with tables.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directly shows change to shareholders’ wealth as a result of the decision.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allows variable discount rates to account for different economic circumstances.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can be aggregated across all projects.</a:t>
            </a:r>
          </a:p>
          <a:p>
            <a:pPr marL="342900" lvl="1" indent="0"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 marL="0" lvl="1" indent="0">
              <a:buClr>
                <a:srgbClr val="C00000"/>
              </a:buClr>
              <a:buSzPct val="90000"/>
              <a:buNone/>
            </a:pPr>
            <a:r>
              <a:rPr lang="en-GB" sz="1600" dirty="0">
                <a:ea typeface="Cambria Math" panose="02040503050406030204" pitchFamily="18" charset="0"/>
              </a:rPr>
              <a:t>However, it:</a:t>
            </a:r>
          </a:p>
          <a:p>
            <a:pPr marL="536972" lvl="1" indent="-257175"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is stated in absolute value and does not provide a percentage return on the initial investment.</a:t>
            </a:r>
          </a:p>
          <a:p>
            <a:pPr marL="536972" lvl="1" indent="-257175"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does not control for the life of the project and is biased towards projects with longer lives. </a:t>
            </a:r>
          </a:p>
          <a:p>
            <a:pPr marL="536972" lvl="1" indent="-257175"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is based on forecasted cash flows which could lead to errors.</a:t>
            </a:r>
          </a:p>
          <a:p>
            <a:pPr marL="536972" lvl="1" indent="-257175"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required rate of return difficult to ascertain.</a:t>
            </a:r>
          </a:p>
          <a:p>
            <a:pPr marL="536972" lvl="1" indent="-257175"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not easily understood by non-finance staff.</a:t>
            </a:r>
          </a:p>
          <a:p>
            <a:pPr marL="279797" lvl="1" indent="0"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88424" y="6309320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0405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Internal Rate of Return (IRR)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186138"/>
          </a:xfrm>
        </p:spPr>
        <p:txBody>
          <a:bodyPr>
            <a:normAutofit/>
          </a:bodyPr>
          <a:lstStyle/>
          <a:p>
            <a:pPr marL="0" indent="0">
              <a:spcBef>
                <a:spcPts val="900"/>
              </a:spcBef>
              <a:spcAft>
                <a:spcPts val="900"/>
              </a:spcAft>
              <a:buClr>
                <a:srgbClr val="C00000"/>
              </a:buClr>
              <a:buSzPct val="90000"/>
              <a:buNone/>
            </a:pPr>
            <a:r>
              <a:rPr lang="en-GB" sz="1600" dirty="0"/>
              <a:t>The 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</a:rPr>
              <a:t>Internal Rate of Return (IRR) </a:t>
            </a:r>
            <a:r>
              <a:rPr lang="en-GB" sz="1600" dirty="0"/>
              <a:t>takes into account the project’s scale, therefore, offsetting the NPV bias toward long-term projects. It calculates the percentage at which the investment proposal breaks-even, recognising that money has a time value.</a:t>
            </a:r>
          </a:p>
          <a:p>
            <a:pPr marL="0" indent="0">
              <a:spcBef>
                <a:spcPts val="900"/>
              </a:spcBef>
              <a:spcAft>
                <a:spcPts val="900"/>
              </a:spcAft>
              <a:buClr>
                <a:srgbClr val="C00000"/>
              </a:buClr>
              <a:buSzPct val="90000"/>
              <a:buNone/>
            </a:pPr>
            <a:r>
              <a:rPr lang="en-GB" sz="1600" dirty="0"/>
              <a:t>The IRR is a percentage term, therefore, it can be used to compare different projects.</a:t>
            </a:r>
          </a:p>
          <a:p>
            <a:pPr marL="0" indent="0">
              <a:spcBef>
                <a:spcPts val="900"/>
              </a:spcBef>
              <a:spcAft>
                <a:spcPts val="900"/>
              </a:spcAft>
              <a:buClr>
                <a:srgbClr val="C00000"/>
              </a:buClr>
              <a:buSzPct val="90000"/>
              <a:buNone/>
            </a:pPr>
            <a:r>
              <a:rPr lang="en-GB" sz="1600" dirty="0"/>
              <a:t>The IRR = the discount rate that makes the NPV of a project equal to zero.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14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6916C5-B99A-AFFC-095E-A1D8C937CB23}"/>
                  </a:ext>
                </a:extLst>
              </p:cNvPr>
              <p:cNvSpPr txBox="1"/>
              <p:nvPr/>
            </p:nvSpPr>
            <p:spPr>
              <a:xfrm>
                <a:off x="2051720" y="3416628"/>
                <a:ext cx="4619297" cy="1194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450"/>
                  </a:spcAft>
                  <a:buClr>
                    <a:srgbClr val="C00000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𝑁𝑃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𝐼𝑅𝑅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GB" sz="16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𝐼𝑅𝑅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6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6916C5-B99A-AFFC-095E-A1D8C937C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3416628"/>
                <a:ext cx="4619297" cy="1194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059E710-FD38-32E2-93F4-2729E6269115}"/>
              </a:ext>
            </a:extLst>
          </p:cNvPr>
          <p:cNvSpPr txBox="1"/>
          <p:nvPr/>
        </p:nvSpPr>
        <p:spPr>
          <a:xfrm>
            <a:off x="285750" y="4877417"/>
            <a:ext cx="8136904" cy="96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endParaRPr lang="en-GB" sz="1800" dirty="0"/>
          </a:p>
          <a:p>
            <a:pPr>
              <a:spcBef>
                <a:spcPct val="20000"/>
              </a:spcBef>
            </a:pPr>
            <a:r>
              <a:rPr lang="en-GB" sz="1600" b="1" dirty="0">
                <a:latin typeface="+mn-lt"/>
                <a:ea typeface="ＭＳ Ｐゴシック" charset="0"/>
              </a:rPr>
              <a:t>The investment decision:</a:t>
            </a:r>
          </a:p>
          <a:p>
            <a:pPr>
              <a:spcBef>
                <a:spcPct val="20000"/>
              </a:spcBef>
            </a:pPr>
            <a:r>
              <a:rPr lang="en-GB" sz="1600" dirty="0">
                <a:latin typeface="+mn-lt"/>
                <a:ea typeface="ＭＳ Ｐゴシック" charset="0"/>
              </a:rPr>
              <a:t>Proceed with the project if its IRR is higher than the company’s requirement return.</a:t>
            </a:r>
          </a:p>
        </p:txBody>
      </p:sp>
    </p:spTree>
    <p:extLst>
      <p:ext uri="{BB962C8B-B14F-4D97-AF65-F5344CB8AC3E}">
        <p14:creationId xmlns:p14="http://schemas.microsoft.com/office/powerpoint/2010/main" val="6580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16259" y="836712"/>
            <a:ext cx="6668019" cy="520824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IRR is an NPV of zero??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19459" y="1526906"/>
            <a:ext cx="731477" cy="260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920" b="1" dirty="0"/>
              <a:t>Year</a:t>
            </a:r>
          </a:p>
          <a:p>
            <a:pPr algn="ctr">
              <a:spcBef>
                <a:spcPct val="50000"/>
              </a:spcBef>
            </a:pPr>
            <a:endParaRPr lang="en-GB" sz="1920" b="1" dirty="0"/>
          </a:p>
          <a:p>
            <a:pPr algn="ctr">
              <a:spcBef>
                <a:spcPct val="50000"/>
              </a:spcBef>
            </a:pPr>
            <a:r>
              <a:rPr lang="en-GB" sz="1920" b="1" dirty="0"/>
              <a:t>0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1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2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3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416306" y="1526906"/>
            <a:ext cx="1401997" cy="289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920" b="1" dirty="0"/>
              <a:t>Cash Flow</a:t>
            </a:r>
          </a:p>
          <a:p>
            <a:pPr algn="r">
              <a:spcBef>
                <a:spcPct val="50000"/>
              </a:spcBef>
            </a:pPr>
            <a:endParaRPr lang="en-GB" sz="1920" b="1" dirty="0"/>
          </a:p>
          <a:p>
            <a:pPr algn="r">
              <a:spcBef>
                <a:spcPct val="50000"/>
              </a:spcBef>
            </a:pPr>
            <a:r>
              <a:rPr lang="en-GB" sz="1920" b="1" dirty="0"/>
              <a:t>(100,000)</a:t>
            </a:r>
          </a:p>
          <a:p>
            <a:pPr algn="r">
              <a:spcBef>
                <a:spcPct val="50000"/>
              </a:spcBef>
            </a:pPr>
            <a:r>
              <a:rPr lang="en-GB" sz="1920" b="1" dirty="0"/>
              <a:t>50,000</a:t>
            </a:r>
          </a:p>
          <a:p>
            <a:pPr algn="r">
              <a:spcBef>
                <a:spcPct val="50000"/>
              </a:spcBef>
            </a:pPr>
            <a:r>
              <a:rPr lang="en-GB" sz="1920" b="1" dirty="0"/>
              <a:t>50,000</a:t>
            </a:r>
          </a:p>
          <a:p>
            <a:pPr algn="r">
              <a:spcBef>
                <a:spcPct val="50000"/>
              </a:spcBef>
            </a:pPr>
            <a:r>
              <a:rPr lang="en-GB" sz="1920" b="1" dirty="0"/>
              <a:t>50,000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950803" y="1522997"/>
            <a:ext cx="2133475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920" b="1" dirty="0"/>
              <a:t>Disc. Cash Flow</a:t>
            </a:r>
          </a:p>
          <a:p>
            <a:pPr algn="r">
              <a:spcBef>
                <a:spcPct val="50000"/>
              </a:spcBef>
            </a:pPr>
            <a:endParaRPr lang="en-GB" sz="1920" b="1" dirty="0"/>
          </a:p>
          <a:p>
            <a:pPr algn="r">
              <a:spcBef>
                <a:spcPct val="50000"/>
              </a:spcBef>
            </a:pPr>
            <a:r>
              <a:rPr lang="en-GB" sz="1920" b="1" dirty="0"/>
              <a:t>(100,000)</a:t>
            </a:r>
          </a:p>
          <a:p>
            <a:pPr algn="r">
              <a:spcBef>
                <a:spcPct val="50000"/>
              </a:spcBef>
            </a:pPr>
            <a:r>
              <a:rPr lang="en-GB" sz="1920" b="1" dirty="0"/>
              <a:t>45,450</a:t>
            </a:r>
          </a:p>
          <a:p>
            <a:pPr algn="r">
              <a:spcBef>
                <a:spcPct val="50000"/>
              </a:spcBef>
            </a:pPr>
            <a:r>
              <a:rPr lang="en-GB" sz="1920" b="1" dirty="0"/>
              <a:t>41,300</a:t>
            </a:r>
          </a:p>
          <a:p>
            <a:pPr algn="r">
              <a:spcBef>
                <a:spcPct val="50000"/>
              </a:spcBef>
            </a:pPr>
            <a:r>
              <a:rPr lang="en-GB" sz="1920" b="1" u="sng" dirty="0"/>
              <a:t>37,550</a:t>
            </a:r>
          </a:p>
          <a:p>
            <a:pPr algn="r">
              <a:spcBef>
                <a:spcPct val="50000"/>
              </a:spcBef>
            </a:pPr>
            <a:r>
              <a:rPr lang="en-GB" sz="1920" b="1" dirty="0"/>
              <a:t>NPV   =   24,300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304980" y="1529275"/>
            <a:ext cx="1645823" cy="260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920" b="1" dirty="0"/>
              <a:t>Disc. Factor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(10%)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1.000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0.909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0.826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0.751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4572000" y="1536617"/>
            <a:ext cx="506095" cy="260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GB" sz="1920" b="1" dirty="0"/>
          </a:p>
          <a:p>
            <a:pPr algn="ctr">
              <a:spcBef>
                <a:spcPct val="50000"/>
              </a:spcBef>
            </a:pPr>
            <a:endParaRPr lang="en-GB" sz="1920" b="1" dirty="0"/>
          </a:p>
          <a:p>
            <a:pPr algn="ctr">
              <a:spcBef>
                <a:spcPct val="50000"/>
              </a:spcBef>
            </a:pPr>
            <a:r>
              <a:rPr lang="en-GB" sz="1920" b="1" dirty="0"/>
              <a:t>=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=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=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=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3051932" y="1526906"/>
            <a:ext cx="506095" cy="260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GB" sz="1920" b="1" dirty="0"/>
          </a:p>
          <a:p>
            <a:pPr algn="ctr">
              <a:spcBef>
                <a:spcPct val="50000"/>
              </a:spcBef>
            </a:pPr>
            <a:endParaRPr lang="en-GB" sz="1920" b="1" dirty="0"/>
          </a:p>
          <a:p>
            <a:pPr algn="ctr">
              <a:spcBef>
                <a:spcPct val="50000"/>
              </a:spcBef>
            </a:pPr>
            <a:r>
              <a:rPr lang="en-GB" sz="1920" b="1" dirty="0"/>
              <a:t>x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x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x</a:t>
            </a:r>
          </a:p>
          <a:p>
            <a:pPr algn="ctr">
              <a:spcBef>
                <a:spcPct val="50000"/>
              </a:spcBef>
            </a:pPr>
            <a:r>
              <a:rPr lang="en-GB" sz="1920" b="1" dirty="0"/>
              <a:t>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FB0FF-129F-4CD9-ADE7-5E2FD7F364D9}"/>
              </a:ext>
            </a:extLst>
          </p:cNvPr>
          <p:cNvSpPr txBox="1"/>
          <p:nvPr/>
        </p:nvSpPr>
        <p:spPr>
          <a:xfrm>
            <a:off x="365448" y="4531094"/>
            <a:ext cx="8266790" cy="1593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19" dirty="0"/>
              <a:t>In this example we can see that the project will generate positive NPV when a 10% discount factor is applied, £24,300. Because the NPV is positive this means that this project is generating a return </a:t>
            </a:r>
            <a:r>
              <a:rPr lang="en-GB" sz="1219" b="1" u="sng" dirty="0"/>
              <a:t>greater than 10%</a:t>
            </a:r>
            <a:r>
              <a:rPr lang="en-GB" sz="1219" dirty="0"/>
              <a:t>.</a:t>
            </a:r>
          </a:p>
          <a:p>
            <a:endParaRPr lang="en-GB" sz="1219" dirty="0"/>
          </a:p>
          <a:p>
            <a:r>
              <a:rPr lang="en-GB" sz="1219" dirty="0"/>
              <a:t>If the calculation had produced a negative NPV then we would reject the project because the project is generating a return </a:t>
            </a:r>
            <a:r>
              <a:rPr lang="en-GB" sz="1219" b="1" u="sng" dirty="0"/>
              <a:t>less than 10%.</a:t>
            </a:r>
          </a:p>
          <a:p>
            <a:endParaRPr lang="en-GB" sz="1219" dirty="0"/>
          </a:p>
          <a:p>
            <a:r>
              <a:rPr lang="en-GB" sz="1219" b="1" dirty="0"/>
              <a:t>Therefore, if the project generated an NPV of exactly £0 (zero) then we can say that this project generates a return which is equal to the discount factor applied, in other words 10%. This is the IRR.</a:t>
            </a:r>
          </a:p>
        </p:txBody>
      </p:sp>
    </p:spTree>
    <p:extLst>
      <p:ext uri="{BB962C8B-B14F-4D97-AF65-F5344CB8AC3E}">
        <p14:creationId xmlns:p14="http://schemas.microsoft.com/office/powerpoint/2010/main" val="1958605165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55712" y="831911"/>
            <a:ext cx="6668019" cy="520824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IRR - example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748371"/>
              </p:ext>
            </p:extLst>
          </p:nvPr>
        </p:nvGraphicFramePr>
        <p:xfrm>
          <a:off x="652790" y="1221077"/>
          <a:ext cx="7560840" cy="4926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721BAA5-8FF9-67DB-E64F-01937866B5B0}"/>
              </a:ext>
            </a:extLst>
          </p:cNvPr>
          <p:cNvSpPr txBox="1"/>
          <p:nvPr/>
        </p:nvSpPr>
        <p:spPr>
          <a:xfrm>
            <a:off x="1297706" y="6016079"/>
            <a:ext cx="6946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Therefore, the IRR lies between 20% and 22%, closer to 22%</a:t>
            </a:r>
          </a:p>
        </p:txBody>
      </p:sp>
    </p:spTree>
    <p:extLst>
      <p:ext uri="{BB962C8B-B14F-4D97-AF65-F5344CB8AC3E}">
        <p14:creationId xmlns:p14="http://schemas.microsoft.com/office/powerpoint/2010/main" val="3358033254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38605" y="795332"/>
            <a:ext cx="6668019" cy="520824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IRR - example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FF8C20-976D-1586-88AA-4FCEAAC9D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05" y="1484785"/>
            <a:ext cx="3729228" cy="259228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7567E4-A6FE-033E-E5CB-A656198F4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484785"/>
            <a:ext cx="3816424" cy="2659832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11763" y="4245701"/>
            <a:ext cx="7055853" cy="1509017"/>
          </a:xfrm>
        </p:spPr>
        <p:txBody>
          <a:bodyPr/>
          <a:lstStyle/>
          <a:p>
            <a:pPr marL="365759" indent="-365759" defTabSz="464515">
              <a:spcBef>
                <a:spcPct val="0"/>
              </a:spcBef>
              <a:buClrTx/>
              <a:buNone/>
            </a:pPr>
            <a:r>
              <a:rPr lang="en-GB" sz="14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At 10% the NPV is £4,913 so in order to </a:t>
            </a:r>
            <a:r>
              <a:rPr lang="en-GB" sz="1400" i="1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reduce</a:t>
            </a:r>
            <a:r>
              <a:rPr lang="en-GB" sz="14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 the NPV </a:t>
            </a:r>
          </a:p>
          <a:p>
            <a:pPr marL="365759" indent="-365759" defTabSz="464515">
              <a:spcBef>
                <a:spcPct val="0"/>
              </a:spcBef>
              <a:buClrTx/>
              <a:buNone/>
            </a:pPr>
            <a:r>
              <a:rPr lang="en-GB" sz="14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we must </a:t>
            </a:r>
            <a:r>
              <a:rPr lang="en-GB" sz="1400" i="1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increase</a:t>
            </a:r>
            <a:r>
              <a:rPr lang="en-GB" sz="14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 the discount rate</a:t>
            </a:r>
          </a:p>
          <a:p>
            <a:pPr marL="365759" indent="-365759" defTabSz="464515">
              <a:spcBef>
                <a:spcPct val="0"/>
              </a:spcBef>
              <a:buClrTx/>
              <a:buNone/>
            </a:pPr>
            <a:endParaRPr lang="en-GB" sz="1400" dirty="0">
              <a:solidFill>
                <a:prstClr val="black"/>
              </a:solidFill>
              <a:latin typeface="Helvetica 55 Roman" pitchFamily="34" charset="0"/>
              <a:ea typeface="ＭＳ Ｐゴシック" pitchFamily="34" charset="-128"/>
              <a:cs typeface="+mn-cs"/>
            </a:endParaRPr>
          </a:p>
          <a:p>
            <a:pPr marL="365759" indent="-365759" defTabSz="464515">
              <a:spcBef>
                <a:spcPct val="0"/>
              </a:spcBef>
              <a:buClrTx/>
              <a:buNone/>
            </a:pPr>
            <a:r>
              <a:rPr lang="en-GB" sz="14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If we discount the project flows at 22% we get an NPV of</a:t>
            </a:r>
          </a:p>
          <a:p>
            <a:pPr marL="365759" indent="-365759" defTabSz="464515">
              <a:spcBef>
                <a:spcPct val="0"/>
              </a:spcBef>
              <a:buClrTx/>
              <a:buNone/>
            </a:pPr>
            <a:r>
              <a:rPr lang="en-GB" sz="14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(£81)</a:t>
            </a:r>
          </a:p>
          <a:p>
            <a:pPr marL="365759" indent="-365759" defTabSz="464515">
              <a:spcBef>
                <a:spcPct val="0"/>
              </a:spcBef>
              <a:buClrTx/>
              <a:buNone/>
            </a:pPr>
            <a:endParaRPr lang="en-GB" sz="1400" dirty="0">
              <a:solidFill>
                <a:prstClr val="black"/>
              </a:solidFill>
              <a:latin typeface="Helvetica 55 Roman" pitchFamily="34" charset="0"/>
              <a:ea typeface="ＭＳ Ｐゴシック" pitchFamily="34" charset="-128"/>
              <a:cs typeface="+mn-cs"/>
            </a:endParaRPr>
          </a:p>
          <a:p>
            <a:pPr marL="365759" indent="-365759" defTabSz="464515">
              <a:spcBef>
                <a:spcPct val="0"/>
              </a:spcBef>
              <a:buClrTx/>
              <a:buNone/>
            </a:pPr>
            <a:r>
              <a:rPr lang="en-GB" sz="14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IRR =         </a:t>
            </a:r>
          </a:p>
          <a:p>
            <a:pPr marL="365759" indent="-365759" defTabSz="464515">
              <a:spcBef>
                <a:spcPct val="0"/>
              </a:spcBef>
              <a:buClrTx/>
              <a:buNone/>
            </a:pPr>
            <a:endParaRPr lang="en-GB" sz="1400" dirty="0">
              <a:solidFill>
                <a:prstClr val="black"/>
              </a:solidFill>
              <a:latin typeface="Helvetica 55 Roman" pitchFamily="34" charset="0"/>
              <a:ea typeface="ＭＳ Ｐゴシック" pitchFamily="34" charset="-128"/>
              <a:cs typeface="+mn-cs"/>
            </a:endParaRPr>
          </a:p>
          <a:p>
            <a:pPr marL="365759" indent="-365759" defTabSz="464515">
              <a:spcBef>
                <a:spcPct val="0"/>
              </a:spcBef>
              <a:buClrTx/>
              <a:buNone/>
            </a:pPr>
            <a:endParaRPr lang="en-GB" sz="1400" dirty="0">
              <a:solidFill>
                <a:prstClr val="black"/>
              </a:solidFill>
              <a:latin typeface="Helvetica 55 Roman" pitchFamily="34" charset="0"/>
              <a:ea typeface="ＭＳ Ｐゴシック" pitchFamily="34" charset="-128"/>
              <a:cs typeface="+mn-cs"/>
            </a:endParaRPr>
          </a:p>
          <a:p>
            <a:pPr marL="365759" indent="-365759" defTabSz="464515">
              <a:spcBef>
                <a:spcPct val="0"/>
              </a:spcBef>
              <a:buClrTx/>
              <a:buNone/>
            </a:pPr>
            <a:r>
              <a:rPr lang="en-GB" sz="14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where NPV</a:t>
            </a:r>
            <a:r>
              <a:rPr lang="en-GB" sz="1400" baseline="-250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1</a:t>
            </a:r>
            <a:r>
              <a:rPr lang="en-GB" sz="14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 is the NPV at an interest rate i</a:t>
            </a:r>
            <a:r>
              <a:rPr lang="en-GB" sz="1400" baseline="-250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1</a:t>
            </a:r>
            <a:r>
              <a:rPr lang="en-GB" sz="1400" dirty="0">
                <a:solidFill>
                  <a:prstClr val="black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 etc.</a:t>
            </a:r>
          </a:p>
          <a:p>
            <a:endParaRPr lang="en-GB" sz="1100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333292"/>
              </p:ext>
            </p:extLst>
          </p:nvPr>
        </p:nvGraphicFramePr>
        <p:xfrm>
          <a:off x="1187624" y="5388758"/>
          <a:ext cx="2088232" cy="53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500" imgH="431800" progId="Equation.3">
                  <p:embed/>
                </p:oleObj>
              </mc:Choice>
              <mc:Fallback>
                <p:oleObj name="Equation" r:id="rId4" imgW="1587500" imgH="43180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388758"/>
                        <a:ext cx="2088232" cy="53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3367F99-4B6B-E1C9-D6F5-1907E8AF62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838" y="5324734"/>
            <a:ext cx="3523997" cy="8599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05F9D0-F7F9-7FC9-96BC-B1157D1DCDCD}"/>
              </a:ext>
            </a:extLst>
          </p:cNvPr>
          <p:cNvSpPr txBox="1"/>
          <p:nvPr/>
        </p:nvSpPr>
        <p:spPr>
          <a:xfrm>
            <a:off x="7139209" y="5542527"/>
            <a:ext cx="156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b="1" dirty="0">
                <a:latin typeface="Helvetica 55 Roman" pitchFamily="34" charset="0"/>
              </a:rPr>
              <a:t>IRR =  21.8%</a:t>
            </a:r>
          </a:p>
        </p:txBody>
      </p:sp>
    </p:spTree>
    <p:extLst>
      <p:ext uri="{BB962C8B-B14F-4D97-AF65-F5344CB8AC3E}">
        <p14:creationId xmlns:p14="http://schemas.microsoft.com/office/powerpoint/2010/main" val="3221745821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IRR in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799773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900"/>
              </a:spcBef>
              <a:spcAft>
                <a:spcPts val="900"/>
              </a:spcAft>
              <a:buClr>
                <a:srgbClr val="C00000"/>
              </a:buClr>
              <a:buSzPct val="90000"/>
              <a:buNone/>
            </a:pPr>
            <a:r>
              <a:rPr lang="en-GB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sz="1800" dirty="0"/>
              <a:t>Excel – much easier</a:t>
            </a:r>
          </a:p>
          <a:p>
            <a:pPr marL="0" indent="0">
              <a:spcBef>
                <a:spcPts val="900"/>
              </a:spcBef>
              <a:spcAft>
                <a:spcPts val="450"/>
              </a:spcAft>
              <a:buClr>
                <a:srgbClr val="C00000"/>
              </a:buClr>
              <a:buSzPct val="90000"/>
              <a:buNone/>
            </a:pPr>
            <a:r>
              <a:rPr lang="en-GB" sz="1800" dirty="0"/>
              <a:t>We start by a creating a table in Excel including all cash flows.</a:t>
            </a:r>
          </a:p>
          <a:p>
            <a:pPr marL="0" indent="0">
              <a:spcBef>
                <a:spcPts val="900"/>
              </a:spcBef>
              <a:spcAft>
                <a:spcPts val="900"/>
              </a:spcAft>
              <a:buClr>
                <a:srgbClr val="C00000"/>
              </a:buClr>
              <a:buSzPct val="90000"/>
              <a:buNone/>
            </a:pPr>
            <a:endParaRPr lang="en-GB" sz="1800" dirty="0">
              <a:ea typeface="Cambria Math" panose="02040503050406030204" pitchFamily="18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  <a:buClr>
                <a:srgbClr val="C00000"/>
              </a:buClr>
              <a:buSzPct val="90000"/>
              <a:buNone/>
            </a:pPr>
            <a:endParaRPr lang="en-GB" sz="1800" i="1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18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8B122D-AE91-4F8A-A9BE-A1A766E66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954029"/>
              </p:ext>
            </p:extLst>
          </p:nvPr>
        </p:nvGraphicFramePr>
        <p:xfrm>
          <a:off x="1024640" y="2654768"/>
          <a:ext cx="6370822" cy="52768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76167">
                  <a:extLst>
                    <a:ext uri="{9D8B030D-6E8A-4147-A177-3AD203B41FA5}">
                      <a16:colId xmlns:a16="http://schemas.microsoft.com/office/drawing/2014/main" val="698728588"/>
                    </a:ext>
                  </a:extLst>
                </a:gridCol>
                <a:gridCol w="924393">
                  <a:extLst>
                    <a:ext uri="{9D8B030D-6E8A-4147-A177-3AD203B41FA5}">
                      <a16:colId xmlns:a16="http://schemas.microsoft.com/office/drawing/2014/main" val="677552493"/>
                    </a:ext>
                  </a:extLst>
                </a:gridCol>
                <a:gridCol w="848623">
                  <a:extLst>
                    <a:ext uri="{9D8B030D-6E8A-4147-A177-3AD203B41FA5}">
                      <a16:colId xmlns:a16="http://schemas.microsoft.com/office/drawing/2014/main" val="3733376704"/>
                    </a:ext>
                  </a:extLst>
                </a:gridCol>
                <a:gridCol w="848623">
                  <a:extLst>
                    <a:ext uri="{9D8B030D-6E8A-4147-A177-3AD203B41FA5}">
                      <a16:colId xmlns:a16="http://schemas.microsoft.com/office/drawing/2014/main" val="3530368411"/>
                    </a:ext>
                  </a:extLst>
                </a:gridCol>
                <a:gridCol w="848623">
                  <a:extLst>
                    <a:ext uri="{9D8B030D-6E8A-4147-A177-3AD203B41FA5}">
                      <a16:colId xmlns:a16="http://schemas.microsoft.com/office/drawing/2014/main" val="2181421833"/>
                    </a:ext>
                  </a:extLst>
                </a:gridCol>
                <a:gridCol w="924393">
                  <a:extLst>
                    <a:ext uri="{9D8B030D-6E8A-4147-A177-3AD203B41FA5}">
                      <a16:colId xmlns:a16="http://schemas.microsoft.com/office/drawing/2014/main" val="914967639"/>
                    </a:ext>
                  </a:extLst>
                </a:gridCol>
              </a:tblGrid>
              <a:tr h="256223">
                <a:tc>
                  <a:txBody>
                    <a:bodyPr/>
                    <a:lstStyle/>
                    <a:p>
                      <a:pPr algn="l" fontAlgn="b"/>
                      <a:r>
                        <a:rPr lang="en-GB" sz="1700" u="none" strike="noStrike" dirty="0">
                          <a:effectLst/>
                        </a:rPr>
                        <a:t>Year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700" u="none" strike="noStrike" dirty="0">
                          <a:effectLst/>
                        </a:rPr>
                        <a:t>0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700" u="none" strike="noStrike" dirty="0">
                          <a:effectLst/>
                        </a:rPr>
                        <a:t>1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700" u="none" strike="noStrike" dirty="0">
                          <a:effectLst/>
                        </a:rPr>
                        <a:t>2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700" u="none" strike="noStrike" dirty="0">
                          <a:effectLst/>
                        </a:rPr>
                        <a:t>3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700" u="none" strike="noStrike" dirty="0">
                          <a:effectLst/>
                        </a:rPr>
                        <a:t>4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098368"/>
                  </a:ext>
                </a:extLst>
              </a:tr>
              <a:tr h="256223">
                <a:tc>
                  <a:txBody>
                    <a:bodyPr/>
                    <a:lstStyle/>
                    <a:p>
                      <a:pPr algn="l" fontAlgn="b"/>
                      <a:r>
                        <a:rPr lang="en-GB" sz="1700" u="none" strike="noStrike">
                          <a:effectLst/>
                        </a:rPr>
                        <a:t>Design 1 ($/year)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700" u="none" strike="noStrike" dirty="0">
                          <a:effectLst/>
                        </a:rPr>
                        <a:t>-100,000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700" u="none" strike="noStrike">
                          <a:effectLst/>
                        </a:rPr>
                        <a:t>25,000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700" u="none" strike="noStrike">
                          <a:effectLst/>
                        </a:rPr>
                        <a:t>29,000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700" u="none" strike="noStrike" dirty="0">
                          <a:effectLst/>
                        </a:rPr>
                        <a:t>32,000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700" u="none" strike="noStrike" dirty="0">
                          <a:effectLst/>
                        </a:rPr>
                        <a:t>60,000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8820997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4C6C05-03A6-344F-089F-DE7EDA8EA63D}"/>
                  </a:ext>
                </a:extLst>
              </p:cNvPr>
              <p:cNvSpPr txBox="1"/>
              <p:nvPr/>
            </p:nvSpPr>
            <p:spPr>
              <a:xfrm>
                <a:off x="266699" y="3429001"/>
                <a:ext cx="6370821" cy="815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Clr>
                    <a:srgbClr val="C00000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GB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1600" dirty="0">
                    <a:latin typeface="+mn-lt"/>
                  </a:rPr>
                  <a:t> Using the Excel Function </a:t>
                </a:r>
                <a:r>
                  <a:rPr lang="en-GB" sz="1600" dirty="0">
                    <a:solidFill>
                      <a:schemeClr val="accent5">
                        <a:lumMod val="75000"/>
                      </a:schemeClr>
                    </a:solidFill>
                    <a:latin typeface="+mn-lt"/>
                  </a:rPr>
                  <a:t>=IRR(</a:t>
                </a:r>
                <a:r>
                  <a:rPr lang="en-GB" sz="1600" i="1" dirty="0">
                    <a:solidFill>
                      <a:schemeClr val="accent5">
                        <a:lumMod val="75000"/>
                      </a:schemeClr>
                    </a:solidFill>
                    <a:latin typeface="+mn-lt"/>
                  </a:rPr>
                  <a:t>_cash flows_</a:t>
                </a:r>
                <a:r>
                  <a:rPr lang="en-GB" sz="1600" dirty="0">
                    <a:solidFill>
                      <a:schemeClr val="accent5">
                        <a:lumMod val="75000"/>
                      </a:schemeClr>
                    </a:solidFill>
                    <a:latin typeface="+mn-lt"/>
                  </a:rPr>
                  <a:t>), </a:t>
                </a:r>
                <a:r>
                  <a:rPr lang="en-GB" sz="1600" dirty="0">
                    <a:latin typeface="+mn-lt"/>
                  </a:rPr>
                  <a:t>we get: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Clr>
                    <a:srgbClr val="C00000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𝐼𝑅𝑅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=14.58%</m:t>
                      </m:r>
                    </m:oMath>
                  </m:oMathPara>
                </a14:m>
                <a:endParaRPr lang="en-GB" sz="1600" dirty="0">
                  <a:latin typeface="+mn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4C6C05-03A6-344F-089F-DE7EDA8EA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9" y="3429001"/>
                <a:ext cx="6370821" cy="815608"/>
              </a:xfrm>
              <a:prstGeom prst="rect">
                <a:avLst/>
              </a:prstGeom>
              <a:blipFill>
                <a:blip r:embed="rId3"/>
                <a:stretch>
                  <a:fillRect t="-22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47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A309-62FF-78F8-680D-B9FAFFC9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2F9C-025F-C0B7-B27B-EDDA17EA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IRR – Benefits and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A6510-0CBB-C8BE-1336-FD4E0FBBB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Clr>
                <a:srgbClr val="C00000"/>
              </a:buClr>
              <a:buSzPct val="90000"/>
              <a:buNone/>
            </a:pPr>
            <a:r>
              <a:rPr lang="en-GB" sz="1600" dirty="0"/>
              <a:t>The benefits of IRR: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all cash flows used.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timing of cash flows taken into account.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calculations easy to make with tables.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directly shows change to shareholders’ wealth as a result of the decision.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allows variable discount rates to account for different economic circumstances.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can be aggregated across all projects.</a:t>
            </a:r>
          </a:p>
          <a:p>
            <a:pPr marL="342900" lvl="1" indent="0"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 marL="0" lvl="1" indent="0">
              <a:buClr>
                <a:srgbClr val="C00000"/>
              </a:buClr>
              <a:buSzPct val="90000"/>
              <a:buNone/>
            </a:pPr>
            <a:r>
              <a:rPr lang="en-GB" sz="1600" dirty="0">
                <a:ea typeface="Cambria Math" panose="02040503050406030204" pitchFamily="18" charset="0"/>
              </a:rPr>
              <a:t>However, it:</a:t>
            </a:r>
          </a:p>
          <a:p>
            <a:pPr marL="536972" lvl="1" indent="-257175"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is stated in absolute value and does not provide a percentage return on the initial investment.</a:t>
            </a:r>
          </a:p>
          <a:p>
            <a:pPr marL="536972" lvl="1" indent="-257175"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does not control for the life of the project and is biased towards projects with longer lives. </a:t>
            </a:r>
          </a:p>
          <a:p>
            <a:pPr marL="536972" lvl="1" indent="-257175"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is based on forecasted cash flows which could lead to errors.</a:t>
            </a:r>
          </a:p>
          <a:p>
            <a:pPr marL="536972" lvl="1" indent="-257175"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required rate of return difficult to ascertain.</a:t>
            </a:r>
          </a:p>
          <a:p>
            <a:pPr marL="536972" lvl="1" indent="-257175"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ea typeface="Cambria Math" panose="02040503050406030204" pitchFamily="18" charset="0"/>
              </a:rPr>
              <a:t>not easily understood by non-finance staff.</a:t>
            </a:r>
          </a:p>
          <a:p>
            <a:pPr marL="279797" lvl="1" indent="0"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F3FEE-2918-F4AE-4981-D557D64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424" y="6309320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19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1310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65448" y="831911"/>
            <a:ext cx="6668019" cy="520824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Other factors to be considered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682281" y="1746379"/>
            <a:ext cx="5181296" cy="3953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GB" sz="2240" b="1" dirty="0"/>
              <a:t>source of finance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sz="2240" b="1" dirty="0"/>
              <a:t>cost of capital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sz="2240" b="1" dirty="0"/>
              <a:t>total estimated cost of project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sz="2240" b="1" dirty="0"/>
              <a:t>taxation implications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sz="2240" b="1" dirty="0"/>
              <a:t>working capital requirements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sz="2240" b="1" dirty="0"/>
              <a:t>audit of project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GB" sz="2240" b="1" dirty="0"/>
              <a:t>economic climate, political implications, length of commissioning, training, location, capacity</a:t>
            </a:r>
          </a:p>
        </p:txBody>
      </p:sp>
    </p:spTree>
    <p:extLst>
      <p:ext uri="{BB962C8B-B14F-4D97-AF65-F5344CB8AC3E}">
        <p14:creationId xmlns:p14="http://schemas.microsoft.com/office/powerpoint/2010/main" val="382156219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B63C0-7F45-BD9B-9A52-6EA17A222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Title 1">
            <a:extLst>
              <a:ext uri="{FF2B5EF4-FFF2-40B4-BE49-F238E27FC236}">
                <a16:creationId xmlns:a16="http://schemas.microsoft.com/office/drawing/2014/main" id="{E9DC7655-D2C0-6188-69D3-3EA35AFF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1376773"/>
            <a:ext cx="7886700" cy="646548"/>
          </a:xfrm>
        </p:spPr>
        <p:txBody>
          <a:bodyPr/>
          <a:lstStyle/>
          <a:p>
            <a:pPr algn="l"/>
            <a:r>
              <a:rPr lang="en-US" dirty="0"/>
              <a:t>Learning Outcomes Covered</a:t>
            </a:r>
          </a:p>
        </p:txBody>
      </p:sp>
      <p:graphicFrame>
        <p:nvGraphicFramePr>
          <p:cNvPr id="13315" name="Text Placeholder 1">
            <a:extLst>
              <a:ext uri="{FF2B5EF4-FFF2-40B4-BE49-F238E27FC236}">
                <a16:creationId xmlns:a16="http://schemas.microsoft.com/office/drawing/2014/main" id="{9FC542D0-3B90-20DD-D5AF-8776AA355731}"/>
              </a:ext>
            </a:extLst>
          </p:cNvPr>
          <p:cNvGraphicFramePr/>
          <p:nvPr/>
        </p:nvGraphicFramePr>
        <p:xfrm>
          <a:off x="892515" y="2492896"/>
          <a:ext cx="7632848" cy="3403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8375370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632B-2FCE-B6ED-C419-427E610D5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3D38A-6D63-08BB-0FBC-2882D12314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2" y="3317479"/>
            <a:ext cx="6515620" cy="994172"/>
          </a:xfrm>
        </p:spPr>
        <p:txBody>
          <a:bodyPr/>
          <a:lstStyle/>
          <a:p>
            <a:r>
              <a:rPr lang="en-GB" sz="2800" dirty="0">
                <a:latin typeface="Segoe Sans"/>
              </a:rPr>
              <a:t>Sources of Finance</a:t>
            </a:r>
          </a:p>
        </p:txBody>
      </p:sp>
    </p:spTree>
    <p:extLst>
      <p:ext uri="{BB962C8B-B14F-4D97-AF65-F5344CB8AC3E}">
        <p14:creationId xmlns:p14="http://schemas.microsoft.com/office/powerpoint/2010/main" val="1668558411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FAFD7E7B-6604-474F-B2AC-65277B75DAFC}" vid="{767162DD-F454-4E7C-BE43-B759DEAC2942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FAFD7E7B-6604-474F-B2AC-65277B75DAFC}" vid="{767162DD-F454-4E7C-BE43-B759DEAC2942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8277BB-DC5E-47BA-8CA9-13DFAB3B2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7ba92a-5764-4297-b5f7-6ea117412624"/>
    <ds:schemaRef ds:uri="3a4ab234-afbc-41ab-b2db-358d80304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D2D201-97C8-4E70-BF77-76D11DC8600F}">
  <ds:schemaRefs>
    <ds:schemaRef ds:uri="e8946c25-bf8a-4e7a-b3bc-ca2d5c690832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08ae8d-d1eb-4f33-a34c-6ad8d87baf5e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3a4ab234-afbc-41ab-b2db-358d80304e46"/>
    <ds:schemaRef ds:uri="037ba92a-5764-4297-b5f7-6ea117412624"/>
  </ds:schemaRefs>
</ds:datastoreItem>
</file>

<file path=customXml/itemProps3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 template sky standard</Template>
  <TotalTime>4358</TotalTime>
  <Words>2199</Words>
  <Application>Microsoft Office PowerPoint</Application>
  <PresentationFormat>On-screen Show (4:3)</PresentationFormat>
  <Paragraphs>363</Paragraphs>
  <Slides>22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Arial</vt:lpstr>
      <vt:lpstr>Calibri</vt:lpstr>
      <vt:lpstr>Cambria Math</vt:lpstr>
      <vt:lpstr>Comic Sans MS</vt:lpstr>
      <vt:lpstr>Courier New</vt:lpstr>
      <vt:lpstr>Georgia</vt:lpstr>
      <vt:lpstr>Helvetica 55 Roman</vt:lpstr>
      <vt:lpstr>Segoe Sans</vt:lpstr>
      <vt:lpstr>Tahoma</vt:lpstr>
      <vt:lpstr>Times New Roman</vt:lpstr>
      <vt:lpstr>Wingdings</vt:lpstr>
      <vt:lpstr>Custom Design</vt:lpstr>
      <vt:lpstr>1_Custom Design</vt:lpstr>
      <vt:lpstr>Equation</vt:lpstr>
      <vt:lpstr>UMET9G-30-1  Accounting &amp; Finance for Decision Making  Investment Appraisal – part 2, NPV and IRR </vt:lpstr>
      <vt:lpstr>Recap</vt:lpstr>
      <vt:lpstr>Learning Outcomes</vt:lpstr>
      <vt:lpstr>PowerPoint Presentation</vt:lpstr>
      <vt:lpstr>PowerPoint Presentation</vt:lpstr>
      <vt:lpstr>PowerPoint Presentation</vt:lpstr>
      <vt:lpstr>Net Present Value </vt:lpstr>
      <vt:lpstr>Capital Budgeting – NPV</vt:lpstr>
      <vt:lpstr>Capital Budgeting – Net Present Value</vt:lpstr>
      <vt:lpstr>Capital Budgeting – NPV</vt:lpstr>
      <vt:lpstr>PowerPoint Presentation</vt:lpstr>
      <vt:lpstr>PowerPoint Presentation</vt:lpstr>
      <vt:lpstr>Capital Budgeting – NPV</vt:lpstr>
      <vt:lpstr>Internal Rate of Return (IRR)</vt:lpstr>
      <vt:lpstr>PowerPoint Presentation</vt:lpstr>
      <vt:lpstr>PowerPoint Presentation</vt:lpstr>
      <vt:lpstr>PowerPoint Presentation</vt:lpstr>
      <vt:lpstr>IRR in Excel</vt:lpstr>
      <vt:lpstr>IRR – Benefits and Drawbacks</vt:lpstr>
      <vt:lpstr>PowerPoint Presentation</vt:lpstr>
      <vt:lpstr>Learning Outcomes Covered</vt:lpstr>
      <vt:lpstr>Next Week</vt:lpstr>
    </vt:vector>
  </TitlesOfParts>
  <Company>UWE Bristol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Demelza Pilgrim</dc:creator>
  <cp:lastModifiedBy>Demelza Pilgrim</cp:lastModifiedBy>
  <cp:revision>2</cp:revision>
  <cp:lastPrinted>2016-09-22T10:08:48Z</cp:lastPrinted>
  <dcterms:created xsi:type="dcterms:W3CDTF">2023-10-13T11:17:19Z</dcterms:created>
  <dcterms:modified xsi:type="dcterms:W3CDTF">2025-08-18T11:47:04Z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dlc_DocIdItemGuid">
    <vt:lpwstr>0beaf668-18bc-407e-89e0-ef66d74dcf56</vt:lpwstr>
  </property>
</Properties>
</file>